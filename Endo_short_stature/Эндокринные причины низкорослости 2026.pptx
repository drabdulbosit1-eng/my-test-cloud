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Коллеги, добрый день. Представьте ребёнка: из года в год он стоит последним в строю на физкультуре, а мама спрашивает, не гормоны ли это. Об этом ребёнке весь сегодняшний час: как на обычном приёме заподозрить эндокринную причину. Разделы о болезнях открываются кривой роста, потому что и в кабинете мы сначала смотрим кривую, а уже потом анализы. Кривые на слайдах — схемы, а не данные конкретных детей. Внизу слайдов указан источник цифр. Кто дал рекомендацию, я назову, а где данных мало или за советом стоит только мнение экспертов либо моё, так и скажу.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Сразу оговорюсь: правило в заголовке — мой рабочий приём. Прямое сравнение роста и массы в исследованиях есть только для гиперкортицизма и простого ожирения, его покажу на слайде 15. Ход массы на трёх других схемах я рисовал по типичной клинической картине, а не по данным исследований. Обратного правила, будто у худого ребёнка масса всегда падает первой, в надёжных работах нет. Из неэндокринных причин держите в голове целиакию: она тоже может начаться с отставания роста, даже когда ребёнок ни на что не жалуется. Это сказано во введении обзора 2026 года, к его выводам не относится. Узор подсказывает, с чего начать обследование, но диагноза не ставит.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точка говорит, где ребёнок стоит сегодня, но не куда он идёт. Нужна серия измерений. Минимального срока не назову: в обзор включали исследования с сериями за 6–⁠12 месяцев. Нормы в них были местные, а где своих не было — таблицы Всемирной организации здравоохранения или американские. Выберите одни таблицы и не меняйте их от визита к визиту, иначе ребёнок пересечёт центили на бумаге. Общего определения низкорослости нет, восемь работ использовали оба порога. По мнению авторов, рост, отклонение от целевого и скорость вместе могут отличать вариант нормы от болезни лучше любого одного признака. Правда, в работах скорость и целевой рост учитывали редко. Пример: отец 176 см, мать 160 см. Целевой рост сына 174,5 см, дочери 161,5 см.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 рентгенкабинета приходит заключение «костный возраст отстаёт». Что оно значит? Прежде всего одно: время для роста ещё есть. Первая строка — из когорты 24 детей с тяжёлым приобретённым гипотиреозом. Цифры на слайде — разность средних паспортного и костного возраста. Разброс внутри групп большой: стандартное отклонение паспортного возраста 2,7 и 4,7 года, костного — 3,1 и 2,7 года у девочек и мальчиков. Вторая строка — мнение экспертов Европейской референсной сети. Само по себе отставание болезнь от нормы не отличает, поэтому снимок кисти читаем только вместе с кривой и анализами. Точность прогноза итогового роста по костному возрасту сегодня не разбираю. Дальше четыре узора по очереди, начнём со щитовидной железы.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понять, почему эндокринные болезни дают низкий рост, посмотрим, где кость растёт в длину. У каждой болезни сегодняшней лекции в зоне роста своё звено, и мы будем к нему возвращаться. Про соматотропный гормон (СТГ) и инсулиноподобный фактор роста (ИФР-⁠1) подробно говорю в лекции о соматотропной недостаточности. Фраза внизу схемы важна для прогноза. Задержку старения зоны роста показали на кроликах и крысах, у детей подтверждение косвенное. Но именно этим объясняют, почему после лечения гипотиреоза или отмены глюкокортикоидов ребёнок может догнать сверстников.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схема, но история знакомая. До семи лет девочка шла по своему центилю, потом рост стал отставать, а масса на схеме продолжала прибавлять. Каждое измерение по отдельности ещё в норме, тревожит только наклон кривой. Вывод в заголовке я беру из нарративного обзора с четырьмя клиническими случаями. Пара слов о йоде. По национальному обследованию Узбекистана у небеременных женщин йода в среднем хватает, но достаточно йодированную соль нашли лишь в 36 % домохозяйств. Это данные о женщинах, не о детях. А главный урок здесь — визит в девять лет. Девочку осмотрели и измерили, но замедления никто не заметил, и диагноз опоздал на год.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у девочки с кривой рост встал? Гормон щитовидной железы действует прямо на хрящ, и без него хрящ плохо окостеневает. Рост замедляется, скелет отстаёт в развитии; отставание костного возраста мы видели на слайде 4. При тяжёлом нелеченом гипотиреозе эпифизы на снимке бывают «крапчатыми». Есть и связь с осью СТГ. В небольшой работе на семи детях ночная секреция СТГ и ИФР-⁠1 до лечения были снижены, а на левотироксине стали такими же, как у здоровых детей. Догоняющий рост объясняет опыт на крысах: гипотиреоз вызывали пропилтиоурацилом, и после его отмены зона роста росла быстрее, чем положено по возрасту. У детей это пока гипотеза.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когорта 1988 года: те же 24 ребёнка со слайда 4, только прослеженные до конца роста. Костный возраст у них отставал на годы, и запас казался большим: лечи и жди. Но запаса не хватило. Посмотрите на девочек: диагноз в одиннадцать с лишним лет, итоговый рост 149 сантиметров. Мальчиков всего шесть, так что их цифры держатся на очень малой группе. Связь с длительностью болезни — наблюдение одной когорты, а не испытание. Так что открытые зоны роста и отстающий костный возраст ещё не обещают, что ребёнок догонит.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такое догоняющий рост: когда причину устранили, ребёнок растёт быстрее сверстников и возвращается к своему каналу, если успевает. Откуда цифры в таблице, авторы обзора 2026 года не раскрыли. Значит, это их мнение, а не рекомендация общества. И учтите: среди авторов есть сотрудник фармацевтической компании. Для подростков старше 16 лет отдельной цифры в обзоре нет, нет и числа для малой стартовой дозы. Эти дозы только для первичного гипотиреоза, при центральном порядок другой, он на слайде 12. Серия из четырёх детей совсем маленькая и слайду 8 не противоречит. Подростку, которого начали лечить в пубертате, полного догоняющего роста не обещайте.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строка из той же когорты, что на слайде 8. Дальше я толкую сам: похоже, запас роста так тратится раньше времени. Сказалось ли это на итоговом росте, авторы не показали. Отсюда соблазн притормозить пубертат. Девочка 13 лет: рост −6,6 СО, костный возраст 5,8 года. Она получала левотироксин, СТГ, полтора года аналог ГнРГ — и выросла до нормы. Но это один случай и три вмешательства сразу. В ретроспективном сравнении до конца роста дошли 17 детей без аналога и 6 с ним: прибавка в СО и итоговый рост сходные. Для ответа этого мало, так что пока это идея, а не метод.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с приёма: ребёнок невысокий, ТТГ шесть или семь, не в этом ли дело? Сначала убедитесь, что ТТГ повышен стойко, а свободный тироксин, св. Т4, в норме: у 38 детей из 92 ТТГ потом нормализовался. На аутоиммунный тиреоидит выводы слайда не переносите. В когорте 2026 года, где ТТГ был 5–⁠10, при тиреоидите Хашимото левотироксин понадобился 42 % детей, без тиреоидита — каждому десятому; 8,6 % на слайде относятся только к идиопатическим. У 36 детей рост почти не сдвинулся: −0,7 СО при выявлении и −0,8 при включении. Наблюдение 92 детей проспективное, но всего два года. Левотироксин «для роста» при ТТГ 5–⁠10 не назначайте. Искать другую причину — мой вывод, отдельно этот вопрос не изучали.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 пропускают центральный гипотиреоз: проверили один ТТГ, увидели норму и успокоились. При поражении гипоталамуса ТТГ бывает даже слегка повышен, но такой ТТГ биологически неполноценен. Если св. Т4 не сходится с клиникой, заподозрите помеху иммуноанализа и попросите другой метод. Порядок с надпочечниками предлагают авторы экспертного обзора, а как проверять, не пишут. Для новорождённых Европейская референсная сеть даёт его как слабую рекомендацию. Если кровь до таблетки взять не получается, ждите не меньше 4 часов после неё и сдавайте в ту же лабораторию. Низкий до лечения ТТГ для контроля дозы бесполезен. А если он был нормальным и на лечении не подавляется, доза, возможно, мала. Из генов чаще других находят IGSF1 на X-хромосоме; реже TSHB, TRHR, TBL1X, IRS4.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два разных сценария, и путать их не надо. В первой работе снижение было лабораторным: клинического гипотиреоза не развилось, ТТГ не сдвинулся, левотироксин требовался редко. Во второй снижение лечили; туда вошли дети с дефицитом СТГ, нейросекреторной дисфункцией и частичной неактивностью СТГ. О других гормонах гипофиза ни в одной из работ не сказано. Две последние строки слайда — мнение авторов экспертного обзора. Срок контроля источники не называют. И там и там показатели падали в первые полгода, поэтому св. Т4 я бы проверил именно в это окно. Одно низкое значение ещё не диагноз: как на слайде 12, нужны два анализа, а ТТГ здесь не подскажет.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Остаётся врождённый гипотиреоз, и здесь доказательства сильнее, чем в остальном разделе: консенсус одобрили Европейское общество детской эндокринологии и Европейское общество эндокринологии. Для св. Т4 от 5 до 10 пмоль/л в консенсусе отдельной дозы нет: её выбирают по тяжести, не выше 15. По св. Т4 строки «лёгкий» и «норма» могут совпасть: сверяйте его с неонатальными интервалами своей лаборатории. Взрослым эндокринологам: при достаточном лечении фертильность такая же, как у людей без гипотиреоза; оценка консенсуса и здесь сильная, качество данных высокое. В финской когорте стартовая доза с 1980-х по 2010-е выросла с 6,8 до 10,8 мкг/кг/сут, а рост к двум годам не изменился. Если лечили вовремя, а ребёнок растёт плохо, ищите ошибку в лечении или другую причину.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причина — избыток кортизола. Сравните на схемах не массу, а рост: масса у обоих уходит вверх, а рост расходится. Группы на слайде разного возраста: дети с ожирением младше на три с половиной года. В японской серии, 19 детей с болезнью Кушинга, медиана срока до диагноза 2,7 года. За это время средний рост упал с −0,45 до −2,0 СО. Общество гипофиза называет этот узор самым частым признаком у детей, поэтому заметить болезнь в детстве проще, чем после пубертата. Тот же узор даёт гипотиреоз, поэтому у полного медленно растущего ребёнка я начинаю с ТТГ и св. Т4. Когда зоны роста закрыты, признака нет, это мой вывод; тогда остаются тесты со слайда 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Глюкокортикоиды действуют на рост сразу на трёх уровнях. По традиционным представлениям длительный избыток подавляет секрецию СТГ, но итог зависит от дозы и срока. В тканях нарушается сам сигнал: меняются число рецепторов и передача внутри клетки. А в зоне роста хрящ делится медленнее и чаще гибнет. Этим объясняют рост вниз на кривой слайда 15. У детей с синдромом Кушинга часто задержано и половое развитие. Задержку старения зоны роста после отмены дексаметазона показали на кроликах, и авторы считают, что она отчасти объясняет догоняющий рост. У детей после излечения догоняющий рост обычно неполный, как в сериях на слайде 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искать опухоль, спросите о лекарствах, в том числе назначенных другими врачами. Перечислите родителям вслух: уколы от аллергии, капельницы при бронхите, капли в нос и кремы от сыпи за последний год. По обзору механизмов, сильнее всего рост страдает в первые месяцы лечения. Таблица не повод переводить ребёнка с приёма через день на ежедневный: ни пользы, ни вреда той или другой схемы она не доказывает. При системном артрите рост тормозит и сама болезнь, так что вклад преднизолона отдельно не выделить. Последняя строка — мой совет. Нашли ятрогенный синдром Кушинга — лечение не обрывайте, иначе ребёнок рискует надпочечниковой недостаточностью.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ингаляций данные надёжнее, чем для таблеток: в кокрейновском обзоре 25 рандомизированных испытаний и 8471 ребёнок. Торможение видно в первый год и зависит от молекулы, а от дозы в пределах низких и средних — нет. В американском исследовании будесонида детей проследили до конца роста: чем выше доза на килограмм в первые два года, тем ниже итоговый рост. Беклометазон и мометазон в нос изучали в разных работах, так что сравнивать молекулы рано. Ингаляцию ради роста я не отменяю. Прошу коллегу, который ведёт астму, подобрать наименьшую дозу, при которой болезнь под контролем, и меряю рост на каждом визите. Это моя практика, исследований на этот счёт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Причину ищут, когда гиперкортицизм уже подтверждён, но возраст заранее подсказывает, чего ждать. Границу источники ставят по-разному: обзор 2012 года — 7 лет, Общество гипофиза — 6. Из 59 больных от 4 до 20 лет в американской серии болезнь Кушинга была у 50, поражение надпочечников у шести, эктопическая секреция АКТГ у трёх. У половины из 88 детей с раком коры надпочечника нашли герминальные мутации TP53, у младших чаще. При генетическом синдроме эксперты Общества гипофиза советуют консультацию генетика и ребёнку, и семье. В парижской серии из 15 детей синдром Мак-Кьюна — Олбрайта выявили примерно в четыре месяца, узелковую дисплазию в 9 лет.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Из-за суточного ритма разовый кортизол крови или АКТГ почти ничего не скажет. Детских порогов Общество гипофиза не даёт. Цифры для ночной пробы и полуночного кортизола я беру из протокола Национальных институтов здоровья США. Там пробу делают с 1 мг, дозы на килограмм для детей в источниках нет, так что у маленьких результат обсуждайте с центром. Полуночный кортизол точен только в стационаре, а специфичность 100 % посчитали всего на 20 детях контрольной группы. Порог 50 нмоль/л в таблице относится к ночной пробе. Значение для слюны годится только для электрохемилюминесцентного метода. Малую двухдневную пробу с дексаметазоном проводит центр, уже для поиска причины.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Каждую строку таблицы вы встретите на приёме. При простом ожирении суточный ритм кортизола слюны сохранён. Если ребёнок получает эстрогены внутрь, фенобарбитал или карбамазепин, я начинаю с мочи или слюны. Ошибка бывает и в другую сторону: неполный сбор даёт ложно низкий результат, а надёжно собрать суточную мочу у ребёнка амбулаторно трудно. У 5–⁠10 % больных секреция периодическая, и тогда нормальными бывают и ночная проба, и моча. Наблюдение не прекращают: следят за ростом и повторяют анализ мочи. Результат, похожий на псевдо-Кушинг, тоже повторяют. Это у Общества гипофиза условная рекомендация при данных низкого качества, а направление в центр дано без оценки силы. Стратакис в своём обзоре предлагает простой признак, это его мнение: подтверждённая прибавка роста говорит за псевдо-Кушинг.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серии по 10–⁠14 детей без контрольных групп; пересекались ли больные между ними, неизвестно, поэтому цифры я не складываю. В первой серии итоговый рост 162,8 см при 171,7 см по родителям. Во второй до конца роста дошли только шестеро из десяти, у остальных авторы взяли последний замер. В двух поздних сериях часть детей облучали, большинство получали СТГ, так что цифры отражают итог всего лечения сразу. Авторы серии 2005 года пишут, что большинство детей попало в целевой диапазон. Границы этого диапазона мне неизвестны, а средний разрыв вы видите в таблице. Догоняющий рост есть, но неполный, так что целевого роста семье не обещайте. После операции продолжайте вести кривую роста.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Ребёнка выписывают с письменным планом стрессовых доз на случай болезни, а левотироксин, если нужен, добавляют после глюкокортикоидов, как на слайде 12. Год — типичный срок восстановления, а не дата отмены. Замещение отменяют после проверки оси в центре, это мой совет. Зачем спешить со СТГ? По оценке экспертов Общества гипофиза, с ним итоговый рост достаточный, а ожирение уходит не полностью. Пороги на слайде в мЕд/л, у Общества гипофиза — по пробам с инсулином или глюкагоном. Они верны только для протокола этих работ, в нанограммы не пересчитывайте. 31 и 54 % — доли при разных порогах, их не суммируют. Технику проб разбираю в лекции о соматотропной недостаточности. У взрослых половина рецидивов приходит позже пяти лет после операции.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о пубертате открывает такой мальчик. Он приходит в 13–⁠14 лет: одноклассники вытянулись, а он нет. Рост давно ниже среднего, масса на схеме идёт параллельно росту, костный возраст отстаёт; оба признака мы видели на слайдах 2 и 4. Ранний уход вниз, ещё в начальной школе, с конституциональной задержкой совместим, но именно такие мальчики в среднем вырастают ниже целевого роста. Расспросите о родителях: в семейном исследовании поздний пубертат был у обоих в 32 % семей и у одного в 45 %. По мнению экспертов Европейской референсной сети, конституциональную задержку ставят, только когда отвергнут гипогонадизм. Пороги — на слайде 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Мама говорит: пубертат уже идёт, появились волосы на лобке. Само по себе лобковое и подмышечное оволосение начала пубертата не означает: его дают андрогены надпочечников. У мальчика первый признак — увеличение яичек, поэтому орхидометр должен лежать в каждом кабинете. Эксперты Европейской референсной сети считают пубертат задержанным, если начался позже среднего на 2–⁠2,5 СО или остановился. Пороги в заголовке руководство даёт без оценки качества. О менархе: срок 15 лет годится, только если грудь развита и рост нормальный. Если телархе началось до 10 лет, ждут не три года, а пять. Сдвиг телархе статистически значим, доверительный интервал от 0,04 до 0,44 года за десятилетие. В выводах метаанализа авторы призывают пересмотреть определение преждевременного пубертата, а о задержке там ни слова.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 таблицы я делаю вывод, которого у авторов нет: девочке с задержкой пубертата рано говорить «подождём». По мнению экспертов Европейской референсной сети, группы разводит первый же анализ: лютеинизирующий и фолликулостимулирующий гормоны, ЛГ и ФСГ. Если они высокие, это гипергонадотропная группа: не работают сами гонады. Тогда следующий шаг — кариотип, и не только у девочки, о ней слайд 30. Если ЛГ и ФСГ низкие, остаются три группы, их различают осмотр и время. Функциональную форму выявляет расспрос: как ребёнок ест, чем болеет, сколько тренируется, не худеет ли намеренно. Четыре группы — только первая развилка, диагноз ещё впереди: в другой серии у 244 подростков нашли 30 разных причин.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Поздний пубертат у родителей говорит за вариант нормы, это мы видели на слайде 24. Об обонянии спрашивайте конкретно: чувствует ли подросток запах дыма, духов, подгоревшей еды. Нормальное обоняние диагноз не снимает: по оценкам европейского консенсуса и экспертов Европейской референсной сети запахи различает примерно половина больных, а то и больше. Микропенис — это длина на 2,5 СО и больше ниже средней. Такого мальчика, по мнению экспертов сети, не ждут до 14 лет: в минипубертат, в 1–⁠4 месяца жизни, смотрят базальные гормоны, позже делают пробу с хорионическим гонадотропином. Отношение шансов при крипторхизме посчитали в серии одного центра, отсюда такой широкий интервал. И поднимите выписку из роддома.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Больных врождённым гипогонадизмом в этих когортах немного: девять в первой и 31 во второй, из них 15 с дефицитом нескольких гормонов гипофиза. Поэтому 100 % в таблице не гарантируют, что тест не ошибётся у вашего пациента. Каждый порог верен только для набора и протокола своего исследования, а значения ингибина В из двух когорт на одну шкалу не ложатся. Спросите лабораторию, каким набором она меряет ингибин В и определяет ли ЛГ ниже 0,3 МЕ/л. Если ингибина В нет, остаются осмотр и короткий курс тестостерона. В исследованиях диагноз подтверждает отсутствие пубертата к 18 годам, но ждать этого без лечения не нужно. По мнению экспертов, отсрочка вредит росту и самооценке. Про девочек — слайды 26 и 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при врождённом гипогонадизме рост высокий? Пубертатный скачок дают эстрогены, причём и у мальчиков: около 80 % их эстрогенов образуется вне яичек из тестостерона и андростендиона. Эстрогены, по-видимому, усиливают секрецию СТГ, отсюда скачок. Они же ускоряют старение зоны роста и приближают её закрытие, это показано на кроликах. У людей описаны мужчины без рецептора эстрогенов или без ароматазы: рост 204 см, в 24 и 28 лет зоны роста закрыты не полностью. Поэтому при врождённом гипогонадизме подросток, по мнению экспертов Европейской референсной сети, часто относительно высокий, с евнухоидным обликом. Если же он низкий, по-моему, одним гипогонадизмом этого не объяснить. У девочки первая мысль — синдром Тернера, о нём следующий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Узор тот же, что на слайде 2: без перелома, год за годом вниз. В жизни диагноз ставят ещё позже, чем на схеме: по обзору 2026 года, медиана возраста 15 лет. Сильную рекомендацию руководство дало для типичных признаков синдрома. Необъяснённую низкорослость оно называет поводом к кариотипу в тексте и таблице, без отдельной оценки. В направлении пишите прямо: подозрение на синдром Тернера, не меньше 30 метафаз. За этим числом стоит сильная рекомендация умеренного качества. Если в крови 46,XX, а подозрение высокое, исследуют кожу, буккальный эпителий или мочу. Нашли материал Y-хромосомы — вопрос об удалении гонад решают индивидуально.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девочка с синдромом Тернера так сильно отстаёт в росте? На конце короткого плеча X-хромосомы лежит ген SHOX, и у здорового человека работают обе копии. При кариотипе 45,X копия одна. Руководство Европейского общества эндокринологии и Общества детских эндокринологов (США) 2024 года называет нехватку SHOX главной причиной низкорослости и скелетных изменений. Ось СТГ и нехватка эстрогенов могут вносить вклад: пубертатный скачок у этих девочек минимален или его нет. Ген работает в хрящевых клетках зоны роста, поэтому укорочены предплечья и голени. Без гормона роста взрослый рост около 138–⁠147 см. Скелетные признаки встречаются реже, так что их отсутствие кариотип не отменяет.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года — самый ранний срок, а не обязательный: начать можно и позже, пока зоны роста открыты. В пересчёте на поверхность тела стартовая доза 1,3–⁠1,5 мг/м² в сутки. Лечат, пока костный возраст не дойдёт до 14 лет или скорость роста не упадёт ниже 2 см в год. Это уже слабая рекомендация. Зачем анализы с 8–⁠9 лет? Больше трети девочек начинают пубертат сами, но спонтанное менархе бывает лишь у каждой пятой. Поэтому на сохранение фертильности девочку направляют вовремя. Эстрогены не откладывайте ради лишних сантиметров: что известно о раннем старте, увидим на слайде 33.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 второй строке доверительный интервал от −4,9 до −0,8, весь ниже нуля. В рандомизированном исследовании той же схемы итог обратный, на грани значимости. К малым дозам эстрадиола при индукции это не относится. Руководство Европейской референсной сети даёт мальчикам слабый совет при очень низком качестве данных, девочкам — сильную рекомендацию, а для мальчиков с конституциональной задержкой схемы не даёт. Оно же допускает делить пластырь, самый малый во многих странах 50 мкг/сут. Дозы при синдроме Тернера без оценки. Энантат заменяют 10 мг тестостерона на кожу через день или 40 мг ундеканоата внутрь ежедневно. В метаанализе 2026 года тестостерон обошёл оксандролон на 2,64 см, но сравнивали подгруппы. Контрацептивы для индукции не советуют, при синдроме Тернера — и этинилэстрадиол.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взрослого эндокринолога главное: индукция заканчивается, а лечение нет. При врождённом гипогонадизме оно обычно пожизненное. Европейская референсная сеть предлагает обсуждать выбор между тестостероном и гонадотропинами ещё при индукции. Что выбрали, я бы записал в выписке. В опросе 169 человек с синдромом Тернера треть бросивших эстрогены была моложе 50 лет. У 27 % лечение хотя бы раз прерывалось за 10 лет, поэтому на каждом визите спрашиваем, получает ли пациентка эстрогены на самом деле. Европейское общество детской эндокринологии в общей позиции 2026 года пишет, что раздробленная помощь особенно вредит при переходе. Переход после болезни Кушинга — на слайде 21. Детей с центральным гипотиреозом и дефицитом СТГ я передаю так же, с подробной выпиской, это мой опыт.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Напомню: в разделах о болезнях я эти два анализа намеренно не трогал. Что сильнее зависит от питания, ИФР-⁠1 или ИФРСБ-⁠3, прямо никто не сравнивал. А при тяжёлом недоедании ИФРСБ-⁠3 падает вместе с ИФР-⁠1, это видно в таблице на слайде 41. Посмотрите на две нижние строки: в многоцентровом исследовании 2005 года ИФРСБ-⁠3 пропустил почти три четверти случаев. Выигрыш в специфичности небольшой, не переоценивайте его. Нормальный ИФРСБ-⁠3 дефицит СТГ не исключает. Добавлять его только до 3 лет советует голландское руководство, но это национальная практика, а не международная рекомендация. Поэтому у меня ИФРСБ-⁠3 только дополняет ИФР-⁠1.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Возьмём мальчика 14 лет без признаков пубертата. Норма для его паспортного возраста уже рассчитана на подъём ИФР-⁠1, которого у него ещё нет. Насколько велик этот подъём, видно по датской работе 1994 года. Средние до начала пубертата росли от 80 до 200 нг/мл, а в пубертате доходили примерно до 500. Это старый радиоиммунный анализ после экстракции кислым этанолом, с бланком вашей лаборатории эти цифры не сравнивайте. Сами датские авторы осторожны: поправка на возраст, пол и стадию Таннера, по их словам, может помочь отличить задержку от дефицита СТГ. Три нижние строки — мнение экспертов, авторов обзора. Граница «до пубертата» условна: в Нидерландах 9 лет у девочек и 10 у мальчиков, у других авторов 8 и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ИФР-⁠1 ребёнку сделали в одной лаборатории, а контрольный — в соседней, на другом анализаторе. Сравнивать эти цифры напрямую нельзя. Шесть методов сопоставили французские авторы, больных и детей в их работе не было. Последняя строка утешает лишь отчасти: у одного и того же человека категория СО совпадала не всегда. Препарат 02/254 Всемирная организация здравоохранения утвердила первым международным стандартом ИФР-⁠1. Консенсус 2011 года подготовили Общество по изучению гормона роста, Общество по изучению ИФР и Международная федерация клинической химии и лабораторной медицины. Нормы они просили строить на случайной выборке населения всех возрастов. Что с этим делать на приёме? Прежде всего узнать, на каком анализаторе получена цифра.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Обычный бланк: число и интервал, а СО нет. Сначала посмотрите, какие центили стоят у границ интервала: 2,5-й и 97,5-й, 3-й и 97-й или другие. Совет про детей в четвёртой строке — мой. Если параметров для вашего набора нет, я ориентируюсь на нижнюю границу: это примерно −2 СО. Пороги 0 и −1 СО со следующего слайда по одному интервалу не определить, тогда решаю по клинике. Сам расчёт — метод Коула и Грина. По данным французских авторов, так же построены и нормы 2014 года: 15 014 человек от рождения до 94 лет. Если лаборатория выдаёт ИФР-⁠1 в нмоль/л, умножьте на 7,65 и получите нг/мл.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границе −2 СО ИФР-⁠1 пропускает около трети детей с дефицитом СТГ. В точке, где тест различает лучше всего, при −0,83 СО, специфичность лишь 47 %. Поэтому порог двигают по клинике. Вес признаков «за» и «против» — личное мнение авторов. Проба оправдана, если после анализа вероятность выше 10 %. Пример: при исходных 10 % результат ниже −1 СО поднимает её до 16 %. Строка об умеренной вероятности — моя, по тексту и расчёту обзора. Его авторы считали на голландских детях от 4 лет, а пороги верны, только если СО взят по нормам вашего метода. Пункт о пангипопитуитаризме эксперты приняли для детей и взрослых, хотя в детской группе согласия достигли лишь по 17 утверждениям из 29.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смотреть таблицы, разложим причины по уровням оси. Основная часть ИФР-⁠1 в крови вырабатывается в печени в ответ на СТГ. При гипотиреозе СТГ мало уже на выходе из гипофиза. При голодании, циррозе и плохо компенсированном диабете СТГ много, но печень на него не отвечает: это приобретённая резистентность. При синдроме Ларона не работает сам рецептор. При болезни почек ИФР-⁠1 в анализе нормальный, но избыток связывающих белков снижает его действие, при артрите ИФРСБ-⁠3 разрушается быстрее. Воспаление меняет и развитие самого хряща. Мой совет: низкий ИФР-⁠1 у худого или больного ребёнка сначала объясняют питанием и болезнью, а уже потом думают о дефиците СТГ.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каждого ребёнка из этой таблицы ИФР-⁠1 низкий, но снижает его сама болезнь. Про гипотиреоз скажу прямо: сроки, за которые ИФР-⁠1 приходит в норму, известны только у младенцев с атиреозом. При диабете к резистентности печени добавляется нехватка инсулина из воротной вены. У детей с артритом видна только связь с интерлейкином-6, механизм показан на мышах. Как ведёт себя ИФРСБ-⁠3 при задержке пубертата, мы знаем только по здоровым детям. Если у подростка с хронической болезнью или недоеданием задержан и пубертат, вспомните функциональный гипогонадизм со слайда 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Ловушка здесь обратная. При ожирении нормальный ИФР-⁠1 на фоне сниженной секреции СТГ — обычная картина. Авторы обзора 2020 года допускают, что у таких детей порог ИФР-⁠1 для направления на пробу может быть выше. Низкий СТГ на пробе у них трактуйте осторожно. В работе о болезни Кушинга, где были подростки и взрослые, подавление СТГ держалось не меньше года после излечения, хотя растущие пациенты уже ускорили рост. Значит, нормальный ИФР-⁠1 после операции дефицит СТГ не исключает. Низкий ответ на пробе в первые месяцы, по-моему, может оказаться временным. Но данных о восстановлении нет, и откладывать из-за этого лечение СТГ не нужно, как на слайде 23. При синдроме Ларона из 40 пациентов с подозрением мутации GHR нашли у 34.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Логотип" descr="логоти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822960"/>
            <a:ext cx="4754880" cy="1761067"/>
          </a:xfrm>
          <a:prstGeom prst="rect">
            <a:avLst/>
          </a:prstGeom>
        </p:spPr>
      </p:pic>
      <p:sp>
        <p:nvSpPr>
          <p:cNvPr id="3" name="Название"/>
          <p:cNvSpPr txBox="1"/>
          <p:nvPr/>
        </p:nvSpPr>
        <p:spPr>
          <a:xfrm>
            <a:off x="548640" y="3063240"/>
            <a:ext cx="9601200" cy="1600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95000"/>
              </a:lnSpc>
            </a:pPr>
            <a:r>
              <a:rPr sz="3800" b="1" i="0">
                <a:solidFill>
                  <a:srgbClr val="1B2E3C"/>
                </a:solidFill>
                <a:latin typeface="Cambria"/>
              </a:rPr>
              <a:t>Эндокринные причины низкорослости у детей и подростков</a:t>
            </a:r>
          </a:p>
        </p:txBody>
      </p:sp>
      <p:sp>
        <p:nvSpPr>
          <p:cNvPr id="4" name="Автор"/>
          <p:cNvSpPr txBox="1"/>
          <p:nvPr/>
        </p:nvSpPr>
        <p:spPr>
          <a:xfrm>
            <a:off x="548640" y="498348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000" b="1" i="0">
                <a:solidFill>
                  <a:srgbClr val="26323A"/>
                </a:solidFill>
                <a:latin typeface="Calibri"/>
              </a:rPr>
              <a:t>Сиддиков Абдлубосит Адхамович</a:t>
            </a:r>
          </a:p>
          <a:p>
            <a:r>
              <a:rPr sz="1600" b="0" i="0">
                <a:solidFill>
                  <a:srgbClr val="66737C"/>
                </a:solidFill>
                <a:latin typeface="Calibri"/>
              </a:rPr>
              <a:t>взрослый и детский эндокринолог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Первым делом смотрите, что отстаёт раньше: рост или масса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08760"/>
            <a:ext cx="5387187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2E3C"/>
                </a:solidFill>
                <a:latin typeface="Calibri"/>
              </a:rPr>
              <a:t>Гипотиреоз</a:t>
            </a:r>
          </a:p>
        </p:txBody>
      </p:sp>
      <p:sp>
        <p:nvSpPr>
          <p:cNvPr id="4" name="Гипотиреоз: норма"/>
          <p:cNvSpPr/>
          <p:nvPr/>
        </p:nvSpPr>
        <p:spPr>
          <a:xfrm>
            <a:off x="808640" y="2029789"/>
            <a:ext cx="5087187" cy="629601"/>
          </a:xfrm>
          <a:custGeom>
            <a:avLst/>
            <a:gdLst/>
            <a:ahLst/>
            <a:cxnLst/>
            <a:rect l="l" t="t" r="r" b="b"/>
            <a:pathLst>
              <a:path w="5087187" h="629601">
                <a:moveTo>
                  <a:pt x="0" y="0"/>
                </a:moveTo>
                <a:lnTo>
                  <a:pt x="5087187" y="0"/>
                </a:lnTo>
                <a:lnTo>
                  <a:pt x="5087187" y="629601"/>
                </a:lnTo>
                <a:lnTo>
                  <a:pt x="0" y="629601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Гипотиреоз: 0"/>
          <p:cNvSpPr/>
          <p:nvPr/>
        </p:nvSpPr>
        <p:spPr>
          <a:xfrm>
            <a:off x="808640" y="2344590"/>
            <a:ext cx="5087187" cy="0"/>
          </a:xfrm>
          <a:custGeom>
            <a:avLst/>
            <a:gdLst/>
            <a:ahLst/>
            <a:cxnLst/>
            <a:rect l="l" t="t" r="r" b="b"/>
            <a:pathLst>
              <a:path w="5087187" h="0">
                <a:moveTo>
                  <a:pt x="0" y="0"/>
                </a:moveTo>
                <a:lnTo>
                  <a:pt x="5087187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599483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−2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64590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9696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+2</a:t>
            </a:r>
          </a:p>
        </p:txBody>
      </p:sp>
      <p:sp>
        <p:nvSpPr>
          <p:cNvPr id="9" name="Гипотиреоз: масса"/>
          <p:cNvSpPr/>
          <p:nvPr/>
        </p:nvSpPr>
        <p:spPr>
          <a:xfrm>
            <a:off x="808640" y="2260866"/>
            <a:ext cx="5087187" cy="83724"/>
          </a:xfrm>
          <a:custGeom>
            <a:avLst/>
            <a:gdLst/>
            <a:ahLst/>
            <a:cxnLst/>
            <a:rect l="l" t="t" r="r" b="b"/>
            <a:pathLst>
              <a:path w="5087187" h="83724">
                <a:moveTo>
                  <a:pt x="0" y="83724"/>
                </a:moveTo>
                <a:lnTo>
                  <a:pt x="152615" y="82049"/>
                </a:lnTo>
                <a:lnTo>
                  <a:pt x="305231" y="80375"/>
                </a:lnTo>
                <a:lnTo>
                  <a:pt x="457846" y="78700"/>
                </a:lnTo>
                <a:lnTo>
                  <a:pt x="610462" y="77026"/>
                </a:lnTo>
                <a:lnTo>
                  <a:pt x="763078" y="75351"/>
                </a:lnTo>
                <a:lnTo>
                  <a:pt x="915693" y="73677"/>
                </a:lnTo>
                <a:lnTo>
                  <a:pt x="1068309" y="72002"/>
                </a:lnTo>
                <a:lnTo>
                  <a:pt x="1220925" y="70328"/>
                </a:lnTo>
                <a:lnTo>
                  <a:pt x="1373540" y="68653"/>
                </a:lnTo>
                <a:lnTo>
                  <a:pt x="1526156" y="66979"/>
                </a:lnTo>
                <a:lnTo>
                  <a:pt x="1678771" y="63630"/>
                </a:lnTo>
                <a:lnTo>
                  <a:pt x="1831387" y="60281"/>
                </a:lnTo>
                <a:lnTo>
                  <a:pt x="1984003" y="56932"/>
                </a:lnTo>
                <a:lnTo>
                  <a:pt x="2136618" y="53583"/>
                </a:lnTo>
                <a:lnTo>
                  <a:pt x="2289234" y="50234"/>
                </a:lnTo>
                <a:lnTo>
                  <a:pt x="2441850" y="46885"/>
                </a:lnTo>
                <a:lnTo>
                  <a:pt x="2594465" y="43536"/>
                </a:lnTo>
                <a:lnTo>
                  <a:pt x="2747081" y="40187"/>
                </a:lnTo>
                <a:lnTo>
                  <a:pt x="2899696" y="36838"/>
                </a:lnTo>
                <a:lnTo>
                  <a:pt x="3052312" y="33489"/>
                </a:lnTo>
                <a:lnTo>
                  <a:pt x="3255799" y="30141"/>
                </a:lnTo>
                <a:lnTo>
                  <a:pt x="3459287" y="26792"/>
                </a:lnTo>
                <a:lnTo>
                  <a:pt x="3662775" y="23443"/>
                </a:lnTo>
                <a:lnTo>
                  <a:pt x="3866262" y="20094"/>
                </a:lnTo>
                <a:lnTo>
                  <a:pt x="4069750" y="16745"/>
                </a:lnTo>
                <a:lnTo>
                  <a:pt x="4273237" y="13396"/>
                </a:lnTo>
                <a:lnTo>
                  <a:pt x="4476725" y="10047"/>
                </a:lnTo>
                <a:lnTo>
                  <a:pt x="4680212" y="6698"/>
                </a:lnTo>
                <a:lnTo>
                  <a:pt x="4883700" y="3349"/>
                </a:lnTo>
                <a:lnTo>
                  <a:pt x="5087187" y="0"/>
                </a:lnTo>
              </a:path>
            </a:pathLst>
          </a:custGeom>
          <a:noFill/>
          <a:ln w="31750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Гипотиреоз: рост"/>
          <p:cNvSpPr/>
          <p:nvPr/>
        </p:nvSpPr>
        <p:spPr>
          <a:xfrm>
            <a:off x="808640" y="2378079"/>
            <a:ext cx="5087187" cy="334894"/>
          </a:xfrm>
          <a:custGeom>
            <a:avLst/>
            <a:gdLst/>
            <a:ahLst/>
            <a:cxnLst/>
            <a:rect l="l" t="t" r="r" b="b"/>
            <a:pathLst>
              <a:path w="5087187" h="334894">
                <a:moveTo>
                  <a:pt x="0" y="0"/>
                </a:moveTo>
                <a:lnTo>
                  <a:pt x="152615" y="3349"/>
                </a:lnTo>
                <a:lnTo>
                  <a:pt x="305231" y="6698"/>
                </a:lnTo>
                <a:lnTo>
                  <a:pt x="457846" y="10047"/>
                </a:lnTo>
                <a:lnTo>
                  <a:pt x="610462" y="13396"/>
                </a:lnTo>
                <a:lnTo>
                  <a:pt x="763078" y="16745"/>
                </a:lnTo>
                <a:lnTo>
                  <a:pt x="915693" y="20094"/>
                </a:lnTo>
                <a:lnTo>
                  <a:pt x="1068309" y="23442"/>
                </a:lnTo>
                <a:lnTo>
                  <a:pt x="1220925" y="26791"/>
                </a:lnTo>
                <a:lnTo>
                  <a:pt x="1373540" y="30140"/>
                </a:lnTo>
                <a:lnTo>
                  <a:pt x="1526156" y="33489"/>
                </a:lnTo>
                <a:lnTo>
                  <a:pt x="1678771" y="46885"/>
                </a:lnTo>
                <a:lnTo>
                  <a:pt x="1831387" y="60281"/>
                </a:lnTo>
                <a:lnTo>
                  <a:pt x="1984003" y="73677"/>
                </a:lnTo>
                <a:lnTo>
                  <a:pt x="2136618" y="87072"/>
                </a:lnTo>
                <a:lnTo>
                  <a:pt x="2289234" y="100468"/>
                </a:lnTo>
                <a:lnTo>
                  <a:pt x="2441850" y="113864"/>
                </a:lnTo>
                <a:lnTo>
                  <a:pt x="2594465" y="127260"/>
                </a:lnTo>
                <a:lnTo>
                  <a:pt x="2747081" y="140655"/>
                </a:lnTo>
                <a:lnTo>
                  <a:pt x="2899696" y="154051"/>
                </a:lnTo>
                <a:lnTo>
                  <a:pt x="3052312" y="167447"/>
                </a:lnTo>
                <a:lnTo>
                  <a:pt x="3255799" y="184191"/>
                </a:lnTo>
                <a:lnTo>
                  <a:pt x="3459287" y="200936"/>
                </a:lnTo>
                <a:lnTo>
                  <a:pt x="3662775" y="217681"/>
                </a:lnTo>
                <a:lnTo>
                  <a:pt x="3866262" y="234426"/>
                </a:lnTo>
                <a:lnTo>
                  <a:pt x="4069750" y="251170"/>
                </a:lnTo>
                <a:lnTo>
                  <a:pt x="4273237" y="267915"/>
                </a:lnTo>
                <a:lnTo>
                  <a:pt x="4476725" y="284660"/>
                </a:lnTo>
                <a:lnTo>
                  <a:pt x="4680212" y="301404"/>
                </a:lnTo>
                <a:lnTo>
                  <a:pt x="4883700" y="318149"/>
                </a:lnTo>
                <a:lnTo>
                  <a:pt x="5087187" y="334894"/>
                </a:lnTo>
              </a:path>
            </a:pathLst>
          </a:custGeom>
          <a:noFill/>
          <a:ln w="31750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8640" y="290042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6 лет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5827" y="290042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11 лет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110420"/>
            <a:ext cx="5387187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6323A"/>
                </a:solidFill>
                <a:latin typeface="Calibri"/>
              </a:rPr>
              <a:t>рост стоит, масса прибавляет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5867" y="1508760"/>
            <a:ext cx="5387187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2E3C"/>
                </a:solidFill>
                <a:latin typeface="Calibri"/>
              </a:rPr>
              <a:t>Гиперкортицизм</a:t>
            </a:r>
          </a:p>
        </p:txBody>
      </p:sp>
      <p:sp>
        <p:nvSpPr>
          <p:cNvPr id="15" name="Гиперкортицизм: норма"/>
          <p:cNvSpPr/>
          <p:nvPr/>
        </p:nvSpPr>
        <p:spPr>
          <a:xfrm>
            <a:off x="6515867" y="2029789"/>
            <a:ext cx="5087188" cy="629601"/>
          </a:xfrm>
          <a:custGeom>
            <a:avLst/>
            <a:gdLst/>
            <a:ahLst/>
            <a:cxnLst/>
            <a:rect l="l" t="t" r="r" b="b"/>
            <a:pathLst>
              <a:path w="5087188" h="629601">
                <a:moveTo>
                  <a:pt x="0" y="0"/>
                </a:moveTo>
                <a:lnTo>
                  <a:pt x="5087188" y="0"/>
                </a:lnTo>
                <a:lnTo>
                  <a:pt x="5087188" y="629601"/>
                </a:lnTo>
                <a:lnTo>
                  <a:pt x="0" y="629601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Гиперкортицизм: 0"/>
          <p:cNvSpPr/>
          <p:nvPr/>
        </p:nvSpPr>
        <p:spPr>
          <a:xfrm>
            <a:off x="6515867" y="2344590"/>
            <a:ext cx="5087188" cy="0"/>
          </a:xfrm>
          <a:custGeom>
            <a:avLst/>
            <a:gdLst/>
            <a:ahLst/>
            <a:cxnLst/>
            <a:rect l="l" t="t" r="r" b="b"/>
            <a:pathLst>
              <a:path w="5087188" h="0">
                <a:moveTo>
                  <a:pt x="0" y="0"/>
                </a:moveTo>
                <a:lnTo>
                  <a:pt x="5087188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55867" y="2599483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−2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5867" y="2264590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55867" y="1929696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+2</a:t>
            </a:r>
          </a:p>
        </p:txBody>
      </p:sp>
      <p:sp>
        <p:nvSpPr>
          <p:cNvPr id="20" name="Гиперкортицизм: масса"/>
          <p:cNvSpPr/>
          <p:nvPr/>
        </p:nvSpPr>
        <p:spPr>
          <a:xfrm>
            <a:off x="6515867" y="1909228"/>
            <a:ext cx="5087188" cy="385127"/>
          </a:xfrm>
          <a:custGeom>
            <a:avLst/>
            <a:gdLst/>
            <a:ahLst/>
            <a:cxnLst/>
            <a:rect l="l" t="t" r="r" b="b"/>
            <a:pathLst>
              <a:path w="5087188" h="385127">
                <a:moveTo>
                  <a:pt x="0" y="385127"/>
                </a:moveTo>
                <a:lnTo>
                  <a:pt x="152616" y="376755"/>
                </a:lnTo>
                <a:lnTo>
                  <a:pt x="305231" y="368383"/>
                </a:lnTo>
                <a:lnTo>
                  <a:pt x="457847" y="360010"/>
                </a:lnTo>
                <a:lnTo>
                  <a:pt x="610463" y="351638"/>
                </a:lnTo>
                <a:lnTo>
                  <a:pt x="763078" y="343266"/>
                </a:lnTo>
                <a:lnTo>
                  <a:pt x="915694" y="334893"/>
                </a:lnTo>
                <a:lnTo>
                  <a:pt x="1068309" y="326521"/>
                </a:lnTo>
                <a:lnTo>
                  <a:pt x="1220925" y="318149"/>
                </a:lnTo>
                <a:lnTo>
                  <a:pt x="1373541" y="309776"/>
                </a:lnTo>
                <a:lnTo>
                  <a:pt x="1526156" y="301404"/>
                </a:lnTo>
                <a:lnTo>
                  <a:pt x="1678772" y="282985"/>
                </a:lnTo>
                <a:lnTo>
                  <a:pt x="1831388" y="264566"/>
                </a:lnTo>
                <a:lnTo>
                  <a:pt x="1984003" y="246147"/>
                </a:lnTo>
                <a:lnTo>
                  <a:pt x="2136619" y="227727"/>
                </a:lnTo>
                <a:lnTo>
                  <a:pt x="2289234" y="209308"/>
                </a:lnTo>
                <a:lnTo>
                  <a:pt x="2441850" y="190889"/>
                </a:lnTo>
                <a:lnTo>
                  <a:pt x="2594466" y="172470"/>
                </a:lnTo>
                <a:lnTo>
                  <a:pt x="2747081" y="154051"/>
                </a:lnTo>
                <a:lnTo>
                  <a:pt x="2899697" y="135632"/>
                </a:lnTo>
                <a:lnTo>
                  <a:pt x="3052313" y="117212"/>
                </a:lnTo>
                <a:lnTo>
                  <a:pt x="3255800" y="105491"/>
                </a:lnTo>
                <a:lnTo>
                  <a:pt x="3459288" y="93770"/>
                </a:lnTo>
                <a:lnTo>
                  <a:pt x="3662775" y="82049"/>
                </a:lnTo>
                <a:lnTo>
                  <a:pt x="3866263" y="70327"/>
                </a:lnTo>
                <a:lnTo>
                  <a:pt x="4069750" y="58606"/>
                </a:lnTo>
                <a:lnTo>
                  <a:pt x="4273238" y="46885"/>
                </a:lnTo>
                <a:lnTo>
                  <a:pt x="4476725" y="35163"/>
                </a:lnTo>
                <a:lnTo>
                  <a:pt x="4680213" y="23442"/>
                </a:lnTo>
                <a:lnTo>
                  <a:pt x="4883700" y="11721"/>
                </a:lnTo>
                <a:lnTo>
                  <a:pt x="5087188" y="0"/>
                </a:lnTo>
              </a:path>
            </a:pathLst>
          </a:custGeom>
          <a:noFill/>
          <a:ln w="31750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Гиперкортицизм: рост"/>
          <p:cNvSpPr/>
          <p:nvPr/>
        </p:nvSpPr>
        <p:spPr>
          <a:xfrm>
            <a:off x="6515867" y="2294355"/>
            <a:ext cx="5087188" cy="351639"/>
          </a:xfrm>
          <a:custGeom>
            <a:avLst/>
            <a:gdLst/>
            <a:ahLst/>
            <a:cxnLst/>
            <a:rect l="l" t="t" r="r" b="b"/>
            <a:pathLst>
              <a:path w="5087188" h="351639">
                <a:moveTo>
                  <a:pt x="0" y="0"/>
                </a:moveTo>
                <a:lnTo>
                  <a:pt x="152616" y="1675"/>
                </a:lnTo>
                <a:lnTo>
                  <a:pt x="305231" y="3349"/>
                </a:lnTo>
                <a:lnTo>
                  <a:pt x="457847" y="5024"/>
                </a:lnTo>
                <a:lnTo>
                  <a:pt x="610463" y="6698"/>
                </a:lnTo>
                <a:lnTo>
                  <a:pt x="763078" y="8373"/>
                </a:lnTo>
                <a:lnTo>
                  <a:pt x="915694" y="10047"/>
                </a:lnTo>
                <a:lnTo>
                  <a:pt x="1068309" y="11722"/>
                </a:lnTo>
                <a:lnTo>
                  <a:pt x="1220925" y="13396"/>
                </a:lnTo>
                <a:lnTo>
                  <a:pt x="1373541" y="15071"/>
                </a:lnTo>
                <a:lnTo>
                  <a:pt x="1526156" y="16745"/>
                </a:lnTo>
                <a:lnTo>
                  <a:pt x="1678772" y="33490"/>
                </a:lnTo>
                <a:lnTo>
                  <a:pt x="1831388" y="50235"/>
                </a:lnTo>
                <a:lnTo>
                  <a:pt x="1984003" y="66979"/>
                </a:lnTo>
                <a:lnTo>
                  <a:pt x="2136619" y="83724"/>
                </a:lnTo>
                <a:lnTo>
                  <a:pt x="2289234" y="100469"/>
                </a:lnTo>
                <a:lnTo>
                  <a:pt x="2441850" y="117213"/>
                </a:lnTo>
                <a:lnTo>
                  <a:pt x="2594466" y="133958"/>
                </a:lnTo>
                <a:lnTo>
                  <a:pt x="2747081" y="150703"/>
                </a:lnTo>
                <a:lnTo>
                  <a:pt x="2899697" y="167447"/>
                </a:lnTo>
                <a:lnTo>
                  <a:pt x="3052313" y="184192"/>
                </a:lnTo>
                <a:lnTo>
                  <a:pt x="3255800" y="200937"/>
                </a:lnTo>
                <a:lnTo>
                  <a:pt x="3459288" y="217681"/>
                </a:lnTo>
                <a:lnTo>
                  <a:pt x="3662775" y="234426"/>
                </a:lnTo>
                <a:lnTo>
                  <a:pt x="3866263" y="251171"/>
                </a:lnTo>
                <a:lnTo>
                  <a:pt x="4069750" y="267915"/>
                </a:lnTo>
                <a:lnTo>
                  <a:pt x="4273238" y="284660"/>
                </a:lnTo>
                <a:lnTo>
                  <a:pt x="4476725" y="301405"/>
                </a:lnTo>
                <a:lnTo>
                  <a:pt x="4680213" y="318150"/>
                </a:lnTo>
                <a:lnTo>
                  <a:pt x="4883700" y="334894"/>
                </a:lnTo>
                <a:lnTo>
                  <a:pt x="5087188" y="351639"/>
                </a:lnTo>
              </a:path>
            </a:pathLst>
          </a:custGeom>
          <a:noFill/>
          <a:ln w="31750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5867" y="290042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6 лет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3055" y="290042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11 лет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5867" y="3110420"/>
            <a:ext cx="5387187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6323A"/>
                </a:solidFill>
                <a:latin typeface="Calibri"/>
              </a:rPr>
              <a:t>рост вниз, масса вверх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589020"/>
            <a:ext cx="5387187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2E3C"/>
                </a:solidFill>
                <a:latin typeface="Calibri"/>
              </a:rPr>
              <a:t>Конституциональная задержка</a:t>
            </a:r>
          </a:p>
        </p:txBody>
      </p:sp>
      <p:sp>
        <p:nvSpPr>
          <p:cNvPr id="26" name="Конституциональная задержка: норма"/>
          <p:cNvSpPr/>
          <p:nvPr/>
        </p:nvSpPr>
        <p:spPr>
          <a:xfrm>
            <a:off x="808640" y="4110049"/>
            <a:ext cx="5087187" cy="629601"/>
          </a:xfrm>
          <a:custGeom>
            <a:avLst/>
            <a:gdLst/>
            <a:ahLst/>
            <a:cxnLst/>
            <a:rect l="l" t="t" r="r" b="b"/>
            <a:pathLst>
              <a:path w="5087187" h="629601">
                <a:moveTo>
                  <a:pt x="0" y="0"/>
                </a:moveTo>
                <a:lnTo>
                  <a:pt x="5087187" y="0"/>
                </a:lnTo>
                <a:lnTo>
                  <a:pt x="5087187" y="629601"/>
                </a:lnTo>
                <a:lnTo>
                  <a:pt x="0" y="629601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Конституциональная задержка: 0"/>
          <p:cNvSpPr/>
          <p:nvPr/>
        </p:nvSpPr>
        <p:spPr>
          <a:xfrm>
            <a:off x="808640" y="4424850"/>
            <a:ext cx="5087187" cy="0"/>
          </a:xfrm>
          <a:custGeom>
            <a:avLst/>
            <a:gdLst/>
            <a:ahLst/>
            <a:cxnLst/>
            <a:rect l="l" t="t" r="r" b="b"/>
            <a:pathLst>
              <a:path w="5087187" h="0">
                <a:moveTo>
                  <a:pt x="0" y="0"/>
                </a:moveTo>
                <a:lnTo>
                  <a:pt x="5087187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679743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−2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344850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009956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+2</a:t>
            </a:r>
          </a:p>
        </p:txBody>
      </p:sp>
      <p:sp>
        <p:nvSpPr>
          <p:cNvPr id="31" name="Конституциональная задержка: масса"/>
          <p:cNvSpPr/>
          <p:nvPr/>
        </p:nvSpPr>
        <p:spPr>
          <a:xfrm>
            <a:off x="808640" y="4508573"/>
            <a:ext cx="5087187" cy="234426"/>
          </a:xfrm>
          <a:custGeom>
            <a:avLst/>
            <a:gdLst/>
            <a:ahLst/>
            <a:cxnLst/>
            <a:rect l="l" t="t" r="r" b="b"/>
            <a:pathLst>
              <a:path w="5087187" h="234426">
                <a:moveTo>
                  <a:pt x="0" y="50234"/>
                </a:moveTo>
                <a:lnTo>
                  <a:pt x="152615" y="53583"/>
                </a:lnTo>
                <a:lnTo>
                  <a:pt x="305231" y="56932"/>
                </a:lnTo>
                <a:lnTo>
                  <a:pt x="457846" y="60281"/>
                </a:lnTo>
                <a:lnTo>
                  <a:pt x="610462" y="63630"/>
                </a:lnTo>
                <a:lnTo>
                  <a:pt x="763078" y="66979"/>
                </a:lnTo>
                <a:lnTo>
                  <a:pt x="915693" y="70328"/>
                </a:lnTo>
                <a:lnTo>
                  <a:pt x="1068309" y="73677"/>
                </a:lnTo>
                <a:lnTo>
                  <a:pt x="1220925" y="77026"/>
                </a:lnTo>
                <a:lnTo>
                  <a:pt x="1373540" y="80374"/>
                </a:lnTo>
                <a:lnTo>
                  <a:pt x="1526156" y="83723"/>
                </a:lnTo>
                <a:lnTo>
                  <a:pt x="1627900" y="95445"/>
                </a:lnTo>
                <a:lnTo>
                  <a:pt x="1729643" y="107166"/>
                </a:lnTo>
                <a:lnTo>
                  <a:pt x="1831387" y="118887"/>
                </a:lnTo>
                <a:lnTo>
                  <a:pt x="1933131" y="130609"/>
                </a:lnTo>
                <a:lnTo>
                  <a:pt x="2034875" y="142330"/>
                </a:lnTo>
                <a:lnTo>
                  <a:pt x="2136618" y="154051"/>
                </a:lnTo>
                <a:lnTo>
                  <a:pt x="2238362" y="165772"/>
                </a:lnTo>
                <a:lnTo>
                  <a:pt x="2340106" y="177494"/>
                </a:lnTo>
                <a:lnTo>
                  <a:pt x="2441850" y="189215"/>
                </a:lnTo>
                <a:lnTo>
                  <a:pt x="2543593" y="200936"/>
                </a:lnTo>
                <a:lnTo>
                  <a:pt x="2594465" y="204285"/>
                </a:lnTo>
                <a:lnTo>
                  <a:pt x="2645337" y="207634"/>
                </a:lnTo>
                <a:lnTo>
                  <a:pt x="2696209" y="210983"/>
                </a:lnTo>
                <a:lnTo>
                  <a:pt x="2747081" y="214332"/>
                </a:lnTo>
                <a:lnTo>
                  <a:pt x="2797953" y="217681"/>
                </a:lnTo>
                <a:lnTo>
                  <a:pt x="2848824" y="221030"/>
                </a:lnTo>
                <a:lnTo>
                  <a:pt x="2899696" y="224379"/>
                </a:lnTo>
                <a:lnTo>
                  <a:pt x="2950568" y="227728"/>
                </a:lnTo>
                <a:lnTo>
                  <a:pt x="3001440" y="231077"/>
                </a:lnTo>
                <a:lnTo>
                  <a:pt x="3052312" y="234426"/>
                </a:lnTo>
                <a:lnTo>
                  <a:pt x="3154056" y="221030"/>
                </a:lnTo>
                <a:lnTo>
                  <a:pt x="3255800" y="207634"/>
                </a:lnTo>
                <a:lnTo>
                  <a:pt x="3357543" y="194238"/>
                </a:lnTo>
                <a:lnTo>
                  <a:pt x="3459287" y="180843"/>
                </a:lnTo>
                <a:lnTo>
                  <a:pt x="3561031" y="167447"/>
                </a:lnTo>
                <a:lnTo>
                  <a:pt x="3662775" y="154051"/>
                </a:lnTo>
                <a:lnTo>
                  <a:pt x="3764518" y="140655"/>
                </a:lnTo>
                <a:lnTo>
                  <a:pt x="3866262" y="127260"/>
                </a:lnTo>
                <a:lnTo>
                  <a:pt x="3968006" y="113864"/>
                </a:lnTo>
                <a:lnTo>
                  <a:pt x="4069750" y="100468"/>
                </a:lnTo>
                <a:lnTo>
                  <a:pt x="4171493" y="90421"/>
                </a:lnTo>
                <a:lnTo>
                  <a:pt x="4273237" y="80374"/>
                </a:lnTo>
                <a:lnTo>
                  <a:pt x="4374981" y="70328"/>
                </a:lnTo>
                <a:lnTo>
                  <a:pt x="4476725" y="60281"/>
                </a:lnTo>
                <a:lnTo>
                  <a:pt x="4578468" y="50234"/>
                </a:lnTo>
                <a:lnTo>
                  <a:pt x="4680212" y="40187"/>
                </a:lnTo>
                <a:lnTo>
                  <a:pt x="4781956" y="30140"/>
                </a:lnTo>
                <a:lnTo>
                  <a:pt x="4883700" y="20094"/>
                </a:lnTo>
                <a:lnTo>
                  <a:pt x="4985443" y="10047"/>
                </a:lnTo>
                <a:lnTo>
                  <a:pt x="5087187" y="0"/>
                </a:lnTo>
              </a:path>
            </a:pathLst>
          </a:custGeom>
          <a:noFill/>
          <a:ln w="31750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Конституциональная задержка: рост"/>
          <p:cNvSpPr/>
          <p:nvPr/>
        </p:nvSpPr>
        <p:spPr>
          <a:xfrm>
            <a:off x="808640" y="4542062"/>
            <a:ext cx="5087187" cy="251171"/>
          </a:xfrm>
          <a:custGeom>
            <a:avLst/>
            <a:gdLst/>
            <a:ahLst/>
            <a:cxnLst/>
            <a:rect l="l" t="t" r="r" b="b"/>
            <a:pathLst>
              <a:path w="5087187" h="251171">
                <a:moveTo>
                  <a:pt x="0" y="50234"/>
                </a:moveTo>
                <a:lnTo>
                  <a:pt x="152615" y="53583"/>
                </a:lnTo>
                <a:lnTo>
                  <a:pt x="305231" y="56932"/>
                </a:lnTo>
                <a:lnTo>
                  <a:pt x="457846" y="60281"/>
                </a:lnTo>
                <a:lnTo>
                  <a:pt x="610462" y="63630"/>
                </a:lnTo>
                <a:lnTo>
                  <a:pt x="763078" y="66979"/>
                </a:lnTo>
                <a:lnTo>
                  <a:pt x="915693" y="70328"/>
                </a:lnTo>
                <a:lnTo>
                  <a:pt x="1068309" y="73677"/>
                </a:lnTo>
                <a:lnTo>
                  <a:pt x="1220925" y="77026"/>
                </a:lnTo>
                <a:lnTo>
                  <a:pt x="1373540" y="80375"/>
                </a:lnTo>
                <a:lnTo>
                  <a:pt x="1526156" y="83724"/>
                </a:lnTo>
                <a:lnTo>
                  <a:pt x="1627900" y="97120"/>
                </a:lnTo>
                <a:lnTo>
                  <a:pt x="1729643" y="110515"/>
                </a:lnTo>
                <a:lnTo>
                  <a:pt x="1831387" y="123911"/>
                </a:lnTo>
                <a:lnTo>
                  <a:pt x="1933131" y="137307"/>
                </a:lnTo>
                <a:lnTo>
                  <a:pt x="2034875" y="150703"/>
                </a:lnTo>
                <a:lnTo>
                  <a:pt x="2136618" y="164098"/>
                </a:lnTo>
                <a:lnTo>
                  <a:pt x="2238362" y="177494"/>
                </a:lnTo>
                <a:lnTo>
                  <a:pt x="2340106" y="190890"/>
                </a:lnTo>
                <a:lnTo>
                  <a:pt x="2441850" y="204286"/>
                </a:lnTo>
                <a:lnTo>
                  <a:pt x="2543593" y="217681"/>
                </a:lnTo>
                <a:lnTo>
                  <a:pt x="2594465" y="221030"/>
                </a:lnTo>
                <a:lnTo>
                  <a:pt x="2645337" y="224379"/>
                </a:lnTo>
                <a:lnTo>
                  <a:pt x="2696209" y="227728"/>
                </a:lnTo>
                <a:lnTo>
                  <a:pt x="2747081" y="231077"/>
                </a:lnTo>
                <a:lnTo>
                  <a:pt x="2797953" y="234426"/>
                </a:lnTo>
                <a:lnTo>
                  <a:pt x="2848824" y="237775"/>
                </a:lnTo>
                <a:lnTo>
                  <a:pt x="2899696" y="241124"/>
                </a:lnTo>
                <a:lnTo>
                  <a:pt x="2950568" y="244473"/>
                </a:lnTo>
                <a:lnTo>
                  <a:pt x="3001440" y="247822"/>
                </a:lnTo>
                <a:lnTo>
                  <a:pt x="3052312" y="251171"/>
                </a:lnTo>
                <a:lnTo>
                  <a:pt x="3154056" y="236100"/>
                </a:lnTo>
                <a:lnTo>
                  <a:pt x="3255800" y="221030"/>
                </a:lnTo>
                <a:lnTo>
                  <a:pt x="3357543" y="205960"/>
                </a:lnTo>
                <a:lnTo>
                  <a:pt x="3459287" y="190890"/>
                </a:lnTo>
                <a:lnTo>
                  <a:pt x="3561031" y="175820"/>
                </a:lnTo>
                <a:lnTo>
                  <a:pt x="3662775" y="160749"/>
                </a:lnTo>
                <a:lnTo>
                  <a:pt x="3764518" y="145679"/>
                </a:lnTo>
                <a:lnTo>
                  <a:pt x="3866262" y="130609"/>
                </a:lnTo>
                <a:lnTo>
                  <a:pt x="3968006" y="115539"/>
                </a:lnTo>
                <a:lnTo>
                  <a:pt x="4069750" y="100468"/>
                </a:lnTo>
                <a:lnTo>
                  <a:pt x="4171493" y="90422"/>
                </a:lnTo>
                <a:lnTo>
                  <a:pt x="4273237" y="80375"/>
                </a:lnTo>
                <a:lnTo>
                  <a:pt x="4374981" y="70328"/>
                </a:lnTo>
                <a:lnTo>
                  <a:pt x="4476725" y="60281"/>
                </a:lnTo>
                <a:lnTo>
                  <a:pt x="4578468" y="50234"/>
                </a:lnTo>
                <a:lnTo>
                  <a:pt x="4680212" y="40188"/>
                </a:lnTo>
                <a:lnTo>
                  <a:pt x="4781956" y="30141"/>
                </a:lnTo>
                <a:lnTo>
                  <a:pt x="4883700" y="20094"/>
                </a:lnTo>
                <a:lnTo>
                  <a:pt x="4985443" y="10047"/>
                </a:lnTo>
                <a:lnTo>
                  <a:pt x="5087187" y="0"/>
                </a:lnTo>
              </a:path>
            </a:pathLst>
          </a:custGeom>
          <a:noFill/>
          <a:ln w="31750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640" y="498068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8 лет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95827" y="498068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18 лет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190680"/>
            <a:ext cx="5387187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6323A"/>
                </a:solidFill>
                <a:latin typeface="Calibri"/>
              </a:rPr>
              <a:t>отставание и поздний скачок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55867" y="3589020"/>
            <a:ext cx="5387187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2E3C"/>
                </a:solidFill>
                <a:latin typeface="Calibri"/>
              </a:rPr>
              <a:t>Синдром Тернера</a:t>
            </a:r>
          </a:p>
        </p:txBody>
      </p:sp>
      <p:sp>
        <p:nvSpPr>
          <p:cNvPr id="37" name="Синдром Тернера: норма"/>
          <p:cNvSpPr/>
          <p:nvPr/>
        </p:nvSpPr>
        <p:spPr>
          <a:xfrm>
            <a:off x="6515867" y="4110049"/>
            <a:ext cx="5087188" cy="629601"/>
          </a:xfrm>
          <a:custGeom>
            <a:avLst/>
            <a:gdLst/>
            <a:ahLst/>
            <a:cxnLst/>
            <a:rect l="l" t="t" r="r" b="b"/>
            <a:pathLst>
              <a:path w="5087188" h="629601">
                <a:moveTo>
                  <a:pt x="0" y="0"/>
                </a:moveTo>
                <a:lnTo>
                  <a:pt x="5087188" y="0"/>
                </a:lnTo>
                <a:lnTo>
                  <a:pt x="5087188" y="629601"/>
                </a:lnTo>
                <a:lnTo>
                  <a:pt x="0" y="629601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Синдром Тернера: 0"/>
          <p:cNvSpPr/>
          <p:nvPr/>
        </p:nvSpPr>
        <p:spPr>
          <a:xfrm>
            <a:off x="6515867" y="4424850"/>
            <a:ext cx="5087188" cy="0"/>
          </a:xfrm>
          <a:custGeom>
            <a:avLst/>
            <a:gdLst/>
            <a:ahLst/>
            <a:cxnLst/>
            <a:rect l="l" t="t" r="r" b="b"/>
            <a:pathLst>
              <a:path w="5087188" h="0">
                <a:moveTo>
                  <a:pt x="0" y="0"/>
                </a:moveTo>
                <a:lnTo>
                  <a:pt x="5087188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5867" y="4679743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−2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55867" y="4344850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55867" y="4009956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+2</a:t>
            </a:r>
          </a:p>
        </p:txBody>
      </p:sp>
      <p:sp>
        <p:nvSpPr>
          <p:cNvPr id="42" name="Синдром Тернера: масса"/>
          <p:cNvSpPr/>
          <p:nvPr/>
        </p:nvSpPr>
        <p:spPr>
          <a:xfrm>
            <a:off x="6515867" y="4475084"/>
            <a:ext cx="5087188" cy="16744"/>
          </a:xfrm>
          <a:custGeom>
            <a:avLst/>
            <a:gdLst/>
            <a:ahLst/>
            <a:cxnLst/>
            <a:rect l="l" t="t" r="r" b="b"/>
            <a:pathLst>
              <a:path w="5087188" h="16744">
                <a:moveTo>
                  <a:pt x="0" y="0"/>
                </a:moveTo>
                <a:lnTo>
                  <a:pt x="138741" y="1674"/>
                </a:lnTo>
                <a:lnTo>
                  <a:pt x="277483" y="3349"/>
                </a:lnTo>
                <a:lnTo>
                  <a:pt x="416224" y="5023"/>
                </a:lnTo>
                <a:lnTo>
                  <a:pt x="554966" y="6697"/>
                </a:lnTo>
                <a:lnTo>
                  <a:pt x="693707" y="8372"/>
                </a:lnTo>
                <a:lnTo>
                  <a:pt x="832449" y="10046"/>
                </a:lnTo>
                <a:lnTo>
                  <a:pt x="971190" y="11721"/>
                </a:lnTo>
                <a:lnTo>
                  <a:pt x="1109932" y="13395"/>
                </a:lnTo>
                <a:lnTo>
                  <a:pt x="1248673" y="15070"/>
                </a:lnTo>
                <a:lnTo>
                  <a:pt x="1387415" y="16744"/>
                </a:lnTo>
                <a:lnTo>
                  <a:pt x="1526156" y="16744"/>
                </a:lnTo>
                <a:lnTo>
                  <a:pt x="1664898" y="16744"/>
                </a:lnTo>
                <a:lnTo>
                  <a:pt x="1803639" y="16744"/>
                </a:lnTo>
                <a:lnTo>
                  <a:pt x="1942381" y="16744"/>
                </a:lnTo>
                <a:lnTo>
                  <a:pt x="2081122" y="16744"/>
                </a:lnTo>
                <a:lnTo>
                  <a:pt x="2219864" y="16744"/>
                </a:lnTo>
                <a:lnTo>
                  <a:pt x="2358605" y="16744"/>
                </a:lnTo>
                <a:lnTo>
                  <a:pt x="2497347" y="16744"/>
                </a:lnTo>
                <a:lnTo>
                  <a:pt x="2636088" y="16744"/>
                </a:lnTo>
                <a:lnTo>
                  <a:pt x="2774830" y="16744"/>
                </a:lnTo>
                <a:lnTo>
                  <a:pt x="2913571" y="15070"/>
                </a:lnTo>
                <a:lnTo>
                  <a:pt x="3052313" y="13395"/>
                </a:lnTo>
                <a:lnTo>
                  <a:pt x="3191054" y="11721"/>
                </a:lnTo>
                <a:lnTo>
                  <a:pt x="3329795" y="10046"/>
                </a:lnTo>
                <a:lnTo>
                  <a:pt x="3468537" y="8372"/>
                </a:lnTo>
                <a:lnTo>
                  <a:pt x="3607278" y="6697"/>
                </a:lnTo>
                <a:lnTo>
                  <a:pt x="3746020" y="5023"/>
                </a:lnTo>
                <a:lnTo>
                  <a:pt x="3884761" y="3349"/>
                </a:lnTo>
                <a:lnTo>
                  <a:pt x="4023503" y="1674"/>
                </a:lnTo>
                <a:lnTo>
                  <a:pt x="4162244" y="0"/>
                </a:lnTo>
                <a:lnTo>
                  <a:pt x="4254739" y="0"/>
                </a:lnTo>
                <a:lnTo>
                  <a:pt x="4347233" y="0"/>
                </a:lnTo>
                <a:lnTo>
                  <a:pt x="4439727" y="0"/>
                </a:lnTo>
                <a:lnTo>
                  <a:pt x="4532222" y="0"/>
                </a:lnTo>
                <a:lnTo>
                  <a:pt x="4624716" y="0"/>
                </a:lnTo>
                <a:lnTo>
                  <a:pt x="4717210" y="0"/>
                </a:lnTo>
                <a:lnTo>
                  <a:pt x="4809705" y="0"/>
                </a:lnTo>
                <a:lnTo>
                  <a:pt x="4902199" y="0"/>
                </a:lnTo>
                <a:lnTo>
                  <a:pt x="4994693" y="0"/>
                </a:lnTo>
                <a:lnTo>
                  <a:pt x="5087188" y="0"/>
                </a:lnTo>
              </a:path>
            </a:pathLst>
          </a:custGeom>
          <a:noFill/>
          <a:ln w="31750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Синдром Тернера: рост"/>
          <p:cNvSpPr/>
          <p:nvPr/>
        </p:nvSpPr>
        <p:spPr>
          <a:xfrm>
            <a:off x="6515867" y="4558807"/>
            <a:ext cx="5087188" cy="385128"/>
          </a:xfrm>
          <a:custGeom>
            <a:avLst/>
            <a:gdLst/>
            <a:ahLst/>
            <a:cxnLst/>
            <a:rect l="l" t="t" r="r" b="b"/>
            <a:pathLst>
              <a:path w="5087188" h="385128">
                <a:moveTo>
                  <a:pt x="0" y="0"/>
                </a:moveTo>
                <a:lnTo>
                  <a:pt x="138741" y="11721"/>
                </a:lnTo>
                <a:lnTo>
                  <a:pt x="277483" y="23443"/>
                </a:lnTo>
                <a:lnTo>
                  <a:pt x="416224" y="35164"/>
                </a:lnTo>
                <a:lnTo>
                  <a:pt x="554966" y="46885"/>
                </a:lnTo>
                <a:lnTo>
                  <a:pt x="693707" y="58606"/>
                </a:lnTo>
                <a:lnTo>
                  <a:pt x="832449" y="70328"/>
                </a:lnTo>
                <a:lnTo>
                  <a:pt x="971190" y="82049"/>
                </a:lnTo>
                <a:lnTo>
                  <a:pt x="1109932" y="93770"/>
                </a:lnTo>
                <a:lnTo>
                  <a:pt x="1248673" y="105492"/>
                </a:lnTo>
                <a:lnTo>
                  <a:pt x="1387415" y="117213"/>
                </a:lnTo>
                <a:lnTo>
                  <a:pt x="1526156" y="128934"/>
                </a:lnTo>
                <a:lnTo>
                  <a:pt x="1664898" y="140655"/>
                </a:lnTo>
                <a:lnTo>
                  <a:pt x="1803639" y="152377"/>
                </a:lnTo>
                <a:lnTo>
                  <a:pt x="1942381" y="164098"/>
                </a:lnTo>
                <a:lnTo>
                  <a:pt x="2081122" y="175819"/>
                </a:lnTo>
                <a:lnTo>
                  <a:pt x="2219864" y="187541"/>
                </a:lnTo>
                <a:lnTo>
                  <a:pt x="2358605" y="199262"/>
                </a:lnTo>
                <a:lnTo>
                  <a:pt x="2497347" y="210983"/>
                </a:lnTo>
                <a:lnTo>
                  <a:pt x="2636088" y="222704"/>
                </a:lnTo>
                <a:lnTo>
                  <a:pt x="2774830" y="234426"/>
                </a:lnTo>
                <a:lnTo>
                  <a:pt x="2913571" y="244472"/>
                </a:lnTo>
                <a:lnTo>
                  <a:pt x="3052313" y="254519"/>
                </a:lnTo>
                <a:lnTo>
                  <a:pt x="3191054" y="264566"/>
                </a:lnTo>
                <a:lnTo>
                  <a:pt x="3329795" y="274613"/>
                </a:lnTo>
                <a:lnTo>
                  <a:pt x="3468537" y="284660"/>
                </a:lnTo>
                <a:lnTo>
                  <a:pt x="3607278" y="294707"/>
                </a:lnTo>
                <a:lnTo>
                  <a:pt x="3746020" y="304753"/>
                </a:lnTo>
                <a:lnTo>
                  <a:pt x="3884761" y="314800"/>
                </a:lnTo>
                <a:lnTo>
                  <a:pt x="4023503" y="324847"/>
                </a:lnTo>
                <a:lnTo>
                  <a:pt x="4162244" y="334894"/>
                </a:lnTo>
                <a:lnTo>
                  <a:pt x="4254739" y="339917"/>
                </a:lnTo>
                <a:lnTo>
                  <a:pt x="4347233" y="344941"/>
                </a:lnTo>
                <a:lnTo>
                  <a:pt x="4439727" y="349964"/>
                </a:lnTo>
                <a:lnTo>
                  <a:pt x="4532222" y="354987"/>
                </a:lnTo>
                <a:lnTo>
                  <a:pt x="4624716" y="360011"/>
                </a:lnTo>
                <a:lnTo>
                  <a:pt x="4717210" y="365034"/>
                </a:lnTo>
                <a:lnTo>
                  <a:pt x="4809705" y="370058"/>
                </a:lnTo>
                <a:lnTo>
                  <a:pt x="4902199" y="375081"/>
                </a:lnTo>
                <a:lnTo>
                  <a:pt x="4994693" y="380104"/>
                </a:lnTo>
                <a:lnTo>
                  <a:pt x="5087188" y="385128"/>
                </a:lnTo>
              </a:path>
            </a:pathLst>
          </a:custGeom>
          <a:noFill/>
          <a:ln w="31750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15867" y="498068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2 лет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03055" y="498068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13 лет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55867" y="5190680"/>
            <a:ext cx="5387187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6323A"/>
                </a:solidFill>
                <a:latin typeface="Calibri"/>
              </a:rPr>
              <a:t>постепенный уход вниз от центилей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5559552"/>
            <a:ext cx="274320" cy="9144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Легенда"/>
          <p:cNvSpPr txBox="1"/>
          <p:nvPr/>
        </p:nvSpPr>
        <p:spPr>
          <a:xfrm>
            <a:off x="896112" y="5495544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рост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5559552"/>
            <a:ext cx="274320" cy="91440"/>
          </a:xfrm>
          <a:prstGeom prst="rect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Легенда"/>
          <p:cNvSpPr txBox="1"/>
          <p:nvPr/>
        </p:nvSpPr>
        <p:spPr>
          <a:xfrm>
            <a:off x="2724912" y="5495544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масса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06240" y="5559552"/>
            <a:ext cx="274320" cy="9144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Легенда"/>
          <p:cNvSpPr txBox="1"/>
          <p:nvPr/>
        </p:nvSpPr>
        <p:spPr>
          <a:xfrm>
            <a:off x="4553712" y="5495544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коридор нормы</a:t>
            </a:r>
          </a:p>
        </p:txBody>
      </p:sp>
      <p:sp>
        <p:nvSpPr>
          <p:cNvPr id="53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Mameli C et al. Ital J Pediatr 2026;52(1), PMID 41723458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Одно измерение роста мало что говорит, решает скорость роста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Скорость роста меняется раньше, чем рост становится заметно низким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Рост в СО: число стандартных отклонений от средней для возраста и пола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Пересечение центилей вниз: рост в СО падает, ребёнок растёт медленнее сверстников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Порог низкорослости: −2 СО в 28 из 42 работ, центильный (чаще 3-й) в 19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Целевой рост: средний рост родителей, мальчикам плюс 6,5 см, девочкам минус 6,5 см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Mameli C et al. Ital J Pediatr 2026;52(1), PMID 41723458 (описание метода Таннера: среднее роста родителей ±6,5 см); Tanner JM et al. Arch Dis Child 1970;45:755–⁠62 (центильные таблицы с поправкой на рост родителей)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Костный возраст показывает запас роста, но причину не называет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Тяжёлый приобретённый гипотиреоз: отставание в среднем 5,2 года у девочек, 4,2 года у мальчиков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Конституциональная задержка роста и пубертата: костный возраст тоже отстаёт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Отставание бывает и у здоровых низкорослых детей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Rivkees SA et al. N Engl J Med 1988;318:599–⁠602; Persani L et al. Endocrine 2021;71:681–⁠8; Martin DD et al. Horm Res Paediatr 2011;76:1–⁠9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Кость растёт в длину в зоне роста, и каждая болезнь действует на своё звено</a:t>
            </a:r>
          </a:p>
        </p:txBody>
      </p:sp>
      <p:sp>
        <p:nvSpPr>
          <p:cNvPr id="3" name="Зона: Покоящийся хрящ"/>
          <p:cNvSpPr/>
          <p:nvPr/>
        </p:nvSpPr>
        <p:spPr>
          <a:xfrm>
            <a:off x="548640" y="1554480"/>
            <a:ext cx="2743200" cy="633679"/>
          </a:xfrm>
          <a:prstGeom prst="rect">
            <a:avLst/>
          </a:prstGeom>
          <a:solidFill>
            <a:srgbClr val="E4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Зона: Деление: клетки встают столбиками"/>
          <p:cNvSpPr/>
          <p:nvPr/>
        </p:nvSpPr>
        <p:spPr>
          <a:xfrm>
            <a:off x="548640" y="2188159"/>
            <a:ext cx="2743200" cy="1196949"/>
          </a:xfrm>
          <a:prstGeom prst="rect">
            <a:avLst/>
          </a:prstGeom>
          <a:solidFill>
            <a:srgbClr val="E4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Зона: Созревание: клетки крупнеют"/>
          <p:cNvSpPr/>
          <p:nvPr/>
        </p:nvSpPr>
        <p:spPr>
          <a:xfrm>
            <a:off x="548640" y="3385108"/>
            <a:ext cx="2743200" cy="915314"/>
          </a:xfrm>
          <a:prstGeom prst="rect">
            <a:avLst/>
          </a:prstGeom>
          <a:solidFill>
            <a:srgbClr val="E4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Зона: Хрящ замещается костью"/>
          <p:cNvSpPr/>
          <p:nvPr/>
        </p:nvSpPr>
        <p:spPr>
          <a:xfrm>
            <a:off x="548640" y="4300423"/>
            <a:ext cx="2743200" cy="774496"/>
          </a:xfrm>
          <a:prstGeom prst="rect">
            <a:avLst/>
          </a:prstGeom>
          <a:solidFill>
            <a:srgbClr val="EDE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Клетка"/>
          <p:cNvSpPr/>
          <p:nvPr/>
        </p:nvSpPr>
        <p:spPr>
          <a:xfrm>
            <a:off x="1440887" y="1700129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Клетка"/>
          <p:cNvSpPr/>
          <p:nvPr/>
        </p:nvSpPr>
        <p:spPr>
          <a:xfrm>
            <a:off x="2203596" y="1671950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Клетка"/>
          <p:cNvSpPr/>
          <p:nvPr/>
        </p:nvSpPr>
        <p:spPr>
          <a:xfrm>
            <a:off x="1935326" y="1777333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Клетка"/>
          <p:cNvSpPr/>
          <p:nvPr/>
        </p:nvSpPr>
        <p:spPr>
          <a:xfrm>
            <a:off x="821037" y="1828271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Клетка"/>
          <p:cNvSpPr/>
          <p:nvPr/>
        </p:nvSpPr>
        <p:spPr>
          <a:xfrm>
            <a:off x="773229" y="1801754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Клетка"/>
          <p:cNvSpPr/>
          <p:nvPr/>
        </p:nvSpPr>
        <p:spPr>
          <a:xfrm>
            <a:off x="848683" y="1678518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Клетка"/>
          <p:cNvSpPr/>
          <p:nvPr/>
        </p:nvSpPr>
        <p:spPr>
          <a:xfrm>
            <a:off x="1675659" y="1943056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Клетка"/>
          <p:cNvSpPr/>
          <p:nvPr/>
        </p:nvSpPr>
        <p:spPr>
          <a:xfrm>
            <a:off x="974471" y="1726142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Клетка"/>
          <p:cNvSpPr/>
          <p:nvPr/>
        </p:nvSpPr>
        <p:spPr>
          <a:xfrm>
            <a:off x="2148798" y="1986487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Клетка"/>
          <p:cNvSpPr/>
          <p:nvPr/>
        </p:nvSpPr>
        <p:spPr>
          <a:xfrm>
            <a:off x="2031442" y="1788470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Клетка"/>
          <p:cNvSpPr/>
          <p:nvPr/>
        </p:nvSpPr>
        <p:spPr>
          <a:xfrm>
            <a:off x="2962153" y="1662659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Клетка"/>
          <p:cNvSpPr/>
          <p:nvPr/>
        </p:nvSpPr>
        <p:spPr>
          <a:xfrm>
            <a:off x="2687508" y="1749993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Клетка"/>
          <p:cNvSpPr/>
          <p:nvPr/>
        </p:nvSpPr>
        <p:spPr>
          <a:xfrm>
            <a:off x="1022162" y="1688249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Клетка"/>
          <p:cNvSpPr/>
          <p:nvPr/>
        </p:nvSpPr>
        <p:spPr>
          <a:xfrm>
            <a:off x="1405093" y="1939202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Клетка"/>
          <p:cNvSpPr/>
          <p:nvPr/>
        </p:nvSpPr>
        <p:spPr>
          <a:xfrm>
            <a:off x="676656" y="224302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Клетка"/>
          <p:cNvSpPr/>
          <p:nvPr/>
        </p:nvSpPr>
        <p:spPr>
          <a:xfrm>
            <a:off x="676656" y="234817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Клетка"/>
          <p:cNvSpPr/>
          <p:nvPr/>
        </p:nvSpPr>
        <p:spPr>
          <a:xfrm>
            <a:off x="676656" y="245333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Клетка"/>
          <p:cNvSpPr/>
          <p:nvPr/>
        </p:nvSpPr>
        <p:spPr>
          <a:xfrm>
            <a:off x="676656" y="255849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Клетка"/>
          <p:cNvSpPr/>
          <p:nvPr/>
        </p:nvSpPr>
        <p:spPr>
          <a:xfrm>
            <a:off x="676656" y="266364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Клетка"/>
          <p:cNvSpPr/>
          <p:nvPr/>
        </p:nvSpPr>
        <p:spPr>
          <a:xfrm>
            <a:off x="676656" y="276880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Клетка"/>
          <p:cNvSpPr/>
          <p:nvPr/>
        </p:nvSpPr>
        <p:spPr>
          <a:xfrm>
            <a:off x="676656" y="287395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Клетка"/>
          <p:cNvSpPr/>
          <p:nvPr/>
        </p:nvSpPr>
        <p:spPr>
          <a:xfrm>
            <a:off x="676656" y="297911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Клетка"/>
          <p:cNvSpPr/>
          <p:nvPr/>
        </p:nvSpPr>
        <p:spPr>
          <a:xfrm>
            <a:off x="676656" y="308427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Клетка"/>
          <p:cNvSpPr/>
          <p:nvPr/>
        </p:nvSpPr>
        <p:spPr>
          <a:xfrm>
            <a:off x="676656" y="318942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Клетка"/>
          <p:cNvSpPr/>
          <p:nvPr/>
        </p:nvSpPr>
        <p:spPr>
          <a:xfrm>
            <a:off x="1031965" y="224302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Клетка"/>
          <p:cNvSpPr/>
          <p:nvPr/>
        </p:nvSpPr>
        <p:spPr>
          <a:xfrm>
            <a:off x="1031965" y="234817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Клетка"/>
          <p:cNvSpPr/>
          <p:nvPr/>
        </p:nvSpPr>
        <p:spPr>
          <a:xfrm>
            <a:off x="1031965" y="245333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Клетка"/>
          <p:cNvSpPr/>
          <p:nvPr/>
        </p:nvSpPr>
        <p:spPr>
          <a:xfrm>
            <a:off x="1031965" y="255849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Клетка"/>
          <p:cNvSpPr/>
          <p:nvPr/>
        </p:nvSpPr>
        <p:spPr>
          <a:xfrm>
            <a:off x="1031965" y="266364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Клетка"/>
          <p:cNvSpPr/>
          <p:nvPr/>
        </p:nvSpPr>
        <p:spPr>
          <a:xfrm>
            <a:off x="1031965" y="276880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Клетка"/>
          <p:cNvSpPr/>
          <p:nvPr/>
        </p:nvSpPr>
        <p:spPr>
          <a:xfrm>
            <a:off x="1031965" y="287395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Клетка"/>
          <p:cNvSpPr/>
          <p:nvPr/>
        </p:nvSpPr>
        <p:spPr>
          <a:xfrm>
            <a:off x="1031965" y="297911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Клетка"/>
          <p:cNvSpPr/>
          <p:nvPr/>
        </p:nvSpPr>
        <p:spPr>
          <a:xfrm>
            <a:off x="1031965" y="308427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Клетка"/>
          <p:cNvSpPr/>
          <p:nvPr/>
        </p:nvSpPr>
        <p:spPr>
          <a:xfrm>
            <a:off x="1031965" y="318942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Клетка"/>
          <p:cNvSpPr/>
          <p:nvPr/>
        </p:nvSpPr>
        <p:spPr>
          <a:xfrm>
            <a:off x="1387275" y="224302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Клетка"/>
          <p:cNvSpPr/>
          <p:nvPr/>
        </p:nvSpPr>
        <p:spPr>
          <a:xfrm>
            <a:off x="1387275" y="234817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Клетка"/>
          <p:cNvSpPr/>
          <p:nvPr/>
        </p:nvSpPr>
        <p:spPr>
          <a:xfrm>
            <a:off x="1387275" y="245333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Клетка"/>
          <p:cNvSpPr/>
          <p:nvPr/>
        </p:nvSpPr>
        <p:spPr>
          <a:xfrm>
            <a:off x="1387275" y="255849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Клетка"/>
          <p:cNvSpPr/>
          <p:nvPr/>
        </p:nvSpPr>
        <p:spPr>
          <a:xfrm>
            <a:off x="1387275" y="266364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Клетка"/>
          <p:cNvSpPr/>
          <p:nvPr/>
        </p:nvSpPr>
        <p:spPr>
          <a:xfrm>
            <a:off x="1387275" y="276880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Клетка"/>
          <p:cNvSpPr/>
          <p:nvPr/>
        </p:nvSpPr>
        <p:spPr>
          <a:xfrm>
            <a:off x="1387275" y="287395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Клетка"/>
          <p:cNvSpPr/>
          <p:nvPr/>
        </p:nvSpPr>
        <p:spPr>
          <a:xfrm>
            <a:off x="1387275" y="297911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Клетка"/>
          <p:cNvSpPr/>
          <p:nvPr/>
        </p:nvSpPr>
        <p:spPr>
          <a:xfrm>
            <a:off x="1387275" y="308427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Клетка"/>
          <p:cNvSpPr/>
          <p:nvPr/>
        </p:nvSpPr>
        <p:spPr>
          <a:xfrm>
            <a:off x="1387275" y="318942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Клетка"/>
          <p:cNvSpPr/>
          <p:nvPr/>
        </p:nvSpPr>
        <p:spPr>
          <a:xfrm>
            <a:off x="1742585" y="224302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Клетка"/>
          <p:cNvSpPr/>
          <p:nvPr/>
        </p:nvSpPr>
        <p:spPr>
          <a:xfrm>
            <a:off x="1742585" y="234817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Клетка"/>
          <p:cNvSpPr/>
          <p:nvPr/>
        </p:nvSpPr>
        <p:spPr>
          <a:xfrm>
            <a:off x="1742585" y="245333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Клетка"/>
          <p:cNvSpPr/>
          <p:nvPr/>
        </p:nvSpPr>
        <p:spPr>
          <a:xfrm>
            <a:off x="1742585" y="255849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Клетка"/>
          <p:cNvSpPr/>
          <p:nvPr/>
        </p:nvSpPr>
        <p:spPr>
          <a:xfrm>
            <a:off x="1742585" y="266364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Клетка"/>
          <p:cNvSpPr/>
          <p:nvPr/>
        </p:nvSpPr>
        <p:spPr>
          <a:xfrm>
            <a:off x="1742585" y="276880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Клетка"/>
          <p:cNvSpPr/>
          <p:nvPr/>
        </p:nvSpPr>
        <p:spPr>
          <a:xfrm>
            <a:off x="1742585" y="287395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Клетка"/>
          <p:cNvSpPr/>
          <p:nvPr/>
        </p:nvSpPr>
        <p:spPr>
          <a:xfrm>
            <a:off x="1742585" y="297911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Клетка"/>
          <p:cNvSpPr/>
          <p:nvPr/>
        </p:nvSpPr>
        <p:spPr>
          <a:xfrm>
            <a:off x="1742585" y="308427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Клетка"/>
          <p:cNvSpPr/>
          <p:nvPr/>
        </p:nvSpPr>
        <p:spPr>
          <a:xfrm>
            <a:off x="1742585" y="318942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Клетка"/>
          <p:cNvSpPr/>
          <p:nvPr/>
        </p:nvSpPr>
        <p:spPr>
          <a:xfrm>
            <a:off x="2097894" y="224302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Клетка"/>
          <p:cNvSpPr/>
          <p:nvPr/>
        </p:nvSpPr>
        <p:spPr>
          <a:xfrm>
            <a:off x="2097894" y="234817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Клетка"/>
          <p:cNvSpPr/>
          <p:nvPr/>
        </p:nvSpPr>
        <p:spPr>
          <a:xfrm>
            <a:off x="2097894" y="245333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Клетка"/>
          <p:cNvSpPr/>
          <p:nvPr/>
        </p:nvSpPr>
        <p:spPr>
          <a:xfrm>
            <a:off x="2097894" y="255849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Клетка"/>
          <p:cNvSpPr/>
          <p:nvPr/>
        </p:nvSpPr>
        <p:spPr>
          <a:xfrm>
            <a:off x="2097894" y="266364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Клетка"/>
          <p:cNvSpPr/>
          <p:nvPr/>
        </p:nvSpPr>
        <p:spPr>
          <a:xfrm>
            <a:off x="2097894" y="276880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Клетка"/>
          <p:cNvSpPr/>
          <p:nvPr/>
        </p:nvSpPr>
        <p:spPr>
          <a:xfrm>
            <a:off x="2097894" y="287395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Клетка"/>
          <p:cNvSpPr/>
          <p:nvPr/>
        </p:nvSpPr>
        <p:spPr>
          <a:xfrm>
            <a:off x="2097894" y="297911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Клетка"/>
          <p:cNvSpPr/>
          <p:nvPr/>
        </p:nvSpPr>
        <p:spPr>
          <a:xfrm>
            <a:off x="2097894" y="308427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Клетка"/>
          <p:cNvSpPr/>
          <p:nvPr/>
        </p:nvSpPr>
        <p:spPr>
          <a:xfrm>
            <a:off x="2097894" y="318942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Клетка"/>
          <p:cNvSpPr/>
          <p:nvPr/>
        </p:nvSpPr>
        <p:spPr>
          <a:xfrm>
            <a:off x="2453204" y="224302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Клетка"/>
          <p:cNvSpPr/>
          <p:nvPr/>
        </p:nvSpPr>
        <p:spPr>
          <a:xfrm>
            <a:off x="2453204" y="234817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Клетка"/>
          <p:cNvSpPr/>
          <p:nvPr/>
        </p:nvSpPr>
        <p:spPr>
          <a:xfrm>
            <a:off x="2453204" y="245333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Клетка"/>
          <p:cNvSpPr/>
          <p:nvPr/>
        </p:nvSpPr>
        <p:spPr>
          <a:xfrm>
            <a:off x="2453204" y="255849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Клетка"/>
          <p:cNvSpPr/>
          <p:nvPr/>
        </p:nvSpPr>
        <p:spPr>
          <a:xfrm>
            <a:off x="2453204" y="266364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Клетка"/>
          <p:cNvSpPr/>
          <p:nvPr/>
        </p:nvSpPr>
        <p:spPr>
          <a:xfrm>
            <a:off x="2453204" y="276880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Клетка"/>
          <p:cNvSpPr/>
          <p:nvPr/>
        </p:nvSpPr>
        <p:spPr>
          <a:xfrm>
            <a:off x="2453204" y="287395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Клетка"/>
          <p:cNvSpPr/>
          <p:nvPr/>
        </p:nvSpPr>
        <p:spPr>
          <a:xfrm>
            <a:off x="2453204" y="297911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Клетка"/>
          <p:cNvSpPr/>
          <p:nvPr/>
        </p:nvSpPr>
        <p:spPr>
          <a:xfrm>
            <a:off x="2453204" y="308427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Клетка"/>
          <p:cNvSpPr/>
          <p:nvPr/>
        </p:nvSpPr>
        <p:spPr>
          <a:xfrm>
            <a:off x="2453204" y="318942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Клетка"/>
          <p:cNvSpPr/>
          <p:nvPr/>
        </p:nvSpPr>
        <p:spPr>
          <a:xfrm>
            <a:off x="2808514" y="224302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Клетка"/>
          <p:cNvSpPr/>
          <p:nvPr/>
        </p:nvSpPr>
        <p:spPr>
          <a:xfrm>
            <a:off x="2808514" y="234817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Клетка"/>
          <p:cNvSpPr/>
          <p:nvPr/>
        </p:nvSpPr>
        <p:spPr>
          <a:xfrm>
            <a:off x="2808514" y="245333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Клетка"/>
          <p:cNvSpPr/>
          <p:nvPr/>
        </p:nvSpPr>
        <p:spPr>
          <a:xfrm>
            <a:off x="2808514" y="255849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Клетка"/>
          <p:cNvSpPr/>
          <p:nvPr/>
        </p:nvSpPr>
        <p:spPr>
          <a:xfrm>
            <a:off x="2808514" y="266364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Клетка"/>
          <p:cNvSpPr/>
          <p:nvPr/>
        </p:nvSpPr>
        <p:spPr>
          <a:xfrm>
            <a:off x="2808514" y="276880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Клетка"/>
          <p:cNvSpPr/>
          <p:nvPr/>
        </p:nvSpPr>
        <p:spPr>
          <a:xfrm>
            <a:off x="2808514" y="287395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Клетка"/>
          <p:cNvSpPr/>
          <p:nvPr/>
        </p:nvSpPr>
        <p:spPr>
          <a:xfrm>
            <a:off x="2808514" y="297911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Клетка"/>
          <p:cNvSpPr/>
          <p:nvPr/>
        </p:nvSpPr>
        <p:spPr>
          <a:xfrm>
            <a:off x="2808514" y="308427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Клетка"/>
          <p:cNvSpPr/>
          <p:nvPr/>
        </p:nvSpPr>
        <p:spPr>
          <a:xfrm>
            <a:off x="2808514" y="318942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Клетка"/>
          <p:cNvSpPr/>
          <p:nvPr/>
        </p:nvSpPr>
        <p:spPr>
          <a:xfrm>
            <a:off x="658368" y="3439972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Клетка"/>
          <p:cNvSpPr/>
          <p:nvPr/>
        </p:nvSpPr>
        <p:spPr>
          <a:xfrm>
            <a:off x="658368" y="3750868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Клетка"/>
          <p:cNvSpPr/>
          <p:nvPr/>
        </p:nvSpPr>
        <p:spPr>
          <a:xfrm>
            <a:off x="1018902" y="3439972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Клетка"/>
          <p:cNvSpPr/>
          <p:nvPr/>
        </p:nvSpPr>
        <p:spPr>
          <a:xfrm>
            <a:off x="1018902" y="3750868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Клетка"/>
          <p:cNvSpPr/>
          <p:nvPr/>
        </p:nvSpPr>
        <p:spPr>
          <a:xfrm>
            <a:off x="1379437" y="3439972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Клетка"/>
          <p:cNvSpPr/>
          <p:nvPr/>
        </p:nvSpPr>
        <p:spPr>
          <a:xfrm>
            <a:off x="1379437" y="3750868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Клетка"/>
          <p:cNvSpPr/>
          <p:nvPr/>
        </p:nvSpPr>
        <p:spPr>
          <a:xfrm>
            <a:off x="1739972" y="3439972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Клетка"/>
          <p:cNvSpPr/>
          <p:nvPr/>
        </p:nvSpPr>
        <p:spPr>
          <a:xfrm>
            <a:off x="1739972" y="3750868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Клетка"/>
          <p:cNvSpPr/>
          <p:nvPr/>
        </p:nvSpPr>
        <p:spPr>
          <a:xfrm>
            <a:off x="2100507" y="3439972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Клетка"/>
          <p:cNvSpPr/>
          <p:nvPr/>
        </p:nvSpPr>
        <p:spPr>
          <a:xfrm>
            <a:off x="2100507" y="3750868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Клетка"/>
          <p:cNvSpPr/>
          <p:nvPr/>
        </p:nvSpPr>
        <p:spPr>
          <a:xfrm>
            <a:off x="2461042" y="3439972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Клетка"/>
          <p:cNvSpPr/>
          <p:nvPr/>
        </p:nvSpPr>
        <p:spPr>
          <a:xfrm>
            <a:off x="2461042" y="3750868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Клетка"/>
          <p:cNvSpPr/>
          <p:nvPr/>
        </p:nvSpPr>
        <p:spPr>
          <a:xfrm>
            <a:off x="2821577" y="3439972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Клетка"/>
          <p:cNvSpPr/>
          <p:nvPr/>
        </p:nvSpPr>
        <p:spPr>
          <a:xfrm>
            <a:off x="2821577" y="3750868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5" name="Кость"/>
          <p:cNvCxnSpPr/>
          <p:nvPr/>
        </p:nvCxnSpPr>
        <p:spPr>
          <a:xfrm>
            <a:off x="731520" y="4346143"/>
            <a:ext cx="109728" cy="683057"/>
          </a:xfrm>
          <a:prstGeom prst="line">
            <a:avLst/>
          </a:prstGeom>
          <a:ln w="31750">
            <a:solidFill>
              <a:srgbClr val="C9B8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Кость"/>
          <p:cNvCxnSpPr/>
          <p:nvPr/>
        </p:nvCxnSpPr>
        <p:spPr>
          <a:xfrm>
            <a:off x="1071154" y="4346143"/>
            <a:ext cx="109728" cy="683057"/>
          </a:xfrm>
          <a:prstGeom prst="line">
            <a:avLst/>
          </a:prstGeom>
          <a:ln w="31750">
            <a:solidFill>
              <a:srgbClr val="C9B8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Кость"/>
          <p:cNvCxnSpPr/>
          <p:nvPr/>
        </p:nvCxnSpPr>
        <p:spPr>
          <a:xfrm>
            <a:off x="1410788" y="4346143"/>
            <a:ext cx="109728" cy="683057"/>
          </a:xfrm>
          <a:prstGeom prst="line">
            <a:avLst/>
          </a:prstGeom>
          <a:ln w="31750">
            <a:solidFill>
              <a:srgbClr val="C9B8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Кость"/>
          <p:cNvCxnSpPr/>
          <p:nvPr/>
        </p:nvCxnSpPr>
        <p:spPr>
          <a:xfrm>
            <a:off x="1750422" y="4346143"/>
            <a:ext cx="109728" cy="683057"/>
          </a:xfrm>
          <a:prstGeom prst="line">
            <a:avLst/>
          </a:prstGeom>
          <a:ln w="31750">
            <a:solidFill>
              <a:srgbClr val="C9B8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Кость"/>
          <p:cNvCxnSpPr/>
          <p:nvPr/>
        </p:nvCxnSpPr>
        <p:spPr>
          <a:xfrm>
            <a:off x="2090057" y="4346143"/>
            <a:ext cx="109728" cy="683057"/>
          </a:xfrm>
          <a:prstGeom prst="line">
            <a:avLst/>
          </a:prstGeom>
          <a:ln w="31750">
            <a:solidFill>
              <a:srgbClr val="C9B8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Кость"/>
          <p:cNvCxnSpPr/>
          <p:nvPr/>
        </p:nvCxnSpPr>
        <p:spPr>
          <a:xfrm>
            <a:off x="2429691" y="4346143"/>
            <a:ext cx="109728" cy="683057"/>
          </a:xfrm>
          <a:prstGeom prst="line">
            <a:avLst/>
          </a:prstGeom>
          <a:ln w="31750">
            <a:solidFill>
              <a:srgbClr val="C9B8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Кость"/>
          <p:cNvCxnSpPr/>
          <p:nvPr/>
        </p:nvCxnSpPr>
        <p:spPr>
          <a:xfrm>
            <a:off x="2769325" y="4346143"/>
            <a:ext cx="109728" cy="683057"/>
          </a:xfrm>
          <a:prstGeom prst="line">
            <a:avLst/>
          </a:prstGeom>
          <a:ln w="31750">
            <a:solidFill>
              <a:srgbClr val="C9B8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Граница хряща и кости"/>
          <p:cNvCxnSpPr/>
          <p:nvPr/>
        </p:nvCxnSpPr>
        <p:spPr>
          <a:xfrm>
            <a:off x="548640" y="4300423"/>
            <a:ext cx="2743200" cy="0"/>
          </a:xfrm>
          <a:prstGeom prst="line">
            <a:avLst/>
          </a:prstGeom>
          <a:ln w="12700">
            <a:solidFill>
              <a:srgbClr val="8C97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Линия"/>
          <p:cNvCxnSpPr/>
          <p:nvPr/>
        </p:nvCxnSpPr>
        <p:spPr>
          <a:xfrm>
            <a:off x="3291840" y="1871319"/>
            <a:ext cx="155448" cy="0"/>
          </a:xfrm>
          <a:prstGeom prst="line">
            <a:avLst/>
          </a:prstGeom>
          <a:ln w="9525">
            <a:solidFill>
              <a:srgbClr val="8C97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Зона"/>
          <p:cNvSpPr txBox="1"/>
          <p:nvPr/>
        </p:nvSpPr>
        <p:spPr>
          <a:xfrm>
            <a:off x="3474720" y="1554480"/>
            <a:ext cx="2240280" cy="6336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1B2E3C"/>
                </a:solidFill>
                <a:latin typeface="Calibri"/>
              </a:rPr>
              <a:t>Покоящийся хрящ</a:t>
            </a:r>
          </a:p>
        </p:txBody>
      </p:sp>
      <p:cxnSp>
        <p:nvCxnSpPr>
          <p:cNvPr id="115" name="Линия"/>
          <p:cNvCxnSpPr/>
          <p:nvPr/>
        </p:nvCxnSpPr>
        <p:spPr>
          <a:xfrm>
            <a:off x="3474720" y="2188159"/>
            <a:ext cx="8168335" cy="0"/>
          </a:xfrm>
          <a:prstGeom prst="line">
            <a:avLst/>
          </a:prstGeom>
          <a:ln w="6350">
            <a:solidFill>
              <a:srgbClr val="D3DA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Линия"/>
          <p:cNvCxnSpPr/>
          <p:nvPr/>
        </p:nvCxnSpPr>
        <p:spPr>
          <a:xfrm>
            <a:off x="3291840" y="2786634"/>
            <a:ext cx="155448" cy="0"/>
          </a:xfrm>
          <a:prstGeom prst="line">
            <a:avLst/>
          </a:prstGeom>
          <a:ln w="9525">
            <a:solidFill>
              <a:srgbClr val="8C97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Зона"/>
          <p:cNvSpPr txBox="1"/>
          <p:nvPr/>
        </p:nvSpPr>
        <p:spPr>
          <a:xfrm>
            <a:off x="3474720" y="2188159"/>
            <a:ext cx="2240280" cy="1196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1B2E3C"/>
                </a:solidFill>
                <a:latin typeface="Calibri"/>
              </a:rPr>
              <a:t>Деление: клетки встают столбиками</a:t>
            </a:r>
          </a:p>
        </p:txBody>
      </p:sp>
      <p:sp>
        <p:nvSpPr>
          <p:cNvPr id="118" name="Действие"/>
          <p:cNvSpPr txBox="1"/>
          <p:nvPr/>
        </p:nvSpPr>
        <p:spPr>
          <a:xfrm>
            <a:off x="5989320" y="2188159"/>
            <a:ext cx="5653735" cy="1196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00"/>
              </a:spcAft>
            </a:pPr>
            <a:r>
              <a:rPr sz="1700" b="0" i="0">
                <a:solidFill>
                  <a:srgbClr val="26323A"/>
                </a:solidFill>
                <a:latin typeface="Calibri"/>
              </a:rPr>
              <a:t>Кортизол тормозит деление и выработку хрящевого матрикса</a:t>
            </a:r>
          </a:p>
        </p:txBody>
      </p:sp>
      <p:cxnSp>
        <p:nvCxnSpPr>
          <p:cNvPr id="119" name="Линия"/>
          <p:cNvCxnSpPr/>
          <p:nvPr/>
        </p:nvCxnSpPr>
        <p:spPr>
          <a:xfrm>
            <a:off x="3474720" y="3385108"/>
            <a:ext cx="8168335" cy="0"/>
          </a:xfrm>
          <a:prstGeom prst="line">
            <a:avLst/>
          </a:prstGeom>
          <a:ln w="6350">
            <a:solidFill>
              <a:srgbClr val="D3DA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Линия"/>
          <p:cNvCxnSpPr/>
          <p:nvPr/>
        </p:nvCxnSpPr>
        <p:spPr>
          <a:xfrm>
            <a:off x="3291840" y="3842766"/>
            <a:ext cx="155448" cy="0"/>
          </a:xfrm>
          <a:prstGeom prst="line">
            <a:avLst/>
          </a:prstGeom>
          <a:ln w="9525">
            <a:solidFill>
              <a:srgbClr val="8C97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Зона"/>
          <p:cNvSpPr txBox="1"/>
          <p:nvPr/>
        </p:nvSpPr>
        <p:spPr>
          <a:xfrm>
            <a:off x="3474720" y="3385108"/>
            <a:ext cx="2240280" cy="9153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1B2E3C"/>
                </a:solidFill>
                <a:latin typeface="Calibri"/>
              </a:rPr>
              <a:t>Созревание: клетки крупнеют</a:t>
            </a:r>
          </a:p>
        </p:txBody>
      </p:sp>
      <p:sp>
        <p:nvSpPr>
          <p:cNvPr id="122" name="Действие"/>
          <p:cNvSpPr txBox="1"/>
          <p:nvPr/>
        </p:nvSpPr>
        <p:spPr>
          <a:xfrm>
            <a:off x="5989320" y="3385108"/>
            <a:ext cx="5653735" cy="9153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00"/>
              </a:spcAft>
            </a:pPr>
            <a:r>
              <a:rPr sz="1700" b="0" i="0">
                <a:solidFill>
                  <a:srgbClr val="26323A"/>
                </a:solidFill>
                <a:latin typeface="Calibri"/>
              </a:rPr>
              <a:t>Гормон щитовидной железы регулирует переход клеток от деления к созреванию</a:t>
            </a:r>
          </a:p>
          <a:p>
            <a:pPr>
              <a:spcAft>
                <a:spcPts val="300"/>
              </a:spcAft>
            </a:pPr>
            <a:r>
              <a:rPr sz="1700" b="0" i="0">
                <a:solidFill>
                  <a:srgbClr val="26323A"/>
                </a:solidFill>
                <a:latin typeface="Calibri"/>
              </a:rPr>
              <a:t>Кортизол усиливает гибель крупных клеток</a:t>
            </a:r>
          </a:p>
        </p:txBody>
      </p:sp>
      <p:cxnSp>
        <p:nvCxnSpPr>
          <p:cNvPr id="123" name="Линия"/>
          <p:cNvCxnSpPr/>
          <p:nvPr/>
        </p:nvCxnSpPr>
        <p:spPr>
          <a:xfrm>
            <a:off x="3474720" y="4300423"/>
            <a:ext cx="8168335" cy="0"/>
          </a:xfrm>
          <a:prstGeom prst="line">
            <a:avLst/>
          </a:prstGeom>
          <a:ln w="6350">
            <a:solidFill>
              <a:srgbClr val="D3DA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Линия"/>
          <p:cNvCxnSpPr/>
          <p:nvPr/>
        </p:nvCxnSpPr>
        <p:spPr>
          <a:xfrm>
            <a:off x="3291840" y="4687671"/>
            <a:ext cx="155448" cy="0"/>
          </a:xfrm>
          <a:prstGeom prst="line">
            <a:avLst/>
          </a:prstGeom>
          <a:ln w="9525">
            <a:solidFill>
              <a:srgbClr val="8C97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Зона"/>
          <p:cNvSpPr txBox="1"/>
          <p:nvPr/>
        </p:nvSpPr>
        <p:spPr>
          <a:xfrm>
            <a:off x="3474720" y="4300423"/>
            <a:ext cx="2240280" cy="774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1B2E3C"/>
                </a:solidFill>
                <a:latin typeface="Calibri"/>
              </a:rPr>
              <a:t>Хрящ замещается костью</a:t>
            </a:r>
          </a:p>
        </p:txBody>
      </p:sp>
      <p:sp>
        <p:nvSpPr>
          <p:cNvPr id="126" name="Действие"/>
          <p:cNvSpPr txBox="1"/>
          <p:nvPr/>
        </p:nvSpPr>
        <p:spPr>
          <a:xfrm>
            <a:off x="5989320" y="4300423"/>
            <a:ext cx="5653735" cy="774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00"/>
              </a:spcAft>
            </a:pPr>
            <a:r>
              <a:rPr sz="1700" b="0" i="0">
                <a:solidFill>
                  <a:srgbClr val="26323A"/>
                </a:solidFill>
                <a:latin typeface="Calibri"/>
              </a:rPr>
              <a:t>Эстрогены ускоряют старение зоны и её закрытие (у кроликов)</a:t>
            </a:r>
          </a:p>
        </p:txBody>
      </p:sp>
      <p:sp>
        <p:nvSpPr>
          <p:cNvPr id="127" name="Вывод схемы"/>
          <p:cNvSpPr txBox="1"/>
          <p:nvPr/>
        </p:nvSpPr>
        <p:spPr>
          <a:xfrm>
            <a:off x="548640" y="5212080"/>
            <a:ext cx="1109441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800" b="0" i="0">
                <a:solidFill>
                  <a:srgbClr val="1B2E3C"/>
                </a:solidFill>
                <a:latin typeface="Calibri"/>
              </a:rPr>
              <a:t>С возрастом деление замедляется, зона истончается и к концу пубертата целиком замещается костью. Болезни, тормозящие рост, в опытах на животных задерживали и это старение</a:t>
            </a:r>
          </a:p>
        </p:txBody>
      </p:sp>
      <p:sp>
        <p:nvSpPr>
          <p:cNvPr id="128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900" b="0" i="0">
                <a:solidFill>
                  <a:srgbClr val="66737C"/>
                </a:solidFill>
                <a:latin typeface="Calibri"/>
              </a:rPr>
              <a:t>Baron J et al. Nat Rev Endocrinol 2015;11:735–⁠46; Emons J et al. Horm Res Paediatr 2011;75:383–⁠91; Lui JC et al. Endocr Dev 2011;21:23–⁠9; Hochberg Z. Horm Res 2002;58 Suppl 1:33–⁠8; Shao YY et al. Rev Endocr Metab Disord 2006;7:265–⁠71; Weise M et al. Proc Natl Acad Sci USA 2001;98:6871–⁠6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При приобретённом гипотиреозе отставание в росте бывает первым признаком</a:t>
            </a:r>
          </a:p>
        </p:txBody>
      </p:sp>
      <p:sp>
        <p:nvSpPr>
          <p:cNvPr id="3" name="height: полоса 3–97"/>
          <p:cNvSpPr/>
          <p:nvPr/>
        </p:nvSpPr>
        <p:spPr>
          <a:xfrm>
            <a:off x="548640" y="2360347"/>
            <a:ext cx="6446560" cy="1035980"/>
          </a:xfrm>
          <a:custGeom>
            <a:avLst/>
            <a:gdLst/>
            <a:ahLst/>
            <a:cxnLst/>
            <a:rect l="l" t="t" r="r" b="b"/>
            <a:pathLst>
              <a:path w="6446560" h="1035980">
                <a:moveTo>
                  <a:pt x="0" y="795337"/>
                </a:moveTo>
                <a:lnTo>
                  <a:pt x="107442" y="781031"/>
                </a:lnTo>
                <a:lnTo>
                  <a:pt x="214885" y="766940"/>
                </a:lnTo>
                <a:lnTo>
                  <a:pt x="322328" y="753061"/>
                </a:lnTo>
                <a:lnTo>
                  <a:pt x="429770" y="739390"/>
                </a:lnTo>
                <a:lnTo>
                  <a:pt x="537213" y="725921"/>
                </a:lnTo>
                <a:lnTo>
                  <a:pt x="644656" y="712652"/>
                </a:lnTo>
                <a:lnTo>
                  <a:pt x="752098" y="699577"/>
                </a:lnTo>
                <a:lnTo>
                  <a:pt x="859541" y="686692"/>
                </a:lnTo>
                <a:lnTo>
                  <a:pt x="966983" y="673994"/>
                </a:lnTo>
                <a:lnTo>
                  <a:pt x="1074426" y="661476"/>
                </a:lnTo>
                <a:lnTo>
                  <a:pt x="1181869" y="649135"/>
                </a:lnTo>
                <a:lnTo>
                  <a:pt x="1289312" y="636965"/>
                </a:lnTo>
                <a:lnTo>
                  <a:pt x="1396754" y="624960"/>
                </a:lnTo>
                <a:lnTo>
                  <a:pt x="1504197" y="613116"/>
                </a:lnTo>
                <a:lnTo>
                  <a:pt x="1611640" y="601427"/>
                </a:lnTo>
                <a:lnTo>
                  <a:pt x="1719082" y="589885"/>
                </a:lnTo>
                <a:lnTo>
                  <a:pt x="1826525" y="578484"/>
                </a:lnTo>
                <a:lnTo>
                  <a:pt x="1933968" y="567216"/>
                </a:lnTo>
                <a:lnTo>
                  <a:pt x="2041410" y="556074"/>
                </a:lnTo>
                <a:lnTo>
                  <a:pt x="2148853" y="545048"/>
                </a:lnTo>
                <a:lnTo>
                  <a:pt x="2256296" y="534128"/>
                </a:lnTo>
                <a:lnTo>
                  <a:pt x="2363738" y="523304"/>
                </a:lnTo>
                <a:lnTo>
                  <a:pt x="2471181" y="512563"/>
                </a:lnTo>
                <a:lnTo>
                  <a:pt x="2578624" y="501892"/>
                </a:lnTo>
                <a:lnTo>
                  <a:pt x="2686066" y="491277"/>
                </a:lnTo>
                <a:lnTo>
                  <a:pt x="2793509" y="480699"/>
                </a:lnTo>
                <a:lnTo>
                  <a:pt x="2900952" y="470141"/>
                </a:lnTo>
                <a:lnTo>
                  <a:pt x="3008394" y="459582"/>
                </a:lnTo>
                <a:lnTo>
                  <a:pt x="3115837" y="448998"/>
                </a:lnTo>
                <a:lnTo>
                  <a:pt x="3223280" y="438363"/>
                </a:lnTo>
                <a:lnTo>
                  <a:pt x="3330722" y="427648"/>
                </a:lnTo>
                <a:lnTo>
                  <a:pt x="3438165" y="416821"/>
                </a:lnTo>
                <a:lnTo>
                  <a:pt x="3545607" y="405848"/>
                </a:lnTo>
                <a:lnTo>
                  <a:pt x="3653050" y="394689"/>
                </a:lnTo>
                <a:lnTo>
                  <a:pt x="3760493" y="383303"/>
                </a:lnTo>
                <a:lnTo>
                  <a:pt x="3867936" y="371645"/>
                </a:lnTo>
                <a:lnTo>
                  <a:pt x="3975378" y="359668"/>
                </a:lnTo>
                <a:lnTo>
                  <a:pt x="4082821" y="347323"/>
                </a:lnTo>
                <a:lnTo>
                  <a:pt x="4190264" y="334562"/>
                </a:lnTo>
                <a:lnTo>
                  <a:pt x="4297706" y="321335"/>
                </a:lnTo>
                <a:lnTo>
                  <a:pt x="4405149" y="307600"/>
                </a:lnTo>
                <a:lnTo>
                  <a:pt x="4512592" y="293315"/>
                </a:lnTo>
                <a:lnTo>
                  <a:pt x="4620034" y="278453"/>
                </a:lnTo>
                <a:lnTo>
                  <a:pt x="4727477" y="262997"/>
                </a:lnTo>
                <a:lnTo>
                  <a:pt x="4834920" y="246947"/>
                </a:lnTo>
                <a:lnTo>
                  <a:pt x="4942362" y="230324"/>
                </a:lnTo>
                <a:lnTo>
                  <a:pt x="5049805" y="213173"/>
                </a:lnTo>
                <a:lnTo>
                  <a:pt x="5157248" y="195566"/>
                </a:lnTo>
                <a:lnTo>
                  <a:pt x="5264690" y="177604"/>
                </a:lnTo>
                <a:lnTo>
                  <a:pt x="5372133" y="159412"/>
                </a:lnTo>
                <a:lnTo>
                  <a:pt x="5479576" y="141141"/>
                </a:lnTo>
                <a:lnTo>
                  <a:pt x="5587018" y="122958"/>
                </a:lnTo>
                <a:lnTo>
                  <a:pt x="5694461" y="105041"/>
                </a:lnTo>
                <a:lnTo>
                  <a:pt x="5801903" y="87569"/>
                </a:lnTo>
                <a:lnTo>
                  <a:pt x="5909346" y="70711"/>
                </a:lnTo>
                <a:lnTo>
                  <a:pt x="6016789" y="54620"/>
                </a:lnTo>
                <a:lnTo>
                  <a:pt x="6124232" y="39423"/>
                </a:lnTo>
                <a:lnTo>
                  <a:pt x="6231674" y="25217"/>
                </a:lnTo>
                <a:lnTo>
                  <a:pt x="6339117" y="12066"/>
                </a:lnTo>
                <a:lnTo>
                  <a:pt x="6446560" y="0"/>
                </a:lnTo>
                <a:lnTo>
                  <a:pt x="6446560" y="348932"/>
                </a:lnTo>
                <a:lnTo>
                  <a:pt x="6339117" y="359192"/>
                </a:lnTo>
                <a:lnTo>
                  <a:pt x="6231674" y="370539"/>
                </a:lnTo>
                <a:lnTo>
                  <a:pt x="6124232" y="382940"/>
                </a:lnTo>
                <a:lnTo>
                  <a:pt x="6016789" y="396332"/>
                </a:lnTo>
                <a:lnTo>
                  <a:pt x="5909346" y="410618"/>
                </a:lnTo>
                <a:lnTo>
                  <a:pt x="5801903" y="425671"/>
                </a:lnTo>
                <a:lnTo>
                  <a:pt x="5694461" y="441339"/>
                </a:lnTo>
                <a:lnTo>
                  <a:pt x="5587018" y="457451"/>
                </a:lnTo>
                <a:lnTo>
                  <a:pt x="5479576" y="473829"/>
                </a:lnTo>
                <a:lnTo>
                  <a:pt x="5372133" y="490295"/>
                </a:lnTo>
                <a:lnTo>
                  <a:pt x="5264690" y="506682"/>
                </a:lnTo>
                <a:lnTo>
                  <a:pt x="5157248" y="522840"/>
                </a:lnTo>
                <a:lnTo>
                  <a:pt x="5049805" y="538641"/>
                </a:lnTo>
                <a:lnTo>
                  <a:pt x="4942362" y="553988"/>
                </a:lnTo>
                <a:lnTo>
                  <a:pt x="4834920" y="568806"/>
                </a:lnTo>
                <a:lnTo>
                  <a:pt x="4727477" y="583052"/>
                </a:lnTo>
                <a:lnTo>
                  <a:pt x="4620034" y="596703"/>
                </a:lnTo>
                <a:lnTo>
                  <a:pt x="4512592" y="609760"/>
                </a:lnTo>
                <a:lnTo>
                  <a:pt x="4405149" y="622240"/>
                </a:lnTo>
                <a:lnTo>
                  <a:pt x="4297706" y="634171"/>
                </a:lnTo>
                <a:lnTo>
                  <a:pt x="4190264" y="645592"/>
                </a:lnTo>
                <a:lnTo>
                  <a:pt x="4082821" y="656549"/>
                </a:lnTo>
                <a:lnTo>
                  <a:pt x="3975378" y="667088"/>
                </a:lnTo>
                <a:lnTo>
                  <a:pt x="3867936" y="677260"/>
                </a:lnTo>
                <a:lnTo>
                  <a:pt x="3760493" y="687114"/>
                </a:lnTo>
                <a:lnTo>
                  <a:pt x="3653050" y="696695"/>
                </a:lnTo>
                <a:lnTo>
                  <a:pt x="3545607" y="706049"/>
                </a:lnTo>
                <a:lnTo>
                  <a:pt x="3438165" y="715218"/>
                </a:lnTo>
                <a:lnTo>
                  <a:pt x="3330722" y="724240"/>
                </a:lnTo>
                <a:lnTo>
                  <a:pt x="3223280" y="733149"/>
                </a:lnTo>
                <a:lnTo>
                  <a:pt x="3115837" y="741980"/>
                </a:lnTo>
                <a:lnTo>
                  <a:pt x="3008394" y="750759"/>
                </a:lnTo>
                <a:lnTo>
                  <a:pt x="2900952" y="759514"/>
                </a:lnTo>
                <a:lnTo>
                  <a:pt x="2793509" y="768267"/>
                </a:lnTo>
                <a:lnTo>
                  <a:pt x="2686066" y="777039"/>
                </a:lnTo>
                <a:lnTo>
                  <a:pt x="2578624" y="785850"/>
                </a:lnTo>
                <a:lnTo>
                  <a:pt x="2471181" y="794716"/>
                </a:lnTo>
                <a:lnTo>
                  <a:pt x="2363738" y="803652"/>
                </a:lnTo>
                <a:lnTo>
                  <a:pt x="2256296" y="812671"/>
                </a:lnTo>
                <a:lnTo>
                  <a:pt x="2148853" y="821786"/>
                </a:lnTo>
                <a:lnTo>
                  <a:pt x="2041410" y="831008"/>
                </a:lnTo>
                <a:lnTo>
                  <a:pt x="1933968" y="840345"/>
                </a:lnTo>
                <a:lnTo>
                  <a:pt x="1826525" y="849808"/>
                </a:lnTo>
                <a:lnTo>
                  <a:pt x="1719082" y="859404"/>
                </a:lnTo>
                <a:lnTo>
                  <a:pt x="1611640" y="869141"/>
                </a:lnTo>
                <a:lnTo>
                  <a:pt x="1504197" y="879026"/>
                </a:lnTo>
                <a:lnTo>
                  <a:pt x="1396754" y="889065"/>
                </a:lnTo>
                <a:lnTo>
                  <a:pt x="1289312" y="899265"/>
                </a:lnTo>
                <a:lnTo>
                  <a:pt x="1181869" y="909630"/>
                </a:lnTo>
                <a:lnTo>
                  <a:pt x="1074426" y="920167"/>
                </a:lnTo>
                <a:lnTo>
                  <a:pt x="966983" y="930880"/>
                </a:lnTo>
                <a:lnTo>
                  <a:pt x="859541" y="941773"/>
                </a:lnTo>
                <a:lnTo>
                  <a:pt x="752098" y="952853"/>
                </a:lnTo>
                <a:lnTo>
                  <a:pt x="644656" y="964123"/>
                </a:lnTo>
                <a:lnTo>
                  <a:pt x="537213" y="975588"/>
                </a:lnTo>
                <a:lnTo>
                  <a:pt x="429770" y="987251"/>
                </a:lnTo>
                <a:lnTo>
                  <a:pt x="322328" y="999118"/>
                </a:lnTo>
                <a:lnTo>
                  <a:pt x="214885" y="1011192"/>
                </a:lnTo>
                <a:lnTo>
                  <a:pt x="107442" y="1023478"/>
                </a:lnTo>
                <a:lnTo>
                  <a:pt x="0" y="1035980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ight: 3-й центиль"/>
          <p:cNvSpPr/>
          <p:nvPr/>
        </p:nvSpPr>
        <p:spPr>
          <a:xfrm>
            <a:off x="548640" y="2709279"/>
            <a:ext cx="6446560" cy="687048"/>
          </a:xfrm>
          <a:custGeom>
            <a:avLst/>
            <a:gdLst/>
            <a:ahLst/>
            <a:cxnLst/>
            <a:rect l="l" t="t" r="r" b="b"/>
            <a:pathLst>
              <a:path w="6446560" h="687048">
                <a:moveTo>
                  <a:pt x="0" y="687048"/>
                </a:moveTo>
                <a:lnTo>
                  <a:pt x="107442" y="674546"/>
                </a:lnTo>
                <a:lnTo>
                  <a:pt x="214885" y="662260"/>
                </a:lnTo>
                <a:lnTo>
                  <a:pt x="322328" y="650186"/>
                </a:lnTo>
                <a:lnTo>
                  <a:pt x="429770" y="638319"/>
                </a:lnTo>
                <a:lnTo>
                  <a:pt x="537213" y="626656"/>
                </a:lnTo>
                <a:lnTo>
                  <a:pt x="644656" y="615191"/>
                </a:lnTo>
                <a:lnTo>
                  <a:pt x="752098" y="603921"/>
                </a:lnTo>
                <a:lnTo>
                  <a:pt x="859541" y="592841"/>
                </a:lnTo>
                <a:lnTo>
                  <a:pt x="966983" y="581948"/>
                </a:lnTo>
                <a:lnTo>
                  <a:pt x="1074426" y="571235"/>
                </a:lnTo>
                <a:lnTo>
                  <a:pt x="1181869" y="560698"/>
                </a:lnTo>
                <a:lnTo>
                  <a:pt x="1289312" y="550333"/>
                </a:lnTo>
                <a:lnTo>
                  <a:pt x="1396754" y="540133"/>
                </a:lnTo>
                <a:lnTo>
                  <a:pt x="1504197" y="530094"/>
                </a:lnTo>
                <a:lnTo>
                  <a:pt x="1611640" y="520209"/>
                </a:lnTo>
                <a:lnTo>
                  <a:pt x="1719082" y="510472"/>
                </a:lnTo>
                <a:lnTo>
                  <a:pt x="1826525" y="500876"/>
                </a:lnTo>
                <a:lnTo>
                  <a:pt x="1933968" y="491413"/>
                </a:lnTo>
                <a:lnTo>
                  <a:pt x="2041410" y="482076"/>
                </a:lnTo>
                <a:lnTo>
                  <a:pt x="2148853" y="472854"/>
                </a:lnTo>
                <a:lnTo>
                  <a:pt x="2256296" y="463739"/>
                </a:lnTo>
                <a:lnTo>
                  <a:pt x="2363738" y="454720"/>
                </a:lnTo>
                <a:lnTo>
                  <a:pt x="2471181" y="445784"/>
                </a:lnTo>
                <a:lnTo>
                  <a:pt x="2578624" y="436918"/>
                </a:lnTo>
                <a:lnTo>
                  <a:pt x="2686066" y="428107"/>
                </a:lnTo>
                <a:lnTo>
                  <a:pt x="2793509" y="419335"/>
                </a:lnTo>
                <a:lnTo>
                  <a:pt x="2900952" y="410582"/>
                </a:lnTo>
                <a:lnTo>
                  <a:pt x="3008394" y="401827"/>
                </a:lnTo>
                <a:lnTo>
                  <a:pt x="3115837" y="393048"/>
                </a:lnTo>
                <a:lnTo>
                  <a:pt x="3223280" y="384217"/>
                </a:lnTo>
                <a:lnTo>
                  <a:pt x="3330722" y="375308"/>
                </a:lnTo>
                <a:lnTo>
                  <a:pt x="3438165" y="366286"/>
                </a:lnTo>
                <a:lnTo>
                  <a:pt x="3545607" y="357117"/>
                </a:lnTo>
                <a:lnTo>
                  <a:pt x="3653050" y="347763"/>
                </a:lnTo>
                <a:lnTo>
                  <a:pt x="3760493" y="338182"/>
                </a:lnTo>
                <a:lnTo>
                  <a:pt x="3867936" y="328328"/>
                </a:lnTo>
                <a:lnTo>
                  <a:pt x="3975378" y="318156"/>
                </a:lnTo>
                <a:lnTo>
                  <a:pt x="4082821" y="307617"/>
                </a:lnTo>
                <a:lnTo>
                  <a:pt x="4190264" y="296660"/>
                </a:lnTo>
                <a:lnTo>
                  <a:pt x="4297706" y="285239"/>
                </a:lnTo>
                <a:lnTo>
                  <a:pt x="4405149" y="273308"/>
                </a:lnTo>
                <a:lnTo>
                  <a:pt x="4512592" y="260828"/>
                </a:lnTo>
                <a:lnTo>
                  <a:pt x="4620034" y="247771"/>
                </a:lnTo>
                <a:lnTo>
                  <a:pt x="4727477" y="234120"/>
                </a:lnTo>
                <a:lnTo>
                  <a:pt x="4834920" y="219874"/>
                </a:lnTo>
                <a:lnTo>
                  <a:pt x="4942362" y="205056"/>
                </a:lnTo>
                <a:lnTo>
                  <a:pt x="5049805" y="189709"/>
                </a:lnTo>
                <a:lnTo>
                  <a:pt x="5157248" y="173908"/>
                </a:lnTo>
                <a:lnTo>
                  <a:pt x="5264690" y="157750"/>
                </a:lnTo>
                <a:lnTo>
                  <a:pt x="5372133" y="141363"/>
                </a:lnTo>
                <a:lnTo>
                  <a:pt x="5479576" y="124897"/>
                </a:lnTo>
                <a:lnTo>
                  <a:pt x="5587018" y="108519"/>
                </a:lnTo>
                <a:lnTo>
                  <a:pt x="5694461" y="92407"/>
                </a:lnTo>
                <a:lnTo>
                  <a:pt x="5801903" y="76739"/>
                </a:lnTo>
                <a:lnTo>
                  <a:pt x="5909346" y="61686"/>
                </a:lnTo>
                <a:lnTo>
                  <a:pt x="6016789" y="47400"/>
                </a:lnTo>
                <a:lnTo>
                  <a:pt x="6124232" y="34008"/>
                </a:lnTo>
                <a:lnTo>
                  <a:pt x="6231674" y="21607"/>
                </a:lnTo>
                <a:lnTo>
                  <a:pt x="6339117" y="10260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35200" y="2629279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6" name="height: 50-й центиль"/>
          <p:cNvSpPr/>
          <p:nvPr/>
        </p:nvSpPr>
        <p:spPr>
          <a:xfrm>
            <a:off x="548640" y="2534813"/>
            <a:ext cx="6446560" cy="741193"/>
          </a:xfrm>
          <a:custGeom>
            <a:avLst/>
            <a:gdLst/>
            <a:ahLst/>
            <a:cxnLst/>
            <a:rect l="l" t="t" r="r" b="b"/>
            <a:pathLst>
              <a:path w="6446560" h="741193">
                <a:moveTo>
                  <a:pt x="0" y="741193"/>
                </a:moveTo>
                <a:lnTo>
                  <a:pt x="107442" y="727789"/>
                </a:lnTo>
                <a:lnTo>
                  <a:pt x="214885" y="714600"/>
                </a:lnTo>
                <a:lnTo>
                  <a:pt x="322328" y="701624"/>
                </a:lnTo>
                <a:lnTo>
                  <a:pt x="429770" y="688854"/>
                </a:lnTo>
                <a:lnTo>
                  <a:pt x="537213" y="676288"/>
                </a:lnTo>
                <a:lnTo>
                  <a:pt x="644656" y="663921"/>
                </a:lnTo>
                <a:lnTo>
                  <a:pt x="752098" y="651749"/>
                </a:lnTo>
                <a:lnTo>
                  <a:pt x="859541" y="639767"/>
                </a:lnTo>
                <a:lnTo>
                  <a:pt x="966983" y="627971"/>
                </a:lnTo>
                <a:lnTo>
                  <a:pt x="1074426" y="616355"/>
                </a:lnTo>
                <a:lnTo>
                  <a:pt x="1181869" y="604917"/>
                </a:lnTo>
                <a:lnTo>
                  <a:pt x="1289312" y="593649"/>
                </a:lnTo>
                <a:lnTo>
                  <a:pt x="1396754" y="582547"/>
                </a:lnTo>
                <a:lnTo>
                  <a:pt x="1504197" y="571605"/>
                </a:lnTo>
                <a:lnTo>
                  <a:pt x="1611640" y="560818"/>
                </a:lnTo>
                <a:lnTo>
                  <a:pt x="1719082" y="550178"/>
                </a:lnTo>
                <a:lnTo>
                  <a:pt x="1826525" y="539680"/>
                </a:lnTo>
                <a:lnTo>
                  <a:pt x="1933968" y="529315"/>
                </a:lnTo>
                <a:lnTo>
                  <a:pt x="2041410" y="519075"/>
                </a:lnTo>
                <a:lnTo>
                  <a:pt x="2148853" y="508951"/>
                </a:lnTo>
                <a:lnTo>
                  <a:pt x="2256296" y="498934"/>
                </a:lnTo>
                <a:lnTo>
                  <a:pt x="2363738" y="489012"/>
                </a:lnTo>
                <a:lnTo>
                  <a:pt x="2471181" y="479174"/>
                </a:lnTo>
                <a:lnTo>
                  <a:pt x="2578624" y="469405"/>
                </a:lnTo>
                <a:lnTo>
                  <a:pt x="2686066" y="459692"/>
                </a:lnTo>
                <a:lnTo>
                  <a:pt x="2793509" y="450017"/>
                </a:lnTo>
                <a:lnTo>
                  <a:pt x="2900952" y="440361"/>
                </a:lnTo>
                <a:lnTo>
                  <a:pt x="3008394" y="430704"/>
                </a:lnTo>
                <a:lnTo>
                  <a:pt x="3115837" y="421023"/>
                </a:lnTo>
                <a:lnTo>
                  <a:pt x="3223280" y="411290"/>
                </a:lnTo>
                <a:lnTo>
                  <a:pt x="3330722" y="401478"/>
                </a:lnTo>
                <a:lnTo>
                  <a:pt x="3438165" y="391554"/>
                </a:lnTo>
                <a:lnTo>
                  <a:pt x="3545607" y="381482"/>
                </a:lnTo>
                <a:lnTo>
                  <a:pt x="3653050" y="371226"/>
                </a:lnTo>
                <a:lnTo>
                  <a:pt x="3760493" y="360742"/>
                </a:lnTo>
                <a:lnTo>
                  <a:pt x="3867936" y="349986"/>
                </a:lnTo>
                <a:lnTo>
                  <a:pt x="3975378" y="338912"/>
                </a:lnTo>
                <a:lnTo>
                  <a:pt x="4082821" y="327470"/>
                </a:lnTo>
                <a:lnTo>
                  <a:pt x="4190264" y="315611"/>
                </a:lnTo>
                <a:lnTo>
                  <a:pt x="4297706" y="303287"/>
                </a:lnTo>
                <a:lnTo>
                  <a:pt x="4405149" y="290454"/>
                </a:lnTo>
                <a:lnTo>
                  <a:pt x="4512592" y="277072"/>
                </a:lnTo>
                <a:lnTo>
                  <a:pt x="4620034" y="263112"/>
                </a:lnTo>
                <a:lnTo>
                  <a:pt x="4727477" y="248558"/>
                </a:lnTo>
                <a:lnTo>
                  <a:pt x="4834920" y="233410"/>
                </a:lnTo>
                <a:lnTo>
                  <a:pt x="4942362" y="217690"/>
                </a:lnTo>
                <a:lnTo>
                  <a:pt x="5049805" y="201441"/>
                </a:lnTo>
                <a:lnTo>
                  <a:pt x="5157248" y="184737"/>
                </a:lnTo>
                <a:lnTo>
                  <a:pt x="5264690" y="167677"/>
                </a:lnTo>
                <a:lnTo>
                  <a:pt x="5372133" y="150388"/>
                </a:lnTo>
                <a:lnTo>
                  <a:pt x="5479576" y="133019"/>
                </a:lnTo>
                <a:lnTo>
                  <a:pt x="5587018" y="115738"/>
                </a:lnTo>
                <a:lnTo>
                  <a:pt x="5694461" y="98724"/>
                </a:lnTo>
                <a:lnTo>
                  <a:pt x="5801903" y="82154"/>
                </a:lnTo>
                <a:lnTo>
                  <a:pt x="5909346" y="66199"/>
                </a:lnTo>
                <a:lnTo>
                  <a:pt x="6016789" y="51010"/>
                </a:lnTo>
                <a:lnTo>
                  <a:pt x="6124232" y="36716"/>
                </a:lnTo>
                <a:lnTo>
                  <a:pt x="6231674" y="23412"/>
                </a:lnTo>
                <a:lnTo>
                  <a:pt x="6339117" y="11163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35200" y="2454813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8" name="height: 97-й центиль"/>
          <p:cNvSpPr/>
          <p:nvPr/>
        </p:nvSpPr>
        <p:spPr>
          <a:xfrm>
            <a:off x="548640" y="2360347"/>
            <a:ext cx="6446560" cy="795337"/>
          </a:xfrm>
          <a:custGeom>
            <a:avLst/>
            <a:gdLst/>
            <a:ahLst/>
            <a:cxnLst/>
            <a:rect l="l" t="t" r="r" b="b"/>
            <a:pathLst>
              <a:path w="6446560" h="795337">
                <a:moveTo>
                  <a:pt x="0" y="795337"/>
                </a:moveTo>
                <a:lnTo>
                  <a:pt x="107442" y="781031"/>
                </a:lnTo>
                <a:lnTo>
                  <a:pt x="214885" y="766940"/>
                </a:lnTo>
                <a:lnTo>
                  <a:pt x="322328" y="753061"/>
                </a:lnTo>
                <a:lnTo>
                  <a:pt x="429770" y="739390"/>
                </a:lnTo>
                <a:lnTo>
                  <a:pt x="537213" y="725921"/>
                </a:lnTo>
                <a:lnTo>
                  <a:pt x="644656" y="712652"/>
                </a:lnTo>
                <a:lnTo>
                  <a:pt x="752098" y="699577"/>
                </a:lnTo>
                <a:lnTo>
                  <a:pt x="859541" y="686692"/>
                </a:lnTo>
                <a:lnTo>
                  <a:pt x="966983" y="673994"/>
                </a:lnTo>
                <a:lnTo>
                  <a:pt x="1074426" y="661476"/>
                </a:lnTo>
                <a:lnTo>
                  <a:pt x="1181869" y="649135"/>
                </a:lnTo>
                <a:lnTo>
                  <a:pt x="1289312" y="636965"/>
                </a:lnTo>
                <a:lnTo>
                  <a:pt x="1396754" y="624960"/>
                </a:lnTo>
                <a:lnTo>
                  <a:pt x="1504197" y="613116"/>
                </a:lnTo>
                <a:lnTo>
                  <a:pt x="1611640" y="601427"/>
                </a:lnTo>
                <a:lnTo>
                  <a:pt x="1719082" y="589885"/>
                </a:lnTo>
                <a:lnTo>
                  <a:pt x="1826525" y="578484"/>
                </a:lnTo>
                <a:lnTo>
                  <a:pt x="1933968" y="567216"/>
                </a:lnTo>
                <a:lnTo>
                  <a:pt x="2041410" y="556074"/>
                </a:lnTo>
                <a:lnTo>
                  <a:pt x="2148853" y="545048"/>
                </a:lnTo>
                <a:lnTo>
                  <a:pt x="2256296" y="534128"/>
                </a:lnTo>
                <a:lnTo>
                  <a:pt x="2363738" y="523304"/>
                </a:lnTo>
                <a:lnTo>
                  <a:pt x="2471181" y="512563"/>
                </a:lnTo>
                <a:lnTo>
                  <a:pt x="2578624" y="501892"/>
                </a:lnTo>
                <a:lnTo>
                  <a:pt x="2686066" y="491277"/>
                </a:lnTo>
                <a:lnTo>
                  <a:pt x="2793509" y="480699"/>
                </a:lnTo>
                <a:lnTo>
                  <a:pt x="2900952" y="470141"/>
                </a:lnTo>
                <a:lnTo>
                  <a:pt x="3008394" y="459582"/>
                </a:lnTo>
                <a:lnTo>
                  <a:pt x="3115837" y="448998"/>
                </a:lnTo>
                <a:lnTo>
                  <a:pt x="3223280" y="438363"/>
                </a:lnTo>
                <a:lnTo>
                  <a:pt x="3330722" y="427648"/>
                </a:lnTo>
                <a:lnTo>
                  <a:pt x="3438165" y="416821"/>
                </a:lnTo>
                <a:lnTo>
                  <a:pt x="3545607" y="405848"/>
                </a:lnTo>
                <a:lnTo>
                  <a:pt x="3653050" y="394689"/>
                </a:lnTo>
                <a:lnTo>
                  <a:pt x="3760493" y="383303"/>
                </a:lnTo>
                <a:lnTo>
                  <a:pt x="3867936" y="371645"/>
                </a:lnTo>
                <a:lnTo>
                  <a:pt x="3975378" y="359668"/>
                </a:lnTo>
                <a:lnTo>
                  <a:pt x="4082821" y="347323"/>
                </a:lnTo>
                <a:lnTo>
                  <a:pt x="4190264" y="334562"/>
                </a:lnTo>
                <a:lnTo>
                  <a:pt x="4297706" y="321335"/>
                </a:lnTo>
                <a:lnTo>
                  <a:pt x="4405149" y="307600"/>
                </a:lnTo>
                <a:lnTo>
                  <a:pt x="4512592" y="293315"/>
                </a:lnTo>
                <a:lnTo>
                  <a:pt x="4620034" y="278453"/>
                </a:lnTo>
                <a:lnTo>
                  <a:pt x="4727477" y="262997"/>
                </a:lnTo>
                <a:lnTo>
                  <a:pt x="4834920" y="246947"/>
                </a:lnTo>
                <a:lnTo>
                  <a:pt x="4942362" y="230324"/>
                </a:lnTo>
                <a:lnTo>
                  <a:pt x="5049805" y="213173"/>
                </a:lnTo>
                <a:lnTo>
                  <a:pt x="5157248" y="195566"/>
                </a:lnTo>
                <a:lnTo>
                  <a:pt x="5264690" y="177604"/>
                </a:lnTo>
                <a:lnTo>
                  <a:pt x="5372133" y="159412"/>
                </a:lnTo>
                <a:lnTo>
                  <a:pt x="5479576" y="141141"/>
                </a:lnTo>
                <a:lnTo>
                  <a:pt x="5587018" y="122958"/>
                </a:lnTo>
                <a:lnTo>
                  <a:pt x="5694461" y="105041"/>
                </a:lnTo>
                <a:lnTo>
                  <a:pt x="5801903" y="87569"/>
                </a:lnTo>
                <a:lnTo>
                  <a:pt x="5909346" y="70711"/>
                </a:lnTo>
                <a:lnTo>
                  <a:pt x="6016789" y="54620"/>
                </a:lnTo>
                <a:lnTo>
                  <a:pt x="6124232" y="39423"/>
                </a:lnTo>
                <a:lnTo>
                  <a:pt x="6231674" y="25217"/>
                </a:lnTo>
                <a:lnTo>
                  <a:pt x="6339117" y="12066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35200" y="2280347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10" name="height: ось"/>
          <p:cNvSpPr/>
          <p:nvPr/>
        </p:nvSpPr>
        <p:spPr>
          <a:xfrm>
            <a:off x="548640" y="3458486"/>
            <a:ext cx="6446560" cy="0"/>
          </a:xfrm>
          <a:custGeom>
            <a:avLst/>
            <a:gdLst/>
            <a:ahLst/>
            <a:cxnLst/>
            <a:rect l="l" t="t" r="r" b="b"/>
            <a:pathLst>
              <a:path w="6446560" h="0">
                <a:moveTo>
                  <a:pt x="0" y="0"/>
                </a:moveTo>
                <a:lnTo>
                  <a:pt x="6446560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640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31208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3777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6346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8915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16" name="height: пациент"/>
          <p:cNvSpPr/>
          <p:nvPr/>
        </p:nvSpPr>
        <p:spPr>
          <a:xfrm>
            <a:off x="548640" y="3004502"/>
            <a:ext cx="4297706" cy="265103"/>
          </a:xfrm>
          <a:custGeom>
            <a:avLst/>
            <a:gdLst/>
            <a:ahLst/>
            <a:cxnLst/>
            <a:rect l="l" t="t" r="r" b="b"/>
            <a:pathLst>
              <a:path w="4297706" h="265103">
                <a:moveTo>
                  <a:pt x="0" y="265103"/>
                </a:moveTo>
                <a:lnTo>
                  <a:pt x="59690" y="257603"/>
                </a:lnTo>
                <a:lnTo>
                  <a:pt x="119380" y="250170"/>
                </a:lnTo>
                <a:lnTo>
                  <a:pt x="179071" y="242804"/>
                </a:lnTo>
                <a:lnTo>
                  <a:pt x="238761" y="235503"/>
                </a:lnTo>
                <a:lnTo>
                  <a:pt x="298451" y="228267"/>
                </a:lnTo>
                <a:lnTo>
                  <a:pt x="358142" y="221095"/>
                </a:lnTo>
                <a:lnTo>
                  <a:pt x="417832" y="213987"/>
                </a:lnTo>
                <a:lnTo>
                  <a:pt x="477522" y="206942"/>
                </a:lnTo>
                <a:lnTo>
                  <a:pt x="537213" y="199959"/>
                </a:lnTo>
                <a:lnTo>
                  <a:pt x="596903" y="193038"/>
                </a:lnTo>
                <a:lnTo>
                  <a:pt x="656594" y="186177"/>
                </a:lnTo>
                <a:lnTo>
                  <a:pt x="716284" y="179376"/>
                </a:lnTo>
                <a:lnTo>
                  <a:pt x="775974" y="173197"/>
                </a:lnTo>
                <a:lnTo>
                  <a:pt x="835665" y="167080"/>
                </a:lnTo>
                <a:lnTo>
                  <a:pt x="895355" y="161025"/>
                </a:lnTo>
                <a:lnTo>
                  <a:pt x="955045" y="155032"/>
                </a:lnTo>
                <a:lnTo>
                  <a:pt x="1014736" y="149099"/>
                </a:lnTo>
                <a:lnTo>
                  <a:pt x="1074426" y="143226"/>
                </a:lnTo>
                <a:lnTo>
                  <a:pt x="1134117" y="137412"/>
                </a:lnTo>
                <a:lnTo>
                  <a:pt x="1193807" y="131656"/>
                </a:lnTo>
                <a:lnTo>
                  <a:pt x="1253497" y="125957"/>
                </a:lnTo>
                <a:lnTo>
                  <a:pt x="1313188" y="120314"/>
                </a:lnTo>
                <a:lnTo>
                  <a:pt x="1372878" y="114726"/>
                </a:lnTo>
                <a:lnTo>
                  <a:pt x="1432568" y="109193"/>
                </a:lnTo>
                <a:lnTo>
                  <a:pt x="1492259" y="103713"/>
                </a:lnTo>
                <a:lnTo>
                  <a:pt x="1551949" y="98285"/>
                </a:lnTo>
                <a:lnTo>
                  <a:pt x="1611640" y="92909"/>
                </a:lnTo>
                <a:lnTo>
                  <a:pt x="1671330" y="87582"/>
                </a:lnTo>
                <a:lnTo>
                  <a:pt x="1731020" y="82305"/>
                </a:lnTo>
                <a:lnTo>
                  <a:pt x="1790711" y="77075"/>
                </a:lnTo>
                <a:lnTo>
                  <a:pt x="1850401" y="71892"/>
                </a:lnTo>
                <a:lnTo>
                  <a:pt x="1910091" y="66753"/>
                </a:lnTo>
                <a:lnTo>
                  <a:pt x="1969782" y="61659"/>
                </a:lnTo>
                <a:lnTo>
                  <a:pt x="2029472" y="56606"/>
                </a:lnTo>
                <a:lnTo>
                  <a:pt x="2089162" y="51595"/>
                </a:lnTo>
                <a:lnTo>
                  <a:pt x="2148853" y="46622"/>
                </a:lnTo>
                <a:lnTo>
                  <a:pt x="2208543" y="44149"/>
                </a:lnTo>
                <a:lnTo>
                  <a:pt x="2268234" y="41729"/>
                </a:lnTo>
                <a:lnTo>
                  <a:pt x="2327924" y="39360"/>
                </a:lnTo>
                <a:lnTo>
                  <a:pt x="2387614" y="37041"/>
                </a:lnTo>
                <a:lnTo>
                  <a:pt x="2447305" y="34769"/>
                </a:lnTo>
                <a:lnTo>
                  <a:pt x="2506995" y="32542"/>
                </a:lnTo>
                <a:lnTo>
                  <a:pt x="2566685" y="30357"/>
                </a:lnTo>
                <a:lnTo>
                  <a:pt x="2626376" y="28212"/>
                </a:lnTo>
                <a:lnTo>
                  <a:pt x="2686066" y="26103"/>
                </a:lnTo>
                <a:lnTo>
                  <a:pt x="2745757" y="24029"/>
                </a:lnTo>
                <a:lnTo>
                  <a:pt x="2805447" y="21986"/>
                </a:lnTo>
                <a:lnTo>
                  <a:pt x="2865137" y="19970"/>
                </a:lnTo>
                <a:lnTo>
                  <a:pt x="2924828" y="19263"/>
                </a:lnTo>
                <a:lnTo>
                  <a:pt x="2984518" y="18585"/>
                </a:lnTo>
                <a:lnTo>
                  <a:pt x="3044208" y="17933"/>
                </a:lnTo>
                <a:lnTo>
                  <a:pt x="3103899" y="17301"/>
                </a:lnTo>
                <a:lnTo>
                  <a:pt x="3163589" y="16685"/>
                </a:lnTo>
                <a:lnTo>
                  <a:pt x="3223280" y="16082"/>
                </a:lnTo>
                <a:lnTo>
                  <a:pt x="3282970" y="15485"/>
                </a:lnTo>
                <a:lnTo>
                  <a:pt x="3342660" y="14888"/>
                </a:lnTo>
                <a:lnTo>
                  <a:pt x="3402351" y="14288"/>
                </a:lnTo>
                <a:lnTo>
                  <a:pt x="3462041" y="13677"/>
                </a:lnTo>
                <a:lnTo>
                  <a:pt x="3521731" y="13049"/>
                </a:lnTo>
                <a:lnTo>
                  <a:pt x="3581422" y="12398"/>
                </a:lnTo>
                <a:lnTo>
                  <a:pt x="3641112" y="11717"/>
                </a:lnTo>
                <a:lnTo>
                  <a:pt x="3700802" y="10998"/>
                </a:lnTo>
                <a:lnTo>
                  <a:pt x="3760493" y="10234"/>
                </a:lnTo>
                <a:lnTo>
                  <a:pt x="3820183" y="9418"/>
                </a:lnTo>
                <a:lnTo>
                  <a:pt x="3879874" y="8540"/>
                </a:lnTo>
                <a:lnTo>
                  <a:pt x="3939564" y="7594"/>
                </a:lnTo>
                <a:lnTo>
                  <a:pt x="3999254" y="6571"/>
                </a:lnTo>
                <a:lnTo>
                  <a:pt x="4058945" y="5461"/>
                </a:lnTo>
                <a:lnTo>
                  <a:pt x="4118635" y="4258"/>
                </a:lnTo>
                <a:lnTo>
                  <a:pt x="4178325" y="2952"/>
                </a:lnTo>
                <a:lnTo>
                  <a:pt x="4238016" y="1535"/>
                </a:lnTo>
                <a:lnTo>
                  <a:pt x="4297706" y="0"/>
                </a:lnTo>
              </a:path>
            </a:pathLst>
          </a:custGeom>
          <a:noFill/>
          <a:ln w="34925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ight: визит 4"/>
          <p:cNvSpPr/>
          <p:nvPr/>
        </p:nvSpPr>
        <p:spPr>
          <a:xfrm>
            <a:off x="488640" y="3209605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eight: визит 5"/>
          <p:cNvSpPr/>
          <p:nvPr/>
        </p:nvSpPr>
        <p:spPr>
          <a:xfrm>
            <a:off x="1204924" y="3123878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ight: визит 6"/>
          <p:cNvSpPr/>
          <p:nvPr/>
        </p:nvSpPr>
        <p:spPr>
          <a:xfrm>
            <a:off x="1921208" y="3053695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ight: визит 7"/>
          <p:cNvSpPr/>
          <p:nvPr/>
        </p:nvSpPr>
        <p:spPr>
          <a:xfrm>
            <a:off x="2637493" y="2991124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ight: визит 8"/>
          <p:cNvSpPr/>
          <p:nvPr/>
        </p:nvSpPr>
        <p:spPr>
          <a:xfrm>
            <a:off x="3353777" y="2964472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ight: визит 9"/>
          <p:cNvSpPr/>
          <p:nvPr/>
        </p:nvSpPr>
        <p:spPr>
          <a:xfrm>
            <a:off x="4070062" y="2956900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ight: визит 10"/>
          <p:cNvSpPr/>
          <p:nvPr/>
        </p:nvSpPr>
        <p:spPr>
          <a:xfrm>
            <a:off x="4786346" y="2944502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событие 7.5"/>
          <p:cNvSpPr/>
          <p:nvPr/>
        </p:nvSpPr>
        <p:spPr>
          <a:xfrm>
            <a:off x="3055635" y="1738760"/>
            <a:ext cx="0" cy="1719726"/>
          </a:xfrm>
          <a:custGeom>
            <a:avLst/>
            <a:gdLst/>
            <a:ahLst/>
            <a:cxnLst/>
            <a:rect l="l" t="t" r="r" b="b"/>
            <a:pathLst>
              <a:path w="0" h="1719726">
                <a:moveTo>
                  <a:pt x="0" y="0"/>
                </a:moveTo>
                <a:lnTo>
                  <a:pt x="0" y="1719726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05635" y="173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323A"/>
                </a:solidFill>
                <a:latin typeface="Calibri"/>
              </a:rPr>
              <a:t>7,5 года: рост замедлился</a:t>
            </a:r>
          </a:p>
        </p:txBody>
      </p:sp>
      <p:sp>
        <p:nvSpPr>
          <p:cNvPr id="26" name="событие 9"/>
          <p:cNvSpPr/>
          <p:nvPr/>
        </p:nvSpPr>
        <p:spPr>
          <a:xfrm>
            <a:off x="4130062" y="1738760"/>
            <a:ext cx="0" cy="1719726"/>
          </a:xfrm>
          <a:custGeom>
            <a:avLst/>
            <a:gdLst/>
            <a:ahLst/>
            <a:cxnLst/>
            <a:rect l="l" t="t" r="r" b="b"/>
            <a:pathLst>
              <a:path w="0" h="1719726">
                <a:moveTo>
                  <a:pt x="0" y="0"/>
                </a:moveTo>
                <a:lnTo>
                  <a:pt x="0" y="1719726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80062" y="192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323A"/>
                </a:solidFill>
                <a:latin typeface="Calibri"/>
              </a:rPr>
              <a:t>9 лет: визит, замедление не заметили</a:t>
            </a:r>
          </a:p>
        </p:txBody>
      </p:sp>
      <p:sp>
        <p:nvSpPr>
          <p:cNvPr id="28" name="событие 10"/>
          <p:cNvSpPr/>
          <p:nvPr/>
        </p:nvSpPr>
        <p:spPr>
          <a:xfrm>
            <a:off x="4846346" y="1738760"/>
            <a:ext cx="0" cy="1719726"/>
          </a:xfrm>
          <a:custGeom>
            <a:avLst/>
            <a:gdLst/>
            <a:ahLst/>
            <a:cxnLst/>
            <a:rect l="l" t="t" r="r" b="b"/>
            <a:pathLst>
              <a:path w="0" h="1719726">
                <a:moveTo>
                  <a:pt x="0" y="0"/>
                </a:moveTo>
                <a:lnTo>
                  <a:pt x="0" y="1719726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96346" y="211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26323A"/>
                </a:solidFill>
                <a:latin typeface="Calibri"/>
              </a:rPr>
              <a:t>10 лет: диагноз, начат левотироксин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1508760"/>
            <a:ext cx="6446560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Рост, см</a:t>
            </a:r>
          </a:p>
        </p:txBody>
      </p:sp>
      <p:sp>
        <p:nvSpPr>
          <p:cNvPr id="31" name="weight: полоса 3–97"/>
          <p:cNvSpPr/>
          <p:nvPr/>
        </p:nvSpPr>
        <p:spPr>
          <a:xfrm>
            <a:off x="548640" y="4070182"/>
            <a:ext cx="6446560" cy="861601"/>
          </a:xfrm>
          <a:custGeom>
            <a:avLst/>
            <a:gdLst/>
            <a:ahLst/>
            <a:cxnLst/>
            <a:rect l="l" t="t" r="r" b="b"/>
            <a:pathLst>
              <a:path w="6446560" h="861601">
                <a:moveTo>
                  <a:pt x="0" y="705087"/>
                </a:moveTo>
                <a:lnTo>
                  <a:pt x="107442" y="697917"/>
                </a:lnTo>
                <a:lnTo>
                  <a:pt x="214885" y="690747"/>
                </a:lnTo>
                <a:lnTo>
                  <a:pt x="322328" y="683576"/>
                </a:lnTo>
                <a:lnTo>
                  <a:pt x="429770" y="676406"/>
                </a:lnTo>
                <a:lnTo>
                  <a:pt x="537213" y="669235"/>
                </a:lnTo>
                <a:lnTo>
                  <a:pt x="644656" y="662065"/>
                </a:lnTo>
                <a:lnTo>
                  <a:pt x="752098" y="654496"/>
                </a:lnTo>
                <a:lnTo>
                  <a:pt x="859541" y="646131"/>
                </a:lnTo>
                <a:lnTo>
                  <a:pt x="966983" y="637765"/>
                </a:lnTo>
                <a:lnTo>
                  <a:pt x="1074426" y="629400"/>
                </a:lnTo>
                <a:lnTo>
                  <a:pt x="1181869" y="621034"/>
                </a:lnTo>
                <a:lnTo>
                  <a:pt x="1289312" y="612669"/>
                </a:lnTo>
                <a:lnTo>
                  <a:pt x="1396754" y="604304"/>
                </a:lnTo>
                <a:lnTo>
                  <a:pt x="1504197" y="595938"/>
                </a:lnTo>
                <a:lnTo>
                  <a:pt x="1611640" y="587573"/>
                </a:lnTo>
                <a:lnTo>
                  <a:pt x="1719082" y="579207"/>
                </a:lnTo>
                <a:lnTo>
                  <a:pt x="1826525" y="570842"/>
                </a:lnTo>
                <a:lnTo>
                  <a:pt x="1933968" y="562476"/>
                </a:lnTo>
                <a:lnTo>
                  <a:pt x="2041410" y="554111"/>
                </a:lnTo>
                <a:lnTo>
                  <a:pt x="2148853" y="545745"/>
                </a:lnTo>
                <a:lnTo>
                  <a:pt x="2256296" y="537380"/>
                </a:lnTo>
                <a:lnTo>
                  <a:pt x="2363738" y="529015"/>
                </a:lnTo>
                <a:lnTo>
                  <a:pt x="2471181" y="520649"/>
                </a:lnTo>
                <a:lnTo>
                  <a:pt x="2578624" y="512284"/>
                </a:lnTo>
                <a:lnTo>
                  <a:pt x="2686066" y="503918"/>
                </a:lnTo>
                <a:lnTo>
                  <a:pt x="2793509" y="495553"/>
                </a:lnTo>
                <a:lnTo>
                  <a:pt x="2900952" y="485494"/>
                </a:lnTo>
                <a:lnTo>
                  <a:pt x="3008394" y="472050"/>
                </a:lnTo>
                <a:lnTo>
                  <a:pt x="3115837" y="458605"/>
                </a:lnTo>
                <a:lnTo>
                  <a:pt x="3223280" y="445161"/>
                </a:lnTo>
                <a:lnTo>
                  <a:pt x="3330722" y="431716"/>
                </a:lnTo>
                <a:lnTo>
                  <a:pt x="3438165" y="418272"/>
                </a:lnTo>
                <a:lnTo>
                  <a:pt x="3545607" y="404828"/>
                </a:lnTo>
                <a:lnTo>
                  <a:pt x="3653050" y="391383"/>
                </a:lnTo>
                <a:lnTo>
                  <a:pt x="3760493" y="377939"/>
                </a:lnTo>
                <a:lnTo>
                  <a:pt x="3867936" y="364494"/>
                </a:lnTo>
                <a:lnTo>
                  <a:pt x="3975378" y="351050"/>
                </a:lnTo>
                <a:lnTo>
                  <a:pt x="4082821" y="337605"/>
                </a:lnTo>
                <a:lnTo>
                  <a:pt x="4190264" y="324161"/>
                </a:lnTo>
                <a:lnTo>
                  <a:pt x="4297706" y="310716"/>
                </a:lnTo>
                <a:lnTo>
                  <a:pt x="4405149" y="295479"/>
                </a:lnTo>
                <a:lnTo>
                  <a:pt x="4512592" y="280242"/>
                </a:lnTo>
                <a:lnTo>
                  <a:pt x="4620034" y="265005"/>
                </a:lnTo>
                <a:lnTo>
                  <a:pt x="4727477" y="249768"/>
                </a:lnTo>
                <a:lnTo>
                  <a:pt x="4834920" y="234531"/>
                </a:lnTo>
                <a:lnTo>
                  <a:pt x="4942362" y="219294"/>
                </a:lnTo>
                <a:lnTo>
                  <a:pt x="5049805" y="204057"/>
                </a:lnTo>
                <a:lnTo>
                  <a:pt x="5157248" y="188820"/>
                </a:lnTo>
                <a:lnTo>
                  <a:pt x="5264690" y="173583"/>
                </a:lnTo>
                <a:lnTo>
                  <a:pt x="5372133" y="158346"/>
                </a:lnTo>
                <a:lnTo>
                  <a:pt x="5479576" y="143109"/>
                </a:lnTo>
                <a:lnTo>
                  <a:pt x="5587018" y="127871"/>
                </a:lnTo>
                <a:lnTo>
                  <a:pt x="5694461" y="112634"/>
                </a:lnTo>
                <a:lnTo>
                  <a:pt x="5801903" y="96800"/>
                </a:lnTo>
                <a:lnTo>
                  <a:pt x="5909346" y="80666"/>
                </a:lnTo>
                <a:lnTo>
                  <a:pt x="6016789" y="64533"/>
                </a:lnTo>
                <a:lnTo>
                  <a:pt x="6124232" y="48400"/>
                </a:lnTo>
                <a:lnTo>
                  <a:pt x="6231674" y="32266"/>
                </a:lnTo>
                <a:lnTo>
                  <a:pt x="6339117" y="16133"/>
                </a:lnTo>
                <a:lnTo>
                  <a:pt x="6446560" y="0"/>
                </a:lnTo>
                <a:lnTo>
                  <a:pt x="6446560" y="445087"/>
                </a:lnTo>
                <a:lnTo>
                  <a:pt x="6339117" y="454617"/>
                </a:lnTo>
                <a:lnTo>
                  <a:pt x="6231674" y="464147"/>
                </a:lnTo>
                <a:lnTo>
                  <a:pt x="6124232" y="473678"/>
                </a:lnTo>
                <a:lnTo>
                  <a:pt x="6016789" y="483208"/>
                </a:lnTo>
                <a:lnTo>
                  <a:pt x="5909346" y="492739"/>
                </a:lnTo>
                <a:lnTo>
                  <a:pt x="5801903" y="502269"/>
                </a:lnTo>
                <a:lnTo>
                  <a:pt x="5694461" y="511623"/>
                </a:lnTo>
                <a:lnTo>
                  <a:pt x="5587018" y="520624"/>
                </a:lnTo>
                <a:lnTo>
                  <a:pt x="5479576" y="529625"/>
                </a:lnTo>
                <a:lnTo>
                  <a:pt x="5372133" y="538626"/>
                </a:lnTo>
                <a:lnTo>
                  <a:pt x="5264690" y="547627"/>
                </a:lnTo>
                <a:lnTo>
                  <a:pt x="5157248" y="556628"/>
                </a:lnTo>
                <a:lnTo>
                  <a:pt x="5049805" y="565629"/>
                </a:lnTo>
                <a:lnTo>
                  <a:pt x="4942362" y="574630"/>
                </a:lnTo>
                <a:lnTo>
                  <a:pt x="4834920" y="583631"/>
                </a:lnTo>
                <a:lnTo>
                  <a:pt x="4727477" y="592632"/>
                </a:lnTo>
                <a:lnTo>
                  <a:pt x="4620034" y="601633"/>
                </a:lnTo>
                <a:lnTo>
                  <a:pt x="4512592" y="610634"/>
                </a:lnTo>
                <a:lnTo>
                  <a:pt x="4405149" y="619634"/>
                </a:lnTo>
                <a:lnTo>
                  <a:pt x="4297706" y="628635"/>
                </a:lnTo>
                <a:lnTo>
                  <a:pt x="4190264" y="636577"/>
                </a:lnTo>
                <a:lnTo>
                  <a:pt x="4082821" y="644519"/>
                </a:lnTo>
                <a:lnTo>
                  <a:pt x="3975378" y="652462"/>
                </a:lnTo>
                <a:lnTo>
                  <a:pt x="3867936" y="660404"/>
                </a:lnTo>
                <a:lnTo>
                  <a:pt x="3760493" y="668346"/>
                </a:lnTo>
                <a:lnTo>
                  <a:pt x="3653050" y="676288"/>
                </a:lnTo>
                <a:lnTo>
                  <a:pt x="3545607" y="684230"/>
                </a:lnTo>
                <a:lnTo>
                  <a:pt x="3438165" y="692172"/>
                </a:lnTo>
                <a:lnTo>
                  <a:pt x="3330722" y="700114"/>
                </a:lnTo>
                <a:lnTo>
                  <a:pt x="3223280" y="708056"/>
                </a:lnTo>
                <a:lnTo>
                  <a:pt x="3115837" y="715998"/>
                </a:lnTo>
                <a:lnTo>
                  <a:pt x="3008394" y="723940"/>
                </a:lnTo>
                <a:lnTo>
                  <a:pt x="2900952" y="731882"/>
                </a:lnTo>
                <a:lnTo>
                  <a:pt x="2793509" y="737824"/>
                </a:lnTo>
                <a:lnTo>
                  <a:pt x="2686066" y="742765"/>
                </a:lnTo>
                <a:lnTo>
                  <a:pt x="2578624" y="747707"/>
                </a:lnTo>
                <a:lnTo>
                  <a:pt x="2471181" y="752649"/>
                </a:lnTo>
                <a:lnTo>
                  <a:pt x="2363738" y="757590"/>
                </a:lnTo>
                <a:lnTo>
                  <a:pt x="2256296" y="762532"/>
                </a:lnTo>
                <a:lnTo>
                  <a:pt x="2148853" y="767474"/>
                </a:lnTo>
                <a:lnTo>
                  <a:pt x="2041410" y="772415"/>
                </a:lnTo>
                <a:lnTo>
                  <a:pt x="1933968" y="777357"/>
                </a:lnTo>
                <a:lnTo>
                  <a:pt x="1826525" y="782299"/>
                </a:lnTo>
                <a:lnTo>
                  <a:pt x="1719082" y="787241"/>
                </a:lnTo>
                <a:lnTo>
                  <a:pt x="1611640" y="792182"/>
                </a:lnTo>
                <a:lnTo>
                  <a:pt x="1504197" y="797124"/>
                </a:lnTo>
                <a:lnTo>
                  <a:pt x="1396754" y="802066"/>
                </a:lnTo>
                <a:lnTo>
                  <a:pt x="1289312" y="807007"/>
                </a:lnTo>
                <a:lnTo>
                  <a:pt x="1181869" y="811949"/>
                </a:lnTo>
                <a:lnTo>
                  <a:pt x="1074426" y="816891"/>
                </a:lnTo>
                <a:lnTo>
                  <a:pt x="966983" y="821832"/>
                </a:lnTo>
                <a:lnTo>
                  <a:pt x="859541" y="826774"/>
                </a:lnTo>
                <a:lnTo>
                  <a:pt x="752098" y="831716"/>
                </a:lnTo>
                <a:lnTo>
                  <a:pt x="644656" y="836187"/>
                </a:lnTo>
                <a:lnTo>
                  <a:pt x="537213" y="840423"/>
                </a:lnTo>
                <a:lnTo>
                  <a:pt x="429770" y="844658"/>
                </a:lnTo>
                <a:lnTo>
                  <a:pt x="322328" y="848894"/>
                </a:lnTo>
                <a:lnTo>
                  <a:pt x="214885" y="853130"/>
                </a:lnTo>
                <a:lnTo>
                  <a:pt x="107442" y="857366"/>
                </a:lnTo>
                <a:lnTo>
                  <a:pt x="0" y="861601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weight: 3-й центиль"/>
          <p:cNvSpPr/>
          <p:nvPr/>
        </p:nvSpPr>
        <p:spPr>
          <a:xfrm>
            <a:off x="548640" y="4515269"/>
            <a:ext cx="6446560" cy="416514"/>
          </a:xfrm>
          <a:custGeom>
            <a:avLst/>
            <a:gdLst/>
            <a:ahLst/>
            <a:cxnLst/>
            <a:rect l="l" t="t" r="r" b="b"/>
            <a:pathLst>
              <a:path w="6446560" h="416514">
                <a:moveTo>
                  <a:pt x="0" y="416514"/>
                </a:moveTo>
                <a:lnTo>
                  <a:pt x="107442" y="412279"/>
                </a:lnTo>
                <a:lnTo>
                  <a:pt x="214885" y="408043"/>
                </a:lnTo>
                <a:lnTo>
                  <a:pt x="322328" y="403807"/>
                </a:lnTo>
                <a:lnTo>
                  <a:pt x="429770" y="399571"/>
                </a:lnTo>
                <a:lnTo>
                  <a:pt x="537213" y="395336"/>
                </a:lnTo>
                <a:lnTo>
                  <a:pt x="644656" y="391100"/>
                </a:lnTo>
                <a:lnTo>
                  <a:pt x="752098" y="386629"/>
                </a:lnTo>
                <a:lnTo>
                  <a:pt x="859541" y="381687"/>
                </a:lnTo>
                <a:lnTo>
                  <a:pt x="966983" y="376745"/>
                </a:lnTo>
                <a:lnTo>
                  <a:pt x="1074426" y="371804"/>
                </a:lnTo>
                <a:lnTo>
                  <a:pt x="1181869" y="366862"/>
                </a:lnTo>
                <a:lnTo>
                  <a:pt x="1289312" y="361920"/>
                </a:lnTo>
                <a:lnTo>
                  <a:pt x="1396754" y="356979"/>
                </a:lnTo>
                <a:lnTo>
                  <a:pt x="1504197" y="352037"/>
                </a:lnTo>
                <a:lnTo>
                  <a:pt x="1611640" y="347095"/>
                </a:lnTo>
                <a:lnTo>
                  <a:pt x="1719082" y="342154"/>
                </a:lnTo>
                <a:lnTo>
                  <a:pt x="1826525" y="337212"/>
                </a:lnTo>
                <a:lnTo>
                  <a:pt x="1933968" y="332270"/>
                </a:lnTo>
                <a:lnTo>
                  <a:pt x="2041410" y="327328"/>
                </a:lnTo>
                <a:lnTo>
                  <a:pt x="2148853" y="322387"/>
                </a:lnTo>
                <a:lnTo>
                  <a:pt x="2256296" y="317445"/>
                </a:lnTo>
                <a:lnTo>
                  <a:pt x="2363738" y="312503"/>
                </a:lnTo>
                <a:lnTo>
                  <a:pt x="2471181" y="307562"/>
                </a:lnTo>
                <a:lnTo>
                  <a:pt x="2578624" y="302620"/>
                </a:lnTo>
                <a:lnTo>
                  <a:pt x="2686066" y="297678"/>
                </a:lnTo>
                <a:lnTo>
                  <a:pt x="2793509" y="292737"/>
                </a:lnTo>
                <a:lnTo>
                  <a:pt x="2900952" y="286795"/>
                </a:lnTo>
                <a:lnTo>
                  <a:pt x="3008394" y="278853"/>
                </a:lnTo>
                <a:lnTo>
                  <a:pt x="3115837" y="270911"/>
                </a:lnTo>
                <a:lnTo>
                  <a:pt x="3223280" y="262969"/>
                </a:lnTo>
                <a:lnTo>
                  <a:pt x="3330722" y="255027"/>
                </a:lnTo>
                <a:lnTo>
                  <a:pt x="3438165" y="247085"/>
                </a:lnTo>
                <a:lnTo>
                  <a:pt x="3545607" y="239143"/>
                </a:lnTo>
                <a:lnTo>
                  <a:pt x="3653050" y="231201"/>
                </a:lnTo>
                <a:lnTo>
                  <a:pt x="3760493" y="223259"/>
                </a:lnTo>
                <a:lnTo>
                  <a:pt x="3867936" y="215317"/>
                </a:lnTo>
                <a:lnTo>
                  <a:pt x="3975378" y="207375"/>
                </a:lnTo>
                <a:lnTo>
                  <a:pt x="4082821" y="199432"/>
                </a:lnTo>
                <a:lnTo>
                  <a:pt x="4190264" y="191490"/>
                </a:lnTo>
                <a:lnTo>
                  <a:pt x="4297706" y="183548"/>
                </a:lnTo>
                <a:lnTo>
                  <a:pt x="4405149" y="174547"/>
                </a:lnTo>
                <a:lnTo>
                  <a:pt x="4512592" y="165547"/>
                </a:lnTo>
                <a:lnTo>
                  <a:pt x="4620034" y="156546"/>
                </a:lnTo>
                <a:lnTo>
                  <a:pt x="4727477" y="147545"/>
                </a:lnTo>
                <a:lnTo>
                  <a:pt x="4834920" y="138544"/>
                </a:lnTo>
                <a:lnTo>
                  <a:pt x="4942362" y="129543"/>
                </a:lnTo>
                <a:lnTo>
                  <a:pt x="5049805" y="120542"/>
                </a:lnTo>
                <a:lnTo>
                  <a:pt x="5157248" y="111541"/>
                </a:lnTo>
                <a:lnTo>
                  <a:pt x="5264690" y="102540"/>
                </a:lnTo>
                <a:lnTo>
                  <a:pt x="5372133" y="93539"/>
                </a:lnTo>
                <a:lnTo>
                  <a:pt x="5479576" y="84538"/>
                </a:lnTo>
                <a:lnTo>
                  <a:pt x="5587018" y="75537"/>
                </a:lnTo>
                <a:lnTo>
                  <a:pt x="5694461" y="66536"/>
                </a:lnTo>
                <a:lnTo>
                  <a:pt x="5801903" y="57182"/>
                </a:lnTo>
                <a:lnTo>
                  <a:pt x="5909346" y="47652"/>
                </a:lnTo>
                <a:lnTo>
                  <a:pt x="6016789" y="38121"/>
                </a:lnTo>
                <a:lnTo>
                  <a:pt x="6124232" y="28591"/>
                </a:lnTo>
                <a:lnTo>
                  <a:pt x="6231674" y="19060"/>
                </a:lnTo>
                <a:lnTo>
                  <a:pt x="6339117" y="9530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35200" y="4435269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34" name="weight: 50-й центиль"/>
          <p:cNvSpPr/>
          <p:nvPr/>
        </p:nvSpPr>
        <p:spPr>
          <a:xfrm>
            <a:off x="548640" y="4367681"/>
            <a:ext cx="6446560" cy="512203"/>
          </a:xfrm>
          <a:custGeom>
            <a:avLst/>
            <a:gdLst/>
            <a:ahLst/>
            <a:cxnLst/>
            <a:rect l="l" t="t" r="r" b="b"/>
            <a:pathLst>
              <a:path w="6446560" h="512203">
                <a:moveTo>
                  <a:pt x="0" y="512203"/>
                </a:moveTo>
                <a:lnTo>
                  <a:pt x="107442" y="506995"/>
                </a:lnTo>
                <a:lnTo>
                  <a:pt x="214885" y="501786"/>
                </a:lnTo>
                <a:lnTo>
                  <a:pt x="322328" y="496577"/>
                </a:lnTo>
                <a:lnTo>
                  <a:pt x="429770" y="491368"/>
                </a:lnTo>
                <a:lnTo>
                  <a:pt x="537213" y="486159"/>
                </a:lnTo>
                <a:lnTo>
                  <a:pt x="644656" y="480950"/>
                </a:lnTo>
                <a:lnTo>
                  <a:pt x="752098" y="475452"/>
                </a:lnTo>
                <a:lnTo>
                  <a:pt x="859541" y="469375"/>
                </a:lnTo>
                <a:lnTo>
                  <a:pt x="966983" y="463298"/>
                </a:lnTo>
                <a:lnTo>
                  <a:pt x="1074426" y="457221"/>
                </a:lnTo>
                <a:lnTo>
                  <a:pt x="1181869" y="451144"/>
                </a:lnTo>
                <a:lnTo>
                  <a:pt x="1289312" y="445067"/>
                </a:lnTo>
                <a:lnTo>
                  <a:pt x="1396754" y="438990"/>
                </a:lnTo>
                <a:lnTo>
                  <a:pt x="1504197" y="432913"/>
                </a:lnTo>
                <a:lnTo>
                  <a:pt x="1611640" y="426836"/>
                </a:lnTo>
                <a:lnTo>
                  <a:pt x="1719082" y="420759"/>
                </a:lnTo>
                <a:lnTo>
                  <a:pt x="1826525" y="414682"/>
                </a:lnTo>
                <a:lnTo>
                  <a:pt x="1933968" y="408605"/>
                </a:lnTo>
                <a:lnTo>
                  <a:pt x="2041410" y="402528"/>
                </a:lnTo>
                <a:lnTo>
                  <a:pt x="2148853" y="396451"/>
                </a:lnTo>
                <a:lnTo>
                  <a:pt x="2256296" y="390374"/>
                </a:lnTo>
                <a:lnTo>
                  <a:pt x="2363738" y="384297"/>
                </a:lnTo>
                <a:lnTo>
                  <a:pt x="2471181" y="378220"/>
                </a:lnTo>
                <a:lnTo>
                  <a:pt x="2578624" y="372143"/>
                </a:lnTo>
                <a:lnTo>
                  <a:pt x="2686066" y="366066"/>
                </a:lnTo>
                <a:lnTo>
                  <a:pt x="2793509" y="359989"/>
                </a:lnTo>
                <a:lnTo>
                  <a:pt x="2900952" y="352682"/>
                </a:lnTo>
                <a:lnTo>
                  <a:pt x="3008394" y="342916"/>
                </a:lnTo>
                <a:lnTo>
                  <a:pt x="3115837" y="333149"/>
                </a:lnTo>
                <a:lnTo>
                  <a:pt x="3223280" y="323383"/>
                </a:lnTo>
                <a:lnTo>
                  <a:pt x="3330722" y="313616"/>
                </a:lnTo>
                <a:lnTo>
                  <a:pt x="3438165" y="303849"/>
                </a:lnTo>
                <a:lnTo>
                  <a:pt x="3545607" y="294083"/>
                </a:lnTo>
                <a:lnTo>
                  <a:pt x="3653050" y="284316"/>
                </a:lnTo>
                <a:lnTo>
                  <a:pt x="3760493" y="274550"/>
                </a:lnTo>
                <a:lnTo>
                  <a:pt x="3867936" y="264783"/>
                </a:lnTo>
                <a:lnTo>
                  <a:pt x="3975378" y="255016"/>
                </a:lnTo>
                <a:lnTo>
                  <a:pt x="4082821" y="245250"/>
                </a:lnTo>
                <a:lnTo>
                  <a:pt x="4190264" y="235483"/>
                </a:lnTo>
                <a:lnTo>
                  <a:pt x="4297706" y="225717"/>
                </a:lnTo>
                <a:lnTo>
                  <a:pt x="4405149" y="214648"/>
                </a:lnTo>
                <a:lnTo>
                  <a:pt x="4512592" y="203579"/>
                </a:lnTo>
                <a:lnTo>
                  <a:pt x="4620034" y="192510"/>
                </a:lnTo>
                <a:lnTo>
                  <a:pt x="4727477" y="181441"/>
                </a:lnTo>
                <a:lnTo>
                  <a:pt x="4834920" y="170373"/>
                </a:lnTo>
                <a:lnTo>
                  <a:pt x="4942362" y="159304"/>
                </a:lnTo>
                <a:lnTo>
                  <a:pt x="5049805" y="148235"/>
                </a:lnTo>
                <a:lnTo>
                  <a:pt x="5157248" y="137166"/>
                </a:lnTo>
                <a:lnTo>
                  <a:pt x="5264690" y="126097"/>
                </a:lnTo>
                <a:lnTo>
                  <a:pt x="5372133" y="115029"/>
                </a:lnTo>
                <a:lnTo>
                  <a:pt x="5479576" y="103960"/>
                </a:lnTo>
                <a:lnTo>
                  <a:pt x="5587018" y="92891"/>
                </a:lnTo>
                <a:lnTo>
                  <a:pt x="5694461" y="81822"/>
                </a:lnTo>
                <a:lnTo>
                  <a:pt x="5801903" y="70319"/>
                </a:lnTo>
                <a:lnTo>
                  <a:pt x="5909346" y="58599"/>
                </a:lnTo>
                <a:lnTo>
                  <a:pt x="6016789" y="46879"/>
                </a:lnTo>
                <a:lnTo>
                  <a:pt x="6124232" y="35160"/>
                </a:lnTo>
                <a:lnTo>
                  <a:pt x="6231674" y="23440"/>
                </a:lnTo>
                <a:lnTo>
                  <a:pt x="6339117" y="11720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35200" y="4287681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36" name="weight: 97-й центиль"/>
          <p:cNvSpPr/>
          <p:nvPr/>
        </p:nvSpPr>
        <p:spPr>
          <a:xfrm>
            <a:off x="548640" y="4070182"/>
            <a:ext cx="6446560" cy="705087"/>
          </a:xfrm>
          <a:custGeom>
            <a:avLst/>
            <a:gdLst/>
            <a:ahLst/>
            <a:cxnLst/>
            <a:rect l="l" t="t" r="r" b="b"/>
            <a:pathLst>
              <a:path w="6446560" h="705087">
                <a:moveTo>
                  <a:pt x="0" y="705087"/>
                </a:moveTo>
                <a:lnTo>
                  <a:pt x="107442" y="697917"/>
                </a:lnTo>
                <a:lnTo>
                  <a:pt x="214885" y="690747"/>
                </a:lnTo>
                <a:lnTo>
                  <a:pt x="322328" y="683576"/>
                </a:lnTo>
                <a:lnTo>
                  <a:pt x="429770" y="676406"/>
                </a:lnTo>
                <a:lnTo>
                  <a:pt x="537213" y="669235"/>
                </a:lnTo>
                <a:lnTo>
                  <a:pt x="644656" y="662065"/>
                </a:lnTo>
                <a:lnTo>
                  <a:pt x="752098" y="654496"/>
                </a:lnTo>
                <a:lnTo>
                  <a:pt x="859541" y="646131"/>
                </a:lnTo>
                <a:lnTo>
                  <a:pt x="966983" y="637765"/>
                </a:lnTo>
                <a:lnTo>
                  <a:pt x="1074426" y="629400"/>
                </a:lnTo>
                <a:lnTo>
                  <a:pt x="1181869" y="621034"/>
                </a:lnTo>
                <a:lnTo>
                  <a:pt x="1289312" y="612669"/>
                </a:lnTo>
                <a:lnTo>
                  <a:pt x="1396754" y="604304"/>
                </a:lnTo>
                <a:lnTo>
                  <a:pt x="1504197" y="595938"/>
                </a:lnTo>
                <a:lnTo>
                  <a:pt x="1611640" y="587573"/>
                </a:lnTo>
                <a:lnTo>
                  <a:pt x="1719082" y="579207"/>
                </a:lnTo>
                <a:lnTo>
                  <a:pt x="1826525" y="570842"/>
                </a:lnTo>
                <a:lnTo>
                  <a:pt x="1933968" y="562476"/>
                </a:lnTo>
                <a:lnTo>
                  <a:pt x="2041410" y="554111"/>
                </a:lnTo>
                <a:lnTo>
                  <a:pt x="2148853" y="545745"/>
                </a:lnTo>
                <a:lnTo>
                  <a:pt x="2256296" y="537380"/>
                </a:lnTo>
                <a:lnTo>
                  <a:pt x="2363738" y="529015"/>
                </a:lnTo>
                <a:lnTo>
                  <a:pt x="2471181" y="520649"/>
                </a:lnTo>
                <a:lnTo>
                  <a:pt x="2578624" y="512284"/>
                </a:lnTo>
                <a:lnTo>
                  <a:pt x="2686066" y="503918"/>
                </a:lnTo>
                <a:lnTo>
                  <a:pt x="2793509" y="495553"/>
                </a:lnTo>
                <a:lnTo>
                  <a:pt x="2900952" y="485494"/>
                </a:lnTo>
                <a:lnTo>
                  <a:pt x="3008394" y="472050"/>
                </a:lnTo>
                <a:lnTo>
                  <a:pt x="3115837" y="458605"/>
                </a:lnTo>
                <a:lnTo>
                  <a:pt x="3223280" y="445161"/>
                </a:lnTo>
                <a:lnTo>
                  <a:pt x="3330722" y="431716"/>
                </a:lnTo>
                <a:lnTo>
                  <a:pt x="3438165" y="418272"/>
                </a:lnTo>
                <a:lnTo>
                  <a:pt x="3545607" y="404828"/>
                </a:lnTo>
                <a:lnTo>
                  <a:pt x="3653050" y="391383"/>
                </a:lnTo>
                <a:lnTo>
                  <a:pt x="3760493" y="377939"/>
                </a:lnTo>
                <a:lnTo>
                  <a:pt x="3867936" y="364494"/>
                </a:lnTo>
                <a:lnTo>
                  <a:pt x="3975378" y="351050"/>
                </a:lnTo>
                <a:lnTo>
                  <a:pt x="4082821" y="337605"/>
                </a:lnTo>
                <a:lnTo>
                  <a:pt x="4190264" y="324161"/>
                </a:lnTo>
                <a:lnTo>
                  <a:pt x="4297706" y="310716"/>
                </a:lnTo>
                <a:lnTo>
                  <a:pt x="4405149" y="295479"/>
                </a:lnTo>
                <a:lnTo>
                  <a:pt x="4512592" y="280242"/>
                </a:lnTo>
                <a:lnTo>
                  <a:pt x="4620034" y="265005"/>
                </a:lnTo>
                <a:lnTo>
                  <a:pt x="4727477" y="249768"/>
                </a:lnTo>
                <a:lnTo>
                  <a:pt x="4834920" y="234531"/>
                </a:lnTo>
                <a:lnTo>
                  <a:pt x="4942362" y="219294"/>
                </a:lnTo>
                <a:lnTo>
                  <a:pt x="5049805" y="204057"/>
                </a:lnTo>
                <a:lnTo>
                  <a:pt x="5157248" y="188820"/>
                </a:lnTo>
                <a:lnTo>
                  <a:pt x="5264690" y="173583"/>
                </a:lnTo>
                <a:lnTo>
                  <a:pt x="5372133" y="158346"/>
                </a:lnTo>
                <a:lnTo>
                  <a:pt x="5479576" y="143109"/>
                </a:lnTo>
                <a:lnTo>
                  <a:pt x="5587018" y="127871"/>
                </a:lnTo>
                <a:lnTo>
                  <a:pt x="5694461" y="112634"/>
                </a:lnTo>
                <a:lnTo>
                  <a:pt x="5801903" y="96800"/>
                </a:lnTo>
                <a:lnTo>
                  <a:pt x="5909346" y="80666"/>
                </a:lnTo>
                <a:lnTo>
                  <a:pt x="6016789" y="64533"/>
                </a:lnTo>
                <a:lnTo>
                  <a:pt x="6124232" y="48400"/>
                </a:lnTo>
                <a:lnTo>
                  <a:pt x="6231674" y="32266"/>
                </a:lnTo>
                <a:lnTo>
                  <a:pt x="6339117" y="16133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35200" y="3990182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38" name="weight: ось"/>
          <p:cNvSpPr/>
          <p:nvPr/>
        </p:nvSpPr>
        <p:spPr>
          <a:xfrm>
            <a:off x="548640" y="4983480"/>
            <a:ext cx="6446560" cy="0"/>
          </a:xfrm>
          <a:custGeom>
            <a:avLst/>
            <a:gdLst/>
            <a:ahLst/>
            <a:cxnLst/>
            <a:rect l="l" t="t" r="r" b="b"/>
            <a:pathLst>
              <a:path w="6446560" h="0">
                <a:moveTo>
                  <a:pt x="0" y="0"/>
                </a:moveTo>
                <a:lnTo>
                  <a:pt x="6446560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8640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31208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63777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96346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8915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44" name="weight: пациент"/>
          <p:cNvSpPr/>
          <p:nvPr/>
        </p:nvSpPr>
        <p:spPr>
          <a:xfrm>
            <a:off x="548640" y="4532802"/>
            <a:ext cx="4297706" cy="342319"/>
          </a:xfrm>
          <a:custGeom>
            <a:avLst/>
            <a:gdLst/>
            <a:ahLst/>
            <a:cxnLst/>
            <a:rect l="l" t="t" r="r" b="b"/>
            <a:pathLst>
              <a:path w="4297706" h="342319">
                <a:moveTo>
                  <a:pt x="0" y="342319"/>
                </a:moveTo>
                <a:lnTo>
                  <a:pt x="59690" y="338971"/>
                </a:lnTo>
                <a:lnTo>
                  <a:pt x="119380" y="335614"/>
                </a:lnTo>
                <a:lnTo>
                  <a:pt x="179071" y="332248"/>
                </a:lnTo>
                <a:lnTo>
                  <a:pt x="238761" y="328873"/>
                </a:lnTo>
                <a:lnTo>
                  <a:pt x="298451" y="325489"/>
                </a:lnTo>
                <a:lnTo>
                  <a:pt x="358142" y="322096"/>
                </a:lnTo>
                <a:lnTo>
                  <a:pt x="417832" y="318694"/>
                </a:lnTo>
                <a:lnTo>
                  <a:pt x="477522" y="315283"/>
                </a:lnTo>
                <a:lnTo>
                  <a:pt x="537213" y="311863"/>
                </a:lnTo>
                <a:lnTo>
                  <a:pt x="596903" y="308434"/>
                </a:lnTo>
                <a:lnTo>
                  <a:pt x="656594" y="304995"/>
                </a:lnTo>
                <a:lnTo>
                  <a:pt x="716284" y="301548"/>
                </a:lnTo>
                <a:lnTo>
                  <a:pt x="775974" y="298055"/>
                </a:lnTo>
                <a:lnTo>
                  <a:pt x="835665" y="294562"/>
                </a:lnTo>
                <a:lnTo>
                  <a:pt x="895355" y="291069"/>
                </a:lnTo>
                <a:lnTo>
                  <a:pt x="955045" y="287577"/>
                </a:lnTo>
                <a:lnTo>
                  <a:pt x="1014736" y="284084"/>
                </a:lnTo>
                <a:lnTo>
                  <a:pt x="1074426" y="280591"/>
                </a:lnTo>
                <a:lnTo>
                  <a:pt x="1134117" y="277098"/>
                </a:lnTo>
                <a:lnTo>
                  <a:pt x="1193807" y="273605"/>
                </a:lnTo>
                <a:lnTo>
                  <a:pt x="1253497" y="270112"/>
                </a:lnTo>
                <a:lnTo>
                  <a:pt x="1313188" y="266619"/>
                </a:lnTo>
                <a:lnTo>
                  <a:pt x="1372878" y="263126"/>
                </a:lnTo>
                <a:lnTo>
                  <a:pt x="1432568" y="259634"/>
                </a:lnTo>
                <a:lnTo>
                  <a:pt x="1492259" y="255618"/>
                </a:lnTo>
                <a:lnTo>
                  <a:pt x="1551949" y="251592"/>
                </a:lnTo>
                <a:lnTo>
                  <a:pt x="1611640" y="247555"/>
                </a:lnTo>
                <a:lnTo>
                  <a:pt x="1671330" y="243507"/>
                </a:lnTo>
                <a:lnTo>
                  <a:pt x="1731020" y="239449"/>
                </a:lnTo>
                <a:lnTo>
                  <a:pt x="1790711" y="235380"/>
                </a:lnTo>
                <a:lnTo>
                  <a:pt x="1850401" y="231300"/>
                </a:lnTo>
                <a:lnTo>
                  <a:pt x="1910091" y="227209"/>
                </a:lnTo>
                <a:lnTo>
                  <a:pt x="1969782" y="223108"/>
                </a:lnTo>
                <a:lnTo>
                  <a:pt x="2029472" y="218995"/>
                </a:lnTo>
                <a:lnTo>
                  <a:pt x="2089162" y="214872"/>
                </a:lnTo>
                <a:lnTo>
                  <a:pt x="2148853" y="210738"/>
                </a:lnTo>
                <a:lnTo>
                  <a:pt x="2208543" y="206593"/>
                </a:lnTo>
                <a:lnTo>
                  <a:pt x="2268234" y="202437"/>
                </a:lnTo>
                <a:lnTo>
                  <a:pt x="2327924" y="198271"/>
                </a:lnTo>
                <a:lnTo>
                  <a:pt x="2387614" y="194093"/>
                </a:lnTo>
                <a:lnTo>
                  <a:pt x="2447305" y="189904"/>
                </a:lnTo>
                <a:lnTo>
                  <a:pt x="2506995" y="185704"/>
                </a:lnTo>
                <a:lnTo>
                  <a:pt x="2566685" y="181494"/>
                </a:lnTo>
                <a:lnTo>
                  <a:pt x="2626376" y="177272"/>
                </a:lnTo>
                <a:lnTo>
                  <a:pt x="2686066" y="173039"/>
                </a:lnTo>
                <a:lnTo>
                  <a:pt x="2745757" y="168795"/>
                </a:lnTo>
                <a:lnTo>
                  <a:pt x="2805447" y="164540"/>
                </a:lnTo>
                <a:lnTo>
                  <a:pt x="2865137" y="160273"/>
                </a:lnTo>
                <a:lnTo>
                  <a:pt x="2924828" y="153799"/>
                </a:lnTo>
                <a:lnTo>
                  <a:pt x="2984518" y="147307"/>
                </a:lnTo>
                <a:lnTo>
                  <a:pt x="3044208" y="140797"/>
                </a:lnTo>
                <a:lnTo>
                  <a:pt x="3103899" y="134270"/>
                </a:lnTo>
                <a:lnTo>
                  <a:pt x="3163589" y="127726"/>
                </a:lnTo>
                <a:lnTo>
                  <a:pt x="3223280" y="121164"/>
                </a:lnTo>
                <a:lnTo>
                  <a:pt x="3282970" y="114584"/>
                </a:lnTo>
                <a:lnTo>
                  <a:pt x="3342660" y="107987"/>
                </a:lnTo>
                <a:lnTo>
                  <a:pt x="3402351" y="101372"/>
                </a:lnTo>
                <a:lnTo>
                  <a:pt x="3462041" y="94739"/>
                </a:lnTo>
                <a:lnTo>
                  <a:pt x="3521731" y="88089"/>
                </a:lnTo>
                <a:lnTo>
                  <a:pt x="3581422" y="81420"/>
                </a:lnTo>
                <a:lnTo>
                  <a:pt x="3641112" y="74734"/>
                </a:lnTo>
                <a:lnTo>
                  <a:pt x="3700802" y="68030"/>
                </a:lnTo>
                <a:lnTo>
                  <a:pt x="3760493" y="61308"/>
                </a:lnTo>
                <a:lnTo>
                  <a:pt x="3820183" y="54569"/>
                </a:lnTo>
                <a:lnTo>
                  <a:pt x="3879874" y="47811"/>
                </a:lnTo>
                <a:lnTo>
                  <a:pt x="3939564" y="41035"/>
                </a:lnTo>
                <a:lnTo>
                  <a:pt x="3999254" y="34241"/>
                </a:lnTo>
                <a:lnTo>
                  <a:pt x="4058945" y="27429"/>
                </a:lnTo>
                <a:lnTo>
                  <a:pt x="4118635" y="20599"/>
                </a:lnTo>
                <a:lnTo>
                  <a:pt x="4178325" y="13751"/>
                </a:lnTo>
                <a:lnTo>
                  <a:pt x="4238016" y="6885"/>
                </a:lnTo>
                <a:lnTo>
                  <a:pt x="4297706" y="0"/>
                </a:lnTo>
              </a:path>
            </a:pathLst>
          </a:custGeom>
          <a:noFill/>
          <a:ln w="34925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weight: визит 4"/>
          <p:cNvSpPr/>
          <p:nvPr/>
        </p:nvSpPr>
        <p:spPr>
          <a:xfrm>
            <a:off x="488640" y="4815121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weight: визит 5"/>
          <p:cNvSpPr/>
          <p:nvPr/>
        </p:nvSpPr>
        <p:spPr>
          <a:xfrm>
            <a:off x="1204924" y="4774350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weight: визит 6"/>
          <p:cNvSpPr/>
          <p:nvPr/>
        </p:nvSpPr>
        <p:spPr>
          <a:xfrm>
            <a:off x="1921208" y="4732436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weight: визит 7"/>
          <p:cNvSpPr/>
          <p:nvPr/>
        </p:nvSpPr>
        <p:spPr>
          <a:xfrm>
            <a:off x="2637493" y="4683540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weight: визит 8"/>
          <p:cNvSpPr/>
          <p:nvPr/>
        </p:nvSpPr>
        <p:spPr>
          <a:xfrm>
            <a:off x="3353777" y="4633075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weight: визит 9"/>
          <p:cNvSpPr/>
          <p:nvPr/>
        </p:nvSpPr>
        <p:spPr>
          <a:xfrm>
            <a:off x="4070062" y="4554222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weight: визит 10"/>
          <p:cNvSpPr/>
          <p:nvPr/>
        </p:nvSpPr>
        <p:spPr>
          <a:xfrm>
            <a:off x="4786346" y="4472802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3788486"/>
            <a:ext cx="6446560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Масса, кг</a:t>
            </a:r>
          </a:p>
        </p:txBody>
      </p:sp>
      <p:sp>
        <p:nvSpPr>
          <p:cNvPr id="53" name="Легенда"/>
          <p:cNvSpPr/>
          <p:nvPr/>
        </p:nvSpPr>
        <p:spPr>
          <a:xfrm>
            <a:off x="548640" y="5349240"/>
            <a:ext cx="274320" cy="9144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Легенда"/>
          <p:cNvSpPr txBox="1"/>
          <p:nvPr/>
        </p:nvSpPr>
        <p:spPr>
          <a:xfrm>
            <a:off x="896112" y="528523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пример: рост</a:t>
            </a:r>
          </a:p>
        </p:txBody>
      </p:sp>
      <p:sp>
        <p:nvSpPr>
          <p:cNvPr id="55" name="Легенда"/>
          <p:cNvSpPr/>
          <p:nvPr/>
        </p:nvSpPr>
        <p:spPr>
          <a:xfrm>
            <a:off x="2560320" y="5349240"/>
            <a:ext cx="274320" cy="91440"/>
          </a:xfrm>
          <a:prstGeom prst="rect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Легенда"/>
          <p:cNvSpPr txBox="1"/>
          <p:nvPr/>
        </p:nvSpPr>
        <p:spPr>
          <a:xfrm>
            <a:off x="2907792" y="528523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пример: масса</a:t>
            </a:r>
          </a:p>
        </p:txBody>
      </p:sp>
      <p:sp>
        <p:nvSpPr>
          <p:cNvPr id="57" name="Легенда"/>
          <p:cNvSpPr/>
          <p:nvPr/>
        </p:nvSpPr>
        <p:spPr>
          <a:xfrm>
            <a:off x="4572000" y="5349240"/>
            <a:ext cx="274320" cy="9144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Легенда"/>
          <p:cNvSpPr txBox="1"/>
          <p:nvPr/>
        </p:nvSpPr>
        <p:spPr>
          <a:xfrm>
            <a:off x="4919472" y="528523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норма: 3–⁠97-й центиль</a:t>
            </a:r>
          </a:p>
        </p:txBody>
      </p:sp>
      <p:sp>
        <p:nvSpPr>
          <p:cNvPr id="59" name="Текст"/>
          <p:cNvSpPr txBox="1"/>
          <p:nvPr/>
        </p:nvSpPr>
        <p:spPr>
          <a:xfrm>
            <a:off x="7635240" y="1691640"/>
            <a:ext cx="4007815" cy="406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/>
        </p:txBody>
      </p:sp>
      <p:sp>
        <p:nvSpPr>
          <p:cNvPr id="60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Salerno M et al. Front Endocrinol (Lausanne) 2026;16:1744280; Rohner F et al. Thyroid 2020;30:898–⁠907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Без гормона щитовидной железы хрящ плохо окостеневает, а секреция СТГ падает</a:t>
            </a:r>
          </a:p>
        </p:txBody>
      </p:sp>
      <p:sp>
        <p:nvSpPr>
          <p:cNvPr id="3" name="Строка: Гипофиз"/>
          <p:cNvSpPr/>
          <p:nvPr/>
        </p:nvSpPr>
        <p:spPr>
          <a:xfrm>
            <a:off x="3017520" y="1554480"/>
            <a:ext cx="8625535" cy="1005840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Уровень: Гипофиз"/>
          <p:cNvSpPr/>
          <p:nvPr/>
        </p:nvSpPr>
        <p:spPr>
          <a:xfrm>
            <a:off x="548640" y="1554480"/>
            <a:ext cx="2468880" cy="1005840"/>
          </a:xfrm>
          <a:prstGeom prst="rect">
            <a:avLst/>
          </a:prstGeom>
          <a:solidFill>
            <a:srgbClr val="1B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Уровень"/>
          <p:cNvSpPr txBox="1"/>
          <p:nvPr/>
        </p:nvSpPr>
        <p:spPr>
          <a:xfrm>
            <a:off x="685800" y="155448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Гипофиз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B9C7D0"/>
                </a:solidFill>
                <a:latin typeface="Calibri"/>
              </a:rPr>
              <a:t>СТГ</a:t>
            </a:r>
          </a:p>
        </p:txBody>
      </p:sp>
      <p:cxnSp>
        <p:nvCxnSpPr>
          <p:cNvPr id="6" name="Стрелка"/>
          <p:cNvCxnSpPr/>
          <p:nvPr/>
        </p:nvCxnSpPr>
        <p:spPr>
          <a:xfrm>
            <a:off x="1783080" y="2560320"/>
            <a:ext cx="0" cy="274320"/>
          </a:xfrm>
          <a:prstGeom prst="line">
            <a:avLst/>
          </a:prstGeom>
          <a:ln w="25400">
            <a:solidFill>
              <a:srgbClr val="8C97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Что происходит"/>
          <p:cNvSpPr txBox="1"/>
          <p:nvPr/>
        </p:nvSpPr>
        <p:spPr>
          <a:xfrm>
            <a:off x="3291840" y="1554480"/>
            <a:ext cx="8168335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900" b="0" i="0">
                <a:solidFill>
                  <a:srgbClr val="26323A"/>
                </a:solidFill>
                <a:latin typeface="Calibri"/>
              </a:rPr>
              <a:t>Ночная секреция соматотропного гормона (СТГ) снижена, на левотироксине приходит в норму (7 детей)</a:t>
            </a:r>
          </a:p>
        </p:txBody>
      </p:sp>
      <p:sp>
        <p:nvSpPr>
          <p:cNvPr id="8" name="Строка: Кровь"/>
          <p:cNvSpPr/>
          <p:nvPr/>
        </p:nvSpPr>
        <p:spPr>
          <a:xfrm>
            <a:off x="3017520" y="2834640"/>
            <a:ext cx="8625535" cy="1005840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Уровень: Кровь"/>
          <p:cNvSpPr/>
          <p:nvPr/>
        </p:nvSpPr>
        <p:spPr>
          <a:xfrm>
            <a:off x="548640" y="2834640"/>
            <a:ext cx="2468880" cy="1005840"/>
          </a:xfrm>
          <a:prstGeom prst="rect">
            <a:avLst/>
          </a:prstGeom>
          <a:solidFill>
            <a:srgbClr val="1B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Уровень"/>
          <p:cNvSpPr txBox="1"/>
          <p:nvPr/>
        </p:nvSpPr>
        <p:spPr>
          <a:xfrm>
            <a:off x="685800" y="283464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Кровь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B9C7D0"/>
                </a:solidFill>
                <a:latin typeface="Calibri"/>
              </a:rPr>
              <a:t>ИФР-⁠1</a:t>
            </a:r>
          </a:p>
        </p:txBody>
      </p:sp>
      <p:cxnSp>
        <p:nvCxnSpPr>
          <p:cNvPr id="11" name="Стрелка"/>
          <p:cNvCxnSpPr/>
          <p:nvPr/>
        </p:nvCxnSpPr>
        <p:spPr>
          <a:xfrm>
            <a:off x="1783080" y="3840480"/>
            <a:ext cx="0" cy="274320"/>
          </a:xfrm>
          <a:prstGeom prst="line">
            <a:avLst/>
          </a:prstGeom>
          <a:ln w="25400">
            <a:solidFill>
              <a:srgbClr val="8C97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Что происходит"/>
          <p:cNvSpPr txBox="1"/>
          <p:nvPr/>
        </p:nvSpPr>
        <p:spPr>
          <a:xfrm>
            <a:off x="3291840" y="2834640"/>
            <a:ext cx="8168335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900" b="0" i="0">
                <a:solidFill>
                  <a:srgbClr val="26323A"/>
                </a:solidFill>
                <a:latin typeface="Calibri"/>
              </a:rPr>
              <a:t>Инсулиноподобный фактор роста 1 (ИФР-⁠1) до лечения ниже, чем на лечении</a:t>
            </a:r>
          </a:p>
        </p:txBody>
      </p:sp>
      <p:sp>
        <p:nvSpPr>
          <p:cNvPr id="13" name="Строка: Зона роста"/>
          <p:cNvSpPr/>
          <p:nvPr/>
        </p:nvSpPr>
        <p:spPr>
          <a:xfrm>
            <a:off x="3017520" y="4114800"/>
            <a:ext cx="8625535" cy="1005840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Уровень: Зона роста"/>
          <p:cNvSpPr/>
          <p:nvPr/>
        </p:nvSpPr>
        <p:spPr>
          <a:xfrm>
            <a:off x="548640" y="4114800"/>
            <a:ext cx="2468880" cy="1005840"/>
          </a:xfrm>
          <a:prstGeom prst="rect">
            <a:avLst/>
          </a:prstGeom>
          <a:solidFill>
            <a:srgbClr val="1B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Уровень"/>
          <p:cNvSpPr txBox="1"/>
          <p:nvPr/>
        </p:nvSpPr>
        <p:spPr>
          <a:xfrm>
            <a:off x="685800" y="411480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Зона роста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B9C7D0"/>
                </a:solidFill>
                <a:latin typeface="Calibri"/>
              </a:rPr>
              <a:t>хрящ и кость</a:t>
            </a:r>
          </a:p>
        </p:txBody>
      </p:sp>
      <p:sp>
        <p:nvSpPr>
          <p:cNvPr id="16" name="Что происходит"/>
          <p:cNvSpPr txBox="1"/>
          <p:nvPr/>
        </p:nvSpPr>
        <p:spPr>
          <a:xfrm>
            <a:off x="3291840" y="4114800"/>
            <a:ext cx="8168335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900" b="0" i="0">
                <a:solidFill>
                  <a:srgbClr val="26323A"/>
                </a:solidFill>
                <a:latin typeface="Calibri"/>
              </a:rPr>
              <a:t>Хрящ плохо окостеневает: рост медленнее, скелет отстаёт в развитии</a:t>
            </a:r>
          </a:p>
          <a:p>
            <a:pPr>
              <a:spcAft>
                <a:spcPts val="400"/>
              </a:spcAft>
            </a:pPr>
            <a:r>
              <a:rPr sz="1900" b="0" i="0">
                <a:solidFill>
                  <a:srgbClr val="26323A"/>
                </a:solidFill>
                <a:latin typeface="Calibri"/>
              </a:rPr>
              <a:t>При тяжёлом нелеченом гипотиреозе эпифизы на снимке «крапчатые»</a:t>
            </a:r>
          </a:p>
        </p:txBody>
      </p:sp>
      <p:sp>
        <p:nvSpPr>
          <p:cNvPr id="17" name="Вывод схемы"/>
          <p:cNvSpPr txBox="1"/>
          <p:nvPr/>
        </p:nvSpPr>
        <p:spPr>
          <a:xfrm>
            <a:off x="548640" y="5285232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800" b="0" i="0">
                <a:solidFill>
                  <a:srgbClr val="1B2E3C"/>
                </a:solidFill>
                <a:latin typeface="Calibri"/>
              </a:rPr>
              <a:t>У крыс с гипотиреозом зона роста стареет медленнее, поэтому после отмены пропилтиоурацила, которым его вызывали, рост догоняет</a:t>
            </a:r>
          </a:p>
        </p:txBody>
      </p:sp>
      <p:sp>
        <p:nvSpPr>
          <p:cNvPr id="18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Williams GR, Bassett JHD. J Endocrinol Invest 2018;41:99–⁠109; Chernausek SD, Turner R. J Pediatr 1989;114:968–⁠72; Cavallo F et al. Front Pediatr 2021;9:580314; Marino R et al. Endocrinology 2008;149:1820–⁠8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Чем дольше гипотиреоз не выявлен, тем больше потеря итогового роста</a:t>
            </a:r>
          </a:p>
        </p:txBody>
      </p:sp>
      <p:sp>
        <p:nvSpPr>
          <p:cNvPr id="3" name="height: полоса 3–97"/>
          <p:cNvSpPr/>
          <p:nvPr/>
        </p:nvSpPr>
        <p:spPr>
          <a:xfrm>
            <a:off x="548640" y="2360347"/>
            <a:ext cx="6446560" cy="1035980"/>
          </a:xfrm>
          <a:custGeom>
            <a:avLst/>
            <a:gdLst/>
            <a:ahLst/>
            <a:cxnLst/>
            <a:rect l="l" t="t" r="r" b="b"/>
            <a:pathLst>
              <a:path w="6446560" h="1035980">
                <a:moveTo>
                  <a:pt x="0" y="795337"/>
                </a:moveTo>
                <a:lnTo>
                  <a:pt x="107442" y="781031"/>
                </a:lnTo>
                <a:lnTo>
                  <a:pt x="214885" y="766940"/>
                </a:lnTo>
                <a:lnTo>
                  <a:pt x="322328" y="753061"/>
                </a:lnTo>
                <a:lnTo>
                  <a:pt x="429770" y="739390"/>
                </a:lnTo>
                <a:lnTo>
                  <a:pt x="537213" y="725921"/>
                </a:lnTo>
                <a:lnTo>
                  <a:pt x="644656" y="712652"/>
                </a:lnTo>
                <a:lnTo>
                  <a:pt x="752098" y="699577"/>
                </a:lnTo>
                <a:lnTo>
                  <a:pt x="859541" y="686692"/>
                </a:lnTo>
                <a:lnTo>
                  <a:pt x="966983" y="673994"/>
                </a:lnTo>
                <a:lnTo>
                  <a:pt x="1074426" y="661476"/>
                </a:lnTo>
                <a:lnTo>
                  <a:pt x="1181869" y="649135"/>
                </a:lnTo>
                <a:lnTo>
                  <a:pt x="1289312" y="636965"/>
                </a:lnTo>
                <a:lnTo>
                  <a:pt x="1396754" y="624960"/>
                </a:lnTo>
                <a:lnTo>
                  <a:pt x="1504197" y="613116"/>
                </a:lnTo>
                <a:lnTo>
                  <a:pt x="1611640" y="601427"/>
                </a:lnTo>
                <a:lnTo>
                  <a:pt x="1719082" y="589885"/>
                </a:lnTo>
                <a:lnTo>
                  <a:pt x="1826525" y="578484"/>
                </a:lnTo>
                <a:lnTo>
                  <a:pt x="1933968" y="567216"/>
                </a:lnTo>
                <a:lnTo>
                  <a:pt x="2041410" y="556074"/>
                </a:lnTo>
                <a:lnTo>
                  <a:pt x="2148853" y="545048"/>
                </a:lnTo>
                <a:lnTo>
                  <a:pt x="2256296" y="534128"/>
                </a:lnTo>
                <a:lnTo>
                  <a:pt x="2363738" y="523304"/>
                </a:lnTo>
                <a:lnTo>
                  <a:pt x="2471181" y="512563"/>
                </a:lnTo>
                <a:lnTo>
                  <a:pt x="2578624" y="501892"/>
                </a:lnTo>
                <a:lnTo>
                  <a:pt x="2686066" y="491277"/>
                </a:lnTo>
                <a:lnTo>
                  <a:pt x="2793509" y="480699"/>
                </a:lnTo>
                <a:lnTo>
                  <a:pt x="2900952" y="470141"/>
                </a:lnTo>
                <a:lnTo>
                  <a:pt x="3008394" y="459582"/>
                </a:lnTo>
                <a:lnTo>
                  <a:pt x="3115837" y="448998"/>
                </a:lnTo>
                <a:lnTo>
                  <a:pt x="3223280" y="438363"/>
                </a:lnTo>
                <a:lnTo>
                  <a:pt x="3330722" y="427648"/>
                </a:lnTo>
                <a:lnTo>
                  <a:pt x="3438165" y="416821"/>
                </a:lnTo>
                <a:lnTo>
                  <a:pt x="3545607" y="405848"/>
                </a:lnTo>
                <a:lnTo>
                  <a:pt x="3653050" y="394689"/>
                </a:lnTo>
                <a:lnTo>
                  <a:pt x="3760493" y="383303"/>
                </a:lnTo>
                <a:lnTo>
                  <a:pt x="3867936" y="371645"/>
                </a:lnTo>
                <a:lnTo>
                  <a:pt x="3975378" y="359668"/>
                </a:lnTo>
                <a:lnTo>
                  <a:pt x="4082821" y="347323"/>
                </a:lnTo>
                <a:lnTo>
                  <a:pt x="4190264" y="334562"/>
                </a:lnTo>
                <a:lnTo>
                  <a:pt x="4297706" y="321335"/>
                </a:lnTo>
                <a:lnTo>
                  <a:pt x="4405149" y="307600"/>
                </a:lnTo>
                <a:lnTo>
                  <a:pt x="4512592" y="293315"/>
                </a:lnTo>
                <a:lnTo>
                  <a:pt x="4620034" y="278453"/>
                </a:lnTo>
                <a:lnTo>
                  <a:pt x="4727477" y="262997"/>
                </a:lnTo>
                <a:lnTo>
                  <a:pt x="4834920" y="246947"/>
                </a:lnTo>
                <a:lnTo>
                  <a:pt x="4942362" y="230324"/>
                </a:lnTo>
                <a:lnTo>
                  <a:pt x="5049805" y="213173"/>
                </a:lnTo>
                <a:lnTo>
                  <a:pt x="5157248" y="195566"/>
                </a:lnTo>
                <a:lnTo>
                  <a:pt x="5264690" y="177604"/>
                </a:lnTo>
                <a:lnTo>
                  <a:pt x="5372133" y="159412"/>
                </a:lnTo>
                <a:lnTo>
                  <a:pt x="5479576" y="141141"/>
                </a:lnTo>
                <a:lnTo>
                  <a:pt x="5587018" y="122958"/>
                </a:lnTo>
                <a:lnTo>
                  <a:pt x="5694461" y="105041"/>
                </a:lnTo>
                <a:lnTo>
                  <a:pt x="5801903" y="87569"/>
                </a:lnTo>
                <a:lnTo>
                  <a:pt x="5909346" y="70711"/>
                </a:lnTo>
                <a:lnTo>
                  <a:pt x="6016789" y="54620"/>
                </a:lnTo>
                <a:lnTo>
                  <a:pt x="6124232" y="39423"/>
                </a:lnTo>
                <a:lnTo>
                  <a:pt x="6231674" y="25217"/>
                </a:lnTo>
                <a:lnTo>
                  <a:pt x="6339117" y="12066"/>
                </a:lnTo>
                <a:lnTo>
                  <a:pt x="6446560" y="0"/>
                </a:lnTo>
                <a:lnTo>
                  <a:pt x="6446560" y="348932"/>
                </a:lnTo>
                <a:lnTo>
                  <a:pt x="6339117" y="359192"/>
                </a:lnTo>
                <a:lnTo>
                  <a:pt x="6231674" y="370539"/>
                </a:lnTo>
                <a:lnTo>
                  <a:pt x="6124232" y="382940"/>
                </a:lnTo>
                <a:lnTo>
                  <a:pt x="6016789" y="396332"/>
                </a:lnTo>
                <a:lnTo>
                  <a:pt x="5909346" y="410618"/>
                </a:lnTo>
                <a:lnTo>
                  <a:pt x="5801903" y="425671"/>
                </a:lnTo>
                <a:lnTo>
                  <a:pt x="5694461" y="441339"/>
                </a:lnTo>
                <a:lnTo>
                  <a:pt x="5587018" y="457451"/>
                </a:lnTo>
                <a:lnTo>
                  <a:pt x="5479576" y="473829"/>
                </a:lnTo>
                <a:lnTo>
                  <a:pt x="5372133" y="490295"/>
                </a:lnTo>
                <a:lnTo>
                  <a:pt x="5264690" y="506682"/>
                </a:lnTo>
                <a:lnTo>
                  <a:pt x="5157248" y="522840"/>
                </a:lnTo>
                <a:lnTo>
                  <a:pt x="5049805" y="538641"/>
                </a:lnTo>
                <a:lnTo>
                  <a:pt x="4942362" y="553988"/>
                </a:lnTo>
                <a:lnTo>
                  <a:pt x="4834920" y="568806"/>
                </a:lnTo>
                <a:lnTo>
                  <a:pt x="4727477" y="583052"/>
                </a:lnTo>
                <a:lnTo>
                  <a:pt x="4620034" y="596703"/>
                </a:lnTo>
                <a:lnTo>
                  <a:pt x="4512592" y="609760"/>
                </a:lnTo>
                <a:lnTo>
                  <a:pt x="4405149" y="622240"/>
                </a:lnTo>
                <a:lnTo>
                  <a:pt x="4297706" y="634171"/>
                </a:lnTo>
                <a:lnTo>
                  <a:pt x="4190264" y="645592"/>
                </a:lnTo>
                <a:lnTo>
                  <a:pt x="4082821" y="656549"/>
                </a:lnTo>
                <a:lnTo>
                  <a:pt x="3975378" y="667088"/>
                </a:lnTo>
                <a:lnTo>
                  <a:pt x="3867936" y="677260"/>
                </a:lnTo>
                <a:lnTo>
                  <a:pt x="3760493" y="687114"/>
                </a:lnTo>
                <a:lnTo>
                  <a:pt x="3653050" y="696695"/>
                </a:lnTo>
                <a:lnTo>
                  <a:pt x="3545607" y="706049"/>
                </a:lnTo>
                <a:lnTo>
                  <a:pt x="3438165" y="715218"/>
                </a:lnTo>
                <a:lnTo>
                  <a:pt x="3330722" y="724240"/>
                </a:lnTo>
                <a:lnTo>
                  <a:pt x="3223280" y="733149"/>
                </a:lnTo>
                <a:lnTo>
                  <a:pt x="3115837" y="741980"/>
                </a:lnTo>
                <a:lnTo>
                  <a:pt x="3008394" y="750759"/>
                </a:lnTo>
                <a:lnTo>
                  <a:pt x="2900952" y="759514"/>
                </a:lnTo>
                <a:lnTo>
                  <a:pt x="2793509" y="768267"/>
                </a:lnTo>
                <a:lnTo>
                  <a:pt x="2686066" y="777039"/>
                </a:lnTo>
                <a:lnTo>
                  <a:pt x="2578624" y="785850"/>
                </a:lnTo>
                <a:lnTo>
                  <a:pt x="2471181" y="794716"/>
                </a:lnTo>
                <a:lnTo>
                  <a:pt x="2363738" y="803652"/>
                </a:lnTo>
                <a:lnTo>
                  <a:pt x="2256296" y="812671"/>
                </a:lnTo>
                <a:lnTo>
                  <a:pt x="2148853" y="821786"/>
                </a:lnTo>
                <a:lnTo>
                  <a:pt x="2041410" y="831008"/>
                </a:lnTo>
                <a:lnTo>
                  <a:pt x="1933968" y="840345"/>
                </a:lnTo>
                <a:lnTo>
                  <a:pt x="1826525" y="849808"/>
                </a:lnTo>
                <a:lnTo>
                  <a:pt x="1719082" y="859404"/>
                </a:lnTo>
                <a:lnTo>
                  <a:pt x="1611640" y="869141"/>
                </a:lnTo>
                <a:lnTo>
                  <a:pt x="1504197" y="879026"/>
                </a:lnTo>
                <a:lnTo>
                  <a:pt x="1396754" y="889065"/>
                </a:lnTo>
                <a:lnTo>
                  <a:pt x="1289312" y="899265"/>
                </a:lnTo>
                <a:lnTo>
                  <a:pt x="1181869" y="909630"/>
                </a:lnTo>
                <a:lnTo>
                  <a:pt x="1074426" y="920167"/>
                </a:lnTo>
                <a:lnTo>
                  <a:pt x="966983" y="930880"/>
                </a:lnTo>
                <a:lnTo>
                  <a:pt x="859541" y="941773"/>
                </a:lnTo>
                <a:lnTo>
                  <a:pt x="752098" y="952853"/>
                </a:lnTo>
                <a:lnTo>
                  <a:pt x="644656" y="964123"/>
                </a:lnTo>
                <a:lnTo>
                  <a:pt x="537213" y="975588"/>
                </a:lnTo>
                <a:lnTo>
                  <a:pt x="429770" y="987251"/>
                </a:lnTo>
                <a:lnTo>
                  <a:pt x="322328" y="999118"/>
                </a:lnTo>
                <a:lnTo>
                  <a:pt x="214885" y="1011192"/>
                </a:lnTo>
                <a:lnTo>
                  <a:pt x="107442" y="1023478"/>
                </a:lnTo>
                <a:lnTo>
                  <a:pt x="0" y="1035980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ight: 3-й центиль"/>
          <p:cNvSpPr/>
          <p:nvPr/>
        </p:nvSpPr>
        <p:spPr>
          <a:xfrm>
            <a:off x="548640" y="2709279"/>
            <a:ext cx="6446560" cy="687048"/>
          </a:xfrm>
          <a:custGeom>
            <a:avLst/>
            <a:gdLst/>
            <a:ahLst/>
            <a:cxnLst/>
            <a:rect l="l" t="t" r="r" b="b"/>
            <a:pathLst>
              <a:path w="6446560" h="687048">
                <a:moveTo>
                  <a:pt x="0" y="687048"/>
                </a:moveTo>
                <a:lnTo>
                  <a:pt x="107442" y="674546"/>
                </a:lnTo>
                <a:lnTo>
                  <a:pt x="214885" y="662260"/>
                </a:lnTo>
                <a:lnTo>
                  <a:pt x="322328" y="650186"/>
                </a:lnTo>
                <a:lnTo>
                  <a:pt x="429770" y="638319"/>
                </a:lnTo>
                <a:lnTo>
                  <a:pt x="537213" y="626656"/>
                </a:lnTo>
                <a:lnTo>
                  <a:pt x="644656" y="615191"/>
                </a:lnTo>
                <a:lnTo>
                  <a:pt x="752098" y="603921"/>
                </a:lnTo>
                <a:lnTo>
                  <a:pt x="859541" y="592841"/>
                </a:lnTo>
                <a:lnTo>
                  <a:pt x="966983" y="581948"/>
                </a:lnTo>
                <a:lnTo>
                  <a:pt x="1074426" y="571235"/>
                </a:lnTo>
                <a:lnTo>
                  <a:pt x="1181869" y="560698"/>
                </a:lnTo>
                <a:lnTo>
                  <a:pt x="1289312" y="550333"/>
                </a:lnTo>
                <a:lnTo>
                  <a:pt x="1396754" y="540133"/>
                </a:lnTo>
                <a:lnTo>
                  <a:pt x="1504197" y="530094"/>
                </a:lnTo>
                <a:lnTo>
                  <a:pt x="1611640" y="520209"/>
                </a:lnTo>
                <a:lnTo>
                  <a:pt x="1719082" y="510472"/>
                </a:lnTo>
                <a:lnTo>
                  <a:pt x="1826525" y="500876"/>
                </a:lnTo>
                <a:lnTo>
                  <a:pt x="1933968" y="491413"/>
                </a:lnTo>
                <a:lnTo>
                  <a:pt x="2041410" y="482076"/>
                </a:lnTo>
                <a:lnTo>
                  <a:pt x="2148853" y="472854"/>
                </a:lnTo>
                <a:lnTo>
                  <a:pt x="2256296" y="463739"/>
                </a:lnTo>
                <a:lnTo>
                  <a:pt x="2363738" y="454720"/>
                </a:lnTo>
                <a:lnTo>
                  <a:pt x="2471181" y="445784"/>
                </a:lnTo>
                <a:lnTo>
                  <a:pt x="2578624" y="436918"/>
                </a:lnTo>
                <a:lnTo>
                  <a:pt x="2686066" y="428107"/>
                </a:lnTo>
                <a:lnTo>
                  <a:pt x="2793509" y="419335"/>
                </a:lnTo>
                <a:lnTo>
                  <a:pt x="2900952" y="410582"/>
                </a:lnTo>
                <a:lnTo>
                  <a:pt x="3008394" y="401827"/>
                </a:lnTo>
                <a:lnTo>
                  <a:pt x="3115837" y="393048"/>
                </a:lnTo>
                <a:lnTo>
                  <a:pt x="3223280" y="384217"/>
                </a:lnTo>
                <a:lnTo>
                  <a:pt x="3330722" y="375308"/>
                </a:lnTo>
                <a:lnTo>
                  <a:pt x="3438165" y="366286"/>
                </a:lnTo>
                <a:lnTo>
                  <a:pt x="3545607" y="357117"/>
                </a:lnTo>
                <a:lnTo>
                  <a:pt x="3653050" y="347763"/>
                </a:lnTo>
                <a:lnTo>
                  <a:pt x="3760493" y="338182"/>
                </a:lnTo>
                <a:lnTo>
                  <a:pt x="3867936" y="328328"/>
                </a:lnTo>
                <a:lnTo>
                  <a:pt x="3975378" y="318156"/>
                </a:lnTo>
                <a:lnTo>
                  <a:pt x="4082821" y="307617"/>
                </a:lnTo>
                <a:lnTo>
                  <a:pt x="4190264" y="296660"/>
                </a:lnTo>
                <a:lnTo>
                  <a:pt x="4297706" y="285239"/>
                </a:lnTo>
                <a:lnTo>
                  <a:pt x="4405149" y="273308"/>
                </a:lnTo>
                <a:lnTo>
                  <a:pt x="4512592" y="260828"/>
                </a:lnTo>
                <a:lnTo>
                  <a:pt x="4620034" y="247771"/>
                </a:lnTo>
                <a:lnTo>
                  <a:pt x="4727477" y="234120"/>
                </a:lnTo>
                <a:lnTo>
                  <a:pt x="4834920" y="219874"/>
                </a:lnTo>
                <a:lnTo>
                  <a:pt x="4942362" y="205056"/>
                </a:lnTo>
                <a:lnTo>
                  <a:pt x="5049805" y="189709"/>
                </a:lnTo>
                <a:lnTo>
                  <a:pt x="5157248" y="173908"/>
                </a:lnTo>
                <a:lnTo>
                  <a:pt x="5264690" y="157750"/>
                </a:lnTo>
                <a:lnTo>
                  <a:pt x="5372133" y="141363"/>
                </a:lnTo>
                <a:lnTo>
                  <a:pt x="5479576" y="124897"/>
                </a:lnTo>
                <a:lnTo>
                  <a:pt x="5587018" y="108519"/>
                </a:lnTo>
                <a:lnTo>
                  <a:pt x="5694461" y="92407"/>
                </a:lnTo>
                <a:lnTo>
                  <a:pt x="5801903" y="76739"/>
                </a:lnTo>
                <a:lnTo>
                  <a:pt x="5909346" y="61686"/>
                </a:lnTo>
                <a:lnTo>
                  <a:pt x="6016789" y="47400"/>
                </a:lnTo>
                <a:lnTo>
                  <a:pt x="6124232" y="34008"/>
                </a:lnTo>
                <a:lnTo>
                  <a:pt x="6231674" y="21607"/>
                </a:lnTo>
                <a:lnTo>
                  <a:pt x="6339117" y="10260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35200" y="2629279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6" name="height: 50-й центиль"/>
          <p:cNvSpPr/>
          <p:nvPr/>
        </p:nvSpPr>
        <p:spPr>
          <a:xfrm>
            <a:off x="548640" y="2534813"/>
            <a:ext cx="6446560" cy="741193"/>
          </a:xfrm>
          <a:custGeom>
            <a:avLst/>
            <a:gdLst/>
            <a:ahLst/>
            <a:cxnLst/>
            <a:rect l="l" t="t" r="r" b="b"/>
            <a:pathLst>
              <a:path w="6446560" h="741193">
                <a:moveTo>
                  <a:pt x="0" y="741193"/>
                </a:moveTo>
                <a:lnTo>
                  <a:pt x="107442" y="727789"/>
                </a:lnTo>
                <a:lnTo>
                  <a:pt x="214885" y="714600"/>
                </a:lnTo>
                <a:lnTo>
                  <a:pt x="322328" y="701624"/>
                </a:lnTo>
                <a:lnTo>
                  <a:pt x="429770" y="688854"/>
                </a:lnTo>
                <a:lnTo>
                  <a:pt x="537213" y="676288"/>
                </a:lnTo>
                <a:lnTo>
                  <a:pt x="644656" y="663921"/>
                </a:lnTo>
                <a:lnTo>
                  <a:pt x="752098" y="651749"/>
                </a:lnTo>
                <a:lnTo>
                  <a:pt x="859541" y="639767"/>
                </a:lnTo>
                <a:lnTo>
                  <a:pt x="966983" y="627971"/>
                </a:lnTo>
                <a:lnTo>
                  <a:pt x="1074426" y="616355"/>
                </a:lnTo>
                <a:lnTo>
                  <a:pt x="1181869" y="604917"/>
                </a:lnTo>
                <a:lnTo>
                  <a:pt x="1289312" y="593649"/>
                </a:lnTo>
                <a:lnTo>
                  <a:pt x="1396754" y="582547"/>
                </a:lnTo>
                <a:lnTo>
                  <a:pt x="1504197" y="571605"/>
                </a:lnTo>
                <a:lnTo>
                  <a:pt x="1611640" y="560818"/>
                </a:lnTo>
                <a:lnTo>
                  <a:pt x="1719082" y="550178"/>
                </a:lnTo>
                <a:lnTo>
                  <a:pt x="1826525" y="539680"/>
                </a:lnTo>
                <a:lnTo>
                  <a:pt x="1933968" y="529315"/>
                </a:lnTo>
                <a:lnTo>
                  <a:pt x="2041410" y="519075"/>
                </a:lnTo>
                <a:lnTo>
                  <a:pt x="2148853" y="508951"/>
                </a:lnTo>
                <a:lnTo>
                  <a:pt x="2256296" y="498934"/>
                </a:lnTo>
                <a:lnTo>
                  <a:pt x="2363738" y="489012"/>
                </a:lnTo>
                <a:lnTo>
                  <a:pt x="2471181" y="479174"/>
                </a:lnTo>
                <a:lnTo>
                  <a:pt x="2578624" y="469405"/>
                </a:lnTo>
                <a:lnTo>
                  <a:pt x="2686066" y="459692"/>
                </a:lnTo>
                <a:lnTo>
                  <a:pt x="2793509" y="450017"/>
                </a:lnTo>
                <a:lnTo>
                  <a:pt x="2900952" y="440361"/>
                </a:lnTo>
                <a:lnTo>
                  <a:pt x="3008394" y="430704"/>
                </a:lnTo>
                <a:lnTo>
                  <a:pt x="3115837" y="421023"/>
                </a:lnTo>
                <a:lnTo>
                  <a:pt x="3223280" y="411290"/>
                </a:lnTo>
                <a:lnTo>
                  <a:pt x="3330722" y="401478"/>
                </a:lnTo>
                <a:lnTo>
                  <a:pt x="3438165" y="391554"/>
                </a:lnTo>
                <a:lnTo>
                  <a:pt x="3545607" y="381482"/>
                </a:lnTo>
                <a:lnTo>
                  <a:pt x="3653050" y="371226"/>
                </a:lnTo>
                <a:lnTo>
                  <a:pt x="3760493" y="360742"/>
                </a:lnTo>
                <a:lnTo>
                  <a:pt x="3867936" y="349986"/>
                </a:lnTo>
                <a:lnTo>
                  <a:pt x="3975378" y="338912"/>
                </a:lnTo>
                <a:lnTo>
                  <a:pt x="4082821" y="327470"/>
                </a:lnTo>
                <a:lnTo>
                  <a:pt x="4190264" y="315611"/>
                </a:lnTo>
                <a:lnTo>
                  <a:pt x="4297706" y="303287"/>
                </a:lnTo>
                <a:lnTo>
                  <a:pt x="4405149" y="290454"/>
                </a:lnTo>
                <a:lnTo>
                  <a:pt x="4512592" y="277072"/>
                </a:lnTo>
                <a:lnTo>
                  <a:pt x="4620034" y="263112"/>
                </a:lnTo>
                <a:lnTo>
                  <a:pt x="4727477" y="248558"/>
                </a:lnTo>
                <a:lnTo>
                  <a:pt x="4834920" y="233410"/>
                </a:lnTo>
                <a:lnTo>
                  <a:pt x="4942362" y="217690"/>
                </a:lnTo>
                <a:lnTo>
                  <a:pt x="5049805" y="201441"/>
                </a:lnTo>
                <a:lnTo>
                  <a:pt x="5157248" y="184737"/>
                </a:lnTo>
                <a:lnTo>
                  <a:pt x="5264690" y="167677"/>
                </a:lnTo>
                <a:lnTo>
                  <a:pt x="5372133" y="150388"/>
                </a:lnTo>
                <a:lnTo>
                  <a:pt x="5479576" y="133019"/>
                </a:lnTo>
                <a:lnTo>
                  <a:pt x="5587018" y="115738"/>
                </a:lnTo>
                <a:lnTo>
                  <a:pt x="5694461" y="98724"/>
                </a:lnTo>
                <a:lnTo>
                  <a:pt x="5801903" y="82154"/>
                </a:lnTo>
                <a:lnTo>
                  <a:pt x="5909346" y="66199"/>
                </a:lnTo>
                <a:lnTo>
                  <a:pt x="6016789" y="51010"/>
                </a:lnTo>
                <a:lnTo>
                  <a:pt x="6124232" y="36716"/>
                </a:lnTo>
                <a:lnTo>
                  <a:pt x="6231674" y="23412"/>
                </a:lnTo>
                <a:lnTo>
                  <a:pt x="6339117" y="11163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35200" y="2454813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8" name="height: 97-й центиль"/>
          <p:cNvSpPr/>
          <p:nvPr/>
        </p:nvSpPr>
        <p:spPr>
          <a:xfrm>
            <a:off x="548640" y="2360347"/>
            <a:ext cx="6446560" cy="795337"/>
          </a:xfrm>
          <a:custGeom>
            <a:avLst/>
            <a:gdLst/>
            <a:ahLst/>
            <a:cxnLst/>
            <a:rect l="l" t="t" r="r" b="b"/>
            <a:pathLst>
              <a:path w="6446560" h="795337">
                <a:moveTo>
                  <a:pt x="0" y="795337"/>
                </a:moveTo>
                <a:lnTo>
                  <a:pt x="107442" y="781031"/>
                </a:lnTo>
                <a:lnTo>
                  <a:pt x="214885" y="766940"/>
                </a:lnTo>
                <a:lnTo>
                  <a:pt x="322328" y="753061"/>
                </a:lnTo>
                <a:lnTo>
                  <a:pt x="429770" y="739390"/>
                </a:lnTo>
                <a:lnTo>
                  <a:pt x="537213" y="725921"/>
                </a:lnTo>
                <a:lnTo>
                  <a:pt x="644656" y="712652"/>
                </a:lnTo>
                <a:lnTo>
                  <a:pt x="752098" y="699577"/>
                </a:lnTo>
                <a:lnTo>
                  <a:pt x="859541" y="686692"/>
                </a:lnTo>
                <a:lnTo>
                  <a:pt x="966983" y="673994"/>
                </a:lnTo>
                <a:lnTo>
                  <a:pt x="1074426" y="661476"/>
                </a:lnTo>
                <a:lnTo>
                  <a:pt x="1181869" y="649135"/>
                </a:lnTo>
                <a:lnTo>
                  <a:pt x="1289312" y="636965"/>
                </a:lnTo>
                <a:lnTo>
                  <a:pt x="1396754" y="624960"/>
                </a:lnTo>
                <a:lnTo>
                  <a:pt x="1504197" y="613116"/>
                </a:lnTo>
                <a:lnTo>
                  <a:pt x="1611640" y="601427"/>
                </a:lnTo>
                <a:lnTo>
                  <a:pt x="1719082" y="589885"/>
                </a:lnTo>
                <a:lnTo>
                  <a:pt x="1826525" y="578484"/>
                </a:lnTo>
                <a:lnTo>
                  <a:pt x="1933968" y="567216"/>
                </a:lnTo>
                <a:lnTo>
                  <a:pt x="2041410" y="556074"/>
                </a:lnTo>
                <a:lnTo>
                  <a:pt x="2148853" y="545048"/>
                </a:lnTo>
                <a:lnTo>
                  <a:pt x="2256296" y="534128"/>
                </a:lnTo>
                <a:lnTo>
                  <a:pt x="2363738" y="523304"/>
                </a:lnTo>
                <a:lnTo>
                  <a:pt x="2471181" y="512563"/>
                </a:lnTo>
                <a:lnTo>
                  <a:pt x="2578624" y="501892"/>
                </a:lnTo>
                <a:lnTo>
                  <a:pt x="2686066" y="491277"/>
                </a:lnTo>
                <a:lnTo>
                  <a:pt x="2793509" y="480699"/>
                </a:lnTo>
                <a:lnTo>
                  <a:pt x="2900952" y="470141"/>
                </a:lnTo>
                <a:lnTo>
                  <a:pt x="3008394" y="459582"/>
                </a:lnTo>
                <a:lnTo>
                  <a:pt x="3115837" y="448998"/>
                </a:lnTo>
                <a:lnTo>
                  <a:pt x="3223280" y="438363"/>
                </a:lnTo>
                <a:lnTo>
                  <a:pt x="3330722" y="427648"/>
                </a:lnTo>
                <a:lnTo>
                  <a:pt x="3438165" y="416821"/>
                </a:lnTo>
                <a:lnTo>
                  <a:pt x="3545607" y="405848"/>
                </a:lnTo>
                <a:lnTo>
                  <a:pt x="3653050" y="394689"/>
                </a:lnTo>
                <a:lnTo>
                  <a:pt x="3760493" y="383303"/>
                </a:lnTo>
                <a:lnTo>
                  <a:pt x="3867936" y="371645"/>
                </a:lnTo>
                <a:lnTo>
                  <a:pt x="3975378" y="359668"/>
                </a:lnTo>
                <a:lnTo>
                  <a:pt x="4082821" y="347323"/>
                </a:lnTo>
                <a:lnTo>
                  <a:pt x="4190264" y="334562"/>
                </a:lnTo>
                <a:lnTo>
                  <a:pt x="4297706" y="321335"/>
                </a:lnTo>
                <a:lnTo>
                  <a:pt x="4405149" y="307600"/>
                </a:lnTo>
                <a:lnTo>
                  <a:pt x="4512592" y="293315"/>
                </a:lnTo>
                <a:lnTo>
                  <a:pt x="4620034" y="278453"/>
                </a:lnTo>
                <a:lnTo>
                  <a:pt x="4727477" y="262997"/>
                </a:lnTo>
                <a:lnTo>
                  <a:pt x="4834920" y="246947"/>
                </a:lnTo>
                <a:lnTo>
                  <a:pt x="4942362" y="230324"/>
                </a:lnTo>
                <a:lnTo>
                  <a:pt x="5049805" y="213173"/>
                </a:lnTo>
                <a:lnTo>
                  <a:pt x="5157248" y="195566"/>
                </a:lnTo>
                <a:lnTo>
                  <a:pt x="5264690" y="177604"/>
                </a:lnTo>
                <a:lnTo>
                  <a:pt x="5372133" y="159412"/>
                </a:lnTo>
                <a:lnTo>
                  <a:pt x="5479576" y="141141"/>
                </a:lnTo>
                <a:lnTo>
                  <a:pt x="5587018" y="122958"/>
                </a:lnTo>
                <a:lnTo>
                  <a:pt x="5694461" y="105041"/>
                </a:lnTo>
                <a:lnTo>
                  <a:pt x="5801903" y="87569"/>
                </a:lnTo>
                <a:lnTo>
                  <a:pt x="5909346" y="70711"/>
                </a:lnTo>
                <a:lnTo>
                  <a:pt x="6016789" y="54620"/>
                </a:lnTo>
                <a:lnTo>
                  <a:pt x="6124232" y="39423"/>
                </a:lnTo>
                <a:lnTo>
                  <a:pt x="6231674" y="25217"/>
                </a:lnTo>
                <a:lnTo>
                  <a:pt x="6339117" y="12066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35200" y="2280347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10" name="height: ось"/>
          <p:cNvSpPr/>
          <p:nvPr/>
        </p:nvSpPr>
        <p:spPr>
          <a:xfrm>
            <a:off x="548640" y="3458486"/>
            <a:ext cx="6446560" cy="0"/>
          </a:xfrm>
          <a:custGeom>
            <a:avLst/>
            <a:gdLst/>
            <a:ahLst/>
            <a:cxnLst/>
            <a:rect l="l" t="t" r="r" b="b"/>
            <a:pathLst>
              <a:path w="6446560" h="0">
                <a:moveTo>
                  <a:pt x="0" y="0"/>
                </a:moveTo>
                <a:lnTo>
                  <a:pt x="6446560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640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31208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3777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6346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8915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16" name="height: пациент"/>
          <p:cNvSpPr/>
          <p:nvPr/>
        </p:nvSpPr>
        <p:spPr>
          <a:xfrm>
            <a:off x="548640" y="3004502"/>
            <a:ext cx="4297706" cy="265103"/>
          </a:xfrm>
          <a:custGeom>
            <a:avLst/>
            <a:gdLst/>
            <a:ahLst/>
            <a:cxnLst/>
            <a:rect l="l" t="t" r="r" b="b"/>
            <a:pathLst>
              <a:path w="4297706" h="265103">
                <a:moveTo>
                  <a:pt x="0" y="265103"/>
                </a:moveTo>
                <a:lnTo>
                  <a:pt x="59690" y="257603"/>
                </a:lnTo>
                <a:lnTo>
                  <a:pt x="119380" y="250170"/>
                </a:lnTo>
                <a:lnTo>
                  <a:pt x="179071" y="242804"/>
                </a:lnTo>
                <a:lnTo>
                  <a:pt x="238761" y="235503"/>
                </a:lnTo>
                <a:lnTo>
                  <a:pt x="298451" y="228267"/>
                </a:lnTo>
                <a:lnTo>
                  <a:pt x="358142" y="221095"/>
                </a:lnTo>
                <a:lnTo>
                  <a:pt x="417832" y="213987"/>
                </a:lnTo>
                <a:lnTo>
                  <a:pt x="477522" y="206942"/>
                </a:lnTo>
                <a:lnTo>
                  <a:pt x="537213" y="199959"/>
                </a:lnTo>
                <a:lnTo>
                  <a:pt x="596903" y="193038"/>
                </a:lnTo>
                <a:lnTo>
                  <a:pt x="656594" y="186177"/>
                </a:lnTo>
                <a:lnTo>
                  <a:pt x="716284" y="179376"/>
                </a:lnTo>
                <a:lnTo>
                  <a:pt x="775974" y="173197"/>
                </a:lnTo>
                <a:lnTo>
                  <a:pt x="835665" y="167080"/>
                </a:lnTo>
                <a:lnTo>
                  <a:pt x="895355" y="161025"/>
                </a:lnTo>
                <a:lnTo>
                  <a:pt x="955045" y="155032"/>
                </a:lnTo>
                <a:lnTo>
                  <a:pt x="1014736" y="149099"/>
                </a:lnTo>
                <a:lnTo>
                  <a:pt x="1074426" y="143226"/>
                </a:lnTo>
                <a:lnTo>
                  <a:pt x="1134117" y="137412"/>
                </a:lnTo>
                <a:lnTo>
                  <a:pt x="1193807" y="131656"/>
                </a:lnTo>
                <a:lnTo>
                  <a:pt x="1253497" y="125957"/>
                </a:lnTo>
                <a:lnTo>
                  <a:pt x="1313188" y="120314"/>
                </a:lnTo>
                <a:lnTo>
                  <a:pt x="1372878" y="114726"/>
                </a:lnTo>
                <a:lnTo>
                  <a:pt x="1432568" y="109193"/>
                </a:lnTo>
                <a:lnTo>
                  <a:pt x="1492259" y="103713"/>
                </a:lnTo>
                <a:lnTo>
                  <a:pt x="1551949" y="98285"/>
                </a:lnTo>
                <a:lnTo>
                  <a:pt x="1611640" y="92909"/>
                </a:lnTo>
                <a:lnTo>
                  <a:pt x="1671330" y="87582"/>
                </a:lnTo>
                <a:lnTo>
                  <a:pt x="1731020" y="82305"/>
                </a:lnTo>
                <a:lnTo>
                  <a:pt x="1790711" y="77075"/>
                </a:lnTo>
                <a:lnTo>
                  <a:pt x="1850401" y="71892"/>
                </a:lnTo>
                <a:lnTo>
                  <a:pt x="1910091" y="66753"/>
                </a:lnTo>
                <a:lnTo>
                  <a:pt x="1969782" y="61659"/>
                </a:lnTo>
                <a:lnTo>
                  <a:pt x="2029472" y="56606"/>
                </a:lnTo>
                <a:lnTo>
                  <a:pt x="2089162" y="51595"/>
                </a:lnTo>
                <a:lnTo>
                  <a:pt x="2148853" y="46622"/>
                </a:lnTo>
                <a:lnTo>
                  <a:pt x="2208543" y="44149"/>
                </a:lnTo>
                <a:lnTo>
                  <a:pt x="2268234" y="41729"/>
                </a:lnTo>
                <a:lnTo>
                  <a:pt x="2327924" y="39360"/>
                </a:lnTo>
                <a:lnTo>
                  <a:pt x="2387614" y="37041"/>
                </a:lnTo>
                <a:lnTo>
                  <a:pt x="2447305" y="34769"/>
                </a:lnTo>
                <a:lnTo>
                  <a:pt x="2506995" y="32542"/>
                </a:lnTo>
                <a:lnTo>
                  <a:pt x="2566685" y="30357"/>
                </a:lnTo>
                <a:lnTo>
                  <a:pt x="2626376" y="28212"/>
                </a:lnTo>
                <a:lnTo>
                  <a:pt x="2686066" y="26103"/>
                </a:lnTo>
                <a:lnTo>
                  <a:pt x="2745757" y="24029"/>
                </a:lnTo>
                <a:lnTo>
                  <a:pt x="2805447" y="21986"/>
                </a:lnTo>
                <a:lnTo>
                  <a:pt x="2865137" y="19970"/>
                </a:lnTo>
                <a:lnTo>
                  <a:pt x="2924828" y="19263"/>
                </a:lnTo>
                <a:lnTo>
                  <a:pt x="2984518" y="18585"/>
                </a:lnTo>
                <a:lnTo>
                  <a:pt x="3044208" y="17933"/>
                </a:lnTo>
                <a:lnTo>
                  <a:pt x="3103899" y="17301"/>
                </a:lnTo>
                <a:lnTo>
                  <a:pt x="3163589" y="16685"/>
                </a:lnTo>
                <a:lnTo>
                  <a:pt x="3223280" y="16082"/>
                </a:lnTo>
                <a:lnTo>
                  <a:pt x="3282970" y="15485"/>
                </a:lnTo>
                <a:lnTo>
                  <a:pt x="3342660" y="14888"/>
                </a:lnTo>
                <a:lnTo>
                  <a:pt x="3402351" y="14288"/>
                </a:lnTo>
                <a:lnTo>
                  <a:pt x="3462041" y="13677"/>
                </a:lnTo>
                <a:lnTo>
                  <a:pt x="3521731" y="13049"/>
                </a:lnTo>
                <a:lnTo>
                  <a:pt x="3581422" y="12398"/>
                </a:lnTo>
                <a:lnTo>
                  <a:pt x="3641112" y="11717"/>
                </a:lnTo>
                <a:lnTo>
                  <a:pt x="3700802" y="10998"/>
                </a:lnTo>
                <a:lnTo>
                  <a:pt x="3760493" y="10234"/>
                </a:lnTo>
                <a:lnTo>
                  <a:pt x="3820183" y="9418"/>
                </a:lnTo>
                <a:lnTo>
                  <a:pt x="3879874" y="8540"/>
                </a:lnTo>
                <a:lnTo>
                  <a:pt x="3939564" y="7594"/>
                </a:lnTo>
                <a:lnTo>
                  <a:pt x="3999254" y="6571"/>
                </a:lnTo>
                <a:lnTo>
                  <a:pt x="4058945" y="5461"/>
                </a:lnTo>
                <a:lnTo>
                  <a:pt x="4118635" y="4258"/>
                </a:lnTo>
                <a:lnTo>
                  <a:pt x="4178325" y="2952"/>
                </a:lnTo>
                <a:lnTo>
                  <a:pt x="4238016" y="1535"/>
                </a:lnTo>
                <a:lnTo>
                  <a:pt x="4297706" y="0"/>
                </a:lnTo>
              </a:path>
            </a:pathLst>
          </a:custGeom>
          <a:noFill/>
          <a:ln w="34925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ight: визит 4"/>
          <p:cNvSpPr/>
          <p:nvPr/>
        </p:nvSpPr>
        <p:spPr>
          <a:xfrm>
            <a:off x="488640" y="3209605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eight: визит 5"/>
          <p:cNvSpPr/>
          <p:nvPr/>
        </p:nvSpPr>
        <p:spPr>
          <a:xfrm>
            <a:off x="1204924" y="3123878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ight: визит 6"/>
          <p:cNvSpPr/>
          <p:nvPr/>
        </p:nvSpPr>
        <p:spPr>
          <a:xfrm>
            <a:off x="1921208" y="3053695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ight: визит 7"/>
          <p:cNvSpPr/>
          <p:nvPr/>
        </p:nvSpPr>
        <p:spPr>
          <a:xfrm>
            <a:off x="2637493" y="2991124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ight: визит 8"/>
          <p:cNvSpPr/>
          <p:nvPr/>
        </p:nvSpPr>
        <p:spPr>
          <a:xfrm>
            <a:off x="3353777" y="2964472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ight: визит 9"/>
          <p:cNvSpPr/>
          <p:nvPr/>
        </p:nvSpPr>
        <p:spPr>
          <a:xfrm>
            <a:off x="4070062" y="2956900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ight: визит 10"/>
          <p:cNvSpPr/>
          <p:nvPr/>
        </p:nvSpPr>
        <p:spPr>
          <a:xfrm>
            <a:off x="4786346" y="2944502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событие 7.5"/>
          <p:cNvSpPr/>
          <p:nvPr/>
        </p:nvSpPr>
        <p:spPr>
          <a:xfrm>
            <a:off x="3055635" y="1738760"/>
            <a:ext cx="0" cy="1719726"/>
          </a:xfrm>
          <a:custGeom>
            <a:avLst/>
            <a:gdLst/>
            <a:ahLst/>
            <a:cxnLst/>
            <a:rect l="l" t="t" r="r" b="b"/>
            <a:pathLst>
              <a:path w="0" h="1719726">
                <a:moveTo>
                  <a:pt x="0" y="0"/>
                </a:moveTo>
                <a:lnTo>
                  <a:pt x="0" y="1719726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05635" y="173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323A"/>
                </a:solidFill>
                <a:latin typeface="Calibri"/>
              </a:rPr>
              <a:t>7,5 года: рост замедлился</a:t>
            </a:r>
          </a:p>
        </p:txBody>
      </p:sp>
      <p:sp>
        <p:nvSpPr>
          <p:cNvPr id="26" name="событие 9"/>
          <p:cNvSpPr/>
          <p:nvPr/>
        </p:nvSpPr>
        <p:spPr>
          <a:xfrm>
            <a:off x="4130062" y="1738760"/>
            <a:ext cx="0" cy="1719726"/>
          </a:xfrm>
          <a:custGeom>
            <a:avLst/>
            <a:gdLst/>
            <a:ahLst/>
            <a:cxnLst/>
            <a:rect l="l" t="t" r="r" b="b"/>
            <a:pathLst>
              <a:path w="0" h="1719726">
                <a:moveTo>
                  <a:pt x="0" y="0"/>
                </a:moveTo>
                <a:lnTo>
                  <a:pt x="0" y="1719726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80062" y="192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323A"/>
                </a:solidFill>
                <a:latin typeface="Calibri"/>
              </a:rPr>
              <a:t>9 лет: визит, замедление не заметили</a:t>
            </a:r>
          </a:p>
        </p:txBody>
      </p:sp>
      <p:sp>
        <p:nvSpPr>
          <p:cNvPr id="28" name="событие 10"/>
          <p:cNvSpPr/>
          <p:nvPr/>
        </p:nvSpPr>
        <p:spPr>
          <a:xfrm>
            <a:off x="4846346" y="1738760"/>
            <a:ext cx="0" cy="1719726"/>
          </a:xfrm>
          <a:custGeom>
            <a:avLst/>
            <a:gdLst/>
            <a:ahLst/>
            <a:cxnLst/>
            <a:rect l="l" t="t" r="r" b="b"/>
            <a:pathLst>
              <a:path w="0" h="1719726">
                <a:moveTo>
                  <a:pt x="0" y="0"/>
                </a:moveTo>
                <a:lnTo>
                  <a:pt x="0" y="1719726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96346" y="211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26323A"/>
                </a:solidFill>
                <a:latin typeface="Calibri"/>
              </a:rPr>
              <a:t>10 лет: диагноз, начат левотироксин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1508760"/>
            <a:ext cx="6446560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Рост, см</a:t>
            </a:r>
          </a:p>
        </p:txBody>
      </p:sp>
      <p:sp>
        <p:nvSpPr>
          <p:cNvPr id="31" name="weight: полоса 3–97"/>
          <p:cNvSpPr/>
          <p:nvPr/>
        </p:nvSpPr>
        <p:spPr>
          <a:xfrm>
            <a:off x="548640" y="4070182"/>
            <a:ext cx="6446560" cy="861601"/>
          </a:xfrm>
          <a:custGeom>
            <a:avLst/>
            <a:gdLst/>
            <a:ahLst/>
            <a:cxnLst/>
            <a:rect l="l" t="t" r="r" b="b"/>
            <a:pathLst>
              <a:path w="6446560" h="861601">
                <a:moveTo>
                  <a:pt x="0" y="705087"/>
                </a:moveTo>
                <a:lnTo>
                  <a:pt x="107442" y="697917"/>
                </a:lnTo>
                <a:lnTo>
                  <a:pt x="214885" y="690747"/>
                </a:lnTo>
                <a:lnTo>
                  <a:pt x="322328" y="683576"/>
                </a:lnTo>
                <a:lnTo>
                  <a:pt x="429770" y="676406"/>
                </a:lnTo>
                <a:lnTo>
                  <a:pt x="537213" y="669235"/>
                </a:lnTo>
                <a:lnTo>
                  <a:pt x="644656" y="662065"/>
                </a:lnTo>
                <a:lnTo>
                  <a:pt x="752098" y="654496"/>
                </a:lnTo>
                <a:lnTo>
                  <a:pt x="859541" y="646131"/>
                </a:lnTo>
                <a:lnTo>
                  <a:pt x="966983" y="637765"/>
                </a:lnTo>
                <a:lnTo>
                  <a:pt x="1074426" y="629400"/>
                </a:lnTo>
                <a:lnTo>
                  <a:pt x="1181869" y="621034"/>
                </a:lnTo>
                <a:lnTo>
                  <a:pt x="1289312" y="612669"/>
                </a:lnTo>
                <a:lnTo>
                  <a:pt x="1396754" y="604304"/>
                </a:lnTo>
                <a:lnTo>
                  <a:pt x="1504197" y="595938"/>
                </a:lnTo>
                <a:lnTo>
                  <a:pt x="1611640" y="587573"/>
                </a:lnTo>
                <a:lnTo>
                  <a:pt x="1719082" y="579207"/>
                </a:lnTo>
                <a:lnTo>
                  <a:pt x="1826525" y="570842"/>
                </a:lnTo>
                <a:lnTo>
                  <a:pt x="1933968" y="562476"/>
                </a:lnTo>
                <a:lnTo>
                  <a:pt x="2041410" y="554111"/>
                </a:lnTo>
                <a:lnTo>
                  <a:pt x="2148853" y="545745"/>
                </a:lnTo>
                <a:lnTo>
                  <a:pt x="2256296" y="537380"/>
                </a:lnTo>
                <a:lnTo>
                  <a:pt x="2363738" y="529015"/>
                </a:lnTo>
                <a:lnTo>
                  <a:pt x="2471181" y="520649"/>
                </a:lnTo>
                <a:lnTo>
                  <a:pt x="2578624" y="512284"/>
                </a:lnTo>
                <a:lnTo>
                  <a:pt x="2686066" y="503918"/>
                </a:lnTo>
                <a:lnTo>
                  <a:pt x="2793509" y="495553"/>
                </a:lnTo>
                <a:lnTo>
                  <a:pt x="2900952" y="485494"/>
                </a:lnTo>
                <a:lnTo>
                  <a:pt x="3008394" y="472050"/>
                </a:lnTo>
                <a:lnTo>
                  <a:pt x="3115837" y="458605"/>
                </a:lnTo>
                <a:lnTo>
                  <a:pt x="3223280" y="445161"/>
                </a:lnTo>
                <a:lnTo>
                  <a:pt x="3330722" y="431716"/>
                </a:lnTo>
                <a:lnTo>
                  <a:pt x="3438165" y="418272"/>
                </a:lnTo>
                <a:lnTo>
                  <a:pt x="3545607" y="404828"/>
                </a:lnTo>
                <a:lnTo>
                  <a:pt x="3653050" y="391383"/>
                </a:lnTo>
                <a:lnTo>
                  <a:pt x="3760493" y="377939"/>
                </a:lnTo>
                <a:lnTo>
                  <a:pt x="3867936" y="364494"/>
                </a:lnTo>
                <a:lnTo>
                  <a:pt x="3975378" y="351050"/>
                </a:lnTo>
                <a:lnTo>
                  <a:pt x="4082821" y="337605"/>
                </a:lnTo>
                <a:lnTo>
                  <a:pt x="4190264" y="324161"/>
                </a:lnTo>
                <a:lnTo>
                  <a:pt x="4297706" y="310716"/>
                </a:lnTo>
                <a:lnTo>
                  <a:pt x="4405149" y="295479"/>
                </a:lnTo>
                <a:lnTo>
                  <a:pt x="4512592" y="280242"/>
                </a:lnTo>
                <a:lnTo>
                  <a:pt x="4620034" y="265005"/>
                </a:lnTo>
                <a:lnTo>
                  <a:pt x="4727477" y="249768"/>
                </a:lnTo>
                <a:lnTo>
                  <a:pt x="4834920" y="234531"/>
                </a:lnTo>
                <a:lnTo>
                  <a:pt x="4942362" y="219294"/>
                </a:lnTo>
                <a:lnTo>
                  <a:pt x="5049805" y="204057"/>
                </a:lnTo>
                <a:lnTo>
                  <a:pt x="5157248" y="188820"/>
                </a:lnTo>
                <a:lnTo>
                  <a:pt x="5264690" y="173583"/>
                </a:lnTo>
                <a:lnTo>
                  <a:pt x="5372133" y="158346"/>
                </a:lnTo>
                <a:lnTo>
                  <a:pt x="5479576" y="143109"/>
                </a:lnTo>
                <a:lnTo>
                  <a:pt x="5587018" y="127871"/>
                </a:lnTo>
                <a:lnTo>
                  <a:pt x="5694461" y="112634"/>
                </a:lnTo>
                <a:lnTo>
                  <a:pt x="5801903" y="96800"/>
                </a:lnTo>
                <a:lnTo>
                  <a:pt x="5909346" y="80666"/>
                </a:lnTo>
                <a:lnTo>
                  <a:pt x="6016789" y="64533"/>
                </a:lnTo>
                <a:lnTo>
                  <a:pt x="6124232" y="48400"/>
                </a:lnTo>
                <a:lnTo>
                  <a:pt x="6231674" y="32266"/>
                </a:lnTo>
                <a:lnTo>
                  <a:pt x="6339117" y="16133"/>
                </a:lnTo>
                <a:lnTo>
                  <a:pt x="6446560" y="0"/>
                </a:lnTo>
                <a:lnTo>
                  <a:pt x="6446560" y="445087"/>
                </a:lnTo>
                <a:lnTo>
                  <a:pt x="6339117" y="454617"/>
                </a:lnTo>
                <a:lnTo>
                  <a:pt x="6231674" y="464147"/>
                </a:lnTo>
                <a:lnTo>
                  <a:pt x="6124232" y="473678"/>
                </a:lnTo>
                <a:lnTo>
                  <a:pt x="6016789" y="483208"/>
                </a:lnTo>
                <a:lnTo>
                  <a:pt x="5909346" y="492739"/>
                </a:lnTo>
                <a:lnTo>
                  <a:pt x="5801903" y="502269"/>
                </a:lnTo>
                <a:lnTo>
                  <a:pt x="5694461" y="511623"/>
                </a:lnTo>
                <a:lnTo>
                  <a:pt x="5587018" y="520624"/>
                </a:lnTo>
                <a:lnTo>
                  <a:pt x="5479576" y="529625"/>
                </a:lnTo>
                <a:lnTo>
                  <a:pt x="5372133" y="538626"/>
                </a:lnTo>
                <a:lnTo>
                  <a:pt x="5264690" y="547627"/>
                </a:lnTo>
                <a:lnTo>
                  <a:pt x="5157248" y="556628"/>
                </a:lnTo>
                <a:lnTo>
                  <a:pt x="5049805" y="565629"/>
                </a:lnTo>
                <a:lnTo>
                  <a:pt x="4942362" y="574630"/>
                </a:lnTo>
                <a:lnTo>
                  <a:pt x="4834920" y="583631"/>
                </a:lnTo>
                <a:lnTo>
                  <a:pt x="4727477" y="592632"/>
                </a:lnTo>
                <a:lnTo>
                  <a:pt x="4620034" y="601633"/>
                </a:lnTo>
                <a:lnTo>
                  <a:pt x="4512592" y="610634"/>
                </a:lnTo>
                <a:lnTo>
                  <a:pt x="4405149" y="619634"/>
                </a:lnTo>
                <a:lnTo>
                  <a:pt x="4297706" y="628635"/>
                </a:lnTo>
                <a:lnTo>
                  <a:pt x="4190264" y="636577"/>
                </a:lnTo>
                <a:lnTo>
                  <a:pt x="4082821" y="644519"/>
                </a:lnTo>
                <a:lnTo>
                  <a:pt x="3975378" y="652462"/>
                </a:lnTo>
                <a:lnTo>
                  <a:pt x="3867936" y="660404"/>
                </a:lnTo>
                <a:lnTo>
                  <a:pt x="3760493" y="668346"/>
                </a:lnTo>
                <a:lnTo>
                  <a:pt x="3653050" y="676288"/>
                </a:lnTo>
                <a:lnTo>
                  <a:pt x="3545607" y="684230"/>
                </a:lnTo>
                <a:lnTo>
                  <a:pt x="3438165" y="692172"/>
                </a:lnTo>
                <a:lnTo>
                  <a:pt x="3330722" y="700114"/>
                </a:lnTo>
                <a:lnTo>
                  <a:pt x="3223280" y="708056"/>
                </a:lnTo>
                <a:lnTo>
                  <a:pt x="3115837" y="715998"/>
                </a:lnTo>
                <a:lnTo>
                  <a:pt x="3008394" y="723940"/>
                </a:lnTo>
                <a:lnTo>
                  <a:pt x="2900952" y="731882"/>
                </a:lnTo>
                <a:lnTo>
                  <a:pt x="2793509" y="737824"/>
                </a:lnTo>
                <a:lnTo>
                  <a:pt x="2686066" y="742765"/>
                </a:lnTo>
                <a:lnTo>
                  <a:pt x="2578624" y="747707"/>
                </a:lnTo>
                <a:lnTo>
                  <a:pt x="2471181" y="752649"/>
                </a:lnTo>
                <a:lnTo>
                  <a:pt x="2363738" y="757590"/>
                </a:lnTo>
                <a:lnTo>
                  <a:pt x="2256296" y="762532"/>
                </a:lnTo>
                <a:lnTo>
                  <a:pt x="2148853" y="767474"/>
                </a:lnTo>
                <a:lnTo>
                  <a:pt x="2041410" y="772415"/>
                </a:lnTo>
                <a:lnTo>
                  <a:pt x="1933968" y="777357"/>
                </a:lnTo>
                <a:lnTo>
                  <a:pt x="1826525" y="782299"/>
                </a:lnTo>
                <a:lnTo>
                  <a:pt x="1719082" y="787241"/>
                </a:lnTo>
                <a:lnTo>
                  <a:pt x="1611640" y="792182"/>
                </a:lnTo>
                <a:lnTo>
                  <a:pt x="1504197" y="797124"/>
                </a:lnTo>
                <a:lnTo>
                  <a:pt x="1396754" y="802066"/>
                </a:lnTo>
                <a:lnTo>
                  <a:pt x="1289312" y="807007"/>
                </a:lnTo>
                <a:lnTo>
                  <a:pt x="1181869" y="811949"/>
                </a:lnTo>
                <a:lnTo>
                  <a:pt x="1074426" y="816891"/>
                </a:lnTo>
                <a:lnTo>
                  <a:pt x="966983" y="821832"/>
                </a:lnTo>
                <a:lnTo>
                  <a:pt x="859541" y="826774"/>
                </a:lnTo>
                <a:lnTo>
                  <a:pt x="752098" y="831716"/>
                </a:lnTo>
                <a:lnTo>
                  <a:pt x="644656" y="836187"/>
                </a:lnTo>
                <a:lnTo>
                  <a:pt x="537213" y="840423"/>
                </a:lnTo>
                <a:lnTo>
                  <a:pt x="429770" y="844658"/>
                </a:lnTo>
                <a:lnTo>
                  <a:pt x="322328" y="848894"/>
                </a:lnTo>
                <a:lnTo>
                  <a:pt x="214885" y="853130"/>
                </a:lnTo>
                <a:lnTo>
                  <a:pt x="107442" y="857366"/>
                </a:lnTo>
                <a:lnTo>
                  <a:pt x="0" y="861601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weight: 3-й центиль"/>
          <p:cNvSpPr/>
          <p:nvPr/>
        </p:nvSpPr>
        <p:spPr>
          <a:xfrm>
            <a:off x="548640" y="4515269"/>
            <a:ext cx="6446560" cy="416514"/>
          </a:xfrm>
          <a:custGeom>
            <a:avLst/>
            <a:gdLst/>
            <a:ahLst/>
            <a:cxnLst/>
            <a:rect l="l" t="t" r="r" b="b"/>
            <a:pathLst>
              <a:path w="6446560" h="416514">
                <a:moveTo>
                  <a:pt x="0" y="416514"/>
                </a:moveTo>
                <a:lnTo>
                  <a:pt x="107442" y="412279"/>
                </a:lnTo>
                <a:lnTo>
                  <a:pt x="214885" y="408043"/>
                </a:lnTo>
                <a:lnTo>
                  <a:pt x="322328" y="403807"/>
                </a:lnTo>
                <a:lnTo>
                  <a:pt x="429770" y="399571"/>
                </a:lnTo>
                <a:lnTo>
                  <a:pt x="537213" y="395336"/>
                </a:lnTo>
                <a:lnTo>
                  <a:pt x="644656" y="391100"/>
                </a:lnTo>
                <a:lnTo>
                  <a:pt x="752098" y="386629"/>
                </a:lnTo>
                <a:lnTo>
                  <a:pt x="859541" y="381687"/>
                </a:lnTo>
                <a:lnTo>
                  <a:pt x="966983" y="376745"/>
                </a:lnTo>
                <a:lnTo>
                  <a:pt x="1074426" y="371804"/>
                </a:lnTo>
                <a:lnTo>
                  <a:pt x="1181869" y="366862"/>
                </a:lnTo>
                <a:lnTo>
                  <a:pt x="1289312" y="361920"/>
                </a:lnTo>
                <a:lnTo>
                  <a:pt x="1396754" y="356979"/>
                </a:lnTo>
                <a:lnTo>
                  <a:pt x="1504197" y="352037"/>
                </a:lnTo>
                <a:lnTo>
                  <a:pt x="1611640" y="347095"/>
                </a:lnTo>
                <a:lnTo>
                  <a:pt x="1719082" y="342154"/>
                </a:lnTo>
                <a:lnTo>
                  <a:pt x="1826525" y="337212"/>
                </a:lnTo>
                <a:lnTo>
                  <a:pt x="1933968" y="332270"/>
                </a:lnTo>
                <a:lnTo>
                  <a:pt x="2041410" y="327328"/>
                </a:lnTo>
                <a:lnTo>
                  <a:pt x="2148853" y="322387"/>
                </a:lnTo>
                <a:lnTo>
                  <a:pt x="2256296" y="317445"/>
                </a:lnTo>
                <a:lnTo>
                  <a:pt x="2363738" y="312503"/>
                </a:lnTo>
                <a:lnTo>
                  <a:pt x="2471181" y="307562"/>
                </a:lnTo>
                <a:lnTo>
                  <a:pt x="2578624" y="302620"/>
                </a:lnTo>
                <a:lnTo>
                  <a:pt x="2686066" y="297678"/>
                </a:lnTo>
                <a:lnTo>
                  <a:pt x="2793509" y="292737"/>
                </a:lnTo>
                <a:lnTo>
                  <a:pt x="2900952" y="286795"/>
                </a:lnTo>
                <a:lnTo>
                  <a:pt x="3008394" y="278853"/>
                </a:lnTo>
                <a:lnTo>
                  <a:pt x="3115837" y="270911"/>
                </a:lnTo>
                <a:lnTo>
                  <a:pt x="3223280" y="262969"/>
                </a:lnTo>
                <a:lnTo>
                  <a:pt x="3330722" y="255027"/>
                </a:lnTo>
                <a:lnTo>
                  <a:pt x="3438165" y="247085"/>
                </a:lnTo>
                <a:lnTo>
                  <a:pt x="3545607" y="239143"/>
                </a:lnTo>
                <a:lnTo>
                  <a:pt x="3653050" y="231201"/>
                </a:lnTo>
                <a:lnTo>
                  <a:pt x="3760493" y="223259"/>
                </a:lnTo>
                <a:lnTo>
                  <a:pt x="3867936" y="215317"/>
                </a:lnTo>
                <a:lnTo>
                  <a:pt x="3975378" y="207375"/>
                </a:lnTo>
                <a:lnTo>
                  <a:pt x="4082821" y="199432"/>
                </a:lnTo>
                <a:lnTo>
                  <a:pt x="4190264" y="191490"/>
                </a:lnTo>
                <a:lnTo>
                  <a:pt x="4297706" y="183548"/>
                </a:lnTo>
                <a:lnTo>
                  <a:pt x="4405149" y="174547"/>
                </a:lnTo>
                <a:lnTo>
                  <a:pt x="4512592" y="165547"/>
                </a:lnTo>
                <a:lnTo>
                  <a:pt x="4620034" y="156546"/>
                </a:lnTo>
                <a:lnTo>
                  <a:pt x="4727477" y="147545"/>
                </a:lnTo>
                <a:lnTo>
                  <a:pt x="4834920" y="138544"/>
                </a:lnTo>
                <a:lnTo>
                  <a:pt x="4942362" y="129543"/>
                </a:lnTo>
                <a:lnTo>
                  <a:pt x="5049805" y="120542"/>
                </a:lnTo>
                <a:lnTo>
                  <a:pt x="5157248" y="111541"/>
                </a:lnTo>
                <a:lnTo>
                  <a:pt x="5264690" y="102540"/>
                </a:lnTo>
                <a:lnTo>
                  <a:pt x="5372133" y="93539"/>
                </a:lnTo>
                <a:lnTo>
                  <a:pt x="5479576" y="84538"/>
                </a:lnTo>
                <a:lnTo>
                  <a:pt x="5587018" y="75537"/>
                </a:lnTo>
                <a:lnTo>
                  <a:pt x="5694461" y="66536"/>
                </a:lnTo>
                <a:lnTo>
                  <a:pt x="5801903" y="57182"/>
                </a:lnTo>
                <a:lnTo>
                  <a:pt x="5909346" y="47652"/>
                </a:lnTo>
                <a:lnTo>
                  <a:pt x="6016789" y="38121"/>
                </a:lnTo>
                <a:lnTo>
                  <a:pt x="6124232" y="28591"/>
                </a:lnTo>
                <a:lnTo>
                  <a:pt x="6231674" y="19060"/>
                </a:lnTo>
                <a:lnTo>
                  <a:pt x="6339117" y="9530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35200" y="4435269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34" name="weight: 50-й центиль"/>
          <p:cNvSpPr/>
          <p:nvPr/>
        </p:nvSpPr>
        <p:spPr>
          <a:xfrm>
            <a:off x="548640" y="4367681"/>
            <a:ext cx="6446560" cy="512203"/>
          </a:xfrm>
          <a:custGeom>
            <a:avLst/>
            <a:gdLst/>
            <a:ahLst/>
            <a:cxnLst/>
            <a:rect l="l" t="t" r="r" b="b"/>
            <a:pathLst>
              <a:path w="6446560" h="512203">
                <a:moveTo>
                  <a:pt x="0" y="512203"/>
                </a:moveTo>
                <a:lnTo>
                  <a:pt x="107442" y="506995"/>
                </a:lnTo>
                <a:lnTo>
                  <a:pt x="214885" y="501786"/>
                </a:lnTo>
                <a:lnTo>
                  <a:pt x="322328" y="496577"/>
                </a:lnTo>
                <a:lnTo>
                  <a:pt x="429770" y="491368"/>
                </a:lnTo>
                <a:lnTo>
                  <a:pt x="537213" y="486159"/>
                </a:lnTo>
                <a:lnTo>
                  <a:pt x="644656" y="480950"/>
                </a:lnTo>
                <a:lnTo>
                  <a:pt x="752098" y="475452"/>
                </a:lnTo>
                <a:lnTo>
                  <a:pt x="859541" y="469375"/>
                </a:lnTo>
                <a:lnTo>
                  <a:pt x="966983" y="463298"/>
                </a:lnTo>
                <a:lnTo>
                  <a:pt x="1074426" y="457221"/>
                </a:lnTo>
                <a:lnTo>
                  <a:pt x="1181869" y="451144"/>
                </a:lnTo>
                <a:lnTo>
                  <a:pt x="1289312" y="445067"/>
                </a:lnTo>
                <a:lnTo>
                  <a:pt x="1396754" y="438990"/>
                </a:lnTo>
                <a:lnTo>
                  <a:pt x="1504197" y="432913"/>
                </a:lnTo>
                <a:lnTo>
                  <a:pt x="1611640" y="426836"/>
                </a:lnTo>
                <a:lnTo>
                  <a:pt x="1719082" y="420759"/>
                </a:lnTo>
                <a:lnTo>
                  <a:pt x="1826525" y="414682"/>
                </a:lnTo>
                <a:lnTo>
                  <a:pt x="1933968" y="408605"/>
                </a:lnTo>
                <a:lnTo>
                  <a:pt x="2041410" y="402528"/>
                </a:lnTo>
                <a:lnTo>
                  <a:pt x="2148853" y="396451"/>
                </a:lnTo>
                <a:lnTo>
                  <a:pt x="2256296" y="390374"/>
                </a:lnTo>
                <a:lnTo>
                  <a:pt x="2363738" y="384297"/>
                </a:lnTo>
                <a:lnTo>
                  <a:pt x="2471181" y="378220"/>
                </a:lnTo>
                <a:lnTo>
                  <a:pt x="2578624" y="372143"/>
                </a:lnTo>
                <a:lnTo>
                  <a:pt x="2686066" y="366066"/>
                </a:lnTo>
                <a:lnTo>
                  <a:pt x="2793509" y="359989"/>
                </a:lnTo>
                <a:lnTo>
                  <a:pt x="2900952" y="352682"/>
                </a:lnTo>
                <a:lnTo>
                  <a:pt x="3008394" y="342916"/>
                </a:lnTo>
                <a:lnTo>
                  <a:pt x="3115837" y="333149"/>
                </a:lnTo>
                <a:lnTo>
                  <a:pt x="3223280" y="323383"/>
                </a:lnTo>
                <a:lnTo>
                  <a:pt x="3330722" y="313616"/>
                </a:lnTo>
                <a:lnTo>
                  <a:pt x="3438165" y="303849"/>
                </a:lnTo>
                <a:lnTo>
                  <a:pt x="3545607" y="294083"/>
                </a:lnTo>
                <a:lnTo>
                  <a:pt x="3653050" y="284316"/>
                </a:lnTo>
                <a:lnTo>
                  <a:pt x="3760493" y="274550"/>
                </a:lnTo>
                <a:lnTo>
                  <a:pt x="3867936" y="264783"/>
                </a:lnTo>
                <a:lnTo>
                  <a:pt x="3975378" y="255016"/>
                </a:lnTo>
                <a:lnTo>
                  <a:pt x="4082821" y="245250"/>
                </a:lnTo>
                <a:lnTo>
                  <a:pt x="4190264" y="235483"/>
                </a:lnTo>
                <a:lnTo>
                  <a:pt x="4297706" y="225717"/>
                </a:lnTo>
                <a:lnTo>
                  <a:pt x="4405149" y="214648"/>
                </a:lnTo>
                <a:lnTo>
                  <a:pt x="4512592" y="203579"/>
                </a:lnTo>
                <a:lnTo>
                  <a:pt x="4620034" y="192510"/>
                </a:lnTo>
                <a:lnTo>
                  <a:pt x="4727477" y="181441"/>
                </a:lnTo>
                <a:lnTo>
                  <a:pt x="4834920" y="170373"/>
                </a:lnTo>
                <a:lnTo>
                  <a:pt x="4942362" y="159304"/>
                </a:lnTo>
                <a:lnTo>
                  <a:pt x="5049805" y="148235"/>
                </a:lnTo>
                <a:lnTo>
                  <a:pt x="5157248" y="137166"/>
                </a:lnTo>
                <a:lnTo>
                  <a:pt x="5264690" y="126097"/>
                </a:lnTo>
                <a:lnTo>
                  <a:pt x="5372133" y="115029"/>
                </a:lnTo>
                <a:lnTo>
                  <a:pt x="5479576" y="103960"/>
                </a:lnTo>
                <a:lnTo>
                  <a:pt x="5587018" y="92891"/>
                </a:lnTo>
                <a:lnTo>
                  <a:pt x="5694461" y="81822"/>
                </a:lnTo>
                <a:lnTo>
                  <a:pt x="5801903" y="70319"/>
                </a:lnTo>
                <a:lnTo>
                  <a:pt x="5909346" y="58599"/>
                </a:lnTo>
                <a:lnTo>
                  <a:pt x="6016789" y="46879"/>
                </a:lnTo>
                <a:lnTo>
                  <a:pt x="6124232" y="35160"/>
                </a:lnTo>
                <a:lnTo>
                  <a:pt x="6231674" y="23440"/>
                </a:lnTo>
                <a:lnTo>
                  <a:pt x="6339117" y="11720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35200" y="4287681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36" name="weight: 97-й центиль"/>
          <p:cNvSpPr/>
          <p:nvPr/>
        </p:nvSpPr>
        <p:spPr>
          <a:xfrm>
            <a:off x="548640" y="4070182"/>
            <a:ext cx="6446560" cy="705087"/>
          </a:xfrm>
          <a:custGeom>
            <a:avLst/>
            <a:gdLst/>
            <a:ahLst/>
            <a:cxnLst/>
            <a:rect l="l" t="t" r="r" b="b"/>
            <a:pathLst>
              <a:path w="6446560" h="705087">
                <a:moveTo>
                  <a:pt x="0" y="705087"/>
                </a:moveTo>
                <a:lnTo>
                  <a:pt x="107442" y="697917"/>
                </a:lnTo>
                <a:lnTo>
                  <a:pt x="214885" y="690747"/>
                </a:lnTo>
                <a:lnTo>
                  <a:pt x="322328" y="683576"/>
                </a:lnTo>
                <a:lnTo>
                  <a:pt x="429770" y="676406"/>
                </a:lnTo>
                <a:lnTo>
                  <a:pt x="537213" y="669235"/>
                </a:lnTo>
                <a:lnTo>
                  <a:pt x="644656" y="662065"/>
                </a:lnTo>
                <a:lnTo>
                  <a:pt x="752098" y="654496"/>
                </a:lnTo>
                <a:lnTo>
                  <a:pt x="859541" y="646131"/>
                </a:lnTo>
                <a:lnTo>
                  <a:pt x="966983" y="637765"/>
                </a:lnTo>
                <a:lnTo>
                  <a:pt x="1074426" y="629400"/>
                </a:lnTo>
                <a:lnTo>
                  <a:pt x="1181869" y="621034"/>
                </a:lnTo>
                <a:lnTo>
                  <a:pt x="1289312" y="612669"/>
                </a:lnTo>
                <a:lnTo>
                  <a:pt x="1396754" y="604304"/>
                </a:lnTo>
                <a:lnTo>
                  <a:pt x="1504197" y="595938"/>
                </a:lnTo>
                <a:lnTo>
                  <a:pt x="1611640" y="587573"/>
                </a:lnTo>
                <a:lnTo>
                  <a:pt x="1719082" y="579207"/>
                </a:lnTo>
                <a:lnTo>
                  <a:pt x="1826525" y="570842"/>
                </a:lnTo>
                <a:lnTo>
                  <a:pt x="1933968" y="562476"/>
                </a:lnTo>
                <a:lnTo>
                  <a:pt x="2041410" y="554111"/>
                </a:lnTo>
                <a:lnTo>
                  <a:pt x="2148853" y="545745"/>
                </a:lnTo>
                <a:lnTo>
                  <a:pt x="2256296" y="537380"/>
                </a:lnTo>
                <a:lnTo>
                  <a:pt x="2363738" y="529015"/>
                </a:lnTo>
                <a:lnTo>
                  <a:pt x="2471181" y="520649"/>
                </a:lnTo>
                <a:lnTo>
                  <a:pt x="2578624" y="512284"/>
                </a:lnTo>
                <a:lnTo>
                  <a:pt x="2686066" y="503918"/>
                </a:lnTo>
                <a:lnTo>
                  <a:pt x="2793509" y="495553"/>
                </a:lnTo>
                <a:lnTo>
                  <a:pt x="2900952" y="485494"/>
                </a:lnTo>
                <a:lnTo>
                  <a:pt x="3008394" y="472050"/>
                </a:lnTo>
                <a:lnTo>
                  <a:pt x="3115837" y="458605"/>
                </a:lnTo>
                <a:lnTo>
                  <a:pt x="3223280" y="445161"/>
                </a:lnTo>
                <a:lnTo>
                  <a:pt x="3330722" y="431716"/>
                </a:lnTo>
                <a:lnTo>
                  <a:pt x="3438165" y="418272"/>
                </a:lnTo>
                <a:lnTo>
                  <a:pt x="3545607" y="404828"/>
                </a:lnTo>
                <a:lnTo>
                  <a:pt x="3653050" y="391383"/>
                </a:lnTo>
                <a:lnTo>
                  <a:pt x="3760493" y="377939"/>
                </a:lnTo>
                <a:lnTo>
                  <a:pt x="3867936" y="364494"/>
                </a:lnTo>
                <a:lnTo>
                  <a:pt x="3975378" y="351050"/>
                </a:lnTo>
                <a:lnTo>
                  <a:pt x="4082821" y="337605"/>
                </a:lnTo>
                <a:lnTo>
                  <a:pt x="4190264" y="324161"/>
                </a:lnTo>
                <a:lnTo>
                  <a:pt x="4297706" y="310716"/>
                </a:lnTo>
                <a:lnTo>
                  <a:pt x="4405149" y="295479"/>
                </a:lnTo>
                <a:lnTo>
                  <a:pt x="4512592" y="280242"/>
                </a:lnTo>
                <a:lnTo>
                  <a:pt x="4620034" y="265005"/>
                </a:lnTo>
                <a:lnTo>
                  <a:pt x="4727477" y="249768"/>
                </a:lnTo>
                <a:lnTo>
                  <a:pt x="4834920" y="234531"/>
                </a:lnTo>
                <a:lnTo>
                  <a:pt x="4942362" y="219294"/>
                </a:lnTo>
                <a:lnTo>
                  <a:pt x="5049805" y="204057"/>
                </a:lnTo>
                <a:lnTo>
                  <a:pt x="5157248" y="188820"/>
                </a:lnTo>
                <a:lnTo>
                  <a:pt x="5264690" y="173583"/>
                </a:lnTo>
                <a:lnTo>
                  <a:pt x="5372133" y="158346"/>
                </a:lnTo>
                <a:lnTo>
                  <a:pt x="5479576" y="143109"/>
                </a:lnTo>
                <a:lnTo>
                  <a:pt x="5587018" y="127871"/>
                </a:lnTo>
                <a:lnTo>
                  <a:pt x="5694461" y="112634"/>
                </a:lnTo>
                <a:lnTo>
                  <a:pt x="5801903" y="96800"/>
                </a:lnTo>
                <a:lnTo>
                  <a:pt x="5909346" y="80666"/>
                </a:lnTo>
                <a:lnTo>
                  <a:pt x="6016789" y="64533"/>
                </a:lnTo>
                <a:lnTo>
                  <a:pt x="6124232" y="48400"/>
                </a:lnTo>
                <a:lnTo>
                  <a:pt x="6231674" y="32266"/>
                </a:lnTo>
                <a:lnTo>
                  <a:pt x="6339117" y="16133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35200" y="3990182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38" name="weight: ось"/>
          <p:cNvSpPr/>
          <p:nvPr/>
        </p:nvSpPr>
        <p:spPr>
          <a:xfrm>
            <a:off x="548640" y="4983480"/>
            <a:ext cx="6446560" cy="0"/>
          </a:xfrm>
          <a:custGeom>
            <a:avLst/>
            <a:gdLst/>
            <a:ahLst/>
            <a:cxnLst/>
            <a:rect l="l" t="t" r="r" b="b"/>
            <a:pathLst>
              <a:path w="6446560" h="0">
                <a:moveTo>
                  <a:pt x="0" y="0"/>
                </a:moveTo>
                <a:lnTo>
                  <a:pt x="6446560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8640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31208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63777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96346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8915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44" name="weight: пациент"/>
          <p:cNvSpPr/>
          <p:nvPr/>
        </p:nvSpPr>
        <p:spPr>
          <a:xfrm>
            <a:off x="548640" y="4532802"/>
            <a:ext cx="4297706" cy="342319"/>
          </a:xfrm>
          <a:custGeom>
            <a:avLst/>
            <a:gdLst/>
            <a:ahLst/>
            <a:cxnLst/>
            <a:rect l="l" t="t" r="r" b="b"/>
            <a:pathLst>
              <a:path w="4297706" h="342319">
                <a:moveTo>
                  <a:pt x="0" y="342319"/>
                </a:moveTo>
                <a:lnTo>
                  <a:pt x="59690" y="338971"/>
                </a:lnTo>
                <a:lnTo>
                  <a:pt x="119380" y="335614"/>
                </a:lnTo>
                <a:lnTo>
                  <a:pt x="179071" y="332248"/>
                </a:lnTo>
                <a:lnTo>
                  <a:pt x="238761" y="328873"/>
                </a:lnTo>
                <a:lnTo>
                  <a:pt x="298451" y="325489"/>
                </a:lnTo>
                <a:lnTo>
                  <a:pt x="358142" y="322096"/>
                </a:lnTo>
                <a:lnTo>
                  <a:pt x="417832" y="318694"/>
                </a:lnTo>
                <a:lnTo>
                  <a:pt x="477522" y="315283"/>
                </a:lnTo>
                <a:lnTo>
                  <a:pt x="537213" y="311863"/>
                </a:lnTo>
                <a:lnTo>
                  <a:pt x="596903" y="308434"/>
                </a:lnTo>
                <a:lnTo>
                  <a:pt x="656594" y="304995"/>
                </a:lnTo>
                <a:lnTo>
                  <a:pt x="716284" y="301548"/>
                </a:lnTo>
                <a:lnTo>
                  <a:pt x="775974" y="298055"/>
                </a:lnTo>
                <a:lnTo>
                  <a:pt x="835665" y="294562"/>
                </a:lnTo>
                <a:lnTo>
                  <a:pt x="895355" y="291069"/>
                </a:lnTo>
                <a:lnTo>
                  <a:pt x="955045" y="287577"/>
                </a:lnTo>
                <a:lnTo>
                  <a:pt x="1014736" y="284084"/>
                </a:lnTo>
                <a:lnTo>
                  <a:pt x="1074426" y="280591"/>
                </a:lnTo>
                <a:lnTo>
                  <a:pt x="1134117" y="277098"/>
                </a:lnTo>
                <a:lnTo>
                  <a:pt x="1193807" y="273605"/>
                </a:lnTo>
                <a:lnTo>
                  <a:pt x="1253497" y="270112"/>
                </a:lnTo>
                <a:lnTo>
                  <a:pt x="1313188" y="266619"/>
                </a:lnTo>
                <a:lnTo>
                  <a:pt x="1372878" y="263126"/>
                </a:lnTo>
                <a:lnTo>
                  <a:pt x="1432568" y="259634"/>
                </a:lnTo>
                <a:lnTo>
                  <a:pt x="1492259" y="255618"/>
                </a:lnTo>
                <a:lnTo>
                  <a:pt x="1551949" y="251592"/>
                </a:lnTo>
                <a:lnTo>
                  <a:pt x="1611640" y="247555"/>
                </a:lnTo>
                <a:lnTo>
                  <a:pt x="1671330" y="243507"/>
                </a:lnTo>
                <a:lnTo>
                  <a:pt x="1731020" y="239449"/>
                </a:lnTo>
                <a:lnTo>
                  <a:pt x="1790711" y="235380"/>
                </a:lnTo>
                <a:lnTo>
                  <a:pt x="1850401" y="231300"/>
                </a:lnTo>
                <a:lnTo>
                  <a:pt x="1910091" y="227209"/>
                </a:lnTo>
                <a:lnTo>
                  <a:pt x="1969782" y="223108"/>
                </a:lnTo>
                <a:lnTo>
                  <a:pt x="2029472" y="218995"/>
                </a:lnTo>
                <a:lnTo>
                  <a:pt x="2089162" y="214872"/>
                </a:lnTo>
                <a:lnTo>
                  <a:pt x="2148853" y="210738"/>
                </a:lnTo>
                <a:lnTo>
                  <a:pt x="2208543" y="206593"/>
                </a:lnTo>
                <a:lnTo>
                  <a:pt x="2268234" y="202437"/>
                </a:lnTo>
                <a:lnTo>
                  <a:pt x="2327924" y="198271"/>
                </a:lnTo>
                <a:lnTo>
                  <a:pt x="2387614" y="194093"/>
                </a:lnTo>
                <a:lnTo>
                  <a:pt x="2447305" y="189904"/>
                </a:lnTo>
                <a:lnTo>
                  <a:pt x="2506995" y="185704"/>
                </a:lnTo>
                <a:lnTo>
                  <a:pt x="2566685" y="181494"/>
                </a:lnTo>
                <a:lnTo>
                  <a:pt x="2626376" y="177272"/>
                </a:lnTo>
                <a:lnTo>
                  <a:pt x="2686066" y="173039"/>
                </a:lnTo>
                <a:lnTo>
                  <a:pt x="2745757" y="168795"/>
                </a:lnTo>
                <a:lnTo>
                  <a:pt x="2805447" y="164540"/>
                </a:lnTo>
                <a:lnTo>
                  <a:pt x="2865137" y="160273"/>
                </a:lnTo>
                <a:lnTo>
                  <a:pt x="2924828" y="153799"/>
                </a:lnTo>
                <a:lnTo>
                  <a:pt x="2984518" y="147307"/>
                </a:lnTo>
                <a:lnTo>
                  <a:pt x="3044208" y="140797"/>
                </a:lnTo>
                <a:lnTo>
                  <a:pt x="3103899" y="134270"/>
                </a:lnTo>
                <a:lnTo>
                  <a:pt x="3163589" y="127726"/>
                </a:lnTo>
                <a:lnTo>
                  <a:pt x="3223280" y="121164"/>
                </a:lnTo>
                <a:lnTo>
                  <a:pt x="3282970" y="114584"/>
                </a:lnTo>
                <a:lnTo>
                  <a:pt x="3342660" y="107987"/>
                </a:lnTo>
                <a:lnTo>
                  <a:pt x="3402351" y="101372"/>
                </a:lnTo>
                <a:lnTo>
                  <a:pt x="3462041" y="94739"/>
                </a:lnTo>
                <a:lnTo>
                  <a:pt x="3521731" y="88089"/>
                </a:lnTo>
                <a:lnTo>
                  <a:pt x="3581422" y="81420"/>
                </a:lnTo>
                <a:lnTo>
                  <a:pt x="3641112" y="74734"/>
                </a:lnTo>
                <a:lnTo>
                  <a:pt x="3700802" y="68030"/>
                </a:lnTo>
                <a:lnTo>
                  <a:pt x="3760493" y="61308"/>
                </a:lnTo>
                <a:lnTo>
                  <a:pt x="3820183" y="54569"/>
                </a:lnTo>
                <a:lnTo>
                  <a:pt x="3879874" y="47811"/>
                </a:lnTo>
                <a:lnTo>
                  <a:pt x="3939564" y="41035"/>
                </a:lnTo>
                <a:lnTo>
                  <a:pt x="3999254" y="34241"/>
                </a:lnTo>
                <a:lnTo>
                  <a:pt x="4058945" y="27429"/>
                </a:lnTo>
                <a:lnTo>
                  <a:pt x="4118635" y="20599"/>
                </a:lnTo>
                <a:lnTo>
                  <a:pt x="4178325" y="13751"/>
                </a:lnTo>
                <a:lnTo>
                  <a:pt x="4238016" y="6885"/>
                </a:lnTo>
                <a:lnTo>
                  <a:pt x="4297706" y="0"/>
                </a:lnTo>
              </a:path>
            </a:pathLst>
          </a:custGeom>
          <a:noFill/>
          <a:ln w="34925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weight: визит 4"/>
          <p:cNvSpPr/>
          <p:nvPr/>
        </p:nvSpPr>
        <p:spPr>
          <a:xfrm>
            <a:off x="488640" y="4815121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weight: визит 5"/>
          <p:cNvSpPr/>
          <p:nvPr/>
        </p:nvSpPr>
        <p:spPr>
          <a:xfrm>
            <a:off x="1204924" y="4774350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weight: визит 6"/>
          <p:cNvSpPr/>
          <p:nvPr/>
        </p:nvSpPr>
        <p:spPr>
          <a:xfrm>
            <a:off x="1921208" y="4732436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weight: визит 7"/>
          <p:cNvSpPr/>
          <p:nvPr/>
        </p:nvSpPr>
        <p:spPr>
          <a:xfrm>
            <a:off x="2637493" y="4683540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weight: визит 8"/>
          <p:cNvSpPr/>
          <p:nvPr/>
        </p:nvSpPr>
        <p:spPr>
          <a:xfrm>
            <a:off x="3353777" y="4633075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weight: визит 9"/>
          <p:cNvSpPr/>
          <p:nvPr/>
        </p:nvSpPr>
        <p:spPr>
          <a:xfrm>
            <a:off x="4070062" y="4554222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weight: визит 10"/>
          <p:cNvSpPr/>
          <p:nvPr/>
        </p:nvSpPr>
        <p:spPr>
          <a:xfrm>
            <a:off x="4786346" y="4472802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3788486"/>
            <a:ext cx="6446560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Масса, кг</a:t>
            </a:r>
          </a:p>
        </p:txBody>
      </p:sp>
      <p:sp>
        <p:nvSpPr>
          <p:cNvPr id="53" name="Легенда"/>
          <p:cNvSpPr/>
          <p:nvPr/>
        </p:nvSpPr>
        <p:spPr>
          <a:xfrm>
            <a:off x="548640" y="5349240"/>
            <a:ext cx="274320" cy="9144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Легенда"/>
          <p:cNvSpPr txBox="1"/>
          <p:nvPr/>
        </p:nvSpPr>
        <p:spPr>
          <a:xfrm>
            <a:off x="896112" y="528523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пример: рост</a:t>
            </a:r>
          </a:p>
        </p:txBody>
      </p:sp>
      <p:sp>
        <p:nvSpPr>
          <p:cNvPr id="55" name="Легенда"/>
          <p:cNvSpPr/>
          <p:nvPr/>
        </p:nvSpPr>
        <p:spPr>
          <a:xfrm>
            <a:off x="2560320" y="5349240"/>
            <a:ext cx="274320" cy="91440"/>
          </a:xfrm>
          <a:prstGeom prst="rect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Легенда"/>
          <p:cNvSpPr txBox="1"/>
          <p:nvPr/>
        </p:nvSpPr>
        <p:spPr>
          <a:xfrm>
            <a:off x="2907792" y="528523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пример: масса</a:t>
            </a:r>
          </a:p>
        </p:txBody>
      </p:sp>
      <p:sp>
        <p:nvSpPr>
          <p:cNvPr id="57" name="Легенда"/>
          <p:cNvSpPr/>
          <p:nvPr/>
        </p:nvSpPr>
        <p:spPr>
          <a:xfrm>
            <a:off x="4572000" y="5349240"/>
            <a:ext cx="274320" cy="9144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Легенда"/>
          <p:cNvSpPr txBox="1"/>
          <p:nvPr/>
        </p:nvSpPr>
        <p:spPr>
          <a:xfrm>
            <a:off x="4919472" y="528523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норма: 3–⁠97-й центиль</a:t>
            </a:r>
          </a:p>
        </p:txBody>
      </p:sp>
      <p:sp>
        <p:nvSpPr>
          <p:cNvPr id="59" name="Текст"/>
          <p:cNvSpPr txBox="1"/>
          <p:nvPr/>
        </p:nvSpPr>
        <p:spPr>
          <a:xfrm>
            <a:off x="7635240" y="1691640"/>
            <a:ext cx="4007815" cy="406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Тяжёлый первичный гипотиреоз: итоговый рост около 2 СО ниже нормы и ниже целевого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Итоговый рост в СО ниже, чем был до болезни: лечение потерю не вернуло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Связь с длительностью болезни до лечения: уровень значимости менее 0,01</a:t>
            </a:r>
          </a:p>
        </p:txBody>
      </p:sp>
      <p:sp>
        <p:nvSpPr>
          <p:cNvPr id="60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Rivkees SA et al. N Engl J Med 1988;318:599–⁠602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Догоняющий рост тем полнее, чем раньше начато лечение и чем дальше до пубертата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165506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5547207"/>
                <a:gridCol w="5547207"/>
              </a:tblGrid>
              <a:tr h="413766"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Приобретённый первичный гипотиреоз: возраст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Стартовая доза левотироксина, мкг/кг/сут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1–⁠3 года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4–⁠6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3–⁠10 лет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3–⁠5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10–⁠16 лет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2–⁠4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3438144"/>
            <a:ext cx="11094415" cy="2322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Тяжёлый гипотиреоз: малая стартовая доза, повышение за несколько недель (совет авторов обзора 2026 года)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Серия из 4 детей: скачок роста есть и после многолетнего гипотиреоза, но потеря осталась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Начало лечения незадолго до пубертата или в нём: догоняющий рост может быть неполным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Salerno M et al. Front Endocrinol (Lausanne) 2026;16:1744280; Boersma B et al. Eur J Pediatr 1996;155:362–⁠7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У ребёнка с давним гипотиреозом кость на лечении созревает быстрее, чем идёт рост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Первые 18 мес лечения костный возраст обгонял рост, и до пубертата, и в нём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Аналог ГнРГ (гонадотропин-рилизинг-гормона) к левотироксину: польза для итогового роста не доказана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Малую стартовую дозу советуют ради безопасности, о росте данных нет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Rivkees SA et al. N Engl J Med 1988;318:599–⁠602; Teng L et al. J Pediatr Endocrinol Metab 2004;17:345–⁠54; Salerno M et al. Front Endocrinol (Lausanne) 2026;16:1744280; Minamitani K et al. Arch Dis Child 1994;70:429–⁠30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300" b="1" i="0">
                <a:solidFill>
                  <a:srgbClr val="1B2E3C"/>
                </a:solidFill>
                <a:latin typeface="Cambria"/>
              </a:rPr>
              <a:t>Идиопатический субклинический гипотиреоз рост не замедляет, при отставании ищут другую причину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Идиопатический: причина повышения ТТГ (тиреотропного гормона) не найдена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36 детей, ТТГ 4,5–⁠10 мЕд/л, в среднем 3,3 года без лечения: рост не ухудшился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92 ребёнка, 2 года наблюдения: рост и ИМТ (индекс массы тела) не изменились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ТТГ нормализовался у 38 из 92, у 11 превысил 10 мЕд/л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111 детей, не только идиопатических: рост без лечения не ухудшился; лечение понадобилось 8,6 % идиопатических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Cerbone M et al. Eur J Endocrinol 2011;164:591–⁠7; Wasniewska M et al. Eur J Endocrinol 2009;160:417–⁠21; Zengin NŞ et al. J Clin Res Pediatr Endocrinol 2026;18:498–⁠507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При центральном гипотиреозе ТТГ бывает нормальным, диагноз ставят по св. Т4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Диагноз: низкий св. Т4 (свободный тироксин) при низком или нормальном ТТГ, в двух анализах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Болезнь гипоталамуса или гипофиза: падение св. Т4 больше 20 % от исходного подкрепляет диагноз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Приобретённый: из объёмных образований у детей чаще краниофарингиома, обычно страдают и другие оси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До левотироксина исключить надпочечниковую недостаточность; если не удаётся, сначала глюкокортикоиды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Цель: св. Т4 в верхней половине возрастной нормы, кровь до утренней таблетки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Persani L et al. Endocr Connect 2019;8:R44–R54; van Trotsenburg P et al. Thyroid 2021;31:387–⁠419; Boelen A et al. Handb Clin Neurol 2021;180:161–⁠169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После начала лечения СТГ св. Т4 снижается, и части детей нужен левотироксин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15 детей: Т4 и индекс св. Т4 снизились за месяц, вернулись за 3–⁠12 мес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75 детей: св. Т4 снизился за 3–⁠6 мес, левотироксин понадобился 17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У этих 17 детей прибавка скорости роста на СТГ была меньше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СТГ или половые стероиды могут выявить скрытый центральный гипотиреоз или повысить потребность в левотироксине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Центральный гипотиреоз бывает частью дефицита нескольких гормонов гипофиза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Wyatt DT et al. J Clin Endocrinol Metab 1998;83:3493–⁠7; Smyczyńska J et al. Thyroid Res 2010;3:2; Persani L et al. Endocr Connect 2019;8:R44–R54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При раннем и достаточном лечении врождённого гипотиреоза итоговый рост не страдает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194081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6270756"/>
                <a:gridCol w="4823658"/>
              </a:tblGrid>
              <a:tr h="699516"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Врождённый гипотиреоз, св. Т4 до лечения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Стартовая доза левотироксина, мкг/кг/сут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Тяжёлый: меньше 5 пмоль/л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10–⁠15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Лёгкий: больше 10 пмоль/л при повышенном ТТГ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около 10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В пределах возрастной нормы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возможно 5–⁠10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3723894"/>
            <a:ext cx="11094415" cy="2036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Левотироксин начинают как можно раньше, не позднее 2 недель жизни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При несиндромальной форме итоговый рост в норме, у большинства выше целевого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172 ребёнка: в 2 года рост нормальный, но ниже целевого при любой стартовой дозе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van Trotsenburg P et al. Thyroid 2021;31:387–⁠419 (Endo-ERN, одобрено ESPE и ESE); Niuro L et al. Horm Res Paediatr 2023;96:376–⁠84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Ребёнок с ожирением выше сверстников, а ребёнок с гиперкортицизмом ниже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08760"/>
            <a:ext cx="5318607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2E3C"/>
                </a:solidFill>
                <a:latin typeface="Calibri"/>
              </a:rPr>
              <a:t>Простое ожирение</a:t>
            </a:r>
          </a:p>
        </p:txBody>
      </p:sp>
      <p:sp>
        <p:nvSpPr>
          <p:cNvPr id="4" name="height: полоса 3–97"/>
          <p:cNvSpPr/>
          <p:nvPr/>
        </p:nvSpPr>
        <p:spPr>
          <a:xfrm>
            <a:off x="548640" y="2037074"/>
            <a:ext cx="4998607" cy="971917"/>
          </a:xfrm>
          <a:custGeom>
            <a:avLst/>
            <a:gdLst/>
            <a:ahLst/>
            <a:cxnLst/>
            <a:rect l="l" t="t" r="r" b="b"/>
            <a:pathLst>
              <a:path w="4998607" h="971917">
                <a:moveTo>
                  <a:pt x="0" y="708822"/>
                </a:moveTo>
                <a:lnTo>
                  <a:pt x="83310" y="692902"/>
                </a:lnTo>
                <a:lnTo>
                  <a:pt x="166620" y="677185"/>
                </a:lnTo>
                <a:lnTo>
                  <a:pt x="249930" y="661666"/>
                </a:lnTo>
                <a:lnTo>
                  <a:pt x="333240" y="646344"/>
                </a:lnTo>
                <a:lnTo>
                  <a:pt x="416550" y="631215"/>
                </a:lnTo>
                <a:lnTo>
                  <a:pt x="499860" y="616277"/>
                </a:lnTo>
                <a:lnTo>
                  <a:pt x="583170" y="601527"/>
                </a:lnTo>
                <a:lnTo>
                  <a:pt x="666481" y="586963"/>
                </a:lnTo>
                <a:lnTo>
                  <a:pt x="749791" y="572581"/>
                </a:lnTo>
                <a:lnTo>
                  <a:pt x="833101" y="558380"/>
                </a:lnTo>
                <a:lnTo>
                  <a:pt x="916411" y="544356"/>
                </a:lnTo>
                <a:lnTo>
                  <a:pt x="999721" y="530508"/>
                </a:lnTo>
                <a:lnTo>
                  <a:pt x="1083031" y="516832"/>
                </a:lnTo>
                <a:lnTo>
                  <a:pt x="1166341" y="503325"/>
                </a:lnTo>
                <a:lnTo>
                  <a:pt x="1249651" y="489986"/>
                </a:lnTo>
                <a:lnTo>
                  <a:pt x="1332962" y="476812"/>
                </a:lnTo>
                <a:lnTo>
                  <a:pt x="1416272" y="463800"/>
                </a:lnTo>
                <a:lnTo>
                  <a:pt x="1499582" y="450948"/>
                </a:lnTo>
                <a:lnTo>
                  <a:pt x="1582892" y="438252"/>
                </a:lnTo>
                <a:lnTo>
                  <a:pt x="1666202" y="425711"/>
                </a:lnTo>
                <a:lnTo>
                  <a:pt x="1749512" y="413321"/>
                </a:lnTo>
                <a:lnTo>
                  <a:pt x="1832822" y="401081"/>
                </a:lnTo>
                <a:lnTo>
                  <a:pt x="1916132" y="388986"/>
                </a:lnTo>
                <a:lnTo>
                  <a:pt x="1999443" y="377035"/>
                </a:lnTo>
                <a:lnTo>
                  <a:pt x="2082753" y="365224"/>
                </a:lnTo>
                <a:lnTo>
                  <a:pt x="2166063" y="353550"/>
                </a:lnTo>
                <a:lnTo>
                  <a:pt x="2249373" y="342011"/>
                </a:lnTo>
                <a:lnTo>
                  <a:pt x="2332683" y="330604"/>
                </a:lnTo>
                <a:lnTo>
                  <a:pt x="2415993" y="319324"/>
                </a:lnTo>
                <a:lnTo>
                  <a:pt x="2499303" y="308169"/>
                </a:lnTo>
                <a:lnTo>
                  <a:pt x="2582613" y="297135"/>
                </a:lnTo>
                <a:lnTo>
                  <a:pt x="2665924" y="286218"/>
                </a:lnTo>
                <a:lnTo>
                  <a:pt x="2749234" y="275415"/>
                </a:lnTo>
                <a:lnTo>
                  <a:pt x="2832544" y="264721"/>
                </a:lnTo>
                <a:lnTo>
                  <a:pt x="2915854" y="254131"/>
                </a:lnTo>
                <a:lnTo>
                  <a:pt x="2999164" y="243642"/>
                </a:lnTo>
                <a:lnTo>
                  <a:pt x="3082474" y="233248"/>
                </a:lnTo>
                <a:lnTo>
                  <a:pt x="3165784" y="222944"/>
                </a:lnTo>
                <a:lnTo>
                  <a:pt x="3249094" y="212723"/>
                </a:lnTo>
                <a:lnTo>
                  <a:pt x="3332405" y="202580"/>
                </a:lnTo>
                <a:lnTo>
                  <a:pt x="3415715" y="192508"/>
                </a:lnTo>
                <a:lnTo>
                  <a:pt x="3499025" y="182500"/>
                </a:lnTo>
                <a:lnTo>
                  <a:pt x="3582335" y="172548"/>
                </a:lnTo>
                <a:lnTo>
                  <a:pt x="3665645" y="162643"/>
                </a:lnTo>
                <a:lnTo>
                  <a:pt x="3748955" y="152776"/>
                </a:lnTo>
                <a:lnTo>
                  <a:pt x="3832265" y="142937"/>
                </a:lnTo>
                <a:lnTo>
                  <a:pt x="3915575" y="133115"/>
                </a:lnTo>
                <a:lnTo>
                  <a:pt x="3998886" y="123298"/>
                </a:lnTo>
                <a:lnTo>
                  <a:pt x="4082196" y="113473"/>
                </a:lnTo>
                <a:lnTo>
                  <a:pt x="4165506" y="103627"/>
                </a:lnTo>
                <a:lnTo>
                  <a:pt x="4248816" y="93743"/>
                </a:lnTo>
                <a:lnTo>
                  <a:pt x="4332126" y="83807"/>
                </a:lnTo>
                <a:lnTo>
                  <a:pt x="4415436" y="73799"/>
                </a:lnTo>
                <a:lnTo>
                  <a:pt x="4498746" y="63701"/>
                </a:lnTo>
                <a:lnTo>
                  <a:pt x="4582056" y="53492"/>
                </a:lnTo>
                <a:lnTo>
                  <a:pt x="4665367" y="43152"/>
                </a:lnTo>
                <a:lnTo>
                  <a:pt x="4748677" y="32657"/>
                </a:lnTo>
                <a:lnTo>
                  <a:pt x="4831987" y="21984"/>
                </a:lnTo>
                <a:lnTo>
                  <a:pt x="4915297" y="11107"/>
                </a:lnTo>
                <a:lnTo>
                  <a:pt x="4998607" y="0"/>
                </a:lnTo>
                <a:lnTo>
                  <a:pt x="4998607" y="350793"/>
                </a:lnTo>
                <a:lnTo>
                  <a:pt x="4915297" y="360438"/>
                </a:lnTo>
                <a:lnTo>
                  <a:pt x="4831987" y="369854"/>
                </a:lnTo>
                <a:lnTo>
                  <a:pt x="4748677" y="379066"/>
                </a:lnTo>
                <a:lnTo>
                  <a:pt x="4665367" y="388099"/>
                </a:lnTo>
                <a:lnTo>
                  <a:pt x="4582056" y="396977"/>
                </a:lnTo>
                <a:lnTo>
                  <a:pt x="4498746" y="405724"/>
                </a:lnTo>
                <a:lnTo>
                  <a:pt x="4415436" y="414360"/>
                </a:lnTo>
                <a:lnTo>
                  <a:pt x="4332126" y="422907"/>
                </a:lnTo>
                <a:lnTo>
                  <a:pt x="4248816" y="431382"/>
                </a:lnTo>
                <a:lnTo>
                  <a:pt x="4165506" y="439804"/>
                </a:lnTo>
                <a:lnTo>
                  <a:pt x="4082196" y="448188"/>
                </a:lnTo>
                <a:lnTo>
                  <a:pt x="3998886" y="456551"/>
                </a:lnTo>
                <a:lnTo>
                  <a:pt x="3915575" y="464907"/>
                </a:lnTo>
                <a:lnTo>
                  <a:pt x="3832265" y="473267"/>
                </a:lnTo>
                <a:lnTo>
                  <a:pt x="3748955" y="481644"/>
                </a:lnTo>
                <a:lnTo>
                  <a:pt x="3665645" y="490050"/>
                </a:lnTo>
                <a:lnTo>
                  <a:pt x="3582335" y="498493"/>
                </a:lnTo>
                <a:lnTo>
                  <a:pt x="3499025" y="506984"/>
                </a:lnTo>
                <a:lnTo>
                  <a:pt x="3415715" y="515530"/>
                </a:lnTo>
                <a:lnTo>
                  <a:pt x="3332405" y="524140"/>
                </a:lnTo>
                <a:lnTo>
                  <a:pt x="3249094" y="532822"/>
                </a:lnTo>
                <a:lnTo>
                  <a:pt x="3165784" y="541581"/>
                </a:lnTo>
                <a:lnTo>
                  <a:pt x="3082474" y="550423"/>
                </a:lnTo>
                <a:lnTo>
                  <a:pt x="2999164" y="559356"/>
                </a:lnTo>
                <a:lnTo>
                  <a:pt x="2915854" y="568383"/>
                </a:lnTo>
                <a:lnTo>
                  <a:pt x="2832544" y="577511"/>
                </a:lnTo>
                <a:lnTo>
                  <a:pt x="2749234" y="586744"/>
                </a:lnTo>
                <a:lnTo>
                  <a:pt x="2665924" y="596085"/>
                </a:lnTo>
                <a:lnTo>
                  <a:pt x="2582613" y="605540"/>
                </a:lnTo>
                <a:lnTo>
                  <a:pt x="2499303" y="615113"/>
                </a:lnTo>
                <a:lnTo>
                  <a:pt x="2415993" y="624806"/>
                </a:lnTo>
                <a:lnTo>
                  <a:pt x="2332683" y="634624"/>
                </a:lnTo>
                <a:lnTo>
                  <a:pt x="2249373" y="644570"/>
                </a:lnTo>
                <a:lnTo>
                  <a:pt x="2166063" y="654648"/>
                </a:lnTo>
                <a:lnTo>
                  <a:pt x="2082753" y="664859"/>
                </a:lnTo>
                <a:lnTo>
                  <a:pt x="1999443" y="675209"/>
                </a:lnTo>
                <a:lnTo>
                  <a:pt x="1916132" y="685698"/>
                </a:lnTo>
                <a:lnTo>
                  <a:pt x="1832822" y="696331"/>
                </a:lnTo>
                <a:lnTo>
                  <a:pt x="1749512" y="707111"/>
                </a:lnTo>
                <a:lnTo>
                  <a:pt x="1666202" y="718039"/>
                </a:lnTo>
                <a:lnTo>
                  <a:pt x="1582892" y="729118"/>
                </a:lnTo>
                <a:lnTo>
                  <a:pt x="1499582" y="740352"/>
                </a:lnTo>
                <a:lnTo>
                  <a:pt x="1416272" y="751743"/>
                </a:lnTo>
                <a:lnTo>
                  <a:pt x="1332962" y="763293"/>
                </a:lnTo>
                <a:lnTo>
                  <a:pt x="1249651" y="775006"/>
                </a:lnTo>
                <a:lnTo>
                  <a:pt x="1166341" y="786883"/>
                </a:lnTo>
                <a:lnTo>
                  <a:pt x="1083031" y="798928"/>
                </a:lnTo>
                <a:lnTo>
                  <a:pt x="999721" y="811142"/>
                </a:lnTo>
                <a:lnTo>
                  <a:pt x="916411" y="823529"/>
                </a:lnTo>
                <a:lnTo>
                  <a:pt x="833101" y="836091"/>
                </a:lnTo>
                <a:lnTo>
                  <a:pt x="749791" y="848831"/>
                </a:lnTo>
                <a:lnTo>
                  <a:pt x="666481" y="861751"/>
                </a:lnTo>
                <a:lnTo>
                  <a:pt x="583170" y="874853"/>
                </a:lnTo>
                <a:lnTo>
                  <a:pt x="499860" y="888142"/>
                </a:lnTo>
                <a:lnTo>
                  <a:pt x="416550" y="901618"/>
                </a:lnTo>
                <a:lnTo>
                  <a:pt x="333240" y="915285"/>
                </a:lnTo>
                <a:lnTo>
                  <a:pt x="249930" y="929146"/>
                </a:lnTo>
                <a:lnTo>
                  <a:pt x="166620" y="943203"/>
                </a:lnTo>
                <a:lnTo>
                  <a:pt x="83310" y="957459"/>
                </a:lnTo>
                <a:lnTo>
                  <a:pt x="0" y="971917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ight: 3-й центиль"/>
          <p:cNvSpPr/>
          <p:nvPr/>
        </p:nvSpPr>
        <p:spPr>
          <a:xfrm>
            <a:off x="548640" y="2387867"/>
            <a:ext cx="4998607" cy="621124"/>
          </a:xfrm>
          <a:custGeom>
            <a:avLst/>
            <a:gdLst/>
            <a:ahLst/>
            <a:cxnLst/>
            <a:rect l="l" t="t" r="r" b="b"/>
            <a:pathLst>
              <a:path w="4998607" h="621124">
                <a:moveTo>
                  <a:pt x="0" y="621124"/>
                </a:moveTo>
                <a:lnTo>
                  <a:pt x="83310" y="606666"/>
                </a:lnTo>
                <a:lnTo>
                  <a:pt x="166620" y="592410"/>
                </a:lnTo>
                <a:lnTo>
                  <a:pt x="249930" y="578353"/>
                </a:lnTo>
                <a:lnTo>
                  <a:pt x="333240" y="564492"/>
                </a:lnTo>
                <a:lnTo>
                  <a:pt x="416550" y="550825"/>
                </a:lnTo>
                <a:lnTo>
                  <a:pt x="499860" y="537349"/>
                </a:lnTo>
                <a:lnTo>
                  <a:pt x="583170" y="524060"/>
                </a:lnTo>
                <a:lnTo>
                  <a:pt x="666481" y="510958"/>
                </a:lnTo>
                <a:lnTo>
                  <a:pt x="749791" y="498038"/>
                </a:lnTo>
                <a:lnTo>
                  <a:pt x="833101" y="485298"/>
                </a:lnTo>
                <a:lnTo>
                  <a:pt x="916411" y="472736"/>
                </a:lnTo>
                <a:lnTo>
                  <a:pt x="999721" y="460349"/>
                </a:lnTo>
                <a:lnTo>
                  <a:pt x="1083031" y="448135"/>
                </a:lnTo>
                <a:lnTo>
                  <a:pt x="1166341" y="436090"/>
                </a:lnTo>
                <a:lnTo>
                  <a:pt x="1249651" y="424213"/>
                </a:lnTo>
                <a:lnTo>
                  <a:pt x="1332962" y="412500"/>
                </a:lnTo>
                <a:lnTo>
                  <a:pt x="1416272" y="400950"/>
                </a:lnTo>
                <a:lnTo>
                  <a:pt x="1499582" y="389559"/>
                </a:lnTo>
                <a:lnTo>
                  <a:pt x="1582892" y="378325"/>
                </a:lnTo>
                <a:lnTo>
                  <a:pt x="1666202" y="367246"/>
                </a:lnTo>
                <a:lnTo>
                  <a:pt x="1749512" y="356318"/>
                </a:lnTo>
                <a:lnTo>
                  <a:pt x="1832822" y="345538"/>
                </a:lnTo>
                <a:lnTo>
                  <a:pt x="1916132" y="334905"/>
                </a:lnTo>
                <a:lnTo>
                  <a:pt x="1999443" y="324416"/>
                </a:lnTo>
                <a:lnTo>
                  <a:pt x="2082753" y="314066"/>
                </a:lnTo>
                <a:lnTo>
                  <a:pt x="2166063" y="303855"/>
                </a:lnTo>
                <a:lnTo>
                  <a:pt x="2249373" y="293777"/>
                </a:lnTo>
                <a:lnTo>
                  <a:pt x="2332683" y="283831"/>
                </a:lnTo>
                <a:lnTo>
                  <a:pt x="2415993" y="274013"/>
                </a:lnTo>
                <a:lnTo>
                  <a:pt x="2499303" y="264320"/>
                </a:lnTo>
                <a:lnTo>
                  <a:pt x="2582613" y="254747"/>
                </a:lnTo>
                <a:lnTo>
                  <a:pt x="2665924" y="245292"/>
                </a:lnTo>
                <a:lnTo>
                  <a:pt x="2749234" y="235951"/>
                </a:lnTo>
                <a:lnTo>
                  <a:pt x="2832544" y="226718"/>
                </a:lnTo>
                <a:lnTo>
                  <a:pt x="2915854" y="217590"/>
                </a:lnTo>
                <a:lnTo>
                  <a:pt x="2999164" y="208563"/>
                </a:lnTo>
                <a:lnTo>
                  <a:pt x="3082474" y="199630"/>
                </a:lnTo>
                <a:lnTo>
                  <a:pt x="3165784" y="190788"/>
                </a:lnTo>
                <a:lnTo>
                  <a:pt x="3249094" y="182029"/>
                </a:lnTo>
                <a:lnTo>
                  <a:pt x="3332405" y="173347"/>
                </a:lnTo>
                <a:lnTo>
                  <a:pt x="3415715" y="164737"/>
                </a:lnTo>
                <a:lnTo>
                  <a:pt x="3499025" y="156191"/>
                </a:lnTo>
                <a:lnTo>
                  <a:pt x="3582335" y="147700"/>
                </a:lnTo>
                <a:lnTo>
                  <a:pt x="3665645" y="139257"/>
                </a:lnTo>
                <a:lnTo>
                  <a:pt x="3748955" y="130851"/>
                </a:lnTo>
                <a:lnTo>
                  <a:pt x="3832265" y="122474"/>
                </a:lnTo>
                <a:lnTo>
                  <a:pt x="3915575" y="114114"/>
                </a:lnTo>
                <a:lnTo>
                  <a:pt x="3998886" y="105758"/>
                </a:lnTo>
                <a:lnTo>
                  <a:pt x="4082196" y="97395"/>
                </a:lnTo>
                <a:lnTo>
                  <a:pt x="4165506" y="89011"/>
                </a:lnTo>
                <a:lnTo>
                  <a:pt x="4248816" y="80589"/>
                </a:lnTo>
                <a:lnTo>
                  <a:pt x="4332126" y="72114"/>
                </a:lnTo>
                <a:lnTo>
                  <a:pt x="4415436" y="63567"/>
                </a:lnTo>
                <a:lnTo>
                  <a:pt x="4498746" y="54931"/>
                </a:lnTo>
                <a:lnTo>
                  <a:pt x="4582056" y="46184"/>
                </a:lnTo>
                <a:lnTo>
                  <a:pt x="4665367" y="37306"/>
                </a:lnTo>
                <a:lnTo>
                  <a:pt x="4748677" y="28273"/>
                </a:lnTo>
                <a:lnTo>
                  <a:pt x="4831987" y="19061"/>
                </a:lnTo>
                <a:lnTo>
                  <a:pt x="4915297" y="9645"/>
                </a:lnTo>
                <a:lnTo>
                  <a:pt x="4998607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87247" y="2307867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7" name="height: 50-й центиль"/>
          <p:cNvSpPr/>
          <p:nvPr/>
        </p:nvSpPr>
        <p:spPr>
          <a:xfrm>
            <a:off x="548640" y="2212471"/>
            <a:ext cx="4998607" cy="664972"/>
          </a:xfrm>
          <a:custGeom>
            <a:avLst/>
            <a:gdLst/>
            <a:ahLst/>
            <a:cxnLst/>
            <a:rect l="l" t="t" r="r" b="b"/>
            <a:pathLst>
              <a:path w="4998607" h="664972">
                <a:moveTo>
                  <a:pt x="0" y="664972"/>
                </a:moveTo>
                <a:lnTo>
                  <a:pt x="83310" y="649784"/>
                </a:lnTo>
                <a:lnTo>
                  <a:pt x="166620" y="634797"/>
                </a:lnTo>
                <a:lnTo>
                  <a:pt x="249930" y="620009"/>
                </a:lnTo>
                <a:lnTo>
                  <a:pt x="333240" y="605418"/>
                </a:lnTo>
                <a:lnTo>
                  <a:pt x="416550" y="591019"/>
                </a:lnTo>
                <a:lnTo>
                  <a:pt x="499860" y="576812"/>
                </a:lnTo>
                <a:lnTo>
                  <a:pt x="583170" y="562793"/>
                </a:lnTo>
                <a:lnTo>
                  <a:pt x="666481" y="548960"/>
                </a:lnTo>
                <a:lnTo>
                  <a:pt x="749791" y="535309"/>
                </a:lnTo>
                <a:lnTo>
                  <a:pt x="833101" y="521838"/>
                </a:lnTo>
                <a:lnTo>
                  <a:pt x="916411" y="508546"/>
                </a:lnTo>
                <a:lnTo>
                  <a:pt x="999721" y="495428"/>
                </a:lnTo>
                <a:lnTo>
                  <a:pt x="1083031" y="482483"/>
                </a:lnTo>
                <a:lnTo>
                  <a:pt x="1166341" y="469707"/>
                </a:lnTo>
                <a:lnTo>
                  <a:pt x="1249651" y="457099"/>
                </a:lnTo>
                <a:lnTo>
                  <a:pt x="1332962" y="444656"/>
                </a:lnTo>
                <a:lnTo>
                  <a:pt x="1416272" y="432375"/>
                </a:lnTo>
                <a:lnTo>
                  <a:pt x="1499582" y="420253"/>
                </a:lnTo>
                <a:lnTo>
                  <a:pt x="1582892" y="408288"/>
                </a:lnTo>
                <a:lnTo>
                  <a:pt x="1666202" y="396478"/>
                </a:lnTo>
                <a:lnTo>
                  <a:pt x="1749512" y="384819"/>
                </a:lnTo>
                <a:lnTo>
                  <a:pt x="1832822" y="373309"/>
                </a:lnTo>
                <a:lnTo>
                  <a:pt x="1916132" y="361945"/>
                </a:lnTo>
                <a:lnTo>
                  <a:pt x="1999443" y="350725"/>
                </a:lnTo>
                <a:lnTo>
                  <a:pt x="2082753" y="339645"/>
                </a:lnTo>
                <a:lnTo>
                  <a:pt x="2166063" y="328702"/>
                </a:lnTo>
                <a:lnTo>
                  <a:pt x="2249373" y="317894"/>
                </a:lnTo>
                <a:lnTo>
                  <a:pt x="2332683" y="307217"/>
                </a:lnTo>
                <a:lnTo>
                  <a:pt x="2415993" y="296668"/>
                </a:lnTo>
                <a:lnTo>
                  <a:pt x="2499303" y="286244"/>
                </a:lnTo>
                <a:lnTo>
                  <a:pt x="2582613" y="275941"/>
                </a:lnTo>
                <a:lnTo>
                  <a:pt x="2665924" y="265755"/>
                </a:lnTo>
                <a:lnTo>
                  <a:pt x="2749234" y="255682"/>
                </a:lnTo>
                <a:lnTo>
                  <a:pt x="2832544" y="245719"/>
                </a:lnTo>
                <a:lnTo>
                  <a:pt x="2915854" y="235860"/>
                </a:lnTo>
                <a:lnTo>
                  <a:pt x="2999164" y="226102"/>
                </a:lnTo>
                <a:lnTo>
                  <a:pt x="3082474" y="216439"/>
                </a:lnTo>
                <a:lnTo>
                  <a:pt x="3165784" y="206865"/>
                </a:lnTo>
                <a:lnTo>
                  <a:pt x="3249094" y="197375"/>
                </a:lnTo>
                <a:lnTo>
                  <a:pt x="3332405" y="187963"/>
                </a:lnTo>
                <a:lnTo>
                  <a:pt x="3415715" y="178622"/>
                </a:lnTo>
                <a:lnTo>
                  <a:pt x="3499025" y="169345"/>
                </a:lnTo>
                <a:lnTo>
                  <a:pt x="3582335" y="160123"/>
                </a:lnTo>
                <a:lnTo>
                  <a:pt x="3665645" y="150949"/>
                </a:lnTo>
                <a:lnTo>
                  <a:pt x="3748955" y="141813"/>
                </a:lnTo>
                <a:lnTo>
                  <a:pt x="3832265" y="132705"/>
                </a:lnTo>
                <a:lnTo>
                  <a:pt x="3915575" y="123614"/>
                </a:lnTo>
                <a:lnTo>
                  <a:pt x="3998886" y="114528"/>
                </a:lnTo>
                <a:lnTo>
                  <a:pt x="4082196" y="105434"/>
                </a:lnTo>
                <a:lnTo>
                  <a:pt x="4165506" y="96318"/>
                </a:lnTo>
                <a:lnTo>
                  <a:pt x="4248816" y="87166"/>
                </a:lnTo>
                <a:lnTo>
                  <a:pt x="4332126" y="77960"/>
                </a:lnTo>
                <a:lnTo>
                  <a:pt x="4415436" y="68682"/>
                </a:lnTo>
                <a:lnTo>
                  <a:pt x="4498746" y="59315"/>
                </a:lnTo>
                <a:lnTo>
                  <a:pt x="4582056" y="49838"/>
                </a:lnTo>
                <a:lnTo>
                  <a:pt x="4665367" y="40229"/>
                </a:lnTo>
                <a:lnTo>
                  <a:pt x="4748677" y="30464"/>
                </a:lnTo>
                <a:lnTo>
                  <a:pt x="4831987" y="20522"/>
                </a:lnTo>
                <a:lnTo>
                  <a:pt x="4915297" y="10375"/>
                </a:lnTo>
                <a:lnTo>
                  <a:pt x="4998607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87247" y="2132471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9" name="height: 97-й центиль"/>
          <p:cNvSpPr/>
          <p:nvPr/>
        </p:nvSpPr>
        <p:spPr>
          <a:xfrm>
            <a:off x="548640" y="2037074"/>
            <a:ext cx="4998607" cy="708822"/>
          </a:xfrm>
          <a:custGeom>
            <a:avLst/>
            <a:gdLst/>
            <a:ahLst/>
            <a:cxnLst/>
            <a:rect l="l" t="t" r="r" b="b"/>
            <a:pathLst>
              <a:path w="4998607" h="708822">
                <a:moveTo>
                  <a:pt x="0" y="708822"/>
                </a:moveTo>
                <a:lnTo>
                  <a:pt x="83310" y="692902"/>
                </a:lnTo>
                <a:lnTo>
                  <a:pt x="166620" y="677185"/>
                </a:lnTo>
                <a:lnTo>
                  <a:pt x="249930" y="661666"/>
                </a:lnTo>
                <a:lnTo>
                  <a:pt x="333240" y="646344"/>
                </a:lnTo>
                <a:lnTo>
                  <a:pt x="416550" y="631215"/>
                </a:lnTo>
                <a:lnTo>
                  <a:pt x="499860" y="616277"/>
                </a:lnTo>
                <a:lnTo>
                  <a:pt x="583170" y="601527"/>
                </a:lnTo>
                <a:lnTo>
                  <a:pt x="666481" y="586963"/>
                </a:lnTo>
                <a:lnTo>
                  <a:pt x="749791" y="572581"/>
                </a:lnTo>
                <a:lnTo>
                  <a:pt x="833101" y="558380"/>
                </a:lnTo>
                <a:lnTo>
                  <a:pt x="916411" y="544356"/>
                </a:lnTo>
                <a:lnTo>
                  <a:pt x="999721" y="530508"/>
                </a:lnTo>
                <a:lnTo>
                  <a:pt x="1083031" y="516832"/>
                </a:lnTo>
                <a:lnTo>
                  <a:pt x="1166341" y="503325"/>
                </a:lnTo>
                <a:lnTo>
                  <a:pt x="1249651" y="489986"/>
                </a:lnTo>
                <a:lnTo>
                  <a:pt x="1332962" y="476812"/>
                </a:lnTo>
                <a:lnTo>
                  <a:pt x="1416272" y="463800"/>
                </a:lnTo>
                <a:lnTo>
                  <a:pt x="1499582" y="450948"/>
                </a:lnTo>
                <a:lnTo>
                  <a:pt x="1582892" y="438252"/>
                </a:lnTo>
                <a:lnTo>
                  <a:pt x="1666202" y="425711"/>
                </a:lnTo>
                <a:lnTo>
                  <a:pt x="1749512" y="413321"/>
                </a:lnTo>
                <a:lnTo>
                  <a:pt x="1832822" y="401081"/>
                </a:lnTo>
                <a:lnTo>
                  <a:pt x="1916132" y="388986"/>
                </a:lnTo>
                <a:lnTo>
                  <a:pt x="1999443" y="377035"/>
                </a:lnTo>
                <a:lnTo>
                  <a:pt x="2082753" y="365224"/>
                </a:lnTo>
                <a:lnTo>
                  <a:pt x="2166063" y="353550"/>
                </a:lnTo>
                <a:lnTo>
                  <a:pt x="2249373" y="342011"/>
                </a:lnTo>
                <a:lnTo>
                  <a:pt x="2332683" y="330604"/>
                </a:lnTo>
                <a:lnTo>
                  <a:pt x="2415993" y="319324"/>
                </a:lnTo>
                <a:lnTo>
                  <a:pt x="2499303" y="308169"/>
                </a:lnTo>
                <a:lnTo>
                  <a:pt x="2582613" y="297135"/>
                </a:lnTo>
                <a:lnTo>
                  <a:pt x="2665924" y="286218"/>
                </a:lnTo>
                <a:lnTo>
                  <a:pt x="2749234" y="275415"/>
                </a:lnTo>
                <a:lnTo>
                  <a:pt x="2832544" y="264721"/>
                </a:lnTo>
                <a:lnTo>
                  <a:pt x="2915854" y="254131"/>
                </a:lnTo>
                <a:lnTo>
                  <a:pt x="2999164" y="243642"/>
                </a:lnTo>
                <a:lnTo>
                  <a:pt x="3082474" y="233248"/>
                </a:lnTo>
                <a:lnTo>
                  <a:pt x="3165784" y="222944"/>
                </a:lnTo>
                <a:lnTo>
                  <a:pt x="3249094" y="212723"/>
                </a:lnTo>
                <a:lnTo>
                  <a:pt x="3332405" y="202580"/>
                </a:lnTo>
                <a:lnTo>
                  <a:pt x="3415715" y="192508"/>
                </a:lnTo>
                <a:lnTo>
                  <a:pt x="3499025" y="182500"/>
                </a:lnTo>
                <a:lnTo>
                  <a:pt x="3582335" y="172548"/>
                </a:lnTo>
                <a:lnTo>
                  <a:pt x="3665645" y="162643"/>
                </a:lnTo>
                <a:lnTo>
                  <a:pt x="3748955" y="152776"/>
                </a:lnTo>
                <a:lnTo>
                  <a:pt x="3832265" y="142937"/>
                </a:lnTo>
                <a:lnTo>
                  <a:pt x="3915575" y="133115"/>
                </a:lnTo>
                <a:lnTo>
                  <a:pt x="3998886" y="123298"/>
                </a:lnTo>
                <a:lnTo>
                  <a:pt x="4082196" y="113473"/>
                </a:lnTo>
                <a:lnTo>
                  <a:pt x="4165506" y="103627"/>
                </a:lnTo>
                <a:lnTo>
                  <a:pt x="4248816" y="93743"/>
                </a:lnTo>
                <a:lnTo>
                  <a:pt x="4332126" y="83807"/>
                </a:lnTo>
                <a:lnTo>
                  <a:pt x="4415436" y="73799"/>
                </a:lnTo>
                <a:lnTo>
                  <a:pt x="4498746" y="63701"/>
                </a:lnTo>
                <a:lnTo>
                  <a:pt x="4582056" y="53492"/>
                </a:lnTo>
                <a:lnTo>
                  <a:pt x="4665367" y="43152"/>
                </a:lnTo>
                <a:lnTo>
                  <a:pt x="4748677" y="32657"/>
                </a:lnTo>
                <a:lnTo>
                  <a:pt x="4831987" y="21984"/>
                </a:lnTo>
                <a:lnTo>
                  <a:pt x="4915297" y="11107"/>
                </a:lnTo>
                <a:lnTo>
                  <a:pt x="4998607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87247" y="1957074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11" name="height: ось"/>
          <p:cNvSpPr/>
          <p:nvPr/>
        </p:nvSpPr>
        <p:spPr>
          <a:xfrm>
            <a:off x="548640" y="3067306"/>
            <a:ext cx="4998607" cy="0"/>
          </a:xfrm>
          <a:custGeom>
            <a:avLst/>
            <a:gdLst/>
            <a:ahLst/>
            <a:cxnLst/>
            <a:rect l="l" t="t" r="r" b="b"/>
            <a:pathLst>
              <a:path w="4998607" h="0">
                <a:moveTo>
                  <a:pt x="0" y="0"/>
                </a:moveTo>
                <a:lnTo>
                  <a:pt x="4998607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8640" y="309730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2726" y="309730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6813" y="309730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900" y="309730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4987" y="309730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9073" y="309730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3160" y="309730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7247" y="309730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20" name="height: пациент"/>
          <p:cNvSpPr/>
          <p:nvPr/>
        </p:nvSpPr>
        <p:spPr>
          <a:xfrm>
            <a:off x="548640" y="2178745"/>
            <a:ext cx="4284520" cy="663712"/>
          </a:xfrm>
          <a:custGeom>
            <a:avLst/>
            <a:gdLst/>
            <a:ahLst/>
            <a:cxnLst/>
            <a:rect l="l" t="t" r="r" b="b"/>
            <a:pathLst>
              <a:path w="4284520" h="663712">
                <a:moveTo>
                  <a:pt x="0" y="663712"/>
                </a:moveTo>
                <a:lnTo>
                  <a:pt x="119014" y="640035"/>
                </a:lnTo>
                <a:lnTo>
                  <a:pt x="238028" y="616740"/>
                </a:lnTo>
                <a:lnTo>
                  <a:pt x="357043" y="593818"/>
                </a:lnTo>
                <a:lnTo>
                  <a:pt x="476057" y="571262"/>
                </a:lnTo>
                <a:lnTo>
                  <a:pt x="595072" y="549064"/>
                </a:lnTo>
                <a:lnTo>
                  <a:pt x="714086" y="527215"/>
                </a:lnTo>
                <a:lnTo>
                  <a:pt x="833101" y="505709"/>
                </a:lnTo>
                <a:lnTo>
                  <a:pt x="952115" y="484538"/>
                </a:lnTo>
                <a:lnTo>
                  <a:pt x="1071130" y="463694"/>
                </a:lnTo>
                <a:lnTo>
                  <a:pt x="1190144" y="443170"/>
                </a:lnTo>
                <a:lnTo>
                  <a:pt x="1309159" y="422958"/>
                </a:lnTo>
                <a:lnTo>
                  <a:pt x="1428173" y="403050"/>
                </a:lnTo>
                <a:lnTo>
                  <a:pt x="1547188" y="383440"/>
                </a:lnTo>
                <a:lnTo>
                  <a:pt x="1666202" y="364119"/>
                </a:lnTo>
                <a:lnTo>
                  <a:pt x="1785216" y="345080"/>
                </a:lnTo>
                <a:lnTo>
                  <a:pt x="1904231" y="326314"/>
                </a:lnTo>
                <a:lnTo>
                  <a:pt x="2023245" y="307814"/>
                </a:lnTo>
                <a:lnTo>
                  <a:pt x="2142260" y="289571"/>
                </a:lnTo>
                <a:lnTo>
                  <a:pt x="2261274" y="271576"/>
                </a:lnTo>
                <a:lnTo>
                  <a:pt x="2380289" y="253821"/>
                </a:lnTo>
                <a:lnTo>
                  <a:pt x="2499303" y="236295"/>
                </a:lnTo>
                <a:lnTo>
                  <a:pt x="2618318" y="218988"/>
                </a:lnTo>
                <a:lnTo>
                  <a:pt x="2737332" y="201890"/>
                </a:lnTo>
                <a:lnTo>
                  <a:pt x="2856347" y="184988"/>
                </a:lnTo>
                <a:lnTo>
                  <a:pt x="2975361" y="168968"/>
                </a:lnTo>
                <a:lnTo>
                  <a:pt x="3094376" y="153126"/>
                </a:lnTo>
                <a:lnTo>
                  <a:pt x="3213390" y="137448"/>
                </a:lnTo>
                <a:lnTo>
                  <a:pt x="3332405" y="121914"/>
                </a:lnTo>
                <a:lnTo>
                  <a:pt x="3451419" y="106507"/>
                </a:lnTo>
                <a:lnTo>
                  <a:pt x="3570433" y="91205"/>
                </a:lnTo>
                <a:lnTo>
                  <a:pt x="3689448" y="75984"/>
                </a:lnTo>
                <a:lnTo>
                  <a:pt x="3808462" y="60815"/>
                </a:lnTo>
                <a:lnTo>
                  <a:pt x="3927477" y="45669"/>
                </a:lnTo>
                <a:lnTo>
                  <a:pt x="4046491" y="30512"/>
                </a:lnTo>
                <a:lnTo>
                  <a:pt x="4165506" y="15303"/>
                </a:lnTo>
                <a:lnTo>
                  <a:pt x="4284520" y="0"/>
                </a:lnTo>
              </a:path>
            </a:pathLst>
          </a:custGeom>
          <a:noFill/>
          <a:ln w="34925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ight: визит 5"/>
          <p:cNvSpPr/>
          <p:nvPr/>
        </p:nvSpPr>
        <p:spPr>
          <a:xfrm>
            <a:off x="488640" y="2782457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ight: визит 7"/>
          <p:cNvSpPr/>
          <p:nvPr/>
        </p:nvSpPr>
        <p:spPr>
          <a:xfrm>
            <a:off x="1916813" y="2521795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ight: визит 9"/>
          <p:cNvSpPr/>
          <p:nvPr/>
        </p:nvSpPr>
        <p:spPr>
          <a:xfrm>
            <a:off x="3344987" y="2303733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ight: визит 11"/>
          <p:cNvSpPr/>
          <p:nvPr/>
        </p:nvSpPr>
        <p:spPr>
          <a:xfrm>
            <a:off x="4773160" y="2118745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1748760"/>
            <a:ext cx="4998607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Рост, см</a:t>
            </a:r>
          </a:p>
        </p:txBody>
      </p:sp>
      <p:sp>
        <p:nvSpPr>
          <p:cNvPr id="26" name="weight: полоса 3–97"/>
          <p:cNvSpPr/>
          <p:nvPr/>
        </p:nvSpPr>
        <p:spPr>
          <a:xfrm>
            <a:off x="548640" y="3681115"/>
            <a:ext cx="4998607" cy="632576"/>
          </a:xfrm>
          <a:custGeom>
            <a:avLst/>
            <a:gdLst/>
            <a:ahLst/>
            <a:cxnLst/>
            <a:rect l="l" t="t" r="r" b="b"/>
            <a:pathLst>
              <a:path w="4998607" h="632576">
                <a:moveTo>
                  <a:pt x="0" y="467825"/>
                </a:moveTo>
                <a:lnTo>
                  <a:pt x="83310" y="461902"/>
                </a:lnTo>
                <a:lnTo>
                  <a:pt x="166620" y="455978"/>
                </a:lnTo>
                <a:lnTo>
                  <a:pt x="249930" y="450055"/>
                </a:lnTo>
                <a:lnTo>
                  <a:pt x="333240" y="444132"/>
                </a:lnTo>
                <a:lnTo>
                  <a:pt x="416550" y="438208"/>
                </a:lnTo>
                <a:lnTo>
                  <a:pt x="499860" y="432285"/>
                </a:lnTo>
                <a:lnTo>
                  <a:pt x="583170" y="426362"/>
                </a:lnTo>
                <a:lnTo>
                  <a:pt x="666481" y="420438"/>
                </a:lnTo>
                <a:lnTo>
                  <a:pt x="749791" y="414515"/>
                </a:lnTo>
                <a:lnTo>
                  <a:pt x="833101" y="408592"/>
                </a:lnTo>
                <a:lnTo>
                  <a:pt x="916411" y="402668"/>
                </a:lnTo>
                <a:lnTo>
                  <a:pt x="999721" y="396745"/>
                </a:lnTo>
                <a:lnTo>
                  <a:pt x="1083031" y="390821"/>
                </a:lnTo>
                <a:lnTo>
                  <a:pt x="1166341" y="384898"/>
                </a:lnTo>
                <a:lnTo>
                  <a:pt x="1249651" y="378975"/>
                </a:lnTo>
                <a:lnTo>
                  <a:pt x="1332962" y="373051"/>
                </a:lnTo>
                <a:lnTo>
                  <a:pt x="1416272" y="367128"/>
                </a:lnTo>
                <a:lnTo>
                  <a:pt x="1499582" y="361205"/>
                </a:lnTo>
                <a:lnTo>
                  <a:pt x="1582892" y="355281"/>
                </a:lnTo>
                <a:lnTo>
                  <a:pt x="1666202" y="349358"/>
                </a:lnTo>
                <a:lnTo>
                  <a:pt x="1749512" y="343435"/>
                </a:lnTo>
                <a:lnTo>
                  <a:pt x="1832822" y="337511"/>
                </a:lnTo>
                <a:lnTo>
                  <a:pt x="1916132" y="331588"/>
                </a:lnTo>
                <a:lnTo>
                  <a:pt x="1999443" y="325664"/>
                </a:lnTo>
                <a:lnTo>
                  <a:pt x="2082753" y="319741"/>
                </a:lnTo>
                <a:lnTo>
                  <a:pt x="2166063" y="313153"/>
                </a:lnTo>
                <a:lnTo>
                  <a:pt x="2249373" y="304902"/>
                </a:lnTo>
                <a:lnTo>
                  <a:pt x="2332683" y="296652"/>
                </a:lnTo>
                <a:lnTo>
                  <a:pt x="2415993" y="288402"/>
                </a:lnTo>
                <a:lnTo>
                  <a:pt x="2499303" y="280151"/>
                </a:lnTo>
                <a:lnTo>
                  <a:pt x="2582613" y="271901"/>
                </a:lnTo>
                <a:lnTo>
                  <a:pt x="2665924" y="263650"/>
                </a:lnTo>
                <a:lnTo>
                  <a:pt x="2749234" y="255400"/>
                </a:lnTo>
                <a:lnTo>
                  <a:pt x="2832544" y="247150"/>
                </a:lnTo>
                <a:lnTo>
                  <a:pt x="2915854" y="238899"/>
                </a:lnTo>
                <a:lnTo>
                  <a:pt x="2999164" y="230649"/>
                </a:lnTo>
                <a:lnTo>
                  <a:pt x="3082474" y="222398"/>
                </a:lnTo>
                <a:lnTo>
                  <a:pt x="3165784" y="214148"/>
                </a:lnTo>
                <a:lnTo>
                  <a:pt x="3249094" y="205898"/>
                </a:lnTo>
                <a:lnTo>
                  <a:pt x="3332405" y="197647"/>
                </a:lnTo>
                <a:lnTo>
                  <a:pt x="3415715" y="189397"/>
                </a:lnTo>
                <a:lnTo>
                  <a:pt x="3499025" y="181146"/>
                </a:lnTo>
                <a:lnTo>
                  <a:pt x="3582335" y="172624"/>
                </a:lnTo>
                <a:lnTo>
                  <a:pt x="3665645" y="162470"/>
                </a:lnTo>
                <a:lnTo>
                  <a:pt x="3748955" y="152315"/>
                </a:lnTo>
                <a:lnTo>
                  <a:pt x="3832265" y="142161"/>
                </a:lnTo>
                <a:lnTo>
                  <a:pt x="3915575" y="132007"/>
                </a:lnTo>
                <a:lnTo>
                  <a:pt x="3998886" y="121852"/>
                </a:lnTo>
                <a:lnTo>
                  <a:pt x="4082196" y="111698"/>
                </a:lnTo>
                <a:lnTo>
                  <a:pt x="4165506" y="101544"/>
                </a:lnTo>
                <a:lnTo>
                  <a:pt x="4248816" y="91389"/>
                </a:lnTo>
                <a:lnTo>
                  <a:pt x="4332126" y="81235"/>
                </a:lnTo>
                <a:lnTo>
                  <a:pt x="4415436" y="71081"/>
                </a:lnTo>
                <a:lnTo>
                  <a:pt x="4498746" y="60926"/>
                </a:lnTo>
                <a:lnTo>
                  <a:pt x="4582056" y="50772"/>
                </a:lnTo>
                <a:lnTo>
                  <a:pt x="4665367" y="40618"/>
                </a:lnTo>
                <a:lnTo>
                  <a:pt x="4748677" y="30463"/>
                </a:lnTo>
                <a:lnTo>
                  <a:pt x="4831987" y="20309"/>
                </a:lnTo>
                <a:lnTo>
                  <a:pt x="4915297" y="10155"/>
                </a:lnTo>
                <a:lnTo>
                  <a:pt x="4998607" y="0"/>
                </a:lnTo>
                <a:lnTo>
                  <a:pt x="4998607" y="356219"/>
                </a:lnTo>
                <a:lnTo>
                  <a:pt x="4915297" y="362218"/>
                </a:lnTo>
                <a:lnTo>
                  <a:pt x="4831987" y="368216"/>
                </a:lnTo>
                <a:lnTo>
                  <a:pt x="4748677" y="374215"/>
                </a:lnTo>
                <a:lnTo>
                  <a:pt x="4665367" y="380213"/>
                </a:lnTo>
                <a:lnTo>
                  <a:pt x="4582056" y="386212"/>
                </a:lnTo>
                <a:lnTo>
                  <a:pt x="4498746" y="392210"/>
                </a:lnTo>
                <a:lnTo>
                  <a:pt x="4415436" y="398208"/>
                </a:lnTo>
                <a:lnTo>
                  <a:pt x="4332126" y="404207"/>
                </a:lnTo>
                <a:lnTo>
                  <a:pt x="4248816" y="410205"/>
                </a:lnTo>
                <a:lnTo>
                  <a:pt x="4165506" y="416204"/>
                </a:lnTo>
                <a:lnTo>
                  <a:pt x="4082196" y="422202"/>
                </a:lnTo>
                <a:lnTo>
                  <a:pt x="3998886" y="428201"/>
                </a:lnTo>
                <a:lnTo>
                  <a:pt x="3915575" y="434199"/>
                </a:lnTo>
                <a:lnTo>
                  <a:pt x="3832265" y="440198"/>
                </a:lnTo>
                <a:lnTo>
                  <a:pt x="3748955" y="446196"/>
                </a:lnTo>
                <a:lnTo>
                  <a:pt x="3665645" y="452195"/>
                </a:lnTo>
                <a:lnTo>
                  <a:pt x="3582335" y="458193"/>
                </a:lnTo>
                <a:lnTo>
                  <a:pt x="3499025" y="463227"/>
                </a:lnTo>
                <a:lnTo>
                  <a:pt x="3415715" y="468101"/>
                </a:lnTo>
                <a:lnTo>
                  <a:pt x="3332405" y="472975"/>
                </a:lnTo>
                <a:lnTo>
                  <a:pt x="3249094" y="477849"/>
                </a:lnTo>
                <a:lnTo>
                  <a:pt x="3165784" y="482722"/>
                </a:lnTo>
                <a:lnTo>
                  <a:pt x="3082474" y="487596"/>
                </a:lnTo>
                <a:lnTo>
                  <a:pt x="2999164" y="492470"/>
                </a:lnTo>
                <a:lnTo>
                  <a:pt x="2915854" y="497344"/>
                </a:lnTo>
                <a:lnTo>
                  <a:pt x="2832544" y="502217"/>
                </a:lnTo>
                <a:lnTo>
                  <a:pt x="2749234" y="507091"/>
                </a:lnTo>
                <a:lnTo>
                  <a:pt x="2665924" y="511965"/>
                </a:lnTo>
                <a:lnTo>
                  <a:pt x="2582613" y="516839"/>
                </a:lnTo>
                <a:lnTo>
                  <a:pt x="2499303" y="521712"/>
                </a:lnTo>
                <a:lnTo>
                  <a:pt x="2415993" y="526586"/>
                </a:lnTo>
                <a:lnTo>
                  <a:pt x="2332683" y="531460"/>
                </a:lnTo>
                <a:lnTo>
                  <a:pt x="2249373" y="536333"/>
                </a:lnTo>
                <a:lnTo>
                  <a:pt x="2166063" y="541207"/>
                </a:lnTo>
                <a:lnTo>
                  <a:pt x="2082753" y="545099"/>
                </a:lnTo>
                <a:lnTo>
                  <a:pt x="1999443" y="548598"/>
                </a:lnTo>
                <a:lnTo>
                  <a:pt x="1916132" y="552097"/>
                </a:lnTo>
                <a:lnTo>
                  <a:pt x="1832822" y="555596"/>
                </a:lnTo>
                <a:lnTo>
                  <a:pt x="1749512" y="559095"/>
                </a:lnTo>
                <a:lnTo>
                  <a:pt x="1666202" y="562595"/>
                </a:lnTo>
                <a:lnTo>
                  <a:pt x="1582892" y="566094"/>
                </a:lnTo>
                <a:lnTo>
                  <a:pt x="1499582" y="569593"/>
                </a:lnTo>
                <a:lnTo>
                  <a:pt x="1416272" y="573092"/>
                </a:lnTo>
                <a:lnTo>
                  <a:pt x="1332962" y="576591"/>
                </a:lnTo>
                <a:lnTo>
                  <a:pt x="1249651" y="580090"/>
                </a:lnTo>
                <a:lnTo>
                  <a:pt x="1166341" y="583589"/>
                </a:lnTo>
                <a:lnTo>
                  <a:pt x="1083031" y="587088"/>
                </a:lnTo>
                <a:lnTo>
                  <a:pt x="999721" y="590587"/>
                </a:lnTo>
                <a:lnTo>
                  <a:pt x="916411" y="594086"/>
                </a:lnTo>
                <a:lnTo>
                  <a:pt x="833101" y="597586"/>
                </a:lnTo>
                <a:lnTo>
                  <a:pt x="749791" y="601085"/>
                </a:lnTo>
                <a:lnTo>
                  <a:pt x="666481" y="604584"/>
                </a:lnTo>
                <a:lnTo>
                  <a:pt x="583170" y="608083"/>
                </a:lnTo>
                <a:lnTo>
                  <a:pt x="499860" y="611582"/>
                </a:lnTo>
                <a:lnTo>
                  <a:pt x="416550" y="615081"/>
                </a:lnTo>
                <a:lnTo>
                  <a:pt x="333240" y="618580"/>
                </a:lnTo>
                <a:lnTo>
                  <a:pt x="249930" y="622079"/>
                </a:lnTo>
                <a:lnTo>
                  <a:pt x="166620" y="625578"/>
                </a:lnTo>
                <a:lnTo>
                  <a:pt x="83310" y="629077"/>
                </a:lnTo>
                <a:lnTo>
                  <a:pt x="0" y="632576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weight: 3-й центиль"/>
          <p:cNvSpPr/>
          <p:nvPr/>
        </p:nvSpPr>
        <p:spPr>
          <a:xfrm>
            <a:off x="548640" y="4037334"/>
            <a:ext cx="4998607" cy="276357"/>
          </a:xfrm>
          <a:custGeom>
            <a:avLst/>
            <a:gdLst/>
            <a:ahLst/>
            <a:cxnLst/>
            <a:rect l="l" t="t" r="r" b="b"/>
            <a:pathLst>
              <a:path w="4998607" h="276357">
                <a:moveTo>
                  <a:pt x="0" y="276357"/>
                </a:moveTo>
                <a:lnTo>
                  <a:pt x="83310" y="272858"/>
                </a:lnTo>
                <a:lnTo>
                  <a:pt x="166620" y="269359"/>
                </a:lnTo>
                <a:lnTo>
                  <a:pt x="249930" y="265860"/>
                </a:lnTo>
                <a:lnTo>
                  <a:pt x="333240" y="262361"/>
                </a:lnTo>
                <a:lnTo>
                  <a:pt x="416550" y="258862"/>
                </a:lnTo>
                <a:lnTo>
                  <a:pt x="499860" y="255363"/>
                </a:lnTo>
                <a:lnTo>
                  <a:pt x="583170" y="251864"/>
                </a:lnTo>
                <a:lnTo>
                  <a:pt x="666481" y="248365"/>
                </a:lnTo>
                <a:lnTo>
                  <a:pt x="749791" y="244866"/>
                </a:lnTo>
                <a:lnTo>
                  <a:pt x="833101" y="241367"/>
                </a:lnTo>
                <a:lnTo>
                  <a:pt x="916411" y="237867"/>
                </a:lnTo>
                <a:lnTo>
                  <a:pt x="999721" y="234368"/>
                </a:lnTo>
                <a:lnTo>
                  <a:pt x="1083031" y="230869"/>
                </a:lnTo>
                <a:lnTo>
                  <a:pt x="1166341" y="227370"/>
                </a:lnTo>
                <a:lnTo>
                  <a:pt x="1249651" y="223871"/>
                </a:lnTo>
                <a:lnTo>
                  <a:pt x="1332962" y="220372"/>
                </a:lnTo>
                <a:lnTo>
                  <a:pt x="1416272" y="216873"/>
                </a:lnTo>
                <a:lnTo>
                  <a:pt x="1499582" y="213374"/>
                </a:lnTo>
                <a:lnTo>
                  <a:pt x="1582892" y="209875"/>
                </a:lnTo>
                <a:lnTo>
                  <a:pt x="1666202" y="206376"/>
                </a:lnTo>
                <a:lnTo>
                  <a:pt x="1749512" y="202876"/>
                </a:lnTo>
                <a:lnTo>
                  <a:pt x="1832822" y="199377"/>
                </a:lnTo>
                <a:lnTo>
                  <a:pt x="1916132" y="195878"/>
                </a:lnTo>
                <a:lnTo>
                  <a:pt x="1999443" y="192379"/>
                </a:lnTo>
                <a:lnTo>
                  <a:pt x="2082753" y="188880"/>
                </a:lnTo>
                <a:lnTo>
                  <a:pt x="2166063" y="184988"/>
                </a:lnTo>
                <a:lnTo>
                  <a:pt x="2249373" y="180114"/>
                </a:lnTo>
                <a:lnTo>
                  <a:pt x="2332683" y="175241"/>
                </a:lnTo>
                <a:lnTo>
                  <a:pt x="2415993" y="170367"/>
                </a:lnTo>
                <a:lnTo>
                  <a:pt x="2499303" y="165493"/>
                </a:lnTo>
                <a:lnTo>
                  <a:pt x="2582613" y="160620"/>
                </a:lnTo>
                <a:lnTo>
                  <a:pt x="2665924" y="155746"/>
                </a:lnTo>
                <a:lnTo>
                  <a:pt x="2749234" y="150872"/>
                </a:lnTo>
                <a:lnTo>
                  <a:pt x="2832544" y="145998"/>
                </a:lnTo>
                <a:lnTo>
                  <a:pt x="2915854" y="141125"/>
                </a:lnTo>
                <a:lnTo>
                  <a:pt x="2999164" y="136251"/>
                </a:lnTo>
                <a:lnTo>
                  <a:pt x="3082474" y="131377"/>
                </a:lnTo>
                <a:lnTo>
                  <a:pt x="3165784" y="126503"/>
                </a:lnTo>
                <a:lnTo>
                  <a:pt x="3249094" y="121630"/>
                </a:lnTo>
                <a:lnTo>
                  <a:pt x="3332405" y="116756"/>
                </a:lnTo>
                <a:lnTo>
                  <a:pt x="3415715" y="111882"/>
                </a:lnTo>
                <a:lnTo>
                  <a:pt x="3499025" y="107008"/>
                </a:lnTo>
                <a:lnTo>
                  <a:pt x="3582335" y="101974"/>
                </a:lnTo>
                <a:lnTo>
                  <a:pt x="3665645" y="95976"/>
                </a:lnTo>
                <a:lnTo>
                  <a:pt x="3748955" y="89977"/>
                </a:lnTo>
                <a:lnTo>
                  <a:pt x="3832265" y="83979"/>
                </a:lnTo>
                <a:lnTo>
                  <a:pt x="3915575" y="77980"/>
                </a:lnTo>
                <a:lnTo>
                  <a:pt x="3998886" y="71982"/>
                </a:lnTo>
                <a:lnTo>
                  <a:pt x="4082196" y="65983"/>
                </a:lnTo>
                <a:lnTo>
                  <a:pt x="4165506" y="59985"/>
                </a:lnTo>
                <a:lnTo>
                  <a:pt x="4248816" y="53986"/>
                </a:lnTo>
                <a:lnTo>
                  <a:pt x="4332126" y="47988"/>
                </a:lnTo>
                <a:lnTo>
                  <a:pt x="4415436" y="41989"/>
                </a:lnTo>
                <a:lnTo>
                  <a:pt x="4498746" y="35991"/>
                </a:lnTo>
                <a:lnTo>
                  <a:pt x="4582056" y="29993"/>
                </a:lnTo>
                <a:lnTo>
                  <a:pt x="4665367" y="23994"/>
                </a:lnTo>
                <a:lnTo>
                  <a:pt x="4748677" y="17996"/>
                </a:lnTo>
                <a:lnTo>
                  <a:pt x="4831987" y="11997"/>
                </a:lnTo>
                <a:lnTo>
                  <a:pt x="4915297" y="5999"/>
                </a:lnTo>
                <a:lnTo>
                  <a:pt x="4998607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87247" y="3957334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29" name="weight: 50-й центиль"/>
          <p:cNvSpPr/>
          <p:nvPr/>
        </p:nvSpPr>
        <p:spPr>
          <a:xfrm>
            <a:off x="548640" y="3919215"/>
            <a:ext cx="4998607" cy="339846"/>
          </a:xfrm>
          <a:custGeom>
            <a:avLst/>
            <a:gdLst/>
            <a:ahLst/>
            <a:cxnLst/>
            <a:rect l="l" t="t" r="r" b="b"/>
            <a:pathLst>
              <a:path w="4998607" h="339846">
                <a:moveTo>
                  <a:pt x="0" y="339846"/>
                </a:moveTo>
                <a:lnTo>
                  <a:pt x="83310" y="335543"/>
                </a:lnTo>
                <a:lnTo>
                  <a:pt x="166620" y="331240"/>
                </a:lnTo>
                <a:lnTo>
                  <a:pt x="249930" y="326937"/>
                </a:lnTo>
                <a:lnTo>
                  <a:pt x="333240" y="322634"/>
                </a:lnTo>
                <a:lnTo>
                  <a:pt x="416550" y="318331"/>
                </a:lnTo>
                <a:lnTo>
                  <a:pt x="499860" y="314028"/>
                </a:lnTo>
                <a:lnTo>
                  <a:pt x="583170" y="309725"/>
                </a:lnTo>
                <a:lnTo>
                  <a:pt x="666481" y="305422"/>
                </a:lnTo>
                <a:lnTo>
                  <a:pt x="749791" y="301119"/>
                </a:lnTo>
                <a:lnTo>
                  <a:pt x="833101" y="296816"/>
                </a:lnTo>
                <a:lnTo>
                  <a:pt x="916411" y="292513"/>
                </a:lnTo>
                <a:lnTo>
                  <a:pt x="999721" y="288211"/>
                </a:lnTo>
                <a:lnTo>
                  <a:pt x="1083031" y="283908"/>
                </a:lnTo>
                <a:lnTo>
                  <a:pt x="1166341" y="279605"/>
                </a:lnTo>
                <a:lnTo>
                  <a:pt x="1249651" y="275302"/>
                </a:lnTo>
                <a:lnTo>
                  <a:pt x="1332962" y="270999"/>
                </a:lnTo>
                <a:lnTo>
                  <a:pt x="1416272" y="266696"/>
                </a:lnTo>
                <a:lnTo>
                  <a:pt x="1499582" y="262393"/>
                </a:lnTo>
                <a:lnTo>
                  <a:pt x="1582892" y="258090"/>
                </a:lnTo>
                <a:lnTo>
                  <a:pt x="1666202" y="253787"/>
                </a:lnTo>
                <a:lnTo>
                  <a:pt x="1749512" y="249484"/>
                </a:lnTo>
                <a:lnTo>
                  <a:pt x="1832822" y="245181"/>
                </a:lnTo>
                <a:lnTo>
                  <a:pt x="1916132" y="240878"/>
                </a:lnTo>
                <a:lnTo>
                  <a:pt x="1999443" y="236575"/>
                </a:lnTo>
                <a:lnTo>
                  <a:pt x="2082753" y="232272"/>
                </a:lnTo>
                <a:lnTo>
                  <a:pt x="2166063" y="227486"/>
                </a:lnTo>
                <a:lnTo>
                  <a:pt x="2249373" y="221493"/>
                </a:lnTo>
                <a:lnTo>
                  <a:pt x="2332683" y="215499"/>
                </a:lnTo>
                <a:lnTo>
                  <a:pt x="2415993" y="209506"/>
                </a:lnTo>
                <a:lnTo>
                  <a:pt x="2499303" y="203512"/>
                </a:lnTo>
                <a:lnTo>
                  <a:pt x="2582613" y="197519"/>
                </a:lnTo>
                <a:lnTo>
                  <a:pt x="2665924" y="191525"/>
                </a:lnTo>
                <a:lnTo>
                  <a:pt x="2749234" y="185532"/>
                </a:lnTo>
                <a:lnTo>
                  <a:pt x="2832544" y="179539"/>
                </a:lnTo>
                <a:lnTo>
                  <a:pt x="2915854" y="173545"/>
                </a:lnTo>
                <a:lnTo>
                  <a:pt x="2999164" y="167552"/>
                </a:lnTo>
                <a:lnTo>
                  <a:pt x="3082474" y="161558"/>
                </a:lnTo>
                <a:lnTo>
                  <a:pt x="3165784" y="155565"/>
                </a:lnTo>
                <a:lnTo>
                  <a:pt x="3249094" y="149572"/>
                </a:lnTo>
                <a:lnTo>
                  <a:pt x="3332405" y="143578"/>
                </a:lnTo>
                <a:lnTo>
                  <a:pt x="3415715" y="137585"/>
                </a:lnTo>
                <a:lnTo>
                  <a:pt x="3499025" y="131591"/>
                </a:lnTo>
                <a:lnTo>
                  <a:pt x="3582335" y="125400"/>
                </a:lnTo>
                <a:lnTo>
                  <a:pt x="3665645" y="118024"/>
                </a:lnTo>
                <a:lnTo>
                  <a:pt x="3748955" y="110647"/>
                </a:lnTo>
                <a:lnTo>
                  <a:pt x="3832265" y="103271"/>
                </a:lnTo>
                <a:lnTo>
                  <a:pt x="3915575" y="95894"/>
                </a:lnTo>
                <a:lnTo>
                  <a:pt x="3998886" y="88518"/>
                </a:lnTo>
                <a:lnTo>
                  <a:pt x="4082196" y="81141"/>
                </a:lnTo>
                <a:lnTo>
                  <a:pt x="4165506" y="73765"/>
                </a:lnTo>
                <a:lnTo>
                  <a:pt x="4248816" y="66388"/>
                </a:lnTo>
                <a:lnTo>
                  <a:pt x="4332126" y="59012"/>
                </a:lnTo>
                <a:lnTo>
                  <a:pt x="4415436" y="51635"/>
                </a:lnTo>
                <a:lnTo>
                  <a:pt x="4498746" y="44259"/>
                </a:lnTo>
                <a:lnTo>
                  <a:pt x="4582056" y="36882"/>
                </a:lnTo>
                <a:lnTo>
                  <a:pt x="4665367" y="29506"/>
                </a:lnTo>
                <a:lnTo>
                  <a:pt x="4748677" y="22129"/>
                </a:lnTo>
                <a:lnTo>
                  <a:pt x="4831987" y="14753"/>
                </a:lnTo>
                <a:lnTo>
                  <a:pt x="4915297" y="7376"/>
                </a:lnTo>
                <a:lnTo>
                  <a:pt x="4998607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87247" y="3839215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31" name="weight: 97-й центиль"/>
          <p:cNvSpPr/>
          <p:nvPr/>
        </p:nvSpPr>
        <p:spPr>
          <a:xfrm>
            <a:off x="548640" y="3681115"/>
            <a:ext cx="4998607" cy="467825"/>
          </a:xfrm>
          <a:custGeom>
            <a:avLst/>
            <a:gdLst/>
            <a:ahLst/>
            <a:cxnLst/>
            <a:rect l="l" t="t" r="r" b="b"/>
            <a:pathLst>
              <a:path w="4998607" h="467825">
                <a:moveTo>
                  <a:pt x="0" y="467825"/>
                </a:moveTo>
                <a:lnTo>
                  <a:pt x="83310" y="461902"/>
                </a:lnTo>
                <a:lnTo>
                  <a:pt x="166620" y="455978"/>
                </a:lnTo>
                <a:lnTo>
                  <a:pt x="249930" y="450055"/>
                </a:lnTo>
                <a:lnTo>
                  <a:pt x="333240" y="444132"/>
                </a:lnTo>
                <a:lnTo>
                  <a:pt x="416550" y="438208"/>
                </a:lnTo>
                <a:lnTo>
                  <a:pt x="499860" y="432285"/>
                </a:lnTo>
                <a:lnTo>
                  <a:pt x="583170" y="426362"/>
                </a:lnTo>
                <a:lnTo>
                  <a:pt x="666481" y="420438"/>
                </a:lnTo>
                <a:lnTo>
                  <a:pt x="749791" y="414515"/>
                </a:lnTo>
                <a:lnTo>
                  <a:pt x="833101" y="408592"/>
                </a:lnTo>
                <a:lnTo>
                  <a:pt x="916411" y="402668"/>
                </a:lnTo>
                <a:lnTo>
                  <a:pt x="999721" y="396745"/>
                </a:lnTo>
                <a:lnTo>
                  <a:pt x="1083031" y="390821"/>
                </a:lnTo>
                <a:lnTo>
                  <a:pt x="1166341" y="384898"/>
                </a:lnTo>
                <a:lnTo>
                  <a:pt x="1249651" y="378975"/>
                </a:lnTo>
                <a:lnTo>
                  <a:pt x="1332962" y="373051"/>
                </a:lnTo>
                <a:lnTo>
                  <a:pt x="1416272" y="367128"/>
                </a:lnTo>
                <a:lnTo>
                  <a:pt x="1499582" y="361205"/>
                </a:lnTo>
                <a:lnTo>
                  <a:pt x="1582892" y="355281"/>
                </a:lnTo>
                <a:lnTo>
                  <a:pt x="1666202" y="349358"/>
                </a:lnTo>
                <a:lnTo>
                  <a:pt x="1749512" y="343435"/>
                </a:lnTo>
                <a:lnTo>
                  <a:pt x="1832822" y="337511"/>
                </a:lnTo>
                <a:lnTo>
                  <a:pt x="1916132" y="331588"/>
                </a:lnTo>
                <a:lnTo>
                  <a:pt x="1999443" y="325664"/>
                </a:lnTo>
                <a:lnTo>
                  <a:pt x="2082753" y="319741"/>
                </a:lnTo>
                <a:lnTo>
                  <a:pt x="2166063" y="313153"/>
                </a:lnTo>
                <a:lnTo>
                  <a:pt x="2249373" y="304902"/>
                </a:lnTo>
                <a:lnTo>
                  <a:pt x="2332683" y="296652"/>
                </a:lnTo>
                <a:lnTo>
                  <a:pt x="2415993" y="288402"/>
                </a:lnTo>
                <a:lnTo>
                  <a:pt x="2499303" y="280151"/>
                </a:lnTo>
                <a:lnTo>
                  <a:pt x="2582613" y="271901"/>
                </a:lnTo>
                <a:lnTo>
                  <a:pt x="2665924" y="263650"/>
                </a:lnTo>
                <a:lnTo>
                  <a:pt x="2749234" y="255400"/>
                </a:lnTo>
                <a:lnTo>
                  <a:pt x="2832544" y="247150"/>
                </a:lnTo>
                <a:lnTo>
                  <a:pt x="2915854" y="238899"/>
                </a:lnTo>
                <a:lnTo>
                  <a:pt x="2999164" y="230649"/>
                </a:lnTo>
                <a:lnTo>
                  <a:pt x="3082474" y="222398"/>
                </a:lnTo>
                <a:lnTo>
                  <a:pt x="3165784" y="214148"/>
                </a:lnTo>
                <a:lnTo>
                  <a:pt x="3249094" y="205898"/>
                </a:lnTo>
                <a:lnTo>
                  <a:pt x="3332405" y="197647"/>
                </a:lnTo>
                <a:lnTo>
                  <a:pt x="3415715" y="189397"/>
                </a:lnTo>
                <a:lnTo>
                  <a:pt x="3499025" y="181146"/>
                </a:lnTo>
                <a:lnTo>
                  <a:pt x="3582335" y="172624"/>
                </a:lnTo>
                <a:lnTo>
                  <a:pt x="3665645" y="162470"/>
                </a:lnTo>
                <a:lnTo>
                  <a:pt x="3748955" y="152315"/>
                </a:lnTo>
                <a:lnTo>
                  <a:pt x="3832265" y="142161"/>
                </a:lnTo>
                <a:lnTo>
                  <a:pt x="3915575" y="132007"/>
                </a:lnTo>
                <a:lnTo>
                  <a:pt x="3998886" y="121852"/>
                </a:lnTo>
                <a:lnTo>
                  <a:pt x="4082196" y="111698"/>
                </a:lnTo>
                <a:lnTo>
                  <a:pt x="4165506" y="101544"/>
                </a:lnTo>
                <a:lnTo>
                  <a:pt x="4248816" y="91389"/>
                </a:lnTo>
                <a:lnTo>
                  <a:pt x="4332126" y="81235"/>
                </a:lnTo>
                <a:lnTo>
                  <a:pt x="4415436" y="71081"/>
                </a:lnTo>
                <a:lnTo>
                  <a:pt x="4498746" y="60926"/>
                </a:lnTo>
                <a:lnTo>
                  <a:pt x="4582056" y="50772"/>
                </a:lnTo>
                <a:lnTo>
                  <a:pt x="4665367" y="40618"/>
                </a:lnTo>
                <a:lnTo>
                  <a:pt x="4748677" y="30463"/>
                </a:lnTo>
                <a:lnTo>
                  <a:pt x="4831987" y="20309"/>
                </a:lnTo>
                <a:lnTo>
                  <a:pt x="4915297" y="10155"/>
                </a:lnTo>
                <a:lnTo>
                  <a:pt x="4998607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87247" y="3601115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33" name="weight: ось"/>
          <p:cNvSpPr/>
          <p:nvPr/>
        </p:nvSpPr>
        <p:spPr>
          <a:xfrm>
            <a:off x="548640" y="4352544"/>
            <a:ext cx="4998607" cy="0"/>
          </a:xfrm>
          <a:custGeom>
            <a:avLst/>
            <a:gdLst/>
            <a:ahLst/>
            <a:cxnLst/>
            <a:rect l="l" t="t" r="r" b="b"/>
            <a:pathLst>
              <a:path w="4998607" h="0">
                <a:moveTo>
                  <a:pt x="0" y="0"/>
                </a:moveTo>
                <a:lnTo>
                  <a:pt x="4998607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8640" y="438254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2726" y="438254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6813" y="438254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40900" y="438254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54987" y="438254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69073" y="438254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3160" y="438254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97247" y="438254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42" name="weight: пациент"/>
          <p:cNvSpPr/>
          <p:nvPr/>
        </p:nvSpPr>
        <p:spPr>
          <a:xfrm>
            <a:off x="548640" y="3666158"/>
            <a:ext cx="4284520" cy="526728"/>
          </a:xfrm>
          <a:custGeom>
            <a:avLst/>
            <a:gdLst/>
            <a:ahLst/>
            <a:cxnLst/>
            <a:rect l="l" t="t" r="r" b="b"/>
            <a:pathLst>
              <a:path w="4284520" h="526728">
                <a:moveTo>
                  <a:pt x="0" y="526728"/>
                </a:moveTo>
                <a:lnTo>
                  <a:pt x="119014" y="516064"/>
                </a:lnTo>
                <a:lnTo>
                  <a:pt x="238028" y="505244"/>
                </a:lnTo>
                <a:lnTo>
                  <a:pt x="357043" y="494267"/>
                </a:lnTo>
                <a:lnTo>
                  <a:pt x="476057" y="483130"/>
                </a:lnTo>
                <a:lnTo>
                  <a:pt x="595072" y="471831"/>
                </a:lnTo>
                <a:lnTo>
                  <a:pt x="714086" y="460369"/>
                </a:lnTo>
                <a:lnTo>
                  <a:pt x="833101" y="448741"/>
                </a:lnTo>
                <a:lnTo>
                  <a:pt x="952115" y="436946"/>
                </a:lnTo>
                <a:lnTo>
                  <a:pt x="1071130" y="424981"/>
                </a:lnTo>
                <a:lnTo>
                  <a:pt x="1190144" y="412844"/>
                </a:lnTo>
                <a:lnTo>
                  <a:pt x="1309159" y="400534"/>
                </a:lnTo>
                <a:lnTo>
                  <a:pt x="1428173" y="388048"/>
                </a:lnTo>
                <a:lnTo>
                  <a:pt x="1547188" y="376106"/>
                </a:lnTo>
                <a:lnTo>
                  <a:pt x="1666202" y="364020"/>
                </a:lnTo>
                <a:lnTo>
                  <a:pt x="1785216" y="351787"/>
                </a:lnTo>
                <a:lnTo>
                  <a:pt x="1904231" y="339407"/>
                </a:lnTo>
                <a:lnTo>
                  <a:pt x="2023245" y="326877"/>
                </a:lnTo>
                <a:lnTo>
                  <a:pt x="2142260" y="314198"/>
                </a:lnTo>
                <a:lnTo>
                  <a:pt x="2261274" y="297920"/>
                </a:lnTo>
                <a:lnTo>
                  <a:pt x="2380289" y="281439"/>
                </a:lnTo>
                <a:lnTo>
                  <a:pt x="2499303" y="264754"/>
                </a:lnTo>
                <a:lnTo>
                  <a:pt x="2618318" y="247862"/>
                </a:lnTo>
                <a:lnTo>
                  <a:pt x="2737332" y="230761"/>
                </a:lnTo>
                <a:lnTo>
                  <a:pt x="2856347" y="213450"/>
                </a:lnTo>
                <a:lnTo>
                  <a:pt x="2975361" y="197876"/>
                </a:lnTo>
                <a:lnTo>
                  <a:pt x="3094376" y="182181"/>
                </a:lnTo>
                <a:lnTo>
                  <a:pt x="3213390" y="166365"/>
                </a:lnTo>
                <a:lnTo>
                  <a:pt x="3332405" y="150428"/>
                </a:lnTo>
                <a:lnTo>
                  <a:pt x="3451419" y="134367"/>
                </a:lnTo>
                <a:lnTo>
                  <a:pt x="3570433" y="118183"/>
                </a:lnTo>
                <a:lnTo>
                  <a:pt x="3689448" y="98866"/>
                </a:lnTo>
                <a:lnTo>
                  <a:pt x="3808462" y="79397"/>
                </a:lnTo>
                <a:lnTo>
                  <a:pt x="3927477" y="59778"/>
                </a:lnTo>
                <a:lnTo>
                  <a:pt x="4046491" y="40005"/>
                </a:lnTo>
                <a:lnTo>
                  <a:pt x="4165506" y="20080"/>
                </a:lnTo>
                <a:lnTo>
                  <a:pt x="4284520" y="0"/>
                </a:lnTo>
              </a:path>
            </a:pathLst>
          </a:custGeom>
          <a:noFill/>
          <a:ln w="34925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weight: визит 5"/>
          <p:cNvSpPr/>
          <p:nvPr/>
        </p:nvSpPr>
        <p:spPr>
          <a:xfrm>
            <a:off x="488640" y="4132886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weight: визит 7"/>
          <p:cNvSpPr/>
          <p:nvPr/>
        </p:nvSpPr>
        <p:spPr>
          <a:xfrm>
            <a:off x="1916813" y="3994206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weight: визит 9"/>
          <p:cNvSpPr/>
          <p:nvPr/>
        </p:nvSpPr>
        <p:spPr>
          <a:xfrm>
            <a:off x="3344987" y="3819608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weight: визит 11"/>
          <p:cNvSpPr/>
          <p:nvPr/>
        </p:nvSpPr>
        <p:spPr>
          <a:xfrm>
            <a:off x="4773160" y="3606158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3397306"/>
            <a:ext cx="4998607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Масса, кг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4447" y="1508760"/>
            <a:ext cx="5318607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2E3C"/>
                </a:solidFill>
                <a:latin typeface="Calibri"/>
              </a:rPr>
              <a:t>Гиперкортицизм</a:t>
            </a:r>
          </a:p>
        </p:txBody>
      </p:sp>
      <p:sp>
        <p:nvSpPr>
          <p:cNvPr id="49" name="height: полоса 3–97"/>
          <p:cNvSpPr/>
          <p:nvPr/>
        </p:nvSpPr>
        <p:spPr>
          <a:xfrm>
            <a:off x="6324447" y="2372210"/>
            <a:ext cx="4998608" cy="655750"/>
          </a:xfrm>
          <a:custGeom>
            <a:avLst/>
            <a:gdLst/>
            <a:ahLst/>
            <a:cxnLst/>
            <a:rect l="l" t="t" r="r" b="b"/>
            <a:pathLst>
              <a:path w="4998608" h="655750">
                <a:moveTo>
                  <a:pt x="0" y="478241"/>
                </a:moveTo>
                <a:lnTo>
                  <a:pt x="83310" y="467500"/>
                </a:lnTo>
                <a:lnTo>
                  <a:pt x="166620" y="456895"/>
                </a:lnTo>
                <a:lnTo>
                  <a:pt x="249930" y="446425"/>
                </a:lnTo>
                <a:lnTo>
                  <a:pt x="333241" y="436087"/>
                </a:lnTo>
                <a:lnTo>
                  <a:pt x="416551" y="425880"/>
                </a:lnTo>
                <a:lnTo>
                  <a:pt x="499861" y="415801"/>
                </a:lnTo>
                <a:lnTo>
                  <a:pt x="583171" y="405849"/>
                </a:lnTo>
                <a:lnTo>
                  <a:pt x="666481" y="396023"/>
                </a:lnTo>
                <a:lnTo>
                  <a:pt x="749791" y="386319"/>
                </a:lnTo>
                <a:lnTo>
                  <a:pt x="833101" y="376738"/>
                </a:lnTo>
                <a:lnTo>
                  <a:pt x="916411" y="367276"/>
                </a:lnTo>
                <a:lnTo>
                  <a:pt x="999722" y="357932"/>
                </a:lnTo>
                <a:lnTo>
                  <a:pt x="1083032" y="348705"/>
                </a:lnTo>
                <a:lnTo>
                  <a:pt x="1166342" y="339593"/>
                </a:lnTo>
                <a:lnTo>
                  <a:pt x="1249652" y="330593"/>
                </a:lnTo>
                <a:lnTo>
                  <a:pt x="1332962" y="321704"/>
                </a:lnTo>
                <a:lnTo>
                  <a:pt x="1416272" y="312925"/>
                </a:lnTo>
                <a:lnTo>
                  <a:pt x="1499582" y="304254"/>
                </a:lnTo>
                <a:lnTo>
                  <a:pt x="1582892" y="295688"/>
                </a:lnTo>
                <a:lnTo>
                  <a:pt x="1666203" y="287226"/>
                </a:lnTo>
                <a:lnTo>
                  <a:pt x="1749513" y="278867"/>
                </a:lnTo>
                <a:lnTo>
                  <a:pt x="1832823" y="270608"/>
                </a:lnTo>
                <a:lnTo>
                  <a:pt x="1916133" y="262448"/>
                </a:lnTo>
                <a:lnTo>
                  <a:pt x="1999443" y="254384"/>
                </a:lnTo>
                <a:lnTo>
                  <a:pt x="2082753" y="246416"/>
                </a:lnTo>
                <a:lnTo>
                  <a:pt x="2166063" y="238540"/>
                </a:lnTo>
                <a:lnTo>
                  <a:pt x="2249373" y="230754"/>
                </a:lnTo>
                <a:lnTo>
                  <a:pt x="2332684" y="223057"/>
                </a:lnTo>
                <a:lnTo>
                  <a:pt x="2415994" y="215447"/>
                </a:lnTo>
                <a:lnTo>
                  <a:pt x="2499304" y="207921"/>
                </a:lnTo>
                <a:lnTo>
                  <a:pt x="2582614" y="200476"/>
                </a:lnTo>
                <a:lnTo>
                  <a:pt x="2665924" y="193111"/>
                </a:lnTo>
                <a:lnTo>
                  <a:pt x="2749234" y="185822"/>
                </a:lnTo>
                <a:lnTo>
                  <a:pt x="2832544" y="178606"/>
                </a:lnTo>
                <a:lnTo>
                  <a:pt x="2915854" y="171462"/>
                </a:lnTo>
                <a:lnTo>
                  <a:pt x="2999165" y="164385"/>
                </a:lnTo>
                <a:lnTo>
                  <a:pt x="3082475" y="157372"/>
                </a:lnTo>
                <a:lnTo>
                  <a:pt x="3165785" y="150419"/>
                </a:lnTo>
                <a:lnTo>
                  <a:pt x="3249095" y="143523"/>
                </a:lnTo>
                <a:lnTo>
                  <a:pt x="3332405" y="136680"/>
                </a:lnTo>
                <a:lnTo>
                  <a:pt x="3415715" y="129885"/>
                </a:lnTo>
                <a:lnTo>
                  <a:pt x="3499025" y="123132"/>
                </a:lnTo>
                <a:lnTo>
                  <a:pt x="3582335" y="116417"/>
                </a:lnTo>
                <a:lnTo>
                  <a:pt x="3665646" y="109734"/>
                </a:lnTo>
                <a:lnTo>
                  <a:pt x="3748956" y="103077"/>
                </a:lnTo>
                <a:lnTo>
                  <a:pt x="3832266" y="96439"/>
                </a:lnTo>
                <a:lnTo>
                  <a:pt x="3915576" y="89812"/>
                </a:lnTo>
                <a:lnTo>
                  <a:pt x="3998886" y="83189"/>
                </a:lnTo>
                <a:lnTo>
                  <a:pt x="4082196" y="76560"/>
                </a:lnTo>
                <a:lnTo>
                  <a:pt x="4165506" y="69917"/>
                </a:lnTo>
                <a:lnTo>
                  <a:pt x="4248816" y="63248"/>
                </a:lnTo>
                <a:lnTo>
                  <a:pt x="4332127" y="56544"/>
                </a:lnTo>
                <a:lnTo>
                  <a:pt x="4415437" y="49791"/>
                </a:lnTo>
                <a:lnTo>
                  <a:pt x="4498747" y="42978"/>
                </a:lnTo>
                <a:lnTo>
                  <a:pt x="4582057" y="36091"/>
                </a:lnTo>
                <a:lnTo>
                  <a:pt x="4665367" y="29114"/>
                </a:lnTo>
                <a:lnTo>
                  <a:pt x="4748677" y="22033"/>
                </a:lnTo>
                <a:lnTo>
                  <a:pt x="4831987" y="14832"/>
                </a:lnTo>
                <a:lnTo>
                  <a:pt x="4915297" y="7493"/>
                </a:lnTo>
                <a:lnTo>
                  <a:pt x="4998608" y="0"/>
                </a:lnTo>
                <a:lnTo>
                  <a:pt x="4998608" y="236679"/>
                </a:lnTo>
                <a:lnTo>
                  <a:pt x="4915297" y="243187"/>
                </a:lnTo>
                <a:lnTo>
                  <a:pt x="4831987" y="249539"/>
                </a:lnTo>
                <a:lnTo>
                  <a:pt x="4748677" y="255755"/>
                </a:lnTo>
                <a:lnTo>
                  <a:pt x="4665367" y="261849"/>
                </a:lnTo>
                <a:lnTo>
                  <a:pt x="4582057" y="267840"/>
                </a:lnTo>
                <a:lnTo>
                  <a:pt x="4498747" y="273741"/>
                </a:lnTo>
                <a:lnTo>
                  <a:pt x="4415437" y="279568"/>
                </a:lnTo>
                <a:lnTo>
                  <a:pt x="4332127" y="285334"/>
                </a:lnTo>
                <a:lnTo>
                  <a:pt x="4248816" y="291052"/>
                </a:lnTo>
                <a:lnTo>
                  <a:pt x="4165506" y="296734"/>
                </a:lnTo>
                <a:lnTo>
                  <a:pt x="4082196" y="302392"/>
                </a:lnTo>
                <a:lnTo>
                  <a:pt x="3998886" y="308034"/>
                </a:lnTo>
                <a:lnTo>
                  <a:pt x="3915576" y="313672"/>
                </a:lnTo>
                <a:lnTo>
                  <a:pt x="3832266" y="319312"/>
                </a:lnTo>
                <a:lnTo>
                  <a:pt x="3748956" y="324964"/>
                </a:lnTo>
                <a:lnTo>
                  <a:pt x="3665646" y="330635"/>
                </a:lnTo>
                <a:lnTo>
                  <a:pt x="3582335" y="336332"/>
                </a:lnTo>
                <a:lnTo>
                  <a:pt x="3499025" y="342061"/>
                </a:lnTo>
                <a:lnTo>
                  <a:pt x="3415715" y="347827"/>
                </a:lnTo>
                <a:lnTo>
                  <a:pt x="3332405" y="353636"/>
                </a:lnTo>
                <a:lnTo>
                  <a:pt x="3249095" y="359494"/>
                </a:lnTo>
                <a:lnTo>
                  <a:pt x="3165785" y="365403"/>
                </a:lnTo>
                <a:lnTo>
                  <a:pt x="3082475" y="371370"/>
                </a:lnTo>
                <a:lnTo>
                  <a:pt x="2999165" y="377396"/>
                </a:lnTo>
                <a:lnTo>
                  <a:pt x="2915854" y="383487"/>
                </a:lnTo>
                <a:lnTo>
                  <a:pt x="2832544" y="389646"/>
                </a:lnTo>
                <a:lnTo>
                  <a:pt x="2749234" y="395875"/>
                </a:lnTo>
                <a:lnTo>
                  <a:pt x="2665924" y="402178"/>
                </a:lnTo>
                <a:lnTo>
                  <a:pt x="2582614" y="408557"/>
                </a:lnTo>
                <a:lnTo>
                  <a:pt x="2499304" y="415015"/>
                </a:lnTo>
                <a:lnTo>
                  <a:pt x="2415994" y="421556"/>
                </a:lnTo>
                <a:lnTo>
                  <a:pt x="2332684" y="428180"/>
                </a:lnTo>
                <a:lnTo>
                  <a:pt x="2249373" y="434890"/>
                </a:lnTo>
                <a:lnTo>
                  <a:pt x="2166063" y="441690"/>
                </a:lnTo>
                <a:lnTo>
                  <a:pt x="2082753" y="448579"/>
                </a:lnTo>
                <a:lnTo>
                  <a:pt x="1999443" y="455562"/>
                </a:lnTo>
                <a:lnTo>
                  <a:pt x="1916133" y="462639"/>
                </a:lnTo>
                <a:lnTo>
                  <a:pt x="1832823" y="469814"/>
                </a:lnTo>
                <a:lnTo>
                  <a:pt x="1749513" y="477086"/>
                </a:lnTo>
                <a:lnTo>
                  <a:pt x="1666203" y="484459"/>
                </a:lnTo>
                <a:lnTo>
                  <a:pt x="1582892" y="491935"/>
                </a:lnTo>
                <a:lnTo>
                  <a:pt x="1499582" y="499514"/>
                </a:lnTo>
                <a:lnTo>
                  <a:pt x="1416272" y="507200"/>
                </a:lnTo>
                <a:lnTo>
                  <a:pt x="1332962" y="514993"/>
                </a:lnTo>
                <a:lnTo>
                  <a:pt x="1249652" y="522895"/>
                </a:lnTo>
                <a:lnTo>
                  <a:pt x="1166342" y="530909"/>
                </a:lnTo>
                <a:lnTo>
                  <a:pt x="1083032" y="539035"/>
                </a:lnTo>
                <a:lnTo>
                  <a:pt x="999722" y="547276"/>
                </a:lnTo>
                <a:lnTo>
                  <a:pt x="916411" y="555634"/>
                </a:lnTo>
                <a:lnTo>
                  <a:pt x="833101" y="564109"/>
                </a:lnTo>
                <a:lnTo>
                  <a:pt x="749791" y="572705"/>
                </a:lnTo>
                <a:lnTo>
                  <a:pt x="666481" y="581422"/>
                </a:lnTo>
                <a:lnTo>
                  <a:pt x="583171" y="590262"/>
                </a:lnTo>
                <a:lnTo>
                  <a:pt x="499861" y="599228"/>
                </a:lnTo>
                <a:lnTo>
                  <a:pt x="416551" y="608320"/>
                </a:lnTo>
                <a:lnTo>
                  <a:pt x="333241" y="617541"/>
                </a:lnTo>
                <a:lnTo>
                  <a:pt x="249930" y="626893"/>
                </a:lnTo>
                <a:lnTo>
                  <a:pt x="166620" y="636377"/>
                </a:lnTo>
                <a:lnTo>
                  <a:pt x="83310" y="645996"/>
                </a:lnTo>
                <a:lnTo>
                  <a:pt x="0" y="655750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height: 3-й центиль"/>
          <p:cNvSpPr/>
          <p:nvPr/>
        </p:nvSpPr>
        <p:spPr>
          <a:xfrm>
            <a:off x="6324447" y="2608889"/>
            <a:ext cx="4998608" cy="419071"/>
          </a:xfrm>
          <a:custGeom>
            <a:avLst/>
            <a:gdLst/>
            <a:ahLst/>
            <a:cxnLst/>
            <a:rect l="l" t="t" r="r" b="b"/>
            <a:pathLst>
              <a:path w="4998608" h="419071">
                <a:moveTo>
                  <a:pt x="0" y="419071"/>
                </a:moveTo>
                <a:lnTo>
                  <a:pt x="83310" y="409317"/>
                </a:lnTo>
                <a:lnTo>
                  <a:pt x="166620" y="399698"/>
                </a:lnTo>
                <a:lnTo>
                  <a:pt x="249930" y="390214"/>
                </a:lnTo>
                <a:lnTo>
                  <a:pt x="333241" y="380862"/>
                </a:lnTo>
                <a:lnTo>
                  <a:pt x="416551" y="371641"/>
                </a:lnTo>
                <a:lnTo>
                  <a:pt x="499861" y="362549"/>
                </a:lnTo>
                <a:lnTo>
                  <a:pt x="583171" y="353583"/>
                </a:lnTo>
                <a:lnTo>
                  <a:pt x="666481" y="344743"/>
                </a:lnTo>
                <a:lnTo>
                  <a:pt x="749791" y="336026"/>
                </a:lnTo>
                <a:lnTo>
                  <a:pt x="833101" y="327430"/>
                </a:lnTo>
                <a:lnTo>
                  <a:pt x="916411" y="318955"/>
                </a:lnTo>
                <a:lnTo>
                  <a:pt x="999722" y="310597"/>
                </a:lnTo>
                <a:lnTo>
                  <a:pt x="1083032" y="302356"/>
                </a:lnTo>
                <a:lnTo>
                  <a:pt x="1166342" y="294230"/>
                </a:lnTo>
                <a:lnTo>
                  <a:pt x="1249652" y="286216"/>
                </a:lnTo>
                <a:lnTo>
                  <a:pt x="1332962" y="278314"/>
                </a:lnTo>
                <a:lnTo>
                  <a:pt x="1416272" y="270521"/>
                </a:lnTo>
                <a:lnTo>
                  <a:pt x="1499582" y="262835"/>
                </a:lnTo>
                <a:lnTo>
                  <a:pt x="1582892" y="255256"/>
                </a:lnTo>
                <a:lnTo>
                  <a:pt x="1666203" y="247780"/>
                </a:lnTo>
                <a:lnTo>
                  <a:pt x="1749513" y="240407"/>
                </a:lnTo>
                <a:lnTo>
                  <a:pt x="1832823" y="233135"/>
                </a:lnTo>
                <a:lnTo>
                  <a:pt x="1916133" y="225960"/>
                </a:lnTo>
                <a:lnTo>
                  <a:pt x="1999443" y="218883"/>
                </a:lnTo>
                <a:lnTo>
                  <a:pt x="2082753" y="211900"/>
                </a:lnTo>
                <a:lnTo>
                  <a:pt x="2166063" y="205011"/>
                </a:lnTo>
                <a:lnTo>
                  <a:pt x="2249373" y="198211"/>
                </a:lnTo>
                <a:lnTo>
                  <a:pt x="2332684" y="191501"/>
                </a:lnTo>
                <a:lnTo>
                  <a:pt x="2415994" y="184877"/>
                </a:lnTo>
                <a:lnTo>
                  <a:pt x="2499304" y="178336"/>
                </a:lnTo>
                <a:lnTo>
                  <a:pt x="2582614" y="171878"/>
                </a:lnTo>
                <a:lnTo>
                  <a:pt x="2665924" y="165499"/>
                </a:lnTo>
                <a:lnTo>
                  <a:pt x="2749234" y="159196"/>
                </a:lnTo>
                <a:lnTo>
                  <a:pt x="2832544" y="152967"/>
                </a:lnTo>
                <a:lnTo>
                  <a:pt x="2915854" y="146808"/>
                </a:lnTo>
                <a:lnTo>
                  <a:pt x="2999165" y="140717"/>
                </a:lnTo>
                <a:lnTo>
                  <a:pt x="3082475" y="134691"/>
                </a:lnTo>
                <a:lnTo>
                  <a:pt x="3165785" y="128724"/>
                </a:lnTo>
                <a:lnTo>
                  <a:pt x="3249095" y="122815"/>
                </a:lnTo>
                <a:lnTo>
                  <a:pt x="3332405" y="116957"/>
                </a:lnTo>
                <a:lnTo>
                  <a:pt x="3415715" y="111148"/>
                </a:lnTo>
                <a:lnTo>
                  <a:pt x="3499025" y="105382"/>
                </a:lnTo>
                <a:lnTo>
                  <a:pt x="3582335" y="99653"/>
                </a:lnTo>
                <a:lnTo>
                  <a:pt x="3665646" y="93956"/>
                </a:lnTo>
                <a:lnTo>
                  <a:pt x="3748956" y="88285"/>
                </a:lnTo>
                <a:lnTo>
                  <a:pt x="3832266" y="82633"/>
                </a:lnTo>
                <a:lnTo>
                  <a:pt x="3915576" y="76993"/>
                </a:lnTo>
                <a:lnTo>
                  <a:pt x="3998886" y="71355"/>
                </a:lnTo>
                <a:lnTo>
                  <a:pt x="4082196" y="65713"/>
                </a:lnTo>
                <a:lnTo>
                  <a:pt x="4165506" y="60055"/>
                </a:lnTo>
                <a:lnTo>
                  <a:pt x="4248816" y="54373"/>
                </a:lnTo>
                <a:lnTo>
                  <a:pt x="4332127" y="48655"/>
                </a:lnTo>
                <a:lnTo>
                  <a:pt x="4415437" y="42889"/>
                </a:lnTo>
                <a:lnTo>
                  <a:pt x="4498747" y="37062"/>
                </a:lnTo>
                <a:lnTo>
                  <a:pt x="4582057" y="31161"/>
                </a:lnTo>
                <a:lnTo>
                  <a:pt x="4665367" y="25170"/>
                </a:lnTo>
                <a:lnTo>
                  <a:pt x="4748677" y="19076"/>
                </a:lnTo>
                <a:lnTo>
                  <a:pt x="4831987" y="12860"/>
                </a:lnTo>
                <a:lnTo>
                  <a:pt x="4915297" y="6508"/>
                </a:lnTo>
                <a:lnTo>
                  <a:pt x="4998608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363055" y="2528889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52" name="height: 50-й центиль"/>
          <p:cNvSpPr/>
          <p:nvPr/>
        </p:nvSpPr>
        <p:spPr>
          <a:xfrm>
            <a:off x="6324447" y="2490550"/>
            <a:ext cx="4998608" cy="448656"/>
          </a:xfrm>
          <a:custGeom>
            <a:avLst/>
            <a:gdLst/>
            <a:ahLst/>
            <a:cxnLst/>
            <a:rect l="l" t="t" r="r" b="b"/>
            <a:pathLst>
              <a:path w="4998608" h="448656">
                <a:moveTo>
                  <a:pt x="0" y="448656"/>
                </a:moveTo>
                <a:lnTo>
                  <a:pt x="83310" y="438408"/>
                </a:lnTo>
                <a:lnTo>
                  <a:pt x="166620" y="428296"/>
                </a:lnTo>
                <a:lnTo>
                  <a:pt x="249930" y="418319"/>
                </a:lnTo>
                <a:lnTo>
                  <a:pt x="333241" y="408474"/>
                </a:lnTo>
                <a:lnTo>
                  <a:pt x="416551" y="398760"/>
                </a:lnTo>
                <a:lnTo>
                  <a:pt x="499861" y="389174"/>
                </a:lnTo>
                <a:lnTo>
                  <a:pt x="583171" y="379716"/>
                </a:lnTo>
                <a:lnTo>
                  <a:pt x="666481" y="370382"/>
                </a:lnTo>
                <a:lnTo>
                  <a:pt x="749791" y="361172"/>
                </a:lnTo>
                <a:lnTo>
                  <a:pt x="833101" y="352083"/>
                </a:lnTo>
                <a:lnTo>
                  <a:pt x="916411" y="343115"/>
                </a:lnTo>
                <a:lnTo>
                  <a:pt x="999722" y="334264"/>
                </a:lnTo>
                <a:lnTo>
                  <a:pt x="1083032" y="325530"/>
                </a:lnTo>
                <a:lnTo>
                  <a:pt x="1166342" y="316911"/>
                </a:lnTo>
                <a:lnTo>
                  <a:pt x="1249652" y="308404"/>
                </a:lnTo>
                <a:lnTo>
                  <a:pt x="1332962" y="300008"/>
                </a:lnTo>
                <a:lnTo>
                  <a:pt x="1416272" y="291722"/>
                </a:lnTo>
                <a:lnTo>
                  <a:pt x="1499582" y="283544"/>
                </a:lnTo>
                <a:lnTo>
                  <a:pt x="1582892" y="275471"/>
                </a:lnTo>
                <a:lnTo>
                  <a:pt x="1666203" y="267503"/>
                </a:lnTo>
                <a:lnTo>
                  <a:pt x="1749513" y="259637"/>
                </a:lnTo>
                <a:lnTo>
                  <a:pt x="1832823" y="251871"/>
                </a:lnTo>
                <a:lnTo>
                  <a:pt x="1916133" y="244204"/>
                </a:lnTo>
                <a:lnTo>
                  <a:pt x="1999443" y="236633"/>
                </a:lnTo>
                <a:lnTo>
                  <a:pt x="2082753" y="229158"/>
                </a:lnTo>
                <a:lnTo>
                  <a:pt x="2166063" y="221775"/>
                </a:lnTo>
                <a:lnTo>
                  <a:pt x="2249373" y="214482"/>
                </a:lnTo>
                <a:lnTo>
                  <a:pt x="2332684" y="207279"/>
                </a:lnTo>
                <a:lnTo>
                  <a:pt x="2415994" y="200161"/>
                </a:lnTo>
                <a:lnTo>
                  <a:pt x="2499304" y="193128"/>
                </a:lnTo>
                <a:lnTo>
                  <a:pt x="2582614" y="186177"/>
                </a:lnTo>
                <a:lnTo>
                  <a:pt x="2665924" y="179304"/>
                </a:lnTo>
                <a:lnTo>
                  <a:pt x="2749234" y="172508"/>
                </a:lnTo>
                <a:lnTo>
                  <a:pt x="2832544" y="165786"/>
                </a:lnTo>
                <a:lnTo>
                  <a:pt x="2915854" y="159134"/>
                </a:lnTo>
                <a:lnTo>
                  <a:pt x="2999165" y="152550"/>
                </a:lnTo>
                <a:lnTo>
                  <a:pt x="3082475" y="146031"/>
                </a:lnTo>
                <a:lnTo>
                  <a:pt x="3165785" y="139571"/>
                </a:lnTo>
                <a:lnTo>
                  <a:pt x="3249095" y="133169"/>
                </a:lnTo>
                <a:lnTo>
                  <a:pt x="3332405" y="126818"/>
                </a:lnTo>
                <a:lnTo>
                  <a:pt x="3415715" y="120516"/>
                </a:lnTo>
                <a:lnTo>
                  <a:pt x="3499025" y="114257"/>
                </a:lnTo>
                <a:lnTo>
                  <a:pt x="3582335" y="108035"/>
                </a:lnTo>
                <a:lnTo>
                  <a:pt x="3665646" y="101845"/>
                </a:lnTo>
                <a:lnTo>
                  <a:pt x="3748956" y="95681"/>
                </a:lnTo>
                <a:lnTo>
                  <a:pt x="3832266" y="89536"/>
                </a:lnTo>
                <a:lnTo>
                  <a:pt x="3915576" y="83402"/>
                </a:lnTo>
                <a:lnTo>
                  <a:pt x="3998886" y="77271"/>
                </a:lnTo>
                <a:lnTo>
                  <a:pt x="4082196" y="71136"/>
                </a:lnTo>
                <a:lnTo>
                  <a:pt x="4165506" y="64985"/>
                </a:lnTo>
                <a:lnTo>
                  <a:pt x="4248816" y="58810"/>
                </a:lnTo>
                <a:lnTo>
                  <a:pt x="4332127" y="52599"/>
                </a:lnTo>
                <a:lnTo>
                  <a:pt x="4415437" y="46340"/>
                </a:lnTo>
                <a:lnTo>
                  <a:pt x="4498747" y="40020"/>
                </a:lnTo>
                <a:lnTo>
                  <a:pt x="4582057" y="33625"/>
                </a:lnTo>
                <a:lnTo>
                  <a:pt x="4665367" y="27142"/>
                </a:lnTo>
                <a:lnTo>
                  <a:pt x="4748677" y="20554"/>
                </a:lnTo>
                <a:lnTo>
                  <a:pt x="4831987" y="13846"/>
                </a:lnTo>
                <a:lnTo>
                  <a:pt x="4915297" y="7000"/>
                </a:lnTo>
                <a:lnTo>
                  <a:pt x="4998608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363055" y="2410550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54" name="height: 97-й центиль"/>
          <p:cNvSpPr/>
          <p:nvPr/>
        </p:nvSpPr>
        <p:spPr>
          <a:xfrm>
            <a:off x="6324447" y="2372210"/>
            <a:ext cx="4998608" cy="478241"/>
          </a:xfrm>
          <a:custGeom>
            <a:avLst/>
            <a:gdLst/>
            <a:ahLst/>
            <a:cxnLst/>
            <a:rect l="l" t="t" r="r" b="b"/>
            <a:pathLst>
              <a:path w="4998608" h="478241">
                <a:moveTo>
                  <a:pt x="0" y="478241"/>
                </a:moveTo>
                <a:lnTo>
                  <a:pt x="83310" y="467500"/>
                </a:lnTo>
                <a:lnTo>
                  <a:pt x="166620" y="456895"/>
                </a:lnTo>
                <a:lnTo>
                  <a:pt x="249930" y="446425"/>
                </a:lnTo>
                <a:lnTo>
                  <a:pt x="333241" y="436087"/>
                </a:lnTo>
                <a:lnTo>
                  <a:pt x="416551" y="425880"/>
                </a:lnTo>
                <a:lnTo>
                  <a:pt x="499861" y="415801"/>
                </a:lnTo>
                <a:lnTo>
                  <a:pt x="583171" y="405849"/>
                </a:lnTo>
                <a:lnTo>
                  <a:pt x="666481" y="396023"/>
                </a:lnTo>
                <a:lnTo>
                  <a:pt x="749791" y="386319"/>
                </a:lnTo>
                <a:lnTo>
                  <a:pt x="833101" y="376738"/>
                </a:lnTo>
                <a:lnTo>
                  <a:pt x="916411" y="367276"/>
                </a:lnTo>
                <a:lnTo>
                  <a:pt x="999722" y="357932"/>
                </a:lnTo>
                <a:lnTo>
                  <a:pt x="1083032" y="348705"/>
                </a:lnTo>
                <a:lnTo>
                  <a:pt x="1166342" y="339593"/>
                </a:lnTo>
                <a:lnTo>
                  <a:pt x="1249652" y="330593"/>
                </a:lnTo>
                <a:lnTo>
                  <a:pt x="1332962" y="321704"/>
                </a:lnTo>
                <a:lnTo>
                  <a:pt x="1416272" y="312925"/>
                </a:lnTo>
                <a:lnTo>
                  <a:pt x="1499582" y="304254"/>
                </a:lnTo>
                <a:lnTo>
                  <a:pt x="1582892" y="295688"/>
                </a:lnTo>
                <a:lnTo>
                  <a:pt x="1666203" y="287226"/>
                </a:lnTo>
                <a:lnTo>
                  <a:pt x="1749513" y="278867"/>
                </a:lnTo>
                <a:lnTo>
                  <a:pt x="1832823" y="270608"/>
                </a:lnTo>
                <a:lnTo>
                  <a:pt x="1916133" y="262448"/>
                </a:lnTo>
                <a:lnTo>
                  <a:pt x="1999443" y="254384"/>
                </a:lnTo>
                <a:lnTo>
                  <a:pt x="2082753" y="246416"/>
                </a:lnTo>
                <a:lnTo>
                  <a:pt x="2166063" y="238540"/>
                </a:lnTo>
                <a:lnTo>
                  <a:pt x="2249373" y="230754"/>
                </a:lnTo>
                <a:lnTo>
                  <a:pt x="2332684" y="223057"/>
                </a:lnTo>
                <a:lnTo>
                  <a:pt x="2415994" y="215447"/>
                </a:lnTo>
                <a:lnTo>
                  <a:pt x="2499304" y="207921"/>
                </a:lnTo>
                <a:lnTo>
                  <a:pt x="2582614" y="200476"/>
                </a:lnTo>
                <a:lnTo>
                  <a:pt x="2665924" y="193111"/>
                </a:lnTo>
                <a:lnTo>
                  <a:pt x="2749234" y="185822"/>
                </a:lnTo>
                <a:lnTo>
                  <a:pt x="2832544" y="178606"/>
                </a:lnTo>
                <a:lnTo>
                  <a:pt x="2915854" y="171462"/>
                </a:lnTo>
                <a:lnTo>
                  <a:pt x="2999165" y="164385"/>
                </a:lnTo>
                <a:lnTo>
                  <a:pt x="3082475" y="157372"/>
                </a:lnTo>
                <a:lnTo>
                  <a:pt x="3165785" y="150419"/>
                </a:lnTo>
                <a:lnTo>
                  <a:pt x="3249095" y="143523"/>
                </a:lnTo>
                <a:lnTo>
                  <a:pt x="3332405" y="136680"/>
                </a:lnTo>
                <a:lnTo>
                  <a:pt x="3415715" y="129885"/>
                </a:lnTo>
                <a:lnTo>
                  <a:pt x="3499025" y="123132"/>
                </a:lnTo>
                <a:lnTo>
                  <a:pt x="3582335" y="116417"/>
                </a:lnTo>
                <a:lnTo>
                  <a:pt x="3665646" y="109734"/>
                </a:lnTo>
                <a:lnTo>
                  <a:pt x="3748956" y="103077"/>
                </a:lnTo>
                <a:lnTo>
                  <a:pt x="3832266" y="96439"/>
                </a:lnTo>
                <a:lnTo>
                  <a:pt x="3915576" y="89812"/>
                </a:lnTo>
                <a:lnTo>
                  <a:pt x="3998886" y="83189"/>
                </a:lnTo>
                <a:lnTo>
                  <a:pt x="4082196" y="76560"/>
                </a:lnTo>
                <a:lnTo>
                  <a:pt x="4165506" y="69917"/>
                </a:lnTo>
                <a:lnTo>
                  <a:pt x="4248816" y="63248"/>
                </a:lnTo>
                <a:lnTo>
                  <a:pt x="4332127" y="56544"/>
                </a:lnTo>
                <a:lnTo>
                  <a:pt x="4415437" y="49791"/>
                </a:lnTo>
                <a:lnTo>
                  <a:pt x="4498747" y="42978"/>
                </a:lnTo>
                <a:lnTo>
                  <a:pt x="4582057" y="36091"/>
                </a:lnTo>
                <a:lnTo>
                  <a:pt x="4665367" y="29114"/>
                </a:lnTo>
                <a:lnTo>
                  <a:pt x="4748677" y="22033"/>
                </a:lnTo>
                <a:lnTo>
                  <a:pt x="4831987" y="14832"/>
                </a:lnTo>
                <a:lnTo>
                  <a:pt x="4915297" y="7493"/>
                </a:lnTo>
                <a:lnTo>
                  <a:pt x="4998608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363055" y="2292210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56" name="height: ось"/>
          <p:cNvSpPr/>
          <p:nvPr/>
        </p:nvSpPr>
        <p:spPr>
          <a:xfrm>
            <a:off x="6324447" y="3067306"/>
            <a:ext cx="4998608" cy="0"/>
          </a:xfrm>
          <a:custGeom>
            <a:avLst/>
            <a:gdLst/>
            <a:ahLst/>
            <a:cxnLst/>
            <a:rect l="l" t="t" r="r" b="b"/>
            <a:pathLst>
              <a:path w="4998608" h="0">
                <a:moveTo>
                  <a:pt x="0" y="0"/>
                </a:moveTo>
                <a:lnTo>
                  <a:pt x="4998608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74447" y="309730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88534" y="309730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02621" y="309730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16707" y="309730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30794" y="309730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744881" y="309730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58968" y="309730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73055" y="309730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65" name="height: пациент"/>
          <p:cNvSpPr/>
          <p:nvPr/>
        </p:nvSpPr>
        <p:spPr>
          <a:xfrm>
            <a:off x="6324447" y="2662031"/>
            <a:ext cx="4284521" cy="263012"/>
          </a:xfrm>
          <a:custGeom>
            <a:avLst/>
            <a:gdLst/>
            <a:ahLst/>
            <a:cxnLst/>
            <a:rect l="l" t="t" r="r" b="b"/>
            <a:pathLst>
              <a:path w="4284521" h="263012">
                <a:moveTo>
                  <a:pt x="0" y="263012"/>
                </a:moveTo>
                <a:lnTo>
                  <a:pt x="119014" y="248698"/>
                </a:lnTo>
                <a:lnTo>
                  <a:pt x="238029" y="234667"/>
                </a:lnTo>
                <a:lnTo>
                  <a:pt x="357043" y="220913"/>
                </a:lnTo>
                <a:lnTo>
                  <a:pt x="476058" y="207430"/>
                </a:lnTo>
                <a:lnTo>
                  <a:pt x="595072" y="194214"/>
                </a:lnTo>
                <a:lnTo>
                  <a:pt x="714087" y="181259"/>
                </a:lnTo>
                <a:lnTo>
                  <a:pt x="833101" y="168560"/>
                </a:lnTo>
                <a:lnTo>
                  <a:pt x="952116" y="156111"/>
                </a:lnTo>
                <a:lnTo>
                  <a:pt x="1071130" y="143909"/>
                </a:lnTo>
                <a:lnTo>
                  <a:pt x="1190145" y="131947"/>
                </a:lnTo>
                <a:lnTo>
                  <a:pt x="1309159" y="120221"/>
                </a:lnTo>
                <a:lnTo>
                  <a:pt x="1428174" y="108725"/>
                </a:lnTo>
                <a:lnTo>
                  <a:pt x="1487681" y="105008"/>
                </a:lnTo>
                <a:lnTo>
                  <a:pt x="1547188" y="101361"/>
                </a:lnTo>
                <a:lnTo>
                  <a:pt x="1606695" y="97783"/>
                </a:lnTo>
                <a:lnTo>
                  <a:pt x="1666203" y="94273"/>
                </a:lnTo>
                <a:lnTo>
                  <a:pt x="1725710" y="90831"/>
                </a:lnTo>
                <a:lnTo>
                  <a:pt x="1785217" y="87457"/>
                </a:lnTo>
                <a:lnTo>
                  <a:pt x="1844724" y="84148"/>
                </a:lnTo>
                <a:lnTo>
                  <a:pt x="1904231" y="80906"/>
                </a:lnTo>
                <a:lnTo>
                  <a:pt x="1963739" y="77729"/>
                </a:lnTo>
                <a:lnTo>
                  <a:pt x="2023246" y="74616"/>
                </a:lnTo>
                <a:lnTo>
                  <a:pt x="2082753" y="71566"/>
                </a:lnTo>
                <a:lnTo>
                  <a:pt x="2142260" y="68580"/>
                </a:lnTo>
                <a:lnTo>
                  <a:pt x="2201768" y="66107"/>
                </a:lnTo>
                <a:lnTo>
                  <a:pt x="2261275" y="63698"/>
                </a:lnTo>
                <a:lnTo>
                  <a:pt x="2320782" y="61354"/>
                </a:lnTo>
                <a:lnTo>
                  <a:pt x="2380289" y="59072"/>
                </a:lnTo>
                <a:lnTo>
                  <a:pt x="2439797" y="56852"/>
                </a:lnTo>
                <a:lnTo>
                  <a:pt x="2499304" y="54694"/>
                </a:lnTo>
                <a:lnTo>
                  <a:pt x="2558811" y="52596"/>
                </a:lnTo>
                <a:lnTo>
                  <a:pt x="2618318" y="50558"/>
                </a:lnTo>
                <a:lnTo>
                  <a:pt x="2677825" y="48578"/>
                </a:lnTo>
                <a:lnTo>
                  <a:pt x="2737333" y="46656"/>
                </a:lnTo>
                <a:lnTo>
                  <a:pt x="2796840" y="44790"/>
                </a:lnTo>
                <a:lnTo>
                  <a:pt x="2856347" y="42980"/>
                </a:lnTo>
                <a:lnTo>
                  <a:pt x="2915854" y="41224"/>
                </a:lnTo>
                <a:lnTo>
                  <a:pt x="2975362" y="39521"/>
                </a:lnTo>
                <a:lnTo>
                  <a:pt x="3034869" y="37870"/>
                </a:lnTo>
                <a:lnTo>
                  <a:pt x="3094376" y="36270"/>
                </a:lnTo>
                <a:lnTo>
                  <a:pt x="3153883" y="34719"/>
                </a:lnTo>
                <a:lnTo>
                  <a:pt x="3213391" y="33217"/>
                </a:lnTo>
                <a:lnTo>
                  <a:pt x="3272898" y="31760"/>
                </a:lnTo>
                <a:lnTo>
                  <a:pt x="3332405" y="30349"/>
                </a:lnTo>
                <a:lnTo>
                  <a:pt x="3391912" y="28980"/>
                </a:lnTo>
                <a:lnTo>
                  <a:pt x="3451419" y="27654"/>
                </a:lnTo>
                <a:lnTo>
                  <a:pt x="3510927" y="26366"/>
                </a:lnTo>
                <a:lnTo>
                  <a:pt x="3570434" y="25116"/>
                </a:lnTo>
                <a:lnTo>
                  <a:pt x="3629941" y="22925"/>
                </a:lnTo>
                <a:lnTo>
                  <a:pt x="3689448" y="20760"/>
                </a:lnTo>
                <a:lnTo>
                  <a:pt x="3748956" y="18620"/>
                </a:lnTo>
                <a:lnTo>
                  <a:pt x="3808463" y="16502"/>
                </a:lnTo>
                <a:lnTo>
                  <a:pt x="3867970" y="14404"/>
                </a:lnTo>
                <a:lnTo>
                  <a:pt x="3927477" y="12322"/>
                </a:lnTo>
                <a:lnTo>
                  <a:pt x="3986985" y="10254"/>
                </a:lnTo>
                <a:lnTo>
                  <a:pt x="4046492" y="8196"/>
                </a:lnTo>
                <a:lnTo>
                  <a:pt x="4105999" y="6145"/>
                </a:lnTo>
                <a:lnTo>
                  <a:pt x="4165506" y="4098"/>
                </a:lnTo>
                <a:lnTo>
                  <a:pt x="4225013" y="2051"/>
                </a:lnTo>
                <a:lnTo>
                  <a:pt x="4284521" y="0"/>
                </a:lnTo>
              </a:path>
            </a:pathLst>
          </a:custGeom>
          <a:noFill/>
          <a:ln w="34925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height: визит 5"/>
          <p:cNvSpPr/>
          <p:nvPr/>
        </p:nvSpPr>
        <p:spPr>
          <a:xfrm>
            <a:off x="6264447" y="2865043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height: визит 7"/>
          <p:cNvSpPr/>
          <p:nvPr/>
        </p:nvSpPr>
        <p:spPr>
          <a:xfrm>
            <a:off x="7692621" y="2710756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height: визит 8"/>
          <p:cNvSpPr/>
          <p:nvPr/>
        </p:nvSpPr>
        <p:spPr>
          <a:xfrm>
            <a:off x="8406707" y="2670611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height: визит 9"/>
          <p:cNvSpPr/>
          <p:nvPr/>
        </p:nvSpPr>
        <p:spPr>
          <a:xfrm>
            <a:off x="9120794" y="2645011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height: визит 10"/>
          <p:cNvSpPr/>
          <p:nvPr/>
        </p:nvSpPr>
        <p:spPr>
          <a:xfrm>
            <a:off x="9834881" y="2627147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height: визит 11"/>
          <p:cNvSpPr/>
          <p:nvPr/>
        </p:nvSpPr>
        <p:spPr>
          <a:xfrm>
            <a:off x="10548968" y="2602031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событие 11"/>
          <p:cNvSpPr/>
          <p:nvPr/>
        </p:nvSpPr>
        <p:spPr>
          <a:xfrm>
            <a:off x="10608968" y="1978760"/>
            <a:ext cx="0" cy="1088546"/>
          </a:xfrm>
          <a:custGeom>
            <a:avLst/>
            <a:gdLst/>
            <a:ahLst/>
            <a:cxnLst/>
            <a:rect l="l" t="t" r="r" b="b"/>
            <a:pathLst>
              <a:path w="0" h="1088546">
                <a:moveTo>
                  <a:pt x="0" y="0"/>
                </a:moveTo>
                <a:lnTo>
                  <a:pt x="0" y="1088546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58968" y="197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26323A"/>
                </a:solidFill>
                <a:latin typeface="Calibri"/>
              </a:rPr>
              <a:t>11 лет: диагноз</a:t>
            </a:r>
          </a:p>
        </p:txBody>
      </p:sp>
      <p:sp>
        <p:nvSpPr>
          <p:cNvPr id="74" name="событие 7.5"/>
          <p:cNvSpPr/>
          <p:nvPr/>
        </p:nvSpPr>
        <p:spPr>
          <a:xfrm>
            <a:off x="8109664" y="1978760"/>
            <a:ext cx="0" cy="1088546"/>
          </a:xfrm>
          <a:custGeom>
            <a:avLst/>
            <a:gdLst/>
            <a:ahLst/>
            <a:cxnLst/>
            <a:rect l="l" t="t" r="r" b="b"/>
            <a:pathLst>
              <a:path w="0" h="1088546">
                <a:moveTo>
                  <a:pt x="0" y="0"/>
                </a:moveTo>
                <a:lnTo>
                  <a:pt x="0" y="1088546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59664" y="216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323A"/>
                </a:solidFill>
                <a:latin typeface="Calibri"/>
              </a:rPr>
              <a:t>7,5 года: масса вверх, рост замедлился</a:t>
            </a:r>
          </a:p>
        </p:txBody>
      </p:sp>
      <p:sp>
        <p:nvSpPr>
          <p:cNvPr id="76" name="событие 9"/>
          <p:cNvSpPr/>
          <p:nvPr/>
        </p:nvSpPr>
        <p:spPr>
          <a:xfrm>
            <a:off x="9180794" y="1978760"/>
            <a:ext cx="0" cy="1088546"/>
          </a:xfrm>
          <a:custGeom>
            <a:avLst/>
            <a:gdLst/>
            <a:ahLst/>
            <a:cxnLst/>
            <a:rect l="l" t="t" r="r" b="b"/>
            <a:pathLst>
              <a:path w="0" h="1088546">
                <a:moveTo>
                  <a:pt x="0" y="0"/>
                </a:moveTo>
                <a:lnTo>
                  <a:pt x="0" y="1088546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830794" y="235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26323A"/>
                </a:solidFill>
                <a:latin typeface="Calibri"/>
              </a:rPr>
              <a:t>9 лет: сочли простым ожирением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4447" y="1748760"/>
            <a:ext cx="4998607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Рост, см</a:t>
            </a:r>
          </a:p>
        </p:txBody>
      </p:sp>
      <p:sp>
        <p:nvSpPr>
          <p:cNvPr id="79" name="weight: полоса 3–97"/>
          <p:cNvSpPr/>
          <p:nvPr/>
        </p:nvSpPr>
        <p:spPr>
          <a:xfrm>
            <a:off x="6324447" y="3666193"/>
            <a:ext cx="4998608" cy="647498"/>
          </a:xfrm>
          <a:custGeom>
            <a:avLst/>
            <a:gdLst/>
            <a:ahLst/>
            <a:cxnLst/>
            <a:rect l="l" t="t" r="r" b="b"/>
            <a:pathLst>
              <a:path w="4998608" h="647498">
                <a:moveTo>
                  <a:pt x="0" y="478861"/>
                </a:moveTo>
                <a:lnTo>
                  <a:pt x="83310" y="472798"/>
                </a:lnTo>
                <a:lnTo>
                  <a:pt x="166620" y="466734"/>
                </a:lnTo>
                <a:lnTo>
                  <a:pt x="249930" y="460671"/>
                </a:lnTo>
                <a:lnTo>
                  <a:pt x="333241" y="454608"/>
                </a:lnTo>
                <a:lnTo>
                  <a:pt x="416551" y="448545"/>
                </a:lnTo>
                <a:lnTo>
                  <a:pt x="499861" y="442482"/>
                </a:lnTo>
                <a:lnTo>
                  <a:pt x="583171" y="436419"/>
                </a:lnTo>
                <a:lnTo>
                  <a:pt x="666481" y="430356"/>
                </a:lnTo>
                <a:lnTo>
                  <a:pt x="749791" y="424293"/>
                </a:lnTo>
                <a:lnTo>
                  <a:pt x="833101" y="418230"/>
                </a:lnTo>
                <a:lnTo>
                  <a:pt x="916411" y="412167"/>
                </a:lnTo>
                <a:lnTo>
                  <a:pt x="999722" y="406103"/>
                </a:lnTo>
                <a:lnTo>
                  <a:pt x="1083032" y="400040"/>
                </a:lnTo>
                <a:lnTo>
                  <a:pt x="1166342" y="393977"/>
                </a:lnTo>
                <a:lnTo>
                  <a:pt x="1249652" y="387914"/>
                </a:lnTo>
                <a:lnTo>
                  <a:pt x="1332962" y="381851"/>
                </a:lnTo>
                <a:lnTo>
                  <a:pt x="1416272" y="375788"/>
                </a:lnTo>
                <a:lnTo>
                  <a:pt x="1499582" y="369725"/>
                </a:lnTo>
                <a:lnTo>
                  <a:pt x="1582892" y="363662"/>
                </a:lnTo>
                <a:lnTo>
                  <a:pt x="1666203" y="357599"/>
                </a:lnTo>
                <a:lnTo>
                  <a:pt x="1749513" y="351536"/>
                </a:lnTo>
                <a:lnTo>
                  <a:pt x="1832823" y="345473"/>
                </a:lnTo>
                <a:lnTo>
                  <a:pt x="1916133" y="339409"/>
                </a:lnTo>
                <a:lnTo>
                  <a:pt x="1999443" y="333346"/>
                </a:lnTo>
                <a:lnTo>
                  <a:pt x="2082753" y="327283"/>
                </a:lnTo>
                <a:lnTo>
                  <a:pt x="2166063" y="320540"/>
                </a:lnTo>
                <a:lnTo>
                  <a:pt x="2249373" y="312095"/>
                </a:lnTo>
                <a:lnTo>
                  <a:pt x="2332684" y="303650"/>
                </a:lnTo>
                <a:lnTo>
                  <a:pt x="2415994" y="295204"/>
                </a:lnTo>
                <a:lnTo>
                  <a:pt x="2499304" y="286759"/>
                </a:lnTo>
                <a:lnTo>
                  <a:pt x="2582614" y="278314"/>
                </a:lnTo>
                <a:lnTo>
                  <a:pt x="2665924" y="269869"/>
                </a:lnTo>
                <a:lnTo>
                  <a:pt x="2749234" y="261424"/>
                </a:lnTo>
                <a:lnTo>
                  <a:pt x="2832544" y="252979"/>
                </a:lnTo>
                <a:lnTo>
                  <a:pt x="2915854" y="244534"/>
                </a:lnTo>
                <a:lnTo>
                  <a:pt x="2999165" y="236089"/>
                </a:lnTo>
                <a:lnTo>
                  <a:pt x="3082475" y="227644"/>
                </a:lnTo>
                <a:lnTo>
                  <a:pt x="3165785" y="219199"/>
                </a:lnTo>
                <a:lnTo>
                  <a:pt x="3249095" y="210754"/>
                </a:lnTo>
                <a:lnTo>
                  <a:pt x="3332405" y="202309"/>
                </a:lnTo>
                <a:lnTo>
                  <a:pt x="3415715" y="193864"/>
                </a:lnTo>
                <a:lnTo>
                  <a:pt x="3499025" y="185419"/>
                </a:lnTo>
                <a:lnTo>
                  <a:pt x="3582335" y="176696"/>
                </a:lnTo>
                <a:lnTo>
                  <a:pt x="3665646" y="166302"/>
                </a:lnTo>
                <a:lnTo>
                  <a:pt x="3748956" y="155908"/>
                </a:lnTo>
                <a:lnTo>
                  <a:pt x="3832266" y="145514"/>
                </a:lnTo>
                <a:lnTo>
                  <a:pt x="3915576" y="135120"/>
                </a:lnTo>
                <a:lnTo>
                  <a:pt x="3998886" y="124726"/>
                </a:lnTo>
                <a:lnTo>
                  <a:pt x="4082196" y="114332"/>
                </a:lnTo>
                <a:lnTo>
                  <a:pt x="4165506" y="103939"/>
                </a:lnTo>
                <a:lnTo>
                  <a:pt x="4248816" y="93545"/>
                </a:lnTo>
                <a:lnTo>
                  <a:pt x="4332127" y="83151"/>
                </a:lnTo>
                <a:lnTo>
                  <a:pt x="4415437" y="72757"/>
                </a:lnTo>
                <a:lnTo>
                  <a:pt x="4498747" y="62363"/>
                </a:lnTo>
                <a:lnTo>
                  <a:pt x="4582057" y="51969"/>
                </a:lnTo>
                <a:lnTo>
                  <a:pt x="4665367" y="41575"/>
                </a:lnTo>
                <a:lnTo>
                  <a:pt x="4748677" y="31181"/>
                </a:lnTo>
                <a:lnTo>
                  <a:pt x="4831987" y="20787"/>
                </a:lnTo>
                <a:lnTo>
                  <a:pt x="4915297" y="10394"/>
                </a:lnTo>
                <a:lnTo>
                  <a:pt x="4998608" y="0"/>
                </a:lnTo>
                <a:lnTo>
                  <a:pt x="4998608" y="364622"/>
                </a:lnTo>
                <a:lnTo>
                  <a:pt x="4915297" y="370762"/>
                </a:lnTo>
                <a:lnTo>
                  <a:pt x="4831987" y="376902"/>
                </a:lnTo>
                <a:lnTo>
                  <a:pt x="4748677" y="383042"/>
                </a:lnTo>
                <a:lnTo>
                  <a:pt x="4665367" y="389182"/>
                </a:lnTo>
                <a:lnTo>
                  <a:pt x="4582057" y="395322"/>
                </a:lnTo>
                <a:lnTo>
                  <a:pt x="4498747" y="401462"/>
                </a:lnTo>
                <a:lnTo>
                  <a:pt x="4415437" y="407602"/>
                </a:lnTo>
                <a:lnTo>
                  <a:pt x="4332127" y="413742"/>
                </a:lnTo>
                <a:lnTo>
                  <a:pt x="4248816" y="419882"/>
                </a:lnTo>
                <a:lnTo>
                  <a:pt x="4165506" y="426022"/>
                </a:lnTo>
                <a:lnTo>
                  <a:pt x="4082196" y="432162"/>
                </a:lnTo>
                <a:lnTo>
                  <a:pt x="3998886" y="438301"/>
                </a:lnTo>
                <a:lnTo>
                  <a:pt x="3915576" y="444441"/>
                </a:lnTo>
                <a:lnTo>
                  <a:pt x="3832266" y="450581"/>
                </a:lnTo>
                <a:lnTo>
                  <a:pt x="3748956" y="456721"/>
                </a:lnTo>
                <a:lnTo>
                  <a:pt x="3665646" y="462861"/>
                </a:lnTo>
                <a:lnTo>
                  <a:pt x="3582335" y="469001"/>
                </a:lnTo>
                <a:lnTo>
                  <a:pt x="3499025" y="474154"/>
                </a:lnTo>
                <a:lnTo>
                  <a:pt x="3415715" y="479143"/>
                </a:lnTo>
                <a:lnTo>
                  <a:pt x="3332405" y="484132"/>
                </a:lnTo>
                <a:lnTo>
                  <a:pt x="3249095" y="489121"/>
                </a:lnTo>
                <a:lnTo>
                  <a:pt x="3165785" y="494109"/>
                </a:lnTo>
                <a:lnTo>
                  <a:pt x="3082475" y="499098"/>
                </a:lnTo>
                <a:lnTo>
                  <a:pt x="2999165" y="504087"/>
                </a:lnTo>
                <a:lnTo>
                  <a:pt x="2915854" y="509075"/>
                </a:lnTo>
                <a:lnTo>
                  <a:pt x="2832544" y="514064"/>
                </a:lnTo>
                <a:lnTo>
                  <a:pt x="2749234" y="519053"/>
                </a:lnTo>
                <a:lnTo>
                  <a:pt x="2665924" y="524042"/>
                </a:lnTo>
                <a:lnTo>
                  <a:pt x="2582614" y="529030"/>
                </a:lnTo>
                <a:lnTo>
                  <a:pt x="2499304" y="534019"/>
                </a:lnTo>
                <a:lnTo>
                  <a:pt x="2415994" y="539008"/>
                </a:lnTo>
                <a:lnTo>
                  <a:pt x="2332684" y="543996"/>
                </a:lnTo>
                <a:lnTo>
                  <a:pt x="2249373" y="548985"/>
                </a:lnTo>
                <a:lnTo>
                  <a:pt x="2166063" y="553974"/>
                </a:lnTo>
                <a:lnTo>
                  <a:pt x="2082753" y="557957"/>
                </a:lnTo>
                <a:lnTo>
                  <a:pt x="1999443" y="561539"/>
                </a:lnTo>
                <a:lnTo>
                  <a:pt x="1916133" y="565121"/>
                </a:lnTo>
                <a:lnTo>
                  <a:pt x="1832823" y="568702"/>
                </a:lnTo>
                <a:lnTo>
                  <a:pt x="1749513" y="572284"/>
                </a:lnTo>
                <a:lnTo>
                  <a:pt x="1666203" y="575866"/>
                </a:lnTo>
                <a:lnTo>
                  <a:pt x="1582892" y="579447"/>
                </a:lnTo>
                <a:lnTo>
                  <a:pt x="1499582" y="583029"/>
                </a:lnTo>
                <a:lnTo>
                  <a:pt x="1416272" y="586611"/>
                </a:lnTo>
                <a:lnTo>
                  <a:pt x="1332962" y="590192"/>
                </a:lnTo>
                <a:lnTo>
                  <a:pt x="1249652" y="593774"/>
                </a:lnTo>
                <a:lnTo>
                  <a:pt x="1166342" y="597356"/>
                </a:lnTo>
                <a:lnTo>
                  <a:pt x="1083032" y="600937"/>
                </a:lnTo>
                <a:lnTo>
                  <a:pt x="999722" y="604519"/>
                </a:lnTo>
                <a:lnTo>
                  <a:pt x="916411" y="608100"/>
                </a:lnTo>
                <a:lnTo>
                  <a:pt x="833101" y="611682"/>
                </a:lnTo>
                <a:lnTo>
                  <a:pt x="749791" y="615264"/>
                </a:lnTo>
                <a:lnTo>
                  <a:pt x="666481" y="618845"/>
                </a:lnTo>
                <a:lnTo>
                  <a:pt x="583171" y="622427"/>
                </a:lnTo>
                <a:lnTo>
                  <a:pt x="499861" y="626009"/>
                </a:lnTo>
                <a:lnTo>
                  <a:pt x="416551" y="629590"/>
                </a:lnTo>
                <a:lnTo>
                  <a:pt x="333241" y="633172"/>
                </a:lnTo>
                <a:lnTo>
                  <a:pt x="249930" y="636754"/>
                </a:lnTo>
                <a:lnTo>
                  <a:pt x="166620" y="640335"/>
                </a:lnTo>
                <a:lnTo>
                  <a:pt x="83310" y="643917"/>
                </a:lnTo>
                <a:lnTo>
                  <a:pt x="0" y="647498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weight: 3-й центиль"/>
          <p:cNvSpPr/>
          <p:nvPr/>
        </p:nvSpPr>
        <p:spPr>
          <a:xfrm>
            <a:off x="6324447" y="4030815"/>
            <a:ext cx="4998608" cy="282876"/>
          </a:xfrm>
          <a:custGeom>
            <a:avLst/>
            <a:gdLst/>
            <a:ahLst/>
            <a:cxnLst/>
            <a:rect l="l" t="t" r="r" b="b"/>
            <a:pathLst>
              <a:path w="4998608" h="282876">
                <a:moveTo>
                  <a:pt x="0" y="282876"/>
                </a:moveTo>
                <a:lnTo>
                  <a:pt x="83310" y="279295"/>
                </a:lnTo>
                <a:lnTo>
                  <a:pt x="166620" y="275713"/>
                </a:lnTo>
                <a:lnTo>
                  <a:pt x="249930" y="272132"/>
                </a:lnTo>
                <a:lnTo>
                  <a:pt x="333241" y="268550"/>
                </a:lnTo>
                <a:lnTo>
                  <a:pt x="416551" y="264968"/>
                </a:lnTo>
                <a:lnTo>
                  <a:pt x="499861" y="261387"/>
                </a:lnTo>
                <a:lnTo>
                  <a:pt x="583171" y="257805"/>
                </a:lnTo>
                <a:lnTo>
                  <a:pt x="666481" y="254223"/>
                </a:lnTo>
                <a:lnTo>
                  <a:pt x="749791" y="250642"/>
                </a:lnTo>
                <a:lnTo>
                  <a:pt x="833101" y="247060"/>
                </a:lnTo>
                <a:lnTo>
                  <a:pt x="916411" y="243478"/>
                </a:lnTo>
                <a:lnTo>
                  <a:pt x="999722" y="239897"/>
                </a:lnTo>
                <a:lnTo>
                  <a:pt x="1083032" y="236315"/>
                </a:lnTo>
                <a:lnTo>
                  <a:pt x="1166342" y="232734"/>
                </a:lnTo>
                <a:lnTo>
                  <a:pt x="1249652" y="229152"/>
                </a:lnTo>
                <a:lnTo>
                  <a:pt x="1332962" y="225570"/>
                </a:lnTo>
                <a:lnTo>
                  <a:pt x="1416272" y="221989"/>
                </a:lnTo>
                <a:lnTo>
                  <a:pt x="1499582" y="218407"/>
                </a:lnTo>
                <a:lnTo>
                  <a:pt x="1582892" y="214825"/>
                </a:lnTo>
                <a:lnTo>
                  <a:pt x="1666203" y="211244"/>
                </a:lnTo>
                <a:lnTo>
                  <a:pt x="1749513" y="207662"/>
                </a:lnTo>
                <a:lnTo>
                  <a:pt x="1832823" y="204080"/>
                </a:lnTo>
                <a:lnTo>
                  <a:pt x="1916133" y="200499"/>
                </a:lnTo>
                <a:lnTo>
                  <a:pt x="1999443" y="196917"/>
                </a:lnTo>
                <a:lnTo>
                  <a:pt x="2082753" y="193335"/>
                </a:lnTo>
                <a:lnTo>
                  <a:pt x="2166063" y="189352"/>
                </a:lnTo>
                <a:lnTo>
                  <a:pt x="2249373" y="184363"/>
                </a:lnTo>
                <a:lnTo>
                  <a:pt x="2332684" y="179374"/>
                </a:lnTo>
                <a:lnTo>
                  <a:pt x="2415994" y="174386"/>
                </a:lnTo>
                <a:lnTo>
                  <a:pt x="2499304" y="169397"/>
                </a:lnTo>
                <a:lnTo>
                  <a:pt x="2582614" y="164408"/>
                </a:lnTo>
                <a:lnTo>
                  <a:pt x="2665924" y="159420"/>
                </a:lnTo>
                <a:lnTo>
                  <a:pt x="2749234" y="154431"/>
                </a:lnTo>
                <a:lnTo>
                  <a:pt x="2832544" y="149442"/>
                </a:lnTo>
                <a:lnTo>
                  <a:pt x="2915854" y="144453"/>
                </a:lnTo>
                <a:lnTo>
                  <a:pt x="2999165" y="139465"/>
                </a:lnTo>
                <a:lnTo>
                  <a:pt x="3082475" y="134476"/>
                </a:lnTo>
                <a:lnTo>
                  <a:pt x="3165785" y="129487"/>
                </a:lnTo>
                <a:lnTo>
                  <a:pt x="3249095" y="124499"/>
                </a:lnTo>
                <a:lnTo>
                  <a:pt x="3332405" y="119510"/>
                </a:lnTo>
                <a:lnTo>
                  <a:pt x="3415715" y="114521"/>
                </a:lnTo>
                <a:lnTo>
                  <a:pt x="3499025" y="109532"/>
                </a:lnTo>
                <a:lnTo>
                  <a:pt x="3582335" y="104379"/>
                </a:lnTo>
                <a:lnTo>
                  <a:pt x="3665646" y="98239"/>
                </a:lnTo>
                <a:lnTo>
                  <a:pt x="3748956" y="92099"/>
                </a:lnTo>
                <a:lnTo>
                  <a:pt x="3832266" y="85959"/>
                </a:lnTo>
                <a:lnTo>
                  <a:pt x="3915576" y="79819"/>
                </a:lnTo>
                <a:lnTo>
                  <a:pt x="3998886" y="73679"/>
                </a:lnTo>
                <a:lnTo>
                  <a:pt x="4082196" y="67540"/>
                </a:lnTo>
                <a:lnTo>
                  <a:pt x="4165506" y="61400"/>
                </a:lnTo>
                <a:lnTo>
                  <a:pt x="4248816" y="55260"/>
                </a:lnTo>
                <a:lnTo>
                  <a:pt x="4332127" y="49120"/>
                </a:lnTo>
                <a:lnTo>
                  <a:pt x="4415437" y="42980"/>
                </a:lnTo>
                <a:lnTo>
                  <a:pt x="4498747" y="36840"/>
                </a:lnTo>
                <a:lnTo>
                  <a:pt x="4582057" y="30700"/>
                </a:lnTo>
                <a:lnTo>
                  <a:pt x="4665367" y="24560"/>
                </a:lnTo>
                <a:lnTo>
                  <a:pt x="4748677" y="18420"/>
                </a:lnTo>
                <a:lnTo>
                  <a:pt x="4831987" y="12280"/>
                </a:lnTo>
                <a:lnTo>
                  <a:pt x="4915297" y="6140"/>
                </a:lnTo>
                <a:lnTo>
                  <a:pt x="4998608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1363055" y="3950815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82" name="weight: 50-й центиль"/>
          <p:cNvSpPr/>
          <p:nvPr/>
        </p:nvSpPr>
        <p:spPr>
          <a:xfrm>
            <a:off x="6324447" y="3909909"/>
            <a:ext cx="4998608" cy="347863"/>
          </a:xfrm>
          <a:custGeom>
            <a:avLst/>
            <a:gdLst/>
            <a:ahLst/>
            <a:cxnLst/>
            <a:rect l="l" t="t" r="r" b="b"/>
            <a:pathLst>
              <a:path w="4998608" h="347863">
                <a:moveTo>
                  <a:pt x="0" y="347863"/>
                </a:moveTo>
                <a:lnTo>
                  <a:pt x="83310" y="343459"/>
                </a:lnTo>
                <a:lnTo>
                  <a:pt x="166620" y="339054"/>
                </a:lnTo>
                <a:lnTo>
                  <a:pt x="249930" y="334650"/>
                </a:lnTo>
                <a:lnTo>
                  <a:pt x="333241" y="330245"/>
                </a:lnTo>
                <a:lnTo>
                  <a:pt x="416551" y="325841"/>
                </a:lnTo>
                <a:lnTo>
                  <a:pt x="499861" y="321437"/>
                </a:lnTo>
                <a:lnTo>
                  <a:pt x="583171" y="317032"/>
                </a:lnTo>
                <a:lnTo>
                  <a:pt x="666481" y="312628"/>
                </a:lnTo>
                <a:lnTo>
                  <a:pt x="749791" y="308223"/>
                </a:lnTo>
                <a:lnTo>
                  <a:pt x="833101" y="303819"/>
                </a:lnTo>
                <a:lnTo>
                  <a:pt x="916411" y="299414"/>
                </a:lnTo>
                <a:lnTo>
                  <a:pt x="999722" y="295010"/>
                </a:lnTo>
                <a:lnTo>
                  <a:pt x="1083032" y="290605"/>
                </a:lnTo>
                <a:lnTo>
                  <a:pt x="1166342" y="286201"/>
                </a:lnTo>
                <a:lnTo>
                  <a:pt x="1249652" y="281796"/>
                </a:lnTo>
                <a:lnTo>
                  <a:pt x="1332962" y="277392"/>
                </a:lnTo>
                <a:lnTo>
                  <a:pt x="1416272" y="272987"/>
                </a:lnTo>
                <a:lnTo>
                  <a:pt x="1499582" y="268583"/>
                </a:lnTo>
                <a:lnTo>
                  <a:pt x="1582892" y="264178"/>
                </a:lnTo>
                <a:lnTo>
                  <a:pt x="1666203" y="259774"/>
                </a:lnTo>
                <a:lnTo>
                  <a:pt x="1749513" y="255369"/>
                </a:lnTo>
                <a:lnTo>
                  <a:pt x="1832823" y="250965"/>
                </a:lnTo>
                <a:lnTo>
                  <a:pt x="1916133" y="246560"/>
                </a:lnTo>
                <a:lnTo>
                  <a:pt x="1999443" y="242156"/>
                </a:lnTo>
                <a:lnTo>
                  <a:pt x="2082753" y="237752"/>
                </a:lnTo>
                <a:lnTo>
                  <a:pt x="2166063" y="232853"/>
                </a:lnTo>
                <a:lnTo>
                  <a:pt x="2249373" y="226718"/>
                </a:lnTo>
                <a:lnTo>
                  <a:pt x="2332684" y="220583"/>
                </a:lnTo>
                <a:lnTo>
                  <a:pt x="2415994" y="214448"/>
                </a:lnTo>
                <a:lnTo>
                  <a:pt x="2499304" y="208313"/>
                </a:lnTo>
                <a:lnTo>
                  <a:pt x="2582614" y="202179"/>
                </a:lnTo>
                <a:lnTo>
                  <a:pt x="2665924" y="196044"/>
                </a:lnTo>
                <a:lnTo>
                  <a:pt x="2749234" y="189909"/>
                </a:lnTo>
                <a:lnTo>
                  <a:pt x="2832544" y="183774"/>
                </a:lnTo>
                <a:lnTo>
                  <a:pt x="2915854" y="177639"/>
                </a:lnTo>
                <a:lnTo>
                  <a:pt x="2999165" y="171505"/>
                </a:lnTo>
                <a:lnTo>
                  <a:pt x="3082475" y="165370"/>
                </a:lnTo>
                <a:lnTo>
                  <a:pt x="3165785" y="159235"/>
                </a:lnTo>
                <a:lnTo>
                  <a:pt x="3249095" y="153100"/>
                </a:lnTo>
                <a:lnTo>
                  <a:pt x="3332405" y="146965"/>
                </a:lnTo>
                <a:lnTo>
                  <a:pt x="3415715" y="140831"/>
                </a:lnTo>
                <a:lnTo>
                  <a:pt x="3499025" y="134696"/>
                </a:lnTo>
                <a:lnTo>
                  <a:pt x="3582335" y="128359"/>
                </a:lnTo>
                <a:lnTo>
                  <a:pt x="3665646" y="120808"/>
                </a:lnTo>
                <a:lnTo>
                  <a:pt x="3748956" y="113258"/>
                </a:lnTo>
                <a:lnTo>
                  <a:pt x="3832266" y="105707"/>
                </a:lnTo>
                <a:lnTo>
                  <a:pt x="3915576" y="98157"/>
                </a:lnTo>
                <a:lnTo>
                  <a:pt x="3998886" y="90606"/>
                </a:lnTo>
                <a:lnTo>
                  <a:pt x="4082196" y="83056"/>
                </a:lnTo>
                <a:lnTo>
                  <a:pt x="4165506" y="75505"/>
                </a:lnTo>
                <a:lnTo>
                  <a:pt x="4248816" y="67955"/>
                </a:lnTo>
                <a:lnTo>
                  <a:pt x="4332127" y="60404"/>
                </a:lnTo>
                <a:lnTo>
                  <a:pt x="4415437" y="52854"/>
                </a:lnTo>
                <a:lnTo>
                  <a:pt x="4498747" y="45303"/>
                </a:lnTo>
                <a:lnTo>
                  <a:pt x="4582057" y="37752"/>
                </a:lnTo>
                <a:lnTo>
                  <a:pt x="4665367" y="30202"/>
                </a:lnTo>
                <a:lnTo>
                  <a:pt x="4748677" y="22651"/>
                </a:lnTo>
                <a:lnTo>
                  <a:pt x="4831987" y="15101"/>
                </a:lnTo>
                <a:lnTo>
                  <a:pt x="4915297" y="7550"/>
                </a:lnTo>
                <a:lnTo>
                  <a:pt x="4998608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363055" y="3829909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84" name="weight: 97-й центиль"/>
          <p:cNvSpPr/>
          <p:nvPr/>
        </p:nvSpPr>
        <p:spPr>
          <a:xfrm>
            <a:off x="6324447" y="3666193"/>
            <a:ext cx="4998608" cy="478861"/>
          </a:xfrm>
          <a:custGeom>
            <a:avLst/>
            <a:gdLst/>
            <a:ahLst/>
            <a:cxnLst/>
            <a:rect l="l" t="t" r="r" b="b"/>
            <a:pathLst>
              <a:path w="4998608" h="478861">
                <a:moveTo>
                  <a:pt x="0" y="478861"/>
                </a:moveTo>
                <a:lnTo>
                  <a:pt x="83310" y="472798"/>
                </a:lnTo>
                <a:lnTo>
                  <a:pt x="166620" y="466734"/>
                </a:lnTo>
                <a:lnTo>
                  <a:pt x="249930" y="460671"/>
                </a:lnTo>
                <a:lnTo>
                  <a:pt x="333241" y="454608"/>
                </a:lnTo>
                <a:lnTo>
                  <a:pt x="416551" y="448545"/>
                </a:lnTo>
                <a:lnTo>
                  <a:pt x="499861" y="442482"/>
                </a:lnTo>
                <a:lnTo>
                  <a:pt x="583171" y="436419"/>
                </a:lnTo>
                <a:lnTo>
                  <a:pt x="666481" y="430356"/>
                </a:lnTo>
                <a:lnTo>
                  <a:pt x="749791" y="424293"/>
                </a:lnTo>
                <a:lnTo>
                  <a:pt x="833101" y="418230"/>
                </a:lnTo>
                <a:lnTo>
                  <a:pt x="916411" y="412167"/>
                </a:lnTo>
                <a:lnTo>
                  <a:pt x="999722" y="406103"/>
                </a:lnTo>
                <a:lnTo>
                  <a:pt x="1083032" y="400040"/>
                </a:lnTo>
                <a:lnTo>
                  <a:pt x="1166342" y="393977"/>
                </a:lnTo>
                <a:lnTo>
                  <a:pt x="1249652" y="387914"/>
                </a:lnTo>
                <a:lnTo>
                  <a:pt x="1332962" y="381851"/>
                </a:lnTo>
                <a:lnTo>
                  <a:pt x="1416272" y="375788"/>
                </a:lnTo>
                <a:lnTo>
                  <a:pt x="1499582" y="369725"/>
                </a:lnTo>
                <a:lnTo>
                  <a:pt x="1582892" y="363662"/>
                </a:lnTo>
                <a:lnTo>
                  <a:pt x="1666203" y="357599"/>
                </a:lnTo>
                <a:lnTo>
                  <a:pt x="1749513" y="351536"/>
                </a:lnTo>
                <a:lnTo>
                  <a:pt x="1832823" y="345473"/>
                </a:lnTo>
                <a:lnTo>
                  <a:pt x="1916133" y="339409"/>
                </a:lnTo>
                <a:lnTo>
                  <a:pt x="1999443" y="333346"/>
                </a:lnTo>
                <a:lnTo>
                  <a:pt x="2082753" y="327283"/>
                </a:lnTo>
                <a:lnTo>
                  <a:pt x="2166063" y="320540"/>
                </a:lnTo>
                <a:lnTo>
                  <a:pt x="2249373" y="312095"/>
                </a:lnTo>
                <a:lnTo>
                  <a:pt x="2332684" y="303650"/>
                </a:lnTo>
                <a:lnTo>
                  <a:pt x="2415994" y="295204"/>
                </a:lnTo>
                <a:lnTo>
                  <a:pt x="2499304" y="286759"/>
                </a:lnTo>
                <a:lnTo>
                  <a:pt x="2582614" y="278314"/>
                </a:lnTo>
                <a:lnTo>
                  <a:pt x="2665924" y="269869"/>
                </a:lnTo>
                <a:lnTo>
                  <a:pt x="2749234" y="261424"/>
                </a:lnTo>
                <a:lnTo>
                  <a:pt x="2832544" y="252979"/>
                </a:lnTo>
                <a:lnTo>
                  <a:pt x="2915854" y="244534"/>
                </a:lnTo>
                <a:lnTo>
                  <a:pt x="2999165" y="236089"/>
                </a:lnTo>
                <a:lnTo>
                  <a:pt x="3082475" y="227644"/>
                </a:lnTo>
                <a:lnTo>
                  <a:pt x="3165785" y="219199"/>
                </a:lnTo>
                <a:lnTo>
                  <a:pt x="3249095" y="210754"/>
                </a:lnTo>
                <a:lnTo>
                  <a:pt x="3332405" y="202309"/>
                </a:lnTo>
                <a:lnTo>
                  <a:pt x="3415715" y="193864"/>
                </a:lnTo>
                <a:lnTo>
                  <a:pt x="3499025" y="185419"/>
                </a:lnTo>
                <a:lnTo>
                  <a:pt x="3582335" y="176696"/>
                </a:lnTo>
                <a:lnTo>
                  <a:pt x="3665646" y="166302"/>
                </a:lnTo>
                <a:lnTo>
                  <a:pt x="3748956" y="155908"/>
                </a:lnTo>
                <a:lnTo>
                  <a:pt x="3832266" y="145514"/>
                </a:lnTo>
                <a:lnTo>
                  <a:pt x="3915576" y="135120"/>
                </a:lnTo>
                <a:lnTo>
                  <a:pt x="3998886" y="124726"/>
                </a:lnTo>
                <a:lnTo>
                  <a:pt x="4082196" y="114332"/>
                </a:lnTo>
                <a:lnTo>
                  <a:pt x="4165506" y="103939"/>
                </a:lnTo>
                <a:lnTo>
                  <a:pt x="4248816" y="93545"/>
                </a:lnTo>
                <a:lnTo>
                  <a:pt x="4332127" y="83151"/>
                </a:lnTo>
                <a:lnTo>
                  <a:pt x="4415437" y="72757"/>
                </a:lnTo>
                <a:lnTo>
                  <a:pt x="4498747" y="62363"/>
                </a:lnTo>
                <a:lnTo>
                  <a:pt x="4582057" y="51969"/>
                </a:lnTo>
                <a:lnTo>
                  <a:pt x="4665367" y="41575"/>
                </a:lnTo>
                <a:lnTo>
                  <a:pt x="4748677" y="31181"/>
                </a:lnTo>
                <a:lnTo>
                  <a:pt x="4831987" y="20787"/>
                </a:lnTo>
                <a:lnTo>
                  <a:pt x="4915297" y="10394"/>
                </a:lnTo>
                <a:lnTo>
                  <a:pt x="4998608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1363055" y="3586193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86" name="weight: ось"/>
          <p:cNvSpPr/>
          <p:nvPr/>
        </p:nvSpPr>
        <p:spPr>
          <a:xfrm>
            <a:off x="6324447" y="4352544"/>
            <a:ext cx="4998608" cy="0"/>
          </a:xfrm>
          <a:custGeom>
            <a:avLst/>
            <a:gdLst/>
            <a:ahLst/>
            <a:cxnLst/>
            <a:rect l="l" t="t" r="r" b="b"/>
            <a:pathLst>
              <a:path w="4998608" h="0">
                <a:moveTo>
                  <a:pt x="0" y="0"/>
                </a:moveTo>
                <a:lnTo>
                  <a:pt x="4998608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174447" y="438254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88534" y="438254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602621" y="438254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16707" y="438254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030794" y="438254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744881" y="438254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58968" y="438254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173055" y="438254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95" name="weight: пациент"/>
          <p:cNvSpPr/>
          <p:nvPr/>
        </p:nvSpPr>
        <p:spPr>
          <a:xfrm>
            <a:off x="6324447" y="3666158"/>
            <a:ext cx="4284521" cy="575953"/>
          </a:xfrm>
          <a:custGeom>
            <a:avLst/>
            <a:gdLst/>
            <a:ahLst/>
            <a:cxnLst/>
            <a:rect l="l" t="t" r="r" b="b"/>
            <a:pathLst>
              <a:path w="4284521" h="575953">
                <a:moveTo>
                  <a:pt x="0" y="575953"/>
                </a:moveTo>
                <a:lnTo>
                  <a:pt x="119014" y="568419"/>
                </a:lnTo>
                <a:lnTo>
                  <a:pt x="238029" y="560845"/>
                </a:lnTo>
                <a:lnTo>
                  <a:pt x="357043" y="553230"/>
                </a:lnTo>
                <a:lnTo>
                  <a:pt x="476058" y="545576"/>
                </a:lnTo>
                <a:lnTo>
                  <a:pt x="595072" y="537880"/>
                </a:lnTo>
                <a:lnTo>
                  <a:pt x="714087" y="530143"/>
                </a:lnTo>
                <a:lnTo>
                  <a:pt x="833101" y="522366"/>
                </a:lnTo>
                <a:lnTo>
                  <a:pt x="952116" y="514547"/>
                </a:lnTo>
                <a:lnTo>
                  <a:pt x="1071130" y="506686"/>
                </a:lnTo>
                <a:lnTo>
                  <a:pt x="1190145" y="498784"/>
                </a:lnTo>
                <a:lnTo>
                  <a:pt x="1309159" y="490841"/>
                </a:lnTo>
                <a:lnTo>
                  <a:pt x="1428174" y="482855"/>
                </a:lnTo>
                <a:lnTo>
                  <a:pt x="1487681" y="475917"/>
                </a:lnTo>
                <a:lnTo>
                  <a:pt x="1547188" y="468891"/>
                </a:lnTo>
                <a:lnTo>
                  <a:pt x="1606695" y="461774"/>
                </a:lnTo>
                <a:lnTo>
                  <a:pt x="1666203" y="454567"/>
                </a:lnTo>
                <a:lnTo>
                  <a:pt x="1725710" y="447269"/>
                </a:lnTo>
                <a:lnTo>
                  <a:pt x="1785217" y="439877"/>
                </a:lnTo>
                <a:lnTo>
                  <a:pt x="1844724" y="432391"/>
                </a:lnTo>
                <a:lnTo>
                  <a:pt x="1904231" y="424811"/>
                </a:lnTo>
                <a:lnTo>
                  <a:pt x="1963739" y="417135"/>
                </a:lnTo>
                <a:lnTo>
                  <a:pt x="2023246" y="409361"/>
                </a:lnTo>
                <a:lnTo>
                  <a:pt x="2082753" y="401489"/>
                </a:lnTo>
                <a:lnTo>
                  <a:pt x="2142260" y="393518"/>
                </a:lnTo>
                <a:lnTo>
                  <a:pt x="2201768" y="383944"/>
                </a:lnTo>
                <a:lnTo>
                  <a:pt x="2261275" y="374243"/>
                </a:lnTo>
                <a:lnTo>
                  <a:pt x="2320782" y="364412"/>
                </a:lnTo>
                <a:lnTo>
                  <a:pt x="2380289" y="354452"/>
                </a:lnTo>
                <a:lnTo>
                  <a:pt x="2439797" y="344360"/>
                </a:lnTo>
                <a:lnTo>
                  <a:pt x="2499304" y="334135"/>
                </a:lnTo>
                <a:lnTo>
                  <a:pt x="2558811" y="323775"/>
                </a:lnTo>
                <a:lnTo>
                  <a:pt x="2618318" y="313279"/>
                </a:lnTo>
                <a:lnTo>
                  <a:pt x="2677825" y="302645"/>
                </a:lnTo>
                <a:lnTo>
                  <a:pt x="2737333" y="291871"/>
                </a:lnTo>
                <a:lnTo>
                  <a:pt x="2796840" y="280956"/>
                </a:lnTo>
                <a:lnTo>
                  <a:pt x="2856347" y="269899"/>
                </a:lnTo>
                <a:lnTo>
                  <a:pt x="2915854" y="259592"/>
                </a:lnTo>
                <a:lnTo>
                  <a:pt x="2975362" y="249171"/>
                </a:lnTo>
                <a:lnTo>
                  <a:pt x="3034869" y="238633"/>
                </a:lnTo>
                <a:lnTo>
                  <a:pt x="3094376" y="227977"/>
                </a:lnTo>
                <a:lnTo>
                  <a:pt x="3153883" y="217203"/>
                </a:lnTo>
                <a:lnTo>
                  <a:pt x="3213391" y="206310"/>
                </a:lnTo>
                <a:lnTo>
                  <a:pt x="3272898" y="195295"/>
                </a:lnTo>
                <a:lnTo>
                  <a:pt x="3332405" y="184159"/>
                </a:lnTo>
                <a:lnTo>
                  <a:pt x="3391912" y="172899"/>
                </a:lnTo>
                <a:lnTo>
                  <a:pt x="3451419" y="161515"/>
                </a:lnTo>
                <a:lnTo>
                  <a:pt x="3510927" y="150006"/>
                </a:lnTo>
                <a:lnTo>
                  <a:pt x="3570434" y="138369"/>
                </a:lnTo>
                <a:lnTo>
                  <a:pt x="3629941" y="127292"/>
                </a:lnTo>
                <a:lnTo>
                  <a:pt x="3689448" y="116133"/>
                </a:lnTo>
                <a:lnTo>
                  <a:pt x="3748956" y="104893"/>
                </a:lnTo>
                <a:lnTo>
                  <a:pt x="3808463" y="93572"/>
                </a:lnTo>
                <a:lnTo>
                  <a:pt x="3867970" y="82168"/>
                </a:lnTo>
                <a:lnTo>
                  <a:pt x="3927477" y="70682"/>
                </a:lnTo>
                <a:lnTo>
                  <a:pt x="3986985" y="59112"/>
                </a:lnTo>
                <a:lnTo>
                  <a:pt x="4046492" y="47459"/>
                </a:lnTo>
                <a:lnTo>
                  <a:pt x="4105999" y="35722"/>
                </a:lnTo>
                <a:lnTo>
                  <a:pt x="4165506" y="23900"/>
                </a:lnTo>
                <a:lnTo>
                  <a:pt x="4225013" y="11992"/>
                </a:lnTo>
                <a:lnTo>
                  <a:pt x="4284521" y="0"/>
                </a:lnTo>
              </a:path>
            </a:pathLst>
          </a:custGeom>
          <a:noFill/>
          <a:ln w="34925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weight: визит 5"/>
          <p:cNvSpPr/>
          <p:nvPr/>
        </p:nvSpPr>
        <p:spPr>
          <a:xfrm>
            <a:off x="6264447" y="4182111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weight: визит 7"/>
          <p:cNvSpPr/>
          <p:nvPr/>
        </p:nvSpPr>
        <p:spPr>
          <a:xfrm>
            <a:off x="7692621" y="4089013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weight: визит 8"/>
          <p:cNvSpPr/>
          <p:nvPr/>
        </p:nvSpPr>
        <p:spPr>
          <a:xfrm>
            <a:off x="8406707" y="3999676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weight: визит 9"/>
          <p:cNvSpPr/>
          <p:nvPr/>
        </p:nvSpPr>
        <p:spPr>
          <a:xfrm>
            <a:off x="9120794" y="3876057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weight: визит 10"/>
          <p:cNvSpPr/>
          <p:nvPr/>
        </p:nvSpPr>
        <p:spPr>
          <a:xfrm>
            <a:off x="9834881" y="3744527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weight: визит 11"/>
          <p:cNvSpPr/>
          <p:nvPr/>
        </p:nvSpPr>
        <p:spPr>
          <a:xfrm>
            <a:off x="10548968" y="3606158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324447" y="3397306"/>
            <a:ext cx="4998607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Масса, кг</a:t>
            </a:r>
          </a:p>
        </p:txBody>
      </p:sp>
      <p:sp>
        <p:nvSpPr>
          <p:cNvPr id="103" name="Легенда"/>
          <p:cNvSpPr/>
          <p:nvPr/>
        </p:nvSpPr>
        <p:spPr>
          <a:xfrm>
            <a:off x="548640" y="4663440"/>
            <a:ext cx="274320" cy="9144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Легенда"/>
          <p:cNvSpPr txBox="1"/>
          <p:nvPr/>
        </p:nvSpPr>
        <p:spPr>
          <a:xfrm>
            <a:off x="896112" y="459943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пример: рост</a:t>
            </a:r>
          </a:p>
        </p:txBody>
      </p:sp>
      <p:sp>
        <p:nvSpPr>
          <p:cNvPr id="105" name="Легенда"/>
          <p:cNvSpPr/>
          <p:nvPr/>
        </p:nvSpPr>
        <p:spPr>
          <a:xfrm>
            <a:off x="2560320" y="4663440"/>
            <a:ext cx="274320" cy="91440"/>
          </a:xfrm>
          <a:prstGeom prst="rect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Легенда"/>
          <p:cNvSpPr txBox="1"/>
          <p:nvPr/>
        </p:nvSpPr>
        <p:spPr>
          <a:xfrm>
            <a:off x="2907792" y="459943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пример: масса</a:t>
            </a:r>
          </a:p>
        </p:txBody>
      </p:sp>
      <p:sp>
        <p:nvSpPr>
          <p:cNvPr id="107" name="Легенда"/>
          <p:cNvSpPr/>
          <p:nvPr/>
        </p:nvSpPr>
        <p:spPr>
          <a:xfrm>
            <a:off x="4572000" y="4663440"/>
            <a:ext cx="274320" cy="9144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Легенда"/>
          <p:cNvSpPr txBox="1"/>
          <p:nvPr/>
        </p:nvSpPr>
        <p:spPr>
          <a:xfrm>
            <a:off x="4919472" y="459943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норма: 3–⁠97-й центиль</a:t>
            </a:r>
          </a:p>
        </p:txBody>
      </p:sp>
      <p:sp>
        <p:nvSpPr>
          <p:cNvPr id="109" name="Текст"/>
          <p:cNvSpPr txBox="1"/>
          <p:nvPr/>
        </p:nvSpPr>
        <p:spPr>
          <a:xfrm>
            <a:off x="548640" y="4919472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400"/>
              </a:spcAft>
              <a:buClr>
                <a:srgbClr val="1F6F8B"/>
              </a:buClr>
              <a:buChar char="–"/>
            </a:pPr>
            <a:r>
              <a:rPr sz="1700" b="0" i="0">
                <a:solidFill>
                  <a:srgbClr val="26323A"/>
                </a:solidFill>
                <a:latin typeface="Calibri"/>
              </a:rPr>
              <a:t>Рост при диагнозе: простое ожирение +1,18 СО, болезнь Кушинга −1,88 СО</a:t>
            </a:r>
          </a:p>
          <a:p>
            <a:pPr marL="256032" indent="-256032">
              <a:lnSpc>
                <a:spcPct val="100000"/>
              </a:lnSpc>
              <a:spcAft>
                <a:spcPts val="400"/>
              </a:spcAft>
              <a:buClr>
                <a:srgbClr val="1F6F8B"/>
              </a:buClr>
              <a:buChar char="–"/>
            </a:pPr>
            <a:r>
              <a:rPr sz="1700" b="0" i="0">
                <a:solidFill>
                  <a:srgbClr val="26323A"/>
                </a:solidFill>
                <a:latin typeface="Calibri"/>
              </a:rPr>
              <a:t>Первые признаки у 59 больных: прибавка массы у 90 %, замедление роста у 83 %</a:t>
            </a:r>
          </a:p>
        </p:txBody>
      </p:sp>
      <p:sp>
        <p:nvSpPr>
          <p:cNvPr id="110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Greening JE et al. J Endocrinol Invest 2006;29:885–⁠7; Magiakou MA et al. N Engl J Med 1994;331:629–⁠36; Yamamoto M et al. Endocr J 2026, PMID 42386546; Fleseriu M et al. Lancet Diabetes Endocrinol 2021;9:847–⁠75 (Pituitary Society)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Избыток глюкокортикоидов тормозит рост в гипофизе, в тканях и в самой зоне роста</a:t>
            </a:r>
          </a:p>
        </p:txBody>
      </p:sp>
      <p:sp>
        <p:nvSpPr>
          <p:cNvPr id="3" name="Строка: Гипоталамус и гипофиз"/>
          <p:cNvSpPr/>
          <p:nvPr/>
        </p:nvSpPr>
        <p:spPr>
          <a:xfrm>
            <a:off x="3017520" y="1554480"/>
            <a:ext cx="8625535" cy="1005840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Уровень: Гипоталамус и гипофиз"/>
          <p:cNvSpPr/>
          <p:nvPr/>
        </p:nvSpPr>
        <p:spPr>
          <a:xfrm>
            <a:off x="548640" y="1554480"/>
            <a:ext cx="2468880" cy="1005840"/>
          </a:xfrm>
          <a:prstGeom prst="rect">
            <a:avLst/>
          </a:prstGeom>
          <a:solidFill>
            <a:srgbClr val="1B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Уровень"/>
          <p:cNvSpPr txBox="1"/>
          <p:nvPr/>
        </p:nvSpPr>
        <p:spPr>
          <a:xfrm>
            <a:off x="685800" y="155448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Гипоталамус и гипофиз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B9C7D0"/>
                </a:solidFill>
                <a:latin typeface="Calibri"/>
              </a:rPr>
              <a:t>СТГ</a:t>
            </a:r>
          </a:p>
        </p:txBody>
      </p:sp>
      <p:cxnSp>
        <p:nvCxnSpPr>
          <p:cNvPr id="6" name="Стрелка"/>
          <p:cNvCxnSpPr/>
          <p:nvPr/>
        </p:nvCxnSpPr>
        <p:spPr>
          <a:xfrm>
            <a:off x="1783080" y="2560320"/>
            <a:ext cx="0" cy="274320"/>
          </a:xfrm>
          <a:prstGeom prst="line">
            <a:avLst/>
          </a:prstGeom>
          <a:ln w="25400">
            <a:solidFill>
              <a:srgbClr val="8C97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Что происходит"/>
          <p:cNvSpPr txBox="1"/>
          <p:nvPr/>
        </p:nvSpPr>
        <p:spPr>
          <a:xfrm>
            <a:off x="3291840" y="1554480"/>
            <a:ext cx="8168335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900" b="0" i="0">
                <a:solidFill>
                  <a:srgbClr val="26323A"/>
                </a:solidFill>
                <a:latin typeface="Calibri"/>
              </a:rPr>
              <a:t>По традиционным представлениям длительный избыток подавляет секрецию СТГ; итог зависит от дозы и срока</a:t>
            </a:r>
          </a:p>
        </p:txBody>
      </p:sp>
      <p:sp>
        <p:nvSpPr>
          <p:cNvPr id="8" name="Строка: Ткани"/>
          <p:cNvSpPr/>
          <p:nvPr/>
        </p:nvSpPr>
        <p:spPr>
          <a:xfrm>
            <a:off x="3017520" y="2834640"/>
            <a:ext cx="8625535" cy="1005840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Уровень: Ткани"/>
          <p:cNvSpPr/>
          <p:nvPr/>
        </p:nvSpPr>
        <p:spPr>
          <a:xfrm>
            <a:off x="548640" y="2834640"/>
            <a:ext cx="2468880" cy="1005840"/>
          </a:xfrm>
          <a:prstGeom prst="rect">
            <a:avLst/>
          </a:prstGeom>
          <a:solidFill>
            <a:srgbClr val="1B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Уровень"/>
          <p:cNvSpPr txBox="1"/>
          <p:nvPr/>
        </p:nvSpPr>
        <p:spPr>
          <a:xfrm>
            <a:off x="685800" y="283464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Ткани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B9C7D0"/>
                </a:solidFill>
                <a:latin typeface="Calibri"/>
              </a:rPr>
              <a:t>рецепторы</a:t>
            </a:r>
          </a:p>
        </p:txBody>
      </p:sp>
      <p:cxnSp>
        <p:nvCxnSpPr>
          <p:cNvPr id="11" name="Стрелка"/>
          <p:cNvCxnSpPr/>
          <p:nvPr/>
        </p:nvCxnSpPr>
        <p:spPr>
          <a:xfrm>
            <a:off x="1783080" y="3840480"/>
            <a:ext cx="0" cy="274320"/>
          </a:xfrm>
          <a:prstGeom prst="line">
            <a:avLst/>
          </a:prstGeom>
          <a:ln w="25400">
            <a:solidFill>
              <a:srgbClr val="8C97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Что происходит"/>
          <p:cNvSpPr txBox="1"/>
          <p:nvPr/>
        </p:nvSpPr>
        <p:spPr>
          <a:xfrm>
            <a:off x="3291840" y="2834640"/>
            <a:ext cx="8168335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900" b="0" i="0">
                <a:solidFill>
                  <a:srgbClr val="26323A"/>
                </a:solidFill>
                <a:latin typeface="Calibri"/>
              </a:rPr>
              <a:t>Сигнал СТГ и ИФР-⁠1 в клетке нарушен: меняются число рецепторов и передача сигнала</a:t>
            </a:r>
          </a:p>
        </p:txBody>
      </p:sp>
      <p:sp>
        <p:nvSpPr>
          <p:cNvPr id="13" name="Строка: Зона роста"/>
          <p:cNvSpPr/>
          <p:nvPr/>
        </p:nvSpPr>
        <p:spPr>
          <a:xfrm>
            <a:off x="3017520" y="4114800"/>
            <a:ext cx="8625535" cy="1005840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Уровень: Зона роста"/>
          <p:cNvSpPr/>
          <p:nvPr/>
        </p:nvSpPr>
        <p:spPr>
          <a:xfrm>
            <a:off x="548640" y="4114800"/>
            <a:ext cx="2468880" cy="1005840"/>
          </a:xfrm>
          <a:prstGeom prst="rect">
            <a:avLst/>
          </a:prstGeom>
          <a:solidFill>
            <a:srgbClr val="1B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Уровень"/>
          <p:cNvSpPr txBox="1"/>
          <p:nvPr/>
        </p:nvSpPr>
        <p:spPr>
          <a:xfrm>
            <a:off x="685800" y="411480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Зона роста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B9C7D0"/>
                </a:solidFill>
                <a:latin typeface="Calibri"/>
              </a:rPr>
              <a:t>хрящ</a:t>
            </a:r>
          </a:p>
        </p:txBody>
      </p:sp>
      <p:sp>
        <p:nvSpPr>
          <p:cNvPr id="16" name="Что происходит"/>
          <p:cNvSpPr txBox="1"/>
          <p:nvPr/>
        </p:nvSpPr>
        <p:spPr>
          <a:xfrm>
            <a:off x="3291840" y="4114800"/>
            <a:ext cx="8168335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900" b="0" i="0">
                <a:solidFill>
                  <a:srgbClr val="26323A"/>
                </a:solidFill>
                <a:latin typeface="Calibri"/>
              </a:rPr>
              <a:t>Хрящ делится меньше, матрикса вырабатывается меньше, крупные клетки чаще гибнут</a:t>
            </a:r>
          </a:p>
        </p:txBody>
      </p:sp>
      <p:sp>
        <p:nvSpPr>
          <p:cNvPr id="17" name="Вывод схемы"/>
          <p:cNvSpPr txBox="1"/>
          <p:nvPr/>
        </p:nvSpPr>
        <p:spPr>
          <a:xfrm>
            <a:off x="548640" y="5285232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800" b="0" i="0">
                <a:solidFill>
                  <a:srgbClr val="1B2E3C"/>
                </a:solidFill>
                <a:latin typeface="Calibri"/>
              </a:rPr>
              <a:t>У детей с синдромом Кушинга часто задержано половое развитие. У кроликов после отмены дексаметазона старение зоны роста было отсрочено, и авторы считают, что это отчасти объясняет догоняющий рост</a:t>
            </a:r>
          </a:p>
        </p:txBody>
      </p:sp>
      <p:sp>
        <p:nvSpPr>
          <p:cNvPr id="18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Mazziotti G, Giustina A. Nat Rev Endocrinol 2013;9:265–⁠76; Hochberg Z. Horm Res 2002;58 Suppl 1:33–⁠8; Stratakis CA. Endocrinol Metab Clin North Am 2012;41:793–⁠803; Gafni RI et al. Pediatr Res 2001;50:618–⁠23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Самый частый гиперкортицизм у детей назначен врачом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194081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8960873"/>
                <a:gridCol w="2133541"/>
              </a:tblGrid>
              <a:tr h="699516"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Глюкокортикоиды внутрь при тяжёлой астме: ретроспективно, сравнение непрямое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Рост, СО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эпизодические курсы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−0,44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через день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−1,22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ежедневно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−0,93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3723894"/>
            <a:ext cx="11094415" cy="2036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Ятрогенный синдром Кушинга: длительный приём глюкокортикоидов или введение АКТГ (адренокортикотропного гормона)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Даже малые дозы внутрь, ежедневно или через день, могут замедлять рост у части детей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Системный ювенильный артрит, отмена преднизолона: ускоренный рост у 17 из 24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По всей серии итоговый рост −2,0 СО, у 87 % ниже целевого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Совет докладчика: после длительного приёма назначивший врач снижает дозу постепенно, помня о надпочечниках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900" b="0" i="0">
                <a:solidFill>
                  <a:srgbClr val="66737C"/>
                </a:solidFill>
                <a:latin typeface="Calibri"/>
              </a:rPr>
              <a:t>Stratakis CA. Endocrinol Metab Clin North Am 2012;41:793–⁠803; Allen DB. Endocrinol Metab Clin North Am 1996;25:699–⁠717; Hochberg Z. Horm Res 2002;58 Suppl 1:33–⁠8; Covar RA et al. J Allergy Clin Immunol 2000;106:651–⁠9; Simon D et al. J Rheumatol 2002;29:1296–⁠300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300" b="1" i="0">
                <a:solidFill>
                  <a:srgbClr val="1B2E3C"/>
                </a:solidFill>
                <a:latin typeface="Cambria"/>
              </a:rPr>
              <a:t>Ингаляционные и некоторые назальные стероиды замедляют рост, сильные накожные дают синдром Кушинга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2800096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3081781"/>
                <a:gridCol w="8012633"/>
              </a:tblGrid>
              <a:tr h="382016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Препарат и срок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Результат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82016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Ингаляционные, 1-й год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скорость роста ниже на 0,48 см/год; во 2-й год разница незначима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636016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Будесонид 400 мкг/сут, 4–⁠6 лет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итоговый рост ниже на 1,2 см, вся потеря — в первые 2 года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82016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Беклометазон в нос, 1 год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прибавка 5,0 см против 5,9 см на плацебо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82016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Мометазон в нос, 1 год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рост не замедлился: 6,95 см против 6,35 см на плацебо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636016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Клобетазол на кожу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описан синдром Кушинга у 22 детей, чаще младенцев; ось восстанавливалась около 3,5 мес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Zhang L et al. Cochrane Database Syst Rev 2014;(7):CD009471; Kelly HW et al. N Engl J Med 2012;367:904–⁠12; Skoner DP et al. Pediatrics 2000;105:E23; Schenkel EJ et al. Pediatrics 2000;105:E22; Tempark T et al. Endocrine 2010;38:328–⁠34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Причина эндогенного гиперкортицизма зависит от возраста ребёнка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241808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060391"/>
                <a:gridCol w="4279274"/>
                <a:gridCol w="4754749"/>
              </a:tblGrid>
              <a:tr h="350266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Возраст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Что искать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Подсказка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5026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Младенцы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синдром Мак-Кьюна — Олбрайта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редкий, начало обычно до 6 мес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5725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Младше 6–⁠7 лет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надпочечниковые причины: опухоль коры, двусторонняя гиперплазия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одиночная опухоль злокачественна больше чем в 70 %, чаще проявляется до 5 лет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5725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Старше 6–⁠7 лет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болезнь Кушинга: около 75 % случаев после 7 лет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до 10 лет чаще у мальчиков (британские эксперты)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5725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Школьники и подростки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первичная пигментная узелковая дисплазия надпочечников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течение часто циклическое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900" b="0" i="0">
                <a:solidFill>
                  <a:srgbClr val="66737C"/>
                </a:solidFill>
                <a:latin typeface="Calibri"/>
              </a:rPr>
              <a:t>Stratakis CA. Endocrinol Metab Clin North Am 2012;41:793–⁠803; Fleseriu M et al. Lancet Diabetes Endocrinol 2021;9:847–⁠75 (Pituitary Society); Korbonits M et al. Nat Rev Endocrinol 2024;20:290–⁠309; Hassan M et al. Horm Res Paediatr 2026;99:718–⁠29; Wasserman JD et al. J Clin Oncol 2015;33:602–⁠9; Magiakou MA et al. N Engl J Med 1994;331:629–⁠36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Гиперкортицизм подтверждают повторными тестами первой линии, а не разовым кортизолом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219583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3615034"/>
                <a:gridCol w="7479380"/>
              </a:tblGrid>
              <a:tr h="350266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Тест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Условия и порог у детей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5026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Свободный кортизол в суточной моче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с поправкой на площадь поверхности тела; детского порога в источниках нет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5026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Кортизол слюны в 23:00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≥ 8 нмоль/л (0,29 мкг/дл), дети с ожирением: 10 больных, 22 контроля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5725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Ночная проба: 1 мг дексаметазона в 23:00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кортизол сыворотки в 8:00 &gt; 50 нмоль/л (1,8 мкг/дл): дообследовать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5725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Полуночный кортизол сыворотки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в стационаре, после повышенного кортизола мочи: ≥ 121 нмоль/л (4,4 мкг/дл), чувствительность 99 %, специфичность 100 %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3978910"/>
            <a:ext cx="11094415" cy="1781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Начинают с доступного: ночная проба, суточная моча или слюна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Мочу и слюну повторяют 2–⁠3 раза (Общество гипофиза, общая рекомендация)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Fleseriu M et al. Lancet Diabetes Endocrinol 2021;9:847–⁠75 (Pituitary Society); Stratakis CA. Endocrinol Metab Clin North Am 2012;41:793–⁠803; Batista DL et al. Pediatrics 2007;120:e575–⁠86; Ballerini MG et al. Horm Res Paediatr 2025;98:719–⁠27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Пограничный скрининг повторяют, а подтверждённый гиперкортицизм ведёт центр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251231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6985372"/>
                <a:gridCol w="4109042"/>
              </a:tblGrid>
              <a:tr h="699516"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Что даёт ложное отклонение (общие разделы, не только дети)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В каком тесте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69951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Тяжёлое ожирение, стресс, депрессия, плохо компенсированный диабет, много выпитой жидкости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свободный кортизол в суточной моче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69951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Эстрогены внутрь, беременность, активный гепатит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ночная проба с дексаметазоном по кортизолу сыворотки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Фенобарбитал, карбамазепин, зверобой, диарея, целиакия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ночная проба с дексаметазоном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4295394"/>
            <a:ext cx="11094415" cy="14653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Общество гипофиза: центр с детским эндокринологом и нейрохирургом по гипофизу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Британские эксперты: вместе со специалистами по гипофизу у взрослых, включая переход и пожизненное наблюдение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Fleseriu M et al. Lancet Diabetes Endocrinol 2021;9:847–⁠75 (Pituitary Society); Stratakis CA. Endocrinol Metab Clin North Am 2012;41:793–⁠803; Korbonits M et al. Nat Rev Endocrinol 2024;20:290–⁠309; Ballerini MG et al. Horm Res Paediatr 2025;98:719–⁠27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После излечения итоговый рост в среднем примерно на 1 СО ниже целевого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3" cy="165506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218883"/>
                <a:gridCol w="1365466"/>
                <a:gridCol w="3755032"/>
                <a:gridCol w="3755032"/>
              </a:tblGrid>
              <a:tr h="413766"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Серия, год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Дети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Ниже целевого при диагнозе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Ниже целевого в конце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1994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на 8,9 см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2000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на 1,72 СО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на 0,93 СО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2005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на 2,4 СО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на 1,2 СО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3438144"/>
            <a:ext cx="11094415" cy="2322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Итоговый или последний рост в трёх сериях около −1,3 СО от нормы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ИМТ в серии 2005 года снизился с +2,7 до +1,7 СО, нормы не достиг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Magiakou MA et al. J Clin Endocrinol Metab 1994;79:1082–⁠5; Lebrethon MC et al. J Clin Endocrinol Metab 2000;85:3262–⁠5; Davies JH et al. Clin Endocrinol (Oxf) 2005;62:466–⁠72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Дефицит СТГ после операции проверяют в первые 3–⁠6 месяцев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Надпочечниковая недостаточность после излечения: замещение до восстановления оси (около года), стрессовые дозы при болезни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При дефиците СТГ лечение начинают сразу, чтобы ребёнок рос нормально (Общество гипофиза)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Серия 2005 года: пик СТГ ниже 20 мЕд/л у 13 из 14 детей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Оценка Общества гипофиза: пик ниже 9 мЕд/л у 31 %, ниже 30 мЕд/л у 54 %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У взрослых рецидив ищут пожизненно, после облучения ещё и дефицит гормонов (Общество гипофиза)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Fleseriu M et al. Lancet Diabetes Endocrinol 2021;9:847–⁠75 (Pituitary Society); Stratakis CA. Endocrinol Metab Clin North Am 2012;41:793–⁠803; Davies JH et al. Clin Endocrinol (Oxf) 2005;62:466–⁠72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При конституциональной задержке рост отстаёт до пубертата и догоняет поздно</a:t>
            </a:r>
          </a:p>
        </p:txBody>
      </p:sp>
      <p:sp>
        <p:nvSpPr>
          <p:cNvPr id="3" name="height: полоса 3–97"/>
          <p:cNvSpPr/>
          <p:nvPr/>
        </p:nvSpPr>
        <p:spPr>
          <a:xfrm>
            <a:off x="548640" y="2360347"/>
            <a:ext cx="6446560" cy="1035980"/>
          </a:xfrm>
          <a:custGeom>
            <a:avLst/>
            <a:gdLst/>
            <a:ahLst/>
            <a:cxnLst/>
            <a:rect l="l" t="t" r="r" b="b"/>
            <a:pathLst>
              <a:path w="6446560" h="1035980">
                <a:moveTo>
                  <a:pt x="0" y="914299"/>
                </a:moveTo>
                <a:lnTo>
                  <a:pt x="107442" y="887182"/>
                </a:lnTo>
                <a:lnTo>
                  <a:pt x="214885" y="860857"/>
                </a:lnTo>
                <a:lnTo>
                  <a:pt x="322328" y="835300"/>
                </a:lnTo>
                <a:lnTo>
                  <a:pt x="429770" y="810487"/>
                </a:lnTo>
                <a:lnTo>
                  <a:pt x="537213" y="786396"/>
                </a:lnTo>
                <a:lnTo>
                  <a:pt x="644656" y="763005"/>
                </a:lnTo>
                <a:lnTo>
                  <a:pt x="752098" y="740293"/>
                </a:lnTo>
                <a:lnTo>
                  <a:pt x="859541" y="718239"/>
                </a:lnTo>
                <a:lnTo>
                  <a:pt x="966984" y="696823"/>
                </a:lnTo>
                <a:lnTo>
                  <a:pt x="1074426" y="676025"/>
                </a:lnTo>
                <a:lnTo>
                  <a:pt x="1181869" y="655828"/>
                </a:lnTo>
                <a:lnTo>
                  <a:pt x="1289312" y="636211"/>
                </a:lnTo>
                <a:lnTo>
                  <a:pt x="1396754" y="617158"/>
                </a:lnTo>
                <a:lnTo>
                  <a:pt x="1504197" y="598650"/>
                </a:lnTo>
                <a:lnTo>
                  <a:pt x="1611640" y="580671"/>
                </a:lnTo>
                <a:lnTo>
                  <a:pt x="1719082" y="563203"/>
                </a:lnTo>
                <a:lnTo>
                  <a:pt x="1826525" y="546229"/>
                </a:lnTo>
                <a:lnTo>
                  <a:pt x="1933968" y="529733"/>
                </a:lnTo>
                <a:lnTo>
                  <a:pt x="2041410" y="513699"/>
                </a:lnTo>
                <a:lnTo>
                  <a:pt x="2148853" y="498109"/>
                </a:lnTo>
                <a:lnTo>
                  <a:pt x="2256296" y="482946"/>
                </a:lnTo>
                <a:lnTo>
                  <a:pt x="2363738" y="468193"/>
                </a:lnTo>
                <a:lnTo>
                  <a:pt x="2471181" y="453831"/>
                </a:lnTo>
                <a:lnTo>
                  <a:pt x="2578624" y="439840"/>
                </a:lnTo>
                <a:lnTo>
                  <a:pt x="2686066" y="426199"/>
                </a:lnTo>
                <a:lnTo>
                  <a:pt x="2793509" y="412884"/>
                </a:lnTo>
                <a:lnTo>
                  <a:pt x="2900951" y="399868"/>
                </a:lnTo>
                <a:lnTo>
                  <a:pt x="3008394" y="387119"/>
                </a:lnTo>
                <a:lnTo>
                  <a:pt x="3115837" y="374601"/>
                </a:lnTo>
                <a:lnTo>
                  <a:pt x="3223280" y="362272"/>
                </a:lnTo>
                <a:lnTo>
                  <a:pt x="3330722" y="350079"/>
                </a:lnTo>
                <a:lnTo>
                  <a:pt x="3438165" y="337959"/>
                </a:lnTo>
                <a:lnTo>
                  <a:pt x="3545608" y="325838"/>
                </a:lnTo>
                <a:lnTo>
                  <a:pt x="3653050" y="313623"/>
                </a:lnTo>
                <a:lnTo>
                  <a:pt x="3760493" y="301207"/>
                </a:lnTo>
                <a:lnTo>
                  <a:pt x="3867936" y="288462"/>
                </a:lnTo>
                <a:lnTo>
                  <a:pt x="3975378" y="275241"/>
                </a:lnTo>
                <a:lnTo>
                  <a:pt x="4082821" y="261385"/>
                </a:lnTo>
                <a:lnTo>
                  <a:pt x="4190264" y="246727"/>
                </a:lnTo>
                <a:lnTo>
                  <a:pt x="4297706" y="231116"/>
                </a:lnTo>
                <a:lnTo>
                  <a:pt x="4405149" y="214438"/>
                </a:lnTo>
                <a:lnTo>
                  <a:pt x="4512592" y="196657"/>
                </a:lnTo>
                <a:lnTo>
                  <a:pt x="4620034" y="177851"/>
                </a:lnTo>
                <a:lnTo>
                  <a:pt x="4727477" y="158251"/>
                </a:lnTo>
                <a:lnTo>
                  <a:pt x="4834920" y="138246"/>
                </a:lnTo>
                <a:lnTo>
                  <a:pt x="4942362" y="118364"/>
                </a:lnTo>
                <a:lnTo>
                  <a:pt x="5049805" y="99204"/>
                </a:lnTo>
                <a:lnTo>
                  <a:pt x="5157248" y="81339"/>
                </a:lnTo>
                <a:lnTo>
                  <a:pt x="5264690" y="65224"/>
                </a:lnTo>
                <a:lnTo>
                  <a:pt x="5372133" y="51140"/>
                </a:lnTo>
                <a:lnTo>
                  <a:pt x="5479576" y="39170"/>
                </a:lnTo>
                <a:lnTo>
                  <a:pt x="5587018" y="29232"/>
                </a:lnTo>
                <a:lnTo>
                  <a:pt x="5694461" y="21128"/>
                </a:lnTo>
                <a:lnTo>
                  <a:pt x="5801903" y="14600"/>
                </a:lnTo>
                <a:lnTo>
                  <a:pt x="5909346" y="9938"/>
                </a:lnTo>
                <a:lnTo>
                  <a:pt x="6016789" y="6657"/>
                </a:lnTo>
                <a:lnTo>
                  <a:pt x="6124232" y="4194"/>
                </a:lnTo>
                <a:lnTo>
                  <a:pt x="6231674" y="2359"/>
                </a:lnTo>
                <a:lnTo>
                  <a:pt x="6339117" y="1001"/>
                </a:lnTo>
                <a:lnTo>
                  <a:pt x="6446560" y="0"/>
                </a:lnTo>
                <a:lnTo>
                  <a:pt x="6446560" y="219702"/>
                </a:lnTo>
                <a:lnTo>
                  <a:pt x="6339117" y="220703"/>
                </a:lnTo>
                <a:lnTo>
                  <a:pt x="6231674" y="222061"/>
                </a:lnTo>
                <a:lnTo>
                  <a:pt x="6124232" y="223896"/>
                </a:lnTo>
                <a:lnTo>
                  <a:pt x="6016789" y="226359"/>
                </a:lnTo>
                <a:lnTo>
                  <a:pt x="5909346" y="229639"/>
                </a:lnTo>
                <a:lnTo>
                  <a:pt x="5801903" y="233626"/>
                </a:lnTo>
                <a:lnTo>
                  <a:pt x="5694461" y="238351"/>
                </a:lnTo>
                <a:lnTo>
                  <a:pt x="5587018" y="244652"/>
                </a:lnTo>
                <a:lnTo>
                  <a:pt x="5479576" y="252787"/>
                </a:lnTo>
                <a:lnTo>
                  <a:pt x="5372133" y="262955"/>
                </a:lnTo>
                <a:lnTo>
                  <a:pt x="5264690" y="275237"/>
                </a:lnTo>
                <a:lnTo>
                  <a:pt x="5157248" y="289548"/>
                </a:lnTo>
                <a:lnTo>
                  <a:pt x="5049805" y="305611"/>
                </a:lnTo>
                <a:lnTo>
                  <a:pt x="4942362" y="322969"/>
                </a:lnTo>
                <a:lnTo>
                  <a:pt x="4834920" y="341047"/>
                </a:lnTo>
                <a:lnTo>
                  <a:pt x="4727477" y="359249"/>
                </a:lnTo>
                <a:lnTo>
                  <a:pt x="4620034" y="377048"/>
                </a:lnTo>
                <a:lnTo>
                  <a:pt x="4512592" y="394051"/>
                </a:lnTo>
                <a:lnTo>
                  <a:pt x="4405149" y="410029"/>
                </a:lnTo>
                <a:lnTo>
                  <a:pt x="4297706" y="424904"/>
                </a:lnTo>
                <a:lnTo>
                  <a:pt x="4190264" y="438713"/>
                </a:lnTo>
                <a:lnTo>
                  <a:pt x="4082821" y="451568"/>
                </a:lnTo>
                <a:lnTo>
                  <a:pt x="3975378" y="463622"/>
                </a:lnTo>
                <a:lnTo>
                  <a:pt x="3867936" y="475040"/>
                </a:lnTo>
                <a:lnTo>
                  <a:pt x="3760493" y="485982"/>
                </a:lnTo>
                <a:lnTo>
                  <a:pt x="3653050" y="496595"/>
                </a:lnTo>
                <a:lnTo>
                  <a:pt x="3545608" y="507007"/>
                </a:lnTo>
                <a:lnTo>
                  <a:pt x="3438165" y="517326"/>
                </a:lnTo>
                <a:lnTo>
                  <a:pt x="3330722" y="527643"/>
                </a:lnTo>
                <a:lnTo>
                  <a:pt x="3223280" y="538033"/>
                </a:lnTo>
                <a:lnTo>
                  <a:pt x="3115837" y="548560"/>
                </a:lnTo>
                <a:lnTo>
                  <a:pt x="3008394" y="559275"/>
                </a:lnTo>
                <a:lnTo>
                  <a:pt x="2900951" y="570221"/>
                </a:lnTo>
                <a:lnTo>
                  <a:pt x="2793509" y="581435"/>
                </a:lnTo>
                <a:lnTo>
                  <a:pt x="2686066" y="592947"/>
                </a:lnTo>
                <a:lnTo>
                  <a:pt x="2578624" y="604785"/>
                </a:lnTo>
                <a:lnTo>
                  <a:pt x="2471181" y="616973"/>
                </a:lnTo>
                <a:lnTo>
                  <a:pt x="2363738" y="629533"/>
                </a:lnTo>
                <a:lnTo>
                  <a:pt x="2256296" y="642483"/>
                </a:lnTo>
                <a:lnTo>
                  <a:pt x="2148853" y="655843"/>
                </a:lnTo>
                <a:lnTo>
                  <a:pt x="2041410" y="669630"/>
                </a:lnTo>
                <a:lnTo>
                  <a:pt x="1933968" y="683862"/>
                </a:lnTo>
                <a:lnTo>
                  <a:pt x="1826525" y="698555"/>
                </a:lnTo>
                <a:lnTo>
                  <a:pt x="1719082" y="713726"/>
                </a:lnTo>
                <a:lnTo>
                  <a:pt x="1611640" y="729392"/>
                </a:lnTo>
                <a:lnTo>
                  <a:pt x="1504197" y="745569"/>
                </a:lnTo>
                <a:lnTo>
                  <a:pt x="1396754" y="762274"/>
                </a:lnTo>
                <a:lnTo>
                  <a:pt x="1289312" y="779524"/>
                </a:lnTo>
                <a:lnTo>
                  <a:pt x="1181869" y="797338"/>
                </a:lnTo>
                <a:lnTo>
                  <a:pt x="1074426" y="815733"/>
                </a:lnTo>
                <a:lnTo>
                  <a:pt x="966984" y="834728"/>
                </a:lnTo>
                <a:lnTo>
                  <a:pt x="859541" y="854341"/>
                </a:lnTo>
                <a:lnTo>
                  <a:pt x="752098" y="874592"/>
                </a:lnTo>
                <a:lnTo>
                  <a:pt x="644656" y="895502"/>
                </a:lnTo>
                <a:lnTo>
                  <a:pt x="537213" y="917090"/>
                </a:lnTo>
                <a:lnTo>
                  <a:pt x="429770" y="939379"/>
                </a:lnTo>
                <a:lnTo>
                  <a:pt x="322328" y="962389"/>
                </a:lnTo>
                <a:lnTo>
                  <a:pt x="214885" y="986143"/>
                </a:lnTo>
                <a:lnTo>
                  <a:pt x="107442" y="1010666"/>
                </a:lnTo>
                <a:lnTo>
                  <a:pt x="0" y="1035980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ight: 3-й центиль"/>
          <p:cNvSpPr/>
          <p:nvPr/>
        </p:nvSpPr>
        <p:spPr>
          <a:xfrm>
            <a:off x="548640" y="2580049"/>
            <a:ext cx="6446560" cy="816278"/>
          </a:xfrm>
          <a:custGeom>
            <a:avLst/>
            <a:gdLst/>
            <a:ahLst/>
            <a:cxnLst/>
            <a:rect l="l" t="t" r="r" b="b"/>
            <a:pathLst>
              <a:path w="6446560" h="816278">
                <a:moveTo>
                  <a:pt x="0" y="816278"/>
                </a:moveTo>
                <a:lnTo>
                  <a:pt x="107442" y="790964"/>
                </a:lnTo>
                <a:lnTo>
                  <a:pt x="214885" y="766441"/>
                </a:lnTo>
                <a:lnTo>
                  <a:pt x="322328" y="742687"/>
                </a:lnTo>
                <a:lnTo>
                  <a:pt x="429770" y="719677"/>
                </a:lnTo>
                <a:lnTo>
                  <a:pt x="537213" y="697388"/>
                </a:lnTo>
                <a:lnTo>
                  <a:pt x="644656" y="675800"/>
                </a:lnTo>
                <a:lnTo>
                  <a:pt x="752098" y="654890"/>
                </a:lnTo>
                <a:lnTo>
                  <a:pt x="859541" y="634639"/>
                </a:lnTo>
                <a:lnTo>
                  <a:pt x="966984" y="615026"/>
                </a:lnTo>
                <a:lnTo>
                  <a:pt x="1074426" y="596031"/>
                </a:lnTo>
                <a:lnTo>
                  <a:pt x="1181869" y="577636"/>
                </a:lnTo>
                <a:lnTo>
                  <a:pt x="1289312" y="559822"/>
                </a:lnTo>
                <a:lnTo>
                  <a:pt x="1396754" y="542572"/>
                </a:lnTo>
                <a:lnTo>
                  <a:pt x="1504197" y="525867"/>
                </a:lnTo>
                <a:lnTo>
                  <a:pt x="1611640" y="509690"/>
                </a:lnTo>
                <a:lnTo>
                  <a:pt x="1719082" y="494024"/>
                </a:lnTo>
                <a:lnTo>
                  <a:pt x="1826525" y="478853"/>
                </a:lnTo>
                <a:lnTo>
                  <a:pt x="1933968" y="464160"/>
                </a:lnTo>
                <a:lnTo>
                  <a:pt x="2041410" y="449928"/>
                </a:lnTo>
                <a:lnTo>
                  <a:pt x="2148853" y="436141"/>
                </a:lnTo>
                <a:lnTo>
                  <a:pt x="2256296" y="422781"/>
                </a:lnTo>
                <a:lnTo>
                  <a:pt x="2363738" y="409831"/>
                </a:lnTo>
                <a:lnTo>
                  <a:pt x="2471181" y="397271"/>
                </a:lnTo>
                <a:lnTo>
                  <a:pt x="2578624" y="385083"/>
                </a:lnTo>
                <a:lnTo>
                  <a:pt x="2686066" y="373245"/>
                </a:lnTo>
                <a:lnTo>
                  <a:pt x="2793509" y="361733"/>
                </a:lnTo>
                <a:lnTo>
                  <a:pt x="2900951" y="350519"/>
                </a:lnTo>
                <a:lnTo>
                  <a:pt x="3008394" y="339573"/>
                </a:lnTo>
                <a:lnTo>
                  <a:pt x="3115837" y="328858"/>
                </a:lnTo>
                <a:lnTo>
                  <a:pt x="3223280" y="318331"/>
                </a:lnTo>
                <a:lnTo>
                  <a:pt x="3330722" y="307941"/>
                </a:lnTo>
                <a:lnTo>
                  <a:pt x="3438165" y="297624"/>
                </a:lnTo>
                <a:lnTo>
                  <a:pt x="3545608" y="287305"/>
                </a:lnTo>
                <a:lnTo>
                  <a:pt x="3653050" y="276893"/>
                </a:lnTo>
                <a:lnTo>
                  <a:pt x="3760493" y="266280"/>
                </a:lnTo>
                <a:lnTo>
                  <a:pt x="3867936" y="255338"/>
                </a:lnTo>
                <a:lnTo>
                  <a:pt x="3975378" y="243920"/>
                </a:lnTo>
                <a:lnTo>
                  <a:pt x="4082821" y="231866"/>
                </a:lnTo>
                <a:lnTo>
                  <a:pt x="4190264" y="219011"/>
                </a:lnTo>
                <a:lnTo>
                  <a:pt x="4297706" y="205202"/>
                </a:lnTo>
                <a:lnTo>
                  <a:pt x="4405149" y="190327"/>
                </a:lnTo>
                <a:lnTo>
                  <a:pt x="4512592" y="174349"/>
                </a:lnTo>
                <a:lnTo>
                  <a:pt x="4620034" y="157346"/>
                </a:lnTo>
                <a:lnTo>
                  <a:pt x="4727477" y="139547"/>
                </a:lnTo>
                <a:lnTo>
                  <a:pt x="4834920" y="121345"/>
                </a:lnTo>
                <a:lnTo>
                  <a:pt x="4942362" y="103267"/>
                </a:lnTo>
                <a:lnTo>
                  <a:pt x="5049805" y="85909"/>
                </a:lnTo>
                <a:lnTo>
                  <a:pt x="5157248" y="69846"/>
                </a:lnTo>
                <a:lnTo>
                  <a:pt x="5264690" y="55535"/>
                </a:lnTo>
                <a:lnTo>
                  <a:pt x="5372133" y="43253"/>
                </a:lnTo>
                <a:lnTo>
                  <a:pt x="5479576" y="33085"/>
                </a:lnTo>
                <a:lnTo>
                  <a:pt x="5587018" y="24950"/>
                </a:lnTo>
                <a:lnTo>
                  <a:pt x="5694461" y="18649"/>
                </a:lnTo>
                <a:lnTo>
                  <a:pt x="5801903" y="13924"/>
                </a:lnTo>
                <a:lnTo>
                  <a:pt x="5909346" y="9937"/>
                </a:lnTo>
                <a:lnTo>
                  <a:pt x="6016789" y="6657"/>
                </a:lnTo>
                <a:lnTo>
                  <a:pt x="6124232" y="4194"/>
                </a:lnTo>
                <a:lnTo>
                  <a:pt x="6231674" y="2359"/>
                </a:lnTo>
                <a:lnTo>
                  <a:pt x="6339117" y="1001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35200" y="2500049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6" name="height: 50-й центиль"/>
          <p:cNvSpPr/>
          <p:nvPr/>
        </p:nvSpPr>
        <p:spPr>
          <a:xfrm>
            <a:off x="548640" y="2470198"/>
            <a:ext cx="6446560" cy="865288"/>
          </a:xfrm>
          <a:custGeom>
            <a:avLst/>
            <a:gdLst/>
            <a:ahLst/>
            <a:cxnLst/>
            <a:rect l="l" t="t" r="r" b="b"/>
            <a:pathLst>
              <a:path w="6446560" h="865288">
                <a:moveTo>
                  <a:pt x="0" y="865288"/>
                </a:moveTo>
                <a:lnTo>
                  <a:pt x="107442" y="839073"/>
                </a:lnTo>
                <a:lnTo>
                  <a:pt x="214885" y="813649"/>
                </a:lnTo>
                <a:lnTo>
                  <a:pt x="322328" y="788993"/>
                </a:lnTo>
                <a:lnTo>
                  <a:pt x="429770" y="765082"/>
                </a:lnTo>
                <a:lnTo>
                  <a:pt x="537213" y="741892"/>
                </a:lnTo>
                <a:lnTo>
                  <a:pt x="644656" y="719402"/>
                </a:lnTo>
                <a:lnTo>
                  <a:pt x="752098" y="697592"/>
                </a:lnTo>
                <a:lnTo>
                  <a:pt x="859541" y="676439"/>
                </a:lnTo>
                <a:lnTo>
                  <a:pt x="966984" y="655924"/>
                </a:lnTo>
                <a:lnTo>
                  <a:pt x="1074426" y="636028"/>
                </a:lnTo>
                <a:lnTo>
                  <a:pt x="1181869" y="616732"/>
                </a:lnTo>
                <a:lnTo>
                  <a:pt x="1289312" y="598017"/>
                </a:lnTo>
                <a:lnTo>
                  <a:pt x="1396754" y="579865"/>
                </a:lnTo>
                <a:lnTo>
                  <a:pt x="1504197" y="562258"/>
                </a:lnTo>
                <a:lnTo>
                  <a:pt x="1611640" y="545180"/>
                </a:lnTo>
                <a:lnTo>
                  <a:pt x="1719082" y="528613"/>
                </a:lnTo>
                <a:lnTo>
                  <a:pt x="1826525" y="512541"/>
                </a:lnTo>
                <a:lnTo>
                  <a:pt x="1933968" y="496947"/>
                </a:lnTo>
                <a:lnTo>
                  <a:pt x="2041410" y="481814"/>
                </a:lnTo>
                <a:lnTo>
                  <a:pt x="2148853" y="467125"/>
                </a:lnTo>
                <a:lnTo>
                  <a:pt x="2256296" y="452864"/>
                </a:lnTo>
                <a:lnTo>
                  <a:pt x="2363738" y="439012"/>
                </a:lnTo>
                <a:lnTo>
                  <a:pt x="2471181" y="425551"/>
                </a:lnTo>
                <a:lnTo>
                  <a:pt x="2578624" y="412462"/>
                </a:lnTo>
                <a:lnTo>
                  <a:pt x="2686066" y="399722"/>
                </a:lnTo>
                <a:lnTo>
                  <a:pt x="2793509" y="387308"/>
                </a:lnTo>
                <a:lnTo>
                  <a:pt x="2900951" y="375193"/>
                </a:lnTo>
                <a:lnTo>
                  <a:pt x="3008394" y="363346"/>
                </a:lnTo>
                <a:lnTo>
                  <a:pt x="3115837" y="351730"/>
                </a:lnTo>
                <a:lnTo>
                  <a:pt x="3223280" y="340302"/>
                </a:lnTo>
                <a:lnTo>
                  <a:pt x="3330722" y="329010"/>
                </a:lnTo>
                <a:lnTo>
                  <a:pt x="3438165" y="317791"/>
                </a:lnTo>
                <a:lnTo>
                  <a:pt x="3545608" y="306571"/>
                </a:lnTo>
                <a:lnTo>
                  <a:pt x="3653050" y="295258"/>
                </a:lnTo>
                <a:lnTo>
                  <a:pt x="3760493" y="283744"/>
                </a:lnTo>
                <a:lnTo>
                  <a:pt x="3867936" y="271900"/>
                </a:lnTo>
                <a:lnTo>
                  <a:pt x="3975378" y="259581"/>
                </a:lnTo>
                <a:lnTo>
                  <a:pt x="4082821" y="246625"/>
                </a:lnTo>
                <a:lnTo>
                  <a:pt x="4190264" y="232869"/>
                </a:lnTo>
                <a:lnTo>
                  <a:pt x="4297706" y="218159"/>
                </a:lnTo>
                <a:lnTo>
                  <a:pt x="4405149" y="202383"/>
                </a:lnTo>
                <a:lnTo>
                  <a:pt x="4512592" y="185503"/>
                </a:lnTo>
                <a:lnTo>
                  <a:pt x="4620034" y="167598"/>
                </a:lnTo>
                <a:lnTo>
                  <a:pt x="4727477" y="148899"/>
                </a:lnTo>
                <a:lnTo>
                  <a:pt x="4834920" y="129796"/>
                </a:lnTo>
                <a:lnTo>
                  <a:pt x="4942362" y="110816"/>
                </a:lnTo>
                <a:lnTo>
                  <a:pt x="5049805" y="92557"/>
                </a:lnTo>
                <a:lnTo>
                  <a:pt x="5157248" y="75592"/>
                </a:lnTo>
                <a:lnTo>
                  <a:pt x="5264690" y="60380"/>
                </a:lnTo>
                <a:lnTo>
                  <a:pt x="5372133" y="47196"/>
                </a:lnTo>
                <a:lnTo>
                  <a:pt x="5479576" y="36128"/>
                </a:lnTo>
                <a:lnTo>
                  <a:pt x="5587018" y="27091"/>
                </a:lnTo>
                <a:lnTo>
                  <a:pt x="5694461" y="19888"/>
                </a:lnTo>
                <a:lnTo>
                  <a:pt x="5801903" y="14262"/>
                </a:lnTo>
                <a:lnTo>
                  <a:pt x="5909346" y="9937"/>
                </a:lnTo>
                <a:lnTo>
                  <a:pt x="6016789" y="6657"/>
                </a:lnTo>
                <a:lnTo>
                  <a:pt x="6124232" y="4194"/>
                </a:lnTo>
                <a:lnTo>
                  <a:pt x="6231674" y="2359"/>
                </a:lnTo>
                <a:lnTo>
                  <a:pt x="6339117" y="1001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35200" y="2390198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8" name="height: 97-й центиль"/>
          <p:cNvSpPr/>
          <p:nvPr/>
        </p:nvSpPr>
        <p:spPr>
          <a:xfrm>
            <a:off x="548640" y="2360347"/>
            <a:ext cx="6446560" cy="914299"/>
          </a:xfrm>
          <a:custGeom>
            <a:avLst/>
            <a:gdLst/>
            <a:ahLst/>
            <a:cxnLst/>
            <a:rect l="l" t="t" r="r" b="b"/>
            <a:pathLst>
              <a:path w="6446560" h="914299">
                <a:moveTo>
                  <a:pt x="0" y="914299"/>
                </a:moveTo>
                <a:lnTo>
                  <a:pt x="107442" y="887182"/>
                </a:lnTo>
                <a:lnTo>
                  <a:pt x="214885" y="860857"/>
                </a:lnTo>
                <a:lnTo>
                  <a:pt x="322328" y="835300"/>
                </a:lnTo>
                <a:lnTo>
                  <a:pt x="429770" y="810487"/>
                </a:lnTo>
                <a:lnTo>
                  <a:pt x="537213" y="786396"/>
                </a:lnTo>
                <a:lnTo>
                  <a:pt x="644656" y="763005"/>
                </a:lnTo>
                <a:lnTo>
                  <a:pt x="752098" y="740293"/>
                </a:lnTo>
                <a:lnTo>
                  <a:pt x="859541" y="718239"/>
                </a:lnTo>
                <a:lnTo>
                  <a:pt x="966984" y="696823"/>
                </a:lnTo>
                <a:lnTo>
                  <a:pt x="1074426" y="676025"/>
                </a:lnTo>
                <a:lnTo>
                  <a:pt x="1181869" y="655828"/>
                </a:lnTo>
                <a:lnTo>
                  <a:pt x="1289312" y="636211"/>
                </a:lnTo>
                <a:lnTo>
                  <a:pt x="1396754" y="617158"/>
                </a:lnTo>
                <a:lnTo>
                  <a:pt x="1504197" y="598650"/>
                </a:lnTo>
                <a:lnTo>
                  <a:pt x="1611640" y="580671"/>
                </a:lnTo>
                <a:lnTo>
                  <a:pt x="1719082" y="563203"/>
                </a:lnTo>
                <a:lnTo>
                  <a:pt x="1826525" y="546229"/>
                </a:lnTo>
                <a:lnTo>
                  <a:pt x="1933968" y="529733"/>
                </a:lnTo>
                <a:lnTo>
                  <a:pt x="2041410" y="513699"/>
                </a:lnTo>
                <a:lnTo>
                  <a:pt x="2148853" y="498109"/>
                </a:lnTo>
                <a:lnTo>
                  <a:pt x="2256296" y="482946"/>
                </a:lnTo>
                <a:lnTo>
                  <a:pt x="2363738" y="468193"/>
                </a:lnTo>
                <a:lnTo>
                  <a:pt x="2471181" y="453831"/>
                </a:lnTo>
                <a:lnTo>
                  <a:pt x="2578624" y="439840"/>
                </a:lnTo>
                <a:lnTo>
                  <a:pt x="2686066" y="426199"/>
                </a:lnTo>
                <a:lnTo>
                  <a:pt x="2793509" y="412884"/>
                </a:lnTo>
                <a:lnTo>
                  <a:pt x="2900951" y="399868"/>
                </a:lnTo>
                <a:lnTo>
                  <a:pt x="3008394" y="387119"/>
                </a:lnTo>
                <a:lnTo>
                  <a:pt x="3115837" y="374601"/>
                </a:lnTo>
                <a:lnTo>
                  <a:pt x="3223280" y="362272"/>
                </a:lnTo>
                <a:lnTo>
                  <a:pt x="3330722" y="350079"/>
                </a:lnTo>
                <a:lnTo>
                  <a:pt x="3438165" y="337959"/>
                </a:lnTo>
                <a:lnTo>
                  <a:pt x="3545608" y="325838"/>
                </a:lnTo>
                <a:lnTo>
                  <a:pt x="3653050" y="313623"/>
                </a:lnTo>
                <a:lnTo>
                  <a:pt x="3760493" y="301207"/>
                </a:lnTo>
                <a:lnTo>
                  <a:pt x="3867936" y="288462"/>
                </a:lnTo>
                <a:lnTo>
                  <a:pt x="3975378" y="275241"/>
                </a:lnTo>
                <a:lnTo>
                  <a:pt x="4082821" y="261385"/>
                </a:lnTo>
                <a:lnTo>
                  <a:pt x="4190264" y="246727"/>
                </a:lnTo>
                <a:lnTo>
                  <a:pt x="4297706" y="231116"/>
                </a:lnTo>
                <a:lnTo>
                  <a:pt x="4405149" y="214438"/>
                </a:lnTo>
                <a:lnTo>
                  <a:pt x="4512592" y="196657"/>
                </a:lnTo>
                <a:lnTo>
                  <a:pt x="4620034" y="177851"/>
                </a:lnTo>
                <a:lnTo>
                  <a:pt x="4727477" y="158251"/>
                </a:lnTo>
                <a:lnTo>
                  <a:pt x="4834920" y="138246"/>
                </a:lnTo>
                <a:lnTo>
                  <a:pt x="4942362" y="118364"/>
                </a:lnTo>
                <a:lnTo>
                  <a:pt x="5049805" y="99204"/>
                </a:lnTo>
                <a:lnTo>
                  <a:pt x="5157248" y="81339"/>
                </a:lnTo>
                <a:lnTo>
                  <a:pt x="5264690" y="65224"/>
                </a:lnTo>
                <a:lnTo>
                  <a:pt x="5372133" y="51140"/>
                </a:lnTo>
                <a:lnTo>
                  <a:pt x="5479576" y="39170"/>
                </a:lnTo>
                <a:lnTo>
                  <a:pt x="5587018" y="29232"/>
                </a:lnTo>
                <a:lnTo>
                  <a:pt x="5694461" y="21128"/>
                </a:lnTo>
                <a:lnTo>
                  <a:pt x="5801903" y="14600"/>
                </a:lnTo>
                <a:lnTo>
                  <a:pt x="5909346" y="9938"/>
                </a:lnTo>
                <a:lnTo>
                  <a:pt x="6016789" y="6657"/>
                </a:lnTo>
                <a:lnTo>
                  <a:pt x="6124232" y="4194"/>
                </a:lnTo>
                <a:lnTo>
                  <a:pt x="6231674" y="2359"/>
                </a:lnTo>
                <a:lnTo>
                  <a:pt x="6339117" y="1001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35200" y="2280347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10" name="height: ось"/>
          <p:cNvSpPr/>
          <p:nvPr/>
        </p:nvSpPr>
        <p:spPr>
          <a:xfrm>
            <a:off x="548640" y="3458486"/>
            <a:ext cx="6446560" cy="0"/>
          </a:xfrm>
          <a:custGeom>
            <a:avLst/>
            <a:gdLst/>
            <a:ahLst/>
            <a:cxnLst/>
            <a:rect l="l" t="t" r="r" b="b"/>
            <a:pathLst>
              <a:path w="6446560" h="0">
                <a:moveTo>
                  <a:pt x="0" y="0"/>
                </a:moveTo>
                <a:lnTo>
                  <a:pt x="6446560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640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4460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0280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16100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920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7740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3560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9380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45200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18</a:t>
            </a:r>
          </a:p>
        </p:txBody>
      </p:sp>
      <p:sp>
        <p:nvSpPr>
          <p:cNvPr id="20" name="height: пациент"/>
          <p:cNvSpPr/>
          <p:nvPr/>
        </p:nvSpPr>
        <p:spPr>
          <a:xfrm>
            <a:off x="548640" y="2516943"/>
            <a:ext cx="6446560" cy="828252"/>
          </a:xfrm>
          <a:custGeom>
            <a:avLst/>
            <a:gdLst/>
            <a:ahLst/>
            <a:cxnLst/>
            <a:rect l="l" t="t" r="r" b="b"/>
            <a:pathLst>
              <a:path w="6446560" h="828252">
                <a:moveTo>
                  <a:pt x="0" y="828252"/>
                </a:moveTo>
                <a:lnTo>
                  <a:pt x="33575" y="820289"/>
                </a:lnTo>
                <a:lnTo>
                  <a:pt x="67151" y="812407"/>
                </a:lnTo>
                <a:lnTo>
                  <a:pt x="100727" y="804607"/>
                </a:lnTo>
                <a:lnTo>
                  <a:pt x="134303" y="796886"/>
                </a:lnTo>
                <a:lnTo>
                  <a:pt x="167879" y="789244"/>
                </a:lnTo>
                <a:lnTo>
                  <a:pt x="201455" y="781681"/>
                </a:lnTo>
                <a:lnTo>
                  <a:pt x="235030" y="774196"/>
                </a:lnTo>
                <a:lnTo>
                  <a:pt x="268606" y="766787"/>
                </a:lnTo>
                <a:lnTo>
                  <a:pt x="302182" y="759455"/>
                </a:lnTo>
                <a:lnTo>
                  <a:pt x="335758" y="752199"/>
                </a:lnTo>
                <a:lnTo>
                  <a:pt x="369334" y="745017"/>
                </a:lnTo>
                <a:lnTo>
                  <a:pt x="402910" y="737910"/>
                </a:lnTo>
                <a:lnTo>
                  <a:pt x="503637" y="717603"/>
                </a:lnTo>
                <a:lnTo>
                  <a:pt x="604365" y="697955"/>
                </a:lnTo>
                <a:lnTo>
                  <a:pt x="705092" y="678949"/>
                </a:lnTo>
                <a:lnTo>
                  <a:pt x="805820" y="660565"/>
                </a:lnTo>
                <a:lnTo>
                  <a:pt x="906547" y="642789"/>
                </a:lnTo>
                <a:lnTo>
                  <a:pt x="1007275" y="625604"/>
                </a:lnTo>
                <a:lnTo>
                  <a:pt x="1108002" y="608993"/>
                </a:lnTo>
                <a:lnTo>
                  <a:pt x="1208730" y="592942"/>
                </a:lnTo>
                <a:lnTo>
                  <a:pt x="1309457" y="577435"/>
                </a:lnTo>
                <a:lnTo>
                  <a:pt x="1410185" y="562457"/>
                </a:lnTo>
                <a:lnTo>
                  <a:pt x="1510912" y="547995"/>
                </a:lnTo>
                <a:lnTo>
                  <a:pt x="1611640" y="534033"/>
                </a:lnTo>
                <a:lnTo>
                  <a:pt x="1712367" y="519892"/>
                </a:lnTo>
                <a:lnTo>
                  <a:pt x="1813095" y="506208"/>
                </a:lnTo>
                <a:lnTo>
                  <a:pt x="1913822" y="492969"/>
                </a:lnTo>
                <a:lnTo>
                  <a:pt x="2014550" y="480161"/>
                </a:lnTo>
                <a:lnTo>
                  <a:pt x="2115277" y="467769"/>
                </a:lnTo>
                <a:lnTo>
                  <a:pt x="2216005" y="455780"/>
                </a:lnTo>
                <a:lnTo>
                  <a:pt x="2316732" y="444180"/>
                </a:lnTo>
                <a:lnTo>
                  <a:pt x="2417460" y="432953"/>
                </a:lnTo>
                <a:lnTo>
                  <a:pt x="2518187" y="422084"/>
                </a:lnTo>
                <a:lnTo>
                  <a:pt x="2618915" y="411555"/>
                </a:lnTo>
                <a:lnTo>
                  <a:pt x="2719642" y="401349"/>
                </a:lnTo>
                <a:lnTo>
                  <a:pt x="2820370" y="391444"/>
                </a:lnTo>
                <a:lnTo>
                  <a:pt x="2887521" y="384998"/>
                </a:lnTo>
                <a:lnTo>
                  <a:pt x="2954673" y="378667"/>
                </a:lnTo>
                <a:lnTo>
                  <a:pt x="3021825" y="372445"/>
                </a:lnTo>
                <a:lnTo>
                  <a:pt x="3088976" y="366321"/>
                </a:lnTo>
                <a:lnTo>
                  <a:pt x="3156128" y="360285"/>
                </a:lnTo>
                <a:lnTo>
                  <a:pt x="3223280" y="354325"/>
                </a:lnTo>
                <a:lnTo>
                  <a:pt x="3290431" y="348429"/>
                </a:lnTo>
                <a:lnTo>
                  <a:pt x="3357583" y="342582"/>
                </a:lnTo>
                <a:lnTo>
                  <a:pt x="3424735" y="336766"/>
                </a:lnTo>
                <a:lnTo>
                  <a:pt x="3491886" y="330965"/>
                </a:lnTo>
                <a:lnTo>
                  <a:pt x="3559038" y="325156"/>
                </a:lnTo>
                <a:lnTo>
                  <a:pt x="3626190" y="319316"/>
                </a:lnTo>
                <a:lnTo>
                  <a:pt x="3693341" y="315047"/>
                </a:lnTo>
                <a:lnTo>
                  <a:pt x="3760493" y="310712"/>
                </a:lnTo>
                <a:lnTo>
                  <a:pt x="3827645" y="306279"/>
                </a:lnTo>
                <a:lnTo>
                  <a:pt x="3894796" y="301712"/>
                </a:lnTo>
                <a:lnTo>
                  <a:pt x="3961948" y="296975"/>
                </a:lnTo>
                <a:lnTo>
                  <a:pt x="4029100" y="292027"/>
                </a:lnTo>
                <a:lnTo>
                  <a:pt x="4096251" y="286829"/>
                </a:lnTo>
                <a:lnTo>
                  <a:pt x="4163403" y="281339"/>
                </a:lnTo>
                <a:lnTo>
                  <a:pt x="4230555" y="275520"/>
                </a:lnTo>
                <a:lnTo>
                  <a:pt x="4297706" y="269339"/>
                </a:lnTo>
                <a:lnTo>
                  <a:pt x="4364858" y="262770"/>
                </a:lnTo>
                <a:lnTo>
                  <a:pt x="4432010" y="255798"/>
                </a:lnTo>
                <a:lnTo>
                  <a:pt x="4465585" y="252161"/>
                </a:lnTo>
                <a:lnTo>
                  <a:pt x="4499161" y="248425"/>
                </a:lnTo>
                <a:lnTo>
                  <a:pt x="4532737" y="244594"/>
                </a:lnTo>
                <a:lnTo>
                  <a:pt x="4566313" y="240673"/>
                </a:lnTo>
                <a:lnTo>
                  <a:pt x="4599889" y="236667"/>
                </a:lnTo>
                <a:lnTo>
                  <a:pt x="4633465" y="232584"/>
                </a:lnTo>
                <a:lnTo>
                  <a:pt x="4667040" y="228434"/>
                </a:lnTo>
                <a:lnTo>
                  <a:pt x="4700616" y="224227"/>
                </a:lnTo>
                <a:lnTo>
                  <a:pt x="4734192" y="219976"/>
                </a:lnTo>
                <a:lnTo>
                  <a:pt x="4767768" y="215695"/>
                </a:lnTo>
                <a:lnTo>
                  <a:pt x="4801344" y="211399"/>
                </a:lnTo>
                <a:lnTo>
                  <a:pt x="4834920" y="207105"/>
                </a:lnTo>
                <a:lnTo>
                  <a:pt x="4868495" y="199674"/>
                </a:lnTo>
                <a:lnTo>
                  <a:pt x="4902071" y="192264"/>
                </a:lnTo>
                <a:lnTo>
                  <a:pt x="4935647" y="184891"/>
                </a:lnTo>
                <a:lnTo>
                  <a:pt x="4969223" y="177576"/>
                </a:lnTo>
                <a:lnTo>
                  <a:pt x="5002799" y="170335"/>
                </a:lnTo>
                <a:lnTo>
                  <a:pt x="5036375" y="163189"/>
                </a:lnTo>
                <a:lnTo>
                  <a:pt x="5069950" y="156153"/>
                </a:lnTo>
                <a:lnTo>
                  <a:pt x="5103526" y="149244"/>
                </a:lnTo>
                <a:lnTo>
                  <a:pt x="5137102" y="142476"/>
                </a:lnTo>
                <a:lnTo>
                  <a:pt x="5170678" y="135864"/>
                </a:lnTo>
                <a:lnTo>
                  <a:pt x="5204254" y="129419"/>
                </a:lnTo>
                <a:lnTo>
                  <a:pt x="5237830" y="123150"/>
                </a:lnTo>
                <a:lnTo>
                  <a:pt x="5271405" y="116135"/>
                </a:lnTo>
                <a:lnTo>
                  <a:pt x="5304981" y="109306"/>
                </a:lnTo>
                <a:lnTo>
                  <a:pt x="5338557" y="102666"/>
                </a:lnTo>
                <a:lnTo>
                  <a:pt x="5372133" y="96219"/>
                </a:lnTo>
                <a:lnTo>
                  <a:pt x="5405709" y="89964"/>
                </a:lnTo>
                <a:lnTo>
                  <a:pt x="5439285" y="83901"/>
                </a:lnTo>
                <a:lnTo>
                  <a:pt x="5472860" y="78027"/>
                </a:lnTo>
                <a:lnTo>
                  <a:pt x="5506436" y="72339"/>
                </a:lnTo>
                <a:lnTo>
                  <a:pt x="5540012" y="66830"/>
                </a:lnTo>
                <a:lnTo>
                  <a:pt x="5573588" y="61496"/>
                </a:lnTo>
                <a:lnTo>
                  <a:pt x="5607164" y="56329"/>
                </a:lnTo>
                <a:lnTo>
                  <a:pt x="5640740" y="51323"/>
                </a:lnTo>
                <a:lnTo>
                  <a:pt x="5707891" y="45131"/>
                </a:lnTo>
                <a:lnTo>
                  <a:pt x="5775043" y="39518"/>
                </a:lnTo>
                <a:lnTo>
                  <a:pt x="5842195" y="34414"/>
                </a:lnTo>
                <a:lnTo>
                  <a:pt x="5909346" y="29415"/>
                </a:lnTo>
                <a:lnTo>
                  <a:pt x="5976498" y="24822"/>
                </a:lnTo>
                <a:lnTo>
                  <a:pt x="6043650" y="20580"/>
                </a:lnTo>
                <a:lnTo>
                  <a:pt x="6110801" y="16637"/>
                </a:lnTo>
                <a:lnTo>
                  <a:pt x="6177953" y="12947"/>
                </a:lnTo>
                <a:lnTo>
                  <a:pt x="6245105" y="9470"/>
                </a:lnTo>
                <a:lnTo>
                  <a:pt x="6312256" y="6172"/>
                </a:lnTo>
                <a:lnTo>
                  <a:pt x="6379408" y="3024"/>
                </a:lnTo>
                <a:lnTo>
                  <a:pt x="6446560" y="0"/>
                </a:lnTo>
              </a:path>
            </a:pathLst>
          </a:custGeom>
          <a:noFill/>
          <a:ln w="34925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ight: визит 2"/>
          <p:cNvSpPr/>
          <p:nvPr/>
        </p:nvSpPr>
        <p:spPr>
          <a:xfrm>
            <a:off x="488640" y="3285195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ight: визит 3"/>
          <p:cNvSpPr/>
          <p:nvPr/>
        </p:nvSpPr>
        <p:spPr>
          <a:xfrm>
            <a:off x="891550" y="3194853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ight: визит 6"/>
          <p:cNvSpPr/>
          <p:nvPr/>
        </p:nvSpPr>
        <p:spPr>
          <a:xfrm>
            <a:off x="2100280" y="2990976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ight: визит 9"/>
          <p:cNvSpPr/>
          <p:nvPr/>
        </p:nvSpPr>
        <p:spPr>
          <a:xfrm>
            <a:off x="3309010" y="2848387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ight: визит 11"/>
          <p:cNvSpPr/>
          <p:nvPr/>
        </p:nvSpPr>
        <p:spPr>
          <a:xfrm>
            <a:off x="4114830" y="2776259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eight: визит 13"/>
          <p:cNvSpPr/>
          <p:nvPr/>
        </p:nvSpPr>
        <p:spPr>
          <a:xfrm>
            <a:off x="4920650" y="2712741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eight: визит 14"/>
          <p:cNvSpPr/>
          <p:nvPr/>
        </p:nvSpPr>
        <p:spPr>
          <a:xfrm>
            <a:off x="5323560" y="2664048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eight: визит 15"/>
          <p:cNvSpPr/>
          <p:nvPr/>
        </p:nvSpPr>
        <p:spPr>
          <a:xfrm>
            <a:off x="5726470" y="2580093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eight: визит 16"/>
          <p:cNvSpPr/>
          <p:nvPr/>
        </p:nvSpPr>
        <p:spPr>
          <a:xfrm>
            <a:off x="6129380" y="2508266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eight: визит 18"/>
          <p:cNvSpPr/>
          <p:nvPr/>
        </p:nvSpPr>
        <p:spPr>
          <a:xfrm>
            <a:off x="6935200" y="2456943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событие 3"/>
          <p:cNvSpPr/>
          <p:nvPr/>
        </p:nvSpPr>
        <p:spPr>
          <a:xfrm>
            <a:off x="951550" y="1738760"/>
            <a:ext cx="0" cy="1719726"/>
          </a:xfrm>
          <a:custGeom>
            <a:avLst/>
            <a:gdLst/>
            <a:ahLst/>
            <a:cxnLst/>
            <a:rect l="l" t="t" r="r" b="b"/>
            <a:pathLst>
              <a:path w="0" h="1719726">
                <a:moveTo>
                  <a:pt x="0" y="0"/>
                </a:moveTo>
                <a:lnTo>
                  <a:pt x="0" y="1719726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1550" y="173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323A"/>
                </a:solidFill>
                <a:latin typeface="Calibri"/>
              </a:rPr>
              <a:t>3–9 лет: рост в СО медленно снижается</a:t>
            </a:r>
          </a:p>
        </p:txBody>
      </p:sp>
      <p:sp>
        <p:nvSpPr>
          <p:cNvPr id="33" name="событие 14"/>
          <p:cNvSpPr/>
          <p:nvPr/>
        </p:nvSpPr>
        <p:spPr>
          <a:xfrm>
            <a:off x="5383560" y="1738760"/>
            <a:ext cx="0" cy="1719726"/>
          </a:xfrm>
          <a:custGeom>
            <a:avLst/>
            <a:gdLst/>
            <a:ahLst/>
            <a:cxnLst/>
            <a:rect l="l" t="t" r="r" b="b"/>
            <a:pathLst>
              <a:path w="0" h="1719726">
                <a:moveTo>
                  <a:pt x="0" y="0"/>
                </a:moveTo>
                <a:lnTo>
                  <a:pt x="0" y="1719726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33560" y="192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26323A"/>
                </a:solidFill>
                <a:latin typeface="Calibri"/>
              </a:rPr>
              <a:t>14 лет: яички меньше 4 мл</a:t>
            </a:r>
          </a:p>
        </p:txBody>
      </p:sp>
      <p:sp>
        <p:nvSpPr>
          <p:cNvPr id="35" name="событие 15"/>
          <p:cNvSpPr/>
          <p:nvPr/>
        </p:nvSpPr>
        <p:spPr>
          <a:xfrm>
            <a:off x="5786470" y="1738760"/>
            <a:ext cx="0" cy="1719726"/>
          </a:xfrm>
          <a:custGeom>
            <a:avLst/>
            <a:gdLst/>
            <a:ahLst/>
            <a:cxnLst/>
            <a:rect l="l" t="t" r="r" b="b"/>
            <a:pathLst>
              <a:path w="0" h="1719726">
                <a:moveTo>
                  <a:pt x="0" y="0"/>
                </a:moveTo>
                <a:lnTo>
                  <a:pt x="0" y="1719726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36470" y="211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26323A"/>
                </a:solidFill>
                <a:latin typeface="Calibri"/>
              </a:rPr>
              <a:t>15 лет: пубертат, поздний скачок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1508760"/>
            <a:ext cx="6446560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Рост, см</a:t>
            </a:r>
          </a:p>
        </p:txBody>
      </p:sp>
      <p:sp>
        <p:nvSpPr>
          <p:cNvPr id="38" name="weight: полоса 3–97"/>
          <p:cNvSpPr/>
          <p:nvPr/>
        </p:nvSpPr>
        <p:spPr>
          <a:xfrm>
            <a:off x="548640" y="4070182"/>
            <a:ext cx="6446560" cy="861601"/>
          </a:xfrm>
          <a:custGeom>
            <a:avLst/>
            <a:gdLst/>
            <a:ahLst/>
            <a:cxnLst/>
            <a:rect l="l" t="t" r="r" b="b"/>
            <a:pathLst>
              <a:path w="6446560" h="861601">
                <a:moveTo>
                  <a:pt x="0" y="788883"/>
                </a:moveTo>
                <a:lnTo>
                  <a:pt x="107442" y="781302"/>
                </a:lnTo>
                <a:lnTo>
                  <a:pt x="214885" y="773722"/>
                </a:lnTo>
                <a:lnTo>
                  <a:pt x="322328" y="766141"/>
                </a:lnTo>
                <a:lnTo>
                  <a:pt x="429770" y="758560"/>
                </a:lnTo>
                <a:lnTo>
                  <a:pt x="537213" y="750979"/>
                </a:lnTo>
                <a:lnTo>
                  <a:pt x="644656" y="743398"/>
                </a:lnTo>
                <a:lnTo>
                  <a:pt x="752098" y="735817"/>
                </a:lnTo>
                <a:lnTo>
                  <a:pt x="859541" y="728236"/>
                </a:lnTo>
                <a:lnTo>
                  <a:pt x="966984" y="720656"/>
                </a:lnTo>
                <a:lnTo>
                  <a:pt x="1074426" y="713075"/>
                </a:lnTo>
                <a:lnTo>
                  <a:pt x="1181869" y="705494"/>
                </a:lnTo>
                <a:lnTo>
                  <a:pt x="1289312" y="696965"/>
                </a:lnTo>
                <a:lnTo>
                  <a:pt x="1396754" y="688121"/>
                </a:lnTo>
                <a:lnTo>
                  <a:pt x="1504197" y="679277"/>
                </a:lnTo>
                <a:lnTo>
                  <a:pt x="1611640" y="670432"/>
                </a:lnTo>
                <a:lnTo>
                  <a:pt x="1719082" y="661588"/>
                </a:lnTo>
                <a:lnTo>
                  <a:pt x="1826525" y="652744"/>
                </a:lnTo>
                <a:lnTo>
                  <a:pt x="1933968" y="643899"/>
                </a:lnTo>
                <a:lnTo>
                  <a:pt x="2041410" y="635055"/>
                </a:lnTo>
                <a:lnTo>
                  <a:pt x="2148853" y="626211"/>
                </a:lnTo>
                <a:lnTo>
                  <a:pt x="2256296" y="617366"/>
                </a:lnTo>
                <a:lnTo>
                  <a:pt x="2363738" y="608522"/>
                </a:lnTo>
                <a:lnTo>
                  <a:pt x="2471181" y="597940"/>
                </a:lnTo>
                <a:lnTo>
                  <a:pt x="2578624" y="585621"/>
                </a:lnTo>
                <a:lnTo>
                  <a:pt x="2686066" y="573302"/>
                </a:lnTo>
                <a:lnTo>
                  <a:pt x="2793509" y="560984"/>
                </a:lnTo>
                <a:lnTo>
                  <a:pt x="2900951" y="548665"/>
                </a:lnTo>
                <a:lnTo>
                  <a:pt x="3008394" y="536346"/>
                </a:lnTo>
                <a:lnTo>
                  <a:pt x="3115837" y="524027"/>
                </a:lnTo>
                <a:lnTo>
                  <a:pt x="3223280" y="511708"/>
                </a:lnTo>
                <a:lnTo>
                  <a:pt x="3330722" y="496546"/>
                </a:lnTo>
                <a:lnTo>
                  <a:pt x="3438165" y="481385"/>
                </a:lnTo>
                <a:lnTo>
                  <a:pt x="3545608" y="466223"/>
                </a:lnTo>
                <a:lnTo>
                  <a:pt x="3653050" y="451061"/>
                </a:lnTo>
                <a:lnTo>
                  <a:pt x="3760493" y="435899"/>
                </a:lnTo>
                <a:lnTo>
                  <a:pt x="3867936" y="420738"/>
                </a:lnTo>
                <a:lnTo>
                  <a:pt x="3975378" y="405576"/>
                </a:lnTo>
                <a:lnTo>
                  <a:pt x="4082821" y="387571"/>
                </a:lnTo>
                <a:lnTo>
                  <a:pt x="4190264" y="366724"/>
                </a:lnTo>
                <a:lnTo>
                  <a:pt x="4297706" y="345877"/>
                </a:lnTo>
                <a:lnTo>
                  <a:pt x="4405149" y="325029"/>
                </a:lnTo>
                <a:lnTo>
                  <a:pt x="4512592" y="304182"/>
                </a:lnTo>
                <a:lnTo>
                  <a:pt x="4620034" y="283334"/>
                </a:lnTo>
                <a:lnTo>
                  <a:pt x="4727477" y="262487"/>
                </a:lnTo>
                <a:lnTo>
                  <a:pt x="4834920" y="241640"/>
                </a:lnTo>
                <a:lnTo>
                  <a:pt x="4942362" y="222688"/>
                </a:lnTo>
                <a:lnTo>
                  <a:pt x="5049805" y="203735"/>
                </a:lnTo>
                <a:lnTo>
                  <a:pt x="5157248" y="184783"/>
                </a:lnTo>
                <a:lnTo>
                  <a:pt x="5264690" y="165831"/>
                </a:lnTo>
                <a:lnTo>
                  <a:pt x="5372133" y="146879"/>
                </a:lnTo>
                <a:lnTo>
                  <a:pt x="5479576" y="127927"/>
                </a:lnTo>
                <a:lnTo>
                  <a:pt x="5587018" y="108975"/>
                </a:lnTo>
                <a:lnTo>
                  <a:pt x="5694461" y="92865"/>
                </a:lnTo>
                <a:lnTo>
                  <a:pt x="5801903" y="79599"/>
                </a:lnTo>
                <a:lnTo>
                  <a:pt x="5909346" y="66332"/>
                </a:lnTo>
                <a:lnTo>
                  <a:pt x="6016789" y="53066"/>
                </a:lnTo>
                <a:lnTo>
                  <a:pt x="6124232" y="39799"/>
                </a:lnTo>
                <a:lnTo>
                  <a:pt x="6231674" y="26533"/>
                </a:lnTo>
                <a:lnTo>
                  <a:pt x="6339117" y="13266"/>
                </a:lnTo>
                <a:lnTo>
                  <a:pt x="6446560" y="0"/>
                </a:lnTo>
                <a:lnTo>
                  <a:pt x="6446560" y="395586"/>
                </a:lnTo>
                <a:lnTo>
                  <a:pt x="6339117" y="403423"/>
                </a:lnTo>
                <a:lnTo>
                  <a:pt x="6231674" y="411260"/>
                </a:lnTo>
                <a:lnTo>
                  <a:pt x="6124232" y="419097"/>
                </a:lnTo>
                <a:lnTo>
                  <a:pt x="6016789" y="426933"/>
                </a:lnTo>
                <a:lnTo>
                  <a:pt x="5909346" y="434770"/>
                </a:lnTo>
                <a:lnTo>
                  <a:pt x="5801903" y="442607"/>
                </a:lnTo>
                <a:lnTo>
                  <a:pt x="5694461" y="450444"/>
                </a:lnTo>
                <a:lnTo>
                  <a:pt x="5587018" y="459960"/>
                </a:lnTo>
                <a:lnTo>
                  <a:pt x="5479576" y="471156"/>
                </a:lnTo>
                <a:lnTo>
                  <a:pt x="5372133" y="482352"/>
                </a:lnTo>
                <a:lnTo>
                  <a:pt x="5264690" y="493547"/>
                </a:lnTo>
                <a:lnTo>
                  <a:pt x="5157248" y="504743"/>
                </a:lnTo>
                <a:lnTo>
                  <a:pt x="5049805" y="515938"/>
                </a:lnTo>
                <a:lnTo>
                  <a:pt x="4942362" y="527134"/>
                </a:lnTo>
                <a:lnTo>
                  <a:pt x="4834920" y="538329"/>
                </a:lnTo>
                <a:lnTo>
                  <a:pt x="4727477" y="550644"/>
                </a:lnTo>
                <a:lnTo>
                  <a:pt x="4620034" y="562960"/>
                </a:lnTo>
                <a:lnTo>
                  <a:pt x="4512592" y="575275"/>
                </a:lnTo>
                <a:lnTo>
                  <a:pt x="4405149" y="587590"/>
                </a:lnTo>
                <a:lnTo>
                  <a:pt x="4297706" y="599905"/>
                </a:lnTo>
                <a:lnTo>
                  <a:pt x="4190264" y="612220"/>
                </a:lnTo>
                <a:lnTo>
                  <a:pt x="4082821" y="624535"/>
                </a:lnTo>
                <a:lnTo>
                  <a:pt x="3975378" y="635171"/>
                </a:lnTo>
                <a:lnTo>
                  <a:pt x="3867936" y="644127"/>
                </a:lnTo>
                <a:lnTo>
                  <a:pt x="3760493" y="653084"/>
                </a:lnTo>
                <a:lnTo>
                  <a:pt x="3653050" y="662040"/>
                </a:lnTo>
                <a:lnTo>
                  <a:pt x="3545608" y="670997"/>
                </a:lnTo>
                <a:lnTo>
                  <a:pt x="3438165" y="679953"/>
                </a:lnTo>
                <a:lnTo>
                  <a:pt x="3330722" y="688910"/>
                </a:lnTo>
                <a:lnTo>
                  <a:pt x="3223280" y="697866"/>
                </a:lnTo>
                <a:lnTo>
                  <a:pt x="3115837" y="705143"/>
                </a:lnTo>
                <a:lnTo>
                  <a:pt x="3008394" y="712420"/>
                </a:lnTo>
                <a:lnTo>
                  <a:pt x="2900951" y="719698"/>
                </a:lnTo>
                <a:lnTo>
                  <a:pt x="2793509" y="726975"/>
                </a:lnTo>
                <a:lnTo>
                  <a:pt x="2686066" y="734252"/>
                </a:lnTo>
                <a:lnTo>
                  <a:pt x="2578624" y="741529"/>
                </a:lnTo>
                <a:lnTo>
                  <a:pt x="2471181" y="748806"/>
                </a:lnTo>
                <a:lnTo>
                  <a:pt x="2363738" y="755057"/>
                </a:lnTo>
                <a:lnTo>
                  <a:pt x="2256296" y="760282"/>
                </a:lnTo>
                <a:lnTo>
                  <a:pt x="2148853" y="765506"/>
                </a:lnTo>
                <a:lnTo>
                  <a:pt x="2041410" y="770731"/>
                </a:lnTo>
                <a:lnTo>
                  <a:pt x="1933968" y="775955"/>
                </a:lnTo>
                <a:lnTo>
                  <a:pt x="1826525" y="781180"/>
                </a:lnTo>
                <a:lnTo>
                  <a:pt x="1719082" y="786404"/>
                </a:lnTo>
                <a:lnTo>
                  <a:pt x="1611640" y="791629"/>
                </a:lnTo>
                <a:lnTo>
                  <a:pt x="1504197" y="796854"/>
                </a:lnTo>
                <a:lnTo>
                  <a:pt x="1396754" y="802078"/>
                </a:lnTo>
                <a:lnTo>
                  <a:pt x="1289312" y="807303"/>
                </a:lnTo>
                <a:lnTo>
                  <a:pt x="1181869" y="812341"/>
                </a:lnTo>
                <a:lnTo>
                  <a:pt x="1074426" y="816819"/>
                </a:lnTo>
                <a:lnTo>
                  <a:pt x="966984" y="821297"/>
                </a:lnTo>
                <a:lnTo>
                  <a:pt x="859541" y="825776"/>
                </a:lnTo>
                <a:lnTo>
                  <a:pt x="752098" y="830254"/>
                </a:lnTo>
                <a:lnTo>
                  <a:pt x="644656" y="834732"/>
                </a:lnTo>
                <a:lnTo>
                  <a:pt x="537213" y="839210"/>
                </a:lnTo>
                <a:lnTo>
                  <a:pt x="429770" y="843688"/>
                </a:lnTo>
                <a:lnTo>
                  <a:pt x="322328" y="848167"/>
                </a:lnTo>
                <a:lnTo>
                  <a:pt x="214885" y="852645"/>
                </a:lnTo>
                <a:lnTo>
                  <a:pt x="107442" y="857123"/>
                </a:lnTo>
                <a:lnTo>
                  <a:pt x="0" y="861601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weight: 3-й центиль"/>
          <p:cNvSpPr/>
          <p:nvPr/>
        </p:nvSpPr>
        <p:spPr>
          <a:xfrm>
            <a:off x="548640" y="4465768"/>
            <a:ext cx="6446560" cy="466015"/>
          </a:xfrm>
          <a:custGeom>
            <a:avLst/>
            <a:gdLst/>
            <a:ahLst/>
            <a:cxnLst/>
            <a:rect l="l" t="t" r="r" b="b"/>
            <a:pathLst>
              <a:path w="6446560" h="466015">
                <a:moveTo>
                  <a:pt x="0" y="466015"/>
                </a:moveTo>
                <a:lnTo>
                  <a:pt x="107442" y="461537"/>
                </a:lnTo>
                <a:lnTo>
                  <a:pt x="214885" y="457059"/>
                </a:lnTo>
                <a:lnTo>
                  <a:pt x="322328" y="452581"/>
                </a:lnTo>
                <a:lnTo>
                  <a:pt x="429770" y="448102"/>
                </a:lnTo>
                <a:lnTo>
                  <a:pt x="537213" y="443624"/>
                </a:lnTo>
                <a:lnTo>
                  <a:pt x="644656" y="439146"/>
                </a:lnTo>
                <a:lnTo>
                  <a:pt x="752098" y="434668"/>
                </a:lnTo>
                <a:lnTo>
                  <a:pt x="859541" y="430190"/>
                </a:lnTo>
                <a:lnTo>
                  <a:pt x="966984" y="425711"/>
                </a:lnTo>
                <a:lnTo>
                  <a:pt x="1074426" y="421233"/>
                </a:lnTo>
                <a:lnTo>
                  <a:pt x="1181869" y="416755"/>
                </a:lnTo>
                <a:lnTo>
                  <a:pt x="1289312" y="411717"/>
                </a:lnTo>
                <a:lnTo>
                  <a:pt x="1396754" y="406492"/>
                </a:lnTo>
                <a:lnTo>
                  <a:pt x="1504197" y="401268"/>
                </a:lnTo>
                <a:lnTo>
                  <a:pt x="1611640" y="396043"/>
                </a:lnTo>
                <a:lnTo>
                  <a:pt x="1719082" y="390818"/>
                </a:lnTo>
                <a:lnTo>
                  <a:pt x="1826525" y="385594"/>
                </a:lnTo>
                <a:lnTo>
                  <a:pt x="1933968" y="380369"/>
                </a:lnTo>
                <a:lnTo>
                  <a:pt x="2041410" y="375145"/>
                </a:lnTo>
                <a:lnTo>
                  <a:pt x="2148853" y="369920"/>
                </a:lnTo>
                <a:lnTo>
                  <a:pt x="2256296" y="364696"/>
                </a:lnTo>
                <a:lnTo>
                  <a:pt x="2363738" y="359471"/>
                </a:lnTo>
                <a:lnTo>
                  <a:pt x="2471181" y="353220"/>
                </a:lnTo>
                <a:lnTo>
                  <a:pt x="2578624" y="345943"/>
                </a:lnTo>
                <a:lnTo>
                  <a:pt x="2686066" y="338666"/>
                </a:lnTo>
                <a:lnTo>
                  <a:pt x="2793509" y="331389"/>
                </a:lnTo>
                <a:lnTo>
                  <a:pt x="2900951" y="324112"/>
                </a:lnTo>
                <a:lnTo>
                  <a:pt x="3008394" y="316834"/>
                </a:lnTo>
                <a:lnTo>
                  <a:pt x="3115837" y="309557"/>
                </a:lnTo>
                <a:lnTo>
                  <a:pt x="3223280" y="302280"/>
                </a:lnTo>
                <a:lnTo>
                  <a:pt x="3330722" y="293324"/>
                </a:lnTo>
                <a:lnTo>
                  <a:pt x="3438165" y="284367"/>
                </a:lnTo>
                <a:lnTo>
                  <a:pt x="3545608" y="275411"/>
                </a:lnTo>
                <a:lnTo>
                  <a:pt x="3653050" y="266454"/>
                </a:lnTo>
                <a:lnTo>
                  <a:pt x="3760493" y="257498"/>
                </a:lnTo>
                <a:lnTo>
                  <a:pt x="3867936" y="248541"/>
                </a:lnTo>
                <a:lnTo>
                  <a:pt x="3975378" y="239585"/>
                </a:lnTo>
                <a:lnTo>
                  <a:pt x="4082821" y="228949"/>
                </a:lnTo>
                <a:lnTo>
                  <a:pt x="4190264" y="216634"/>
                </a:lnTo>
                <a:lnTo>
                  <a:pt x="4297706" y="204319"/>
                </a:lnTo>
                <a:lnTo>
                  <a:pt x="4405149" y="192004"/>
                </a:lnTo>
                <a:lnTo>
                  <a:pt x="4512592" y="179689"/>
                </a:lnTo>
                <a:lnTo>
                  <a:pt x="4620034" y="167374"/>
                </a:lnTo>
                <a:lnTo>
                  <a:pt x="4727477" y="155058"/>
                </a:lnTo>
                <a:lnTo>
                  <a:pt x="4834920" y="142743"/>
                </a:lnTo>
                <a:lnTo>
                  <a:pt x="4942362" y="131548"/>
                </a:lnTo>
                <a:lnTo>
                  <a:pt x="5049805" y="120352"/>
                </a:lnTo>
                <a:lnTo>
                  <a:pt x="5157248" y="109157"/>
                </a:lnTo>
                <a:lnTo>
                  <a:pt x="5264690" y="97961"/>
                </a:lnTo>
                <a:lnTo>
                  <a:pt x="5372133" y="86766"/>
                </a:lnTo>
                <a:lnTo>
                  <a:pt x="5479576" y="75570"/>
                </a:lnTo>
                <a:lnTo>
                  <a:pt x="5587018" y="64374"/>
                </a:lnTo>
                <a:lnTo>
                  <a:pt x="5694461" y="54858"/>
                </a:lnTo>
                <a:lnTo>
                  <a:pt x="5801903" y="47021"/>
                </a:lnTo>
                <a:lnTo>
                  <a:pt x="5909346" y="39184"/>
                </a:lnTo>
                <a:lnTo>
                  <a:pt x="6016789" y="31347"/>
                </a:lnTo>
                <a:lnTo>
                  <a:pt x="6124232" y="23511"/>
                </a:lnTo>
                <a:lnTo>
                  <a:pt x="6231674" y="15674"/>
                </a:lnTo>
                <a:lnTo>
                  <a:pt x="6339117" y="7837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35200" y="4385768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41" name="weight: 50-й центиль"/>
          <p:cNvSpPr/>
          <p:nvPr/>
        </p:nvSpPr>
        <p:spPr>
          <a:xfrm>
            <a:off x="548640" y="4334594"/>
            <a:ext cx="6446560" cy="573077"/>
          </a:xfrm>
          <a:custGeom>
            <a:avLst/>
            <a:gdLst/>
            <a:ahLst/>
            <a:cxnLst/>
            <a:rect l="l" t="t" r="r" b="b"/>
            <a:pathLst>
              <a:path w="6446560" h="573077">
                <a:moveTo>
                  <a:pt x="0" y="573077"/>
                </a:moveTo>
                <a:lnTo>
                  <a:pt x="107442" y="567570"/>
                </a:lnTo>
                <a:lnTo>
                  <a:pt x="214885" y="562063"/>
                </a:lnTo>
                <a:lnTo>
                  <a:pt x="322328" y="556555"/>
                </a:lnTo>
                <a:lnTo>
                  <a:pt x="429770" y="551048"/>
                </a:lnTo>
                <a:lnTo>
                  <a:pt x="537213" y="545541"/>
                </a:lnTo>
                <a:lnTo>
                  <a:pt x="644656" y="540034"/>
                </a:lnTo>
                <a:lnTo>
                  <a:pt x="752098" y="534527"/>
                </a:lnTo>
                <a:lnTo>
                  <a:pt x="859541" y="529020"/>
                </a:lnTo>
                <a:lnTo>
                  <a:pt x="966984" y="523513"/>
                </a:lnTo>
                <a:lnTo>
                  <a:pt x="1074426" y="518006"/>
                </a:lnTo>
                <a:lnTo>
                  <a:pt x="1181869" y="512499"/>
                </a:lnTo>
                <a:lnTo>
                  <a:pt x="1289312" y="506304"/>
                </a:lnTo>
                <a:lnTo>
                  <a:pt x="1396754" y="499879"/>
                </a:lnTo>
                <a:lnTo>
                  <a:pt x="1504197" y="493454"/>
                </a:lnTo>
                <a:lnTo>
                  <a:pt x="1611640" y="487029"/>
                </a:lnTo>
                <a:lnTo>
                  <a:pt x="1719082" y="480604"/>
                </a:lnTo>
                <a:lnTo>
                  <a:pt x="1826525" y="474179"/>
                </a:lnTo>
                <a:lnTo>
                  <a:pt x="1933968" y="467754"/>
                </a:lnTo>
                <a:lnTo>
                  <a:pt x="2041410" y="461330"/>
                </a:lnTo>
                <a:lnTo>
                  <a:pt x="2148853" y="454905"/>
                </a:lnTo>
                <a:lnTo>
                  <a:pt x="2256296" y="448480"/>
                </a:lnTo>
                <a:lnTo>
                  <a:pt x="2363738" y="442055"/>
                </a:lnTo>
                <a:lnTo>
                  <a:pt x="2471181" y="434368"/>
                </a:lnTo>
                <a:lnTo>
                  <a:pt x="2578624" y="425419"/>
                </a:lnTo>
                <a:lnTo>
                  <a:pt x="2686066" y="416470"/>
                </a:lnTo>
                <a:lnTo>
                  <a:pt x="2793509" y="407521"/>
                </a:lnTo>
                <a:lnTo>
                  <a:pt x="2900951" y="398572"/>
                </a:lnTo>
                <a:lnTo>
                  <a:pt x="3008394" y="389623"/>
                </a:lnTo>
                <a:lnTo>
                  <a:pt x="3115837" y="380674"/>
                </a:lnTo>
                <a:lnTo>
                  <a:pt x="3223280" y="371725"/>
                </a:lnTo>
                <a:lnTo>
                  <a:pt x="3330722" y="360711"/>
                </a:lnTo>
                <a:lnTo>
                  <a:pt x="3438165" y="349697"/>
                </a:lnTo>
                <a:lnTo>
                  <a:pt x="3545608" y="338683"/>
                </a:lnTo>
                <a:lnTo>
                  <a:pt x="3653050" y="327669"/>
                </a:lnTo>
                <a:lnTo>
                  <a:pt x="3760493" y="316655"/>
                </a:lnTo>
                <a:lnTo>
                  <a:pt x="3867936" y="305641"/>
                </a:lnTo>
                <a:lnTo>
                  <a:pt x="3975378" y="294627"/>
                </a:lnTo>
                <a:lnTo>
                  <a:pt x="4082821" y="281548"/>
                </a:lnTo>
                <a:lnTo>
                  <a:pt x="4190264" y="266403"/>
                </a:lnTo>
                <a:lnTo>
                  <a:pt x="4297706" y="251259"/>
                </a:lnTo>
                <a:lnTo>
                  <a:pt x="4405149" y="236115"/>
                </a:lnTo>
                <a:lnTo>
                  <a:pt x="4512592" y="220970"/>
                </a:lnTo>
                <a:lnTo>
                  <a:pt x="4620034" y="205826"/>
                </a:lnTo>
                <a:lnTo>
                  <a:pt x="4727477" y="190682"/>
                </a:lnTo>
                <a:lnTo>
                  <a:pt x="4834920" y="175537"/>
                </a:lnTo>
                <a:lnTo>
                  <a:pt x="4942362" y="161770"/>
                </a:lnTo>
                <a:lnTo>
                  <a:pt x="5049805" y="148002"/>
                </a:lnTo>
                <a:lnTo>
                  <a:pt x="5157248" y="134234"/>
                </a:lnTo>
                <a:lnTo>
                  <a:pt x="5264690" y="120467"/>
                </a:lnTo>
                <a:lnTo>
                  <a:pt x="5372133" y="106699"/>
                </a:lnTo>
                <a:lnTo>
                  <a:pt x="5479576" y="92932"/>
                </a:lnTo>
                <a:lnTo>
                  <a:pt x="5587018" y="79164"/>
                </a:lnTo>
                <a:lnTo>
                  <a:pt x="5694461" y="67461"/>
                </a:lnTo>
                <a:lnTo>
                  <a:pt x="5801903" y="57824"/>
                </a:lnTo>
                <a:lnTo>
                  <a:pt x="5909346" y="48187"/>
                </a:lnTo>
                <a:lnTo>
                  <a:pt x="6016789" y="38550"/>
                </a:lnTo>
                <a:lnTo>
                  <a:pt x="6124232" y="28912"/>
                </a:lnTo>
                <a:lnTo>
                  <a:pt x="6231674" y="19275"/>
                </a:lnTo>
                <a:lnTo>
                  <a:pt x="6339117" y="9638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35200" y="4254594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43" name="weight: 97-й центиль"/>
          <p:cNvSpPr/>
          <p:nvPr/>
        </p:nvSpPr>
        <p:spPr>
          <a:xfrm>
            <a:off x="548640" y="4070182"/>
            <a:ext cx="6446560" cy="788883"/>
          </a:xfrm>
          <a:custGeom>
            <a:avLst/>
            <a:gdLst/>
            <a:ahLst/>
            <a:cxnLst/>
            <a:rect l="l" t="t" r="r" b="b"/>
            <a:pathLst>
              <a:path w="6446560" h="788883">
                <a:moveTo>
                  <a:pt x="0" y="788883"/>
                </a:moveTo>
                <a:lnTo>
                  <a:pt x="107442" y="781302"/>
                </a:lnTo>
                <a:lnTo>
                  <a:pt x="214885" y="773722"/>
                </a:lnTo>
                <a:lnTo>
                  <a:pt x="322328" y="766141"/>
                </a:lnTo>
                <a:lnTo>
                  <a:pt x="429770" y="758560"/>
                </a:lnTo>
                <a:lnTo>
                  <a:pt x="537213" y="750979"/>
                </a:lnTo>
                <a:lnTo>
                  <a:pt x="644656" y="743398"/>
                </a:lnTo>
                <a:lnTo>
                  <a:pt x="752098" y="735817"/>
                </a:lnTo>
                <a:lnTo>
                  <a:pt x="859541" y="728236"/>
                </a:lnTo>
                <a:lnTo>
                  <a:pt x="966984" y="720656"/>
                </a:lnTo>
                <a:lnTo>
                  <a:pt x="1074426" y="713075"/>
                </a:lnTo>
                <a:lnTo>
                  <a:pt x="1181869" y="705494"/>
                </a:lnTo>
                <a:lnTo>
                  <a:pt x="1289312" y="696965"/>
                </a:lnTo>
                <a:lnTo>
                  <a:pt x="1396754" y="688121"/>
                </a:lnTo>
                <a:lnTo>
                  <a:pt x="1504197" y="679277"/>
                </a:lnTo>
                <a:lnTo>
                  <a:pt x="1611640" y="670432"/>
                </a:lnTo>
                <a:lnTo>
                  <a:pt x="1719082" y="661588"/>
                </a:lnTo>
                <a:lnTo>
                  <a:pt x="1826525" y="652744"/>
                </a:lnTo>
                <a:lnTo>
                  <a:pt x="1933968" y="643899"/>
                </a:lnTo>
                <a:lnTo>
                  <a:pt x="2041410" y="635055"/>
                </a:lnTo>
                <a:lnTo>
                  <a:pt x="2148853" y="626211"/>
                </a:lnTo>
                <a:lnTo>
                  <a:pt x="2256296" y="617366"/>
                </a:lnTo>
                <a:lnTo>
                  <a:pt x="2363738" y="608522"/>
                </a:lnTo>
                <a:lnTo>
                  <a:pt x="2471181" y="597940"/>
                </a:lnTo>
                <a:lnTo>
                  <a:pt x="2578624" y="585621"/>
                </a:lnTo>
                <a:lnTo>
                  <a:pt x="2686066" y="573302"/>
                </a:lnTo>
                <a:lnTo>
                  <a:pt x="2793509" y="560984"/>
                </a:lnTo>
                <a:lnTo>
                  <a:pt x="2900951" y="548665"/>
                </a:lnTo>
                <a:lnTo>
                  <a:pt x="3008394" y="536346"/>
                </a:lnTo>
                <a:lnTo>
                  <a:pt x="3115837" y="524027"/>
                </a:lnTo>
                <a:lnTo>
                  <a:pt x="3223280" y="511708"/>
                </a:lnTo>
                <a:lnTo>
                  <a:pt x="3330722" y="496546"/>
                </a:lnTo>
                <a:lnTo>
                  <a:pt x="3438165" y="481385"/>
                </a:lnTo>
                <a:lnTo>
                  <a:pt x="3545608" y="466223"/>
                </a:lnTo>
                <a:lnTo>
                  <a:pt x="3653050" y="451061"/>
                </a:lnTo>
                <a:lnTo>
                  <a:pt x="3760493" y="435899"/>
                </a:lnTo>
                <a:lnTo>
                  <a:pt x="3867936" y="420738"/>
                </a:lnTo>
                <a:lnTo>
                  <a:pt x="3975378" y="405576"/>
                </a:lnTo>
                <a:lnTo>
                  <a:pt x="4082821" y="387571"/>
                </a:lnTo>
                <a:lnTo>
                  <a:pt x="4190264" y="366724"/>
                </a:lnTo>
                <a:lnTo>
                  <a:pt x="4297706" y="345877"/>
                </a:lnTo>
                <a:lnTo>
                  <a:pt x="4405149" y="325029"/>
                </a:lnTo>
                <a:lnTo>
                  <a:pt x="4512592" y="304182"/>
                </a:lnTo>
                <a:lnTo>
                  <a:pt x="4620034" y="283334"/>
                </a:lnTo>
                <a:lnTo>
                  <a:pt x="4727477" y="262487"/>
                </a:lnTo>
                <a:lnTo>
                  <a:pt x="4834920" y="241640"/>
                </a:lnTo>
                <a:lnTo>
                  <a:pt x="4942362" y="222688"/>
                </a:lnTo>
                <a:lnTo>
                  <a:pt x="5049805" y="203735"/>
                </a:lnTo>
                <a:lnTo>
                  <a:pt x="5157248" y="184783"/>
                </a:lnTo>
                <a:lnTo>
                  <a:pt x="5264690" y="165831"/>
                </a:lnTo>
                <a:lnTo>
                  <a:pt x="5372133" y="146879"/>
                </a:lnTo>
                <a:lnTo>
                  <a:pt x="5479576" y="127927"/>
                </a:lnTo>
                <a:lnTo>
                  <a:pt x="5587018" y="108975"/>
                </a:lnTo>
                <a:lnTo>
                  <a:pt x="5694461" y="92865"/>
                </a:lnTo>
                <a:lnTo>
                  <a:pt x="5801903" y="79599"/>
                </a:lnTo>
                <a:lnTo>
                  <a:pt x="5909346" y="66332"/>
                </a:lnTo>
                <a:lnTo>
                  <a:pt x="6016789" y="53066"/>
                </a:lnTo>
                <a:lnTo>
                  <a:pt x="6124232" y="39799"/>
                </a:lnTo>
                <a:lnTo>
                  <a:pt x="6231674" y="26533"/>
                </a:lnTo>
                <a:lnTo>
                  <a:pt x="6339117" y="13266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35200" y="3990182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45" name="weight: ось"/>
          <p:cNvSpPr/>
          <p:nvPr/>
        </p:nvSpPr>
        <p:spPr>
          <a:xfrm>
            <a:off x="548640" y="4983480"/>
            <a:ext cx="6446560" cy="0"/>
          </a:xfrm>
          <a:custGeom>
            <a:avLst/>
            <a:gdLst/>
            <a:ahLst/>
            <a:cxnLst/>
            <a:rect l="l" t="t" r="r" b="b"/>
            <a:pathLst>
              <a:path w="6446560" h="0">
                <a:moveTo>
                  <a:pt x="0" y="0"/>
                </a:moveTo>
                <a:lnTo>
                  <a:pt x="6446560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8640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04460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10280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16100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21920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27740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33560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9380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45200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18</a:t>
            </a:r>
          </a:p>
        </p:txBody>
      </p:sp>
      <p:sp>
        <p:nvSpPr>
          <p:cNvPr id="55" name="weight: пациент"/>
          <p:cNvSpPr/>
          <p:nvPr/>
        </p:nvSpPr>
        <p:spPr>
          <a:xfrm>
            <a:off x="548640" y="4372170"/>
            <a:ext cx="6446560" cy="536913"/>
          </a:xfrm>
          <a:custGeom>
            <a:avLst/>
            <a:gdLst/>
            <a:ahLst/>
            <a:cxnLst/>
            <a:rect l="l" t="t" r="r" b="b"/>
            <a:pathLst>
              <a:path w="6446560" h="536913">
                <a:moveTo>
                  <a:pt x="0" y="536913"/>
                </a:moveTo>
                <a:lnTo>
                  <a:pt x="33575" y="535329"/>
                </a:lnTo>
                <a:lnTo>
                  <a:pt x="67151" y="533748"/>
                </a:lnTo>
                <a:lnTo>
                  <a:pt x="100727" y="532171"/>
                </a:lnTo>
                <a:lnTo>
                  <a:pt x="134303" y="530596"/>
                </a:lnTo>
                <a:lnTo>
                  <a:pt x="167879" y="529025"/>
                </a:lnTo>
                <a:lnTo>
                  <a:pt x="201455" y="527456"/>
                </a:lnTo>
                <a:lnTo>
                  <a:pt x="235030" y="525890"/>
                </a:lnTo>
                <a:lnTo>
                  <a:pt x="268606" y="524328"/>
                </a:lnTo>
                <a:lnTo>
                  <a:pt x="302182" y="522768"/>
                </a:lnTo>
                <a:lnTo>
                  <a:pt x="335758" y="521212"/>
                </a:lnTo>
                <a:lnTo>
                  <a:pt x="369334" y="519658"/>
                </a:lnTo>
                <a:lnTo>
                  <a:pt x="402910" y="518107"/>
                </a:lnTo>
                <a:lnTo>
                  <a:pt x="503637" y="513611"/>
                </a:lnTo>
                <a:lnTo>
                  <a:pt x="604365" y="509150"/>
                </a:lnTo>
                <a:lnTo>
                  <a:pt x="705092" y="504724"/>
                </a:lnTo>
                <a:lnTo>
                  <a:pt x="805820" y="500332"/>
                </a:lnTo>
                <a:lnTo>
                  <a:pt x="906547" y="495974"/>
                </a:lnTo>
                <a:lnTo>
                  <a:pt x="1007275" y="491651"/>
                </a:lnTo>
                <a:lnTo>
                  <a:pt x="1108002" y="487361"/>
                </a:lnTo>
                <a:lnTo>
                  <a:pt x="1208730" y="483105"/>
                </a:lnTo>
                <a:lnTo>
                  <a:pt x="1309457" y="478068"/>
                </a:lnTo>
                <a:lnTo>
                  <a:pt x="1410185" y="473071"/>
                </a:lnTo>
                <a:lnTo>
                  <a:pt x="1510912" y="468112"/>
                </a:lnTo>
                <a:lnTo>
                  <a:pt x="1611640" y="463193"/>
                </a:lnTo>
                <a:lnTo>
                  <a:pt x="1712367" y="458122"/>
                </a:lnTo>
                <a:lnTo>
                  <a:pt x="1813095" y="453082"/>
                </a:lnTo>
                <a:lnTo>
                  <a:pt x="1913822" y="448070"/>
                </a:lnTo>
                <a:lnTo>
                  <a:pt x="2014550" y="443088"/>
                </a:lnTo>
                <a:lnTo>
                  <a:pt x="2115277" y="438134"/>
                </a:lnTo>
                <a:lnTo>
                  <a:pt x="2216005" y="433210"/>
                </a:lnTo>
                <a:lnTo>
                  <a:pt x="2316732" y="428314"/>
                </a:lnTo>
                <a:lnTo>
                  <a:pt x="2417460" y="423447"/>
                </a:lnTo>
                <a:lnTo>
                  <a:pt x="2518187" y="416447"/>
                </a:lnTo>
                <a:lnTo>
                  <a:pt x="2618915" y="409488"/>
                </a:lnTo>
                <a:lnTo>
                  <a:pt x="2719642" y="402569"/>
                </a:lnTo>
                <a:lnTo>
                  <a:pt x="2820370" y="395690"/>
                </a:lnTo>
                <a:lnTo>
                  <a:pt x="2887521" y="391125"/>
                </a:lnTo>
                <a:lnTo>
                  <a:pt x="2954673" y="386579"/>
                </a:lnTo>
                <a:lnTo>
                  <a:pt x="3021825" y="382050"/>
                </a:lnTo>
                <a:lnTo>
                  <a:pt x="3088976" y="377539"/>
                </a:lnTo>
                <a:lnTo>
                  <a:pt x="3156128" y="373045"/>
                </a:lnTo>
                <a:lnTo>
                  <a:pt x="3223280" y="368568"/>
                </a:lnTo>
                <a:lnTo>
                  <a:pt x="3290431" y="362955"/>
                </a:lnTo>
                <a:lnTo>
                  <a:pt x="3357583" y="357363"/>
                </a:lnTo>
                <a:lnTo>
                  <a:pt x="3424735" y="351793"/>
                </a:lnTo>
                <a:lnTo>
                  <a:pt x="3491886" y="346244"/>
                </a:lnTo>
                <a:lnTo>
                  <a:pt x="3559038" y="340717"/>
                </a:lnTo>
                <a:lnTo>
                  <a:pt x="3626190" y="335211"/>
                </a:lnTo>
                <a:lnTo>
                  <a:pt x="3693341" y="330951"/>
                </a:lnTo>
                <a:lnTo>
                  <a:pt x="3760493" y="326749"/>
                </a:lnTo>
                <a:lnTo>
                  <a:pt x="3827645" y="322602"/>
                </a:lnTo>
                <a:lnTo>
                  <a:pt x="3894796" y="318511"/>
                </a:lnTo>
                <a:lnTo>
                  <a:pt x="3961948" y="314476"/>
                </a:lnTo>
                <a:lnTo>
                  <a:pt x="4029100" y="310495"/>
                </a:lnTo>
                <a:lnTo>
                  <a:pt x="4096251" y="304367"/>
                </a:lnTo>
                <a:lnTo>
                  <a:pt x="4163403" y="298317"/>
                </a:lnTo>
                <a:lnTo>
                  <a:pt x="4230555" y="292344"/>
                </a:lnTo>
                <a:lnTo>
                  <a:pt x="4297706" y="286448"/>
                </a:lnTo>
                <a:lnTo>
                  <a:pt x="4364858" y="280628"/>
                </a:lnTo>
                <a:lnTo>
                  <a:pt x="4432010" y="274883"/>
                </a:lnTo>
                <a:lnTo>
                  <a:pt x="4465585" y="272039"/>
                </a:lnTo>
                <a:lnTo>
                  <a:pt x="4499161" y="269213"/>
                </a:lnTo>
                <a:lnTo>
                  <a:pt x="4532737" y="266405"/>
                </a:lnTo>
                <a:lnTo>
                  <a:pt x="4566313" y="263616"/>
                </a:lnTo>
                <a:lnTo>
                  <a:pt x="4599889" y="260846"/>
                </a:lnTo>
                <a:lnTo>
                  <a:pt x="4633465" y="258093"/>
                </a:lnTo>
                <a:lnTo>
                  <a:pt x="4667040" y="255359"/>
                </a:lnTo>
                <a:lnTo>
                  <a:pt x="4700616" y="252643"/>
                </a:lnTo>
                <a:lnTo>
                  <a:pt x="4734192" y="249944"/>
                </a:lnTo>
                <a:lnTo>
                  <a:pt x="4767768" y="247264"/>
                </a:lnTo>
                <a:lnTo>
                  <a:pt x="4801344" y="244602"/>
                </a:lnTo>
                <a:lnTo>
                  <a:pt x="4834920" y="241957"/>
                </a:lnTo>
                <a:lnTo>
                  <a:pt x="4868495" y="236939"/>
                </a:lnTo>
                <a:lnTo>
                  <a:pt x="4902071" y="231890"/>
                </a:lnTo>
                <a:lnTo>
                  <a:pt x="4935647" y="226810"/>
                </a:lnTo>
                <a:lnTo>
                  <a:pt x="4969223" y="221698"/>
                </a:lnTo>
                <a:lnTo>
                  <a:pt x="5002799" y="216554"/>
                </a:lnTo>
                <a:lnTo>
                  <a:pt x="5036375" y="211379"/>
                </a:lnTo>
                <a:lnTo>
                  <a:pt x="5069950" y="206172"/>
                </a:lnTo>
                <a:lnTo>
                  <a:pt x="5103526" y="200932"/>
                </a:lnTo>
                <a:lnTo>
                  <a:pt x="5137102" y="195661"/>
                </a:lnTo>
                <a:lnTo>
                  <a:pt x="5170678" y="190357"/>
                </a:lnTo>
                <a:lnTo>
                  <a:pt x="5204254" y="185020"/>
                </a:lnTo>
                <a:lnTo>
                  <a:pt x="5237830" y="179650"/>
                </a:lnTo>
                <a:lnTo>
                  <a:pt x="5271405" y="173348"/>
                </a:lnTo>
                <a:lnTo>
                  <a:pt x="5304981" y="166991"/>
                </a:lnTo>
                <a:lnTo>
                  <a:pt x="5338557" y="160578"/>
                </a:lnTo>
                <a:lnTo>
                  <a:pt x="5372133" y="154110"/>
                </a:lnTo>
                <a:lnTo>
                  <a:pt x="5405709" y="147586"/>
                </a:lnTo>
                <a:lnTo>
                  <a:pt x="5439285" y="141006"/>
                </a:lnTo>
                <a:lnTo>
                  <a:pt x="5472860" y="134369"/>
                </a:lnTo>
                <a:lnTo>
                  <a:pt x="5506436" y="127674"/>
                </a:lnTo>
                <a:lnTo>
                  <a:pt x="5540012" y="120922"/>
                </a:lnTo>
                <a:lnTo>
                  <a:pt x="5573588" y="114112"/>
                </a:lnTo>
                <a:lnTo>
                  <a:pt x="5607164" y="107243"/>
                </a:lnTo>
                <a:lnTo>
                  <a:pt x="5640740" y="100315"/>
                </a:lnTo>
                <a:lnTo>
                  <a:pt x="5707891" y="92302"/>
                </a:lnTo>
                <a:lnTo>
                  <a:pt x="5775043" y="84228"/>
                </a:lnTo>
                <a:lnTo>
                  <a:pt x="5842195" y="76091"/>
                </a:lnTo>
                <a:lnTo>
                  <a:pt x="5909346" y="67892"/>
                </a:lnTo>
                <a:lnTo>
                  <a:pt x="5976498" y="59630"/>
                </a:lnTo>
                <a:lnTo>
                  <a:pt x="6043650" y="51304"/>
                </a:lnTo>
                <a:lnTo>
                  <a:pt x="6110801" y="42915"/>
                </a:lnTo>
                <a:lnTo>
                  <a:pt x="6177953" y="34462"/>
                </a:lnTo>
                <a:lnTo>
                  <a:pt x="6245105" y="25944"/>
                </a:lnTo>
                <a:lnTo>
                  <a:pt x="6312256" y="17362"/>
                </a:lnTo>
                <a:lnTo>
                  <a:pt x="6379408" y="8713"/>
                </a:lnTo>
                <a:lnTo>
                  <a:pt x="6446560" y="0"/>
                </a:lnTo>
              </a:path>
            </a:pathLst>
          </a:custGeom>
          <a:noFill/>
          <a:ln w="34925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weight: визит 2"/>
          <p:cNvSpPr/>
          <p:nvPr/>
        </p:nvSpPr>
        <p:spPr>
          <a:xfrm>
            <a:off x="488640" y="4849083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weight: визит 3"/>
          <p:cNvSpPr/>
          <p:nvPr/>
        </p:nvSpPr>
        <p:spPr>
          <a:xfrm>
            <a:off x="891550" y="4830277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weight: визит 6"/>
          <p:cNvSpPr/>
          <p:nvPr/>
        </p:nvSpPr>
        <p:spPr>
          <a:xfrm>
            <a:off x="2100280" y="4775363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weight: визит 9"/>
          <p:cNvSpPr/>
          <p:nvPr/>
        </p:nvSpPr>
        <p:spPr>
          <a:xfrm>
            <a:off x="3309010" y="4707860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weight: визит 11"/>
          <p:cNvSpPr/>
          <p:nvPr/>
        </p:nvSpPr>
        <p:spPr>
          <a:xfrm>
            <a:off x="4114830" y="4647381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weight: визит 13"/>
          <p:cNvSpPr/>
          <p:nvPr/>
        </p:nvSpPr>
        <p:spPr>
          <a:xfrm>
            <a:off x="4920650" y="4587053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weight: визит 14"/>
          <p:cNvSpPr/>
          <p:nvPr/>
        </p:nvSpPr>
        <p:spPr>
          <a:xfrm>
            <a:off x="5323560" y="4554127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weight: визит 15"/>
          <p:cNvSpPr/>
          <p:nvPr/>
        </p:nvSpPr>
        <p:spPr>
          <a:xfrm>
            <a:off x="5726470" y="4491820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weight: визит 16"/>
          <p:cNvSpPr/>
          <p:nvPr/>
        </p:nvSpPr>
        <p:spPr>
          <a:xfrm>
            <a:off x="6129380" y="4412485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weight: визит 18"/>
          <p:cNvSpPr/>
          <p:nvPr/>
        </p:nvSpPr>
        <p:spPr>
          <a:xfrm>
            <a:off x="6935200" y="4312170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3788486"/>
            <a:ext cx="6446560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Масса, кг</a:t>
            </a:r>
          </a:p>
        </p:txBody>
      </p:sp>
      <p:sp>
        <p:nvSpPr>
          <p:cNvPr id="67" name="Легенда"/>
          <p:cNvSpPr/>
          <p:nvPr/>
        </p:nvSpPr>
        <p:spPr>
          <a:xfrm>
            <a:off x="548640" y="5349240"/>
            <a:ext cx="274320" cy="9144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Легенда"/>
          <p:cNvSpPr txBox="1"/>
          <p:nvPr/>
        </p:nvSpPr>
        <p:spPr>
          <a:xfrm>
            <a:off x="896112" y="528523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пример: рост</a:t>
            </a:r>
          </a:p>
        </p:txBody>
      </p:sp>
      <p:sp>
        <p:nvSpPr>
          <p:cNvPr id="69" name="Легенда"/>
          <p:cNvSpPr/>
          <p:nvPr/>
        </p:nvSpPr>
        <p:spPr>
          <a:xfrm>
            <a:off x="2560320" y="5349240"/>
            <a:ext cx="274320" cy="91440"/>
          </a:xfrm>
          <a:prstGeom prst="rect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Легенда"/>
          <p:cNvSpPr txBox="1"/>
          <p:nvPr/>
        </p:nvSpPr>
        <p:spPr>
          <a:xfrm>
            <a:off x="2907792" y="528523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пример: масса</a:t>
            </a:r>
          </a:p>
        </p:txBody>
      </p:sp>
      <p:sp>
        <p:nvSpPr>
          <p:cNvPr id="71" name="Легенда"/>
          <p:cNvSpPr/>
          <p:nvPr/>
        </p:nvSpPr>
        <p:spPr>
          <a:xfrm>
            <a:off x="4572000" y="5349240"/>
            <a:ext cx="274320" cy="9144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Легенда"/>
          <p:cNvSpPr txBox="1"/>
          <p:nvPr/>
        </p:nvSpPr>
        <p:spPr>
          <a:xfrm>
            <a:off x="4919472" y="528523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норма: 3–⁠97-й центиль</a:t>
            </a:r>
          </a:p>
        </p:txBody>
      </p:sp>
      <p:sp>
        <p:nvSpPr>
          <p:cNvPr id="73" name="Текст"/>
          <p:cNvSpPr txBox="1"/>
          <p:nvPr/>
        </p:nvSpPr>
        <p:spPr>
          <a:xfrm>
            <a:off x="7635240" y="1691640"/>
            <a:ext cx="4007815" cy="406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Ретроспективно у 31 из 70 мужчин рост в СО снижался уже в 3–⁠9 лет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Родственники 1-й степени с задержкой: 80 % из 95 мальчиков и 75 % из 29 девочек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Итоговый рост чаще в целевом диапазоне, но в части когорт на 0,6 СО ниже</a:t>
            </a:r>
          </a:p>
        </p:txBody>
      </p:sp>
      <p:sp>
        <p:nvSpPr>
          <p:cNvPr id="7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900" b="0" i="0">
                <a:solidFill>
                  <a:srgbClr val="66737C"/>
                </a:solidFill>
                <a:latin typeface="Calibri"/>
              </a:rPr>
              <a:t>Wehkalampi K et al. Horm Res 2007;68:99–⁠104; Wehkalampi K et al. J Clin Endocrinol Metab 2008;93:723–⁠8; Akın Kağızmanlı G et al. J Clin Res Pediatr Endocrinol 2025;17:410–⁠8; Adan L et al. J Clin Endocrinol Metab 1994;78:478–⁠82; Persani L et al. Endocrine 2021;71:681–⁠8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Пубертат задержан, если к 13 годам нет телархе, а к 14 объём яичка меньше 4 мл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Норма начала пубертата: девочки 8–⁠13 лет, мальчики 9–⁠14; позже ребёнка должен осмотреть специалист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Объём яичка у мальчика определяют по орхидометру Прадера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Нет менархе через 3 года после телархе: подумайте об обследовании (обзор 2021 года)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Телархе за десятилетие наступает на 0,24 года раньше (1977–⁠2013), пороги задержки в руководствах прежние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Persani L et al. Endocrine 2021;71:681–⁠8; Nordenström A et al. Eur J Endocrinol 2022;186:G9–G49; Seppä S et al. Eur J Endocrinol 2021;184:R225–R242; Eckert-Lind C et al. JAMA Pediatr 2020;174:e195881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Причин четыре группы, и у девочек конституциональная задержка встречается вдвое реже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3054096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3910326"/>
                <a:gridCol w="3000948"/>
                <a:gridCol w="4183140"/>
              </a:tblGrid>
              <a:tr h="382016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Группа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Доля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Что за ней стоит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636016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Конституциональная задержка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53 %: мальчики 63 %, девочки 30 %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вариант нормы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636016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Функциональный гипогонадотропный гипогонадизм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19 %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хроническая болезнь, ограничение питания, нагрузки, анорексия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636016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Стойкий гипогонадотропный гипогонадизм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12 %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в том числе врождённый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82016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Гипергонадотропный гипогонадизм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13 %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в том числе синдром Тернера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82016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Не удалось отнести к группе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3 %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4837176"/>
            <a:ext cx="11094415" cy="9235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158 мальчиков и 74 девочки с задержкой пубертата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Sedlmeyer IL, Palmert MR. J Clin Endocrinol Metab 2002;87:1613–⁠20; Persani L et al. Endocrine 2021;71:681–⁠8; Varimo T et al. Hum Reprod 2017;32:147–⁠53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Аносмия, микропенис и крипторхизм указывают на врождённый гипогонадизм, а не на задержку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Обоняние снижено или отсутствует примерно у половины больных, по другой оценке реже: синдром Каллмана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У новорождённого мальчика: микропенис и крипторхизм, особенно двусторонний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Крипторхизм в анамнезе: отношение шансов стойкого гипогонадизма 17,2 (95 % доверительный интервал 3,4–⁠85,4)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Расщелина губы или нёба, тугоухость, бимануальные синкинезии, изменения костей пальцев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Нистагм, дальтонизм; аномалии почек частые, поэтому их ищут ультразвуковым исследованием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Boehm U et al. Nat Rev Endocrinol 2015;11:547–⁠64; Persani L et al. Endocrine 2021;71:681–⁠8; Varimo T et al. Hum Reprod 2017;32:147–⁠53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300" b="1" i="0">
                <a:solidFill>
                  <a:srgbClr val="1B2E3C"/>
                </a:solidFill>
                <a:latin typeface="Cambria"/>
              </a:rPr>
              <a:t>Анализы сужают выбор между задержкой и врождённым гипогонадизмом, окончательно решает время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3" cy="2482596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4910642"/>
                <a:gridCol w="2000632"/>
                <a:gridCol w="2182507"/>
                <a:gridCol w="2000632"/>
              </a:tblGrid>
              <a:tr h="413766"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Показатель у мальчиков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Порог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Чувствительность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Специфичность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Базальный ЛГ (лютеинизирующий гормон)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&lt; 0,3 МЕ/л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100 %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88 %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ЛГ через 4 ч после трипторелина 0,1 мг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&lt; 5,3 МЕ/л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100 %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100 %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Ингибин В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&lt; 111 пг/мл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100 %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92 %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Ингибин В, объём яичка &lt; 3 мл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≤ 35 пг/мл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100 %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100 %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Ингибин В, объём яичка 3–⁠6 мл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≤ 65 пг/мл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80–⁠86 %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88–⁠92 %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4265676"/>
            <a:ext cx="11094415" cy="1495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Пороги из разных когорт и наборов, только у мальчиков; рутинного теста нет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Нет пубертата после короткого курса малых доз тестостерона: довод за врождённый гипогонадизм (мнение экспертов)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Binder G et al. Clin Endocrinol (Oxf) 2015;82:100–⁠5; Coutant R et al. J Clin Endocrinol Metab 2010;95:5225–⁠32; Harrington J, Palmert MR. J Clin Endocrinol Metab 2012;97:3056–⁠67; Persani L et al. Endocrine 2021;71:681–⁠8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300" b="1" i="0">
                <a:solidFill>
                  <a:srgbClr val="1B2E3C"/>
                </a:solidFill>
                <a:latin typeface="Cambria"/>
              </a:rPr>
              <a:t>Без эстрогенов нет скачка и зоны роста долго открыты: при врождённом гипогонадизме рост высокий</a:t>
            </a:r>
          </a:p>
        </p:txBody>
      </p:sp>
      <p:sp>
        <p:nvSpPr>
          <p:cNvPr id="3" name="Шаг: Тестостерон"/>
          <p:cNvSpPr/>
          <p:nvPr/>
        </p:nvSpPr>
        <p:spPr>
          <a:xfrm>
            <a:off x="548640" y="1554480"/>
            <a:ext cx="2464993" cy="1417320"/>
          </a:xfrm>
          <a:prstGeom prst="rect">
            <a:avLst/>
          </a:prstGeom>
          <a:solidFill>
            <a:srgbClr val="1B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Шаг"/>
          <p:cNvSpPr txBox="1"/>
          <p:nvPr/>
        </p:nvSpPr>
        <p:spPr>
          <a:xfrm>
            <a:off x="658368" y="1627632"/>
            <a:ext cx="2245537" cy="1271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Тестостерон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B9C7D0"/>
                </a:solidFill>
                <a:latin typeface="Calibri"/>
              </a:rPr>
              <a:t>у мальчиков около 80 % эстрогенов образуется вне яичек из тестостерона и андростендиона</a:t>
            </a:r>
          </a:p>
        </p:txBody>
      </p:sp>
      <p:cxnSp>
        <p:nvCxnSpPr>
          <p:cNvPr id="5" name="Стрелка"/>
          <p:cNvCxnSpPr/>
          <p:nvPr/>
        </p:nvCxnSpPr>
        <p:spPr>
          <a:xfrm>
            <a:off x="3059353" y="2263140"/>
            <a:ext cx="320040" cy="0"/>
          </a:xfrm>
          <a:prstGeom prst="line">
            <a:avLst/>
          </a:prstGeom>
          <a:ln w="25400">
            <a:solidFill>
              <a:srgbClr val="8C97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Шаг: Эстрогены"/>
          <p:cNvSpPr/>
          <p:nvPr/>
        </p:nvSpPr>
        <p:spPr>
          <a:xfrm>
            <a:off x="3425113" y="1554480"/>
            <a:ext cx="2464993" cy="1417320"/>
          </a:xfrm>
          <a:prstGeom prst="rect">
            <a:avLst/>
          </a:prstGeom>
          <a:solidFill>
            <a:srgbClr val="F3F6F7"/>
          </a:solidFill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Шаг"/>
          <p:cNvSpPr txBox="1"/>
          <p:nvPr/>
        </p:nvSpPr>
        <p:spPr>
          <a:xfrm>
            <a:off x="3534841" y="1627632"/>
            <a:ext cx="2245537" cy="1271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26323A"/>
                </a:solidFill>
                <a:latin typeface="Calibri"/>
              </a:rPr>
              <a:t>Эстрогены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26323A"/>
                </a:solidFill>
                <a:latin typeface="Calibri"/>
              </a:rPr>
              <a:t>у девочек из яичников, у мальчиков через ароматазу</a:t>
            </a:r>
          </a:p>
        </p:txBody>
      </p:sp>
      <p:cxnSp>
        <p:nvCxnSpPr>
          <p:cNvPr id="8" name="Стрелка"/>
          <p:cNvCxnSpPr/>
          <p:nvPr/>
        </p:nvCxnSpPr>
        <p:spPr>
          <a:xfrm>
            <a:off x="5935827" y="2263140"/>
            <a:ext cx="320040" cy="0"/>
          </a:xfrm>
          <a:prstGeom prst="line">
            <a:avLst/>
          </a:prstGeom>
          <a:ln w="25400">
            <a:solidFill>
              <a:srgbClr val="8C97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Шаг: СТГ и ИФР-1"/>
          <p:cNvSpPr/>
          <p:nvPr/>
        </p:nvSpPr>
        <p:spPr>
          <a:xfrm>
            <a:off x="6301587" y="1554480"/>
            <a:ext cx="2464993" cy="1417320"/>
          </a:xfrm>
          <a:prstGeom prst="rect">
            <a:avLst/>
          </a:prstGeom>
          <a:solidFill>
            <a:srgbClr val="F3F6F7"/>
          </a:solidFill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Шаг"/>
          <p:cNvSpPr txBox="1"/>
          <p:nvPr/>
        </p:nvSpPr>
        <p:spPr>
          <a:xfrm>
            <a:off x="6411315" y="1627632"/>
            <a:ext cx="2245537" cy="1271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26323A"/>
                </a:solidFill>
                <a:latin typeface="Calibri"/>
              </a:rPr>
              <a:t>СТГ и ИФР-⁠1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26323A"/>
                </a:solidFill>
                <a:latin typeface="Calibri"/>
              </a:rPr>
              <a:t>вероятно, растут под действием эстрогенов: пубертатный скачок</a:t>
            </a:r>
          </a:p>
        </p:txBody>
      </p:sp>
      <p:cxnSp>
        <p:nvCxnSpPr>
          <p:cNvPr id="11" name="Стрелка"/>
          <p:cNvCxnSpPr/>
          <p:nvPr/>
        </p:nvCxnSpPr>
        <p:spPr>
          <a:xfrm>
            <a:off x="8812301" y="2263140"/>
            <a:ext cx="320040" cy="0"/>
          </a:xfrm>
          <a:prstGeom prst="line">
            <a:avLst/>
          </a:prstGeom>
          <a:ln w="25400">
            <a:solidFill>
              <a:srgbClr val="8C97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Шаг: Зона роста"/>
          <p:cNvSpPr/>
          <p:nvPr/>
        </p:nvSpPr>
        <p:spPr>
          <a:xfrm>
            <a:off x="9178061" y="1554480"/>
            <a:ext cx="2464993" cy="1417320"/>
          </a:xfrm>
          <a:prstGeom prst="rect">
            <a:avLst/>
          </a:prstGeom>
          <a:solidFill>
            <a:srgbClr val="F3F6F7"/>
          </a:solidFill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Шаг"/>
          <p:cNvSpPr txBox="1"/>
          <p:nvPr/>
        </p:nvSpPr>
        <p:spPr>
          <a:xfrm>
            <a:off x="9287789" y="1627632"/>
            <a:ext cx="2245537" cy="1271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26323A"/>
                </a:solidFill>
                <a:latin typeface="Calibri"/>
              </a:rPr>
              <a:t>Зона роста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26323A"/>
                </a:solidFill>
                <a:latin typeface="Calibri"/>
              </a:rPr>
              <a:t>стареет быстрее, закрытие приближается (у кроликов)</a:t>
            </a:r>
          </a:p>
        </p:txBody>
      </p:sp>
      <p:cxnSp>
        <p:nvCxnSpPr>
          <p:cNvPr id="14" name="Сценарий"/>
          <p:cNvCxnSpPr/>
          <p:nvPr/>
        </p:nvCxnSpPr>
        <p:spPr>
          <a:xfrm>
            <a:off x="548640" y="3383280"/>
            <a:ext cx="5410047" cy="0"/>
          </a:xfrm>
          <a:prstGeom prst="line">
            <a:avLst/>
          </a:prstGeom>
          <a:ln w="25400">
            <a:solidFill>
              <a:srgbClr val="1F6F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Сценарий"/>
          <p:cNvSpPr txBox="1"/>
          <p:nvPr/>
        </p:nvSpPr>
        <p:spPr>
          <a:xfrm>
            <a:off x="548640" y="3474720"/>
            <a:ext cx="5410047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1B2E3C"/>
                </a:solidFill>
                <a:latin typeface="Calibri"/>
              </a:rPr>
              <a:t>Врождённый гипогонадизм</a:t>
            </a:r>
          </a:p>
          <a:p>
            <a:pPr>
              <a:spcAft>
                <a:spcPts val="200"/>
              </a:spcAft>
            </a:pPr>
            <a:r>
              <a:rPr sz="1700" b="0" i="0">
                <a:solidFill>
                  <a:srgbClr val="26323A"/>
                </a:solidFill>
                <a:latin typeface="Calibri"/>
              </a:rPr>
              <a:t>скачка нет, зоны роста открыты: рост часто относительно высокий, облик евнухоидный</a:t>
            </a:r>
          </a:p>
        </p:txBody>
      </p:sp>
      <p:cxnSp>
        <p:nvCxnSpPr>
          <p:cNvPr id="16" name="Сценарий"/>
          <p:cNvCxnSpPr/>
          <p:nvPr/>
        </p:nvCxnSpPr>
        <p:spPr>
          <a:xfrm>
            <a:off x="6233007" y="3383280"/>
            <a:ext cx="5410048" cy="0"/>
          </a:xfrm>
          <a:prstGeom prst="line">
            <a:avLst/>
          </a:prstGeom>
          <a:ln w="25400">
            <a:solidFill>
              <a:srgbClr val="1F6F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Сценарий"/>
          <p:cNvSpPr txBox="1"/>
          <p:nvPr/>
        </p:nvSpPr>
        <p:spPr>
          <a:xfrm>
            <a:off x="6233007" y="3474720"/>
            <a:ext cx="5410047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1B2E3C"/>
                </a:solidFill>
                <a:latin typeface="Calibri"/>
              </a:rPr>
              <a:t>Нет рецептора эстрогенов или ароматазы</a:t>
            </a:r>
          </a:p>
          <a:p>
            <a:pPr>
              <a:spcAft>
                <a:spcPts val="200"/>
              </a:spcAft>
            </a:pPr>
            <a:r>
              <a:rPr sz="1700" b="0" i="0">
                <a:solidFill>
                  <a:srgbClr val="26323A"/>
                </a:solidFill>
                <a:latin typeface="Calibri"/>
              </a:rPr>
              <a:t>описаны мужчины ростом 204 см: в 24 и 28 лет зоны роста закрыты не полностью</a:t>
            </a:r>
          </a:p>
        </p:txBody>
      </p:sp>
      <p:sp>
        <p:nvSpPr>
          <p:cNvPr id="18" name="Вывод схемы"/>
          <p:cNvSpPr txBox="1"/>
          <p:nvPr/>
        </p:nvSpPr>
        <p:spPr>
          <a:xfrm>
            <a:off x="548640" y="493776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1800" b="0" i="0">
                <a:solidFill>
                  <a:srgbClr val="1B2E3C"/>
                </a:solidFill>
                <a:latin typeface="Calibri"/>
              </a:rPr>
              <a:t>Низкий рост при гипогонадизме: ищите вторую причину. Медленный темп и малая масса могут указывать на функциональную форму; бывают синдром Тернера, дефицит нескольких гормонов гипофиза, синдром Прадера — Вилли</a:t>
            </a:r>
          </a:p>
        </p:txBody>
      </p:sp>
      <p:sp>
        <p:nvSpPr>
          <p:cNvPr id="19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900" b="0" i="0">
                <a:solidFill>
                  <a:srgbClr val="66737C"/>
                </a:solidFill>
                <a:latin typeface="Calibri"/>
              </a:rPr>
              <a:t>Grumbach MM. J Pediatr Endocrinol Metab 2000;13 Suppl 6:1439–⁠55; Juul A. Hum Reprod Update 2001;7:303–⁠13; Weise M et al. Proc Natl Acad Sci USA 2001;98:6871–⁠6; Smith EP et al. N Engl J Med 1994;331:1056–⁠61; Morishima A et al. J Clin Endocrinol Metab 1995;80:3689–⁠98; Persani L et al. Endocrine 2021;71:681–⁠8; Nordenström A et al. Eur J Endocrinol 2022;186:G9–G49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Кариотип нужен каждой девочке с необъяснённой низкорослостью, даже без признаков Тернера</a:t>
            </a:r>
          </a:p>
        </p:txBody>
      </p:sp>
      <p:sp>
        <p:nvSpPr>
          <p:cNvPr id="3" name="height: полоса 3–97"/>
          <p:cNvSpPr/>
          <p:nvPr/>
        </p:nvSpPr>
        <p:spPr>
          <a:xfrm>
            <a:off x="548640" y="2360347"/>
            <a:ext cx="6446560" cy="1035980"/>
          </a:xfrm>
          <a:custGeom>
            <a:avLst/>
            <a:gdLst/>
            <a:ahLst/>
            <a:cxnLst/>
            <a:rect l="l" t="t" r="r" b="b"/>
            <a:pathLst>
              <a:path w="6446560" h="1035980">
                <a:moveTo>
                  <a:pt x="0" y="860708"/>
                </a:moveTo>
                <a:lnTo>
                  <a:pt x="107442" y="841786"/>
                </a:lnTo>
                <a:lnTo>
                  <a:pt x="214885" y="823254"/>
                </a:lnTo>
                <a:lnTo>
                  <a:pt x="322328" y="805103"/>
                </a:lnTo>
                <a:lnTo>
                  <a:pt x="429770" y="787325"/>
                </a:lnTo>
                <a:lnTo>
                  <a:pt x="537213" y="769911"/>
                </a:lnTo>
                <a:lnTo>
                  <a:pt x="644656" y="752853"/>
                </a:lnTo>
                <a:lnTo>
                  <a:pt x="752098" y="736143"/>
                </a:lnTo>
                <a:lnTo>
                  <a:pt x="859541" y="719773"/>
                </a:lnTo>
                <a:lnTo>
                  <a:pt x="966984" y="703735"/>
                </a:lnTo>
                <a:lnTo>
                  <a:pt x="1074426" y="688020"/>
                </a:lnTo>
                <a:lnTo>
                  <a:pt x="1181869" y="672622"/>
                </a:lnTo>
                <a:lnTo>
                  <a:pt x="1289312" y="657533"/>
                </a:lnTo>
                <a:lnTo>
                  <a:pt x="1396754" y="642743"/>
                </a:lnTo>
                <a:lnTo>
                  <a:pt x="1504197" y="628246"/>
                </a:lnTo>
                <a:lnTo>
                  <a:pt x="1611640" y="614033"/>
                </a:lnTo>
                <a:lnTo>
                  <a:pt x="1719082" y="600097"/>
                </a:lnTo>
                <a:lnTo>
                  <a:pt x="1826525" y="586427"/>
                </a:lnTo>
                <a:lnTo>
                  <a:pt x="1933968" y="573016"/>
                </a:lnTo>
                <a:lnTo>
                  <a:pt x="2041410" y="559853"/>
                </a:lnTo>
                <a:lnTo>
                  <a:pt x="2148853" y="546929"/>
                </a:lnTo>
                <a:lnTo>
                  <a:pt x="2256296" y="534233"/>
                </a:lnTo>
                <a:lnTo>
                  <a:pt x="2363738" y="521752"/>
                </a:lnTo>
                <a:lnTo>
                  <a:pt x="2471181" y="509474"/>
                </a:lnTo>
                <a:lnTo>
                  <a:pt x="2578624" y="497384"/>
                </a:lnTo>
                <a:lnTo>
                  <a:pt x="2686066" y="485466"/>
                </a:lnTo>
                <a:lnTo>
                  <a:pt x="2793509" y="473701"/>
                </a:lnTo>
                <a:lnTo>
                  <a:pt x="2900952" y="462068"/>
                </a:lnTo>
                <a:lnTo>
                  <a:pt x="3008394" y="450542"/>
                </a:lnTo>
                <a:lnTo>
                  <a:pt x="3115837" y="439095"/>
                </a:lnTo>
                <a:lnTo>
                  <a:pt x="3223280" y="427694"/>
                </a:lnTo>
                <a:lnTo>
                  <a:pt x="3330722" y="416301"/>
                </a:lnTo>
                <a:lnTo>
                  <a:pt x="3438165" y="404872"/>
                </a:lnTo>
                <a:lnTo>
                  <a:pt x="3545607" y="393357"/>
                </a:lnTo>
                <a:lnTo>
                  <a:pt x="3653050" y="381696"/>
                </a:lnTo>
                <a:lnTo>
                  <a:pt x="3760493" y="369823"/>
                </a:lnTo>
                <a:lnTo>
                  <a:pt x="3867936" y="357664"/>
                </a:lnTo>
                <a:lnTo>
                  <a:pt x="3975378" y="345135"/>
                </a:lnTo>
                <a:lnTo>
                  <a:pt x="4082821" y="332148"/>
                </a:lnTo>
                <a:lnTo>
                  <a:pt x="4190264" y="318607"/>
                </a:lnTo>
                <a:lnTo>
                  <a:pt x="4297706" y="304421"/>
                </a:lnTo>
                <a:lnTo>
                  <a:pt x="4405149" y="289503"/>
                </a:lnTo>
                <a:lnTo>
                  <a:pt x="4512592" y="273780"/>
                </a:lnTo>
                <a:lnTo>
                  <a:pt x="4620034" y="257209"/>
                </a:lnTo>
                <a:lnTo>
                  <a:pt x="4727477" y="239786"/>
                </a:lnTo>
                <a:lnTo>
                  <a:pt x="4834920" y="221558"/>
                </a:lnTo>
                <a:lnTo>
                  <a:pt x="4942362" y="202639"/>
                </a:lnTo>
                <a:lnTo>
                  <a:pt x="5049805" y="183210"/>
                </a:lnTo>
                <a:lnTo>
                  <a:pt x="5157248" y="163522"/>
                </a:lnTo>
                <a:lnTo>
                  <a:pt x="5264690" y="143879"/>
                </a:lnTo>
                <a:lnTo>
                  <a:pt x="5372133" y="124619"/>
                </a:lnTo>
                <a:lnTo>
                  <a:pt x="5479576" y="106081"/>
                </a:lnTo>
                <a:lnTo>
                  <a:pt x="5587018" y="88574"/>
                </a:lnTo>
                <a:lnTo>
                  <a:pt x="5694461" y="72351"/>
                </a:lnTo>
                <a:lnTo>
                  <a:pt x="5801904" y="57587"/>
                </a:lnTo>
                <a:lnTo>
                  <a:pt x="5909346" y="44372"/>
                </a:lnTo>
                <a:lnTo>
                  <a:pt x="6016789" y="32719"/>
                </a:lnTo>
                <a:lnTo>
                  <a:pt x="6124232" y="22573"/>
                </a:lnTo>
                <a:lnTo>
                  <a:pt x="6231674" y="13830"/>
                </a:lnTo>
                <a:lnTo>
                  <a:pt x="6339117" y="6356"/>
                </a:lnTo>
                <a:lnTo>
                  <a:pt x="6446560" y="0"/>
                </a:lnTo>
                <a:lnTo>
                  <a:pt x="6446560" y="292120"/>
                </a:lnTo>
                <a:lnTo>
                  <a:pt x="6339117" y="296528"/>
                </a:lnTo>
                <a:lnTo>
                  <a:pt x="6231674" y="302055"/>
                </a:lnTo>
                <a:lnTo>
                  <a:pt x="6124232" y="308850"/>
                </a:lnTo>
                <a:lnTo>
                  <a:pt x="6016789" y="317049"/>
                </a:lnTo>
                <a:lnTo>
                  <a:pt x="5909346" y="326754"/>
                </a:lnTo>
                <a:lnTo>
                  <a:pt x="5801904" y="338022"/>
                </a:lnTo>
                <a:lnTo>
                  <a:pt x="5694461" y="350839"/>
                </a:lnTo>
                <a:lnTo>
                  <a:pt x="5587018" y="365114"/>
                </a:lnTo>
                <a:lnTo>
                  <a:pt x="5479576" y="380673"/>
                </a:lnTo>
                <a:lnTo>
                  <a:pt x="5372133" y="397264"/>
                </a:lnTo>
                <a:lnTo>
                  <a:pt x="5264690" y="414576"/>
                </a:lnTo>
                <a:lnTo>
                  <a:pt x="5157248" y="432272"/>
                </a:lnTo>
                <a:lnTo>
                  <a:pt x="5049805" y="450013"/>
                </a:lnTo>
                <a:lnTo>
                  <a:pt x="4942362" y="467494"/>
                </a:lnTo>
                <a:lnTo>
                  <a:pt x="4834920" y="484466"/>
                </a:lnTo>
                <a:lnTo>
                  <a:pt x="4727477" y="500746"/>
                </a:lnTo>
                <a:lnTo>
                  <a:pt x="4620034" y="516222"/>
                </a:lnTo>
                <a:lnTo>
                  <a:pt x="4512592" y="530845"/>
                </a:lnTo>
                <a:lnTo>
                  <a:pt x="4405149" y="544620"/>
                </a:lnTo>
                <a:lnTo>
                  <a:pt x="4297706" y="557592"/>
                </a:lnTo>
                <a:lnTo>
                  <a:pt x="4190264" y="569830"/>
                </a:lnTo>
                <a:lnTo>
                  <a:pt x="4082821" y="581423"/>
                </a:lnTo>
                <a:lnTo>
                  <a:pt x="3975378" y="592463"/>
                </a:lnTo>
                <a:lnTo>
                  <a:pt x="3867936" y="603045"/>
                </a:lnTo>
                <a:lnTo>
                  <a:pt x="3760493" y="613256"/>
                </a:lnTo>
                <a:lnTo>
                  <a:pt x="3653050" y="623181"/>
                </a:lnTo>
                <a:lnTo>
                  <a:pt x="3545607" y="632895"/>
                </a:lnTo>
                <a:lnTo>
                  <a:pt x="3438165" y="642463"/>
                </a:lnTo>
                <a:lnTo>
                  <a:pt x="3330722" y="651944"/>
                </a:lnTo>
                <a:lnTo>
                  <a:pt x="3223280" y="661390"/>
                </a:lnTo>
                <a:lnTo>
                  <a:pt x="3115837" y="670843"/>
                </a:lnTo>
                <a:lnTo>
                  <a:pt x="3008394" y="680343"/>
                </a:lnTo>
                <a:lnTo>
                  <a:pt x="2900952" y="689921"/>
                </a:lnTo>
                <a:lnTo>
                  <a:pt x="2793509" y="699607"/>
                </a:lnTo>
                <a:lnTo>
                  <a:pt x="2686066" y="709425"/>
                </a:lnTo>
                <a:lnTo>
                  <a:pt x="2578624" y="719396"/>
                </a:lnTo>
                <a:lnTo>
                  <a:pt x="2471181" y="729538"/>
                </a:lnTo>
                <a:lnTo>
                  <a:pt x="2363738" y="739868"/>
                </a:lnTo>
                <a:lnTo>
                  <a:pt x="2256296" y="750401"/>
                </a:lnTo>
                <a:lnTo>
                  <a:pt x="2148853" y="761150"/>
                </a:lnTo>
                <a:lnTo>
                  <a:pt x="2041410" y="772127"/>
                </a:lnTo>
                <a:lnTo>
                  <a:pt x="1933968" y="783342"/>
                </a:lnTo>
                <a:lnTo>
                  <a:pt x="1826525" y="794806"/>
                </a:lnTo>
                <a:lnTo>
                  <a:pt x="1719082" y="806528"/>
                </a:lnTo>
                <a:lnTo>
                  <a:pt x="1611640" y="818517"/>
                </a:lnTo>
                <a:lnTo>
                  <a:pt x="1504197" y="830783"/>
                </a:lnTo>
                <a:lnTo>
                  <a:pt x="1396754" y="843332"/>
                </a:lnTo>
                <a:lnTo>
                  <a:pt x="1289312" y="856174"/>
                </a:lnTo>
                <a:lnTo>
                  <a:pt x="1181869" y="869316"/>
                </a:lnTo>
                <a:lnTo>
                  <a:pt x="1074426" y="882767"/>
                </a:lnTo>
                <a:lnTo>
                  <a:pt x="966984" y="896534"/>
                </a:lnTo>
                <a:lnTo>
                  <a:pt x="859541" y="910624"/>
                </a:lnTo>
                <a:lnTo>
                  <a:pt x="752098" y="925047"/>
                </a:lnTo>
                <a:lnTo>
                  <a:pt x="644656" y="939810"/>
                </a:lnTo>
                <a:lnTo>
                  <a:pt x="537213" y="954920"/>
                </a:lnTo>
                <a:lnTo>
                  <a:pt x="429770" y="970387"/>
                </a:lnTo>
                <a:lnTo>
                  <a:pt x="322328" y="986218"/>
                </a:lnTo>
                <a:lnTo>
                  <a:pt x="214885" y="1002421"/>
                </a:lnTo>
                <a:lnTo>
                  <a:pt x="107442" y="1019005"/>
                </a:lnTo>
                <a:lnTo>
                  <a:pt x="0" y="1035980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ight: 3-й центиль"/>
          <p:cNvSpPr/>
          <p:nvPr/>
        </p:nvSpPr>
        <p:spPr>
          <a:xfrm>
            <a:off x="548640" y="2652467"/>
            <a:ext cx="6446560" cy="743860"/>
          </a:xfrm>
          <a:custGeom>
            <a:avLst/>
            <a:gdLst/>
            <a:ahLst/>
            <a:cxnLst/>
            <a:rect l="l" t="t" r="r" b="b"/>
            <a:pathLst>
              <a:path w="6446560" h="743860">
                <a:moveTo>
                  <a:pt x="0" y="743860"/>
                </a:moveTo>
                <a:lnTo>
                  <a:pt x="107442" y="726885"/>
                </a:lnTo>
                <a:lnTo>
                  <a:pt x="214885" y="710301"/>
                </a:lnTo>
                <a:lnTo>
                  <a:pt x="322328" y="694098"/>
                </a:lnTo>
                <a:lnTo>
                  <a:pt x="429770" y="678267"/>
                </a:lnTo>
                <a:lnTo>
                  <a:pt x="537213" y="662800"/>
                </a:lnTo>
                <a:lnTo>
                  <a:pt x="644656" y="647690"/>
                </a:lnTo>
                <a:lnTo>
                  <a:pt x="752098" y="632927"/>
                </a:lnTo>
                <a:lnTo>
                  <a:pt x="859541" y="618504"/>
                </a:lnTo>
                <a:lnTo>
                  <a:pt x="966984" y="604414"/>
                </a:lnTo>
                <a:lnTo>
                  <a:pt x="1074426" y="590647"/>
                </a:lnTo>
                <a:lnTo>
                  <a:pt x="1181869" y="577196"/>
                </a:lnTo>
                <a:lnTo>
                  <a:pt x="1289312" y="564054"/>
                </a:lnTo>
                <a:lnTo>
                  <a:pt x="1396754" y="551212"/>
                </a:lnTo>
                <a:lnTo>
                  <a:pt x="1504197" y="538663"/>
                </a:lnTo>
                <a:lnTo>
                  <a:pt x="1611640" y="526397"/>
                </a:lnTo>
                <a:lnTo>
                  <a:pt x="1719082" y="514408"/>
                </a:lnTo>
                <a:lnTo>
                  <a:pt x="1826525" y="502686"/>
                </a:lnTo>
                <a:lnTo>
                  <a:pt x="1933968" y="491222"/>
                </a:lnTo>
                <a:lnTo>
                  <a:pt x="2041410" y="480007"/>
                </a:lnTo>
                <a:lnTo>
                  <a:pt x="2148853" y="469030"/>
                </a:lnTo>
                <a:lnTo>
                  <a:pt x="2256296" y="458281"/>
                </a:lnTo>
                <a:lnTo>
                  <a:pt x="2363738" y="447748"/>
                </a:lnTo>
                <a:lnTo>
                  <a:pt x="2471181" y="437418"/>
                </a:lnTo>
                <a:lnTo>
                  <a:pt x="2578624" y="427276"/>
                </a:lnTo>
                <a:lnTo>
                  <a:pt x="2686066" y="417305"/>
                </a:lnTo>
                <a:lnTo>
                  <a:pt x="2793509" y="407487"/>
                </a:lnTo>
                <a:lnTo>
                  <a:pt x="2900952" y="397801"/>
                </a:lnTo>
                <a:lnTo>
                  <a:pt x="3008394" y="388223"/>
                </a:lnTo>
                <a:lnTo>
                  <a:pt x="3115837" y="378723"/>
                </a:lnTo>
                <a:lnTo>
                  <a:pt x="3223280" y="369270"/>
                </a:lnTo>
                <a:lnTo>
                  <a:pt x="3330722" y="359824"/>
                </a:lnTo>
                <a:lnTo>
                  <a:pt x="3438165" y="350343"/>
                </a:lnTo>
                <a:lnTo>
                  <a:pt x="3545607" y="340775"/>
                </a:lnTo>
                <a:lnTo>
                  <a:pt x="3653050" y="331061"/>
                </a:lnTo>
                <a:lnTo>
                  <a:pt x="3760493" y="321136"/>
                </a:lnTo>
                <a:lnTo>
                  <a:pt x="3867936" y="310925"/>
                </a:lnTo>
                <a:lnTo>
                  <a:pt x="3975378" y="300343"/>
                </a:lnTo>
                <a:lnTo>
                  <a:pt x="4082821" y="289303"/>
                </a:lnTo>
                <a:lnTo>
                  <a:pt x="4190264" y="277710"/>
                </a:lnTo>
                <a:lnTo>
                  <a:pt x="4297706" y="265472"/>
                </a:lnTo>
                <a:lnTo>
                  <a:pt x="4405149" y="252500"/>
                </a:lnTo>
                <a:lnTo>
                  <a:pt x="4512592" y="238725"/>
                </a:lnTo>
                <a:lnTo>
                  <a:pt x="4620034" y="224102"/>
                </a:lnTo>
                <a:lnTo>
                  <a:pt x="4727477" y="208626"/>
                </a:lnTo>
                <a:lnTo>
                  <a:pt x="4834920" y="192346"/>
                </a:lnTo>
                <a:lnTo>
                  <a:pt x="4942362" y="175374"/>
                </a:lnTo>
                <a:lnTo>
                  <a:pt x="5049805" y="157893"/>
                </a:lnTo>
                <a:lnTo>
                  <a:pt x="5157248" y="140152"/>
                </a:lnTo>
                <a:lnTo>
                  <a:pt x="5264690" y="122456"/>
                </a:lnTo>
                <a:lnTo>
                  <a:pt x="5372133" y="105144"/>
                </a:lnTo>
                <a:lnTo>
                  <a:pt x="5479576" y="88553"/>
                </a:lnTo>
                <a:lnTo>
                  <a:pt x="5587018" y="72994"/>
                </a:lnTo>
                <a:lnTo>
                  <a:pt x="5694461" y="58719"/>
                </a:lnTo>
                <a:lnTo>
                  <a:pt x="5801904" y="45902"/>
                </a:lnTo>
                <a:lnTo>
                  <a:pt x="5909346" y="34634"/>
                </a:lnTo>
                <a:lnTo>
                  <a:pt x="6016789" y="24929"/>
                </a:lnTo>
                <a:lnTo>
                  <a:pt x="6124232" y="16730"/>
                </a:lnTo>
                <a:lnTo>
                  <a:pt x="6231674" y="9935"/>
                </a:lnTo>
                <a:lnTo>
                  <a:pt x="6339117" y="4408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35200" y="2572467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6" name="height: 50-й центиль"/>
          <p:cNvSpPr/>
          <p:nvPr/>
        </p:nvSpPr>
        <p:spPr>
          <a:xfrm>
            <a:off x="548640" y="2506407"/>
            <a:ext cx="6446560" cy="802284"/>
          </a:xfrm>
          <a:custGeom>
            <a:avLst/>
            <a:gdLst/>
            <a:ahLst/>
            <a:cxnLst/>
            <a:rect l="l" t="t" r="r" b="b"/>
            <a:pathLst>
              <a:path w="6446560" h="802284">
                <a:moveTo>
                  <a:pt x="0" y="802284"/>
                </a:moveTo>
                <a:lnTo>
                  <a:pt x="107442" y="784336"/>
                </a:lnTo>
                <a:lnTo>
                  <a:pt x="214885" y="766778"/>
                </a:lnTo>
                <a:lnTo>
                  <a:pt x="322328" y="749600"/>
                </a:lnTo>
                <a:lnTo>
                  <a:pt x="429770" y="732796"/>
                </a:lnTo>
                <a:lnTo>
                  <a:pt x="537213" y="716356"/>
                </a:lnTo>
                <a:lnTo>
                  <a:pt x="644656" y="700271"/>
                </a:lnTo>
                <a:lnTo>
                  <a:pt x="752098" y="684535"/>
                </a:lnTo>
                <a:lnTo>
                  <a:pt x="859541" y="669139"/>
                </a:lnTo>
                <a:lnTo>
                  <a:pt x="966984" y="654074"/>
                </a:lnTo>
                <a:lnTo>
                  <a:pt x="1074426" y="639334"/>
                </a:lnTo>
                <a:lnTo>
                  <a:pt x="1181869" y="624909"/>
                </a:lnTo>
                <a:lnTo>
                  <a:pt x="1289312" y="610793"/>
                </a:lnTo>
                <a:lnTo>
                  <a:pt x="1396754" y="596978"/>
                </a:lnTo>
                <a:lnTo>
                  <a:pt x="1504197" y="583454"/>
                </a:lnTo>
                <a:lnTo>
                  <a:pt x="1611640" y="570215"/>
                </a:lnTo>
                <a:lnTo>
                  <a:pt x="1719082" y="557252"/>
                </a:lnTo>
                <a:lnTo>
                  <a:pt x="1826525" y="544556"/>
                </a:lnTo>
                <a:lnTo>
                  <a:pt x="1933968" y="532119"/>
                </a:lnTo>
                <a:lnTo>
                  <a:pt x="2041410" y="519930"/>
                </a:lnTo>
                <a:lnTo>
                  <a:pt x="2148853" y="507979"/>
                </a:lnTo>
                <a:lnTo>
                  <a:pt x="2256296" y="496257"/>
                </a:lnTo>
                <a:lnTo>
                  <a:pt x="2363738" y="484750"/>
                </a:lnTo>
                <a:lnTo>
                  <a:pt x="2471181" y="473446"/>
                </a:lnTo>
                <a:lnTo>
                  <a:pt x="2578624" y="462330"/>
                </a:lnTo>
                <a:lnTo>
                  <a:pt x="2686066" y="451386"/>
                </a:lnTo>
                <a:lnTo>
                  <a:pt x="2793509" y="440594"/>
                </a:lnTo>
                <a:lnTo>
                  <a:pt x="2900952" y="429935"/>
                </a:lnTo>
                <a:lnTo>
                  <a:pt x="3008394" y="419382"/>
                </a:lnTo>
                <a:lnTo>
                  <a:pt x="3115837" y="408909"/>
                </a:lnTo>
                <a:lnTo>
                  <a:pt x="3223280" y="398482"/>
                </a:lnTo>
                <a:lnTo>
                  <a:pt x="3330722" y="388063"/>
                </a:lnTo>
                <a:lnTo>
                  <a:pt x="3438165" y="377607"/>
                </a:lnTo>
                <a:lnTo>
                  <a:pt x="3545607" y="367066"/>
                </a:lnTo>
                <a:lnTo>
                  <a:pt x="3653050" y="356379"/>
                </a:lnTo>
                <a:lnTo>
                  <a:pt x="3760493" y="345480"/>
                </a:lnTo>
                <a:lnTo>
                  <a:pt x="3867936" y="334294"/>
                </a:lnTo>
                <a:lnTo>
                  <a:pt x="3975378" y="322739"/>
                </a:lnTo>
                <a:lnTo>
                  <a:pt x="4082821" y="310725"/>
                </a:lnTo>
                <a:lnTo>
                  <a:pt x="4190264" y="298159"/>
                </a:lnTo>
                <a:lnTo>
                  <a:pt x="4297706" y="284947"/>
                </a:lnTo>
                <a:lnTo>
                  <a:pt x="4405149" y="271002"/>
                </a:lnTo>
                <a:lnTo>
                  <a:pt x="4512592" y="256253"/>
                </a:lnTo>
                <a:lnTo>
                  <a:pt x="4620034" y="240656"/>
                </a:lnTo>
                <a:lnTo>
                  <a:pt x="4727477" y="224206"/>
                </a:lnTo>
                <a:lnTo>
                  <a:pt x="4834920" y="206952"/>
                </a:lnTo>
                <a:lnTo>
                  <a:pt x="4942362" y="189007"/>
                </a:lnTo>
                <a:lnTo>
                  <a:pt x="5049805" y="170551"/>
                </a:lnTo>
                <a:lnTo>
                  <a:pt x="5157248" y="151837"/>
                </a:lnTo>
                <a:lnTo>
                  <a:pt x="5264690" y="133168"/>
                </a:lnTo>
                <a:lnTo>
                  <a:pt x="5372133" y="114881"/>
                </a:lnTo>
                <a:lnTo>
                  <a:pt x="5479576" y="97317"/>
                </a:lnTo>
                <a:lnTo>
                  <a:pt x="5587018" y="80784"/>
                </a:lnTo>
                <a:lnTo>
                  <a:pt x="5694461" y="65535"/>
                </a:lnTo>
                <a:lnTo>
                  <a:pt x="5801904" y="51744"/>
                </a:lnTo>
                <a:lnTo>
                  <a:pt x="5909346" y="39503"/>
                </a:lnTo>
                <a:lnTo>
                  <a:pt x="6016789" y="28824"/>
                </a:lnTo>
                <a:lnTo>
                  <a:pt x="6124232" y="19651"/>
                </a:lnTo>
                <a:lnTo>
                  <a:pt x="6231674" y="11883"/>
                </a:lnTo>
                <a:lnTo>
                  <a:pt x="6339117" y="5382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35200" y="2426407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8" name="height: 97-й центиль"/>
          <p:cNvSpPr/>
          <p:nvPr/>
        </p:nvSpPr>
        <p:spPr>
          <a:xfrm>
            <a:off x="548640" y="2360347"/>
            <a:ext cx="6446560" cy="860708"/>
          </a:xfrm>
          <a:custGeom>
            <a:avLst/>
            <a:gdLst/>
            <a:ahLst/>
            <a:cxnLst/>
            <a:rect l="l" t="t" r="r" b="b"/>
            <a:pathLst>
              <a:path w="6446560" h="860708">
                <a:moveTo>
                  <a:pt x="0" y="860708"/>
                </a:moveTo>
                <a:lnTo>
                  <a:pt x="107442" y="841786"/>
                </a:lnTo>
                <a:lnTo>
                  <a:pt x="214885" y="823254"/>
                </a:lnTo>
                <a:lnTo>
                  <a:pt x="322328" y="805103"/>
                </a:lnTo>
                <a:lnTo>
                  <a:pt x="429770" y="787325"/>
                </a:lnTo>
                <a:lnTo>
                  <a:pt x="537213" y="769911"/>
                </a:lnTo>
                <a:lnTo>
                  <a:pt x="644656" y="752853"/>
                </a:lnTo>
                <a:lnTo>
                  <a:pt x="752098" y="736143"/>
                </a:lnTo>
                <a:lnTo>
                  <a:pt x="859541" y="719773"/>
                </a:lnTo>
                <a:lnTo>
                  <a:pt x="966984" y="703735"/>
                </a:lnTo>
                <a:lnTo>
                  <a:pt x="1074426" y="688020"/>
                </a:lnTo>
                <a:lnTo>
                  <a:pt x="1181869" y="672622"/>
                </a:lnTo>
                <a:lnTo>
                  <a:pt x="1289312" y="657533"/>
                </a:lnTo>
                <a:lnTo>
                  <a:pt x="1396754" y="642743"/>
                </a:lnTo>
                <a:lnTo>
                  <a:pt x="1504197" y="628246"/>
                </a:lnTo>
                <a:lnTo>
                  <a:pt x="1611640" y="614033"/>
                </a:lnTo>
                <a:lnTo>
                  <a:pt x="1719082" y="600097"/>
                </a:lnTo>
                <a:lnTo>
                  <a:pt x="1826525" y="586427"/>
                </a:lnTo>
                <a:lnTo>
                  <a:pt x="1933968" y="573016"/>
                </a:lnTo>
                <a:lnTo>
                  <a:pt x="2041410" y="559853"/>
                </a:lnTo>
                <a:lnTo>
                  <a:pt x="2148853" y="546929"/>
                </a:lnTo>
                <a:lnTo>
                  <a:pt x="2256296" y="534233"/>
                </a:lnTo>
                <a:lnTo>
                  <a:pt x="2363738" y="521752"/>
                </a:lnTo>
                <a:lnTo>
                  <a:pt x="2471181" y="509474"/>
                </a:lnTo>
                <a:lnTo>
                  <a:pt x="2578624" y="497384"/>
                </a:lnTo>
                <a:lnTo>
                  <a:pt x="2686066" y="485466"/>
                </a:lnTo>
                <a:lnTo>
                  <a:pt x="2793509" y="473701"/>
                </a:lnTo>
                <a:lnTo>
                  <a:pt x="2900952" y="462068"/>
                </a:lnTo>
                <a:lnTo>
                  <a:pt x="3008394" y="450542"/>
                </a:lnTo>
                <a:lnTo>
                  <a:pt x="3115837" y="439095"/>
                </a:lnTo>
                <a:lnTo>
                  <a:pt x="3223280" y="427694"/>
                </a:lnTo>
                <a:lnTo>
                  <a:pt x="3330722" y="416301"/>
                </a:lnTo>
                <a:lnTo>
                  <a:pt x="3438165" y="404872"/>
                </a:lnTo>
                <a:lnTo>
                  <a:pt x="3545607" y="393357"/>
                </a:lnTo>
                <a:lnTo>
                  <a:pt x="3653050" y="381696"/>
                </a:lnTo>
                <a:lnTo>
                  <a:pt x="3760493" y="369823"/>
                </a:lnTo>
                <a:lnTo>
                  <a:pt x="3867936" y="357664"/>
                </a:lnTo>
                <a:lnTo>
                  <a:pt x="3975378" y="345135"/>
                </a:lnTo>
                <a:lnTo>
                  <a:pt x="4082821" y="332148"/>
                </a:lnTo>
                <a:lnTo>
                  <a:pt x="4190264" y="318607"/>
                </a:lnTo>
                <a:lnTo>
                  <a:pt x="4297706" y="304421"/>
                </a:lnTo>
                <a:lnTo>
                  <a:pt x="4405149" y="289503"/>
                </a:lnTo>
                <a:lnTo>
                  <a:pt x="4512592" y="273780"/>
                </a:lnTo>
                <a:lnTo>
                  <a:pt x="4620034" y="257209"/>
                </a:lnTo>
                <a:lnTo>
                  <a:pt x="4727477" y="239786"/>
                </a:lnTo>
                <a:lnTo>
                  <a:pt x="4834920" y="221558"/>
                </a:lnTo>
                <a:lnTo>
                  <a:pt x="4942362" y="202639"/>
                </a:lnTo>
                <a:lnTo>
                  <a:pt x="5049805" y="183210"/>
                </a:lnTo>
                <a:lnTo>
                  <a:pt x="5157248" y="163522"/>
                </a:lnTo>
                <a:lnTo>
                  <a:pt x="5264690" y="143879"/>
                </a:lnTo>
                <a:lnTo>
                  <a:pt x="5372133" y="124619"/>
                </a:lnTo>
                <a:lnTo>
                  <a:pt x="5479576" y="106081"/>
                </a:lnTo>
                <a:lnTo>
                  <a:pt x="5587018" y="88574"/>
                </a:lnTo>
                <a:lnTo>
                  <a:pt x="5694461" y="72351"/>
                </a:lnTo>
                <a:lnTo>
                  <a:pt x="5801904" y="57587"/>
                </a:lnTo>
                <a:lnTo>
                  <a:pt x="5909346" y="44372"/>
                </a:lnTo>
                <a:lnTo>
                  <a:pt x="6016789" y="32719"/>
                </a:lnTo>
                <a:lnTo>
                  <a:pt x="6124232" y="22573"/>
                </a:lnTo>
                <a:lnTo>
                  <a:pt x="6231674" y="13830"/>
                </a:lnTo>
                <a:lnTo>
                  <a:pt x="6339117" y="6356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35200" y="2280347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10" name="height: ось"/>
          <p:cNvSpPr/>
          <p:nvPr/>
        </p:nvSpPr>
        <p:spPr>
          <a:xfrm>
            <a:off x="548640" y="3458486"/>
            <a:ext cx="6446560" cy="0"/>
          </a:xfrm>
          <a:custGeom>
            <a:avLst/>
            <a:gdLst/>
            <a:ahLst/>
            <a:cxnLst/>
            <a:rect l="l" t="t" r="r" b="b"/>
            <a:pathLst>
              <a:path w="6446560" h="0">
                <a:moveTo>
                  <a:pt x="0" y="0"/>
                </a:moveTo>
                <a:lnTo>
                  <a:pt x="6446560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640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3066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7493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920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6346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70773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45200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14</a:t>
            </a:r>
          </a:p>
        </p:txBody>
      </p:sp>
      <p:sp>
        <p:nvSpPr>
          <p:cNvPr id="18" name="height: пациент"/>
          <p:cNvSpPr/>
          <p:nvPr/>
        </p:nvSpPr>
        <p:spPr>
          <a:xfrm>
            <a:off x="548640" y="2793746"/>
            <a:ext cx="5909346" cy="552237"/>
          </a:xfrm>
          <a:custGeom>
            <a:avLst/>
            <a:gdLst/>
            <a:ahLst/>
            <a:cxnLst/>
            <a:rect l="l" t="t" r="r" b="b"/>
            <a:pathLst>
              <a:path w="5909346" h="552237">
                <a:moveTo>
                  <a:pt x="0" y="552237"/>
                </a:moveTo>
                <a:lnTo>
                  <a:pt x="89535" y="539558"/>
                </a:lnTo>
                <a:lnTo>
                  <a:pt x="179071" y="527188"/>
                </a:lnTo>
                <a:lnTo>
                  <a:pt x="268606" y="515119"/>
                </a:lnTo>
                <a:lnTo>
                  <a:pt x="358142" y="503349"/>
                </a:lnTo>
                <a:lnTo>
                  <a:pt x="447677" y="491871"/>
                </a:lnTo>
                <a:lnTo>
                  <a:pt x="537213" y="480682"/>
                </a:lnTo>
                <a:lnTo>
                  <a:pt x="626748" y="469775"/>
                </a:lnTo>
                <a:lnTo>
                  <a:pt x="716284" y="459147"/>
                </a:lnTo>
                <a:lnTo>
                  <a:pt x="805820" y="448793"/>
                </a:lnTo>
                <a:lnTo>
                  <a:pt x="895355" y="438708"/>
                </a:lnTo>
                <a:lnTo>
                  <a:pt x="984891" y="428887"/>
                </a:lnTo>
                <a:lnTo>
                  <a:pt x="1074426" y="419327"/>
                </a:lnTo>
                <a:lnTo>
                  <a:pt x="1163962" y="410022"/>
                </a:lnTo>
                <a:lnTo>
                  <a:pt x="1253497" y="400969"/>
                </a:lnTo>
                <a:lnTo>
                  <a:pt x="1343033" y="392161"/>
                </a:lnTo>
                <a:lnTo>
                  <a:pt x="1432568" y="383596"/>
                </a:lnTo>
                <a:lnTo>
                  <a:pt x="1522104" y="375267"/>
                </a:lnTo>
                <a:lnTo>
                  <a:pt x="1611640" y="367171"/>
                </a:lnTo>
                <a:lnTo>
                  <a:pt x="1701175" y="359303"/>
                </a:lnTo>
                <a:lnTo>
                  <a:pt x="1790711" y="351657"/>
                </a:lnTo>
                <a:lnTo>
                  <a:pt x="1880246" y="344229"/>
                </a:lnTo>
                <a:lnTo>
                  <a:pt x="1969782" y="337013"/>
                </a:lnTo>
                <a:lnTo>
                  <a:pt x="2059317" y="330003"/>
                </a:lnTo>
                <a:lnTo>
                  <a:pt x="2148853" y="323193"/>
                </a:lnTo>
                <a:lnTo>
                  <a:pt x="2238388" y="316099"/>
                </a:lnTo>
                <a:lnTo>
                  <a:pt x="2327924" y="309186"/>
                </a:lnTo>
                <a:lnTo>
                  <a:pt x="2417460" y="302445"/>
                </a:lnTo>
                <a:lnTo>
                  <a:pt x="2506995" y="295869"/>
                </a:lnTo>
                <a:lnTo>
                  <a:pt x="2596531" y="289448"/>
                </a:lnTo>
                <a:lnTo>
                  <a:pt x="2686066" y="283174"/>
                </a:lnTo>
                <a:lnTo>
                  <a:pt x="2775602" y="277034"/>
                </a:lnTo>
                <a:lnTo>
                  <a:pt x="2865137" y="271018"/>
                </a:lnTo>
                <a:lnTo>
                  <a:pt x="2954673" y="265110"/>
                </a:lnTo>
                <a:lnTo>
                  <a:pt x="3044208" y="259297"/>
                </a:lnTo>
                <a:lnTo>
                  <a:pt x="3133744" y="253560"/>
                </a:lnTo>
                <a:lnTo>
                  <a:pt x="3223280" y="247880"/>
                </a:lnTo>
                <a:lnTo>
                  <a:pt x="3312815" y="242234"/>
                </a:lnTo>
                <a:lnTo>
                  <a:pt x="3402351" y="236598"/>
                </a:lnTo>
                <a:lnTo>
                  <a:pt x="3491886" y="230942"/>
                </a:lnTo>
                <a:lnTo>
                  <a:pt x="3581422" y="225236"/>
                </a:lnTo>
                <a:lnTo>
                  <a:pt x="3670957" y="219443"/>
                </a:lnTo>
                <a:lnTo>
                  <a:pt x="3760493" y="213524"/>
                </a:lnTo>
                <a:lnTo>
                  <a:pt x="3850028" y="207434"/>
                </a:lnTo>
                <a:lnTo>
                  <a:pt x="3939564" y="201127"/>
                </a:lnTo>
                <a:lnTo>
                  <a:pt x="4029100" y="194551"/>
                </a:lnTo>
                <a:lnTo>
                  <a:pt x="4118635" y="187653"/>
                </a:lnTo>
                <a:lnTo>
                  <a:pt x="4208171" y="180378"/>
                </a:lnTo>
                <a:lnTo>
                  <a:pt x="4297706" y="172672"/>
                </a:lnTo>
                <a:lnTo>
                  <a:pt x="4387242" y="164487"/>
                </a:lnTo>
                <a:lnTo>
                  <a:pt x="4476777" y="155778"/>
                </a:lnTo>
                <a:lnTo>
                  <a:pt x="4566313" y="146517"/>
                </a:lnTo>
                <a:lnTo>
                  <a:pt x="4655848" y="136689"/>
                </a:lnTo>
                <a:lnTo>
                  <a:pt x="4745384" y="126303"/>
                </a:lnTo>
                <a:lnTo>
                  <a:pt x="4834920" y="115396"/>
                </a:lnTo>
                <a:lnTo>
                  <a:pt x="4924455" y="104036"/>
                </a:lnTo>
                <a:lnTo>
                  <a:pt x="5013991" y="92325"/>
                </a:lnTo>
                <a:lnTo>
                  <a:pt x="5103526" y="80399"/>
                </a:lnTo>
                <a:lnTo>
                  <a:pt x="5193062" y="68423"/>
                </a:lnTo>
                <a:lnTo>
                  <a:pt x="5282597" y="56583"/>
                </a:lnTo>
                <a:lnTo>
                  <a:pt x="5372133" y="45078"/>
                </a:lnTo>
                <a:lnTo>
                  <a:pt x="5416901" y="40119"/>
                </a:lnTo>
                <a:lnTo>
                  <a:pt x="5461668" y="35319"/>
                </a:lnTo>
                <a:lnTo>
                  <a:pt x="5506436" y="30702"/>
                </a:lnTo>
                <a:lnTo>
                  <a:pt x="5551204" y="26288"/>
                </a:lnTo>
                <a:lnTo>
                  <a:pt x="5595972" y="22095"/>
                </a:lnTo>
                <a:lnTo>
                  <a:pt x="5640740" y="18139"/>
                </a:lnTo>
                <a:lnTo>
                  <a:pt x="5685507" y="14435"/>
                </a:lnTo>
                <a:lnTo>
                  <a:pt x="5730275" y="10994"/>
                </a:lnTo>
                <a:lnTo>
                  <a:pt x="5775043" y="7825"/>
                </a:lnTo>
                <a:lnTo>
                  <a:pt x="5819811" y="4934"/>
                </a:lnTo>
                <a:lnTo>
                  <a:pt x="5864578" y="2325"/>
                </a:lnTo>
                <a:lnTo>
                  <a:pt x="5909346" y="0"/>
                </a:lnTo>
              </a:path>
            </a:pathLst>
          </a:custGeom>
          <a:noFill/>
          <a:ln w="34925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ight: визит 2"/>
          <p:cNvSpPr/>
          <p:nvPr/>
        </p:nvSpPr>
        <p:spPr>
          <a:xfrm>
            <a:off x="488640" y="3285983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ight: визит 4"/>
          <p:cNvSpPr/>
          <p:nvPr/>
        </p:nvSpPr>
        <p:spPr>
          <a:xfrm>
            <a:off x="1563066" y="3153073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ight: визит 6"/>
          <p:cNvSpPr/>
          <p:nvPr/>
        </p:nvSpPr>
        <p:spPr>
          <a:xfrm>
            <a:off x="2637493" y="3056939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ight: визит 8"/>
          <p:cNvSpPr/>
          <p:nvPr/>
        </p:nvSpPr>
        <p:spPr>
          <a:xfrm>
            <a:off x="3711920" y="2981626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ight: визит 10"/>
          <p:cNvSpPr/>
          <p:nvPr/>
        </p:nvSpPr>
        <p:spPr>
          <a:xfrm>
            <a:off x="4786346" y="2906418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ight: визит 12"/>
          <p:cNvSpPr/>
          <p:nvPr/>
        </p:nvSpPr>
        <p:spPr>
          <a:xfrm>
            <a:off x="5860773" y="2778824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ight: визит 13"/>
          <p:cNvSpPr/>
          <p:nvPr/>
        </p:nvSpPr>
        <p:spPr>
          <a:xfrm>
            <a:off x="6397986" y="2733746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событие 4"/>
          <p:cNvSpPr/>
          <p:nvPr/>
        </p:nvSpPr>
        <p:spPr>
          <a:xfrm>
            <a:off x="1623066" y="1738760"/>
            <a:ext cx="0" cy="1719726"/>
          </a:xfrm>
          <a:custGeom>
            <a:avLst/>
            <a:gdLst/>
            <a:ahLst/>
            <a:cxnLst/>
            <a:rect l="l" t="t" r="r" b="b"/>
            <a:pathLst>
              <a:path w="0" h="1719726">
                <a:moveTo>
                  <a:pt x="0" y="0"/>
                </a:moveTo>
                <a:lnTo>
                  <a:pt x="0" y="1719726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73066" y="173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323A"/>
                </a:solidFill>
                <a:latin typeface="Calibri"/>
              </a:rPr>
              <a:t>4 года: «маленькая в маму»</a:t>
            </a:r>
          </a:p>
        </p:txBody>
      </p:sp>
      <p:sp>
        <p:nvSpPr>
          <p:cNvPr id="28" name="событие 8"/>
          <p:cNvSpPr/>
          <p:nvPr/>
        </p:nvSpPr>
        <p:spPr>
          <a:xfrm>
            <a:off x="3771920" y="1738760"/>
            <a:ext cx="0" cy="1719726"/>
          </a:xfrm>
          <a:custGeom>
            <a:avLst/>
            <a:gdLst/>
            <a:ahLst/>
            <a:cxnLst/>
            <a:rect l="l" t="t" r="r" b="b"/>
            <a:pathLst>
              <a:path w="0" h="1719726">
                <a:moveTo>
                  <a:pt x="0" y="0"/>
                </a:moveTo>
                <a:lnTo>
                  <a:pt x="0" y="1719726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21920" y="192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323A"/>
                </a:solidFill>
                <a:latin typeface="Calibri"/>
              </a:rPr>
              <a:t>8 лет: −2,2 СО, причину не искали</a:t>
            </a:r>
          </a:p>
        </p:txBody>
      </p:sp>
      <p:sp>
        <p:nvSpPr>
          <p:cNvPr id="30" name="событие 12.5"/>
          <p:cNvSpPr/>
          <p:nvPr/>
        </p:nvSpPr>
        <p:spPr>
          <a:xfrm>
            <a:off x="6189380" y="1738760"/>
            <a:ext cx="0" cy="1719726"/>
          </a:xfrm>
          <a:custGeom>
            <a:avLst/>
            <a:gdLst/>
            <a:ahLst/>
            <a:cxnLst/>
            <a:rect l="l" t="t" r="r" b="b"/>
            <a:pathLst>
              <a:path w="0" h="1719726">
                <a:moveTo>
                  <a:pt x="0" y="0"/>
                </a:moveTo>
                <a:lnTo>
                  <a:pt x="0" y="1719726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39380" y="211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26323A"/>
                </a:solidFill>
                <a:latin typeface="Calibri"/>
              </a:rPr>
              <a:t>12,5 года: нет телархе, кариотип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1508760"/>
            <a:ext cx="6446560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Рост, см</a:t>
            </a:r>
          </a:p>
        </p:txBody>
      </p:sp>
      <p:sp>
        <p:nvSpPr>
          <p:cNvPr id="33" name="weight: полоса 3–97"/>
          <p:cNvSpPr/>
          <p:nvPr/>
        </p:nvSpPr>
        <p:spPr>
          <a:xfrm>
            <a:off x="548640" y="4070182"/>
            <a:ext cx="6446560" cy="861601"/>
          </a:xfrm>
          <a:custGeom>
            <a:avLst/>
            <a:gdLst/>
            <a:ahLst/>
            <a:cxnLst/>
            <a:rect l="l" t="t" r="r" b="b"/>
            <a:pathLst>
              <a:path w="6446560" h="861601">
                <a:moveTo>
                  <a:pt x="0" y="762990"/>
                </a:moveTo>
                <a:lnTo>
                  <a:pt x="107442" y="754958"/>
                </a:lnTo>
                <a:lnTo>
                  <a:pt x="214885" y="746927"/>
                </a:lnTo>
                <a:lnTo>
                  <a:pt x="322328" y="738895"/>
                </a:lnTo>
                <a:lnTo>
                  <a:pt x="429770" y="730864"/>
                </a:lnTo>
                <a:lnTo>
                  <a:pt x="537213" y="722832"/>
                </a:lnTo>
                <a:lnTo>
                  <a:pt x="644656" y="714801"/>
                </a:lnTo>
                <a:lnTo>
                  <a:pt x="752098" y="706769"/>
                </a:lnTo>
                <a:lnTo>
                  <a:pt x="859541" y="698738"/>
                </a:lnTo>
                <a:lnTo>
                  <a:pt x="966984" y="690706"/>
                </a:lnTo>
                <a:lnTo>
                  <a:pt x="1074426" y="682675"/>
                </a:lnTo>
                <a:lnTo>
                  <a:pt x="1181869" y="674643"/>
                </a:lnTo>
                <a:lnTo>
                  <a:pt x="1289312" y="666612"/>
                </a:lnTo>
                <a:lnTo>
                  <a:pt x="1396754" y="658580"/>
                </a:lnTo>
                <a:lnTo>
                  <a:pt x="1504197" y="650549"/>
                </a:lnTo>
                <a:lnTo>
                  <a:pt x="1611640" y="642518"/>
                </a:lnTo>
                <a:lnTo>
                  <a:pt x="1719082" y="633147"/>
                </a:lnTo>
                <a:lnTo>
                  <a:pt x="1826525" y="623777"/>
                </a:lnTo>
                <a:lnTo>
                  <a:pt x="1933968" y="614407"/>
                </a:lnTo>
                <a:lnTo>
                  <a:pt x="2041410" y="605037"/>
                </a:lnTo>
                <a:lnTo>
                  <a:pt x="2148853" y="595667"/>
                </a:lnTo>
                <a:lnTo>
                  <a:pt x="2256296" y="586297"/>
                </a:lnTo>
                <a:lnTo>
                  <a:pt x="2363738" y="576927"/>
                </a:lnTo>
                <a:lnTo>
                  <a:pt x="2471181" y="567557"/>
                </a:lnTo>
                <a:lnTo>
                  <a:pt x="2578624" y="558187"/>
                </a:lnTo>
                <a:lnTo>
                  <a:pt x="2686066" y="548817"/>
                </a:lnTo>
                <a:lnTo>
                  <a:pt x="2793509" y="539447"/>
                </a:lnTo>
                <a:lnTo>
                  <a:pt x="2900952" y="530077"/>
                </a:lnTo>
                <a:lnTo>
                  <a:pt x="3008394" y="520707"/>
                </a:lnTo>
                <a:lnTo>
                  <a:pt x="3115837" y="511337"/>
                </a:lnTo>
                <a:lnTo>
                  <a:pt x="3223280" y="501967"/>
                </a:lnTo>
                <a:lnTo>
                  <a:pt x="3330722" y="486908"/>
                </a:lnTo>
                <a:lnTo>
                  <a:pt x="3438165" y="471849"/>
                </a:lnTo>
                <a:lnTo>
                  <a:pt x="3545607" y="456790"/>
                </a:lnTo>
                <a:lnTo>
                  <a:pt x="3653050" y="441731"/>
                </a:lnTo>
                <a:lnTo>
                  <a:pt x="3760493" y="426672"/>
                </a:lnTo>
                <a:lnTo>
                  <a:pt x="3867936" y="411613"/>
                </a:lnTo>
                <a:lnTo>
                  <a:pt x="3975378" y="396554"/>
                </a:lnTo>
                <a:lnTo>
                  <a:pt x="4082821" y="381495"/>
                </a:lnTo>
                <a:lnTo>
                  <a:pt x="4190264" y="366436"/>
                </a:lnTo>
                <a:lnTo>
                  <a:pt x="4297706" y="351377"/>
                </a:lnTo>
                <a:lnTo>
                  <a:pt x="4405149" y="334310"/>
                </a:lnTo>
                <a:lnTo>
                  <a:pt x="4512592" y="317243"/>
                </a:lnTo>
                <a:lnTo>
                  <a:pt x="4620034" y="300176"/>
                </a:lnTo>
                <a:lnTo>
                  <a:pt x="4727477" y="283109"/>
                </a:lnTo>
                <a:lnTo>
                  <a:pt x="4834920" y="266042"/>
                </a:lnTo>
                <a:lnTo>
                  <a:pt x="4942362" y="248975"/>
                </a:lnTo>
                <a:lnTo>
                  <a:pt x="5049805" y="231908"/>
                </a:lnTo>
                <a:lnTo>
                  <a:pt x="5157248" y="214842"/>
                </a:lnTo>
                <a:lnTo>
                  <a:pt x="5264690" y="197775"/>
                </a:lnTo>
                <a:lnTo>
                  <a:pt x="5372133" y="180708"/>
                </a:lnTo>
                <a:lnTo>
                  <a:pt x="5479576" y="162637"/>
                </a:lnTo>
                <a:lnTo>
                  <a:pt x="5587018" y="144566"/>
                </a:lnTo>
                <a:lnTo>
                  <a:pt x="5694461" y="126495"/>
                </a:lnTo>
                <a:lnTo>
                  <a:pt x="5801904" y="108425"/>
                </a:lnTo>
                <a:lnTo>
                  <a:pt x="5909346" y="90354"/>
                </a:lnTo>
                <a:lnTo>
                  <a:pt x="6016789" y="72283"/>
                </a:lnTo>
                <a:lnTo>
                  <a:pt x="6124232" y="54212"/>
                </a:lnTo>
                <a:lnTo>
                  <a:pt x="6231674" y="36141"/>
                </a:lnTo>
                <a:lnTo>
                  <a:pt x="6339117" y="18070"/>
                </a:lnTo>
                <a:lnTo>
                  <a:pt x="6446560" y="0"/>
                </a:lnTo>
                <a:lnTo>
                  <a:pt x="6446560" y="410882"/>
                </a:lnTo>
                <a:lnTo>
                  <a:pt x="6339117" y="421557"/>
                </a:lnTo>
                <a:lnTo>
                  <a:pt x="6231674" y="432232"/>
                </a:lnTo>
                <a:lnTo>
                  <a:pt x="6124232" y="442907"/>
                </a:lnTo>
                <a:lnTo>
                  <a:pt x="6016789" y="453582"/>
                </a:lnTo>
                <a:lnTo>
                  <a:pt x="5909346" y="464257"/>
                </a:lnTo>
                <a:lnTo>
                  <a:pt x="5801904" y="474932"/>
                </a:lnTo>
                <a:lnTo>
                  <a:pt x="5694461" y="485607"/>
                </a:lnTo>
                <a:lnTo>
                  <a:pt x="5587018" y="496281"/>
                </a:lnTo>
                <a:lnTo>
                  <a:pt x="5479576" y="506956"/>
                </a:lnTo>
                <a:lnTo>
                  <a:pt x="5372133" y="517631"/>
                </a:lnTo>
                <a:lnTo>
                  <a:pt x="5264690" y="527713"/>
                </a:lnTo>
                <a:lnTo>
                  <a:pt x="5157248" y="537795"/>
                </a:lnTo>
                <a:lnTo>
                  <a:pt x="5049805" y="547877"/>
                </a:lnTo>
                <a:lnTo>
                  <a:pt x="4942362" y="557959"/>
                </a:lnTo>
                <a:lnTo>
                  <a:pt x="4834920" y="568041"/>
                </a:lnTo>
                <a:lnTo>
                  <a:pt x="4727477" y="578123"/>
                </a:lnTo>
                <a:lnTo>
                  <a:pt x="4620034" y="588205"/>
                </a:lnTo>
                <a:lnTo>
                  <a:pt x="4512592" y="598286"/>
                </a:lnTo>
                <a:lnTo>
                  <a:pt x="4405149" y="608368"/>
                </a:lnTo>
                <a:lnTo>
                  <a:pt x="4297706" y="618450"/>
                </a:lnTo>
                <a:lnTo>
                  <a:pt x="4190264" y="627346"/>
                </a:lnTo>
                <a:lnTo>
                  <a:pt x="4082821" y="636242"/>
                </a:lnTo>
                <a:lnTo>
                  <a:pt x="3975378" y="645137"/>
                </a:lnTo>
                <a:lnTo>
                  <a:pt x="3867936" y="654033"/>
                </a:lnTo>
                <a:lnTo>
                  <a:pt x="3760493" y="662929"/>
                </a:lnTo>
                <a:lnTo>
                  <a:pt x="3653050" y="671825"/>
                </a:lnTo>
                <a:lnTo>
                  <a:pt x="3545607" y="680721"/>
                </a:lnTo>
                <a:lnTo>
                  <a:pt x="3438165" y="689616"/>
                </a:lnTo>
                <a:lnTo>
                  <a:pt x="3330722" y="698512"/>
                </a:lnTo>
                <a:lnTo>
                  <a:pt x="3223280" y="707408"/>
                </a:lnTo>
                <a:lnTo>
                  <a:pt x="3115837" y="712943"/>
                </a:lnTo>
                <a:lnTo>
                  <a:pt x="3008394" y="718478"/>
                </a:lnTo>
                <a:lnTo>
                  <a:pt x="2900952" y="724013"/>
                </a:lnTo>
                <a:lnTo>
                  <a:pt x="2793509" y="729549"/>
                </a:lnTo>
                <a:lnTo>
                  <a:pt x="2686066" y="735084"/>
                </a:lnTo>
                <a:lnTo>
                  <a:pt x="2578624" y="740619"/>
                </a:lnTo>
                <a:lnTo>
                  <a:pt x="2471181" y="746154"/>
                </a:lnTo>
                <a:lnTo>
                  <a:pt x="2363738" y="751689"/>
                </a:lnTo>
                <a:lnTo>
                  <a:pt x="2256296" y="757224"/>
                </a:lnTo>
                <a:lnTo>
                  <a:pt x="2148853" y="762759"/>
                </a:lnTo>
                <a:lnTo>
                  <a:pt x="2041410" y="768295"/>
                </a:lnTo>
                <a:lnTo>
                  <a:pt x="1933968" y="773830"/>
                </a:lnTo>
                <a:lnTo>
                  <a:pt x="1826525" y="779365"/>
                </a:lnTo>
                <a:lnTo>
                  <a:pt x="1719082" y="784900"/>
                </a:lnTo>
                <a:lnTo>
                  <a:pt x="1611640" y="790435"/>
                </a:lnTo>
                <a:lnTo>
                  <a:pt x="1504197" y="795180"/>
                </a:lnTo>
                <a:lnTo>
                  <a:pt x="1396754" y="799924"/>
                </a:lnTo>
                <a:lnTo>
                  <a:pt x="1289312" y="804668"/>
                </a:lnTo>
                <a:lnTo>
                  <a:pt x="1181869" y="809413"/>
                </a:lnTo>
                <a:lnTo>
                  <a:pt x="1074426" y="814157"/>
                </a:lnTo>
                <a:lnTo>
                  <a:pt x="966984" y="818902"/>
                </a:lnTo>
                <a:lnTo>
                  <a:pt x="859541" y="823646"/>
                </a:lnTo>
                <a:lnTo>
                  <a:pt x="752098" y="828390"/>
                </a:lnTo>
                <a:lnTo>
                  <a:pt x="644656" y="833135"/>
                </a:lnTo>
                <a:lnTo>
                  <a:pt x="537213" y="837879"/>
                </a:lnTo>
                <a:lnTo>
                  <a:pt x="429770" y="842624"/>
                </a:lnTo>
                <a:lnTo>
                  <a:pt x="322328" y="847368"/>
                </a:lnTo>
                <a:lnTo>
                  <a:pt x="214885" y="852113"/>
                </a:lnTo>
                <a:lnTo>
                  <a:pt x="107442" y="856857"/>
                </a:lnTo>
                <a:lnTo>
                  <a:pt x="0" y="861601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weight: 3-й центиль"/>
          <p:cNvSpPr/>
          <p:nvPr/>
        </p:nvSpPr>
        <p:spPr>
          <a:xfrm>
            <a:off x="548640" y="4481064"/>
            <a:ext cx="6446560" cy="450719"/>
          </a:xfrm>
          <a:custGeom>
            <a:avLst/>
            <a:gdLst/>
            <a:ahLst/>
            <a:cxnLst/>
            <a:rect l="l" t="t" r="r" b="b"/>
            <a:pathLst>
              <a:path w="6446560" h="450719">
                <a:moveTo>
                  <a:pt x="0" y="450719"/>
                </a:moveTo>
                <a:lnTo>
                  <a:pt x="107442" y="445975"/>
                </a:lnTo>
                <a:lnTo>
                  <a:pt x="214885" y="441231"/>
                </a:lnTo>
                <a:lnTo>
                  <a:pt x="322328" y="436486"/>
                </a:lnTo>
                <a:lnTo>
                  <a:pt x="429770" y="431742"/>
                </a:lnTo>
                <a:lnTo>
                  <a:pt x="537213" y="426997"/>
                </a:lnTo>
                <a:lnTo>
                  <a:pt x="644656" y="422253"/>
                </a:lnTo>
                <a:lnTo>
                  <a:pt x="752098" y="417508"/>
                </a:lnTo>
                <a:lnTo>
                  <a:pt x="859541" y="412764"/>
                </a:lnTo>
                <a:lnTo>
                  <a:pt x="966984" y="408020"/>
                </a:lnTo>
                <a:lnTo>
                  <a:pt x="1074426" y="403275"/>
                </a:lnTo>
                <a:lnTo>
                  <a:pt x="1181869" y="398531"/>
                </a:lnTo>
                <a:lnTo>
                  <a:pt x="1289312" y="393786"/>
                </a:lnTo>
                <a:lnTo>
                  <a:pt x="1396754" y="389042"/>
                </a:lnTo>
                <a:lnTo>
                  <a:pt x="1504197" y="384298"/>
                </a:lnTo>
                <a:lnTo>
                  <a:pt x="1611640" y="379553"/>
                </a:lnTo>
                <a:lnTo>
                  <a:pt x="1719082" y="374018"/>
                </a:lnTo>
                <a:lnTo>
                  <a:pt x="1826525" y="368483"/>
                </a:lnTo>
                <a:lnTo>
                  <a:pt x="1933968" y="362948"/>
                </a:lnTo>
                <a:lnTo>
                  <a:pt x="2041410" y="357413"/>
                </a:lnTo>
                <a:lnTo>
                  <a:pt x="2148853" y="351877"/>
                </a:lnTo>
                <a:lnTo>
                  <a:pt x="2256296" y="346342"/>
                </a:lnTo>
                <a:lnTo>
                  <a:pt x="2363738" y="340807"/>
                </a:lnTo>
                <a:lnTo>
                  <a:pt x="2471181" y="335272"/>
                </a:lnTo>
                <a:lnTo>
                  <a:pt x="2578624" y="329737"/>
                </a:lnTo>
                <a:lnTo>
                  <a:pt x="2686066" y="324202"/>
                </a:lnTo>
                <a:lnTo>
                  <a:pt x="2793509" y="318667"/>
                </a:lnTo>
                <a:lnTo>
                  <a:pt x="2900952" y="313131"/>
                </a:lnTo>
                <a:lnTo>
                  <a:pt x="3008394" y="307596"/>
                </a:lnTo>
                <a:lnTo>
                  <a:pt x="3115837" y="302061"/>
                </a:lnTo>
                <a:lnTo>
                  <a:pt x="3223280" y="296526"/>
                </a:lnTo>
                <a:lnTo>
                  <a:pt x="3330722" y="287630"/>
                </a:lnTo>
                <a:lnTo>
                  <a:pt x="3438165" y="278734"/>
                </a:lnTo>
                <a:lnTo>
                  <a:pt x="3545607" y="269839"/>
                </a:lnTo>
                <a:lnTo>
                  <a:pt x="3653050" y="260943"/>
                </a:lnTo>
                <a:lnTo>
                  <a:pt x="3760493" y="252047"/>
                </a:lnTo>
                <a:lnTo>
                  <a:pt x="3867936" y="243151"/>
                </a:lnTo>
                <a:lnTo>
                  <a:pt x="3975378" y="234255"/>
                </a:lnTo>
                <a:lnTo>
                  <a:pt x="4082821" y="225360"/>
                </a:lnTo>
                <a:lnTo>
                  <a:pt x="4190264" y="216464"/>
                </a:lnTo>
                <a:lnTo>
                  <a:pt x="4297706" y="207568"/>
                </a:lnTo>
                <a:lnTo>
                  <a:pt x="4405149" y="197486"/>
                </a:lnTo>
                <a:lnTo>
                  <a:pt x="4512592" y="187404"/>
                </a:lnTo>
                <a:lnTo>
                  <a:pt x="4620034" y="177323"/>
                </a:lnTo>
                <a:lnTo>
                  <a:pt x="4727477" y="167241"/>
                </a:lnTo>
                <a:lnTo>
                  <a:pt x="4834920" y="157159"/>
                </a:lnTo>
                <a:lnTo>
                  <a:pt x="4942362" y="147077"/>
                </a:lnTo>
                <a:lnTo>
                  <a:pt x="5049805" y="136995"/>
                </a:lnTo>
                <a:lnTo>
                  <a:pt x="5157248" y="126913"/>
                </a:lnTo>
                <a:lnTo>
                  <a:pt x="5264690" y="116831"/>
                </a:lnTo>
                <a:lnTo>
                  <a:pt x="5372133" y="106749"/>
                </a:lnTo>
                <a:lnTo>
                  <a:pt x="5479576" y="96074"/>
                </a:lnTo>
                <a:lnTo>
                  <a:pt x="5587018" y="85399"/>
                </a:lnTo>
                <a:lnTo>
                  <a:pt x="5694461" y="74725"/>
                </a:lnTo>
                <a:lnTo>
                  <a:pt x="5801904" y="64050"/>
                </a:lnTo>
                <a:lnTo>
                  <a:pt x="5909346" y="53375"/>
                </a:lnTo>
                <a:lnTo>
                  <a:pt x="6016789" y="42700"/>
                </a:lnTo>
                <a:lnTo>
                  <a:pt x="6124232" y="32025"/>
                </a:lnTo>
                <a:lnTo>
                  <a:pt x="6231674" y="21350"/>
                </a:lnTo>
                <a:lnTo>
                  <a:pt x="6339117" y="10675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35200" y="4401064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36" name="weight: 50-й центиль"/>
          <p:cNvSpPr/>
          <p:nvPr/>
        </p:nvSpPr>
        <p:spPr>
          <a:xfrm>
            <a:off x="548640" y="4344818"/>
            <a:ext cx="6446560" cy="554266"/>
          </a:xfrm>
          <a:custGeom>
            <a:avLst/>
            <a:gdLst/>
            <a:ahLst/>
            <a:cxnLst/>
            <a:rect l="l" t="t" r="r" b="b"/>
            <a:pathLst>
              <a:path w="6446560" h="554266">
                <a:moveTo>
                  <a:pt x="0" y="554266"/>
                </a:moveTo>
                <a:lnTo>
                  <a:pt x="107442" y="548432"/>
                </a:lnTo>
                <a:lnTo>
                  <a:pt x="214885" y="542598"/>
                </a:lnTo>
                <a:lnTo>
                  <a:pt x="322328" y="536763"/>
                </a:lnTo>
                <a:lnTo>
                  <a:pt x="429770" y="530929"/>
                </a:lnTo>
                <a:lnTo>
                  <a:pt x="537213" y="525095"/>
                </a:lnTo>
                <a:lnTo>
                  <a:pt x="644656" y="519260"/>
                </a:lnTo>
                <a:lnTo>
                  <a:pt x="752098" y="513426"/>
                </a:lnTo>
                <a:lnTo>
                  <a:pt x="859541" y="507591"/>
                </a:lnTo>
                <a:lnTo>
                  <a:pt x="966984" y="501757"/>
                </a:lnTo>
                <a:lnTo>
                  <a:pt x="1074426" y="495923"/>
                </a:lnTo>
                <a:lnTo>
                  <a:pt x="1181869" y="490088"/>
                </a:lnTo>
                <a:lnTo>
                  <a:pt x="1289312" y="484254"/>
                </a:lnTo>
                <a:lnTo>
                  <a:pt x="1396754" y="478419"/>
                </a:lnTo>
                <a:lnTo>
                  <a:pt x="1504197" y="472585"/>
                </a:lnTo>
                <a:lnTo>
                  <a:pt x="1611640" y="466751"/>
                </a:lnTo>
                <a:lnTo>
                  <a:pt x="1719082" y="459944"/>
                </a:lnTo>
                <a:lnTo>
                  <a:pt x="1826525" y="453137"/>
                </a:lnTo>
                <a:lnTo>
                  <a:pt x="1933968" y="446330"/>
                </a:lnTo>
                <a:lnTo>
                  <a:pt x="2041410" y="439524"/>
                </a:lnTo>
                <a:lnTo>
                  <a:pt x="2148853" y="432717"/>
                </a:lnTo>
                <a:lnTo>
                  <a:pt x="2256296" y="425910"/>
                </a:lnTo>
                <a:lnTo>
                  <a:pt x="2363738" y="419103"/>
                </a:lnTo>
                <a:lnTo>
                  <a:pt x="2471181" y="412297"/>
                </a:lnTo>
                <a:lnTo>
                  <a:pt x="2578624" y="405490"/>
                </a:lnTo>
                <a:lnTo>
                  <a:pt x="2686066" y="398683"/>
                </a:lnTo>
                <a:lnTo>
                  <a:pt x="2793509" y="391876"/>
                </a:lnTo>
                <a:lnTo>
                  <a:pt x="2900952" y="385069"/>
                </a:lnTo>
                <a:lnTo>
                  <a:pt x="3008394" y="378263"/>
                </a:lnTo>
                <a:lnTo>
                  <a:pt x="3115837" y="371456"/>
                </a:lnTo>
                <a:lnTo>
                  <a:pt x="3223280" y="364649"/>
                </a:lnTo>
                <a:lnTo>
                  <a:pt x="3330722" y="353710"/>
                </a:lnTo>
                <a:lnTo>
                  <a:pt x="3438165" y="342770"/>
                </a:lnTo>
                <a:lnTo>
                  <a:pt x="3545607" y="331831"/>
                </a:lnTo>
                <a:lnTo>
                  <a:pt x="3653050" y="320891"/>
                </a:lnTo>
                <a:lnTo>
                  <a:pt x="3760493" y="309952"/>
                </a:lnTo>
                <a:lnTo>
                  <a:pt x="3867936" y="299012"/>
                </a:lnTo>
                <a:lnTo>
                  <a:pt x="3975378" y="288073"/>
                </a:lnTo>
                <a:lnTo>
                  <a:pt x="4082821" y="277133"/>
                </a:lnTo>
                <a:lnTo>
                  <a:pt x="4190264" y="266194"/>
                </a:lnTo>
                <a:lnTo>
                  <a:pt x="4297706" y="255254"/>
                </a:lnTo>
                <a:lnTo>
                  <a:pt x="4405149" y="242856"/>
                </a:lnTo>
                <a:lnTo>
                  <a:pt x="4512592" y="230458"/>
                </a:lnTo>
                <a:lnTo>
                  <a:pt x="4620034" y="218060"/>
                </a:lnTo>
                <a:lnTo>
                  <a:pt x="4727477" y="205662"/>
                </a:lnTo>
                <a:lnTo>
                  <a:pt x="4834920" y="193264"/>
                </a:lnTo>
                <a:lnTo>
                  <a:pt x="4942362" y="180866"/>
                </a:lnTo>
                <a:lnTo>
                  <a:pt x="5049805" y="168468"/>
                </a:lnTo>
                <a:lnTo>
                  <a:pt x="5157248" y="156070"/>
                </a:lnTo>
                <a:lnTo>
                  <a:pt x="5264690" y="143672"/>
                </a:lnTo>
                <a:lnTo>
                  <a:pt x="5372133" y="131274"/>
                </a:lnTo>
                <a:lnTo>
                  <a:pt x="5479576" y="118146"/>
                </a:lnTo>
                <a:lnTo>
                  <a:pt x="5587018" y="105019"/>
                </a:lnTo>
                <a:lnTo>
                  <a:pt x="5694461" y="91892"/>
                </a:lnTo>
                <a:lnTo>
                  <a:pt x="5801904" y="78764"/>
                </a:lnTo>
                <a:lnTo>
                  <a:pt x="5909346" y="65637"/>
                </a:lnTo>
                <a:lnTo>
                  <a:pt x="6016789" y="52510"/>
                </a:lnTo>
                <a:lnTo>
                  <a:pt x="6124232" y="39382"/>
                </a:lnTo>
                <a:lnTo>
                  <a:pt x="6231674" y="26255"/>
                </a:lnTo>
                <a:lnTo>
                  <a:pt x="6339117" y="13128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35200" y="4264818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38" name="weight: 97-й центиль"/>
          <p:cNvSpPr/>
          <p:nvPr/>
        </p:nvSpPr>
        <p:spPr>
          <a:xfrm>
            <a:off x="548640" y="4070182"/>
            <a:ext cx="6446560" cy="762990"/>
          </a:xfrm>
          <a:custGeom>
            <a:avLst/>
            <a:gdLst/>
            <a:ahLst/>
            <a:cxnLst/>
            <a:rect l="l" t="t" r="r" b="b"/>
            <a:pathLst>
              <a:path w="6446560" h="762990">
                <a:moveTo>
                  <a:pt x="0" y="762990"/>
                </a:moveTo>
                <a:lnTo>
                  <a:pt x="107442" y="754958"/>
                </a:lnTo>
                <a:lnTo>
                  <a:pt x="214885" y="746927"/>
                </a:lnTo>
                <a:lnTo>
                  <a:pt x="322328" y="738895"/>
                </a:lnTo>
                <a:lnTo>
                  <a:pt x="429770" y="730864"/>
                </a:lnTo>
                <a:lnTo>
                  <a:pt x="537213" y="722832"/>
                </a:lnTo>
                <a:lnTo>
                  <a:pt x="644656" y="714801"/>
                </a:lnTo>
                <a:lnTo>
                  <a:pt x="752098" y="706769"/>
                </a:lnTo>
                <a:lnTo>
                  <a:pt x="859541" y="698738"/>
                </a:lnTo>
                <a:lnTo>
                  <a:pt x="966984" y="690706"/>
                </a:lnTo>
                <a:lnTo>
                  <a:pt x="1074426" y="682675"/>
                </a:lnTo>
                <a:lnTo>
                  <a:pt x="1181869" y="674643"/>
                </a:lnTo>
                <a:lnTo>
                  <a:pt x="1289312" y="666612"/>
                </a:lnTo>
                <a:lnTo>
                  <a:pt x="1396754" y="658580"/>
                </a:lnTo>
                <a:lnTo>
                  <a:pt x="1504197" y="650549"/>
                </a:lnTo>
                <a:lnTo>
                  <a:pt x="1611640" y="642518"/>
                </a:lnTo>
                <a:lnTo>
                  <a:pt x="1719082" y="633147"/>
                </a:lnTo>
                <a:lnTo>
                  <a:pt x="1826525" y="623777"/>
                </a:lnTo>
                <a:lnTo>
                  <a:pt x="1933968" y="614407"/>
                </a:lnTo>
                <a:lnTo>
                  <a:pt x="2041410" y="605037"/>
                </a:lnTo>
                <a:lnTo>
                  <a:pt x="2148853" y="595667"/>
                </a:lnTo>
                <a:lnTo>
                  <a:pt x="2256296" y="586297"/>
                </a:lnTo>
                <a:lnTo>
                  <a:pt x="2363738" y="576927"/>
                </a:lnTo>
                <a:lnTo>
                  <a:pt x="2471181" y="567557"/>
                </a:lnTo>
                <a:lnTo>
                  <a:pt x="2578624" y="558187"/>
                </a:lnTo>
                <a:lnTo>
                  <a:pt x="2686066" y="548817"/>
                </a:lnTo>
                <a:lnTo>
                  <a:pt x="2793509" y="539447"/>
                </a:lnTo>
                <a:lnTo>
                  <a:pt x="2900952" y="530077"/>
                </a:lnTo>
                <a:lnTo>
                  <a:pt x="3008394" y="520707"/>
                </a:lnTo>
                <a:lnTo>
                  <a:pt x="3115837" y="511337"/>
                </a:lnTo>
                <a:lnTo>
                  <a:pt x="3223280" y="501967"/>
                </a:lnTo>
                <a:lnTo>
                  <a:pt x="3330722" y="486908"/>
                </a:lnTo>
                <a:lnTo>
                  <a:pt x="3438165" y="471849"/>
                </a:lnTo>
                <a:lnTo>
                  <a:pt x="3545607" y="456790"/>
                </a:lnTo>
                <a:lnTo>
                  <a:pt x="3653050" y="441731"/>
                </a:lnTo>
                <a:lnTo>
                  <a:pt x="3760493" y="426672"/>
                </a:lnTo>
                <a:lnTo>
                  <a:pt x="3867936" y="411613"/>
                </a:lnTo>
                <a:lnTo>
                  <a:pt x="3975378" y="396554"/>
                </a:lnTo>
                <a:lnTo>
                  <a:pt x="4082821" y="381495"/>
                </a:lnTo>
                <a:lnTo>
                  <a:pt x="4190264" y="366436"/>
                </a:lnTo>
                <a:lnTo>
                  <a:pt x="4297706" y="351377"/>
                </a:lnTo>
                <a:lnTo>
                  <a:pt x="4405149" y="334310"/>
                </a:lnTo>
                <a:lnTo>
                  <a:pt x="4512592" y="317243"/>
                </a:lnTo>
                <a:lnTo>
                  <a:pt x="4620034" y="300176"/>
                </a:lnTo>
                <a:lnTo>
                  <a:pt x="4727477" y="283109"/>
                </a:lnTo>
                <a:lnTo>
                  <a:pt x="4834920" y="266042"/>
                </a:lnTo>
                <a:lnTo>
                  <a:pt x="4942362" y="248975"/>
                </a:lnTo>
                <a:lnTo>
                  <a:pt x="5049805" y="231908"/>
                </a:lnTo>
                <a:lnTo>
                  <a:pt x="5157248" y="214842"/>
                </a:lnTo>
                <a:lnTo>
                  <a:pt x="5264690" y="197775"/>
                </a:lnTo>
                <a:lnTo>
                  <a:pt x="5372133" y="180708"/>
                </a:lnTo>
                <a:lnTo>
                  <a:pt x="5479576" y="162637"/>
                </a:lnTo>
                <a:lnTo>
                  <a:pt x="5587018" y="144566"/>
                </a:lnTo>
                <a:lnTo>
                  <a:pt x="5694461" y="126495"/>
                </a:lnTo>
                <a:lnTo>
                  <a:pt x="5801904" y="108425"/>
                </a:lnTo>
                <a:lnTo>
                  <a:pt x="5909346" y="90354"/>
                </a:lnTo>
                <a:lnTo>
                  <a:pt x="6016789" y="72283"/>
                </a:lnTo>
                <a:lnTo>
                  <a:pt x="6124232" y="54212"/>
                </a:lnTo>
                <a:lnTo>
                  <a:pt x="6231674" y="36141"/>
                </a:lnTo>
                <a:lnTo>
                  <a:pt x="6339117" y="18070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35200" y="3990182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40" name="weight: ось"/>
          <p:cNvSpPr/>
          <p:nvPr/>
        </p:nvSpPr>
        <p:spPr>
          <a:xfrm>
            <a:off x="548640" y="4983480"/>
            <a:ext cx="6446560" cy="0"/>
          </a:xfrm>
          <a:custGeom>
            <a:avLst/>
            <a:gdLst/>
            <a:ahLst/>
            <a:cxnLst/>
            <a:rect l="l" t="t" r="r" b="b"/>
            <a:pathLst>
              <a:path w="6446560" h="0">
                <a:moveTo>
                  <a:pt x="0" y="0"/>
                </a:moveTo>
                <a:lnTo>
                  <a:pt x="6446560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8640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73066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47493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21920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6346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70773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45200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14</a:t>
            </a:r>
          </a:p>
        </p:txBody>
      </p:sp>
      <p:sp>
        <p:nvSpPr>
          <p:cNvPr id="48" name="weight: пациент"/>
          <p:cNvSpPr/>
          <p:nvPr/>
        </p:nvSpPr>
        <p:spPr>
          <a:xfrm>
            <a:off x="548640" y="4424896"/>
            <a:ext cx="5909346" cy="479870"/>
          </a:xfrm>
          <a:custGeom>
            <a:avLst/>
            <a:gdLst/>
            <a:ahLst/>
            <a:cxnLst/>
            <a:rect l="l" t="t" r="r" b="b"/>
            <a:pathLst>
              <a:path w="5909346" h="479870">
                <a:moveTo>
                  <a:pt x="0" y="479870"/>
                </a:moveTo>
                <a:lnTo>
                  <a:pt x="89535" y="475326"/>
                </a:lnTo>
                <a:lnTo>
                  <a:pt x="179071" y="470789"/>
                </a:lnTo>
                <a:lnTo>
                  <a:pt x="268606" y="466262"/>
                </a:lnTo>
                <a:lnTo>
                  <a:pt x="358142" y="461742"/>
                </a:lnTo>
                <a:lnTo>
                  <a:pt x="447677" y="457231"/>
                </a:lnTo>
                <a:lnTo>
                  <a:pt x="537213" y="452729"/>
                </a:lnTo>
                <a:lnTo>
                  <a:pt x="626748" y="448235"/>
                </a:lnTo>
                <a:lnTo>
                  <a:pt x="716284" y="443749"/>
                </a:lnTo>
                <a:lnTo>
                  <a:pt x="805820" y="439272"/>
                </a:lnTo>
                <a:lnTo>
                  <a:pt x="895355" y="434803"/>
                </a:lnTo>
                <a:lnTo>
                  <a:pt x="984891" y="430343"/>
                </a:lnTo>
                <a:lnTo>
                  <a:pt x="1074426" y="425890"/>
                </a:lnTo>
                <a:lnTo>
                  <a:pt x="1163962" y="421238"/>
                </a:lnTo>
                <a:lnTo>
                  <a:pt x="1253497" y="416585"/>
                </a:lnTo>
                <a:lnTo>
                  <a:pt x="1343033" y="411932"/>
                </a:lnTo>
                <a:lnTo>
                  <a:pt x="1432568" y="407280"/>
                </a:lnTo>
                <a:lnTo>
                  <a:pt x="1522104" y="402627"/>
                </a:lnTo>
                <a:lnTo>
                  <a:pt x="1611640" y="397974"/>
                </a:lnTo>
                <a:lnTo>
                  <a:pt x="1701175" y="392546"/>
                </a:lnTo>
                <a:lnTo>
                  <a:pt x="1790711" y="387118"/>
                </a:lnTo>
                <a:lnTo>
                  <a:pt x="1880246" y="381690"/>
                </a:lnTo>
                <a:lnTo>
                  <a:pt x="1969782" y="376262"/>
                </a:lnTo>
                <a:lnTo>
                  <a:pt x="2059317" y="370834"/>
                </a:lnTo>
                <a:lnTo>
                  <a:pt x="2148853" y="365405"/>
                </a:lnTo>
                <a:lnTo>
                  <a:pt x="2238388" y="359977"/>
                </a:lnTo>
                <a:lnTo>
                  <a:pt x="2327924" y="354549"/>
                </a:lnTo>
                <a:lnTo>
                  <a:pt x="2417460" y="349121"/>
                </a:lnTo>
                <a:lnTo>
                  <a:pt x="2506995" y="343693"/>
                </a:lnTo>
                <a:lnTo>
                  <a:pt x="2596531" y="338265"/>
                </a:lnTo>
                <a:lnTo>
                  <a:pt x="2686066" y="332837"/>
                </a:lnTo>
                <a:lnTo>
                  <a:pt x="2775602" y="327408"/>
                </a:lnTo>
                <a:lnTo>
                  <a:pt x="2865137" y="321980"/>
                </a:lnTo>
                <a:lnTo>
                  <a:pt x="2954673" y="316552"/>
                </a:lnTo>
                <a:lnTo>
                  <a:pt x="3044208" y="311124"/>
                </a:lnTo>
                <a:lnTo>
                  <a:pt x="3133744" y="305696"/>
                </a:lnTo>
                <a:lnTo>
                  <a:pt x="3223280" y="300268"/>
                </a:lnTo>
                <a:lnTo>
                  <a:pt x="3312815" y="291216"/>
                </a:lnTo>
                <a:lnTo>
                  <a:pt x="3402351" y="282148"/>
                </a:lnTo>
                <a:lnTo>
                  <a:pt x="3491886" y="273063"/>
                </a:lnTo>
                <a:lnTo>
                  <a:pt x="3581422" y="263963"/>
                </a:lnTo>
                <a:lnTo>
                  <a:pt x="3670957" y="254845"/>
                </a:lnTo>
                <a:lnTo>
                  <a:pt x="3760493" y="245712"/>
                </a:lnTo>
                <a:lnTo>
                  <a:pt x="3850028" y="236562"/>
                </a:lnTo>
                <a:lnTo>
                  <a:pt x="3939564" y="227395"/>
                </a:lnTo>
                <a:lnTo>
                  <a:pt x="4029100" y="218212"/>
                </a:lnTo>
                <a:lnTo>
                  <a:pt x="4118635" y="209013"/>
                </a:lnTo>
                <a:lnTo>
                  <a:pt x="4208171" y="199797"/>
                </a:lnTo>
                <a:lnTo>
                  <a:pt x="4297706" y="190565"/>
                </a:lnTo>
                <a:lnTo>
                  <a:pt x="4387242" y="180568"/>
                </a:lnTo>
                <a:lnTo>
                  <a:pt x="4476777" y="170572"/>
                </a:lnTo>
                <a:lnTo>
                  <a:pt x="4566313" y="160576"/>
                </a:lnTo>
                <a:lnTo>
                  <a:pt x="4655848" y="150579"/>
                </a:lnTo>
                <a:lnTo>
                  <a:pt x="4745384" y="140583"/>
                </a:lnTo>
                <a:lnTo>
                  <a:pt x="4834920" y="130587"/>
                </a:lnTo>
                <a:lnTo>
                  <a:pt x="4924455" y="120590"/>
                </a:lnTo>
                <a:lnTo>
                  <a:pt x="5013991" y="110594"/>
                </a:lnTo>
                <a:lnTo>
                  <a:pt x="5103526" y="100598"/>
                </a:lnTo>
                <a:lnTo>
                  <a:pt x="5193062" y="90601"/>
                </a:lnTo>
                <a:lnTo>
                  <a:pt x="5282597" y="80605"/>
                </a:lnTo>
                <a:lnTo>
                  <a:pt x="5372133" y="70609"/>
                </a:lnTo>
                <a:lnTo>
                  <a:pt x="5416901" y="64781"/>
                </a:lnTo>
                <a:lnTo>
                  <a:pt x="5461668" y="58943"/>
                </a:lnTo>
                <a:lnTo>
                  <a:pt x="5506436" y="53095"/>
                </a:lnTo>
                <a:lnTo>
                  <a:pt x="5551204" y="47237"/>
                </a:lnTo>
                <a:lnTo>
                  <a:pt x="5595972" y="41368"/>
                </a:lnTo>
                <a:lnTo>
                  <a:pt x="5640740" y="35489"/>
                </a:lnTo>
                <a:lnTo>
                  <a:pt x="5685507" y="29600"/>
                </a:lnTo>
                <a:lnTo>
                  <a:pt x="5730275" y="23701"/>
                </a:lnTo>
                <a:lnTo>
                  <a:pt x="5775043" y="17791"/>
                </a:lnTo>
                <a:lnTo>
                  <a:pt x="5819811" y="11871"/>
                </a:lnTo>
                <a:lnTo>
                  <a:pt x="5864578" y="5941"/>
                </a:lnTo>
                <a:lnTo>
                  <a:pt x="5909346" y="0"/>
                </a:lnTo>
              </a:path>
            </a:pathLst>
          </a:custGeom>
          <a:noFill/>
          <a:ln w="34925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weight: визит 2"/>
          <p:cNvSpPr/>
          <p:nvPr/>
        </p:nvSpPr>
        <p:spPr>
          <a:xfrm>
            <a:off x="488640" y="4844766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weight: визит 4"/>
          <p:cNvSpPr/>
          <p:nvPr/>
        </p:nvSpPr>
        <p:spPr>
          <a:xfrm>
            <a:off x="1563066" y="4790786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weight: визит 6"/>
          <p:cNvSpPr/>
          <p:nvPr/>
        </p:nvSpPr>
        <p:spPr>
          <a:xfrm>
            <a:off x="2637493" y="4730301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weight: визит 8"/>
          <p:cNvSpPr/>
          <p:nvPr/>
        </p:nvSpPr>
        <p:spPr>
          <a:xfrm>
            <a:off x="3711920" y="4665164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weight: визит 10"/>
          <p:cNvSpPr/>
          <p:nvPr/>
        </p:nvSpPr>
        <p:spPr>
          <a:xfrm>
            <a:off x="4786346" y="4555461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weight: визит 12"/>
          <p:cNvSpPr/>
          <p:nvPr/>
        </p:nvSpPr>
        <p:spPr>
          <a:xfrm>
            <a:off x="5860773" y="4435505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weight: визит 13"/>
          <p:cNvSpPr/>
          <p:nvPr/>
        </p:nvSpPr>
        <p:spPr>
          <a:xfrm>
            <a:off x="6397986" y="4364896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" y="3788486"/>
            <a:ext cx="6446560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Масса, кг</a:t>
            </a:r>
          </a:p>
        </p:txBody>
      </p:sp>
      <p:sp>
        <p:nvSpPr>
          <p:cNvPr id="57" name="Легенда"/>
          <p:cNvSpPr/>
          <p:nvPr/>
        </p:nvSpPr>
        <p:spPr>
          <a:xfrm>
            <a:off x="548640" y="5349240"/>
            <a:ext cx="274320" cy="9144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Легенда"/>
          <p:cNvSpPr txBox="1"/>
          <p:nvPr/>
        </p:nvSpPr>
        <p:spPr>
          <a:xfrm>
            <a:off x="896112" y="528523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пример: рост</a:t>
            </a:r>
          </a:p>
        </p:txBody>
      </p:sp>
      <p:sp>
        <p:nvSpPr>
          <p:cNvPr id="59" name="Легенда"/>
          <p:cNvSpPr/>
          <p:nvPr/>
        </p:nvSpPr>
        <p:spPr>
          <a:xfrm>
            <a:off x="2560320" y="5349240"/>
            <a:ext cx="274320" cy="91440"/>
          </a:xfrm>
          <a:prstGeom prst="rect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Легенда"/>
          <p:cNvSpPr txBox="1"/>
          <p:nvPr/>
        </p:nvSpPr>
        <p:spPr>
          <a:xfrm>
            <a:off x="2907792" y="528523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пример: масса</a:t>
            </a:r>
          </a:p>
        </p:txBody>
      </p:sp>
      <p:sp>
        <p:nvSpPr>
          <p:cNvPr id="61" name="Легенда"/>
          <p:cNvSpPr/>
          <p:nvPr/>
        </p:nvSpPr>
        <p:spPr>
          <a:xfrm>
            <a:off x="4572000" y="5349240"/>
            <a:ext cx="274320" cy="9144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Легенда"/>
          <p:cNvSpPr txBox="1"/>
          <p:nvPr/>
        </p:nvSpPr>
        <p:spPr>
          <a:xfrm>
            <a:off x="4919472" y="528523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норма: 3–⁠97-й центиль</a:t>
            </a:r>
          </a:p>
        </p:txBody>
      </p:sp>
      <p:sp>
        <p:nvSpPr>
          <p:cNvPr id="63" name="Текст"/>
          <p:cNvSpPr txBox="1"/>
          <p:nvPr/>
        </p:nvSpPr>
        <p:spPr>
          <a:xfrm>
            <a:off x="7635240" y="1691640"/>
            <a:ext cx="4007815" cy="406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Кариотип нужен и при необъяснённой задержке пубертата или менархе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Считают не меньше 30 метафаз, при подозрении на мозаицизм больше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Материал Y-хромосомы ищут только при кариотипе 45,X с вирилизацией</a:t>
            </a:r>
          </a:p>
        </p:txBody>
      </p:sp>
      <p:sp>
        <p:nvSpPr>
          <p:cNvPr id="6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Gravholt CH et al. Eur J Endocrinol 2024;190:G53–G151; Gravholt CH et al. Lancet Diabetes Endocrinol 2026, PMID 42790437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При синдроме Тернера рост теряется прежде всего из-за нехватки гена </a:t>
            </a:r>
            <a:r>
              <a:rPr sz="2800" b="1" i="1">
                <a:solidFill>
                  <a:srgbClr val="1B2E3C"/>
                </a:solidFill>
                <a:latin typeface="Cambria"/>
              </a:rPr>
              <a:t>SHOX</a:t>
            </a:r>
          </a:p>
        </p:txBody>
      </p:sp>
      <p:sp>
        <p:nvSpPr>
          <p:cNvPr id="3" name="Короткое плечо"/>
          <p:cNvSpPr/>
          <p:nvPr/>
        </p:nvSpPr>
        <p:spPr>
          <a:xfrm>
            <a:off x="685800" y="2011680"/>
            <a:ext cx="384048" cy="938174"/>
          </a:xfrm>
          <a:prstGeom prst="round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Длинное плечо"/>
          <p:cNvSpPr/>
          <p:nvPr/>
        </p:nvSpPr>
        <p:spPr>
          <a:xfrm>
            <a:off x="685800" y="3004718"/>
            <a:ext cx="384048" cy="1475841"/>
          </a:xfrm>
          <a:prstGeom prst="round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SHOX"/>
          <p:cNvSpPr/>
          <p:nvPr/>
        </p:nvSpPr>
        <p:spPr>
          <a:xfrm>
            <a:off x="658368" y="2057400"/>
            <a:ext cx="438912" cy="182880"/>
          </a:xfrm>
          <a:prstGeom prst="rect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Подпись хромосомы"/>
          <p:cNvSpPr txBox="1"/>
          <p:nvPr/>
        </p:nvSpPr>
        <p:spPr>
          <a:xfrm>
            <a:off x="411480" y="4535424"/>
            <a:ext cx="932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66737C"/>
                </a:solidFill>
                <a:latin typeface="Calibri"/>
              </a:rPr>
              <a:t>X</a:t>
            </a:r>
          </a:p>
        </p:txBody>
      </p:sp>
      <p:sp>
        <p:nvSpPr>
          <p:cNvPr id="7" name="Короткое плечо"/>
          <p:cNvSpPr/>
          <p:nvPr/>
        </p:nvSpPr>
        <p:spPr>
          <a:xfrm>
            <a:off x="1325880" y="2011680"/>
            <a:ext cx="384048" cy="938174"/>
          </a:xfrm>
          <a:prstGeom prst="round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Длинное плечо"/>
          <p:cNvSpPr/>
          <p:nvPr/>
        </p:nvSpPr>
        <p:spPr>
          <a:xfrm>
            <a:off x="1325880" y="3004718"/>
            <a:ext cx="384048" cy="1475841"/>
          </a:xfrm>
          <a:prstGeom prst="round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HOX"/>
          <p:cNvSpPr/>
          <p:nvPr/>
        </p:nvSpPr>
        <p:spPr>
          <a:xfrm>
            <a:off x="1298448" y="2057400"/>
            <a:ext cx="438912" cy="182880"/>
          </a:xfrm>
          <a:prstGeom prst="rect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Подпись хромосомы"/>
          <p:cNvSpPr txBox="1"/>
          <p:nvPr/>
        </p:nvSpPr>
        <p:spPr>
          <a:xfrm>
            <a:off x="1051560" y="4535424"/>
            <a:ext cx="932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66737C"/>
                </a:solidFill>
                <a:latin typeface="Calibri"/>
              </a:rPr>
              <a:t>X</a:t>
            </a:r>
          </a:p>
        </p:txBody>
      </p:sp>
      <p:sp>
        <p:nvSpPr>
          <p:cNvPr id="11" name="Норма"/>
          <p:cNvSpPr txBox="1"/>
          <p:nvPr/>
        </p:nvSpPr>
        <p:spPr>
          <a:xfrm>
            <a:off x="457200" y="1600200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 i="0">
                <a:solidFill>
                  <a:srgbClr val="1B2E3C"/>
                </a:solidFill>
                <a:latin typeface="Calibri"/>
              </a:rPr>
              <a:t>46,XX: две копии</a:t>
            </a:r>
          </a:p>
        </p:txBody>
      </p:sp>
      <p:sp>
        <p:nvSpPr>
          <p:cNvPr id="12" name="Короткое плечо"/>
          <p:cNvSpPr/>
          <p:nvPr/>
        </p:nvSpPr>
        <p:spPr>
          <a:xfrm>
            <a:off x="2423159" y="2011680"/>
            <a:ext cx="384048" cy="938174"/>
          </a:xfrm>
          <a:prstGeom prst="round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Длинное плечо"/>
          <p:cNvSpPr/>
          <p:nvPr/>
        </p:nvSpPr>
        <p:spPr>
          <a:xfrm>
            <a:off x="2423159" y="3004718"/>
            <a:ext cx="384048" cy="1475841"/>
          </a:xfrm>
          <a:prstGeom prst="round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HOX"/>
          <p:cNvSpPr/>
          <p:nvPr/>
        </p:nvSpPr>
        <p:spPr>
          <a:xfrm>
            <a:off x="2395727" y="2057400"/>
            <a:ext cx="438912" cy="182880"/>
          </a:xfrm>
          <a:prstGeom prst="rect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Подпись хромосомы"/>
          <p:cNvSpPr txBox="1"/>
          <p:nvPr/>
        </p:nvSpPr>
        <p:spPr>
          <a:xfrm>
            <a:off x="2148839" y="4535424"/>
            <a:ext cx="932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66737C"/>
                </a:solidFill>
                <a:latin typeface="Calibri"/>
              </a:rPr>
              <a:t>X</a:t>
            </a:r>
          </a:p>
        </p:txBody>
      </p:sp>
      <p:sp>
        <p:nvSpPr>
          <p:cNvPr id="16" name="Короткое плечо"/>
          <p:cNvSpPr/>
          <p:nvPr/>
        </p:nvSpPr>
        <p:spPr>
          <a:xfrm>
            <a:off x="3063239" y="2011680"/>
            <a:ext cx="384048" cy="938174"/>
          </a:xfrm>
          <a:prstGeom prst="roundRect">
            <a:avLst/>
          </a:prstGeom>
          <a:noFill/>
          <a:ln w="12700">
            <a:solidFill>
              <a:srgbClr val="8C979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Длинное плечо"/>
          <p:cNvSpPr/>
          <p:nvPr/>
        </p:nvSpPr>
        <p:spPr>
          <a:xfrm>
            <a:off x="3063239" y="3004718"/>
            <a:ext cx="384048" cy="1475841"/>
          </a:xfrm>
          <a:prstGeom prst="roundRect">
            <a:avLst/>
          </a:prstGeom>
          <a:noFill/>
          <a:ln w="12700">
            <a:solidFill>
              <a:srgbClr val="8C979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Подпись хромосомы"/>
          <p:cNvSpPr txBox="1"/>
          <p:nvPr/>
        </p:nvSpPr>
        <p:spPr>
          <a:xfrm>
            <a:off x="2788919" y="4535424"/>
            <a:ext cx="932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</a:p>
        </p:txBody>
      </p:sp>
      <p:sp>
        <p:nvSpPr>
          <p:cNvPr id="19" name="Тернер"/>
          <p:cNvSpPr txBox="1"/>
          <p:nvPr/>
        </p:nvSpPr>
        <p:spPr>
          <a:xfrm>
            <a:off x="2194559" y="1600200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 i="0">
                <a:solidFill>
                  <a:srgbClr val="1B2E3C"/>
                </a:solidFill>
                <a:latin typeface="Calibri"/>
              </a:rPr>
              <a:t>45,X: одна копия</a:t>
            </a:r>
          </a:p>
        </p:txBody>
      </p:sp>
      <p:sp>
        <p:nvSpPr>
          <p:cNvPr id="20" name="Ген"/>
          <p:cNvSpPr txBox="1"/>
          <p:nvPr/>
        </p:nvSpPr>
        <p:spPr>
          <a:xfrm>
            <a:off x="548640" y="484632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C08A1E"/>
                </a:solidFill>
                <a:latin typeface="Calibri"/>
              </a:rPr>
              <a:t>ген </a:t>
            </a:r>
            <a:r>
              <a:rPr sz="1400" b="0" i="1">
                <a:solidFill>
                  <a:srgbClr val="C08A1E"/>
                </a:solidFill>
                <a:latin typeface="Calibri"/>
              </a:rPr>
              <a:t>SHOX</a:t>
            </a:r>
          </a:p>
        </p:txBody>
      </p:sp>
      <p:sp>
        <p:nvSpPr>
          <p:cNvPr id="21" name="Механизм"/>
          <p:cNvSpPr txBox="1"/>
          <p:nvPr/>
        </p:nvSpPr>
        <p:spPr>
          <a:xfrm>
            <a:off x="4114800" y="1691640"/>
            <a:ext cx="7528255" cy="397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0"/>
              </a:spcAft>
            </a:pPr>
            <a:r>
              <a:rPr sz="1800" b="0" i="0">
                <a:solidFill>
                  <a:srgbClr val="26323A"/>
                </a:solidFill>
                <a:latin typeface="Calibri"/>
              </a:rPr>
              <a:t>Ген </a:t>
            </a:r>
            <a:r>
              <a:rPr sz="1800" b="0" i="1">
                <a:solidFill>
                  <a:srgbClr val="26323A"/>
                </a:solidFill>
                <a:latin typeface="Calibri"/>
              </a:rPr>
              <a:t>SHOX</a:t>
            </a:r>
            <a:r>
              <a:rPr sz="1800" b="0" i="0">
                <a:solidFill>
                  <a:srgbClr val="26323A"/>
                </a:solidFill>
                <a:latin typeface="Calibri"/>
              </a:rPr>
              <a:t> лежит на конце короткого плеча X- и Y-хромосомы, у здорового человека работают обе копии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26323A"/>
                </a:solidFill>
                <a:latin typeface="Calibri"/>
              </a:rPr>
              <a:t>При кариотипе 45,X копия одна: это главная причина низкорослости; ось СТГ — ИФР-⁠1 и нехватка эстрогенов могут вносить вклад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26323A"/>
                </a:solidFill>
                <a:latin typeface="Calibri"/>
              </a:rPr>
              <a:t>Ген работает в хрящевых клетках зоны роста; в зародыше сильнее всего в середине конечностей, укорочены предплечья и голени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26323A"/>
                </a:solidFill>
                <a:latin typeface="Calibri"/>
              </a:rPr>
              <a:t>Без гормона роста взрослый рост 138–⁠147 см, примерно на 20 см ниже среднего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26323A"/>
                </a:solidFill>
                <a:latin typeface="Calibri"/>
              </a:rPr>
              <a:t>Реже: короткая четвёртая пястная кость, вальгусное отклонение предплечья, высокое нёбо; деформация Маделунга около 7,5 %</a:t>
            </a:r>
          </a:p>
        </p:txBody>
      </p:sp>
      <p:sp>
        <p:nvSpPr>
          <p:cNvPr id="22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Gravholt CH et al. Eur J Endocrinol 2024;190:G53–G151; Marchini A et al. Endocr Rev 2016;37:417–⁠48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При синдроме Тернера СТГ можно начинать с 2 лет, эстрогены вводят с 11–⁠12 лет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СТГ с 2 лет, если рост отстаёт, уже низкий или ожидается низким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Доза 45–⁠50 мкг/кг/сут, при слабом ответе до 68 мкг/кг/сут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Прибавка итогового роста 5–⁠8 см, около 1 см на каждый год лечения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ЛГ, ФСГ (фолликулостимулирующий гормон) и антимюллеров гормон: ежегодно с 8–⁠9 до 11–⁠12 лет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Эстрогены с 11–⁠12 лет, если ФСГ повышен в двух измерениях подряд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Gravholt CH et al. Eur J Endocrinol 2024;190:G53–G151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Малые дозы при индукции явной потери роста не дали, но данных мало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279806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637197"/>
                <a:gridCol w="4365015"/>
                <a:gridCol w="4092202"/>
              </a:tblGrid>
              <a:tr h="382016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Кто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Чем начинают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Как наращивают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890016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Мальчики с гипогонадизмом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обычное начало: тестостерона энантат 50 мг внутримышечно раз в месяц; либо гонадотропины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постепенно до взрослой дозы, темп индивидуальный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890016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Девочки с гипогонадизмом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17β-эстрадиол, пластырь на ночь, от 0,05–⁠0,07 мкг/кг (у старших девочек 0,08–⁠0,12)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до взрослой дозы за 2–⁠3 года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636016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Синдром Тернера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эстрадиол 7 мкг/сут на кожу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каждые 6–⁠12 мес, взрослая доза к 4-му году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4581144"/>
            <a:ext cx="11094415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Ранний старт эстрогенов против позднего: −1,0 см, 95 % ДИ (доверительный интервал) −4,0…1,9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Синдром Тернера, этинилэстрадиол с СТГ в детстве, не индукция: −2,9 см против плацебо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Андрогены при конституциональной задержке: +1,78 см (95 % ДИ 0,47…3,08), данные ретроспективные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900" b="0" i="0">
                <a:solidFill>
                  <a:srgbClr val="66737C"/>
                </a:solidFill>
                <a:latin typeface="Calibri"/>
              </a:rPr>
              <a:t>Nordenström A et al. Eur J Endocrinol 2022;186:G9–G49; Gravholt CH et al. Eur J Endocrinol 2024;190:G53–G151; Wang L et al. BMC Endocr Disord 2026;26(1), PMID 41933328; Gawlik-Starzyk A et al. Horm Res Paediatr 2025;98:327–⁠35; Ross JL et al. N Engl J Med 2011;364:1230–⁠42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300" b="1" i="0">
                <a:solidFill>
                  <a:srgbClr val="1B2E3C"/>
                </a:solidFill>
                <a:latin typeface="Cambria"/>
              </a:rPr>
              <a:t>При гипогонадизме терапия после индукции постоянная, и пациента передают взрослому эндокринологу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Девочкам схему индукции меняют на постоянную взрослую заместительную терапию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Синдром Тернера: эстроген с прогестероном до 50–⁠55 лет, затем пересмотр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Гонадотропины дают сперматогенез у большинства мальчиков без крипторхизма; тестостерон яички не увеличивает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Врождённый гипогонадотропный гипогонадизм обратим у 5–⁠20 %: возможна пауза 4 мес после индукции гонадотропинами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При передаче обсудите гормоны, сексуальность, фертильность, психологические и социальные вопросы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900" b="0" i="0">
                <a:solidFill>
                  <a:srgbClr val="66737C"/>
                </a:solidFill>
                <a:latin typeface="Calibri"/>
              </a:rPr>
              <a:t>Nordenström A et al. Eur J Endocrinol 2022;186:G9–G49; Gravholt CH et al. Eur J Endocrinol 2024;190:G53–G151; Boehm U et al. Nat Rev Endocrinol 2015;11:547–⁠64; Shihadeh F et al. Horm Res Paediatr 2026, PMID 42721063; Cianfarani S et al. Horm Res Paediatr 2026, PMID 41553972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ИФРСБ-⁠3 специфичнее ИФР-⁠1, но пропускает половину случаев дефицита СТГ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264033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5306024"/>
                <a:gridCol w="2894195"/>
                <a:gridCol w="2894195"/>
              </a:tblGrid>
              <a:tr h="413766"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Анализ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Чувствительность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Специфичность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ИФР-⁠1, метаанализ 12 исследований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66 %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69 %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9852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ИФРСБ-⁠3 (белок, связывающий инсулиноподобный фактор роста, 3-го типа), метаанализ 12 исследований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50 %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79 %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ИФР-⁠1, 131 пациент 1,3–⁠25 лет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69 %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81 %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ИФРСБ-⁠3, те же пациенты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27 %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100 %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4423410"/>
            <a:ext cx="11094415" cy="1337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ИФР-⁠1 зависит от СТГ, а ещё от питания, возраста, пола и стадии пубертата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До 3 лет 3-й центиль ИФР-⁠1 близок к пределу обнаружения: руководство Нидерландов добавляет ИФРСБ-⁠3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Ось СТГ и ИФР-⁠1, пробы и прайминг: лекция «Соматотропная недостаточность у детей»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Shen Y et al. Eur J Pediatr 2015;174:419–⁠27; Cianfarani S et al. J Clin Endocrinol Metab 2005;90:6028–⁠34; Wit JM et al. J Clin Res Pediatr Endocrinol 2020;12:130–⁠9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300" b="1" i="0">
                <a:solidFill>
                  <a:srgbClr val="1B2E3C"/>
                </a:solidFill>
                <a:latin typeface="Cambria"/>
              </a:rPr>
              <a:t>ИФР-⁠1 сравнивают с нормой по полу и стадии пубертата, при задержке учитывают костный возраст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Пик ИФР-⁠1: девочки в 14 лет, 4-я стадия Таннера; мальчики в 15, 5-я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До пубертата ИФР-⁠1 оценивают в СО по возрасту и полу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При задержке пубертата ИФР-⁠1 сравнивают с нормой для стадии Таннера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Если норм по стадиям Таннера нет, СО считают для костного возраста; точность немного ниже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Bereket A et al. Horm Res 2006;65:96–⁠105; Wit JM et al. J Clin Res Pediatr Endocrinol 2020;12:130–⁠9; Juul A et al. J Clin Endocrinol Metab 1994;78:744–⁠52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Разные анализаторы дают разный ИФР-⁠1, и норма годится только для своего метода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Консенсус 2011 года предложил калибровать все методы по стандарту Всемирной организации здравоохранения 02/254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Там же: нормы каждого метода строят по возрастам, с учётом стадии Таннера и ИМТ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Шесть методов на одних и тех же 911 взрослых: нижние границы нормы близки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Верхние границы расходятся: у мужчин 18–⁠20 лет 391 против 537 нг/мл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Средние СО по нормам своего метода сошлись, согласие у отдельных людей умеренное или хорошее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Clemmons DR. Clin Chem 2011;57:555–⁠9; Burns C et al. Growth Horm IGF Res 2009;19:457–⁠62; Chanson P et al. J Clin Endocrinol Metab 2016;101:3450–⁠8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Если лаборатория дала только интервал, СО считают по нормам того же метода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Распределение ИФР-⁠1 несимметрично, поэтому интервал нельзя перевести в СО по прямой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СО считают по трём параметрам: асимметрия, медиана и вариация для пола и возраста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По таким СО 2,5-й и 97,5-й центили — это ±1,96 СО; 3-й центиль — −1,88 СО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Калькулятор опубликован для взрослых; для детей параметры ищут у авторов норм набора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1 нг/мл = 1 мкг/л ≈ 0,131 нмоль/л (расчёт по молекулярной массе 7649 Да)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Chanson P et al. J Clin Endocrinol Metab 2016;101:3450–⁠8; Bidlingmaier M et al. J Clin Endocrinol Metab 2014;99:1712–⁠21; Rinderknecht E, Humbel RE. J Biol Chem 1978;253:2769–⁠76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Порог в СО для проб зависит от вероятности дефицита СТГ до анализа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3" cy="2768346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3070775"/>
                <a:gridCol w="3467004"/>
                <a:gridCol w="4556634"/>
              </a:tblGrid>
              <a:tr h="572516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Вероятность дефицита СТГ до анализа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Признаки дефицита в клинике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Когда направлять на пробы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5026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Высокая, около 50 % и выше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несколько «за», ни одного «против»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при любом ИФР-⁠1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5026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Умеренная, около 20 %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часть признаков «за», «против» нет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ИФР-⁠1 ниже 0 СО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5026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Скорее низкая, около 10 %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мало «за», «против» нет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ИФР-⁠1 ниже −1 СО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5725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Низкая, около 5 %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мало «за», есть хотя бы одно «против»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ИФР-⁠1 ниже −2 СО, подтверждённый повтором вместе с ИФРСБ-⁠3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5725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Очень низкая, около 2 % и меньше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«за» нет или есть «против»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повтор с ИФРСБ-⁠3; дальше, если ИФР-⁠1 снова низкий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4551426"/>
            <a:ext cx="11094415" cy="12092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ИФР-⁠1 в СО по возрасту, полу и пубертату; числовой поправки на питание нет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Эксперты Общества по изучению гормона роста: при пангипопитуитаризме сниженного ИФР-⁠1 достаточно для диагноза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Wit JM et al. J Clin Res Pediatr Endocrinol 2020;12:130–⁠9; Arlien-Søborg MC et al. Pituitary 2025;28:57 (GRS)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ИФР-⁠1 бывает низким и без дефицита СТГ: ось ломается в гипофизе, печени или крови</a:t>
            </a:r>
          </a:p>
        </p:txBody>
      </p:sp>
      <p:sp>
        <p:nvSpPr>
          <p:cNvPr id="3" name="Строка: Гипофиз"/>
          <p:cNvSpPr/>
          <p:nvPr/>
        </p:nvSpPr>
        <p:spPr>
          <a:xfrm>
            <a:off x="3017520" y="1554480"/>
            <a:ext cx="8625535" cy="685800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Уровень: Гипофиз"/>
          <p:cNvSpPr/>
          <p:nvPr/>
        </p:nvSpPr>
        <p:spPr>
          <a:xfrm>
            <a:off x="548640" y="1554480"/>
            <a:ext cx="2468880" cy="685800"/>
          </a:xfrm>
          <a:prstGeom prst="rect">
            <a:avLst/>
          </a:prstGeom>
          <a:solidFill>
            <a:srgbClr val="1B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Уровень"/>
          <p:cNvSpPr txBox="1"/>
          <p:nvPr/>
        </p:nvSpPr>
        <p:spPr>
          <a:xfrm>
            <a:off x="685800" y="1554480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Гипофиз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B9C7D0"/>
                </a:solidFill>
                <a:latin typeface="Calibri"/>
              </a:rPr>
              <a:t>СТГ</a:t>
            </a:r>
          </a:p>
        </p:txBody>
      </p:sp>
      <p:cxnSp>
        <p:nvCxnSpPr>
          <p:cNvPr id="6" name="Стрелка"/>
          <p:cNvCxnSpPr/>
          <p:nvPr/>
        </p:nvCxnSpPr>
        <p:spPr>
          <a:xfrm>
            <a:off x="1783080" y="2240280"/>
            <a:ext cx="0" cy="274320"/>
          </a:xfrm>
          <a:prstGeom prst="line">
            <a:avLst/>
          </a:prstGeom>
          <a:ln w="25400">
            <a:solidFill>
              <a:srgbClr val="8C97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Что происходит"/>
          <p:cNvSpPr txBox="1"/>
          <p:nvPr/>
        </p:nvSpPr>
        <p:spPr>
          <a:xfrm>
            <a:off x="3291840" y="1554480"/>
            <a:ext cx="816833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26323A"/>
                </a:solidFill>
                <a:latin typeface="Calibri"/>
              </a:rPr>
              <a:t>СТГ мало: гипотиреоз. При ожирении и болезни Кушинга СТГ тоже снижен, но ИФР-⁠1 в норме</a:t>
            </a:r>
          </a:p>
        </p:txBody>
      </p:sp>
      <p:sp>
        <p:nvSpPr>
          <p:cNvPr id="8" name="Строка: Печень"/>
          <p:cNvSpPr/>
          <p:nvPr/>
        </p:nvSpPr>
        <p:spPr>
          <a:xfrm>
            <a:off x="3017520" y="2514600"/>
            <a:ext cx="8625535" cy="685800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Уровень: Печень"/>
          <p:cNvSpPr/>
          <p:nvPr/>
        </p:nvSpPr>
        <p:spPr>
          <a:xfrm>
            <a:off x="548640" y="2514600"/>
            <a:ext cx="2468880" cy="685800"/>
          </a:xfrm>
          <a:prstGeom prst="rect">
            <a:avLst/>
          </a:prstGeom>
          <a:solidFill>
            <a:srgbClr val="1B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Уровень"/>
          <p:cNvSpPr txBox="1"/>
          <p:nvPr/>
        </p:nvSpPr>
        <p:spPr>
          <a:xfrm>
            <a:off x="685800" y="2514600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Печень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B9C7D0"/>
                </a:solidFill>
                <a:latin typeface="Calibri"/>
              </a:rPr>
              <a:t>ИФР-⁠1</a:t>
            </a:r>
          </a:p>
        </p:txBody>
      </p:sp>
      <p:cxnSp>
        <p:nvCxnSpPr>
          <p:cNvPr id="11" name="Стрелка"/>
          <p:cNvCxnSpPr/>
          <p:nvPr/>
        </p:nvCxnSpPr>
        <p:spPr>
          <a:xfrm>
            <a:off x="1783080" y="3200400"/>
            <a:ext cx="0" cy="274320"/>
          </a:xfrm>
          <a:prstGeom prst="line">
            <a:avLst/>
          </a:prstGeom>
          <a:ln w="25400">
            <a:solidFill>
              <a:srgbClr val="8C97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Что происходит"/>
          <p:cNvSpPr txBox="1"/>
          <p:nvPr/>
        </p:nvSpPr>
        <p:spPr>
          <a:xfrm>
            <a:off x="3291840" y="2514600"/>
            <a:ext cx="816833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26323A"/>
                </a:solidFill>
                <a:latin typeface="Calibri"/>
              </a:rPr>
              <a:t>Здесь вырабатывается основная часть ИФР-⁠1. СТГ высокий, а печень не отвечает: недоедание, цирроз, диабет 1-го типа с плохим контролем; не работает рецептор СТГ: синдром Ларона</a:t>
            </a:r>
          </a:p>
        </p:txBody>
      </p:sp>
      <p:sp>
        <p:nvSpPr>
          <p:cNvPr id="13" name="Строка: Кровь"/>
          <p:cNvSpPr/>
          <p:nvPr/>
        </p:nvSpPr>
        <p:spPr>
          <a:xfrm>
            <a:off x="3017520" y="3474720"/>
            <a:ext cx="8625535" cy="685800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Уровень: Кровь"/>
          <p:cNvSpPr/>
          <p:nvPr/>
        </p:nvSpPr>
        <p:spPr>
          <a:xfrm>
            <a:off x="548640" y="3474720"/>
            <a:ext cx="2468880" cy="685800"/>
          </a:xfrm>
          <a:prstGeom prst="rect">
            <a:avLst/>
          </a:prstGeom>
          <a:solidFill>
            <a:srgbClr val="1B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Уровень"/>
          <p:cNvSpPr txBox="1"/>
          <p:nvPr/>
        </p:nvSpPr>
        <p:spPr>
          <a:xfrm>
            <a:off x="685800" y="3474720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Кровь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B9C7D0"/>
                </a:solidFill>
                <a:latin typeface="Calibri"/>
              </a:rPr>
              <a:t>связывающие белки</a:t>
            </a:r>
          </a:p>
        </p:txBody>
      </p:sp>
      <p:cxnSp>
        <p:nvCxnSpPr>
          <p:cNvPr id="16" name="Стрелка"/>
          <p:cNvCxnSpPr/>
          <p:nvPr/>
        </p:nvCxnSpPr>
        <p:spPr>
          <a:xfrm>
            <a:off x="1783080" y="4160520"/>
            <a:ext cx="0" cy="274320"/>
          </a:xfrm>
          <a:prstGeom prst="line">
            <a:avLst/>
          </a:prstGeom>
          <a:ln w="25400">
            <a:solidFill>
              <a:srgbClr val="8C97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Что происходит"/>
          <p:cNvSpPr txBox="1"/>
          <p:nvPr/>
        </p:nvSpPr>
        <p:spPr>
          <a:xfrm>
            <a:off x="3291840" y="3474720"/>
            <a:ext cx="816833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26323A"/>
                </a:solidFill>
                <a:latin typeface="Calibri"/>
              </a:rPr>
              <a:t>Болезнь почек: ИФР-⁠1 в анализе в норме, но связывающих белков избыток, и его действие снижено. Артрит: ИФРСБ-⁠3 разрушается быстрее, и чем выше интерлейкин-6, тем ниже ИФР-⁠1</a:t>
            </a:r>
          </a:p>
        </p:txBody>
      </p:sp>
      <p:sp>
        <p:nvSpPr>
          <p:cNvPr id="18" name="Строка: Зона роста"/>
          <p:cNvSpPr/>
          <p:nvPr/>
        </p:nvSpPr>
        <p:spPr>
          <a:xfrm>
            <a:off x="3017520" y="4434840"/>
            <a:ext cx="8625535" cy="685800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Уровень: Зона роста"/>
          <p:cNvSpPr/>
          <p:nvPr/>
        </p:nvSpPr>
        <p:spPr>
          <a:xfrm>
            <a:off x="548640" y="4434840"/>
            <a:ext cx="2468880" cy="685800"/>
          </a:xfrm>
          <a:prstGeom prst="rect">
            <a:avLst/>
          </a:prstGeom>
          <a:solidFill>
            <a:srgbClr val="1B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Уровень"/>
          <p:cNvSpPr txBox="1"/>
          <p:nvPr/>
        </p:nvSpPr>
        <p:spPr>
          <a:xfrm>
            <a:off x="685800" y="4434840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Зона роста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B9C7D0"/>
                </a:solidFill>
                <a:latin typeface="Calibri"/>
              </a:rPr>
              <a:t>хрящ</a:t>
            </a:r>
          </a:p>
        </p:txBody>
      </p:sp>
      <p:sp>
        <p:nvSpPr>
          <p:cNvPr id="21" name="Что происходит"/>
          <p:cNvSpPr txBox="1"/>
          <p:nvPr/>
        </p:nvSpPr>
        <p:spPr>
          <a:xfrm>
            <a:off x="3291840" y="4434840"/>
            <a:ext cx="816833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26323A"/>
                </a:solidFill>
                <a:latin typeface="Calibri"/>
              </a:rPr>
              <a:t>Воспаление напрямую меняет развитие хряща</a:t>
            </a:r>
          </a:p>
        </p:txBody>
      </p:sp>
      <p:sp>
        <p:nvSpPr>
          <p:cNvPr id="22" name="Вывод схемы"/>
          <p:cNvSpPr txBox="1"/>
          <p:nvPr/>
        </p:nvSpPr>
        <p:spPr>
          <a:xfrm>
            <a:off x="548640" y="5285232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800" b="0" i="0">
                <a:solidFill>
                  <a:srgbClr val="1B2E3C"/>
                </a:solidFill>
                <a:latin typeface="Calibri"/>
              </a:rPr>
              <a:t>При целиакии ИФР-⁠1 приходит в норму через 6–⁠12 мес безглютеновой диеты</a:t>
            </a:r>
          </a:p>
        </p:txBody>
      </p:sp>
      <p:sp>
        <p:nvSpPr>
          <p:cNvPr id="23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900" b="0" i="0">
                <a:solidFill>
                  <a:srgbClr val="66737C"/>
                </a:solidFill>
                <a:latin typeface="Calibri"/>
              </a:rPr>
              <a:t>Fazeli PK, Klibanski A. J Endocrinol 2014;220:R57–⁠65; Wong SC et al. Endocr Rev 2016;37:62–⁠110; Wit JM et al. J Clin Res Pediatr Endocrinol 2020;12:130–⁠9; Chernausek SD, Turner R. J Pediatr 1989;114:968–⁠72; De Benedetti F et al. J Clin Invest 1997;99:643–⁠50; Blum WF et al. Pediatr Nephrol 1991;5:539–⁠44; Guevara-Aguirre J et al. Rev Endocr Metab Disord 2021;22:59–⁠70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Низкий для возраста ИФР-⁠1 дают гипотиреоз, задержка пубертата, голод и воспаление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3436112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3235871"/>
                <a:gridCol w="3004737"/>
                <a:gridCol w="4853806"/>
              </a:tblGrid>
              <a:tr h="382016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Состояние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ИФР-⁠1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ИФРСБ-⁠3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636016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Гипотиреоз, младенцы с атиреозом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636016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Задержка пубертата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низкий для возраста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в норме растёт положе, чем ИФР-⁠1 (данные здоровых детей)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82016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Тяжёлое недоедание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снижен; при квашиоркоре бывает в норме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82016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Целиакия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82016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Системный ювенильный артрит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снижен, протеолиз усилен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636016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Цирроз; диабет 1-го типа с плохим контролем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800" b="0" i="0">
                <a:solidFill>
                  <a:srgbClr val="66737C"/>
                </a:solidFill>
                <a:latin typeface="Calibri"/>
              </a:rPr>
              <a:t>Zamboni G et al. Acta Paediatr 2000;89:1050–⁠5; Wit JM et al. J Clin Res Pediatr Endocrinol 2020;12:130–⁠9; Bereket A et al. Horm Res 2006;65:96–⁠105; Zamboni G et al. Pediatr Res 1996;39:410–⁠4; Kilic M et al. Clin Biochem 2004;37:382–⁠7; Street ME et al. Clin Endocrinol (Oxf) 2008;68:22–⁠8; Federico G et al. Horm Res 1997;48:108–⁠14; De Benedetti F et al. J Clin Invest 1997;99:643–⁠50; De Benedetti F et al. Endocrinology 2001;142:4818–⁠26; Bucuvalas JC et al. Pediatr Transplant 1997;1:73–⁠9; Virmani A. Indian J Endocrinol Metab 2015;19 Suppl 1:S64–⁠7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При ожирении, гиперкортицизме и болезнях почек ИФР-⁠1 не отражает секрецию СТГ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3" cy="3339846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4012873"/>
                <a:gridCol w="4012873"/>
                <a:gridCol w="3068667"/>
              </a:tblGrid>
              <a:tr h="413766"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Состояние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ИФР-⁠1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ИФРСБ-⁠3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Ожирение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в норме, в верхней половине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повышен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Болезнь Кушинга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в норме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в норме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69951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Хроническая болезнь почек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в норме по иммуноанализу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повышен по иммуноанализу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69951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Нечувствительность к СТГ, синдром Ларона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очень низкий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очень низкий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699516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Избыток СТГ, гигантизм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высокий и (или) СТГ не подавляется глюкозой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нет надёжных данных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800" b="0" i="0">
                <a:solidFill>
                  <a:srgbClr val="66737C"/>
                </a:solidFill>
                <a:latin typeface="Calibri"/>
              </a:rPr>
              <a:t>Argente J et al. J Clin Endocrinol Metab 1997;82:2076–⁠83; Wit JM et al. J Clin Res Pediatr Endocrinol 2020;12:130–⁠9; Magiakou MA et al. J Clin Endocrinol Metab 1994;78:131–⁠7; Blum WF et al. Pediatr Nephrol 1991;5:539–⁠44; Tönshoff B, Fine RN. Adv Ren Replace Ther 1996;3:37–⁠47; Guevara-Aguirre J et al. Rev Endocr Metab Disord 2021;22:59–⁠70; Al-Ashwal AA et al. Horm Res Paediatr 2017;88:119–⁠26; Moia S et al. Ital J Pediatr 2017;43:94; Gadelha MR et al. J Clin Endocrinol Metab 1999;84:249–⁠56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18288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4000" b="1" i="0">
                <a:solidFill>
                  <a:srgbClr val="1B2E3C"/>
                </a:solidFill>
                <a:latin typeface="Cambria"/>
              </a:rPr>
              <a:t>Спасибо за внимание!</a:t>
            </a:r>
          </a:p>
        </p:txBody>
      </p:sp>
      <p:sp>
        <p:nvSpPr>
          <p:cNvPr id="3" name="Контакт"/>
          <p:cNvSpPr txBox="1"/>
          <p:nvPr/>
        </p:nvSpPr>
        <p:spPr>
          <a:xfrm>
            <a:off x="2194560" y="3566160"/>
            <a:ext cx="384048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0" i="0">
                <a:solidFill>
                  <a:srgbClr val="26323A"/>
                </a:solidFill>
                <a:latin typeface="Calibri"/>
              </a:rPr>
              <a:t>@drsiddikov</a:t>
            </a:r>
          </a:p>
          <a:p>
            <a:r>
              <a:rPr sz="1800" b="0" i="0">
                <a:solidFill>
                  <a:srgbClr val="66737C"/>
                </a:solidFill>
                <a:latin typeface="Calibri"/>
              </a:rPr>
              <a:t>telegram</a:t>
            </a:r>
          </a:p>
        </p:txBody>
      </p:sp>
      <p:pic>
        <p:nvPicPr>
          <p:cNvPr id="4" name="Логотип" descr="логоти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429000"/>
            <a:ext cx="3566160" cy="1320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Эндокринные причины низкорослости у детей и подростков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ru-RU</dc:language>
</cp:coreProperties>
</file>