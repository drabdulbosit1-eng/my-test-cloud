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добрый день. Представьте ребёнка: из года в год он стоит последним в строю на физкультуре, а мама спрашивает, не гормоны ли это. Об этом ребёнке весь сегодняшний час: как на обычном приёме заподозрить эндокринную причину. Разделы о болезнях открываются кривой роста, потому что и в кабинете мы сначала смотрим кривую, а уже потом анализы. Кривые построены на нормах ВОЗ, а точки на них — примеры, не данные конкретных детей. Внизу слайдов указан источник цифр. Кто дал рекомендацию, я назову, а где данных мало или за советом стоит только мнение экспертов либо моё, так и скажу.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оговорюсь: правило в заголовке — мой рабочий приём. Прямое сравнение роста и массы в исследованиях есть только для гиперкортицизма и простого ожирения, его покажу на слайде 15. Ход массы на трёх других схемах я рисовал по типичной клинической картине, а не по данным исследований. Обратного правила, будто у худого ребёнка масса всегда падает первой, в надёжных работах нет. Из неэндокринных причин держите в голове целиакию: она тоже может начаться с отставания роста, даже когда ребёнок ни на что не жалуется. Это сказано во введении обзора 2026 года, к его выводам не относится. Узор подсказывает, с чего начать обследование, но диагноза не ставит.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точка говорит, где ребёнок стоит сегодня, но не куда он идёт. Нужна серия измерений. Минимального срока не назову: в обзор включали исследования с сериями за 6–⁠12 месяцев. Нормы в них были местные, а где своих не было — таблицы Всемирной организации здравоохранения или американские. Выберите одни таблицы и не меняйте их от визита к визиту, иначе ребёнок пересечёт центили на бумаге. Общего определения низкорослости нет, восемь работ использовали оба порога. По мнению авторов, рост, отклонение от целевого и скорость вместе могут отличать вариант нормы от болезни лучше любого одного признака. Правда, в работах скорость и целевой рост учитывали редко. Пример: отец 176 см, мать 160 см. Целевой рост сына 174,5 см, дочери 161,5 см.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рентгенкабинета приходит заключение «костный возраст отстаёт». Что оно значит? Прежде всего одно: время для роста ещё есть. Первая строка — из когорты 24 детей с тяжёлым приобретённым гипотиреозом. Цифры на слайде — разность средних паспортного и костного возраста. Разброс внутри групп большой: стандартное отклонение паспортного возраста 2,7 и 4,7 года, костного — 3,1 и 2,7 года у девочек и мальчиков. Вторая строка — мнение экспертов Европейской референсной сети. Само по себе отставание болезнь от нормы не отличает, поэтому снимок кисти читаем только вместе с кривой и анализами. Точность прогноза итогового роста по костному возрасту сегодня не разбираю. Дальше четыре узора по очереди, начнём со щитовидной железы.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понять, почему эндокринные болезни дают низкий рост, посмотрим, где кость растёт в длину. У каждой болезни сегодняшней лекции в зоне роста своё звено, и мы будем к нему возвращаться. Про соматотропный гормон (СТГ) и инсулиноподобный фактор роста (ИФР-⁠1) подробно говорю в лекции о соматотропной недостаточности. Фраза внизу схемы важна для прогноза. Задержку старения зоны роста показали на кроликах и крысах, у детей подтверждение косвенное. Но именно этим объясняют, почему после лечения гипотиреоза или отмены глюкокортикоидов ребёнок может догнать сверстников.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Точки на нормах ВОЗ — пример, но история знакомая. До семи лет девочка шла по своему центилю, потом рост стал отставать, а индекс массы тела продолжал прибавлять. Каждое измерение по отдельности ещё в норме, тревожит только наклон кривой. Вывод в заголовке я беру из нарративного обзора с четырьмя клиническими случаями. Пара слов о йоде. По национальному обследованию Узбекистана у небеременных женщин йода в среднем хватает, но достаточно йодированную соль нашли лишь в 36 % домохозяйств. Это данные о женщинах, не о детях. А главный урок здесь — визит в девять лет. Девочку осмотрели и измерили, но замедления никто не заметил, и диагноз опоздал на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у девочки с кривой рост встал? Гормон щитовидной железы действует прямо на хрящ, и без него хрящ плохо окостеневает. Рост замедляется, скелет отстаёт в развитии; отставание костного возраста мы видели на слайде 4. При тяжёлом нелеченом гипотиреозе эпифизы на снимке бывают «крапчатыми». Есть и связь с осью СТГ. В небольшой работе на семи детях ночная секреция СТГ и ИФР-⁠1 до лечения были снижены, а на левотироксине стали такими же, как у здоровых детей. Догоняющий рост объясняет опыт на крысах: гипотиреоз вызывали пропилтиоурацилом, и после его отмены зона роста росла быстрее, чем положено по возрасту. У детей это пока гипотеза.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когорта 1988 года: те же 24 ребёнка со слайда 4, только прослеженные до конца роста. Костный возраст у них отставал на годы, и запас казался большим: лечи и жди. Но запаса не хватило. Посмотрите на девочек: диагноз в одиннадцать с лишним лет, итоговый рост 149 сантиметров. Мальчиков всего шесть, так что их цифры держатся на очень малой группе. Связь с длительностью болезни — наблюдение одной когорты, а не испытание. Так что открытые зоны роста и отстающий костный возраст ещё не обещают, что ребёнок догонит.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такое догоняющий рост: когда причину устранили, ребёнок растёт быстрее сверстников и возвращается к своему каналу, если успевает. Откуда цифры в таблице, авторы обзора 2026 года не раскрыли. Значит, это их мнение, а не рекомендация общества. И учтите: среди авторов есть сотрудник фармацевтической компании. Для подростков старше 16 лет отдельной цифры в обзоре нет, нет и числа для малой стартовой дозы. Эти дозы только для первичного гипотиреоза, при центральном порядок другой, он на слайде 12. Серия из четырёх детей совсем маленькая и слайду 8 не противоречит. Подростку, которого начали лечить в пубертате, полного догоняющего роста не обещайте.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строка из той же когорты, что на слайде 8. Дальше я толкую сам: похоже, запас роста так тратится раньше времени. Сказалось ли это на итоговом росте, авторы не показали. Отсюда соблазн притормозить пубертат. Девочка 13 лет: рост −6,6 СО, костный возраст 5,8 года. Она получала левотироксин, СТГ, полтора года аналог ГнРГ — и выросла до нормы. Но это один случай и три вмешательства сразу. В ретроспективном сравнении до конца роста дошли 17 детей без аналога и 6 с ним: прибавка в СО и итоговый рост сходные. Для ответа этого мало, так что пока это идея, а не метод.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с приёма: ребёнок невысокий, ТТГ шесть или семь, не в этом ли дело? Сначала убедитесь, что ТТГ повышен стойко, а свободный тироксин, св. Т4, в норме: у 38 детей из 92 ТТГ потом нормализовался. На аутоиммунный тиреоидит выводы слайда не переносите. В когорте 2026 года, где ТТГ был 5–⁠10, при тиреоидите Хашимото левотироксин понадобился 42 % детей, без тиреоидита — каждому десятому; 8,6 % на слайде относятся только к идиопатическим. У 36 детей рост почти не сдвинулся: −0,7 СО при выявлении и −0,8 при включении. Наблюдение 92 детей проспективное, но всего два года. Левотироксин «для роста» при ТТГ 5–⁠10 не назначайте. Искать другую причину — мой вывод, отдельно этот вопрос не изучали.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пропускают центральный гипотиреоз: проверили один ТТГ, увидели норму и успокоились. При поражении гипоталамуса ТТГ бывает даже слегка повышен, но такой ТТГ биологически неполноценен. Если св. Т4 не сходится с клиникой, заподозрите помеху иммуноанализа и попросите другой метод. Порядок с надпочечниками предлагают авторы экспертного обзора, а как проверять, не пишут. Для новорождённых Европейская референсная сеть даёт его как слабую рекомендацию. Если кровь до таблетки взять не получается, ждите не меньше 4 часов после неё и сдавайте в ту же лабораторию. Низкий до лечения ТТГ для контроля дозы бесполезен. А если он был нормальным и на лечении не подавляется, доза, возможно, мала. Из генов чаще других находят IGSF1 на X-хромосоме; реже TSHB, TRHR, TBL1X, IRS4.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два разных сценария, и путать их не надо. В первой работе снижение было лабораторным: клинического гипотиреоза не развилось, ТТГ не сдвинулся, левотироксин требовался редко. Во второй снижение лечили; туда вошли дети с дефицитом СТГ, нейросекреторной дисфункцией и частичной неактивностью СТГ. О других гормонах гипофиза ни в одной из работ не сказано. Две последние строки слайда — мнение авторов экспертного обзора. Срок контроля источники не называют. И там и там показатели падали в первые полгода, поэтому св. Т4 я бы проверил именно в это окно. Одно низкое значение ещё не диагноз: как на слайде 12, нужны два анализа, а ТТГ здесь не подскажет.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Остаётся врождённый гипотиреоз, и здесь доказательства сильнее, чем в остальном разделе: консенсус одобрили Европейское общество детской эндокринологии и Европейское общество эндокринологии. Для св. Т4 от 5 до 10 пмоль/л в консенсусе отдельной дозы нет: её выбирают по тяжести, не выше 15. По св. Т4 строки «лёгкий» и «норма» могут совпасть: сверяйте его с неонатальными интервалами своей лаборатории. Взрослым эндокринологам: при достаточном лечении фертильность такая же, как у людей без гипотиреоза; оценка консенсуса и здесь сильная, качество данных высокое. В финской когорте стартовая доза с 1980-х по 2010-е выросла с 6,8 до 10,8 мкг/кг/сут, а рост к двум годам не изменился. Если лечили вовремя, а ребёнок растёт плохо, ищите ошибку в лечении или другую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причина — избыток кортизола. Сравните на графиках не индекс массы тела, а рост: индекс у обоих уходит вверх, а рост расходится. Группы на слайде разного возраста: дети с ожирением младше на три с половиной года. В японской серии, 19 детей с болезнью Кушинга, медиана срока до диагноза 2,7 года. За это время средний рост упал с −0,45 до −2,0 СО. Общество гипофиза называет этот узор самым частым признаком у детей, поэтому заметить болезнь в детстве проще, чем после пубертата. Тот же узор даёт гипотиреоз, поэтому у полного медленно растущего ребёнка я начинаю с ТТГ и св. Т4. Когда зоны роста закрыты, признака нет, это мой вывод; тогда остаются тесты со слайда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Глюкокортикоиды действуют на рост сразу на трёх уровнях. По традиционным представлениям длительный избыток подавляет секрецию СТГ, но итог зависит от дозы и срока. В тканях нарушается сам сигнал: меняются число рецепторов и передача внутри клетки. А в зоне роста хрящ делится медленнее и чаще гибнет. Этим объясняют рост вниз на кривой слайда 15. У детей с синдромом Кушинга часто задержано и половое развитие. Задержку старения зоны роста после отмены дексаметазона показали на кроликах, и авторы считают, что она отчасти объясняет догоняющий рост. У детей после излечения догоняющий рост обычно неполный, как в сериях на слайде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искать опухоль, спросите о лекарствах, в том числе назначенных другими врачами. Перечислите родителям вслух: уколы от аллергии, капельницы при бронхите, капли в нос и кремы от сыпи за последний год. По обзору механизмов, сильнее всего рост страдает в первые месяцы лечения. Таблица не повод переводить ребёнка с приёма через день на ежедневный: ни пользы, ни вреда той или другой схемы она не доказывает. При системном артрите рост тормозит и сама болезнь, так что вклад преднизолона отдельно не выделить. Последняя строка — мой совет. Нашли ятрогенный синдром Кушинга — лечение не обрывайте, иначе ребёнок рискует надпочечниковой недостаточностью.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ингаляций данные надёжнее, чем для таблеток: в кокрейновском обзоре 25 рандомизированных испытаний и 8471 ребёнок. Торможение видно в первый год и зависит от молекулы, а от дозы в пределах низких и средних — нет. В американском исследовании будесонида детей проследили до конца роста: чем выше доза на килограмм в первые два года, тем ниже итоговый рост. Беклометазон и мометазон в нос изучали в разных работах, так что сравнивать молекулы рано. Ингаляцию ради роста я не отменяю. Прошу коллегу, который ведёт астму, подобрать наименьшую дозу, при которой болезнь под контролем, и меряю рост на каждом визите. Это моя практика, исследований на этот счёт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Причину ищут, когда гиперкортицизм уже подтверждён, но возраст заранее подсказывает, чего ждать. Границу источники ставят по-разному: обзор 2012 года — 7 лет, Общество гипофиза — 6. Из 59 больных от 4 до 20 лет в американской серии болезнь Кушинга была у 50, поражение надпочечников у шести, эктопическая секреция АКТГ у трёх. У половины из 88 детей с раком коры надпочечника нашли герминальные мутации TP53, у младших чаще. При генетическом синдроме эксперты Общества гипофиза советуют консультацию генетика и ребёнку, и семье. В парижской серии из 15 детей синдром Мак-Кьюна — Олбрайта выявили примерно в четыре месяца, узелковую дисплазию в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Из-за суточного ритма разовый кортизол крови или АКТГ почти ничего не скажет. Детских порогов Общество гипофиза не даёт. Цифры для ночной пробы и полуночного кортизола я беру из протокола Национальных институтов здоровья США. Там пробу делают с 1 мг, дозы на килограмм для детей в источниках нет, так что у маленьких результат обсуждайте с центром. Полуночный кортизол точен только в стационаре, а специфичность 100 % посчитали всего на 20 детях контрольной группы. Порог 50 нмоль/л в таблице относится к ночной пробе. Значение для слюны годится только для электрохемилюминесцентного метода. Малую двухдневную пробу с дексаметазоном проводит центр, уже для поиска причины.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строку таблицы вы встретите на приёме. При простом ожирении суточный ритм кортизола слюны сохранён. Если ребёнок получает эстрогены внутрь, фенобарбитал или карбамазепин, я начинаю с мочи или слюны. Ошибка бывает и в другую сторону: неполный сбор даёт ложно низкий результат, а надёжно собрать суточную мочу у ребёнка амбулаторно трудно. У 5–⁠10 % больных секреция периодическая, и тогда нормальными бывают и ночная проба, и моча. Наблюдение не прекращают: следят за ростом и повторяют анализ мочи. Результат, похожий на псевдо-Кушинг, тоже повторяют. Это у Общества гипофиза условная рекомендация при данных низкого качества, а направление в центр дано без оценки силы. Стратакис в своём обзоре предлагает простой признак, это его мнение: подтверждённая прибавка роста говорит за псевдо-Кушинг.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серии по 10–⁠14 детей без контрольных групп; пересекались ли больные между ними, неизвестно, поэтому цифры я не складываю. В первой серии итоговый рост 162,8 см при 171,7 см по родителям. Во второй до конца роста дошли только шестеро из десяти, у остальных авторы взяли последний замер. В двух поздних сериях часть детей облучали, большинство получали СТГ, так что цифры отражают итог всего лечения сразу. Авторы серии 2005 года пишут, что большинство детей попало в целевой диапазон. Границы этого диапазона мне неизвестны, а средний разрыв вы видите в таблице. Догоняющий рост есть, но неполный, так что целевого роста семье не обещайте. После операции продолжайте вести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Ребёнка выписывают с письменным планом стрессовых доз на случай болезни, а левотироксин, если нужен, добавляют после глюкокортикоидов, как на слайде 12. Год — типичный срок восстановления, а не дата отмены. Замещение отменяют после проверки оси в центре, это мой совет. Зачем спешить со СТГ? По оценке экспертов Общества гипофиза, с ним итоговый рост достаточный, а ожирение уходит не полностью. Пороги на слайде в мЕд/л, у Общества гипофиза — по пробам с инсулином или глюкагоном. Они верны только для протокола этих работ, в нанограммы не пересчитывайте. 31 и 54 % — доли при разных порогах, их не суммируют. Технику проб разбираю в лекции о соматотропной недостаточности. У взрослых половина рецидивов приходит позже пяти лет после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 пубертате открывает такой мальчик. Он приходит в 13–⁠14 лет: одноклассники вытянулись, а он нет. Рост давно ниже среднего, индекс массы тела в пределах нормы, костный возраст отстаёт; узор и костный возраст мы разбирали на слайдах 2 и 4. Ранний уход вниз, ещё в начальной школе, с конституциональной задержкой совместим, но именно такие мальчики в среднем вырастают ниже целевого роста. Расспросите о родителях: в семейном исследовании поздний пубертат был у обоих в 32 % семей и у одного в 45 %. По мнению экспертов Европейской референсной сети, конституциональную задержку ставят, только когда отвергнут гипогонадизм. Пороги — на слайде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Мама говорит: пубертат уже идёт, появились волосы на лобке. Само по себе лобковое и подмышечное оволосение начала пубертата не означает: его дают андрогены надпочечников. У мальчика первый признак — увеличение яичек, поэтому орхидометр должен лежать в каждом кабинете. Эксперты Европейской референсной сети считают пубертат задержанным, если начался позже среднего на 2–⁠2,5 СО или остановился. Пороги в заголовке руководство даёт без оценки качества. О менархе: срок 15 лет годится, только если грудь развита и рост нормальный. Если телархе началось до 10 лет, ждут не три года, а пять. Сдвиг телархе статистически значим, доверительный интервал от 0,04 до 0,44 года за десятилетие. В выводах метаанализа авторы призывают пересмотреть определение преждевременного пубертата, а о задержке там ни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таблицы я делаю вывод, которого у авторов нет: девочке с задержкой пубертата рано говорить «подождём». По мнению экспертов Европейской референсной сети, группы разводит первый же анализ: лютеинизирующий и фолликулостимулирующий гормоны, ЛГ и ФСГ. Если они высокие, это гипергонадотропная группа: не работают сами гонады. Тогда следующий шаг — кариотип, и не только у девочки, о ней слайд 30. Если ЛГ и ФСГ низкие, остаются три группы, их различают осмотр и время. Функциональную форму выявляет расспрос: как ребёнок ест, чем болеет, сколько тренируется, не худеет ли намеренно. Четыре группы — только первая развилка, диагноз ещё впереди: в другой серии у 244 подростков нашли 30 разных причин.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Поздний пубертат у родителей говорит за вариант нормы, это мы видели на слайде 24. Об обонянии спрашивайте конкретно: чувствует ли подросток запах дыма, духов, подгоревшей еды. Нормальное обоняние диагноз не снимает: по оценкам европейского консенсуса и экспертов Европейской референсной сети запахи различает примерно половина больных, а то и больше. Микропенис — это длина на 2,5 СО и больше ниже средней. Такого мальчика, по мнению экспертов сети, не ждут до 14 лет: в минипубертат, в 1–⁠4 месяца жизни, смотрят базальные гормоны, позже делают пробу с хорионическим гонадотропином. Отношение шансов при крипторхизме посчитали в серии одного центра, отсюда такой широкий интервал. И поднимите выписку из роддома.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Больных врождённым гипогонадизмом в этих когортах немного: девять в первой и 31 во второй, из них 15 с дефицитом нескольких гормонов гипофиза. Поэтому 100 % в таблице не гарантируют, что тест не ошибётся у вашего пациента. Каждый порог верен только для набора и протокола своего исследования, а значения ингибина В из двух когорт на одну шкалу не ложатся. Спросите лабораторию, каким набором она меряет ингибин В и определяет ли ЛГ ниже 0,3 МЕ/л. Если ингибина В нет, остаются осмотр и короткий курс тестостерона. В исследованиях диагноз подтверждает отсутствие пубертата к 18 годам, но ждать этого без лечения не нужно. По мнению экспертов, отсрочка вредит росту и самооценке. Про девочек — слайды 26 и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при врождённом гипогонадизме рост высокий? Пубертатный скачок дают эстрогены, причём и у мальчиков: около 80 % их эстрогенов образуется вне яичек из тестостерона и андростендиона. Эстрогены, по-видимому, усиливают секрецию СТГ, отсюда скачок. Они же ускоряют старение зоны роста и приближают её закрытие, это показано на кроликах. У людей описаны мужчины без рецептора эстрогенов или без ароматазы: рост 204 см, в 24 и 28 лет зоны роста закрыты не полностью. Поэтому при врождённом гипогонадизме подросток, по мнению экспертов Европейской референсной сети, часто относительно высокий, с евнухоидным обликом. Если же он низкий, по-моему, одним гипогонадизмом этого не объяснить. У девочки первая мысль — синдром Тернера, о нём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Узор тот же, что на слайде 2: без перелома, год за годом вниз. В жизни диагноз ставят ещё позже, чем на графике: по обзору 2026 года, медиана возраста 15 лет. Сильную рекомендацию руководство дало для типичных признаков синдрома. Необъяснённую низкорослость оно называет поводом к кариотипу в тексте и таблице, без отдельной оценки. В направлении пишите прямо: подозрение на синдром Тернера, не меньше 30 метафаз. За этим числом стоит сильная рекомендация умеренного качества. Если в крови 46,XX, а подозрение высокое, исследуют кожу, буккальный эпителий или мочу. Нашли материал Y-хромосомы — вопрос об удалении гонад решают индивидуально.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девочка с синдромом Тернера так сильно отстаёт в росте? На конце короткого плеча X-хромосомы лежит ген SHOX, и у здорового человека работают обе копии. При кариотипе 45,X копия одна. Руководство Европейского общества эндокринологии и Общества детских эндокринологов (США) 2024 года называет нехватку SHOX главной причиной низкорослости и скелетных изменений. Ось СТГ и нехватка эстрогенов могут вносить вклад: пубертатный скачок у этих девочек минимален или его нет. Ген работает в хрящевых клетках зоны роста, поэтому укорочены предплечья и голени. Без гормона роста взрослый рост около 138–⁠147 см. Скелетные признаки встречаются реже, так что их отсутствие кариотип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года — самый ранний срок, а не обязательный: начать можно и позже, пока зоны роста открыты. В пересчёте на поверхность тела стартовая доза 1,3–⁠1,5 мг/м² в сутки. Лечат, пока костный возраст не дойдёт до 14 лет или скорость роста не упадёт ниже 2 см в год. Это уже слабая рекомендация. Зачем анализы с 8–⁠9 лет? Больше трети девочек начинают пубертат сами, но спонтанное менархе бывает лишь у каждой пятой. Поэтому на сохранение фертильности девочку направляют вовремя. Эстрогены не откладывайте ради лишних сантиметров: что известно о раннем старте, увидим на слайде 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второй строке доверительный интервал от −4,9 до −0,8, весь ниже нуля. В рандомизированном исследовании той же схемы итог обратный, на грани значимости. К малым дозам эстрадиола при индукции это не относится. Руководство Европейской референсной сети даёт мальчикам слабый совет при очень низком качестве данных, девочкам — сильную рекомендацию, а для мальчиков с конституциональной задержкой схемы не даёт. Оно же допускает делить пластырь, самый малый во многих странах 50 мкг/сут. Дозы при синдроме Тернера без оценки. Энантат заменяют 10 мг тестостерона на кожу через день или 40 мг ундеканоата внутрь ежедневно. В метаанализе 2026 года тестостерон обошёл оксандролон на 2,64 см, но сравнивали подгруппы. Контрацептивы для индукции не советуют, при синдроме Тернера — и этинилэстрадиол.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взрослого эндокринолога главное: индукция заканчивается, а лечение нет. При врождённом гипогонадизме оно обычно пожизненное. Европейская референсная сеть предлагает обсуждать выбор между тестостероном и гонадотропинами ещё при индукции. Что выбрали, я бы записал в выписке. В опросе 169 человек с синдромом Тернера треть бросивших эстрогены была моложе 50 лет. У 27 % лечение хотя бы раз прерывалось за 10 лет, поэтому на каждом визите спрашиваем, получает ли пациентка эстрогены на самом деле. Европейское общество детской эндокринологии в общей позиции 2026 года пишет, что раздробленная помощь особенно вредит при переходе. Переход после болезни Кушинга — на слайде 21. Детей с центральным гипотиреозом и дефицитом СТГ я передаю так же, с подробной выпиской, это мой опыт.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Напомню: в разделах о болезнях я эти два анализа намеренно не трогал. Что сильнее зависит от питания, ИФР-⁠1 или ИФРСБ-⁠3, прямо никто не сравнивал. А при тяжёлом недоедании ИФРСБ-⁠3 падает вместе с ИФР-⁠1, это видно в таблице на слайде 41. Посмотрите на две нижние строки: в многоцентровом исследовании 2005 года ИФРСБ-⁠3 пропустил почти три четверти случаев. Выигрыш в специфичности небольшой, не переоценивайте его. Нормальный ИФРСБ-⁠3 дефицит СТГ не исключает. Добавлять его только до 3 лет советует голландское руководство, но это национальная практика, а не международная рекомендация. Поэтому у меня ИФРСБ-⁠3 только дополняет ИФР-⁠1.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мальчика 14 лет без признаков пубертата. Норма для его паспортного возраста уже рассчитана на подъём ИФР-⁠1, которого у него ещё нет. Насколько велик этот подъём, видно по датской работе 1994 года. Средние до начала пубертата росли от 80 до 200 нг/мл, а в пубертате доходили примерно до 500. Это старый радиоиммунный анализ после экстракции кислым этанолом, с бланком вашей лаборатории эти цифры не сравнивайте. Сами датские авторы осторожны: поправка на возраст, пол и стадию Таннера, по их словам, может помочь отличить задержку от дефицита СТГ. Три нижние строки — мнение экспертов, авторов обзора. Граница «до пубертата» условна: в Нидерландах 9 лет у девочек и 10 у мальчиков, у других авторов 8 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ИФР-⁠1 ребёнку сделали в одной лаборатории, а контрольный — в соседней, на другом анализаторе. Сравнивать эти цифры напрямую нельзя. Шесть методов сопоставили французские авторы, больных и детей в их работе не было. Последняя строка утешает лишь отчасти: у одного и того же человека категория СО совпадала не всегда. Препарат 02/254 Всемирная организация здравоохранения утвердила первым международным стандартом ИФР-⁠1. Консенсус 2011 года подготовили Общество по изучению гормона роста, Общество по изучению ИФР и Международная федерация клинической химии и лабораторной медицины. Нормы они просили строить на случайной выборке населения всех возрастов. Что с этим делать на приёме? Прежде всего узнать, на каком анализаторе получена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бланк: число и интервал, а СО нет. Сначала посмотрите, какие центили стоят у границ интервала: 2,5-й и 97,5-й, 3-й и 97-й или другие. Совет про детей в четвёртой строке — мой. Если параметров для вашего набора нет, я ориентируюсь на нижнюю границу: это примерно −2 СО. Пороги 0 и −1 СО со следующего слайда по одному интервалу не определить, тогда решаю по клинике. Сам расчёт — метод Коула и Грина. По данным французских авторов, так же построены и нормы 2014 года: 15 014 человек от рождения до 94 лет. Если лаборатория выдаёт ИФР-⁠1 в нмоль/л, умножьте на 7,65 и получите нг/мл.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границе −2 СО ИФР-⁠1 пропускает около трети детей с дефицитом СТГ. В точке, где тест различает лучше всего, при −0,83 СО, специфичность лишь 47 %. Поэтому порог двигают по клинике. Вес признаков «за» и «против» — личное мнение авторов. Проба оправдана, если после анализа вероятность выше 10 %. Пример: при исходных 10 % результат ниже −1 СО поднимает её до 16 %. Строка об умеренной вероятности — моя, по тексту и расчёту обзора. Его авторы считали на голландских детях от 4 лет, а пороги верны, только если СО взят по нормам вашего метода. Пункт о пангипопитуитаризме эксперты приняли для детей и взрослых, хотя в детской группе согласия достигли лишь по 17 утверждениям из 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смотреть таблицы, разложим причины по уровням оси. Основная часть ИФР-⁠1 в крови вырабатывается в печени в ответ на СТГ. При гипотиреозе СТГ мало уже на выходе из гипофиза. При голодании, циррозе и плохо компенсированном диабете СТГ много, но печень на него не отвечает: это приобретённая резистентность. При синдроме Ларона не работает сам рецептор. При болезни почек ИФР-⁠1 в анализе нормальный, но избыток связывающих белков снижает его действие, при артрите ИФРСБ-⁠3 разрушается быстрее. Воспаление меняет и развитие самого хряща. Мой совет: низкий ИФР-⁠1 у худого или больного ребёнка сначала объясняют питанием и болезнью, а уже потом думают о дефиците СТГ.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каждого ребёнка из этой таблицы ИФР-⁠1 низкий, но снижает его сама болезнь. Про гипотиреоз скажу прямо: сроки, за которые ИФР-⁠1 приходит в норму, известны только у младенцев с атиреозом. При диабете к резистентности печени добавляется нехватка инсулина из воротной вены. У детей с артритом видна только связь с интерлейкином-6, механизм показан на мышах. Как ведёт себя ИФРСБ-⁠3 при задержке пубертата, мы знаем только по здоровым детям. Если у подростка с хронической болезнью или недоеданием задержан и пубертат, вспомните функциональный гипогонадизм со слайда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Ловушка здесь обратная. При ожирении нормальный ИФР-⁠1 на фоне сниженной секреции СТГ — обычная картина. Авторы обзора 2020 года допускают, что у таких детей порог ИФР-⁠1 для направления на пробу может быть выше. Низкий СТГ на пробе у них трактуйте осторожно. В работе о болезни Кушинга, где были подростки и взрослые, подавление СТГ держалось не меньше года после излечения, хотя растущие пациенты уже ускорили рост. Значит, нормальный ИФР-⁠1 после операции дефицит СТГ не исключает. Низкий ответ на пробе в первые месяцы, по-моему, может оказаться временным. Но данных о восстановлении нет, и откладывать из-за этого лечение СТГ не нужно, как на слайде 23. При синдроме Ларона из 40 пациентов с подозрением мутации GHR нашли у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" descr="логоти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754880" cy="1761067"/>
          </a:xfrm>
          <a:prstGeom prst="rect">
            <a:avLst/>
          </a:prstGeom>
        </p:spPr>
      </p:pic>
      <p:sp>
        <p:nvSpPr>
          <p:cNvPr id="3" name="Название"/>
          <p:cNvSpPr txBox="1"/>
          <p:nvPr/>
        </p:nvSpPr>
        <p:spPr>
          <a:xfrm>
            <a:off x="548640" y="3063240"/>
            <a:ext cx="9601200" cy="1600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95000"/>
              </a:lnSpc>
            </a:pPr>
            <a:r>
              <a:rPr sz="3800" b="1" i="0">
                <a:solidFill>
                  <a:srgbClr val="1B2E3C"/>
                </a:solidFill>
                <a:latin typeface="Cambria"/>
              </a:rPr>
              <a:t>Эндокринные причины низкорослости у детей и подростков</a:t>
            </a:r>
          </a:p>
        </p:txBody>
      </p:sp>
      <p:sp>
        <p:nvSpPr>
          <p:cNvPr id="4" name="Автор"/>
          <p:cNvSpPr txBox="1"/>
          <p:nvPr/>
        </p:nvSpPr>
        <p:spPr>
          <a:xfrm>
            <a:off x="548640" y="49834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 i="0">
                <a:solidFill>
                  <a:srgbClr val="26323A"/>
                </a:solidFill>
                <a:latin typeface="Calibri"/>
              </a:rPr>
              <a:t>Сиддиков Абдлубосит Адхамович</a:t>
            </a:r>
          </a:p>
          <a:p>
            <a:r>
              <a:rPr sz="1600" b="0" i="0">
                <a:solidFill>
                  <a:srgbClr val="66737C"/>
                </a:solidFill>
                <a:latin typeface="Calibri"/>
              </a:rPr>
              <a:t>взрослый и детский эндокринолог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Первым делом смотрите, что отстаёт раньше: рост или масса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4" name="Гипотиреоз: норма"/>
          <p:cNvSpPr/>
          <p:nvPr/>
        </p:nvSpPr>
        <p:spPr>
          <a:xfrm>
            <a:off x="808640" y="2029789"/>
            <a:ext cx="5087187" cy="629601"/>
          </a:xfrm>
          <a:custGeom>
            <a:avLst/>
            <a:gdLst/>
            <a:ahLst/>
            <a:cxnLst/>
            <a:rect l="l" t="t" r="r" b="b"/>
            <a:pathLst>
              <a:path w="5087187" h="629601">
                <a:moveTo>
                  <a:pt x="0" y="0"/>
                </a:moveTo>
                <a:lnTo>
                  <a:pt x="5087187" y="0"/>
                </a:lnTo>
                <a:lnTo>
                  <a:pt x="5087187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Гипотиреоз: 0"/>
          <p:cNvSpPr/>
          <p:nvPr/>
        </p:nvSpPr>
        <p:spPr>
          <a:xfrm>
            <a:off x="808640" y="2344590"/>
            <a:ext cx="5087187" cy="0"/>
          </a:xfrm>
          <a:custGeom>
            <a:avLst/>
            <a:gdLst/>
            <a:ahLst/>
            <a:cxnLst/>
            <a:rect l="l" t="t" r="r" b="b"/>
            <a:pathLst>
              <a:path w="5087187" h="0">
                <a:moveTo>
                  <a:pt x="0" y="0"/>
                </a:moveTo>
                <a:lnTo>
                  <a:pt x="508718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9948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459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969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9" name="Гипотиреоз: масса"/>
          <p:cNvSpPr/>
          <p:nvPr/>
        </p:nvSpPr>
        <p:spPr>
          <a:xfrm>
            <a:off x="808640" y="2260866"/>
            <a:ext cx="5087187" cy="83724"/>
          </a:xfrm>
          <a:custGeom>
            <a:avLst/>
            <a:gdLst/>
            <a:ahLst/>
            <a:cxnLst/>
            <a:rect l="l" t="t" r="r" b="b"/>
            <a:pathLst>
              <a:path w="5087187" h="83724">
                <a:moveTo>
                  <a:pt x="0" y="83724"/>
                </a:moveTo>
                <a:lnTo>
                  <a:pt x="152615" y="82049"/>
                </a:lnTo>
                <a:lnTo>
                  <a:pt x="305231" y="80375"/>
                </a:lnTo>
                <a:lnTo>
                  <a:pt x="457846" y="78700"/>
                </a:lnTo>
                <a:lnTo>
                  <a:pt x="610462" y="77026"/>
                </a:lnTo>
                <a:lnTo>
                  <a:pt x="763078" y="75351"/>
                </a:lnTo>
                <a:lnTo>
                  <a:pt x="915693" y="73677"/>
                </a:lnTo>
                <a:lnTo>
                  <a:pt x="1068309" y="72002"/>
                </a:lnTo>
                <a:lnTo>
                  <a:pt x="1220925" y="70328"/>
                </a:lnTo>
                <a:lnTo>
                  <a:pt x="1373540" y="68653"/>
                </a:lnTo>
                <a:lnTo>
                  <a:pt x="1526156" y="66979"/>
                </a:lnTo>
                <a:lnTo>
                  <a:pt x="1678771" y="63630"/>
                </a:lnTo>
                <a:lnTo>
                  <a:pt x="1831387" y="60281"/>
                </a:lnTo>
                <a:lnTo>
                  <a:pt x="1984003" y="56932"/>
                </a:lnTo>
                <a:lnTo>
                  <a:pt x="2136618" y="53583"/>
                </a:lnTo>
                <a:lnTo>
                  <a:pt x="2289234" y="50234"/>
                </a:lnTo>
                <a:lnTo>
                  <a:pt x="2441850" y="46885"/>
                </a:lnTo>
                <a:lnTo>
                  <a:pt x="2594465" y="43536"/>
                </a:lnTo>
                <a:lnTo>
                  <a:pt x="2747081" y="40187"/>
                </a:lnTo>
                <a:lnTo>
                  <a:pt x="2899696" y="36838"/>
                </a:lnTo>
                <a:lnTo>
                  <a:pt x="3052312" y="33489"/>
                </a:lnTo>
                <a:lnTo>
                  <a:pt x="3255799" y="30141"/>
                </a:lnTo>
                <a:lnTo>
                  <a:pt x="3459287" y="26792"/>
                </a:lnTo>
                <a:lnTo>
                  <a:pt x="3662775" y="23443"/>
                </a:lnTo>
                <a:lnTo>
                  <a:pt x="3866262" y="20094"/>
                </a:lnTo>
                <a:lnTo>
                  <a:pt x="4069750" y="16745"/>
                </a:lnTo>
                <a:lnTo>
                  <a:pt x="4273237" y="13396"/>
                </a:lnTo>
                <a:lnTo>
                  <a:pt x="4476725" y="10047"/>
                </a:lnTo>
                <a:lnTo>
                  <a:pt x="4680212" y="6698"/>
                </a:lnTo>
                <a:lnTo>
                  <a:pt x="4883700" y="3349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Гипотиреоз: рост"/>
          <p:cNvSpPr/>
          <p:nvPr/>
        </p:nvSpPr>
        <p:spPr>
          <a:xfrm>
            <a:off x="808640" y="2378079"/>
            <a:ext cx="5087187" cy="334894"/>
          </a:xfrm>
          <a:custGeom>
            <a:avLst/>
            <a:gdLst/>
            <a:ahLst/>
            <a:cxnLst/>
            <a:rect l="l" t="t" r="r" b="b"/>
            <a:pathLst>
              <a:path w="5087187" h="334894">
                <a:moveTo>
                  <a:pt x="0" y="0"/>
                </a:moveTo>
                <a:lnTo>
                  <a:pt x="152615" y="3349"/>
                </a:lnTo>
                <a:lnTo>
                  <a:pt x="305231" y="6698"/>
                </a:lnTo>
                <a:lnTo>
                  <a:pt x="457846" y="10047"/>
                </a:lnTo>
                <a:lnTo>
                  <a:pt x="610462" y="13396"/>
                </a:lnTo>
                <a:lnTo>
                  <a:pt x="763078" y="16745"/>
                </a:lnTo>
                <a:lnTo>
                  <a:pt x="915693" y="20094"/>
                </a:lnTo>
                <a:lnTo>
                  <a:pt x="1068309" y="23442"/>
                </a:lnTo>
                <a:lnTo>
                  <a:pt x="1220925" y="26791"/>
                </a:lnTo>
                <a:lnTo>
                  <a:pt x="1373540" y="30140"/>
                </a:lnTo>
                <a:lnTo>
                  <a:pt x="1526156" y="33489"/>
                </a:lnTo>
                <a:lnTo>
                  <a:pt x="1678771" y="46885"/>
                </a:lnTo>
                <a:lnTo>
                  <a:pt x="1831387" y="60281"/>
                </a:lnTo>
                <a:lnTo>
                  <a:pt x="1984003" y="73677"/>
                </a:lnTo>
                <a:lnTo>
                  <a:pt x="2136618" y="87072"/>
                </a:lnTo>
                <a:lnTo>
                  <a:pt x="2289234" y="100468"/>
                </a:lnTo>
                <a:lnTo>
                  <a:pt x="2441850" y="113864"/>
                </a:lnTo>
                <a:lnTo>
                  <a:pt x="2594465" y="127260"/>
                </a:lnTo>
                <a:lnTo>
                  <a:pt x="2747081" y="140655"/>
                </a:lnTo>
                <a:lnTo>
                  <a:pt x="2899696" y="154051"/>
                </a:lnTo>
                <a:lnTo>
                  <a:pt x="3052312" y="167447"/>
                </a:lnTo>
                <a:lnTo>
                  <a:pt x="3255799" y="184191"/>
                </a:lnTo>
                <a:lnTo>
                  <a:pt x="3459287" y="200936"/>
                </a:lnTo>
                <a:lnTo>
                  <a:pt x="3662775" y="217681"/>
                </a:lnTo>
                <a:lnTo>
                  <a:pt x="3866262" y="234426"/>
                </a:lnTo>
                <a:lnTo>
                  <a:pt x="4069750" y="251170"/>
                </a:lnTo>
                <a:lnTo>
                  <a:pt x="4273237" y="267915"/>
                </a:lnTo>
                <a:lnTo>
                  <a:pt x="4476725" y="284660"/>
                </a:lnTo>
                <a:lnTo>
                  <a:pt x="4680212" y="301404"/>
                </a:lnTo>
                <a:lnTo>
                  <a:pt x="4883700" y="318149"/>
                </a:lnTo>
                <a:lnTo>
                  <a:pt x="5087187" y="334894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640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5827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1042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стоит, масса прибавляет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150876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15" name="Гиперкортицизм: норма"/>
          <p:cNvSpPr/>
          <p:nvPr/>
        </p:nvSpPr>
        <p:spPr>
          <a:xfrm>
            <a:off x="6515867" y="2029789"/>
            <a:ext cx="5087188" cy="629601"/>
          </a:xfrm>
          <a:custGeom>
            <a:avLst/>
            <a:gdLst/>
            <a:ahLst/>
            <a:cxnLst/>
            <a:rect l="l" t="t" r="r" b="b"/>
            <a:pathLst>
              <a:path w="5087188" h="629601">
                <a:moveTo>
                  <a:pt x="0" y="0"/>
                </a:moveTo>
                <a:lnTo>
                  <a:pt x="5087188" y="0"/>
                </a:lnTo>
                <a:lnTo>
                  <a:pt x="5087188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Гиперкортицизм: 0"/>
          <p:cNvSpPr/>
          <p:nvPr/>
        </p:nvSpPr>
        <p:spPr>
          <a:xfrm>
            <a:off x="6515867" y="2344590"/>
            <a:ext cx="5087188" cy="0"/>
          </a:xfrm>
          <a:custGeom>
            <a:avLst/>
            <a:gdLst/>
            <a:ahLst/>
            <a:cxnLst/>
            <a:rect l="l" t="t" r="r" b="b"/>
            <a:pathLst>
              <a:path w="5087188" h="0">
                <a:moveTo>
                  <a:pt x="0" y="0"/>
                </a:moveTo>
                <a:lnTo>
                  <a:pt x="508718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259948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867" y="226459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867" y="192969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20" name="Гиперкортицизм: масса"/>
          <p:cNvSpPr/>
          <p:nvPr/>
        </p:nvSpPr>
        <p:spPr>
          <a:xfrm>
            <a:off x="6515867" y="1909228"/>
            <a:ext cx="5087188" cy="385127"/>
          </a:xfrm>
          <a:custGeom>
            <a:avLst/>
            <a:gdLst/>
            <a:ahLst/>
            <a:cxnLst/>
            <a:rect l="l" t="t" r="r" b="b"/>
            <a:pathLst>
              <a:path w="5087188" h="385127">
                <a:moveTo>
                  <a:pt x="0" y="385127"/>
                </a:moveTo>
                <a:lnTo>
                  <a:pt x="152616" y="376755"/>
                </a:lnTo>
                <a:lnTo>
                  <a:pt x="305231" y="368383"/>
                </a:lnTo>
                <a:lnTo>
                  <a:pt x="457847" y="360010"/>
                </a:lnTo>
                <a:lnTo>
                  <a:pt x="610463" y="351638"/>
                </a:lnTo>
                <a:lnTo>
                  <a:pt x="763078" y="343266"/>
                </a:lnTo>
                <a:lnTo>
                  <a:pt x="915694" y="334893"/>
                </a:lnTo>
                <a:lnTo>
                  <a:pt x="1068309" y="326521"/>
                </a:lnTo>
                <a:lnTo>
                  <a:pt x="1220925" y="318149"/>
                </a:lnTo>
                <a:lnTo>
                  <a:pt x="1373541" y="309776"/>
                </a:lnTo>
                <a:lnTo>
                  <a:pt x="1526156" y="301404"/>
                </a:lnTo>
                <a:lnTo>
                  <a:pt x="1678772" y="282985"/>
                </a:lnTo>
                <a:lnTo>
                  <a:pt x="1831388" y="264566"/>
                </a:lnTo>
                <a:lnTo>
                  <a:pt x="1984003" y="246147"/>
                </a:lnTo>
                <a:lnTo>
                  <a:pt x="2136619" y="227727"/>
                </a:lnTo>
                <a:lnTo>
                  <a:pt x="2289234" y="209308"/>
                </a:lnTo>
                <a:lnTo>
                  <a:pt x="2441850" y="190889"/>
                </a:lnTo>
                <a:lnTo>
                  <a:pt x="2594466" y="172470"/>
                </a:lnTo>
                <a:lnTo>
                  <a:pt x="2747081" y="154051"/>
                </a:lnTo>
                <a:lnTo>
                  <a:pt x="2899697" y="135632"/>
                </a:lnTo>
                <a:lnTo>
                  <a:pt x="3052313" y="117212"/>
                </a:lnTo>
                <a:lnTo>
                  <a:pt x="3255800" y="105491"/>
                </a:lnTo>
                <a:lnTo>
                  <a:pt x="3459288" y="93770"/>
                </a:lnTo>
                <a:lnTo>
                  <a:pt x="3662775" y="82049"/>
                </a:lnTo>
                <a:lnTo>
                  <a:pt x="3866263" y="70327"/>
                </a:lnTo>
                <a:lnTo>
                  <a:pt x="4069750" y="58606"/>
                </a:lnTo>
                <a:lnTo>
                  <a:pt x="4273238" y="46885"/>
                </a:lnTo>
                <a:lnTo>
                  <a:pt x="4476725" y="35163"/>
                </a:lnTo>
                <a:lnTo>
                  <a:pt x="4680213" y="23442"/>
                </a:lnTo>
                <a:lnTo>
                  <a:pt x="4883700" y="11721"/>
                </a:lnTo>
                <a:lnTo>
                  <a:pt x="508718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Гиперкортицизм: рост"/>
          <p:cNvSpPr/>
          <p:nvPr/>
        </p:nvSpPr>
        <p:spPr>
          <a:xfrm>
            <a:off x="6515867" y="2294355"/>
            <a:ext cx="5087188" cy="351639"/>
          </a:xfrm>
          <a:custGeom>
            <a:avLst/>
            <a:gdLst/>
            <a:ahLst/>
            <a:cxnLst/>
            <a:rect l="l" t="t" r="r" b="b"/>
            <a:pathLst>
              <a:path w="5087188" h="351639">
                <a:moveTo>
                  <a:pt x="0" y="0"/>
                </a:moveTo>
                <a:lnTo>
                  <a:pt x="152616" y="1675"/>
                </a:lnTo>
                <a:lnTo>
                  <a:pt x="305231" y="3349"/>
                </a:lnTo>
                <a:lnTo>
                  <a:pt x="457847" y="5024"/>
                </a:lnTo>
                <a:lnTo>
                  <a:pt x="610463" y="6698"/>
                </a:lnTo>
                <a:lnTo>
                  <a:pt x="763078" y="8373"/>
                </a:lnTo>
                <a:lnTo>
                  <a:pt x="915694" y="10047"/>
                </a:lnTo>
                <a:lnTo>
                  <a:pt x="1068309" y="11722"/>
                </a:lnTo>
                <a:lnTo>
                  <a:pt x="1220925" y="13396"/>
                </a:lnTo>
                <a:lnTo>
                  <a:pt x="1373541" y="15071"/>
                </a:lnTo>
                <a:lnTo>
                  <a:pt x="1526156" y="16745"/>
                </a:lnTo>
                <a:lnTo>
                  <a:pt x="1678772" y="33490"/>
                </a:lnTo>
                <a:lnTo>
                  <a:pt x="1831388" y="50235"/>
                </a:lnTo>
                <a:lnTo>
                  <a:pt x="1984003" y="66979"/>
                </a:lnTo>
                <a:lnTo>
                  <a:pt x="2136619" y="83724"/>
                </a:lnTo>
                <a:lnTo>
                  <a:pt x="2289234" y="100469"/>
                </a:lnTo>
                <a:lnTo>
                  <a:pt x="2441850" y="117213"/>
                </a:lnTo>
                <a:lnTo>
                  <a:pt x="2594466" y="133958"/>
                </a:lnTo>
                <a:lnTo>
                  <a:pt x="2747081" y="150703"/>
                </a:lnTo>
                <a:lnTo>
                  <a:pt x="2899697" y="167447"/>
                </a:lnTo>
                <a:lnTo>
                  <a:pt x="3052313" y="184192"/>
                </a:lnTo>
                <a:lnTo>
                  <a:pt x="3255800" y="200937"/>
                </a:lnTo>
                <a:lnTo>
                  <a:pt x="3459288" y="217681"/>
                </a:lnTo>
                <a:lnTo>
                  <a:pt x="3662775" y="234426"/>
                </a:lnTo>
                <a:lnTo>
                  <a:pt x="3866263" y="251171"/>
                </a:lnTo>
                <a:lnTo>
                  <a:pt x="4069750" y="267915"/>
                </a:lnTo>
                <a:lnTo>
                  <a:pt x="4273238" y="284660"/>
                </a:lnTo>
                <a:lnTo>
                  <a:pt x="4476725" y="301405"/>
                </a:lnTo>
                <a:lnTo>
                  <a:pt x="4680213" y="318150"/>
                </a:lnTo>
                <a:lnTo>
                  <a:pt x="4883700" y="334894"/>
                </a:lnTo>
                <a:lnTo>
                  <a:pt x="5087188" y="351639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867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3055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11042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вниз, масса вверх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58902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Конституциональная задержка</a:t>
            </a:r>
          </a:p>
        </p:txBody>
      </p:sp>
      <p:sp>
        <p:nvSpPr>
          <p:cNvPr id="26" name="Конституциональная задержка: норма"/>
          <p:cNvSpPr/>
          <p:nvPr/>
        </p:nvSpPr>
        <p:spPr>
          <a:xfrm>
            <a:off x="808640" y="4110049"/>
            <a:ext cx="5087187" cy="629601"/>
          </a:xfrm>
          <a:custGeom>
            <a:avLst/>
            <a:gdLst/>
            <a:ahLst/>
            <a:cxnLst/>
            <a:rect l="l" t="t" r="r" b="b"/>
            <a:pathLst>
              <a:path w="5087187" h="629601">
                <a:moveTo>
                  <a:pt x="0" y="0"/>
                </a:moveTo>
                <a:lnTo>
                  <a:pt x="5087187" y="0"/>
                </a:lnTo>
                <a:lnTo>
                  <a:pt x="5087187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онституциональная задержка: 0"/>
          <p:cNvSpPr/>
          <p:nvPr/>
        </p:nvSpPr>
        <p:spPr>
          <a:xfrm>
            <a:off x="808640" y="4424850"/>
            <a:ext cx="5087187" cy="0"/>
          </a:xfrm>
          <a:custGeom>
            <a:avLst/>
            <a:gdLst/>
            <a:ahLst/>
            <a:cxnLst/>
            <a:rect l="l" t="t" r="r" b="b"/>
            <a:pathLst>
              <a:path w="5087187" h="0">
                <a:moveTo>
                  <a:pt x="0" y="0"/>
                </a:moveTo>
                <a:lnTo>
                  <a:pt x="508718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7974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4485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00995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31" name="Конституциональная задержка: масса"/>
          <p:cNvSpPr/>
          <p:nvPr/>
        </p:nvSpPr>
        <p:spPr>
          <a:xfrm>
            <a:off x="808640" y="4508573"/>
            <a:ext cx="5087187" cy="234426"/>
          </a:xfrm>
          <a:custGeom>
            <a:avLst/>
            <a:gdLst/>
            <a:ahLst/>
            <a:cxnLst/>
            <a:rect l="l" t="t" r="r" b="b"/>
            <a:pathLst>
              <a:path w="5087187" h="234426">
                <a:moveTo>
                  <a:pt x="0" y="50234"/>
                </a:moveTo>
                <a:lnTo>
                  <a:pt x="152615" y="53583"/>
                </a:lnTo>
                <a:lnTo>
                  <a:pt x="305231" y="56932"/>
                </a:lnTo>
                <a:lnTo>
                  <a:pt x="457846" y="60281"/>
                </a:lnTo>
                <a:lnTo>
                  <a:pt x="610462" y="63630"/>
                </a:lnTo>
                <a:lnTo>
                  <a:pt x="763078" y="66979"/>
                </a:lnTo>
                <a:lnTo>
                  <a:pt x="915693" y="70328"/>
                </a:lnTo>
                <a:lnTo>
                  <a:pt x="1068309" y="73677"/>
                </a:lnTo>
                <a:lnTo>
                  <a:pt x="1220925" y="77026"/>
                </a:lnTo>
                <a:lnTo>
                  <a:pt x="1373540" y="80374"/>
                </a:lnTo>
                <a:lnTo>
                  <a:pt x="1526156" y="83723"/>
                </a:lnTo>
                <a:lnTo>
                  <a:pt x="1627900" y="95445"/>
                </a:lnTo>
                <a:lnTo>
                  <a:pt x="1729643" y="107166"/>
                </a:lnTo>
                <a:lnTo>
                  <a:pt x="1831387" y="118887"/>
                </a:lnTo>
                <a:lnTo>
                  <a:pt x="1933131" y="130609"/>
                </a:lnTo>
                <a:lnTo>
                  <a:pt x="2034875" y="142330"/>
                </a:lnTo>
                <a:lnTo>
                  <a:pt x="2136618" y="154051"/>
                </a:lnTo>
                <a:lnTo>
                  <a:pt x="2238362" y="165772"/>
                </a:lnTo>
                <a:lnTo>
                  <a:pt x="2340106" y="177494"/>
                </a:lnTo>
                <a:lnTo>
                  <a:pt x="2441850" y="189215"/>
                </a:lnTo>
                <a:lnTo>
                  <a:pt x="2543593" y="200936"/>
                </a:lnTo>
                <a:lnTo>
                  <a:pt x="2594465" y="204285"/>
                </a:lnTo>
                <a:lnTo>
                  <a:pt x="2645337" y="207634"/>
                </a:lnTo>
                <a:lnTo>
                  <a:pt x="2696209" y="210983"/>
                </a:lnTo>
                <a:lnTo>
                  <a:pt x="2747081" y="214332"/>
                </a:lnTo>
                <a:lnTo>
                  <a:pt x="2797953" y="217681"/>
                </a:lnTo>
                <a:lnTo>
                  <a:pt x="2848824" y="221030"/>
                </a:lnTo>
                <a:lnTo>
                  <a:pt x="2899696" y="224379"/>
                </a:lnTo>
                <a:lnTo>
                  <a:pt x="2950568" y="227728"/>
                </a:lnTo>
                <a:lnTo>
                  <a:pt x="3001440" y="231077"/>
                </a:lnTo>
                <a:lnTo>
                  <a:pt x="3052312" y="234426"/>
                </a:lnTo>
                <a:lnTo>
                  <a:pt x="3154056" y="221030"/>
                </a:lnTo>
                <a:lnTo>
                  <a:pt x="3255800" y="207634"/>
                </a:lnTo>
                <a:lnTo>
                  <a:pt x="3357543" y="194238"/>
                </a:lnTo>
                <a:lnTo>
                  <a:pt x="3459287" y="180843"/>
                </a:lnTo>
                <a:lnTo>
                  <a:pt x="3561031" y="167447"/>
                </a:lnTo>
                <a:lnTo>
                  <a:pt x="3662775" y="154051"/>
                </a:lnTo>
                <a:lnTo>
                  <a:pt x="3764518" y="140655"/>
                </a:lnTo>
                <a:lnTo>
                  <a:pt x="3866262" y="127260"/>
                </a:lnTo>
                <a:lnTo>
                  <a:pt x="3968006" y="113864"/>
                </a:lnTo>
                <a:lnTo>
                  <a:pt x="4069750" y="100468"/>
                </a:lnTo>
                <a:lnTo>
                  <a:pt x="4171493" y="90421"/>
                </a:lnTo>
                <a:lnTo>
                  <a:pt x="4273237" y="80374"/>
                </a:lnTo>
                <a:lnTo>
                  <a:pt x="4374981" y="70328"/>
                </a:lnTo>
                <a:lnTo>
                  <a:pt x="4476725" y="60281"/>
                </a:lnTo>
                <a:lnTo>
                  <a:pt x="4578468" y="50234"/>
                </a:lnTo>
                <a:lnTo>
                  <a:pt x="4680212" y="40187"/>
                </a:lnTo>
                <a:lnTo>
                  <a:pt x="4781956" y="30140"/>
                </a:lnTo>
                <a:lnTo>
                  <a:pt x="4883700" y="20094"/>
                </a:lnTo>
                <a:lnTo>
                  <a:pt x="4985443" y="10047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онституциональная задержка: рост"/>
          <p:cNvSpPr/>
          <p:nvPr/>
        </p:nvSpPr>
        <p:spPr>
          <a:xfrm>
            <a:off x="808640" y="4542062"/>
            <a:ext cx="5087187" cy="251171"/>
          </a:xfrm>
          <a:custGeom>
            <a:avLst/>
            <a:gdLst/>
            <a:ahLst/>
            <a:cxnLst/>
            <a:rect l="l" t="t" r="r" b="b"/>
            <a:pathLst>
              <a:path w="5087187" h="251171">
                <a:moveTo>
                  <a:pt x="0" y="50234"/>
                </a:moveTo>
                <a:lnTo>
                  <a:pt x="152615" y="53583"/>
                </a:lnTo>
                <a:lnTo>
                  <a:pt x="305231" y="56932"/>
                </a:lnTo>
                <a:lnTo>
                  <a:pt x="457846" y="60281"/>
                </a:lnTo>
                <a:lnTo>
                  <a:pt x="610462" y="63630"/>
                </a:lnTo>
                <a:lnTo>
                  <a:pt x="763078" y="66979"/>
                </a:lnTo>
                <a:lnTo>
                  <a:pt x="915693" y="70328"/>
                </a:lnTo>
                <a:lnTo>
                  <a:pt x="1068309" y="73677"/>
                </a:lnTo>
                <a:lnTo>
                  <a:pt x="1220925" y="77026"/>
                </a:lnTo>
                <a:lnTo>
                  <a:pt x="1373540" y="80375"/>
                </a:lnTo>
                <a:lnTo>
                  <a:pt x="1526156" y="83724"/>
                </a:lnTo>
                <a:lnTo>
                  <a:pt x="1627900" y="97120"/>
                </a:lnTo>
                <a:lnTo>
                  <a:pt x="1729643" y="110515"/>
                </a:lnTo>
                <a:lnTo>
                  <a:pt x="1831387" y="123911"/>
                </a:lnTo>
                <a:lnTo>
                  <a:pt x="1933131" y="137307"/>
                </a:lnTo>
                <a:lnTo>
                  <a:pt x="2034875" y="150703"/>
                </a:lnTo>
                <a:lnTo>
                  <a:pt x="2136618" y="164098"/>
                </a:lnTo>
                <a:lnTo>
                  <a:pt x="2238362" y="177494"/>
                </a:lnTo>
                <a:lnTo>
                  <a:pt x="2340106" y="190890"/>
                </a:lnTo>
                <a:lnTo>
                  <a:pt x="2441850" y="204286"/>
                </a:lnTo>
                <a:lnTo>
                  <a:pt x="2543593" y="217681"/>
                </a:lnTo>
                <a:lnTo>
                  <a:pt x="2594465" y="221030"/>
                </a:lnTo>
                <a:lnTo>
                  <a:pt x="2645337" y="224379"/>
                </a:lnTo>
                <a:lnTo>
                  <a:pt x="2696209" y="227728"/>
                </a:lnTo>
                <a:lnTo>
                  <a:pt x="2747081" y="231077"/>
                </a:lnTo>
                <a:lnTo>
                  <a:pt x="2797953" y="234426"/>
                </a:lnTo>
                <a:lnTo>
                  <a:pt x="2848824" y="237775"/>
                </a:lnTo>
                <a:lnTo>
                  <a:pt x="2899696" y="241124"/>
                </a:lnTo>
                <a:lnTo>
                  <a:pt x="2950568" y="244473"/>
                </a:lnTo>
                <a:lnTo>
                  <a:pt x="3001440" y="247822"/>
                </a:lnTo>
                <a:lnTo>
                  <a:pt x="3052312" y="251171"/>
                </a:lnTo>
                <a:lnTo>
                  <a:pt x="3154056" y="236100"/>
                </a:lnTo>
                <a:lnTo>
                  <a:pt x="3255800" y="221030"/>
                </a:lnTo>
                <a:lnTo>
                  <a:pt x="3357543" y="205960"/>
                </a:lnTo>
                <a:lnTo>
                  <a:pt x="3459287" y="190890"/>
                </a:lnTo>
                <a:lnTo>
                  <a:pt x="3561031" y="175820"/>
                </a:lnTo>
                <a:lnTo>
                  <a:pt x="3662775" y="160749"/>
                </a:lnTo>
                <a:lnTo>
                  <a:pt x="3764518" y="145679"/>
                </a:lnTo>
                <a:lnTo>
                  <a:pt x="3866262" y="130609"/>
                </a:lnTo>
                <a:lnTo>
                  <a:pt x="3968006" y="115539"/>
                </a:lnTo>
                <a:lnTo>
                  <a:pt x="4069750" y="100468"/>
                </a:lnTo>
                <a:lnTo>
                  <a:pt x="4171493" y="90422"/>
                </a:lnTo>
                <a:lnTo>
                  <a:pt x="4273237" y="80375"/>
                </a:lnTo>
                <a:lnTo>
                  <a:pt x="4374981" y="70328"/>
                </a:lnTo>
                <a:lnTo>
                  <a:pt x="4476725" y="60281"/>
                </a:lnTo>
                <a:lnTo>
                  <a:pt x="4578468" y="50234"/>
                </a:lnTo>
                <a:lnTo>
                  <a:pt x="4680212" y="40188"/>
                </a:lnTo>
                <a:lnTo>
                  <a:pt x="4781956" y="30141"/>
                </a:lnTo>
                <a:lnTo>
                  <a:pt x="4883700" y="20094"/>
                </a:lnTo>
                <a:lnTo>
                  <a:pt x="4985443" y="10047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640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 лет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5827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 лет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9068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отставание и поздний скачок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5867" y="358902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Синдром Тернера</a:t>
            </a:r>
          </a:p>
        </p:txBody>
      </p:sp>
      <p:sp>
        <p:nvSpPr>
          <p:cNvPr id="37" name="Синдром Тернера: норма"/>
          <p:cNvSpPr/>
          <p:nvPr/>
        </p:nvSpPr>
        <p:spPr>
          <a:xfrm>
            <a:off x="6515867" y="4110049"/>
            <a:ext cx="5087188" cy="629601"/>
          </a:xfrm>
          <a:custGeom>
            <a:avLst/>
            <a:gdLst/>
            <a:ahLst/>
            <a:cxnLst/>
            <a:rect l="l" t="t" r="r" b="b"/>
            <a:pathLst>
              <a:path w="5087188" h="629601">
                <a:moveTo>
                  <a:pt x="0" y="0"/>
                </a:moveTo>
                <a:lnTo>
                  <a:pt x="5087188" y="0"/>
                </a:lnTo>
                <a:lnTo>
                  <a:pt x="5087188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Синдром Тернера: 0"/>
          <p:cNvSpPr/>
          <p:nvPr/>
        </p:nvSpPr>
        <p:spPr>
          <a:xfrm>
            <a:off x="6515867" y="4424850"/>
            <a:ext cx="5087188" cy="0"/>
          </a:xfrm>
          <a:custGeom>
            <a:avLst/>
            <a:gdLst/>
            <a:ahLst/>
            <a:cxnLst/>
            <a:rect l="l" t="t" r="r" b="b"/>
            <a:pathLst>
              <a:path w="5087188" h="0">
                <a:moveTo>
                  <a:pt x="0" y="0"/>
                </a:moveTo>
                <a:lnTo>
                  <a:pt x="508718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5867" y="467974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5867" y="434485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5867" y="400995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42" name="Синдром Тернера: масса"/>
          <p:cNvSpPr/>
          <p:nvPr/>
        </p:nvSpPr>
        <p:spPr>
          <a:xfrm>
            <a:off x="6515867" y="4475084"/>
            <a:ext cx="5087188" cy="16744"/>
          </a:xfrm>
          <a:custGeom>
            <a:avLst/>
            <a:gdLst/>
            <a:ahLst/>
            <a:cxnLst/>
            <a:rect l="l" t="t" r="r" b="b"/>
            <a:pathLst>
              <a:path w="5087188" h="16744">
                <a:moveTo>
                  <a:pt x="0" y="0"/>
                </a:moveTo>
                <a:lnTo>
                  <a:pt x="138741" y="1674"/>
                </a:lnTo>
                <a:lnTo>
                  <a:pt x="277483" y="3349"/>
                </a:lnTo>
                <a:lnTo>
                  <a:pt x="416224" y="5023"/>
                </a:lnTo>
                <a:lnTo>
                  <a:pt x="554966" y="6697"/>
                </a:lnTo>
                <a:lnTo>
                  <a:pt x="693707" y="8372"/>
                </a:lnTo>
                <a:lnTo>
                  <a:pt x="832449" y="10046"/>
                </a:lnTo>
                <a:lnTo>
                  <a:pt x="971190" y="11721"/>
                </a:lnTo>
                <a:lnTo>
                  <a:pt x="1109932" y="13395"/>
                </a:lnTo>
                <a:lnTo>
                  <a:pt x="1248673" y="15070"/>
                </a:lnTo>
                <a:lnTo>
                  <a:pt x="1387415" y="16744"/>
                </a:lnTo>
                <a:lnTo>
                  <a:pt x="1526156" y="16744"/>
                </a:lnTo>
                <a:lnTo>
                  <a:pt x="1664898" y="16744"/>
                </a:lnTo>
                <a:lnTo>
                  <a:pt x="1803639" y="16744"/>
                </a:lnTo>
                <a:lnTo>
                  <a:pt x="1942381" y="16744"/>
                </a:lnTo>
                <a:lnTo>
                  <a:pt x="2081122" y="16744"/>
                </a:lnTo>
                <a:lnTo>
                  <a:pt x="2219864" y="16744"/>
                </a:lnTo>
                <a:lnTo>
                  <a:pt x="2358605" y="16744"/>
                </a:lnTo>
                <a:lnTo>
                  <a:pt x="2497347" y="16744"/>
                </a:lnTo>
                <a:lnTo>
                  <a:pt x="2636088" y="16744"/>
                </a:lnTo>
                <a:lnTo>
                  <a:pt x="2774830" y="16744"/>
                </a:lnTo>
                <a:lnTo>
                  <a:pt x="2913571" y="15070"/>
                </a:lnTo>
                <a:lnTo>
                  <a:pt x="3052313" y="13395"/>
                </a:lnTo>
                <a:lnTo>
                  <a:pt x="3191054" y="11721"/>
                </a:lnTo>
                <a:lnTo>
                  <a:pt x="3329795" y="10046"/>
                </a:lnTo>
                <a:lnTo>
                  <a:pt x="3468537" y="8372"/>
                </a:lnTo>
                <a:lnTo>
                  <a:pt x="3607278" y="6697"/>
                </a:lnTo>
                <a:lnTo>
                  <a:pt x="3746020" y="5023"/>
                </a:lnTo>
                <a:lnTo>
                  <a:pt x="3884761" y="3349"/>
                </a:lnTo>
                <a:lnTo>
                  <a:pt x="4023503" y="1674"/>
                </a:lnTo>
                <a:lnTo>
                  <a:pt x="4162244" y="0"/>
                </a:lnTo>
                <a:lnTo>
                  <a:pt x="4254739" y="0"/>
                </a:lnTo>
                <a:lnTo>
                  <a:pt x="4347233" y="0"/>
                </a:lnTo>
                <a:lnTo>
                  <a:pt x="4439727" y="0"/>
                </a:lnTo>
                <a:lnTo>
                  <a:pt x="4532222" y="0"/>
                </a:lnTo>
                <a:lnTo>
                  <a:pt x="4624716" y="0"/>
                </a:lnTo>
                <a:lnTo>
                  <a:pt x="4717210" y="0"/>
                </a:lnTo>
                <a:lnTo>
                  <a:pt x="4809705" y="0"/>
                </a:lnTo>
                <a:lnTo>
                  <a:pt x="4902199" y="0"/>
                </a:lnTo>
                <a:lnTo>
                  <a:pt x="4994693" y="0"/>
                </a:lnTo>
                <a:lnTo>
                  <a:pt x="508718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Синдром Тернера: рост"/>
          <p:cNvSpPr/>
          <p:nvPr/>
        </p:nvSpPr>
        <p:spPr>
          <a:xfrm>
            <a:off x="6515867" y="4558807"/>
            <a:ext cx="5087188" cy="385128"/>
          </a:xfrm>
          <a:custGeom>
            <a:avLst/>
            <a:gdLst/>
            <a:ahLst/>
            <a:cxnLst/>
            <a:rect l="l" t="t" r="r" b="b"/>
            <a:pathLst>
              <a:path w="5087188" h="385128">
                <a:moveTo>
                  <a:pt x="0" y="0"/>
                </a:moveTo>
                <a:lnTo>
                  <a:pt x="138741" y="11721"/>
                </a:lnTo>
                <a:lnTo>
                  <a:pt x="277483" y="23443"/>
                </a:lnTo>
                <a:lnTo>
                  <a:pt x="416224" y="35164"/>
                </a:lnTo>
                <a:lnTo>
                  <a:pt x="554966" y="46885"/>
                </a:lnTo>
                <a:lnTo>
                  <a:pt x="693707" y="58606"/>
                </a:lnTo>
                <a:lnTo>
                  <a:pt x="832449" y="70328"/>
                </a:lnTo>
                <a:lnTo>
                  <a:pt x="971190" y="82049"/>
                </a:lnTo>
                <a:lnTo>
                  <a:pt x="1109932" y="93770"/>
                </a:lnTo>
                <a:lnTo>
                  <a:pt x="1248673" y="105492"/>
                </a:lnTo>
                <a:lnTo>
                  <a:pt x="1387415" y="117213"/>
                </a:lnTo>
                <a:lnTo>
                  <a:pt x="1526156" y="128934"/>
                </a:lnTo>
                <a:lnTo>
                  <a:pt x="1664898" y="140655"/>
                </a:lnTo>
                <a:lnTo>
                  <a:pt x="1803639" y="152377"/>
                </a:lnTo>
                <a:lnTo>
                  <a:pt x="1942381" y="164098"/>
                </a:lnTo>
                <a:lnTo>
                  <a:pt x="2081122" y="175819"/>
                </a:lnTo>
                <a:lnTo>
                  <a:pt x="2219864" y="187541"/>
                </a:lnTo>
                <a:lnTo>
                  <a:pt x="2358605" y="199262"/>
                </a:lnTo>
                <a:lnTo>
                  <a:pt x="2497347" y="210983"/>
                </a:lnTo>
                <a:lnTo>
                  <a:pt x="2636088" y="222704"/>
                </a:lnTo>
                <a:lnTo>
                  <a:pt x="2774830" y="234426"/>
                </a:lnTo>
                <a:lnTo>
                  <a:pt x="2913571" y="244472"/>
                </a:lnTo>
                <a:lnTo>
                  <a:pt x="3052313" y="254519"/>
                </a:lnTo>
                <a:lnTo>
                  <a:pt x="3191054" y="264566"/>
                </a:lnTo>
                <a:lnTo>
                  <a:pt x="3329795" y="274613"/>
                </a:lnTo>
                <a:lnTo>
                  <a:pt x="3468537" y="284660"/>
                </a:lnTo>
                <a:lnTo>
                  <a:pt x="3607278" y="294707"/>
                </a:lnTo>
                <a:lnTo>
                  <a:pt x="3746020" y="304753"/>
                </a:lnTo>
                <a:lnTo>
                  <a:pt x="3884761" y="314800"/>
                </a:lnTo>
                <a:lnTo>
                  <a:pt x="4023503" y="324847"/>
                </a:lnTo>
                <a:lnTo>
                  <a:pt x="4162244" y="334894"/>
                </a:lnTo>
                <a:lnTo>
                  <a:pt x="4254739" y="339917"/>
                </a:lnTo>
                <a:lnTo>
                  <a:pt x="4347233" y="344941"/>
                </a:lnTo>
                <a:lnTo>
                  <a:pt x="4439727" y="349964"/>
                </a:lnTo>
                <a:lnTo>
                  <a:pt x="4532222" y="354987"/>
                </a:lnTo>
                <a:lnTo>
                  <a:pt x="4624716" y="360011"/>
                </a:lnTo>
                <a:lnTo>
                  <a:pt x="4717210" y="365034"/>
                </a:lnTo>
                <a:lnTo>
                  <a:pt x="4809705" y="370058"/>
                </a:lnTo>
                <a:lnTo>
                  <a:pt x="4902199" y="375081"/>
                </a:lnTo>
                <a:lnTo>
                  <a:pt x="4994693" y="380104"/>
                </a:lnTo>
                <a:lnTo>
                  <a:pt x="5087188" y="385128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5867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2 лет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3055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 лет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5867" y="519068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постепенный уход вниз от центилей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559552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Легенда"/>
          <p:cNvSpPr txBox="1"/>
          <p:nvPr/>
        </p:nvSpPr>
        <p:spPr>
          <a:xfrm>
            <a:off x="8961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рост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5559552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Легенда"/>
          <p:cNvSpPr txBox="1"/>
          <p:nvPr/>
        </p:nvSpPr>
        <p:spPr>
          <a:xfrm>
            <a:off x="27249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масса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5559552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Легенда"/>
          <p:cNvSpPr txBox="1"/>
          <p:nvPr/>
        </p:nvSpPr>
        <p:spPr>
          <a:xfrm>
            <a:off x="45537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коридор нормы</a:t>
            </a:r>
          </a:p>
        </p:txBody>
      </p:sp>
      <p:sp>
        <p:nvSpPr>
          <p:cNvPr id="53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Одно измерение роста мало что говорит, решает скорость роста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Скорость роста меняется раньше, чем рост становится заметно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Рост в СО: число стандартных отклонений от средней для возраста и пола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Пересечение центилей вниз: рост в СО падает, ребёнок растёт медленнее сверстников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Порог низкорослости: −2 СО в 28 из 42 работ, центильный (чаще 3-й) в 19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Целевой рост: средний рост родителей, мальчикам плюс 6,5 см, девочкам минус 6,5 см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 (описание метода Таннера: среднее роста родителей ±6,5 см); Tanner JM et al. Arch Dis Child 1970;45:755–⁠62 (центильные таблицы с поправкой на рост родителей)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Костный возраст показывает запас роста, но причину не называет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Тяжёлый приобретённый гипотиреоз: отставание в среднем 5,2 года у девочек, 4,2 года у мальчиков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Конституциональная задержка роста и пубертата: костный возраст тоже отстаёт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Отставание бывает и у здоровых низкорослых детей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Persani L et al. Endocrine 2021;71:681–⁠8; Martin DD et al. Horm Res Paediatr 2011;76:1–⁠9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Кость растёт в длину в зоне роста, и каждая болезнь действует на своё звено</a:t>
            </a:r>
          </a:p>
        </p:txBody>
      </p:sp>
      <p:sp>
        <p:nvSpPr>
          <p:cNvPr id="3" name="Зона: Покоящийся хрящ"/>
          <p:cNvSpPr/>
          <p:nvPr/>
        </p:nvSpPr>
        <p:spPr>
          <a:xfrm>
            <a:off x="548640" y="1554480"/>
            <a:ext cx="2743200" cy="633679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Зона: Деление: клетки встают столбиками"/>
          <p:cNvSpPr/>
          <p:nvPr/>
        </p:nvSpPr>
        <p:spPr>
          <a:xfrm>
            <a:off x="548640" y="2188159"/>
            <a:ext cx="2743200" cy="1196949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Зона: Созревание: клетки крупнеют"/>
          <p:cNvSpPr/>
          <p:nvPr/>
        </p:nvSpPr>
        <p:spPr>
          <a:xfrm>
            <a:off x="548640" y="3385108"/>
            <a:ext cx="2743200" cy="915314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она: Хрящ замещается костью"/>
          <p:cNvSpPr/>
          <p:nvPr/>
        </p:nvSpPr>
        <p:spPr>
          <a:xfrm>
            <a:off x="548640" y="4300423"/>
            <a:ext cx="2743200" cy="774496"/>
          </a:xfrm>
          <a:prstGeom prst="rect">
            <a:avLst/>
          </a:prstGeom>
          <a:solidFill>
            <a:srgbClr val="EDE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Клетка"/>
          <p:cNvSpPr/>
          <p:nvPr/>
        </p:nvSpPr>
        <p:spPr>
          <a:xfrm>
            <a:off x="1440887" y="170012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Клетка"/>
          <p:cNvSpPr/>
          <p:nvPr/>
        </p:nvSpPr>
        <p:spPr>
          <a:xfrm>
            <a:off x="2203596" y="1671950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Клетка"/>
          <p:cNvSpPr/>
          <p:nvPr/>
        </p:nvSpPr>
        <p:spPr>
          <a:xfrm>
            <a:off x="1935326" y="1777333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Клетка"/>
          <p:cNvSpPr/>
          <p:nvPr/>
        </p:nvSpPr>
        <p:spPr>
          <a:xfrm>
            <a:off x="821037" y="1828271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Клетка"/>
          <p:cNvSpPr/>
          <p:nvPr/>
        </p:nvSpPr>
        <p:spPr>
          <a:xfrm>
            <a:off x="773229" y="1801754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Клетка"/>
          <p:cNvSpPr/>
          <p:nvPr/>
        </p:nvSpPr>
        <p:spPr>
          <a:xfrm>
            <a:off x="848683" y="1678518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Клетка"/>
          <p:cNvSpPr/>
          <p:nvPr/>
        </p:nvSpPr>
        <p:spPr>
          <a:xfrm>
            <a:off x="1675659" y="1943056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Клетка"/>
          <p:cNvSpPr/>
          <p:nvPr/>
        </p:nvSpPr>
        <p:spPr>
          <a:xfrm>
            <a:off x="974471" y="1726142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Клетка"/>
          <p:cNvSpPr/>
          <p:nvPr/>
        </p:nvSpPr>
        <p:spPr>
          <a:xfrm>
            <a:off x="2148798" y="1986487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Клетка"/>
          <p:cNvSpPr/>
          <p:nvPr/>
        </p:nvSpPr>
        <p:spPr>
          <a:xfrm>
            <a:off x="2031442" y="1788470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Клетка"/>
          <p:cNvSpPr/>
          <p:nvPr/>
        </p:nvSpPr>
        <p:spPr>
          <a:xfrm>
            <a:off x="2962153" y="166265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Клетка"/>
          <p:cNvSpPr/>
          <p:nvPr/>
        </p:nvSpPr>
        <p:spPr>
          <a:xfrm>
            <a:off x="2687508" y="1749993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Клетка"/>
          <p:cNvSpPr/>
          <p:nvPr/>
        </p:nvSpPr>
        <p:spPr>
          <a:xfrm>
            <a:off x="1022162" y="168824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Клетка"/>
          <p:cNvSpPr/>
          <p:nvPr/>
        </p:nvSpPr>
        <p:spPr>
          <a:xfrm>
            <a:off x="1405093" y="1939202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Клетка"/>
          <p:cNvSpPr/>
          <p:nvPr/>
        </p:nvSpPr>
        <p:spPr>
          <a:xfrm>
            <a:off x="676656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Клетка"/>
          <p:cNvSpPr/>
          <p:nvPr/>
        </p:nvSpPr>
        <p:spPr>
          <a:xfrm>
            <a:off x="676656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Клетка"/>
          <p:cNvSpPr/>
          <p:nvPr/>
        </p:nvSpPr>
        <p:spPr>
          <a:xfrm>
            <a:off x="676656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Клетка"/>
          <p:cNvSpPr/>
          <p:nvPr/>
        </p:nvSpPr>
        <p:spPr>
          <a:xfrm>
            <a:off x="676656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Клетка"/>
          <p:cNvSpPr/>
          <p:nvPr/>
        </p:nvSpPr>
        <p:spPr>
          <a:xfrm>
            <a:off x="676656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Клетка"/>
          <p:cNvSpPr/>
          <p:nvPr/>
        </p:nvSpPr>
        <p:spPr>
          <a:xfrm>
            <a:off x="676656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летка"/>
          <p:cNvSpPr/>
          <p:nvPr/>
        </p:nvSpPr>
        <p:spPr>
          <a:xfrm>
            <a:off x="676656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Клетка"/>
          <p:cNvSpPr/>
          <p:nvPr/>
        </p:nvSpPr>
        <p:spPr>
          <a:xfrm>
            <a:off x="676656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Клетка"/>
          <p:cNvSpPr/>
          <p:nvPr/>
        </p:nvSpPr>
        <p:spPr>
          <a:xfrm>
            <a:off x="676656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Клетка"/>
          <p:cNvSpPr/>
          <p:nvPr/>
        </p:nvSpPr>
        <p:spPr>
          <a:xfrm>
            <a:off x="676656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Клетка"/>
          <p:cNvSpPr/>
          <p:nvPr/>
        </p:nvSpPr>
        <p:spPr>
          <a:xfrm>
            <a:off x="103196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летка"/>
          <p:cNvSpPr/>
          <p:nvPr/>
        </p:nvSpPr>
        <p:spPr>
          <a:xfrm>
            <a:off x="103196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Клетка"/>
          <p:cNvSpPr/>
          <p:nvPr/>
        </p:nvSpPr>
        <p:spPr>
          <a:xfrm>
            <a:off x="103196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Клетка"/>
          <p:cNvSpPr/>
          <p:nvPr/>
        </p:nvSpPr>
        <p:spPr>
          <a:xfrm>
            <a:off x="103196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Клетка"/>
          <p:cNvSpPr/>
          <p:nvPr/>
        </p:nvSpPr>
        <p:spPr>
          <a:xfrm>
            <a:off x="103196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Клетка"/>
          <p:cNvSpPr/>
          <p:nvPr/>
        </p:nvSpPr>
        <p:spPr>
          <a:xfrm>
            <a:off x="103196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Клетка"/>
          <p:cNvSpPr/>
          <p:nvPr/>
        </p:nvSpPr>
        <p:spPr>
          <a:xfrm>
            <a:off x="103196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Клетка"/>
          <p:cNvSpPr/>
          <p:nvPr/>
        </p:nvSpPr>
        <p:spPr>
          <a:xfrm>
            <a:off x="103196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Клетка"/>
          <p:cNvSpPr/>
          <p:nvPr/>
        </p:nvSpPr>
        <p:spPr>
          <a:xfrm>
            <a:off x="103196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Клетка"/>
          <p:cNvSpPr/>
          <p:nvPr/>
        </p:nvSpPr>
        <p:spPr>
          <a:xfrm>
            <a:off x="103196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Клетка"/>
          <p:cNvSpPr/>
          <p:nvPr/>
        </p:nvSpPr>
        <p:spPr>
          <a:xfrm>
            <a:off x="138727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Клетка"/>
          <p:cNvSpPr/>
          <p:nvPr/>
        </p:nvSpPr>
        <p:spPr>
          <a:xfrm>
            <a:off x="138727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Клетка"/>
          <p:cNvSpPr/>
          <p:nvPr/>
        </p:nvSpPr>
        <p:spPr>
          <a:xfrm>
            <a:off x="138727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Клетка"/>
          <p:cNvSpPr/>
          <p:nvPr/>
        </p:nvSpPr>
        <p:spPr>
          <a:xfrm>
            <a:off x="138727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Клетка"/>
          <p:cNvSpPr/>
          <p:nvPr/>
        </p:nvSpPr>
        <p:spPr>
          <a:xfrm>
            <a:off x="138727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Клетка"/>
          <p:cNvSpPr/>
          <p:nvPr/>
        </p:nvSpPr>
        <p:spPr>
          <a:xfrm>
            <a:off x="138727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Клетка"/>
          <p:cNvSpPr/>
          <p:nvPr/>
        </p:nvSpPr>
        <p:spPr>
          <a:xfrm>
            <a:off x="138727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Клетка"/>
          <p:cNvSpPr/>
          <p:nvPr/>
        </p:nvSpPr>
        <p:spPr>
          <a:xfrm>
            <a:off x="138727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Клетка"/>
          <p:cNvSpPr/>
          <p:nvPr/>
        </p:nvSpPr>
        <p:spPr>
          <a:xfrm>
            <a:off x="138727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Клетка"/>
          <p:cNvSpPr/>
          <p:nvPr/>
        </p:nvSpPr>
        <p:spPr>
          <a:xfrm>
            <a:off x="138727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Клетка"/>
          <p:cNvSpPr/>
          <p:nvPr/>
        </p:nvSpPr>
        <p:spPr>
          <a:xfrm>
            <a:off x="174258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Клетка"/>
          <p:cNvSpPr/>
          <p:nvPr/>
        </p:nvSpPr>
        <p:spPr>
          <a:xfrm>
            <a:off x="174258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Клетка"/>
          <p:cNvSpPr/>
          <p:nvPr/>
        </p:nvSpPr>
        <p:spPr>
          <a:xfrm>
            <a:off x="174258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Клетка"/>
          <p:cNvSpPr/>
          <p:nvPr/>
        </p:nvSpPr>
        <p:spPr>
          <a:xfrm>
            <a:off x="174258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Клетка"/>
          <p:cNvSpPr/>
          <p:nvPr/>
        </p:nvSpPr>
        <p:spPr>
          <a:xfrm>
            <a:off x="174258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Клетка"/>
          <p:cNvSpPr/>
          <p:nvPr/>
        </p:nvSpPr>
        <p:spPr>
          <a:xfrm>
            <a:off x="174258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Клетка"/>
          <p:cNvSpPr/>
          <p:nvPr/>
        </p:nvSpPr>
        <p:spPr>
          <a:xfrm>
            <a:off x="174258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Клетка"/>
          <p:cNvSpPr/>
          <p:nvPr/>
        </p:nvSpPr>
        <p:spPr>
          <a:xfrm>
            <a:off x="174258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Клетка"/>
          <p:cNvSpPr/>
          <p:nvPr/>
        </p:nvSpPr>
        <p:spPr>
          <a:xfrm>
            <a:off x="174258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Клетка"/>
          <p:cNvSpPr/>
          <p:nvPr/>
        </p:nvSpPr>
        <p:spPr>
          <a:xfrm>
            <a:off x="174258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Клетка"/>
          <p:cNvSpPr/>
          <p:nvPr/>
        </p:nvSpPr>
        <p:spPr>
          <a:xfrm>
            <a:off x="209789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Клетка"/>
          <p:cNvSpPr/>
          <p:nvPr/>
        </p:nvSpPr>
        <p:spPr>
          <a:xfrm>
            <a:off x="209789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Клетка"/>
          <p:cNvSpPr/>
          <p:nvPr/>
        </p:nvSpPr>
        <p:spPr>
          <a:xfrm>
            <a:off x="209789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Клетка"/>
          <p:cNvSpPr/>
          <p:nvPr/>
        </p:nvSpPr>
        <p:spPr>
          <a:xfrm>
            <a:off x="209789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Клетка"/>
          <p:cNvSpPr/>
          <p:nvPr/>
        </p:nvSpPr>
        <p:spPr>
          <a:xfrm>
            <a:off x="209789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Клетка"/>
          <p:cNvSpPr/>
          <p:nvPr/>
        </p:nvSpPr>
        <p:spPr>
          <a:xfrm>
            <a:off x="209789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Клетка"/>
          <p:cNvSpPr/>
          <p:nvPr/>
        </p:nvSpPr>
        <p:spPr>
          <a:xfrm>
            <a:off x="209789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Клетка"/>
          <p:cNvSpPr/>
          <p:nvPr/>
        </p:nvSpPr>
        <p:spPr>
          <a:xfrm>
            <a:off x="209789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Клетка"/>
          <p:cNvSpPr/>
          <p:nvPr/>
        </p:nvSpPr>
        <p:spPr>
          <a:xfrm>
            <a:off x="209789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Клетка"/>
          <p:cNvSpPr/>
          <p:nvPr/>
        </p:nvSpPr>
        <p:spPr>
          <a:xfrm>
            <a:off x="209789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Клетка"/>
          <p:cNvSpPr/>
          <p:nvPr/>
        </p:nvSpPr>
        <p:spPr>
          <a:xfrm>
            <a:off x="245320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Клетка"/>
          <p:cNvSpPr/>
          <p:nvPr/>
        </p:nvSpPr>
        <p:spPr>
          <a:xfrm>
            <a:off x="245320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Клетка"/>
          <p:cNvSpPr/>
          <p:nvPr/>
        </p:nvSpPr>
        <p:spPr>
          <a:xfrm>
            <a:off x="245320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Клетка"/>
          <p:cNvSpPr/>
          <p:nvPr/>
        </p:nvSpPr>
        <p:spPr>
          <a:xfrm>
            <a:off x="245320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Клетка"/>
          <p:cNvSpPr/>
          <p:nvPr/>
        </p:nvSpPr>
        <p:spPr>
          <a:xfrm>
            <a:off x="245320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Клетка"/>
          <p:cNvSpPr/>
          <p:nvPr/>
        </p:nvSpPr>
        <p:spPr>
          <a:xfrm>
            <a:off x="245320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Клетка"/>
          <p:cNvSpPr/>
          <p:nvPr/>
        </p:nvSpPr>
        <p:spPr>
          <a:xfrm>
            <a:off x="245320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Клетка"/>
          <p:cNvSpPr/>
          <p:nvPr/>
        </p:nvSpPr>
        <p:spPr>
          <a:xfrm>
            <a:off x="245320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Клетка"/>
          <p:cNvSpPr/>
          <p:nvPr/>
        </p:nvSpPr>
        <p:spPr>
          <a:xfrm>
            <a:off x="245320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Клетка"/>
          <p:cNvSpPr/>
          <p:nvPr/>
        </p:nvSpPr>
        <p:spPr>
          <a:xfrm>
            <a:off x="245320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Клетка"/>
          <p:cNvSpPr/>
          <p:nvPr/>
        </p:nvSpPr>
        <p:spPr>
          <a:xfrm>
            <a:off x="280851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Клетка"/>
          <p:cNvSpPr/>
          <p:nvPr/>
        </p:nvSpPr>
        <p:spPr>
          <a:xfrm>
            <a:off x="280851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Клетка"/>
          <p:cNvSpPr/>
          <p:nvPr/>
        </p:nvSpPr>
        <p:spPr>
          <a:xfrm>
            <a:off x="280851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Клетка"/>
          <p:cNvSpPr/>
          <p:nvPr/>
        </p:nvSpPr>
        <p:spPr>
          <a:xfrm>
            <a:off x="280851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Клетка"/>
          <p:cNvSpPr/>
          <p:nvPr/>
        </p:nvSpPr>
        <p:spPr>
          <a:xfrm>
            <a:off x="280851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Клетка"/>
          <p:cNvSpPr/>
          <p:nvPr/>
        </p:nvSpPr>
        <p:spPr>
          <a:xfrm>
            <a:off x="280851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Клетка"/>
          <p:cNvSpPr/>
          <p:nvPr/>
        </p:nvSpPr>
        <p:spPr>
          <a:xfrm>
            <a:off x="280851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Клетка"/>
          <p:cNvSpPr/>
          <p:nvPr/>
        </p:nvSpPr>
        <p:spPr>
          <a:xfrm>
            <a:off x="280851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Клетка"/>
          <p:cNvSpPr/>
          <p:nvPr/>
        </p:nvSpPr>
        <p:spPr>
          <a:xfrm>
            <a:off x="280851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Клетка"/>
          <p:cNvSpPr/>
          <p:nvPr/>
        </p:nvSpPr>
        <p:spPr>
          <a:xfrm>
            <a:off x="280851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Клетка"/>
          <p:cNvSpPr/>
          <p:nvPr/>
        </p:nvSpPr>
        <p:spPr>
          <a:xfrm>
            <a:off x="658368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Клетка"/>
          <p:cNvSpPr/>
          <p:nvPr/>
        </p:nvSpPr>
        <p:spPr>
          <a:xfrm>
            <a:off x="658368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Клетка"/>
          <p:cNvSpPr/>
          <p:nvPr/>
        </p:nvSpPr>
        <p:spPr>
          <a:xfrm>
            <a:off x="101890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Клетка"/>
          <p:cNvSpPr/>
          <p:nvPr/>
        </p:nvSpPr>
        <p:spPr>
          <a:xfrm>
            <a:off x="101890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Клетка"/>
          <p:cNvSpPr/>
          <p:nvPr/>
        </p:nvSpPr>
        <p:spPr>
          <a:xfrm>
            <a:off x="137943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Клетка"/>
          <p:cNvSpPr/>
          <p:nvPr/>
        </p:nvSpPr>
        <p:spPr>
          <a:xfrm>
            <a:off x="137943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Клетка"/>
          <p:cNvSpPr/>
          <p:nvPr/>
        </p:nvSpPr>
        <p:spPr>
          <a:xfrm>
            <a:off x="173997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Клетка"/>
          <p:cNvSpPr/>
          <p:nvPr/>
        </p:nvSpPr>
        <p:spPr>
          <a:xfrm>
            <a:off x="173997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Клетка"/>
          <p:cNvSpPr/>
          <p:nvPr/>
        </p:nvSpPr>
        <p:spPr>
          <a:xfrm>
            <a:off x="210050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Клетка"/>
          <p:cNvSpPr/>
          <p:nvPr/>
        </p:nvSpPr>
        <p:spPr>
          <a:xfrm>
            <a:off x="210050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Клетка"/>
          <p:cNvSpPr/>
          <p:nvPr/>
        </p:nvSpPr>
        <p:spPr>
          <a:xfrm>
            <a:off x="246104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Клетка"/>
          <p:cNvSpPr/>
          <p:nvPr/>
        </p:nvSpPr>
        <p:spPr>
          <a:xfrm>
            <a:off x="246104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Клетка"/>
          <p:cNvSpPr/>
          <p:nvPr/>
        </p:nvSpPr>
        <p:spPr>
          <a:xfrm>
            <a:off x="282157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Клетка"/>
          <p:cNvSpPr/>
          <p:nvPr/>
        </p:nvSpPr>
        <p:spPr>
          <a:xfrm>
            <a:off x="282157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Кость"/>
          <p:cNvCxnSpPr/>
          <p:nvPr/>
        </p:nvCxnSpPr>
        <p:spPr>
          <a:xfrm>
            <a:off x="731520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Кость"/>
          <p:cNvCxnSpPr/>
          <p:nvPr/>
        </p:nvCxnSpPr>
        <p:spPr>
          <a:xfrm>
            <a:off x="1071154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Кость"/>
          <p:cNvCxnSpPr/>
          <p:nvPr/>
        </p:nvCxnSpPr>
        <p:spPr>
          <a:xfrm>
            <a:off x="1410788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Кость"/>
          <p:cNvCxnSpPr/>
          <p:nvPr/>
        </p:nvCxnSpPr>
        <p:spPr>
          <a:xfrm>
            <a:off x="1750422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Кость"/>
          <p:cNvCxnSpPr/>
          <p:nvPr/>
        </p:nvCxnSpPr>
        <p:spPr>
          <a:xfrm>
            <a:off x="2090057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Кость"/>
          <p:cNvCxnSpPr/>
          <p:nvPr/>
        </p:nvCxnSpPr>
        <p:spPr>
          <a:xfrm>
            <a:off x="2429691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Кость"/>
          <p:cNvCxnSpPr/>
          <p:nvPr/>
        </p:nvCxnSpPr>
        <p:spPr>
          <a:xfrm>
            <a:off x="2769325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Граница хряща и кости"/>
          <p:cNvCxnSpPr/>
          <p:nvPr/>
        </p:nvCxnSpPr>
        <p:spPr>
          <a:xfrm>
            <a:off x="548640" y="4300423"/>
            <a:ext cx="2743200" cy="0"/>
          </a:xfrm>
          <a:prstGeom prst="line">
            <a:avLst/>
          </a:prstGeom>
          <a:ln w="12700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Линия"/>
          <p:cNvCxnSpPr/>
          <p:nvPr/>
        </p:nvCxnSpPr>
        <p:spPr>
          <a:xfrm>
            <a:off x="3291840" y="1871319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Зона"/>
          <p:cNvSpPr txBox="1"/>
          <p:nvPr/>
        </p:nvSpPr>
        <p:spPr>
          <a:xfrm>
            <a:off x="3474720" y="1554480"/>
            <a:ext cx="2240280" cy="633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Покоящийся хрящ</a:t>
            </a:r>
          </a:p>
        </p:txBody>
      </p:sp>
      <p:cxnSp>
        <p:nvCxnSpPr>
          <p:cNvPr id="115" name="Линия"/>
          <p:cNvCxnSpPr/>
          <p:nvPr/>
        </p:nvCxnSpPr>
        <p:spPr>
          <a:xfrm>
            <a:off x="3474720" y="2188159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Линия"/>
          <p:cNvCxnSpPr/>
          <p:nvPr/>
        </p:nvCxnSpPr>
        <p:spPr>
          <a:xfrm>
            <a:off x="3291840" y="2786634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Зона"/>
          <p:cNvSpPr txBox="1"/>
          <p:nvPr/>
        </p:nvSpPr>
        <p:spPr>
          <a:xfrm>
            <a:off x="3474720" y="2188159"/>
            <a:ext cx="2240280" cy="1196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Деление: клетки встают столбиками</a:t>
            </a:r>
          </a:p>
        </p:txBody>
      </p:sp>
      <p:sp>
        <p:nvSpPr>
          <p:cNvPr id="118" name="Действие"/>
          <p:cNvSpPr txBox="1"/>
          <p:nvPr/>
        </p:nvSpPr>
        <p:spPr>
          <a:xfrm>
            <a:off x="5989320" y="2188159"/>
            <a:ext cx="5653735" cy="1196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Кортизол тормозит деление и выработку хрящевого матрикса</a:t>
            </a:r>
          </a:p>
        </p:txBody>
      </p:sp>
      <p:cxnSp>
        <p:nvCxnSpPr>
          <p:cNvPr id="119" name="Линия"/>
          <p:cNvCxnSpPr/>
          <p:nvPr/>
        </p:nvCxnSpPr>
        <p:spPr>
          <a:xfrm>
            <a:off x="3474720" y="3385108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Линия"/>
          <p:cNvCxnSpPr/>
          <p:nvPr/>
        </p:nvCxnSpPr>
        <p:spPr>
          <a:xfrm>
            <a:off x="3291840" y="3842766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Зона"/>
          <p:cNvSpPr txBox="1"/>
          <p:nvPr/>
        </p:nvSpPr>
        <p:spPr>
          <a:xfrm>
            <a:off x="3474720" y="3385108"/>
            <a:ext cx="2240280" cy="915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Созревание: клетки крупнеют</a:t>
            </a:r>
          </a:p>
        </p:txBody>
      </p:sp>
      <p:sp>
        <p:nvSpPr>
          <p:cNvPr id="122" name="Действие"/>
          <p:cNvSpPr txBox="1"/>
          <p:nvPr/>
        </p:nvSpPr>
        <p:spPr>
          <a:xfrm>
            <a:off x="5989320" y="3385108"/>
            <a:ext cx="5653735" cy="915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Гормон щитовидной железы регулирует переход клеток от деления к созреванию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Кортизол усиливает гибель крупных клеток</a:t>
            </a:r>
          </a:p>
        </p:txBody>
      </p:sp>
      <p:cxnSp>
        <p:nvCxnSpPr>
          <p:cNvPr id="123" name="Линия"/>
          <p:cNvCxnSpPr/>
          <p:nvPr/>
        </p:nvCxnSpPr>
        <p:spPr>
          <a:xfrm>
            <a:off x="3474720" y="4300423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Линия"/>
          <p:cNvCxnSpPr/>
          <p:nvPr/>
        </p:nvCxnSpPr>
        <p:spPr>
          <a:xfrm>
            <a:off x="3291840" y="4687671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Зона"/>
          <p:cNvSpPr txBox="1"/>
          <p:nvPr/>
        </p:nvSpPr>
        <p:spPr>
          <a:xfrm>
            <a:off x="3474720" y="4300423"/>
            <a:ext cx="2240280" cy="774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Хрящ замещается костью</a:t>
            </a:r>
          </a:p>
        </p:txBody>
      </p:sp>
      <p:sp>
        <p:nvSpPr>
          <p:cNvPr id="126" name="Действие"/>
          <p:cNvSpPr txBox="1"/>
          <p:nvPr/>
        </p:nvSpPr>
        <p:spPr>
          <a:xfrm>
            <a:off x="5989320" y="4300423"/>
            <a:ext cx="5653735" cy="774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Эстрогены ускоряют старение зоны и её закрытие (у кроликов)</a:t>
            </a:r>
          </a:p>
        </p:txBody>
      </p:sp>
      <p:sp>
        <p:nvSpPr>
          <p:cNvPr id="127" name="Вывод схемы"/>
          <p:cNvSpPr txBox="1"/>
          <p:nvPr/>
        </p:nvSpPr>
        <p:spPr>
          <a:xfrm>
            <a:off x="548640" y="5212080"/>
            <a:ext cx="1109441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С возрастом деление замедляется, зона истончается и к концу пубертата целиком замещается костью. Болезни, тормозящие рост, в опытах на животных задерживали и это старение</a:t>
            </a:r>
          </a:p>
        </p:txBody>
      </p:sp>
      <p:sp>
        <p:nvSpPr>
          <p:cNvPr id="12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Baron J et al. Nat Rev Endocrinol 2015;11:735–⁠46; Emons J et al. Horm Res Paediatr 2011;75:383–⁠91; Lui JC et al. Endocr Dev 2011;21:23–⁠9; Hochberg Z. Horm Res 2002;58 Suppl 1:33–⁠8; Shao YY et al. Rev Endocr Metab Disord 2006;7:265–⁠71; Weise M et al. Proc Natl Acad Sci USA 2001;98:6871–⁠6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приобретённом гипотиреозе отставание в росте бывает первым признаком</a:t>
            </a:r>
          </a:p>
        </p:txBody>
      </p:sp>
      <p:sp>
        <p:nvSpPr>
          <p:cNvPr id="3" name="hfa: сетка 90"/>
          <p:cNvSpPr/>
          <p:nvPr/>
        </p:nvSpPr>
        <p:spPr>
          <a:xfrm>
            <a:off x="932688" y="3684117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0411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90</a:t>
            </a:r>
          </a:p>
        </p:txBody>
      </p:sp>
      <p:sp>
        <p:nvSpPr>
          <p:cNvPr id="5" name="hfa: сетка 95"/>
          <p:cNvSpPr/>
          <p:nvPr/>
        </p:nvSpPr>
        <p:spPr>
          <a:xfrm>
            <a:off x="932688" y="3572291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fa: сетка 100"/>
          <p:cNvSpPr/>
          <p:nvPr/>
        </p:nvSpPr>
        <p:spPr>
          <a:xfrm>
            <a:off x="932688" y="3460466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046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100</a:t>
            </a:r>
          </a:p>
        </p:txBody>
      </p:sp>
      <p:sp>
        <p:nvSpPr>
          <p:cNvPr id="8" name="hfa: сетка 105"/>
          <p:cNvSpPr/>
          <p:nvPr/>
        </p:nvSpPr>
        <p:spPr>
          <a:xfrm>
            <a:off x="932688" y="3348640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fa: сетка 110"/>
          <p:cNvSpPr/>
          <p:nvPr/>
        </p:nvSpPr>
        <p:spPr>
          <a:xfrm>
            <a:off x="932688" y="3236814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6814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110</a:t>
            </a:r>
          </a:p>
        </p:txBody>
      </p:sp>
      <p:sp>
        <p:nvSpPr>
          <p:cNvPr id="11" name="hfa: сетка 115"/>
          <p:cNvSpPr/>
          <p:nvPr/>
        </p:nvSpPr>
        <p:spPr>
          <a:xfrm>
            <a:off x="932688" y="3124988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fa: сетка 120"/>
          <p:cNvSpPr/>
          <p:nvPr/>
        </p:nvSpPr>
        <p:spPr>
          <a:xfrm>
            <a:off x="932688" y="3013163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33163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120</a:t>
            </a:r>
          </a:p>
        </p:txBody>
      </p:sp>
      <p:sp>
        <p:nvSpPr>
          <p:cNvPr id="14" name="hfa: сетка 125"/>
          <p:cNvSpPr/>
          <p:nvPr/>
        </p:nvSpPr>
        <p:spPr>
          <a:xfrm>
            <a:off x="932688" y="2901337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fa: сетка 130"/>
          <p:cNvSpPr/>
          <p:nvPr/>
        </p:nvSpPr>
        <p:spPr>
          <a:xfrm>
            <a:off x="932688" y="2789511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951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130</a:t>
            </a:r>
          </a:p>
        </p:txBody>
      </p:sp>
      <p:sp>
        <p:nvSpPr>
          <p:cNvPr id="17" name="hfa: сетка 135"/>
          <p:cNvSpPr/>
          <p:nvPr/>
        </p:nvSpPr>
        <p:spPr>
          <a:xfrm>
            <a:off x="932688" y="2677685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fa: сетка 140"/>
          <p:cNvSpPr/>
          <p:nvPr/>
        </p:nvSpPr>
        <p:spPr>
          <a:xfrm>
            <a:off x="932688" y="2565860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8586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140</a:t>
            </a:r>
          </a:p>
        </p:txBody>
      </p:sp>
      <p:sp>
        <p:nvSpPr>
          <p:cNvPr id="20" name="hfa: сетка 145"/>
          <p:cNvSpPr/>
          <p:nvPr/>
        </p:nvSpPr>
        <p:spPr>
          <a:xfrm>
            <a:off x="932688" y="2454034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fa: сетка 150"/>
          <p:cNvSpPr/>
          <p:nvPr/>
        </p:nvSpPr>
        <p:spPr>
          <a:xfrm>
            <a:off x="932688" y="2342208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26220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150</a:t>
            </a:r>
          </a:p>
        </p:txBody>
      </p:sp>
      <p:sp>
        <p:nvSpPr>
          <p:cNvPr id="23" name="hfa: сетка 155"/>
          <p:cNvSpPr/>
          <p:nvPr/>
        </p:nvSpPr>
        <p:spPr>
          <a:xfrm>
            <a:off x="932688" y="2230382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fa: сетка 160"/>
          <p:cNvSpPr/>
          <p:nvPr/>
        </p:nvSpPr>
        <p:spPr>
          <a:xfrm>
            <a:off x="932688" y="2118557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03855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160</a:t>
            </a:r>
          </a:p>
        </p:txBody>
      </p:sp>
      <p:sp>
        <p:nvSpPr>
          <p:cNvPr id="26" name="hfa: сетка 165"/>
          <p:cNvSpPr/>
          <p:nvPr/>
        </p:nvSpPr>
        <p:spPr>
          <a:xfrm>
            <a:off x="932688" y="2006731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fa: сетка 170"/>
          <p:cNvSpPr/>
          <p:nvPr/>
        </p:nvSpPr>
        <p:spPr>
          <a:xfrm>
            <a:off x="932688" y="1894905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18149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170</a:t>
            </a:r>
          </a:p>
        </p:txBody>
      </p:sp>
      <p:sp>
        <p:nvSpPr>
          <p:cNvPr id="29" name="hfa: сетка 175"/>
          <p:cNvSpPr/>
          <p:nvPr/>
        </p:nvSpPr>
        <p:spPr>
          <a:xfrm>
            <a:off x="932688" y="1783080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fa: год 4"/>
          <p:cNvSpPr/>
          <p:nvPr/>
        </p:nvSpPr>
        <p:spPr>
          <a:xfrm>
            <a:off x="93268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2688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32" name="hfa: год 5"/>
          <p:cNvSpPr/>
          <p:nvPr/>
        </p:nvSpPr>
        <p:spPr>
          <a:xfrm>
            <a:off x="2090216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40216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34" name="hfa: год 6"/>
          <p:cNvSpPr/>
          <p:nvPr/>
        </p:nvSpPr>
        <p:spPr>
          <a:xfrm>
            <a:off x="324774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97745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6" name="hfa: год 7"/>
          <p:cNvSpPr/>
          <p:nvPr/>
        </p:nvSpPr>
        <p:spPr>
          <a:xfrm>
            <a:off x="4405274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5274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8" name="hfa: год 8"/>
          <p:cNvSpPr/>
          <p:nvPr/>
        </p:nvSpPr>
        <p:spPr>
          <a:xfrm>
            <a:off x="556280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2803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0" name="hfa: год 9"/>
          <p:cNvSpPr/>
          <p:nvPr/>
        </p:nvSpPr>
        <p:spPr>
          <a:xfrm>
            <a:off x="672033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7033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42" name="hfa: год 10"/>
          <p:cNvSpPr/>
          <p:nvPr/>
        </p:nvSpPr>
        <p:spPr>
          <a:xfrm>
            <a:off x="7877860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7860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4" name="hfa: год 11"/>
          <p:cNvSpPr/>
          <p:nvPr/>
        </p:nvSpPr>
        <p:spPr>
          <a:xfrm>
            <a:off x="903538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85389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6" name="hfa: год 12"/>
          <p:cNvSpPr/>
          <p:nvPr/>
        </p:nvSpPr>
        <p:spPr>
          <a:xfrm>
            <a:off x="1019291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2918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8" name="hfa: год 13"/>
          <p:cNvSpPr/>
          <p:nvPr/>
        </p:nvSpPr>
        <p:spPr>
          <a:xfrm>
            <a:off x="11350447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00447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13</a:t>
            </a:r>
          </a:p>
        </p:txBody>
      </p:sp>
      <p:sp>
        <p:nvSpPr>
          <p:cNvPr id="50" name="hfa: ось"/>
          <p:cNvSpPr/>
          <p:nvPr/>
        </p:nvSpPr>
        <p:spPr>
          <a:xfrm>
            <a:off x="932688" y="3684117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fa: полоса 3–97"/>
          <p:cNvSpPr/>
          <p:nvPr/>
        </p:nvSpPr>
        <p:spPr>
          <a:xfrm>
            <a:off x="932688" y="1907615"/>
            <a:ext cx="10417759" cy="1672979"/>
          </a:xfrm>
          <a:custGeom>
            <a:avLst/>
            <a:gdLst/>
            <a:ahLst/>
            <a:cxnLst/>
            <a:rect l="l" t="t" r="r" b="b"/>
            <a:pathLst>
              <a:path w="10417759" h="1672979">
                <a:moveTo>
                  <a:pt x="0" y="1310555"/>
                </a:moveTo>
                <a:lnTo>
                  <a:pt x="130221" y="1290768"/>
                </a:lnTo>
                <a:lnTo>
                  <a:pt x="260443" y="1271063"/>
                </a:lnTo>
                <a:lnTo>
                  <a:pt x="390665" y="1251419"/>
                </a:lnTo>
                <a:lnTo>
                  <a:pt x="520887" y="1232383"/>
                </a:lnTo>
                <a:lnTo>
                  <a:pt x="651109" y="1213424"/>
                </a:lnTo>
                <a:lnTo>
                  <a:pt x="781331" y="1194951"/>
                </a:lnTo>
                <a:lnTo>
                  <a:pt x="911553" y="1176346"/>
                </a:lnTo>
                <a:lnTo>
                  <a:pt x="1041775" y="1157995"/>
                </a:lnTo>
                <a:lnTo>
                  <a:pt x="1171997" y="1148542"/>
                </a:lnTo>
                <a:lnTo>
                  <a:pt x="1302219" y="1130758"/>
                </a:lnTo>
                <a:lnTo>
                  <a:pt x="1432441" y="1113169"/>
                </a:lnTo>
                <a:lnTo>
                  <a:pt x="1562663" y="1095802"/>
                </a:lnTo>
                <a:lnTo>
                  <a:pt x="1692885" y="1078657"/>
                </a:lnTo>
                <a:lnTo>
                  <a:pt x="1823107" y="1061687"/>
                </a:lnTo>
                <a:lnTo>
                  <a:pt x="1953329" y="1044928"/>
                </a:lnTo>
                <a:lnTo>
                  <a:pt x="2083551" y="1028338"/>
                </a:lnTo>
                <a:lnTo>
                  <a:pt x="2213773" y="1011899"/>
                </a:lnTo>
                <a:lnTo>
                  <a:pt x="2343995" y="995628"/>
                </a:lnTo>
                <a:lnTo>
                  <a:pt x="2474217" y="979513"/>
                </a:lnTo>
                <a:lnTo>
                  <a:pt x="2604439" y="963422"/>
                </a:lnTo>
                <a:lnTo>
                  <a:pt x="2734661" y="947489"/>
                </a:lnTo>
                <a:lnTo>
                  <a:pt x="2864883" y="931541"/>
                </a:lnTo>
                <a:lnTo>
                  <a:pt x="2995105" y="915662"/>
                </a:lnTo>
                <a:lnTo>
                  <a:pt x="3125327" y="899757"/>
                </a:lnTo>
                <a:lnTo>
                  <a:pt x="3255549" y="883890"/>
                </a:lnTo>
                <a:lnTo>
                  <a:pt x="3385771" y="868005"/>
                </a:lnTo>
                <a:lnTo>
                  <a:pt x="3515993" y="852132"/>
                </a:lnTo>
                <a:lnTo>
                  <a:pt x="3646215" y="836223"/>
                </a:lnTo>
                <a:lnTo>
                  <a:pt x="3776437" y="820256"/>
                </a:lnTo>
                <a:lnTo>
                  <a:pt x="3906659" y="804321"/>
                </a:lnTo>
                <a:lnTo>
                  <a:pt x="4036881" y="788345"/>
                </a:lnTo>
                <a:lnTo>
                  <a:pt x="4167103" y="772304"/>
                </a:lnTo>
                <a:lnTo>
                  <a:pt x="4297325" y="756271"/>
                </a:lnTo>
                <a:lnTo>
                  <a:pt x="4427547" y="740184"/>
                </a:lnTo>
                <a:lnTo>
                  <a:pt x="4557769" y="724030"/>
                </a:lnTo>
                <a:lnTo>
                  <a:pt x="4687991" y="707811"/>
                </a:lnTo>
                <a:lnTo>
                  <a:pt x="4818213" y="691581"/>
                </a:lnTo>
                <a:lnTo>
                  <a:pt x="4948435" y="675299"/>
                </a:lnTo>
                <a:lnTo>
                  <a:pt x="5078657" y="658949"/>
                </a:lnTo>
                <a:lnTo>
                  <a:pt x="5208879" y="642535"/>
                </a:lnTo>
                <a:lnTo>
                  <a:pt x="5339101" y="626113"/>
                </a:lnTo>
                <a:lnTo>
                  <a:pt x="5469323" y="609589"/>
                </a:lnTo>
                <a:lnTo>
                  <a:pt x="5599545" y="593071"/>
                </a:lnTo>
                <a:lnTo>
                  <a:pt x="5729767" y="576446"/>
                </a:lnTo>
                <a:lnTo>
                  <a:pt x="5859989" y="559802"/>
                </a:lnTo>
                <a:lnTo>
                  <a:pt x="5990211" y="543137"/>
                </a:lnTo>
                <a:lnTo>
                  <a:pt x="6120433" y="526405"/>
                </a:lnTo>
                <a:lnTo>
                  <a:pt x="6250655" y="509665"/>
                </a:lnTo>
                <a:lnTo>
                  <a:pt x="6380877" y="492839"/>
                </a:lnTo>
                <a:lnTo>
                  <a:pt x="6511099" y="476040"/>
                </a:lnTo>
                <a:lnTo>
                  <a:pt x="6641321" y="459183"/>
                </a:lnTo>
                <a:lnTo>
                  <a:pt x="6771543" y="442241"/>
                </a:lnTo>
                <a:lnTo>
                  <a:pt x="6901765" y="425300"/>
                </a:lnTo>
                <a:lnTo>
                  <a:pt x="7031987" y="408347"/>
                </a:lnTo>
                <a:lnTo>
                  <a:pt x="7162209" y="391286"/>
                </a:lnTo>
                <a:lnTo>
                  <a:pt x="7292431" y="374206"/>
                </a:lnTo>
                <a:lnTo>
                  <a:pt x="7422653" y="357056"/>
                </a:lnTo>
                <a:lnTo>
                  <a:pt x="7552875" y="339844"/>
                </a:lnTo>
                <a:lnTo>
                  <a:pt x="7683097" y="322631"/>
                </a:lnTo>
                <a:lnTo>
                  <a:pt x="7813319" y="305368"/>
                </a:lnTo>
                <a:lnTo>
                  <a:pt x="7943541" y="288067"/>
                </a:lnTo>
                <a:lnTo>
                  <a:pt x="8073763" y="270797"/>
                </a:lnTo>
                <a:lnTo>
                  <a:pt x="8203985" y="253577"/>
                </a:lnTo>
                <a:lnTo>
                  <a:pt x="8334207" y="236428"/>
                </a:lnTo>
                <a:lnTo>
                  <a:pt x="8464429" y="219358"/>
                </a:lnTo>
                <a:lnTo>
                  <a:pt x="8594651" y="202422"/>
                </a:lnTo>
                <a:lnTo>
                  <a:pt x="8724873" y="185653"/>
                </a:lnTo>
                <a:lnTo>
                  <a:pt x="8855095" y="169107"/>
                </a:lnTo>
                <a:lnTo>
                  <a:pt x="8985317" y="152754"/>
                </a:lnTo>
                <a:lnTo>
                  <a:pt x="9115539" y="136735"/>
                </a:lnTo>
                <a:lnTo>
                  <a:pt x="9245761" y="121001"/>
                </a:lnTo>
                <a:lnTo>
                  <a:pt x="9375983" y="105689"/>
                </a:lnTo>
                <a:lnTo>
                  <a:pt x="9506205" y="90745"/>
                </a:lnTo>
                <a:lnTo>
                  <a:pt x="9636427" y="76193"/>
                </a:lnTo>
                <a:lnTo>
                  <a:pt x="9766649" y="62194"/>
                </a:lnTo>
                <a:lnTo>
                  <a:pt x="9896871" y="48687"/>
                </a:lnTo>
                <a:lnTo>
                  <a:pt x="10027093" y="35722"/>
                </a:lnTo>
                <a:lnTo>
                  <a:pt x="10157315" y="23279"/>
                </a:lnTo>
                <a:lnTo>
                  <a:pt x="10287537" y="11393"/>
                </a:lnTo>
                <a:lnTo>
                  <a:pt x="10417759" y="0"/>
                </a:lnTo>
                <a:lnTo>
                  <a:pt x="10417759" y="584040"/>
                </a:lnTo>
                <a:lnTo>
                  <a:pt x="10287537" y="594863"/>
                </a:lnTo>
                <a:lnTo>
                  <a:pt x="10157315" y="606131"/>
                </a:lnTo>
                <a:lnTo>
                  <a:pt x="10027093" y="617791"/>
                </a:lnTo>
                <a:lnTo>
                  <a:pt x="9896871" y="629991"/>
                </a:lnTo>
                <a:lnTo>
                  <a:pt x="9766649" y="642525"/>
                </a:lnTo>
                <a:lnTo>
                  <a:pt x="9636427" y="655455"/>
                </a:lnTo>
                <a:lnTo>
                  <a:pt x="9506205" y="668748"/>
                </a:lnTo>
                <a:lnTo>
                  <a:pt x="9375983" y="682375"/>
                </a:lnTo>
                <a:lnTo>
                  <a:pt x="9245761" y="696357"/>
                </a:lnTo>
                <a:lnTo>
                  <a:pt x="9115539" y="710569"/>
                </a:lnTo>
                <a:lnTo>
                  <a:pt x="8985317" y="725011"/>
                </a:lnTo>
                <a:lnTo>
                  <a:pt x="8855095" y="739612"/>
                </a:lnTo>
                <a:lnTo>
                  <a:pt x="8724873" y="754419"/>
                </a:lnTo>
                <a:lnTo>
                  <a:pt x="8594651" y="769314"/>
                </a:lnTo>
                <a:lnTo>
                  <a:pt x="8464429" y="784314"/>
                </a:lnTo>
                <a:lnTo>
                  <a:pt x="8334207" y="799363"/>
                </a:lnTo>
                <a:lnTo>
                  <a:pt x="8203985" y="814449"/>
                </a:lnTo>
                <a:lnTo>
                  <a:pt x="8073763" y="829543"/>
                </a:lnTo>
                <a:lnTo>
                  <a:pt x="7943541" y="844601"/>
                </a:lnTo>
                <a:lnTo>
                  <a:pt x="7813319" y="859602"/>
                </a:lnTo>
                <a:lnTo>
                  <a:pt x="7683097" y="874566"/>
                </a:lnTo>
                <a:lnTo>
                  <a:pt x="7552875" y="889483"/>
                </a:lnTo>
                <a:lnTo>
                  <a:pt x="7422653" y="904281"/>
                </a:lnTo>
                <a:lnTo>
                  <a:pt x="7292431" y="918990"/>
                </a:lnTo>
                <a:lnTo>
                  <a:pt x="7162209" y="933638"/>
                </a:lnTo>
                <a:lnTo>
                  <a:pt x="7031987" y="948159"/>
                </a:lnTo>
                <a:lnTo>
                  <a:pt x="6901765" y="962647"/>
                </a:lnTo>
                <a:lnTo>
                  <a:pt x="6771543" y="977025"/>
                </a:lnTo>
                <a:lnTo>
                  <a:pt x="6641321" y="991281"/>
                </a:lnTo>
                <a:lnTo>
                  <a:pt x="6511099" y="1005498"/>
                </a:lnTo>
                <a:lnTo>
                  <a:pt x="6380877" y="1019665"/>
                </a:lnTo>
                <a:lnTo>
                  <a:pt x="6250655" y="1033698"/>
                </a:lnTo>
                <a:lnTo>
                  <a:pt x="6120433" y="1047705"/>
                </a:lnTo>
                <a:lnTo>
                  <a:pt x="5990211" y="1061625"/>
                </a:lnTo>
                <a:lnTo>
                  <a:pt x="5859989" y="1075490"/>
                </a:lnTo>
                <a:lnTo>
                  <a:pt x="5729767" y="1089276"/>
                </a:lnTo>
                <a:lnTo>
                  <a:pt x="5599545" y="1102973"/>
                </a:lnTo>
                <a:lnTo>
                  <a:pt x="5469323" y="1116653"/>
                </a:lnTo>
                <a:lnTo>
                  <a:pt x="5339101" y="1130199"/>
                </a:lnTo>
                <a:lnTo>
                  <a:pt x="5208879" y="1143734"/>
                </a:lnTo>
                <a:lnTo>
                  <a:pt x="5078657" y="1157129"/>
                </a:lnTo>
                <a:lnTo>
                  <a:pt x="4948435" y="1170475"/>
                </a:lnTo>
                <a:lnTo>
                  <a:pt x="4818213" y="1183769"/>
                </a:lnTo>
                <a:lnTo>
                  <a:pt x="4687991" y="1196982"/>
                </a:lnTo>
                <a:lnTo>
                  <a:pt x="4557769" y="1210099"/>
                </a:lnTo>
                <a:lnTo>
                  <a:pt x="4427547" y="1223166"/>
                </a:lnTo>
                <a:lnTo>
                  <a:pt x="4297325" y="1236183"/>
                </a:lnTo>
                <a:lnTo>
                  <a:pt x="4167103" y="1249159"/>
                </a:lnTo>
                <a:lnTo>
                  <a:pt x="4036881" y="1262037"/>
                </a:lnTo>
                <a:lnTo>
                  <a:pt x="3906659" y="1274896"/>
                </a:lnTo>
                <a:lnTo>
                  <a:pt x="3776437" y="1287727"/>
                </a:lnTo>
                <a:lnTo>
                  <a:pt x="3646215" y="1300449"/>
                </a:lnTo>
                <a:lnTo>
                  <a:pt x="3515993" y="1313172"/>
                </a:lnTo>
                <a:lnTo>
                  <a:pt x="3385771" y="1325882"/>
                </a:lnTo>
                <a:lnTo>
                  <a:pt x="3255549" y="1338534"/>
                </a:lnTo>
                <a:lnTo>
                  <a:pt x="3125327" y="1351170"/>
                </a:lnTo>
                <a:lnTo>
                  <a:pt x="2995105" y="1363759"/>
                </a:lnTo>
                <a:lnTo>
                  <a:pt x="2864883" y="1376389"/>
                </a:lnTo>
                <a:lnTo>
                  <a:pt x="2734661" y="1388996"/>
                </a:lnTo>
                <a:lnTo>
                  <a:pt x="2604439" y="1401689"/>
                </a:lnTo>
                <a:lnTo>
                  <a:pt x="2474217" y="1414344"/>
                </a:lnTo>
                <a:lnTo>
                  <a:pt x="2343995" y="1427120"/>
                </a:lnTo>
                <a:lnTo>
                  <a:pt x="2213773" y="1439943"/>
                </a:lnTo>
                <a:lnTo>
                  <a:pt x="2083551" y="1452893"/>
                </a:lnTo>
                <a:lnTo>
                  <a:pt x="1953329" y="1465981"/>
                </a:lnTo>
                <a:lnTo>
                  <a:pt x="1823107" y="1479225"/>
                </a:lnTo>
                <a:lnTo>
                  <a:pt x="1692885" y="1492618"/>
                </a:lnTo>
                <a:lnTo>
                  <a:pt x="1562663" y="1506164"/>
                </a:lnTo>
                <a:lnTo>
                  <a:pt x="1432441" y="1519858"/>
                </a:lnTo>
                <a:lnTo>
                  <a:pt x="1302219" y="1533737"/>
                </a:lnTo>
                <a:lnTo>
                  <a:pt x="1171997" y="1547793"/>
                </a:lnTo>
                <a:lnTo>
                  <a:pt x="1041775" y="1554553"/>
                </a:lnTo>
                <a:lnTo>
                  <a:pt x="911553" y="1568708"/>
                </a:lnTo>
                <a:lnTo>
                  <a:pt x="781331" y="1583092"/>
                </a:lnTo>
                <a:lnTo>
                  <a:pt x="651109" y="1597428"/>
                </a:lnTo>
                <a:lnTo>
                  <a:pt x="520887" y="1612114"/>
                </a:lnTo>
                <a:lnTo>
                  <a:pt x="390665" y="1626964"/>
                </a:lnTo>
                <a:lnTo>
                  <a:pt x="260443" y="1642198"/>
                </a:lnTo>
                <a:lnTo>
                  <a:pt x="130221" y="1657531"/>
                </a:lnTo>
                <a:lnTo>
                  <a:pt x="0" y="167297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fa: 97-й центиль"/>
          <p:cNvSpPr/>
          <p:nvPr/>
        </p:nvSpPr>
        <p:spPr>
          <a:xfrm>
            <a:off x="932688" y="1907615"/>
            <a:ext cx="10417759" cy="1310555"/>
          </a:xfrm>
          <a:custGeom>
            <a:avLst/>
            <a:gdLst/>
            <a:ahLst/>
            <a:cxnLst/>
            <a:rect l="l" t="t" r="r" b="b"/>
            <a:pathLst>
              <a:path w="10417759" h="1310555">
                <a:moveTo>
                  <a:pt x="0" y="1310555"/>
                </a:moveTo>
                <a:lnTo>
                  <a:pt x="130221" y="1290768"/>
                </a:lnTo>
                <a:lnTo>
                  <a:pt x="260443" y="1271063"/>
                </a:lnTo>
                <a:lnTo>
                  <a:pt x="390665" y="1251419"/>
                </a:lnTo>
                <a:lnTo>
                  <a:pt x="520887" y="1232383"/>
                </a:lnTo>
                <a:lnTo>
                  <a:pt x="651109" y="1213424"/>
                </a:lnTo>
                <a:lnTo>
                  <a:pt x="781331" y="1194951"/>
                </a:lnTo>
                <a:lnTo>
                  <a:pt x="911553" y="1176346"/>
                </a:lnTo>
                <a:lnTo>
                  <a:pt x="1041775" y="1157995"/>
                </a:lnTo>
                <a:lnTo>
                  <a:pt x="1171997" y="1148542"/>
                </a:lnTo>
                <a:lnTo>
                  <a:pt x="1302219" y="1130758"/>
                </a:lnTo>
                <a:lnTo>
                  <a:pt x="1432441" y="1113169"/>
                </a:lnTo>
                <a:lnTo>
                  <a:pt x="1562663" y="1095802"/>
                </a:lnTo>
                <a:lnTo>
                  <a:pt x="1692885" y="1078657"/>
                </a:lnTo>
                <a:lnTo>
                  <a:pt x="1823107" y="1061687"/>
                </a:lnTo>
                <a:lnTo>
                  <a:pt x="1953329" y="1044928"/>
                </a:lnTo>
                <a:lnTo>
                  <a:pt x="2083551" y="1028338"/>
                </a:lnTo>
                <a:lnTo>
                  <a:pt x="2213773" y="1011899"/>
                </a:lnTo>
                <a:lnTo>
                  <a:pt x="2343995" y="995628"/>
                </a:lnTo>
                <a:lnTo>
                  <a:pt x="2474217" y="979513"/>
                </a:lnTo>
                <a:lnTo>
                  <a:pt x="2604439" y="963422"/>
                </a:lnTo>
                <a:lnTo>
                  <a:pt x="2734661" y="947489"/>
                </a:lnTo>
                <a:lnTo>
                  <a:pt x="2864883" y="931541"/>
                </a:lnTo>
                <a:lnTo>
                  <a:pt x="2995105" y="915662"/>
                </a:lnTo>
                <a:lnTo>
                  <a:pt x="3125327" y="899757"/>
                </a:lnTo>
                <a:lnTo>
                  <a:pt x="3255549" y="883890"/>
                </a:lnTo>
                <a:lnTo>
                  <a:pt x="3385771" y="868005"/>
                </a:lnTo>
                <a:lnTo>
                  <a:pt x="3515993" y="852132"/>
                </a:lnTo>
                <a:lnTo>
                  <a:pt x="3646215" y="836223"/>
                </a:lnTo>
                <a:lnTo>
                  <a:pt x="3776437" y="820256"/>
                </a:lnTo>
                <a:lnTo>
                  <a:pt x="3906659" y="804321"/>
                </a:lnTo>
                <a:lnTo>
                  <a:pt x="4036881" y="788345"/>
                </a:lnTo>
                <a:lnTo>
                  <a:pt x="4167103" y="772304"/>
                </a:lnTo>
                <a:lnTo>
                  <a:pt x="4297325" y="756271"/>
                </a:lnTo>
                <a:lnTo>
                  <a:pt x="4427547" y="740184"/>
                </a:lnTo>
                <a:lnTo>
                  <a:pt x="4557769" y="724030"/>
                </a:lnTo>
                <a:lnTo>
                  <a:pt x="4687991" y="707811"/>
                </a:lnTo>
                <a:lnTo>
                  <a:pt x="4818213" y="691581"/>
                </a:lnTo>
                <a:lnTo>
                  <a:pt x="4948435" y="675299"/>
                </a:lnTo>
                <a:lnTo>
                  <a:pt x="5078657" y="658949"/>
                </a:lnTo>
                <a:lnTo>
                  <a:pt x="5208879" y="642535"/>
                </a:lnTo>
                <a:lnTo>
                  <a:pt x="5339101" y="626113"/>
                </a:lnTo>
                <a:lnTo>
                  <a:pt x="5469323" y="609589"/>
                </a:lnTo>
                <a:lnTo>
                  <a:pt x="5599545" y="593071"/>
                </a:lnTo>
                <a:lnTo>
                  <a:pt x="5729767" y="576446"/>
                </a:lnTo>
                <a:lnTo>
                  <a:pt x="5859989" y="559802"/>
                </a:lnTo>
                <a:lnTo>
                  <a:pt x="5990211" y="543137"/>
                </a:lnTo>
                <a:lnTo>
                  <a:pt x="6120433" y="526405"/>
                </a:lnTo>
                <a:lnTo>
                  <a:pt x="6250655" y="509665"/>
                </a:lnTo>
                <a:lnTo>
                  <a:pt x="6380877" y="492839"/>
                </a:lnTo>
                <a:lnTo>
                  <a:pt x="6511099" y="476040"/>
                </a:lnTo>
                <a:lnTo>
                  <a:pt x="6641321" y="459183"/>
                </a:lnTo>
                <a:lnTo>
                  <a:pt x="6771543" y="442241"/>
                </a:lnTo>
                <a:lnTo>
                  <a:pt x="6901765" y="425300"/>
                </a:lnTo>
                <a:lnTo>
                  <a:pt x="7031987" y="408347"/>
                </a:lnTo>
                <a:lnTo>
                  <a:pt x="7162209" y="391286"/>
                </a:lnTo>
                <a:lnTo>
                  <a:pt x="7292431" y="374206"/>
                </a:lnTo>
                <a:lnTo>
                  <a:pt x="7422653" y="357056"/>
                </a:lnTo>
                <a:lnTo>
                  <a:pt x="7552875" y="339844"/>
                </a:lnTo>
                <a:lnTo>
                  <a:pt x="7683097" y="322631"/>
                </a:lnTo>
                <a:lnTo>
                  <a:pt x="7813319" y="305368"/>
                </a:lnTo>
                <a:lnTo>
                  <a:pt x="7943541" y="288067"/>
                </a:lnTo>
                <a:lnTo>
                  <a:pt x="8073763" y="270797"/>
                </a:lnTo>
                <a:lnTo>
                  <a:pt x="8203985" y="253577"/>
                </a:lnTo>
                <a:lnTo>
                  <a:pt x="8334207" y="236428"/>
                </a:lnTo>
                <a:lnTo>
                  <a:pt x="8464429" y="219358"/>
                </a:lnTo>
                <a:lnTo>
                  <a:pt x="8594651" y="202422"/>
                </a:lnTo>
                <a:lnTo>
                  <a:pt x="8724873" y="185653"/>
                </a:lnTo>
                <a:lnTo>
                  <a:pt x="8855095" y="169107"/>
                </a:lnTo>
                <a:lnTo>
                  <a:pt x="8985317" y="152754"/>
                </a:lnTo>
                <a:lnTo>
                  <a:pt x="9115539" y="136735"/>
                </a:lnTo>
                <a:lnTo>
                  <a:pt x="9245761" y="121001"/>
                </a:lnTo>
                <a:lnTo>
                  <a:pt x="9375983" y="105689"/>
                </a:lnTo>
                <a:lnTo>
                  <a:pt x="9506205" y="90745"/>
                </a:lnTo>
                <a:lnTo>
                  <a:pt x="9636427" y="76193"/>
                </a:lnTo>
                <a:lnTo>
                  <a:pt x="9766649" y="62194"/>
                </a:lnTo>
                <a:lnTo>
                  <a:pt x="9896871" y="48687"/>
                </a:lnTo>
                <a:lnTo>
                  <a:pt x="10027093" y="35722"/>
                </a:lnTo>
                <a:lnTo>
                  <a:pt x="10157315" y="23279"/>
                </a:lnTo>
                <a:lnTo>
                  <a:pt x="10287537" y="11393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90447" y="183261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54" name="hfa: 85-й центиль"/>
          <p:cNvSpPr/>
          <p:nvPr/>
        </p:nvSpPr>
        <p:spPr>
          <a:xfrm>
            <a:off x="932688" y="2038799"/>
            <a:ext cx="10417759" cy="1260776"/>
          </a:xfrm>
          <a:custGeom>
            <a:avLst/>
            <a:gdLst/>
            <a:ahLst/>
            <a:cxnLst/>
            <a:rect l="l" t="t" r="r" b="b"/>
            <a:pathLst>
              <a:path w="10417759" h="1260776">
                <a:moveTo>
                  <a:pt x="0" y="1260776"/>
                </a:moveTo>
                <a:lnTo>
                  <a:pt x="130221" y="1241964"/>
                </a:lnTo>
                <a:lnTo>
                  <a:pt x="260443" y="1223241"/>
                </a:lnTo>
                <a:lnTo>
                  <a:pt x="390665" y="1204588"/>
                </a:lnTo>
                <a:lnTo>
                  <a:pt x="520887" y="1186493"/>
                </a:lnTo>
                <a:lnTo>
                  <a:pt x="651109" y="1168493"/>
                </a:lnTo>
                <a:lnTo>
                  <a:pt x="781331" y="1150949"/>
                </a:lnTo>
                <a:lnTo>
                  <a:pt x="911553" y="1133292"/>
                </a:lnTo>
                <a:lnTo>
                  <a:pt x="1041775" y="1115884"/>
                </a:lnTo>
                <a:lnTo>
                  <a:pt x="1171997" y="1107036"/>
                </a:lnTo>
                <a:lnTo>
                  <a:pt x="1302219" y="1090089"/>
                </a:lnTo>
                <a:lnTo>
                  <a:pt x="1432441" y="1073333"/>
                </a:lnTo>
                <a:lnTo>
                  <a:pt x="1562663" y="1056792"/>
                </a:lnTo>
                <a:lnTo>
                  <a:pt x="1692885" y="1040455"/>
                </a:lnTo>
                <a:lnTo>
                  <a:pt x="1823107" y="1024288"/>
                </a:lnTo>
                <a:lnTo>
                  <a:pt x="1953329" y="1008318"/>
                </a:lnTo>
                <a:lnTo>
                  <a:pt x="2083551" y="992515"/>
                </a:lnTo>
                <a:lnTo>
                  <a:pt x="2213773" y="976860"/>
                </a:lnTo>
                <a:lnTo>
                  <a:pt x="2343995" y="961363"/>
                </a:lnTo>
                <a:lnTo>
                  <a:pt x="2474217" y="945998"/>
                </a:lnTo>
                <a:lnTo>
                  <a:pt x="2604439" y="930679"/>
                </a:lnTo>
                <a:lnTo>
                  <a:pt x="2734661" y="915474"/>
                </a:lnTo>
                <a:lnTo>
                  <a:pt x="2864883" y="900276"/>
                </a:lnTo>
                <a:lnTo>
                  <a:pt x="2995105" y="885127"/>
                </a:lnTo>
                <a:lnTo>
                  <a:pt x="3125327" y="869967"/>
                </a:lnTo>
                <a:lnTo>
                  <a:pt x="3255549" y="854825"/>
                </a:lnTo>
                <a:lnTo>
                  <a:pt x="3385771" y="839667"/>
                </a:lnTo>
                <a:lnTo>
                  <a:pt x="3515993" y="824505"/>
                </a:lnTo>
                <a:lnTo>
                  <a:pt x="3646215" y="809311"/>
                </a:lnTo>
                <a:lnTo>
                  <a:pt x="3776437" y="794073"/>
                </a:lnTo>
                <a:lnTo>
                  <a:pt x="3906659" y="778835"/>
                </a:lnTo>
                <a:lnTo>
                  <a:pt x="4036881" y="763559"/>
                </a:lnTo>
                <a:lnTo>
                  <a:pt x="4167103" y="748228"/>
                </a:lnTo>
                <a:lnTo>
                  <a:pt x="4297325" y="732882"/>
                </a:lnTo>
                <a:lnTo>
                  <a:pt x="4427547" y="717484"/>
                </a:lnTo>
                <a:lnTo>
                  <a:pt x="4557769" y="702025"/>
                </a:lnTo>
                <a:lnTo>
                  <a:pt x="4687991" y="686502"/>
                </a:lnTo>
                <a:lnTo>
                  <a:pt x="4818213" y="670950"/>
                </a:lnTo>
                <a:lnTo>
                  <a:pt x="4948435" y="655339"/>
                </a:lnTo>
                <a:lnTo>
                  <a:pt x="5078657" y="639663"/>
                </a:lnTo>
                <a:lnTo>
                  <a:pt x="5208879" y="623928"/>
                </a:lnTo>
                <a:lnTo>
                  <a:pt x="5339101" y="608154"/>
                </a:lnTo>
                <a:lnTo>
                  <a:pt x="5469323" y="592299"/>
                </a:lnTo>
                <a:lnTo>
                  <a:pt x="5599545" y="576419"/>
                </a:lnTo>
                <a:lnTo>
                  <a:pt x="5729767" y="560451"/>
                </a:lnTo>
                <a:lnTo>
                  <a:pt x="5859989" y="544449"/>
                </a:lnTo>
                <a:lnTo>
                  <a:pt x="5990211" y="528413"/>
                </a:lnTo>
                <a:lnTo>
                  <a:pt x="6120433" y="512312"/>
                </a:lnTo>
                <a:lnTo>
                  <a:pt x="6250655" y="496187"/>
                </a:lnTo>
                <a:lnTo>
                  <a:pt x="6380877" y="479988"/>
                </a:lnTo>
                <a:lnTo>
                  <a:pt x="6511099" y="463780"/>
                </a:lnTo>
                <a:lnTo>
                  <a:pt x="6641321" y="447516"/>
                </a:lnTo>
                <a:lnTo>
                  <a:pt x="6771543" y="431177"/>
                </a:lnTo>
                <a:lnTo>
                  <a:pt x="6901765" y="414812"/>
                </a:lnTo>
                <a:lnTo>
                  <a:pt x="7031987" y="398413"/>
                </a:lnTo>
                <a:lnTo>
                  <a:pt x="7162209" y="381922"/>
                </a:lnTo>
                <a:lnTo>
                  <a:pt x="7292431" y="365389"/>
                </a:lnTo>
                <a:lnTo>
                  <a:pt x="7422653" y="348787"/>
                </a:lnTo>
                <a:lnTo>
                  <a:pt x="7552875" y="332117"/>
                </a:lnTo>
                <a:lnTo>
                  <a:pt x="7683097" y="315420"/>
                </a:lnTo>
                <a:lnTo>
                  <a:pt x="7813319" y="298673"/>
                </a:lnTo>
                <a:lnTo>
                  <a:pt x="7943541" y="281889"/>
                </a:lnTo>
                <a:lnTo>
                  <a:pt x="8073763" y="265116"/>
                </a:lnTo>
                <a:lnTo>
                  <a:pt x="8203985" y="248373"/>
                </a:lnTo>
                <a:lnTo>
                  <a:pt x="8334207" y="231687"/>
                </a:lnTo>
                <a:lnTo>
                  <a:pt x="8464429" y="215071"/>
                </a:lnTo>
                <a:lnTo>
                  <a:pt x="8594651" y="198571"/>
                </a:lnTo>
                <a:lnTo>
                  <a:pt x="8724873" y="182222"/>
                </a:lnTo>
                <a:lnTo>
                  <a:pt x="8855095" y="166066"/>
                </a:lnTo>
                <a:lnTo>
                  <a:pt x="8985317" y="150107"/>
                </a:lnTo>
                <a:lnTo>
                  <a:pt x="9115539" y="134443"/>
                </a:lnTo>
                <a:lnTo>
                  <a:pt x="9245761" y="119050"/>
                </a:lnTo>
                <a:lnTo>
                  <a:pt x="9375983" y="104037"/>
                </a:lnTo>
                <a:lnTo>
                  <a:pt x="9506205" y="89389"/>
                </a:lnTo>
                <a:lnTo>
                  <a:pt x="9636427" y="75120"/>
                </a:lnTo>
                <a:lnTo>
                  <a:pt x="9766649" y="61361"/>
                </a:lnTo>
                <a:lnTo>
                  <a:pt x="9896871" y="48073"/>
                </a:lnTo>
                <a:lnTo>
                  <a:pt x="10027093" y="35279"/>
                </a:lnTo>
                <a:lnTo>
                  <a:pt x="10157315" y="23012"/>
                </a:lnTo>
                <a:lnTo>
                  <a:pt x="10287537" y="11265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90447" y="1963799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56" name="hfa: 50-й центиль"/>
          <p:cNvSpPr/>
          <p:nvPr/>
        </p:nvSpPr>
        <p:spPr>
          <a:xfrm>
            <a:off x="932688" y="2199635"/>
            <a:ext cx="10417759" cy="1199747"/>
          </a:xfrm>
          <a:custGeom>
            <a:avLst/>
            <a:gdLst/>
            <a:ahLst/>
            <a:cxnLst/>
            <a:rect l="l" t="t" r="r" b="b"/>
            <a:pathLst>
              <a:path w="10417759" h="1199747">
                <a:moveTo>
                  <a:pt x="0" y="1199747"/>
                </a:moveTo>
                <a:lnTo>
                  <a:pt x="130221" y="1182129"/>
                </a:lnTo>
                <a:lnTo>
                  <a:pt x="260443" y="1164610"/>
                </a:lnTo>
                <a:lnTo>
                  <a:pt x="390665" y="1147172"/>
                </a:lnTo>
                <a:lnTo>
                  <a:pt x="520887" y="1130229"/>
                </a:lnTo>
                <a:lnTo>
                  <a:pt x="651109" y="1113406"/>
                </a:lnTo>
                <a:lnTo>
                  <a:pt x="781331" y="1097001"/>
                </a:lnTo>
                <a:lnTo>
                  <a:pt x="911553" y="1080507"/>
                </a:lnTo>
                <a:lnTo>
                  <a:pt x="1041775" y="1064254"/>
                </a:lnTo>
                <a:lnTo>
                  <a:pt x="1171997" y="1056148"/>
                </a:lnTo>
                <a:lnTo>
                  <a:pt x="1302219" y="1040228"/>
                </a:lnTo>
                <a:lnTo>
                  <a:pt x="1432441" y="1024494"/>
                </a:lnTo>
                <a:lnTo>
                  <a:pt x="1562663" y="1008963"/>
                </a:lnTo>
                <a:lnTo>
                  <a:pt x="1692885" y="993618"/>
                </a:lnTo>
                <a:lnTo>
                  <a:pt x="1823107" y="978436"/>
                </a:lnTo>
                <a:lnTo>
                  <a:pt x="1953329" y="963435"/>
                </a:lnTo>
                <a:lnTo>
                  <a:pt x="2083551" y="948596"/>
                </a:lnTo>
                <a:lnTo>
                  <a:pt x="2213773" y="933901"/>
                </a:lnTo>
                <a:lnTo>
                  <a:pt x="2343995" y="919354"/>
                </a:lnTo>
                <a:lnTo>
                  <a:pt x="2474217" y="904908"/>
                </a:lnTo>
                <a:lnTo>
                  <a:pt x="2604439" y="890535"/>
                </a:lnTo>
                <a:lnTo>
                  <a:pt x="2734661" y="876223"/>
                </a:lnTo>
                <a:lnTo>
                  <a:pt x="2864883" y="861945"/>
                </a:lnTo>
                <a:lnTo>
                  <a:pt x="2995105" y="847691"/>
                </a:lnTo>
                <a:lnTo>
                  <a:pt x="3125327" y="833443"/>
                </a:lnTo>
                <a:lnTo>
                  <a:pt x="3255549" y="819192"/>
                </a:lnTo>
                <a:lnTo>
                  <a:pt x="3385771" y="804924"/>
                </a:lnTo>
                <a:lnTo>
                  <a:pt x="3515993" y="790632"/>
                </a:lnTo>
                <a:lnTo>
                  <a:pt x="3646215" y="776316"/>
                </a:lnTo>
                <a:lnTo>
                  <a:pt x="3776437" y="761972"/>
                </a:lnTo>
                <a:lnTo>
                  <a:pt x="3906659" y="747588"/>
                </a:lnTo>
                <a:lnTo>
                  <a:pt x="4036881" y="733171"/>
                </a:lnTo>
                <a:lnTo>
                  <a:pt x="4167103" y="718711"/>
                </a:lnTo>
                <a:lnTo>
                  <a:pt x="4297325" y="704207"/>
                </a:lnTo>
                <a:lnTo>
                  <a:pt x="4427547" y="689655"/>
                </a:lnTo>
                <a:lnTo>
                  <a:pt x="4557769" y="675045"/>
                </a:lnTo>
                <a:lnTo>
                  <a:pt x="4687991" y="660376"/>
                </a:lnTo>
                <a:lnTo>
                  <a:pt x="4818213" y="645655"/>
                </a:lnTo>
                <a:lnTo>
                  <a:pt x="4948435" y="630867"/>
                </a:lnTo>
                <a:lnTo>
                  <a:pt x="5078657" y="616019"/>
                </a:lnTo>
                <a:lnTo>
                  <a:pt x="5208879" y="601115"/>
                </a:lnTo>
                <a:lnTo>
                  <a:pt x="5339101" y="586136"/>
                </a:lnTo>
                <a:lnTo>
                  <a:pt x="5469323" y="571101"/>
                </a:lnTo>
                <a:lnTo>
                  <a:pt x="5599545" y="556002"/>
                </a:lnTo>
                <a:lnTo>
                  <a:pt x="5729767" y="540841"/>
                </a:lnTo>
                <a:lnTo>
                  <a:pt x="5859989" y="525626"/>
                </a:lnTo>
                <a:lnTo>
                  <a:pt x="5990211" y="510361"/>
                </a:lnTo>
                <a:lnTo>
                  <a:pt x="6120433" y="495035"/>
                </a:lnTo>
                <a:lnTo>
                  <a:pt x="6250655" y="479662"/>
                </a:lnTo>
                <a:lnTo>
                  <a:pt x="6380877" y="464232"/>
                </a:lnTo>
                <a:lnTo>
                  <a:pt x="6511099" y="448749"/>
                </a:lnTo>
                <a:lnTo>
                  <a:pt x="6641321" y="433212"/>
                </a:lnTo>
                <a:lnTo>
                  <a:pt x="6771543" y="417613"/>
                </a:lnTo>
                <a:lnTo>
                  <a:pt x="6901765" y="401953"/>
                </a:lnTo>
                <a:lnTo>
                  <a:pt x="7031987" y="386233"/>
                </a:lnTo>
                <a:lnTo>
                  <a:pt x="7162209" y="370442"/>
                </a:lnTo>
                <a:lnTo>
                  <a:pt x="7292431" y="354578"/>
                </a:lnTo>
                <a:lnTo>
                  <a:pt x="7422653" y="338649"/>
                </a:lnTo>
                <a:lnTo>
                  <a:pt x="7552875" y="322644"/>
                </a:lnTo>
                <a:lnTo>
                  <a:pt x="7683097" y="306579"/>
                </a:lnTo>
                <a:lnTo>
                  <a:pt x="7813319" y="290465"/>
                </a:lnTo>
                <a:lnTo>
                  <a:pt x="7943541" y="274314"/>
                </a:lnTo>
                <a:lnTo>
                  <a:pt x="8073763" y="258150"/>
                </a:lnTo>
                <a:lnTo>
                  <a:pt x="8203985" y="241993"/>
                </a:lnTo>
                <a:lnTo>
                  <a:pt x="8334207" y="225875"/>
                </a:lnTo>
                <a:lnTo>
                  <a:pt x="8464429" y="209816"/>
                </a:lnTo>
                <a:lnTo>
                  <a:pt x="8594651" y="193848"/>
                </a:lnTo>
                <a:lnTo>
                  <a:pt x="8724873" y="178016"/>
                </a:lnTo>
                <a:lnTo>
                  <a:pt x="8855095" y="162339"/>
                </a:lnTo>
                <a:lnTo>
                  <a:pt x="8985317" y="146862"/>
                </a:lnTo>
                <a:lnTo>
                  <a:pt x="9115539" y="131632"/>
                </a:lnTo>
                <a:lnTo>
                  <a:pt x="9245761" y="116659"/>
                </a:lnTo>
                <a:lnTo>
                  <a:pt x="9375983" y="102012"/>
                </a:lnTo>
                <a:lnTo>
                  <a:pt x="9506205" y="87726"/>
                </a:lnTo>
                <a:lnTo>
                  <a:pt x="9636427" y="73804"/>
                </a:lnTo>
                <a:lnTo>
                  <a:pt x="9766649" y="60339"/>
                </a:lnTo>
                <a:lnTo>
                  <a:pt x="9896871" y="47319"/>
                </a:lnTo>
                <a:lnTo>
                  <a:pt x="10027093" y="34737"/>
                </a:lnTo>
                <a:lnTo>
                  <a:pt x="10157315" y="22685"/>
                </a:lnTo>
                <a:lnTo>
                  <a:pt x="10287537" y="11108"/>
                </a:lnTo>
                <a:lnTo>
                  <a:pt x="10417759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390447" y="212463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8" name="hfa: 15-й центиль"/>
          <p:cNvSpPr/>
          <p:nvPr/>
        </p:nvSpPr>
        <p:spPr>
          <a:xfrm>
            <a:off x="932688" y="2360471"/>
            <a:ext cx="10417759" cy="1138717"/>
          </a:xfrm>
          <a:custGeom>
            <a:avLst/>
            <a:gdLst/>
            <a:ahLst/>
            <a:cxnLst/>
            <a:rect l="l" t="t" r="r" b="b"/>
            <a:pathLst>
              <a:path w="10417759" h="1138717">
                <a:moveTo>
                  <a:pt x="0" y="1138717"/>
                </a:moveTo>
                <a:lnTo>
                  <a:pt x="130221" y="1122295"/>
                </a:lnTo>
                <a:lnTo>
                  <a:pt x="260443" y="1105980"/>
                </a:lnTo>
                <a:lnTo>
                  <a:pt x="390665" y="1089755"/>
                </a:lnTo>
                <a:lnTo>
                  <a:pt x="520887" y="1073965"/>
                </a:lnTo>
                <a:lnTo>
                  <a:pt x="651109" y="1058319"/>
                </a:lnTo>
                <a:lnTo>
                  <a:pt x="781331" y="1043054"/>
                </a:lnTo>
                <a:lnTo>
                  <a:pt x="911553" y="1027722"/>
                </a:lnTo>
                <a:lnTo>
                  <a:pt x="1041775" y="1012624"/>
                </a:lnTo>
                <a:lnTo>
                  <a:pt x="1171997" y="1005260"/>
                </a:lnTo>
                <a:lnTo>
                  <a:pt x="1302219" y="990366"/>
                </a:lnTo>
                <a:lnTo>
                  <a:pt x="1432441" y="975654"/>
                </a:lnTo>
                <a:lnTo>
                  <a:pt x="1562663" y="961135"/>
                </a:lnTo>
                <a:lnTo>
                  <a:pt x="1692885" y="946781"/>
                </a:lnTo>
                <a:lnTo>
                  <a:pt x="1823107" y="932584"/>
                </a:lnTo>
                <a:lnTo>
                  <a:pt x="1953329" y="918551"/>
                </a:lnTo>
                <a:lnTo>
                  <a:pt x="2083551" y="904676"/>
                </a:lnTo>
                <a:lnTo>
                  <a:pt x="2213773" y="890942"/>
                </a:lnTo>
                <a:lnTo>
                  <a:pt x="2343995" y="877344"/>
                </a:lnTo>
                <a:lnTo>
                  <a:pt x="2474217" y="863819"/>
                </a:lnTo>
                <a:lnTo>
                  <a:pt x="2604439" y="850392"/>
                </a:lnTo>
                <a:lnTo>
                  <a:pt x="2734661" y="836971"/>
                </a:lnTo>
                <a:lnTo>
                  <a:pt x="2864883" y="823614"/>
                </a:lnTo>
                <a:lnTo>
                  <a:pt x="2995105" y="810254"/>
                </a:lnTo>
                <a:lnTo>
                  <a:pt x="3125327" y="796920"/>
                </a:lnTo>
                <a:lnTo>
                  <a:pt x="3255549" y="783558"/>
                </a:lnTo>
                <a:lnTo>
                  <a:pt x="3385771" y="770180"/>
                </a:lnTo>
                <a:lnTo>
                  <a:pt x="3515993" y="756760"/>
                </a:lnTo>
                <a:lnTo>
                  <a:pt x="3646215" y="743321"/>
                </a:lnTo>
                <a:lnTo>
                  <a:pt x="3776437" y="729870"/>
                </a:lnTo>
                <a:lnTo>
                  <a:pt x="3906659" y="716342"/>
                </a:lnTo>
                <a:lnTo>
                  <a:pt x="4036881" y="702783"/>
                </a:lnTo>
                <a:lnTo>
                  <a:pt x="4167103" y="689194"/>
                </a:lnTo>
                <a:lnTo>
                  <a:pt x="4297325" y="675531"/>
                </a:lnTo>
                <a:lnTo>
                  <a:pt x="4427547" y="661825"/>
                </a:lnTo>
                <a:lnTo>
                  <a:pt x="4557769" y="648065"/>
                </a:lnTo>
                <a:lnTo>
                  <a:pt x="4687991" y="634251"/>
                </a:lnTo>
                <a:lnTo>
                  <a:pt x="4818213" y="620360"/>
                </a:lnTo>
                <a:lnTo>
                  <a:pt x="4948435" y="606395"/>
                </a:lnTo>
                <a:lnTo>
                  <a:pt x="5078657" y="592375"/>
                </a:lnTo>
                <a:lnTo>
                  <a:pt x="5208879" y="578301"/>
                </a:lnTo>
                <a:lnTo>
                  <a:pt x="5339101" y="564118"/>
                </a:lnTo>
                <a:lnTo>
                  <a:pt x="5469323" y="549903"/>
                </a:lnTo>
                <a:lnTo>
                  <a:pt x="5599545" y="535586"/>
                </a:lnTo>
                <a:lnTo>
                  <a:pt x="5729767" y="521231"/>
                </a:lnTo>
                <a:lnTo>
                  <a:pt x="5859989" y="506803"/>
                </a:lnTo>
                <a:lnTo>
                  <a:pt x="5990211" y="492309"/>
                </a:lnTo>
                <a:lnTo>
                  <a:pt x="6120433" y="477758"/>
                </a:lnTo>
                <a:lnTo>
                  <a:pt x="6250655" y="463137"/>
                </a:lnTo>
                <a:lnTo>
                  <a:pt x="6380877" y="448476"/>
                </a:lnTo>
                <a:lnTo>
                  <a:pt x="6511099" y="433718"/>
                </a:lnTo>
                <a:lnTo>
                  <a:pt x="6641321" y="418908"/>
                </a:lnTo>
                <a:lnTo>
                  <a:pt x="6771543" y="404049"/>
                </a:lnTo>
                <a:lnTo>
                  <a:pt x="6901765" y="389095"/>
                </a:lnTo>
                <a:lnTo>
                  <a:pt x="7031987" y="374053"/>
                </a:lnTo>
                <a:lnTo>
                  <a:pt x="7162209" y="358962"/>
                </a:lnTo>
                <a:lnTo>
                  <a:pt x="7292431" y="343768"/>
                </a:lnTo>
                <a:lnTo>
                  <a:pt x="7422653" y="328510"/>
                </a:lnTo>
                <a:lnTo>
                  <a:pt x="7552875" y="313170"/>
                </a:lnTo>
                <a:lnTo>
                  <a:pt x="7683097" y="297737"/>
                </a:lnTo>
                <a:lnTo>
                  <a:pt x="7813319" y="282257"/>
                </a:lnTo>
                <a:lnTo>
                  <a:pt x="7943541" y="266739"/>
                </a:lnTo>
                <a:lnTo>
                  <a:pt x="8073763" y="251184"/>
                </a:lnTo>
                <a:lnTo>
                  <a:pt x="8203985" y="235613"/>
                </a:lnTo>
                <a:lnTo>
                  <a:pt x="8334207" y="220063"/>
                </a:lnTo>
                <a:lnTo>
                  <a:pt x="8464429" y="204560"/>
                </a:lnTo>
                <a:lnTo>
                  <a:pt x="8594651" y="189126"/>
                </a:lnTo>
                <a:lnTo>
                  <a:pt x="8724873" y="173810"/>
                </a:lnTo>
                <a:lnTo>
                  <a:pt x="8855095" y="158612"/>
                </a:lnTo>
                <a:lnTo>
                  <a:pt x="8985317" y="143618"/>
                </a:lnTo>
                <a:lnTo>
                  <a:pt x="9115539" y="128822"/>
                </a:lnTo>
                <a:lnTo>
                  <a:pt x="9245761" y="114267"/>
                </a:lnTo>
                <a:lnTo>
                  <a:pt x="9375983" y="99987"/>
                </a:lnTo>
                <a:lnTo>
                  <a:pt x="9506205" y="86064"/>
                </a:lnTo>
                <a:lnTo>
                  <a:pt x="9636427" y="72489"/>
                </a:lnTo>
                <a:lnTo>
                  <a:pt x="9766649" y="59318"/>
                </a:lnTo>
                <a:lnTo>
                  <a:pt x="9896871" y="46566"/>
                </a:lnTo>
                <a:lnTo>
                  <a:pt x="10027093" y="34194"/>
                </a:lnTo>
                <a:lnTo>
                  <a:pt x="10157315" y="22358"/>
                </a:lnTo>
                <a:lnTo>
                  <a:pt x="10287537" y="10951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90447" y="228547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60" name="hfa: 3-й центиль"/>
          <p:cNvSpPr/>
          <p:nvPr/>
        </p:nvSpPr>
        <p:spPr>
          <a:xfrm>
            <a:off x="932688" y="2491655"/>
            <a:ext cx="10417759" cy="1088939"/>
          </a:xfrm>
          <a:custGeom>
            <a:avLst/>
            <a:gdLst/>
            <a:ahLst/>
            <a:cxnLst/>
            <a:rect l="l" t="t" r="r" b="b"/>
            <a:pathLst>
              <a:path w="10417759" h="1088939">
                <a:moveTo>
                  <a:pt x="0" y="1088939"/>
                </a:moveTo>
                <a:lnTo>
                  <a:pt x="130221" y="1073491"/>
                </a:lnTo>
                <a:lnTo>
                  <a:pt x="260443" y="1058158"/>
                </a:lnTo>
                <a:lnTo>
                  <a:pt x="390665" y="1042924"/>
                </a:lnTo>
                <a:lnTo>
                  <a:pt x="520887" y="1028074"/>
                </a:lnTo>
                <a:lnTo>
                  <a:pt x="651109" y="1013388"/>
                </a:lnTo>
                <a:lnTo>
                  <a:pt x="781331" y="999052"/>
                </a:lnTo>
                <a:lnTo>
                  <a:pt x="911553" y="984668"/>
                </a:lnTo>
                <a:lnTo>
                  <a:pt x="1041775" y="970513"/>
                </a:lnTo>
                <a:lnTo>
                  <a:pt x="1171997" y="963753"/>
                </a:lnTo>
                <a:lnTo>
                  <a:pt x="1302219" y="949697"/>
                </a:lnTo>
                <a:lnTo>
                  <a:pt x="1432441" y="935818"/>
                </a:lnTo>
                <a:lnTo>
                  <a:pt x="1562663" y="922124"/>
                </a:lnTo>
                <a:lnTo>
                  <a:pt x="1692885" y="908578"/>
                </a:lnTo>
                <a:lnTo>
                  <a:pt x="1823107" y="895185"/>
                </a:lnTo>
                <a:lnTo>
                  <a:pt x="1953329" y="881941"/>
                </a:lnTo>
                <a:lnTo>
                  <a:pt x="2083551" y="868853"/>
                </a:lnTo>
                <a:lnTo>
                  <a:pt x="2213773" y="855903"/>
                </a:lnTo>
                <a:lnTo>
                  <a:pt x="2343995" y="843080"/>
                </a:lnTo>
                <a:lnTo>
                  <a:pt x="2474217" y="830304"/>
                </a:lnTo>
                <a:lnTo>
                  <a:pt x="2604439" y="817649"/>
                </a:lnTo>
                <a:lnTo>
                  <a:pt x="2734661" y="804956"/>
                </a:lnTo>
                <a:lnTo>
                  <a:pt x="2864883" y="792349"/>
                </a:lnTo>
                <a:lnTo>
                  <a:pt x="2995105" y="779719"/>
                </a:lnTo>
                <a:lnTo>
                  <a:pt x="3125327" y="767130"/>
                </a:lnTo>
                <a:lnTo>
                  <a:pt x="3255549" y="754494"/>
                </a:lnTo>
                <a:lnTo>
                  <a:pt x="3385771" y="741842"/>
                </a:lnTo>
                <a:lnTo>
                  <a:pt x="3515993" y="729132"/>
                </a:lnTo>
                <a:lnTo>
                  <a:pt x="3646215" y="716409"/>
                </a:lnTo>
                <a:lnTo>
                  <a:pt x="3776437" y="703687"/>
                </a:lnTo>
                <a:lnTo>
                  <a:pt x="3906659" y="690856"/>
                </a:lnTo>
                <a:lnTo>
                  <a:pt x="4036881" y="677997"/>
                </a:lnTo>
                <a:lnTo>
                  <a:pt x="4167103" y="665119"/>
                </a:lnTo>
                <a:lnTo>
                  <a:pt x="4297325" y="652143"/>
                </a:lnTo>
                <a:lnTo>
                  <a:pt x="4427547" y="639126"/>
                </a:lnTo>
                <a:lnTo>
                  <a:pt x="4557769" y="626059"/>
                </a:lnTo>
                <a:lnTo>
                  <a:pt x="4687991" y="612942"/>
                </a:lnTo>
                <a:lnTo>
                  <a:pt x="4818213" y="599729"/>
                </a:lnTo>
                <a:lnTo>
                  <a:pt x="4948435" y="586435"/>
                </a:lnTo>
                <a:lnTo>
                  <a:pt x="5078657" y="573089"/>
                </a:lnTo>
                <a:lnTo>
                  <a:pt x="5208879" y="559694"/>
                </a:lnTo>
                <a:lnTo>
                  <a:pt x="5339101" y="546159"/>
                </a:lnTo>
                <a:lnTo>
                  <a:pt x="5469323" y="532613"/>
                </a:lnTo>
                <a:lnTo>
                  <a:pt x="5599545" y="518933"/>
                </a:lnTo>
                <a:lnTo>
                  <a:pt x="5729767" y="505236"/>
                </a:lnTo>
                <a:lnTo>
                  <a:pt x="5859989" y="491450"/>
                </a:lnTo>
                <a:lnTo>
                  <a:pt x="5990211" y="477585"/>
                </a:lnTo>
                <a:lnTo>
                  <a:pt x="6120433" y="463665"/>
                </a:lnTo>
                <a:lnTo>
                  <a:pt x="6250655" y="449658"/>
                </a:lnTo>
                <a:lnTo>
                  <a:pt x="6380877" y="435625"/>
                </a:lnTo>
                <a:lnTo>
                  <a:pt x="6511099" y="421458"/>
                </a:lnTo>
                <a:lnTo>
                  <a:pt x="6641321" y="407241"/>
                </a:lnTo>
                <a:lnTo>
                  <a:pt x="6771543" y="392985"/>
                </a:lnTo>
                <a:lnTo>
                  <a:pt x="6901765" y="378607"/>
                </a:lnTo>
                <a:lnTo>
                  <a:pt x="7031987" y="364119"/>
                </a:lnTo>
                <a:lnTo>
                  <a:pt x="7162209" y="349598"/>
                </a:lnTo>
                <a:lnTo>
                  <a:pt x="7292431" y="334950"/>
                </a:lnTo>
                <a:lnTo>
                  <a:pt x="7422653" y="320241"/>
                </a:lnTo>
                <a:lnTo>
                  <a:pt x="7552875" y="305443"/>
                </a:lnTo>
                <a:lnTo>
                  <a:pt x="7683097" y="290526"/>
                </a:lnTo>
                <a:lnTo>
                  <a:pt x="7813319" y="275562"/>
                </a:lnTo>
                <a:lnTo>
                  <a:pt x="7943541" y="260561"/>
                </a:lnTo>
                <a:lnTo>
                  <a:pt x="8073763" y="245503"/>
                </a:lnTo>
                <a:lnTo>
                  <a:pt x="8203985" y="230409"/>
                </a:lnTo>
                <a:lnTo>
                  <a:pt x="8334207" y="215323"/>
                </a:lnTo>
                <a:lnTo>
                  <a:pt x="8464429" y="200274"/>
                </a:lnTo>
                <a:lnTo>
                  <a:pt x="8594651" y="185274"/>
                </a:lnTo>
                <a:lnTo>
                  <a:pt x="8724873" y="170379"/>
                </a:lnTo>
                <a:lnTo>
                  <a:pt x="8855095" y="155572"/>
                </a:lnTo>
                <a:lnTo>
                  <a:pt x="8985317" y="140971"/>
                </a:lnTo>
                <a:lnTo>
                  <a:pt x="9115539" y="126529"/>
                </a:lnTo>
                <a:lnTo>
                  <a:pt x="9245761" y="112317"/>
                </a:lnTo>
                <a:lnTo>
                  <a:pt x="9375983" y="98335"/>
                </a:lnTo>
                <a:lnTo>
                  <a:pt x="9506205" y="84708"/>
                </a:lnTo>
                <a:lnTo>
                  <a:pt x="9636427" y="71415"/>
                </a:lnTo>
                <a:lnTo>
                  <a:pt x="9766649" y="58485"/>
                </a:lnTo>
                <a:lnTo>
                  <a:pt x="9896871" y="45951"/>
                </a:lnTo>
                <a:lnTo>
                  <a:pt x="10027093" y="33751"/>
                </a:lnTo>
                <a:lnTo>
                  <a:pt x="10157315" y="22091"/>
                </a:lnTo>
                <a:lnTo>
                  <a:pt x="10287537" y="10823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90447" y="241665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2" name="hfa: пример"/>
          <p:cNvSpPr/>
          <p:nvPr/>
        </p:nvSpPr>
        <p:spPr>
          <a:xfrm>
            <a:off x="932688" y="2882484"/>
            <a:ext cx="6945172" cy="507264"/>
          </a:xfrm>
          <a:custGeom>
            <a:avLst/>
            <a:gdLst/>
            <a:ahLst/>
            <a:cxnLst/>
            <a:rect l="l" t="t" r="r" b="b"/>
            <a:pathLst>
              <a:path w="6945172" h="507264">
                <a:moveTo>
                  <a:pt x="0" y="507264"/>
                </a:moveTo>
                <a:lnTo>
                  <a:pt x="96460" y="494206"/>
                </a:lnTo>
                <a:lnTo>
                  <a:pt x="192921" y="480850"/>
                </a:lnTo>
                <a:lnTo>
                  <a:pt x="289382" y="468058"/>
                </a:lnTo>
                <a:lnTo>
                  <a:pt x="385842" y="454967"/>
                </a:lnTo>
                <a:lnTo>
                  <a:pt x="482303" y="442422"/>
                </a:lnTo>
                <a:lnTo>
                  <a:pt x="578764" y="429582"/>
                </a:lnTo>
                <a:lnTo>
                  <a:pt x="675225" y="417272"/>
                </a:lnTo>
                <a:lnTo>
                  <a:pt x="771685" y="405083"/>
                </a:lnTo>
                <a:lnTo>
                  <a:pt x="868146" y="392608"/>
                </a:lnTo>
                <a:lnTo>
                  <a:pt x="964607" y="380654"/>
                </a:lnTo>
                <a:lnTo>
                  <a:pt x="1061068" y="368416"/>
                </a:lnTo>
                <a:lnTo>
                  <a:pt x="1157528" y="364472"/>
                </a:lnTo>
                <a:lnTo>
                  <a:pt x="1253989" y="353455"/>
                </a:lnTo>
                <a:lnTo>
                  <a:pt x="1350450" y="342560"/>
                </a:lnTo>
                <a:lnTo>
                  <a:pt x="1446910" y="331786"/>
                </a:lnTo>
                <a:lnTo>
                  <a:pt x="1543371" y="321133"/>
                </a:lnTo>
                <a:lnTo>
                  <a:pt x="1639832" y="310594"/>
                </a:lnTo>
                <a:lnTo>
                  <a:pt x="1736293" y="300161"/>
                </a:lnTo>
                <a:lnTo>
                  <a:pt x="1832753" y="289838"/>
                </a:lnTo>
                <a:lnTo>
                  <a:pt x="1929214" y="279618"/>
                </a:lnTo>
                <a:lnTo>
                  <a:pt x="2025675" y="269502"/>
                </a:lnTo>
                <a:lnTo>
                  <a:pt x="2122136" y="259484"/>
                </a:lnTo>
                <a:lnTo>
                  <a:pt x="2218596" y="249560"/>
                </a:lnTo>
                <a:lnTo>
                  <a:pt x="2315057" y="239722"/>
                </a:lnTo>
                <a:lnTo>
                  <a:pt x="2411518" y="229958"/>
                </a:lnTo>
                <a:lnTo>
                  <a:pt x="2507979" y="220253"/>
                </a:lnTo>
                <a:lnTo>
                  <a:pt x="2604439" y="210599"/>
                </a:lnTo>
                <a:lnTo>
                  <a:pt x="2700900" y="200983"/>
                </a:lnTo>
                <a:lnTo>
                  <a:pt x="2797361" y="191401"/>
                </a:lnTo>
                <a:lnTo>
                  <a:pt x="2893821" y="181848"/>
                </a:lnTo>
                <a:lnTo>
                  <a:pt x="2990282" y="172315"/>
                </a:lnTo>
                <a:lnTo>
                  <a:pt x="3086743" y="162798"/>
                </a:lnTo>
                <a:lnTo>
                  <a:pt x="3183204" y="153291"/>
                </a:lnTo>
                <a:lnTo>
                  <a:pt x="3279664" y="143787"/>
                </a:lnTo>
                <a:lnTo>
                  <a:pt x="3376125" y="134284"/>
                </a:lnTo>
                <a:lnTo>
                  <a:pt x="3472586" y="124778"/>
                </a:lnTo>
                <a:lnTo>
                  <a:pt x="3569047" y="119367"/>
                </a:lnTo>
                <a:lnTo>
                  <a:pt x="3665507" y="113991"/>
                </a:lnTo>
                <a:lnTo>
                  <a:pt x="3761968" y="108657"/>
                </a:lnTo>
                <a:lnTo>
                  <a:pt x="3858429" y="103351"/>
                </a:lnTo>
                <a:lnTo>
                  <a:pt x="3954889" y="98066"/>
                </a:lnTo>
                <a:lnTo>
                  <a:pt x="4051350" y="92822"/>
                </a:lnTo>
                <a:lnTo>
                  <a:pt x="4147811" y="87608"/>
                </a:lnTo>
                <a:lnTo>
                  <a:pt x="4244272" y="82411"/>
                </a:lnTo>
                <a:lnTo>
                  <a:pt x="4340732" y="77240"/>
                </a:lnTo>
                <a:lnTo>
                  <a:pt x="4437193" y="72090"/>
                </a:lnTo>
                <a:lnTo>
                  <a:pt x="4533654" y="66963"/>
                </a:lnTo>
                <a:lnTo>
                  <a:pt x="4630115" y="61855"/>
                </a:lnTo>
                <a:lnTo>
                  <a:pt x="4726575" y="58938"/>
                </a:lnTo>
                <a:lnTo>
                  <a:pt x="4823036" y="56044"/>
                </a:lnTo>
                <a:lnTo>
                  <a:pt x="4919497" y="53185"/>
                </a:lnTo>
                <a:lnTo>
                  <a:pt x="5015958" y="50364"/>
                </a:lnTo>
                <a:lnTo>
                  <a:pt x="5112418" y="47577"/>
                </a:lnTo>
                <a:lnTo>
                  <a:pt x="5208879" y="44831"/>
                </a:lnTo>
                <a:lnTo>
                  <a:pt x="5305340" y="42089"/>
                </a:lnTo>
                <a:lnTo>
                  <a:pt x="5401800" y="39382"/>
                </a:lnTo>
                <a:lnTo>
                  <a:pt x="5498261" y="36743"/>
                </a:lnTo>
                <a:lnTo>
                  <a:pt x="5594722" y="34069"/>
                </a:lnTo>
                <a:lnTo>
                  <a:pt x="5691183" y="31469"/>
                </a:lnTo>
                <a:lnTo>
                  <a:pt x="5787643" y="28905"/>
                </a:lnTo>
                <a:lnTo>
                  <a:pt x="5884104" y="26341"/>
                </a:lnTo>
                <a:lnTo>
                  <a:pt x="5980565" y="23816"/>
                </a:lnTo>
                <a:lnTo>
                  <a:pt x="6077026" y="21325"/>
                </a:lnTo>
                <a:lnTo>
                  <a:pt x="6173486" y="18874"/>
                </a:lnTo>
                <a:lnTo>
                  <a:pt x="6269947" y="16413"/>
                </a:lnTo>
                <a:lnTo>
                  <a:pt x="6366408" y="14035"/>
                </a:lnTo>
                <a:lnTo>
                  <a:pt x="6462869" y="11645"/>
                </a:lnTo>
                <a:lnTo>
                  <a:pt x="6559329" y="9235"/>
                </a:lnTo>
                <a:lnTo>
                  <a:pt x="6655790" y="6909"/>
                </a:lnTo>
                <a:lnTo>
                  <a:pt x="6752251" y="4615"/>
                </a:lnTo>
                <a:lnTo>
                  <a:pt x="6848711" y="2295"/>
                </a:lnTo>
                <a:lnTo>
                  <a:pt x="6945172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hfa: точка 4"/>
          <p:cNvSpPr/>
          <p:nvPr/>
        </p:nvSpPr>
        <p:spPr>
          <a:xfrm>
            <a:off x="874688" y="3331748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hfa: точка 5"/>
          <p:cNvSpPr/>
          <p:nvPr/>
        </p:nvSpPr>
        <p:spPr>
          <a:xfrm>
            <a:off x="2032216" y="318895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hfa: точка 6"/>
          <p:cNvSpPr/>
          <p:nvPr/>
        </p:nvSpPr>
        <p:spPr>
          <a:xfrm>
            <a:off x="3189745" y="306420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fa: точка 7"/>
          <p:cNvSpPr/>
          <p:nvPr/>
        </p:nvSpPr>
        <p:spPr>
          <a:xfrm>
            <a:off x="4347274" y="2949262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fa: точка 8"/>
          <p:cNvSpPr/>
          <p:nvPr/>
        </p:nvSpPr>
        <p:spPr>
          <a:xfrm>
            <a:off x="5504803" y="288633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fa: точка 9"/>
          <p:cNvSpPr/>
          <p:nvPr/>
        </p:nvSpPr>
        <p:spPr>
          <a:xfrm>
            <a:off x="6662331" y="285338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fa: точка 10"/>
          <p:cNvSpPr/>
          <p:nvPr/>
        </p:nvSpPr>
        <p:spPr>
          <a:xfrm>
            <a:off x="7819860" y="2824484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событие 7.5"/>
          <p:cNvSpPr/>
          <p:nvPr/>
        </p:nvSpPr>
        <p:spPr>
          <a:xfrm>
            <a:off x="498403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34038" y="180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72" name="событие 9"/>
          <p:cNvSpPr/>
          <p:nvPr/>
        </p:nvSpPr>
        <p:spPr>
          <a:xfrm>
            <a:off x="672033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70331" y="1998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74" name="событие 10"/>
          <p:cNvSpPr/>
          <p:nvPr/>
        </p:nvSpPr>
        <p:spPr>
          <a:xfrm>
            <a:off x="7877860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27860" y="219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1533080"/>
            <a:ext cx="11094415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 для возраста, девочки, см</a:t>
            </a:r>
          </a:p>
        </p:txBody>
      </p:sp>
      <p:sp>
        <p:nvSpPr>
          <p:cNvPr id="77" name="bfa: сетка 12"/>
          <p:cNvSpPr/>
          <p:nvPr/>
        </p:nvSpPr>
        <p:spPr>
          <a:xfrm>
            <a:off x="932688" y="5166360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508636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79" name="bfa: сетка 14"/>
          <p:cNvSpPr/>
          <p:nvPr/>
        </p:nvSpPr>
        <p:spPr>
          <a:xfrm>
            <a:off x="932688" y="5057546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bfa: сетка 16"/>
          <p:cNvSpPr/>
          <p:nvPr/>
        </p:nvSpPr>
        <p:spPr>
          <a:xfrm>
            <a:off x="932688" y="4948732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486873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82" name="bfa: сетка 18"/>
          <p:cNvSpPr/>
          <p:nvPr/>
        </p:nvSpPr>
        <p:spPr>
          <a:xfrm>
            <a:off x="932688" y="4839919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bfa: сетка 20"/>
          <p:cNvSpPr/>
          <p:nvPr/>
        </p:nvSpPr>
        <p:spPr>
          <a:xfrm>
            <a:off x="932688" y="4731105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46511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  <p:sp>
        <p:nvSpPr>
          <p:cNvPr id="85" name="bfa: сетка 22"/>
          <p:cNvSpPr/>
          <p:nvPr/>
        </p:nvSpPr>
        <p:spPr>
          <a:xfrm>
            <a:off x="932688" y="4622292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bfa: сетка 24"/>
          <p:cNvSpPr/>
          <p:nvPr/>
        </p:nvSpPr>
        <p:spPr>
          <a:xfrm>
            <a:off x="932688" y="4513478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43347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  <p:sp>
        <p:nvSpPr>
          <p:cNvPr id="88" name="bfa: сетка 26"/>
          <p:cNvSpPr/>
          <p:nvPr/>
        </p:nvSpPr>
        <p:spPr>
          <a:xfrm>
            <a:off x="932688" y="4404664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bfa: сетка 28"/>
          <p:cNvSpPr/>
          <p:nvPr/>
        </p:nvSpPr>
        <p:spPr>
          <a:xfrm>
            <a:off x="932688" y="4295851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8640" y="421585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28</a:t>
            </a:r>
          </a:p>
        </p:txBody>
      </p:sp>
      <p:sp>
        <p:nvSpPr>
          <p:cNvPr id="91" name="bfa: сетка 30"/>
          <p:cNvSpPr/>
          <p:nvPr/>
        </p:nvSpPr>
        <p:spPr>
          <a:xfrm>
            <a:off x="932688" y="4187037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bfa: год 4"/>
          <p:cNvSpPr/>
          <p:nvPr/>
        </p:nvSpPr>
        <p:spPr>
          <a:xfrm>
            <a:off x="932688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688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94" name="bfa: год 5"/>
          <p:cNvSpPr/>
          <p:nvPr/>
        </p:nvSpPr>
        <p:spPr>
          <a:xfrm>
            <a:off x="2090216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940216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96" name="bfa: год 6"/>
          <p:cNvSpPr/>
          <p:nvPr/>
        </p:nvSpPr>
        <p:spPr>
          <a:xfrm>
            <a:off x="324774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097745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98" name="bfa: год 7"/>
          <p:cNvSpPr/>
          <p:nvPr/>
        </p:nvSpPr>
        <p:spPr>
          <a:xfrm>
            <a:off x="4405274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55274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00" name="bfa: год 8"/>
          <p:cNvSpPr/>
          <p:nvPr/>
        </p:nvSpPr>
        <p:spPr>
          <a:xfrm>
            <a:off x="556280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412803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02" name="bfa: год 9"/>
          <p:cNvSpPr/>
          <p:nvPr/>
        </p:nvSpPr>
        <p:spPr>
          <a:xfrm>
            <a:off x="672033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57033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04" name="bfa: год 10"/>
          <p:cNvSpPr/>
          <p:nvPr/>
        </p:nvSpPr>
        <p:spPr>
          <a:xfrm>
            <a:off x="7877860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27860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06" name="bfa: год 11"/>
          <p:cNvSpPr/>
          <p:nvPr/>
        </p:nvSpPr>
        <p:spPr>
          <a:xfrm>
            <a:off x="903538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885389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08" name="bfa: год 12"/>
          <p:cNvSpPr/>
          <p:nvPr/>
        </p:nvSpPr>
        <p:spPr>
          <a:xfrm>
            <a:off x="10192918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42918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10" name="bfa: год 13"/>
          <p:cNvSpPr/>
          <p:nvPr/>
        </p:nvSpPr>
        <p:spPr>
          <a:xfrm>
            <a:off x="11350447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200447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13</a:t>
            </a:r>
          </a:p>
        </p:txBody>
      </p:sp>
      <p:sp>
        <p:nvSpPr>
          <p:cNvPr id="112" name="bfa: ось"/>
          <p:cNvSpPr/>
          <p:nvPr/>
        </p:nvSpPr>
        <p:spPr>
          <a:xfrm>
            <a:off x="932688" y="5166360"/>
            <a:ext cx="10417759" cy="0"/>
          </a:xfrm>
          <a:custGeom>
            <a:avLst/>
            <a:gdLst/>
            <a:ahLst/>
            <a:cxnLst/>
            <a:rect l="l" t="t" r="r" b="b"/>
            <a:pathLst>
              <a:path w="10417759" h="0">
                <a:moveTo>
                  <a:pt x="0" y="0"/>
                </a:moveTo>
                <a:lnTo>
                  <a:pt x="10417759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bfa: полоса 3–97"/>
          <p:cNvSpPr/>
          <p:nvPr/>
        </p:nvSpPr>
        <p:spPr>
          <a:xfrm>
            <a:off x="932688" y="4427771"/>
            <a:ext cx="10417759" cy="693637"/>
          </a:xfrm>
          <a:custGeom>
            <a:avLst/>
            <a:gdLst/>
            <a:ahLst/>
            <a:cxnLst/>
            <a:rect l="l" t="t" r="r" b="b"/>
            <a:pathLst>
              <a:path w="10417759" h="693637">
                <a:moveTo>
                  <a:pt x="0" y="395980"/>
                </a:moveTo>
                <a:lnTo>
                  <a:pt x="130221" y="394688"/>
                </a:lnTo>
                <a:lnTo>
                  <a:pt x="260443" y="393266"/>
                </a:lnTo>
                <a:lnTo>
                  <a:pt x="390665" y="391696"/>
                </a:lnTo>
                <a:lnTo>
                  <a:pt x="520887" y="390031"/>
                </a:lnTo>
                <a:lnTo>
                  <a:pt x="651109" y="388338"/>
                </a:lnTo>
                <a:lnTo>
                  <a:pt x="781331" y="386642"/>
                </a:lnTo>
                <a:lnTo>
                  <a:pt x="911553" y="384981"/>
                </a:lnTo>
                <a:lnTo>
                  <a:pt x="1041775" y="383385"/>
                </a:lnTo>
                <a:lnTo>
                  <a:pt x="1171997" y="380731"/>
                </a:lnTo>
                <a:lnTo>
                  <a:pt x="1302219" y="378889"/>
                </a:lnTo>
                <a:lnTo>
                  <a:pt x="1432441" y="376987"/>
                </a:lnTo>
                <a:lnTo>
                  <a:pt x="1562663" y="374976"/>
                </a:lnTo>
                <a:lnTo>
                  <a:pt x="1692885" y="372888"/>
                </a:lnTo>
                <a:lnTo>
                  <a:pt x="1823107" y="370706"/>
                </a:lnTo>
                <a:lnTo>
                  <a:pt x="1953329" y="368414"/>
                </a:lnTo>
                <a:lnTo>
                  <a:pt x="2083551" y="366031"/>
                </a:lnTo>
                <a:lnTo>
                  <a:pt x="2213773" y="363570"/>
                </a:lnTo>
                <a:lnTo>
                  <a:pt x="2343995" y="360972"/>
                </a:lnTo>
                <a:lnTo>
                  <a:pt x="2474217" y="358268"/>
                </a:lnTo>
                <a:lnTo>
                  <a:pt x="2604439" y="355446"/>
                </a:lnTo>
                <a:lnTo>
                  <a:pt x="2734661" y="352497"/>
                </a:lnTo>
                <a:lnTo>
                  <a:pt x="2864883" y="349426"/>
                </a:lnTo>
                <a:lnTo>
                  <a:pt x="2995105" y="346232"/>
                </a:lnTo>
                <a:lnTo>
                  <a:pt x="3125327" y="342910"/>
                </a:lnTo>
                <a:lnTo>
                  <a:pt x="3255549" y="339432"/>
                </a:lnTo>
                <a:lnTo>
                  <a:pt x="3385771" y="335813"/>
                </a:lnTo>
                <a:lnTo>
                  <a:pt x="3515993" y="332040"/>
                </a:lnTo>
                <a:lnTo>
                  <a:pt x="3646215" y="328149"/>
                </a:lnTo>
                <a:lnTo>
                  <a:pt x="3776437" y="324097"/>
                </a:lnTo>
                <a:lnTo>
                  <a:pt x="3906659" y="319915"/>
                </a:lnTo>
                <a:lnTo>
                  <a:pt x="4036881" y="315595"/>
                </a:lnTo>
                <a:lnTo>
                  <a:pt x="4167103" y="311151"/>
                </a:lnTo>
                <a:lnTo>
                  <a:pt x="4297325" y="306554"/>
                </a:lnTo>
                <a:lnTo>
                  <a:pt x="4427547" y="301828"/>
                </a:lnTo>
                <a:lnTo>
                  <a:pt x="4557769" y="296970"/>
                </a:lnTo>
                <a:lnTo>
                  <a:pt x="4687991" y="291992"/>
                </a:lnTo>
                <a:lnTo>
                  <a:pt x="4818213" y="286879"/>
                </a:lnTo>
                <a:lnTo>
                  <a:pt x="4948435" y="281646"/>
                </a:lnTo>
                <a:lnTo>
                  <a:pt x="5078657" y="276280"/>
                </a:lnTo>
                <a:lnTo>
                  <a:pt x="5208879" y="270826"/>
                </a:lnTo>
                <a:lnTo>
                  <a:pt x="5339101" y="265269"/>
                </a:lnTo>
                <a:lnTo>
                  <a:pt x="5469323" y="259623"/>
                </a:lnTo>
                <a:lnTo>
                  <a:pt x="5599545" y="253894"/>
                </a:lnTo>
                <a:lnTo>
                  <a:pt x="5729767" y="248106"/>
                </a:lnTo>
                <a:lnTo>
                  <a:pt x="5859989" y="242245"/>
                </a:lnTo>
                <a:lnTo>
                  <a:pt x="5990211" y="236324"/>
                </a:lnTo>
                <a:lnTo>
                  <a:pt x="6120433" y="230335"/>
                </a:lnTo>
                <a:lnTo>
                  <a:pt x="6250655" y="224302"/>
                </a:lnTo>
                <a:lnTo>
                  <a:pt x="6380877" y="218210"/>
                </a:lnTo>
                <a:lnTo>
                  <a:pt x="6511099" y="212056"/>
                </a:lnTo>
                <a:lnTo>
                  <a:pt x="6641321" y="205842"/>
                </a:lnTo>
                <a:lnTo>
                  <a:pt x="6771543" y="199550"/>
                </a:lnTo>
                <a:lnTo>
                  <a:pt x="6901765" y="193180"/>
                </a:lnTo>
                <a:lnTo>
                  <a:pt x="7031987" y="186752"/>
                </a:lnTo>
                <a:lnTo>
                  <a:pt x="7162209" y="180258"/>
                </a:lnTo>
                <a:lnTo>
                  <a:pt x="7292431" y="173678"/>
                </a:lnTo>
                <a:lnTo>
                  <a:pt x="7422653" y="167028"/>
                </a:lnTo>
                <a:lnTo>
                  <a:pt x="7552875" y="160288"/>
                </a:lnTo>
                <a:lnTo>
                  <a:pt x="7683097" y="153469"/>
                </a:lnTo>
                <a:lnTo>
                  <a:pt x="7813319" y="146579"/>
                </a:lnTo>
                <a:lnTo>
                  <a:pt x="7943541" y="139616"/>
                </a:lnTo>
                <a:lnTo>
                  <a:pt x="8073763" y="132566"/>
                </a:lnTo>
                <a:lnTo>
                  <a:pt x="8203985" y="125452"/>
                </a:lnTo>
                <a:lnTo>
                  <a:pt x="8334207" y="118264"/>
                </a:lnTo>
                <a:lnTo>
                  <a:pt x="8464429" y="111029"/>
                </a:lnTo>
                <a:lnTo>
                  <a:pt x="8594651" y="103738"/>
                </a:lnTo>
                <a:lnTo>
                  <a:pt x="8724873" y="96376"/>
                </a:lnTo>
                <a:lnTo>
                  <a:pt x="8855095" y="88965"/>
                </a:lnTo>
                <a:lnTo>
                  <a:pt x="8985317" y="81512"/>
                </a:lnTo>
                <a:lnTo>
                  <a:pt x="9115539" y="74060"/>
                </a:lnTo>
                <a:lnTo>
                  <a:pt x="9245761" y="66551"/>
                </a:lnTo>
                <a:lnTo>
                  <a:pt x="9375983" y="59035"/>
                </a:lnTo>
                <a:lnTo>
                  <a:pt x="9506205" y="51540"/>
                </a:lnTo>
                <a:lnTo>
                  <a:pt x="9636427" y="44056"/>
                </a:lnTo>
                <a:lnTo>
                  <a:pt x="9766649" y="36590"/>
                </a:lnTo>
                <a:lnTo>
                  <a:pt x="9896871" y="29152"/>
                </a:lnTo>
                <a:lnTo>
                  <a:pt x="10027093" y="21763"/>
                </a:lnTo>
                <a:lnTo>
                  <a:pt x="10157315" y="14439"/>
                </a:lnTo>
                <a:lnTo>
                  <a:pt x="10287537" y="7183"/>
                </a:lnTo>
                <a:lnTo>
                  <a:pt x="10417759" y="0"/>
                </a:lnTo>
                <a:lnTo>
                  <a:pt x="10417759" y="569111"/>
                </a:lnTo>
                <a:lnTo>
                  <a:pt x="10287537" y="572499"/>
                </a:lnTo>
                <a:lnTo>
                  <a:pt x="10157315" y="575908"/>
                </a:lnTo>
                <a:lnTo>
                  <a:pt x="10027093" y="579335"/>
                </a:lnTo>
                <a:lnTo>
                  <a:pt x="9896871" y="582759"/>
                </a:lnTo>
                <a:lnTo>
                  <a:pt x="9766649" y="586190"/>
                </a:lnTo>
                <a:lnTo>
                  <a:pt x="9636427" y="589618"/>
                </a:lnTo>
                <a:lnTo>
                  <a:pt x="9506205" y="593043"/>
                </a:lnTo>
                <a:lnTo>
                  <a:pt x="9375983" y="596449"/>
                </a:lnTo>
                <a:lnTo>
                  <a:pt x="9245761" y="599826"/>
                </a:lnTo>
                <a:lnTo>
                  <a:pt x="9115539" y="603169"/>
                </a:lnTo>
                <a:lnTo>
                  <a:pt x="8985317" y="606484"/>
                </a:lnTo>
                <a:lnTo>
                  <a:pt x="8855095" y="609744"/>
                </a:lnTo>
                <a:lnTo>
                  <a:pt x="8724873" y="612956"/>
                </a:lnTo>
                <a:lnTo>
                  <a:pt x="8594651" y="616118"/>
                </a:lnTo>
                <a:lnTo>
                  <a:pt x="8464429" y="619228"/>
                </a:lnTo>
                <a:lnTo>
                  <a:pt x="8334207" y="622272"/>
                </a:lnTo>
                <a:lnTo>
                  <a:pt x="8203985" y="625259"/>
                </a:lnTo>
                <a:lnTo>
                  <a:pt x="8073763" y="628178"/>
                </a:lnTo>
                <a:lnTo>
                  <a:pt x="7943541" y="631027"/>
                </a:lnTo>
                <a:lnTo>
                  <a:pt x="7813319" y="633825"/>
                </a:lnTo>
                <a:lnTo>
                  <a:pt x="7683097" y="636535"/>
                </a:lnTo>
                <a:lnTo>
                  <a:pt x="7552875" y="639183"/>
                </a:lnTo>
                <a:lnTo>
                  <a:pt x="7422653" y="641764"/>
                </a:lnTo>
                <a:lnTo>
                  <a:pt x="7292431" y="644277"/>
                </a:lnTo>
                <a:lnTo>
                  <a:pt x="7162209" y="646721"/>
                </a:lnTo>
                <a:lnTo>
                  <a:pt x="7031987" y="649110"/>
                </a:lnTo>
                <a:lnTo>
                  <a:pt x="6901765" y="651422"/>
                </a:lnTo>
                <a:lnTo>
                  <a:pt x="6771543" y="653675"/>
                </a:lnTo>
                <a:lnTo>
                  <a:pt x="6641321" y="655867"/>
                </a:lnTo>
                <a:lnTo>
                  <a:pt x="6511099" y="658012"/>
                </a:lnTo>
                <a:lnTo>
                  <a:pt x="6380877" y="660101"/>
                </a:lnTo>
                <a:lnTo>
                  <a:pt x="6250655" y="662138"/>
                </a:lnTo>
                <a:lnTo>
                  <a:pt x="6120433" y="664126"/>
                </a:lnTo>
                <a:lnTo>
                  <a:pt x="5990211" y="666069"/>
                </a:lnTo>
                <a:lnTo>
                  <a:pt x="5859989" y="667967"/>
                </a:lnTo>
                <a:lnTo>
                  <a:pt x="5729767" y="669818"/>
                </a:lnTo>
                <a:lnTo>
                  <a:pt x="5599545" y="671625"/>
                </a:lnTo>
                <a:lnTo>
                  <a:pt x="5469323" y="673380"/>
                </a:lnTo>
                <a:lnTo>
                  <a:pt x="5339101" y="675079"/>
                </a:lnTo>
                <a:lnTo>
                  <a:pt x="5208879" y="676724"/>
                </a:lnTo>
                <a:lnTo>
                  <a:pt x="5078657" y="678300"/>
                </a:lnTo>
                <a:lnTo>
                  <a:pt x="4948435" y="679810"/>
                </a:lnTo>
                <a:lnTo>
                  <a:pt x="4818213" y="681257"/>
                </a:lnTo>
                <a:lnTo>
                  <a:pt x="4687991" y="682620"/>
                </a:lnTo>
                <a:lnTo>
                  <a:pt x="4557769" y="683912"/>
                </a:lnTo>
                <a:lnTo>
                  <a:pt x="4427547" y="685123"/>
                </a:lnTo>
                <a:lnTo>
                  <a:pt x="4297325" y="686247"/>
                </a:lnTo>
                <a:lnTo>
                  <a:pt x="4167103" y="687297"/>
                </a:lnTo>
                <a:lnTo>
                  <a:pt x="4036881" y="688271"/>
                </a:lnTo>
                <a:lnTo>
                  <a:pt x="3906659" y="689157"/>
                </a:lnTo>
                <a:lnTo>
                  <a:pt x="3776437" y="689966"/>
                </a:lnTo>
                <a:lnTo>
                  <a:pt x="3646215" y="690694"/>
                </a:lnTo>
                <a:lnTo>
                  <a:pt x="3515993" y="691346"/>
                </a:lnTo>
                <a:lnTo>
                  <a:pt x="3385771" y="691912"/>
                </a:lnTo>
                <a:lnTo>
                  <a:pt x="3255549" y="692389"/>
                </a:lnTo>
                <a:lnTo>
                  <a:pt x="3125327" y="692786"/>
                </a:lnTo>
                <a:lnTo>
                  <a:pt x="2995105" y="693119"/>
                </a:lnTo>
                <a:lnTo>
                  <a:pt x="2864883" y="693353"/>
                </a:lnTo>
                <a:lnTo>
                  <a:pt x="2734661" y="693518"/>
                </a:lnTo>
                <a:lnTo>
                  <a:pt x="2604439" y="693614"/>
                </a:lnTo>
                <a:lnTo>
                  <a:pt x="2474217" y="693637"/>
                </a:lnTo>
                <a:lnTo>
                  <a:pt x="2343995" y="693593"/>
                </a:lnTo>
                <a:lnTo>
                  <a:pt x="2213773" y="693490"/>
                </a:lnTo>
                <a:lnTo>
                  <a:pt x="2083551" y="693332"/>
                </a:lnTo>
                <a:lnTo>
                  <a:pt x="1953329" y="693106"/>
                </a:lnTo>
                <a:lnTo>
                  <a:pt x="1823107" y="692830"/>
                </a:lnTo>
                <a:lnTo>
                  <a:pt x="1692885" y="692502"/>
                </a:lnTo>
                <a:lnTo>
                  <a:pt x="1562663" y="692123"/>
                </a:lnTo>
                <a:lnTo>
                  <a:pt x="1432441" y="691691"/>
                </a:lnTo>
                <a:lnTo>
                  <a:pt x="1302219" y="691213"/>
                </a:lnTo>
                <a:lnTo>
                  <a:pt x="1171997" y="690681"/>
                </a:lnTo>
                <a:lnTo>
                  <a:pt x="1041775" y="693626"/>
                </a:lnTo>
                <a:lnTo>
                  <a:pt x="911553" y="693213"/>
                </a:lnTo>
                <a:lnTo>
                  <a:pt x="781331" y="692705"/>
                </a:lnTo>
                <a:lnTo>
                  <a:pt x="651109" y="692090"/>
                </a:lnTo>
                <a:lnTo>
                  <a:pt x="520887" y="691361"/>
                </a:lnTo>
                <a:lnTo>
                  <a:pt x="390665" y="690514"/>
                </a:lnTo>
                <a:lnTo>
                  <a:pt x="260443" y="689506"/>
                </a:lnTo>
                <a:lnTo>
                  <a:pt x="130221" y="688382"/>
                </a:lnTo>
                <a:lnTo>
                  <a:pt x="0" y="68715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bfa: 97-й центиль"/>
          <p:cNvSpPr/>
          <p:nvPr/>
        </p:nvSpPr>
        <p:spPr>
          <a:xfrm>
            <a:off x="932688" y="4427771"/>
            <a:ext cx="10417759" cy="395980"/>
          </a:xfrm>
          <a:custGeom>
            <a:avLst/>
            <a:gdLst/>
            <a:ahLst/>
            <a:cxnLst/>
            <a:rect l="l" t="t" r="r" b="b"/>
            <a:pathLst>
              <a:path w="10417759" h="395980">
                <a:moveTo>
                  <a:pt x="0" y="395980"/>
                </a:moveTo>
                <a:lnTo>
                  <a:pt x="130221" y="394688"/>
                </a:lnTo>
                <a:lnTo>
                  <a:pt x="260443" y="393266"/>
                </a:lnTo>
                <a:lnTo>
                  <a:pt x="390665" y="391696"/>
                </a:lnTo>
                <a:lnTo>
                  <a:pt x="520887" y="390031"/>
                </a:lnTo>
                <a:lnTo>
                  <a:pt x="651109" y="388338"/>
                </a:lnTo>
                <a:lnTo>
                  <a:pt x="781331" y="386642"/>
                </a:lnTo>
                <a:lnTo>
                  <a:pt x="911553" y="384981"/>
                </a:lnTo>
                <a:lnTo>
                  <a:pt x="1041775" y="383385"/>
                </a:lnTo>
                <a:lnTo>
                  <a:pt x="1171997" y="380731"/>
                </a:lnTo>
                <a:lnTo>
                  <a:pt x="1302219" y="378889"/>
                </a:lnTo>
                <a:lnTo>
                  <a:pt x="1432441" y="376987"/>
                </a:lnTo>
                <a:lnTo>
                  <a:pt x="1562663" y="374976"/>
                </a:lnTo>
                <a:lnTo>
                  <a:pt x="1692885" y="372888"/>
                </a:lnTo>
                <a:lnTo>
                  <a:pt x="1823107" y="370706"/>
                </a:lnTo>
                <a:lnTo>
                  <a:pt x="1953329" y="368414"/>
                </a:lnTo>
                <a:lnTo>
                  <a:pt x="2083551" y="366031"/>
                </a:lnTo>
                <a:lnTo>
                  <a:pt x="2213773" y="363570"/>
                </a:lnTo>
                <a:lnTo>
                  <a:pt x="2343995" y="360972"/>
                </a:lnTo>
                <a:lnTo>
                  <a:pt x="2474217" y="358268"/>
                </a:lnTo>
                <a:lnTo>
                  <a:pt x="2604439" y="355446"/>
                </a:lnTo>
                <a:lnTo>
                  <a:pt x="2734661" y="352497"/>
                </a:lnTo>
                <a:lnTo>
                  <a:pt x="2864883" y="349426"/>
                </a:lnTo>
                <a:lnTo>
                  <a:pt x="2995105" y="346232"/>
                </a:lnTo>
                <a:lnTo>
                  <a:pt x="3125327" y="342910"/>
                </a:lnTo>
                <a:lnTo>
                  <a:pt x="3255549" y="339432"/>
                </a:lnTo>
                <a:lnTo>
                  <a:pt x="3385771" y="335813"/>
                </a:lnTo>
                <a:lnTo>
                  <a:pt x="3515993" y="332040"/>
                </a:lnTo>
                <a:lnTo>
                  <a:pt x="3646215" y="328149"/>
                </a:lnTo>
                <a:lnTo>
                  <a:pt x="3776437" y="324097"/>
                </a:lnTo>
                <a:lnTo>
                  <a:pt x="3906659" y="319915"/>
                </a:lnTo>
                <a:lnTo>
                  <a:pt x="4036881" y="315595"/>
                </a:lnTo>
                <a:lnTo>
                  <a:pt x="4167103" y="311151"/>
                </a:lnTo>
                <a:lnTo>
                  <a:pt x="4297325" y="306554"/>
                </a:lnTo>
                <a:lnTo>
                  <a:pt x="4427547" y="301828"/>
                </a:lnTo>
                <a:lnTo>
                  <a:pt x="4557769" y="296970"/>
                </a:lnTo>
                <a:lnTo>
                  <a:pt x="4687991" y="291992"/>
                </a:lnTo>
                <a:lnTo>
                  <a:pt x="4818213" y="286879"/>
                </a:lnTo>
                <a:lnTo>
                  <a:pt x="4948435" y="281646"/>
                </a:lnTo>
                <a:lnTo>
                  <a:pt x="5078657" y="276280"/>
                </a:lnTo>
                <a:lnTo>
                  <a:pt x="5208879" y="270826"/>
                </a:lnTo>
                <a:lnTo>
                  <a:pt x="5339101" y="265269"/>
                </a:lnTo>
                <a:lnTo>
                  <a:pt x="5469323" y="259623"/>
                </a:lnTo>
                <a:lnTo>
                  <a:pt x="5599545" y="253894"/>
                </a:lnTo>
                <a:lnTo>
                  <a:pt x="5729767" y="248106"/>
                </a:lnTo>
                <a:lnTo>
                  <a:pt x="5859989" y="242245"/>
                </a:lnTo>
                <a:lnTo>
                  <a:pt x="5990211" y="236324"/>
                </a:lnTo>
                <a:lnTo>
                  <a:pt x="6120433" y="230335"/>
                </a:lnTo>
                <a:lnTo>
                  <a:pt x="6250655" y="224302"/>
                </a:lnTo>
                <a:lnTo>
                  <a:pt x="6380877" y="218210"/>
                </a:lnTo>
                <a:lnTo>
                  <a:pt x="6511099" y="212056"/>
                </a:lnTo>
                <a:lnTo>
                  <a:pt x="6641321" y="205842"/>
                </a:lnTo>
                <a:lnTo>
                  <a:pt x="6771543" y="199550"/>
                </a:lnTo>
                <a:lnTo>
                  <a:pt x="6901765" y="193180"/>
                </a:lnTo>
                <a:lnTo>
                  <a:pt x="7031987" y="186752"/>
                </a:lnTo>
                <a:lnTo>
                  <a:pt x="7162209" y="180258"/>
                </a:lnTo>
                <a:lnTo>
                  <a:pt x="7292431" y="173678"/>
                </a:lnTo>
                <a:lnTo>
                  <a:pt x="7422653" y="167028"/>
                </a:lnTo>
                <a:lnTo>
                  <a:pt x="7552875" y="160288"/>
                </a:lnTo>
                <a:lnTo>
                  <a:pt x="7683097" y="153469"/>
                </a:lnTo>
                <a:lnTo>
                  <a:pt x="7813319" y="146579"/>
                </a:lnTo>
                <a:lnTo>
                  <a:pt x="7943541" y="139616"/>
                </a:lnTo>
                <a:lnTo>
                  <a:pt x="8073763" y="132566"/>
                </a:lnTo>
                <a:lnTo>
                  <a:pt x="8203985" y="125452"/>
                </a:lnTo>
                <a:lnTo>
                  <a:pt x="8334207" y="118264"/>
                </a:lnTo>
                <a:lnTo>
                  <a:pt x="8464429" y="111029"/>
                </a:lnTo>
                <a:lnTo>
                  <a:pt x="8594651" y="103738"/>
                </a:lnTo>
                <a:lnTo>
                  <a:pt x="8724873" y="96376"/>
                </a:lnTo>
                <a:lnTo>
                  <a:pt x="8855095" y="88965"/>
                </a:lnTo>
                <a:lnTo>
                  <a:pt x="8985317" y="81512"/>
                </a:lnTo>
                <a:lnTo>
                  <a:pt x="9115539" y="74060"/>
                </a:lnTo>
                <a:lnTo>
                  <a:pt x="9245761" y="66551"/>
                </a:lnTo>
                <a:lnTo>
                  <a:pt x="9375983" y="59035"/>
                </a:lnTo>
                <a:lnTo>
                  <a:pt x="9506205" y="51540"/>
                </a:lnTo>
                <a:lnTo>
                  <a:pt x="9636427" y="44056"/>
                </a:lnTo>
                <a:lnTo>
                  <a:pt x="9766649" y="36590"/>
                </a:lnTo>
                <a:lnTo>
                  <a:pt x="9896871" y="29152"/>
                </a:lnTo>
                <a:lnTo>
                  <a:pt x="10027093" y="21763"/>
                </a:lnTo>
                <a:lnTo>
                  <a:pt x="10157315" y="14439"/>
                </a:lnTo>
                <a:lnTo>
                  <a:pt x="10287537" y="7183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390447" y="435277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16" name="bfa: 85-й центиль"/>
          <p:cNvSpPr/>
          <p:nvPr/>
        </p:nvSpPr>
        <p:spPr>
          <a:xfrm>
            <a:off x="932688" y="4626126"/>
            <a:ext cx="10417759" cy="277700"/>
          </a:xfrm>
          <a:custGeom>
            <a:avLst/>
            <a:gdLst/>
            <a:ahLst/>
            <a:cxnLst/>
            <a:rect l="l" t="t" r="r" b="b"/>
            <a:pathLst>
              <a:path w="10417759" h="277700">
                <a:moveTo>
                  <a:pt x="0" y="277700"/>
                </a:moveTo>
                <a:lnTo>
                  <a:pt x="130221" y="277239"/>
                </a:lnTo>
                <a:lnTo>
                  <a:pt x="260443" y="276657"/>
                </a:lnTo>
                <a:lnTo>
                  <a:pt x="390665" y="275937"/>
                </a:lnTo>
                <a:lnTo>
                  <a:pt x="520887" y="275100"/>
                </a:lnTo>
                <a:lnTo>
                  <a:pt x="651109" y="274206"/>
                </a:lnTo>
                <a:lnTo>
                  <a:pt x="781331" y="273273"/>
                </a:lnTo>
                <a:lnTo>
                  <a:pt x="911553" y="272329"/>
                </a:lnTo>
                <a:lnTo>
                  <a:pt x="1041775" y="271396"/>
                </a:lnTo>
                <a:lnTo>
                  <a:pt x="1171997" y="272180"/>
                </a:lnTo>
                <a:lnTo>
                  <a:pt x="1302219" y="271482"/>
                </a:lnTo>
                <a:lnTo>
                  <a:pt x="1432441" y="270734"/>
                </a:lnTo>
                <a:lnTo>
                  <a:pt x="1562663" y="269907"/>
                </a:lnTo>
                <a:lnTo>
                  <a:pt x="1692885" y="269020"/>
                </a:lnTo>
                <a:lnTo>
                  <a:pt x="1823107" y="268061"/>
                </a:lnTo>
                <a:lnTo>
                  <a:pt x="1953329" y="267021"/>
                </a:lnTo>
                <a:lnTo>
                  <a:pt x="2083551" y="265911"/>
                </a:lnTo>
                <a:lnTo>
                  <a:pt x="2213773" y="264734"/>
                </a:lnTo>
                <a:lnTo>
                  <a:pt x="2343995" y="263456"/>
                </a:lnTo>
                <a:lnTo>
                  <a:pt x="2474217" y="262095"/>
                </a:lnTo>
                <a:lnTo>
                  <a:pt x="2604439" y="260642"/>
                </a:lnTo>
                <a:lnTo>
                  <a:pt x="2734661" y="259087"/>
                </a:lnTo>
                <a:lnTo>
                  <a:pt x="2864883" y="257434"/>
                </a:lnTo>
                <a:lnTo>
                  <a:pt x="2995105" y="255684"/>
                </a:lnTo>
                <a:lnTo>
                  <a:pt x="3125327" y="253818"/>
                </a:lnTo>
                <a:lnTo>
                  <a:pt x="3255549" y="251836"/>
                </a:lnTo>
                <a:lnTo>
                  <a:pt x="3385771" y="249739"/>
                </a:lnTo>
                <a:lnTo>
                  <a:pt x="3515993" y="247513"/>
                </a:lnTo>
                <a:lnTo>
                  <a:pt x="3646215" y="245184"/>
                </a:lnTo>
                <a:lnTo>
                  <a:pt x="3776437" y="242728"/>
                </a:lnTo>
                <a:lnTo>
                  <a:pt x="3906659" y="240161"/>
                </a:lnTo>
                <a:lnTo>
                  <a:pt x="4036881" y="237480"/>
                </a:lnTo>
                <a:lnTo>
                  <a:pt x="4167103" y="234687"/>
                </a:lnTo>
                <a:lnTo>
                  <a:pt x="4297325" y="231769"/>
                </a:lnTo>
                <a:lnTo>
                  <a:pt x="4427547" y="228744"/>
                </a:lnTo>
                <a:lnTo>
                  <a:pt x="4557769" y="225598"/>
                </a:lnTo>
                <a:lnTo>
                  <a:pt x="4687991" y="222346"/>
                </a:lnTo>
                <a:lnTo>
                  <a:pt x="4818213" y="218978"/>
                </a:lnTo>
                <a:lnTo>
                  <a:pt x="4948435" y="215499"/>
                </a:lnTo>
                <a:lnTo>
                  <a:pt x="5078657" y="211912"/>
                </a:lnTo>
                <a:lnTo>
                  <a:pt x="5208879" y="208238"/>
                </a:lnTo>
                <a:lnTo>
                  <a:pt x="5339101" y="204464"/>
                </a:lnTo>
                <a:lnTo>
                  <a:pt x="5469323" y="200610"/>
                </a:lnTo>
                <a:lnTo>
                  <a:pt x="5599545" y="196675"/>
                </a:lnTo>
                <a:lnTo>
                  <a:pt x="5729767" y="192671"/>
                </a:lnTo>
                <a:lnTo>
                  <a:pt x="5859989" y="188597"/>
                </a:lnTo>
                <a:lnTo>
                  <a:pt x="5990211" y="184459"/>
                </a:lnTo>
                <a:lnTo>
                  <a:pt x="6120433" y="180247"/>
                </a:lnTo>
                <a:lnTo>
                  <a:pt x="6250655" y="175980"/>
                </a:lnTo>
                <a:lnTo>
                  <a:pt x="6380877" y="171645"/>
                </a:lnTo>
                <a:lnTo>
                  <a:pt x="6511099" y="167235"/>
                </a:lnTo>
                <a:lnTo>
                  <a:pt x="6641321" y="162755"/>
                </a:lnTo>
                <a:lnTo>
                  <a:pt x="6771543" y="158195"/>
                </a:lnTo>
                <a:lnTo>
                  <a:pt x="6901765" y="153547"/>
                </a:lnTo>
                <a:lnTo>
                  <a:pt x="7031987" y="148825"/>
                </a:lnTo>
                <a:lnTo>
                  <a:pt x="7162209" y="144012"/>
                </a:lnTo>
                <a:lnTo>
                  <a:pt x="7292431" y="139110"/>
                </a:lnTo>
                <a:lnTo>
                  <a:pt x="7422653" y="134120"/>
                </a:lnTo>
                <a:lnTo>
                  <a:pt x="7552875" y="129031"/>
                </a:lnTo>
                <a:lnTo>
                  <a:pt x="7683097" y="123849"/>
                </a:lnTo>
                <a:lnTo>
                  <a:pt x="7813319" y="118582"/>
                </a:lnTo>
                <a:lnTo>
                  <a:pt x="7943541" y="113215"/>
                </a:lnTo>
                <a:lnTo>
                  <a:pt x="8073763" y="107757"/>
                </a:lnTo>
                <a:lnTo>
                  <a:pt x="8203985" y="102215"/>
                </a:lnTo>
                <a:lnTo>
                  <a:pt x="8334207" y="96582"/>
                </a:lnTo>
                <a:lnTo>
                  <a:pt x="8464429" y="90876"/>
                </a:lnTo>
                <a:lnTo>
                  <a:pt x="8594651" y="85094"/>
                </a:lnTo>
                <a:lnTo>
                  <a:pt x="8724873" y="79230"/>
                </a:lnTo>
                <a:lnTo>
                  <a:pt x="8855095" y="73300"/>
                </a:lnTo>
                <a:lnTo>
                  <a:pt x="8985317" y="67308"/>
                </a:lnTo>
                <a:lnTo>
                  <a:pt x="9115539" y="61272"/>
                </a:lnTo>
                <a:lnTo>
                  <a:pt x="9245761" y="55180"/>
                </a:lnTo>
                <a:lnTo>
                  <a:pt x="9375983" y="49052"/>
                </a:lnTo>
                <a:lnTo>
                  <a:pt x="9506205" y="42907"/>
                </a:lnTo>
                <a:lnTo>
                  <a:pt x="9636427" y="36747"/>
                </a:lnTo>
                <a:lnTo>
                  <a:pt x="9766649" y="30580"/>
                </a:lnTo>
                <a:lnTo>
                  <a:pt x="9896871" y="24415"/>
                </a:lnTo>
                <a:lnTo>
                  <a:pt x="10027093" y="18266"/>
                </a:lnTo>
                <a:lnTo>
                  <a:pt x="10157315" y="12143"/>
                </a:lnTo>
                <a:lnTo>
                  <a:pt x="10287537" y="6052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390447" y="455112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118" name="bfa: 50-й центиль"/>
          <p:cNvSpPr/>
          <p:nvPr/>
        </p:nvSpPr>
        <p:spPr>
          <a:xfrm>
            <a:off x="932688" y="4796328"/>
            <a:ext cx="10417759" cy="193573"/>
          </a:xfrm>
          <a:custGeom>
            <a:avLst/>
            <a:gdLst/>
            <a:ahLst/>
            <a:cxnLst/>
            <a:rect l="l" t="t" r="r" b="b"/>
            <a:pathLst>
              <a:path w="10417759" h="193573">
                <a:moveTo>
                  <a:pt x="0" y="192654"/>
                </a:moveTo>
                <a:lnTo>
                  <a:pt x="130221" y="192964"/>
                </a:lnTo>
                <a:lnTo>
                  <a:pt x="260443" y="193160"/>
                </a:lnTo>
                <a:lnTo>
                  <a:pt x="390665" y="193230"/>
                </a:lnTo>
                <a:lnTo>
                  <a:pt x="520887" y="193162"/>
                </a:lnTo>
                <a:lnTo>
                  <a:pt x="651109" y="193008"/>
                </a:lnTo>
                <a:lnTo>
                  <a:pt x="781331" y="192781"/>
                </a:lnTo>
                <a:lnTo>
                  <a:pt x="911553" y="192500"/>
                </a:lnTo>
                <a:lnTo>
                  <a:pt x="1041775" y="192181"/>
                </a:lnTo>
                <a:lnTo>
                  <a:pt x="1171997" y="193475"/>
                </a:lnTo>
                <a:lnTo>
                  <a:pt x="1302219" y="193549"/>
                </a:lnTo>
                <a:lnTo>
                  <a:pt x="1432441" y="193573"/>
                </a:lnTo>
                <a:lnTo>
                  <a:pt x="1562663" y="193536"/>
                </a:lnTo>
                <a:lnTo>
                  <a:pt x="1692885" y="193444"/>
                </a:lnTo>
                <a:lnTo>
                  <a:pt x="1823107" y="193293"/>
                </a:lnTo>
                <a:lnTo>
                  <a:pt x="1953329" y="193075"/>
                </a:lnTo>
                <a:lnTo>
                  <a:pt x="2083551" y="192798"/>
                </a:lnTo>
                <a:lnTo>
                  <a:pt x="2213773" y="192456"/>
                </a:lnTo>
                <a:lnTo>
                  <a:pt x="2343995" y="192035"/>
                </a:lnTo>
                <a:lnTo>
                  <a:pt x="2474217" y="191544"/>
                </a:lnTo>
                <a:lnTo>
                  <a:pt x="2604439" y="190973"/>
                </a:lnTo>
                <a:lnTo>
                  <a:pt x="2734661" y="190315"/>
                </a:lnTo>
                <a:lnTo>
                  <a:pt x="2864883" y="189572"/>
                </a:lnTo>
                <a:lnTo>
                  <a:pt x="2995105" y="188747"/>
                </a:lnTo>
                <a:lnTo>
                  <a:pt x="3125327" y="187811"/>
                </a:lnTo>
                <a:lnTo>
                  <a:pt x="3255549" y="186785"/>
                </a:lnTo>
                <a:lnTo>
                  <a:pt x="3385771" y="185660"/>
                </a:lnTo>
                <a:lnTo>
                  <a:pt x="3515993" y="184424"/>
                </a:lnTo>
                <a:lnTo>
                  <a:pt x="3646215" y="183091"/>
                </a:lnTo>
                <a:lnTo>
                  <a:pt x="3776437" y="181655"/>
                </a:lnTo>
                <a:lnTo>
                  <a:pt x="3906659" y="180119"/>
                </a:lnTo>
                <a:lnTo>
                  <a:pt x="4036881" y="178486"/>
                </a:lnTo>
                <a:lnTo>
                  <a:pt x="4167103" y="176749"/>
                </a:lnTo>
                <a:lnTo>
                  <a:pt x="4297325" y="174908"/>
                </a:lnTo>
                <a:lnTo>
                  <a:pt x="4427547" y="172974"/>
                </a:lnTo>
                <a:lnTo>
                  <a:pt x="4557769" y="170931"/>
                </a:lnTo>
                <a:lnTo>
                  <a:pt x="4687991" y="168791"/>
                </a:lnTo>
                <a:lnTo>
                  <a:pt x="4818213" y="166552"/>
                </a:lnTo>
                <a:lnTo>
                  <a:pt x="4948435" y="164212"/>
                </a:lnTo>
                <a:lnTo>
                  <a:pt x="5078657" y="161782"/>
                </a:lnTo>
                <a:lnTo>
                  <a:pt x="5208879" y="159270"/>
                </a:lnTo>
                <a:lnTo>
                  <a:pt x="5339101" y="156668"/>
                </a:lnTo>
                <a:lnTo>
                  <a:pt x="5469323" y="153994"/>
                </a:lnTo>
                <a:lnTo>
                  <a:pt x="5599545" y="151245"/>
                </a:lnTo>
                <a:lnTo>
                  <a:pt x="5729767" y="148429"/>
                </a:lnTo>
                <a:lnTo>
                  <a:pt x="5859989" y="145552"/>
                </a:lnTo>
                <a:lnTo>
                  <a:pt x="5990211" y="142613"/>
                </a:lnTo>
                <a:lnTo>
                  <a:pt x="6120433" y="139606"/>
                </a:lnTo>
                <a:lnTo>
                  <a:pt x="6250655" y="136544"/>
                </a:lnTo>
                <a:lnTo>
                  <a:pt x="6380877" y="133417"/>
                </a:lnTo>
                <a:lnTo>
                  <a:pt x="6511099" y="130217"/>
                </a:lnTo>
                <a:lnTo>
                  <a:pt x="6641321" y="126948"/>
                </a:lnTo>
                <a:lnTo>
                  <a:pt x="6771543" y="123609"/>
                </a:lnTo>
                <a:lnTo>
                  <a:pt x="6901765" y="120187"/>
                </a:lnTo>
                <a:lnTo>
                  <a:pt x="7031987" y="116691"/>
                </a:lnTo>
                <a:lnTo>
                  <a:pt x="7162209" y="113102"/>
                </a:lnTo>
                <a:lnTo>
                  <a:pt x="7292431" y="109434"/>
                </a:lnTo>
                <a:lnTo>
                  <a:pt x="7422653" y="105678"/>
                </a:lnTo>
                <a:lnTo>
                  <a:pt x="7552875" y="101832"/>
                </a:lnTo>
                <a:lnTo>
                  <a:pt x="7683097" y="97896"/>
                </a:lnTo>
                <a:lnTo>
                  <a:pt x="7813319" y="93879"/>
                </a:lnTo>
                <a:lnTo>
                  <a:pt x="7943541" y="89758"/>
                </a:lnTo>
                <a:lnTo>
                  <a:pt x="8073763" y="85559"/>
                </a:lnTo>
                <a:lnTo>
                  <a:pt x="8203985" y="81275"/>
                </a:lnTo>
                <a:lnTo>
                  <a:pt x="8334207" y="76902"/>
                </a:lnTo>
                <a:lnTo>
                  <a:pt x="8464429" y="72455"/>
                </a:lnTo>
                <a:lnTo>
                  <a:pt x="8594651" y="67930"/>
                </a:lnTo>
                <a:lnTo>
                  <a:pt x="8724873" y="63330"/>
                </a:lnTo>
                <a:lnTo>
                  <a:pt x="8855095" y="58665"/>
                </a:lnTo>
                <a:lnTo>
                  <a:pt x="8985317" y="53936"/>
                </a:lnTo>
                <a:lnTo>
                  <a:pt x="9115539" y="49148"/>
                </a:lnTo>
                <a:lnTo>
                  <a:pt x="9245761" y="44314"/>
                </a:lnTo>
                <a:lnTo>
                  <a:pt x="9375983" y="39437"/>
                </a:lnTo>
                <a:lnTo>
                  <a:pt x="9506205" y="34529"/>
                </a:lnTo>
                <a:lnTo>
                  <a:pt x="9636427" y="29598"/>
                </a:lnTo>
                <a:lnTo>
                  <a:pt x="9766649" y="24654"/>
                </a:lnTo>
                <a:lnTo>
                  <a:pt x="9896871" y="19704"/>
                </a:lnTo>
                <a:lnTo>
                  <a:pt x="10027093" y="14759"/>
                </a:lnTo>
                <a:lnTo>
                  <a:pt x="10157315" y="9819"/>
                </a:lnTo>
                <a:lnTo>
                  <a:pt x="10287537" y="4897"/>
                </a:lnTo>
                <a:lnTo>
                  <a:pt x="10417759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390447" y="4721328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120" name="bfa: 15-й центиль"/>
          <p:cNvSpPr/>
          <p:nvPr/>
        </p:nvSpPr>
        <p:spPr>
          <a:xfrm>
            <a:off x="932688" y="4919110"/>
            <a:ext cx="10417759" cy="148443"/>
          </a:xfrm>
          <a:custGeom>
            <a:avLst/>
            <a:gdLst/>
            <a:ahLst/>
            <a:cxnLst/>
            <a:rect l="l" t="t" r="r" b="b"/>
            <a:pathLst>
              <a:path w="10417759" h="148443">
                <a:moveTo>
                  <a:pt x="0" y="143230"/>
                </a:moveTo>
                <a:lnTo>
                  <a:pt x="130221" y="144107"/>
                </a:lnTo>
                <a:lnTo>
                  <a:pt x="260443" y="144877"/>
                </a:lnTo>
                <a:lnTo>
                  <a:pt x="390665" y="145527"/>
                </a:lnTo>
                <a:lnTo>
                  <a:pt x="520887" y="146025"/>
                </a:lnTo>
                <a:lnTo>
                  <a:pt x="651109" y="146417"/>
                </a:lnTo>
                <a:lnTo>
                  <a:pt x="781331" y="146710"/>
                </a:lnTo>
                <a:lnTo>
                  <a:pt x="911553" y="146916"/>
                </a:lnTo>
                <a:lnTo>
                  <a:pt x="1041775" y="147050"/>
                </a:lnTo>
                <a:lnTo>
                  <a:pt x="1171997" y="146524"/>
                </a:lnTo>
                <a:lnTo>
                  <a:pt x="1302219" y="146953"/>
                </a:lnTo>
                <a:lnTo>
                  <a:pt x="1432441" y="147329"/>
                </a:lnTo>
                <a:lnTo>
                  <a:pt x="1562663" y="147653"/>
                </a:lnTo>
                <a:lnTo>
                  <a:pt x="1692885" y="147924"/>
                </a:lnTo>
                <a:lnTo>
                  <a:pt x="1823107" y="148141"/>
                </a:lnTo>
                <a:lnTo>
                  <a:pt x="1953329" y="148300"/>
                </a:lnTo>
                <a:lnTo>
                  <a:pt x="2083551" y="148405"/>
                </a:lnTo>
                <a:lnTo>
                  <a:pt x="2213773" y="148443"/>
                </a:lnTo>
                <a:lnTo>
                  <a:pt x="2343995" y="148416"/>
                </a:lnTo>
                <a:lnTo>
                  <a:pt x="2474217" y="148326"/>
                </a:lnTo>
                <a:lnTo>
                  <a:pt x="2604439" y="148164"/>
                </a:lnTo>
                <a:lnTo>
                  <a:pt x="2734661" y="147923"/>
                </a:lnTo>
                <a:lnTo>
                  <a:pt x="2864883" y="147607"/>
                </a:lnTo>
                <a:lnTo>
                  <a:pt x="2995105" y="147215"/>
                </a:lnTo>
                <a:lnTo>
                  <a:pt x="3125327" y="146719"/>
                </a:lnTo>
                <a:lnTo>
                  <a:pt x="3255549" y="146149"/>
                </a:lnTo>
                <a:lnTo>
                  <a:pt x="3385771" y="145491"/>
                </a:lnTo>
                <a:lnTo>
                  <a:pt x="3515993" y="144734"/>
                </a:lnTo>
                <a:lnTo>
                  <a:pt x="3646215" y="143885"/>
                </a:lnTo>
                <a:lnTo>
                  <a:pt x="3776437" y="142951"/>
                </a:lnTo>
                <a:lnTo>
                  <a:pt x="3906659" y="141926"/>
                </a:lnTo>
                <a:lnTo>
                  <a:pt x="4036881" y="140816"/>
                </a:lnTo>
                <a:lnTo>
                  <a:pt x="4167103" y="139611"/>
                </a:lnTo>
                <a:lnTo>
                  <a:pt x="4297325" y="138317"/>
                </a:lnTo>
                <a:lnTo>
                  <a:pt x="4427547" y="136942"/>
                </a:lnTo>
                <a:lnTo>
                  <a:pt x="4557769" y="135470"/>
                </a:lnTo>
                <a:lnTo>
                  <a:pt x="4687991" y="133909"/>
                </a:lnTo>
                <a:lnTo>
                  <a:pt x="4818213" y="132265"/>
                </a:lnTo>
                <a:lnTo>
                  <a:pt x="4948435" y="130529"/>
                </a:lnTo>
                <a:lnTo>
                  <a:pt x="5078657" y="128719"/>
                </a:lnTo>
                <a:lnTo>
                  <a:pt x="5208879" y="126835"/>
                </a:lnTo>
                <a:lnTo>
                  <a:pt x="5339101" y="124873"/>
                </a:lnTo>
                <a:lnTo>
                  <a:pt x="5469323" y="122847"/>
                </a:lnTo>
                <a:lnTo>
                  <a:pt x="5599545" y="120758"/>
                </a:lnTo>
                <a:lnTo>
                  <a:pt x="5729767" y="118608"/>
                </a:lnTo>
                <a:lnTo>
                  <a:pt x="5859989" y="116406"/>
                </a:lnTo>
                <a:lnTo>
                  <a:pt x="5990211" y="114151"/>
                </a:lnTo>
                <a:lnTo>
                  <a:pt x="6120433" y="111840"/>
                </a:lnTo>
                <a:lnTo>
                  <a:pt x="6250655" y="109477"/>
                </a:lnTo>
                <a:lnTo>
                  <a:pt x="6380877" y="107059"/>
                </a:lnTo>
                <a:lnTo>
                  <a:pt x="6511099" y="104578"/>
                </a:lnTo>
                <a:lnTo>
                  <a:pt x="6641321" y="102034"/>
                </a:lnTo>
                <a:lnTo>
                  <a:pt x="6771543" y="99433"/>
                </a:lnTo>
                <a:lnTo>
                  <a:pt x="6901765" y="96761"/>
                </a:lnTo>
                <a:lnTo>
                  <a:pt x="7031987" y="94022"/>
                </a:lnTo>
                <a:lnTo>
                  <a:pt x="7162209" y="91198"/>
                </a:lnTo>
                <a:lnTo>
                  <a:pt x="7292431" y="88308"/>
                </a:lnTo>
                <a:lnTo>
                  <a:pt x="7422653" y="85339"/>
                </a:lnTo>
                <a:lnTo>
                  <a:pt x="7552875" y="82292"/>
                </a:lnTo>
                <a:lnTo>
                  <a:pt x="7683097" y="79168"/>
                </a:lnTo>
                <a:lnTo>
                  <a:pt x="7813319" y="75972"/>
                </a:lnTo>
                <a:lnTo>
                  <a:pt x="7943541" y="72680"/>
                </a:lnTo>
                <a:lnTo>
                  <a:pt x="8073763" y="69325"/>
                </a:lnTo>
                <a:lnTo>
                  <a:pt x="8203985" y="65893"/>
                </a:lnTo>
                <a:lnTo>
                  <a:pt x="8334207" y="62383"/>
                </a:lnTo>
                <a:lnTo>
                  <a:pt x="8464429" y="58806"/>
                </a:lnTo>
                <a:lnTo>
                  <a:pt x="8594651" y="55158"/>
                </a:lnTo>
                <a:lnTo>
                  <a:pt x="8724873" y="51447"/>
                </a:lnTo>
                <a:lnTo>
                  <a:pt x="8855095" y="47678"/>
                </a:lnTo>
                <a:lnTo>
                  <a:pt x="8985317" y="43854"/>
                </a:lnTo>
                <a:lnTo>
                  <a:pt x="9115539" y="39970"/>
                </a:lnTo>
                <a:lnTo>
                  <a:pt x="9245761" y="36051"/>
                </a:lnTo>
                <a:lnTo>
                  <a:pt x="9375983" y="32093"/>
                </a:lnTo>
                <a:lnTo>
                  <a:pt x="9506205" y="28102"/>
                </a:lnTo>
                <a:lnTo>
                  <a:pt x="9636427" y="24090"/>
                </a:lnTo>
                <a:lnTo>
                  <a:pt x="9766649" y="20068"/>
                </a:lnTo>
                <a:lnTo>
                  <a:pt x="9896871" y="16041"/>
                </a:lnTo>
                <a:lnTo>
                  <a:pt x="10027093" y="12019"/>
                </a:lnTo>
                <a:lnTo>
                  <a:pt x="10157315" y="7995"/>
                </a:lnTo>
                <a:lnTo>
                  <a:pt x="10287537" y="3987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390447" y="4844110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122" name="bfa: 3-й центиль"/>
          <p:cNvSpPr/>
          <p:nvPr/>
        </p:nvSpPr>
        <p:spPr>
          <a:xfrm>
            <a:off x="932688" y="4996882"/>
            <a:ext cx="10417759" cy="124526"/>
          </a:xfrm>
          <a:custGeom>
            <a:avLst/>
            <a:gdLst/>
            <a:ahLst/>
            <a:cxnLst/>
            <a:rect l="l" t="t" r="r" b="b"/>
            <a:pathLst>
              <a:path w="10417759" h="124526">
                <a:moveTo>
                  <a:pt x="0" y="118045"/>
                </a:moveTo>
                <a:lnTo>
                  <a:pt x="130221" y="119271"/>
                </a:lnTo>
                <a:lnTo>
                  <a:pt x="260443" y="120395"/>
                </a:lnTo>
                <a:lnTo>
                  <a:pt x="390665" y="121403"/>
                </a:lnTo>
                <a:lnTo>
                  <a:pt x="520887" y="122250"/>
                </a:lnTo>
                <a:lnTo>
                  <a:pt x="651109" y="122979"/>
                </a:lnTo>
                <a:lnTo>
                  <a:pt x="781331" y="123594"/>
                </a:lnTo>
                <a:lnTo>
                  <a:pt x="911553" y="124102"/>
                </a:lnTo>
                <a:lnTo>
                  <a:pt x="1041775" y="124515"/>
                </a:lnTo>
                <a:lnTo>
                  <a:pt x="1171997" y="121570"/>
                </a:lnTo>
                <a:lnTo>
                  <a:pt x="1302219" y="122102"/>
                </a:lnTo>
                <a:lnTo>
                  <a:pt x="1432441" y="122580"/>
                </a:lnTo>
                <a:lnTo>
                  <a:pt x="1562663" y="123012"/>
                </a:lnTo>
                <a:lnTo>
                  <a:pt x="1692885" y="123391"/>
                </a:lnTo>
                <a:lnTo>
                  <a:pt x="1823107" y="123719"/>
                </a:lnTo>
                <a:lnTo>
                  <a:pt x="1953329" y="123995"/>
                </a:lnTo>
                <a:lnTo>
                  <a:pt x="2083551" y="124221"/>
                </a:lnTo>
                <a:lnTo>
                  <a:pt x="2213773" y="124379"/>
                </a:lnTo>
                <a:lnTo>
                  <a:pt x="2343995" y="124482"/>
                </a:lnTo>
                <a:lnTo>
                  <a:pt x="2474217" y="124526"/>
                </a:lnTo>
                <a:lnTo>
                  <a:pt x="2604439" y="124503"/>
                </a:lnTo>
                <a:lnTo>
                  <a:pt x="2734661" y="124407"/>
                </a:lnTo>
                <a:lnTo>
                  <a:pt x="2864883" y="124242"/>
                </a:lnTo>
                <a:lnTo>
                  <a:pt x="2995105" y="124008"/>
                </a:lnTo>
                <a:lnTo>
                  <a:pt x="3125327" y="123675"/>
                </a:lnTo>
                <a:lnTo>
                  <a:pt x="3255549" y="123278"/>
                </a:lnTo>
                <a:lnTo>
                  <a:pt x="3385771" y="122801"/>
                </a:lnTo>
                <a:lnTo>
                  <a:pt x="3515993" y="122235"/>
                </a:lnTo>
                <a:lnTo>
                  <a:pt x="3646215" y="121583"/>
                </a:lnTo>
                <a:lnTo>
                  <a:pt x="3776437" y="120855"/>
                </a:lnTo>
                <a:lnTo>
                  <a:pt x="3906659" y="120046"/>
                </a:lnTo>
                <a:lnTo>
                  <a:pt x="4036881" y="119160"/>
                </a:lnTo>
                <a:lnTo>
                  <a:pt x="4167103" y="118186"/>
                </a:lnTo>
                <a:lnTo>
                  <a:pt x="4297325" y="117136"/>
                </a:lnTo>
                <a:lnTo>
                  <a:pt x="4427547" y="116012"/>
                </a:lnTo>
                <a:lnTo>
                  <a:pt x="4557769" y="114801"/>
                </a:lnTo>
                <a:lnTo>
                  <a:pt x="4687991" y="113509"/>
                </a:lnTo>
                <a:lnTo>
                  <a:pt x="4818213" y="112146"/>
                </a:lnTo>
                <a:lnTo>
                  <a:pt x="4948435" y="110699"/>
                </a:lnTo>
                <a:lnTo>
                  <a:pt x="5078657" y="109189"/>
                </a:lnTo>
                <a:lnTo>
                  <a:pt x="5208879" y="107613"/>
                </a:lnTo>
                <a:lnTo>
                  <a:pt x="5339101" y="105968"/>
                </a:lnTo>
                <a:lnTo>
                  <a:pt x="5469323" y="104269"/>
                </a:lnTo>
                <a:lnTo>
                  <a:pt x="5599545" y="102514"/>
                </a:lnTo>
                <a:lnTo>
                  <a:pt x="5729767" y="100707"/>
                </a:lnTo>
                <a:lnTo>
                  <a:pt x="5859989" y="98856"/>
                </a:lnTo>
                <a:lnTo>
                  <a:pt x="5990211" y="96958"/>
                </a:lnTo>
                <a:lnTo>
                  <a:pt x="6120433" y="95015"/>
                </a:lnTo>
                <a:lnTo>
                  <a:pt x="6250655" y="93027"/>
                </a:lnTo>
                <a:lnTo>
                  <a:pt x="6380877" y="90990"/>
                </a:lnTo>
                <a:lnTo>
                  <a:pt x="6511099" y="88901"/>
                </a:lnTo>
                <a:lnTo>
                  <a:pt x="6641321" y="86756"/>
                </a:lnTo>
                <a:lnTo>
                  <a:pt x="6771543" y="84564"/>
                </a:lnTo>
                <a:lnTo>
                  <a:pt x="6901765" y="82311"/>
                </a:lnTo>
                <a:lnTo>
                  <a:pt x="7031987" y="79999"/>
                </a:lnTo>
                <a:lnTo>
                  <a:pt x="7162209" y="77610"/>
                </a:lnTo>
                <a:lnTo>
                  <a:pt x="7292431" y="75166"/>
                </a:lnTo>
                <a:lnTo>
                  <a:pt x="7422653" y="72653"/>
                </a:lnTo>
                <a:lnTo>
                  <a:pt x="7552875" y="70072"/>
                </a:lnTo>
                <a:lnTo>
                  <a:pt x="7683097" y="67424"/>
                </a:lnTo>
                <a:lnTo>
                  <a:pt x="7813319" y="64714"/>
                </a:lnTo>
                <a:lnTo>
                  <a:pt x="7943541" y="61916"/>
                </a:lnTo>
                <a:lnTo>
                  <a:pt x="8073763" y="59067"/>
                </a:lnTo>
                <a:lnTo>
                  <a:pt x="8203985" y="56148"/>
                </a:lnTo>
                <a:lnTo>
                  <a:pt x="8334207" y="53161"/>
                </a:lnTo>
                <a:lnTo>
                  <a:pt x="8464429" y="50117"/>
                </a:lnTo>
                <a:lnTo>
                  <a:pt x="8594651" y="47007"/>
                </a:lnTo>
                <a:lnTo>
                  <a:pt x="8724873" y="43845"/>
                </a:lnTo>
                <a:lnTo>
                  <a:pt x="8855095" y="40633"/>
                </a:lnTo>
                <a:lnTo>
                  <a:pt x="8985317" y="37373"/>
                </a:lnTo>
                <a:lnTo>
                  <a:pt x="9115539" y="34058"/>
                </a:lnTo>
                <a:lnTo>
                  <a:pt x="9245761" y="30715"/>
                </a:lnTo>
                <a:lnTo>
                  <a:pt x="9375983" y="27338"/>
                </a:lnTo>
                <a:lnTo>
                  <a:pt x="9506205" y="23932"/>
                </a:lnTo>
                <a:lnTo>
                  <a:pt x="9636427" y="20507"/>
                </a:lnTo>
                <a:lnTo>
                  <a:pt x="9766649" y="17079"/>
                </a:lnTo>
                <a:lnTo>
                  <a:pt x="9896871" y="13648"/>
                </a:lnTo>
                <a:lnTo>
                  <a:pt x="10027093" y="10224"/>
                </a:lnTo>
                <a:lnTo>
                  <a:pt x="10157315" y="6797"/>
                </a:lnTo>
                <a:lnTo>
                  <a:pt x="10287537" y="3388"/>
                </a:lnTo>
                <a:lnTo>
                  <a:pt x="10417759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1390447" y="4921882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124" name="bfa: пример"/>
          <p:cNvSpPr/>
          <p:nvPr/>
        </p:nvSpPr>
        <p:spPr>
          <a:xfrm>
            <a:off x="932688" y="4841827"/>
            <a:ext cx="6945172" cy="139489"/>
          </a:xfrm>
          <a:custGeom>
            <a:avLst/>
            <a:gdLst/>
            <a:ahLst/>
            <a:cxnLst/>
            <a:rect l="l" t="t" r="r" b="b"/>
            <a:pathLst>
              <a:path w="6945172" h="139489">
                <a:moveTo>
                  <a:pt x="0" y="139489"/>
                </a:moveTo>
                <a:lnTo>
                  <a:pt x="96460" y="139038"/>
                </a:lnTo>
                <a:lnTo>
                  <a:pt x="192921" y="138517"/>
                </a:lnTo>
                <a:lnTo>
                  <a:pt x="289382" y="137912"/>
                </a:lnTo>
                <a:lnTo>
                  <a:pt x="385842" y="137226"/>
                </a:lnTo>
                <a:lnTo>
                  <a:pt x="482303" y="136462"/>
                </a:lnTo>
                <a:lnTo>
                  <a:pt x="578764" y="135628"/>
                </a:lnTo>
                <a:lnTo>
                  <a:pt x="675225" y="134754"/>
                </a:lnTo>
                <a:lnTo>
                  <a:pt x="771685" y="133828"/>
                </a:lnTo>
                <a:lnTo>
                  <a:pt x="868146" y="132869"/>
                </a:lnTo>
                <a:lnTo>
                  <a:pt x="964607" y="131887"/>
                </a:lnTo>
                <a:lnTo>
                  <a:pt x="1061068" y="130877"/>
                </a:lnTo>
                <a:lnTo>
                  <a:pt x="1157528" y="131671"/>
                </a:lnTo>
                <a:lnTo>
                  <a:pt x="1253989" y="131655"/>
                </a:lnTo>
                <a:lnTo>
                  <a:pt x="1350450" y="131612"/>
                </a:lnTo>
                <a:lnTo>
                  <a:pt x="1446910" y="131537"/>
                </a:lnTo>
                <a:lnTo>
                  <a:pt x="1543371" y="131427"/>
                </a:lnTo>
                <a:lnTo>
                  <a:pt x="1639832" y="131289"/>
                </a:lnTo>
                <a:lnTo>
                  <a:pt x="1736293" y="131119"/>
                </a:lnTo>
                <a:lnTo>
                  <a:pt x="1832753" y="130909"/>
                </a:lnTo>
                <a:lnTo>
                  <a:pt x="1929214" y="130666"/>
                </a:lnTo>
                <a:lnTo>
                  <a:pt x="2025675" y="130389"/>
                </a:lnTo>
                <a:lnTo>
                  <a:pt x="2122136" y="130079"/>
                </a:lnTo>
                <a:lnTo>
                  <a:pt x="2218596" y="129726"/>
                </a:lnTo>
                <a:lnTo>
                  <a:pt x="2315057" y="129332"/>
                </a:lnTo>
                <a:lnTo>
                  <a:pt x="2411518" y="128158"/>
                </a:lnTo>
                <a:lnTo>
                  <a:pt x="2507979" y="126930"/>
                </a:lnTo>
                <a:lnTo>
                  <a:pt x="2604439" y="125642"/>
                </a:lnTo>
                <a:lnTo>
                  <a:pt x="2700900" y="124305"/>
                </a:lnTo>
                <a:lnTo>
                  <a:pt x="2797361" y="122902"/>
                </a:lnTo>
                <a:lnTo>
                  <a:pt x="2893821" y="121443"/>
                </a:lnTo>
                <a:lnTo>
                  <a:pt x="2990282" y="119925"/>
                </a:lnTo>
                <a:lnTo>
                  <a:pt x="3086743" y="118336"/>
                </a:lnTo>
                <a:lnTo>
                  <a:pt x="3183204" y="116689"/>
                </a:lnTo>
                <a:lnTo>
                  <a:pt x="3279664" y="114963"/>
                </a:lnTo>
                <a:lnTo>
                  <a:pt x="3376125" y="113176"/>
                </a:lnTo>
                <a:lnTo>
                  <a:pt x="3472586" y="111315"/>
                </a:lnTo>
                <a:lnTo>
                  <a:pt x="3569047" y="109386"/>
                </a:lnTo>
                <a:lnTo>
                  <a:pt x="3665507" y="107385"/>
                </a:lnTo>
                <a:lnTo>
                  <a:pt x="3761968" y="105314"/>
                </a:lnTo>
                <a:lnTo>
                  <a:pt x="3858429" y="103178"/>
                </a:lnTo>
                <a:lnTo>
                  <a:pt x="3954889" y="100971"/>
                </a:lnTo>
                <a:lnTo>
                  <a:pt x="4051350" y="98691"/>
                </a:lnTo>
                <a:lnTo>
                  <a:pt x="4147811" y="96344"/>
                </a:lnTo>
                <a:lnTo>
                  <a:pt x="4244272" y="93922"/>
                </a:lnTo>
                <a:lnTo>
                  <a:pt x="4340732" y="91431"/>
                </a:lnTo>
                <a:lnTo>
                  <a:pt x="4437193" y="88867"/>
                </a:lnTo>
                <a:lnTo>
                  <a:pt x="4533654" y="86232"/>
                </a:lnTo>
                <a:lnTo>
                  <a:pt x="4630115" y="83526"/>
                </a:lnTo>
                <a:lnTo>
                  <a:pt x="4726575" y="80752"/>
                </a:lnTo>
                <a:lnTo>
                  <a:pt x="4823036" y="77896"/>
                </a:lnTo>
                <a:lnTo>
                  <a:pt x="4919497" y="74977"/>
                </a:lnTo>
                <a:lnTo>
                  <a:pt x="5015958" y="71988"/>
                </a:lnTo>
                <a:lnTo>
                  <a:pt x="5112418" y="68929"/>
                </a:lnTo>
                <a:lnTo>
                  <a:pt x="5208879" y="65809"/>
                </a:lnTo>
                <a:lnTo>
                  <a:pt x="5305340" y="62627"/>
                </a:lnTo>
                <a:lnTo>
                  <a:pt x="5401800" y="59382"/>
                </a:lnTo>
                <a:lnTo>
                  <a:pt x="5498261" y="56081"/>
                </a:lnTo>
                <a:lnTo>
                  <a:pt x="5594722" y="52716"/>
                </a:lnTo>
                <a:lnTo>
                  <a:pt x="5691183" y="49305"/>
                </a:lnTo>
                <a:lnTo>
                  <a:pt x="5787643" y="45837"/>
                </a:lnTo>
                <a:lnTo>
                  <a:pt x="5884104" y="42317"/>
                </a:lnTo>
                <a:lnTo>
                  <a:pt x="5980565" y="38744"/>
                </a:lnTo>
                <a:lnTo>
                  <a:pt x="6077026" y="35120"/>
                </a:lnTo>
                <a:lnTo>
                  <a:pt x="6173486" y="31437"/>
                </a:lnTo>
                <a:lnTo>
                  <a:pt x="6269947" y="27713"/>
                </a:lnTo>
                <a:lnTo>
                  <a:pt x="6366408" y="23930"/>
                </a:lnTo>
                <a:lnTo>
                  <a:pt x="6462869" y="20089"/>
                </a:lnTo>
                <a:lnTo>
                  <a:pt x="6559329" y="16194"/>
                </a:lnTo>
                <a:lnTo>
                  <a:pt x="6655790" y="12235"/>
                </a:lnTo>
                <a:lnTo>
                  <a:pt x="6752251" y="8222"/>
                </a:lnTo>
                <a:lnTo>
                  <a:pt x="6848711" y="4138"/>
                </a:lnTo>
                <a:lnTo>
                  <a:pt x="6945172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bfa: точка 4"/>
          <p:cNvSpPr/>
          <p:nvPr/>
        </p:nvSpPr>
        <p:spPr>
          <a:xfrm>
            <a:off x="874688" y="492331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bfa: точка 5"/>
          <p:cNvSpPr/>
          <p:nvPr/>
        </p:nvSpPr>
        <p:spPr>
          <a:xfrm>
            <a:off x="2032216" y="4915498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bfa: точка 6"/>
          <p:cNvSpPr/>
          <p:nvPr/>
        </p:nvSpPr>
        <p:spPr>
          <a:xfrm>
            <a:off x="3189745" y="4913159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bfa: точка 7"/>
          <p:cNvSpPr/>
          <p:nvPr/>
        </p:nvSpPr>
        <p:spPr>
          <a:xfrm>
            <a:off x="4347274" y="4895142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bfa: точка 8"/>
          <p:cNvSpPr/>
          <p:nvPr/>
        </p:nvSpPr>
        <p:spPr>
          <a:xfrm>
            <a:off x="5504803" y="4867353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bfa: точка 9"/>
          <p:cNvSpPr/>
          <p:nvPr/>
        </p:nvSpPr>
        <p:spPr>
          <a:xfrm>
            <a:off x="6662331" y="482966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bfa: точка 10"/>
          <p:cNvSpPr/>
          <p:nvPr/>
        </p:nvSpPr>
        <p:spPr>
          <a:xfrm>
            <a:off x="7819860" y="478382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8640" y="3937037"/>
            <a:ext cx="11094415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Индекс массы тела (ИМТ) для возраста, кг/м²</a:t>
            </a:r>
          </a:p>
        </p:txBody>
      </p:sp>
      <p:sp>
        <p:nvSpPr>
          <p:cNvPr id="133" name="Легенда"/>
          <p:cNvSpPr/>
          <p:nvPr/>
        </p:nvSpPr>
        <p:spPr>
          <a:xfrm>
            <a:off x="548640" y="5550408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Легенда"/>
          <p:cNvSpPr txBox="1"/>
          <p:nvPr/>
        </p:nvSpPr>
        <p:spPr>
          <a:xfrm>
            <a:off x="89611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135" name="Легенда"/>
          <p:cNvSpPr/>
          <p:nvPr/>
        </p:nvSpPr>
        <p:spPr>
          <a:xfrm>
            <a:off x="2560320" y="5550408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Легенда"/>
          <p:cNvSpPr txBox="1"/>
          <p:nvPr/>
        </p:nvSpPr>
        <p:spPr>
          <a:xfrm>
            <a:off x="290779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ИМТ</a:t>
            </a:r>
          </a:p>
        </p:txBody>
      </p:sp>
      <p:sp>
        <p:nvSpPr>
          <p:cNvPr id="137" name="Легенда"/>
          <p:cNvSpPr/>
          <p:nvPr/>
        </p:nvSpPr>
        <p:spPr>
          <a:xfrm>
            <a:off x="4572000" y="5550408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Легенда"/>
          <p:cNvSpPr txBox="1"/>
          <p:nvPr/>
        </p:nvSpPr>
        <p:spPr>
          <a:xfrm>
            <a:off x="491947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ВОЗ: 3–⁠97-й центиль</a:t>
            </a:r>
          </a:p>
        </p:txBody>
      </p:sp>
      <p:sp>
        <p:nvSpPr>
          <p:cNvPr id="139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Salerno M et al. Front Endocrinol (Lausanne) 2026;16:1744280; Rohner F et al. Thyroid 2020;30:898–⁠907; WHO Multicentre Growth Reference Study Group. Acta Paediatr Suppl 2006;450:76–⁠85 (нормы ВОЗ); de Onis M et al. Bull World Health Organ 2007;85:660–⁠7 (нормы ВОЗ)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Без гормона щитовидной железы хрящ плохо окостеневает, а секреция СТГ падает</a:t>
            </a:r>
          </a:p>
        </p:txBody>
      </p:sp>
      <p:sp>
        <p:nvSpPr>
          <p:cNvPr id="3" name="Строка: Гипофиз"/>
          <p:cNvSpPr/>
          <p:nvPr/>
        </p:nvSpPr>
        <p:spPr>
          <a:xfrm>
            <a:off x="3017520" y="155448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физ"/>
          <p:cNvSpPr/>
          <p:nvPr/>
        </p:nvSpPr>
        <p:spPr>
          <a:xfrm>
            <a:off x="548640" y="155448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5603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Ночная секреция соматотропного гормона (СТГ) снижена, на левотироксине приходит в норму (7 детей)</a:t>
            </a:r>
          </a:p>
        </p:txBody>
      </p:sp>
      <p:sp>
        <p:nvSpPr>
          <p:cNvPr id="8" name="Строка: Кровь"/>
          <p:cNvSpPr/>
          <p:nvPr/>
        </p:nvSpPr>
        <p:spPr>
          <a:xfrm>
            <a:off x="3017520" y="283464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Кровь"/>
          <p:cNvSpPr/>
          <p:nvPr/>
        </p:nvSpPr>
        <p:spPr>
          <a:xfrm>
            <a:off x="548640" y="283464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Кровь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ИФР-⁠1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8404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83464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Инсулиноподобный фактор роста 1 (ИФР-⁠1) до лечения ниже, чем на лечении</a:t>
            </a:r>
          </a:p>
        </p:txBody>
      </p:sp>
      <p:sp>
        <p:nvSpPr>
          <p:cNvPr id="13" name="Строка: Зона роста"/>
          <p:cNvSpPr/>
          <p:nvPr/>
        </p:nvSpPr>
        <p:spPr>
          <a:xfrm>
            <a:off x="3017520" y="411480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Зона роста"/>
          <p:cNvSpPr/>
          <p:nvPr/>
        </p:nvSpPr>
        <p:spPr>
          <a:xfrm>
            <a:off x="548640" y="411480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411480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 и кость</a:t>
            </a:r>
          </a:p>
        </p:txBody>
      </p:sp>
      <p:sp>
        <p:nvSpPr>
          <p:cNvPr id="16" name="Что происходит"/>
          <p:cNvSpPr txBox="1"/>
          <p:nvPr/>
        </p:nvSpPr>
        <p:spPr>
          <a:xfrm>
            <a:off x="3291840" y="411480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Хрящ плохо окостеневает: рост медленнее, скелет отстаёт в развитии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При тяжёлом нелеченом гипотиреозе эпифизы на снимке «крапчатые»</a:t>
            </a:r>
          </a:p>
        </p:txBody>
      </p:sp>
      <p:sp>
        <p:nvSpPr>
          <p:cNvPr id="17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У крыс с гипотиреозом зона роста стареет медленнее, поэтому после отмены пропилтиоурацила, которым его вызывали, рост догоняет</a:t>
            </a:r>
          </a:p>
        </p:txBody>
      </p:sp>
      <p:sp>
        <p:nvSpPr>
          <p:cNvPr id="1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Williams GR, Bassett JHD. J Endocrinol Invest 2018;41:99–⁠109; Chernausek SD, Turner R. J Pediatr 1989;114:968–⁠72; Cavallo F et al. Front Pediatr 2021;9:580314; Marino R et al. Endocrinology 2008;149:1820–⁠8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Чем дольше гипотиреоз не выявлен, тем больше потеря итогового роста</a:t>
            </a:r>
          </a:p>
        </p:txBody>
      </p:sp>
      <p:sp>
        <p:nvSpPr>
          <p:cNvPr id="3" name="hfa: сетка 90"/>
          <p:cNvSpPr/>
          <p:nvPr/>
        </p:nvSpPr>
        <p:spPr>
          <a:xfrm>
            <a:off x="932688" y="368411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0411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90</a:t>
            </a:r>
          </a:p>
        </p:txBody>
      </p:sp>
      <p:sp>
        <p:nvSpPr>
          <p:cNvPr id="5" name="hfa: сетка 95"/>
          <p:cNvSpPr/>
          <p:nvPr/>
        </p:nvSpPr>
        <p:spPr>
          <a:xfrm>
            <a:off x="932688" y="357229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fa: сетка 100"/>
          <p:cNvSpPr/>
          <p:nvPr/>
        </p:nvSpPr>
        <p:spPr>
          <a:xfrm>
            <a:off x="932688" y="346046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046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100</a:t>
            </a:r>
          </a:p>
        </p:txBody>
      </p:sp>
      <p:sp>
        <p:nvSpPr>
          <p:cNvPr id="8" name="hfa: сетка 105"/>
          <p:cNvSpPr/>
          <p:nvPr/>
        </p:nvSpPr>
        <p:spPr>
          <a:xfrm>
            <a:off x="932688" y="334864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fa: сетка 110"/>
          <p:cNvSpPr/>
          <p:nvPr/>
        </p:nvSpPr>
        <p:spPr>
          <a:xfrm>
            <a:off x="932688" y="323681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6814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110</a:t>
            </a:r>
          </a:p>
        </p:txBody>
      </p:sp>
      <p:sp>
        <p:nvSpPr>
          <p:cNvPr id="11" name="hfa: сетка 115"/>
          <p:cNvSpPr/>
          <p:nvPr/>
        </p:nvSpPr>
        <p:spPr>
          <a:xfrm>
            <a:off x="932688" y="312498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fa: сетка 120"/>
          <p:cNvSpPr/>
          <p:nvPr/>
        </p:nvSpPr>
        <p:spPr>
          <a:xfrm>
            <a:off x="932688" y="3013163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33163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120</a:t>
            </a:r>
          </a:p>
        </p:txBody>
      </p:sp>
      <p:sp>
        <p:nvSpPr>
          <p:cNvPr id="14" name="hfa: сетка 125"/>
          <p:cNvSpPr/>
          <p:nvPr/>
        </p:nvSpPr>
        <p:spPr>
          <a:xfrm>
            <a:off x="932688" y="290133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fa: сетка 130"/>
          <p:cNvSpPr/>
          <p:nvPr/>
        </p:nvSpPr>
        <p:spPr>
          <a:xfrm>
            <a:off x="932688" y="278951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951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130</a:t>
            </a:r>
          </a:p>
        </p:txBody>
      </p:sp>
      <p:sp>
        <p:nvSpPr>
          <p:cNvPr id="17" name="hfa: сетка 135"/>
          <p:cNvSpPr/>
          <p:nvPr/>
        </p:nvSpPr>
        <p:spPr>
          <a:xfrm>
            <a:off x="932688" y="267768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fa: сетка 140"/>
          <p:cNvSpPr/>
          <p:nvPr/>
        </p:nvSpPr>
        <p:spPr>
          <a:xfrm>
            <a:off x="932688" y="25658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8586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140</a:t>
            </a:r>
          </a:p>
        </p:txBody>
      </p:sp>
      <p:sp>
        <p:nvSpPr>
          <p:cNvPr id="20" name="hfa: сетка 145"/>
          <p:cNvSpPr/>
          <p:nvPr/>
        </p:nvSpPr>
        <p:spPr>
          <a:xfrm>
            <a:off x="932688" y="245403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fa: сетка 150"/>
          <p:cNvSpPr/>
          <p:nvPr/>
        </p:nvSpPr>
        <p:spPr>
          <a:xfrm>
            <a:off x="932688" y="234220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26220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150</a:t>
            </a:r>
          </a:p>
        </p:txBody>
      </p:sp>
      <p:sp>
        <p:nvSpPr>
          <p:cNvPr id="23" name="hfa: сетка 155"/>
          <p:cNvSpPr/>
          <p:nvPr/>
        </p:nvSpPr>
        <p:spPr>
          <a:xfrm>
            <a:off x="932688" y="223038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fa: сетка 160"/>
          <p:cNvSpPr/>
          <p:nvPr/>
        </p:nvSpPr>
        <p:spPr>
          <a:xfrm>
            <a:off x="932688" y="211855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03855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160</a:t>
            </a:r>
          </a:p>
        </p:txBody>
      </p:sp>
      <p:sp>
        <p:nvSpPr>
          <p:cNvPr id="26" name="hfa: сетка 165"/>
          <p:cNvSpPr/>
          <p:nvPr/>
        </p:nvSpPr>
        <p:spPr>
          <a:xfrm>
            <a:off x="932688" y="200673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fa: сетка 170"/>
          <p:cNvSpPr/>
          <p:nvPr/>
        </p:nvSpPr>
        <p:spPr>
          <a:xfrm>
            <a:off x="932688" y="189490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18149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170</a:t>
            </a:r>
          </a:p>
        </p:txBody>
      </p:sp>
      <p:sp>
        <p:nvSpPr>
          <p:cNvPr id="29" name="hfa: сетка 175"/>
          <p:cNvSpPr/>
          <p:nvPr/>
        </p:nvSpPr>
        <p:spPr>
          <a:xfrm>
            <a:off x="932688" y="178308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fa: год 4"/>
          <p:cNvSpPr/>
          <p:nvPr/>
        </p:nvSpPr>
        <p:spPr>
          <a:xfrm>
            <a:off x="93268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2688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32" name="hfa: год 5"/>
          <p:cNvSpPr/>
          <p:nvPr/>
        </p:nvSpPr>
        <p:spPr>
          <a:xfrm>
            <a:off x="169062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40623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34" name="hfa: год 6"/>
          <p:cNvSpPr/>
          <p:nvPr/>
        </p:nvSpPr>
        <p:spPr>
          <a:xfrm>
            <a:off x="244855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98559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6" name="hfa: год 7"/>
          <p:cNvSpPr/>
          <p:nvPr/>
        </p:nvSpPr>
        <p:spPr>
          <a:xfrm>
            <a:off x="320649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56495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8" name="hfa: год 8"/>
          <p:cNvSpPr/>
          <p:nvPr/>
        </p:nvSpPr>
        <p:spPr>
          <a:xfrm>
            <a:off x="396443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443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0" name="hfa: год 9"/>
          <p:cNvSpPr/>
          <p:nvPr/>
        </p:nvSpPr>
        <p:spPr>
          <a:xfrm>
            <a:off x="4722367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367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42" name="hfa: год 10"/>
          <p:cNvSpPr/>
          <p:nvPr/>
        </p:nvSpPr>
        <p:spPr>
          <a:xfrm>
            <a:off x="548030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0303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4" name="hfa: год 11"/>
          <p:cNvSpPr/>
          <p:nvPr/>
        </p:nvSpPr>
        <p:spPr>
          <a:xfrm>
            <a:off x="623823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8239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6" name="hfa: год 12"/>
          <p:cNvSpPr/>
          <p:nvPr/>
        </p:nvSpPr>
        <p:spPr>
          <a:xfrm>
            <a:off x="699617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6175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8" name="hfa: год 13"/>
          <p:cNvSpPr/>
          <p:nvPr/>
        </p:nvSpPr>
        <p:spPr>
          <a:xfrm>
            <a:off x="775411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0411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13</a:t>
            </a:r>
          </a:p>
        </p:txBody>
      </p:sp>
      <p:sp>
        <p:nvSpPr>
          <p:cNvPr id="50" name="hfa: ось"/>
          <p:cNvSpPr/>
          <p:nvPr/>
        </p:nvSpPr>
        <p:spPr>
          <a:xfrm>
            <a:off x="932688" y="368411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fa: полоса 3–97"/>
          <p:cNvSpPr/>
          <p:nvPr/>
        </p:nvSpPr>
        <p:spPr>
          <a:xfrm>
            <a:off x="932688" y="1907615"/>
            <a:ext cx="6821423" cy="1672979"/>
          </a:xfrm>
          <a:custGeom>
            <a:avLst/>
            <a:gdLst/>
            <a:ahLst/>
            <a:cxnLst/>
            <a:rect l="l" t="t" r="r" b="b"/>
            <a:pathLst>
              <a:path w="6821423" h="1672979">
                <a:moveTo>
                  <a:pt x="0" y="1310555"/>
                </a:moveTo>
                <a:lnTo>
                  <a:pt x="85267" y="1290768"/>
                </a:lnTo>
                <a:lnTo>
                  <a:pt x="170535" y="1271063"/>
                </a:lnTo>
                <a:lnTo>
                  <a:pt x="255803" y="1251419"/>
                </a:lnTo>
                <a:lnTo>
                  <a:pt x="341071" y="1232383"/>
                </a:lnTo>
                <a:lnTo>
                  <a:pt x="426338" y="1213424"/>
                </a:lnTo>
                <a:lnTo>
                  <a:pt x="511606" y="1194951"/>
                </a:lnTo>
                <a:lnTo>
                  <a:pt x="596874" y="1176346"/>
                </a:lnTo>
                <a:lnTo>
                  <a:pt x="682142" y="1157995"/>
                </a:lnTo>
                <a:lnTo>
                  <a:pt x="767410" y="1148542"/>
                </a:lnTo>
                <a:lnTo>
                  <a:pt x="852677" y="1130758"/>
                </a:lnTo>
                <a:lnTo>
                  <a:pt x="937945" y="1113169"/>
                </a:lnTo>
                <a:lnTo>
                  <a:pt x="1023213" y="1095802"/>
                </a:lnTo>
                <a:lnTo>
                  <a:pt x="1108481" y="1078657"/>
                </a:lnTo>
                <a:lnTo>
                  <a:pt x="1193749" y="1061687"/>
                </a:lnTo>
                <a:lnTo>
                  <a:pt x="1279016" y="1044928"/>
                </a:lnTo>
                <a:lnTo>
                  <a:pt x="1364284" y="1028338"/>
                </a:lnTo>
                <a:lnTo>
                  <a:pt x="1449552" y="1011899"/>
                </a:lnTo>
                <a:lnTo>
                  <a:pt x="1534820" y="995628"/>
                </a:lnTo>
                <a:lnTo>
                  <a:pt x="1620087" y="979513"/>
                </a:lnTo>
                <a:lnTo>
                  <a:pt x="1705355" y="963422"/>
                </a:lnTo>
                <a:lnTo>
                  <a:pt x="1790623" y="947489"/>
                </a:lnTo>
                <a:lnTo>
                  <a:pt x="1875891" y="931541"/>
                </a:lnTo>
                <a:lnTo>
                  <a:pt x="1961159" y="915662"/>
                </a:lnTo>
                <a:lnTo>
                  <a:pt x="2046426" y="899757"/>
                </a:lnTo>
                <a:lnTo>
                  <a:pt x="2131694" y="883890"/>
                </a:lnTo>
                <a:lnTo>
                  <a:pt x="2216962" y="868005"/>
                </a:lnTo>
                <a:lnTo>
                  <a:pt x="2302230" y="852132"/>
                </a:lnTo>
                <a:lnTo>
                  <a:pt x="2387498" y="836223"/>
                </a:lnTo>
                <a:lnTo>
                  <a:pt x="2472765" y="820256"/>
                </a:lnTo>
                <a:lnTo>
                  <a:pt x="2558033" y="804321"/>
                </a:lnTo>
                <a:lnTo>
                  <a:pt x="2643301" y="788345"/>
                </a:lnTo>
                <a:lnTo>
                  <a:pt x="2728569" y="772304"/>
                </a:lnTo>
                <a:lnTo>
                  <a:pt x="2813836" y="756271"/>
                </a:lnTo>
                <a:lnTo>
                  <a:pt x="2899104" y="740184"/>
                </a:lnTo>
                <a:lnTo>
                  <a:pt x="2984372" y="724030"/>
                </a:lnTo>
                <a:lnTo>
                  <a:pt x="3069640" y="707811"/>
                </a:lnTo>
                <a:lnTo>
                  <a:pt x="3154908" y="691581"/>
                </a:lnTo>
                <a:lnTo>
                  <a:pt x="3240175" y="675299"/>
                </a:lnTo>
                <a:lnTo>
                  <a:pt x="3325443" y="658949"/>
                </a:lnTo>
                <a:lnTo>
                  <a:pt x="3410711" y="642535"/>
                </a:lnTo>
                <a:lnTo>
                  <a:pt x="3495979" y="626113"/>
                </a:lnTo>
                <a:lnTo>
                  <a:pt x="3581247" y="609589"/>
                </a:lnTo>
                <a:lnTo>
                  <a:pt x="3666514" y="593071"/>
                </a:lnTo>
                <a:lnTo>
                  <a:pt x="3751782" y="576446"/>
                </a:lnTo>
                <a:lnTo>
                  <a:pt x="3837050" y="559802"/>
                </a:lnTo>
                <a:lnTo>
                  <a:pt x="3922318" y="543137"/>
                </a:lnTo>
                <a:lnTo>
                  <a:pt x="4007586" y="526405"/>
                </a:lnTo>
                <a:lnTo>
                  <a:pt x="4092853" y="509665"/>
                </a:lnTo>
                <a:lnTo>
                  <a:pt x="4178121" y="492839"/>
                </a:lnTo>
                <a:lnTo>
                  <a:pt x="4263389" y="476040"/>
                </a:lnTo>
                <a:lnTo>
                  <a:pt x="4348657" y="459183"/>
                </a:lnTo>
                <a:lnTo>
                  <a:pt x="4433924" y="442241"/>
                </a:lnTo>
                <a:lnTo>
                  <a:pt x="4519192" y="425300"/>
                </a:lnTo>
                <a:lnTo>
                  <a:pt x="4604460" y="408347"/>
                </a:lnTo>
                <a:lnTo>
                  <a:pt x="4689728" y="391286"/>
                </a:lnTo>
                <a:lnTo>
                  <a:pt x="4774996" y="374206"/>
                </a:lnTo>
                <a:lnTo>
                  <a:pt x="4860263" y="357056"/>
                </a:lnTo>
                <a:lnTo>
                  <a:pt x="4945531" y="339844"/>
                </a:lnTo>
                <a:lnTo>
                  <a:pt x="5030799" y="322631"/>
                </a:lnTo>
                <a:lnTo>
                  <a:pt x="5116067" y="305368"/>
                </a:lnTo>
                <a:lnTo>
                  <a:pt x="5201335" y="288067"/>
                </a:lnTo>
                <a:lnTo>
                  <a:pt x="5286602" y="270797"/>
                </a:lnTo>
                <a:lnTo>
                  <a:pt x="5371870" y="253577"/>
                </a:lnTo>
                <a:lnTo>
                  <a:pt x="5457138" y="236428"/>
                </a:lnTo>
                <a:lnTo>
                  <a:pt x="5542406" y="219358"/>
                </a:lnTo>
                <a:lnTo>
                  <a:pt x="5627673" y="202422"/>
                </a:lnTo>
                <a:lnTo>
                  <a:pt x="5712941" y="185653"/>
                </a:lnTo>
                <a:lnTo>
                  <a:pt x="5798209" y="169107"/>
                </a:lnTo>
                <a:lnTo>
                  <a:pt x="5883477" y="152754"/>
                </a:lnTo>
                <a:lnTo>
                  <a:pt x="5968745" y="136735"/>
                </a:lnTo>
                <a:lnTo>
                  <a:pt x="6054012" y="121001"/>
                </a:lnTo>
                <a:lnTo>
                  <a:pt x="6139280" y="105689"/>
                </a:lnTo>
                <a:lnTo>
                  <a:pt x="6224548" y="90745"/>
                </a:lnTo>
                <a:lnTo>
                  <a:pt x="6309816" y="76193"/>
                </a:lnTo>
                <a:lnTo>
                  <a:pt x="6395084" y="62194"/>
                </a:lnTo>
                <a:lnTo>
                  <a:pt x="6480351" y="48687"/>
                </a:lnTo>
                <a:lnTo>
                  <a:pt x="6565619" y="35722"/>
                </a:lnTo>
                <a:lnTo>
                  <a:pt x="6650887" y="23279"/>
                </a:lnTo>
                <a:lnTo>
                  <a:pt x="6736155" y="11393"/>
                </a:lnTo>
                <a:lnTo>
                  <a:pt x="6821423" y="0"/>
                </a:lnTo>
                <a:lnTo>
                  <a:pt x="6821423" y="584040"/>
                </a:lnTo>
                <a:lnTo>
                  <a:pt x="6736155" y="594863"/>
                </a:lnTo>
                <a:lnTo>
                  <a:pt x="6650887" y="606131"/>
                </a:lnTo>
                <a:lnTo>
                  <a:pt x="6565619" y="617791"/>
                </a:lnTo>
                <a:lnTo>
                  <a:pt x="6480351" y="629991"/>
                </a:lnTo>
                <a:lnTo>
                  <a:pt x="6395084" y="642525"/>
                </a:lnTo>
                <a:lnTo>
                  <a:pt x="6309816" y="655455"/>
                </a:lnTo>
                <a:lnTo>
                  <a:pt x="6224548" y="668748"/>
                </a:lnTo>
                <a:lnTo>
                  <a:pt x="6139280" y="682375"/>
                </a:lnTo>
                <a:lnTo>
                  <a:pt x="6054012" y="696357"/>
                </a:lnTo>
                <a:lnTo>
                  <a:pt x="5968745" y="710569"/>
                </a:lnTo>
                <a:lnTo>
                  <a:pt x="5883477" y="725011"/>
                </a:lnTo>
                <a:lnTo>
                  <a:pt x="5798209" y="739612"/>
                </a:lnTo>
                <a:lnTo>
                  <a:pt x="5712941" y="754419"/>
                </a:lnTo>
                <a:lnTo>
                  <a:pt x="5627673" y="769314"/>
                </a:lnTo>
                <a:lnTo>
                  <a:pt x="5542406" y="784314"/>
                </a:lnTo>
                <a:lnTo>
                  <a:pt x="5457138" y="799363"/>
                </a:lnTo>
                <a:lnTo>
                  <a:pt x="5371870" y="814449"/>
                </a:lnTo>
                <a:lnTo>
                  <a:pt x="5286602" y="829543"/>
                </a:lnTo>
                <a:lnTo>
                  <a:pt x="5201335" y="844601"/>
                </a:lnTo>
                <a:lnTo>
                  <a:pt x="5116067" y="859602"/>
                </a:lnTo>
                <a:lnTo>
                  <a:pt x="5030799" y="874566"/>
                </a:lnTo>
                <a:lnTo>
                  <a:pt x="4945531" y="889483"/>
                </a:lnTo>
                <a:lnTo>
                  <a:pt x="4860263" y="904281"/>
                </a:lnTo>
                <a:lnTo>
                  <a:pt x="4774996" y="918990"/>
                </a:lnTo>
                <a:lnTo>
                  <a:pt x="4689728" y="933638"/>
                </a:lnTo>
                <a:lnTo>
                  <a:pt x="4604460" y="948159"/>
                </a:lnTo>
                <a:lnTo>
                  <a:pt x="4519192" y="962647"/>
                </a:lnTo>
                <a:lnTo>
                  <a:pt x="4433924" y="977025"/>
                </a:lnTo>
                <a:lnTo>
                  <a:pt x="4348657" y="991281"/>
                </a:lnTo>
                <a:lnTo>
                  <a:pt x="4263389" y="1005498"/>
                </a:lnTo>
                <a:lnTo>
                  <a:pt x="4178121" y="1019665"/>
                </a:lnTo>
                <a:lnTo>
                  <a:pt x="4092853" y="1033698"/>
                </a:lnTo>
                <a:lnTo>
                  <a:pt x="4007586" y="1047705"/>
                </a:lnTo>
                <a:lnTo>
                  <a:pt x="3922318" y="1061625"/>
                </a:lnTo>
                <a:lnTo>
                  <a:pt x="3837050" y="1075490"/>
                </a:lnTo>
                <a:lnTo>
                  <a:pt x="3751782" y="1089276"/>
                </a:lnTo>
                <a:lnTo>
                  <a:pt x="3666514" y="1102973"/>
                </a:lnTo>
                <a:lnTo>
                  <a:pt x="3581247" y="1116653"/>
                </a:lnTo>
                <a:lnTo>
                  <a:pt x="3495979" y="1130199"/>
                </a:lnTo>
                <a:lnTo>
                  <a:pt x="3410711" y="1143734"/>
                </a:lnTo>
                <a:lnTo>
                  <a:pt x="3325443" y="1157129"/>
                </a:lnTo>
                <a:lnTo>
                  <a:pt x="3240175" y="1170475"/>
                </a:lnTo>
                <a:lnTo>
                  <a:pt x="3154908" y="1183769"/>
                </a:lnTo>
                <a:lnTo>
                  <a:pt x="3069640" y="1196982"/>
                </a:lnTo>
                <a:lnTo>
                  <a:pt x="2984372" y="1210099"/>
                </a:lnTo>
                <a:lnTo>
                  <a:pt x="2899104" y="1223166"/>
                </a:lnTo>
                <a:lnTo>
                  <a:pt x="2813836" y="1236183"/>
                </a:lnTo>
                <a:lnTo>
                  <a:pt x="2728569" y="1249159"/>
                </a:lnTo>
                <a:lnTo>
                  <a:pt x="2643301" y="1262037"/>
                </a:lnTo>
                <a:lnTo>
                  <a:pt x="2558033" y="1274896"/>
                </a:lnTo>
                <a:lnTo>
                  <a:pt x="2472765" y="1287727"/>
                </a:lnTo>
                <a:lnTo>
                  <a:pt x="2387498" y="1300449"/>
                </a:lnTo>
                <a:lnTo>
                  <a:pt x="2302230" y="1313172"/>
                </a:lnTo>
                <a:lnTo>
                  <a:pt x="2216962" y="1325882"/>
                </a:lnTo>
                <a:lnTo>
                  <a:pt x="2131694" y="1338534"/>
                </a:lnTo>
                <a:lnTo>
                  <a:pt x="2046426" y="1351170"/>
                </a:lnTo>
                <a:lnTo>
                  <a:pt x="1961159" y="1363759"/>
                </a:lnTo>
                <a:lnTo>
                  <a:pt x="1875891" y="1376389"/>
                </a:lnTo>
                <a:lnTo>
                  <a:pt x="1790623" y="1388996"/>
                </a:lnTo>
                <a:lnTo>
                  <a:pt x="1705355" y="1401689"/>
                </a:lnTo>
                <a:lnTo>
                  <a:pt x="1620087" y="1414344"/>
                </a:lnTo>
                <a:lnTo>
                  <a:pt x="1534820" y="1427120"/>
                </a:lnTo>
                <a:lnTo>
                  <a:pt x="1449552" y="1439943"/>
                </a:lnTo>
                <a:lnTo>
                  <a:pt x="1364284" y="1452893"/>
                </a:lnTo>
                <a:lnTo>
                  <a:pt x="1279016" y="1465981"/>
                </a:lnTo>
                <a:lnTo>
                  <a:pt x="1193749" y="1479225"/>
                </a:lnTo>
                <a:lnTo>
                  <a:pt x="1108481" y="1492618"/>
                </a:lnTo>
                <a:lnTo>
                  <a:pt x="1023213" y="1506164"/>
                </a:lnTo>
                <a:lnTo>
                  <a:pt x="937945" y="1519858"/>
                </a:lnTo>
                <a:lnTo>
                  <a:pt x="852677" y="1533737"/>
                </a:lnTo>
                <a:lnTo>
                  <a:pt x="767410" y="1547793"/>
                </a:lnTo>
                <a:lnTo>
                  <a:pt x="682142" y="1554553"/>
                </a:lnTo>
                <a:lnTo>
                  <a:pt x="596874" y="1568708"/>
                </a:lnTo>
                <a:lnTo>
                  <a:pt x="511606" y="1583092"/>
                </a:lnTo>
                <a:lnTo>
                  <a:pt x="426338" y="1597428"/>
                </a:lnTo>
                <a:lnTo>
                  <a:pt x="341071" y="1612114"/>
                </a:lnTo>
                <a:lnTo>
                  <a:pt x="255803" y="1626964"/>
                </a:lnTo>
                <a:lnTo>
                  <a:pt x="170535" y="1642198"/>
                </a:lnTo>
                <a:lnTo>
                  <a:pt x="85267" y="1657531"/>
                </a:lnTo>
                <a:lnTo>
                  <a:pt x="0" y="167297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fa: 97-й центиль"/>
          <p:cNvSpPr/>
          <p:nvPr/>
        </p:nvSpPr>
        <p:spPr>
          <a:xfrm>
            <a:off x="932688" y="1907615"/>
            <a:ext cx="6821423" cy="1310555"/>
          </a:xfrm>
          <a:custGeom>
            <a:avLst/>
            <a:gdLst/>
            <a:ahLst/>
            <a:cxnLst/>
            <a:rect l="l" t="t" r="r" b="b"/>
            <a:pathLst>
              <a:path w="6821423" h="1310555">
                <a:moveTo>
                  <a:pt x="0" y="1310555"/>
                </a:moveTo>
                <a:lnTo>
                  <a:pt x="85267" y="1290768"/>
                </a:lnTo>
                <a:lnTo>
                  <a:pt x="170535" y="1271063"/>
                </a:lnTo>
                <a:lnTo>
                  <a:pt x="255803" y="1251419"/>
                </a:lnTo>
                <a:lnTo>
                  <a:pt x="341071" y="1232383"/>
                </a:lnTo>
                <a:lnTo>
                  <a:pt x="426338" y="1213424"/>
                </a:lnTo>
                <a:lnTo>
                  <a:pt x="511606" y="1194951"/>
                </a:lnTo>
                <a:lnTo>
                  <a:pt x="596874" y="1176346"/>
                </a:lnTo>
                <a:lnTo>
                  <a:pt x="682142" y="1157995"/>
                </a:lnTo>
                <a:lnTo>
                  <a:pt x="767410" y="1148542"/>
                </a:lnTo>
                <a:lnTo>
                  <a:pt x="852677" y="1130758"/>
                </a:lnTo>
                <a:lnTo>
                  <a:pt x="937945" y="1113169"/>
                </a:lnTo>
                <a:lnTo>
                  <a:pt x="1023213" y="1095802"/>
                </a:lnTo>
                <a:lnTo>
                  <a:pt x="1108481" y="1078657"/>
                </a:lnTo>
                <a:lnTo>
                  <a:pt x="1193749" y="1061687"/>
                </a:lnTo>
                <a:lnTo>
                  <a:pt x="1279016" y="1044928"/>
                </a:lnTo>
                <a:lnTo>
                  <a:pt x="1364284" y="1028338"/>
                </a:lnTo>
                <a:lnTo>
                  <a:pt x="1449552" y="1011899"/>
                </a:lnTo>
                <a:lnTo>
                  <a:pt x="1534820" y="995628"/>
                </a:lnTo>
                <a:lnTo>
                  <a:pt x="1620087" y="979513"/>
                </a:lnTo>
                <a:lnTo>
                  <a:pt x="1705355" y="963422"/>
                </a:lnTo>
                <a:lnTo>
                  <a:pt x="1790623" y="947489"/>
                </a:lnTo>
                <a:lnTo>
                  <a:pt x="1875891" y="931541"/>
                </a:lnTo>
                <a:lnTo>
                  <a:pt x="1961159" y="915662"/>
                </a:lnTo>
                <a:lnTo>
                  <a:pt x="2046426" y="899757"/>
                </a:lnTo>
                <a:lnTo>
                  <a:pt x="2131694" y="883890"/>
                </a:lnTo>
                <a:lnTo>
                  <a:pt x="2216962" y="868005"/>
                </a:lnTo>
                <a:lnTo>
                  <a:pt x="2302230" y="852132"/>
                </a:lnTo>
                <a:lnTo>
                  <a:pt x="2387498" y="836223"/>
                </a:lnTo>
                <a:lnTo>
                  <a:pt x="2472765" y="820256"/>
                </a:lnTo>
                <a:lnTo>
                  <a:pt x="2558033" y="804321"/>
                </a:lnTo>
                <a:lnTo>
                  <a:pt x="2643301" y="788345"/>
                </a:lnTo>
                <a:lnTo>
                  <a:pt x="2728569" y="772304"/>
                </a:lnTo>
                <a:lnTo>
                  <a:pt x="2813836" y="756271"/>
                </a:lnTo>
                <a:lnTo>
                  <a:pt x="2899104" y="740184"/>
                </a:lnTo>
                <a:lnTo>
                  <a:pt x="2984372" y="724030"/>
                </a:lnTo>
                <a:lnTo>
                  <a:pt x="3069640" y="707811"/>
                </a:lnTo>
                <a:lnTo>
                  <a:pt x="3154908" y="691581"/>
                </a:lnTo>
                <a:lnTo>
                  <a:pt x="3240175" y="675299"/>
                </a:lnTo>
                <a:lnTo>
                  <a:pt x="3325443" y="658949"/>
                </a:lnTo>
                <a:lnTo>
                  <a:pt x="3410711" y="642535"/>
                </a:lnTo>
                <a:lnTo>
                  <a:pt x="3495979" y="626113"/>
                </a:lnTo>
                <a:lnTo>
                  <a:pt x="3581247" y="609589"/>
                </a:lnTo>
                <a:lnTo>
                  <a:pt x="3666514" y="593071"/>
                </a:lnTo>
                <a:lnTo>
                  <a:pt x="3751782" y="576446"/>
                </a:lnTo>
                <a:lnTo>
                  <a:pt x="3837050" y="559802"/>
                </a:lnTo>
                <a:lnTo>
                  <a:pt x="3922318" y="543137"/>
                </a:lnTo>
                <a:lnTo>
                  <a:pt x="4007586" y="526405"/>
                </a:lnTo>
                <a:lnTo>
                  <a:pt x="4092853" y="509665"/>
                </a:lnTo>
                <a:lnTo>
                  <a:pt x="4178121" y="492839"/>
                </a:lnTo>
                <a:lnTo>
                  <a:pt x="4263389" y="476040"/>
                </a:lnTo>
                <a:lnTo>
                  <a:pt x="4348657" y="459183"/>
                </a:lnTo>
                <a:lnTo>
                  <a:pt x="4433924" y="442241"/>
                </a:lnTo>
                <a:lnTo>
                  <a:pt x="4519192" y="425300"/>
                </a:lnTo>
                <a:lnTo>
                  <a:pt x="4604460" y="408347"/>
                </a:lnTo>
                <a:lnTo>
                  <a:pt x="4689728" y="391286"/>
                </a:lnTo>
                <a:lnTo>
                  <a:pt x="4774996" y="374206"/>
                </a:lnTo>
                <a:lnTo>
                  <a:pt x="4860263" y="357056"/>
                </a:lnTo>
                <a:lnTo>
                  <a:pt x="4945531" y="339844"/>
                </a:lnTo>
                <a:lnTo>
                  <a:pt x="5030799" y="322631"/>
                </a:lnTo>
                <a:lnTo>
                  <a:pt x="5116067" y="305368"/>
                </a:lnTo>
                <a:lnTo>
                  <a:pt x="5201335" y="288067"/>
                </a:lnTo>
                <a:lnTo>
                  <a:pt x="5286602" y="270797"/>
                </a:lnTo>
                <a:lnTo>
                  <a:pt x="5371870" y="253577"/>
                </a:lnTo>
                <a:lnTo>
                  <a:pt x="5457138" y="236428"/>
                </a:lnTo>
                <a:lnTo>
                  <a:pt x="5542406" y="219358"/>
                </a:lnTo>
                <a:lnTo>
                  <a:pt x="5627673" y="202422"/>
                </a:lnTo>
                <a:lnTo>
                  <a:pt x="5712941" y="185653"/>
                </a:lnTo>
                <a:lnTo>
                  <a:pt x="5798209" y="169107"/>
                </a:lnTo>
                <a:lnTo>
                  <a:pt x="5883477" y="152754"/>
                </a:lnTo>
                <a:lnTo>
                  <a:pt x="5968745" y="136735"/>
                </a:lnTo>
                <a:lnTo>
                  <a:pt x="6054012" y="121001"/>
                </a:lnTo>
                <a:lnTo>
                  <a:pt x="6139280" y="105689"/>
                </a:lnTo>
                <a:lnTo>
                  <a:pt x="6224548" y="90745"/>
                </a:lnTo>
                <a:lnTo>
                  <a:pt x="6309816" y="76193"/>
                </a:lnTo>
                <a:lnTo>
                  <a:pt x="6395084" y="62194"/>
                </a:lnTo>
                <a:lnTo>
                  <a:pt x="6480351" y="48687"/>
                </a:lnTo>
                <a:lnTo>
                  <a:pt x="6565619" y="35722"/>
                </a:lnTo>
                <a:lnTo>
                  <a:pt x="6650887" y="23279"/>
                </a:lnTo>
                <a:lnTo>
                  <a:pt x="6736155" y="11393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94111" y="183261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54" name="hfa: 85-й центиль"/>
          <p:cNvSpPr/>
          <p:nvPr/>
        </p:nvSpPr>
        <p:spPr>
          <a:xfrm>
            <a:off x="932688" y="2038799"/>
            <a:ext cx="6821423" cy="1260776"/>
          </a:xfrm>
          <a:custGeom>
            <a:avLst/>
            <a:gdLst/>
            <a:ahLst/>
            <a:cxnLst/>
            <a:rect l="l" t="t" r="r" b="b"/>
            <a:pathLst>
              <a:path w="6821423" h="1260776">
                <a:moveTo>
                  <a:pt x="0" y="1260776"/>
                </a:moveTo>
                <a:lnTo>
                  <a:pt x="85267" y="1241964"/>
                </a:lnTo>
                <a:lnTo>
                  <a:pt x="170535" y="1223241"/>
                </a:lnTo>
                <a:lnTo>
                  <a:pt x="255803" y="1204588"/>
                </a:lnTo>
                <a:lnTo>
                  <a:pt x="341071" y="1186493"/>
                </a:lnTo>
                <a:lnTo>
                  <a:pt x="426338" y="1168493"/>
                </a:lnTo>
                <a:lnTo>
                  <a:pt x="511606" y="1150949"/>
                </a:lnTo>
                <a:lnTo>
                  <a:pt x="596874" y="1133292"/>
                </a:lnTo>
                <a:lnTo>
                  <a:pt x="682142" y="1115884"/>
                </a:lnTo>
                <a:lnTo>
                  <a:pt x="767410" y="1107036"/>
                </a:lnTo>
                <a:lnTo>
                  <a:pt x="852677" y="1090089"/>
                </a:lnTo>
                <a:lnTo>
                  <a:pt x="937945" y="1073333"/>
                </a:lnTo>
                <a:lnTo>
                  <a:pt x="1023213" y="1056792"/>
                </a:lnTo>
                <a:lnTo>
                  <a:pt x="1108481" y="1040455"/>
                </a:lnTo>
                <a:lnTo>
                  <a:pt x="1193749" y="1024288"/>
                </a:lnTo>
                <a:lnTo>
                  <a:pt x="1279016" y="1008318"/>
                </a:lnTo>
                <a:lnTo>
                  <a:pt x="1364284" y="992515"/>
                </a:lnTo>
                <a:lnTo>
                  <a:pt x="1449552" y="976860"/>
                </a:lnTo>
                <a:lnTo>
                  <a:pt x="1534820" y="961363"/>
                </a:lnTo>
                <a:lnTo>
                  <a:pt x="1620087" y="945998"/>
                </a:lnTo>
                <a:lnTo>
                  <a:pt x="1705355" y="930679"/>
                </a:lnTo>
                <a:lnTo>
                  <a:pt x="1790623" y="915474"/>
                </a:lnTo>
                <a:lnTo>
                  <a:pt x="1875891" y="900276"/>
                </a:lnTo>
                <a:lnTo>
                  <a:pt x="1961159" y="885127"/>
                </a:lnTo>
                <a:lnTo>
                  <a:pt x="2046426" y="869967"/>
                </a:lnTo>
                <a:lnTo>
                  <a:pt x="2131694" y="854825"/>
                </a:lnTo>
                <a:lnTo>
                  <a:pt x="2216962" y="839667"/>
                </a:lnTo>
                <a:lnTo>
                  <a:pt x="2302230" y="824505"/>
                </a:lnTo>
                <a:lnTo>
                  <a:pt x="2387498" y="809311"/>
                </a:lnTo>
                <a:lnTo>
                  <a:pt x="2472765" y="794073"/>
                </a:lnTo>
                <a:lnTo>
                  <a:pt x="2558033" y="778835"/>
                </a:lnTo>
                <a:lnTo>
                  <a:pt x="2643301" y="763559"/>
                </a:lnTo>
                <a:lnTo>
                  <a:pt x="2728569" y="748228"/>
                </a:lnTo>
                <a:lnTo>
                  <a:pt x="2813836" y="732882"/>
                </a:lnTo>
                <a:lnTo>
                  <a:pt x="2899104" y="717484"/>
                </a:lnTo>
                <a:lnTo>
                  <a:pt x="2984372" y="702025"/>
                </a:lnTo>
                <a:lnTo>
                  <a:pt x="3069640" y="686502"/>
                </a:lnTo>
                <a:lnTo>
                  <a:pt x="3154908" y="670950"/>
                </a:lnTo>
                <a:lnTo>
                  <a:pt x="3240175" y="655339"/>
                </a:lnTo>
                <a:lnTo>
                  <a:pt x="3325443" y="639663"/>
                </a:lnTo>
                <a:lnTo>
                  <a:pt x="3410711" y="623928"/>
                </a:lnTo>
                <a:lnTo>
                  <a:pt x="3495979" y="608154"/>
                </a:lnTo>
                <a:lnTo>
                  <a:pt x="3581247" y="592299"/>
                </a:lnTo>
                <a:lnTo>
                  <a:pt x="3666514" y="576419"/>
                </a:lnTo>
                <a:lnTo>
                  <a:pt x="3751782" y="560451"/>
                </a:lnTo>
                <a:lnTo>
                  <a:pt x="3837050" y="544449"/>
                </a:lnTo>
                <a:lnTo>
                  <a:pt x="3922318" y="528413"/>
                </a:lnTo>
                <a:lnTo>
                  <a:pt x="4007586" y="512312"/>
                </a:lnTo>
                <a:lnTo>
                  <a:pt x="4092853" y="496187"/>
                </a:lnTo>
                <a:lnTo>
                  <a:pt x="4178121" y="479988"/>
                </a:lnTo>
                <a:lnTo>
                  <a:pt x="4263389" y="463780"/>
                </a:lnTo>
                <a:lnTo>
                  <a:pt x="4348657" y="447516"/>
                </a:lnTo>
                <a:lnTo>
                  <a:pt x="4433924" y="431177"/>
                </a:lnTo>
                <a:lnTo>
                  <a:pt x="4519192" y="414812"/>
                </a:lnTo>
                <a:lnTo>
                  <a:pt x="4604460" y="398413"/>
                </a:lnTo>
                <a:lnTo>
                  <a:pt x="4689728" y="381922"/>
                </a:lnTo>
                <a:lnTo>
                  <a:pt x="4774996" y="365389"/>
                </a:lnTo>
                <a:lnTo>
                  <a:pt x="4860263" y="348787"/>
                </a:lnTo>
                <a:lnTo>
                  <a:pt x="4945531" y="332117"/>
                </a:lnTo>
                <a:lnTo>
                  <a:pt x="5030799" y="315420"/>
                </a:lnTo>
                <a:lnTo>
                  <a:pt x="5116067" y="298673"/>
                </a:lnTo>
                <a:lnTo>
                  <a:pt x="5201335" y="281889"/>
                </a:lnTo>
                <a:lnTo>
                  <a:pt x="5286602" y="265116"/>
                </a:lnTo>
                <a:lnTo>
                  <a:pt x="5371870" y="248373"/>
                </a:lnTo>
                <a:lnTo>
                  <a:pt x="5457138" y="231687"/>
                </a:lnTo>
                <a:lnTo>
                  <a:pt x="5542406" y="215071"/>
                </a:lnTo>
                <a:lnTo>
                  <a:pt x="5627673" y="198571"/>
                </a:lnTo>
                <a:lnTo>
                  <a:pt x="5712941" y="182222"/>
                </a:lnTo>
                <a:lnTo>
                  <a:pt x="5798209" y="166066"/>
                </a:lnTo>
                <a:lnTo>
                  <a:pt x="5883477" y="150107"/>
                </a:lnTo>
                <a:lnTo>
                  <a:pt x="5968745" y="134443"/>
                </a:lnTo>
                <a:lnTo>
                  <a:pt x="6054012" y="119050"/>
                </a:lnTo>
                <a:lnTo>
                  <a:pt x="6139280" y="104037"/>
                </a:lnTo>
                <a:lnTo>
                  <a:pt x="6224548" y="89389"/>
                </a:lnTo>
                <a:lnTo>
                  <a:pt x="6309816" y="75120"/>
                </a:lnTo>
                <a:lnTo>
                  <a:pt x="6395084" y="61361"/>
                </a:lnTo>
                <a:lnTo>
                  <a:pt x="6480351" y="48073"/>
                </a:lnTo>
                <a:lnTo>
                  <a:pt x="6565619" y="35279"/>
                </a:lnTo>
                <a:lnTo>
                  <a:pt x="6650887" y="23012"/>
                </a:lnTo>
                <a:lnTo>
                  <a:pt x="6736155" y="11265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94111" y="1963799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56" name="hfa: 50-й центиль"/>
          <p:cNvSpPr/>
          <p:nvPr/>
        </p:nvSpPr>
        <p:spPr>
          <a:xfrm>
            <a:off x="932688" y="2199635"/>
            <a:ext cx="6821423" cy="1199747"/>
          </a:xfrm>
          <a:custGeom>
            <a:avLst/>
            <a:gdLst/>
            <a:ahLst/>
            <a:cxnLst/>
            <a:rect l="l" t="t" r="r" b="b"/>
            <a:pathLst>
              <a:path w="6821423" h="1199747">
                <a:moveTo>
                  <a:pt x="0" y="1199747"/>
                </a:moveTo>
                <a:lnTo>
                  <a:pt x="85267" y="1182129"/>
                </a:lnTo>
                <a:lnTo>
                  <a:pt x="170535" y="1164610"/>
                </a:lnTo>
                <a:lnTo>
                  <a:pt x="255803" y="1147172"/>
                </a:lnTo>
                <a:lnTo>
                  <a:pt x="341071" y="1130229"/>
                </a:lnTo>
                <a:lnTo>
                  <a:pt x="426338" y="1113406"/>
                </a:lnTo>
                <a:lnTo>
                  <a:pt x="511606" y="1097001"/>
                </a:lnTo>
                <a:lnTo>
                  <a:pt x="596874" y="1080507"/>
                </a:lnTo>
                <a:lnTo>
                  <a:pt x="682142" y="1064254"/>
                </a:lnTo>
                <a:lnTo>
                  <a:pt x="767410" y="1056148"/>
                </a:lnTo>
                <a:lnTo>
                  <a:pt x="852677" y="1040228"/>
                </a:lnTo>
                <a:lnTo>
                  <a:pt x="937945" y="1024494"/>
                </a:lnTo>
                <a:lnTo>
                  <a:pt x="1023213" y="1008963"/>
                </a:lnTo>
                <a:lnTo>
                  <a:pt x="1108481" y="993618"/>
                </a:lnTo>
                <a:lnTo>
                  <a:pt x="1193749" y="978436"/>
                </a:lnTo>
                <a:lnTo>
                  <a:pt x="1279016" y="963435"/>
                </a:lnTo>
                <a:lnTo>
                  <a:pt x="1364284" y="948596"/>
                </a:lnTo>
                <a:lnTo>
                  <a:pt x="1449552" y="933901"/>
                </a:lnTo>
                <a:lnTo>
                  <a:pt x="1534820" y="919354"/>
                </a:lnTo>
                <a:lnTo>
                  <a:pt x="1620087" y="904908"/>
                </a:lnTo>
                <a:lnTo>
                  <a:pt x="1705355" y="890535"/>
                </a:lnTo>
                <a:lnTo>
                  <a:pt x="1790623" y="876223"/>
                </a:lnTo>
                <a:lnTo>
                  <a:pt x="1875891" y="861945"/>
                </a:lnTo>
                <a:lnTo>
                  <a:pt x="1961159" y="847691"/>
                </a:lnTo>
                <a:lnTo>
                  <a:pt x="2046426" y="833443"/>
                </a:lnTo>
                <a:lnTo>
                  <a:pt x="2131694" y="819192"/>
                </a:lnTo>
                <a:lnTo>
                  <a:pt x="2216962" y="804924"/>
                </a:lnTo>
                <a:lnTo>
                  <a:pt x="2302230" y="790632"/>
                </a:lnTo>
                <a:lnTo>
                  <a:pt x="2387498" y="776316"/>
                </a:lnTo>
                <a:lnTo>
                  <a:pt x="2472765" y="761972"/>
                </a:lnTo>
                <a:lnTo>
                  <a:pt x="2558033" y="747588"/>
                </a:lnTo>
                <a:lnTo>
                  <a:pt x="2643301" y="733171"/>
                </a:lnTo>
                <a:lnTo>
                  <a:pt x="2728569" y="718711"/>
                </a:lnTo>
                <a:lnTo>
                  <a:pt x="2813836" y="704207"/>
                </a:lnTo>
                <a:lnTo>
                  <a:pt x="2899104" y="689655"/>
                </a:lnTo>
                <a:lnTo>
                  <a:pt x="2984372" y="675045"/>
                </a:lnTo>
                <a:lnTo>
                  <a:pt x="3069640" y="660376"/>
                </a:lnTo>
                <a:lnTo>
                  <a:pt x="3154908" y="645655"/>
                </a:lnTo>
                <a:lnTo>
                  <a:pt x="3240175" y="630867"/>
                </a:lnTo>
                <a:lnTo>
                  <a:pt x="3325443" y="616019"/>
                </a:lnTo>
                <a:lnTo>
                  <a:pt x="3410711" y="601115"/>
                </a:lnTo>
                <a:lnTo>
                  <a:pt x="3495979" y="586136"/>
                </a:lnTo>
                <a:lnTo>
                  <a:pt x="3581247" y="571101"/>
                </a:lnTo>
                <a:lnTo>
                  <a:pt x="3666514" y="556002"/>
                </a:lnTo>
                <a:lnTo>
                  <a:pt x="3751782" y="540841"/>
                </a:lnTo>
                <a:lnTo>
                  <a:pt x="3837050" y="525626"/>
                </a:lnTo>
                <a:lnTo>
                  <a:pt x="3922318" y="510361"/>
                </a:lnTo>
                <a:lnTo>
                  <a:pt x="4007586" y="495035"/>
                </a:lnTo>
                <a:lnTo>
                  <a:pt x="4092853" y="479662"/>
                </a:lnTo>
                <a:lnTo>
                  <a:pt x="4178121" y="464232"/>
                </a:lnTo>
                <a:lnTo>
                  <a:pt x="4263389" y="448749"/>
                </a:lnTo>
                <a:lnTo>
                  <a:pt x="4348657" y="433212"/>
                </a:lnTo>
                <a:lnTo>
                  <a:pt x="4433924" y="417613"/>
                </a:lnTo>
                <a:lnTo>
                  <a:pt x="4519192" y="401953"/>
                </a:lnTo>
                <a:lnTo>
                  <a:pt x="4604460" y="386233"/>
                </a:lnTo>
                <a:lnTo>
                  <a:pt x="4689728" y="370442"/>
                </a:lnTo>
                <a:lnTo>
                  <a:pt x="4774996" y="354578"/>
                </a:lnTo>
                <a:lnTo>
                  <a:pt x="4860263" y="338649"/>
                </a:lnTo>
                <a:lnTo>
                  <a:pt x="4945531" y="322644"/>
                </a:lnTo>
                <a:lnTo>
                  <a:pt x="5030799" y="306579"/>
                </a:lnTo>
                <a:lnTo>
                  <a:pt x="5116067" y="290465"/>
                </a:lnTo>
                <a:lnTo>
                  <a:pt x="5201335" y="274314"/>
                </a:lnTo>
                <a:lnTo>
                  <a:pt x="5286602" y="258150"/>
                </a:lnTo>
                <a:lnTo>
                  <a:pt x="5371870" y="241993"/>
                </a:lnTo>
                <a:lnTo>
                  <a:pt x="5457138" y="225875"/>
                </a:lnTo>
                <a:lnTo>
                  <a:pt x="5542406" y="209816"/>
                </a:lnTo>
                <a:lnTo>
                  <a:pt x="5627673" y="193848"/>
                </a:lnTo>
                <a:lnTo>
                  <a:pt x="5712941" y="178016"/>
                </a:lnTo>
                <a:lnTo>
                  <a:pt x="5798209" y="162339"/>
                </a:lnTo>
                <a:lnTo>
                  <a:pt x="5883477" y="146862"/>
                </a:lnTo>
                <a:lnTo>
                  <a:pt x="5968745" y="131632"/>
                </a:lnTo>
                <a:lnTo>
                  <a:pt x="6054012" y="116659"/>
                </a:lnTo>
                <a:lnTo>
                  <a:pt x="6139280" y="102012"/>
                </a:lnTo>
                <a:lnTo>
                  <a:pt x="6224548" y="87726"/>
                </a:lnTo>
                <a:lnTo>
                  <a:pt x="6309816" y="73804"/>
                </a:lnTo>
                <a:lnTo>
                  <a:pt x="6395084" y="60339"/>
                </a:lnTo>
                <a:lnTo>
                  <a:pt x="6480351" y="47319"/>
                </a:lnTo>
                <a:lnTo>
                  <a:pt x="6565619" y="34737"/>
                </a:lnTo>
                <a:lnTo>
                  <a:pt x="6650887" y="22685"/>
                </a:lnTo>
                <a:lnTo>
                  <a:pt x="6736155" y="11108"/>
                </a:lnTo>
                <a:lnTo>
                  <a:pt x="6821423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94111" y="212463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8" name="hfa: 15-й центиль"/>
          <p:cNvSpPr/>
          <p:nvPr/>
        </p:nvSpPr>
        <p:spPr>
          <a:xfrm>
            <a:off x="932688" y="2360471"/>
            <a:ext cx="6821423" cy="1138717"/>
          </a:xfrm>
          <a:custGeom>
            <a:avLst/>
            <a:gdLst/>
            <a:ahLst/>
            <a:cxnLst/>
            <a:rect l="l" t="t" r="r" b="b"/>
            <a:pathLst>
              <a:path w="6821423" h="1138717">
                <a:moveTo>
                  <a:pt x="0" y="1138717"/>
                </a:moveTo>
                <a:lnTo>
                  <a:pt x="85267" y="1122295"/>
                </a:lnTo>
                <a:lnTo>
                  <a:pt x="170535" y="1105980"/>
                </a:lnTo>
                <a:lnTo>
                  <a:pt x="255803" y="1089755"/>
                </a:lnTo>
                <a:lnTo>
                  <a:pt x="341071" y="1073965"/>
                </a:lnTo>
                <a:lnTo>
                  <a:pt x="426338" y="1058319"/>
                </a:lnTo>
                <a:lnTo>
                  <a:pt x="511606" y="1043054"/>
                </a:lnTo>
                <a:lnTo>
                  <a:pt x="596874" y="1027722"/>
                </a:lnTo>
                <a:lnTo>
                  <a:pt x="682142" y="1012624"/>
                </a:lnTo>
                <a:lnTo>
                  <a:pt x="767410" y="1005260"/>
                </a:lnTo>
                <a:lnTo>
                  <a:pt x="852677" y="990366"/>
                </a:lnTo>
                <a:lnTo>
                  <a:pt x="937945" y="975654"/>
                </a:lnTo>
                <a:lnTo>
                  <a:pt x="1023213" y="961135"/>
                </a:lnTo>
                <a:lnTo>
                  <a:pt x="1108481" y="946781"/>
                </a:lnTo>
                <a:lnTo>
                  <a:pt x="1193749" y="932584"/>
                </a:lnTo>
                <a:lnTo>
                  <a:pt x="1279016" y="918551"/>
                </a:lnTo>
                <a:lnTo>
                  <a:pt x="1364284" y="904676"/>
                </a:lnTo>
                <a:lnTo>
                  <a:pt x="1449552" y="890942"/>
                </a:lnTo>
                <a:lnTo>
                  <a:pt x="1534820" y="877344"/>
                </a:lnTo>
                <a:lnTo>
                  <a:pt x="1620087" y="863819"/>
                </a:lnTo>
                <a:lnTo>
                  <a:pt x="1705355" y="850392"/>
                </a:lnTo>
                <a:lnTo>
                  <a:pt x="1790623" y="836971"/>
                </a:lnTo>
                <a:lnTo>
                  <a:pt x="1875891" y="823614"/>
                </a:lnTo>
                <a:lnTo>
                  <a:pt x="1961159" y="810254"/>
                </a:lnTo>
                <a:lnTo>
                  <a:pt x="2046426" y="796920"/>
                </a:lnTo>
                <a:lnTo>
                  <a:pt x="2131694" y="783558"/>
                </a:lnTo>
                <a:lnTo>
                  <a:pt x="2216962" y="770180"/>
                </a:lnTo>
                <a:lnTo>
                  <a:pt x="2302230" y="756760"/>
                </a:lnTo>
                <a:lnTo>
                  <a:pt x="2387498" y="743321"/>
                </a:lnTo>
                <a:lnTo>
                  <a:pt x="2472765" y="729870"/>
                </a:lnTo>
                <a:lnTo>
                  <a:pt x="2558033" y="716342"/>
                </a:lnTo>
                <a:lnTo>
                  <a:pt x="2643301" y="702783"/>
                </a:lnTo>
                <a:lnTo>
                  <a:pt x="2728569" y="689194"/>
                </a:lnTo>
                <a:lnTo>
                  <a:pt x="2813836" y="675531"/>
                </a:lnTo>
                <a:lnTo>
                  <a:pt x="2899104" y="661825"/>
                </a:lnTo>
                <a:lnTo>
                  <a:pt x="2984372" y="648065"/>
                </a:lnTo>
                <a:lnTo>
                  <a:pt x="3069640" y="634251"/>
                </a:lnTo>
                <a:lnTo>
                  <a:pt x="3154908" y="620360"/>
                </a:lnTo>
                <a:lnTo>
                  <a:pt x="3240175" y="606395"/>
                </a:lnTo>
                <a:lnTo>
                  <a:pt x="3325443" y="592375"/>
                </a:lnTo>
                <a:lnTo>
                  <a:pt x="3410711" y="578301"/>
                </a:lnTo>
                <a:lnTo>
                  <a:pt x="3495979" y="564118"/>
                </a:lnTo>
                <a:lnTo>
                  <a:pt x="3581247" y="549903"/>
                </a:lnTo>
                <a:lnTo>
                  <a:pt x="3666514" y="535586"/>
                </a:lnTo>
                <a:lnTo>
                  <a:pt x="3751782" y="521231"/>
                </a:lnTo>
                <a:lnTo>
                  <a:pt x="3837050" y="506803"/>
                </a:lnTo>
                <a:lnTo>
                  <a:pt x="3922318" y="492309"/>
                </a:lnTo>
                <a:lnTo>
                  <a:pt x="4007586" y="477758"/>
                </a:lnTo>
                <a:lnTo>
                  <a:pt x="4092853" y="463137"/>
                </a:lnTo>
                <a:lnTo>
                  <a:pt x="4178121" y="448476"/>
                </a:lnTo>
                <a:lnTo>
                  <a:pt x="4263389" y="433718"/>
                </a:lnTo>
                <a:lnTo>
                  <a:pt x="4348657" y="418908"/>
                </a:lnTo>
                <a:lnTo>
                  <a:pt x="4433924" y="404049"/>
                </a:lnTo>
                <a:lnTo>
                  <a:pt x="4519192" y="389095"/>
                </a:lnTo>
                <a:lnTo>
                  <a:pt x="4604460" y="374053"/>
                </a:lnTo>
                <a:lnTo>
                  <a:pt x="4689728" y="358962"/>
                </a:lnTo>
                <a:lnTo>
                  <a:pt x="4774996" y="343768"/>
                </a:lnTo>
                <a:lnTo>
                  <a:pt x="4860263" y="328510"/>
                </a:lnTo>
                <a:lnTo>
                  <a:pt x="4945531" y="313170"/>
                </a:lnTo>
                <a:lnTo>
                  <a:pt x="5030799" y="297737"/>
                </a:lnTo>
                <a:lnTo>
                  <a:pt x="5116067" y="282257"/>
                </a:lnTo>
                <a:lnTo>
                  <a:pt x="5201335" y="266739"/>
                </a:lnTo>
                <a:lnTo>
                  <a:pt x="5286602" y="251184"/>
                </a:lnTo>
                <a:lnTo>
                  <a:pt x="5371870" y="235613"/>
                </a:lnTo>
                <a:lnTo>
                  <a:pt x="5457138" y="220063"/>
                </a:lnTo>
                <a:lnTo>
                  <a:pt x="5542406" y="204560"/>
                </a:lnTo>
                <a:lnTo>
                  <a:pt x="5627673" y="189126"/>
                </a:lnTo>
                <a:lnTo>
                  <a:pt x="5712941" y="173810"/>
                </a:lnTo>
                <a:lnTo>
                  <a:pt x="5798209" y="158612"/>
                </a:lnTo>
                <a:lnTo>
                  <a:pt x="5883477" y="143618"/>
                </a:lnTo>
                <a:lnTo>
                  <a:pt x="5968745" y="128822"/>
                </a:lnTo>
                <a:lnTo>
                  <a:pt x="6054012" y="114267"/>
                </a:lnTo>
                <a:lnTo>
                  <a:pt x="6139280" y="99987"/>
                </a:lnTo>
                <a:lnTo>
                  <a:pt x="6224548" y="86064"/>
                </a:lnTo>
                <a:lnTo>
                  <a:pt x="6309816" y="72489"/>
                </a:lnTo>
                <a:lnTo>
                  <a:pt x="6395084" y="59318"/>
                </a:lnTo>
                <a:lnTo>
                  <a:pt x="6480351" y="46566"/>
                </a:lnTo>
                <a:lnTo>
                  <a:pt x="6565619" y="34194"/>
                </a:lnTo>
                <a:lnTo>
                  <a:pt x="6650887" y="22358"/>
                </a:lnTo>
                <a:lnTo>
                  <a:pt x="6736155" y="10951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4111" y="228547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60" name="hfa: 3-й центиль"/>
          <p:cNvSpPr/>
          <p:nvPr/>
        </p:nvSpPr>
        <p:spPr>
          <a:xfrm>
            <a:off x="932688" y="2491655"/>
            <a:ext cx="6821423" cy="1088939"/>
          </a:xfrm>
          <a:custGeom>
            <a:avLst/>
            <a:gdLst/>
            <a:ahLst/>
            <a:cxnLst/>
            <a:rect l="l" t="t" r="r" b="b"/>
            <a:pathLst>
              <a:path w="6821423" h="1088939">
                <a:moveTo>
                  <a:pt x="0" y="1088939"/>
                </a:moveTo>
                <a:lnTo>
                  <a:pt x="85267" y="1073491"/>
                </a:lnTo>
                <a:lnTo>
                  <a:pt x="170535" y="1058158"/>
                </a:lnTo>
                <a:lnTo>
                  <a:pt x="255803" y="1042924"/>
                </a:lnTo>
                <a:lnTo>
                  <a:pt x="341071" y="1028074"/>
                </a:lnTo>
                <a:lnTo>
                  <a:pt x="426338" y="1013388"/>
                </a:lnTo>
                <a:lnTo>
                  <a:pt x="511606" y="999052"/>
                </a:lnTo>
                <a:lnTo>
                  <a:pt x="596874" y="984668"/>
                </a:lnTo>
                <a:lnTo>
                  <a:pt x="682142" y="970513"/>
                </a:lnTo>
                <a:lnTo>
                  <a:pt x="767410" y="963753"/>
                </a:lnTo>
                <a:lnTo>
                  <a:pt x="852677" y="949697"/>
                </a:lnTo>
                <a:lnTo>
                  <a:pt x="937945" y="935818"/>
                </a:lnTo>
                <a:lnTo>
                  <a:pt x="1023213" y="922124"/>
                </a:lnTo>
                <a:lnTo>
                  <a:pt x="1108481" y="908578"/>
                </a:lnTo>
                <a:lnTo>
                  <a:pt x="1193749" y="895185"/>
                </a:lnTo>
                <a:lnTo>
                  <a:pt x="1279016" y="881941"/>
                </a:lnTo>
                <a:lnTo>
                  <a:pt x="1364284" y="868853"/>
                </a:lnTo>
                <a:lnTo>
                  <a:pt x="1449552" y="855903"/>
                </a:lnTo>
                <a:lnTo>
                  <a:pt x="1534820" y="843080"/>
                </a:lnTo>
                <a:lnTo>
                  <a:pt x="1620087" y="830304"/>
                </a:lnTo>
                <a:lnTo>
                  <a:pt x="1705355" y="817649"/>
                </a:lnTo>
                <a:lnTo>
                  <a:pt x="1790623" y="804956"/>
                </a:lnTo>
                <a:lnTo>
                  <a:pt x="1875891" y="792349"/>
                </a:lnTo>
                <a:lnTo>
                  <a:pt x="1961159" y="779719"/>
                </a:lnTo>
                <a:lnTo>
                  <a:pt x="2046426" y="767130"/>
                </a:lnTo>
                <a:lnTo>
                  <a:pt x="2131694" y="754494"/>
                </a:lnTo>
                <a:lnTo>
                  <a:pt x="2216962" y="741842"/>
                </a:lnTo>
                <a:lnTo>
                  <a:pt x="2302230" y="729132"/>
                </a:lnTo>
                <a:lnTo>
                  <a:pt x="2387498" y="716409"/>
                </a:lnTo>
                <a:lnTo>
                  <a:pt x="2472765" y="703687"/>
                </a:lnTo>
                <a:lnTo>
                  <a:pt x="2558033" y="690856"/>
                </a:lnTo>
                <a:lnTo>
                  <a:pt x="2643301" y="677997"/>
                </a:lnTo>
                <a:lnTo>
                  <a:pt x="2728569" y="665119"/>
                </a:lnTo>
                <a:lnTo>
                  <a:pt x="2813836" y="652143"/>
                </a:lnTo>
                <a:lnTo>
                  <a:pt x="2899104" y="639126"/>
                </a:lnTo>
                <a:lnTo>
                  <a:pt x="2984372" y="626059"/>
                </a:lnTo>
                <a:lnTo>
                  <a:pt x="3069640" y="612942"/>
                </a:lnTo>
                <a:lnTo>
                  <a:pt x="3154908" y="599729"/>
                </a:lnTo>
                <a:lnTo>
                  <a:pt x="3240175" y="586435"/>
                </a:lnTo>
                <a:lnTo>
                  <a:pt x="3325443" y="573089"/>
                </a:lnTo>
                <a:lnTo>
                  <a:pt x="3410711" y="559694"/>
                </a:lnTo>
                <a:lnTo>
                  <a:pt x="3495979" y="546159"/>
                </a:lnTo>
                <a:lnTo>
                  <a:pt x="3581247" y="532613"/>
                </a:lnTo>
                <a:lnTo>
                  <a:pt x="3666514" y="518933"/>
                </a:lnTo>
                <a:lnTo>
                  <a:pt x="3751782" y="505236"/>
                </a:lnTo>
                <a:lnTo>
                  <a:pt x="3837050" y="491450"/>
                </a:lnTo>
                <a:lnTo>
                  <a:pt x="3922318" y="477585"/>
                </a:lnTo>
                <a:lnTo>
                  <a:pt x="4007586" y="463665"/>
                </a:lnTo>
                <a:lnTo>
                  <a:pt x="4092853" y="449658"/>
                </a:lnTo>
                <a:lnTo>
                  <a:pt x="4178121" y="435625"/>
                </a:lnTo>
                <a:lnTo>
                  <a:pt x="4263389" y="421458"/>
                </a:lnTo>
                <a:lnTo>
                  <a:pt x="4348657" y="407241"/>
                </a:lnTo>
                <a:lnTo>
                  <a:pt x="4433924" y="392985"/>
                </a:lnTo>
                <a:lnTo>
                  <a:pt x="4519192" y="378607"/>
                </a:lnTo>
                <a:lnTo>
                  <a:pt x="4604460" y="364119"/>
                </a:lnTo>
                <a:lnTo>
                  <a:pt x="4689728" y="349598"/>
                </a:lnTo>
                <a:lnTo>
                  <a:pt x="4774996" y="334950"/>
                </a:lnTo>
                <a:lnTo>
                  <a:pt x="4860263" y="320241"/>
                </a:lnTo>
                <a:lnTo>
                  <a:pt x="4945531" y="305443"/>
                </a:lnTo>
                <a:lnTo>
                  <a:pt x="5030799" y="290526"/>
                </a:lnTo>
                <a:lnTo>
                  <a:pt x="5116067" y="275562"/>
                </a:lnTo>
                <a:lnTo>
                  <a:pt x="5201335" y="260561"/>
                </a:lnTo>
                <a:lnTo>
                  <a:pt x="5286602" y="245503"/>
                </a:lnTo>
                <a:lnTo>
                  <a:pt x="5371870" y="230409"/>
                </a:lnTo>
                <a:lnTo>
                  <a:pt x="5457138" y="215323"/>
                </a:lnTo>
                <a:lnTo>
                  <a:pt x="5542406" y="200274"/>
                </a:lnTo>
                <a:lnTo>
                  <a:pt x="5627673" y="185274"/>
                </a:lnTo>
                <a:lnTo>
                  <a:pt x="5712941" y="170379"/>
                </a:lnTo>
                <a:lnTo>
                  <a:pt x="5798209" y="155572"/>
                </a:lnTo>
                <a:lnTo>
                  <a:pt x="5883477" y="140971"/>
                </a:lnTo>
                <a:lnTo>
                  <a:pt x="5968745" y="126529"/>
                </a:lnTo>
                <a:lnTo>
                  <a:pt x="6054012" y="112317"/>
                </a:lnTo>
                <a:lnTo>
                  <a:pt x="6139280" y="98335"/>
                </a:lnTo>
                <a:lnTo>
                  <a:pt x="6224548" y="84708"/>
                </a:lnTo>
                <a:lnTo>
                  <a:pt x="6309816" y="71415"/>
                </a:lnTo>
                <a:lnTo>
                  <a:pt x="6395084" y="58485"/>
                </a:lnTo>
                <a:lnTo>
                  <a:pt x="6480351" y="45951"/>
                </a:lnTo>
                <a:lnTo>
                  <a:pt x="6565619" y="33751"/>
                </a:lnTo>
                <a:lnTo>
                  <a:pt x="6650887" y="22091"/>
                </a:lnTo>
                <a:lnTo>
                  <a:pt x="6736155" y="10823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94111" y="241665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2" name="hfa: пример"/>
          <p:cNvSpPr/>
          <p:nvPr/>
        </p:nvSpPr>
        <p:spPr>
          <a:xfrm>
            <a:off x="932688" y="2882484"/>
            <a:ext cx="4547615" cy="507264"/>
          </a:xfrm>
          <a:custGeom>
            <a:avLst/>
            <a:gdLst/>
            <a:ahLst/>
            <a:cxnLst/>
            <a:rect l="l" t="t" r="r" b="b"/>
            <a:pathLst>
              <a:path w="4547615" h="507264">
                <a:moveTo>
                  <a:pt x="0" y="507264"/>
                </a:moveTo>
                <a:lnTo>
                  <a:pt x="63161" y="494206"/>
                </a:lnTo>
                <a:lnTo>
                  <a:pt x="126322" y="480850"/>
                </a:lnTo>
                <a:lnTo>
                  <a:pt x="189483" y="468058"/>
                </a:lnTo>
                <a:lnTo>
                  <a:pt x="252645" y="454967"/>
                </a:lnTo>
                <a:lnTo>
                  <a:pt x="315806" y="442422"/>
                </a:lnTo>
                <a:lnTo>
                  <a:pt x="378967" y="429582"/>
                </a:lnTo>
                <a:lnTo>
                  <a:pt x="442129" y="417272"/>
                </a:lnTo>
                <a:lnTo>
                  <a:pt x="505290" y="405083"/>
                </a:lnTo>
                <a:lnTo>
                  <a:pt x="568451" y="392608"/>
                </a:lnTo>
                <a:lnTo>
                  <a:pt x="631613" y="380654"/>
                </a:lnTo>
                <a:lnTo>
                  <a:pt x="694774" y="368416"/>
                </a:lnTo>
                <a:lnTo>
                  <a:pt x="757935" y="364472"/>
                </a:lnTo>
                <a:lnTo>
                  <a:pt x="821097" y="353455"/>
                </a:lnTo>
                <a:lnTo>
                  <a:pt x="884258" y="342560"/>
                </a:lnTo>
                <a:lnTo>
                  <a:pt x="947419" y="331786"/>
                </a:lnTo>
                <a:lnTo>
                  <a:pt x="1010581" y="321133"/>
                </a:lnTo>
                <a:lnTo>
                  <a:pt x="1073742" y="310594"/>
                </a:lnTo>
                <a:lnTo>
                  <a:pt x="1136903" y="300161"/>
                </a:lnTo>
                <a:lnTo>
                  <a:pt x="1200065" y="289838"/>
                </a:lnTo>
                <a:lnTo>
                  <a:pt x="1263226" y="279618"/>
                </a:lnTo>
                <a:lnTo>
                  <a:pt x="1326387" y="269502"/>
                </a:lnTo>
                <a:lnTo>
                  <a:pt x="1389549" y="259484"/>
                </a:lnTo>
                <a:lnTo>
                  <a:pt x="1452710" y="249560"/>
                </a:lnTo>
                <a:lnTo>
                  <a:pt x="1515871" y="239722"/>
                </a:lnTo>
                <a:lnTo>
                  <a:pt x="1579033" y="229958"/>
                </a:lnTo>
                <a:lnTo>
                  <a:pt x="1642194" y="220253"/>
                </a:lnTo>
                <a:lnTo>
                  <a:pt x="1705355" y="210599"/>
                </a:lnTo>
                <a:lnTo>
                  <a:pt x="1768517" y="200983"/>
                </a:lnTo>
                <a:lnTo>
                  <a:pt x="1831678" y="191401"/>
                </a:lnTo>
                <a:lnTo>
                  <a:pt x="1894839" y="181848"/>
                </a:lnTo>
                <a:lnTo>
                  <a:pt x="1958001" y="172315"/>
                </a:lnTo>
                <a:lnTo>
                  <a:pt x="2021162" y="162798"/>
                </a:lnTo>
                <a:lnTo>
                  <a:pt x="2084323" y="153291"/>
                </a:lnTo>
                <a:lnTo>
                  <a:pt x="2147485" y="143787"/>
                </a:lnTo>
                <a:lnTo>
                  <a:pt x="2210646" y="134284"/>
                </a:lnTo>
                <a:lnTo>
                  <a:pt x="2273807" y="124778"/>
                </a:lnTo>
                <a:lnTo>
                  <a:pt x="2336968" y="119367"/>
                </a:lnTo>
                <a:lnTo>
                  <a:pt x="2400130" y="113991"/>
                </a:lnTo>
                <a:lnTo>
                  <a:pt x="2463291" y="108657"/>
                </a:lnTo>
                <a:lnTo>
                  <a:pt x="2526452" y="103351"/>
                </a:lnTo>
                <a:lnTo>
                  <a:pt x="2589614" y="98066"/>
                </a:lnTo>
                <a:lnTo>
                  <a:pt x="2652775" y="92822"/>
                </a:lnTo>
                <a:lnTo>
                  <a:pt x="2715936" y="87608"/>
                </a:lnTo>
                <a:lnTo>
                  <a:pt x="2779098" y="82411"/>
                </a:lnTo>
                <a:lnTo>
                  <a:pt x="2842259" y="77240"/>
                </a:lnTo>
                <a:lnTo>
                  <a:pt x="2905420" y="72090"/>
                </a:lnTo>
                <a:lnTo>
                  <a:pt x="2968582" y="66963"/>
                </a:lnTo>
                <a:lnTo>
                  <a:pt x="3031743" y="61855"/>
                </a:lnTo>
                <a:lnTo>
                  <a:pt x="3094904" y="58938"/>
                </a:lnTo>
                <a:lnTo>
                  <a:pt x="3158066" y="56044"/>
                </a:lnTo>
                <a:lnTo>
                  <a:pt x="3221227" y="53185"/>
                </a:lnTo>
                <a:lnTo>
                  <a:pt x="3284388" y="50364"/>
                </a:lnTo>
                <a:lnTo>
                  <a:pt x="3347550" y="47577"/>
                </a:lnTo>
                <a:lnTo>
                  <a:pt x="3410711" y="44831"/>
                </a:lnTo>
                <a:lnTo>
                  <a:pt x="3473872" y="42089"/>
                </a:lnTo>
                <a:lnTo>
                  <a:pt x="3537034" y="39382"/>
                </a:lnTo>
                <a:lnTo>
                  <a:pt x="3600195" y="36743"/>
                </a:lnTo>
                <a:lnTo>
                  <a:pt x="3663356" y="34069"/>
                </a:lnTo>
                <a:lnTo>
                  <a:pt x="3726518" y="31469"/>
                </a:lnTo>
                <a:lnTo>
                  <a:pt x="3789679" y="28905"/>
                </a:lnTo>
                <a:lnTo>
                  <a:pt x="3852840" y="26341"/>
                </a:lnTo>
                <a:lnTo>
                  <a:pt x="3916002" y="23816"/>
                </a:lnTo>
                <a:lnTo>
                  <a:pt x="3979163" y="21325"/>
                </a:lnTo>
                <a:lnTo>
                  <a:pt x="4042324" y="18874"/>
                </a:lnTo>
                <a:lnTo>
                  <a:pt x="4105486" y="16413"/>
                </a:lnTo>
                <a:lnTo>
                  <a:pt x="4168647" y="14035"/>
                </a:lnTo>
                <a:lnTo>
                  <a:pt x="4231808" y="11645"/>
                </a:lnTo>
                <a:lnTo>
                  <a:pt x="4294970" y="9235"/>
                </a:lnTo>
                <a:lnTo>
                  <a:pt x="4358131" y="6909"/>
                </a:lnTo>
                <a:lnTo>
                  <a:pt x="4421292" y="4615"/>
                </a:lnTo>
                <a:lnTo>
                  <a:pt x="4484454" y="2295"/>
                </a:lnTo>
                <a:lnTo>
                  <a:pt x="4547615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hfa: точка 4"/>
          <p:cNvSpPr/>
          <p:nvPr/>
        </p:nvSpPr>
        <p:spPr>
          <a:xfrm>
            <a:off x="874688" y="3331748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hfa: точка 5"/>
          <p:cNvSpPr/>
          <p:nvPr/>
        </p:nvSpPr>
        <p:spPr>
          <a:xfrm>
            <a:off x="1632623" y="318895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hfa: точка 6"/>
          <p:cNvSpPr/>
          <p:nvPr/>
        </p:nvSpPr>
        <p:spPr>
          <a:xfrm>
            <a:off x="2390559" y="306420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fa: точка 7"/>
          <p:cNvSpPr/>
          <p:nvPr/>
        </p:nvSpPr>
        <p:spPr>
          <a:xfrm>
            <a:off x="3148495" y="2949262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fa: точка 8"/>
          <p:cNvSpPr/>
          <p:nvPr/>
        </p:nvSpPr>
        <p:spPr>
          <a:xfrm>
            <a:off x="3906431" y="288633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fa: точка 9"/>
          <p:cNvSpPr/>
          <p:nvPr/>
        </p:nvSpPr>
        <p:spPr>
          <a:xfrm>
            <a:off x="4664367" y="285338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fa: точка 10"/>
          <p:cNvSpPr/>
          <p:nvPr/>
        </p:nvSpPr>
        <p:spPr>
          <a:xfrm>
            <a:off x="5422303" y="2824484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событие 7.5"/>
          <p:cNvSpPr/>
          <p:nvPr/>
        </p:nvSpPr>
        <p:spPr>
          <a:xfrm>
            <a:off x="358546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35463" y="180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72" name="событие 9"/>
          <p:cNvSpPr/>
          <p:nvPr/>
        </p:nvSpPr>
        <p:spPr>
          <a:xfrm>
            <a:off x="4722367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72367" y="1998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74" name="событие 10"/>
          <p:cNvSpPr/>
          <p:nvPr/>
        </p:nvSpPr>
        <p:spPr>
          <a:xfrm>
            <a:off x="548030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080303" y="219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1533080"/>
            <a:ext cx="7498079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 для возраста, девочки, см</a:t>
            </a:r>
          </a:p>
        </p:txBody>
      </p:sp>
      <p:sp>
        <p:nvSpPr>
          <p:cNvPr id="77" name="bfa: сетка 12"/>
          <p:cNvSpPr/>
          <p:nvPr/>
        </p:nvSpPr>
        <p:spPr>
          <a:xfrm>
            <a:off x="932688" y="51663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508636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79" name="bfa: сетка 14"/>
          <p:cNvSpPr/>
          <p:nvPr/>
        </p:nvSpPr>
        <p:spPr>
          <a:xfrm>
            <a:off x="932688" y="505754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bfa: сетка 16"/>
          <p:cNvSpPr/>
          <p:nvPr/>
        </p:nvSpPr>
        <p:spPr>
          <a:xfrm>
            <a:off x="932688" y="494873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486873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82" name="bfa: сетка 18"/>
          <p:cNvSpPr/>
          <p:nvPr/>
        </p:nvSpPr>
        <p:spPr>
          <a:xfrm>
            <a:off x="932688" y="483991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bfa: сетка 20"/>
          <p:cNvSpPr/>
          <p:nvPr/>
        </p:nvSpPr>
        <p:spPr>
          <a:xfrm>
            <a:off x="932688" y="473110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46511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  <p:sp>
        <p:nvSpPr>
          <p:cNvPr id="85" name="bfa: сетка 22"/>
          <p:cNvSpPr/>
          <p:nvPr/>
        </p:nvSpPr>
        <p:spPr>
          <a:xfrm>
            <a:off x="932688" y="462229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bfa: сетка 24"/>
          <p:cNvSpPr/>
          <p:nvPr/>
        </p:nvSpPr>
        <p:spPr>
          <a:xfrm>
            <a:off x="932688" y="451347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43347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  <p:sp>
        <p:nvSpPr>
          <p:cNvPr id="88" name="bfa: сетка 26"/>
          <p:cNvSpPr/>
          <p:nvPr/>
        </p:nvSpPr>
        <p:spPr>
          <a:xfrm>
            <a:off x="932688" y="440466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bfa: сетка 28"/>
          <p:cNvSpPr/>
          <p:nvPr/>
        </p:nvSpPr>
        <p:spPr>
          <a:xfrm>
            <a:off x="932688" y="429585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8640" y="421585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28</a:t>
            </a:r>
          </a:p>
        </p:txBody>
      </p:sp>
      <p:sp>
        <p:nvSpPr>
          <p:cNvPr id="91" name="bfa: сетка 30"/>
          <p:cNvSpPr/>
          <p:nvPr/>
        </p:nvSpPr>
        <p:spPr>
          <a:xfrm>
            <a:off x="932688" y="418703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bfa: год 4"/>
          <p:cNvSpPr/>
          <p:nvPr/>
        </p:nvSpPr>
        <p:spPr>
          <a:xfrm>
            <a:off x="932688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688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94" name="bfa: год 5"/>
          <p:cNvSpPr/>
          <p:nvPr/>
        </p:nvSpPr>
        <p:spPr>
          <a:xfrm>
            <a:off x="169062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540623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96" name="bfa: год 6"/>
          <p:cNvSpPr/>
          <p:nvPr/>
        </p:nvSpPr>
        <p:spPr>
          <a:xfrm>
            <a:off x="244855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298559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98" name="bfa: год 7"/>
          <p:cNvSpPr/>
          <p:nvPr/>
        </p:nvSpPr>
        <p:spPr>
          <a:xfrm>
            <a:off x="320649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056495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00" name="bfa: год 8"/>
          <p:cNvSpPr/>
          <p:nvPr/>
        </p:nvSpPr>
        <p:spPr>
          <a:xfrm>
            <a:off x="396443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81443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02" name="bfa: год 9"/>
          <p:cNvSpPr/>
          <p:nvPr/>
        </p:nvSpPr>
        <p:spPr>
          <a:xfrm>
            <a:off x="4722367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572367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04" name="bfa: год 10"/>
          <p:cNvSpPr/>
          <p:nvPr/>
        </p:nvSpPr>
        <p:spPr>
          <a:xfrm>
            <a:off x="548030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30303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06" name="bfa: год 11"/>
          <p:cNvSpPr/>
          <p:nvPr/>
        </p:nvSpPr>
        <p:spPr>
          <a:xfrm>
            <a:off x="623823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088239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08" name="bfa: год 12"/>
          <p:cNvSpPr/>
          <p:nvPr/>
        </p:nvSpPr>
        <p:spPr>
          <a:xfrm>
            <a:off x="699617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846175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10" name="bfa: год 13"/>
          <p:cNvSpPr/>
          <p:nvPr/>
        </p:nvSpPr>
        <p:spPr>
          <a:xfrm>
            <a:off x="775411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411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13</a:t>
            </a:r>
          </a:p>
        </p:txBody>
      </p:sp>
      <p:sp>
        <p:nvSpPr>
          <p:cNvPr id="112" name="bfa: ось"/>
          <p:cNvSpPr/>
          <p:nvPr/>
        </p:nvSpPr>
        <p:spPr>
          <a:xfrm>
            <a:off x="932688" y="51663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bfa: полоса 3–97"/>
          <p:cNvSpPr/>
          <p:nvPr/>
        </p:nvSpPr>
        <p:spPr>
          <a:xfrm>
            <a:off x="932688" y="4427771"/>
            <a:ext cx="6821423" cy="693637"/>
          </a:xfrm>
          <a:custGeom>
            <a:avLst/>
            <a:gdLst/>
            <a:ahLst/>
            <a:cxnLst/>
            <a:rect l="l" t="t" r="r" b="b"/>
            <a:pathLst>
              <a:path w="6821423" h="693637">
                <a:moveTo>
                  <a:pt x="0" y="395980"/>
                </a:moveTo>
                <a:lnTo>
                  <a:pt x="85267" y="394688"/>
                </a:lnTo>
                <a:lnTo>
                  <a:pt x="170535" y="393266"/>
                </a:lnTo>
                <a:lnTo>
                  <a:pt x="255803" y="391696"/>
                </a:lnTo>
                <a:lnTo>
                  <a:pt x="341071" y="390031"/>
                </a:lnTo>
                <a:lnTo>
                  <a:pt x="426338" y="388338"/>
                </a:lnTo>
                <a:lnTo>
                  <a:pt x="511606" y="386642"/>
                </a:lnTo>
                <a:lnTo>
                  <a:pt x="596874" y="384981"/>
                </a:lnTo>
                <a:lnTo>
                  <a:pt x="682142" y="383385"/>
                </a:lnTo>
                <a:lnTo>
                  <a:pt x="767410" y="380731"/>
                </a:lnTo>
                <a:lnTo>
                  <a:pt x="852677" y="378889"/>
                </a:lnTo>
                <a:lnTo>
                  <a:pt x="937945" y="376987"/>
                </a:lnTo>
                <a:lnTo>
                  <a:pt x="1023213" y="374976"/>
                </a:lnTo>
                <a:lnTo>
                  <a:pt x="1108481" y="372888"/>
                </a:lnTo>
                <a:lnTo>
                  <a:pt x="1193749" y="370706"/>
                </a:lnTo>
                <a:lnTo>
                  <a:pt x="1279016" y="368414"/>
                </a:lnTo>
                <a:lnTo>
                  <a:pt x="1364284" y="366031"/>
                </a:lnTo>
                <a:lnTo>
                  <a:pt x="1449552" y="363570"/>
                </a:lnTo>
                <a:lnTo>
                  <a:pt x="1534820" y="360972"/>
                </a:lnTo>
                <a:lnTo>
                  <a:pt x="1620087" y="358268"/>
                </a:lnTo>
                <a:lnTo>
                  <a:pt x="1705355" y="355446"/>
                </a:lnTo>
                <a:lnTo>
                  <a:pt x="1790623" y="352497"/>
                </a:lnTo>
                <a:lnTo>
                  <a:pt x="1875891" y="349426"/>
                </a:lnTo>
                <a:lnTo>
                  <a:pt x="1961159" y="346232"/>
                </a:lnTo>
                <a:lnTo>
                  <a:pt x="2046426" y="342910"/>
                </a:lnTo>
                <a:lnTo>
                  <a:pt x="2131694" y="339432"/>
                </a:lnTo>
                <a:lnTo>
                  <a:pt x="2216962" y="335813"/>
                </a:lnTo>
                <a:lnTo>
                  <a:pt x="2302230" y="332040"/>
                </a:lnTo>
                <a:lnTo>
                  <a:pt x="2387498" y="328149"/>
                </a:lnTo>
                <a:lnTo>
                  <a:pt x="2472765" y="324097"/>
                </a:lnTo>
                <a:lnTo>
                  <a:pt x="2558033" y="319915"/>
                </a:lnTo>
                <a:lnTo>
                  <a:pt x="2643301" y="315595"/>
                </a:lnTo>
                <a:lnTo>
                  <a:pt x="2728569" y="311151"/>
                </a:lnTo>
                <a:lnTo>
                  <a:pt x="2813836" y="306554"/>
                </a:lnTo>
                <a:lnTo>
                  <a:pt x="2899104" y="301828"/>
                </a:lnTo>
                <a:lnTo>
                  <a:pt x="2984372" y="296970"/>
                </a:lnTo>
                <a:lnTo>
                  <a:pt x="3069640" y="291992"/>
                </a:lnTo>
                <a:lnTo>
                  <a:pt x="3154908" y="286879"/>
                </a:lnTo>
                <a:lnTo>
                  <a:pt x="3240175" y="281646"/>
                </a:lnTo>
                <a:lnTo>
                  <a:pt x="3325443" y="276280"/>
                </a:lnTo>
                <a:lnTo>
                  <a:pt x="3410711" y="270826"/>
                </a:lnTo>
                <a:lnTo>
                  <a:pt x="3495979" y="265269"/>
                </a:lnTo>
                <a:lnTo>
                  <a:pt x="3581247" y="259623"/>
                </a:lnTo>
                <a:lnTo>
                  <a:pt x="3666514" y="253894"/>
                </a:lnTo>
                <a:lnTo>
                  <a:pt x="3751782" y="248106"/>
                </a:lnTo>
                <a:lnTo>
                  <a:pt x="3837050" y="242245"/>
                </a:lnTo>
                <a:lnTo>
                  <a:pt x="3922318" y="236324"/>
                </a:lnTo>
                <a:lnTo>
                  <a:pt x="4007586" y="230335"/>
                </a:lnTo>
                <a:lnTo>
                  <a:pt x="4092853" y="224302"/>
                </a:lnTo>
                <a:lnTo>
                  <a:pt x="4178121" y="218210"/>
                </a:lnTo>
                <a:lnTo>
                  <a:pt x="4263389" y="212056"/>
                </a:lnTo>
                <a:lnTo>
                  <a:pt x="4348657" y="205842"/>
                </a:lnTo>
                <a:lnTo>
                  <a:pt x="4433924" y="199550"/>
                </a:lnTo>
                <a:lnTo>
                  <a:pt x="4519192" y="193180"/>
                </a:lnTo>
                <a:lnTo>
                  <a:pt x="4604460" y="186752"/>
                </a:lnTo>
                <a:lnTo>
                  <a:pt x="4689728" y="180258"/>
                </a:lnTo>
                <a:lnTo>
                  <a:pt x="4774996" y="173678"/>
                </a:lnTo>
                <a:lnTo>
                  <a:pt x="4860263" y="167028"/>
                </a:lnTo>
                <a:lnTo>
                  <a:pt x="4945531" y="160288"/>
                </a:lnTo>
                <a:lnTo>
                  <a:pt x="5030799" y="153469"/>
                </a:lnTo>
                <a:lnTo>
                  <a:pt x="5116067" y="146579"/>
                </a:lnTo>
                <a:lnTo>
                  <a:pt x="5201335" y="139616"/>
                </a:lnTo>
                <a:lnTo>
                  <a:pt x="5286602" y="132566"/>
                </a:lnTo>
                <a:lnTo>
                  <a:pt x="5371870" y="125452"/>
                </a:lnTo>
                <a:lnTo>
                  <a:pt x="5457138" y="118264"/>
                </a:lnTo>
                <a:lnTo>
                  <a:pt x="5542406" y="111029"/>
                </a:lnTo>
                <a:lnTo>
                  <a:pt x="5627673" y="103738"/>
                </a:lnTo>
                <a:lnTo>
                  <a:pt x="5712941" y="96376"/>
                </a:lnTo>
                <a:lnTo>
                  <a:pt x="5798209" y="88965"/>
                </a:lnTo>
                <a:lnTo>
                  <a:pt x="5883477" y="81512"/>
                </a:lnTo>
                <a:lnTo>
                  <a:pt x="5968745" y="74060"/>
                </a:lnTo>
                <a:lnTo>
                  <a:pt x="6054012" y="66551"/>
                </a:lnTo>
                <a:lnTo>
                  <a:pt x="6139280" y="59035"/>
                </a:lnTo>
                <a:lnTo>
                  <a:pt x="6224548" y="51540"/>
                </a:lnTo>
                <a:lnTo>
                  <a:pt x="6309816" y="44056"/>
                </a:lnTo>
                <a:lnTo>
                  <a:pt x="6395084" y="36590"/>
                </a:lnTo>
                <a:lnTo>
                  <a:pt x="6480351" y="29152"/>
                </a:lnTo>
                <a:lnTo>
                  <a:pt x="6565619" y="21763"/>
                </a:lnTo>
                <a:lnTo>
                  <a:pt x="6650887" y="14439"/>
                </a:lnTo>
                <a:lnTo>
                  <a:pt x="6736155" y="7183"/>
                </a:lnTo>
                <a:lnTo>
                  <a:pt x="6821423" y="0"/>
                </a:lnTo>
                <a:lnTo>
                  <a:pt x="6821423" y="569111"/>
                </a:lnTo>
                <a:lnTo>
                  <a:pt x="6736155" y="572499"/>
                </a:lnTo>
                <a:lnTo>
                  <a:pt x="6650887" y="575908"/>
                </a:lnTo>
                <a:lnTo>
                  <a:pt x="6565619" y="579335"/>
                </a:lnTo>
                <a:lnTo>
                  <a:pt x="6480351" y="582759"/>
                </a:lnTo>
                <a:lnTo>
                  <a:pt x="6395084" y="586190"/>
                </a:lnTo>
                <a:lnTo>
                  <a:pt x="6309816" y="589618"/>
                </a:lnTo>
                <a:lnTo>
                  <a:pt x="6224548" y="593043"/>
                </a:lnTo>
                <a:lnTo>
                  <a:pt x="6139280" y="596449"/>
                </a:lnTo>
                <a:lnTo>
                  <a:pt x="6054012" y="599826"/>
                </a:lnTo>
                <a:lnTo>
                  <a:pt x="5968745" y="603169"/>
                </a:lnTo>
                <a:lnTo>
                  <a:pt x="5883477" y="606484"/>
                </a:lnTo>
                <a:lnTo>
                  <a:pt x="5798209" y="609744"/>
                </a:lnTo>
                <a:lnTo>
                  <a:pt x="5712941" y="612956"/>
                </a:lnTo>
                <a:lnTo>
                  <a:pt x="5627673" y="616118"/>
                </a:lnTo>
                <a:lnTo>
                  <a:pt x="5542406" y="619228"/>
                </a:lnTo>
                <a:lnTo>
                  <a:pt x="5457138" y="622272"/>
                </a:lnTo>
                <a:lnTo>
                  <a:pt x="5371870" y="625259"/>
                </a:lnTo>
                <a:lnTo>
                  <a:pt x="5286602" y="628178"/>
                </a:lnTo>
                <a:lnTo>
                  <a:pt x="5201335" y="631027"/>
                </a:lnTo>
                <a:lnTo>
                  <a:pt x="5116067" y="633825"/>
                </a:lnTo>
                <a:lnTo>
                  <a:pt x="5030799" y="636535"/>
                </a:lnTo>
                <a:lnTo>
                  <a:pt x="4945531" y="639183"/>
                </a:lnTo>
                <a:lnTo>
                  <a:pt x="4860263" y="641764"/>
                </a:lnTo>
                <a:lnTo>
                  <a:pt x="4774996" y="644277"/>
                </a:lnTo>
                <a:lnTo>
                  <a:pt x="4689728" y="646721"/>
                </a:lnTo>
                <a:lnTo>
                  <a:pt x="4604460" y="649110"/>
                </a:lnTo>
                <a:lnTo>
                  <a:pt x="4519192" y="651422"/>
                </a:lnTo>
                <a:lnTo>
                  <a:pt x="4433924" y="653675"/>
                </a:lnTo>
                <a:lnTo>
                  <a:pt x="4348657" y="655867"/>
                </a:lnTo>
                <a:lnTo>
                  <a:pt x="4263389" y="658012"/>
                </a:lnTo>
                <a:lnTo>
                  <a:pt x="4178121" y="660101"/>
                </a:lnTo>
                <a:lnTo>
                  <a:pt x="4092853" y="662138"/>
                </a:lnTo>
                <a:lnTo>
                  <a:pt x="4007586" y="664126"/>
                </a:lnTo>
                <a:lnTo>
                  <a:pt x="3922318" y="666069"/>
                </a:lnTo>
                <a:lnTo>
                  <a:pt x="3837050" y="667967"/>
                </a:lnTo>
                <a:lnTo>
                  <a:pt x="3751782" y="669818"/>
                </a:lnTo>
                <a:lnTo>
                  <a:pt x="3666514" y="671625"/>
                </a:lnTo>
                <a:lnTo>
                  <a:pt x="3581247" y="673380"/>
                </a:lnTo>
                <a:lnTo>
                  <a:pt x="3495979" y="675079"/>
                </a:lnTo>
                <a:lnTo>
                  <a:pt x="3410711" y="676724"/>
                </a:lnTo>
                <a:lnTo>
                  <a:pt x="3325443" y="678300"/>
                </a:lnTo>
                <a:lnTo>
                  <a:pt x="3240175" y="679810"/>
                </a:lnTo>
                <a:lnTo>
                  <a:pt x="3154908" y="681257"/>
                </a:lnTo>
                <a:lnTo>
                  <a:pt x="3069640" y="682620"/>
                </a:lnTo>
                <a:lnTo>
                  <a:pt x="2984372" y="683912"/>
                </a:lnTo>
                <a:lnTo>
                  <a:pt x="2899104" y="685123"/>
                </a:lnTo>
                <a:lnTo>
                  <a:pt x="2813836" y="686247"/>
                </a:lnTo>
                <a:lnTo>
                  <a:pt x="2728569" y="687297"/>
                </a:lnTo>
                <a:lnTo>
                  <a:pt x="2643301" y="688271"/>
                </a:lnTo>
                <a:lnTo>
                  <a:pt x="2558033" y="689157"/>
                </a:lnTo>
                <a:lnTo>
                  <a:pt x="2472765" y="689966"/>
                </a:lnTo>
                <a:lnTo>
                  <a:pt x="2387498" y="690694"/>
                </a:lnTo>
                <a:lnTo>
                  <a:pt x="2302230" y="691346"/>
                </a:lnTo>
                <a:lnTo>
                  <a:pt x="2216962" y="691912"/>
                </a:lnTo>
                <a:lnTo>
                  <a:pt x="2131694" y="692389"/>
                </a:lnTo>
                <a:lnTo>
                  <a:pt x="2046426" y="692786"/>
                </a:lnTo>
                <a:lnTo>
                  <a:pt x="1961159" y="693119"/>
                </a:lnTo>
                <a:lnTo>
                  <a:pt x="1875891" y="693353"/>
                </a:lnTo>
                <a:lnTo>
                  <a:pt x="1790623" y="693518"/>
                </a:lnTo>
                <a:lnTo>
                  <a:pt x="1705355" y="693614"/>
                </a:lnTo>
                <a:lnTo>
                  <a:pt x="1620087" y="693637"/>
                </a:lnTo>
                <a:lnTo>
                  <a:pt x="1534820" y="693593"/>
                </a:lnTo>
                <a:lnTo>
                  <a:pt x="1449552" y="693490"/>
                </a:lnTo>
                <a:lnTo>
                  <a:pt x="1364284" y="693332"/>
                </a:lnTo>
                <a:lnTo>
                  <a:pt x="1279016" y="693106"/>
                </a:lnTo>
                <a:lnTo>
                  <a:pt x="1193749" y="692830"/>
                </a:lnTo>
                <a:lnTo>
                  <a:pt x="1108481" y="692502"/>
                </a:lnTo>
                <a:lnTo>
                  <a:pt x="1023213" y="692123"/>
                </a:lnTo>
                <a:lnTo>
                  <a:pt x="937945" y="691691"/>
                </a:lnTo>
                <a:lnTo>
                  <a:pt x="852677" y="691213"/>
                </a:lnTo>
                <a:lnTo>
                  <a:pt x="767410" y="690681"/>
                </a:lnTo>
                <a:lnTo>
                  <a:pt x="682142" y="693626"/>
                </a:lnTo>
                <a:lnTo>
                  <a:pt x="596874" y="693213"/>
                </a:lnTo>
                <a:lnTo>
                  <a:pt x="511606" y="692705"/>
                </a:lnTo>
                <a:lnTo>
                  <a:pt x="426338" y="692090"/>
                </a:lnTo>
                <a:lnTo>
                  <a:pt x="341071" y="691361"/>
                </a:lnTo>
                <a:lnTo>
                  <a:pt x="255803" y="690514"/>
                </a:lnTo>
                <a:lnTo>
                  <a:pt x="170535" y="689506"/>
                </a:lnTo>
                <a:lnTo>
                  <a:pt x="85267" y="688382"/>
                </a:lnTo>
                <a:lnTo>
                  <a:pt x="0" y="68715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bfa: 97-й центиль"/>
          <p:cNvSpPr/>
          <p:nvPr/>
        </p:nvSpPr>
        <p:spPr>
          <a:xfrm>
            <a:off x="932688" y="4427771"/>
            <a:ext cx="6821423" cy="395980"/>
          </a:xfrm>
          <a:custGeom>
            <a:avLst/>
            <a:gdLst/>
            <a:ahLst/>
            <a:cxnLst/>
            <a:rect l="l" t="t" r="r" b="b"/>
            <a:pathLst>
              <a:path w="6821423" h="395980">
                <a:moveTo>
                  <a:pt x="0" y="395980"/>
                </a:moveTo>
                <a:lnTo>
                  <a:pt x="85267" y="394688"/>
                </a:lnTo>
                <a:lnTo>
                  <a:pt x="170535" y="393266"/>
                </a:lnTo>
                <a:lnTo>
                  <a:pt x="255803" y="391696"/>
                </a:lnTo>
                <a:lnTo>
                  <a:pt x="341071" y="390031"/>
                </a:lnTo>
                <a:lnTo>
                  <a:pt x="426338" y="388338"/>
                </a:lnTo>
                <a:lnTo>
                  <a:pt x="511606" y="386642"/>
                </a:lnTo>
                <a:lnTo>
                  <a:pt x="596874" y="384981"/>
                </a:lnTo>
                <a:lnTo>
                  <a:pt x="682142" y="383385"/>
                </a:lnTo>
                <a:lnTo>
                  <a:pt x="767410" y="380731"/>
                </a:lnTo>
                <a:lnTo>
                  <a:pt x="852677" y="378889"/>
                </a:lnTo>
                <a:lnTo>
                  <a:pt x="937945" y="376987"/>
                </a:lnTo>
                <a:lnTo>
                  <a:pt x="1023213" y="374976"/>
                </a:lnTo>
                <a:lnTo>
                  <a:pt x="1108481" y="372888"/>
                </a:lnTo>
                <a:lnTo>
                  <a:pt x="1193749" y="370706"/>
                </a:lnTo>
                <a:lnTo>
                  <a:pt x="1279016" y="368414"/>
                </a:lnTo>
                <a:lnTo>
                  <a:pt x="1364284" y="366031"/>
                </a:lnTo>
                <a:lnTo>
                  <a:pt x="1449552" y="363570"/>
                </a:lnTo>
                <a:lnTo>
                  <a:pt x="1534820" y="360972"/>
                </a:lnTo>
                <a:lnTo>
                  <a:pt x="1620087" y="358268"/>
                </a:lnTo>
                <a:lnTo>
                  <a:pt x="1705355" y="355446"/>
                </a:lnTo>
                <a:lnTo>
                  <a:pt x="1790623" y="352497"/>
                </a:lnTo>
                <a:lnTo>
                  <a:pt x="1875891" y="349426"/>
                </a:lnTo>
                <a:lnTo>
                  <a:pt x="1961159" y="346232"/>
                </a:lnTo>
                <a:lnTo>
                  <a:pt x="2046426" y="342910"/>
                </a:lnTo>
                <a:lnTo>
                  <a:pt x="2131694" y="339432"/>
                </a:lnTo>
                <a:lnTo>
                  <a:pt x="2216962" y="335813"/>
                </a:lnTo>
                <a:lnTo>
                  <a:pt x="2302230" y="332040"/>
                </a:lnTo>
                <a:lnTo>
                  <a:pt x="2387498" y="328149"/>
                </a:lnTo>
                <a:lnTo>
                  <a:pt x="2472765" y="324097"/>
                </a:lnTo>
                <a:lnTo>
                  <a:pt x="2558033" y="319915"/>
                </a:lnTo>
                <a:lnTo>
                  <a:pt x="2643301" y="315595"/>
                </a:lnTo>
                <a:lnTo>
                  <a:pt x="2728569" y="311151"/>
                </a:lnTo>
                <a:lnTo>
                  <a:pt x="2813836" y="306554"/>
                </a:lnTo>
                <a:lnTo>
                  <a:pt x="2899104" y="301828"/>
                </a:lnTo>
                <a:lnTo>
                  <a:pt x="2984372" y="296970"/>
                </a:lnTo>
                <a:lnTo>
                  <a:pt x="3069640" y="291992"/>
                </a:lnTo>
                <a:lnTo>
                  <a:pt x="3154908" y="286879"/>
                </a:lnTo>
                <a:lnTo>
                  <a:pt x="3240175" y="281646"/>
                </a:lnTo>
                <a:lnTo>
                  <a:pt x="3325443" y="276280"/>
                </a:lnTo>
                <a:lnTo>
                  <a:pt x="3410711" y="270826"/>
                </a:lnTo>
                <a:lnTo>
                  <a:pt x="3495979" y="265269"/>
                </a:lnTo>
                <a:lnTo>
                  <a:pt x="3581247" y="259623"/>
                </a:lnTo>
                <a:lnTo>
                  <a:pt x="3666514" y="253894"/>
                </a:lnTo>
                <a:lnTo>
                  <a:pt x="3751782" y="248106"/>
                </a:lnTo>
                <a:lnTo>
                  <a:pt x="3837050" y="242245"/>
                </a:lnTo>
                <a:lnTo>
                  <a:pt x="3922318" y="236324"/>
                </a:lnTo>
                <a:lnTo>
                  <a:pt x="4007586" y="230335"/>
                </a:lnTo>
                <a:lnTo>
                  <a:pt x="4092853" y="224302"/>
                </a:lnTo>
                <a:lnTo>
                  <a:pt x="4178121" y="218210"/>
                </a:lnTo>
                <a:lnTo>
                  <a:pt x="4263389" y="212056"/>
                </a:lnTo>
                <a:lnTo>
                  <a:pt x="4348657" y="205842"/>
                </a:lnTo>
                <a:lnTo>
                  <a:pt x="4433924" y="199550"/>
                </a:lnTo>
                <a:lnTo>
                  <a:pt x="4519192" y="193180"/>
                </a:lnTo>
                <a:lnTo>
                  <a:pt x="4604460" y="186752"/>
                </a:lnTo>
                <a:lnTo>
                  <a:pt x="4689728" y="180258"/>
                </a:lnTo>
                <a:lnTo>
                  <a:pt x="4774996" y="173678"/>
                </a:lnTo>
                <a:lnTo>
                  <a:pt x="4860263" y="167028"/>
                </a:lnTo>
                <a:lnTo>
                  <a:pt x="4945531" y="160288"/>
                </a:lnTo>
                <a:lnTo>
                  <a:pt x="5030799" y="153469"/>
                </a:lnTo>
                <a:lnTo>
                  <a:pt x="5116067" y="146579"/>
                </a:lnTo>
                <a:lnTo>
                  <a:pt x="5201335" y="139616"/>
                </a:lnTo>
                <a:lnTo>
                  <a:pt x="5286602" y="132566"/>
                </a:lnTo>
                <a:lnTo>
                  <a:pt x="5371870" y="125452"/>
                </a:lnTo>
                <a:lnTo>
                  <a:pt x="5457138" y="118264"/>
                </a:lnTo>
                <a:lnTo>
                  <a:pt x="5542406" y="111029"/>
                </a:lnTo>
                <a:lnTo>
                  <a:pt x="5627673" y="103738"/>
                </a:lnTo>
                <a:lnTo>
                  <a:pt x="5712941" y="96376"/>
                </a:lnTo>
                <a:lnTo>
                  <a:pt x="5798209" y="88965"/>
                </a:lnTo>
                <a:lnTo>
                  <a:pt x="5883477" y="81512"/>
                </a:lnTo>
                <a:lnTo>
                  <a:pt x="5968745" y="74060"/>
                </a:lnTo>
                <a:lnTo>
                  <a:pt x="6054012" y="66551"/>
                </a:lnTo>
                <a:lnTo>
                  <a:pt x="6139280" y="59035"/>
                </a:lnTo>
                <a:lnTo>
                  <a:pt x="6224548" y="51540"/>
                </a:lnTo>
                <a:lnTo>
                  <a:pt x="6309816" y="44056"/>
                </a:lnTo>
                <a:lnTo>
                  <a:pt x="6395084" y="36590"/>
                </a:lnTo>
                <a:lnTo>
                  <a:pt x="6480351" y="29152"/>
                </a:lnTo>
                <a:lnTo>
                  <a:pt x="6565619" y="21763"/>
                </a:lnTo>
                <a:lnTo>
                  <a:pt x="6650887" y="14439"/>
                </a:lnTo>
                <a:lnTo>
                  <a:pt x="6736155" y="7183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94111" y="435277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16" name="bfa: 85-й центиль"/>
          <p:cNvSpPr/>
          <p:nvPr/>
        </p:nvSpPr>
        <p:spPr>
          <a:xfrm>
            <a:off x="932688" y="4626126"/>
            <a:ext cx="6821423" cy="277700"/>
          </a:xfrm>
          <a:custGeom>
            <a:avLst/>
            <a:gdLst/>
            <a:ahLst/>
            <a:cxnLst/>
            <a:rect l="l" t="t" r="r" b="b"/>
            <a:pathLst>
              <a:path w="6821423" h="277700">
                <a:moveTo>
                  <a:pt x="0" y="277700"/>
                </a:moveTo>
                <a:lnTo>
                  <a:pt x="85267" y="277239"/>
                </a:lnTo>
                <a:lnTo>
                  <a:pt x="170535" y="276657"/>
                </a:lnTo>
                <a:lnTo>
                  <a:pt x="255803" y="275937"/>
                </a:lnTo>
                <a:lnTo>
                  <a:pt x="341071" y="275100"/>
                </a:lnTo>
                <a:lnTo>
                  <a:pt x="426338" y="274206"/>
                </a:lnTo>
                <a:lnTo>
                  <a:pt x="511606" y="273273"/>
                </a:lnTo>
                <a:lnTo>
                  <a:pt x="596874" y="272329"/>
                </a:lnTo>
                <a:lnTo>
                  <a:pt x="682142" y="271396"/>
                </a:lnTo>
                <a:lnTo>
                  <a:pt x="767410" y="272180"/>
                </a:lnTo>
                <a:lnTo>
                  <a:pt x="852677" y="271482"/>
                </a:lnTo>
                <a:lnTo>
                  <a:pt x="937945" y="270734"/>
                </a:lnTo>
                <a:lnTo>
                  <a:pt x="1023213" y="269907"/>
                </a:lnTo>
                <a:lnTo>
                  <a:pt x="1108481" y="269020"/>
                </a:lnTo>
                <a:lnTo>
                  <a:pt x="1193749" y="268061"/>
                </a:lnTo>
                <a:lnTo>
                  <a:pt x="1279016" y="267021"/>
                </a:lnTo>
                <a:lnTo>
                  <a:pt x="1364284" y="265911"/>
                </a:lnTo>
                <a:lnTo>
                  <a:pt x="1449552" y="264734"/>
                </a:lnTo>
                <a:lnTo>
                  <a:pt x="1534820" y="263456"/>
                </a:lnTo>
                <a:lnTo>
                  <a:pt x="1620087" y="262095"/>
                </a:lnTo>
                <a:lnTo>
                  <a:pt x="1705355" y="260642"/>
                </a:lnTo>
                <a:lnTo>
                  <a:pt x="1790623" y="259087"/>
                </a:lnTo>
                <a:lnTo>
                  <a:pt x="1875891" y="257434"/>
                </a:lnTo>
                <a:lnTo>
                  <a:pt x="1961159" y="255684"/>
                </a:lnTo>
                <a:lnTo>
                  <a:pt x="2046426" y="253818"/>
                </a:lnTo>
                <a:lnTo>
                  <a:pt x="2131694" y="251836"/>
                </a:lnTo>
                <a:lnTo>
                  <a:pt x="2216962" y="249739"/>
                </a:lnTo>
                <a:lnTo>
                  <a:pt x="2302230" y="247513"/>
                </a:lnTo>
                <a:lnTo>
                  <a:pt x="2387498" y="245184"/>
                </a:lnTo>
                <a:lnTo>
                  <a:pt x="2472765" y="242728"/>
                </a:lnTo>
                <a:lnTo>
                  <a:pt x="2558033" y="240161"/>
                </a:lnTo>
                <a:lnTo>
                  <a:pt x="2643301" y="237480"/>
                </a:lnTo>
                <a:lnTo>
                  <a:pt x="2728569" y="234687"/>
                </a:lnTo>
                <a:lnTo>
                  <a:pt x="2813836" y="231769"/>
                </a:lnTo>
                <a:lnTo>
                  <a:pt x="2899104" y="228744"/>
                </a:lnTo>
                <a:lnTo>
                  <a:pt x="2984372" y="225598"/>
                </a:lnTo>
                <a:lnTo>
                  <a:pt x="3069640" y="222346"/>
                </a:lnTo>
                <a:lnTo>
                  <a:pt x="3154908" y="218978"/>
                </a:lnTo>
                <a:lnTo>
                  <a:pt x="3240175" y="215499"/>
                </a:lnTo>
                <a:lnTo>
                  <a:pt x="3325443" y="211912"/>
                </a:lnTo>
                <a:lnTo>
                  <a:pt x="3410711" y="208238"/>
                </a:lnTo>
                <a:lnTo>
                  <a:pt x="3495979" y="204464"/>
                </a:lnTo>
                <a:lnTo>
                  <a:pt x="3581247" y="200610"/>
                </a:lnTo>
                <a:lnTo>
                  <a:pt x="3666514" y="196675"/>
                </a:lnTo>
                <a:lnTo>
                  <a:pt x="3751782" y="192671"/>
                </a:lnTo>
                <a:lnTo>
                  <a:pt x="3837050" y="188597"/>
                </a:lnTo>
                <a:lnTo>
                  <a:pt x="3922318" y="184459"/>
                </a:lnTo>
                <a:lnTo>
                  <a:pt x="4007586" y="180247"/>
                </a:lnTo>
                <a:lnTo>
                  <a:pt x="4092853" y="175980"/>
                </a:lnTo>
                <a:lnTo>
                  <a:pt x="4178121" y="171645"/>
                </a:lnTo>
                <a:lnTo>
                  <a:pt x="4263389" y="167235"/>
                </a:lnTo>
                <a:lnTo>
                  <a:pt x="4348657" y="162755"/>
                </a:lnTo>
                <a:lnTo>
                  <a:pt x="4433924" y="158195"/>
                </a:lnTo>
                <a:lnTo>
                  <a:pt x="4519192" y="153547"/>
                </a:lnTo>
                <a:lnTo>
                  <a:pt x="4604460" y="148825"/>
                </a:lnTo>
                <a:lnTo>
                  <a:pt x="4689728" y="144012"/>
                </a:lnTo>
                <a:lnTo>
                  <a:pt x="4774996" y="139110"/>
                </a:lnTo>
                <a:lnTo>
                  <a:pt x="4860263" y="134120"/>
                </a:lnTo>
                <a:lnTo>
                  <a:pt x="4945531" y="129031"/>
                </a:lnTo>
                <a:lnTo>
                  <a:pt x="5030799" y="123849"/>
                </a:lnTo>
                <a:lnTo>
                  <a:pt x="5116067" y="118582"/>
                </a:lnTo>
                <a:lnTo>
                  <a:pt x="5201335" y="113215"/>
                </a:lnTo>
                <a:lnTo>
                  <a:pt x="5286602" y="107757"/>
                </a:lnTo>
                <a:lnTo>
                  <a:pt x="5371870" y="102215"/>
                </a:lnTo>
                <a:lnTo>
                  <a:pt x="5457138" y="96582"/>
                </a:lnTo>
                <a:lnTo>
                  <a:pt x="5542406" y="90876"/>
                </a:lnTo>
                <a:lnTo>
                  <a:pt x="5627673" y="85094"/>
                </a:lnTo>
                <a:lnTo>
                  <a:pt x="5712941" y="79230"/>
                </a:lnTo>
                <a:lnTo>
                  <a:pt x="5798209" y="73300"/>
                </a:lnTo>
                <a:lnTo>
                  <a:pt x="5883477" y="67308"/>
                </a:lnTo>
                <a:lnTo>
                  <a:pt x="5968745" y="61272"/>
                </a:lnTo>
                <a:lnTo>
                  <a:pt x="6054012" y="55180"/>
                </a:lnTo>
                <a:lnTo>
                  <a:pt x="6139280" y="49052"/>
                </a:lnTo>
                <a:lnTo>
                  <a:pt x="6224548" y="42907"/>
                </a:lnTo>
                <a:lnTo>
                  <a:pt x="6309816" y="36747"/>
                </a:lnTo>
                <a:lnTo>
                  <a:pt x="6395084" y="30580"/>
                </a:lnTo>
                <a:lnTo>
                  <a:pt x="6480351" y="24415"/>
                </a:lnTo>
                <a:lnTo>
                  <a:pt x="6565619" y="18266"/>
                </a:lnTo>
                <a:lnTo>
                  <a:pt x="6650887" y="12143"/>
                </a:lnTo>
                <a:lnTo>
                  <a:pt x="6736155" y="6052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94111" y="455112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118" name="bfa: 50-й центиль"/>
          <p:cNvSpPr/>
          <p:nvPr/>
        </p:nvSpPr>
        <p:spPr>
          <a:xfrm>
            <a:off x="932688" y="4796328"/>
            <a:ext cx="6821423" cy="193573"/>
          </a:xfrm>
          <a:custGeom>
            <a:avLst/>
            <a:gdLst/>
            <a:ahLst/>
            <a:cxnLst/>
            <a:rect l="l" t="t" r="r" b="b"/>
            <a:pathLst>
              <a:path w="6821423" h="193573">
                <a:moveTo>
                  <a:pt x="0" y="192654"/>
                </a:moveTo>
                <a:lnTo>
                  <a:pt x="85267" y="192964"/>
                </a:lnTo>
                <a:lnTo>
                  <a:pt x="170535" y="193160"/>
                </a:lnTo>
                <a:lnTo>
                  <a:pt x="255803" y="193230"/>
                </a:lnTo>
                <a:lnTo>
                  <a:pt x="341071" y="193162"/>
                </a:lnTo>
                <a:lnTo>
                  <a:pt x="426338" y="193008"/>
                </a:lnTo>
                <a:lnTo>
                  <a:pt x="511606" y="192781"/>
                </a:lnTo>
                <a:lnTo>
                  <a:pt x="596874" y="192500"/>
                </a:lnTo>
                <a:lnTo>
                  <a:pt x="682142" y="192181"/>
                </a:lnTo>
                <a:lnTo>
                  <a:pt x="767410" y="193475"/>
                </a:lnTo>
                <a:lnTo>
                  <a:pt x="852677" y="193549"/>
                </a:lnTo>
                <a:lnTo>
                  <a:pt x="937945" y="193573"/>
                </a:lnTo>
                <a:lnTo>
                  <a:pt x="1023213" y="193536"/>
                </a:lnTo>
                <a:lnTo>
                  <a:pt x="1108481" y="193444"/>
                </a:lnTo>
                <a:lnTo>
                  <a:pt x="1193749" y="193293"/>
                </a:lnTo>
                <a:lnTo>
                  <a:pt x="1279016" y="193075"/>
                </a:lnTo>
                <a:lnTo>
                  <a:pt x="1364284" y="192798"/>
                </a:lnTo>
                <a:lnTo>
                  <a:pt x="1449552" y="192456"/>
                </a:lnTo>
                <a:lnTo>
                  <a:pt x="1534820" y="192035"/>
                </a:lnTo>
                <a:lnTo>
                  <a:pt x="1620087" y="191544"/>
                </a:lnTo>
                <a:lnTo>
                  <a:pt x="1705355" y="190973"/>
                </a:lnTo>
                <a:lnTo>
                  <a:pt x="1790623" y="190315"/>
                </a:lnTo>
                <a:lnTo>
                  <a:pt x="1875891" y="189572"/>
                </a:lnTo>
                <a:lnTo>
                  <a:pt x="1961159" y="188747"/>
                </a:lnTo>
                <a:lnTo>
                  <a:pt x="2046426" y="187811"/>
                </a:lnTo>
                <a:lnTo>
                  <a:pt x="2131694" y="186785"/>
                </a:lnTo>
                <a:lnTo>
                  <a:pt x="2216962" y="185660"/>
                </a:lnTo>
                <a:lnTo>
                  <a:pt x="2302230" y="184424"/>
                </a:lnTo>
                <a:lnTo>
                  <a:pt x="2387498" y="183091"/>
                </a:lnTo>
                <a:lnTo>
                  <a:pt x="2472765" y="181655"/>
                </a:lnTo>
                <a:lnTo>
                  <a:pt x="2558033" y="180119"/>
                </a:lnTo>
                <a:lnTo>
                  <a:pt x="2643301" y="178486"/>
                </a:lnTo>
                <a:lnTo>
                  <a:pt x="2728569" y="176749"/>
                </a:lnTo>
                <a:lnTo>
                  <a:pt x="2813836" y="174908"/>
                </a:lnTo>
                <a:lnTo>
                  <a:pt x="2899104" y="172974"/>
                </a:lnTo>
                <a:lnTo>
                  <a:pt x="2984372" y="170931"/>
                </a:lnTo>
                <a:lnTo>
                  <a:pt x="3069640" y="168791"/>
                </a:lnTo>
                <a:lnTo>
                  <a:pt x="3154908" y="166552"/>
                </a:lnTo>
                <a:lnTo>
                  <a:pt x="3240175" y="164212"/>
                </a:lnTo>
                <a:lnTo>
                  <a:pt x="3325443" y="161782"/>
                </a:lnTo>
                <a:lnTo>
                  <a:pt x="3410711" y="159270"/>
                </a:lnTo>
                <a:lnTo>
                  <a:pt x="3495979" y="156668"/>
                </a:lnTo>
                <a:lnTo>
                  <a:pt x="3581247" y="153994"/>
                </a:lnTo>
                <a:lnTo>
                  <a:pt x="3666514" y="151245"/>
                </a:lnTo>
                <a:lnTo>
                  <a:pt x="3751782" y="148429"/>
                </a:lnTo>
                <a:lnTo>
                  <a:pt x="3837050" y="145552"/>
                </a:lnTo>
                <a:lnTo>
                  <a:pt x="3922318" y="142613"/>
                </a:lnTo>
                <a:lnTo>
                  <a:pt x="4007586" y="139606"/>
                </a:lnTo>
                <a:lnTo>
                  <a:pt x="4092853" y="136544"/>
                </a:lnTo>
                <a:lnTo>
                  <a:pt x="4178121" y="133417"/>
                </a:lnTo>
                <a:lnTo>
                  <a:pt x="4263389" y="130217"/>
                </a:lnTo>
                <a:lnTo>
                  <a:pt x="4348657" y="126948"/>
                </a:lnTo>
                <a:lnTo>
                  <a:pt x="4433924" y="123609"/>
                </a:lnTo>
                <a:lnTo>
                  <a:pt x="4519192" y="120187"/>
                </a:lnTo>
                <a:lnTo>
                  <a:pt x="4604460" y="116691"/>
                </a:lnTo>
                <a:lnTo>
                  <a:pt x="4689728" y="113102"/>
                </a:lnTo>
                <a:lnTo>
                  <a:pt x="4774996" y="109434"/>
                </a:lnTo>
                <a:lnTo>
                  <a:pt x="4860263" y="105678"/>
                </a:lnTo>
                <a:lnTo>
                  <a:pt x="4945531" y="101832"/>
                </a:lnTo>
                <a:lnTo>
                  <a:pt x="5030799" y="97896"/>
                </a:lnTo>
                <a:lnTo>
                  <a:pt x="5116067" y="93879"/>
                </a:lnTo>
                <a:lnTo>
                  <a:pt x="5201335" y="89758"/>
                </a:lnTo>
                <a:lnTo>
                  <a:pt x="5286602" y="85559"/>
                </a:lnTo>
                <a:lnTo>
                  <a:pt x="5371870" y="81275"/>
                </a:lnTo>
                <a:lnTo>
                  <a:pt x="5457138" y="76902"/>
                </a:lnTo>
                <a:lnTo>
                  <a:pt x="5542406" y="72455"/>
                </a:lnTo>
                <a:lnTo>
                  <a:pt x="5627673" y="67930"/>
                </a:lnTo>
                <a:lnTo>
                  <a:pt x="5712941" y="63330"/>
                </a:lnTo>
                <a:lnTo>
                  <a:pt x="5798209" y="58665"/>
                </a:lnTo>
                <a:lnTo>
                  <a:pt x="5883477" y="53936"/>
                </a:lnTo>
                <a:lnTo>
                  <a:pt x="5968745" y="49148"/>
                </a:lnTo>
                <a:lnTo>
                  <a:pt x="6054012" y="44314"/>
                </a:lnTo>
                <a:lnTo>
                  <a:pt x="6139280" y="39437"/>
                </a:lnTo>
                <a:lnTo>
                  <a:pt x="6224548" y="34529"/>
                </a:lnTo>
                <a:lnTo>
                  <a:pt x="6309816" y="29598"/>
                </a:lnTo>
                <a:lnTo>
                  <a:pt x="6395084" y="24654"/>
                </a:lnTo>
                <a:lnTo>
                  <a:pt x="6480351" y="19704"/>
                </a:lnTo>
                <a:lnTo>
                  <a:pt x="6565619" y="14759"/>
                </a:lnTo>
                <a:lnTo>
                  <a:pt x="6650887" y="9819"/>
                </a:lnTo>
                <a:lnTo>
                  <a:pt x="6736155" y="4897"/>
                </a:lnTo>
                <a:lnTo>
                  <a:pt x="6821423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94111" y="4721328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120" name="bfa: 15-й центиль"/>
          <p:cNvSpPr/>
          <p:nvPr/>
        </p:nvSpPr>
        <p:spPr>
          <a:xfrm>
            <a:off x="932688" y="4919110"/>
            <a:ext cx="6821423" cy="148443"/>
          </a:xfrm>
          <a:custGeom>
            <a:avLst/>
            <a:gdLst/>
            <a:ahLst/>
            <a:cxnLst/>
            <a:rect l="l" t="t" r="r" b="b"/>
            <a:pathLst>
              <a:path w="6821423" h="148443">
                <a:moveTo>
                  <a:pt x="0" y="143230"/>
                </a:moveTo>
                <a:lnTo>
                  <a:pt x="85267" y="144107"/>
                </a:lnTo>
                <a:lnTo>
                  <a:pt x="170535" y="144877"/>
                </a:lnTo>
                <a:lnTo>
                  <a:pt x="255803" y="145527"/>
                </a:lnTo>
                <a:lnTo>
                  <a:pt x="341071" y="146025"/>
                </a:lnTo>
                <a:lnTo>
                  <a:pt x="426338" y="146417"/>
                </a:lnTo>
                <a:lnTo>
                  <a:pt x="511606" y="146710"/>
                </a:lnTo>
                <a:lnTo>
                  <a:pt x="596874" y="146916"/>
                </a:lnTo>
                <a:lnTo>
                  <a:pt x="682142" y="147050"/>
                </a:lnTo>
                <a:lnTo>
                  <a:pt x="767410" y="146524"/>
                </a:lnTo>
                <a:lnTo>
                  <a:pt x="852677" y="146953"/>
                </a:lnTo>
                <a:lnTo>
                  <a:pt x="937945" y="147329"/>
                </a:lnTo>
                <a:lnTo>
                  <a:pt x="1023213" y="147653"/>
                </a:lnTo>
                <a:lnTo>
                  <a:pt x="1108481" y="147924"/>
                </a:lnTo>
                <a:lnTo>
                  <a:pt x="1193749" y="148141"/>
                </a:lnTo>
                <a:lnTo>
                  <a:pt x="1279016" y="148300"/>
                </a:lnTo>
                <a:lnTo>
                  <a:pt x="1364284" y="148405"/>
                </a:lnTo>
                <a:lnTo>
                  <a:pt x="1449552" y="148443"/>
                </a:lnTo>
                <a:lnTo>
                  <a:pt x="1534820" y="148416"/>
                </a:lnTo>
                <a:lnTo>
                  <a:pt x="1620087" y="148326"/>
                </a:lnTo>
                <a:lnTo>
                  <a:pt x="1705355" y="148164"/>
                </a:lnTo>
                <a:lnTo>
                  <a:pt x="1790623" y="147923"/>
                </a:lnTo>
                <a:lnTo>
                  <a:pt x="1875891" y="147607"/>
                </a:lnTo>
                <a:lnTo>
                  <a:pt x="1961159" y="147215"/>
                </a:lnTo>
                <a:lnTo>
                  <a:pt x="2046426" y="146719"/>
                </a:lnTo>
                <a:lnTo>
                  <a:pt x="2131694" y="146149"/>
                </a:lnTo>
                <a:lnTo>
                  <a:pt x="2216962" y="145491"/>
                </a:lnTo>
                <a:lnTo>
                  <a:pt x="2302230" y="144734"/>
                </a:lnTo>
                <a:lnTo>
                  <a:pt x="2387498" y="143885"/>
                </a:lnTo>
                <a:lnTo>
                  <a:pt x="2472765" y="142951"/>
                </a:lnTo>
                <a:lnTo>
                  <a:pt x="2558033" y="141926"/>
                </a:lnTo>
                <a:lnTo>
                  <a:pt x="2643301" y="140816"/>
                </a:lnTo>
                <a:lnTo>
                  <a:pt x="2728569" y="139611"/>
                </a:lnTo>
                <a:lnTo>
                  <a:pt x="2813836" y="138317"/>
                </a:lnTo>
                <a:lnTo>
                  <a:pt x="2899104" y="136942"/>
                </a:lnTo>
                <a:lnTo>
                  <a:pt x="2984372" y="135470"/>
                </a:lnTo>
                <a:lnTo>
                  <a:pt x="3069640" y="133909"/>
                </a:lnTo>
                <a:lnTo>
                  <a:pt x="3154908" y="132265"/>
                </a:lnTo>
                <a:lnTo>
                  <a:pt x="3240175" y="130529"/>
                </a:lnTo>
                <a:lnTo>
                  <a:pt x="3325443" y="128719"/>
                </a:lnTo>
                <a:lnTo>
                  <a:pt x="3410711" y="126835"/>
                </a:lnTo>
                <a:lnTo>
                  <a:pt x="3495979" y="124873"/>
                </a:lnTo>
                <a:lnTo>
                  <a:pt x="3581247" y="122847"/>
                </a:lnTo>
                <a:lnTo>
                  <a:pt x="3666514" y="120758"/>
                </a:lnTo>
                <a:lnTo>
                  <a:pt x="3751782" y="118608"/>
                </a:lnTo>
                <a:lnTo>
                  <a:pt x="3837050" y="116406"/>
                </a:lnTo>
                <a:lnTo>
                  <a:pt x="3922318" y="114151"/>
                </a:lnTo>
                <a:lnTo>
                  <a:pt x="4007586" y="111840"/>
                </a:lnTo>
                <a:lnTo>
                  <a:pt x="4092853" y="109477"/>
                </a:lnTo>
                <a:lnTo>
                  <a:pt x="4178121" y="107059"/>
                </a:lnTo>
                <a:lnTo>
                  <a:pt x="4263389" y="104578"/>
                </a:lnTo>
                <a:lnTo>
                  <a:pt x="4348657" y="102034"/>
                </a:lnTo>
                <a:lnTo>
                  <a:pt x="4433924" y="99433"/>
                </a:lnTo>
                <a:lnTo>
                  <a:pt x="4519192" y="96761"/>
                </a:lnTo>
                <a:lnTo>
                  <a:pt x="4604460" y="94022"/>
                </a:lnTo>
                <a:lnTo>
                  <a:pt x="4689728" y="91198"/>
                </a:lnTo>
                <a:lnTo>
                  <a:pt x="4774996" y="88308"/>
                </a:lnTo>
                <a:lnTo>
                  <a:pt x="4860263" y="85339"/>
                </a:lnTo>
                <a:lnTo>
                  <a:pt x="4945531" y="82292"/>
                </a:lnTo>
                <a:lnTo>
                  <a:pt x="5030799" y="79168"/>
                </a:lnTo>
                <a:lnTo>
                  <a:pt x="5116067" y="75972"/>
                </a:lnTo>
                <a:lnTo>
                  <a:pt x="5201335" y="72680"/>
                </a:lnTo>
                <a:lnTo>
                  <a:pt x="5286602" y="69325"/>
                </a:lnTo>
                <a:lnTo>
                  <a:pt x="5371870" y="65893"/>
                </a:lnTo>
                <a:lnTo>
                  <a:pt x="5457138" y="62383"/>
                </a:lnTo>
                <a:lnTo>
                  <a:pt x="5542406" y="58806"/>
                </a:lnTo>
                <a:lnTo>
                  <a:pt x="5627673" y="55158"/>
                </a:lnTo>
                <a:lnTo>
                  <a:pt x="5712941" y="51447"/>
                </a:lnTo>
                <a:lnTo>
                  <a:pt x="5798209" y="47678"/>
                </a:lnTo>
                <a:lnTo>
                  <a:pt x="5883477" y="43854"/>
                </a:lnTo>
                <a:lnTo>
                  <a:pt x="5968745" y="39970"/>
                </a:lnTo>
                <a:lnTo>
                  <a:pt x="6054012" y="36051"/>
                </a:lnTo>
                <a:lnTo>
                  <a:pt x="6139280" y="32093"/>
                </a:lnTo>
                <a:lnTo>
                  <a:pt x="6224548" y="28102"/>
                </a:lnTo>
                <a:lnTo>
                  <a:pt x="6309816" y="24090"/>
                </a:lnTo>
                <a:lnTo>
                  <a:pt x="6395084" y="20068"/>
                </a:lnTo>
                <a:lnTo>
                  <a:pt x="6480351" y="16041"/>
                </a:lnTo>
                <a:lnTo>
                  <a:pt x="6565619" y="12019"/>
                </a:lnTo>
                <a:lnTo>
                  <a:pt x="6650887" y="7995"/>
                </a:lnTo>
                <a:lnTo>
                  <a:pt x="6736155" y="3987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94111" y="4844110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122" name="bfa: 3-й центиль"/>
          <p:cNvSpPr/>
          <p:nvPr/>
        </p:nvSpPr>
        <p:spPr>
          <a:xfrm>
            <a:off x="932688" y="4996882"/>
            <a:ext cx="6821423" cy="124526"/>
          </a:xfrm>
          <a:custGeom>
            <a:avLst/>
            <a:gdLst/>
            <a:ahLst/>
            <a:cxnLst/>
            <a:rect l="l" t="t" r="r" b="b"/>
            <a:pathLst>
              <a:path w="6821423" h="124526">
                <a:moveTo>
                  <a:pt x="0" y="118045"/>
                </a:moveTo>
                <a:lnTo>
                  <a:pt x="85267" y="119271"/>
                </a:lnTo>
                <a:lnTo>
                  <a:pt x="170535" y="120395"/>
                </a:lnTo>
                <a:lnTo>
                  <a:pt x="255803" y="121403"/>
                </a:lnTo>
                <a:lnTo>
                  <a:pt x="341071" y="122250"/>
                </a:lnTo>
                <a:lnTo>
                  <a:pt x="426338" y="122979"/>
                </a:lnTo>
                <a:lnTo>
                  <a:pt x="511606" y="123594"/>
                </a:lnTo>
                <a:lnTo>
                  <a:pt x="596874" y="124102"/>
                </a:lnTo>
                <a:lnTo>
                  <a:pt x="682142" y="124515"/>
                </a:lnTo>
                <a:lnTo>
                  <a:pt x="767410" y="121570"/>
                </a:lnTo>
                <a:lnTo>
                  <a:pt x="852677" y="122102"/>
                </a:lnTo>
                <a:lnTo>
                  <a:pt x="937945" y="122580"/>
                </a:lnTo>
                <a:lnTo>
                  <a:pt x="1023213" y="123012"/>
                </a:lnTo>
                <a:lnTo>
                  <a:pt x="1108481" y="123391"/>
                </a:lnTo>
                <a:lnTo>
                  <a:pt x="1193749" y="123719"/>
                </a:lnTo>
                <a:lnTo>
                  <a:pt x="1279016" y="123995"/>
                </a:lnTo>
                <a:lnTo>
                  <a:pt x="1364284" y="124221"/>
                </a:lnTo>
                <a:lnTo>
                  <a:pt x="1449552" y="124379"/>
                </a:lnTo>
                <a:lnTo>
                  <a:pt x="1534820" y="124482"/>
                </a:lnTo>
                <a:lnTo>
                  <a:pt x="1620087" y="124526"/>
                </a:lnTo>
                <a:lnTo>
                  <a:pt x="1705355" y="124503"/>
                </a:lnTo>
                <a:lnTo>
                  <a:pt x="1790623" y="124407"/>
                </a:lnTo>
                <a:lnTo>
                  <a:pt x="1875891" y="124242"/>
                </a:lnTo>
                <a:lnTo>
                  <a:pt x="1961159" y="124008"/>
                </a:lnTo>
                <a:lnTo>
                  <a:pt x="2046426" y="123675"/>
                </a:lnTo>
                <a:lnTo>
                  <a:pt x="2131694" y="123278"/>
                </a:lnTo>
                <a:lnTo>
                  <a:pt x="2216962" y="122801"/>
                </a:lnTo>
                <a:lnTo>
                  <a:pt x="2302230" y="122235"/>
                </a:lnTo>
                <a:lnTo>
                  <a:pt x="2387498" y="121583"/>
                </a:lnTo>
                <a:lnTo>
                  <a:pt x="2472765" y="120855"/>
                </a:lnTo>
                <a:lnTo>
                  <a:pt x="2558033" y="120046"/>
                </a:lnTo>
                <a:lnTo>
                  <a:pt x="2643301" y="119160"/>
                </a:lnTo>
                <a:lnTo>
                  <a:pt x="2728569" y="118186"/>
                </a:lnTo>
                <a:lnTo>
                  <a:pt x="2813836" y="117136"/>
                </a:lnTo>
                <a:lnTo>
                  <a:pt x="2899104" y="116012"/>
                </a:lnTo>
                <a:lnTo>
                  <a:pt x="2984372" y="114801"/>
                </a:lnTo>
                <a:lnTo>
                  <a:pt x="3069640" y="113509"/>
                </a:lnTo>
                <a:lnTo>
                  <a:pt x="3154908" y="112146"/>
                </a:lnTo>
                <a:lnTo>
                  <a:pt x="3240175" y="110699"/>
                </a:lnTo>
                <a:lnTo>
                  <a:pt x="3325443" y="109189"/>
                </a:lnTo>
                <a:lnTo>
                  <a:pt x="3410711" y="107613"/>
                </a:lnTo>
                <a:lnTo>
                  <a:pt x="3495979" y="105968"/>
                </a:lnTo>
                <a:lnTo>
                  <a:pt x="3581247" y="104269"/>
                </a:lnTo>
                <a:lnTo>
                  <a:pt x="3666514" y="102514"/>
                </a:lnTo>
                <a:lnTo>
                  <a:pt x="3751782" y="100707"/>
                </a:lnTo>
                <a:lnTo>
                  <a:pt x="3837050" y="98856"/>
                </a:lnTo>
                <a:lnTo>
                  <a:pt x="3922318" y="96958"/>
                </a:lnTo>
                <a:lnTo>
                  <a:pt x="4007586" y="95015"/>
                </a:lnTo>
                <a:lnTo>
                  <a:pt x="4092853" y="93027"/>
                </a:lnTo>
                <a:lnTo>
                  <a:pt x="4178121" y="90990"/>
                </a:lnTo>
                <a:lnTo>
                  <a:pt x="4263389" y="88901"/>
                </a:lnTo>
                <a:lnTo>
                  <a:pt x="4348657" y="86756"/>
                </a:lnTo>
                <a:lnTo>
                  <a:pt x="4433924" y="84564"/>
                </a:lnTo>
                <a:lnTo>
                  <a:pt x="4519192" y="82311"/>
                </a:lnTo>
                <a:lnTo>
                  <a:pt x="4604460" y="79999"/>
                </a:lnTo>
                <a:lnTo>
                  <a:pt x="4689728" y="77610"/>
                </a:lnTo>
                <a:lnTo>
                  <a:pt x="4774996" y="75166"/>
                </a:lnTo>
                <a:lnTo>
                  <a:pt x="4860263" y="72653"/>
                </a:lnTo>
                <a:lnTo>
                  <a:pt x="4945531" y="70072"/>
                </a:lnTo>
                <a:lnTo>
                  <a:pt x="5030799" y="67424"/>
                </a:lnTo>
                <a:lnTo>
                  <a:pt x="5116067" y="64714"/>
                </a:lnTo>
                <a:lnTo>
                  <a:pt x="5201335" y="61916"/>
                </a:lnTo>
                <a:lnTo>
                  <a:pt x="5286602" y="59067"/>
                </a:lnTo>
                <a:lnTo>
                  <a:pt x="5371870" y="56148"/>
                </a:lnTo>
                <a:lnTo>
                  <a:pt x="5457138" y="53161"/>
                </a:lnTo>
                <a:lnTo>
                  <a:pt x="5542406" y="50117"/>
                </a:lnTo>
                <a:lnTo>
                  <a:pt x="5627673" y="47007"/>
                </a:lnTo>
                <a:lnTo>
                  <a:pt x="5712941" y="43845"/>
                </a:lnTo>
                <a:lnTo>
                  <a:pt x="5798209" y="40633"/>
                </a:lnTo>
                <a:lnTo>
                  <a:pt x="5883477" y="37373"/>
                </a:lnTo>
                <a:lnTo>
                  <a:pt x="5968745" y="34058"/>
                </a:lnTo>
                <a:lnTo>
                  <a:pt x="6054012" y="30715"/>
                </a:lnTo>
                <a:lnTo>
                  <a:pt x="6139280" y="27338"/>
                </a:lnTo>
                <a:lnTo>
                  <a:pt x="6224548" y="23932"/>
                </a:lnTo>
                <a:lnTo>
                  <a:pt x="6309816" y="20507"/>
                </a:lnTo>
                <a:lnTo>
                  <a:pt x="6395084" y="17079"/>
                </a:lnTo>
                <a:lnTo>
                  <a:pt x="6480351" y="13648"/>
                </a:lnTo>
                <a:lnTo>
                  <a:pt x="6565619" y="10224"/>
                </a:lnTo>
                <a:lnTo>
                  <a:pt x="6650887" y="6797"/>
                </a:lnTo>
                <a:lnTo>
                  <a:pt x="6736155" y="3388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94111" y="4921882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124" name="bfa: пример"/>
          <p:cNvSpPr/>
          <p:nvPr/>
        </p:nvSpPr>
        <p:spPr>
          <a:xfrm>
            <a:off x="932688" y="4841827"/>
            <a:ext cx="4547615" cy="139489"/>
          </a:xfrm>
          <a:custGeom>
            <a:avLst/>
            <a:gdLst/>
            <a:ahLst/>
            <a:cxnLst/>
            <a:rect l="l" t="t" r="r" b="b"/>
            <a:pathLst>
              <a:path w="4547615" h="139489">
                <a:moveTo>
                  <a:pt x="0" y="139489"/>
                </a:moveTo>
                <a:lnTo>
                  <a:pt x="63161" y="139038"/>
                </a:lnTo>
                <a:lnTo>
                  <a:pt x="126322" y="138517"/>
                </a:lnTo>
                <a:lnTo>
                  <a:pt x="189483" y="137912"/>
                </a:lnTo>
                <a:lnTo>
                  <a:pt x="252645" y="137226"/>
                </a:lnTo>
                <a:lnTo>
                  <a:pt x="315806" y="136462"/>
                </a:lnTo>
                <a:lnTo>
                  <a:pt x="378967" y="135628"/>
                </a:lnTo>
                <a:lnTo>
                  <a:pt x="442129" y="134754"/>
                </a:lnTo>
                <a:lnTo>
                  <a:pt x="505290" y="133828"/>
                </a:lnTo>
                <a:lnTo>
                  <a:pt x="568451" y="132869"/>
                </a:lnTo>
                <a:lnTo>
                  <a:pt x="631613" y="131887"/>
                </a:lnTo>
                <a:lnTo>
                  <a:pt x="694774" y="130877"/>
                </a:lnTo>
                <a:lnTo>
                  <a:pt x="757935" y="131671"/>
                </a:lnTo>
                <a:lnTo>
                  <a:pt x="821097" y="131655"/>
                </a:lnTo>
                <a:lnTo>
                  <a:pt x="884258" y="131612"/>
                </a:lnTo>
                <a:lnTo>
                  <a:pt x="947419" y="131537"/>
                </a:lnTo>
                <a:lnTo>
                  <a:pt x="1010581" y="131427"/>
                </a:lnTo>
                <a:lnTo>
                  <a:pt x="1073742" y="131289"/>
                </a:lnTo>
                <a:lnTo>
                  <a:pt x="1136903" y="131119"/>
                </a:lnTo>
                <a:lnTo>
                  <a:pt x="1200065" y="130909"/>
                </a:lnTo>
                <a:lnTo>
                  <a:pt x="1263226" y="130666"/>
                </a:lnTo>
                <a:lnTo>
                  <a:pt x="1326387" y="130389"/>
                </a:lnTo>
                <a:lnTo>
                  <a:pt x="1389549" y="130079"/>
                </a:lnTo>
                <a:lnTo>
                  <a:pt x="1452710" y="129726"/>
                </a:lnTo>
                <a:lnTo>
                  <a:pt x="1515871" y="129332"/>
                </a:lnTo>
                <a:lnTo>
                  <a:pt x="1579033" y="128158"/>
                </a:lnTo>
                <a:lnTo>
                  <a:pt x="1642194" y="126930"/>
                </a:lnTo>
                <a:lnTo>
                  <a:pt x="1705355" y="125642"/>
                </a:lnTo>
                <a:lnTo>
                  <a:pt x="1768517" y="124305"/>
                </a:lnTo>
                <a:lnTo>
                  <a:pt x="1831678" y="122902"/>
                </a:lnTo>
                <a:lnTo>
                  <a:pt x="1894839" y="121443"/>
                </a:lnTo>
                <a:lnTo>
                  <a:pt x="1958001" y="119925"/>
                </a:lnTo>
                <a:lnTo>
                  <a:pt x="2021162" y="118336"/>
                </a:lnTo>
                <a:lnTo>
                  <a:pt x="2084323" y="116689"/>
                </a:lnTo>
                <a:lnTo>
                  <a:pt x="2147485" y="114963"/>
                </a:lnTo>
                <a:lnTo>
                  <a:pt x="2210646" y="113176"/>
                </a:lnTo>
                <a:lnTo>
                  <a:pt x="2273807" y="111315"/>
                </a:lnTo>
                <a:lnTo>
                  <a:pt x="2336968" y="109386"/>
                </a:lnTo>
                <a:lnTo>
                  <a:pt x="2400130" y="107385"/>
                </a:lnTo>
                <a:lnTo>
                  <a:pt x="2463291" y="105314"/>
                </a:lnTo>
                <a:lnTo>
                  <a:pt x="2526452" y="103178"/>
                </a:lnTo>
                <a:lnTo>
                  <a:pt x="2589614" y="100971"/>
                </a:lnTo>
                <a:lnTo>
                  <a:pt x="2652775" y="98691"/>
                </a:lnTo>
                <a:lnTo>
                  <a:pt x="2715936" y="96344"/>
                </a:lnTo>
                <a:lnTo>
                  <a:pt x="2779098" y="93922"/>
                </a:lnTo>
                <a:lnTo>
                  <a:pt x="2842259" y="91431"/>
                </a:lnTo>
                <a:lnTo>
                  <a:pt x="2905420" y="88867"/>
                </a:lnTo>
                <a:lnTo>
                  <a:pt x="2968582" y="86232"/>
                </a:lnTo>
                <a:lnTo>
                  <a:pt x="3031743" y="83526"/>
                </a:lnTo>
                <a:lnTo>
                  <a:pt x="3094904" y="80752"/>
                </a:lnTo>
                <a:lnTo>
                  <a:pt x="3158066" y="77896"/>
                </a:lnTo>
                <a:lnTo>
                  <a:pt x="3221227" y="74977"/>
                </a:lnTo>
                <a:lnTo>
                  <a:pt x="3284388" y="71988"/>
                </a:lnTo>
                <a:lnTo>
                  <a:pt x="3347550" y="68929"/>
                </a:lnTo>
                <a:lnTo>
                  <a:pt x="3410711" y="65809"/>
                </a:lnTo>
                <a:lnTo>
                  <a:pt x="3473872" y="62627"/>
                </a:lnTo>
                <a:lnTo>
                  <a:pt x="3537034" y="59382"/>
                </a:lnTo>
                <a:lnTo>
                  <a:pt x="3600195" y="56081"/>
                </a:lnTo>
                <a:lnTo>
                  <a:pt x="3663356" y="52716"/>
                </a:lnTo>
                <a:lnTo>
                  <a:pt x="3726518" y="49305"/>
                </a:lnTo>
                <a:lnTo>
                  <a:pt x="3789679" y="45837"/>
                </a:lnTo>
                <a:lnTo>
                  <a:pt x="3852840" y="42317"/>
                </a:lnTo>
                <a:lnTo>
                  <a:pt x="3916002" y="38744"/>
                </a:lnTo>
                <a:lnTo>
                  <a:pt x="3979163" y="35120"/>
                </a:lnTo>
                <a:lnTo>
                  <a:pt x="4042324" y="31437"/>
                </a:lnTo>
                <a:lnTo>
                  <a:pt x="4105486" y="27713"/>
                </a:lnTo>
                <a:lnTo>
                  <a:pt x="4168647" y="23930"/>
                </a:lnTo>
                <a:lnTo>
                  <a:pt x="4231808" y="20089"/>
                </a:lnTo>
                <a:lnTo>
                  <a:pt x="4294970" y="16194"/>
                </a:lnTo>
                <a:lnTo>
                  <a:pt x="4358131" y="12235"/>
                </a:lnTo>
                <a:lnTo>
                  <a:pt x="4421292" y="8222"/>
                </a:lnTo>
                <a:lnTo>
                  <a:pt x="4484454" y="4138"/>
                </a:lnTo>
                <a:lnTo>
                  <a:pt x="4547615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bfa: точка 4"/>
          <p:cNvSpPr/>
          <p:nvPr/>
        </p:nvSpPr>
        <p:spPr>
          <a:xfrm>
            <a:off x="874688" y="492331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bfa: точка 5"/>
          <p:cNvSpPr/>
          <p:nvPr/>
        </p:nvSpPr>
        <p:spPr>
          <a:xfrm>
            <a:off x="1632623" y="4915498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bfa: точка 6"/>
          <p:cNvSpPr/>
          <p:nvPr/>
        </p:nvSpPr>
        <p:spPr>
          <a:xfrm>
            <a:off x="2390559" y="4913159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bfa: точка 7"/>
          <p:cNvSpPr/>
          <p:nvPr/>
        </p:nvSpPr>
        <p:spPr>
          <a:xfrm>
            <a:off x="3148495" y="4895142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bfa: точка 8"/>
          <p:cNvSpPr/>
          <p:nvPr/>
        </p:nvSpPr>
        <p:spPr>
          <a:xfrm>
            <a:off x="3906431" y="4867353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bfa: точка 9"/>
          <p:cNvSpPr/>
          <p:nvPr/>
        </p:nvSpPr>
        <p:spPr>
          <a:xfrm>
            <a:off x="4664367" y="482966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bfa: точка 10"/>
          <p:cNvSpPr/>
          <p:nvPr/>
        </p:nvSpPr>
        <p:spPr>
          <a:xfrm>
            <a:off x="5422303" y="478382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8640" y="3937037"/>
            <a:ext cx="7498079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ИМТ для возраста, кг/м²</a:t>
            </a:r>
          </a:p>
        </p:txBody>
      </p:sp>
      <p:sp>
        <p:nvSpPr>
          <p:cNvPr id="133" name="Легенда"/>
          <p:cNvSpPr/>
          <p:nvPr/>
        </p:nvSpPr>
        <p:spPr>
          <a:xfrm>
            <a:off x="548640" y="5550408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Легенда"/>
          <p:cNvSpPr txBox="1"/>
          <p:nvPr/>
        </p:nvSpPr>
        <p:spPr>
          <a:xfrm>
            <a:off x="89611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135" name="Легенда"/>
          <p:cNvSpPr/>
          <p:nvPr/>
        </p:nvSpPr>
        <p:spPr>
          <a:xfrm>
            <a:off x="2560320" y="5550408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Легенда"/>
          <p:cNvSpPr txBox="1"/>
          <p:nvPr/>
        </p:nvSpPr>
        <p:spPr>
          <a:xfrm>
            <a:off x="290779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ИМТ</a:t>
            </a:r>
          </a:p>
        </p:txBody>
      </p:sp>
      <p:sp>
        <p:nvSpPr>
          <p:cNvPr id="137" name="Легенда"/>
          <p:cNvSpPr/>
          <p:nvPr/>
        </p:nvSpPr>
        <p:spPr>
          <a:xfrm>
            <a:off x="4572000" y="5550408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Легенда"/>
          <p:cNvSpPr txBox="1"/>
          <p:nvPr/>
        </p:nvSpPr>
        <p:spPr>
          <a:xfrm>
            <a:off x="491947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ВОЗ: 3–⁠97-й центиль</a:t>
            </a:r>
          </a:p>
        </p:txBody>
      </p:sp>
      <p:sp>
        <p:nvSpPr>
          <p:cNvPr id="139" name="Текст"/>
          <p:cNvSpPr txBox="1"/>
          <p:nvPr/>
        </p:nvSpPr>
        <p:spPr>
          <a:xfrm>
            <a:off x="8412479" y="1783080"/>
            <a:ext cx="3230576" cy="397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Тяжёлый первичный гипотиреоз: итоговый рост около 2 СО ниже нормы и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в СО ниже, чем был до болезни: лечение потерю не вернуло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Связь с длительностью болезни до лечения: уровень значимости менее 0,01</a:t>
            </a:r>
          </a:p>
        </p:txBody>
      </p:sp>
      <p:sp>
        <p:nvSpPr>
          <p:cNvPr id="14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Догоняющий рост тем полнее, чем раньше начато лечение и чем дальше до пубертата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655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547207"/>
                <a:gridCol w="5547207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Приобретённый первичный гипотиреоз: 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1–⁠3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4–⁠6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3–⁠10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3–⁠5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10–⁠16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2–⁠4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438144"/>
            <a:ext cx="11094415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гипотиреоз: малая стартовая доза, повышение за несколько недель (совет авторов обзора 2026 года)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Серия из 4 детей: скачок роста есть и после многолетнего гипотиреоза, но потеря осталась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Начало лечения незадолго до пубертата или в нём: догоняющий рост может быть неполным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Boersma B et al. Eur J Pediatr 1996;155:362–⁠7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У ребёнка с давним гипотиреозом кость на лечении созревает быстрее, чем идёт рост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Первые 18 мес лечения костный возраст обгонял рост, и до пубертата, и в нём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Аналог ГнРГ (гонадотропин-рилизинг-гормона) к левотироксину: польза для итогового роста не доказана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Малую стартовую дозу советуют ради безопасности, о росте данных нет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Teng L et al. J Pediatr Endocrinol Metab 2004;17:345–⁠54; Salerno M et al. Front Endocrinol (Lausanne) 2026;16:1744280; Minamitani K et al. Arch Dis Child 1994;70:429–⁠30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Идиопатический субклинический гипотиреоз рост не замедляет, при отставании ищут другую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Идиопатический: причина повышения ТТГ (тиреотропного гормона) не найдена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36 детей, ТТГ 4,5–⁠10 мЕд/л, в среднем 3,3 года без лечения: рост не ухудшился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92 ребёнка, 2 года наблюдения: рост и ИМТ (индекс массы тела) не изменились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нормализовался у 38 из 92, у 11 превысил 10 мЕд/л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111 детей, не только идиопатических: рост без лечения не ухудшился; лечение понадобилось 8,6 % идиопатических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Cerbone M et al. Eur J Endocrinol 2011;164:591–⁠7; Wasniewska M et al. Eur J Endocrinol 2009;160:417–⁠21; Zengin NŞ et al. J Clin Res Pediatr Endocrinol 2026;18:498–⁠507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центральном гипотиреозе ТТГ бывает нормальным, диагноз ставят по св. Т4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Диагноз: низкий св. Т4 (свободный тироксин) при низком или нормальном ТТГ, в двух анализах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Болезнь гипоталамуса или гипофиза: падение св. Т4 больше 20 % от исходного подкрепляет диагноз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Приобретённый: из объёмных образований у детей чаще краниофарингиома, обычно страдают и другие оси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левотироксина исключить надпочечниковую недостаточность; если не удаётся, сначала глюкокортикоиды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Цель: св. Т4 в верхней половине возрастной нормы, кровь до утренней таблетки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 Connect 2019;8:R44–R54; van Trotsenburg P et al. Thyroid 2021;31:387–⁠419; Boelen A et al. Handb Clin Neurol 2021;180:161–⁠169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начала лечения СТГ св. Т4 снижается, и части детей нужен левотироксин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15 детей: Т4 и индекс св. Т4 снизились за месяц, вернулись за 3–⁠12 мес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75 детей: св. Т4 снизился за 3–⁠6 мес, левотироксин понадобился 17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этих 17 детей прибавка скорости роста на СТГ была меньше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или половые стероиды могут выявить скрытый центральный гипотиреоз или повысить потребность в левотироксине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Центральный гипотиреоз бывает частью дефицита нескольких гормонов гипофиза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Wyatt DT et al. J Clin Endocrinol Metab 1998;83:3493–⁠7; Smyczyńska J et al. Thyroid Res 2010;3:2; Persani L et al. Endocr Connect 2019;8:R44–R54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 раннем и достаточном лечении врождённого гипотиреоза итоговый рост не страдает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40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270756"/>
                <a:gridCol w="4823658"/>
              </a:tblGrid>
              <a:tr h="69951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Врождённый гипотиреоз, св. Т4 до лечения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Тяжёлый: меньше 5 пмоль/л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10–⁠15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Лёгкий: больше 10 пмоль/л при повышенном ТТГ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около 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пределах возрастной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возможно 5–⁠10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23894"/>
            <a:ext cx="11094415" cy="2036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Левотироксин начинают как можно раньше, не позднее 2 недель жизни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При несиндромальной форме итоговый рост в норме, у большинства выше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172 ребёнка: в 2 года рост нормальный, но ниже целевого при любой стартовой дозе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van Trotsenburg P et al. Thyroid 2021;31:387–⁠419 (Endo-ERN, одобрено ESPE и ESE); Niuro L et al. Horm Res Paediatr 2023;96:376–⁠84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Ребёнок с ожирением выше сверстников, а ребёнок с гиперкортицизмом ниже</a:t>
            </a:r>
          </a:p>
        </p:txBody>
      </p:sp>
      <p:sp>
        <p:nvSpPr>
          <p:cNvPr id="3" name="hfa: сетка 95"/>
          <p:cNvSpPr/>
          <p:nvPr/>
        </p:nvSpPr>
        <p:spPr>
          <a:xfrm>
            <a:off x="932688" y="3159069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fa: сетка 100"/>
          <p:cNvSpPr/>
          <p:nvPr/>
        </p:nvSpPr>
        <p:spPr>
          <a:xfrm>
            <a:off x="932688" y="3067336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8733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100</a:t>
            </a:r>
          </a:p>
        </p:txBody>
      </p:sp>
      <p:sp>
        <p:nvSpPr>
          <p:cNvPr id="6" name="hfa: сетка 105"/>
          <p:cNvSpPr/>
          <p:nvPr/>
        </p:nvSpPr>
        <p:spPr>
          <a:xfrm>
            <a:off x="932688" y="2975603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fa: сетка 110"/>
          <p:cNvSpPr/>
          <p:nvPr/>
        </p:nvSpPr>
        <p:spPr>
          <a:xfrm>
            <a:off x="932688" y="2883871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0387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110</a:t>
            </a:r>
          </a:p>
        </p:txBody>
      </p:sp>
      <p:sp>
        <p:nvSpPr>
          <p:cNvPr id="9" name="hfa: сетка 115"/>
          <p:cNvSpPr/>
          <p:nvPr/>
        </p:nvSpPr>
        <p:spPr>
          <a:xfrm>
            <a:off x="932688" y="2792138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fa: сетка 120"/>
          <p:cNvSpPr/>
          <p:nvPr/>
        </p:nvSpPr>
        <p:spPr>
          <a:xfrm>
            <a:off x="932688" y="2700406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2040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120</a:t>
            </a:r>
          </a:p>
        </p:txBody>
      </p:sp>
      <p:sp>
        <p:nvSpPr>
          <p:cNvPr id="12" name="hfa: сетка 125"/>
          <p:cNvSpPr/>
          <p:nvPr/>
        </p:nvSpPr>
        <p:spPr>
          <a:xfrm>
            <a:off x="932688" y="2608673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fa: сетка 130"/>
          <p:cNvSpPr/>
          <p:nvPr/>
        </p:nvSpPr>
        <p:spPr>
          <a:xfrm>
            <a:off x="932688" y="2516940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3694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130</a:t>
            </a:r>
          </a:p>
        </p:txBody>
      </p:sp>
      <p:sp>
        <p:nvSpPr>
          <p:cNvPr id="15" name="hfa: сетка 135"/>
          <p:cNvSpPr/>
          <p:nvPr/>
        </p:nvSpPr>
        <p:spPr>
          <a:xfrm>
            <a:off x="932688" y="2425208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fa: сетка 140"/>
          <p:cNvSpPr/>
          <p:nvPr/>
        </p:nvSpPr>
        <p:spPr>
          <a:xfrm>
            <a:off x="932688" y="2333475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5347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140</a:t>
            </a:r>
          </a:p>
        </p:txBody>
      </p:sp>
      <p:sp>
        <p:nvSpPr>
          <p:cNvPr id="18" name="hfa: сетка 145"/>
          <p:cNvSpPr/>
          <p:nvPr/>
        </p:nvSpPr>
        <p:spPr>
          <a:xfrm>
            <a:off x="932688" y="2241743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fa: сетка 150"/>
          <p:cNvSpPr/>
          <p:nvPr/>
        </p:nvSpPr>
        <p:spPr>
          <a:xfrm>
            <a:off x="932688" y="2150010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07001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150</a:t>
            </a:r>
          </a:p>
        </p:txBody>
      </p:sp>
      <p:sp>
        <p:nvSpPr>
          <p:cNvPr id="21" name="hfa: сетка 155"/>
          <p:cNvSpPr/>
          <p:nvPr/>
        </p:nvSpPr>
        <p:spPr>
          <a:xfrm>
            <a:off x="932688" y="2058277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fa: сетка 160"/>
          <p:cNvSpPr/>
          <p:nvPr/>
        </p:nvSpPr>
        <p:spPr>
          <a:xfrm>
            <a:off x="932688" y="1966545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188654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160</a:t>
            </a:r>
          </a:p>
        </p:txBody>
      </p:sp>
      <p:sp>
        <p:nvSpPr>
          <p:cNvPr id="24" name="hfa: сетка 165"/>
          <p:cNvSpPr/>
          <p:nvPr/>
        </p:nvSpPr>
        <p:spPr>
          <a:xfrm>
            <a:off x="932688" y="1874812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fa: сетка 170"/>
          <p:cNvSpPr/>
          <p:nvPr/>
        </p:nvSpPr>
        <p:spPr>
          <a:xfrm>
            <a:off x="932688" y="1783080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170308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170</a:t>
            </a:r>
          </a:p>
        </p:txBody>
      </p:sp>
      <p:sp>
        <p:nvSpPr>
          <p:cNvPr id="27" name="hfa: год 5"/>
          <p:cNvSpPr/>
          <p:nvPr/>
        </p:nvSpPr>
        <p:spPr>
          <a:xfrm>
            <a:off x="932688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688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29" name="hfa: год 6"/>
          <p:cNvSpPr/>
          <p:nvPr/>
        </p:nvSpPr>
        <p:spPr>
          <a:xfrm>
            <a:off x="1595823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45823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1" name="hfa: год 7"/>
          <p:cNvSpPr/>
          <p:nvPr/>
        </p:nvSpPr>
        <p:spPr>
          <a:xfrm>
            <a:off x="2258959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08959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3" name="hfa: год 8"/>
          <p:cNvSpPr/>
          <p:nvPr/>
        </p:nvSpPr>
        <p:spPr>
          <a:xfrm>
            <a:off x="2922095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72095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35" name="hfa: год 9"/>
          <p:cNvSpPr/>
          <p:nvPr/>
        </p:nvSpPr>
        <p:spPr>
          <a:xfrm>
            <a:off x="3585231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5231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37" name="hfa: год 10"/>
          <p:cNvSpPr/>
          <p:nvPr/>
        </p:nvSpPr>
        <p:spPr>
          <a:xfrm>
            <a:off x="4248367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98367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39" name="hfa: год 11"/>
          <p:cNvSpPr/>
          <p:nvPr/>
        </p:nvSpPr>
        <p:spPr>
          <a:xfrm>
            <a:off x="4911503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61503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1" name="hfa: год 12"/>
          <p:cNvSpPr/>
          <p:nvPr/>
        </p:nvSpPr>
        <p:spPr>
          <a:xfrm>
            <a:off x="5574639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24639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3" name="hfa: ось"/>
          <p:cNvSpPr/>
          <p:nvPr/>
        </p:nvSpPr>
        <p:spPr>
          <a:xfrm>
            <a:off x="932688" y="3159069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fa: полоса 3–97"/>
          <p:cNvSpPr/>
          <p:nvPr/>
        </p:nvSpPr>
        <p:spPr>
          <a:xfrm>
            <a:off x="932688" y="1922346"/>
            <a:ext cx="4641951" cy="1123915"/>
          </a:xfrm>
          <a:custGeom>
            <a:avLst/>
            <a:gdLst/>
            <a:ahLst/>
            <a:cxnLst/>
            <a:rect l="l" t="t" r="r" b="b"/>
            <a:pathLst>
              <a:path w="4641951" h="1123915">
                <a:moveTo>
                  <a:pt x="0" y="809170"/>
                </a:moveTo>
                <a:lnTo>
                  <a:pt x="58024" y="797674"/>
                </a:lnTo>
                <a:lnTo>
                  <a:pt x="116048" y="786226"/>
                </a:lnTo>
                <a:lnTo>
                  <a:pt x="174073" y="774841"/>
                </a:lnTo>
                <a:lnTo>
                  <a:pt x="232097" y="763556"/>
                </a:lnTo>
                <a:lnTo>
                  <a:pt x="290121" y="752323"/>
                </a:lnTo>
                <a:lnTo>
                  <a:pt x="348146" y="741182"/>
                </a:lnTo>
                <a:lnTo>
                  <a:pt x="406170" y="730147"/>
                </a:lnTo>
                <a:lnTo>
                  <a:pt x="464195" y="719208"/>
                </a:lnTo>
                <a:lnTo>
                  <a:pt x="522219" y="708330"/>
                </a:lnTo>
                <a:lnTo>
                  <a:pt x="580243" y="697565"/>
                </a:lnTo>
                <a:lnTo>
                  <a:pt x="638268" y="686891"/>
                </a:lnTo>
                <a:lnTo>
                  <a:pt x="696292" y="676280"/>
                </a:lnTo>
                <a:lnTo>
                  <a:pt x="754317" y="665764"/>
                </a:lnTo>
                <a:lnTo>
                  <a:pt x="812341" y="655288"/>
                </a:lnTo>
                <a:lnTo>
                  <a:pt x="870365" y="644840"/>
                </a:lnTo>
                <a:lnTo>
                  <a:pt x="928390" y="634461"/>
                </a:lnTo>
                <a:lnTo>
                  <a:pt x="986414" y="624085"/>
                </a:lnTo>
                <a:lnTo>
                  <a:pt x="1044439" y="613726"/>
                </a:lnTo>
                <a:lnTo>
                  <a:pt x="1102463" y="603391"/>
                </a:lnTo>
                <a:lnTo>
                  <a:pt x="1160487" y="593124"/>
                </a:lnTo>
                <a:lnTo>
                  <a:pt x="1218512" y="582844"/>
                </a:lnTo>
                <a:lnTo>
                  <a:pt x="1276536" y="572599"/>
                </a:lnTo>
                <a:lnTo>
                  <a:pt x="1334561" y="562389"/>
                </a:lnTo>
                <a:lnTo>
                  <a:pt x="1392585" y="552216"/>
                </a:lnTo>
                <a:lnTo>
                  <a:pt x="1450609" y="542080"/>
                </a:lnTo>
                <a:lnTo>
                  <a:pt x="1508634" y="531980"/>
                </a:lnTo>
                <a:lnTo>
                  <a:pt x="1566658" y="521913"/>
                </a:lnTo>
                <a:lnTo>
                  <a:pt x="1624683" y="511886"/>
                </a:lnTo>
                <a:lnTo>
                  <a:pt x="1682707" y="501899"/>
                </a:lnTo>
                <a:lnTo>
                  <a:pt x="1740731" y="491958"/>
                </a:lnTo>
                <a:lnTo>
                  <a:pt x="1798756" y="482062"/>
                </a:lnTo>
                <a:lnTo>
                  <a:pt x="1856780" y="472213"/>
                </a:lnTo>
                <a:lnTo>
                  <a:pt x="1914804" y="462407"/>
                </a:lnTo>
                <a:lnTo>
                  <a:pt x="1972829" y="452644"/>
                </a:lnTo>
                <a:lnTo>
                  <a:pt x="2030853" y="442918"/>
                </a:lnTo>
                <a:lnTo>
                  <a:pt x="2088878" y="433226"/>
                </a:lnTo>
                <a:lnTo>
                  <a:pt x="2146902" y="423569"/>
                </a:lnTo>
                <a:lnTo>
                  <a:pt x="2204926" y="413937"/>
                </a:lnTo>
                <a:lnTo>
                  <a:pt x="2262951" y="404327"/>
                </a:lnTo>
                <a:lnTo>
                  <a:pt x="2320975" y="394688"/>
                </a:lnTo>
                <a:lnTo>
                  <a:pt x="2379000" y="385109"/>
                </a:lnTo>
                <a:lnTo>
                  <a:pt x="2437024" y="375542"/>
                </a:lnTo>
                <a:lnTo>
                  <a:pt x="2495048" y="365985"/>
                </a:lnTo>
                <a:lnTo>
                  <a:pt x="2553073" y="356432"/>
                </a:lnTo>
                <a:lnTo>
                  <a:pt x="2611097" y="346884"/>
                </a:lnTo>
                <a:lnTo>
                  <a:pt x="2669122" y="337339"/>
                </a:lnTo>
                <a:lnTo>
                  <a:pt x="2727146" y="327802"/>
                </a:lnTo>
                <a:lnTo>
                  <a:pt x="2785170" y="318275"/>
                </a:lnTo>
                <a:lnTo>
                  <a:pt x="2843195" y="308782"/>
                </a:lnTo>
                <a:lnTo>
                  <a:pt x="2901219" y="299305"/>
                </a:lnTo>
                <a:lnTo>
                  <a:pt x="2959244" y="289815"/>
                </a:lnTo>
                <a:lnTo>
                  <a:pt x="3017268" y="280365"/>
                </a:lnTo>
                <a:lnTo>
                  <a:pt x="3075292" y="270918"/>
                </a:lnTo>
                <a:lnTo>
                  <a:pt x="3133317" y="261495"/>
                </a:lnTo>
                <a:lnTo>
                  <a:pt x="3191341" y="252059"/>
                </a:lnTo>
                <a:lnTo>
                  <a:pt x="3249366" y="242652"/>
                </a:lnTo>
                <a:lnTo>
                  <a:pt x="3307390" y="233256"/>
                </a:lnTo>
                <a:lnTo>
                  <a:pt x="3365414" y="223852"/>
                </a:lnTo>
                <a:lnTo>
                  <a:pt x="3423439" y="214428"/>
                </a:lnTo>
                <a:lnTo>
                  <a:pt x="3481463" y="204975"/>
                </a:lnTo>
                <a:lnTo>
                  <a:pt x="3539488" y="195484"/>
                </a:lnTo>
                <a:lnTo>
                  <a:pt x="3597512" y="185948"/>
                </a:lnTo>
                <a:lnTo>
                  <a:pt x="3655536" y="176390"/>
                </a:lnTo>
                <a:lnTo>
                  <a:pt x="3713561" y="166727"/>
                </a:lnTo>
                <a:lnTo>
                  <a:pt x="3771585" y="157029"/>
                </a:lnTo>
                <a:lnTo>
                  <a:pt x="3829609" y="147246"/>
                </a:lnTo>
                <a:lnTo>
                  <a:pt x="3887634" y="137377"/>
                </a:lnTo>
                <a:lnTo>
                  <a:pt x="3945658" y="127442"/>
                </a:lnTo>
                <a:lnTo>
                  <a:pt x="4003683" y="117423"/>
                </a:lnTo>
                <a:lnTo>
                  <a:pt x="4061707" y="107298"/>
                </a:lnTo>
                <a:lnTo>
                  <a:pt x="4119731" y="97093"/>
                </a:lnTo>
                <a:lnTo>
                  <a:pt x="4177756" y="86805"/>
                </a:lnTo>
                <a:lnTo>
                  <a:pt x="4235780" y="76388"/>
                </a:lnTo>
                <a:lnTo>
                  <a:pt x="4293805" y="65863"/>
                </a:lnTo>
                <a:lnTo>
                  <a:pt x="4351829" y="55225"/>
                </a:lnTo>
                <a:lnTo>
                  <a:pt x="4409853" y="44450"/>
                </a:lnTo>
                <a:lnTo>
                  <a:pt x="4467878" y="33533"/>
                </a:lnTo>
                <a:lnTo>
                  <a:pt x="4525902" y="22510"/>
                </a:lnTo>
                <a:lnTo>
                  <a:pt x="4583927" y="11338"/>
                </a:lnTo>
                <a:lnTo>
                  <a:pt x="4641951" y="0"/>
                </a:lnTo>
                <a:lnTo>
                  <a:pt x="4641951" y="489060"/>
                </a:lnTo>
                <a:lnTo>
                  <a:pt x="4583927" y="498240"/>
                </a:lnTo>
                <a:lnTo>
                  <a:pt x="4525902" y="507284"/>
                </a:lnTo>
                <a:lnTo>
                  <a:pt x="4467878" y="516192"/>
                </a:lnTo>
                <a:lnTo>
                  <a:pt x="4409853" y="524930"/>
                </a:lnTo>
                <a:lnTo>
                  <a:pt x="4351829" y="533551"/>
                </a:lnTo>
                <a:lnTo>
                  <a:pt x="4293805" y="542061"/>
                </a:lnTo>
                <a:lnTo>
                  <a:pt x="4235780" y="550447"/>
                </a:lnTo>
                <a:lnTo>
                  <a:pt x="4177756" y="558717"/>
                </a:lnTo>
                <a:lnTo>
                  <a:pt x="4119731" y="566902"/>
                </a:lnTo>
                <a:lnTo>
                  <a:pt x="4061707" y="574965"/>
                </a:lnTo>
                <a:lnTo>
                  <a:pt x="4003683" y="582915"/>
                </a:lnTo>
                <a:lnTo>
                  <a:pt x="3945658" y="590788"/>
                </a:lnTo>
                <a:lnTo>
                  <a:pt x="3887634" y="598576"/>
                </a:lnTo>
                <a:lnTo>
                  <a:pt x="3829609" y="606277"/>
                </a:lnTo>
                <a:lnTo>
                  <a:pt x="3771585" y="613910"/>
                </a:lnTo>
                <a:lnTo>
                  <a:pt x="3713561" y="621475"/>
                </a:lnTo>
                <a:lnTo>
                  <a:pt x="3655536" y="628939"/>
                </a:lnTo>
                <a:lnTo>
                  <a:pt x="3597512" y="636381"/>
                </a:lnTo>
                <a:lnTo>
                  <a:pt x="3539488" y="643737"/>
                </a:lnTo>
                <a:lnTo>
                  <a:pt x="3481463" y="651051"/>
                </a:lnTo>
                <a:lnTo>
                  <a:pt x="3423439" y="658337"/>
                </a:lnTo>
                <a:lnTo>
                  <a:pt x="3365414" y="665604"/>
                </a:lnTo>
                <a:lnTo>
                  <a:pt x="3307390" y="672858"/>
                </a:lnTo>
                <a:lnTo>
                  <a:pt x="3249366" y="680109"/>
                </a:lnTo>
                <a:lnTo>
                  <a:pt x="3191341" y="687353"/>
                </a:lnTo>
                <a:lnTo>
                  <a:pt x="3133317" y="694581"/>
                </a:lnTo>
                <a:lnTo>
                  <a:pt x="3075292" y="701839"/>
                </a:lnTo>
                <a:lnTo>
                  <a:pt x="3017268" y="709094"/>
                </a:lnTo>
                <a:lnTo>
                  <a:pt x="2959244" y="716374"/>
                </a:lnTo>
                <a:lnTo>
                  <a:pt x="2901219" y="723641"/>
                </a:lnTo>
                <a:lnTo>
                  <a:pt x="2843195" y="730949"/>
                </a:lnTo>
                <a:lnTo>
                  <a:pt x="2785170" y="738266"/>
                </a:lnTo>
                <a:lnTo>
                  <a:pt x="2727146" y="745578"/>
                </a:lnTo>
                <a:lnTo>
                  <a:pt x="2669122" y="752904"/>
                </a:lnTo>
                <a:lnTo>
                  <a:pt x="2611097" y="760242"/>
                </a:lnTo>
                <a:lnTo>
                  <a:pt x="2553073" y="767586"/>
                </a:lnTo>
                <a:lnTo>
                  <a:pt x="2495048" y="774940"/>
                </a:lnTo>
                <a:lnTo>
                  <a:pt x="2437024" y="782303"/>
                </a:lnTo>
                <a:lnTo>
                  <a:pt x="2379000" y="789678"/>
                </a:lnTo>
                <a:lnTo>
                  <a:pt x="2320975" y="797069"/>
                </a:lnTo>
                <a:lnTo>
                  <a:pt x="2262951" y="804434"/>
                </a:lnTo>
                <a:lnTo>
                  <a:pt x="2204926" y="811861"/>
                </a:lnTo>
                <a:lnTo>
                  <a:pt x="2146902" y="819311"/>
                </a:lnTo>
                <a:lnTo>
                  <a:pt x="2088878" y="826788"/>
                </a:lnTo>
                <a:lnTo>
                  <a:pt x="2030853" y="834299"/>
                </a:lnTo>
                <a:lnTo>
                  <a:pt x="1972829" y="841845"/>
                </a:lnTo>
                <a:lnTo>
                  <a:pt x="1914804" y="849427"/>
                </a:lnTo>
                <a:lnTo>
                  <a:pt x="1856780" y="857049"/>
                </a:lnTo>
                <a:lnTo>
                  <a:pt x="1798756" y="864714"/>
                </a:lnTo>
                <a:lnTo>
                  <a:pt x="1740731" y="872423"/>
                </a:lnTo>
                <a:lnTo>
                  <a:pt x="1682707" y="880176"/>
                </a:lnTo>
                <a:lnTo>
                  <a:pt x="1624683" y="887973"/>
                </a:lnTo>
                <a:lnTo>
                  <a:pt x="1566658" y="895809"/>
                </a:lnTo>
                <a:lnTo>
                  <a:pt x="1508634" y="903684"/>
                </a:lnTo>
                <a:lnTo>
                  <a:pt x="1450609" y="911593"/>
                </a:lnTo>
                <a:lnTo>
                  <a:pt x="1392585" y="919537"/>
                </a:lnTo>
                <a:lnTo>
                  <a:pt x="1334561" y="927517"/>
                </a:lnTo>
                <a:lnTo>
                  <a:pt x="1276536" y="935535"/>
                </a:lnTo>
                <a:lnTo>
                  <a:pt x="1218512" y="943588"/>
                </a:lnTo>
                <a:lnTo>
                  <a:pt x="1160487" y="951675"/>
                </a:lnTo>
                <a:lnTo>
                  <a:pt x="1102463" y="959834"/>
                </a:lnTo>
                <a:lnTo>
                  <a:pt x="1044439" y="967979"/>
                </a:lnTo>
                <a:lnTo>
                  <a:pt x="986414" y="976150"/>
                </a:lnTo>
                <a:lnTo>
                  <a:pt x="928390" y="984355"/>
                </a:lnTo>
                <a:lnTo>
                  <a:pt x="870365" y="992614"/>
                </a:lnTo>
                <a:lnTo>
                  <a:pt x="812341" y="1000876"/>
                </a:lnTo>
                <a:lnTo>
                  <a:pt x="754317" y="1009195"/>
                </a:lnTo>
                <a:lnTo>
                  <a:pt x="696292" y="1017574"/>
                </a:lnTo>
                <a:lnTo>
                  <a:pt x="638268" y="1025992"/>
                </a:lnTo>
                <a:lnTo>
                  <a:pt x="580243" y="1034505"/>
                </a:lnTo>
                <a:lnTo>
                  <a:pt x="522219" y="1043102"/>
                </a:lnTo>
                <a:lnTo>
                  <a:pt x="464195" y="1051763"/>
                </a:lnTo>
                <a:lnTo>
                  <a:pt x="406170" y="1060530"/>
                </a:lnTo>
                <a:lnTo>
                  <a:pt x="348146" y="1069363"/>
                </a:lnTo>
                <a:lnTo>
                  <a:pt x="290121" y="1078265"/>
                </a:lnTo>
                <a:lnTo>
                  <a:pt x="232097" y="1087253"/>
                </a:lnTo>
                <a:lnTo>
                  <a:pt x="174073" y="1096351"/>
                </a:lnTo>
                <a:lnTo>
                  <a:pt x="116048" y="1105491"/>
                </a:lnTo>
                <a:lnTo>
                  <a:pt x="58024" y="1114680"/>
                </a:lnTo>
                <a:lnTo>
                  <a:pt x="0" y="1123915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fa: 97-й центиль"/>
          <p:cNvSpPr/>
          <p:nvPr/>
        </p:nvSpPr>
        <p:spPr>
          <a:xfrm>
            <a:off x="932688" y="1922346"/>
            <a:ext cx="4641951" cy="809170"/>
          </a:xfrm>
          <a:custGeom>
            <a:avLst/>
            <a:gdLst/>
            <a:ahLst/>
            <a:cxnLst/>
            <a:rect l="l" t="t" r="r" b="b"/>
            <a:pathLst>
              <a:path w="4641951" h="809170">
                <a:moveTo>
                  <a:pt x="0" y="809170"/>
                </a:moveTo>
                <a:lnTo>
                  <a:pt x="58024" y="797674"/>
                </a:lnTo>
                <a:lnTo>
                  <a:pt x="116048" y="786226"/>
                </a:lnTo>
                <a:lnTo>
                  <a:pt x="174073" y="774841"/>
                </a:lnTo>
                <a:lnTo>
                  <a:pt x="232097" y="763556"/>
                </a:lnTo>
                <a:lnTo>
                  <a:pt x="290121" y="752323"/>
                </a:lnTo>
                <a:lnTo>
                  <a:pt x="348146" y="741182"/>
                </a:lnTo>
                <a:lnTo>
                  <a:pt x="406170" y="730147"/>
                </a:lnTo>
                <a:lnTo>
                  <a:pt x="464195" y="719208"/>
                </a:lnTo>
                <a:lnTo>
                  <a:pt x="522219" y="708330"/>
                </a:lnTo>
                <a:lnTo>
                  <a:pt x="580243" y="697565"/>
                </a:lnTo>
                <a:lnTo>
                  <a:pt x="638268" y="686891"/>
                </a:lnTo>
                <a:lnTo>
                  <a:pt x="696292" y="676280"/>
                </a:lnTo>
                <a:lnTo>
                  <a:pt x="754317" y="665764"/>
                </a:lnTo>
                <a:lnTo>
                  <a:pt x="812341" y="655288"/>
                </a:lnTo>
                <a:lnTo>
                  <a:pt x="870365" y="644840"/>
                </a:lnTo>
                <a:lnTo>
                  <a:pt x="928390" y="634461"/>
                </a:lnTo>
                <a:lnTo>
                  <a:pt x="986414" y="624085"/>
                </a:lnTo>
                <a:lnTo>
                  <a:pt x="1044439" y="613726"/>
                </a:lnTo>
                <a:lnTo>
                  <a:pt x="1102463" y="603391"/>
                </a:lnTo>
                <a:lnTo>
                  <a:pt x="1160487" y="593124"/>
                </a:lnTo>
                <a:lnTo>
                  <a:pt x="1218512" y="582844"/>
                </a:lnTo>
                <a:lnTo>
                  <a:pt x="1276536" y="572599"/>
                </a:lnTo>
                <a:lnTo>
                  <a:pt x="1334561" y="562389"/>
                </a:lnTo>
                <a:lnTo>
                  <a:pt x="1392585" y="552216"/>
                </a:lnTo>
                <a:lnTo>
                  <a:pt x="1450609" y="542080"/>
                </a:lnTo>
                <a:lnTo>
                  <a:pt x="1508634" y="531980"/>
                </a:lnTo>
                <a:lnTo>
                  <a:pt x="1566658" y="521913"/>
                </a:lnTo>
                <a:lnTo>
                  <a:pt x="1624683" y="511886"/>
                </a:lnTo>
                <a:lnTo>
                  <a:pt x="1682707" y="501899"/>
                </a:lnTo>
                <a:lnTo>
                  <a:pt x="1740731" y="491958"/>
                </a:lnTo>
                <a:lnTo>
                  <a:pt x="1798756" y="482062"/>
                </a:lnTo>
                <a:lnTo>
                  <a:pt x="1856780" y="472213"/>
                </a:lnTo>
                <a:lnTo>
                  <a:pt x="1914804" y="462407"/>
                </a:lnTo>
                <a:lnTo>
                  <a:pt x="1972829" y="452644"/>
                </a:lnTo>
                <a:lnTo>
                  <a:pt x="2030853" y="442918"/>
                </a:lnTo>
                <a:lnTo>
                  <a:pt x="2088878" y="433226"/>
                </a:lnTo>
                <a:lnTo>
                  <a:pt x="2146902" y="423569"/>
                </a:lnTo>
                <a:lnTo>
                  <a:pt x="2204926" y="413937"/>
                </a:lnTo>
                <a:lnTo>
                  <a:pt x="2262951" y="404327"/>
                </a:lnTo>
                <a:lnTo>
                  <a:pt x="2320975" y="394688"/>
                </a:lnTo>
                <a:lnTo>
                  <a:pt x="2379000" y="385109"/>
                </a:lnTo>
                <a:lnTo>
                  <a:pt x="2437024" y="375542"/>
                </a:lnTo>
                <a:lnTo>
                  <a:pt x="2495048" y="365985"/>
                </a:lnTo>
                <a:lnTo>
                  <a:pt x="2553073" y="356432"/>
                </a:lnTo>
                <a:lnTo>
                  <a:pt x="2611097" y="346884"/>
                </a:lnTo>
                <a:lnTo>
                  <a:pt x="2669122" y="337339"/>
                </a:lnTo>
                <a:lnTo>
                  <a:pt x="2727146" y="327802"/>
                </a:lnTo>
                <a:lnTo>
                  <a:pt x="2785170" y="318275"/>
                </a:lnTo>
                <a:lnTo>
                  <a:pt x="2843195" y="308782"/>
                </a:lnTo>
                <a:lnTo>
                  <a:pt x="2901219" y="299305"/>
                </a:lnTo>
                <a:lnTo>
                  <a:pt x="2959244" y="289815"/>
                </a:lnTo>
                <a:lnTo>
                  <a:pt x="3017268" y="280365"/>
                </a:lnTo>
                <a:lnTo>
                  <a:pt x="3075292" y="270918"/>
                </a:lnTo>
                <a:lnTo>
                  <a:pt x="3133317" y="261495"/>
                </a:lnTo>
                <a:lnTo>
                  <a:pt x="3191341" y="252059"/>
                </a:lnTo>
                <a:lnTo>
                  <a:pt x="3249366" y="242652"/>
                </a:lnTo>
                <a:lnTo>
                  <a:pt x="3307390" y="233256"/>
                </a:lnTo>
                <a:lnTo>
                  <a:pt x="3365414" y="223852"/>
                </a:lnTo>
                <a:lnTo>
                  <a:pt x="3423439" y="214428"/>
                </a:lnTo>
                <a:lnTo>
                  <a:pt x="3481463" y="204975"/>
                </a:lnTo>
                <a:lnTo>
                  <a:pt x="3539488" y="195484"/>
                </a:lnTo>
                <a:lnTo>
                  <a:pt x="3597512" y="185948"/>
                </a:lnTo>
                <a:lnTo>
                  <a:pt x="3655536" y="176390"/>
                </a:lnTo>
                <a:lnTo>
                  <a:pt x="3713561" y="166727"/>
                </a:lnTo>
                <a:lnTo>
                  <a:pt x="3771585" y="157029"/>
                </a:lnTo>
                <a:lnTo>
                  <a:pt x="3829609" y="147246"/>
                </a:lnTo>
                <a:lnTo>
                  <a:pt x="3887634" y="137377"/>
                </a:lnTo>
                <a:lnTo>
                  <a:pt x="3945658" y="127442"/>
                </a:lnTo>
                <a:lnTo>
                  <a:pt x="4003683" y="117423"/>
                </a:lnTo>
                <a:lnTo>
                  <a:pt x="4061707" y="107298"/>
                </a:lnTo>
                <a:lnTo>
                  <a:pt x="4119731" y="97093"/>
                </a:lnTo>
                <a:lnTo>
                  <a:pt x="4177756" y="86805"/>
                </a:lnTo>
                <a:lnTo>
                  <a:pt x="4235780" y="76388"/>
                </a:lnTo>
                <a:lnTo>
                  <a:pt x="4293805" y="65863"/>
                </a:lnTo>
                <a:lnTo>
                  <a:pt x="4351829" y="55225"/>
                </a:lnTo>
                <a:lnTo>
                  <a:pt x="4409853" y="44450"/>
                </a:lnTo>
                <a:lnTo>
                  <a:pt x="4467878" y="33533"/>
                </a:lnTo>
                <a:lnTo>
                  <a:pt x="4525902" y="22510"/>
                </a:lnTo>
                <a:lnTo>
                  <a:pt x="4583927" y="11338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14639" y="184734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7" name="hfa: 85-й центиль"/>
          <p:cNvSpPr/>
          <p:nvPr/>
        </p:nvSpPr>
        <p:spPr>
          <a:xfrm>
            <a:off x="932688" y="2032196"/>
            <a:ext cx="4641951" cy="770016"/>
          </a:xfrm>
          <a:custGeom>
            <a:avLst/>
            <a:gdLst/>
            <a:ahLst/>
            <a:cxnLst/>
            <a:rect l="l" t="t" r="r" b="b"/>
            <a:pathLst>
              <a:path w="4641951" h="770016">
                <a:moveTo>
                  <a:pt x="0" y="770016"/>
                </a:moveTo>
                <a:lnTo>
                  <a:pt x="58024" y="759028"/>
                </a:lnTo>
                <a:lnTo>
                  <a:pt x="116048" y="748087"/>
                </a:lnTo>
                <a:lnTo>
                  <a:pt x="174073" y="737207"/>
                </a:lnTo>
                <a:lnTo>
                  <a:pt x="232097" y="726413"/>
                </a:lnTo>
                <a:lnTo>
                  <a:pt x="290121" y="715684"/>
                </a:lnTo>
                <a:lnTo>
                  <a:pt x="348146" y="705047"/>
                </a:lnTo>
                <a:lnTo>
                  <a:pt x="406170" y="694506"/>
                </a:lnTo>
                <a:lnTo>
                  <a:pt x="464195" y="684055"/>
                </a:lnTo>
                <a:lnTo>
                  <a:pt x="522219" y="673675"/>
                </a:lnTo>
                <a:lnTo>
                  <a:pt x="580243" y="663396"/>
                </a:lnTo>
                <a:lnTo>
                  <a:pt x="638268" y="653208"/>
                </a:lnTo>
                <a:lnTo>
                  <a:pt x="696292" y="643090"/>
                </a:lnTo>
                <a:lnTo>
                  <a:pt x="754317" y="633054"/>
                </a:lnTo>
                <a:lnTo>
                  <a:pt x="812341" y="623062"/>
                </a:lnTo>
                <a:lnTo>
                  <a:pt x="870365" y="613105"/>
                </a:lnTo>
                <a:lnTo>
                  <a:pt x="928390" y="603202"/>
                </a:lnTo>
                <a:lnTo>
                  <a:pt x="986414" y="593314"/>
                </a:lnTo>
                <a:lnTo>
                  <a:pt x="1044439" y="583446"/>
                </a:lnTo>
                <a:lnTo>
                  <a:pt x="1102463" y="573604"/>
                </a:lnTo>
                <a:lnTo>
                  <a:pt x="1160487" y="563810"/>
                </a:lnTo>
                <a:lnTo>
                  <a:pt x="1218512" y="554023"/>
                </a:lnTo>
                <a:lnTo>
                  <a:pt x="1276536" y="544270"/>
                </a:lnTo>
                <a:lnTo>
                  <a:pt x="1334561" y="534552"/>
                </a:lnTo>
                <a:lnTo>
                  <a:pt x="1392585" y="524872"/>
                </a:lnTo>
                <a:lnTo>
                  <a:pt x="1450609" y="515228"/>
                </a:lnTo>
                <a:lnTo>
                  <a:pt x="1508634" y="505620"/>
                </a:lnTo>
                <a:lnTo>
                  <a:pt x="1566658" y="496046"/>
                </a:lnTo>
                <a:lnTo>
                  <a:pt x="1624683" y="486510"/>
                </a:lnTo>
                <a:lnTo>
                  <a:pt x="1682707" y="477016"/>
                </a:lnTo>
                <a:lnTo>
                  <a:pt x="1740731" y="467566"/>
                </a:lnTo>
                <a:lnTo>
                  <a:pt x="1798756" y="458161"/>
                </a:lnTo>
                <a:lnTo>
                  <a:pt x="1856780" y="448803"/>
                </a:lnTo>
                <a:lnTo>
                  <a:pt x="1914804" y="439487"/>
                </a:lnTo>
                <a:lnTo>
                  <a:pt x="1972829" y="430214"/>
                </a:lnTo>
                <a:lnTo>
                  <a:pt x="2030853" y="420978"/>
                </a:lnTo>
                <a:lnTo>
                  <a:pt x="2088878" y="411776"/>
                </a:lnTo>
                <a:lnTo>
                  <a:pt x="2146902" y="402608"/>
                </a:lnTo>
                <a:lnTo>
                  <a:pt x="2204926" y="393467"/>
                </a:lnTo>
                <a:lnTo>
                  <a:pt x="2262951" y="384347"/>
                </a:lnTo>
                <a:lnTo>
                  <a:pt x="2320975" y="375219"/>
                </a:lnTo>
                <a:lnTo>
                  <a:pt x="2379000" y="366131"/>
                </a:lnTo>
                <a:lnTo>
                  <a:pt x="2437024" y="357056"/>
                </a:lnTo>
                <a:lnTo>
                  <a:pt x="2495048" y="347992"/>
                </a:lnTo>
                <a:lnTo>
                  <a:pt x="2553073" y="338933"/>
                </a:lnTo>
                <a:lnTo>
                  <a:pt x="2611097" y="329880"/>
                </a:lnTo>
                <a:lnTo>
                  <a:pt x="2669122" y="320831"/>
                </a:lnTo>
                <a:lnTo>
                  <a:pt x="2727146" y="311790"/>
                </a:lnTo>
                <a:lnTo>
                  <a:pt x="2785170" y="302762"/>
                </a:lnTo>
                <a:lnTo>
                  <a:pt x="2843195" y="293757"/>
                </a:lnTo>
                <a:lnTo>
                  <a:pt x="2901219" y="284767"/>
                </a:lnTo>
                <a:lnTo>
                  <a:pt x="2959244" y="275776"/>
                </a:lnTo>
                <a:lnTo>
                  <a:pt x="3017268" y="266814"/>
                </a:lnTo>
                <a:lnTo>
                  <a:pt x="3075292" y="257859"/>
                </a:lnTo>
                <a:lnTo>
                  <a:pt x="3133317" y="248922"/>
                </a:lnTo>
                <a:lnTo>
                  <a:pt x="3191341" y="239982"/>
                </a:lnTo>
                <a:lnTo>
                  <a:pt x="3249366" y="231061"/>
                </a:lnTo>
                <a:lnTo>
                  <a:pt x="3307390" y="222147"/>
                </a:lnTo>
                <a:lnTo>
                  <a:pt x="3365414" y="213226"/>
                </a:lnTo>
                <a:lnTo>
                  <a:pt x="3423439" y="204286"/>
                </a:lnTo>
                <a:lnTo>
                  <a:pt x="3481463" y="195321"/>
                </a:lnTo>
                <a:lnTo>
                  <a:pt x="3539488" y="186318"/>
                </a:lnTo>
                <a:lnTo>
                  <a:pt x="3597512" y="177272"/>
                </a:lnTo>
                <a:lnTo>
                  <a:pt x="3655536" y="168189"/>
                </a:lnTo>
                <a:lnTo>
                  <a:pt x="3713561" y="159020"/>
                </a:lnTo>
                <a:lnTo>
                  <a:pt x="3771585" y="149801"/>
                </a:lnTo>
                <a:lnTo>
                  <a:pt x="3829609" y="140501"/>
                </a:lnTo>
                <a:lnTo>
                  <a:pt x="3887634" y="131119"/>
                </a:lnTo>
                <a:lnTo>
                  <a:pt x="3945658" y="121666"/>
                </a:lnTo>
                <a:lnTo>
                  <a:pt x="4003683" y="112129"/>
                </a:lnTo>
                <a:lnTo>
                  <a:pt x="4061707" y="102493"/>
                </a:lnTo>
                <a:lnTo>
                  <a:pt x="4119731" y="92769"/>
                </a:lnTo>
                <a:lnTo>
                  <a:pt x="4177756" y="82953"/>
                </a:lnTo>
                <a:lnTo>
                  <a:pt x="4235780" y="73018"/>
                </a:lnTo>
                <a:lnTo>
                  <a:pt x="4293805" y="62974"/>
                </a:lnTo>
                <a:lnTo>
                  <a:pt x="4351829" y="52814"/>
                </a:lnTo>
                <a:lnTo>
                  <a:pt x="4409853" y="42523"/>
                </a:lnTo>
                <a:lnTo>
                  <a:pt x="4467878" y="32095"/>
                </a:lnTo>
                <a:lnTo>
                  <a:pt x="4525902" y="21547"/>
                </a:lnTo>
                <a:lnTo>
                  <a:pt x="4583927" y="10853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14639" y="195719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49" name="hfa: 50-й центиль"/>
          <p:cNvSpPr/>
          <p:nvPr/>
        </p:nvSpPr>
        <p:spPr>
          <a:xfrm>
            <a:off x="932688" y="2166876"/>
            <a:ext cx="4641951" cy="722013"/>
          </a:xfrm>
          <a:custGeom>
            <a:avLst/>
            <a:gdLst/>
            <a:ahLst/>
            <a:cxnLst/>
            <a:rect l="l" t="t" r="r" b="b"/>
            <a:pathLst>
              <a:path w="4641951" h="722013">
                <a:moveTo>
                  <a:pt x="0" y="722013"/>
                </a:moveTo>
                <a:lnTo>
                  <a:pt x="58024" y="711647"/>
                </a:lnTo>
                <a:lnTo>
                  <a:pt x="116048" y="701328"/>
                </a:lnTo>
                <a:lnTo>
                  <a:pt x="174073" y="691066"/>
                </a:lnTo>
                <a:lnTo>
                  <a:pt x="232097" y="680875"/>
                </a:lnTo>
                <a:lnTo>
                  <a:pt x="290121" y="670764"/>
                </a:lnTo>
                <a:lnTo>
                  <a:pt x="348146" y="660743"/>
                </a:lnTo>
                <a:lnTo>
                  <a:pt x="406170" y="650809"/>
                </a:lnTo>
                <a:lnTo>
                  <a:pt x="464195" y="640956"/>
                </a:lnTo>
                <a:lnTo>
                  <a:pt x="522219" y="631186"/>
                </a:lnTo>
                <a:lnTo>
                  <a:pt x="580243" y="621505"/>
                </a:lnTo>
                <a:lnTo>
                  <a:pt x="638268" y="611911"/>
                </a:lnTo>
                <a:lnTo>
                  <a:pt x="696292" y="602397"/>
                </a:lnTo>
                <a:lnTo>
                  <a:pt x="754317" y="592949"/>
                </a:lnTo>
                <a:lnTo>
                  <a:pt x="812341" y="583552"/>
                </a:lnTo>
                <a:lnTo>
                  <a:pt x="870365" y="574197"/>
                </a:lnTo>
                <a:lnTo>
                  <a:pt x="928390" y="564878"/>
                </a:lnTo>
                <a:lnTo>
                  <a:pt x="986414" y="555588"/>
                </a:lnTo>
                <a:lnTo>
                  <a:pt x="1044439" y="546322"/>
                </a:lnTo>
                <a:lnTo>
                  <a:pt x="1102463" y="537083"/>
                </a:lnTo>
                <a:lnTo>
                  <a:pt x="1160487" y="527870"/>
                </a:lnTo>
                <a:lnTo>
                  <a:pt x="1218512" y="518686"/>
                </a:lnTo>
                <a:lnTo>
                  <a:pt x="1276536" y="509537"/>
                </a:lnTo>
                <a:lnTo>
                  <a:pt x="1334561" y="500423"/>
                </a:lnTo>
                <a:lnTo>
                  <a:pt x="1392585" y="491347"/>
                </a:lnTo>
                <a:lnTo>
                  <a:pt x="1450609" y="482307"/>
                </a:lnTo>
                <a:lnTo>
                  <a:pt x="1508634" y="473302"/>
                </a:lnTo>
                <a:lnTo>
                  <a:pt x="1566658" y="464331"/>
                </a:lnTo>
                <a:lnTo>
                  <a:pt x="1624683" y="455399"/>
                </a:lnTo>
                <a:lnTo>
                  <a:pt x="1682707" y="446508"/>
                </a:lnTo>
                <a:lnTo>
                  <a:pt x="1740731" y="437661"/>
                </a:lnTo>
                <a:lnTo>
                  <a:pt x="1798756" y="428858"/>
                </a:lnTo>
                <a:lnTo>
                  <a:pt x="1856780" y="420101"/>
                </a:lnTo>
                <a:lnTo>
                  <a:pt x="1914804" y="411387"/>
                </a:lnTo>
                <a:lnTo>
                  <a:pt x="1972829" y="402714"/>
                </a:lnTo>
                <a:lnTo>
                  <a:pt x="2030853" y="394079"/>
                </a:lnTo>
                <a:lnTo>
                  <a:pt x="2088878" y="385477"/>
                </a:lnTo>
                <a:lnTo>
                  <a:pt x="2146902" y="376910"/>
                </a:lnTo>
                <a:lnTo>
                  <a:pt x="2204926" y="368369"/>
                </a:lnTo>
                <a:lnTo>
                  <a:pt x="2262951" y="359850"/>
                </a:lnTo>
                <a:lnTo>
                  <a:pt x="2320975" y="351349"/>
                </a:lnTo>
                <a:lnTo>
                  <a:pt x="2379000" y="342864"/>
                </a:lnTo>
                <a:lnTo>
                  <a:pt x="2437024" y="334392"/>
                </a:lnTo>
                <a:lnTo>
                  <a:pt x="2495048" y="325933"/>
                </a:lnTo>
                <a:lnTo>
                  <a:pt x="2553073" y="317479"/>
                </a:lnTo>
                <a:lnTo>
                  <a:pt x="2611097" y="309033"/>
                </a:lnTo>
                <a:lnTo>
                  <a:pt x="2669122" y="300592"/>
                </a:lnTo>
                <a:lnTo>
                  <a:pt x="2727146" y="292160"/>
                </a:lnTo>
                <a:lnTo>
                  <a:pt x="2785170" y="283741"/>
                </a:lnTo>
                <a:lnTo>
                  <a:pt x="2843195" y="275335"/>
                </a:lnTo>
                <a:lnTo>
                  <a:pt x="2901219" y="266943"/>
                </a:lnTo>
                <a:lnTo>
                  <a:pt x="2959244" y="258564"/>
                </a:lnTo>
                <a:lnTo>
                  <a:pt x="3017268" y="250200"/>
                </a:lnTo>
                <a:lnTo>
                  <a:pt x="3075292" y="241848"/>
                </a:lnTo>
                <a:lnTo>
                  <a:pt x="3133317" y="233508"/>
                </a:lnTo>
                <a:lnTo>
                  <a:pt x="3191341" y="225176"/>
                </a:lnTo>
                <a:lnTo>
                  <a:pt x="3249366" y="216851"/>
                </a:lnTo>
                <a:lnTo>
                  <a:pt x="3307390" y="208527"/>
                </a:lnTo>
                <a:lnTo>
                  <a:pt x="3365414" y="200198"/>
                </a:lnTo>
                <a:lnTo>
                  <a:pt x="3423439" y="191852"/>
                </a:lnTo>
                <a:lnTo>
                  <a:pt x="3481463" y="183483"/>
                </a:lnTo>
                <a:lnTo>
                  <a:pt x="3539488" y="175081"/>
                </a:lnTo>
                <a:lnTo>
                  <a:pt x="3597512" y="166634"/>
                </a:lnTo>
                <a:lnTo>
                  <a:pt x="3655536" y="158134"/>
                </a:lnTo>
                <a:lnTo>
                  <a:pt x="3713561" y="149571"/>
                </a:lnTo>
                <a:lnTo>
                  <a:pt x="3771585" y="140939"/>
                </a:lnTo>
                <a:lnTo>
                  <a:pt x="3829609" y="132232"/>
                </a:lnTo>
                <a:lnTo>
                  <a:pt x="3887634" y="123447"/>
                </a:lnTo>
                <a:lnTo>
                  <a:pt x="3945658" y="114585"/>
                </a:lnTo>
                <a:lnTo>
                  <a:pt x="4003683" y="105639"/>
                </a:lnTo>
                <a:lnTo>
                  <a:pt x="4061707" y="96602"/>
                </a:lnTo>
                <a:lnTo>
                  <a:pt x="4119731" y="87467"/>
                </a:lnTo>
                <a:lnTo>
                  <a:pt x="4177756" y="78231"/>
                </a:lnTo>
                <a:lnTo>
                  <a:pt x="4235780" y="68887"/>
                </a:lnTo>
                <a:lnTo>
                  <a:pt x="4293805" y="59432"/>
                </a:lnTo>
                <a:lnTo>
                  <a:pt x="4351829" y="49858"/>
                </a:lnTo>
                <a:lnTo>
                  <a:pt x="4409853" y="40160"/>
                </a:lnTo>
                <a:lnTo>
                  <a:pt x="4467878" y="30332"/>
                </a:lnTo>
                <a:lnTo>
                  <a:pt x="4525902" y="20367"/>
                </a:lnTo>
                <a:lnTo>
                  <a:pt x="4583927" y="10259"/>
                </a:lnTo>
                <a:lnTo>
                  <a:pt x="4641951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14639" y="209187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1" name="hfa: 15-й центиль"/>
          <p:cNvSpPr/>
          <p:nvPr/>
        </p:nvSpPr>
        <p:spPr>
          <a:xfrm>
            <a:off x="932688" y="2301556"/>
            <a:ext cx="4641951" cy="674009"/>
          </a:xfrm>
          <a:custGeom>
            <a:avLst/>
            <a:gdLst/>
            <a:ahLst/>
            <a:cxnLst/>
            <a:rect l="l" t="t" r="r" b="b"/>
            <a:pathLst>
              <a:path w="4641951" h="674009">
                <a:moveTo>
                  <a:pt x="0" y="674009"/>
                </a:moveTo>
                <a:lnTo>
                  <a:pt x="58024" y="664266"/>
                </a:lnTo>
                <a:lnTo>
                  <a:pt x="116048" y="654569"/>
                </a:lnTo>
                <a:lnTo>
                  <a:pt x="174073" y="644925"/>
                </a:lnTo>
                <a:lnTo>
                  <a:pt x="232097" y="635336"/>
                </a:lnTo>
                <a:lnTo>
                  <a:pt x="290121" y="625844"/>
                </a:lnTo>
                <a:lnTo>
                  <a:pt x="348146" y="616439"/>
                </a:lnTo>
                <a:lnTo>
                  <a:pt x="406170" y="607111"/>
                </a:lnTo>
                <a:lnTo>
                  <a:pt x="464195" y="597857"/>
                </a:lnTo>
                <a:lnTo>
                  <a:pt x="522219" y="588697"/>
                </a:lnTo>
                <a:lnTo>
                  <a:pt x="580243" y="579613"/>
                </a:lnTo>
                <a:lnTo>
                  <a:pt x="638268" y="570615"/>
                </a:lnTo>
                <a:lnTo>
                  <a:pt x="696292" y="561705"/>
                </a:lnTo>
                <a:lnTo>
                  <a:pt x="754317" y="552845"/>
                </a:lnTo>
                <a:lnTo>
                  <a:pt x="812341" y="544042"/>
                </a:lnTo>
                <a:lnTo>
                  <a:pt x="870365" y="535289"/>
                </a:lnTo>
                <a:lnTo>
                  <a:pt x="928390" y="526554"/>
                </a:lnTo>
                <a:lnTo>
                  <a:pt x="986414" y="517861"/>
                </a:lnTo>
                <a:lnTo>
                  <a:pt x="1044439" y="509198"/>
                </a:lnTo>
                <a:lnTo>
                  <a:pt x="1102463" y="500562"/>
                </a:lnTo>
                <a:lnTo>
                  <a:pt x="1160487" y="491930"/>
                </a:lnTo>
                <a:lnTo>
                  <a:pt x="1218512" y="483350"/>
                </a:lnTo>
                <a:lnTo>
                  <a:pt x="1276536" y="474804"/>
                </a:lnTo>
                <a:lnTo>
                  <a:pt x="1334561" y="466294"/>
                </a:lnTo>
                <a:lnTo>
                  <a:pt x="1392585" y="457821"/>
                </a:lnTo>
                <a:lnTo>
                  <a:pt x="1450609" y="449385"/>
                </a:lnTo>
                <a:lnTo>
                  <a:pt x="1508634" y="440984"/>
                </a:lnTo>
                <a:lnTo>
                  <a:pt x="1566658" y="432617"/>
                </a:lnTo>
                <a:lnTo>
                  <a:pt x="1624683" y="424288"/>
                </a:lnTo>
                <a:lnTo>
                  <a:pt x="1682707" y="416000"/>
                </a:lnTo>
                <a:lnTo>
                  <a:pt x="1740731" y="407755"/>
                </a:lnTo>
                <a:lnTo>
                  <a:pt x="1798756" y="399555"/>
                </a:lnTo>
                <a:lnTo>
                  <a:pt x="1856780" y="391399"/>
                </a:lnTo>
                <a:lnTo>
                  <a:pt x="1914804" y="383286"/>
                </a:lnTo>
                <a:lnTo>
                  <a:pt x="1972829" y="375215"/>
                </a:lnTo>
                <a:lnTo>
                  <a:pt x="2030853" y="367179"/>
                </a:lnTo>
                <a:lnTo>
                  <a:pt x="2088878" y="359178"/>
                </a:lnTo>
                <a:lnTo>
                  <a:pt x="2146902" y="351212"/>
                </a:lnTo>
                <a:lnTo>
                  <a:pt x="2204926" y="343271"/>
                </a:lnTo>
                <a:lnTo>
                  <a:pt x="2262951" y="335354"/>
                </a:lnTo>
                <a:lnTo>
                  <a:pt x="2320975" y="327479"/>
                </a:lnTo>
                <a:lnTo>
                  <a:pt x="2379000" y="319596"/>
                </a:lnTo>
                <a:lnTo>
                  <a:pt x="2437024" y="311728"/>
                </a:lnTo>
                <a:lnTo>
                  <a:pt x="2495048" y="303873"/>
                </a:lnTo>
                <a:lnTo>
                  <a:pt x="2553073" y="296025"/>
                </a:lnTo>
                <a:lnTo>
                  <a:pt x="2611097" y="288186"/>
                </a:lnTo>
                <a:lnTo>
                  <a:pt x="2669122" y="280352"/>
                </a:lnTo>
                <a:lnTo>
                  <a:pt x="2727146" y="272529"/>
                </a:lnTo>
                <a:lnTo>
                  <a:pt x="2785170" y="264720"/>
                </a:lnTo>
                <a:lnTo>
                  <a:pt x="2843195" y="256914"/>
                </a:lnTo>
                <a:lnTo>
                  <a:pt x="2901219" y="249119"/>
                </a:lnTo>
                <a:lnTo>
                  <a:pt x="2959244" y="241352"/>
                </a:lnTo>
                <a:lnTo>
                  <a:pt x="3017268" y="233586"/>
                </a:lnTo>
                <a:lnTo>
                  <a:pt x="3075292" y="225838"/>
                </a:lnTo>
                <a:lnTo>
                  <a:pt x="3133317" y="218094"/>
                </a:lnTo>
                <a:lnTo>
                  <a:pt x="3191341" y="210369"/>
                </a:lnTo>
                <a:lnTo>
                  <a:pt x="3249366" y="202640"/>
                </a:lnTo>
                <a:lnTo>
                  <a:pt x="3307390" y="194907"/>
                </a:lnTo>
                <a:lnTo>
                  <a:pt x="3365414" y="187170"/>
                </a:lnTo>
                <a:lnTo>
                  <a:pt x="3423439" y="179419"/>
                </a:lnTo>
                <a:lnTo>
                  <a:pt x="3481463" y="171646"/>
                </a:lnTo>
                <a:lnTo>
                  <a:pt x="3539488" y="163843"/>
                </a:lnTo>
                <a:lnTo>
                  <a:pt x="3597512" y="155997"/>
                </a:lnTo>
                <a:lnTo>
                  <a:pt x="3655536" y="148080"/>
                </a:lnTo>
                <a:lnTo>
                  <a:pt x="3713561" y="140122"/>
                </a:lnTo>
                <a:lnTo>
                  <a:pt x="3771585" y="132078"/>
                </a:lnTo>
                <a:lnTo>
                  <a:pt x="3829609" y="123962"/>
                </a:lnTo>
                <a:lnTo>
                  <a:pt x="3887634" y="115774"/>
                </a:lnTo>
                <a:lnTo>
                  <a:pt x="3945658" y="107504"/>
                </a:lnTo>
                <a:lnTo>
                  <a:pt x="4003683" y="99149"/>
                </a:lnTo>
                <a:lnTo>
                  <a:pt x="4061707" y="90710"/>
                </a:lnTo>
                <a:lnTo>
                  <a:pt x="4119731" y="82166"/>
                </a:lnTo>
                <a:lnTo>
                  <a:pt x="4177756" y="73509"/>
                </a:lnTo>
                <a:lnTo>
                  <a:pt x="4235780" y="64756"/>
                </a:lnTo>
                <a:lnTo>
                  <a:pt x="4293805" y="55890"/>
                </a:lnTo>
                <a:lnTo>
                  <a:pt x="4351829" y="46902"/>
                </a:lnTo>
                <a:lnTo>
                  <a:pt x="4409853" y="37797"/>
                </a:lnTo>
                <a:lnTo>
                  <a:pt x="4467878" y="28570"/>
                </a:lnTo>
                <a:lnTo>
                  <a:pt x="4525902" y="19187"/>
                </a:lnTo>
                <a:lnTo>
                  <a:pt x="4583927" y="9665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14639" y="222655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53" name="hfa: 3-й центиль"/>
          <p:cNvSpPr/>
          <p:nvPr/>
        </p:nvSpPr>
        <p:spPr>
          <a:xfrm>
            <a:off x="932688" y="2411406"/>
            <a:ext cx="4641951" cy="634855"/>
          </a:xfrm>
          <a:custGeom>
            <a:avLst/>
            <a:gdLst/>
            <a:ahLst/>
            <a:cxnLst/>
            <a:rect l="l" t="t" r="r" b="b"/>
            <a:pathLst>
              <a:path w="4641951" h="634855">
                <a:moveTo>
                  <a:pt x="0" y="634855"/>
                </a:moveTo>
                <a:lnTo>
                  <a:pt x="58024" y="625620"/>
                </a:lnTo>
                <a:lnTo>
                  <a:pt x="116048" y="616431"/>
                </a:lnTo>
                <a:lnTo>
                  <a:pt x="174073" y="607291"/>
                </a:lnTo>
                <a:lnTo>
                  <a:pt x="232097" y="598193"/>
                </a:lnTo>
                <a:lnTo>
                  <a:pt x="290121" y="589205"/>
                </a:lnTo>
                <a:lnTo>
                  <a:pt x="348146" y="580303"/>
                </a:lnTo>
                <a:lnTo>
                  <a:pt x="406170" y="571470"/>
                </a:lnTo>
                <a:lnTo>
                  <a:pt x="464195" y="562703"/>
                </a:lnTo>
                <a:lnTo>
                  <a:pt x="522219" y="554042"/>
                </a:lnTo>
                <a:lnTo>
                  <a:pt x="580243" y="545445"/>
                </a:lnTo>
                <a:lnTo>
                  <a:pt x="638268" y="536932"/>
                </a:lnTo>
                <a:lnTo>
                  <a:pt x="696292" y="528514"/>
                </a:lnTo>
                <a:lnTo>
                  <a:pt x="754317" y="520135"/>
                </a:lnTo>
                <a:lnTo>
                  <a:pt x="812341" y="511816"/>
                </a:lnTo>
                <a:lnTo>
                  <a:pt x="870365" y="503554"/>
                </a:lnTo>
                <a:lnTo>
                  <a:pt x="928390" y="495295"/>
                </a:lnTo>
                <a:lnTo>
                  <a:pt x="986414" y="487090"/>
                </a:lnTo>
                <a:lnTo>
                  <a:pt x="1044439" y="478919"/>
                </a:lnTo>
                <a:lnTo>
                  <a:pt x="1102463" y="470774"/>
                </a:lnTo>
                <a:lnTo>
                  <a:pt x="1160487" y="462615"/>
                </a:lnTo>
                <a:lnTo>
                  <a:pt x="1218512" y="454528"/>
                </a:lnTo>
                <a:lnTo>
                  <a:pt x="1276536" y="446475"/>
                </a:lnTo>
                <a:lnTo>
                  <a:pt x="1334561" y="438457"/>
                </a:lnTo>
                <a:lnTo>
                  <a:pt x="1392585" y="430477"/>
                </a:lnTo>
                <a:lnTo>
                  <a:pt x="1450609" y="422533"/>
                </a:lnTo>
                <a:lnTo>
                  <a:pt x="1508634" y="414624"/>
                </a:lnTo>
                <a:lnTo>
                  <a:pt x="1566658" y="406749"/>
                </a:lnTo>
                <a:lnTo>
                  <a:pt x="1624683" y="398913"/>
                </a:lnTo>
                <a:lnTo>
                  <a:pt x="1682707" y="391116"/>
                </a:lnTo>
                <a:lnTo>
                  <a:pt x="1740731" y="383363"/>
                </a:lnTo>
                <a:lnTo>
                  <a:pt x="1798756" y="375654"/>
                </a:lnTo>
                <a:lnTo>
                  <a:pt x="1856780" y="367989"/>
                </a:lnTo>
                <a:lnTo>
                  <a:pt x="1914804" y="360367"/>
                </a:lnTo>
                <a:lnTo>
                  <a:pt x="1972829" y="352785"/>
                </a:lnTo>
                <a:lnTo>
                  <a:pt x="2030853" y="345239"/>
                </a:lnTo>
                <a:lnTo>
                  <a:pt x="2088878" y="337728"/>
                </a:lnTo>
                <a:lnTo>
                  <a:pt x="2146902" y="330251"/>
                </a:lnTo>
                <a:lnTo>
                  <a:pt x="2204926" y="322801"/>
                </a:lnTo>
                <a:lnTo>
                  <a:pt x="2262951" y="315374"/>
                </a:lnTo>
                <a:lnTo>
                  <a:pt x="2320975" y="308009"/>
                </a:lnTo>
                <a:lnTo>
                  <a:pt x="2379000" y="300618"/>
                </a:lnTo>
                <a:lnTo>
                  <a:pt x="2437024" y="293243"/>
                </a:lnTo>
                <a:lnTo>
                  <a:pt x="2495048" y="285880"/>
                </a:lnTo>
                <a:lnTo>
                  <a:pt x="2553073" y="278526"/>
                </a:lnTo>
                <a:lnTo>
                  <a:pt x="2611097" y="271182"/>
                </a:lnTo>
                <a:lnTo>
                  <a:pt x="2669122" y="263844"/>
                </a:lnTo>
                <a:lnTo>
                  <a:pt x="2727146" y="256518"/>
                </a:lnTo>
                <a:lnTo>
                  <a:pt x="2785170" y="249206"/>
                </a:lnTo>
                <a:lnTo>
                  <a:pt x="2843195" y="241889"/>
                </a:lnTo>
                <a:lnTo>
                  <a:pt x="2901219" y="234581"/>
                </a:lnTo>
                <a:lnTo>
                  <a:pt x="2959244" y="227314"/>
                </a:lnTo>
                <a:lnTo>
                  <a:pt x="3017268" y="220034"/>
                </a:lnTo>
                <a:lnTo>
                  <a:pt x="3075292" y="212779"/>
                </a:lnTo>
                <a:lnTo>
                  <a:pt x="3133317" y="205521"/>
                </a:lnTo>
                <a:lnTo>
                  <a:pt x="3191341" y="198293"/>
                </a:lnTo>
                <a:lnTo>
                  <a:pt x="3249366" y="191049"/>
                </a:lnTo>
                <a:lnTo>
                  <a:pt x="3307390" y="183798"/>
                </a:lnTo>
                <a:lnTo>
                  <a:pt x="3365414" y="176544"/>
                </a:lnTo>
                <a:lnTo>
                  <a:pt x="3423439" y="169277"/>
                </a:lnTo>
                <a:lnTo>
                  <a:pt x="3481463" y="161991"/>
                </a:lnTo>
                <a:lnTo>
                  <a:pt x="3539488" y="154677"/>
                </a:lnTo>
                <a:lnTo>
                  <a:pt x="3597512" y="147321"/>
                </a:lnTo>
                <a:lnTo>
                  <a:pt x="3655536" y="139879"/>
                </a:lnTo>
                <a:lnTo>
                  <a:pt x="3713561" y="132415"/>
                </a:lnTo>
                <a:lnTo>
                  <a:pt x="3771585" y="124850"/>
                </a:lnTo>
                <a:lnTo>
                  <a:pt x="3829609" y="117217"/>
                </a:lnTo>
                <a:lnTo>
                  <a:pt x="3887634" y="109516"/>
                </a:lnTo>
                <a:lnTo>
                  <a:pt x="3945658" y="101728"/>
                </a:lnTo>
                <a:lnTo>
                  <a:pt x="4003683" y="93855"/>
                </a:lnTo>
                <a:lnTo>
                  <a:pt x="4061707" y="85905"/>
                </a:lnTo>
                <a:lnTo>
                  <a:pt x="4119731" y="77842"/>
                </a:lnTo>
                <a:lnTo>
                  <a:pt x="4177756" y="69657"/>
                </a:lnTo>
                <a:lnTo>
                  <a:pt x="4235780" y="61387"/>
                </a:lnTo>
                <a:lnTo>
                  <a:pt x="4293805" y="53001"/>
                </a:lnTo>
                <a:lnTo>
                  <a:pt x="4351829" y="44491"/>
                </a:lnTo>
                <a:lnTo>
                  <a:pt x="4409853" y="35870"/>
                </a:lnTo>
                <a:lnTo>
                  <a:pt x="4467878" y="27132"/>
                </a:lnTo>
                <a:lnTo>
                  <a:pt x="4525902" y="18224"/>
                </a:lnTo>
                <a:lnTo>
                  <a:pt x="4583927" y="9180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14639" y="233640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55" name="hfa: пример"/>
          <p:cNvSpPr/>
          <p:nvPr/>
        </p:nvSpPr>
        <p:spPr>
          <a:xfrm>
            <a:off x="932688" y="2128190"/>
            <a:ext cx="3978815" cy="718866"/>
          </a:xfrm>
          <a:custGeom>
            <a:avLst/>
            <a:gdLst/>
            <a:ahLst/>
            <a:cxnLst/>
            <a:rect l="l" t="t" r="r" b="b"/>
            <a:pathLst>
              <a:path w="3978815" h="718866">
                <a:moveTo>
                  <a:pt x="0" y="718866"/>
                </a:moveTo>
                <a:lnTo>
                  <a:pt x="110522" y="696468"/>
                </a:lnTo>
                <a:lnTo>
                  <a:pt x="221045" y="674229"/>
                </a:lnTo>
                <a:lnTo>
                  <a:pt x="331567" y="652211"/>
                </a:lnTo>
                <a:lnTo>
                  <a:pt x="442090" y="630473"/>
                </a:lnTo>
                <a:lnTo>
                  <a:pt x="552613" y="608969"/>
                </a:lnTo>
                <a:lnTo>
                  <a:pt x="663135" y="587750"/>
                </a:lnTo>
                <a:lnTo>
                  <a:pt x="773658" y="566747"/>
                </a:lnTo>
                <a:lnTo>
                  <a:pt x="884181" y="545851"/>
                </a:lnTo>
                <a:lnTo>
                  <a:pt x="994703" y="525038"/>
                </a:lnTo>
                <a:lnTo>
                  <a:pt x="1105226" y="504247"/>
                </a:lnTo>
                <a:lnTo>
                  <a:pt x="1215749" y="483514"/>
                </a:lnTo>
                <a:lnTo>
                  <a:pt x="1326271" y="462827"/>
                </a:lnTo>
                <a:lnTo>
                  <a:pt x="1436794" y="443037"/>
                </a:lnTo>
                <a:lnTo>
                  <a:pt x="1547317" y="423338"/>
                </a:lnTo>
                <a:lnTo>
                  <a:pt x="1657839" y="403736"/>
                </a:lnTo>
                <a:lnTo>
                  <a:pt x="1768362" y="384255"/>
                </a:lnTo>
                <a:lnTo>
                  <a:pt x="1878885" y="364902"/>
                </a:lnTo>
                <a:lnTo>
                  <a:pt x="1989407" y="345667"/>
                </a:lnTo>
                <a:lnTo>
                  <a:pt x="2099930" y="326528"/>
                </a:lnTo>
                <a:lnTo>
                  <a:pt x="2210453" y="307467"/>
                </a:lnTo>
                <a:lnTo>
                  <a:pt x="2320975" y="288423"/>
                </a:lnTo>
                <a:lnTo>
                  <a:pt x="2431498" y="269418"/>
                </a:lnTo>
                <a:lnTo>
                  <a:pt x="2542021" y="250414"/>
                </a:lnTo>
                <a:lnTo>
                  <a:pt x="2652543" y="231392"/>
                </a:lnTo>
                <a:lnTo>
                  <a:pt x="2763066" y="212358"/>
                </a:lnTo>
                <a:lnTo>
                  <a:pt x="2873589" y="193357"/>
                </a:lnTo>
                <a:lnTo>
                  <a:pt x="2984111" y="174340"/>
                </a:lnTo>
                <a:lnTo>
                  <a:pt x="3094634" y="155359"/>
                </a:lnTo>
                <a:lnTo>
                  <a:pt x="3205156" y="136375"/>
                </a:lnTo>
                <a:lnTo>
                  <a:pt x="3315679" y="117395"/>
                </a:lnTo>
                <a:lnTo>
                  <a:pt x="3426202" y="98346"/>
                </a:lnTo>
                <a:lnTo>
                  <a:pt x="3536724" y="79160"/>
                </a:lnTo>
                <a:lnTo>
                  <a:pt x="3647247" y="59800"/>
                </a:lnTo>
                <a:lnTo>
                  <a:pt x="3757770" y="40164"/>
                </a:lnTo>
                <a:lnTo>
                  <a:pt x="3868292" y="20235"/>
                </a:lnTo>
                <a:lnTo>
                  <a:pt x="3978815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hfa: точка 5"/>
          <p:cNvSpPr/>
          <p:nvPr/>
        </p:nvSpPr>
        <p:spPr>
          <a:xfrm>
            <a:off x="874688" y="278905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fa: точка 7"/>
          <p:cNvSpPr/>
          <p:nvPr/>
        </p:nvSpPr>
        <p:spPr>
          <a:xfrm>
            <a:off x="2200959" y="2533017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hfa: точка 9"/>
          <p:cNvSpPr/>
          <p:nvPr/>
        </p:nvSpPr>
        <p:spPr>
          <a:xfrm>
            <a:off x="3527231" y="2301582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hfa: точка 11"/>
          <p:cNvSpPr/>
          <p:nvPr/>
        </p:nvSpPr>
        <p:spPr>
          <a:xfrm>
            <a:off x="4853503" y="2070190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153308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Простое ожирение: рост для возраста, мальчики, см</a:t>
            </a:r>
          </a:p>
        </p:txBody>
      </p:sp>
      <p:sp>
        <p:nvSpPr>
          <p:cNvPr id="61" name="bfa: сетка 12"/>
          <p:cNvSpPr/>
          <p:nvPr/>
        </p:nvSpPr>
        <p:spPr>
          <a:xfrm>
            <a:off x="932688" y="4370832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29083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63" name="bfa: сетка 14"/>
          <p:cNvSpPr/>
          <p:nvPr/>
        </p:nvSpPr>
        <p:spPr>
          <a:xfrm>
            <a:off x="932688" y="4269568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bfa: сетка 16"/>
          <p:cNvSpPr/>
          <p:nvPr/>
        </p:nvSpPr>
        <p:spPr>
          <a:xfrm>
            <a:off x="932688" y="4168305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40883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66" name="bfa: сетка 18"/>
          <p:cNvSpPr/>
          <p:nvPr/>
        </p:nvSpPr>
        <p:spPr>
          <a:xfrm>
            <a:off x="932688" y="4067042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bfa: сетка 20"/>
          <p:cNvSpPr/>
          <p:nvPr/>
        </p:nvSpPr>
        <p:spPr>
          <a:xfrm>
            <a:off x="932688" y="3965778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388577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  <p:sp>
        <p:nvSpPr>
          <p:cNvPr id="69" name="bfa: сетка 22"/>
          <p:cNvSpPr/>
          <p:nvPr/>
        </p:nvSpPr>
        <p:spPr>
          <a:xfrm>
            <a:off x="932688" y="3864515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bfa: сетка 24"/>
          <p:cNvSpPr/>
          <p:nvPr/>
        </p:nvSpPr>
        <p:spPr>
          <a:xfrm>
            <a:off x="932688" y="3763252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368325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  <p:sp>
        <p:nvSpPr>
          <p:cNvPr id="72" name="bfa: сетка 26"/>
          <p:cNvSpPr/>
          <p:nvPr/>
        </p:nvSpPr>
        <p:spPr>
          <a:xfrm>
            <a:off x="932688" y="3661989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bfa: год 5"/>
          <p:cNvSpPr/>
          <p:nvPr/>
        </p:nvSpPr>
        <p:spPr>
          <a:xfrm>
            <a:off x="932688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2688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75" name="bfa: год 6"/>
          <p:cNvSpPr/>
          <p:nvPr/>
        </p:nvSpPr>
        <p:spPr>
          <a:xfrm>
            <a:off x="1595823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45823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77" name="bfa: год 7"/>
          <p:cNvSpPr/>
          <p:nvPr/>
        </p:nvSpPr>
        <p:spPr>
          <a:xfrm>
            <a:off x="2258959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08959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79" name="bfa: год 8"/>
          <p:cNvSpPr/>
          <p:nvPr/>
        </p:nvSpPr>
        <p:spPr>
          <a:xfrm>
            <a:off x="2922095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72095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81" name="bfa: год 9"/>
          <p:cNvSpPr/>
          <p:nvPr/>
        </p:nvSpPr>
        <p:spPr>
          <a:xfrm>
            <a:off x="3585231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435231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83" name="bfa: год 10"/>
          <p:cNvSpPr/>
          <p:nvPr/>
        </p:nvSpPr>
        <p:spPr>
          <a:xfrm>
            <a:off x="4248367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98367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85" name="bfa: год 11"/>
          <p:cNvSpPr/>
          <p:nvPr/>
        </p:nvSpPr>
        <p:spPr>
          <a:xfrm>
            <a:off x="4911503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61503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87" name="bfa: год 12"/>
          <p:cNvSpPr/>
          <p:nvPr/>
        </p:nvSpPr>
        <p:spPr>
          <a:xfrm>
            <a:off x="5574639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24639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89" name="bfa: ось"/>
          <p:cNvSpPr/>
          <p:nvPr/>
        </p:nvSpPr>
        <p:spPr>
          <a:xfrm>
            <a:off x="932688" y="4370832"/>
            <a:ext cx="4641951" cy="0"/>
          </a:xfrm>
          <a:custGeom>
            <a:avLst/>
            <a:gdLst/>
            <a:ahLst/>
            <a:cxnLst/>
            <a:rect l="l" t="t" r="r" b="b"/>
            <a:pathLst>
              <a:path w="4641951" h="0">
                <a:moveTo>
                  <a:pt x="0" y="0"/>
                </a:moveTo>
                <a:lnTo>
                  <a:pt x="4641951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bfa: полоса 3–97"/>
          <p:cNvSpPr/>
          <p:nvPr/>
        </p:nvSpPr>
        <p:spPr>
          <a:xfrm>
            <a:off x="932688" y="3811301"/>
            <a:ext cx="4641951" cy="501973"/>
          </a:xfrm>
          <a:custGeom>
            <a:avLst/>
            <a:gdLst/>
            <a:ahLst/>
            <a:cxnLst/>
            <a:rect l="l" t="t" r="r" b="b"/>
            <a:pathLst>
              <a:path w="4641951" h="501973">
                <a:moveTo>
                  <a:pt x="0" y="253619"/>
                </a:moveTo>
                <a:lnTo>
                  <a:pt x="58024" y="253034"/>
                </a:lnTo>
                <a:lnTo>
                  <a:pt x="116048" y="252358"/>
                </a:lnTo>
                <a:lnTo>
                  <a:pt x="174073" y="251569"/>
                </a:lnTo>
                <a:lnTo>
                  <a:pt x="232097" y="250685"/>
                </a:lnTo>
                <a:lnTo>
                  <a:pt x="290121" y="249692"/>
                </a:lnTo>
                <a:lnTo>
                  <a:pt x="348146" y="248606"/>
                </a:lnTo>
                <a:lnTo>
                  <a:pt x="406170" y="247408"/>
                </a:lnTo>
                <a:lnTo>
                  <a:pt x="464195" y="246119"/>
                </a:lnTo>
                <a:lnTo>
                  <a:pt x="522219" y="244737"/>
                </a:lnTo>
                <a:lnTo>
                  <a:pt x="580243" y="243255"/>
                </a:lnTo>
                <a:lnTo>
                  <a:pt x="638268" y="241684"/>
                </a:lnTo>
                <a:lnTo>
                  <a:pt x="696292" y="240032"/>
                </a:lnTo>
                <a:lnTo>
                  <a:pt x="754317" y="238295"/>
                </a:lnTo>
                <a:lnTo>
                  <a:pt x="812341" y="236490"/>
                </a:lnTo>
                <a:lnTo>
                  <a:pt x="870365" y="234605"/>
                </a:lnTo>
                <a:lnTo>
                  <a:pt x="928390" y="232653"/>
                </a:lnTo>
                <a:lnTo>
                  <a:pt x="986414" y="230628"/>
                </a:lnTo>
                <a:lnTo>
                  <a:pt x="1044439" y="228523"/>
                </a:lnTo>
                <a:lnTo>
                  <a:pt x="1102463" y="226366"/>
                </a:lnTo>
                <a:lnTo>
                  <a:pt x="1160487" y="224157"/>
                </a:lnTo>
                <a:lnTo>
                  <a:pt x="1218512" y="221872"/>
                </a:lnTo>
                <a:lnTo>
                  <a:pt x="1276536" y="219517"/>
                </a:lnTo>
                <a:lnTo>
                  <a:pt x="1334561" y="217118"/>
                </a:lnTo>
                <a:lnTo>
                  <a:pt x="1392585" y="214672"/>
                </a:lnTo>
                <a:lnTo>
                  <a:pt x="1450609" y="212161"/>
                </a:lnTo>
                <a:lnTo>
                  <a:pt x="1508634" y="209583"/>
                </a:lnTo>
                <a:lnTo>
                  <a:pt x="1566658" y="206957"/>
                </a:lnTo>
                <a:lnTo>
                  <a:pt x="1624683" y="204274"/>
                </a:lnTo>
                <a:lnTo>
                  <a:pt x="1682707" y="201555"/>
                </a:lnTo>
                <a:lnTo>
                  <a:pt x="1740731" y="198782"/>
                </a:lnTo>
                <a:lnTo>
                  <a:pt x="1798756" y="195944"/>
                </a:lnTo>
                <a:lnTo>
                  <a:pt x="1856780" y="193071"/>
                </a:lnTo>
                <a:lnTo>
                  <a:pt x="1914804" y="190138"/>
                </a:lnTo>
                <a:lnTo>
                  <a:pt x="1972829" y="187159"/>
                </a:lnTo>
                <a:lnTo>
                  <a:pt x="2030853" y="184134"/>
                </a:lnTo>
                <a:lnTo>
                  <a:pt x="2088878" y="181046"/>
                </a:lnTo>
                <a:lnTo>
                  <a:pt x="2146902" y="177913"/>
                </a:lnTo>
                <a:lnTo>
                  <a:pt x="2204926" y="174740"/>
                </a:lnTo>
                <a:lnTo>
                  <a:pt x="2262951" y="171536"/>
                </a:lnTo>
                <a:lnTo>
                  <a:pt x="2320975" y="168262"/>
                </a:lnTo>
                <a:lnTo>
                  <a:pt x="2379000" y="164956"/>
                </a:lnTo>
                <a:lnTo>
                  <a:pt x="2437024" y="161610"/>
                </a:lnTo>
                <a:lnTo>
                  <a:pt x="2495048" y="158219"/>
                </a:lnTo>
                <a:lnTo>
                  <a:pt x="2553073" y="154767"/>
                </a:lnTo>
                <a:lnTo>
                  <a:pt x="2611097" y="151286"/>
                </a:lnTo>
                <a:lnTo>
                  <a:pt x="2669122" y="147737"/>
                </a:lnTo>
                <a:lnTo>
                  <a:pt x="2727146" y="144137"/>
                </a:lnTo>
                <a:lnTo>
                  <a:pt x="2785170" y="140488"/>
                </a:lnTo>
                <a:lnTo>
                  <a:pt x="2843195" y="136784"/>
                </a:lnTo>
                <a:lnTo>
                  <a:pt x="2901219" y="133010"/>
                </a:lnTo>
                <a:lnTo>
                  <a:pt x="2959244" y="129184"/>
                </a:lnTo>
                <a:lnTo>
                  <a:pt x="3017268" y="125317"/>
                </a:lnTo>
                <a:lnTo>
                  <a:pt x="3075292" y="121392"/>
                </a:lnTo>
                <a:lnTo>
                  <a:pt x="3133317" y="117408"/>
                </a:lnTo>
                <a:lnTo>
                  <a:pt x="3191341" y="113396"/>
                </a:lnTo>
                <a:lnTo>
                  <a:pt x="3249366" y="109315"/>
                </a:lnTo>
                <a:lnTo>
                  <a:pt x="3307390" y="105172"/>
                </a:lnTo>
                <a:lnTo>
                  <a:pt x="3365414" y="101012"/>
                </a:lnTo>
                <a:lnTo>
                  <a:pt x="3423439" y="96799"/>
                </a:lnTo>
                <a:lnTo>
                  <a:pt x="3481463" y="92534"/>
                </a:lnTo>
                <a:lnTo>
                  <a:pt x="3539488" y="88220"/>
                </a:lnTo>
                <a:lnTo>
                  <a:pt x="3597512" y="83890"/>
                </a:lnTo>
                <a:lnTo>
                  <a:pt x="3655536" y="79478"/>
                </a:lnTo>
                <a:lnTo>
                  <a:pt x="3713561" y="75053"/>
                </a:lnTo>
                <a:lnTo>
                  <a:pt x="3771585" y="70592"/>
                </a:lnTo>
                <a:lnTo>
                  <a:pt x="3829609" y="66074"/>
                </a:lnTo>
                <a:lnTo>
                  <a:pt x="3887634" y="61533"/>
                </a:lnTo>
                <a:lnTo>
                  <a:pt x="3945658" y="56965"/>
                </a:lnTo>
                <a:lnTo>
                  <a:pt x="4003683" y="52374"/>
                </a:lnTo>
                <a:lnTo>
                  <a:pt x="4061707" y="47737"/>
                </a:lnTo>
                <a:lnTo>
                  <a:pt x="4119731" y="43082"/>
                </a:lnTo>
                <a:lnTo>
                  <a:pt x="4177756" y="38398"/>
                </a:lnTo>
                <a:lnTo>
                  <a:pt x="4235780" y="33693"/>
                </a:lnTo>
                <a:lnTo>
                  <a:pt x="4293805" y="28964"/>
                </a:lnTo>
                <a:lnTo>
                  <a:pt x="4351829" y="24192"/>
                </a:lnTo>
                <a:lnTo>
                  <a:pt x="4409853" y="19397"/>
                </a:lnTo>
                <a:lnTo>
                  <a:pt x="4467878" y="14599"/>
                </a:lnTo>
                <a:lnTo>
                  <a:pt x="4525902" y="9764"/>
                </a:lnTo>
                <a:lnTo>
                  <a:pt x="4583927" y="4889"/>
                </a:lnTo>
                <a:lnTo>
                  <a:pt x="4641951" y="0"/>
                </a:lnTo>
                <a:lnTo>
                  <a:pt x="4641951" y="428096"/>
                </a:lnTo>
                <a:lnTo>
                  <a:pt x="4583927" y="430060"/>
                </a:lnTo>
                <a:lnTo>
                  <a:pt x="4525902" y="431983"/>
                </a:lnTo>
                <a:lnTo>
                  <a:pt x="4467878" y="433880"/>
                </a:lnTo>
                <a:lnTo>
                  <a:pt x="4409853" y="435747"/>
                </a:lnTo>
                <a:lnTo>
                  <a:pt x="4351829" y="437579"/>
                </a:lnTo>
                <a:lnTo>
                  <a:pt x="4293805" y="439371"/>
                </a:lnTo>
                <a:lnTo>
                  <a:pt x="4235780" y="441136"/>
                </a:lnTo>
                <a:lnTo>
                  <a:pt x="4177756" y="442875"/>
                </a:lnTo>
                <a:lnTo>
                  <a:pt x="4119731" y="444582"/>
                </a:lnTo>
                <a:lnTo>
                  <a:pt x="4061707" y="446257"/>
                </a:lnTo>
                <a:lnTo>
                  <a:pt x="4003683" y="447905"/>
                </a:lnTo>
                <a:lnTo>
                  <a:pt x="3945658" y="449527"/>
                </a:lnTo>
                <a:lnTo>
                  <a:pt x="3887634" y="451116"/>
                </a:lnTo>
                <a:lnTo>
                  <a:pt x="3829609" y="452678"/>
                </a:lnTo>
                <a:lnTo>
                  <a:pt x="3771585" y="454207"/>
                </a:lnTo>
                <a:lnTo>
                  <a:pt x="3713561" y="455717"/>
                </a:lnTo>
                <a:lnTo>
                  <a:pt x="3655536" y="457191"/>
                </a:lnTo>
                <a:lnTo>
                  <a:pt x="3597512" y="458626"/>
                </a:lnTo>
                <a:lnTo>
                  <a:pt x="3539488" y="460037"/>
                </a:lnTo>
                <a:lnTo>
                  <a:pt x="3481463" y="461416"/>
                </a:lnTo>
                <a:lnTo>
                  <a:pt x="3423439" y="462766"/>
                </a:lnTo>
                <a:lnTo>
                  <a:pt x="3365414" y="464087"/>
                </a:lnTo>
                <a:lnTo>
                  <a:pt x="3307390" y="465375"/>
                </a:lnTo>
                <a:lnTo>
                  <a:pt x="3249366" y="466630"/>
                </a:lnTo>
                <a:lnTo>
                  <a:pt x="3191341" y="467859"/>
                </a:lnTo>
                <a:lnTo>
                  <a:pt x="3133317" y="469062"/>
                </a:lnTo>
                <a:lnTo>
                  <a:pt x="3075292" y="470232"/>
                </a:lnTo>
                <a:lnTo>
                  <a:pt x="3017268" y="471369"/>
                </a:lnTo>
                <a:lnTo>
                  <a:pt x="2959244" y="472476"/>
                </a:lnTo>
                <a:lnTo>
                  <a:pt x="2901219" y="473547"/>
                </a:lnTo>
                <a:lnTo>
                  <a:pt x="2843195" y="474591"/>
                </a:lnTo>
                <a:lnTo>
                  <a:pt x="2785170" y="475611"/>
                </a:lnTo>
                <a:lnTo>
                  <a:pt x="2727146" y="476602"/>
                </a:lnTo>
                <a:lnTo>
                  <a:pt x="2669122" y="477568"/>
                </a:lnTo>
                <a:lnTo>
                  <a:pt x="2611097" y="478509"/>
                </a:lnTo>
                <a:lnTo>
                  <a:pt x="2553073" y="479436"/>
                </a:lnTo>
                <a:lnTo>
                  <a:pt x="2495048" y="480333"/>
                </a:lnTo>
                <a:lnTo>
                  <a:pt x="2437024" y="481218"/>
                </a:lnTo>
                <a:lnTo>
                  <a:pt x="2379000" y="482086"/>
                </a:lnTo>
                <a:lnTo>
                  <a:pt x="2320975" y="482936"/>
                </a:lnTo>
                <a:lnTo>
                  <a:pt x="2262951" y="483774"/>
                </a:lnTo>
                <a:lnTo>
                  <a:pt x="2204926" y="484601"/>
                </a:lnTo>
                <a:lnTo>
                  <a:pt x="2146902" y="485416"/>
                </a:lnTo>
                <a:lnTo>
                  <a:pt x="2088878" y="486213"/>
                </a:lnTo>
                <a:lnTo>
                  <a:pt x="2030853" y="486996"/>
                </a:lnTo>
                <a:lnTo>
                  <a:pt x="1972829" y="487774"/>
                </a:lnTo>
                <a:lnTo>
                  <a:pt x="1914804" y="488541"/>
                </a:lnTo>
                <a:lnTo>
                  <a:pt x="1856780" y="489288"/>
                </a:lnTo>
                <a:lnTo>
                  <a:pt x="1798756" y="490026"/>
                </a:lnTo>
                <a:lnTo>
                  <a:pt x="1740731" y="490745"/>
                </a:lnTo>
                <a:lnTo>
                  <a:pt x="1682707" y="491458"/>
                </a:lnTo>
                <a:lnTo>
                  <a:pt x="1624683" y="492155"/>
                </a:lnTo>
                <a:lnTo>
                  <a:pt x="1566658" y="492835"/>
                </a:lnTo>
                <a:lnTo>
                  <a:pt x="1508634" y="493503"/>
                </a:lnTo>
                <a:lnTo>
                  <a:pt x="1450609" y="494155"/>
                </a:lnTo>
                <a:lnTo>
                  <a:pt x="1392585" y="494790"/>
                </a:lnTo>
                <a:lnTo>
                  <a:pt x="1334561" y="495416"/>
                </a:lnTo>
                <a:lnTo>
                  <a:pt x="1276536" y="496022"/>
                </a:lnTo>
                <a:lnTo>
                  <a:pt x="1218512" y="496604"/>
                </a:lnTo>
                <a:lnTo>
                  <a:pt x="1160487" y="497170"/>
                </a:lnTo>
                <a:lnTo>
                  <a:pt x="1102463" y="497718"/>
                </a:lnTo>
                <a:lnTo>
                  <a:pt x="1044439" y="498238"/>
                </a:lnTo>
                <a:lnTo>
                  <a:pt x="986414" y="498730"/>
                </a:lnTo>
                <a:lnTo>
                  <a:pt x="928390" y="499201"/>
                </a:lnTo>
                <a:lnTo>
                  <a:pt x="870365" y="499648"/>
                </a:lnTo>
                <a:lnTo>
                  <a:pt x="812341" y="500062"/>
                </a:lnTo>
                <a:lnTo>
                  <a:pt x="754317" y="500444"/>
                </a:lnTo>
                <a:lnTo>
                  <a:pt x="696292" y="500794"/>
                </a:lnTo>
                <a:lnTo>
                  <a:pt x="638268" y="501105"/>
                </a:lnTo>
                <a:lnTo>
                  <a:pt x="580243" y="501376"/>
                </a:lnTo>
                <a:lnTo>
                  <a:pt x="522219" y="501603"/>
                </a:lnTo>
                <a:lnTo>
                  <a:pt x="464195" y="501778"/>
                </a:lnTo>
                <a:lnTo>
                  <a:pt x="406170" y="501904"/>
                </a:lnTo>
                <a:lnTo>
                  <a:pt x="348146" y="501966"/>
                </a:lnTo>
                <a:lnTo>
                  <a:pt x="290121" y="501973"/>
                </a:lnTo>
                <a:lnTo>
                  <a:pt x="232097" y="501924"/>
                </a:lnTo>
                <a:lnTo>
                  <a:pt x="174073" y="501822"/>
                </a:lnTo>
                <a:lnTo>
                  <a:pt x="116048" y="501659"/>
                </a:lnTo>
                <a:lnTo>
                  <a:pt x="58024" y="501443"/>
                </a:lnTo>
                <a:lnTo>
                  <a:pt x="0" y="50116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bfa: 97-й центиль"/>
          <p:cNvSpPr/>
          <p:nvPr/>
        </p:nvSpPr>
        <p:spPr>
          <a:xfrm>
            <a:off x="932688" y="3811301"/>
            <a:ext cx="4641951" cy="253619"/>
          </a:xfrm>
          <a:custGeom>
            <a:avLst/>
            <a:gdLst/>
            <a:ahLst/>
            <a:cxnLst/>
            <a:rect l="l" t="t" r="r" b="b"/>
            <a:pathLst>
              <a:path w="4641951" h="253619">
                <a:moveTo>
                  <a:pt x="0" y="253619"/>
                </a:moveTo>
                <a:lnTo>
                  <a:pt x="58024" y="253034"/>
                </a:lnTo>
                <a:lnTo>
                  <a:pt x="116048" y="252358"/>
                </a:lnTo>
                <a:lnTo>
                  <a:pt x="174073" y="251569"/>
                </a:lnTo>
                <a:lnTo>
                  <a:pt x="232097" y="250685"/>
                </a:lnTo>
                <a:lnTo>
                  <a:pt x="290121" y="249692"/>
                </a:lnTo>
                <a:lnTo>
                  <a:pt x="348146" y="248606"/>
                </a:lnTo>
                <a:lnTo>
                  <a:pt x="406170" y="247408"/>
                </a:lnTo>
                <a:lnTo>
                  <a:pt x="464195" y="246119"/>
                </a:lnTo>
                <a:lnTo>
                  <a:pt x="522219" y="244737"/>
                </a:lnTo>
                <a:lnTo>
                  <a:pt x="580243" y="243255"/>
                </a:lnTo>
                <a:lnTo>
                  <a:pt x="638268" y="241684"/>
                </a:lnTo>
                <a:lnTo>
                  <a:pt x="696292" y="240032"/>
                </a:lnTo>
                <a:lnTo>
                  <a:pt x="754317" y="238295"/>
                </a:lnTo>
                <a:lnTo>
                  <a:pt x="812341" y="236490"/>
                </a:lnTo>
                <a:lnTo>
                  <a:pt x="870365" y="234605"/>
                </a:lnTo>
                <a:lnTo>
                  <a:pt x="928390" y="232653"/>
                </a:lnTo>
                <a:lnTo>
                  <a:pt x="986414" y="230628"/>
                </a:lnTo>
                <a:lnTo>
                  <a:pt x="1044439" y="228523"/>
                </a:lnTo>
                <a:lnTo>
                  <a:pt x="1102463" y="226366"/>
                </a:lnTo>
                <a:lnTo>
                  <a:pt x="1160487" y="224157"/>
                </a:lnTo>
                <a:lnTo>
                  <a:pt x="1218512" y="221872"/>
                </a:lnTo>
                <a:lnTo>
                  <a:pt x="1276536" y="219517"/>
                </a:lnTo>
                <a:lnTo>
                  <a:pt x="1334561" y="217118"/>
                </a:lnTo>
                <a:lnTo>
                  <a:pt x="1392585" y="214672"/>
                </a:lnTo>
                <a:lnTo>
                  <a:pt x="1450609" y="212161"/>
                </a:lnTo>
                <a:lnTo>
                  <a:pt x="1508634" y="209583"/>
                </a:lnTo>
                <a:lnTo>
                  <a:pt x="1566658" y="206957"/>
                </a:lnTo>
                <a:lnTo>
                  <a:pt x="1624683" y="204274"/>
                </a:lnTo>
                <a:lnTo>
                  <a:pt x="1682707" y="201555"/>
                </a:lnTo>
                <a:lnTo>
                  <a:pt x="1740731" y="198782"/>
                </a:lnTo>
                <a:lnTo>
                  <a:pt x="1798756" y="195944"/>
                </a:lnTo>
                <a:lnTo>
                  <a:pt x="1856780" y="193071"/>
                </a:lnTo>
                <a:lnTo>
                  <a:pt x="1914804" y="190138"/>
                </a:lnTo>
                <a:lnTo>
                  <a:pt x="1972829" y="187159"/>
                </a:lnTo>
                <a:lnTo>
                  <a:pt x="2030853" y="184134"/>
                </a:lnTo>
                <a:lnTo>
                  <a:pt x="2088878" y="181046"/>
                </a:lnTo>
                <a:lnTo>
                  <a:pt x="2146902" y="177913"/>
                </a:lnTo>
                <a:lnTo>
                  <a:pt x="2204926" y="174740"/>
                </a:lnTo>
                <a:lnTo>
                  <a:pt x="2262951" y="171536"/>
                </a:lnTo>
                <a:lnTo>
                  <a:pt x="2320975" y="168262"/>
                </a:lnTo>
                <a:lnTo>
                  <a:pt x="2379000" y="164956"/>
                </a:lnTo>
                <a:lnTo>
                  <a:pt x="2437024" y="161610"/>
                </a:lnTo>
                <a:lnTo>
                  <a:pt x="2495048" y="158219"/>
                </a:lnTo>
                <a:lnTo>
                  <a:pt x="2553073" y="154767"/>
                </a:lnTo>
                <a:lnTo>
                  <a:pt x="2611097" y="151286"/>
                </a:lnTo>
                <a:lnTo>
                  <a:pt x="2669122" y="147737"/>
                </a:lnTo>
                <a:lnTo>
                  <a:pt x="2727146" y="144137"/>
                </a:lnTo>
                <a:lnTo>
                  <a:pt x="2785170" y="140488"/>
                </a:lnTo>
                <a:lnTo>
                  <a:pt x="2843195" y="136784"/>
                </a:lnTo>
                <a:lnTo>
                  <a:pt x="2901219" y="133010"/>
                </a:lnTo>
                <a:lnTo>
                  <a:pt x="2959244" y="129184"/>
                </a:lnTo>
                <a:lnTo>
                  <a:pt x="3017268" y="125317"/>
                </a:lnTo>
                <a:lnTo>
                  <a:pt x="3075292" y="121392"/>
                </a:lnTo>
                <a:lnTo>
                  <a:pt x="3133317" y="117408"/>
                </a:lnTo>
                <a:lnTo>
                  <a:pt x="3191341" y="113396"/>
                </a:lnTo>
                <a:lnTo>
                  <a:pt x="3249366" y="109315"/>
                </a:lnTo>
                <a:lnTo>
                  <a:pt x="3307390" y="105172"/>
                </a:lnTo>
                <a:lnTo>
                  <a:pt x="3365414" y="101012"/>
                </a:lnTo>
                <a:lnTo>
                  <a:pt x="3423439" y="96799"/>
                </a:lnTo>
                <a:lnTo>
                  <a:pt x="3481463" y="92534"/>
                </a:lnTo>
                <a:lnTo>
                  <a:pt x="3539488" y="88220"/>
                </a:lnTo>
                <a:lnTo>
                  <a:pt x="3597512" y="83890"/>
                </a:lnTo>
                <a:lnTo>
                  <a:pt x="3655536" y="79478"/>
                </a:lnTo>
                <a:lnTo>
                  <a:pt x="3713561" y="75053"/>
                </a:lnTo>
                <a:lnTo>
                  <a:pt x="3771585" y="70592"/>
                </a:lnTo>
                <a:lnTo>
                  <a:pt x="3829609" y="66074"/>
                </a:lnTo>
                <a:lnTo>
                  <a:pt x="3887634" y="61533"/>
                </a:lnTo>
                <a:lnTo>
                  <a:pt x="3945658" y="56965"/>
                </a:lnTo>
                <a:lnTo>
                  <a:pt x="4003683" y="52374"/>
                </a:lnTo>
                <a:lnTo>
                  <a:pt x="4061707" y="47737"/>
                </a:lnTo>
                <a:lnTo>
                  <a:pt x="4119731" y="43082"/>
                </a:lnTo>
                <a:lnTo>
                  <a:pt x="4177756" y="38398"/>
                </a:lnTo>
                <a:lnTo>
                  <a:pt x="4235780" y="33693"/>
                </a:lnTo>
                <a:lnTo>
                  <a:pt x="4293805" y="28964"/>
                </a:lnTo>
                <a:lnTo>
                  <a:pt x="4351829" y="24192"/>
                </a:lnTo>
                <a:lnTo>
                  <a:pt x="4409853" y="19397"/>
                </a:lnTo>
                <a:lnTo>
                  <a:pt x="4467878" y="14599"/>
                </a:lnTo>
                <a:lnTo>
                  <a:pt x="4525902" y="9764"/>
                </a:lnTo>
                <a:lnTo>
                  <a:pt x="4583927" y="4889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14639" y="373630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93" name="bfa: 85-й центиль"/>
          <p:cNvSpPr/>
          <p:nvPr/>
        </p:nvSpPr>
        <p:spPr>
          <a:xfrm>
            <a:off x="932688" y="3963225"/>
            <a:ext cx="4641951" cy="169792"/>
          </a:xfrm>
          <a:custGeom>
            <a:avLst/>
            <a:gdLst/>
            <a:ahLst/>
            <a:cxnLst/>
            <a:rect l="l" t="t" r="r" b="b"/>
            <a:pathLst>
              <a:path w="4641951" h="169792">
                <a:moveTo>
                  <a:pt x="0" y="169792"/>
                </a:moveTo>
                <a:lnTo>
                  <a:pt x="58024" y="169687"/>
                </a:lnTo>
                <a:lnTo>
                  <a:pt x="116048" y="169502"/>
                </a:lnTo>
                <a:lnTo>
                  <a:pt x="174073" y="169227"/>
                </a:lnTo>
                <a:lnTo>
                  <a:pt x="232097" y="168870"/>
                </a:lnTo>
                <a:lnTo>
                  <a:pt x="290121" y="168426"/>
                </a:lnTo>
                <a:lnTo>
                  <a:pt x="348146" y="167902"/>
                </a:lnTo>
                <a:lnTo>
                  <a:pt x="406170" y="167288"/>
                </a:lnTo>
                <a:lnTo>
                  <a:pt x="464195" y="166594"/>
                </a:lnTo>
                <a:lnTo>
                  <a:pt x="522219" y="165824"/>
                </a:lnTo>
                <a:lnTo>
                  <a:pt x="580243" y="164974"/>
                </a:lnTo>
                <a:lnTo>
                  <a:pt x="638268" y="164052"/>
                </a:lnTo>
                <a:lnTo>
                  <a:pt x="696292" y="163066"/>
                </a:lnTo>
                <a:lnTo>
                  <a:pt x="754317" y="162013"/>
                </a:lnTo>
                <a:lnTo>
                  <a:pt x="812341" y="160908"/>
                </a:lnTo>
                <a:lnTo>
                  <a:pt x="870365" y="159742"/>
                </a:lnTo>
                <a:lnTo>
                  <a:pt x="928390" y="158525"/>
                </a:lnTo>
                <a:lnTo>
                  <a:pt x="986414" y="157255"/>
                </a:lnTo>
                <a:lnTo>
                  <a:pt x="1044439" y="155928"/>
                </a:lnTo>
                <a:lnTo>
                  <a:pt x="1102463" y="154561"/>
                </a:lnTo>
                <a:lnTo>
                  <a:pt x="1160487" y="153154"/>
                </a:lnTo>
                <a:lnTo>
                  <a:pt x="1218512" y="151696"/>
                </a:lnTo>
                <a:lnTo>
                  <a:pt x="1276536" y="150190"/>
                </a:lnTo>
                <a:lnTo>
                  <a:pt x="1334561" y="148650"/>
                </a:lnTo>
                <a:lnTo>
                  <a:pt x="1392585" y="147077"/>
                </a:lnTo>
                <a:lnTo>
                  <a:pt x="1450609" y="145462"/>
                </a:lnTo>
                <a:lnTo>
                  <a:pt x="1508634" y="143803"/>
                </a:lnTo>
                <a:lnTo>
                  <a:pt x="1566658" y="142112"/>
                </a:lnTo>
                <a:lnTo>
                  <a:pt x="1624683" y="140384"/>
                </a:lnTo>
                <a:lnTo>
                  <a:pt x="1682707" y="138630"/>
                </a:lnTo>
                <a:lnTo>
                  <a:pt x="1740731" y="136841"/>
                </a:lnTo>
                <a:lnTo>
                  <a:pt x="1798756" y="135013"/>
                </a:lnTo>
                <a:lnTo>
                  <a:pt x="1856780" y="133158"/>
                </a:lnTo>
                <a:lnTo>
                  <a:pt x="1914804" y="131267"/>
                </a:lnTo>
                <a:lnTo>
                  <a:pt x="1972829" y="129344"/>
                </a:lnTo>
                <a:lnTo>
                  <a:pt x="2030853" y="127391"/>
                </a:lnTo>
                <a:lnTo>
                  <a:pt x="2088878" y="125402"/>
                </a:lnTo>
                <a:lnTo>
                  <a:pt x="2146902" y="123382"/>
                </a:lnTo>
                <a:lnTo>
                  <a:pt x="2204926" y="121334"/>
                </a:lnTo>
                <a:lnTo>
                  <a:pt x="2262951" y="119265"/>
                </a:lnTo>
                <a:lnTo>
                  <a:pt x="2320975" y="117152"/>
                </a:lnTo>
                <a:lnTo>
                  <a:pt x="2379000" y="115017"/>
                </a:lnTo>
                <a:lnTo>
                  <a:pt x="2437024" y="112853"/>
                </a:lnTo>
                <a:lnTo>
                  <a:pt x="2495048" y="110655"/>
                </a:lnTo>
                <a:lnTo>
                  <a:pt x="2553073" y="108420"/>
                </a:lnTo>
                <a:lnTo>
                  <a:pt x="2611097" y="106154"/>
                </a:lnTo>
                <a:lnTo>
                  <a:pt x="2669122" y="103844"/>
                </a:lnTo>
                <a:lnTo>
                  <a:pt x="2727146" y="101494"/>
                </a:lnTo>
                <a:lnTo>
                  <a:pt x="2785170" y="99105"/>
                </a:lnTo>
                <a:lnTo>
                  <a:pt x="2843195" y="96671"/>
                </a:lnTo>
                <a:lnTo>
                  <a:pt x="2901219" y="94186"/>
                </a:lnTo>
                <a:lnTo>
                  <a:pt x="2959244" y="91658"/>
                </a:lnTo>
                <a:lnTo>
                  <a:pt x="3017268" y="89087"/>
                </a:lnTo>
                <a:lnTo>
                  <a:pt x="3075292" y="86469"/>
                </a:lnTo>
                <a:lnTo>
                  <a:pt x="3133317" y="83800"/>
                </a:lnTo>
                <a:lnTo>
                  <a:pt x="3191341" y="81098"/>
                </a:lnTo>
                <a:lnTo>
                  <a:pt x="3249366" y="78342"/>
                </a:lnTo>
                <a:lnTo>
                  <a:pt x="3307390" y="75536"/>
                </a:lnTo>
                <a:lnTo>
                  <a:pt x="3365414" y="72701"/>
                </a:lnTo>
                <a:lnTo>
                  <a:pt x="3423439" y="69818"/>
                </a:lnTo>
                <a:lnTo>
                  <a:pt x="3481463" y="66889"/>
                </a:lnTo>
                <a:lnTo>
                  <a:pt x="3539488" y="63914"/>
                </a:lnTo>
                <a:lnTo>
                  <a:pt x="3597512" y="60911"/>
                </a:lnTo>
                <a:lnTo>
                  <a:pt x="3655536" y="57847"/>
                </a:lnTo>
                <a:lnTo>
                  <a:pt x="3713561" y="54750"/>
                </a:lnTo>
                <a:lnTo>
                  <a:pt x="3771585" y="51613"/>
                </a:lnTo>
                <a:lnTo>
                  <a:pt x="3829609" y="48428"/>
                </a:lnTo>
                <a:lnTo>
                  <a:pt x="3887634" y="45211"/>
                </a:lnTo>
                <a:lnTo>
                  <a:pt x="3945658" y="41958"/>
                </a:lnTo>
                <a:lnTo>
                  <a:pt x="4003683" y="38668"/>
                </a:lnTo>
                <a:lnTo>
                  <a:pt x="4061707" y="35336"/>
                </a:lnTo>
                <a:lnTo>
                  <a:pt x="4119731" y="31974"/>
                </a:lnTo>
                <a:lnTo>
                  <a:pt x="4177756" y="28572"/>
                </a:lnTo>
                <a:lnTo>
                  <a:pt x="4235780" y="25136"/>
                </a:lnTo>
                <a:lnTo>
                  <a:pt x="4293805" y="21666"/>
                </a:lnTo>
                <a:lnTo>
                  <a:pt x="4351829" y="18150"/>
                </a:lnTo>
                <a:lnTo>
                  <a:pt x="4409853" y="14594"/>
                </a:lnTo>
                <a:lnTo>
                  <a:pt x="4467878" y="11011"/>
                </a:lnTo>
                <a:lnTo>
                  <a:pt x="4525902" y="7382"/>
                </a:lnTo>
                <a:lnTo>
                  <a:pt x="4583927" y="3710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14639" y="388822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95" name="bfa: 50-й центиль"/>
          <p:cNvSpPr/>
          <p:nvPr/>
        </p:nvSpPr>
        <p:spPr>
          <a:xfrm>
            <a:off x="932688" y="4090666"/>
            <a:ext cx="4641951" cy="115085"/>
          </a:xfrm>
          <a:custGeom>
            <a:avLst/>
            <a:gdLst/>
            <a:ahLst/>
            <a:cxnLst/>
            <a:rect l="l" t="t" r="r" b="b"/>
            <a:pathLst>
              <a:path w="4641951" h="115085">
                <a:moveTo>
                  <a:pt x="0" y="114706"/>
                </a:moveTo>
                <a:lnTo>
                  <a:pt x="58024" y="114905"/>
                </a:lnTo>
                <a:lnTo>
                  <a:pt x="116048" y="115031"/>
                </a:lnTo>
                <a:lnTo>
                  <a:pt x="174073" y="115085"/>
                </a:lnTo>
                <a:lnTo>
                  <a:pt x="232097" y="115067"/>
                </a:lnTo>
                <a:lnTo>
                  <a:pt x="290121" y="114977"/>
                </a:lnTo>
                <a:lnTo>
                  <a:pt x="348146" y="114819"/>
                </a:lnTo>
                <a:lnTo>
                  <a:pt x="406170" y="114587"/>
                </a:lnTo>
                <a:lnTo>
                  <a:pt x="464195" y="114283"/>
                </a:lnTo>
                <a:lnTo>
                  <a:pt x="522219" y="113916"/>
                </a:lnTo>
                <a:lnTo>
                  <a:pt x="580243" y="113481"/>
                </a:lnTo>
                <a:lnTo>
                  <a:pt x="638268" y="112988"/>
                </a:lnTo>
                <a:lnTo>
                  <a:pt x="696292" y="112442"/>
                </a:lnTo>
                <a:lnTo>
                  <a:pt x="754317" y="111844"/>
                </a:lnTo>
                <a:lnTo>
                  <a:pt x="812341" y="111202"/>
                </a:lnTo>
                <a:lnTo>
                  <a:pt x="870365" y="110514"/>
                </a:lnTo>
                <a:lnTo>
                  <a:pt x="928390" y="109784"/>
                </a:lnTo>
                <a:lnTo>
                  <a:pt x="986414" y="109015"/>
                </a:lnTo>
                <a:lnTo>
                  <a:pt x="1044439" y="108207"/>
                </a:lnTo>
                <a:lnTo>
                  <a:pt x="1102463" y="107365"/>
                </a:lnTo>
                <a:lnTo>
                  <a:pt x="1160487" y="106489"/>
                </a:lnTo>
                <a:lnTo>
                  <a:pt x="1218512" y="105578"/>
                </a:lnTo>
                <a:lnTo>
                  <a:pt x="1276536" y="104635"/>
                </a:lnTo>
                <a:lnTo>
                  <a:pt x="1334561" y="103663"/>
                </a:lnTo>
                <a:lnTo>
                  <a:pt x="1392585" y="102665"/>
                </a:lnTo>
                <a:lnTo>
                  <a:pt x="1450609" y="101642"/>
                </a:lnTo>
                <a:lnTo>
                  <a:pt x="1508634" y="100589"/>
                </a:lnTo>
                <a:lnTo>
                  <a:pt x="1566658" y="99511"/>
                </a:lnTo>
                <a:lnTo>
                  <a:pt x="1624683" y="98410"/>
                </a:lnTo>
                <a:lnTo>
                  <a:pt x="1682707" y="97288"/>
                </a:lnTo>
                <a:lnTo>
                  <a:pt x="1740731" y="96140"/>
                </a:lnTo>
                <a:lnTo>
                  <a:pt x="1798756" y="94970"/>
                </a:lnTo>
                <a:lnTo>
                  <a:pt x="1856780" y="93777"/>
                </a:lnTo>
                <a:lnTo>
                  <a:pt x="1914804" y="92563"/>
                </a:lnTo>
                <a:lnTo>
                  <a:pt x="1972829" y="91322"/>
                </a:lnTo>
                <a:lnTo>
                  <a:pt x="2030853" y="90061"/>
                </a:lnTo>
                <a:lnTo>
                  <a:pt x="2088878" y="88780"/>
                </a:lnTo>
                <a:lnTo>
                  <a:pt x="2146902" y="87476"/>
                </a:lnTo>
                <a:lnTo>
                  <a:pt x="2204926" y="86150"/>
                </a:lnTo>
                <a:lnTo>
                  <a:pt x="2262951" y="84807"/>
                </a:lnTo>
                <a:lnTo>
                  <a:pt x="2320975" y="83436"/>
                </a:lnTo>
                <a:lnTo>
                  <a:pt x="2379000" y="82048"/>
                </a:lnTo>
                <a:lnTo>
                  <a:pt x="2437024" y="80636"/>
                </a:lnTo>
                <a:lnTo>
                  <a:pt x="2495048" y="79198"/>
                </a:lnTo>
                <a:lnTo>
                  <a:pt x="2553073" y="77735"/>
                </a:lnTo>
                <a:lnTo>
                  <a:pt x="2611097" y="76240"/>
                </a:lnTo>
                <a:lnTo>
                  <a:pt x="2669122" y="74716"/>
                </a:lnTo>
                <a:lnTo>
                  <a:pt x="2727146" y="73158"/>
                </a:lnTo>
                <a:lnTo>
                  <a:pt x="2785170" y="71567"/>
                </a:lnTo>
                <a:lnTo>
                  <a:pt x="2843195" y="69938"/>
                </a:lnTo>
                <a:lnTo>
                  <a:pt x="2901219" y="68270"/>
                </a:lnTo>
                <a:lnTo>
                  <a:pt x="2959244" y="66565"/>
                </a:lnTo>
                <a:lnTo>
                  <a:pt x="3017268" y="64818"/>
                </a:lnTo>
                <a:lnTo>
                  <a:pt x="3075292" y="63030"/>
                </a:lnTo>
                <a:lnTo>
                  <a:pt x="3133317" y="61199"/>
                </a:lnTo>
                <a:lnTo>
                  <a:pt x="3191341" y="59332"/>
                </a:lnTo>
                <a:lnTo>
                  <a:pt x="3249366" y="57423"/>
                </a:lnTo>
                <a:lnTo>
                  <a:pt x="3307390" y="55473"/>
                </a:lnTo>
                <a:lnTo>
                  <a:pt x="3365414" y="53490"/>
                </a:lnTo>
                <a:lnTo>
                  <a:pt x="3423439" y="51463"/>
                </a:lnTo>
                <a:lnTo>
                  <a:pt x="3481463" y="49397"/>
                </a:lnTo>
                <a:lnTo>
                  <a:pt x="3539488" y="47290"/>
                </a:lnTo>
                <a:lnTo>
                  <a:pt x="3597512" y="45149"/>
                </a:lnTo>
                <a:lnTo>
                  <a:pt x="3655536" y="42964"/>
                </a:lnTo>
                <a:lnTo>
                  <a:pt x="3713561" y="40739"/>
                </a:lnTo>
                <a:lnTo>
                  <a:pt x="3771585" y="38472"/>
                </a:lnTo>
                <a:lnTo>
                  <a:pt x="3829609" y="36170"/>
                </a:lnTo>
                <a:lnTo>
                  <a:pt x="3887634" y="33830"/>
                </a:lnTo>
                <a:lnTo>
                  <a:pt x="3945658" y="31456"/>
                </a:lnTo>
                <a:lnTo>
                  <a:pt x="4003683" y="29042"/>
                </a:lnTo>
                <a:lnTo>
                  <a:pt x="4061707" y="26592"/>
                </a:lnTo>
                <a:lnTo>
                  <a:pt x="4119731" y="24109"/>
                </a:lnTo>
                <a:lnTo>
                  <a:pt x="4177756" y="21586"/>
                </a:lnTo>
                <a:lnTo>
                  <a:pt x="4235780" y="19025"/>
                </a:lnTo>
                <a:lnTo>
                  <a:pt x="4293805" y="16430"/>
                </a:lnTo>
                <a:lnTo>
                  <a:pt x="4351829" y="13795"/>
                </a:lnTo>
                <a:lnTo>
                  <a:pt x="4409853" y="11115"/>
                </a:lnTo>
                <a:lnTo>
                  <a:pt x="4467878" y="8399"/>
                </a:lnTo>
                <a:lnTo>
                  <a:pt x="4525902" y="5641"/>
                </a:lnTo>
                <a:lnTo>
                  <a:pt x="4583927" y="2843"/>
                </a:lnTo>
                <a:lnTo>
                  <a:pt x="4641951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14639" y="401566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97" name="bfa: 15-й центиль"/>
          <p:cNvSpPr/>
          <p:nvPr/>
        </p:nvSpPr>
        <p:spPr>
          <a:xfrm>
            <a:off x="932688" y="4181758"/>
            <a:ext cx="4641951" cy="86806"/>
          </a:xfrm>
          <a:custGeom>
            <a:avLst/>
            <a:gdLst/>
            <a:ahLst/>
            <a:cxnLst/>
            <a:rect l="l" t="t" r="r" b="b"/>
            <a:pathLst>
              <a:path w="4641951" h="86806">
                <a:moveTo>
                  <a:pt x="0" y="85962"/>
                </a:moveTo>
                <a:lnTo>
                  <a:pt x="58024" y="86259"/>
                </a:lnTo>
                <a:lnTo>
                  <a:pt x="116048" y="86489"/>
                </a:lnTo>
                <a:lnTo>
                  <a:pt x="174073" y="86658"/>
                </a:lnTo>
                <a:lnTo>
                  <a:pt x="232097" y="86762"/>
                </a:lnTo>
                <a:lnTo>
                  <a:pt x="290121" y="86806"/>
                </a:lnTo>
                <a:lnTo>
                  <a:pt x="348146" y="86788"/>
                </a:lnTo>
                <a:lnTo>
                  <a:pt x="406170" y="86708"/>
                </a:lnTo>
                <a:lnTo>
                  <a:pt x="464195" y="86561"/>
                </a:lnTo>
                <a:lnTo>
                  <a:pt x="522219" y="86359"/>
                </a:lnTo>
                <a:lnTo>
                  <a:pt x="580243" y="86099"/>
                </a:lnTo>
                <a:lnTo>
                  <a:pt x="638268" y="85789"/>
                </a:lnTo>
                <a:lnTo>
                  <a:pt x="696292" y="85434"/>
                </a:lnTo>
                <a:lnTo>
                  <a:pt x="754317" y="85035"/>
                </a:lnTo>
                <a:lnTo>
                  <a:pt x="812341" y="84599"/>
                </a:lnTo>
                <a:lnTo>
                  <a:pt x="870365" y="84126"/>
                </a:lnTo>
                <a:lnTo>
                  <a:pt x="928390" y="83616"/>
                </a:lnTo>
                <a:lnTo>
                  <a:pt x="986414" y="83076"/>
                </a:lnTo>
                <a:lnTo>
                  <a:pt x="1044439" y="82508"/>
                </a:lnTo>
                <a:lnTo>
                  <a:pt x="1102463" y="81910"/>
                </a:lnTo>
                <a:lnTo>
                  <a:pt x="1160487" y="81282"/>
                </a:lnTo>
                <a:lnTo>
                  <a:pt x="1218512" y="80629"/>
                </a:lnTo>
                <a:lnTo>
                  <a:pt x="1276536" y="79953"/>
                </a:lnTo>
                <a:lnTo>
                  <a:pt x="1334561" y="79252"/>
                </a:lnTo>
                <a:lnTo>
                  <a:pt x="1392585" y="78528"/>
                </a:lnTo>
                <a:lnTo>
                  <a:pt x="1450609" y="77790"/>
                </a:lnTo>
                <a:lnTo>
                  <a:pt x="1508634" y="77029"/>
                </a:lnTo>
                <a:lnTo>
                  <a:pt x="1566658" y="76249"/>
                </a:lnTo>
                <a:lnTo>
                  <a:pt x="1624683" y="75452"/>
                </a:lnTo>
                <a:lnTo>
                  <a:pt x="1682707" y="74636"/>
                </a:lnTo>
                <a:lnTo>
                  <a:pt x="1740731" y="73801"/>
                </a:lnTo>
                <a:lnTo>
                  <a:pt x="1798756" y="72954"/>
                </a:lnTo>
                <a:lnTo>
                  <a:pt x="1856780" y="72087"/>
                </a:lnTo>
                <a:lnTo>
                  <a:pt x="1914804" y="71205"/>
                </a:lnTo>
                <a:lnTo>
                  <a:pt x="1972829" y="70301"/>
                </a:lnTo>
                <a:lnTo>
                  <a:pt x="2030853" y="69382"/>
                </a:lnTo>
                <a:lnTo>
                  <a:pt x="2088878" y="68453"/>
                </a:lnTo>
                <a:lnTo>
                  <a:pt x="2146902" y="67506"/>
                </a:lnTo>
                <a:lnTo>
                  <a:pt x="2204926" y="66539"/>
                </a:lnTo>
                <a:lnTo>
                  <a:pt x="2262951" y="65558"/>
                </a:lnTo>
                <a:lnTo>
                  <a:pt x="2320975" y="64559"/>
                </a:lnTo>
                <a:lnTo>
                  <a:pt x="2379000" y="63546"/>
                </a:lnTo>
                <a:lnTo>
                  <a:pt x="2437024" y="62514"/>
                </a:lnTo>
                <a:lnTo>
                  <a:pt x="2495048" y="61459"/>
                </a:lnTo>
                <a:lnTo>
                  <a:pt x="2553073" y="60387"/>
                </a:lnTo>
                <a:lnTo>
                  <a:pt x="2611097" y="59285"/>
                </a:lnTo>
                <a:lnTo>
                  <a:pt x="2669122" y="58162"/>
                </a:lnTo>
                <a:lnTo>
                  <a:pt x="2727146" y="57011"/>
                </a:lnTo>
                <a:lnTo>
                  <a:pt x="2785170" y="55830"/>
                </a:lnTo>
                <a:lnTo>
                  <a:pt x="2843195" y="54618"/>
                </a:lnTo>
                <a:lnTo>
                  <a:pt x="2901219" y="53374"/>
                </a:lnTo>
                <a:lnTo>
                  <a:pt x="2959244" y="52099"/>
                </a:lnTo>
                <a:lnTo>
                  <a:pt x="3017268" y="50786"/>
                </a:lnTo>
                <a:lnTo>
                  <a:pt x="3075292" y="49437"/>
                </a:lnTo>
                <a:lnTo>
                  <a:pt x="3133317" y="48051"/>
                </a:lnTo>
                <a:lnTo>
                  <a:pt x="3191341" y="46630"/>
                </a:lnTo>
                <a:lnTo>
                  <a:pt x="3249366" y="45176"/>
                </a:lnTo>
                <a:lnTo>
                  <a:pt x="3307390" y="43690"/>
                </a:lnTo>
                <a:lnTo>
                  <a:pt x="3365414" y="42169"/>
                </a:lnTo>
                <a:lnTo>
                  <a:pt x="3423439" y="40611"/>
                </a:lnTo>
                <a:lnTo>
                  <a:pt x="3481463" y="39020"/>
                </a:lnTo>
                <a:lnTo>
                  <a:pt x="3539488" y="37394"/>
                </a:lnTo>
                <a:lnTo>
                  <a:pt x="3597512" y="35734"/>
                </a:lnTo>
                <a:lnTo>
                  <a:pt x="3655536" y="34042"/>
                </a:lnTo>
                <a:lnTo>
                  <a:pt x="3713561" y="32310"/>
                </a:lnTo>
                <a:lnTo>
                  <a:pt x="3771585" y="30538"/>
                </a:lnTo>
                <a:lnTo>
                  <a:pt x="3829609" y="28741"/>
                </a:lnTo>
                <a:lnTo>
                  <a:pt x="3887634" y="26908"/>
                </a:lnTo>
                <a:lnTo>
                  <a:pt x="3945658" y="25043"/>
                </a:lnTo>
                <a:lnTo>
                  <a:pt x="4003683" y="23142"/>
                </a:lnTo>
                <a:lnTo>
                  <a:pt x="4061707" y="21211"/>
                </a:lnTo>
                <a:lnTo>
                  <a:pt x="4119731" y="19249"/>
                </a:lnTo>
                <a:lnTo>
                  <a:pt x="4177756" y="17251"/>
                </a:lnTo>
                <a:lnTo>
                  <a:pt x="4235780" y="15218"/>
                </a:lnTo>
                <a:lnTo>
                  <a:pt x="4293805" y="13155"/>
                </a:lnTo>
                <a:lnTo>
                  <a:pt x="4351829" y="11058"/>
                </a:lnTo>
                <a:lnTo>
                  <a:pt x="4409853" y="8920"/>
                </a:lnTo>
                <a:lnTo>
                  <a:pt x="4467878" y="6744"/>
                </a:lnTo>
                <a:lnTo>
                  <a:pt x="4525902" y="4532"/>
                </a:lnTo>
                <a:lnTo>
                  <a:pt x="4583927" y="2288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14639" y="4106758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99" name="bfa: 3-й центиль"/>
          <p:cNvSpPr/>
          <p:nvPr/>
        </p:nvSpPr>
        <p:spPr>
          <a:xfrm>
            <a:off x="932688" y="4239397"/>
            <a:ext cx="4641951" cy="73877"/>
          </a:xfrm>
          <a:custGeom>
            <a:avLst/>
            <a:gdLst/>
            <a:ahLst/>
            <a:cxnLst/>
            <a:rect l="l" t="t" r="r" b="b"/>
            <a:pathLst>
              <a:path w="4641951" h="73877">
                <a:moveTo>
                  <a:pt x="0" y="73070"/>
                </a:moveTo>
                <a:lnTo>
                  <a:pt x="58024" y="73347"/>
                </a:lnTo>
                <a:lnTo>
                  <a:pt x="116048" y="73563"/>
                </a:lnTo>
                <a:lnTo>
                  <a:pt x="174073" y="73726"/>
                </a:lnTo>
                <a:lnTo>
                  <a:pt x="232097" y="73828"/>
                </a:lnTo>
                <a:lnTo>
                  <a:pt x="290121" y="73877"/>
                </a:lnTo>
                <a:lnTo>
                  <a:pt x="348146" y="73870"/>
                </a:lnTo>
                <a:lnTo>
                  <a:pt x="406170" y="73808"/>
                </a:lnTo>
                <a:lnTo>
                  <a:pt x="464195" y="73682"/>
                </a:lnTo>
                <a:lnTo>
                  <a:pt x="522219" y="73507"/>
                </a:lnTo>
                <a:lnTo>
                  <a:pt x="580243" y="73280"/>
                </a:lnTo>
                <a:lnTo>
                  <a:pt x="638268" y="73009"/>
                </a:lnTo>
                <a:lnTo>
                  <a:pt x="696292" y="72698"/>
                </a:lnTo>
                <a:lnTo>
                  <a:pt x="754317" y="72348"/>
                </a:lnTo>
                <a:lnTo>
                  <a:pt x="812341" y="71966"/>
                </a:lnTo>
                <a:lnTo>
                  <a:pt x="870365" y="71552"/>
                </a:lnTo>
                <a:lnTo>
                  <a:pt x="928390" y="71105"/>
                </a:lnTo>
                <a:lnTo>
                  <a:pt x="986414" y="70634"/>
                </a:lnTo>
                <a:lnTo>
                  <a:pt x="1044439" y="70142"/>
                </a:lnTo>
                <a:lnTo>
                  <a:pt x="1102463" y="69622"/>
                </a:lnTo>
                <a:lnTo>
                  <a:pt x="1160487" y="69074"/>
                </a:lnTo>
                <a:lnTo>
                  <a:pt x="1218512" y="68508"/>
                </a:lnTo>
                <a:lnTo>
                  <a:pt x="1276536" y="67926"/>
                </a:lnTo>
                <a:lnTo>
                  <a:pt x="1334561" y="67320"/>
                </a:lnTo>
                <a:lnTo>
                  <a:pt x="1392585" y="66694"/>
                </a:lnTo>
                <a:lnTo>
                  <a:pt x="1450609" y="66059"/>
                </a:lnTo>
                <a:lnTo>
                  <a:pt x="1508634" y="65407"/>
                </a:lnTo>
                <a:lnTo>
                  <a:pt x="1566658" y="64739"/>
                </a:lnTo>
                <a:lnTo>
                  <a:pt x="1624683" y="64059"/>
                </a:lnTo>
                <a:lnTo>
                  <a:pt x="1682707" y="63362"/>
                </a:lnTo>
                <a:lnTo>
                  <a:pt x="1740731" y="62649"/>
                </a:lnTo>
                <a:lnTo>
                  <a:pt x="1798756" y="61930"/>
                </a:lnTo>
                <a:lnTo>
                  <a:pt x="1856780" y="61192"/>
                </a:lnTo>
                <a:lnTo>
                  <a:pt x="1914804" y="60445"/>
                </a:lnTo>
                <a:lnTo>
                  <a:pt x="1972829" y="59678"/>
                </a:lnTo>
                <a:lnTo>
                  <a:pt x="2030853" y="58900"/>
                </a:lnTo>
                <a:lnTo>
                  <a:pt x="2088878" y="58117"/>
                </a:lnTo>
                <a:lnTo>
                  <a:pt x="2146902" y="57320"/>
                </a:lnTo>
                <a:lnTo>
                  <a:pt x="2204926" y="56505"/>
                </a:lnTo>
                <a:lnTo>
                  <a:pt x="2262951" y="55678"/>
                </a:lnTo>
                <a:lnTo>
                  <a:pt x="2320975" y="54840"/>
                </a:lnTo>
                <a:lnTo>
                  <a:pt x="2379000" y="53990"/>
                </a:lnTo>
                <a:lnTo>
                  <a:pt x="2437024" y="53122"/>
                </a:lnTo>
                <a:lnTo>
                  <a:pt x="2495048" y="52237"/>
                </a:lnTo>
                <a:lnTo>
                  <a:pt x="2553073" y="51340"/>
                </a:lnTo>
                <a:lnTo>
                  <a:pt x="2611097" y="50413"/>
                </a:lnTo>
                <a:lnTo>
                  <a:pt x="2669122" y="49472"/>
                </a:lnTo>
                <a:lnTo>
                  <a:pt x="2727146" y="48506"/>
                </a:lnTo>
                <a:lnTo>
                  <a:pt x="2785170" y="47515"/>
                </a:lnTo>
                <a:lnTo>
                  <a:pt x="2843195" y="46495"/>
                </a:lnTo>
                <a:lnTo>
                  <a:pt x="2901219" y="45451"/>
                </a:lnTo>
                <a:lnTo>
                  <a:pt x="2959244" y="44380"/>
                </a:lnTo>
                <a:lnTo>
                  <a:pt x="3017268" y="43273"/>
                </a:lnTo>
                <a:lnTo>
                  <a:pt x="3075292" y="42136"/>
                </a:lnTo>
                <a:lnTo>
                  <a:pt x="3133317" y="40966"/>
                </a:lnTo>
                <a:lnTo>
                  <a:pt x="3191341" y="39763"/>
                </a:lnTo>
                <a:lnTo>
                  <a:pt x="3249366" y="38534"/>
                </a:lnTo>
                <a:lnTo>
                  <a:pt x="3307390" y="37279"/>
                </a:lnTo>
                <a:lnTo>
                  <a:pt x="3365414" y="35991"/>
                </a:lnTo>
                <a:lnTo>
                  <a:pt x="3423439" y="34670"/>
                </a:lnTo>
                <a:lnTo>
                  <a:pt x="3481463" y="33320"/>
                </a:lnTo>
                <a:lnTo>
                  <a:pt x="3539488" y="31941"/>
                </a:lnTo>
                <a:lnTo>
                  <a:pt x="3597512" y="30530"/>
                </a:lnTo>
                <a:lnTo>
                  <a:pt x="3655536" y="29095"/>
                </a:lnTo>
                <a:lnTo>
                  <a:pt x="3713561" y="27621"/>
                </a:lnTo>
                <a:lnTo>
                  <a:pt x="3771585" y="26111"/>
                </a:lnTo>
                <a:lnTo>
                  <a:pt x="3829609" y="24582"/>
                </a:lnTo>
                <a:lnTo>
                  <a:pt x="3887634" y="23020"/>
                </a:lnTo>
                <a:lnTo>
                  <a:pt x="3945658" y="21431"/>
                </a:lnTo>
                <a:lnTo>
                  <a:pt x="4003683" y="19809"/>
                </a:lnTo>
                <a:lnTo>
                  <a:pt x="4061707" y="18161"/>
                </a:lnTo>
                <a:lnTo>
                  <a:pt x="4119731" y="16486"/>
                </a:lnTo>
                <a:lnTo>
                  <a:pt x="4177756" y="14779"/>
                </a:lnTo>
                <a:lnTo>
                  <a:pt x="4235780" y="13040"/>
                </a:lnTo>
                <a:lnTo>
                  <a:pt x="4293805" y="11275"/>
                </a:lnTo>
                <a:lnTo>
                  <a:pt x="4351829" y="9483"/>
                </a:lnTo>
                <a:lnTo>
                  <a:pt x="4409853" y="7651"/>
                </a:lnTo>
                <a:lnTo>
                  <a:pt x="4467878" y="5784"/>
                </a:lnTo>
                <a:lnTo>
                  <a:pt x="4525902" y="3887"/>
                </a:lnTo>
                <a:lnTo>
                  <a:pt x="4583927" y="1964"/>
                </a:lnTo>
                <a:lnTo>
                  <a:pt x="4641951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14639" y="4164397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101" name="bfa: пример"/>
          <p:cNvSpPr/>
          <p:nvPr/>
        </p:nvSpPr>
        <p:spPr>
          <a:xfrm>
            <a:off x="932688" y="3693708"/>
            <a:ext cx="3978815" cy="426786"/>
          </a:xfrm>
          <a:custGeom>
            <a:avLst/>
            <a:gdLst/>
            <a:ahLst/>
            <a:cxnLst/>
            <a:rect l="l" t="t" r="r" b="b"/>
            <a:pathLst>
              <a:path w="3978815" h="426786">
                <a:moveTo>
                  <a:pt x="0" y="426786"/>
                </a:moveTo>
                <a:lnTo>
                  <a:pt x="110522" y="422452"/>
                </a:lnTo>
                <a:lnTo>
                  <a:pt x="221045" y="417664"/>
                </a:lnTo>
                <a:lnTo>
                  <a:pt x="331567" y="412410"/>
                </a:lnTo>
                <a:lnTo>
                  <a:pt x="442090" y="406668"/>
                </a:lnTo>
                <a:lnTo>
                  <a:pt x="552613" y="400456"/>
                </a:lnTo>
                <a:lnTo>
                  <a:pt x="663135" y="393760"/>
                </a:lnTo>
                <a:lnTo>
                  <a:pt x="773658" y="386600"/>
                </a:lnTo>
                <a:lnTo>
                  <a:pt x="884181" y="378989"/>
                </a:lnTo>
                <a:lnTo>
                  <a:pt x="994703" y="370918"/>
                </a:lnTo>
                <a:lnTo>
                  <a:pt x="1105226" y="362363"/>
                </a:lnTo>
                <a:lnTo>
                  <a:pt x="1215749" y="353350"/>
                </a:lnTo>
                <a:lnTo>
                  <a:pt x="1326271" y="343824"/>
                </a:lnTo>
                <a:lnTo>
                  <a:pt x="1436794" y="334744"/>
                </a:lnTo>
                <a:lnTo>
                  <a:pt x="1547317" y="325171"/>
                </a:lnTo>
                <a:lnTo>
                  <a:pt x="1657839" y="315120"/>
                </a:lnTo>
                <a:lnTo>
                  <a:pt x="1768362" y="304587"/>
                </a:lnTo>
                <a:lnTo>
                  <a:pt x="1878885" y="293530"/>
                </a:lnTo>
                <a:lnTo>
                  <a:pt x="1989407" y="281906"/>
                </a:lnTo>
                <a:lnTo>
                  <a:pt x="2099930" y="269698"/>
                </a:lnTo>
                <a:lnTo>
                  <a:pt x="2210453" y="256890"/>
                </a:lnTo>
                <a:lnTo>
                  <a:pt x="2320975" y="243460"/>
                </a:lnTo>
                <a:lnTo>
                  <a:pt x="2431498" y="229370"/>
                </a:lnTo>
                <a:lnTo>
                  <a:pt x="2542021" y="214564"/>
                </a:lnTo>
                <a:lnTo>
                  <a:pt x="2652543" y="199026"/>
                </a:lnTo>
                <a:lnTo>
                  <a:pt x="2763066" y="185703"/>
                </a:lnTo>
                <a:lnTo>
                  <a:pt x="2873589" y="171815"/>
                </a:lnTo>
                <a:lnTo>
                  <a:pt x="2984111" y="157300"/>
                </a:lnTo>
                <a:lnTo>
                  <a:pt x="3094634" y="142220"/>
                </a:lnTo>
                <a:lnTo>
                  <a:pt x="3205156" y="126561"/>
                </a:lnTo>
                <a:lnTo>
                  <a:pt x="3315679" y="110226"/>
                </a:lnTo>
                <a:lnTo>
                  <a:pt x="3426202" y="93370"/>
                </a:lnTo>
                <a:lnTo>
                  <a:pt x="3536724" y="75858"/>
                </a:lnTo>
                <a:lnTo>
                  <a:pt x="3647247" y="57758"/>
                </a:lnTo>
                <a:lnTo>
                  <a:pt x="3757770" y="39109"/>
                </a:lnTo>
                <a:lnTo>
                  <a:pt x="3868292" y="19805"/>
                </a:lnTo>
                <a:lnTo>
                  <a:pt x="3978815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bfa: точка 5"/>
          <p:cNvSpPr/>
          <p:nvPr/>
        </p:nvSpPr>
        <p:spPr>
          <a:xfrm>
            <a:off x="874688" y="406249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fa: точка 7"/>
          <p:cNvSpPr/>
          <p:nvPr/>
        </p:nvSpPr>
        <p:spPr>
          <a:xfrm>
            <a:off x="2200959" y="3979532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bfa: точка 9"/>
          <p:cNvSpPr/>
          <p:nvPr/>
        </p:nvSpPr>
        <p:spPr>
          <a:xfrm>
            <a:off x="3527231" y="383473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bfa: точка 11"/>
          <p:cNvSpPr/>
          <p:nvPr/>
        </p:nvSpPr>
        <p:spPr>
          <a:xfrm>
            <a:off x="4853503" y="3635708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8640" y="3411989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ИМТ для возраста, кг/м²</a:t>
            </a:r>
          </a:p>
        </p:txBody>
      </p:sp>
      <p:sp>
        <p:nvSpPr>
          <p:cNvPr id="107" name="hfa: сетка 95"/>
          <p:cNvSpPr/>
          <p:nvPr/>
        </p:nvSpPr>
        <p:spPr>
          <a:xfrm>
            <a:off x="6708495" y="3159069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hfa: сетка 100"/>
          <p:cNvSpPr/>
          <p:nvPr/>
        </p:nvSpPr>
        <p:spPr>
          <a:xfrm>
            <a:off x="6708495" y="3067336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24447" y="298733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100</a:t>
            </a:r>
          </a:p>
        </p:txBody>
      </p:sp>
      <p:sp>
        <p:nvSpPr>
          <p:cNvPr id="110" name="hfa: сетка 105"/>
          <p:cNvSpPr/>
          <p:nvPr/>
        </p:nvSpPr>
        <p:spPr>
          <a:xfrm>
            <a:off x="6708495" y="2975603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hfa: сетка 110"/>
          <p:cNvSpPr/>
          <p:nvPr/>
        </p:nvSpPr>
        <p:spPr>
          <a:xfrm>
            <a:off x="6708495" y="2883871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24447" y="280387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110</a:t>
            </a:r>
          </a:p>
        </p:txBody>
      </p:sp>
      <p:sp>
        <p:nvSpPr>
          <p:cNvPr id="113" name="hfa: сетка 115"/>
          <p:cNvSpPr/>
          <p:nvPr/>
        </p:nvSpPr>
        <p:spPr>
          <a:xfrm>
            <a:off x="6708495" y="2792138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hfa: сетка 120"/>
          <p:cNvSpPr/>
          <p:nvPr/>
        </p:nvSpPr>
        <p:spPr>
          <a:xfrm>
            <a:off x="6708495" y="2700406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24447" y="262040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120</a:t>
            </a:r>
          </a:p>
        </p:txBody>
      </p:sp>
      <p:sp>
        <p:nvSpPr>
          <p:cNvPr id="116" name="hfa: сетка 125"/>
          <p:cNvSpPr/>
          <p:nvPr/>
        </p:nvSpPr>
        <p:spPr>
          <a:xfrm>
            <a:off x="6708495" y="2608673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hfa: сетка 130"/>
          <p:cNvSpPr/>
          <p:nvPr/>
        </p:nvSpPr>
        <p:spPr>
          <a:xfrm>
            <a:off x="6708495" y="2516940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24447" y="243694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130</a:t>
            </a:r>
          </a:p>
        </p:txBody>
      </p:sp>
      <p:sp>
        <p:nvSpPr>
          <p:cNvPr id="119" name="hfa: сетка 135"/>
          <p:cNvSpPr/>
          <p:nvPr/>
        </p:nvSpPr>
        <p:spPr>
          <a:xfrm>
            <a:off x="6708495" y="2425208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hfa: сетка 140"/>
          <p:cNvSpPr/>
          <p:nvPr/>
        </p:nvSpPr>
        <p:spPr>
          <a:xfrm>
            <a:off x="6708495" y="2333475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24447" y="225347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140</a:t>
            </a:r>
          </a:p>
        </p:txBody>
      </p:sp>
      <p:sp>
        <p:nvSpPr>
          <p:cNvPr id="122" name="hfa: сетка 145"/>
          <p:cNvSpPr/>
          <p:nvPr/>
        </p:nvSpPr>
        <p:spPr>
          <a:xfrm>
            <a:off x="6708495" y="2241743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hfa: сетка 150"/>
          <p:cNvSpPr/>
          <p:nvPr/>
        </p:nvSpPr>
        <p:spPr>
          <a:xfrm>
            <a:off x="6708495" y="2150010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24447" y="207001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150</a:t>
            </a:r>
          </a:p>
        </p:txBody>
      </p:sp>
      <p:sp>
        <p:nvSpPr>
          <p:cNvPr id="125" name="hfa: сетка 155"/>
          <p:cNvSpPr/>
          <p:nvPr/>
        </p:nvSpPr>
        <p:spPr>
          <a:xfrm>
            <a:off x="6708495" y="2058277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hfa: сетка 160"/>
          <p:cNvSpPr/>
          <p:nvPr/>
        </p:nvSpPr>
        <p:spPr>
          <a:xfrm>
            <a:off x="6708495" y="1966545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324447" y="188654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160</a:t>
            </a:r>
          </a:p>
        </p:txBody>
      </p:sp>
      <p:sp>
        <p:nvSpPr>
          <p:cNvPr id="128" name="hfa: сетка 165"/>
          <p:cNvSpPr/>
          <p:nvPr/>
        </p:nvSpPr>
        <p:spPr>
          <a:xfrm>
            <a:off x="6708495" y="1874812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hfa: сетка 170"/>
          <p:cNvSpPr/>
          <p:nvPr/>
        </p:nvSpPr>
        <p:spPr>
          <a:xfrm>
            <a:off x="6708495" y="1783080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24447" y="170308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170</a:t>
            </a:r>
          </a:p>
        </p:txBody>
      </p:sp>
      <p:sp>
        <p:nvSpPr>
          <p:cNvPr id="131" name="hfa: год 5"/>
          <p:cNvSpPr/>
          <p:nvPr/>
        </p:nvSpPr>
        <p:spPr>
          <a:xfrm>
            <a:off x="6708495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558495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133" name="hfa: год 6"/>
          <p:cNvSpPr/>
          <p:nvPr/>
        </p:nvSpPr>
        <p:spPr>
          <a:xfrm>
            <a:off x="7371631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221631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5" name="hfa: год 7"/>
          <p:cNvSpPr/>
          <p:nvPr/>
        </p:nvSpPr>
        <p:spPr>
          <a:xfrm>
            <a:off x="8034767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884767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37" name="hfa: год 8"/>
          <p:cNvSpPr/>
          <p:nvPr/>
        </p:nvSpPr>
        <p:spPr>
          <a:xfrm>
            <a:off x="8697903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547903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39" name="hfa: год 9"/>
          <p:cNvSpPr/>
          <p:nvPr/>
        </p:nvSpPr>
        <p:spPr>
          <a:xfrm>
            <a:off x="9361039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211039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41" name="hfa: год 10"/>
          <p:cNvSpPr/>
          <p:nvPr/>
        </p:nvSpPr>
        <p:spPr>
          <a:xfrm>
            <a:off x="10024175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874175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43" name="hfa: год 11"/>
          <p:cNvSpPr/>
          <p:nvPr/>
        </p:nvSpPr>
        <p:spPr>
          <a:xfrm>
            <a:off x="10687311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537311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45" name="hfa: год 12"/>
          <p:cNvSpPr/>
          <p:nvPr/>
        </p:nvSpPr>
        <p:spPr>
          <a:xfrm>
            <a:off x="11350447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200447" y="3189069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47" name="hfa: ось"/>
          <p:cNvSpPr/>
          <p:nvPr/>
        </p:nvSpPr>
        <p:spPr>
          <a:xfrm>
            <a:off x="6708495" y="3159069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hfa: полоса 3–97"/>
          <p:cNvSpPr/>
          <p:nvPr/>
        </p:nvSpPr>
        <p:spPr>
          <a:xfrm>
            <a:off x="6708495" y="1922346"/>
            <a:ext cx="4641952" cy="1123915"/>
          </a:xfrm>
          <a:custGeom>
            <a:avLst/>
            <a:gdLst/>
            <a:ahLst/>
            <a:cxnLst/>
            <a:rect l="l" t="t" r="r" b="b"/>
            <a:pathLst>
              <a:path w="4641952" h="1123915">
                <a:moveTo>
                  <a:pt x="0" y="809170"/>
                </a:moveTo>
                <a:lnTo>
                  <a:pt x="58024" y="797674"/>
                </a:lnTo>
                <a:lnTo>
                  <a:pt x="116049" y="786226"/>
                </a:lnTo>
                <a:lnTo>
                  <a:pt x="174073" y="774841"/>
                </a:lnTo>
                <a:lnTo>
                  <a:pt x="232098" y="763556"/>
                </a:lnTo>
                <a:lnTo>
                  <a:pt x="290122" y="752323"/>
                </a:lnTo>
                <a:lnTo>
                  <a:pt x="348146" y="741182"/>
                </a:lnTo>
                <a:lnTo>
                  <a:pt x="406171" y="730147"/>
                </a:lnTo>
                <a:lnTo>
                  <a:pt x="464195" y="719208"/>
                </a:lnTo>
                <a:lnTo>
                  <a:pt x="522220" y="708330"/>
                </a:lnTo>
                <a:lnTo>
                  <a:pt x="580244" y="697565"/>
                </a:lnTo>
                <a:lnTo>
                  <a:pt x="638268" y="686891"/>
                </a:lnTo>
                <a:lnTo>
                  <a:pt x="696293" y="676280"/>
                </a:lnTo>
                <a:lnTo>
                  <a:pt x="754317" y="665764"/>
                </a:lnTo>
                <a:lnTo>
                  <a:pt x="812342" y="655288"/>
                </a:lnTo>
                <a:lnTo>
                  <a:pt x="870366" y="644840"/>
                </a:lnTo>
                <a:lnTo>
                  <a:pt x="928390" y="634461"/>
                </a:lnTo>
                <a:lnTo>
                  <a:pt x="986415" y="624085"/>
                </a:lnTo>
                <a:lnTo>
                  <a:pt x="1044439" y="613726"/>
                </a:lnTo>
                <a:lnTo>
                  <a:pt x="1102463" y="603391"/>
                </a:lnTo>
                <a:lnTo>
                  <a:pt x="1160488" y="593124"/>
                </a:lnTo>
                <a:lnTo>
                  <a:pt x="1218512" y="582844"/>
                </a:lnTo>
                <a:lnTo>
                  <a:pt x="1276537" y="572599"/>
                </a:lnTo>
                <a:lnTo>
                  <a:pt x="1334561" y="562389"/>
                </a:lnTo>
                <a:lnTo>
                  <a:pt x="1392585" y="552216"/>
                </a:lnTo>
                <a:lnTo>
                  <a:pt x="1450610" y="542080"/>
                </a:lnTo>
                <a:lnTo>
                  <a:pt x="1508634" y="531980"/>
                </a:lnTo>
                <a:lnTo>
                  <a:pt x="1566659" y="521913"/>
                </a:lnTo>
                <a:lnTo>
                  <a:pt x="1624683" y="511886"/>
                </a:lnTo>
                <a:lnTo>
                  <a:pt x="1682707" y="501899"/>
                </a:lnTo>
                <a:lnTo>
                  <a:pt x="1740732" y="491958"/>
                </a:lnTo>
                <a:lnTo>
                  <a:pt x="1798756" y="482062"/>
                </a:lnTo>
                <a:lnTo>
                  <a:pt x="1856781" y="472213"/>
                </a:lnTo>
                <a:lnTo>
                  <a:pt x="1914805" y="462407"/>
                </a:lnTo>
                <a:lnTo>
                  <a:pt x="1972829" y="452644"/>
                </a:lnTo>
                <a:lnTo>
                  <a:pt x="2030854" y="442918"/>
                </a:lnTo>
                <a:lnTo>
                  <a:pt x="2088878" y="433226"/>
                </a:lnTo>
                <a:lnTo>
                  <a:pt x="2146903" y="423569"/>
                </a:lnTo>
                <a:lnTo>
                  <a:pt x="2204927" y="413937"/>
                </a:lnTo>
                <a:lnTo>
                  <a:pt x="2262951" y="404327"/>
                </a:lnTo>
                <a:lnTo>
                  <a:pt x="2320976" y="394688"/>
                </a:lnTo>
                <a:lnTo>
                  <a:pt x="2379000" y="385109"/>
                </a:lnTo>
                <a:lnTo>
                  <a:pt x="2437025" y="375542"/>
                </a:lnTo>
                <a:lnTo>
                  <a:pt x="2495049" y="365985"/>
                </a:lnTo>
                <a:lnTo>
                  <a:pt x="2553073" y="356432"/>
                </a:lnTo>
                <a:lnTo>
                  <a:pt x="2611098" y="346884"/>
                </a:lnTo>
                <a:lnTo>
                  <a:pt x="2669122" y="337339"/>
                </a:lnTo>
                <a:lnTo>
                  <a:pt x="2727147" y="327802"/>
                </a:lnTo>
                <a:lnTo>
                  <a:pt x="2785171" y="318275"/>
                </a:lnTo>
                <a:lnTo>
                  <a:pt x="2843195" y="308782"/>
                </a:lnTo>
                <a:lnTo>
                  <a:pt x="2901220" y="299305"/>
                </a:lnTo>
                <a:lnTo>
                  <a:pt x="2959244" y="289815"/>
                </a:lnTo>
                <a:lnTo>
                  <a:pt x="3017268" y="280365"/>
                </a:lnTo>
                <a:lnTo>
                  <a:pt x="3075293" y="270918"/>
                </a:lnTo>
                <a:lnTo>
                  <a:pt x="3133317" y="261495"/>
                </a:lnTo>
                <a:lnTo>
                  <a:pt x="3191342" y="252059"/>
                </a:lnTo>
                <a:lnTo>
                  <a:pt x="3249366" y="242652"/>
                </a:lnTo>
                <a:lnTo>
                  <a:pt x="3307390" y="233256"/>
                </a:lnTo>
                <a:lnTo>
                  <a:pt x="3365415" y="223852"/>
                </a:lnTo>
                <a:lnTo>
                  <a:pt x="3423439" y="214428"/>
                </a:lnTo>
                <a:lnTo>
                  <a:pt x="3481464" y="204975"/>
                </a:lnTo>
                <a:lnTo>
                  <a:pt x="3539488" y="195484"/>
                </a:lnTo>
                <a:lnTo>
                  <a:pt x="3597512" y="185948"/>
                </a:lnTo>
                <a:lnTo>
                  <a:pt x="3655537" y="176390"/>
                </a:lnTo>
                <a:lnTo>
                  <a:pt x="3713561" y="166727"/>
                </a:lnTo>
                <a:lnTo>
                  <a:pt x="3771586" y="157029"/>
                </a:lnTo>
                <a:lnTo>
                  <a:pt x="3829610" y="147246"/>
                </a:lnTo>
                <a:lnTo>
                  <a:pt x="3887634" y="137377"/>
                </a:lnTo>
                <a:lnTo>
                  <a:pt x="3945659" y="127442"/>
                </a:lnTo>
                <a:lnTo>
                  <a:pt x="4003683" y="117423"/>
                </a:lnTo>
                <a:lnTo>
                  <a:pt x="4061708" y="107298"/>
                </a:lnTo>
                <a:lnTo>
                  <a:pt x="4119732" y="97093"/>
                </a:lnTo>
                <a:lnTo>
                  <a:pt x="4177756" y="86805"/>
                </a:lnTo>
                <a:lnTo>
                  <a:pt x="4235781" y="76388"/>
                </a:lnTo>
                <a:lnTo>
                  <a:pt x="4293805" y="65863"/>
                </a:lnTo>
                <a:lnTo>
                  <a:pt x="4351830" y="55225"/>
                </a:lnTo>
                <a:lnTo>
                  <a:pt x="4409854" y="44450"/>
                </a:lnTo>
                <a:lnTo>
                  <a:pt x="4467878" y="33533"/>
                </a:lnTo>
                <a:lnTo>
                  <a:pt x="4525903" y="22510"/>
                </a:lnTo>
                <a:lnTo>
                  <a:pt x="4583927" y="11338"/>
                </a:lnTo>
                <a:lnTo>
                  <a:pt x="4641952" y="0"/>
                </a:lnTo>
                <a:lnTo>
                  <a:pt x="4641952" y="489060"/>
                </a:lnTo>
                <a:lnTo>
                  <a:pt x="4583927" y="498240"/>
                </a:lnTo>
                <a:lnTo>
                  <a:pt x="4525903" y="507284"/>
                </a:lnTo>
                <a:lnTo>
                  <a:pt x="4467878" y="516192"/>
                </a:lnTo>
                <a:lnTo>
                  <a:pt x="4409854" y="524930"/>
                </a:lnTo>
                <a:lnTo>
                  <a:pt x="4351830" y="533551"/>
                </a:lnTo>
                <a:lnTo>
                  <a:pt x="4293805" y="542061"/>
                </a:lnTo>
                <a:lnTo>
                  <a:pt x="4235781" y="550447"/>
                </a:lnTo>
                <a:lnTo>
                  <a:pt x="4177756" y="558717"/>
                </a:lnTo>
                <a:lnTo>
                  <a:pt x="4119732" y="566902"/>
                </a:lnTo>
                <a:lnTo>
                  <a:pt x="4061708" y="574965"/>
                </a:lnTo>
                <a:lnTo>
                  <a:pt x="4003683" y="582915"/>
                </a:lnTo>
                <a:lnTo>
                  <a:pt x="3945659" y="590788"/>
                </a:lnTo>
                <a:lnTo>
                  <a:pt x="3887634" y="598576"/>
                </a:lnTo>
                <a:lnTo>
                  <a:pt x="3829610" y="606277"/>
                </a:lnTo>
                <a:lnTo>
                  <a:pt x="3771586" y="613910"/>
                </a:lnTo>
                <a:lnTo>
                  <a:pt x="3713561" y="621475"/>
                </a:lnTo>
                <a:lnTo>
                  <a:pt x="3655537" y="628939"/>
                </a:lnTo>
                <a:lnTo>
                  <a:pt x="3597512" y="636381"/>
                </a:lnTo>
                <a:lnTo>
                  <a:pt x="3539488" y="643737"/>
                </a:lnTo>
                <a:lnTo>
                  <a:pt x="3481464" y="651051"/>
                </a:lnTo>
                <a:lnTo>
                  <a:pt x="3423439" y="658337"/>
                </a:lnTo>
                <a:lnTo>
                  <a:pt x="3365415" y="665604"/>
                </a:lnTo>
                <a:lnTo>
                  <a:pt x="3307390" y="672858"/>
                </a:lnTo>
                <a:lnTo>
                  <a:pt x="3249366" y="680109"/>
                </a:lnTo>
                <a:lnTo>
                  <a:pt x="3191342" y="687353"/>
                </a:lnTo>
                <a:lnTo>
                  <a:pt x="3133317" y="694581"/>
                </a:lnTo>
                <a:lnTo>
                  <a:pt x="3075293" y="701839"/>
                </a:lnTo>
                <a:lnTo>
                  <a:pt x="3017268" y="709094"/>
                </a:lnTo>
                <a:lnTo>
                  <a:pt x="2959244" y="716374"/>
                </a:lnTo>
                <a:lnTo>
                  <a:pt x="2901220" y="723641"/>
                </a:lnTo>
                <a:lnTo>
                  <a:pt x="2843195" y="730949"/>
                </a:lnTo>
                <a:lnTo>
                  <a:pt x="2785171" y="738266"/>
                </a:lnTo>
                <a:lnTo>
                  <a:pt x="2727147" y="745578"/>
                </a:lnTo>
                <a:lnTo>
                  <a:pt x="2669122" y="752904"/>
                </a:lnTo>
                <a:lnTo>
                  <a:pt x="2611098" y="760242"/>
                </a:lnTo>
                <a:lnTo>
                  <a:pt x="2553073" y="767586"/>
                </a:lnTo>
                <a:lnTo>
                  <a:pt x="2495049" y="774940"/>
                </a:lnTo>
                <a:lnTo>
                  <a:pt x="2437025" y="782303"/>
                </a:lnTo>
                <a:lnTo>
                  <a:pt x="2379000" y="789678"/>
                </a:lnTo>
                <a:lnTo>
                  <a:pt x="2320976" y="797069"/>
                </a:lnTo>
                <a:lnTo>
                  <a:pt x="2262951" y="804434"/>
                </a:lnTo>
                <a:lnTo>
                  <a:pt x="2204927" y="811861"/>
                </a:lnTo>
                <a:lnTo>
                  <a:pt x="2146903" y="819311"/>
                </a:lnTo>
                <a:lnTo>
                  <a:pt x="2088878" y="826788"/>
                </a:lnTo>
                <a:lnTo>
                  <a:pt x="2030854" y="834299"/>
                </a:lnTo>
                <a:lnTo>
                  <a:pt x="1972829" y="841845"/>
                </a:lnTo>
                <a:lnTo>
                  <a:pt x="1914805" y="849427"/>
                </a:lnTo>
                <a:lnTo>
                  <a:pt x="1856781" y="857049"/>
                </a:lnTo>
                <a:lnTo>
                  <a:pt x="1798756" y="864714"/>
                </a:lnTo>
                <a:lnTo>
                  <a:pt x="1740732" y="872423"/>
                </a:lnTo>
                <a:lnTo>
                  <a:pt x="1682707" y="880176"/>
                </a:lnTo>
                <a:lnTo>
                  <a:pt x="1624683" y="887973"/>
                </a:lnTo>
                <a:lnTo>
                  <a:pt x="1566659" y="895809"/>
                </a:lnTo>
                <a:lnTo>
                  <a:pt x="1508634" y="903684"/>
                </a:lnTo>
                <a:lnTo>
                  <a:pt x="1450610" y="911593"/>
                </a:lnTo>
                <a:lnTo>
                  <a:pt x="1392585" y="919537"/>
                </a:lnTo>
                <a:lnTo>
                  <a:pt x="1334561" y="927517"/>
                </a:lnTo>
                <a:lnTo>
                  <a:pt x="1276537" y="935535"/>
                </a:lnTo>
                <a:lnTo>
                  <a:pt x="1218512" y="943588"/>
                </a:lnTo>
                <a:lnTo>
                  <a:pt x="1160488" y="951675"/>
                </a:lnTo>
                <a:lnTo>
                  <a:pt x="1102463" y="959834"/>
                </a:lnTo>
                <a:lnTo>
                  <a:pt x="1044439" y="967979"/>
                </a:lnTo>
                <a:lnTo>
                  <a:pt x="986415" y="976150"/>
                </a:lnTo>
                <a:lnTo>
                  <a:pt x="928390" y="984355"/>
                </a:lnTo>
                <a:lnTo>
                  <a:pt x="870366" y="992614"/>
                </a:lnTo>
                <a:lnTo>
                  <a:pt x="812342" y="1000876"/>
                </a:lnTo>
                <a:lnTo>
                  <a:pt x="754317" y="1009195"/>
                </a:lnTo>
                <a:lnTo>
                  <a:pt x="696293" y="1017574"/>
                </a:lnTo>
                <a:lnTo>
                  <a:pt x="638268" y="1025992"/>
                </a:lnTo>
                <a:lnTo>
                  <a:pt x="580244" y="1034505"/>
                </a:lnTo>
                <a:lnTo>
                  <a:pt x="522220" y="1043102"/>
                </a:lnTo>
                <a:lnTo>
                  <a:pt x="464195" y="1051763"/>
                </a:lnTo>
                <a:lnTo>
                  <a:pt x="406171" y="1060530"/>
                </a:lnTo>
                <a:lnTo>
                  <a:pt x="348146" y="1069363"/>
                </a:lnTo>
                <a:lnTo>
                  <a:pt x="290122" y="1078265"/>
                </a:lnTo>
                <a:lnTo>
                  <a:pt x="232098" y="1087253"/>
                </a:lnTo>
                <a:lnTo>
                  <a:pt x="174073" y="1096351"/>
                </a:lnTo>
                <a:lnTo>
                  <a:pt x="116049" y="1105491"/>
                </a:lnTo>
                <a:lnTo>
                  <a:pt x="58024" y="1114680"/>
                </a:lnTo>
                <a:lnTo>
                  <a:pt x="0" y="1123915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hfa: 97-й центиль"/>
          <p:cNvSpPr/>
          <p:nvPr/>
        </p:nvSpPr>
        <p:spPr>
          <a:xfrm>
            <a:off x="6708495" y="1922346"/>
            <a:ext cx="4641952" cy="809170"/>
          </a:xfrm>
          <a:custGeom>
            <a:avLst/>
            <a:gdLst/>
            <a:ahLst/>
            <a:cxnLst/>
            <a:rect l="l" t="t" r="r" b="b"/>
            <a:pathLst>
              <a:path w="4641952" h="809170">
                <a:moveTo>
                  <a:pt x="0" y="809170"/>
                </a:moveTo>
                <a:lnTo>
                  <a:pt x="58024" y="797674"/>
                </a:lnTo>
                <a:lnTo>
                  <a:pt x="116049" y="786226"/>
                </a:lnTo>
                <a:lnTo>
                  <a:pt x="174073" y="774841"/>
                </a:lnTo>
                <a:lnTo>
                  <a:pt x="232098" y="763556"/>
                </a:lnTo>
                <a:lnTo>
                  <a:pt x="290122" y="752323"/>
                </a:lnTo>
                <a:lnTo>
                  <a:pt x="348146" y="741182"/>
                </a:lnTo>
                <a:lnTo>
                  <a:pt x="406171" y="730147"/>
                </a:lnTo>
                <a:lnTo>
                  <a:pt x="464195" y="719208"/>
                </a:lnTo>
                <a:lnTo>
                  <a:pt x="522220" y="708330"/>
                </a:lnTo>
                <a:lnTo>
                  <a:pt x="580244" y="697565"/>
                </a:lnTo>
                <a:lnTo>
                  <a:pt x="638268" y="686891"/>
                </a:lnTo>
                <a:lnTo>
                  <a:pt x="696293" y="676280"/>
                </a:lnTo>
                <a:lnTo>
                  <a:pt x="754317" y="665764"/>
                </a:lnTo>
                <a:lnTo>
                  <a:pt x="812342" y="655288"/>
                </a:lnTo>
                <a:lnTo>
                  <a:pt x="870366" y="644840"/>
                </a:lnTo>
                <a:lnTo>
                  <a:pt x="928390" y="634461"/>
                </a:lnTo>
                <a:lnTo>
                  <a:pt x="986415" y="624085"/>
                </a:lnTo>
                <a:lnTo>
                  <a:pt x="1044439" y="613726"/>
                </a:lnTo>
                <a:lnTo>
                  <a:pt x="1102463" y="603391"/>
                </a:lnTo>
                <a:lnTo>
                  <a:pt x="1160488" y="593124"/>
                </a:lnTo>
                <a:lnTo>
                  <a:pt x="1218512" y="582844"/>
                </a:lnTo>
                <a:lnTo>
                  <a:pt x="1276537" y="572599"/>
                </a:lnTo>
                <a:lnTo>
                  <a:pt x="1334561" y="562389"/>
                </a:lnTo>
                <a:lnTo>
                  <a:pt x="1392585" y="552216"/>
                </a:lnTo>
                <a:lnTo>
                  <a:pt x="1450610" y="542080"/>
                </a:lnTo>
                <a:lnTo>
                  <a:pt x="1508634" y="531980"/>
                </a:lnTo>
                <a:lnTo>
                  <a:pt x="1566659" y="521913"/>
                </a:lnTo>
                <a:lnTo>
                  <a:pt x="1624683" y="511886"/>
                </a:lnTo>
                <a:lnTo>
                  <a:pt x="1682707" y="501899"/>
                </a:lnTo>
                <a:lnTo>
                  <a:pt x="1740732" y="491958"/>
                </a:lnTo>
                <a:lnTo>
                  <a:pt x="1798756" y="482062"/>
                </a:lnTo>
                <a:lnTo>
                  <a:pt x="1856781" y="472213"/>
                </a:lnTo>
                <a:lnTo>
                  <a:pt x="1914805" y="462407"/>
                </a:lnTo>
                <a:lnTo>
                  <a:pt x="1972829" y="452644"/>
                </a:lnTo>
                <a:lnTo>
                  <a:pt x="2030854" y="442918"/>
                </a:lnTo>
                <a:lnTo>
                  <a:pt x="2088878" y="433226"/>
                </a:lnTo>
                <a:lnTo>
                  <a:pt x="2146903" y="423569"/>
                </a:lnTo>
                <a:lnTo>
                  <a:pt x="2204927" y="413937"/>
                </a:lnTo>
                <a:lnTo>
                  <a:pt x="2262951" y="404327"/>
                </a:lnTo>
                <a:lnTo>
                  <a:pt x="2320976" y="394688"/>
                </a:lnTo>
                <a:lnTo>
                  <a:pt x="2379000" y="385109"/>
                </a:lnTo>
                <a:lnTo>
                  <a:pt x="2437025" y="375542"/>
                </a:lnTo>
                <a:lnTo>
                  <a:pt x="2495049" y="365985"/>
                </a:lnTo>
                <a:lnTo>
                  <a:pt x="2553073" y="356432"/>
                </a:lnTo>
                <a:lnTo>
                  <a:pt x="2611098" y="346884"/>
                </a:lnTo>
                <a:lnTo>
                  <a:pt x="2669122" y="337339"/>
                </a:lnTo>
                <a:lnTo>
                  <a:pt x="2727147" y="327802"/>
                </a:lnTo>
                <a:lnTo>
                  <a:pt x="2785171" y="318275"/>
                </a:lnTo>
                <a:lnTo>
                  <a:pt x="2843195" y="308782"/>
                </a:lnTo>
                <a:lnTo>
                  <a:pt x="2901220" y="299305"/>
                </a:lnTo>
                <a:lnTo>
                  <a:pt x="2959244" y="289815"/>
                </a:lnTo>
                <a:lnTo>
                  <a:pt x="3017268" y="280365"/>
                </a:lnTo>
                <a:lnTo>
                  <a:pt x="3075293" y="270918"/>
                </a:lnTo>
                <a:lnTo>
                  <a:pt x="3133317" y="261495"/>
                </a:lnTo>
                <a:lnTo>
                  <a:pt x="3191342" y="252059"/>
                </a:lnTo>
                <a:lnTo>
                  <a:pt x="3249366" y="242652"/>
                </a:lnTo>
                <a:lnTo>
                  <a:pt x="3307390" y="233256"/>
                </a:lnTo>
                <a:lnTo>
                  <a:pt x="3365415" y="223852"/>
                </a:lnTo>
                <a:lnTo>
                  <a:pt x="3423439" y="214428"/>
                </a:lnTo>
                <a:lnTo>
                  <a:pt x="3481464" y="204975"/>
                </a:lnTo>
                <a:lnTo>
                  <a:pt x="3539488" y="195484"/>
                </a:lnTo>
                <a:lnTo>
                  <a:pt x="3597512" y="185948"/>
                </a:lnTo>
                <a:lnTo>
                  <a:pt x="3655537" y="176390"/>
                </a:lnTo>
                <a:lnTo>
                  <a:pt x="3713561" y="166727"/>
                </a:lnTo>
                <a:lnTo>
                  <a:pt x="3771586" y="157029"/>
                </a:lnTo>
                <a:lnTo>
                  <a:pt x="3829610" y="147246"/>
                </a:lnTo>
                <a:lnTo>
                  <a:pt x="3887634" y="137377"/>
                </a:lnTo>
                <a:lnTo>
                  <a:pt x="3945659" y="127442"/>
                </a:lnTo>
                <a:lnTo>
                  <a:pt x="4003683" y="117423"/>
                </a:lnTo>
                <a:lnTo>
                  <a:pt x="4061708" y="107298"/>
                </a:lnTo>
                <a:lnTo>
                  <a:pt x="4119732" y="97093"/>
                </a:lnTo>
                <a:lnTo>
                  <a:pt x="4177756" y="86805"/>
                </a:lnTo>
                <a:lnTo>
                  <a:pt x="4235781" y="76388"/>
                </a:lnTo>
                <a:lnTo>
                  <a:pt x="4293805" y="65863"/>
                </a:lnTo>
                <a:lnTo>
                  <a:pt x="4351830" y="55225"/>
                </a:lnTo>
                <a:lnTo>
                  <a:pt x="4409854" y="44450"/>
                </a:lnTo>
                <a:lnTo>
                  <a:pt x="4467878" y="33533"/>
                </a:lnTo>
                <a:lnTo>
                  <a:pt x="4525903" y="22510"/>
                </a:lnTo>
                <a:lnTo>
                  <a:pt x="4583927" y="11338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1390447" y="184734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51" name="hfa: 85-й центиль"/>
          <p:cNvSpPr/>
          <p:nvPr/>
        </p:nvSpPr>
        <p:spPr>
          <a:xfrm>
            <a:off x="6708495" y="2032196"/>
            <a:ext cx="4641952" cy="770016"/>
          </a:xfrm>
          <a:custGeom>
            <a:avLst/>
            <a:gdLst/>
            <a:ahLst/>
            <a:cxnLst/>
            <a:rect l="l" t="t" r="r" b="b"/>
            <a:pathLst>
              <a:path w="4641952" h="770016">
                <a:moveTo>
                  <a:pt x="0" y="770016"/>
                </a:moveTo>
                <a:lnTo>
                  <a:pt x="58024" y="759028"/>
                </a:lnTo>
                <a:lnTo>
                  <a:pt x="116049" y="748087"/>
                </a:lnTo>
                <a:lnTo>
                  <a:pt x="174073" y="737207"/>
                </a:lnTo>
                <a:lnTo>
                  <a:pt x="232098" y="726413"/>
                </a:lnTo>
                <a:lnTo>
                  <a:pt x="290122" y="715684"/>
                </a:lnTo>
                <a:lnTo>
                  <a:pt x="348146" y="705047"/>
                </a:lnTo>
                <a:lnTo>
                  <a:pt x="406171" y="694506"/>
                </a:lnTo>
                <a:lnTo>
                  <a:pt x="464195" y="684055"/>
                </a:lnTo>
                <a:lnTo>
                  <a:pt x="522220" y="673675"/>
                </a:lnTo>
                <a:lnTo>
                  <a:pt x="580244" y="663396"/>
                </a:lnTo>
                <a:lnTo>
                  <a:pt x="638268" y="653208"/>
                </a:lnTo>
                <a:lnTo>
                  <a:pt x="696293" y="643090"/>
                </a:lnTo>
                <a:lnTo>
                  <a:pt x="754317" y="633054"/>
                </a:lnTo>
                <a:lnTo>
                  <a:pt x="812342" y="623062"/>
                </a:lnTo>
                <a:lnTo>
                  <a:pt x="870366" y="613105"/>
                </a:lnTo>
                <a:lnTo>
                  <a:pt x="928390" y="603202"/>
                </a:lnTo>
                <a:lnTo>
                  <a:pt x="986415" y="593314"/>
                </a:lnTo>
                <a:lnTo>
                  <a:pt x="1044439" y="583446"/>
                </a:lnTo>
                <a:lnTo>
                  <a:pt x="1102463" y="573604"/>
                </a:lnTo>
                <a:lnTo>
                  <a:pt x="1160488" y="563810"/>
                </a:lnTo>
                <a:lnTo>
                  <a:pt x="1218512" y="554023"/>
                </a:lnTo>
                <a:lnTo>
                  <a:pt x="1276537" y="544270"/>
                </a:lnTo>
                <a:lnTo>
                  <a:pt x="1334561" y="534552"/>
                </a:lnTo>
                <a:lnTo>
                  <a:pt x="1392585" y="524872"/>
                </a:lnTo>
                <a:lnTo>
                  <a:pt x="1450610" y="515228"/>
                </a:lnTo>
                <a:lnTo>
                  <a:pt x="1508634" y="505620"/>
                </a:lnTo>
                <a:lnTo>
                  <a:pt x="1566659" y="496046"/>
                </a:lnTo>
                <a:lnTo>
                  <a:pt x="1624683" y="486510"/>
                </a:lnTo>
                <a:lnTo>
                  <a:pt x="1682707" y="477016"/>
                </a:lnTo>
                <a:lnTo>
                  <a:pt x="1740732" y="467566"/>
                </a:lnTo>
                <a:lnTo>
                  <a:pt x="1798756" y="458161"/>
                </a:lnTo>
                <a:lnTo>
                  <a:pt x="1856781" y="448803"/>
                </a:lnTo>
                <a:lnTo>
                  <a:pt x="1914805" y="439487"/>
                </a:lnTo>
                <a:lnTo>
                  <a:pt x="1972829" y="430214"/>
                </a:lnTo>
                <a:lnTo>
                  <a:pt x="2030854" y="420978"/>
                </a:lnTo>
                <a:lnTo>
                  <a:pt x="2088878" y="411776"/>
                </a:lnTo>
                <a:lnTo>
                  <a:pt x="2146903" y="402608"/>
                </a:lnTo>
                <a:lnTo>
                  <a:pt x="2204927" y="393467"/>
                </a:lnTo>
                <a:lnTo>
                  <a:pt x="2262951" y="384347"/>
                </a:lnTo>
                <a:lnTo>
                  <a:pt x="2320976" y="375219"/>
                </a:lnTo>
                <a:lnTo>
                  <a:pt x="2379000" y="366131"/>
                </a:lnTo>
                <a:lnTo>
                  <a:pt x="2437025" y="357056"/>
                </a:lnTo>
                <a:lnTo>
                  <a:pt x="2495049" y="347992"/>
                </a:lnTo>
                <a:lnTo>
                  <a:pt x="2553073" y="338933"/>
                </a:lnTo>
                <a:lnTo>
                  <a:pt x="2611098" y="329880"/>
                </a:lnTo>
                <a:lnTo>
                  <a:pt x="2669122" y="320831"/>
                </a:lnTo>
                <a:lnTo>
                  <a:pt x="2727147" y="311790"/>
                </a:lnTo>
                <a:lnTo>
                  <a:pt x="2785171" y="302762"/>
                </a:lnTo>
                <a:lnTo>
                  <a:pt x="2843195" y="293757"/>
                </a:lnTo>
                <a:lnTo>
                  <a:pt x="2901220" y="284767"/>
                </a:lnTo>
                <a:lnTo>
                  <a:pt x="2959244" y="275776"/>
                </a:lnTo>
                <a:lnTo>
                  <a:pt x="3017268" y="266814"/>
                </a:lnTo>
                <a:lnTo>
                  <a:pt x="3075293" y="257859"/>
                </a:lnTo>
                <a:lnTo>
                  <a:pt x="3133317" y="248922"/>
                </a:lnTo>
                <a:lnTo>
                  <a:pt x="3191342" y="239982"/>
                </a:lnTo>
                <a:lnTo>
                  <a:pt x="3249366" y="231061"/>
                </a:lnTo>
                <a:lnTo>
                  <a:pt x="3307390" y="222147"/>
                </a:lnTo>
                <a:lnTo>
                  <a:pt x="3365415" y="213226"/>
                </a:lnTo>
                <a:lnTo>
                  <a:pt x="3423439" y="204286"/>
                </a:lnTo>
                <a:lnTo>
                  <a:pt x="3481464" y="195321"/>
                </a:lnTo>
                <a:lnTo>
                  <a:pt x="3539488" y="186318"/>
                </a:lnTo>
                <a:lnTo>
                  <a:pt x="3597512" y="177272"/>
                </a:lnTo>
                <a:lnTo>
                  <a:pt x="3655537" y="168189"/>
                </a:lnTo>
                <a:lnTo>
                  <a:pt x="3713561" y="159020"/>
                </a:lnTo>
                <a:lnTo>
                  <a:pt x="3771586" y="149801"/>
                </a:lnTo>
                <a:lnTo>
                  <a:pt x="3829610" y="140501"/>
                </a:lnTo>
                <a:lnTo>
                  <a:pt x="3887634" y="131119"/>
                </a:lnTo>
                <a:lnTo>
                  <a:pt x="3945659" y="121666"/>
                </a:lnTo>
                <a:lnTo>
                  <a:pt x="4003683" y="112129"/>
                </a:lnTo>
                <a:lnTo>
                  <a:pt x="4061708" y="102493"/>
                </a:lnTo>
                <a:lnTo>
                  <a:pt x="4119732" y="92769"/>
                </a:lnTo>
                <a:lnTo>
                  <a:pt x="4177756" y="82953"/>
                </a:lnTo>
                <a:lnTo>
                  <a:pt x="4235781" y="73018"/>
                </a:lnTo>
                <a:lnTo>
                  <a:pt x="4293805" y="62974"/>
                </a:lnTo>
                <a:lnTo>
                  <a:pt x="4351830" y="52814"/>
                </a:lnTo>
                <a:lnTo>
                  <a:pt x="4409854" y="42523"/>
                </a:lnTo>
                <a:lnTo>
                  <a:pt x="4467878" y="32095"/>
                </a:lnTo>
                <a:lnTo>
                  <a:pt x="4525903" y="21547"/>
                </a:lnTo>
                <a:lnTo>
                  <a:pt x="4583927" y="10853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1390447" y="195719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153" name="hfa: 50-й центиль"/>
          <p:cNvSpPr/>
          <p:nvPr/>
        </p:nvSpPr>
        <p:spPr>
          <a:xfrm>
            <a:off x="6708495" y="2166876"/>
            <a:ext cx="4641952" cy="722013"/>
          </a:xfrm>
          <a:custGeom>
            <a:avLst/>
            <a:gdLst/>
            <a:ahLst/>
            <a:cxnLst/>
            <a:rect l="l" t="t" r="r" b="b"/>
            <a:pathLst>
              <a:path w="4641952" h="722013">
                <a:moveTo>
                  <a:pt x="0" y="722013"/>
                </a:moveTo>
                <a:lnTo>
                  <a:pt x="58024" y="711647"/>
                </a:lnTo>
                <a:lnTo>
                  <a:pt x="116049" y="701328"/>
                </a:lnTo>
                <a:lnTo>
                  <a:pt x="174073" y="691066"/>
                </a:lnTo>
                <a:lnTo>
                  <a:pt x="232098" y="680875"/>
                </a:lnTo>
                <a:lnTo>
                  <a:pt x="290122" y="670764"/>
                </a:lnTo>
                <a:lnTo>
                  <a:pt x="348146" y="660743"/>
                </a:lnTo>
                <a:lnTo>
                  <a:pt x="406171" y="650809"/>
                </a:lnTo>
                <a:lnTo>
                  <a:pt x="464195" y="640956"/>
                </a:lnTo>
                <a:lnTo>
                  <a:pt x="522220" y="631186"/>
                </a:lnTo>
                <a:lnTo>
                  <a:pt x="580244" y="621505"/>
                </a:lnTo>
                <a:lnTo>
                  <a:pt x="638268" y="611911"/>
                </a:lnTo>
                <a:lnTo>
                  <a:pt x="696293" y="602397"/>
                </a:lnTo>
                <a:lnTo>
                  <a:pt x="754317" y="592949"/>
                </a:lnTo>
                <a:lnTo>
                  <a:pt x="812342" y="583552"/>
                </a:lnTo>
                <a:lnTo>
                  <a:pt x="870366" y="574197"/>
                </a:lnTo>
                <a:lnTo>
                  <a:pt x="928390" y="564878"/>
                </a:lnTo>
                <a:lnTo>
                  <a:pt x="986415" y="555588"/>
                </a:lnTo>
                <a:lnTo>
                  <a:pt x="1044439" y="546322"/>
                </a:lnTo>
                <a:lnTo>
                  <a:pt x="1102463" y="537083"/>
                </a:lnTo>
                <a:lnTo>
                  <a:pt x="1160488" y="527870"/>
                </a:lnTo>
                <a:lnTo>
                  <a:pt x="1218512" y="518686"/>
                </a:lnTo>
                <a:lnTo>
                  <a:pt x="1276537" y="509537"/>
                </a:lnTo>
                <a:lnTo>
                  <a:pt x="1334561" y="500423"/>
                </a:lnTo>
                <a:lnTo>
                  <a:pt x="1392585" y="491347"/>
                </a:lnTo>
                <a:lnTo>
                  <a:pt x="1450610" y="482307"/>
                </a:lnTo>
                <a:lnTo>
                  <a:pt x="1508634" y="473302"/>
                </a:lnTo>
                <a:lnTo>
                  <a:pt x="1566659" y="464331"/>
                </a:lnTo>
                <a:lnTo>
                  <a:pt x="1624683" y="455399"/>
                </a:lnTo>
                <a:lnTo>
                  <a:pt x="1682707" y="446508"/>
                </a:lnTo>
                <a:lnTo>
                  <a:pt x="1740732" y="437661"/>
                </a:lnTo>
                <a:lnTo>
                  <a:pt x="1798756" y="428858"/>
                </a:lnTo>
                <a:lnTo>
                  <a:pt x="1856781" y="420101"/>
                </a:lnTo>
                <a:lnTo>
                  <a:pt x="1914805" y="411387"/>
                </a:lnTo>
                <a:lnTo>
                  <a:pt x="1972829" y="402714"/>
                </a:lnTo>
                <a:lnTo>
                  <a:pt x="2030854" y="394079"/>
                </a:lnTo>
                <a:lnTo>
                  <a:pt x="2088878" y="385477"/>
                </a:lnTo>
                <a:lnTo>
                  <a:pt x="2146903" y="376910"/>
                </a:lnTo>
                <a:lnTo>
                  <a:pt x="2204927" y="368369"/>
                </a:lnTo>
                <a:lnTo>
                  <a:pt x="2262951" y="359850"/>
                </a:lnTo>
                <a:lnTo>
                  <a:pt x="2320976" y="351349"/>
                </a:lnTo>
                <a:lnTo>
                  <a:pt x="2379000" y="342864"/>
                </a:lnTo>
                <a:lnTo>
                  <a:pt x="2437025" y="334392"/>
                </a:lnTo>
                <a:lnTo>
                  <a:pt x="2495049" y="325933"/>
                </a:lnTo>
                <a:lnTo>
                  <a:pt x="2553073" y="317479"/>
                </a:lnTo>
                <a:lnTo>
                  <a:pt x="2611098" y="309033"/>
                </a:lnTo>
                <a:lnTo>
                  <a:pt x="2669122" y="300592"/>
                </a:lnTo>
                <a:lnTo>
                  <a:pt x="2727147" y="292160"/>
                </a:lnTo>
                <a:lnTo>
                  <a:pt x="2785171" y="283741"/>
                </a:lnTo>
                <a:lnTo>
                  <a:pt x="2843195" y="275335"/>
                </a:lnTo>
                <a:lnTo>
                  <a:pt x="2901220" y="266943"/>
                </a:lnTo>
                <a:lnTo>
                  <a:pt x="2959244" y="258564"/>
                </a:lnTo>
                <a:lnTo>
                  <a:pt x="3017268" y="250200"/>
                </a:lnTo>
                <a:lnTo>
                  <a:pt x="3075293" y="241848"/>
                </a:lnTo>
                <a:lnTo>
                  <a:pt x="3133317" y="233508"/>
                </a:lnTo>
                <a:lnTo>
                  <a:pt x="3191342" y="225176"/>
                </a:lnTo>
                <a:lnTo>
                  <a:pt x="3249366" y="216851"/>
                </a:lnTo>
                <a:lnTo>
                  <a:pt x="3307390" y="208527"/>
                </a:lnTo>
                <a:lnTo>
                  <a:pt x="3365415" y="200198"/>
                </a:lnTo>
                <a:lnTo>
                  <a:pt x="3423439" y="191852"/>
                </a:lnTo>
                <a:lnTo>
                  <a:pt x="3481464" y="183483"/>
                </a:lnTo>
                <a:lnTo>
                  <a:pt x="3539488" y="175081"/>
                </a:lnTo>
                <a:lnTo>
                  <a:pt x="3597512" y="166634"/>
                </a:lnTo>
                <a:lnTo>
                  <a:pt x="3655537" y="158134"/>
                </a:lnTo>
                <a:lnTo>
                  <a:pt x="3713561" y="149571"/>
                </a:lnTo>
                <a:lnTo>
                  <a:pt x="3771586" y="140939"/>
                </a:lnTo>
                <a:lnTo>
                  <a:pt x="3829610" y="132232"/>
                </a:lnTo>
                <a:lnTo>
                  <a:pt x="3887634" y="123447"/>
                </a:lnTo>
                <a:lnTo>
                  <a:pt x="3945659" y="114585"/>
                </a:lnTo>
                <a:lnTo>
                  <a:pt x="4003683" y="105639"/>
                </a:lnTo>
                <a:lnTo>
                  <a:pt x="4061708" y="96602"/>
                </a:lnTo>
                <a:lnTo>
                  <a:pt x="4119732" y="87467"/>
                </a:lnTo>
                <a:lnTo>
                  <a:pt x="4177756" y="78231"/>
                </a:lnTo>
                <a:lnTo>
                  <a:pt x="4235781" y="68887"/>
                </a:lnTo>
                <a:lnTo>
                  <a:pt x="4293805" y="59432"/>
                </a:lnTo>
                <a:lnTo>
                  <a:pt x="4351830" y="49858"/>
                </a:lnTo>
                <a:lnTo>
                  <a:pt x="4409854" y="40160"/>
                </a:lnTo>
                <a:lnTo>
                  <a:pt x="4467878" y="30332"/>
                </a:lnTo>
                <a:lnTo>
                  <a:pt x="4525903" y="20367"/>
                </a:lnTo>
                <a:lnTo>
                  <a:pt x="4583927" y="10259"/>
                </a:lnTo>
                <a:lnTo>
                  <a:pt x="4641952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390447" y="209187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155" name="hfa: 15-й центиль"/>
          <p:cNvSpPr/>
          <p:nvPr/>
        </p:nvSpPr>
        <p:spPr>
          <a:xfrm>
            <a:off x="6708495" y="2301556"/>
            <a:ext cx="4641952" cy="674009"/>
          </a:xfrm>
          <a:custGeom>
            <a:avLst/>
            <a:gdLst/>
            <a:ahLst/>
            <a:cxnLst/>
            <a:rect l="l" t="t" r="r" b="b"/>
            <a:pathLst>
              <a:path w="4641952" h="674009">
                <a:moveTo>
                  <a:pt x="0" y="674009"/>
                </a:moveTo>
                <a:lnTo>
                  <a:pt x="58024" y="664266"/>
                </a:lnTo>
                <a:lnTo>
                  <a:pt x="116049" y="654569"/>
                </a:lnTo>
                <a:lnTo>
                  <a:pt x="174073" y="644925"/>
                </a:lnTo>
                <a:lnTo>
                  <a:pt x="232098" y="635336"/>
                </a:lnTo>
                <a:lnTo>
                  <a:pt x="290122" y="625844"/>
                </a:lnTo>
                <a:lnTo>
                  <a:pt x="348146" y="616439"/>
                </a:lnTo>
                <a:lnTo>
                  <a:pt x="406171" y="607111"/>
                </a:lnTo>
                <a:lnTo>
                  <a:pt x="464195" y="597857"/>
                </a:lnTo>
                <a:lnTo>
                  <a:pt x="522220" y="588697"/>
                </a:lnTo>
                <a:lnTo>
                  <a:pt x="580244" y="579613"/>
                </a:lnTo>
                <a:lnTo>
                  <a:pt x="638268" y="570615"/>
                </a:lnTo>
                <a:lnTo>
                  <a:pt x="696293" y="561705"/>
                </a:lnTo>
                <a:lnTo>
                  <a:pt x="754317" y="552845"/>
                </a:lnTo>
                <a:lnTo>
                  <a:pt x="812342" y="544042"/>
                </a:lnTo>
                <a:lnTo>
                  <a:pt x="870366" y="535289"/>
                </a:lnTo>
                <a:lnTo>
                  <a:pt x="928390" y="526554"/>
                </a:lnTo>
                <a:lnTo>
                  <a:pt x="986415" y="517861"/>
                </a:lnTo>
                <a:lnTo>
                  <a:pt x="1044439" y="509198"/>
                </a:lnTo>
                <a:lnTo>
                  <a:pt x="1102463" y="500562"/>
                </a:lnTo>
                <a:lnTo>
                  <a:pt x="1160488" y="491930"/>
                </a:lnTo>
                <a:lnTo>
                  <a:pt x="1218512" y="483350"/>
                </a:lnTo>
                <a:lnTo>
                  <a:pt x="1276537" y="474804"/>
                </a:lnTo>
                <a:lnTo>
                  <a:pt x="1334561" y="466294"/>
                </a:lnTo>
                <a:lnTo>
                  <a:pt x="1392585" y="457821"/>
                </a:lnTo>
                <a:lnTo>
                  <a:pt x="1450610" y="449385"/>
                </a:lnTo>
                <a:lnTo>
                  <a:pt x="1508634" y="440984"/>
                </a:lnTo>
                <a:lnTo>
                  <a:pt x="1566659" y="432617"/>
                </a:lnTo>
                <a:lnTo>
                  <a:pt x="1624683" y="424288"/>
                </a:lnTo>
                <a:lnTo>
                  <a:pt x="1682707" y="416000"/>
                </a:lnTo>
                <a:lnTo>
                  <a:pt x="1740732" y="407755"/>
                </a:lnTo>
                <a:lnTo>
                  <a:pt x="1798756" y="399555"/>
                </a:lnTo>
                <a:lnTo>
                  <a:pt x="1856781" y="391399"/>
                </a:lnTo>
                <a:lnTo>
                  <a:pt x="1914805" y="383286"/>
                </a:lnTo>
                <a:lnTo>
                  <a:pt x="1972829" y="375215"/>
                </a:lnTo>
                <a:lnTo>
                  <a:pt x="2030854" y="367179"/>
                </a:lnTo>
                <a:lnTo>
                  <a:pt x="2088878" y="359178"/>
                </a:lnTo>
                <a:lnTo>
                  <a:pt x="2146903" y="351212"/>
                </a:lnTo>
                <a:lnTo>
                  <a:pt x="2204927" y="343271"/>
                </a:lnTo>
                <a:lnTo>
                  <a:pt x="2262951" y="335354"/>
                </a:lnTo>
                <a:lnTo>
                  <a:pt x="2320976" y="327479"/>
                </a:lnTo>
                <a:lnTo>
                  <a:pt x="2379000" y="319596"/>
                </a:lnTo>
                <a:lnTo>
                  <a:pt x="2437025" y="311728"/>
                </a:lnTo>
                <a:lnTo>
                  <a:pt x="2495049" y="303873"/>
                </a:lnTo>
                <a:lnTo>
                  <a:pt x="2553073" y="296025"/>
                </a:lnTo>
                <a:lnTo>
                  <a:pt x="2611098" y="288186"/>
                </a:lnTo>
                <a:lnTo>
                  <a:pt x="2669122" y="280352"/>
                </a:lnTo>
                <a:lnTo>
                  <a:pt x="2727147" y="272529"/>
                </a:lnTo>
                <a:lnTo>
                  <a:pt x="2785171" y="264720"/>
                </a:lnTo>
                <a:lnTo>
                  <a:pt x="2843195" y="256914"/>
                </a:lnTo>
                <a:lnTo>
                  <a:pt x="2901220" y="249119"/>
                </a:lnTo>
                <a:lnTo>
                  <a:pt x="2959244" y="241352"/>
                </a:lnTo>
                <a:lnTo>
                  <a:pt x="3017268" y="233586"/>
                </a:lnTo>
                <a:lnTo>
                  <a:pt x="3075293" y="225838"/>
                </a:lnTo>
                <a:lnTo>
                  <a:pt x="3133317" y="218094"/>
                </a:lnTo>
                <a:lnTo>
                  <a:pt x="3191342" y="210369"/>
                </a:lnTo>
                <a:lnTo>
                  <a:pt x="3249366" y="202640"/>
                </a:lnTo>
                <a:lnTo>
                  <a:pt x="3307390" y="194907"/>
                </a:lnTo>
                <a:lnTo>
                  <a:pt x="3365415" y="187170"/>
                </a:lnTo>
                <a:lnTo>
                  <a:pt x="3423439" y="179419"/>
                </a:lnTo>
                <a:lnTo>
                  <a:pt x="3481464" y="171646"/>
                </a:lnTo>
                <a:lnTo>
                  <a:pt x="3539488" y="163843"/>
                </a:lnTo>
                <a:lnTo>
                  <a:pt x="3597512" y="155997"/>
                </a:lnTo>
                <a:lnTo>
                  <a:pt x="3655537" y="148080"/>
                </a:lnTo>
                <a:lnTo>
                  <a:pt x="3713561" y="140122"/>
                </a:lnTo>
                <a:lnTo>
                  <a:pt x="3771586" y="132078"/>
                </a:lnTo>
                <a:lnTo>
                  <a:pt x="3829610" y="123962"/>
                </a:lnTo>
                <a:lnTo>
                  <a:pt x="3887634" y="115774"/>
                </a:lnTo>
                <a:lnTo>
                  <a:pt x="3945659" y="107504"/>
                </a:lnTo>
                <a:lnTo>
                  <a:pt x="4003683" y="99149"/>
                </a:lnTo>
                <a:lnTo>
                  <a:pt x="4061708" y="90710"/>
                </a:lnTo>
                <a:lnTo>
                  <a:pt x="4119732" y="82166"/>
                </a:lnTo>
                <a:lnTo>
                  <a:pt x="4177756" y="73509"/>
                </a:lnTo>
                <a:lnTo>
                  <a:pt x="4235781" y="64756"/>
                </a:lnTo>
                <a:lnTo>
                  <a:pt x="4293805" y="55890"/>
                </a:lnTo>
                <a:lnTo>
                  <a:pt x="4351830" y="46902"/>
                </a:lnTo>
                <a:lnTo>
                  <a:pt x="4409854" y="37797"/>
                </a:lnTo>
                <a:lnTo>
                  <a:pt x="4467878" y="28570"/>
                </a:lnTo>
                <a:lnTo>
                  <a:pt x="4525903" y="19187"/>
                </a:lnTo>
                <a:lnTo>
                  <a:pt x="4583927" y="9665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1390447" y="222655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157" name="hfa: 3-й центиль"/>
          <p:cNvSpPr/>
          <p:nvPr/>
        </p:nvSpPr>
        <p:spPr>
          <a:xfrm>
            <a:off x="6708495" y="2411406"/>
            <a:ext cx="4641952" cy="634855"/>
          </a:xfrm>
          <a:custGeom>
            <a:avLst/>
            <a:gdLst/>
            <a:ahLst/>
            <a:cxnLst/>
            <a:rect l="l" t="t" r="r" b="b"/>
            <a:pathLst>
              <a:path w="4641952" h="634855">
                <a:moveTo>
                  <a:pt x="0" y="634855"/>
                </a:moveTo>
                <a:lnTo>
                  <a:pt x="58024" y="625620"/>
                </a:lnTo>
                <a:lnTo>
                  <a:pt x="116049" y="616431"/>
                </a:lnTo>
                <a:lnTo>
                  <a:pt x="174073" y="607291"/>
                </a:lnTo>
                <a:lnTo>
                  <a:pt x="232098" y="598193"/>
                </a:lnTo>
                <a:lnTo>
                  <a:pt x="290122" y="589205"/>
                </a:lnTo>
                <a:lnTo>
                  <a:pt x="348146" y="580303"/>
                </a:lnTo>
                <a:lnTo>
                  <a:pt x="406171" y="571470"/>
                </a:lnTo>
                <a:lnTo>
                  <a:pt x="464195" y="562703"/>
                </a:lnTo>
                <a:lnTo>
                  <a:pt x="522220" y="554042"/>
                </a:lnTo>
                <a:lnTo>
                  <a:pt x="580244" y="545445"/>
                </a:lnTo>
                <a:lnTo>
                  <a:pt x="638268" y="536932"/>
                </a:lnTo>
                <a:lnTo>
                  <a:pt x="696293" y="528514"/>
                </a:lnTo>
                <a:lnTo>
                  <a:pt x="754317" y="520135"/>
                </a:lnTo>
                <a:lnTo>
                  <a:pt x="812342" y="511816"/>
                </a:lnTo>
                <a:lnTo>
                  <a:pt x="870366" y="503554"/>
                </a:lnTo>
                <a:lnTo>
                  <a:pt x="928390" y="495295"/>
                </a:lnTo>
                <a:lnTo>
                  <a:pt x="986415" y="487090"/>
                </a:lnTo>
                <a:lnTo>
                  <a:pt x="1044439" y="478919"/>
                </a:lnTo>
                <a:lnTo>
                  <a:pt x="1102463" y="470774"/>
                </a:lnTo>
                <a:lnTo>
                  <a:pt x="1160488" y="462615"/>
                </a:lnTo>
                <a:lnTo>
                  <a:pt x="1218512" y="454528"/>
                </a:lnTo>
                <a:lnTo>
                  <a:pt x="1276537" y="446475"/>
                </a:lnTo>
                <a:lnTo>
                  <a:pt x="1334561" y="438457"/>
                </a:lnTo>
                <a:lnTo>
                  <a:pt x="1392585" y="430477"/>
                </a:lnTo>
                <a:lnTo>
                  <a:pt x="1450610" y="422533"/>
                </a:lnTo>
                <a:lnTo>
                  <a:pt x="1508634" y="414624"/>
                </a:lnTo>
                <a:lnTo>
                  <a:pt x="1566659" y="406749"/>
                </a:lnTo>
                <a:lnTo>
                  <a:pt x="1624683" y="398913"/>
                </a:lnTo>
                <a:lnTo>
                  <a:pt x="1682707" y="391116"/>
                </a:lnTo>
                <a:lnTo>
                  <a:pt x="1740732" y="383363"/>
                </a:lnTo>
                <a:lnTo>
                  <a:pt x="1798756" y="375654"/>
                </a:lnTo>
                <a:lnTo>
                  <a:pt x="1856781" y="367989"/>
                </a:lnTo>
                <a:lnTo>
                  <a:pt x="1914805" y="360367"/>
                </a:lnTo>
                <a:lnTo>
                  <a:pt x="1972829" y="352785"/>
                </a:lnTo>
                <a:lnTo>
                  <a:pt x="2030854" y="345239"/>
                </a:lnTo>
                <a:lnTo>
                  <a:pt x="2088878" y="337728"/>
                </a:lnTo>
                <a:lnTo>
                  <a:pt x="2146903" y="330251"/>
                </a:lnTo>
                <a:lnTo>
                  <a:pt x="2204927" y="322801"/>
                </a:lnTo>
                <a:lnTo>
                  <a:pt x="2262951" y="315374"/>
                </a:lnTo>
                <a:lnTo>
                  <a:pt x="2320976" y="308009"/>
                </a:lnTo>
                <a:lnTo>
                  <a:pt x="2379000" y="300618"/>
                </a:lnTo>
                <a:lnTo>
                  <a:pt x="2437025" y="293243"/>
                </a:lnTo>
                <a:lnTo>
                  <a:pt x="2495049" y="285880"/>
                </a:lnTo>
                <a:lnTo>
                  <a:pt x="2553073" y="278526"/>
                </a:lnTo>
                <a:lnTo>
                  <a:pt x="2611098" y="271182"/>
                </a:lnTo>
                <a:lnTo>
                  <a:pt x="2669122" y="263844"/>
                </a:lnTo>
                <a:lnTo>
                  <a:pt x="2727147" y="256518"/>
                </a:lnTo>
                <a:lnTo>
                  <a:pt x="2785171" y="249206"/>
                </a:lnTo>
                <a:lnTo>
                  <a:pt x="2843195" y="241889"/>
                </a:lnTo>
                <a:lnTo>
                  <a:pt x="2901220" y="234581"/>
                </a:lnTo>
                <a:lnTo>
                  <a:pt x="2959244" y="227314"/>
                </a:lnTo>
                <a:lnTo>
                  <a:pt x="3017268" y="220034"/>
                </a:lnTo>
                <a:lnTo>
                  <a:pt x="3075293" y="212779"/>
                </a:lnTo>
                <a:lnTo>
                  <a:pt x="3133317" y="205521"/>
                </a:lnTo>
                <a:lnTo>
                  <a:pt x="3191342" y="198293"/>
                </a:lnTo>
                <a:lnTo>
                  <a:pt x="3249366" y="191049"/>
                </a:lnTo>
                <a:lnTo>
                  <a:pt x="3307390" y="183798"/>
                </a:lnTo>
                <a:lnTo>
                  <a:pt x="3365415" y="176544"/>
                </a:lnTo>
                <a:lnTo>
                  <a:pt x="3423439" y="169277"/>
                </a:lnTo>
                <a:lnTo>
                  <a:pt x="3481464" y="161991"/>
                </a:lnTo>
                <a:lnTo>
                  <a:pt x="3539488" y="154677"/>
                </a:lnTo>
                <a:lnTo>
                  <a:pt x="3597512" y="147321"/>
                </a:lnTo>
                <a:lnTo>
                  <a:pt x="3655537" y="139879"/>
                </a:lnTo>
                <a:lnTo>
                  <a:pt x="3713561" y="132415"/>
                </a:lnTo>
                <a:lnTo>
                  <a:pt x="3771586" y="124850"/>
                </a:lnTo>
                <a:lnTo>
                  <a:pt x="3829610" y="117217"/>
                </a:lnTo>
                <a:lnTo>
                  <a:pt x="3887634" y="109516"/>
                </a:lnTo>
                <a:lnTo>
                  <a:pt x="3945659" y="101728"/>
                </a:lnTo>
                <a:lnTo>
                  <a:pt x="4003683" y="93855"/>
                </a:lnTo>
                <a:lnTo>
                  <a:pt x="4061708" y="85905"/>
                </a:lnTo>
                <a:lnTo>
                  <a:pt x="4119732" y="77842"/>
                </a:lnTo>
                <a:lnTo>
                  <a:pt x="4177756" y="69657"/>
                </a:lnTo>
                <a:lnTo>
                  <a:pt x="4235781" y="61387"/>
                </a:lnTo>
                <a:lnTo>
                  <a:pt x="4293805" y="53001"/>
                </a:lnTo>
                <a:lnTo>
                  <a:pt x="4351830" y="44491"/>
                </a:lnTo>
                <a:lnTo>
                  <a:pt x="4409854" y="35870"/>
                </a:lnTo>
                <a:lnTo>
                  <a:pt x="4467878" y="27132"/>
                </a:lnTo>
                <a:lnTo>
                  <a:pt x="4525903" y="18224"/>
                </a:lnTo>
                <a:lnTo>
                  <a:pt x="4583927" y="9180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390447" y="233640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159" name="hfa: пример"/>
          <p:cNvSpPr/>
          <p:nvPr/>
        </p:nvSpPr>
        <p:spPr>
          <a:xfrm>
            <a:off x="6708495" y="2510987"/>
            <a:ext cx="3978816" cy="352802"/>
          </a:xfrm>
          <a:custGeom>
            <a:avLst/>
            <a:gdLst/>
            <a:ahLst/>
            <a:cxnLst/>
            <a:rect l="l" t="t" r="r" b="b"/>
            <a:pathLst>
              <a:path w="3978816" h="352802">
                <a:moveTo>
                  <a:pt x="0" y="352802"/>
                </a:moveTo>
                <a:lnTo>
                  <a:pt x="110523" y="333460"/>
                </a:lnTo>
                <a:lnTo>
                  <a:pt x="221045" y="314346"/>
                </a:lnTo>
                <a:lnTo>
                  <a:pt x="331568" y="295534"/>
                </a:lnTo>
                <a:lnTo>
                  <a:pt x="442091" y="277067"/>
                </a:lnTo>
                <a:lnTo>
                  <a:pt x="552613" y="258914"/>
                </a:lnTo>
                <a:lnTo>
                  <a:pt x="663136" y="241108"/>
                </a:lnTo>
                <a:lnTo>
                  <a:pt x="773659" y="223590"/>
                </a:lnTo>
                <a:lnTo>
                  <a:pt x="884181" y="206259"/>
                </a:lnTo>
                <a:lnTo>
                  <a:pt x="994704" y="189075"/>
                </a:lnTo>
                <a:lnTo>
                  <a:pt x="1105227" y="171997"/>
                </a:lnTo>
                <a:lnTo>
                  <a:pt x="1215749" y="155039"/>
                </a:lnTo>
                <a:lnTo>
                  <a:pt x="1326272" y="138215"/>
                </a:lnTo>
                <a:lnTo>
                  <a:pt x="1381533" y="133517"/>
                </a:lnTo>
                <a:lnTo>
                  <a:pt x="1436795" y="128899"/>
                </a:lnTo>
                <a:lnTo>
                  <a:pt x="1492056" y="124359"/>
                </a:lnTo>
                <a:lnTo>
                  <a:pt x="1547317" y="119896"/>
                </a:lnTo>
                <a:lnTo>
                  <a:pt x="1602578" y="115513"/>
                </a:lnTo>
                <a:lnTo>
                  <a:pt x="1657840" y="111212"/>
                </a:lnTo>
                <a:lnTo>
                  <a:pt x="1713101" y="106997"/>
                </a:lnTo>
                <a:lnTo>
                  <a:pt x="1768362" y="102869"/>
                </a:lnTo>
                <a:lnTo>
                  <a:pt x="1823624" y="98827"/>
                </a:lnTo>
                <a:lnTo>
                  <a:pt x="1878885" y="94873"/>
                </a:lnTo>
                <a:lnTo>
                  <a:pt x="1934146" y="91002"/>
                </a:lnTo>
                <a:lnTo>
                  <a:pt x="1989408" y="87216"/>
                </a:lnTo>
                <a:lnTo>
                  <a:pt x="2044669" y="84374"/>
                </a:lnTo>
                <a:lnTo>
                  <a:pt x="2099930" y="81620"/>
                </a:lnTo>
                <a:lnTo>
                  <a:pt x="2155192" y="78951"/>
                </a:lnTo>
                <a:lnTo>
                  <a:pt x="2210453" y="76360"/>
                </a:lnTo>
                <a:lnTo>
                  <a:pt x="2265714" y="73844"/>
                </a:lnTo>
                <a:lnTo>
                  <a:pt x="2320976" y="71413"/>
                </a:lnTo>
                <a:lnTo>
                  <a:pt x="2376237" y="69040"/>
                </a:lnTo>
                <a:lnTo>
                  <a:pt x="2431498" y="66735"/>
                </a:lnTo>
                <a:lnTo>
                  <a:pt x="2486760" y="64497"/>
                </a:lnTo>
                <a:lnTo>
                  <a:pt x="2542021" y="62321"/>
                </a:lnTo>
                <a:lnTo>
                  <a:pt x="2597282" y="60209"/>
                </a:lnTo>
                <a:lnTo>
                  <a:pt x="2652544" y="58157"/>
                </a:lnTo>
                <a:lnTo>
                  <a:pt x="2707805" y="56170"/>
                </a:lnTo>
                <a:lnTo>
                  <a:pt x="2763066" y="54250"/>
                </a:lnTo>
                <a:lnTo>
                  <a:pt x="2818328" y="52400"/>
                </a:lnTo>
                <a:lnTo>
                  <a:pt x="2873589" y="50591"/>
                </a:lnTo>
                <a:lnTo>
                  <a:pt x="2928850" y="48877"/>
                </a:lnTo>
                <a:lnTo>
                  <a:pt x="2984112" y="47233"/>
                </a:lnTo>
                <a:lnTo>
                  <a:pt x="3039373" y="45628"/>
                </a:lnTo>
                <a:lnTo>
                  <a:pt x="3094634" y="44121"/>
                </a:lnTo>
                <a:lnTo>
                  <a:pt x="3149896" y="42647"/>
                </a:lnTo>
                <a:lnTo>
                  <a:pt x="3205157" y="41271"/>
                </a:lnTo>
                <a:lnTo>
                  <a:pt x="3260418" y="39922"/>
                </a:lnTo>
                <a:lnTo>
                  <a:pt x="3315680" y="38629"/>
                </a:lnTo>
                <a:lnTo>
                  <a:pt x="3370941" y="35429"/>
                </a:lnTo>
                <a:lnTo>
                  <a:pt x="3426202" y="32251"/>
                </a:lnTo>
                <a:lnTo>
                  <a:pt x="3481464" y="29091"/>
                </a:lnTo>
                <a:lnTo>
                  <a:pt x="3536725" y="25943"/>
                </a:lnTo>
                <a:lnTo>
                  <a:pt x="3591986" y="22797"/>
                </a:lnTo>
                <a:lnTo>
                  <a:pt x="3647248" y="19603"/>
                </a:lnTo>
                <a:lnTo>
                  <a:pt x="3702509" y="16438"/>
                </a:lnTo>
                <a:lnTo>
                  <a:pt x="3757770" y="13212"/>
                </a:lnTo>
                <a:lnTo>
                  <a:pt x="3813032" y="9961"/>
                </a:lnTo>
                <a:lnTo>
                  <a:pt x="3868293" y="6682"/>
                </a:lnTo>
                <a:lnTo>
                  <a:pt x="3923554" y="3380"/>
                </a:lnTo>
                <a:lnTo>
                  <a:pt x="3978816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hfa: точка 5"/>
          <p:cNvSpPr/>
          <p:nvPr/>
        </p:nvSpPr>
        <p:spPr>
          <a:xfrm>
            <a:off x="6650495" y="280578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hfa: точка 7"/>
          <p:cNvSpPr/>
          <p:nvPr/>
        </p:nvSpPr>
        <p:spPr>
          <a:xfrm>
            <a:off x="7976767" y="2591202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hfa: точка 8"/>
          <p:cNvSpPr/>
          <p:nvPr/>
        </p:nvSpPr>
        <p:spPr>
          <a:xfrm>
            <a:off x="8639903" y="2540203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hfa: точка 9"/>
          <p:cNvSpPr/>
          <p:nvPr/>
        </p:nvSpPr>
        <p:spPr>
          <a:xfrm>
            <a:off x="9303039" y="2511144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hfa: точка 10"/>
          <p:cNvSpPr/>
          <p:nvPr/>
        </p:nvSpPr>
        <p:spPr>
          <a:xfrm>
            <a:off x="9966175" y="249161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hfa: точка 11"/>
          <p:cNvSpPr/>
          <p:nvPr/>
        </p:nvSpPr>
        <p:spPr>
          <a:xfrm>
            <a:off x="10629311" y="2452987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событие 11"/>
          <p:cNvSpPr/>
          <p:nvPr/>
        </p:nvSpPr>
        <p:spPr>
          <a:xfrm>
            <a:off x="10687311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287311" y="180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11 лет: диагноз</a:t>
            </a:r>
          </a:p>
        </p:txBody>
      </p:sp>
      <p:sp>
        <p:nvSpPr>
          <p:cNvPr id="168" name="событие 7.5"/>
          <p:cNvSpPr/>
          <p:nvPr/>
        </p:nvSpPr>
        <p:spPr>
          <a:xfrm>
            <a:off x="8366335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416335" y="1998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масса вверх, рост замедлился</a:t>
            </a:r>
          </a:p>
        </p:txBody>
      </p:sp>
      <p:sp>
        <p:nvSpPr>
          <p:cNvPr id="170" name="событие 9"/>
          <p:cNvSpPr/>
          <p:nvPr/>
        </p:nvSpPr>
        <p:spPr>
          <a:xfrm>
            <a:off x="9361039" y="1783080"/>
            <a:ext cx="0" cy="1375989"/>
          </a:xfrm>
          <a:custGeom>
            <a:avLst/>
            <a:gdLst/>
            <a:ahLst/>
            <a:cxnLst/>
            <a:rect l="l" t="t" r="r" b="b"/>
            <a:pathLst>
              <a:path w="0" h="1375989">
                <a:moveTo>
                  <a:pt x="0" y="0"/>
                </a:moveTo>
                <a:lnTo>
                  <a:pt x="0" y="1375989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961039" y="219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9 лет: сочли простым ожирением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24447" y="153308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Гиперкортицизм: рост для возраста, мальчики, см</a:t>
            </a:r>
          </a:p>
        </p:txBody>
      </p:sp>
      <p:sp>
        <p:nvSpPr>
          <p:cNvPr id="173" name="bfa: сетка 12"/>
          <p:cNvSpPr/>
          <p:nvPr/>
        </p:nvSpPr>
        <p:spPr>
          <a:xfrm>
            <a:off x="6708495" y="4370832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24447" y="429083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5" name="bfa: сетка 14"/>
          <p:cNvSpPr/>
          <p:nvPr/>
        </p:nvSpPr>
        <p:spPr>
          <a:xfrm>
            <a:off x="6708495" y="4269568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bfa: сетка 16"/>
          <p:cNvSpPr/>
          <p:nvPr/>
        </p:nvSpPr>
        <p:spPr>
          <a:xfrm>
            <a:off x="6708495" y="4168305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324447" y="40883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78" name="bfa: сетка 18"/>
          <p:cNvSpPr/>
          <p:nvPr/>
        </p:nvSpPr>
        <p:spPr>
          <a:xfrm>
            <a:off x="6708495" y="4067042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bfa: сетка 20"/>
          <p:cNvSpPr/>
          <p:nvPr/>
        </p:nvSpPr>
        <p:spPr>
          <a:xfrm>
            <a:off x="6708495" y="3965778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324447" y="388577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  <p:sp>
        <p:nvSpPr>
          <p:cNvPr id="181" name="bfa: сетка 22"/>
          <p:cNvSpPr/>
          <p:nvPr/>
        </p:nvSpPr>
        <p:spPr>
          <a:xfrm>
            <a:off x="6708495" y="3864515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bfa: сетка 24"/>
          <p:cNvSpPr/>
          <p:nvPr/>
        </p:nvSpPr>
        <p:spPr>
          <a:xfrm>
            <a:off x="6708495" y="3763252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324447" y="368325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  <p:sp>
        <p:nvSpPr>
          <p:cNvPr id="184" name="bfa: сетка 26"/>
          <p:cNvSpPr/>
          <p:nvPr/>
        </p:nvSpPr>
        <p:spPr>
          <a:xfrm>
            <a:off x="6708495" y="3661989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bfa: год 5"/>
          <p:cNvSpPr/>
          <p:nvPr/>
        </p:nvSpPr>
        <p:spPr>
          <a:xfrm>
            <a:off x="6708495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558495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187" name="bfa: год 6"/>
          <p:cNvSpPr/>
          <p:nvPr/>
        </p:nvSpPr>
        <p:spPr>
          <a:xfrm>
            <a:off x="7371631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221631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89" name="bfa: год 7"/>
          <p:cNvSpPr/>
          <p:nvPr/>
        </p:nvSpPr>
        <p:spPr>
          <a:xfrm>
            <a:off x="8034767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884767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91" name="bfa: год 8"/>
          <p:cNvSpPr/>
          <p:nvPr/>
        </p:nvSpPr>
        <p:spPr>
          <a:xfrm>
            <a:off x="8697903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547903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93" name="bfa: год 9"/>
          <p:cNvSpPr/>
          <p:nvPr/>
        </p:nvSpPr>
        <p:spPr>
          <a:xfrm>
            <a:off x="9361039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9211039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95" name="bfa: год 10"/>
          <p:cNvSpPr/>
          <p:nvPr/>
        </p:nvSpPr>
        <p:spPr>
          <a:xfrm>
            <a:off x="10024175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874175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97" name="bfa: год 11"/>
          <p:cNvSpPr/>
          <p:nvPr/>
        </p:nvSpPr>
        <p:spPr>
          <a:xfrm>
            <a:off x="10687311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0537311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99" name="bfa: год 12"/>
          <p:cNvSpPr/>
          <p:nvPr/>
        </p:nvSpPr>
        <p:spPr>
          <a:xfrm>
            <a:off x="11350447" y="3661989"/>
            <a:ext cx="0" cy="708843"/>
          </a:xfrm>
          <a:custGeom>
            <a:avLst/>
            <a:gdLst/>
            <a:ahLst/>
            <a:cxnLst/>
            <a:rect l="l" t="t" r="r" b="b"/>
            <a:pathLst>
              <a:path w="0" h="708843">
                <a:moveTo>
                  <a:pt x="0" y="0"/>
                </a:moveTo>
                <a:lnTo>
                  <a:pt x="0" y="70884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1200447" y="4400832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201" name="bfa: ось"/>
          <p:cNvSpPr/>
          <p:nvPr/>
        </p:nvSpPr>
        <p:spPr>
          <a:xfrm>
            <a:off x="6708495" y="4370832"/>
            <a:ext cx="4641952" cy="0"/>
          </a:xfrm>
          <a:custGeom>
            <a:avLst/>
            <a:gdLst/>
            <a:ahLst/>
            <a:cxnLst/>
            <a:rect l="l" t="t" r="r" b="b"/>
            <a:pathLst>
              <a:path w="4641952" h="0">
                <a:moveTo>
                  <a:pt x="0" y="0"/>
                </a:moveTo>
                <a:lnTo>
                  <a:pt x="4641952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bfa: полоса 3–97"/>
          <p:cNvSpPr/>
          <p:nvPr/>
        </p:nvSpPr>
        <p:spPr>
          <a:xfrm>
            <a:off x="6708495" y="3811301"/>
            <a:ext cx="4641952" cy="501973"/>
          </a:xfrm>
          <a:custGeom>
            <a:avLst/>
            <a:gdLst/>
            <a:ahLst/>
            <a:cxnLst/>
            <a:rect l="l" t="t" r="r" b="b"/>
            <a:pathLst>
              <a:path w="4641952" h="501973">
                <a:moveTo>
                  <a:pt x="0" y="253619"/>
                </a:moveTo>
                <a:lnTo>
                  <a:pt x="58024" y="253034"/>
                </a:lnTo>
                <a:lnTo>
                  <a:pt x="116049" y="252358"/>
                </a:lnTo>
                <a:lnTo>
                  <a:pt x="174073" y="251569"/>
                </a:lnTo>
                <a:lnTo>
                  <a:pt x="232098" y="250685"/>
                </a:lnTo>
                <a:lnTo>
                  <a:pt x="290122" y="249692"/>
                </a:lnTo>
                <a:lnTo>
                  <a:pt x="348146" y="248606"/>
                </a:lnTo>
                <a:lnTo>
                  <a:pt x="406171" y="247408"/>
                </a:lnTo>
                <a:lnTo>
                  <a:pt x="464195" y="246119"/>
                </a:lnTo>
                <a:lnTo>
                  <a:pt x="522220" y="244737"/>
                </a:lnTo>
                <a:lnTo>
                  <a:pt x="580244" y="243255"/>
                </a:lnTo>
                <a:lnTo>
                  <a:pt x="638268" y="241684"/>
                </a:lnTo>
                <a:lnTo>
                  <a:pt x="696293" y="240032"/>
                </a:lnTo>
                <a:lnTo>
                  <a:pt x="754317" y="238295"/>
                </a:lnTo>
                <a:lnTo>
                  <a:pt x="812342" y="236490"/>
                </a:lnTo>
                <a:lnTo>
                  <a:pt x="870366" y="234605"/>
                </a:lnTo>
                <a:lnTo>
                  <a:pt x="928390" y="232653"/>
                </a:lnTo>
                <a:lnTo>
                  <a:pt x="986415" y="230628"/>
                </a:lnTo>
                <a:lnTo>
                  <a:pt x="1044439" y="228523"/>
                </a:lnTo>
                <a:lnTo>
                  <a:pt x="1102463" y="226366"/>
                </a:lnTo>
                <a:lnTo>
                  <a:pt x="1160488" y="224157"/>
                </a:lnTo>
                <a:lnTo>
                  <a:pt x="1218512" y="221872"/>
                </a:lnTo>
                <a:lnTo>
                  <a:pt x="1276537" y="219517"/>
                </a:lnTo>
                <a:lnTo>
                  <a:pt x="1334561" y="217118"/>
                </a:lnTo>
                <a:lnTo>
                  <a:pt x="1392585" y="214672"/>
                </a:lnTo>
                <a:lnTo>
                  <a:pt x="1450610" y="212161"/>
                </a:lnTo>
                <a:lnTo>
                  <a:pt x="1508634" y="209583"/>
                </a:lnTo>
                <a:lnTo>
                  <a:pt x="1566659" y="206957"/>
                </a:lnTo>
                <a:lnTo>
                  <a:pt x="1624683" y="204274"/>
                </a:lnTo>
                <a:lnTo>
                  <a:pt x="1682707" y="201555"/>
                </a:lnTo>
                <a:lnTo>
                  <a:pt x="1740732" y="198782"/>
                </a:lnTo>
                <a:lnTo>
                  <a:pt x="1798756" y="195944"/>
                </a:lnTo>
                <a:lnTo>
                  <a:pt x="1856781" y="193071"/>
                </a:lnTo>
                <a:lnTo>
                  <a:pt x="1914805" y="190138"/>
                </a:lnTo>
                <a:lnTo>
                  <a:pt x="1972829" y="187159"/>
                </a:lnTo>
                <a:lnTo>
                  <a:pt x="2030854" y="184134"/>
                </a:lnTo>
                <a:lnTo>
                  <a:pt x="2088878" y="181046"/>
                </a:lnTo>
                <a:lnTo>
                  <a:pt x="2146903" y="177913"/>
                </a:lnTo>
                <a:lnTo>
                  <a:pt x="2204927" y="174740"/>
                </a:lnTo>
                <a:lnTo>
                  <a:pt x="2262951" y="171536"/>
                </a:lnTo>
                <a:lnTo>
                  <a:pt x="2320976" y="168262"/>
                </a:lnTo>
                <a:lnTo>
                  <a:pt x="2379000" y="164956"/>
                </a:lnTo>
                <a:lnTo>
                  <a:pt x="2437025" y="161610"/>
                </a:lnTo>
                <a:lnTo>
                  <a:pt x="2495049" y="158219"/>
                </a:lnTo>
                <a:lnTo>
                  <a:pt x="2553073" y="154767"/>
                </a:lnTo>
                <a:lnTo>
                  <a:pt x="2611098" y="151286"/>
                </a:lnTo>
                <a:lnTo>
                  <a:pt x="2669122" y="147737"/>
                </a:lnTo>
                <a:lnTo>
                  <a:pt x="2727147" y="144137"/>
                </a:lnTo>
                <a:lnTo>
                  <a:pt x="2785171" y="140488"/>
                </a:lnTo>
                <a:lnTo>
                  <a:pt x="2843195" y="136784"/>
                </a:lnTo>
                <a:lnTo>
                  <a:pt x="2901220" y="133010"/>
                </a:lnTo>
                <a:lnTo>
                  <a:pt x="2959244" y="129184"/>
                </a:lnTo>
                <a:lnTo>
                  <a:pt x="3017268" y="125317"/>
                </a:lnTo>
                <a:lnTo>
                  <a:pt x="3075293" y="121392"/>
                </a:lnTo>
                <a:lnTo>
                  <a:pt x="3133317" y="117408"/>
                </a:lnTo>
                <a:lnTo>
                  <a:pt x="3191342" y="113396"/>
                </a:lnTo>
                <a:lnTo>
                  <a:pt x="3249366" y="109315"/>
                </a:lnTo>
                <a:lnTo>
                  <a:pt x="3307390" y="105172"/>
                </a:lnTo>
                <a:lnTo>
                  <a:pt x="3365415" y="101012"/>
                </a:lnTo>
                <a:lnTo>
                  <a:pt x="3423439" y="96799"/>
                </a:lnTo>
                <a:lnTo>
                  <a:pt x="3481464" y="92534"/>
                </a:lnTo>
                <a:lnTo>
                  <a:pt x="3539488" y="88220"/>
                </a:lnTo>
                <a:lnTo>
                  <a:pt x="3597512" y="83890"/>
                </a:lnTo>
                <a:lnTo>
                  <a:pt x="3655537" y="79478"/>
                </a:lnTo>
                <a:lnTo>
                  <a:pt x="3713561" y="75053"/>
                </a:lnTo>
                <a:lnTo>
                  <a:pt x="3771586" y="70592"/>
                </a:lnTo>
                <a:lnTo>
                  <a:pt x="3829610" y="66074"/>
                </a:lnTo>
                <a:lnTo>
                  <a:pt x="3887634" y="61533"/>
                </a:lnTo>
                <a:lnTo>
                  <a:pt x="3945659" y="56965"/>
                </a:lnTo>
                <a:lnTo>
                  <a:pt x="4003683" y="52374"/>
                </a:lnTo>
                <a:lnTo>
                  <a:pt x="4061708" y="47737"/>
                </a:lnTo>
                <a:lnTo>
                  <a:pt x="4119732" y="43082"/>
                </a:lnTo>
                <a:lnTo>
                  <a:pt x="4177756" y="38398"/>
                </a:lnTo>
                <a:lnTo>
                  <a:pt x="4235781" y="33693"/>
                </a:lnTo>
                <a:lnTo>
                  <a:pt x="4293805" y="28964"/>
                </a:lnTo>
                <a:lnTo>
                  <a:pt x="4351830" y="24192"/>
                </a:lnTo>
                <a:lnTo>
                  <a:pt x="4409854" y="19397"/>
                </a:lnTo>
                <a:lnTo>
                  <a:pt x="4467878" y="14599"/>
                </a:lnTo>
                <a:lnTo>
                  <a:pt x="4525903" y="9764"/>
                </a:lnTo>
                <a:lnTo>
                  <a:pt x="4583927" y="4889"/>
                </a:lnTo>
                <a:lnTo>
                  <a:pt x="4641952" y="0"/>
                </a:lnTo>
                <a:lnTo>
                  <a:pt x="4641952" y="428096"/>
                </a:lnTo>
                <a:lnTo>
                  <a:pt x="4583927" y="430060"/>
                </a:lnTo>
                <a:lnTo>
                  <a:pt x="4525903" y="431983"/>
                </a:lnTo>
                <a:lnTo>
                  <a:pt x="4467878" y="433880"/>
                </a:lnTo>
                <a:lnTo>
                  <a:pt x="4409854" y="435747"/>
                </a:lnTo>
                <a:lnTo>
                  <a:pt x="4351830" y="437579"/>
                </a:lnTo>
                <a:lnTo>
                  <a:pt x="4293805" y="439371"/>
                </a:lnTo>
                <a:lnTo>
                  <a:pt x="4235781" y="441136"/>
                </a:lnTo>
                <a:lnTo>
                  <a:pt x="4177756" y="442875"/>
                </a:lnTo>
                <a:lnTo>
                  <a:pt x="4119732" y="444582"/>
                </a:lnTo>
                <a:lnTo>
                  <a:pt x="4061708" y="446257"/>
                </a:lnTo>
                <a:lnTo>
                  <a:pt x="4003683" y="447905"/>
                </a:lnTo>
                <a:lnTo>
                  <a:pt x="3945659" y="449527"/>
                </a:lnTo>
                <a:lnTo>
                  <a:pt x="3887634" y="451116"/>
                </a:lnTo>
                <a:lnTo>
                  <a:pt x="3829610" y="452678"/>
                </a:lnTo>
                <a:lnTo>
                  <a:pt x="3771586" y="454207"/>
                </a:lnTo>
                <a:lnTo>
                  <a:pt x="3713561" y="455717"/>
                </a:lnTo>
                <a:lnTo>
                  <a:pt x="3655537" y="457191"/>
                </a:lnTo>
                <a:lnTo>
                  <a:pt x="3597512" y="458626"/>
                </a:lnTo>
                <a:lnTo>
                  <a:pt x="3539488" y="460037"/>
                </a:lnTo>
                <a:lnTo>
                  <a:pt x="3481464" y="461416"/>
                </a:lnTo>
                <a:lnTo>
                  <a:pt x="3423439" y="462766"/>
                </a:lnTo>
                <a:lnTo>
                  <a:pt x="3365415" y="464087"/>
                </a:lnTo>
                <a:lnTo>
                  <a:pt x="3307390" y="465375"/>
                </a:lnTo>
                <a:lnTo>
                  <a:pt x="3249366" y="466630"/>
                </a:lnTo>
                <a:lnTo>
                  <a:pt x="3191342" y="467859"/>
                </a:lnTo>
                <a:lnTo>
                  <a:pt x="3133317" y="469062"/>
                </a:lnTo>
                <a:lnTo>
                  <a:pt x="3075293" y="470232"/>
                </a:lnTo>
                <a:lnTo>
                  <a:pt x="3017268" y="471369"/>
                </a:lnTo>
                <a:lnTo>
                  <a:pt x="2959244" y="472476"/>
                </a:lnTo>
                <a:lnTo>
                  <a:pt x="2901220" y="473547"/>
                </a:lnTo>
                <a:lnTo>
                  <a:pt x="2843195" y="474591"/>
                </a:lnTo>
                <a:lnTo>
                  <a:pt x="2785171" y="475611"/>
                </a:lnTo>
                <a:lnTo>
                  <a:pt x="2727147" y="476602"/>
                </a:lnTo>
                <a:lnTo>
                  <a:pt x="2669122" y="477568"/>
                </a:lnTo>
                <a:lnTo>
                  <a:pt x="2611098" y="478509"/>
                </a:lnTo>
                <a:lnTo>
                  <a:pt x="2553073" y="479436"/>
                </a:lnTo>
                <a:lnTo>
                  <a:pt x="2495049" y="480333"/>
                </a:lnTo>
                <a:lnTo>
                  <a:pt x="2437025" y="481218"/>
                </a:lnTo>
                <a:lnTo>
                  <a:pt x="2379000" y="482086"/>
                </a:lnTo>
                <a:lnTo>
                  <a:pt x="2320976" y="482936"/>
                </a:lnTo>
                <a:lnTo>
                  <a:pt x="2262951" y="483774"/>
                </a:lnTo>
                <a:lnTo>
                  <a:pt x="2204927" y="484601"/>
                </a:lnTo>
                <a:lnTo>
                  <a:pt x="2146903" y="485416"/>
                </a:lnTo>
                <a:lnTo>
                  <a:pt x="2088878" y="486213"/>
                </a:lnTo>
                <a:lnTo>
                  <a:pt x="2030854" y="486996"/>
                </a:lnTo>
                <a:lnTo>
                  <a:pt x="1972829" y="487774"/>
                </a:lnTo>
                <a:lnTo>
                  <a:pt x="1914805" y="488541"/>
                </a:lnTo>
                <a:lnTo>
                  <a:pt x="1856781" y="489288"/>
                </a:lnTo>
                <a:lnTo>
                  <a:pt x="1798756" y="490026"/>
                </a:lnTo>
                <a:lnTo>
                  <a:pt x="1740732" y="490745"/>
                </a:lnTo>
                <a:lnTo>
                  <a:pt x="1682707" y="491458"/>
                </a:lnTo>
                <a:lnTo>
                  <a:pt x="1624683" y="492155"/>
                </a:lnTo>
                <a:lnTo>
                  <a:pt x="1566659" y="492835"/>
                </a:lnTo>
                <a:lnTo>
                  <a:pt x="1508634" y="493503"/>
                </a:lnTo>
                <a:lnTo>
                  <a:pt x="1450610" y="494155"/>
                </a:lnTo>
                <a:lnTo>
                  <a:pt x="1392585" y="494790"/>
                </a:lnTo>
                <a:lnTo>
                  <a:pt x="1334561" y="495416"/>
                </a:lnTo>
                <a:lnTo>
                  <a:pt x="1276537" y="496022"/>
                </a:lnTo>
                <a:lnTo>
                  <a:pt x="1218512" y="496604"/>
                </a:lnTo>
                <a:lnTo>
                  <a:pt x="1160488" y="497170"/>
                </a:lnTo>
                <a:lnTo>
                  <a:pt x="1102463" y="497718"/>
                </a:lnTo>
                <a:lnTo>
                  <a:pt x="1044439" y="498238"/>
                </a:lnTo>
                <a:lnTo>
                  <a:pt x="986415" y="498730"/>
                </a:lnTo>
                <a:lnTo>
                  <a:pt x="928390" y="499201"/>
                </a:lnTo>
                <a:lnTo>
                  <a:pt x="870366" y="499648"/>
                </a:lnTo>
                <a:lnTo>
                  <a:pt x="812342" y="500062"/>
                </a:lnTo>
                <a:lnTo>
                  <a:pt x="754317" y="500444"/>
                </a:lnTo>
                <a:lnTo>
                  <a:pt x="696293" y="500794"/>
                </a:lnTo>
                <a:lnTo>
                  <a:pt x="638268" y="501105"/>
                </a:lnTo>
                <a:lnTo>
                  <a:pt x="580244" y="501376"/>
                </a:lnTo>
                <a:lnTo>
                  <a:pt x="522220" y="501603"/>
                </a:lnTo>
                <a:lnTo>
                  <a:pt x="464195" y="501778"/>
                </a:lnTo>
                <a:lnTo>
                  <a:pt x="406171" y="501904"/>
                </a:lnTo>
                <a:lnTo>
                  <a:pt x="348146" y="501966"/>
                </a:lnTo>
                <a:lnTo>
                  <a:pt x="290122" y="501973"/>
                </a:lnTo>
                <a:lnTo>
                  <a:pt x="232098" y="501924"/>
                </a:lnTo>
                <a:lnTo>
                  <a:pt x="174073" y="501822"/>
                </a:lnTo>
                <a:lnTo>
                  <a:pt x="116049" y="501659"/>
                </a:lnTo>
                <a:lnTo>
                  <a:pt x="58024" y="501443"/>
                </a:lnTo>
                <a:lnTo>
                  <a:pt x="0" y="50116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bfa: 97-й центиль"/>
          <p:cNvSpPr/>
          <p:nvPr/>
        </p:nvSpPr>
        <p:spPr>
          <a:xfrm>
            <a:off x="6708495" y="3811301"/>
            <a:ext cx="4641952" cy="253619"/>
          </a:xfrm>
          <a:custGeom>
            <a:avLst/>
            <a:gdLst/>
            <a:ahLst/>
            <a:cxnLst/>
            <a:rect l="l" t="t" r="r" b="b"/>
            <a:pathLst>
              <a:path w="4641952" h="253619">
                <a:moveTo>
                  <a:pt x="0" y="253619"/>
                </a:moveTo>
                <a:lnTo>
                  <a:pt x="58024" y="253034"/>
                </a:lnTo>
                <a:lnTo>
                  <a:pt x="116049" y="252358"/>
                </a:lnTo>
                <a:lnTo>
                  <a:pt x="174073" y="251569"/>
                </a:lnTo>
                <a:lnTo>
                  <a:pt x="232098" y="250685"/>
                </a:lnTo>
                <a:lnTo>
                  <a:pt x="290122" y="249692"/>
                </a:lnTo>
                <a:lnTo>
                  <a:pt x="348146" y="248606"/>
                </a:lnTo>
                <a:lnTo>
                  <a:pt x="406171" y="247408"/>
                </a:lnTo>
                <a:lnTo>
                  <a:pt x="464195" y="246119"/>
                </a:lnTo>
                <a:lnTo>
                  <a:pt x="522220" y="244737"/>
                </a:lnTo>
                <a:lnTo>
                  <a:pt x="580244" y="243255"/>
                </a:lnTo>
                <a:lnTo>
                  <a:pt x="638268" y="241684"/>
                </a:lnTo>
                <a:lnTo>
                  <a:pt x="696293" y="240032"/>
                </a:lnTo>
                <a:lnTo>
                  <a:pt x="754317" y="238295"/>
                </a:lnTo>
                <a:lnTo>
                  <a:pt x="812342" y="236490"/>
                </a:lnTo>
                <a:lnTo>
                  <a:pt x="870366" y="234605"/>
                </a:lnTo>
                <a:lnTo>
                  <a:pt x="928390" y="232653"/>
                </a:lnTo>
                <a:lnTo>
                  <a:pt x="986415" y="230628"/>
                </a:lnTo>
                <a:lnTo>
                  <a:pt x="1044439" y="228523"/>
                </a:lnTo>
                <a:lnTo>
                  <a:pt x="1102463" y="226366"/>
                </a:lnTo>
                <a:lnTo>
                  <a:pt x="1160488" y="224157"/>
                </a:lnTo>
                <a:lnTo>
                  <a:pt x="1218512" y="221872"/>
                </a:lnTo>
                <a:lnTo>
                  <a:pt x="1276537" y="219517"/>
                </a:lnTo>
                <a:lnTo>
                  <a:pt x="1334561" y="217118"/>
                </a:lnTo>
                <a:lnTo>
                  <a:pt x="1392585" y="214672"/>
                </a:lnTo>
                <a:lnTo>
                  <a:pt x="1450610" y="212161"/>
                </a:lnTo>
                <a:lnTo>
                  <a:pt x="1508634" y="209583"/>
                </a:lnTo>
                <a:lnTo>
                  <a:pt x="1566659" y="206957"/>
                </a:lnTo>
                <a:lnTo>
                  <a:pt x="1624683" y="204274"/>
                </a:lnTo>
                <a:lnTo>
                  <a:pt x="1682707" y="201555"/>
                </a:lnTo>
                <a:lnTo>
                  <a:pt x="1740732" y="198782"/>
                </a:lnTo>
                <a:lnTo>
                  <a:pt x="1798756" y="195944"/>
                </a:lnTo>
                <a:lnTo>
                  <a:pt x="1856781" y="193071"/>
                </a:lnTo>
                <a:lnTo>
                  <a:pt x="1914805" y="190138"/>
                </a:lnTo>
                <a:lnTo>
                  <a:pt x="1972829" y="187159"/>
                </a:lnTo>
                <a:lnTo>
                  <a:pt x="2030854" y="184134"/>
                </a:lnTo>
                <a:lnTo>
                  <a:pt x="2088878" y="181046"/>
                </a:lnTo>
                <a:lnTo>
                  <a:pt x="2146903" y="177913"/>
                </a:lnTo>
                <a:lnTo>
                  <a:pt x="2204927" y="174740"/>
                </a:lnTo>
                <a:lnTo>
                  <a:pt x="2262951" y="171536"/>
                </a:lnTo>
                <a:lnTo>
                  <a:pt x="2320976" y="168262"/>
                </a:lnTo>
                <a:lnTo>
                  <a:pt x="2379000" y="164956"/>
                </a:lnTo>
                <a:lnTo>
                  <a:pt x="2437025" y="161610"/>
                </a:lnTo>
                <a:lnTo>
                  <a:pt x="2495049" y="158219"/>
                </a:lnTo>
                <a:lnTo>
                  <a:pt x="2553073" y="154767"/>
                </a:lnTo>
                <a:lnTo>
                  <a:pt x="2611098" y="151286"/>
                </a:lnTo>
                <a:lnTo>
                  <a:pt x="2669122" y="147737"/>
                </a:lnTo>
                <a:lnTo>
                  <a:pt x="2727147" y="144137"/>
                </a:lnTo>
                <a:lnTo>
                  <a:pt x="2785171" y="140488"/>
                </a:lnTo>
                <a:lnTo>
                  <a:pt x="2843195" y="136784"/>
                </a:lnTo>
                <a:lnTo>
                  <a:pt x="2901220" y="133010"/>
                </a:lnTo>
                <a:lnTo>
                  <a:pt x="2959244" y="129184"/>
                </a:lnTo>
                <a:lnTo>
                  <a:pt x="3017268" y="125317"/>
                </a:lnTo>
                <a:lnTo>
                  <a:pt x="3075293" y="121392"/>
                </a:lnTo>
                <a:lnTo>
                  <a:pt x="3133317" y="117408"/>
                </a:lnTo>
                <a:lnTo>
                  <a:pt x="3191342" y="113396"/>
                </a:lnTo>
                <a:lnTo>
                  <a:pt x="3249366" y="109315"/>
                </a:lnTo>
                <a:lnTo>
                  <a:pt x="3307390" y="105172"/>
                </a:lnTo>
                <a:lnTo>
                  <a:pt x="3365415" y="101012"/>
                </a:lnTo>
                <a:lnTo>
                  <a:pt x="3423439" y="96799"/>
                </a:lnTo>
                <a:lnTo>
                  <a:pt x="3481464" y="92534"/>
                </a:lnTo>
                <a:lnTo>
                  <a:pt x="3539488" y="88220"/>
                </a:lnTo>
                <a:lnTo>
                  <a:pt x="3597512" y="83890"/>
                </a:lnTo>
                <a:lnTo>
                  <a:pt x="3655537" y="79478"/>
                </a:lnTo>
                <a:lnTo>
                  <a:pt x="3713561" y="75053"/>
                </a:lnTo>
                <a:lnTo>
                  <a:pt x="3771586" y="70592"/>
                </a:lnTo>
                <a:lnTo>
                  <a:pt x="3829610" y="66074"/>
                </a:lnTo>
                <a:lnTo>
                  <a:pt x="3887634" y="61533"/>
                </a:lnTo>
                <a:lnTo>
                  <a:pt x="3945659" y="56965"/>
                </a:lnTo>
                <a:lnTo>
                  <a:pt x="4003683" y="52374"/>
                </a:lnTo>
                <a:lnTo>
                  <a:pt x="4061708" y="47737"/>
                </a:lnTo>
                <a:lnTo>
                  <a:pt x="4119732" y="43082"/>
                </a:lnTo>
                <a:lnTo>
                  <a:pt x="4177756" y="38398"/>
                </a:lnTo>
                <a:lnTo>
                  <a:pt x="4235781" y="33693"/>
                </a:lnTo>
                <a:lnTo>
                  <a:pt x="4293805" y="28964"/>
                </a:lnTo>
                <a:lnTo>
                  <a:pt x="4351830" y="24192"/>
                </a:lnTo>
                <a:lnTo>
                  <a:pt x="4409854" y="19397"/>
                </a:lnTo>
                <a:lnTo>
                  <a:pt x="4467878" y="14599"/>
                </a:lnTo>
                <a:lnTo>
                  <a:pt x="4525903" y="9764"/>
                </a:lnTo>
                <a:lnTo>
                  <a:pt x="4583927" y="4889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1390447" y="373630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205" name="bfa: 85-й центиль"/>
          <p:cNvSpPr/>
          <p:nvPr/>
        </p:nvSpPr>
        <p:spPr>
          <a:xfrm>
            <a:off x="6708495" y="3963225"/>
            <a:ext cx="4641952" cy="169792"/>
          </a:xfrm>
          <a:custGeom>
            <a:avLst/>
            <a:gdLst/>
            <a:ahLst/>
            <a:cxnLst/>
            <a:rect l="l" t="t" r="r" b="b"/>
            <a:pathLst>
              <a:path w="4641952" h="169792">
                <a:moveTo>
                  <a:pt x="0" y="169792"/>
                </a:moveTo>
                <a:lnTo>
                  <a:pt x="58024" y="169687"/>
                </a:lnTo>
                <a:lnTo>
                  <a:pt x="116049" y="169502"/>
                </a:lnTo>
                <a:lnTo>
                  <a:pt x="174073" y="169227"/>
                </a:lnTo>
                <a:lnTo>
                  <a:pt x="232098" y="168870"/>
                </a:lnTo>
                <a:lnTo>
                  <a:pt x="290122" y="168426"/>
                </a:lnTo>
                <a:lnTo>
                  <a:pt x="348146" y="167902"/>
                </a:lnTo>
                <a:lnTo>
                  <a:pt x="406171" y="167288"/>
                </a:lnTo>
                <a:lnTo>
                  <a:pt x="464195" y="166594"/>
                </a:lnTo>
                <a:lnTo>
                  <a:pt x="522220" y="165824"/>
                </a:lnTo>
                <a:lnTo>
                  <a:pt x="580244" y="164974"/>
                </a:lnTo>
                <a:lnTo>
                  <a:pt x="638268" y="164052"/>
                </a:lnTo>
                <a:lnTo>
                  <a:pt x="696293" y="163066"/>
                </a:lnTo>
                <a:lnTo>
                  <a:pt x="754317" y="162013"/>
                </a:lnTo>
                <a:lnTo>
                  <a:pt x="812342" y="160908"/>
                </a:lnTo>
                <a:lnTo>
                  <a:pt x="870366" y="159742"/>
                </a:lnTo>
                <a:lnTo>
                  <a:pt x="928390" y="158525"/>
                </a:lnTo>
                <a:lnTo>
                  <a:pt x="986415" y="157255"/>
                </a:lnTo>
                <a:lnTo>
                  <a:pt x="1044439" y="155928"/>
                </a:lnTo>
                <a:lnTo>
                  <a:pt x="1102463" y="154561"/>
                </a:lnTo>
                <a:lnTo>
                  <a:pt x="1160488" y="153154"/>
                </a:lnTo>
                <a:lnTo>
                  <a:pt x="1218512" y="151696"/>
                </a:lnTo>
                <a:lnTo>
                  <a:pt x="1276537" y="150190"/>
                </a:lnTo>
                <a:lnTo>
                  <a:pt x="1334561" y="148650"/>
                </a:lnTo>
                <a:lnTo>
                  <a:pt x="1392585" y="147077"/>
                </a:lnTo>
                <a:lnTo>
                  <a:pt x="1450610" y="145462"/>
                </a:lnTo>
                <a:lnTo>
                  <a:pt x="1508634" y="143803"/>
                </a:lnTo>
                <a:lnTo>
                  <a:pt x="1566659" y="142112"/>
                </a:lnTo>
                <a:lnTo>
                  <a:pt x="1624683" y="140384"/>
                </a:lnTo>
                <a:lnTo>
                  <a:pt x="1682707" y="138630"/>
                </a:lnTo>
                <a:lnTo>
                  <a:pt x="1740732" y="136841"/>
                </a:lnTo>
                <a:lnTo>
                  <a:pt x="1798756" y="135013"/>
                </a:lnTo>
                <a:lnTo>
                  <a:pt x="1856781" y="133158"/>
                </a:lnTo>
                <a:lnTo>
                  <a:pt x="1914805" y="131267"/>
                </a:lnTo>
                <a:lnTo>
                  <a:pt x="1972829" y="129344"/>
                </a:lnTo>
                <a:lnTo>
                  <a:pt x="2030854" y="127391"/>
                </a:lnTo>
                <a:lnTo>
                  <a:pt x="2088878" y="125402"/>
                </a:lnTo>
                <a:lnTo>
                  <a:pt x="2146903" y="123382"/>
                </a:lnTo>
                <a:lnTo>
                  <a:pt x="2204927" y="121334"/>
                </a:lnTo>
                <a:lnTo>
                  <a:pt x="2262951" y="119265"/>
                </a:lnTo>
                <a:lnTo>
                  <a:pt x="2320976" y="117152"/>
                </a:lnTo>
                <a:lnTo>
                  <a:pt x="2379000" y="115017"/>
                </a:lnTo>
                <a:lnTo>
                  <a:pt x="2437025" y="112853"/>
                </a:lnTo>
                <a:lnTo>
                  <a:pt x="2495049" y="110655"/>
                </a:lnTo>
                <a:lnTo>
                  <a:pt x="2553073" y="108420"/>
                </a:lnTo>
                <a:lnTo>
                  <a:pt x="2611098" y="106154"/>
                </a:lnTo>
                <a:lnTo>
                  <a:pt x="2669122" y="103844"/>
                </a:lnTo>
                <a:lnTo>
                  <a:pt x="2727147" y="101494"/>
                </a:lnTo>
                <a:lnTo>
                  <a:pt x="2785171" y="99105"/>
                </a:lnTo>
                <a:lnTo>
                  <a:pt x="2843195" y="96671"/>
                </a:lnTo>
                <a:lnTo>
                  <a:pt x="2901220" y="94186"/>
                </a:lnTo>
                <a:lnTo>
                  <a:pt x="2959244" y="91658"/>
                </a:lnTo>
                <a:lnTo>
                  <a:pt x="3017268" y="89087"/>
                </a:lnTo>
                <a:lnTo>
                  <a:pt x="3075293" y="86469"/>
                </a:lnTo>
                <a:lnTo>
                  <a:pt x="3133317" y="83800"/>
                </a:lnTo>
                <a:lnTo>
                  <a:pt x="3191342" y="81098"/>
                </a:lnTo>
                <a:lnTo>
                  <a:pt x="3249366" y="78342"/>
                </a:lnTo>
                <a:lnTo>
                  <a:pt x="3307390" y="75536"/>
                </a:lnTo>
                <a:lnTo>
                  <a:pt x="3365415" y="72701"/>
                </a:lnTo>
                <a:lnTo>
                  <a:pt x="3423439" y="69818"/>
                </a:lnTo>
                <a:lnTo>
                  <a:pt x="3481464" y="66889"/>
                </a:lnTo>
                <a:lnTo>
                  <a:pt x="3539488" y="63914"/>
                </a:lnTo>
                <a:lnTo>
                  <a:pt x="3597512" y="60911"/>
                </a:lnTo>
                <a:lnTo>
                  <a:pt x="3655537" y="57847"/>
                </a:lnTo>
                <a:lnTo>
                  <a:pt x="3713561" y="54750"/>
                </a:lnTo>
                <a:lnTo>
                  <a:pt x="3771586" y="51613"/>
                </a:lnTo>
                <a:lnTo>
                  <a:pt x="3829610" y="48428"/>
                </a:lnTo>
                <a:lnTo>
                  <a:pt x="3887634" y="45211"/>
                </a:lnTo>
                <a:lnTo>
                  <a:pt x="3945659" y="41958"/>
                </a:lnTo>
                <a:lnTo>
                  <a:pt x="4003683" y="38668"/>
                </a:lnTo>
                <a:lnTo>
                  <a:pt x="4061708" y="35336"/>
                </a:lnTo>
                <a:lnTo>
                  <a:pt x="4119732" y="31974"/>
                </a:lnTo>
                <a:lnTo>
                  <a:pt x="4177756" y="28572"/>
                </a:lnTo>
                <a:lnTo>
                  <a:pt x="4235781" y="25136"/>
                </a:lnTo>
                <a:lnTo>
                  <a:pt x="4293805" y="21666"/>
                </a:lnTo>
                <a:lnTo>
                  <a:pt x="4351830" y="18150"/>
                </a:lnTo>
                <a:lnTo>
                  <a:pt x="4409854" y="14594"/>
                </a:lnTo>
                <a:lnTo>
                  <a:pt x="4467878" y="11011"/>
                </a:lnTo>
                <a:lnTo>
                  <a:pt x="4525903" y="7382"/>
                </a:lnTo>
                <a:lnTo>
                  <a:pt x="4583927" y="3710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390447" y="388822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207" name="bfa: 50-й центиль"/>
          <p:cNvSpPr/>
          <p:nvPr/>
        </p:nvSpPr>
        <p:spPr>
          <a:xfrm>
            <a:off x="6708495" y="4090666"/>
            <a:ext cx="4641952" cy="115085"/>
          </a:xfrm>
          <a:custGeom>
            <a:avLst/>
            <a:gdLst/>
            <a:ahLst/>
            <a:cxnLst/>
            <a:rect l="l" t="t" r="r" b="b"/>
            <a:pathLst>
              <a:path w="4641952" h="115085">
                <a:moveTo>
                  <a:pt x="0" y="114706"/>
                </a:moveTo>
                <a:lnTo>
                  <a:pt x="58024" y="114905"/>
                </a:lnTo>
                <a:lnTo>
                  <a:pt x="116049" y="115031"/>
                </a:lnTo>
                <a:lnTo>
                  <a:pt x="174073" y="115085"/>
                </a:lnTo>
                <a:lnTo>
                  <a:pt x="232098" y="115067"/>
                </a:lnTo>
                <a:lnTo>
                  <a:pt x="290122" y="114977"/>
                </a:lnTo>
                <a:lnTo>
                  <a:pt x="348146" y="114819"/>
                </a:lnTo>
                <a:lnTo>
                  <a:pt x="406171" y="114587"/>
                </a:lnTo>
                <a:lnTo>
                  <a:pt x="464195" y="114283"/>
                </a:lnTo>
                <a:lnTo>
                  <a:pt x="522220" y="113916"/>
                </a:lnTo>
                <a:lnTo>
                  <a:pt x="580244" y="113481"/>
                </a:lnTo>
                <a:lnTo>
                  <a:pt x="638268" y="112988"/>
                </a:lnTo>
                <a:lnTo>
                  <a:pt x="696293" y="112442"/>
                </a:lnTo>
                <a:lnTo>
                  <a:pt x="754317" y="111844"/>
                </a:lnTo>
                <a:lnTo>
                  <a:pt x="812342" y="111202"/>
                </a:lnTo>
                <a:lnTo>
                  <a:pt x="870366" y="110514"/>
                </a:lnTo>
                <a:lnTo>
                  <a:pt x="928390" y="109784"/>
                </a:lnTo>
                <a:lnTo>
                  <a:pt x="986415" y="109015"/>
                </a:lnTo>
                <a:lnTo>
                  <a:pt x="1044439" y="108207"/>
                </a:lnTo>
                <a:lnTo>
                  <a:pt x="1102463" y="107365"/>
                </a:lnTo>
                <a:lnTo>
                  <a:pt x="1160488" y="106489"/>
                </a:lnTo>
                <a:lnTo>
                  <a:pt x="1218512" y="105578"/>
                </a:lnTo>
                <a:lnTo>
                  <a:pt x="1276537" y="104635"/>
                </a:lnTo>
                <a:lnTo>
                  <a:pt x="1334561" y="103663"/>
                </a:lnTo>
                <a:lnTo>
                  <a:pt x="1392585" y="102665"/>
                </a:lnTo>
                <a:lnTo>
                  <a:pt x="1450610" y="101642"/>
                </a:lnTo>
                <a:lnTo>
                  <a:pt x="1508634" y="100589"/>
                </a:lnTo>
                <a:lnTo>
                  <a:pt x="1566659" y="99511"/>
                </a:lnTo>
                <a:lnTo>
                  <a:pt x="1624683" y="98410"/>
                </a:lnTo>
                <a:lnTo>
                  <a:pt x="1682707" y="97288"/>
                </a:lnTo>
                <a:lnTo>
                  <a:pt x="1740732" y="96140"/>
                </a:lnTo>
                <a:lnTo>
                  <a:pt x="1798756" y="94970"/>
                </a:lnTo>
                <a:lnTo>
                  <a:pt x="1856781" y="93777"/>
                </a:lnTo>
                <a:lnTo>
                  <a:pt x="1914805" y="92563"/>
                </a:lnTo>
                <a:lnTo>
                  <a:pt x="1972829" y="91322"/>
                </a:lnTo>
                <a:lnTo>
                  <a:pt x="2030854" y="90061"/>
                </a:lnTo>
                <a:lnTo>
                  <a:pt x="2088878" y="88780"/>
                </a:lnTo>
                <a:lnTo>
                  <a:pt x="2146903" y="87476"/>
                </a:lnTo>
                <a:lnTo>
                  <a:pt x="2204927" y="86150"/>
                </a:lnTo>
                <a:lnTo>
                  <a:pt x="2262951" y="84807"/>
                </a:lnTo>
                <a:lnTo>
                  <a:pt x="2320976" y="83436"/>
                </a:lnTo>
                <a:lnTo>
                  <a:pt x="2379000" y="82048"/>
                </a:lnTo>
                <a:lnTo>
                  <a:pt x="2437025" y="80636"/>
                </a:lnTo>
                <a:lnTo>
                  <a:pt x="2495049" y="79198"/>
                </a:lnTo>
                <a:lnTo>
                  <a:pt x="2553073" y="77735"/>
                </a:lnTo>
                <a:lnTo>
                  <a:pt x="2611098" y="76240"/>
                </a:lnTo>
                <a:lnTo>
                  <a:pt x="2669122" y="74716"/>
                </a:lnTo>
                <a:lnTo>
                  <a:pt x="2727147" y="73158"/>
                </a:lnTo>
                <a:lnTo>
                  <a:pt x="2785171" y="71567"/>
                </a:lnTo>
                <a:lnTo>
                  <a:pt x="2843195" y="69938"/>
                </a:lnTo>
                <a:lnTo>
                  <a:pt x="2901220" y="68270"/>
                </a:lnTo>
                <a:lnTo>
                  <a:pt x="2959244" y="66565"/>
                </a:lnTo>
                <a:lnTo>
                  <a:pt x="3017268" y="64818"/>
                </a:lnTo>
                <a:lnTo>
                  <a:pt x="3075293" y="63030"/>
                </a:lnTo>
                <a:lnTo>
                  <a:pt x="3133317" y="61199"/>
                </a:lnTo>
                <a:lnTo>
                  <a:pt x="3191342" y="59332"/>
                </a:lnTo>
                <a:lnTo>
                  <a:pt x="3249366" y="57423"/>
                </a:lnTo>
                <a:lnTo>
                  <a:pt x="3307390" y="55473"/>
                </a:lnTo>
                <a:lnTo>
                  <a:pt x="3365415" y="53490"/>
                </a:lnTo>
                <a:lnTo>
                  <a:pt x="3423439" y="51463"/>
                </a:lnTo>
                <a:lnTo>
                  <a:pt x="3481464" y="49397"/>
                </a:lnTo>
                <a:lnTo>
                  <a:pt x="3539488" y="47290"/>
                </a:lnTo>
                <a:lnTo>
                  <a:pt x="3597512" y="45149"/>
                </a:lnTo>
                <a:lnTo>
                  <a:pt x="3655537" y="42964"/>
                </a:lnTo>
                <a:lnTo>
                  <a:pt x="3713561" y="40739"/>
                </a:lnTo>
                <a:lnTo>
                  <a:pt x="3771586" y="38472"/>
                </a:lnTo>
                <a:lnTo>
                  <a:pt x="3829610" y="36170"/>
                </a:lnTo>
                <a:lnTo>
                  <a:pt x="3887634" y="33830"/>
                </a:lnTo>
                <a:lnTo>
                  <a:pt x="3945659" y="31456"/>
                </a:lnTo>
                <a:lnTo>
                  <a:pt x="4003683" y="29042"/>
                </a:lnTo>
                <a:lnTo>
                  <a:pt x="4061708" y="26592"/>
                </a:lnTo>
                <a:lnTo>
                  <a:pt x="4119732" y="24109"/>
                </a:lnTo>
                <a:lnTo>
                  <a:pt x="4177756" y="21586"/>
                </a:lnTo>
                <a:lnTo>
                  <a:pt x="4235781" y="19025"/>
                </a:lnTo>
                <a:lnTo>
                  <a:pt x="4293805" y="16430"/>
                </a:lnTo>
                <a:lnTo>
                  <a:pt x="4351830" y="13795"/>
                </a:lnTo>
                <a:lnTo>
                  <a:pt x="4409854" y="11115"/>
                </a:lnTo>
                <a:lnTo>
                  <a:pt x="4467878" y="8399"/>
                </a:lnTo>
                <a:lnTo>
                  <a:pt x="4525903" y="5641"/>
                </a:lnTo>
                <a:lnTo>
                  <a:pt x="4583927" y="2843"/>
                </a:lnTo>
                <a:lnTo>
                  <a:pt x="4641952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1390447" y="401566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209" name="bfa: 15-й центиль"/>
          <p:cNvSpPr/>
          <p:nvPr/>
        </p:nvSpPr>
        <p:spPr>
          <a:xfrm>
            <a:off x="6708495" y="4181758"/>
            <a:ext cx="4641952" cy="86806"/>
          </a:xfrm>
          <a:custGeom>
            <a:avLst/>
            <a:gdLst/>
            <a:ahLst/>
            <a:cxnLst/>
            <a:rect l="l" t="t" r="r" b="b"/>
            <a:pathLst>
              <a:path w="4641952" h="86806">
                <a:moveTo>
                  <a:pt x="0" y="85962"/>
                </a:moveTo>
                <a:lnTo>
                  <a:pt x="58024" y="86259"/>
                </a:lnTo>
                <a:lnTo>
                  <a:pt x="116049" y="86489"/>
                </a:lnTo>
                <a:lnTo>
                  <a:pt x="174073" y="86658"/>
                </a:lnTo>
                <a:lnTo>
                  <a:pt x="232098" y="86762"/>
                </a:lnTo>
                <a:lnTo>
                  <a:pt x="290122" y="86806"/>
                </a:lnTo>
                <a:lnTo>
                  <a:pt x="348146" y="86788"/>
                </a:lnTo>
                <a:lnTo>
                  <a:pt x="406171" y="86708"/>
                </a:lnTo>
                <a:lnTo>
                  <a:pt x="464195" y="86561"/>
                </a:lnTo>
                <a:lnTo>
                  <a:pt x="522220" y="86359"/>
                </a:lnTo>
                <a:lnTo>
                  <a:pt x="580244" y="86099"/>
                </a:lnTo>
                <a:lnTo>
                  <a:pt x="638268" y="85789"/>
                </a:lnTo>
                <a:lnTo>
                  <a:pt x="696293" y="85434"/>
                </a:lnTo>
                <a:lnTo>
                  <a:pt x="754317" y="85035"/>
                </a:lnTo>
                <a:lnTo>
                  <a:pt x="812342" y="84599"/>
                </a:lnTo>
                <a:lnTo>
                  <a:pt x="870366" y="84126"/>
                </a:lnTo>
                <a:lnTo>
                  <a:pt x="928390" y="83616"/>
                </a:lnTo>
                <a:lnTo>
                  <a:pt x="986415" y="83076"/>
                </a:lnTo>
                <a:lnTo>
                  <a:pt x="1044439" y="82508"/>
                </a:lnTo>
                <a:lnTo>
                  <a:pt x="1102463" y="81910"/>
                </a:lnTo>
                <a:lnTo>
                  <a:pt x="1160488" y="81282"/>
                </a:lnTo>
                <a:lnTo>
                  <a:pt x="1218512" y="80629"/>
                </a:lnTo>
                <a:lnTo>
                  <a:pt x="1276537" y="79953"/>
                </a:lnTo>
                <a:lnTo>
                  <a:pt x="1334561" y="79252"/>
                </a:lnTo>
                <a:lnTo>
                  <a:pt x="1392585" y="78528"/>
                </a:lnTo>
                <a:lnTo>
                  <a:pt x="1450610" y="77790"/>
                </a:lnTo>
                <a:lnTo>
                  <a:pt x="1508634" y="77029"/>
                </a:lnTo>
                <a:lnTo>
                  <a:pt x="1566659" y="76249"/>
                </a:lnTo>
                <a:lnTo>
                  <a:pt x="1624683" y="75452"/>
                </a:lnTo>
                <a:lnTo>
                  <a:pt x="1682707" y="74636"/>
                </a:lnTo>
                <a:lnTo>
                  <a:pt x="1740732" y="73801"/>
                </a:lnTo>
                <a:lnTo>
                  <a:pt x="1798756" y="72954"/>
                </a:lnTo>
                <a:lnTo>
                  <a:pt x="1856781" y="72087"/>
                </a:lnTo>
                <a:lnTo>
                  <a:pt x="1914805" y="71205"/>
                </a:lnTo>
                <a:lnTo>
                  <a:pt x="1972829" y="70301"/>
                </a:lnTo>
                <a:lnTo>
                  <a:pt x="2030854" y="69382"/>
                </a:lnTo>
                <a:lnTo>
                  <a:pt x="2088878" y="68453"/>
                </a:lnTo>
                <a:lnTo>
                  <a:pt x="2146903" y="67506"/>
                </a:lnTo>
                <a:lnTo>
                  <a:pt x="2204927" y="66539"/>
                </a:lnTo>
                <a:lnTo>
                  <a:pt x="2262951" y="65558"/>
                </a:lnTo>
                <a:lnTo>
                  <a:pt x="2320976" y="64559"/>
                </a:lnTo>
                <a:lnTo>
                  <a:pt x="2379000" y="63546"/>
                </a:lnTo>
                <a:lnTo>
                  <a:pt x="2437025" y="62514"/>
                </a:lnTo>
                <a:lnTo>
                  <a:pt x="2495049" y="61459"/>
                </a:lnTo>
                <a:lnTo>
                  <a:pt x="2553073" y="60387"/>
                </a:lnTo>
                <a:lnTo>
                  <a:pt x="2611098" y="59285"/>
                </a:lnTo>
                <a:lnTo>
                  <a:pt x="2669122" y="58162"/>
                </a:lnTo>
                <a:lnTo>
                  <a:pt x="2727147" y="57011"/>
                </a:lnTo>
                <a:lnTo>
                  <a:pt x="2785171" y="55830"/>
                </a:lnTo>
                <a:lnTo>
                  <a:pt x="2843195" y="54618"/>
                </a:lnTo>
                <a:lnTo>
                  <a:pt x="2901220" y="53374"/>
                </a:lnTo>
                <a:lnTo>
                  <a:pt x="2959244" y="52099"/>
                </a:lnTo>
                <a:lnTo>
                  <a:pt x="3017268" y="50786"/>
                </a:lnTo>
                <a:lnTo>
                  <a:pt x="3075293" y="49437"/>
                </a:lnTo>
                <a:lnTo>
                  <a:pt x="3133317" y="48051"/>
                </a:lnTo>
                <a:lnTo>
                  <a:pt x="3191342" y="46630"/>
                </a:lnTo>
                <a:lnTo>
                  <a:pt x="3249366" y="45176"/>
                </a:lnTo>
                <a:lnTo>
                  <a:pt x="3307390" y="43690"/>
                </a:lnTo>
                <a:lnTo>
                  <a:pt x="3365415" y="42169"/>
                </a:lnTo>
                <a:lnTo>
                  <a:pt x="3423439" y="40611"/>
                </a:lnTo>
                <a:lnTo>
                  <a:pt x="3481464" y="39020"/>
                </a:lnTo>
                <a:lnTo>
                  <a:pt x="3539488" y="37394"/>
                </a:lnTo>
                <a:lnTo>
                  <a:pt x="3597512" y="35734"/>
                </a:lnTo>
                <a:lnTo>
                  <a:pt x="3655537" y="34042"/>
                </a:lnTo>
                <a:lnTo>
                  <a:pt x="3713561" y="32310"/>
                </a:lnTo>
                <a:lnTo>
                  <a:pt x="3771586" y="30538"/>
                </a:lnTo>
                <a:lnTo>
                  <a:pt x="3829610" y="28741"/>
                </a:lnTo>
                <a:lnTo>
                  <a:pt x="3887634" y="26908"/>
                </a:lnTo>
                <a:lnTo>
                  <a:pt x="3945659" y="25043"/>
                </a:lnTo>
                <a:lnTo>
                  <a:pt x="4003683" y="23142"/>
                </a:lnTo>
                <a:lnTo>
                  <a:pt x="4061708" y="21211"/>
                </a:lnTo>
                <a:lnTo>
                  <a:pt x="4119732" y="19249"/>
                </a:lnTo>
                <a:lnTo>
                  <a:pt x="4177756" y="17251"/>
                </a:lnTo>
                <a:lnTo>
                  <a:pt x="4235781" y="15218"/>
                </a:lnTo>
                <a:lnTo>
                  <a:pt x="4293805" y="13155"/>
                </a:lnTo>
                <a:lnTo>
                  <a:pt x="4351830" y="11058"/>
                </a:lnTo>
                <a:lnTo>
                  <a:pt x="4409854" y="8920"/>
                </a:lnTo>
                <a:lnTo>
                  <a:pt x="4467878" y="6744"/>
                </a:lnTo>
                <a:lnTo>
                  <a:pt x="4525903" y="4532"/>
                </a:lnTo>
                <a:lnTo>
                  <a:pt x="4583927" y="2288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1390447" y="4106758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211" name="bfa: 3-й центиль"/>
          <p:cNvSpPr/>
          <p:nvPr/>
        </p:nvSpPr>
        <p:spPr>
          <a:xfrm>
            <a:off x="6708495" y="4239397"/>
            <a:ext cx="4641952" cy="73877"/>
          </a:xfrm>
          <a:custGeom>
            <a:avLst/>
            <a:gdLst/>
            <a:ahLst/>
            <a:cxnLst/>
            <a:rect l="l" t="t" r="r" b="b"/>
            <a:pathLst>
              <a:path w="4641952" h="73877">
                <a:moveTo>
                  <a:pt x="0" y="73070"/>
                </a:moveTo>
                <a:lnTo>
                  <a:pt x="58024" y="73347"/>
                </a:lnTo>
                <a:lnTo>
                  <a:pt x="116049" y="73563"/>
                </a:lnTo>
                <a:lnTo>
                  <a:pt x="174073" y="73726"/>
                </a:lnTo>
                <a:lnTo>
                  <a:pt x="232098" y="73828"/>
                </a:lnTo>
                <a:lnTo>
                  <a:pt x="290122" y="73877"/>
                </a:lnTo>
                <a:lnTo>
                  <a:pt x="348146" y="73870"/>
                </a:lnTo>
                <a:lnTo>
                  <a:pt x="406171" y="73808"/>
                </a:lnTo>
                <a:lnTo>
                  <a:pt x="464195" y="73682"/>
                </a:lnTo>
                <a:lnTo>
                  <a:pt x="522220" y="73507"/>
                </a:lnTo>
                <a:lnTo>
                  <a:pt x="580244" y="73280"/>
                </a:lnTo>
                <a:lnTo>
                  <a:pt x="638268" y="73009"/>
                </a:lnTo>
                <a:lnTo>
                  <a:pt x="696293" y="72698"/>
                </a:lnTo>
                <a:lnTo>
                  <a:pt x="754317" y="72348"/>
                </a:lnTo>
                <a:lnTo>
                  <a:pt x="812342" y="71966"/>
                </a:lnTo>
                <a:lnTo>
                  <a:pt x="870366" y="71552"/>
                </a:lnTo>
                <a:lnTo>
                  <a:pt x="928390" y="71105"/>
                </a:lnTo>
                <a:lnTo>
                  <a:pt x="986415" y="70634"/>
                </a:lnTo>
                <a:lnTo>
                  <a:pt x="1044439" y="70142"/>
                </a:lnTo>
                <a:lnTo>
                  <a:pt x="1102463" y="69622"/>
                </a:lnTo>
                <a:lnTo>
                  <a:pt x="1160488" y="69074"/>
                </a:lnTo>
                <a:lnTo>
                  <a:pt x="1218512" y="68508"/>
                </a:lnTo>
                <a:lnTo>
                  <a:pt x="1276537" y="67926"/>
                </a:lnTo>
                <a:lnTo>
                  <a:pt x="1334561" y="67320"/>
                </a:lnTo>
                <a:lnTo>
                  <a:pt x="1392585" y="66694"/>
                </a:lnTo>
                <a:lnTo>
                  <a:pt x="1450610" y="66059"/>
                </a:lnTo>
                <a:lnTo>
                  <a:pt x="1508634" y="65407"/>
                </a:lnTo>
                <a:lnTo>
                  <a:pt x="1566659" y="64739"/>
                </a:lnTo>
                <a:lnTo>
                  <a:pt x="1624683" y="64059"/>
                </a:lnTo>
                <a:lnTo>
                  <a:pt x="1682707" y="63362"/>
                </a:lnTo>
                <a:lnTo>
                  <a:pt x="1740732" y="62649"/>
                </a:lnTo>
                <a:lnTo>
                  <a:pt x="1798756" y="61930"/>
                </a:lnTo>
                <a:lnTo>
                  <a:pt x="1856781" y="61192"/>
                </a:lnTo>
                <a:lnTo>
                  <a:pt x="1914805" y="60445"/>
                </a:lnTo>
                <a:lnTo>
                  <a:pt x="1972829" y="59678"/>
                </a:lnTo>
                <a:lnTo>
                  <a:pt x="2030854" y="58900"/>
                </a:lnTo>
                <a:lnTo>
                  <a:pt x="2088878" y="58117"/>
                </a:lnTo>
                <a:lnTo>
                  <a:pt x="2146903" y="57320"/>
                </a:lnTo>
                <a:lnTo>
                  <a:pt x="2204927" y="56505"/>
                </a:lnTo>
                <a:lnTo>
                  <a:pt x="2262951" y="55678"/>
                </a:lnTo>
                <a:lnTo>
                  <a:pt x="2320976" y="54840"/>
                </a:lnTo>
                <a:lnTo>
                  <a:pt x="2379000" y="53990"/>
                </a:lnTo>
                <a:lnTo>
                  <a:pt x="2437025" y="53122"/>
                </a:lnTo>
                <a:lnTo>
                  <a:pt x="2495049" y="52237"/>
                </a:lnTo>
                <a:lnTo>
                  <a:pt x="2553073" y="51340"/>
                </a:lnTo>
                <a:lnTo>
                  <a:pt x="2611098" y="50413"/>
                </a:lnTo>
                <a:lnTo>
                  <a:pt x="2669122" y="49472"/>
                </a:lnTo>
                <a:lnTo>
                  <a:pt x="2727147" y="48506"/>
                </a:lnTo>
                <a:lnTo>
                  <a:pt x="2785171" y="47515"/>
                </a:lnTo>
                <a:lnTo>
                  <a:pt x="2843195" y="46495"/>
                </a:lnTo>
                <a:lnTo>
                  <a:pt x="2901220" y="45451"/>
                </a:lnTo>
                <a:lnTo>
                  <a:pt x="2959244" y="44380"/>
                </a:lnTo>
                <a:lnTo>
                  <a:pt x="3017268" y="43273"/>
                </a:lnTo>
                <a:lnTo>
                  <a:pt x="3075293" y="42136"/>
                </a:lnTo>
                <a:lnTo>
                  <a:pt x="3133317" y="40966"/>
                </a:lnTo>
                <a:lnTo>
                  <a:pt x="3191342" y="39763"/>
                </a:lnTo>
                <a:lnTo>
                  <a:pt x="3249366" y="38534"/>
                </a:lnTo>
                <a:lnTo>
                  <a:pt x="3307390" y="37279"/>
                </a:lnTo>
                <a:lnTo>
                  <a:pt x="3365415" y="35991"/>
                </a:lnTo>
                <a:lnTo>
                  <a:pt x="3423439" y="34670"/>
                </a:lnTo>
                <a:lnTo>
                  <a:pt x="3481464" y="33320"/>
                </a:lnTo>
                <a:lnTo>
                  <a:pt x="3539488" y="31941"/>
                </a:lnTo>
                <a:lnTo>
                  <a:pt x="3597512" y="30530"/>
                </a:lnTo>
                <a:lnTo>
                  <a:pt x="3655537" y="29095"/>
                </a:lnTo>
                <a:lnTo>
                  <a:pt x="3713561" y="27621"/>
                </a:lnTo>
                <a:lnTo>
                  <a:pt x="3771586" y="26111"/>
                </a:lnTo>
                <a:lnTo>
                  <a:pt x="3829610" y="24582"/>
                </a:lnTo>
                <a:lnTo>
                  <a:pt x="3887634" y="23020"/>
                </a:lnTo>
                <a:lnTo>
                  <a:pt x="3945659" y="21431"/>
                </a:lnTo>
                <a:lnTo>
                  <a:pt x="4003683" y="19809"/>
                </a:lnTo>
                <a:lnTo>
                  <a:pt x="4061708" y="18161"/>
                </a:lnTo>
                <a:lnTo>
                  <a:pt x="4119732" y="16486"/>
                </a:lnTo>
                <a:lnTo>
                  <a:pt x="4177756" y="14779"/>
                </a:lnTo>
                <a:lnTo>
                  <a:pt x="4235781" y="13040"/>
                </a:lnTo>
                <a:lnTo>
                  <a:pt x="4293805" y="11275"/>
                </a:lnTo>
                <a:lnTo>
                  <a:pt x="4351830" y="9483"/>
                </a:lnTo>
                <a:lnTo>
                  <a:pt x="4409854" y="7651"/>
                </a:lnTo>
                <a:lnTo>
                  <a:pt x="4467878" y="5784"/>
                </a:lnTo>
                <a:lnTo>
                  <a:pt x="4525903" y="3887"/>
                </a:lnTo>
                <a:lnTo>
                  <a:pt x="4583927" y="1964"/>
                </a:lnTo>
                <a:lnTo>
                  <a:pt x="4641952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1390447" y="4164397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213" name="bfa: пример"/>
          <p:cNvSpPr/>
          <p:nvPr/>
        </p:nvSpPr>
        <p:spPr>
          <a:xfrm>
            <a:off x="6708495" y="3722079"/>
            <a:ext cx="3978816" cy="463465"/>
          </a:xfrm>
          <a:custGeom>
            <a:avLst/>
            <a:gdLst/>
            <a:ahLst/>
            <a:cxnLst/>
            <a:rect l="l" t="t" r="r" b="b"/>
            <a:pathLst>
              <a:path w="3978816" h="463465">
                <a:moveTo>
                  <a:pt x="0" y="463465"/>
                </a:moveTo>
                <a:lnTo>
                  <a:pt x="110523" y="462529"/>
                </a:lnTo>
                <a:lnTo>
                  <a:pt x="221045" y="461298"/>
                </a:lnTo>
                <a:lnTo>
                  <a:pt x="331568" y="459775"/>
                </a:lnTo>
                <a:lnTo>
                  <a:pt x="442091" y="457951"/>
                </a:lnTo>
                <a:lnTo>
                  <a:pt x="552613" y="455848"/>
                </a:lnTo>
                <a:lnTo>
                  <a:pt x="663136" y="453476"/>
                </a:lnTo>
                <a:lnTo>
                  <a:pt x="773659" y="450870"/>
                </a:lnTo>
                <a:lnTo>
                  <a:pt x="884181" y="448057"/>
                </a:lnTo>
                <a:lnTo>
                  <a:pt x="994704" y="445046"/>
                </a:lnTo>
                <a:lnTo>
                  <a:pt x="1105227" y="441846"/>
                </a:lnTo>
                <a:lnTo>
                  <a:pt x="1215749" y="438479"/>
                </a:lnTo>
                <a:lnTo>
                  <a:pt x="1326272" y="434938"/>
                </a:lnTo>
                <a:lnTo>
                  <a:pt x="1381533" y="429781"/>
                </a:lnTo>
                <a:lnTo>
                  <a:pt x="1436795" y="424499"/>
                </a:lnTo>
                <a:lnTo>
                  <a:pt x="1492056" y="419076"/>
                </a:lnTo>
                <a:lnTo>
                  <a:pt x="1547317" y="413523"/>
                </a:lnTo>
                <a:lnTo>
                  <a:pt x="1602578" y="407823"/>
                </a:lnTo>
                <a:lnTo>
                  <a:pt x="1657840" y="401987"/>
                </a:lnTo>
                <a:lnTo>
                  <a:pt x="1713101" y="396001"/>
                </a:lnTo>
                <a:lnTo>
                  <a:pt x="1768362" y="389853"/>
                </a:lnTo>
                <a:lnTo>
                  <a:pt x="1823624" y="383539"/>
                </a:lnTo>
                <a:lnTo>
                  <a:pt x="1878885" y="377068"/>
                </a:lnTo>
                <a:lnTo>
                  <a:pt x="1934146" y="370405"/>
                </a:lnTo>
                <a:lnTo>
                  <a:pt x="1989408" y="363566"/>
                </a:lnTo>
                <a:lnTo>
                  <a:pt x="2044669" y="356535"/>
                </a:lnTo>
                <a:lnTo>
                  <a:pt x="2099930" y="349296"/>
                </a:lnTo>
                <a:lnTo>
                  <a:pt x="2155192" y="341852"/>
                </a:lnTo>
                <a:lnTo>
                  <a:pt x="2210453" y="334194"/>
                </a:lnTo>
                <a:lnTo>
                  <a:pt x="2265714" y="326319"/>
                </a:lnTo>
                <a:lnTo>
                  <a:pt x="2320976" y="318190"/>
                </a:lnTo>
                <a:lnTo>
                  <a:pt x="2376237" y="309824"/>
                </a:lnTo>
                <a:lnTo>
                  <a:pt x="2431498" y="301201"/>
                </a:lnTo>
                <a:lnTo>
                  <a:pt x="2486760" y="292309"/>
                </a:lnTo>
                <a:lnTo>
                  <a:pt x="2542021" y="283115"/>
                </a:lnTo>
                <a:lnTo>
                  <a:pt x="2597282" y="273640"/>
                </a:lnTo>
                <a:lnTo>
                  <a:pt x="2652544" y="263831"/>
                </a:lnTo>
                <a:lnTo>
                  <a:pt x="2707805" y="254873"/>
                </a:lnTo>
                <a:lnTo>
                  <a:pt x="2763066" y="245635"/>
                </a:lnTo>
                <a:lnTo>
                  <a:pt x="2818328" y="236108"/>
                </a:lnTo>
                <a:lnTo>
                  <a:pt x="2873589" y="226268"/>
                </a:lnTo>
                <a:lnTo>
                  <a:pt x="2928850" y="216084"/>
                </a:lnTo>
                <a:lnTo>
                  <a:pt x="2984112" y="205597"/>
                </a:lnTo>
                <a:lnTo>
                  <a:pt x="3039373" y="194760"/>
                </a:lnTo>
                <a:lnTo>
                  <a:pt x="3094634" y="183560"/>
                </a:lnTo>
                <a:lnTo>
                  <a:pt x="3149896" y="171974"/>
                </a:lnTo>
                <a:lnTo>
                  <a:pt x="3205157" y="160043"/>
                </a:lnTo>
                <a:lnTo>
                  <a:pt x="3260418" y="147663"/>
                </a:lnTo>
                <a:lnTo>
                  <a:pt x="3315680" y="134853"/>
                </a:lnTo>
                <a:lnTo>
                  <a:pt x="3370941" y="125068"/>
                </a:lnTo>
                <a:lnTo>
                  <a:pt x="3426202" y="115022"/>
                </a:lnTo>
                <a:lnTo>
                  <a:pt x="3481464" y="104717"/>
                </a:lnTo>
                <a:lnTo>
                  <a:pt x="3536725" y="94151"/>
                </a:lnTo>
                <a:lnTo>
                  <a:pt x="3591986" y="83368"/>
                </a:lnTo>
                <a:lnTo>
                  <a:pt x="3647248" y="72251"/>
                </a:lnTo>
                <a:lnTo>
                  <a:pt x="3702509" y="60908"/>
                </a:lnTo>
                <a:lnTo>
                  <a:pt x="3757770" y="49313"/>
                </a:lnTo>
                <a:lnTo>
                  <a:pt x="3813032" y="37384"/>
                </a:lnTo>
                <a:lnTo>
                  <a:pt x="3868293" y="25200"/>
                </a:lnTo>
                <a:lnTo>
                  <a:pt x="3923554" y="12725"/>
                </a:lnTo>
                <a:lnTo>
                  <a:pt x="3978816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bfa: точка 5"/>
          <p:cNvSpPr/>
          <p:nvPr/>
        </p:nvSpPr>
        <p:spPr>
          <a:xfrm>
            <a:off x="6650495" y="412754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bfa: точка 7"/>
          <p:cNvSpPr/>
          <p:nvPr/>
        </p:nvSpPr>
        <p:spPr>
          <a:xfrm>
            <a:off x="7976767" y="409901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bfa: точка 8"/>
          <p:cNvSpPr/>
          <p:nvPr/>
        </p:nvSpPr>
        <p:spPr>
          <a:xfrm>
            <a:off x="8639903" y="4027645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bfa: точка 9"/>
          <p:cNvSpPr/>
          <p:nvPr/>
        </p:nvSpPr>
        <p:spPr>
          <a:xfrm>
            <a:off x="9303039" y="3927910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bfa: точка 10"/>
          <p:cNvSpPr/>
          <p:nvPr/>
        </p:nvSpPr>
        <p:spPr>
          <a:xfrm>
            <a:off x="9966175" y="3798932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bfa: точка 11"/>
          <p:cNvSpPr/>
          <p:nvPr/>
        </p:nvSpPr>
        <p:spPr>
          <a:xfrm>
            <a:off x="10629311" y="3664079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324447" y="3411989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ИМТ для возраста, кг/м²</a:t>
            </a:r>
          </a:p>
        </p:txBody>
      </p:sp>
      <p:sp>
        <p:nvSpPr>
          <p:cNvPr id="221" name="Легенда"/>
          <p:cNvSpPr/>
          <p:nvPr/>
        </p:nvSpPr>
        <p:spPr>
          <a:xfrm>
            <a:off x="548640" y="470916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Легенда"/>
          <p:cNvSpPr txBox="1"/>
          <p:nvPr/>
        </p:nvSpPr>
        <p:spPr>
          <a:xfrm>
            <a:off x="896112" y="464515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223" name="Легенда"/>
          <p:cNvSpPr/>
          <p:nvPr/>
        </p:nvSpPr>
        <p:spPr>
          <a:xfrm>
            <a:off x="2560320" y="470916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Легенда"/>
          <p:cNvSpPr txBox="1"/>
          <p:nvPr/>
        </p:nvSpPr>
        <p:spPr>
          <a:xfrm>
            <a:off x="2907792" y="464515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ИМТ</a:t>
            </a:r>
          </a:p>
        </p:txBody>
      </p:sp>
      <p:sp>
        <p:nvSpPr>
          <p:cNvPr id="225" name="Легенда"/>
          <p:cNvSpPr/>
          <p:nvPr/>
        </p:nvSpPr>
        <p:spPr>
          <a:xfrm>
            <a:off x="4572000" y="470916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Легенда"/>
          <p:cNvSpPr txBox="1"/>
          <p:nvPr/>
        </p:nvSpPr>
        <p:spPr>
          <a:xfrm>
            <a:off x="4919472" y="464515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ВОЗ: 3–⁠97-й центиль</a:t>
            </a:r>
          </a:p>
        </p:txBody>
      </p:sp>
      <p:sp>
        <p:nvSpPr>
          <p:cNvPr id="227" name="Текст"/>
          <p:cNvSpPr txBox="1"/>
          <p:nvPr/>
        </p:nvSpPr>
        <p:spPr>
          <a:xfrm>
            <a:off x="548640" y="4965192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Рост при диагнозе: простое ожирение +1,18 СО, болезнь Кушинга −1,88 СО</a:t>
            </a:r>
          </a:p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Первые признаки у 59 больных: прибавка массы у 90 %, замедление роста у 83 %</a:t>
            </a:r>
          </a:p>
        </p:txBody>
      </p:sp>
      <p:sp>
        <p:nvSpPr>
          <p:cNvPr id="22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Greening JE et al. J Endocrinol Invest 2006;29:885–⁠7; Magiakou MA et al. N Engl J Med 1994;331:629–⁠36; Yamamoto M et al. Endocr J 2026, PMID 42386546; Fleseriu M et al. Lancet Diabetes Endocrinol 2021;9:847–⁠75 (Pituitary Society); WHO Multicentre Growth Reference Study Group. Acta Paediatr Suppl 2006;450:76–⁠85 (нормы ВОЗ); de Onis M et al. Bull World Health Organ 2007;85:660–⁠7 (нормы ВОЗ)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Избыток глюкокортикоидов тормозит рост в гипофизе, в тканях и в самой зоне роста</a:t>
            </a:r>
          </a:p>
        </p:txBody>
      </p:sp>
      <p:sp>
        <p:nvSpPr>
          <p:cNvPr id="3" name="Строка: Гипоталамус и гипофиз"/>
          <p:cNvSpPr/>
          <p:nvPr/>
        </p:nvSpPr>
        <p:spPr>
          <a:xfrm>
            <a:off x="3017520" y="155448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таламус и гипофиз"/>
          <p:cNvSpPr/>
          <p:nvPr/>
        </p:nvSpPr>
        <p:spPr>
          <a:xfrm>
            <a:off x="548640" y="155448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Гипоталамус и 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5603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По традиционным представлениям длительный избыток подавляет секрецию СТГ; итог зависит от дозы и срока</a:t>
            </a:r>
          </a:p>
        </p:txBody>
      </p:sp>
      <p:sp>
        <p:nvSpPr>
          <p:cNvPr id="8" name="Строка: Ткани"/>
          <p:cNvSpPr/>
          <p:nvPr/>
        </p:nvSpPr>
        <p:spPr>
          <a:xfrm>
            <a:off x="3017520" y="283464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Ткани"/>
          <p:cNvSpPr/>
          <p:nvPr/>
        </p:nvSpPr>
        <p:spPr>
          <a:xfrm>
            <a:off x="548640" y="283464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Ткани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рецепторы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8404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83464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Сигнал СТГ и ИФР-⁠1 в клетке нарушен: меняются число рецепторов и передача сигнала</a:t>
            </a:r>
          </a:p>
        </p:txBody>
      </p:sp>
      <p:sp>
        <p:nvSpPr>
          <p:cNvPr id="13" name="Строка: Зона роста"/>
          <p:cNvSpPr/>
          <p:nvPr/>
        </p:nvSpPr>
        <p:spPr>
          <a:xfrm>
            <a:off x="3017520" y="411480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Зона роста"/>
          <p:cNvSpPr/>
          <p:nvPr/>
        </p:nvSpPr>
        <p:spPr>
          <a:xfrm>
            <a:off x="548640" y="411480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411480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</a:t>
            </a:r>
          </a:p>
        </p:txBody>
      </p:sp>
      <p:sp>
        <p:nvSpPr>
          <p:cNvPr id="16" name="Что происходит"/>
          <p:cNvSpPr txBox="1"/>
          <p:nvPr/>
        </p:nvSpPr>
        <p:spPr>
          <a:xfrm>
            <a:off x="3291840" y="411480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Хрящ делится меньше, матрикса вырабатывается меньше, крупные клетки чаще гибнут</a:t>
            </a:r>
          </a:p>
        </p:txBody>
      </p:sp>
      <p:sp>
        <p:nvSpPr>
          <p:cNvPr id="17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У детей с синдромом Кушинга часто задержано половое развитие. У кроликов после отмены дексаметазона старение зоны роста было отсрочено, и авторы считают, что это отчасти объясняет догоняющий рост</a:t>
            </a:r>
          </a:p>
        </p:txBody>
      </p:sp>
      <p:sp>
        <p:nvSpPr>
          <p:cNvPr id="1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Mazziotti G, Giustina A. Nat Rev Endocrinol 2013;9:265–⁠76; Hochberg Z. Horm Res 2002;58 Suppl 1:33–⁠8; Stratakis CA. Endocrinol Metab Clin North Am 2012;41:793–⁠803; Gafni RI et al. Pediatr Res 2001;50:618–⁠23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Самый частый гиперкортицизм у детей назначен врачом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40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8960873"/>
                <a:gridCol w="2133541"/>
              </a:tblGrid>
              <a:tr h="69951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Глюкокортикоиды внутрь при тяжёлой астме: ретроспективно, сравнение непрямое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Рост, СО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эпизодические курсы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через день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−1,22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ежедневно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−0,93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23894"/>
            <a:ext cx="11094415" cy="2036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Ятрогенный синдром Кушинга: длительный приём глюкокортикоидов или введение АКТГ (адренокортикотропного гормона)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Даже малые дозы внутрь, ежедневно или через день, могут замедлять рост у части детей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Системный ювенильный артрит, отмена преднизолона: ускоренный рост у 17 из 24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 всей серии итоговый рост −2,0 СО, у 87 %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Совет докладчика: после длительного приёма назначивший врач снижает дозу постепенно, помня о надпочечниках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Allen DB. Endocrinol Metab Clin North Am 1996;25:699–⁠717; Hochberg Z. Horm Res 2002;58 Suppl 1:33–⁠8; Covar RA et al. J Allergy Clin Immunol 2000;106:651–⁠9; Simon D et al. J Rheumatol 2002;29:1296–⁠300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Ингаляционные и некоторые назальные стероиды замедляют рост, сильные накожные дают синдром Кушинга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800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81781"/>
                <a:gridCol w="8012633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Препарат и срок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Ингаляционные, 1-й 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скорость роста ниже на 0,48 см/год; во 2-й год разница незначима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Будесонид 400 мкг/сут, 4–⁠6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 ниже на 1,2 см, вся потеря — в первые 2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Беклометазон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прибавка 5,0 см против 5,9 см на плацебо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Мометазон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не замедлился: 6,95 см против 6,35 см на плацебо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Клобетазол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описан синдром Кушинга у 22 детей, чаще младенцев; ось восстанавливалась около 3,5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Zhang L et al. Cochrane Database Syst Rev 2014;(7):CD009471; Kelly HW et al. N Engl J Med 2012;367:904–⁠12; Skoner DP et al. Pediatrics 2000;105:E23; Schenkel EJ et al. Pediatrics 2000;105:E22; Tempark T et al. Endocrine 2010;38:328–⁠34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Причина эндогенного гиперкортицизма зависит от возраста ребёнка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4180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60391"/>
                <a:gridCol w="4279274"/>
                <a:gridCol w="4754749"/>
              </a:tblGrid>
              <a:tr h="35026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Что искать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Подсказка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Младенцы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Мак-Кьюна — Олбрайта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редкий, начало обычно до 6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Младше 6–⁠7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надпочечниковые причины: опухоль коры, двусторонняя гиперплазия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одиночная опухоль злокачественна больше чем в 70 %, чаще проявляется до 5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Старше 6–⁠7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Кушинга: около 75 % случаев после 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до 10 лет чаще у мальчиков (британские эксперты)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Школьники и подростки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первичная пигментная узелковая дисплазия надпочечников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течение часто циклическое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Fleseriu M et al. Lancet Diabetes Endocrinol 2021;9:847–⁠75 (Pituitary Society); Korbonits M et al. Nat Rev Endocrinol 2024;20:290–⁠309; Hassan M et al. Horm Res Paediatr 2026;99:718–⁠29; Wasserman JD et al. J Clin Oncol 2015;33:602–⁠9; Magiakou MA et al. N Engl J Med 1994;331:629–⁠36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Гиперкортицизм подтверждают повторными тестами первой линии, а не разовым кортизолом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9583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615034"/>
                <a:gridCol w="7479380"/>
              </a:tblGrid>
              <a:tr h="35026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Тест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Условия и порог у детей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 поправкой на площадь поверхности тела; детского порога в источниках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слюны в 23:00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≥ 8 нмоль/л (0,29 мкг/дл), дети с ожирением: 10 больных, 22 контроля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проба: 1 мг дексаметазона в 23:00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сыворотки в 8:00 &gt; 50 нмоль/л (1,8 мкг/дл): дообследовать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Полуночный кортизол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стационаре, после повышенного кортизола мочи: ≥ 121 нмоль/л (4,4 мкг/дл), чувствительность 99 %, специфичность 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978910"/>
            <a:ext cx="11094415" cy="178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Начинают с доступного: ночная проба, суточная моча или слюна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Мочу и слюну повторяют 2–⁠3 раза (Общество гипофиза, общая рекомендация)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Batista DL et al. Pediatrics 2007;120:e575–⁠86; Ballerini MG et al. Horm Res Paediatr 2025;98:719–⁠27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Пограничный скрининг повторяют, а подтверждённый гиперкортицизм ведёт центр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5123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985372"/>
                <a:gridCol w="4109042"/>
              </a:tblGrid>
              <a:tr h="69951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Что даёт ложное отклонение (общие разделы, не только дети)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В каком тесте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ожирение, стресс, депрессия, плохо компенсированный диабет, много выпитой жидкости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Эстрогены внутрь, беременность, активный гепатит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 по кортизолу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Фенобарбитал, карбамазепин, зверобой, диарея, целиакия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295394"/>
            <a:ext cx="11094415" cy="14653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Общество гипофиза: центр с детским эндокринологом и нейрохирургом по гипофизу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Британские эксперты: вместе со специалистами по гипофизу у взрослых, включая переход и пожизненное наблюдение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Korbonits M et al. Nat Rev Endocrinol 2024;20:290–⁠309; Ballerini MG et al. Horm Res Paediatr 2025;98:719–⁠27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излечения итоговый рост в среднем примерно на 1 СО ниже целевого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655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218883"/>
                <a:gridCol w="1365466"/>
                <a:gridCol w="3755032"/>
                <a:gridCol w="3755032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Серия, 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Дети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при диагнозе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в конце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1994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8,9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1,72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0,93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2005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2,4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1,2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438144"/>
            <a:ext cx="11094415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или последний рост в трёх сериях около −1,3 СО от нормы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ИМТ в серии 2005 года снизился с +2,7 до +1,7 СО, нормы не достиг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Magiakou MA et al. J Clin Endocrinol Metab 1994;79:1082–⁠5; Lebrethon MC et al. J Clin Endocrinol Metab 2000;85:3262–⁠5; Davies JH et al. Clin Endocrinol (Oxf) 2005;62:466–⁠72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Дефицит СТГ после операции проверяют в первые 3–⁠6 месяцев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Надпочечниковая недостаточность после излечения: замещение до восстановления оси (около года), стрессовые дозы при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дефиците СТГ лечение начинают сразу, чтобы ребёнок рос нормально (Общество гипофиза)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Серия 2005 года: пик СТГ ниже 20 мЕд/л у 13 из 14 детей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Оценка Общества гипофиза: пик ниже 9 мЕд/л у 31 %, ниже 30 мЕд/л у 54 %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взрослых рецидив ищут пожизненно, после облучения ещё и дефицит гормонов (Общество гипофиза)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Davies JH et al. Clin Endocrinol (Oxf) 2005;62:466–⁠72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конституциональной задержке рост отстаёт до пубертата и догоняет поздно</a:t>
            </a:r>
          </a:p>
        </p:txBody>
      </p:sp>
      <p:sp>
        <p:nvSpPr>
          <p:cNvPr id="3" name="hfa: сетка 75"/>
          <p:cNvSpPr/>
          <p:nvPr/>
        </p:nvSpPr>
        <p:spPr>
          <a:xfrm>
            <a:off x="932688" y="368411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fa: сетка 80"/>
          <p:cNvSpPr/>
          <p:nvPr/>
        </p:nvSpPr>
        <p:spPr>
          <a:xfrm>
            <a:off x="932688" y="360490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52490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80</a:t>
            </a:r>
          </a:p>
        </p:txBody>
      </p:sp>
      <p:sp>
        <p:nvSpPr>
          <p:cNvPr id="6" name="hfa: сетка 85"/>
          <p:cNvSpPr/>
          <p:nvPr/>
        </p:nvSpPr>
        <p:spPr>
          <a:xfrm>
            <a:off x="932688" y="352569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fa: сетка 90"/>
          <p:cNvSpPr/>
          <p:nvPr/>
        </p:nvSpPr>
        <p:spPr>
          <a:xfrm>
            <a:off x="932688" y="344648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6648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90</a:t>
            </a:r>
          </a:p>
        </p:txBody>
      </p:sp>
      <p:sp>
        <p:nvSpPr>
          <p:cNvPr id="9" name="hfa: сетка 95"/>
          <p:cNvSpPr/>
          <p:nvPr/>
        </p:nvSpPr>
        <p:spPr>
          <a:xfrm>
            <a:off x="932688" y="336727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fa: сетка 100"/>
          <p:cNvSpPr/>
          <p:nvPr/>
        </p:nvSpPr>
        <p:spPr>
          <a:xfrm>
            <a:off x="932688" y="328806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0806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100</a:t>
            </a:r>
          </a:p>
        </p:txBody>
      </p:sp>
      <p:sp>
        <p:nvSpPr>
          <p:cNvPr id="12" name="hfa: сетка 105"/>
          <p:cNvSpPr/>
          <p:nvPr/>
        </p:nvSpPr>
        <p:spPr>
          <a:xfrm>
            <a:off x="932688" y="320885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fa: сетка 110"/>
          <p:cNvSpPr/>
          <p:nvPr/>
        </p:nvSpPr>
        <p:spPr>
          <a:xfrm>
            <a:off x="932688" y="312964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4964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110</a:t>
            </a:r>
          </a:p>
        </p:txBody>
      </p:sp>
      <p:sp>
        <p:nvSpPr>
          <p:cNvPr id="15" name="hfa: сетка 115"/>
          <p:cNvSpPr/>
          <p:nvPr/>
        </p:nvSpPr>
        <p:spPr>
          <a:xfrm>
            <a:off x="932688" y="305043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fa: сетка 120"/>
          <p:cNvSpPr/>
          <p:nvPr/>
        </p:nvSpPr>
        <p:spPr>
          <a:xfrm>
            <a:off x="932688" y="297122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9122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120</a:t>
            </a:r>
          </a:p>
        </p:txBody>
      </p:sp>
      <p:sp>
        <p:nvSpPr>
          <p:cNvPr id="18" name="hfa: сетка 125"/>
          <p:cNvSpPr/>
          <p:nvPr/>
        </p:nvSpPr>
        <p:spPr>
          <a:xfrm>
            <a:off x="932688" y="289201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fa: сетка 130"/>
          <p:cNvSpPr/>
          <p:nvPr/>
        </p:nvSpPr>
        <p:spPr>
          <a:xfrm>
            <a:off x="932688" y="281280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73280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130</a:t>
            </a:r>
          </a:p>
        </p:txBody>
      </p:sp>
      <p:sp>
        <p:nvSpPr>
          <p:cNvPr id="21" name="hfa: сетка 135"/>
          <p:cNvSpPr/>
          <p:nvPr/>
        </p:nvSpPr>
        <p:spPr>
          <a:xfrm>
            <a:off x="932688" y="273359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fa: сетка 140"/>
          <p:cNvSpPr/>
          <p:nvPr/>
        </p:nvSpPr>
        <p:spPr>
          <a:xfrm>
            <a:off x="932688" y="265438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57438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140</a:t>
            </a:r>
          </a:p>
        </p:txBody>
      </p:sp>
      <p:sp>
        <p:nvSpPr>
          <p:cNvPr id="24" name="hfa: сетка 145"/>
          <p:cNvSpPr/>
          <p:nvPr/>
        </p:nvSpPr>
        <p:spPr>
          <a:xfrm>
            <a:off x="932688" y="257517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fa: сетка 150"/>
          <p:cNvSpPr/>
          <p:nvPr/>
        </p:nvSpPr>
        <p:spPr>
          <a:xfrm>
            <a:off x="932688" y="249596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415969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150</a:t>
            </a:r>
          </a:p>
        </p:txBody>
      </p:sp>
      <p:sp>
        <p:nvSpPr>
          <p:cNvPr id="27" name="hfa: сетка 155"/>
          <p:cNvSpPr/>
          <p:nvPr/>
        </p:nvSpPr>
        <p:spPr>
          <a:xfrm>
            <a:off x="932688" y="241675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fa: сетка 160"/>
          <p:cNvSpPr/>
          <p:nvPr/>
        </p:nvSpPr>
        <p:spPr>
          <a:xfrm>
            <a:off x="932688" y="233754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257549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160</a:t>
            </a:r>
          </a:p>
        </p:txBody>
      </p:sp>
      <p:sp>
        <p:nvSpPr>
          <p:cNvPr id="30" name="hfa: сетка 165"/>
          <p:cNvSpPr/>
          <p:nvPr/>
        </p:nvSpPr>
        <p:spPr>
          <a:xfrm>
            <a:off x="932688" y="225833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fa: сетка 170"/>
          <p:cNvSpPr/>
          <p:nvPr/>
        </p:nvSpPr>
        <p:spPr>
          <a:xfrm>
            <a:off x="932688" y="217912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099129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170</a:t>
            </a:r>
          </a:p>
        </p:txBody>
      </p:sp>
      <p:sp>
        <p:nvSpPr>
          <p:cNvPr id="33" name="hfa: сетка 175"/>
          <p:cNvSpPr/>
          <p:nvPr/>
        </p:nvSpPr>
        <p:spPr>
          <a:xfrm>
            <a:off x="932688" y="209991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fa: сетка 180"/>
          <p:cNvSpPr/>
          <p:nvPr/>
        </p:nvSpPr>
        <p:spPr>
          <a:xfrm>
            <a:off x="932688" y="202070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940709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180</a:t>
            </a:r>
          </a:p>
        </p:txBody>
      </p:sp>
      <p:sp>
        <p:nvSpPr>
          <p:cNvPr id="36" name="hfa: сетка 185"/>
          <p:cNvSpPr/>
          <p:nvPr/>
        </p:nvSpPr>
        <p:spPr>
          <a:xfrm>
            <a:off x="932688" y="194149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fa: сетка 190"/>
          <p:cNvSpPr/>
          <p:nvPr/>
        </p:nvSpPr>
        <p:spPr>
          <a:xfrm>
            <a:off x="932688" y="186228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782289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190</a:t>
            </a:r>
          </a:p>
        </p:txBody>
      </p:sp>
      <p:sp>
        <p:nvSpPr>
          <p:cNvPr id="39" name="hfa: сетка 195"/>
          <p:cNvSpPr/>
          <p:nvPr/>
        </p:nvSpPr>
        <p:spPr>
          <a:xfrm>
            <a:off x="932688" y="178308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fa: год 2"/>
          <p:cNvSpPr/>
          <p:nvPr/>
        </p:nvSpPr>
        <p:spPr>
          <a:xfrm>
            <a:off x="93268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2688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2" name="hfa: год 3"/>
          <p:cNvSpPr/>
          <p:nvPr/>
        </p:nvSpPr>
        <p:spPr>
          <a:xfrm>
            <a:off x="1359026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fa: год 4"/>
          <p:cNvSpPr/>
          <p:nvPr/>
        </p:nvSpPr>
        <p:spPr>
          <a:xfrm>
            <a:off x="178536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5365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5" name="hfa: год 5"/>
          <p:cNvSpPr/>
          <p:nvPr/>
        </p:nvSpPr>
        <p:spPr>
          <a:xfrm>
            <a:off x="2211704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hfa: год 6"/>
          <p:cNvSpPr/>
          <p:nvPr/>
        </p:nvSpPr>
        <p:spPr>
          <a:xfrm>
            <a:off x="263804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88043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8" name="hfa: год 7"/>
          <p:cNvSpPr/>
          <p:nvPr/>
        </p:nvSpPr>
        <p:spPr>
          <a:xfrm>
            <a:off x="3064382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hfa: год 8"/>
          <p:cNvSpPr/>
          <p:nvPr/>
        </p:nvSpPr>
        <p:spPr>
          <a:xfrm>
            <a:off x="349072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072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51" name="hfa: год 9"/>
          <p:cNvSpPr/>
          <p:nvPr/>
        </p:nvSpPr>
        <p:spPr>
          <a:xfrm>
            <a:off x="3917060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fa: год 10"/>
          <p:cNvSpPr/>
          <p:nvPr/>
        </p:nvSpPr>
        <p:spPr>
          <a:xfrm>
            <a:off x="434339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93399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54" name="hfa: год 11"/>
          <p:cNvSpPr/>
          <p:nvPr/>
        </p:nvSpPr>
        <p:spPr>
          <a:xfrm>
            <a:off x="476973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hfa: год 12"/>
          <p:cNvSpPr/>
          <p:nvPr/>
        </p:nvSpPr>
        <p:spPr>
          <a:xfrm>
            <a:off x="5196077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46077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57" name="hfa: год 13"/>
          <p:cNvSpPr/>
          <p:nvPr/>
        </p:nvSpPr>
        <p:spPr>
          <a:xfrm>
            <a:off x="5622416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hfa: год 14"/>
          <p:cNvSpPr/>
          <p:nvPr/>
        </p:nvSpPr>
        <p:spPr>
          <a:xfrm>
            <a:off x="604875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98755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60" name="hfa: год 15"/>
          <p:cNvSpPr/>
          <p:nvPr/>
        </p:nvSpPr>
        <p:spPr>
          <a:xfrm>
            <a:off x="6475094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hfa: год 16"/>
          <p:cNvSpPr/>
          <p:nvPr/>
        </p:nvSpPr>
        <p:spPr>
          <a:xfrm>
            <a:off x="690143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51433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63" name="hfa: год 17"/>
          <p:cNvSpPr/>
          <p:nvPr/>
        </p:nvSpPr>
        <p:spPr>
          <a:xfrm>
            <a:off x="7327772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hfa: год 18"/>
          <p:cNvSpPr/>
          <p:nvPr/>
        </p:nvSpPr>
        <p:spPr>
          <a:xfrm>
            <a:off x="775411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0411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66" name="hfa: ось"/>
          <p:cNvSpPr/>
          <p:nvPr/>
        </p:nvSpPr>
        <p:spPr>
          <a:xfrm>
            <a:off x="932688" y="368411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fa: полоса 3–97"/>
          <p:cNvSpPr/>
          <p:nvPr/>
        </p:nvSpPr>
        <p:spPr>
          <a:xfrm>
            <a:off x="932688" y="1859176"/>
            <a:ext cx="6821423" cy="1723854"/>
          </a:xfrm>
          <a:custGeom>
            <a:avLst/>
            <a:gdLst/>
            <a:ahLst/>
            <a:cxnLst/>
            <a:rect l="l" t="t" r="r" b="b"/>
            <a:pathLst>
              <a:path w="6821423" h="1723854">
                <a:moveTo>
                  <a:pt x="0" y="1541692"/>
                </a:moveTo>
                <a:lnTo>
                  <a:pt x="85267" y="1505794"/>
                </a:lnTo>
                <a:lnTo>
                  <a:pt x="170535" y="1471447"/>
                </a:lnTo>
                <a:lnTo>
                  <a:pt x="255803" y="1439334"/>
                </a:lnTo>
                <a:lnTo>
                  <a:pt x="341071" y="1409332"/>
                </a:lnTo>
                <a:lnTo>
                  <a:pt x="426338" y="1380384"/>
                </a:lnTo>
                <a:lnTo>
                  <a:pt x="511606" y="1352721"/>
                </a:lnTo>
                <a:lnTo>
                  <a:pt x="596874" y="1326045"/>
                </a:lnTo>
                <a:lnTo>
                  <a:pt x="682142" y="1300340"/>
                </a:lnTo>
                <a:lnTo>
                  <a:pt x="767410" y="1275463"/>
                </a:lnTo>
                <a:lnTo>
                  <a:pt x="852677" y="1251203"/>
                </a:lnTo>
                <a:lnTo>
                  <a:pt x="937945" y="1227306"/>
                </a:lnTo>
                <a:lnTo>
                  <a:pt x="1023213" y="1203576"/>
                </a:lnTo>
                <a:lnTo>
                  <a:pt x="1108481" y="1179958"/>
                </a:lnTo>
                <a:lnTo>
                  <a:pt x="1193749" y="1156445"/>
                </a:lnTo>
                <a:lnTo>
                  <a:pt x="1279016" y="1138915"/>
                </a:lnTo>
                <a:lnTo>
                  <a:pt x="1364284" y="1116291"/>
                </a:lnTo>
                <a:lnTo>
                  <a:pt x="1449552" y="1093975"/>
                </a:lnTo>
                <a:lnTo>
                  <a:pt x="1534820" y="1072032"/>
                </a:lnTo>
                <a:lnTo>
                  <a:pt x="1620087" y="1050506"/>
                </a:lnTo>
                <a:lnTo>
                  <a:pt x="1705355" y="1029387"/>
                </a:lnTo>
                <a:lnTo>
                  <a:pt x="1790623" y="1008625"/>
                </a:lnTo>
                <a:lnTo>
                  <a:pt x="1875891" y="988056"/>
                </a:lnTo>
                <a:lnTo>
                  <a:pt x="1961159" y="967601"/>
                </a:lnTo>
                <a:lnTo>
                  <a:pt x="2046426" y="947290"/>
                </a:lnTo>
                <a:lnTo>
                  <a:pt x="2131694" y="927078"/>
                </a:lnTo>
                <a:lnTo>
                  <a:pt x="2216962" y="907040"/>
                </a:lnTo>
                <a:lnTo>
                  <a:pt x="2302230" y="887157"/>
                </a:lnTo>
                <a:lnTo>
                  <a:pt x="2387498" y="867454"/>
                </a:lnTo>
                <a:lnTo>
                  <a:pt x="2472765" y="847957"/>
                </a:lnTo>
                <a:lnTo>
                  <a:pt x="2558033" y="828654"/>
                </a:lnTo>
                <a:lnTo>
                  <a:pt x="2643301" y="809526"/>
                </a:lnTo>
                <a:lnTo>
                  <a:pt x="2728569" y="790524"/>
                </a:lnTo>
                <a:lnTo>
                  <a:pt x="2813836" y="771564"/>
                </a:lnTo>
                <a:lnTo>
                  <a:pt x="2899104" y="752695"/>
                </a:lnTo>
                <a:lnTo>
                  <a:pt x="2984372" y="733849"/>
                </a:lnTo>
                <a:lnTo>
                  <a:pt x="3069640" y="715034"/>
                </a:lnTo>
                <a:lnTo>
                  <a:pt x="3154908" y="696310"/>
                </a:lnTo>
                <a:lnTo>
                  <a:pt x="3240175" y="677644"/>
                </a:lnTo>
                <a:lnTo>
                  <a:pt x="3325443" y="659023"/>
                </a:lnTo>
                <a:lnTo>
                  <a:pt x="3410711" y="640462"/>
                </a:lnTo>
                <a:lnTo>
                  <a:pt x="3495979" y="621866"/>
                </a:lnTo>
                <a:lnTo>
                  <a:pt x="3581247" y="603125"/>
                </a:lnTo>
                <a:lnTo>
                  <a:pt x="3666514" y="584175"/>
                </a:lnTo>
                <a:lnTo>
                  <a:pt x="3751782" y="564925"/>
                </a:lnTo>
                <a:lnTo>
                  <a:pt x="3837050" y="545340"/>
                </a:lnTo>
                <a:lnTo>
                  <a:pt x="3922318" y="525311"/>
                </a:lnTo>
                <a:lnTo>
                  <a:pt x="4007586" y="504875"/>
                </a:lnTo>
                <a:lnTo>
                  <a:pt x="4092853" y="483922"/>
                </a:lnTo>
                <a:lnTo>
                  <a:pt x="4178121" y="462367"/>
                </a:lnTo>
                <a:lnTo>
                  <a:pt x="4263389" y="440208"/>
                </a:lnTo>
                <a:lnTo>
                  <a:pt x="4348657" y="417337"/>
                </a:lnTo>
                <a:lnTo>
                  <a:pt x="4433924" y="393780"/>
                </a:lnTo>
                <a:lnTo>
                  <a:pt x="4519192" y="369539"/>
                </a:lnTo>
                <a:lnTo>
                  <a:pt x="4604460" y="344763"/>
                </a:lnTo>
                <a:lnTo>
                  <a:pt x="4689728" y="319732"/>
                </a:lnTo>
                <a:lnTo>
                  <a:pt x="4774996" y="294619"/>
                </a:lnTo>
                <a:lnTo>
                  <a:pt x="4860263" y="269740"/>
                </a:lnTo>
                <a:lnTo>
                  <a:pt x="4945531" y="245312"/>
                </a:lnTo>
                <a:lnTo>
                  <a:pt x="5030799" y="221618"/>
                </a:lnTo>
                <a:lnTo>
                  <a:pt x="5116067" y="198747"/>
                </a:lnTo>
                <a:lnTo>
                  <a:pt x="5201335" y="177080"/>
                </a:lnTo>
                <a:lnTo>
                  <a:pt x="5286602" y="156684"/>
                </a:lnTo>
                <a:lnTo>
                  <a:pt x="5371870" y="137711"/>
                </a:lnTo>
                <a:lnTo>
                  <a:pt x="5457138" y="120159"/>
                </a:lnTo>
                <a:lnTo>
                  <a:pt x="5542406" y="103906"/>
                </a:lnTo>
                <a:lnTo>
                  <a:pt x="5627673" y="89120"/>
                </a:lnTo>
                <a:lnTo>
                  <a:pt x="5712941" y="75588"/>
                </a:lnTo>
                <a:lnTo>
                  <a:pt x="5798209" y="63354"/>
                </a:lnTo>
                <a:lnTo>
                  <a:pt x="5883477" y="52348"/>
                </a:lnTo>
                <a:lnTo>
                  <a:pt x="5968745" y="42476"/>
                </a:lnTo>
                <a:lnTo>
                  <a:pt x="6054012" y="33881"/>
                </a:lnTo>
                <a:lnTo>
                  <a:pt x="6139280" y="26407"/>
                </a:lnTo>
                <a:lnTo>
                  <a:pt x="6224548" y="20054"/>
                </a:lnTo>
                <a:lnTo>
                  <a:pt x="6309816" y="14770"/>
                </a:lnTo>
                <a:lnTo>
                  <a:pt x="6395084" y="10412"/>
                </a:lnTo>
                <a:lnTo>
                  <a:pt x="6480351" y="7009"/>
                </a:lnTo>
                <a:lnTo>
                  <a:pt x="6565619" y="4392"/>
                </a:lnTo>
                <a:lnTo>
                  <a:pt x="6650887" y="2405"/>
                </a:lnTo>
                <a:lnTo>
                  <a:pt x="6736155" y="979"/>
                </a:lnTo>
                <a:lnTo>
                  <a:pt x="6821423" y="0"/>
                </a:lnTo>
                <a:lnTo>
                  <a:pt x="6821423" y="445211"/>
                </a:lnTo>
                <a:lnTo>
                  <a:pt x="6736155" y="448378"/>
                </a:lnTo>
                <a:lnTo>
                  <a:pt x="6650887" y="451921"/>
                </a:lnTo>
                <a:lnTo>
                  <a:pt x="6565619" y="455955"/>
                </a:lnTo>
                <a:lnTo>
                  <a:pt x="6480351" y="460636"/>
                </a:lnTo>
                <a:lnTo>
                  <a:pt x="6395084" y="465977"/>
                </a:lnTo>
                <a:lnTo>
                  <a:pt x="6309816" y="472120"/>
                </a:lnTo>
                <a:lnTo>
                  <a:pt x="6224548" y="479132"/>
                </a:lnTo>
                <a:lnTo>
                  <a:pt x="6139280" y="487039"/>
                </a:lnTo>
                <a:lnTo>
                  <a:pt x="6054012" y="495879"/>
                </a:lnTo>
                <a:lnTo>
                  <a:pt x="5968745" y="505651"/>
                </a:lnTo>
                <a:lnTo>
                  <a:pt x="5883477" y="516387"/>
                </a:lnTo>
                <a:lnTo>
                  <a:pt x="5798209" y="528080"/>
                </a:lnTo>
                <a:lnTo>
                  <a:pt x="5712941" y="540730"/>
                </a:lnTo>
                <a:lnTo>
                  <a:pt x="5627673" y="554357"/>
                </a:lnTo>
                <a:lnTo>
                  <a:pt x="5542406" y="569015"/>
                </a:lnTo>
                <a:lnTo>
                  <a:pt x="5457138" y="584659"/>
                </a:lnTo>
                <a:lnTo>
                  <a:pt x="5371870" y="601295"/>
                </a:lnTo>
                <a:lnTo>
                  <a:pt x="5286602" y="618953"/>
                </a:lnTo>
                <a:lnTo>
                  <a:pt x="5201335" y="637633"/>
                </a:lnTo>
                <a:lnTo>
                  <a:pt x="5116067" y="657193"/>
                </a:lnTo>
                <a:lnTo>
                  <a:pt x="5030799" y="677491"/>
                </a:lnTo>
                <a:lnTo>
                  <a:pt x="4945531" y="698369"/>
                </a:lnTo>
                <a:lnTo>
                  <a:pt x="4860263" y="719564"/>
                </a:lnTo>
                <a:lnTo>
                  <a:pt x="4774996" y="741001"/>
                </a:lnTo>
                <a:lnTo>
                  <a:pt x="4689728" y="762400"/>
                </a:lnTo>
                <a:lnTo>
                  <a:pt x="4604460" y="783571"/>
                </a:lnTo>
                <a:lnTo>
                  <a:pt x="4519192" y="804289"/>
                </a:lnTo>
                <a:lnTo>
                  <a:pt x="4433924" y="824427"/>
                </a:lnTo>
                <a:lnTo>
                  <a:pt x="4348657" y="843832"/>
                </a:lnTo>
                <a:lnTo>
                  <a:pt x="4263389" y="862504"/>
                </a:lnTo>
                <a:lnTo>
                  <a:pt x="4178121" y="880445"/>
                </a:lnTo>
                <a:lnTo>
                  <a:pt x="4092853" y="897744"/>
                </a:lnTo>
                <a:lnTo>
                  <a:pt x="4007586" y="914489"/>
                </a:lnTo>
                <a:lnTo>
                  <a:pt x="3922318" y="930720"/>
                </a:lnTo>
                <a:lnTo>
                  <a:pt x="3837050" y="946466"/>
                </a:lnTo>
                <a:lnTo>
                  <a:pt x="3751782" y="961826"/>
                </a:lnTo>
                <a:lnTo>
                  <a:pt x="3666514" y="976843"/>
                </a:lnTo>
                <a:lnTo>
                  <a:pt x="3581247" y="991534"/>
                </a:lnTo>
                <a:lnTo>
                  <a:pt x="3495979" y="1005977"/>
                </a:lnTo>
                <a:lnTo>
                  <a:pt x="3410711" y="1020317"/>
                </a:lnTo>
                <a:lnTo>
                  <a:pt x="3325443" y="1034617"/>
                </a:lnTo>
                <a:lnTo>
                  <a:pt x="3240175" y="1048913"/>
                </a:lnTo>
                <a:lnTo>
                  <a:pt x="3154908" y="1063267"/>
                </a:lnTo>
                <a:lnTo>
                  <a:pt x="3069640" y="1077691"/>
                </a:lnTo>
                <a:lnTo>
                  <a:pt x="2984372" y="1092140"/>
                </a:lnTo>
                <a:lnTo>
                  <a:pt x="2899104" y="1106636"/>
                </a:lnTo>
                <a:lnTo>
                  <a:pt x="2813836" y="1121175"/>
                </a:lnTo>
                <a:lnTo>
                  <a:pt x="2728569" y="1135742"/>
                </a:lnTo>
                <a:lnTo>
                  <a:pt x="2643301" y="1150437"/>
                </a:lnTo>
                <a:lnTo>
                  <a:pt x="2558033" y="1165263"/>
                </a:lnTo>
                <a:lnTo>
                  <a:pt x="2472765" y="1180259"/>
                </a:lnTo>
                <a:lnTo>
                  <a:pt x="2387498" y="1195441"/>
                </a:lnTo>
                <a:lnTo>
                  <a:pt x="2302230" y="1210822"/>
                </a:lnTo>
                <a:lnTo>
                  <a:pt x="2216962" y="1226379"/>
                </a:lnTo>
                <a:lnTo>
                  <a:pt x="2131694" y="1242092"/>
                </a:lnTo>
                <a:lnTo>
                  <a:pt x="2046426" y="1257975"/>
                </a:lnTo>
                <a:lnTo>
                  <a:pt x="1961159" y="1274034"/>
                </a:lnTo>
                <a:lnTo>
                  <a:pt x="1875891" y="1290185"/>
                </a:lnTo>
                <a:lnTo>
                  <a:pt x="1790623" y="1306497"/>
                </a:lnTo>
                <a:lnTo>
                  <a:pt x="1705355" y="1323009"/>
                </a:lnTo>
                <a:lnTo>
                  <a:pt x="1620087" y="1339850"/>
                </a:lnTo>
                <a:lnTo>
                  <a:pt x="1534820" y="1357049"/>
                </a:lnTo>
                <a:lnTo>
                  <a:pt x="1449552" y="1374592"/>
                </a:lnTo>
                <a:lnTo>
                  <a:pt x="1364284" y="1392529"/>
                </a:lnTo>
                <a:lnTo>
                  <a:pt x="1279016" y="1410694"/>
                </a:lnTo>
                <a:lnTo>
                  <a:pt x="1193749" y="1427411"/>
                </a:lnTo>
                <a:lnTo>
                  <a:pt x="1108481" y="1445702"/>
                </a:lnTo>
                <a:lnTo>
                  <a:pt x="1023213" y="1464068"/>
                </a:lnTo>
                <a:lnTo>
                  <a:pt x="937945" y="1482541"/>
                </a:lnTo>
                <a:lnTo>
                  <a:pt x="852677" y="1501158"/>
                </a:lnTo>
                <a:lnTo>
                  <a:pt x="767410" y="1520079"/>
                </a:lnTo>
                <a:lnTo>
                  <a:pt x="682142" y="1539438"/>
                </a:lnTo>
                <a:lnTo>
                  <a:pt x="596874" y="1559433"/>
                </a:lnTo>
                <a:lnTo>
                  <a:pt x="511606" y="1580089"/>
                </a:lnTo>
                <a:lnTo>
                  <a:pt x="426338" y="1601318"/>
                </a:lnTo>
                <a:lnTo>
                  <a:pt x="341071" y="1623409"/>
                </a:lnTo>
                <a:lnTo>
                  <a:pt x="255803" y="1646134"/>
                </a:lnTo>
                <a:lnTo>
                  <a:pt x="170535" y="1670428"/>
                </a:lnTo>
                <a:lnTo>
                  <a:pt x="85267" y="1696466"/>
                </a:lnTo>
                <a:lnTo>
                  <a:pt x="0" y="1723854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fa: 97-й центиль"/>
          <p:cNvSpPr/>
          <p:nvPr/>
        </p:nvSpPr>
        <p:spPr>
          <a:xfrm>
            <a:off x="932688" y="1859176"/>
            <a:ext cx="6821423" cy="1541692"/>
          </a:xfrm>
          <a:custGeom>
            <a:avLst/>
            <a:gdLst/>
            <a:ahLst/>
            <a:cxnLst/>
            <a:rect l="l" t="t" r="r" b="b"/>
            <a:pathLst>
              <a:path w="6821423" h="1541692">
                <a:moveTo>
                  <a:pt x="0" y="1541692"/>
                </a:moveTo>
                <a:lnTo>
                  <a:pt x="85267" y="1505794"/>
                </a:lnTo>
                <a:lnTo>
                  <a:pt x="170535" y="1471447"/>
                </a:lnTo>
                <a:lnTo>
                  <a:pt x="255803" y="1439334"/>
                </a:lnTo>
                <a:lnTo>
                  <a:pt x="341071" y="1409332"/>
                </a:lnTo>
                <a:lnTo>
                  <a:pt x="426338" y="1380384"/>
                </a:lnTo>
                <a:lnTo>
                  <a:pt x="511606" y="1352721"/>
                </a:lnTo>
                <a:lnTo>
                  <a:pt x="596874" y="1326045"/>
                </a:lnTo>
                <a:lnTo>
                  <a:pt x="682142" y="1300340"/>
                </a:lnTo>
                <a:lnTo>
                  <a:pt x="767410" y="1275463"/>
                </a:lnTo>
                <a:lnTo>
                  <a:pt x="852677" y="1251203"/>
                </a:lnTo>
                <a:lnTo>
                  <a:pt x="937945" y="1227306"/>
                </a:lnTo>
                <a:lnTo>
                  <a:pt x="1023213" y="1203576"/>
                </a:lnTo>
                <a:lnTo>
                  <a:pt x="1108481" y="1179958"/>
                </a:lnTo>
                <a:lnTo>
                  <a:pt x="1193749" y="1156445"/>
                </a:lnTo>
                <a:lnTo>
                  <a:pt x="1279016" y="1138915"/>
                </a:lnTo>
                <a:lnTo>
                  <a:pt x="1364284" y="1116291"/>
                </a:lnTo>
                <a:lnTo>
                  <a:pt x="1449552" y="1093975"/>
                </a:lnTo>
                <a:lnTo>
                  <a:pt x="1534820" y="1072032"/>
                </a:lnTo>
                <a:lnTo>
                  <a:pt x="1620087" y="1050506"/>
                </a:lnTo>
                <a:lnTo>
                  <a:pt x="1705355" y="1029387"/>
                </a:lnTo>
                <a:lnTo>
                  <a:pt x="1790623" y="1008625"/>
                </a:lnTo>
                <a:lnTo>
                  <a:pt x="1875891" y="988056"/>
                </a:lnTo>
                <a:lnTo>
                  <a:pt x="1961159" y="967601"/>
                </a:lnTo>
                <a:lnTo>
                  <a:pt x="2046426" y="947290"/>
                </a:lnTo>
                <a:lnTo>
                  <a:pt x="2131694" y="927078"/>
                </a:lnTo>
                <a:lnTo>
                  <a:pt x="2216962" y="907040"/>
                </a:lnTo>
                <a:lnTo>
                  <a:pt x="2302230" y="887157"/>
                </a:lnTo>
                <a:lnTo>
                  <a:pt x="2387498" y="867454"/>
                </a:lnTo>
                <a:lnTo>
                  <a:pt x="2472765" y="847957"/>
                </a:lnTo>
                <a:lnTo>
                  <a:pt x="2558033" y="828654"/>
                </a:lnTo>
                <a:lnTo>
                  <a:pt x="2643301" y="809526"/>
                </a:lnTo>
                <a:lnTo>
                  <a:pt x="2728569" y="790524"/>
                </a:lnTo>
                <a:lnTo>
                  <a:pt x="2813836" y="771564"/>
                </a:lnTo>
                <a:lnTo>
                  <a:pt x="2899104" y="752695"/>
                </a:lnTo>
                <a:lnTo>
                  <a:pt x="2984372" y="733849"/>
                </a:lnTo>
                <a:lnTo>
                  <a:pt x="3069640" y="715034"/>
                </a:lnTo>
                <a:lnTo>
                  <a:pt x="3154908" y="696310"/>
                </a:lnTo>
                <a:lnTo>
                  <a:pt x="3240175" y="677644"/>
                </a:lnTo>
                <a:lnTo>
                  <a:pt x="3325443" y="659023"/>
                </a:lnTo>
                <a:lnTo>
                  <a:pt x="3410711" y="640462"/>
                </a:lnTo>
                <a:lnTo>
                  <a:pt x="3495979" y="621866"/>
                </a:lnTo>
                <a:lnTo>
                  <a:pt x="3581247" y="603125"/>
                </a:lnTo>
                <a:lnTo>
                  <a:pt x="3666514" y="584175"/>
                </a:lnTo>
                <a:lnTo>
                  <a:pt x="3751782" y="564925"/>
                </a:lnTo>
                <a:lnTo>
                  <a:pt x="3837050" y="545340"/>
                </a:lnTo>
                <a:lnTo>
                  <a:pt x="3922318" y="525311"/>
                </a:lnTo>
                <a:lnTo>
                  <a:pt x="4007586" y="504875"/>
                </a:lnTo>
                <a:lnTo>
                  <a:pt x="4092853" y="483922"/>
                </a:lnTo>
                <a:lnTo>
                  <a:pt x="4178121" y="462367"/>
                </a:lnTo>
                <a:lnTo>
                  <a:pt x="4263389" y="440208"/>
                </a:lnTo>
                <a:lnTo>
                  <a:pt x="4348657" y="417337"/>
                </a:lnTo>
                <a:lnTo>
                  <a:pt x="4433924" y="393780"/>
                </a:lnTo>
                <a:lnTo>
                  <a:pt x="4519192" y="369539"/>
                </a:lnTo>
                <a:lnTo>
                  <a:pt x="4604460" y="344763"/>
                </a:lnTo>
                <a:lnTo>
                  <a:pt x="4689728" y="319732"/>
                </a:lnTo>
                <a:lnTo>
                  <a:pt x="4774996" y="294619"/>
                </a:lnTo>
                <a:lnTo>
                  <a:pt x="4860263" y="269740"/>
                </a:lnTo>
                <a:lnTo>
                  <a:pt x="4945531" y="245312"/>
                </a:lnTo>
                <a:lnTo>
                  <a:pt x="5030799" y="221618"/>
                </a:lnTo>
                <a:lnTo>
                  <a:pt x="5116067" y="198747"/>
                </a:lnTo>
                <a:lnTo>
                  <a:pt x="5201335" y="177080"/>
                </a:lnTo>
                <a:lnTo>
                  <a:pt x="5286602" y="156684"/>
                </a:lnTo>
                <a:lnTo>
                  <a:pt x="5371870" y="137711"/>
                </a:lnTo>
                <a:lnTo>
                  <a:pt x="5457138" y="120159"/>
                </a:lnTo>
                <a:lnTo>
                  <a:pt x="5542406" y="103906"/>
                </a:lnTo>
                <a:lnTo>
                  <a:pt x="5627673" y="89120"/>
                </a:lnTo>
                <a:lnTo>
                  <a:pt x="5712941" y="75588"/>
                </a:lnTo>
                <a:lnTo>
                  <a:pt x="5798209" y="63354"/>
                </a:lnTo>
                <a:lnTo>
                  <a:pt x="5883477" y="52348"/>
                </a:lnTo>
                <a:lnTo>
                  <a:pt x="5968745" y="42476"/>
                </a:lnTo>
                <a:lnTo>
                  <a:pt x="6054012" y="33881"/>
                </a:lnTo>
                <a:lnTo>
                  <a:pt x="6139280" y="26407"/>
                </a:lnTo>
                <a:lnTo>
                  <a:pt x="6224548" y="20054"/>
                </a:lnTo>
                <a:lnTo>
                  <a:pt x="6309816" y="14770"/>
                </a:lnTo>
                <a:lnTo>
                  <a:pt x="6395084" y="10412"/>
                </a:lnTo>
                <a:lnTo>
                  <a:pt x="6480351" y="7009"/>
                </a:lnTo>
                <a:lnTo>
                  <a:pt x="6565619" y="4392"/>
                </a:lnTo>
                <a:lnTo>
                  <a:pt x="6650887" y="2405"/>
                </a:lnTo>
                <a:lnTo>
                  <a:pt x="6736155" y="979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4111" y="178417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70" name="hfa: 85-й центиль"/>
          <p:cNvSpPr/>
          <p:nvPr/>
        </p:nvSpPr>
        <p:spPr>
          <a:xfrm>
            <a:off x="932688" y="1959177"/>
            <a:ext cx="6821423" cy="1482607"/>
          </a:xfrm>
          <a:custGeom>
            <a:avLst/>
            <a:gdLst/>
            <a:ahLst/>
            <a:cxnLst/>
            <a:rect l="l" t="t" r="r" b="b"/>
            <a:pathLst>
              <a:path w="6821423" h="1482607">
                <a:moveTo>
                  <a:pt x="0" y="1482607"/>
                </a:moveTo>
                <a:lnTo>
                  <a:pt x="85267" y="1448621"/>
                </a:lnTo>
                <a:lnTo>
                  <a:pt x="170535" y="1416140"/>
                </a:lnTo>
                <a:lnTo>
                  <a:pt x="255803" y="1385784"/>
                </a:lnTo>
                <a:lnTo>
                  <a:pt x="341071" y="1357416"/>
                </a:lnTo>
                <a:lnTo>
                  <a:pt x="426338" y="1330008"/>
                </a:lnTo>
                <a:lnTo>
                  <a:pt x="511606" y="1303790"/>
                </a:lnTo>
                <a:lnTo>
                  <a:pt x="596874" y="1278466"/>
                </a:lnTo>
                <a:lnTo>
                  <a:pt x="682142" y="1254044"/>
                </a:lnTo>
                <a:lnTo>
                  <a:pt x="767410" y="1230406"/>
                </a:lnTo>
                <a:lnTo>
                  <a:pt x="852677" y="1207346"/>
                </a:lnTo>
                <a:lnTo>
                  <a:pt x="937945" y="1184635"/>
                </a:lnTo>
                <a:lnTo>
                  <a:pt x="1023213" y="1162085"/>
                </a:lnTo>
                <a:lnTo>
                  <a:pt x="1108481" y="1139647"/>
                </a:lnTo>
                <a:lnTo>
                  <a:pt x="1193749" y="1117307"/>
                </a:lnTo>
                <a:lnTo>
                  <a:pt x="1279016" y="1099960"/>
                </a:lnTo>
                <a:lnTo>
                  <a:pt x="1364284" y="1078337"/>
                </a:lnTo>
                <a:lnTo>
                  <a:pt x="1449552" y="1057005"/>
                </a:lnTo>
                <a:lnTo>
                  <a:pt x="1534820" y="1036050"/>
                </a:lnTo>
                <a:lnTo>
                  <a:pt x="1620087" y="1015496"/>
                </a:lnTo>
                <a:lnTo>
                  <a:pt x="1705355" y="995337"/>
                </a:lnTo>
                <a:lnTo>
                  <a:pt x="1790623" y="975530"/>
                </a:lnTo>
                <a:lnTo>
                  <a:pt x="1875891" y="955918"/>
                </a:lnTo>
                <a:lnTo>
                  <a:pt x="1961159" y="936429"/>
                </a:lnTo>
                <a:lnTo>
                  <a:pt x="2046426" y="917073"/>
                </a:lnTo>
                <a:lnTo>
                  <a:pt x="2131694" y="897834"/>
                </a:lnTo>
                <a:lnTo>
                  <a:pt x="2216962" y="878767"/>
                </a:lnTo>
                <a:lnTo>
                  <a:pt x="2302230" y="859856"/>
                </a:lnTo>
                <a:lnTo>
                  <a:pt x="2387498" y="841124"/>
                </a:lnTo>
                <a:lnTo>
                  <a:pt x="2472765" y="822596"/>
                </a:lnTo>
                <a:lnTo>
                  <a:pt x="2558033" y="804260"/>
                </a:lnTo>
                <a:lnTo>
                  <a:pt x="2643301" y="786098"/>
                </a:lnTo>
                <a:lnTo>
                  <a:pt x="2728569" y="768064"/>
                </a:lnTo>
                <a:lnTo>
                  <a:pt x="2813836" y="750091"/>
                </a:lnTo>
                <a:lnTo>
                  <a:pt x="2899104" y="732195"/>
                </a:lnTo>
                <a:lnTo>
                  <a:pt x="2984372" y="714325"/>
                </a:lnTo>
                <a:lnTo>
                  <a:pt x="3069640" y="696491"/>
                </a:lnTo>
                <a:lnTo>
                  <a:pt x="3154908" y="678733"/>
                </a:lnTo>
                <a:lnTo>
                  <a:pt x="3240175" y="661035"/>
                </a:lnTo>
                <a:lnTo>
                  <a:pt x="3325443" y="643386"/>
                </a:lnTo>
                <a:lnTo>
                  <a:pt x="3410711" y="625782"/>
                </a:lnTo>
                <a:lnTo>
                  <a:pt x="3495979" y="608142"/>
                </a:lnTo>
                <a:lnTo>
                  <a:pt x="3581247" y="590366"/>
                </a:lnTo>
                <a:lnTo>
                  <a:pt x="3666514" y="572373"/>
                </a:lnTo>
                <a:lnTo>
                  <a:pt x="3751782" y="554073"/>
                </a:lnTo>
                <a:lnTo>
                  <a:pt x="3837050" y="535437"/>
                </a:lnTo>
                <a:lnTo>
                  <a:pt x="3922318" y="516371"/>
                </a:lnTo>
                <a:lnTo>
                  <a:pt x="4007586" y="496879"/>
                </a:lnTo>
                <a:lnTo>
                  <a:pt x="4092853" y="476871"/>
                </a:lnTo>
                <a:lnTo>
                  <a:pt x="4178121" y="456273"/>
                </a:lnTo>
                <a:lnTo>
                  <a:pt x="4263389" y="435061"/>
                </a:lnTo>
                <a:lnTo>
                  <a:pt x="4348657" y="413133"/>
                </a:lnTo>
                <a:lnTo>
                  <a:pt x="4433924" y="390509"/>
                </a:lnTo>
                <a:lnTo>
                  <a:pt x="4519192" y="367189"/>
                </a:lnTo>
                <a:lnTo>
                  <a:pt x="4604460" y="343324"/>
                </a:lnTo>
                <a:lnTo>
                  <a:pt x="4689728" y="319160"/>
                </a:lnTo>
                <a:lnTo>
                  <a:pt x="4774996" y="294882"/>
                </a:lnTo>
                <a:lnTo>
                  <a:pt x="4860263" y="270776"/>
                </a:lnTo>
                <a:lnTo>
                  <a:pt x="4945531" y="247074"/>
                </a:lnTo>
                <a:lnTo>
                  <a:pt x="5030799" y="224013"/>
                </a:lnTo>
                <a:lnTo>
                  <a:pt x="5116067" y="201719"/>
                </a:lnTo>
                <a:lnTo>
                  <a:pt x="5201335" y="180526"/>
                </a:lnTo>
                <a:lnTo>
                  <a:pt x="5286602" y="160515"/>
                </a:lnTo>
                <a:lnTo>
                  <a:pt x="5371870" y="141838"/>
                </a:lnTo>
                <a:lnTo>
                  <a:pt x="5457138" y="124492"/>
                </a:lnTo>
                <a:lnTo>
                  <a:pt x="5542406" y="108375"/>
                </a:lnTo>
                <a:lnTo>
                  <a:pt x="5627673" y="93618"/>
                </a:lnTo>
                <a:lnTo>
                  <a:pt x="5712941" y="80064"/>
                </a:lnTo>
                <a:lnTo>
                  <a:pt x="5798209" y="67737"/>
                </a:lnTo>
                <a:lnTo>
                  <a:pt x="5883477" y="56577"/>
                </a:lnTo>
                <a:lnTo>
                  <a:pt x="5968745" y="46511"/>
                </a:lnTo>
                <a:lnTo>
                  <a:pt x="6054012" y="37651"/>
                </a:lnTo>
                <a:lnTo>
                  <a:pt x="6139280" y="29871"/>
                </a:lnTo>
                <a:lnTo>
                  <a:pt x="6224548" y="23168"/>
                </a:lnTo>
                <a:lnTo>
                  <a:pt x="6309816" y="17497"/>
                </a:lnTo>
                <a:lnTo>
                  <a:pt x="6395084" y="12737"/>
                </a:lnTo>
                <a:lnTo>
                  <a:pt x="6480351" y="8899"/>
                </a:lnTo>
                <a:lnTo>
                  <a:pt x="6565619" y="5819"/>
                </a:lnTo>
                <a:lnTo>
                  <a:pt x="6650887" y="3372"/>
                </a:lnTo>
                <a:lnTo>
                  <a:pt x="6736155" y="1471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94111" y="1884177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72" name="hfa: 50-й центиль"/>
          <p:cNvSpPr/>
          <p:nvPr/>
        </p:nvSpPr>
        <p:spPr>
          <a:xfrm>
            <a:off x="932688" y="2081782"/>
            <a:ext cx="6821423" cy="1410167"/>
          </a:xfrm>
          <a:custGeom>
            <a:avLst/>
            <a:gdLst/>
            <a:ahLst/>
            <a:cxnLst/>
            <a:rect l="l" t="t" r="r" b="b"/>
            <a:pathLst>
              <a:path w="6821423" h="1410167">
                <a:moveTo>
                  <a:pt x="0" y="1410167"/>
                </a:moveTo>
                <a:lnTo>
                  <a:pt x="85267" y="1378524"/>
                </a:lnTo>
                <a:lnTo>
                  <a:pt x="170535" y="1348331"/>
                </a:lnTo>
                <a:lnTo>
                  <a:pt x="255803" y="1320128"/>
                </a:lnTo>
                <a:lnTo>
                  <a:pt x="341071" y="1293765"/>
                </a:lnTo>
                <a:lnTo>
                  <a:pt x="426338" y="1268245"/>
                </a:lnTo>
                <a:lnTo>
                  <a:pt x="511606" y="1243799"/>
                </a:lnTo>
                <a:lnTo>
                  <a:pt x="596874" y="1220133"/>
                </a:lnTo>
                <a:lnTo>
                  <a:pt x="682142" y="1197283"/>
                </a:lnTo>
                <a:lnTo>
                  <a:pt x="767410" y="1175165"/>
                </a:lnTo>
                <a:lnTo>
                  <a:pt x="852677" y="1153575"/>
                </a:lnTo>
                <a:lnTo>
                  <a:pt x="937945" y="1132317"/>
                </a:lnTo>
                <a:lnTo>
                  <a:pt x="1023213" y="1111216"/>
                </a:lnTo>
                <a:lnTo>
                  <a:pt x="1108481" y="1090224"/>
                </a:lnTo>
                <a:lnTo>
                  <a:pt x="1193749" y="1069322"/>
                </a:lnTo>
                <a:lnTo>
                  <a:pt x="1279016" y="1052199"/>
                </a:lnTo>
                <a:lnTo>
                  <a:pt x="1364284" y="1031804"/>
                </a:lnTo>
                <a:lnTo>
                  <a:pt x="1449552" y="1011678"/>
                </a:lnTo>
                <a:lnTo>
                  <a:pt x="1534820" y="991934"/>
                </a:lnTo>
                <a:lnTo>
                  <a:pt x="1620087" y="972572"/>
                </a:lnTo>
                <a:lnTo>
                  <a:pt x="1705355" y="953592"/>
                </a:lnTo>
                <a:lnTo>
                  <a:pt x="1790623" y="934955"/>
                </a:lnTo>
                <a:lnTo>
                  <a:pt x="1875891" y="916515"/>
                </a:lnTo>
                <a:lnTo>
                  <a:pt x="1961159" y="898211"/>
                </a:lnTo>
                <a:lnTo>
                  <a:pt x="2046426" y="880027"/>
                </a:lnTo>
                <a:lnTo>
                  <a:pt x="2131694" y="861979"/>
                </a:lnTo>
                <a:lnTo>
                  <a:pt x="2216962" y="844104"/>
                </a:lnTo>
                <a:lnTo>
                  <a:pt x="2302230" y="826384"/>
                </a:lnTo>
                <a:lnTo>
                  <a:pt x="2387498" y="808842"/>
                </a:lnTo>
                <a:lnTo>
                  <a:pt x="2472765" y="791502"/>
                </a:lnTo>
                <a:lnTo>
                  <a:pt x="2558033" y="774352"/>
                </a:lnTo>
                <a:lnTo>
                  <a:pt x="2643301" y="757375"/>
                </a:lnTo>
                <a:lnTo>
                  <a:pt x="2728569" y="740527"/>
                </a:lnTo>
                <a:lnTo>
                  <a:pt x="2813836" y="723763"/>
                </a:lnTo>
                <a:lnTo>
                  <a:pt x="2899104" y="707060"/>
                </a:lnTo>
                <a:lnTo>
                  <a:pt x="2984372" y="690388"/>
                </a:lnTo>
                <a:lnTo>
                  <a:pt x="3069640" y="673757"/>
                </a:lnTo>
                <a:lnTo>
                  <a:pt x="3154908" y="657183"/>
                </a:lnTo>
                <a:lnTo>
                  <a:pt x="3240175" y="640672"/>
                </a:lnTo>
                <a:lnTo>
                  <a:pt x="3325443" y="624214"/>
                </a:lnTo>
                <a:lnTo>
                  <a:pt x="3410711" y="607784"/>
                </a:lnTo>
                <a:lnTo>
                  <a:pt x="3495979" y="591316"/>
                </a:lnTo>
                <a:lnTo>
                  <a:pt x="3581247" y="574724"/>
                </a:lnTo>
                <a:lnTo>
                  <a:pt x="3666514" y="557903"/>
                </a:lnTo>
                <a:lnTo>
                  <a:pt x="3751782" y="540769"/>
                </a:lnTo>
                <a:lnTo>
                  <a:pt x="3837050" y="523297"/>
                </a:lnTo>
                <a:lnTo>
                  <a:pt x="3922318" y="505409"/>
                </a:lnTo>
                <a:lnTo>
                  <a:pt x="4007586" y="487076"/>
                </a:lnTo>
                <a:lnTo>
                  <a:pt x="4092853" y="468227"/>
                </a:lnTo>
                <a:lnTo>
                  <a:pt x="4178121" y="448800"/>
                </a:lnTo>
                <a:lnTo>
                  <a:pt x="4263389" y="428750"/>
                </a:lnTo>
                <a:lnTo>
                  <a:pt x="4348657" y="407978"/>
                </a:lnTo>
                <a:lnTo>
                  <a:pt x="4433924" y="386498"/>
                </a:lnTo>
                <a:lnTo>
                  <a:pt x="4519192" y="364308"/>
                </a:lnTo>
                <a:lnTo>
                  <a:pt x="4604460" y="341561"/>
                </a:lnTo>
                <a:lnTo>
                  <a:pt x="4689728" y="318460"/>
                </a:lnTo>
                <a:lnTo>
                  <a:pt x="4774996" y="295204"/>
                </a:lnTo>
                <a:lnTo>
                  <a:pt x="4860263" y="272046"/>
                </a:lnTo>
                <a:lnTo>
                  <a:pt x="4945531" y="249235"/>
                </a:lnTo>
                <a:lnTo>
                  <a:pt x="5030799" y="226949"/>
                </a:lnTo>
                <a:lnTo>
                  <a:pt x="5116067" y="205364"/>
                </a:lnTo>
                <a:lnTo>
                  <a:pt x="5201335" y="184751"/>
                </a:lnTo>
                <a:lnTo>
                  <a:pt x="5286602" y="165212"/>
                </a:lnTo>
                <a:lnTo>
                  <a:pt x="5371870" y="146897"/>
                </a:lnTo>
                <a:lnTo>
                  <a:pt x="5457138" y="129803"/>
                </a:lnTo>
                <a:lnTo>
                  <a:pt x="5542406" y="113854"/>
                </a:lnTo>
                <a:lnTo>
                  <a:pt x="5627673" y="99132"/>
                </a:lnTo>
                <a:lnTo>
                  <a:pt x="5712941" y="85553"/>
                </a:lnTo>
                <a:lnTo>
                  <a:pt x="5798209" y="73111"/>
                </a:lnTo>
                <a:lnTo>
                  <a:pt x="5883477" y="61761"/>
                </a:lnTo>
                <a:lnTo>
                  <a:pt x="5968745" y="51458"/>
                </a:lnTo>
                <a:lnTo>
                  <a:pt x="6054012" y="42274"/>
                </a:lnTo>
                <a:lnTo>
                  <a:pt x="6139280" y="34117"/>
                </a:lnTo>
                <a:lnTo>
                  <a:pt x="6224548" y="26987"/>
                </a:lnTo>
                <a:lnTo>
                  <a:pt x="6309816" y="20839"/>
                </a:lnTo>
                <a:lnTo>
                  <a:pt x="6395084" y="15588"/>
                </a:lnTo>
                <a:lnTo>
                  <a:pt x="6480351" y="11216"/>
                </a:lnTo>
                <a:lnTo>
                  <a:pt x="6565619" y="7568"/>
                </a:lnTo>
                <a:lnTo>
                  <a:pt x="6650887" y="4557"/>
                </a:lnTo>
                <a:lnTo>
                  <a:pt x="6736155" y="2073"/>
                </a:lnTo>
                <a:lnTo>
                  <a:pt x="6821423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94111" y="2006782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74" name="hfa: 15-й центиль"/>
          <p:cNvSpPr/>
          <p:nvPr/>
        </p:nvSpPr>
        <p:spPr>
          <a:xfrm>
            <a:off x="932688" y="2204386"/>
            <a:ext cx="6821423" cy="1337728"/>
          </a:xfrm>
          <a:custGeom>
            <a:avLst/>
            <a:gdLst/>
            <a:ahLst/>
            <a:cxnLst/>
            <a:rect l="l" t="t" r="r" b="b"/>
            <a:pathLst>
              <a:path w="6821423" h="1337728">
                <a:moveTo>
                  <a:pt x="0" y="1337728"/>
                </a:moveTo>
                <a:lnTo>
                  <a:pt x="85267" y="1308428"/>
                </a:lnTo>
                <a:lnTo>
                  <a:pt x="170535" y="1280524"/>
                </a:lnTo>
                <a:lnTo>
                  <a:pt x="255803" y="1254474"/>
                </a:lnTo>
                <a:lnTo>
                  <a:pt x="341071" y="1230115"/>
                </a:lnTo>
                <a:lnTo>
                  <a:pt x="426338" y="1206483"/>
                </a:lnTo>
                <a:lnTo>
                  <a:pt x="511606" y="1183809"/>
                </a:lnTo>
                <a:lnTo>
                  <a:pt x="596874" y="1161800"/>
                </a:lnTo>
                <a:lnTo>
                  <a:pt x="682142" y="1140523"/>
                </a:lnTo>
                <a:lnTo>
                  <a:pt x="767410" y="1119925"/>
                </a:lnTo>
                <a:lnTo>
                  <a:pt x="852677" y="1099805"/>
                </a:lnTo>
                <a:lnTo>
                  <a:pt x="937945" y="1080001"/>
                </a:lnTo>
                <a:lnTo>
                  <a:pt x="1023213" y="1060347"/>
                </a:lnTo>
                <a:lnTo>
                  <a:pt x="1108481" y="1040802"/>
                </a:lnTo>
                <a:lnTo>
                  <a:pt x="1193749" y="1021338"/>
                </a:lnTo>
                <a:lnTo>
                  <a:pt x="1279016" y="1004438"/>
                </a:lnTo>
                <a:lnTo>
                  <a:pt x="1364284" y="985272"/>
                </a:lnTo>
                <a:lnTo>
                  <a:pt x="1449552" y="966351"/>
                </a:lnTo>
                <a:lnTo>
                  <a:pt x="1534820" y="947820"/>
                </a:lnTo>
                <a:lnTo>
                  <a:pt x="1620087" y="929649"/>
                </a:lnTo>
                <a:lnTo>
                  <a:pt x="1705355" y="911847"/>
                </a:lnTo>
                <a:lnTo>
                  <a:pt x="1790623" y="894380"/>
                </a:lnTo>
                <a:lnTo>
                  <a:pt x="1875891" y="877113"/>
                </a:lnTo>
                <a:lnTo>
                  <a:pt x="1961159" y="859994"/>
                </a:lnTo>
                <a:lnTo>
                  <a:pt x="2046426" y="842981"/>
                </a:lnTo>
                <a:lnTo>
                  <a:pt x="2131694" y="826125"/>
                </a:lnTo>
                <a:lnTo>
                  <a:pt x="2216962" y="809441"/>
                </a:lnTo>
                <a:lnTo>
                  <a:pt x="2302230" y="792912"/>
                </a:lnTo>
                <a:lnTo>
                  <a:pt x="2387498" y="776561"/>
                </a:lnTo>
                <a:lnTo>
                  <a:pt x="2472765" y="760409"/>
                </a:lnTo>
                <a:lnTo>
                  <a:pt x="2558033" y="744445"/>
                </a:lnTo>
                <a:lnTo>
                  <a:pt x="2643301" y="728653"/>
                </a:lnTo>
                <a:lnTo>
                  <a:pt x="2728569" y="712991"/>
                </a:lnTo>
                <a:lnTo>
                  <a:pt x="2813836" y="697437"/>
                </a:lnTo>
                <a:lnTo>
                  <a:pt x="2899104" y="681926"/>
                </a:lnTo>
                <a:lnTo>
                  <a:pt x="2984372" y="666452"/>
                </a:lnTo>
                <a:lnTo>
                  <a:pt x="3069640" y="651023"/>
                </a:lnTo>
                <a:lnTo>
                  <a:pt x="3154908" y="635634"/>
                </a:lnTo>
                <a:lnTo>
                  <a:pt x="3240175" y="620310"/>
                </a:lnTo>
                <a:lnTo>
                  <a:pt x="3325443" y="605043"/>
                </a:lnTo>
                <a:lnTo>
                  <a:pt x="3410711" y="589786"/>
                </a:lnTo>
                <a:lnTo>
                  <a:pt x="3495979" y="574490"/>
                </a:lnTo>
                <a:lnTo>
                  <a:pt x="3581247" y="559082"/>
                </a:lnTo>
                <a:lnTo>
                  <a:pt x="3666514" y="543434"/>
                </a:lnTo>
                <a:lnTo>
                  <a:pt x="3751782" y="527466"/>
                </a:lnTo>
                <a:lnTo>
                  <a:pt x="3837050" y="511157"/>
                </a:lnTo>
                <a:lnTo>
                  <a:pt x="3922318" y="494449"/>
                </a:lnTo>
                <a:lnTo>
                  <a:pt x="4007586" y="477274"/>
                </a:lnTo>
                <a:lnTo>
                  <a:pt x="4092853" y="459584"/>
                </a:lnTo>
                <a:lnTo>
                  <a:pt x="4178121" y="441328"/>
                </a:lnTo>
                <a:lnTo>
                  <a:pt x="4263389" y="422440"/>
                </a:lnTo>
                <a:lnTo>
                  <a:pt x="4348657" y="402825"/>
                </a:lnTo>
                <a:lnTo>
                  <a:pt x="4433924" y="382488"/>
                </a:lnTo>
                <a:lnTo>
                  <a:pt x="4519192" y="361428"/>
                </a:lnTo>
                <a:lnTo>
                  <a:pt x="4604460" y="339798"/>
                </a:lnTo>
                <a:lnTo>
                  <a:pt x="4689728" y="317760"/>
                </a:lnTo>
                <a:lnTo>
                  <a:pt x="4774996" y="295527"/>
                </a:lnTo>
                <a:lnTo>
                  <a:pt x="4860263" y="273317"/>
                </a:lnTo>
                <a:lnTo>
                  <a:pt x="4945531" y="251396"/>
                </a:lnTo>
                <a:lnTo>
                  <a:pt x="5030799" y="229885"/>
                </a:lnTo>
                <a:lnTo>
                  <a:pt x="5116067" y="209010"/>
                </a:lnTo>
                <a:lnTo>
                  <a:pt x="5201335" y="188976"/>
                </a:lnTo>
                <a:lnTo>
                  <a:pt x="5286602" y="169911"/>
                </a:lnTo>
                <a:lnTo>
                  <a:pt x="5371870" y="151958"/>
                </a:lnTo>
                <a:lnTo>
                  <a:pt x="5457138" y="135116"/>
                </a:lnTo>
                <a:lnTo>
                  <a:pt x="5542406" y="119335"/>
                </a:lnTo>
                <a:lnTo>
                  <a:pt x="5627673" y="104648"/>
                </a:lnTo>
                <a:lnTo>
                  <a:pt x="5712941" y="91042"/>
                </a:lnTo>
                <a:lnTo>
                  <a:pt x="5798209" y="78486"/>
                </a:lnTo>
                <a:lnTo>
                  <a:pt x="5883477" y="66947"/>
                </a:lnTo>
                <a:lnTo>
                  <a:pt x="5968745" y="56405"/>
                </a:lnTo>
                <a:lnTo>
                  <a:pt x="6054012" y="46897"/>
                </a:lnTo>
                <a:lnTo>
                  <a:pt x="6139280" y="38364"/>
                </a:lnTo>
                <a:lnTo>
                  <a:pt x="6224548" y="30807"/>
                </a:lnTo>
                <a:lnTo>
                  <a:pt x="6309816" y="24182"/>
                </a:lnTo>
                <a:lnTo>
                  <a:pt x="6395084" y="18440"/>
                </a:lnTo>
                <a:lnTo>
                  <a:pt x="6480351" y="13535"/>
                </a:lnTo>
                <a:lnTo>
                  <a:pt x="6565619" y="9318"/>
                </a:lnTo>
                <a:lnTo>
                  <a:pt x="6650887" y="5743"/>
                </a:lnTo>
                <a:lnTo>
                  <a:pt x="6736155" y="2676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94111" y="212938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76" name="hfa: 3-й центиль"/>
          <p:cNvSpPr/>
          <p:nvPr/>
        </p:nvSpPr>
        <p:spPr>
          <a:xfrm>
            <a:off x="932688" y="2304387"/>
            <a:ext cx="6821423" cy="1278643"/>
          </a:xfrm>
          <a:custGeom>
            <a:avLst/>
            <a:gdLst/>
            <a:ahLst/>
            <a:cxnLst/>
            <a:rect l="l" t="t" r="r" b="b"/>
            <a:pathLst>
              <a:path w="6821423" h="1278643">
                <a:moveTo>
                  <a:pt x="0" y="1278643"/>
                </a:moveTo>
                <a:lnTo>
                  <a:pt x="85267" y="1251255"/>
                </a:lnTo>
                <a:lnTo>
                  <a:pt x="170535" y="1225217"/>
                </a:lnTo>
                <a:lnTo>
                  <a:pt x="255803" y="1200923"/>
                </a:lnTo>
                <a:lnTo>
                  <a:pt x="341071" y="1178198"/>
                </a:lnTo>
                <a:lnTo>
                  <a:pt x="426338" y="1156107"/>
                </a:lnTo>
                <a:lnTo>
                  <a:pt x="511606" y="1134878"/>
                </a:lnTo>
                <a:lnTo>
                  <a:pt x="596874" y="1114222"/>
                </a:lnTo>
                <a:lnTo>
                  <a:pt x="682142" y="1094227"/>
                </a:lnTo>
                <a:lnTo>
                  <a:pt x="767410" y="1074868"/>
                </a:lnTo>
                <a:lnTo>
                  <a:pt x="852677" y="1055947"/>
                </a:lnTo>
                <a:lnTo>
                  <a:pt x="937945" y="1037330"/>
                </a:lnTo>
                <a:lnTo>
                  <a:pt x="1023213" y="1018857"/>
                </a:lnTo>
                <a:lnTo>
                  <a:pt x="1108481" y="1000491"/>
                </a:lnTo>
                <a:lnTo>
                  <a:pt x="1193749" y="982200"/>
                </a:lnTo>
                <a:lnTo>
                  <a:pt x="1279016" y="965483"/>
                </a:lnTo>
                <a:lnTo>
                  <a:pt x="1364284" y="947318"/>
                </a:lnTo>
                <a:lnTo>
                  <a:pt x="1449552" y="929381"/>
                </a:lnTo>
                <a:lnTo>
                  <a:pt x="1534820" y="911838"/>
                </a:lnTo>
                <a:lnTo>
                  <a:pt x="1620087" y="894639"/>
                </a:lnTo>
                <a:lnTo>
                  <a:pt x="1705355" y="877798"/>
                </a:lnTo>
                <a:lnTo>
                  <a:pt x="1790623" y="861286"/>
                </a:lnTo>
                <a:lnTo>
                  <a:pt x="1875891" y="844974"/>
                </a:lnTo>
                <a:lnTo>
                  <a:pt x="1961159" y="828823"/>
                </a:lnTo>
                <a:lnTo>
                  <a:pt x="2046426" y="812764"/>
                </a:lnTo>
                <a:lnTo>
                  <a:pt x="2131694" y="796881"/>
                </a:lnTo>
                <a:lnTo>
                  <a:pt x="2216962" y="781168"/>
                </a:lnTo>
                <a:lnTo>
                  <a:pt x="2302230" y="765611"/>
                </a:lnTo>
                <a:lnTo>
                  <a:pt x="2387498" y="750230"/>
                </a:lnTo>
                <a:lnTo>
                  <a:pt x="2472765" y="735048"/>
                </a:lnTo>
                <a:lnTo>
                  <a:pt x="2558033" y="720052"/>
                </a:lnTo>
                <a:lnTo>
                  <a:pt x="2643301" y="705226"/>
                </a:lnTo>
                <a:lnTo>
                  <a:pt x="2728569" y="690531"/>
                </a:lnTo>
                <a:lnTo>
                  <a:pt x="2813836" y="675964"/>
                </a:lnTo>
                <a:lnTo>
                  <a:pt x="2899104" y="661425"/>
                </a:lnTo>
                <a:lnTo>
                  <a:pt x="2984372" y="646929"/>
                </a:lnTo>
                <a:lnTo>
                  <a:pt x="3069640" y="632480"/>
                </a:lnTo>
                <a:lnTo>
                  <a:pt x="3154908" y="618056"/>
                </a:lnTo>
                <a:lnTo>
                  <a:pt x="3240175" y="603702"/>
                </a:lnTo>
                <a:lnTo>
                  <a:pt x="3325443" y="589406"/>
                </a:lnTo>
                <a:lnTo>
                  <a:pt x="3410711" y="575106"/>
                </a:lnTo>
                <a:lnTo>
                  <a:pt x="3495979" y="560766"/>
                </a:lnTo>
                <a:lnTo>
                  <a:pt x="3581247" y="546323"/>
                </a:lnTo>
                <a:lnTo>
                  <a:pt x="3666514" y="531632"/>
                </a:lnTo>
                <a:lnTo>
                  <a:pt x="3751782" y="516615"/>
                </a:lnTo>
                <a:lnTo>
                  <a:pt x="3837050" y="501255"/>
                </a:lnTo>
                <a:lnTo>
                  <a:pt x="3922318" y="485509"/>
                </a:lnTo>
                <a:lnTo>
                  <a:pt x="4007586" y="469278"/>
                </a:lnTo>
                <a:lnTo>
                  <a:pt x="4092853" y="452533"/>
                </a:lnTo>
                <a:lnTo>
                  <a:pt x="4178121" y="435234"/>
                </a:lnTo>
                <a:lnTo>
                  <a:pt x="4263389" y="417293"/>
                </a:lnTo>
                <a:lnTo>
                  <a:pt x="4348657" y="398621"/>
                </a:lnTo>
                <a:lnTo>
                  <a:pt x="4433924" y="379216"/>
                </a:lnTo>
                <a:lnTo>
                  <a:pt x="4519192" y="359078"/>
                </a:lnTo>
                <a:lnTo>
                  <a:pt x="4604460" y="338360"/>
                </a:lnTo>
                <a:lnTo>
                  <a:pt x="4689728" y="317189"/>
                </a:lnTo>
                <a:lnTo>
                  <a:pt x="4774996" y="295790"/>
                </a:lnTo>
                <a:lnTo>
                  <a:pt x="4860263" y="274353"/>
                </a:lnTo>
                <a:lnTo>
                  <a:pt x="4945531" y="253158"/>
                </a:lnTo>
                <a:lnTo>
                  <a:pt x="5030799" y="232280"/>
                </a:lnTo>
                <a:lnTo>
                  <a:pt x="5116067" y="211982"/>
                </a:lnTo>
                <a:lnTo>
                  <a:pt x="5201335" y="192422"/>
                </a:lnTo>
                <a:lnTo>
                  <a:pt x="5286602" y="173742"/>
                </a:lnTo>
                <a:lnTo>
                  <a:pt x="5371870" y="156084"/>
                </a:lnTo>
                <a:lnTo>
                  <a:pt x="5457138" y="139448"/>
                </a:lnTo>
                <a:lnTo>
                  <a:pt x="5542406" y="123804"/>
                </a:lnTo>
                <a:lnTo>
                  <a:pt x="5627673" y="109146"/>
                </a:lnTo>
                <a:lnTo>
                  <a:pt x="5712941" y="95519"/>
                </a:lnTo>
                <a:lnTo>
                  <a:pt x="5798209" y="82869"/>
                </a:lnTo>
                <a:lnTo>
                  <a:pt x="5883477" y="71176"/>
                </a:lnTo>
                <a:lnTo>
                  <a:pt x="5968745" y="60440"/>
                </a:lnTo>
                <a:lnTo>
                  <a:pt x="6054012" y="50668"/>
                </a:lnTo>
                <a:lnTo>
                  <a:pt x="6139280" y="41828"/>
                </a:lnTo>
                <a:lnTo>
                  <a:pt x="6224548" y="33921"/>
                </a:lnTo>
                <a:lnTo>
                  <a:pt x="6309816" y="26909"/>
                </a:lnTo>
                <a:lnTo>
                  <a:pt x="6395084" y="20766"/>
                </a:lnTo>
                <a:lnTo>
                  <a:pt x="6480351" y="15425"/>
                </a:lnTo>
                <a:lnTo>
                  <a:pt x="6565619" y="10744"/>
                </a:lnTo>
                <a:lnTo>
                  <a:pt x="6650887" y="6710"/>
                </a:lnTo>
                <a:lnTo>
                  <a:pt x="6736155" y="3167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94111" y="2229387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78" name="hfa: пример"/>
          <p:cNvSpPr/>
          <p:nvPr/>
        </p:nvSpPr>
        <p:spPr>
          <a:xfrm>
            <a:off x="932688" y="2176457"/>
            <a:ext cx="6821423" cy="1330019"/>
          </a:xfrm>
          <a:custGeom>
            <a:avLst/>
            <a:gdLst/>
            <a:ahLst/>
            <a:cxnLst/>
            <a:rect l="l" t="t" r="r" b="b"/>
            <a:pathLst>
              <a:path w="6821423" h="1330019">
                <a:moveTo>
                  <a:pt x="0" y="1330019"/>
                </a:moveTo>
                <a:lnTo>
                  <a:pt x="35528" y="1317352"/>
                </a:lnTo>
                <a:lnTo>
                  <a:pt x="71056" y="1305027"/>
                </a:lnTo>
                <a:lnTo>
                  <a:pt x="106584" y="1292634"/>
                </a:lnTo>
                <a:lnTo>
                  <a:pt x="142112" y="1280992"/>
                </a:lnTo>
                <a:lnTo>
                  <a:pt x="177641" y="1269303"/>
                </a:lnTo>
                <a:lnTo>
                  <a:pt x="213169" y="1258340"/>
                </a:lnTo>
                <a:lnTo>
                  <a:pt x="248697" y="1247315"/>
                </a:lnTo>
                <a:lnTo>
                  <a:pt x="284225" y="1236958"/>
                </a:lnTo>
                <a:lnTo>
                  <a:pt x="319754" y="1226854"/>
                </a:lnTo>
                <a:lnTo>
                  <a:pt x="355282" y="1216623"/>
                </a:lnTo>
                <a:lnTo>
                  <a:pt x="390810" y="1206928"/>
                </a:lnTo>
                <a:lnTo>
                  <a:pt x="426338" y="1197061"/>
                </a:lnTo>
                <a:lnTo>
                  <a:pt x="532923" y="1170073"/>
                </a:lnTo>
                <a:lnTo>
                  <a:pt x="639508" y="1144431"/>
                </a:lnTo>
                <a:lnTo>
                  <a:pt x="746093" y="1119826"/>
                </a:lnTo>
                <a:lnTo>
                  <a:pt x="852677" y="1096550"/>
                </a:lnTo>
                <a:lnTo>
                  <a:pt x="959262" y="1073914"/>
                </a:lnTo>
                <a:lnTo>
                  <a:pt x="1065847" y="1051352"/>
                </a:lnTo>
                <a:lnTo>
                  <a:pt x="1172432" y="1029368"/>
                </a:lnTo>
                <a:lnTo>
                  <a:pt x="1279016" y="1010502"/>
                </a:lnTo>
                <a:lnTo>
                  <a:pt x="1385601" y="989197"/>
                </a:lnTo>
                <a:lnTo>
                  <a:pt x="1492186" y="968472"/>
                </a:lnTo>
                <a:lnTo>
                  <a:pt x="1598771" y="948461"/>
                </a:lnTo>
                <a:lnTo>
                  <a:pt x="1705355" y="929161"/>
                </a:lnTo>
                <a:lnTo>
                  <a:pt x="1811940" y="909156"/>
                </a:lnTo>
                <a:lnTo>
                  <a:pt x="1918525" y="889509"/>
                </a:lnTo>
                <a:lnTo>
                  <a:pt x="2025109" y="870124"/>
                </a:lnTo>
                <a:lnTo>
                  <a:pt x="2131694" y="851040"/>
                </a:lnTo>
                <a:lnTo>
                  <a:pt x="2238279" y="832284"/>
                </a:lnTo>
                <a:lnTo>
                  <a:pt x="2344864" y="813851"/>
                </a:lnTo>
                <a:lnTo>
                  <a:pt x="2451448" y="795787"/>
                </a:lnTo>
                <a:lnTo>
                  <a:pt x="2558033" y="778101"/>
                </a:lnTo>
                <a:lnTo>
                  <a:pt x="2664618" y="760745"/>
                </a:lnTo>
                <a:lnTo>
                  <a:pt x="2771203" y="743672"/>
                </a:lnTo>
                <a:lnTo>
                  <a:pt x="2877787" y="726766"/>
                </a:lnTo>
                <a:lnTo>
                  <a:pt x="2984372" y="710001"/>
                </a:lnTo>
                <a:lnTo>
                  <a:pt x="3055429" y="698899"/>
                </a:lnTo>
                <a:lnTo>
                  <a:pt x="3126485" y="687849"/>
                </a:lnTo>
                <a:lnTo>
                  <a:pt x="3197542" y="676902"/>
                </a:lnTo>
                <a:lnTo>
                  <a:pt x="3268598" y="666006"/>
                </a:lnTo>
                <a:lnTo>
                  <a:pt x="3339655" y="655177"/>
                </a:lnTo>
                <a:lnTo>
                  <a:pt x="3410711" y="644372"/>
                </a:lnTo>
                <a:lnTo>
                  <a:pt x="3481767" y="633580"/>
                </a:lnTo>
                <a:lnTo>
                  <a:pt x="3552824" y="622753"/>
                </a:lnTo>
                <a:lnTo>
                  <a:pt x="3623880" y="611807"/>
                </a:lnTo>
                <a:lnTo>
                  <a:pt x="3694937" y="600719"/>
                </a:lnTo>
                <a:lnTo>
                  <a:pt x="3765993" y="589419"/>
                </a:lnTo>
                <a:lnTo>
                  <a:pt x="3837050" y="577898"/>
                </a:lnTo>
                <a:lnTo>
                  <a:pt x="3908106" y="569739"/>
                </a:lnTo>
                <a:lnTo>
                  <a:pt x="3979163" y="561322"/>
                </a:lnTo>
                <a:lnTo>
                  <a:pt x="4050219" y="552684"/>
                </a:lnTo>
                <a:lnTo>
                  <a:pt x="4121276" y="543758"/>
                </a:lnTo>
                <a:lnTo>
                  <a:pt x="4192332" y="534511"/>
                </a:lnTo>
                <a:lnTo>
                  <a:pt x="4263389" y="524906"/>
                </a:lnTo>
                <a:lnTo>
                  <a:pt x="4334445" y="514914"/>
                </a:lnTo>
                <a:lnTo>
                  <a:pt x="4405502" y="504472"/>
                </a:lnTo>
                <a:lnTo>
                  <a:pt x="4476558" y="493616"/>
                </a:lnTo>
                <a:lnTo>
                  <a:pt x="4547615" y="482398"/>
                </a:lnTo>
                <a:lnTo>
                  <a:pt x="4618671" y="470869"/>
                </a:lnTo>
                <a:lnTo>
                  <a:pt x="4689728" y="459122"/>
                </a:lnTo>
                <a:lnTo>
                  <a:pt x="4725256" y="453212"/>
                </a:lnTo>
                <a:lnTo>
                  <a:pt x="4760784" y="447311"/>
                </a:lnTo>
                <a:lnTo>
                  <a:pt x="4796313" y="441438"/>
                </a:lnTo>
                <a:lnTo>
                  <a:pt x="4831841" y="435559"/>
                </a:lnTo>
                <a:lnTo>
                  <a:pt x="4867369" y="429687"/>
                </a:lnTo>
                <a:lnTo>
                  <a:pt x="4902897" y="423945"/>
                </a:lnTo>
                <a:lnTo>
                  <a:pt x="4938426" y="418232"/>
                </a:lnTo>
                <a:lnTo>
                  <a:pt x="4973954" y="412558"/>
                </a:lnTo>
                <a:lnTo>
                  <a:pt x="5009482" y="406987"/>
                </a:lnTo>
                <a:lnTo>
                  <a:pt x="5045010" y="401533"/>
                </a:lnTo>
                <a:lnTo>
                  <a:pt x="5080539" y="396211"/>
                </a:lnTo>
                <a:lnTo>
                  <a:pt x="5116067" y="390973"/>
                </a:lnTo>
                <a:lnTo>
                  <a:pt x="5151595" y="378710"/>
                </a:lnTo>
                <a:lnTo>
                  <a:pt x="5187123" y="366642"/>
                </a:lnTo>
                <a:lnTo>
                  <a:pt x="5222651" y="354667"/>
                </a:lnTo>
                <a:lnTo>
                  <a:pt x="5258180" y="342854"/>
                </a:lnTo>
                <a:lnTo>
                  <a:pt x="5293708" y="331157"/>
                </a:lnTo>
                <a:lnTo>
                  <a:pt x="5329236" y="319639"/>
                </a:lnTo>
                <a:lnTo>
                  <a:pt x="5364764" y="308303"/>
                </a:lnTo>
                <a:lnTo>
                  <a:pt x="5400293" y="297146"/>
                </a:lnTo>
                <a:lnTo>
                  <a:pt x="5435821" y="286114"/>
                </a:lnTo>
                <a:lnTo>
                  <a:pt x="5471349" y="275259"/>
                </a:lnTo>
                <a:lnTo>
                  <a:pt x="5506877" y="264581"/>
                </a:lnTo>
                <a:lnTo>
                  <a:pt x="5542406" y="254083"/>
                </a:lnTo>
                <a:lnTo>
                  <a:pt x="5577934" y="241655"/>
                </a:lnTo>
                <a:lnTo>
                  <a:pt x="5613462" y="229409"/>
                </a:lnTo>
                <a:lnTo>
                  <a:pt x="5648990" y="217350"/>
                </a:lnTo>
                <a:lnTo>
                  <a:pt x="5684519" y="205477"/>
                </a:lnTo>
                <a:lnTo>
                  <a:pt x="5720047" y="193786"/>
                </a:lnTo>
                <a:lnTo>
                  <a:pt x="5755575" y="182278"/>
                </a:lnTo>
                <a:lnTo>
                  <a:pt x="5791103" y="170905"/>
                </a:lnTo>
                <a:lnTo>
                  <a:pt x="5826632" y="159754"/>
                </a:lnTo>
                <a:lnTo>
                  <a:pt x="5862160" y="148742"/>
                </a:lnTo>
                <a:lnTo>
                  <a:pt x="5897688" y="137911"/>
                </a:lnTo>
                <a:lnTo>
                  <a:pt x="5933216" y="127301"/>
                </a:lnTo>
                <a:lnTo>
                  <a:pt x="5968745" y="116838"/>
                </a:lnTo>
                <a:lnTo>
                  <a:pt x="6039801" y="103640"/>
                </a:lnTo>
                <a:lnTo>
                  <a:pt x="6110858" y="91157"/>
                </a:lnTo>
                <a:lnTo>
                  <a:pt x="6181914" y="79374"/>
                </a:lnTo>
                <a:lnTo>
                  <a:pt x="6252971" y="68275"/>
                </a:lnTo>
                <a:lnTo>
                  <a:pt x="6324027" y="57838"/>
                </a:lnTo>
                <a:lnTo>
                  <a:pt x="6395084" y="48064"/>
                </a:lnTo>
                <a:lnTo>
                  <a:pt x="6466140" y="38883"/>
                </a:lnTo>
                <a:lnTo>
                  <a:pt x="6537197" y="30243"/>
                </a:lnTo>
                <a:lnTo>
                  <a:pt x="6608253" y="22087"/>
                </a:lnTo>
                <a:lnTo>
                  <a:pt x="6679310" y="14378"/>
                </a:lnTo>
                <a:lnTo>
                  <a:pt x="6750366" y="7034"/>
                </a:lnTo>
                <a:lnTo>
                  <a:pt x="6821423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hfa: точка 2"/>
          <p:cNvSpPr/>
          <p:nvPr/>
        </p:nvSpPr>
        <p:spPr>
          <a:xfrm>
            <a:off x="874688" y="344847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hfa: точка 3"/>
          <p:cNvSpPr/>
          <p:nvPr/>
        </p:nvSpPr>
        <p:spPr>
          <a:xfrm>
            <a:off x="1301026" y="3315518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hfa: точка 6"/>
          <p:cNvSpPr/>
          <p:nvPr/>
        </p:nvSpPr>
        <p:spPr>
          <a:xfrm>
            <a:off x="2580043" y="3047618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hfa: точка 9"/>
          <p:cNvSpPr/>
          <p:nvPr/>
        </p:nvSpPr>
        <p:spPr>
          <a:xfrm>
            <a:off x="3859060" y="2828458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hfa: точка 11"/>
          <p:cNvSpPr/>
          <p:nvPr/>
        </p:nvSpPr>
        <p:spPr>
          <a:xfrm>
            <a:off x="4711738" y="2696355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hfa: точка 13"/>
          <p:cNvSpPr/>
          <p:nvPr/>
        </p:nvSpPr>
        <p:spPr>
          <a:xfrm>
            <a:off x="5564416" y="257757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hfa: точка 14"/>
          <p:cNvSpPr/>
          <p:nvPr/>
        </p:nvSpPr>
        <p:spPr>
          <a:xfrm>
            <a:off x="5990755" y="2509430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hfa: точка 15"/>
          <p:cNvSpPr/>
          <p:nvPr/>
        </p:nvSpPr>
        <p:spPr>
          <a:xfrm>
            <a:off x="6417094" y="2372540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hfa: точка 16"/>
          <p:cNvSpPr/>
          <p:nvPr/>
        </p:nvSpPr>
        <p:spPr>
          <a:xfrm>
            <a:off x="6843433" y="2235295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hfa: точка 18"/>
          <p:cNvSpPr/>
          <p:nvPr/>
        </p:nvSpPr>
        <p:spPr>
          <a:xfrm>
            <a:off x="7696111" y="2118457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событие 3"/>
          <p:cNvSpPr/>
          <p:nvPr/>
        </p:nvSpPr>
        <p:spPr>
          <a:xfrm>
            <a:off x="1359026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09026" y="180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3–9 лет: рост в СО медленно снижается</a:t>
            </a:r>
          </a:p>
        </p:txBody>
      </p:sp>
      <p:sp>
        <p:nvSpPr>
          <p:cNvPr id="91" name="событие 14"/>
          <p:cNvSpPr/>
          <p:nvPr/>
        </p:nvSpPr>
        <p:spPr>
          <a:xfrm>
            <a:off x="604875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48755" y="1998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14 лет: яички меньше 4 мл</a:t>
            </a:r>
          </a:p>
        </p:txBody>
      </p:sp>
      <p:sp>
        <p:nvSpPr>
          <p:cNvPr id="93" name="событие 15"/>
          <p:cNvSpPr/>
          <p:nvPr/>
        </p:nvSpPr>
        <p:spPr>
          <a:xfrm>
            <a:off x="6475094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075094" y="219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15 лет: пубертат, поздний скачок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1533080"/>
            <a:ext cx="7498079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 для возраста, мальчики, см</a:t>
            </a:r>
          </a:p>
        </p:txBody>
      </p:sp>
      <p:sp>
        <p:nvSpPr>
          <p:cNvPr id="96" name="bfa: сетка 12"/>
          <p:cNvSpPr/>
          <p:nvPr/>
        </p:nvSpPr>
        <p:spPr>
          <a:xfrm>
            <a:off x="932688" y="51663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508636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98" name="bfa: сетка 14"/>
          <p:cNvSpPr/>
          <p:nvPr/>
        </p:nvSpPr>
        <p:spPr>
          <a:xfrm>
            <a:off x="932688" y="506842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bfa: сетка 16"/>
          <p:cNvSpPr/>
          <p:nvPr/>
        </p:nvSpPr>
        <p:spPr>
          <a:xfrm>
            <a:off x="932688" y="497049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8640" y="489049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01" name="bfa: сетка 18"/>
          <p:cNvSpPr/>
          <p:nvPr/>
        </p:nvSpPr>
        <p:spPr>
          <a:xfrm>
            <a:off x="932688" y="4872563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bfa: сетка 20"/>
          <p:cNvSpPr/>
          <p:nvPr/>
        </p:nvSpPr>
        <p:spPr>
          <a:xfrm>
            <a:off x="932688" y="477463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8640" y="469463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  <p:sp>
        <p:nvSpPr>
          <p:cNvPr id="104" name="bfa: сетка 22"/>
          <p:cNvSpPr/>
          <p:nvPr/>
        </p:nvSpPr>
        <p:spPr>
          <a:xfrm>
            <a:off x="932688" y="467669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bfa: сетка 24"/>
          <p:cNvSpPr/>
          <p:nvPr/>
        </p:nvSpPr>
        <p:spPr>
          <a:xfrm>
            <a:off x="932688" y="457876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8640" y="449876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  <p:sp>
        <p:nvSpPr>
          <p:cNvPr id="107" name="bfa: сетка 26"/>
          <p:cNvSpPr/>
          <p:nvPr/>
        </p:nvSpPr>
        <p:spPr>
          <a:xfrm>
            <a:off x="932688" y="448083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bfa: сетка 28"/>
          <p:cNvSpPr/>
          <p:nvPr/>
        </p:nvSpPr>
        <p:spPr>
          <a:xfrm>
            <a:off x="932688" y="438290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48640" y="430290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28</a:t>
            </a:r>
          </a:p>
        </p:txBody>
      </p:sp>
      <p:sp>
        <p:nvSpPr>
          <p:cNvPr id="110" name="bfa: сетка 30"/>
          <p:cNvSpPr/>
          <p:nvPr/>
        </p:nvSpPr>
        <p:spPr>
          <a:xfrm>
            <a:off x="932688" y="428496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bfa: сетка 32"/>
          <p:cNvSpPr/>
          <p:nvPr/>
        </p:nvSpPr>
        <p:spPr>
          <a:xfrm>
            <a:off x="932688" y="418703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8640" y="410703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32</a:t>
            </a:r>
          </a:p>
        </p:txBody>
      </p:sp>
      <p:sp>
        <p:nvSpPr>
          <p:cNvPr id="113" name="bfa: год 2"/>
          <p:cNvSpPr/>
          <p:nvPr/>
        </p:nvSpPr>
        <p:spPr>
          <a:xfrm>
            <a:off x="932688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82688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15" name="bfa: год 3"/>
          <p:cNvSpPr/>
          <p:nvPr/>
        </p:nvSpPr>
        <p:spPr>
          <a:xfrm>
            <a:off x="1359026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bfa: год 4"/>
          <p:cNvSpPr/>
          <p:nvPr/>
        </p:nvSpPr>
        <p:spPr>
          <a:xfrm>
            <a:off x="178536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635365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18" name="bfa: год 5"/>
          <p:cNvSpPr/>
          <p:nvPr/>
        </p:nvSpPr>
        <p:spPr>
          <a:xfrm>
            <a:off x="2211704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bfa: год 6"/>
          <p:cNvSpPr/>
          <p:nvPr/>
        </p:nvSpPr>
        <p:spPr>
          <a:xfrm>
            <a:off x="263804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488043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21" name="bfa: год 7"/>
          <p:cNvSpPr/>
          <p:nvPr/>
        </p:nvSpPr>
        <p:spPr>
          <a:xfrm>
            <a:off x="3064382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bfa: год 8"/>
          <p:cNvSpPr/>
          <p:nvPr/>
        </p:nvSpPr>
        <p:spPr>
          <a:xfrm>
            <a:off x="349072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34072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24" name="bfa: год 9"/>
          <p:cNvSpPr/>
          <p:nvPr/>
        </p:nvSpPr>
        <p:spPr>
          <a:xfrm>
            <a:off x="3917060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bfa: год 10"/>
          <p:cNvSpPr/>
          <p:nvPr/>
        </p:nvSpPr>
        <p:spPr>
          <a:xfrm>
            <a:off x="434339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193399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27" name="bfa: год 11"/>
          <p:cNvSpPr/>
          <p:nvPr/>
        </p:nvSpPr>
        <p:spPr>
          <a:xfrm>
            <a:off x="4769738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bfa: год 12"/>
          <p:cNvSpPr/>
          <p:nvPr/>
        </p:nvSpPr>
        <p:spPr>
          <a:xfrm>
            <a:off x="5196077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46077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30" name="bfa: год 13"/>
          <p:cNvSpPr/>
          <p:nvPr/>
        </p:nvSpPr>
        <p:spPr>
          <a:xfrm>
            <a:off x="5622416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bfa: год 14"/>
          <p:cNvSpPr/>
          <p:nvPr/>
        </p:nvSpPr>
        <p:spPr>
          <a:xfrm>
            <a:off x="604875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898755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33" name="bfa: год 15"/>
          <p:cNvSpPr/>
          <p:nvPr/>
        </p:nvSpPr>
        <p:spPr>
          <a:xfrm>
            <a:off x="6475094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bfa: год 16"/>
          <p:cNvSpPr/>
          <p:nvPr/>
        </p:nvSpPr>
        <p:spPr>
          <a:xfrm>
            <a:off x="690143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751433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36" name="bfa: год 17"/>
          <p:cNvSpPr/>
          <p:nvPr/>
        </p:nvSpPr>
        <p:spPr>
          <a:xfrm>
            <a:off x="7327772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bfa: год 18"/>
          <p:cNvSpPr/>
          <p:nvPr/>
        </p:nvSpPr>
        <p:spPr>
          <a:xfrm>
            <a:off x="775411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60411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139" name="bfa: ось"/>
          <p:cNvSpPr/>
          <p:nvPr/>
        </p:nvSpPr>
        <p:spPr>
          <a:xfrm>
            <a:off x="932688" y="51663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bfa: полоса 3–97"/>
          <p:cNvSpPr/>
          <p:nvPr/>
        </p:nvSpPr>
        <p:spPr>
          <a:xfrm>
            <a:off x="932688" y="4351143"/>
            <a:ext cx="6821423" cy="764398"/>
          </a:xfrm>
          <a:custGeom>
            <a:avLst/>
            <a:gdLst/>
            <a:ahLst/>
            <a:cxnLst/>
            <a:rect l="l" t="t" r="r" b="b"/>
            <a:pathLst>
              <a:path w="6821423" h="764398">
                <a:moveTo>
                  <a:pt x="0" y="488292"/>
                </a:moveTo>
                <a:lnTo>
                  <a:pt x="85267" y="494136"/>
                </a:lnTo>
                <a:lnTo>
                  <a:pt x="170535" y="499583"/>
                </a:lnTo>
                <a:lnTo>
                  <a:pt x="255803" y="504534"/>
                </a:lnTo>
                <a:lnTo>
                  <a:pt x="341071" y="508977"/>
                </a:lnTo>
                <a:lnTo>
                  <a:pt x="426338" y="512961"/>
                </a:lnTo>
                <a:lnTo>
                  <a:pt x="511606" y="516265"/>
                </a:lnTo>
                <a:lnTo>
                  <a:pt x="596874" y="518830"/>
                </a:lnTo>
                <a:lnTo>
                  <a:pt x="682142" y="520624"/>
                </a:lnTo>
                <a:lnTo>
                  <a:pt x="767410" y="521706"/>
                </a:lnTo>
                <a:lnTo>
                  <a:pt x="852677" y="522226"/>
                </a:lnTo>
                <a:lnTo>
                  <a:pt x="937945" y="522214"/>
                </a:lnTo>
                <a:lnTo>
                  <a:pt x="1023213" y="521742"/>
                </a:lnTo>
                <a:lnTo>
                  <a:pt x="1108481" y="520852"/>
                </a:lnTo>
                <a:lnTo>
                  <a:pt x="1193749" y="519560"/>
                </a:lnTo>
                <a:lnTo>
                  <a:pt x="1279016" y="519368"/>
                </a:lnTo>
                <a:lnTo>
                  <a:pt x="1364284" y="517934"/>
                </a:lnTo>
                <a:lnTo>
                  <a:pt x="1449552" y="515992"/>
                </a:lnTo>
                <a:lnTo>
                  <a:pt x="1534820" y="513536"/>
                </a:lnTo>
                <a:lnTo>
                  <a:pt x="1620087" y="510579"/>
                </a:lnTo>
                <a:lnTo>
                  <a:pt x="1705355" y="507157"/>
                </a:lnTo>
                <a:lnTo>
                  <a:pt x="1790623" y="503306"/>
                </a:lnTo>
                <a:lnTo>
                  <a:pt x="1875891" y="499092"/>
                </a:lnTo>
                <a:lnTo>
                  <a:pt x="1961159" y="494505"/>
                </a:lnTo>
                <a:lnTo>
                  <a:pt x="2046426" y="489616"/>
                </a:lnTo>
                <a:lnTo>
                  <a:pt x="2131694" y="484403"/>
                </a:lnTo>
                <a:lnTo>
                  <a:pt x="2216962" y="478919"/>
                </a:lnTo>
                <a:lnTo>
                  <a:pt x="2302230" y="473132"/>
                </a:lnTo>
                <a:lnTo>
                  <a:pt x="2387498" y="467109"/>
                </a:lnTo>
                <a:lnTo>
                  <a:pt x="2472765" y="460811"/>
                </a:lnTo>
                <a:lnTo>
                  <a:pt x="2558033" y="454267"/>
                </a:lnTo>
                <a:lnTo>
                  <a:pt x="2643301" y="447455"/>
                </a:lnTo>
                <a:lnTo>
                  <a:pt x="2728569" y="440429"/>
                </a:lnTo>
                <a:lnTo>
                  <a:pt x="2813836" y="433161"/>
                </a:lnTo>
                <a:lnTo>
                  <a:pt x="2899104" y="425678"/>
                </a:lnTo>
                <a:lnTo>
                  <a:pt x="2984372" y="417957"/>
                </a:lnTo>
                <a:lnTo>
                  <a:pt x="3069640" y="409958"/>
                </a:lnTo>
                <a:lnTo>
                  <a:pt x="3154908" y="401671"/>
                </a:lnTo>
                <a:lnTo>
                  <a:pt x="3240175" y="393125"/>
                </a:lnTo>
                <a:lnTo>
                  <a:pt x="3325443" y="384313"/>
                </a:lnTo>
                <a:lnTo>
                  <a:pt x="3410711" y="375230"/>
                </a:lnTo>
                <a:lnTo>
                  <a:pt x="3495979" y="365942"/>
                </a:lnTo>
                <a:lnTo>
                  <a:pt x="3581247" y="356425"/>
                </a:lnTo>
                <a:lnTo>
                  <a:pt x="3666514" y="346676"/>
                </a:lnTo>
                <a:lnTo>
                  <a:pt x="3751782" y="336741"/>
                </a:lnTo>
                <a:lnTo>
                  <a:pt x="3837050" y="326654"/>
                </a:lnTo>
                <a:lnTo>
                  <a:pt x="3922318" y="316399"/>
                </a:lnTo>
                <a:lnTo>
                  <a:pt x="4007586" y="306026"/>
                </a:lnTo>
                <a:lnTo>
                  <a:pt x="4092853" y="295502"/>
                </a:lnTo>
                <a:lnTo>
                  <a:pt x="4178121" y="284873"/>
                </a:lnTo>
                <a:lnTo>
                  <a:pt x="4263389" y="274092"/>
                </a:lnTo>
                <a:lnTo>
                  <a:pt x="4348657" y="263211"/>
                </a:lnTo>
                <a:lnTo>
                  <a:pt x="4433924" y="252205"/>
                </a:lnTo>
                <a:lnTo>
                  <a:pt x="4519192" y="241092"/>
                </a:lnTo>
                <a:lnTo>
                  <a:pt x="4604460" y="229902"/>
                </a:lnTo>
                <a:lnTo>
                  <a:pt x="4689728" y="218651"/>
                </a:lnTo>
                <a:lnTo>
                  <a:pt x="4774996" y="207407"/>
                </a:lnTo>
                <a:lnTo>
                  <a:pt x="4860263" y="196179"/>
                </a:lnTo>
                <a:lnTo>
                  <a:pt x="4945531" y="185039"/>
                </a:lnTo>
                <a:lnTo>
                  <a:pt x="5030799" y="174040"/>
                </a:lnTo>
                <a:lnTo>
                  <a:pt x="5116067" y="163204"/>
                </a:lnTo>
                <a:lnTo>
                  <a:pt x="5201335" y="152551"/>
                </a:lnTo>
                <a:lnTo>
                  <a:pt x="5286602" y="142149"/>
                </a:lnTo>
                <a:lnTo>
                  <a:pt x="5371870" y="131967"/>
                </a:lnTo>
                <a:lnTo>
                  <a:pt x="5457138" y="122044"/>
                </a:lnTo>
                <a:lnTo>
                  <a:pt x="5542406" y="112383"/>
                </a:lnTo>
                <a:lnTo>
                  <a:pt x="5627673" y="102982"/>
                </a:lnTo>
                <a:lnTo>
                  <a:pt x="5712941" y="93836"/>
                </a:lnTo>
                <a:lnTo>
                  <a:pt x="5798209" y="84990"/>
                </a:lnTo>
                <a:lnTo>
                  <a:pt x="5883477" y="76383"/>
                </a:lnTo>
                <a:lnTo>
                  <a:pt x="5968745" y="68061"/>
                </a:lnTo>
                <a:lnTo>
                  <a:pt x="6054012" y="60038"/>
                </a:lnTo>
                <a:lnTo>
                  <a:pt x="6139280" y="52281"/>
                </a:lnTo>
                <a:lnTo>
                  <a:pt x="6224548" y="44791"/>
                </a:lnTo>
                <a:lnTo>
                  <a:pt x="6309816" y="37586"/>
                </a:lnTo>
                <a:lnTo>
                  <a:pt x="6395084" y="30661"/>
                </a:lnTo>
                <a:lnTo>
                  <a:pt x="6480351" y="24006"/>
                </a:lnTo>
                <a:lnTo>
                  <a:pt x="6565619" y="17600"/>
                </a:lnTo>
                <a:lnTo>
                  <a:pt x="6650887" y="11471"/>
                </a:lnTo>
                <a:lnTo>
                  <a:pt x="6736155" y="5615"/>
                </a:lnTo>
                <a:lnTo>
                  <a:pt x="6821423" y="0"/>
                </a:lnTo>
                <a:lnTo>
                  <a:pt x="6821423" y="546113"/>
                </a:lnTo>
                <a:lnTo>
                  <a:pt x="6736155" y="549367"/>
                </a:lnTo>
                <a:lnTo>
                  <a:pt x="6650887" y="552783"/>
                </a:lnTo>
                <a:lnTo>
                  <a:pt x="6565619" y="556346"/>
                </a:lnTo>
                <a:lnTo>
                  <a:pt x="6480351" y="560065"/>
                </a:lnTo>
                <a:lnTo>
                  <a:pt x="6395084" y="563933"/>
                </a:lnTo>
                <a:lnTo>
                  <a:pt x="6309816" y="567959"/>
                </a:lnTo>
                <a:lnTo>
                  <a:pt x="6224548" y="572125"/>
                </a:lnTo>
                <a:lnTo>
                  <a:pt x="6139280" y="576434"/>
                </a:lnTo>
                <a:lnTo>
                  <a:pt x="6054012" y="580889"/>
                </a:lnTo>
                <a:lnTo>
                  <a:pt x="5968745" y="585482"/>
                </a:lnTo>
                <a:lnTo>
                  <a:pt x="5883477" y="590211"/>
                </a:lnTo>
                <a:lnTo>
                  <a:pt x="5798209" y="595055"/>
                </a:lnTo>
                <a:lnTo>
                  <a:pt x="5712941" y="600024"/>
                </a:lnTo>
                <a:lnTo>
                  <a:pt x="5627673" y="605088"/>
                </a:lnTo>
                <a:lnTo>
                  <a:pt x="5542406" y="610244"/>
                </a:lnTo>
                <a:lnTo>
                  <a:pt x="5457138" y="615496"/>
                </a:lnTo>
                <a:lnTo>
                  <a:pt x="5371870" y="620808"/>
                </a:lnTo>
                <a:lnTo>
                  <a:pt x="5286602" y="626177"/>
                </a:lnTo>
                <a:lnTo>
                  <a:pt x="5201335" y="631611"/>
                </a:lnTo>
                <a:lnTo>
                  <a:pt x="5116067" y="637062"/>
                </a:lnTo>
                <a:lnTo>
                  <a:pt x="5030799" y="642540"/>
                </a:lnTo>
                <a:lnTo>
                  <a:pt x="4945531" y="648005"/>
                </a:lnTo>
                <a:lnTo>
                  <a:pt x="4860263" y="653431"/>
                </a:lnTo>
                <a:lnTo>
                  <a:pt x="4774996" y="658783"/>
                </a:lnTo>
                <a:lnTo>
                  <a:pt x="4689728" y="664048"/>
                </a:lnTo>
                <a:lnTo>
                  <a:pt x="4604460" y="669172"/>
                </a:lnTo>
                <a:lnTo>
                  <a:pt x="4519192" y="674154"/>
                </a:lnTo>
                <a:lnTo>
                  <a:pt x="4433924" y="678973"/>
                </a:lnTo>
                <a:lnTo>
                  <a:pt x="4348657" y="683624"/>
                </a:lnTo>
                <a:lnTo>
                  <a:pt x="4263389" y="688105"/>
                </a:lnTo>
                <a:lnTo>
                  <a:pt x="4178121" y="692390"/>
                </a:lnTo>
                <a:lnTo>
                  <a:pt x="4092853" y="696522"/>
                </a:lnTo>
                <a:lnTo>
                  <a:pt x="4007586" y="700475"/>
                </a:lnTo>
                <a:lnTo>
                  <a:pt x="3922318" y="704283"/>
                </a:lnTo>
                <a:lnTo>
                  <a:pt x="3837050" y="707941"/>
                </a:lnTo>
                <a:lnTo>
                  <a:pt x="3751782" y="711450"/>
                </a:lnTo>
                <a:lnTo>
                  <a:pt x="3666514" y="714818"/>
                </a:lnTo>
                <a:lnTo>
                  <a:pt x="3581247" y="718022"/>
                </a:lnTo>
                <a:lnTo>
                  <a:pt x="3495979" y="721076"/>
                </a:lnTo>
                <a:lnTo>
                  <a:pt x="3410711" y="723984"/>
                </a:lnTo>
                <a:lnTo>
                  <a:pt x="3325443" y="726728"/>
                </a:lnTo>
                <a:lnTo>
                  <a:pt x="3240175" y="729331"/>
                </a:lnTo>
                <a:lnTo>
                  <a:pt x="3154908" y="731771"/>
                </a:lnTo>
                <a:lnTo>
                  <a:pt x="3069640" y="734057"/>
                </a:lnTo>
                <a:lnTo>
                  <a:pt x="2984372" y="736215"/>
                </a:lnTo>
                <a:lnTo>
                  <a:pt x="2899104" y="738255"/>
                </a:lnTo>
                <a:lnTo>
                  <a:pt x="2813836" y="740200"/>
                </a:lnTo>
                <a:lnTo>
                  <a:pt x="2728569" y="742066"/>
                </a:lnTo>
                <a:lnTo>
                  <a:pt x="2643301" y="743872"/>
                </a:lnTo>
                <a:lnTo>
                  <a:pt x="2558033" y="745606"/>
                </a:lnTo>
                <a:lnTo>
                  <a:pt x="2472765" y="747284"/>
                </a:lnTo>
                <a:lnTo>
                  <a:pt x="2387498" y="748891"/>
                </a:lnTo>
                <a:lnTo>
                  <a:pt x="2302230" y="750435"/>
                </a:lnTo>
                <a:lnTo>
                  <a:pt x="2216962" y="751902"/>
                </a:lnTo>
                <a:lnTo>
                  <a:pt x="2131694" y="753297"/>
                </a:lnTo>
                <a:lnTo>
                  <a:pt x="2046426" y="754595"/>
                </a:lnTo>
                <a:lnTo>
                  <a:pt x="1961159" y="755798"/>
                </a:lnTo>
                <a:lnTo>
                  <a:pt x="1875891" y="756872"/>
                </a:lnTo>
                <a:lnTo>
                  <a:pt x="1790623" y="757813"/>
                </a:lnTo>
                <a:lnTo>
                  <a:pt x="1705355" y="758595"/>
                </a:lnTo>
                <a:lnTo>
                  <a:pt x="1620087" y="759167"/>
                </a:lnTo>
                <a:lnTo>
                  <a:pt x="1534820" y="759500"/>
                </a:lnTo>
                <a:lnTo>
                  <a:pt x="1449552" y="759539"/>
                </a:lnTo>
                <a:lnTo>
                  <a:pt x="1364284" y="759296"/>
                </a:lnTo>
                <a:lnTo>
                  <a:pt x="1279016" y="758772"/>
                </a:lnTo>
                <a:lnTo>
                  <a:pt x="1193749" y="764398"/>
                </a:lnTo>
                <a:lnTo>
                  <a:pt x="1108481" y="762825"/>
                </a:lnTo>
                <a:lnTo>
                  <a:pt x="1023213" y="761095"/>
                </a:lnTo>
                <a:lnTo>
                  <a:pt x="937945" y="759186"/>
                </a:lnTo>
                <a:lnTo>
                  <a:pt x="852677" y="757103"/>
                </a:lnTo>
                <a:lnTo>
                  <a:pt x="767410" y="754826"/>
                </a:lnTo>
                <a:lnTo>
                  <a:pt x="682142" y="752301"/>
                </a:lnTo>
                <a:lnTo>
                  <a:pt x="596874" y="749467"/>
                </a:lnTo>
                <a:lnTo>
                  <a:pt x="511606" y="746239"/>
                </a:lnTo>
                <a:lnTo>
                  <a:pt x="426338" y="742655"/>
                </a:lnTo>
                <a:lnTo>
                  <a:pt x="341071" y="738734"/>
                </a:lnTo>
                <a:lnTo>
                  <a:pt x="255803" y="734620"/>
                </a:lnTo>
                <a:lnTo>
                  <a:pt x="170535" y="730260"/>
                </a:lnTo>
                <a:lnTo>
                  <a:pt x="85267" y="725704"/>
                </a:lnTo>
                <a:lnTo>
                  <a:pt x="0" y="72102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bfa: 97-й центиль"/>
          <p:cNvSpPr/>
          <p:nvPr/>
        </p:nvSpPr>
        <p:spPr>
          <a:xfrm>
            <a:off x="932688" y="4351143"/>
            <a:ext cx="6821423" cy="522226"/>
          </a:xfrm>
          <a:custGeom>
            <a:avLst/>
            <a:gdLst/>
            <a:ahLst/>
            <a:cxnLst/>
            <a:rect l="l" t="t" r="r" b="b"/>
            <a:pathLst>
              <a:path w="6821423" h="522226">
                <a:moveTo>
                  <a:pt x="0" y="488292"/>
                </a:moveTo>
                <a:lnTo>
                  <a:pt x="85267" y="494136"/>
                </a:lnTo>
                <a:lnTo>
                  <a:pt x="170535" y="499583"/>
                </a:lnTo>
                <a:lnTo>
                  <a:pt x="255803" y="504534"/>
                </a:lnTo>
                <a:lnTo>
                  <a:pt x="341071" y="508977"/>
                </a:lnTo>
                <a:lnTo>
                  <a:pt x="426338" y="512961"/>
                </a:lnTo>
                <a:lnTo>
                  <a:pt x="511606" y="516265"/>
                </a:lnTo>
                <a:lnTo>
                  <a:pt x="596874" y="518830"/>
                </a:lnTo>
                <a:lnTo>
                  <a:pt x="682142" y="520624"/>
                </a:lnTo>
                <a:lnTo>
                  <a:pt x="767410" y="521706"/>
                </a:lnTo>
                <a:lnTo>
                  <a:pt x="852677" y="522226"/>
                </a:lnTo>
                <a:lnTo>
                  <a:pt x="937945" y="522214"/>
                </a:lnTo>
                <a:lnTo>
                  <a:pt x="1023213" y="521742"/>
                </a:lnTo>
                <a:lnTo>
                  <a:pt x="1108481" y="520852"/>
                </a:lnTo>
                <a:lnTo>
                  <a:pt x="1193749" y="519560"/>
                </a:lnTo>
                <a:lnTo>
                  <a:pt x="1279016" y="519368"/>
                </a:lnTo>
                <a:lnTo>
                  <a:pt x="1364284" y="517934"/>
                </a:lnTo>
                <a:lnTo>
                  <a:pt x="1449552" y="515992"/>
                </a:lnTo>
                <a:lnTo>
                  <a:pt x="1534820" y="513536"/>
                </a:lnTo>
                <a:lnTo>
                  <a:pt x="1620087" y="510579"/>
                </a:lnTo>
                <a:lnTo>
                  <a:pt x="1705355" y="507157"/>
                </a:lnTo>
                <a:lnTo>
                  <a:pt x="1790623" y="503306"/>
                </a:lnTo>
                <a:lnTo>
                  <a:pt x="1875891" y="499092"/>
                </a:lnTo>
                <a:lnTo>
                  <a:pt x="1961159" y="494505"/>
                </a:lnTo>
                <a:lnTo>
                  <a:pt x="2046426" y="489616"/>
                </a:lnTo>
                <a:lnTo>
                  <a:pt x="2131694" y="484403"/>
                </a:lnTo>
                <a:lnTo>
                  <a:pt x="2216962" y="478919"/>
                </a:lnTo>
                <a:lnTo>
                  <a:pt x="2302230" y="473132"/>
                </a:lnTo>
                <a:lnTo>
                  <a:pt x="2387498" y="467109"/>
                </a:lnTo>
                <a:lnTo>
                  <a:pt x="2472765" y="460811"/>
                </a:lnTo>
                <a:lnTo>
                  <a:pt x="2558033" y="454267"/>
                </a:lnTo>
                <a:lnTo>
                  <a:pt x="2643301" y="447455"/>
                </a:lnTo>
                <a:lnTo>
                  <a:pt x="2728569" y="440429"/>
                </a:lnTo>
                <a:lnTo>
                  <a:pt x="2813836" y="433161"/>
                </a:lnTo>
                <a:lnTo>
                  <a:pt x="2899104" y="425678"/>
                </a:lnTo>
                <a:lnTo>
                  <a:pt x="2984372" y="417957"/>
                </a:lnTo>
                <a:lnTo>
                  <a:pt x="3069640" y="409958"/>
                </a:lnTo>
                <a:lnTo>
                  <a:pt x="3154908" y="401671"/>
                </a:lnTo>
                <a:lnTo>
                  <a:pt x="3240175" y="393125"/>
                </a:lnTo>
                <a:lnTo>
                  <a:pt x="3325443" y="384313"/>
                </a:lnTo>
                <a:lnTo>
                  <a:pt x="3410711" y="375230"/>
                </a:lnTo>
                <a:lnTo>
                  <a:pt x="3495979" y="365942"/>
                </a:lnTo>
                <a:lnTo>
                  <a:pt x="3581247" y="356425"/>
                </a:lnTo>
                <a:lnTo>
                  <a:pt x="3666514" y="346676"/>
                </a:lnTo>
                <a:lnTo>
                  <a:pt x="3751782" y="336741"/>
                </a:lnTo>
                <a:lnTo>
                  <a:pt x="3837050" y="326654"/>
                </a:lnTo>
                <a:lnTo>
                  <a:pt x="3922318" y="316399"/>
                </a:lnTo>
                <a:lnTo>
                  <a:pt x="4007586" y="306026"/>
                </a:lnTo>
                <a:lnTo>
                  <a:pt x="4092853" y="295502"/>
                </a:lnTo>
                <a:lnTo>
                  <a:pt x="4178121" y="284873"/>
                </a:lnTo>
                <a:lnTo>
                  <a:pt x="4263389" y="274092"/>
                </a:lnTo>
                <a:lnTo>
                  <a:pt x="4348657" y="263211"/>
                </a:lnTo>
                <a:lnTo>
                  <a:pt x="4433924" y="252205"/>
                </a:lnTo>
                <a:lnTo>
                  <a:pt x="4519192" y="241092"/>
                </a:lnTo>
                <a:lnTo>
                  <a:pt x="4604460" y="229902"/>
                </a:lnTo>
                <a:lnTo>
                  <a:pt x="4689728" y="218651"/>
                </a:lnTo>
                <a:lnTo>
                  <a:pt x="4774996" y="207407"/>
                </a:lnTo>
                <a:lnTo>
                  <a:pt x="4860263" y="196179"/>
                </a:lnTo>
                <a:lnTo>
                  <a:pt x="4945531" y="185039"/>
                </a:lnTo>
                <a:lnTo>
                  <a:pt x="5030799" y="174040"/>
                </a:lnTo>
                <a:lnTo>
                  <a:pt x="5116067" y="163204"/>
                </a:lnTo>
                <a:lnTo>
                  <a:pt x="5201335" y="152551"/>
                </a:lnTo>
                <a:lnTo>
                  <a:pt x="5286602" y="142149"/>
                </a:lnTo>
                <a:lnTo>
                  <a:pt x="5371870" y="131967"/>
                </a:lnTo>
                <a:lnTo>
                  <a:pt x="5457138" y="122044"/>
                </a:lnTo>
                <a:lnTo>
                  <a:pt x="5542406" y="112383"/>
                </a:lnTo>
                <a:lnTo>
                  <a:pt x="5627673" y="102982"/>
                </a:lnTo>
                <a:lnTo>
                  <a:pt x="5712941" y="93836"/>
                </a:lnTo>
                <a:lnTo>
                  <a:pt x="5798209" y="84990"/>
                </a:lnTo>
                <a:lnTo>
                  <a:pt x="5883477" y="76383"/>
                </a:lnTo>
                <a:lnTo>
                  <a:pt x="5968745" y="68061"/>
                </a:lnTo>
                <a:lnTo>
                  <a:pt x="6054012" y="60038"/>
                </a:lnTo>
                <a:lnTo>
                  <a:pt x="6139280" y="52281"/>
                </a:lnTo>
                <a:lnTo>
                  <a:pt x="6224548" y="44791"/>
                </a:lnTo>
                <a:lnTo>
                  <a:pt x="6309816" y="37586"/>
                </a:lnTo>
                <a:lnTo>
                  <a:pt x="6395084" y="30661"/>
                </a:lnTo>
                <a:lnTo>
                  <a:pt x="6480351" y="24006"/>
                </a:lnTo>
                <a:lnTo>
                  <a:pt x="6565619" y="17600"/>
                </a:lnTo>
                <a:lnTo>
                  <a:pt x="6650887" y="11471"/>
                </a:lnTo>
                <a:lnTo>
                  <a:pt x="6736155" y="5615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794111" y="4276143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43" name="bfa: 85-й центиль"/>
          <p:cNvSpPr/>
          <p:nvPr/>
        </p:nvSpPr>
        <p:spPr>
          <a:xfrm>
            <a:off x="932688" y="4527639"/>
            <a:ext cx="6821423" cy="409919"/>
          </a:xfrm>
          <a:custGeom>
            <a:avLst/>
            <a:gdLst/>
            <a:ahLst/>
            <a:cxnLst/>
            <a:rect l="l" t="t" r="r" b="b"/>
            <a:pathLst>
              <a:path w="6821423" h="409919">
                <a:moveTo>
                  <a:pt x="0" y="374275"/>
                </a:moveTo>
                <a:lnTo>
                  <a:pt x="85267" y="379269"/>
                </a:lnTo>
                <a:lnTo>
                  <a:pt x="170535" y="383996"/>
                </a:lnTo>
                <a:lnTo>
                  <a:pt x="255803" y="388393"/>
                </a:lnTo>
                <a:lnTo>
                  <a:pt x="341071" y="392451"/>
                </a:lnTo>
                <a:lnTo>
                  <a:pt x="426338" y="396219"/>
                </a:lnTo>
                <a:lnTo>
                  <a:pt x="511606" y="399518"/>
                </a:lnTo>
                <a:lnTo>
                  <a:pt x="596874" y="402291"/>
                </a:lnTo>
                <a:lnTo>
                  <a:pt x="682142" y="404503"/>
                </a:lnTo>
                <a:lnTo>
                  <a:pt x="767410" y="406214"/>
                </a:lnTo>
                <a:lnTo>
                  <a:pt x="852677" y="407544"/>
                </a:lnTo>
                <a:lnTo>
                  <a:pt x="937945" y="408539"/>
                </a:lnTo>
                <a:lnTo>
                  <a:pt x="1023213" y="409252"/>
                </a:lnTo>
                <a:lnTo>
                  <a:pt x="1108481" y="409706"/>
                </a:lnTo>
                <a:lnTo>
                  <a:pt x="1193749" y="409919"/>
                </a:lnTo>
                <a:lnTo>
                  <a:pt x="1279016" y="408729"/>
                </a:lnTo>
                <a:lnTo>
                  <a:pt x="1364284" y="408376"/>
                </a:lnTo>
                <a:lnTo>
                  <a:pt x="1449552" y="407601"/>
                </a:lnTo>
                <a:lnTo>
                  <a:pt x="1534820" y="406400"/>
                </a:lnTo>
                <a:lnTo>
                  <a:pt x="1620087" y="404779"/>
                </a:lnTo>
                <a:lnTo>
                  <a:pt x="1705355" y="402783"/>
                </a:lnTo>
                <a:lnTo>
                  <a:pt x="1790623" y="400446"/>
                </a:lnTo>
                <a:lnTo>
                  <a:pt x="1875891" y="397832"/>
                </a:lnTo>
                <a:lnTo>
                  <a:pt x="1961159" y="394946"/>
                </a:lnTo>
                <a:lnTo>
                  <a:pt x="2046426" y="391834"/>
                </a:lnTo>
                <a:lnTo>
                  <a:pt x="2131694" y="388499"/>
                </a:lnTo>
                <a:lnTo>
                  <a:pt x="2216962" y="384971"/>
                </a:lnTo>
                <a:lnTo>
                  <a:pt x="2302230" y="381246"/>
                </a:lnTo>
                <a:lnTo>
                  <a:pt x="2387498" y="377361"/>
                </a:lnTo>
                <a:lnTo>
                  <a:pt x="2472765" y="373300"/>
                </a:lnTo>
                <a:lnTo>
                  <a:pt x="2558033" y="369078"/>
                </a:lnTo>
                <a:lnTo>
                  <a:pt x="2643301" y="364685"/>
                </a:lnTo>
                <a:lnTo>
                  <a:pt x="2728569" y="360150"/>
                </a:lnTo>
                <a:lnTo>
                  <a:pt x="2813836" y="355457"/>
                </a:lnTo>
                <a:lnTo>
                  <a:pt x="2899104" y="350613"/>
                </a:lnTo>
                <a:lnTo>
                  <a:pt x="2984372" y="345596"/>
                </a:lnTo>
                <a:lnTo>
                  <a:pt x="3069640" y="340367"/>
                </a:lnTo>
                <a:lnTo>
                  <a:pt x="3154908" y="334915"/>
                </a:lnTo>
                <a:lnTo>
                  <a:pt x="3240175" y="329238"/>
                </a:lnTo>
                <a:lnTo>
                  <a:pt x="3325443" y="323327"/>
                </a:lnTo>
                <a:lnTo>
                  <a:pt x="3410711" y="317184"/>
                </a:lnTo>
                <a:lnTo>
                  <a:pt x="3495979" y="310831"/>
                </a:lnTo>
                <a:lnTo>
                  <a:pt x="3581247" y="304263"/>
                </a:lnTo>
                <a:lnTo>
                  <a:pt x="3666514" y="297471"/>
                </a:lnTo>
                <a:lnTo>
                  <a:pt x="3751782" y="290472"/>
                </a:lnTo>
                <a:lnTo>
                  <a:pt x="3837050" y="283291"/>
                </a:lnTo>
                <a:lnTo>
                  <a:pt x="3922318" y="275910"/>
                </a:lnTo>
                <a:lnTo>
                  <a:pt x="4007586" y="268355"/>
                </a:lnTo>
                <a:lnTo>
                  <a:pt x="4092853" y="260606"/>
                </a:lnTo>
                <a:lnTo>
                  <a:pt x="4178121" y="252666"/>
                </a:lnTo>
                <a:lnTo>
                  <a:pt x="4263389" y="244522"/>
                </a:lnTo>
                <a:lnTo>
                  <a:pt x="4348657" y="236175"/>
                </a:lnTo>
                <a:lnTo>
                  <a:pt x="4433924" y="227627"/>
                </a:lnTo>
                <a:lnTo>
                  <a:pt x="4519192" y="218885"/>
                </a:lnTo>
                <a:lnTo>
                  <a:pt x="4604460" y="209966"/>
                </a:lnTo>
                <a:lnTo>
                  <a:pt x="4689728" y="200892"/>
                </a:lnTo>
                <a:lnTo>
                  <a:pt x="4774996" y="191696"/>
                </a:lnTo>
                <a:lnTo>
                  <a:pt x="4860263" y="182410"/>
                </a:lnTo>
                <a:lnTo>
                  <a:pt x="4945531" y="173080"/>
                </a:lnTo>
                <a:lnTo>
                  <a:pt x="5030799" y="163754"/>
                </a:lnTo>
                <a:lnTo>
                  <a:pt x="5116067" y="154457"/>
                </a:lnTo>
                <a:lnTo>
                  <a:pt x="5201335" y="145222"/>
                </a:lnTo>
                <a:lnTo>
                  <a:pt x="5286602" y="136085"/>
                </a:lnTo>
                <a:lnTo>
                  <a:pt x="5371870" y="127056"/>
                </a:lnTo>
                <a:lnTo>
                  <a:pt x="5457138" y="118156"/>
                </a:lnTo>
                <a:lnTo>
                  <a:pt x="5542406" y="109393"/>
                </a:lnTo>
                <a:lnTo>
                  <a:pt x="5627673" y="100786"/>
                </a:lnTo>
                <a:lnTo>
                  <a:pt x="5712941" y="92333"/>
                </a:lnTo>
                <a:lnTo>
                  <a:pt x="5798209" y="84063"/>
                </a:lnTo>
                <a:lnTo>
                  <a:pt x="5883477" y="75960"/>
                </a:lnTo>
                <a:lnTo>
                  <a:pt x="5968745" y="68048"/>
                </a:lnTo>
                <a:lnTo>
                  <a:pt x="6054012" y="60342"/>
                </a:lnTo>
                <a:lnTo>
                  <a:pt x="6139280" y="52829"/>
                </a:lnTo>
                <a:lnTo>
                  <a:pt x="6224548" y="45513"/>
                </a:lnTo>
                <a:lnTo>
                  <a:pt x="6309816" y="38404"/>
                </a:lnTo>
                <a:lnTo>
                  <a:pt x="6395084" y="31497"/>
                </a:lnTo>
                <a:lnTo>
                  <a:pt x="6480351" y="24798"/>
                </a:lnTo>
                <a:lnTo>
                  <a:pt x="6565619" y="18290"/>
                </a:lnTo>
                <a:lnTo>
                  <a:pt x="6650887" y="11991"/>
                </a:lnTo>
                <a:lnTo>
                  <a:pt x="6736155" y="5898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94111" y="4452639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145" name="bfa: 50-й центиль"/>
          <p:cNvSpPr/>
          <p:nvPr/>
        </p:nvSpPr>
        <p:spPr>
          <a:xfrm>
            <a:off x="932688" y="4691011"/>
            <a:ext cx="6821423" cy="318018"/>
          </a:xfrm>
          <a:custGeom>
            <a:avLst/>
            <a:gdLst/>
            <a:ahLst/>
            <a:cxnLst/>
            <a:rect l="l" t="t" r="r" b="b"/>
            <a:pathLst>
              <a:path w="6821423" h="318018">
                <a:moveTo>
                  <a:pt x="0" y="278559"/>
                </a:moveTo>
                <a:lnTo>
                  <a:pt x="85267" y="283086"/>
                </a:lnTo>
                <a:lnTo>
                  <a:pt x="170535" y="287434"/>
                </a:lnTo>
                <a:lnTo>
                  <a:pt x="255803" y="291558"/>
                </a:lnTo>
                <a:lnTo>
                  <a:pt x="341071" y="295442"/>
                </a:lnTo>
                <a:lnTo>
                  <a:pt x="426338" y="299139"/>
                </a:lnTo>
                <a:lnTo>
                  <a:pt x="511606" y="302498"/>
                </a:lnTo>
                <a:lnTo>
                  <a:pt x="596874" y="305474"/>
                </a:lnTo>
                <a:lnTo>
                  <a:pt x="682142" y="308030"/>
                </a:lnTo>
                <a:lnTo>
                  <a:pt x="767410" y="310229"/>
                </a:lnTo>
                <a:lnTo>
                  <a:pt x="852677" y="312164"/>
                </a:lnTo>
                <a:lnTo>
                  <a:pt x="937945" y="313887"/>
                </a:lnTo>
                <a:lnTo>
                  <a:pt x="1023213" y="315431"/>
                </a:lnTo>
                <a:lnTo>
                  <a:pt x="1108481" y="316803"/>
                </a:lnTo>
                <a:lnTo>
                  <a:pt x="1193749" y="318018"/>
                </a:lnTo>
                <a:lnTo>
                  <a:pt x="1279016" y="315332"/>
                </a:lnTo>
                <a:lnTo>
                  <a:pt x="1364284" y="315664"/>
                </a:lnTo>
                <a:lnTo>
                  <a:pt x="1449552" y="315640"/>
                </a:lnTo>
                <a:lnTo>
                  <a:pt x="1534820" y="315256"/>
                </a:lnTo>
                <a:lnTo>
                  <a:pt x="1620087" y="314511"/>
                </a:lnTo>
                <a:lnTo>
                  <a:pt x="1705355" y="313457"/>
                </a:lnTo>
                <a:lnTo>
                  <a:pt x="1790623" y="312124"/>
                </a:lnTo>
                <a:lnTo>
                  <a:pt x="1875891" y="310572"/>
                </a:lnTo>
                <a:lnTo>
                  <a:pt x="1961159" y="308816"/>
                </a:lnTo>
                <a:lnTo>
                  <a:pt x="2046426" y="306883"/>
                </a:lnTo>
                <a:lnTo>
                  <a:pt x="2131694" y="304790"/>
                </a:lnTo>
                <a:lnTo>
                  <a:pt x="2216962" y="302553"/>
                </a:lnTo>
                <a:lnTo>
                  <a:pt x="2302230" y="300183"/>
                </a:lnTo>
                <a:lnTo>
                  <a:pt x="2387498" y="297696"/>
                </a:lnTo>
                <a:lnTo>
                  <a:pt x="2472765" y="295091"/>
                </a:lnTo>
                <a:lnTo>
                  <a:pt x="2558033" y="292372"/>
                </a:lnTo>
                <a:lnTo>
                  <a:pt x="2643301" y="289540"/>
                </a:lnTo>
                <a:lnTo>
                  <a:pt x="2728569" y="286602"/>
                </a:lnTo>
                <a:lnTo>
                  <a:pt x="2813836" y="283553"/>
                </a:lnTo>
                <a:lnTo>
                  <a:pt x="2899104" y="280388"/>
                </a:lnTo>
                <a:lnTo>
                  <a:pt x="2984372" y="277085"/>
                </a:lnTo>
                <a:lnTo>
                  <a:pt x="3069640" y="273612"/>
                </a:lnTo>
                <a:lnTo>
                  <a:pt x="3154908" y="269957"/>
                </a:lnTo>
                <a:lnTo>
                  <a:pt x="3240175" y="266103"/>
                </a:lnTo>
                <a:lnTo>
                  <a:pt x="3325443" y="262038"/>
                </a:lnTo>
                <a:lnTo>
                  <a:pt x="3410711" y="257777"/>
                </a:lnTo>
                <a:lnTo>
                  <a:pt x="3495979" y="253314"/>
                </a:lnTo>
                <a:lnTo>
                  <a:pt x="3581247" y="248657"/>
                </a:lnTo>
                <a:lnTo>
                  <a:pt x="3666514" y="243798"/>
                </a:lnTo>
                <a:lnTo>
                  <a:pt x="3751782" y="238735"/>
                </a:lnTo>
                <a:lnTo>
                  <a:pt x="3837050" y="233495"/>
                </a:lnTo>
                <a:lnTo>
                  <a:pt x="3922318" y="228060"/>
                </a:lnTo>
                <a:lnTo>
                  <a:pt x="4007586" y="222442"/>
                </a:lnTo>
                <a:lnTo>
                  <a:pt x="4092853" y="216635"/>
                </a:lnTo>
                <a:lnTo>
                  <a:pt x="4178121" y="210618"/>
                </a:lnTo>
                <a:lnTo>
                  <a:pt x="4263389" y="204399"/>
                </a:lnTo>
                <a:lnTo>
                  <a:pt x="4348657" y="197954"/>
                </a:lnTo>
                <a:lnTo>
                  <a:pt x="4433924" y="191299"/>
                </a:lnTo>
                <a:lnTo>
                  <a:pt x="4519192" y="184436"/>
                </a:lnTo>
                <a:lnTo>
                  <a:pt x="4604460" y="177376"/>
                </a:lnTo>
                <a:lnTo>
                  <a:pt x="4689728" y="170143"/>
                </a:lnTo>
                <a:lnTo>
                  <a:pt x="4774996" y="162749"/>
                </a:lnTo>
                <a:lnTo>
                  <a:pt x="4860263" y="155239"/>
                </a:lnTo>
                <a:lnTo>
                  <a:pt x="4945531" y="147643"/>
                </a:lnTo>
                <a:lnTo>
                  <a:pt x="5030799" y="140001"/>
                </a:lnTo>
                <a:lnTo>
                  <a:pt x="5116067" y="132341"/>
                </a:lnTo>
                <a:lnTo>
                  <a:pt x="5201335" y="124699"/>
                </a:lnTo>
                <a:lnTo>
                  <a:pt x="5286602" y="117089"/>
                </a:lnTo>
                <a:lnTo>
                  <a:pt x="5371870" y="109543"/>
                </a:lnTo>
                <a:lnTo>
                  <a:pt x="5457138" y="102066"/>
                </a:lnTo>
                <a:lnTo>
                  <a:pt x="5542406" y="94666"/>
                </a:lnTo>
                <a:lnTo>
                  <a:pt x="5627673" y="87373"/>
                </a:lnTo>
                <a:lnTo>
                  <a:pt x="5712941" y="80185"/>
                </a:lnTo>
                <a:lnTo>
                  <a:pt x="5798209" y="73116"/>
                </a:lnTo>
                <a:lnTo>
                  <a:pt x="5883477" y="66178"/>
                </a:lnTo>
                <a:lnTo>
                  <a:pt x="5968745" y="59376"/>
                </a:lnTo>
                <a:lnTo>
                  <a:pt x="6054012" y="52729"/>
                </a:lnTo>
                <a:lnTo>
                  <a:pt x="6139280" y="46232"/>
                </a:lnTo>
                <a:lnTo>
                  <a:pt x="6224548" y="39892"/>
                </a:lnTo>
                <a:lnTo>
                  <a:pt x="6309816" y="33711"/>
                </a:lnTo>
                <a:lnTo>
                  <a:pt x="6395084" y="27686"/>
                </a:lnTo>
                <a:lnTo>
                  <a:pt x="6480351" y="21827"/>
                </a:lnTo>
                <a:lnTo>
                  <a:pt x="6565619" y="16125"/>
                </a:lnTo>
                <a:lnTo>
                  <a:pt x="6650887" y="10589"/>
                </a:lnTo>
                <a:lnTo>
                  <a:pt x="6736155" y="5212"/>
                </a:lnTo>
                <a:lnTo>
                  <a:pt x="6821423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794111" y="461601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147" name="bfa: 15-й центиль"/>
          <p:cNvSpPr/>
          <p:nvPr/>
        </p:nvSpPr>
        <p:spPr>
          <a:xfrm>
            <a:off x="932688" y="4815589"/>
            <a:ext cx="6821423" cy="255353"/>
          </a:xfrm>
          <a:custGeom>
            <a:avLst/>
            <a:gdLst/>
            <a:ahLst/>
            <a:cxnLst/>
            <a:rect l="l" t="t" r="r" b="b"/>
            <a:pathLst>
              <a:path w="6821423" h="255353">
                <a:moveTo>
                  <a:pt x="0" y="213348"/>
                </a:moveTo>
                <a:lnTo>
                  <a:pt x="85267" y="217843"/>
                </a:lnTo>
                <a:lnTo>
                  <a:pt x="170535" y="222199"/>
                </a:lnTo>
                <a:lnTo>
                  <a:pt x="255803" y="226364"/>
                </a:lnTo>
                <a:lnTo>
                  <a:pt x="341071" y="230308"/>
                </a:lnTo>
                <a:lnTo>
                  <a:pt x="426338" y="234086"/>
                </a:lnTo>
                <a:lnTo>
                  <a:pt x="511606" y="237556"/>
                </a:lnTo>
                <a:lnTo>
                  <a:pt x="596874" y="240687"/>
                </a:lnTo>
                <a:lnTo>
                  <a:pt x="682142" y="243442"/>
                </a:lnTo>
                <a:lnTo>
                  <a:pt x="767410" y="245892"/>
                </a:lnTo>
                <a:lnTo>
                  <a:pt x="852677" y="248112"/>
                </a:lnTo>
                <a:lnTo>
                  <a:pt x="937945" y="250153"/>
                </a:lnTo>
                <a:lnTo>
                  <a:pt x="1023213" y="252040"/>
                </a:lnTo>
                <a:lnTo>
                  <a:pt x="1108481" y="253768"/>
                </a:lnTo>
                <a:lnTo>
                  <a:pt x="1193749" y="255353"/>
                </a:lnTo>
                <a:lnTo>
                  <a:pt x="1279016" y="251051"/>
                </a:lnTo>
                <a:lnTo>
                  <a:pt x="1364284" y="251609"/>
                </a:lnTo>
                <a:lnTo>
                  <a:pt x="1449552" y="251856"/>
                </a:lnTo>
                <a:lnTo>
                  <a:pt x="1534820" y="251790"/>
                </a:lnTo>
                <a:lnTo>
                  <a:pt x="1620087" y="251403"/>
                </a:lnTo>
                <a:lnTo>
                  <a:pt x="1705355" y="250748"/>
                </a:lnTo>
                <a:lnTo>
                  <a:pt x="1790623" y="249856"/>
                </a:lnTo>
                <a:lnTo>
                  <a:pt x="1875891" y="248782"/>
                </a:lnTo>
                <a:lnTo>
                  <a:pt x="1961159" y="247547"/>
                </a:lnTo>
                <a:lnTo>
                  <a:pt x="2046426" y="246164"/>
                </a:lnTo>
                <a:lnTo>
                  <a:pt x="2131694" y="244661"/>
                </a:lnTo>
                <a:lnTo>
                  <a:pt x="2216962" y="243043"/>
                </a:lnTo>
                <a:lnTo>
                  <a:pt x="2302230" y="241329"/>
                </a:lnTo>
                <a:lnTo>
                  <a:pt x="2387498" y="239523"/>
                </a:lnTo>
                <a:lnTo>
                  <a:pt x="2472765" y="237632"/>
                </a:lnTo>
                <a:lnTo>
                  <a:pt x="2558033" y="235653"/>
                </a:lnTo>
                <a:lnTo>
                  <a:pt x="2643301" y="233596"/>
                </a:lnTo>
                <a:lnTo>
                  <a:pt x="2728569" y="231453"/>
                </a:lnTo>
                <a:lnTo>
                  <a:pt x="2813836" y="229230"/>
                </a:lnTo>
                <a:lnTo>
                  <a:pt x="2899104" y="226912"/>
                </a:lnTo>
                <a:lnTo>
                  <a:pt x="2984372" y="224481"/>
                </a:lnTo>
                <a:lnTo>
                  <a:pt x="3069640" y="221910"/>
                </a:lnTo>
                <a:lnTo>
                  <a:pt x="3154908" y="219188"/>
                </a:lnTo>
                <a:lnTo>
                  <a:pt x="3240175" y="216291"/>
                </a:lnTo>
                <a:lnTo>
                  <a:pt x="3325443" y="213210"/>
                </a:lnTo>
                <a:lnTo>
                  <a:pt x="3410711" y="209963"/>
                </a:lnTo>
                <a:lnTo>
                  <a:pt x="3495979" y="206533"/>
                </a:lnTo>
                <a:lnTo>
                  <a:pt x="3581247" y="202935"/>
                </a:lnTo>
                <a:lnTo>
                  <a:pt x="3666514" y="199163"/>
                </a:lnTo>
                <a:lnTo>
                  <a:pt x="3751782" y="195208"/>
                </a:lnTo>
                <a:lnTo>
                  <a:pt x="3837050" y="191093"/>
                </a:lnTo>
                <a:lnTo>
                  <a:pt x="3922318" y="186806"/>
                </a:lnTo>
                <a:lnTo>
                  <a:pt x="4007586" y="182351"/>
                </a:lnTo>
                <a:lnTo>
                  <a:pt x="4092853" y="177730"/>
                </a:lnTo>
                <a:lnTo>
                  <a:pt x="4178121" y="172912"/>
                </a:lnTo>
                <a:lnTo>
                  <a:pt x="4263389" y="167917"/>
                </a:lnTo>
                <a:lnTo>
                  <a:pt x="4348657" y="162707"/>
                </a:lnTo>
                <a:lnTo>
                  <a:pt x="4433924" y="157306"/>
                </a:lnTo>
                <a:lnTo>
                  <a:pt x="4519192" y="151716"/>
                </a:lnTo>
                <a:lnTo>
                  <a:pt x="4604460" y="145943"/>
                </a:lnTo>
                <a:lnTo>
                  <a:pt x="4689728" y="140011"/>
                </a:lnTo>
                <a:lnTo>
                  <a:pt x="4774996" y="133923"/>
                </a:lnTo>
                <a:lnTo>
                  <a:pt x="4860263" y="127730"/>
                </a:lnTo>
                <a:lnTo>
                  <a:pt x="4945531" y="121451"/>
                </a:lnTo>
                <a:lnTo>
                  <a:pt x="5030799" y="115124"/>
                </a:lnTo>
                <a:lnTo>
                  <a:pt x="5116067" y="108776"/>
                </a:lnTo>
                <a:lnTo>
                  <a:pt x="5201335" y="102444"/>
                </a:lnTo>
                <a:lnTo>
                  <a:pt x="5286602" y="96127"/>
                </a:lnTo>
                <a:lnTo>
                  <a:pt x="5371870" y="89869"/>
                </a:lnTo>
                <a:lnTo>
                  <a:pt x="5457138" y="83666"/>
                </a:lnTo>
                <a:lnTo>
                  <a:pt x="5542406" y="77523"/>
                </a:lnTo>
                <a:lnTo>
                  <a:pt x="5627673" y="71474"/>
                </a:lnTo>
                <a:lnTo>
                  <a:pt x="5712941" y="65517"/>
                </a:lnTo>
                <a:lnTo>
                  <a:pt x="5798209" y="59658"/>
                </a:lnTo>
                <a:lnTo>
                  <a:pt x="5883477" y="53921"/>
                </a:lnTo>
                <a:lnTo>
                  <a:pt x="5968745" y="48303"/>
                </a:lnTo>
                <a:lnTo>
                  <a:pt x="6054012" y="42821"/>
                </a:lnTo>
                <a:lnTo>
                  <a:pt x="6139280" y="37476"/>
                </a:lnTo>
                <a:lnTo>
                  <a:pt x="6224548" y="32277"/>
                </a:lnTo>
                <a:lnTo>
                  <a:pt x="6309816" y="27222"/>
                </a:lnTo>
                <a:lnTo>
                  <a:pt x="6395084" y="22306"/>
                </a:lnTo>
                <a:lnTo>
                  <a:pt x="6480351" y="17546"/>
                </a:lnTo>
                <a:lnTo>
                  <a:pt x="6565619" y="12933"/>
                </a:lnTo>
                <a:lnTo>
                  <a:pt x="6650887" y="8472"/>
                </a:lnTo>
                <a:lnTo>
                  <a:pt x="6736155" y="4157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794111" y="4740589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149" name="bfa: 3-й центиль"/>
          <p:cNvSpPr/>
          <p:nvPr/>
        </p:nvSpPr>
        <p:spPr>
          <a:xfrm>
            <a:off x="932688" y="4897256"/>
            <a:ext cx="6821423" cy="218285"/>
          </a:xfrm>
          <a:custGeom>
            <a:avLst/>
            <a:gdLst/>
            <a:ahLst/>
            <a:cxnLst/>
            <a:rect l="l" t="t" r="r" b="b"/>
            <a:pathLst>
              <a:path w="6821423" h="218285">
                <a:moveTo>
                  <a:pt x="0" y="174908"/>
                </a:moveTo>
                <a:lnTo>
                  <a:pt x="85267" y="179591"/>
                </a:lnTo>
                <a:lnTo>
                  <a:pt x="170535" y="184147"/>
                </a:lnTo>
                <a:lnTo>
                  <a:pt x="255803" y="188507"/>
                </a:lnTo>
                <a:lnTo>
                  <a:pt x="341071" y="192621"/>
                </a:lnTo>
                <a:lnTo>
                  <a:pt x="426338" y="196542"/>
                </a:lnTo>
                <a:lnTo>
                  <a:pt x="511606" y="200126"/>
                </a:lnTo>
                <a:lnTo>
                  <a:pt x="596874" y="203354"/>
                </a:lnTo>
                <a:lnTo>
                  <a:pt x="682142" y="206188"/>
                </a:lnTo>
                <a:lnTo>
                  <a:pt x="767410" y="208713"/>
                </a:lnTo>
                <a:lnTo>
                  <a:pt x="852677" y="210990"/>
                </a:lnTo>
                <a:lnTo>
                  <a:pt x="937945" y="213073"/>
                </a:lnTo>
                <a:lnTo>
                  <a:pt x="1023213" y="214982"/>
                </a:lnTo>
                <a:lnTo>
                  <a:pt x="1108481" y="216712"/>
                </a:lnTo>
                <a:lnTo>
                  <a:pt x="1193749" y="218285"/>
                </a:lnTo>
                <a:lnTo>
                  <a:pt x="1279016" y="212659"/>
                </a:lnTo>
                <a:lnTo>
                  <a:pt x="1364284" y="213183"/>
                </a:lnTo>
                <a:lnTo>
                  <a:pt x="1449552" y="213426"/>
                </a:lnTo>
                <a:lnTo>
                  <a:pt x="1534820" y="213387"/>
                </a:lnTo>
                <a:lnTo>
                  <a:pt x="1620087" y="213054"/>
                </a:lnTo>
                <a:lnTo>
                  <a:pt x="1705355" y="212482"/>
                </a:lnTo>
                <a:lnTo>
                  <a:pt x="1790623" y="211700"/>
                </a:lnTo>
                <a:lnTo>
                  <a:pt x="1875891" y="210759"/>
                </a:lnTo>
                <a:lnTo>
                  <a:pt x="1961159" y="209685"/>
                </a:lnTo>
                <a:lnTo>
                  <a:pt x="2046426" y="208482"/>
                </a:lnTo>
                <a:lnTo>
                  <a:pt x="2131694" y="207184"/>
                </a:lnTo>
                <a:lnTo>
                  <a:pt x="2216962" y="205789"/>
                </a:lnTo>
                <a:lnTo>
                  <a:pt x="2302230" y="204322"/>
                </a:lnTo>
                <a:lnTo>
                  <a:pt x="2387498" y="202778"/>
                </a:lnTo>
                <a:lnTo>
                  <a:pt x="2472765" y="201171"/>
                </a:lnTo>
                <a:lnTo>
                  <a:pt x="2558033" y="199493"/>
                </a:lnTo>
                <a:lnTo>
                  <a:pt x="2643301" y="197759"/>
                </a:lnTo>
                <a:lnTo>
                  <a:pt x="2728569" y="195953"/>
                </a:lnTo>
                <a:lnTo>
                  <a:pt x="2813836" y="194087"/>
                </a:lnTo>
                <a:lnTo>
                  <a:pt x="2899104" y="192142"/>
                </a:lnTo>
                <a:lnTo>
                  <a:pt x="2984372" y="190102"/>
                </a:lnTo>
                <a:lnTo>
                  <a:pt x="3069640" y="187944"/>
                </a:lnTo>
                <a:lnTo>
                  <a:pt x="3154908" y="185658"/>
                </a:lnTo>
                <a:lnTo>
                  <a:pt x="3240175" y="183218"/>
                </a:lnTo>
                <a:lnTo>
                  <a:pt x="3325443" y="180615"/>
                </a:lnTo>
                <a:lnTo>
                  <a:pt x="3410711" y="177871"/>
                </a:lnTo>
                <a:lnTo>
                  <a:pt x="3495979" y="174963"/>
                </a:lnTo>
                <a:lnTo>
                  <a:pt x="3581247" y="171909"/>
                </a:lnTo>
                <a:lnTo>
                  <a:pt x="3666514" y="168705"/>
                </a:lnTo>
                <a:lnTo>
                  <a:pt x="3751782" y="165337"/>
                </a:lnTo>
                <a:lnTo>
                  <a:pt x="3837050" y="161828"/>
                </a:lnTo>
                <a:lnTo>
                  <a:pt x="3922318" y="158170"/>
                </a:lnTo>
                <a:lnTo>
                  <a:pt x="4007586" y="154362"/>
                </a:lnTo>
                <a:lnTo>
                  <a:pt x="4092853" y="150409"/>
                </a:lnTo>
                <a:lnTo>
                  <a:pt x="4178121" y="146277"/>
                </a:lnTo>
                <a:lnTo>
                  <a:pt x="4263389" y="141992"/>
                </a:lnTo>
                <a:lnTo>
                  <a:pt x="4348657" y="137511"/>
                </a:lnTo>
                <a:lnTo>
                  <a:pt x="4433924" y="132860"/>
                </a:lnTo>
                <a:lnTo>
                  <a:pt x="4519192" y="128041"/>
                </a:lnTo>
                <a:lnTo>
                  <a:pt x="4604460" y="123059"/>
                </a:lnTo>
                <a:lnTo>
                  <a:pt x="4689728" y="117935"/>
                </a:lnTo>
                <a:lnTo>
                  <a:pt x="4774996" y="112670"/>
                </a:lnTo>
                <a:lnTo>
                  <a:pt x="4860263" y="107318"/>
                </a:lnTo>
                <a:lnTo>
                  <a:pt x="4945531" y="101892"/>
                </a:lnTo>
                <a:lnTo>
                  <a:pt x="5030799" y="96427"/>
                </a:lnTo>
                <a:lnTo>
                  <a:pt x="5116067" y="90949"/>
                </a:lnTo>
                <a:lnTo>
                  <a:pt x="5201335" y="85498"/>
                </a:lnTo>
                <a:lnTo>
                  <a:pt x="5286602" y="80064"/>
                </a:lnTo>
                <a:lnTo>
                  <a:pt x="5371870" y="74695"/>
                </a:lnTo>
                <a:lnTo>
                  <a:pt x="5457138" y="69383"/>
                </a:lnTo>
                <a:lnTo>
                  <a:pt x="5542406" y="64131"/>
                </a:lnTo>
                <a:lnTo>
                  <a:pt x="5627673" y="58975"/>
                </a:lnTo>
                <a:lnTo>
                  <a:pt x="5712941" y="53911"/>
                </a:lnTo>
                <a:lnTo>
                  <a:pt x="5798209" y="48942"/>
                </a:lnTo>
                <a:lnTo>
                  <a:pt x="5883477" y="44098"/>
                </a:lnTo>
                <a:lnTo>
                  <a:pt x="5968745" y="39369"/>
                </a:lnTo>
                <a:lnTo>
                  <a:pt x="6054012" y="34776"/>
                </a:lnTo>
                <a:lnTo>
                  <a:pt x="6139280" y="30321"/>
                </a:lnTo>
                <a:lnTo>
                  <a:pt x="6224548" y="26012"/>
                </a:lnTo>
                <a:lnTo>
                  <a:pt x="6309816" y="21846"/>
                </a:lnTo>
                <a:lnTo>
                  <a:pt x="6395084" y="17820"/>
                </a:lnTo>
                <a:lnTo>
                  <a:pt x="6480351" y="13952"/>
                </a:lnTo>
                <a:lnTo>
                  <a:pt x="6565619" y="10233"/>
                </a:lnTo>
                <a:lnTo>
                  <a:pt x="6650887" y="6670"/>
                </a:lnTo>
                <a:lnTo>
                  <a:pt x="6736155" y="3254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94111" y="482225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151" name="bfa: пример"/>
          <p:cNvSpPr/>
          <p:nvPr/>
        </p:nvSpPr>
        <p:spPr>
          <a:xfrm>
            <a:off x="932688" y="4742889"/>
            <a:ext cx="6821423" cy="288214"/>
          </a:xfrm>
          <a:custGeom>
            <a:avLst/>
            <a:gdLst/>
            <a:ahLst/>
            <a:cxnLst/>
            <a:rect l="l" t="t" r="r" b="b"/>
            <a:pathLst>
              <a:path w="6821423" h="288214">
                <a:moveTo>
                  <a:pt x="0" y="238741"/>
                </a:moveTo>
                <a:lnTo>
                  <a:pt x="35528" y="241131"/>
                </a:lnTo>
                <a:lnTo>
                  <a:pt x="71056" y="243476"/>
                </a:lnTo>
                <a:lnTo>
                  <a:pt x="106584" y="245838"/>
                </a:lnTo>
                <a:lnTo>
                  <a:pt x="142112" y="248102"/>
                </a:lnTo>
                <a:lnTo>
                  <a:pt x="177641" y="250382"/>
                </a:lnTo>
                <a:lnTo>
                  <a:pt x="213169" y="252576"/>
                </a:lnTo>
                <a:lnTo>
                  <a:pt x="248697" y="254791"/>
                </a:lnTo>
                <a:lnTo>
                  <a:pt x="284225" y="256913"/>
                </a:lnTo>
                <a:lnTo>
                  <a:pt x="319754" y="259009"/>
                </a:lnTo>
                <a:lnTo>
                  <a:pt x="355282" y="261115"/>
                </a:lnTo>
                <a:lnTo>
                  <a:pt x="390810" y="263135"/>
                </a:lnTo>
                <a:lnTo>
                  <a:pt x="426338" y="265155"/>
                </a:lnTo>
                <a:lnTo>
                  <a:pt x="532923" y="269820"/>
                </a:lnTo>
                <a:lnTo>
                  <a:pt x="639508" y="273902"/>
                </a:lnTo>
                <a:lnTo>
                  <a:pt x="746093" y="277436"/>
                </a:lnTo>
                <a:lnTo>
                  <a:pt x="852677" y="280523"/>
                </a:lnTo>
                <a:lnTo>
                  <a:pt x="959262" y="283326"/>
                </a:lnTo>
                <a:lnTo>
                  <a:pt x="1065847" y="285890"/>
                </a:lnTo>
                <a:lnTo>
                  <a:pt x="1172432" y="288214"/>
                </a:lnTo>
                <a:lnTo>
                  <a:pt x="1279016" y="285799"/>
                </a:lnTo>
                <a:lnTo>
                  <a:pt x="1385601" y="286818"/>
                </a:lnTo>
                <a:lnTo>
                  <a:pt x="1492186" y="287303"/>
                </a:lnTo>
                <a:lnTo>
                  <a:pt x="1598771" y="287259"/>
                </a:lnTo>
                <a:lnTo>
                  <a:pt x="1705355" y="286737"/>
                </a:lnTo>
                <a:lnTo>
                  <a:pt x="1811940" y="285832"/>
                </a:lnTo>
                <a:lnTo>
                  <a:pt x="1918525" y="284616"/>
                </a:lnTo>
                <a:lnTo>
                  <a:pt x="2025109" y="283142"/>
                </a:lnTo>
                <a:lnTo>
                  <a:pt x="2131694" y="281446"/>
                </a:lnTo>
                <a:lnTo>
                  <a:pt x="2238279" y="279563"/>
                </a:lnTo>
                <a:lnTo>
                  <a:pt x="2344864" y="277517"/>
                </a:lnTo>
                <a:lnTo>
                  <a:pt x="2451448" y="275321"/>
                </a:lnTo>
                <a:lnTo>
                  <a:pt x="2558033" y="272977"/>
                </a:lnTo>
                <a:lnTo>
                  <a:pt x="2664618" y="270503"/>
                </a:lnTo>
                <a:lnTo>
                  <a:pt x="2771203" y="267890"/>
                </a:lnTo>
                <a:lnTo>
                  <a:pt x="2877787" y="265140"/>
                </a:lnTo>
                <a:lnTo>
                  <a:pt x="2984372" y="262217"/>
                </a:lnTo>
                <a:lnTo>
                  <a:pt x="3055429" y="260344"/>
                </a:lnTo>
                <a:lnTo>
                  <a:pt x="3126485" y="258363"/>
                </a:lnTo>
                <a:lnTo>
                  <a:pt x="3197542" y="256274"/>
                </a:lnTo>
                <a:lnTo>
                  <a:pt x="3268598" y="254057"/>
                </a:lnTo>
                <a:lnTo>
                  <a:pt x="3339655" y="251716"/>
                </a:lnTo>
                <a:lnTo>
                  <a:pt x="3410711" y="249260"/>
                </a:lnTo>
                <a:lnTo>
                  <a:pt x="3481767" y="246688"/>
                </a:lnTo>
                <a:lnTo>
                  <a:pt x="3552824" y="243998"/>
                </a:lnTo>
                <a:lnTo>
                  <a:pt x="3623880" y="241196"/>
                </a:lnTo>
                <a:lnTo>
                  <a:pt x="3694937" y="238264"/>
                </a:lnTo>
                <a:lnTo>
                  <a:pt x="3765993" y="235226"/>
                </a:lnTo>
                <a:lnTo>
                  <a:pt x="3837050" y="232078"/>
                </a:lnTo>
                <a:lnTo>
                  <a:pt x="3908106" y="228820"/>
                </a:lnTo>
                <a:lnTo>
                  <a:pt x="3979163" y="225453"/>
                </a:lnTo>
                <a:lnTo>
                  <a:pt x="4050219" y="221977"/>
                </a:lnTo>
                <a:lnTo>
                  <a:pt x="4121276" y="218379"/>
                </a:lnTo>
                <a:lnTo>
                  <a:pt x="4192332" y="214659"/>
                </a:lnTo>
                <a:lnTo>
                  <a:pt x="4263389" y="210817"/>
                </a:lnTo>
                <a:lnTo>
                  <a:pt x="4334445" y="206841"/>
                </a:lnTo>
                <a:lnTo>
                  <a:pt x="4405502" y="202734"/>
                </a:lnTo>
                <a:lnTo>
                  <a:pt x="4476558" y="198508"/>
                </a:lnTo>
                <a:lnTo>
                  <a:pt x="4547615" y="194151"/>
                </a:lnTo>
                <a:lnTo>
                  <a:pt x="4618671" y="189693"/>
                </a:lnTo>
                <a:lnTo>
                  <a:pt x="4689728" y="185128"/>
                </a:lnTo>
                <a:lnTo>
                  <a:pt x="4725256" y="182450"/>
                </a:lnTo>
                <a:lnTo>
                  <a:pt x="4760784" y="179746"/>
                </a:lnTo>
                <a:lnTo>
                  <a:pt x="4796313" y="177026"/>
                </a:lnTo>
                <a:lnTo>
                  <a:pt x="4831841" y="174285"/>
                </a:lnTo>
                <a:lnTo>
                  <a:pt x="4867369" y="171527"/>
                </a:lnTo>
                <a:lnTo>
                  <a:pt x="4902897" y="168752"/>
                </a:lnTo>
                <a:lnTo>
                  <a:pt x="4938426" y="165969"/>
                </a:lnTo>
                <a:lnTo>
                  <a:pt x="4973954" y="163169"/>
                </a:lnTo>
                <a:lnTo>
                  <a:pt x="5009482" y="160371"/>
                </a:lnTo>
                <a:lnTo>
                  <a:pt x="5045010" y="157570"/>
                </a:lnTo>
                <a:lnTo>
                  <a:pt x="5080539" y="154761"/>
                </a:lnTo>
                <a:lnTo>
                  <a:pt x="5116067" y="151949"/>
                </a:lnTo>
                <a:lnTo>
                  <a:pt x="5151595" y="148371"/>
                </a:lnTo>
                <a:lnTo>
                  <a:pt x="5187123" y="144788"/>
                </a:lnTo>
                <a:lnTo>
                  <a:pt x="5222651" y="141196"/>
                </a:lnTo>
                <a:lnTo>
                  <a:pt x="5258180" y="137595"/>
                </a:lnTo>
                <a:lnTo>
                  <a:pt x="5293708" y="133993"/>
                </a:lnTo>
                <a:lnTo>
                  <a:pt x="5329236" y="130397"/>
                </a:lnTo>
                <a:lnTo>
                  <a:pt x="5364764" y="126795"/>
                </a:lnTo>
                <a:lnTo>
                  <a:pt x="5400293" y="123194"/>
                </a:lnTo>
                <a:lnTo>
                  <a:pt x="5435821" y="119592"/>
                </a:lnTo>
                <a:lnTo>
                  <a:pt x="5471349" y="115994"/>
                </a:lnTo>
                <a:lnTo>
                  <a:pt x="5506877" y="112392"/>
                </a:lnTo>
                <a:lnTo>
                  <a:pt x="5542406" y="108798"/>
                </a:lnTo>
                <a:lnTo>
                  <a:pt x="5577934" y="105214"/>
                </a:lnTo>
                <a:lnTo>
                  <a:pt x="5613462" y="101629"/>
                </a:lnTo>
                <a:lnTo>
                  <a:pt x="5648990" y="98053"/>
                </a:lnTo>
                <a:lnTo>
                  <a:pt x="5684519" y="94486"/>
                </a:lnTo>
                <a:lnTo>
                  <a:pt x="5720047" y="90923"/>
                </a:lnTo>
                <a:lnTo>
                  <a:pt x="5755575" y="87370"/>
                </a:lnTo>
                <a:lnTo>
                  <a:pt x="5791103" y="83825"/>
                </a:lnTo>
                <a:lnTo>
                  <a:pt x="5826632" y="80294"/>
                </a:lnTo>
                <a:lnTo>
                  <a:pt x="5862160" y="76772"/>
                </a:lnTo>
                <a:lnTo>
                  <a:pt x="5897688" y="73264"/>
                </a:lnTo>
                <a:lnTo>
                  <a:pt x="5933216" y="69769"/>
                </a:lnTo>
                <a:lnTo>
                  <a:pt x="5968745" y="66283"/>
                </a:lnTo>
                <a:lnTo>
                  <a:pt x="6039801" y="60282"/>
                </a:lnTo>
                <a:lnTo>
                  <a:pt x="6110858" y="54367"/>
                </a:lnTo>
                <a:lnTo>
                  <a:pt x="6181914" y="48534"/>
                </a:lnTo>
                <a:lnTo>
                  <a:pt x="6252971" y="42783"/>
                </a:lnTo>
                <a:lnTo>
                  <a:pt x="6324027" y="37123"/>
                </a:lnTo>
                <a:lnTo>
                  <a:pt x="6395084" y="31547"/>
                </a:lnTo>
                <a:lnTo>
                  <a:pt x="6466140" y="26061"/>
                </a:lnTo>
                <a:lnTo>
                  <a:pt x="6537197" y="20664"/>
                </a:lnTo>
                <a:lnTo>
                  <a:pt x="6608253" y="15362"/>
                </a:lnTo>
                <a:lnTo>
                  <a:pt x="6679310" y="10149"/>
                </a:lnTo>
                <a:lnTo>
                  <a:pt x="6750366" y="5024"/>
                </a:lnTo>
                <a:lnTo>
                  <a:pt x="6821423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bfa: точка 2"/>
          <p:cNvSpPr/>
          <p:nvPr/>
        </p:nvSpPr>
        <p:spPr>
          <a:xfrm>
            <a:off x="874688" y="4923630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bfa: точка 3"/>
          <p:cNvSpPr/>
          <p:nvPr/>
        </p:nvSpPr>
        <p:spPr>
          <a:xfrm>
            <a:off x="1301026" y="495004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bfa: точка 6"/>
          <p:cNvSpPr/>
          <p:nvPr/>
        </p:nvSpPr>
        <p:spPr>
          <a:xfrm>
            <a:off x="2580043" y="497162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bfa: точка 9"/>
          <p:cNvSpPr/>
          <p:nvPr/>
        </p:nvSpPr>
        <p:spPr>
          <a:xfrm>
            <a:off x="3859060" y="494710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bfa: точка 11"/>
          <p:cNvSpPr/>
          <p:nvPr/>
        </p:nvSpPr>
        <p:spPr>
          <a:xfrm>
            <a:off x="4711738" y="491696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bfa: точка 13"/>
          <p:cNvSpPr/>
          <p:nvPr/>
        </p:nvSpPr>
        <p:spPr>
          <a:xfrm>
            <a:off x="5564416" y="487001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bfa: точка 14"/>
          <p:cNvSpPr/>
          <p:nvPr/>
        </p:nvSpPr>
        <p:spPr>
          <a:xfrm>
            <a:off x="5990755" y="4836838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bfa: точка 15"/>
          <p:cNvSpPr/>
          <p:nvPr/>
        </p:nvSpPr>
        <p:spPr>
          <a:xfrm>
            <a:off x="6417094" y="479368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bfa: точка 16"/>
          <p:cNvSpPr/>
          <p:nvPr/>
        </p:nvSpPr>
        <p:spPr>
          <a:xfrm>
            <a:off x="6843433" y="4751172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bfa: точка 18"/>
          <p:cNvSpPr/>
          <p:nvPr/>
        </p:nvSpPr>
        <p:spPr>
          <a:xfrm>
            <a:off x="7696111" y="4684889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48640" y="3937037"/>
            <a:ext cx="7498079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ИМТ для возраста, кг/м²</a:t>
            </a:r>
          </a:p>
        </p:txBody>
      </p:sp>
      <p:sp>
        <p:nvSpPr>
          <p:cNvPr id="163" name="Легенда"/>
          <p:cNvSpPr/>
          <p:nvPr/>
        </p:nvSpPr>
        <p:spPr>
          <a:xfrm>
            <a:off x="548640" y="5550408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Легенда"/>
          <p:cNvSpPr txBox="1"/>
          <p:nvPr/>
        </p:nvSpPr>
        <p:spPr>
          <a:xfrm>
            <a:off x="89611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165" name="Легенда"/>
          <p:cNvSpPr/>
          <p:nvPr/>
        </p:nvSpPr>
        <p:spPr>
          <a:xfrm>
            <a:off x="2560320" y="5550408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Легенда"/>
          <p:cNvSpPr txBox="1"/>
          <p:nvPr/>
        </p:nvSpPr>
        <p:spPr>
          <a:xfrm>
            <a:off x="290779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ИМТ</a:t>
            </a:r>
          </a:p>
        </p:txBody>
      </p:sp>
      <p:sp>
        <p:nvSpPr>
          <p:cNvPr id="167" name="Легенда"/>
          <p:cNvSpPr/>
          <p:nvPr/>
        </p:nvSpPr>
        <p:spPr>
          <a:xfrm>
            <a:off x="4572000" y="5550408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Легенда"/>
          <p:cNvSpPr txBox="1"/>
          <p:nvPr/>
        </p:nvSpPr>
        <p:spPr>
          <a:xfrm>
            <a:off x="491947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ВОЗ: 3–⁠97-й центиль</a:t>
            </a:r>
          </a:p>
        </p:txBody>
      </p:sp>
      <p:sp>
        <p:nvSpPr>
          <p:cNvPr id="169" name="Текст"/>
          <p:cNvSpPr txBox="1"/>
          <p:nvPr/>
        </p:nvSpPr>
        <p:spPr>
          <a:xfrm>
            <a:off x="8412479" y="1783080"/>
            <a:ext cx="3230576" cy="397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Ретроспективно у 31 из 70 мужчин рост в СО снижался уже в 3–⁠9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Родственники 1-й степени с задержкой: 80 % из 95 мальчиков и 75 % из 29 девочек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чаще в целевом диапазоне, но в части когорт на 0,6 СО ниже</a:t>
            </a:r>
          </a:p>
        </p:txBody>
      </p:sp>
      <p:sp>
        <p:nvSpPr>
          <p:cNvPr id="17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Wehkalampi K et al. Horm Res 2007;68:99–⁠104; Wehkalampi K et al. J Clin Endocrinol Metab 2008;93:723–⁠8; Akın Kağızmanlı G et al. J Clin Res Pediatr Endocrinol 2025;17:410–⁠8; Adan L et al. J Clin Endocrinol Metab 1994;78:478–⁠82; Persani L et al. Endocrine 2021;71:681–⁠8; WHO Multicentre Growth Reference Study Group. Acta Paediatr Suppl 2006;450:76–⁠85 (нормы ВОЗ); de Onis M et al. Bull World Health Organ 2007;85:660–⁠7 (нормы ВОЗ)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Пубертат задержан, если к 13 годам нет телархе, а к 14 объём яичка меньше 4 мл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Норма начала пубертата: девочки 8–⁠13 лет, мальчики 9–⁠14; позже ребёнка должен осмотреть специалист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Объём яичка у мальчика определяют по орхидометру Прадера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Нет менархе через 3 года после телархе: подумайте об обследовании (обзор 2021 года)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Телархе за десятилетие наступает на 0,24 года раньше (1977–⁠2013), пороги задержки в руководствах прежние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2022;186:G9–G49; Seppä S et al. Eur J Endocrinol 2021;184:R225–R242; Eckert-Lind C et al. JAMA Pediatr 2020;174:e195881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Причин четыре группы, и у девочек конституциональная задержка встречается вдвое реже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3054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910326"/>
                <a:gridCol w="3000948"/>
                <a:gridCol w="4183140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Группа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Доля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Что за ней стоит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Конституциональная задержка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53 %: мальчики 63 %, девочки 30 %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вариант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Функциональный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болезнь, ограничение питания, нагрузки, анорексия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Стойкий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врождённый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Гипергонадотропный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13 %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синдром Тернера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Не удалось отнести к группе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3 %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837176"/>
            <a:ext cx="11094415" cy="923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158 мальчиков и 74 девочки с задержкой пубертата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Sedlmeyer IL, Palmert MR. J Clin Endocrinol Metab 2002;87:1613–⁠20; Persani L et al. Endocrine 2021;71:681–⁠8; Varimo T et al. Hum Reprod 2017;32:147–⁠53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Аносмия, микропенис и крипторхизм указывают на врождённый гипогонадизм, а не на задержку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Обоняние снижено или отсутствует примерно у половины больных, по другой оценке реже: синдром Каллмана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новорождённого мальчика: микропенис и крипторхизм, особенно двусторонний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Крипторхизм в анамнезе: отношение шансов стойкого гипогонадизма 17,2 (95 % доверительный интервал 3,4–⁠85,4)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Расщелина губы или нёба, тугоухость, бимануальные синкинезии, изменения костей пальцев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Нистагм, дальтонизм; аномалии почек частые, поэтому их ищут ультразвуковым исследованием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Boehm U et al. Nat Rev Endocrinol 2015;11:547–⁠64; Persani L et al. Endocrine 2021;71:681–⁠8; Varimo T et al. Hum Reprod 2017;32:147–⁠53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Анализы сужают выбор между задержкой и врождённым гипогонадизмом, окончательно решает время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4825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910642"/>
                <a:gridCol w="2000632"/>
                <a:gridCol w="2182507"/>
                <a:gridCol w="2000632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Показатель у мальчиков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Порог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ЛГ (лютеинизирующий гормон)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0,3 МЕ/л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88 %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ЛГ через 4 ч после трипторелина 0,1 мг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5,3 МЕ/л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111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&lt; 3 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≤ 35 пг/мл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3–⁠6 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≤ 65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80–⁠86 %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88–⁠92 %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265676"/>
            <a:ext cx="11094415" cy="1495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Пороги из разных когорт и наборов, только у мальчиков; рутинного теста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Нет пубертата после короткого курса малых доз тестостерона: довод за врождённый гипогонадизм (мнение экспертов)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Binder G et al. Clin Endocrinol (Oxf) 2015;82:100–⁠5; Coutant R et al. J Clin Endocrinol Metab 2010;95:5225–⁠32; Harrington J, Palmert MR. J Clin Endocrinol Metab 2012;97:3056–⁠67; Persani L et al. Endocrine 2021;71:681–⁠8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Без эстрогенов нет скачка и зоны роста долго открыты: при врождённом гипогонадизме рост высокий</a:t>
            </a:r>
          </a:p>
        </p:txBody>
      </p:sp>
      <p:sp>
        <p:nvSpPr>
          <p:cNvPr id="3" name="Шаг: Тестостерон"/>
          <p:cNvSpPr/>
          <p:nvPr/>
        </p:nvSpPr>
        <p:spPr>
          <a:xfrm>
            <a:off x="548640" y="1554480"/>
            <a:ext cx="2464993" cy="141732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Шаг"/>
          <p:cNvSpPr txBox="1"/>
          <p:nvPr/>
        </p:nvSpPr>
        <p:spPr>
          <a:xfrm>
            <a:off x="658368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Тестостерон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B9C7D0"/>
                </a:solidFill>
                <a:latin typeface="Calibri"/>
              </a:rPr>
              <a:t>у мальчиков около 80 % эстрогенов образуется вне яичек из тестостерона и андростендиона</a:t>
            </a:r>
          </a:p>
        </p:txBody>
      </p:sp>
      <p:cxnSp>
        <p:nvCxnSpPr>
          <p:cNvPr id="5" name="Стрелка"/>
          <p:cNvCxnSpPr/>
          <p:nvPr/>
        </p:nvCxnSpPr>
        <p:spPr>
          <a:xfrm>
            <a:off x="3059353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Шаг: Эстрогены"/>
          <p:cNvSpPr/>
          <p:nvPr/>
        </p:nvSpPr>
        <p:spPr>
          <a:xfrm>
            <a:off x="3425113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Шаг"/>
          <p:cNvSpPr txBox="1"/>
          <p:nvPr/>
        </p:nvSpPr>
        <p:spPr>
          <a:xfrm>
            <a:off x="3534841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Эстрогены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у девочек из яичников, у мальчиков через ароматазу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35827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Шаг: СТГ и ИФР-1"/>
          <p:cNvSpPr/>
          <p:nvPr/>
        </p:nvSpPr>
        <p:spPr>
          <a:xfrm>
            <a:off x="6301587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г"/>
          <p:cNvSpPr txBox="1"/>
          <p:nvPr/>
        </p:nvSpPr>
        <p:spPr>
          <a:xfrm>
            <a:off x="6411315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СТГ и ИФР-⁠1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вероятно, растут под действием эстрогенов: пубертатный скачок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8812301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Шаг: Зона роста"/>
          <p:cNvSpPr/>
          <p:nvPr/>
        </p:nvSpPr>
        <p:spPr>
          <a:xfrm>
            <a:off x="9178061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г"/>
          <p:cNvSpPr txBox="1"/>
          <p:nvPr/>
        </p:nvSpPr>
        <p:spPr>
          <a:xfrm>
            <a:off x="9287789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стареет быстрее, закрытие приближается (у кроликов)</a:t>
            </a:r>
          </a:p>
        </p:txBody>
      </p:sp>
      <p:cxnSp>
        <p:nvCxnSpPr>
          <p:cNvPr id="14" name="Сценарий"/>
          <p:cNvCxnSpPr/>
          <p:nvPr/>
        </p:nvCxnSpPr>
        <p:spPr>
          <a:xfrm>
            <a:off x="548640" y="3383280"/>
            <a:ext cx="5410047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Сценарий"/>
          <p:cNvSpPr txBox="1"/>
          <p:nvPr/>
        </p:nvSpPr>
        <p:spPr>
          <a:xfrm>
            <a:off x="548640" y="3474720"/>
            <a:ext cx="5410047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Врождённый гипогонадизм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скачка нет, зоны роста открыты: рост часто относительно высокий, облик евнухоидный</a:t>
            </a:r>
          </a:p>
        </p:txBody>
      </p:sp>
      <p:cxnSp>
        <p:nvCxnSpPr>
          <p:cNvPr id="16" name="Сценарий"/>
          <p:cNvCxnSpPr/>
          <p:nvPr/>
        </p:nvCxnSpPr>
        <p:spPr>
          <a:xfrm>
            <a:off x="6233007" y="3383280"/>
            <a:ext cx="5410048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Сценарий"/>
          <p:cNvSpPr txBox="1"/>
          <p:nvPr/>
        </p:nvSpPr>
        <p:spPr>
          <a:xfrm>
            <a:off x="6233007" y="3474720"/>
            <a:ext cx="5410047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Нет рецептора эстрогенов или ароматазы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описаны мужчины ростом 204 см: в 24 и 28 лет зоны роста закрыты не полностью</a:t>
            </a:r>
          </a:p>
        </p:txBody>
      </p:sp>
      <p:sp>
        <p:nvSpPr>
          <p:cNvPr id="18" name="Вывод схемы"/>
          <p:cNvSpPr txBox="1"/>
          <p:nvPr/>
        </p:nvSpPr>
        <p:spPr>
          <a:xfrm>
            <a:off x="548640" y="493776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Низкий рост при гипогонадизме: ищите вторую причину. Медленный темп и малая масса могут указывать на функциональную форму; бывают синдром Тернера, дефицит нескольких гормонов гипофиза, синдром Прадера — Вилли</a:t>
            </a:r>
          </a:p>
        </p:txBody>
      </p:sp>
      <p:sp>
        <p:nvSpPr>
          <p:cNvPr id="19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Grumbach MM. J Pediatr Endocrinol Metab 2000;13 Suppl 6:1439–⁠55; Juul A. Hum Reprod Update 2001;7:303–⁠13; Weise M et al. Proc Natl Acad Sci USA 2001;98:6871–⁠6; Smith EP et al. N Engl J Med 1994;331:1056–⁠61; Morishima A et al. J Clin Endocrinol Metab 1995;80:3689–⁠98; Persani L et al. Endocrine 2021;71:681–⁠8; Nordenström A et al. Eur J Endocrinol 2022;186:G9–G49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Кариотип нужен каждой девочке с необъяснённой низкорослостью, даже без признаков Тернера</a:t>
            </a:r>
          </a:p>
        </p:txBody>
      </p:sp>
      <p:sp>
        <p:nvSpPr>
          <p:cNvPr id="3" name="hfa: сетка 75"/>
          <p:cNvSpPr/>
          <p:nvPr/>
        </p:nvSpPr>
        <p:spPr>
          <a:xfrm>
            <a:off x="932688" y="368411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fa: сетка 80"/>
          <p:cNvSpPr/>
          <p:nvPr/>
        </p:nvSpPr>
        <p:spPr>
          <a:xfrm>
            <a:off x="932688" y="359359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51359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80</a:t>
            </a:r>
          </a:p>
        </p:txBody>
      </p:sp>
      <p:sp>
        <p:nvSpPr>
          <p:cNvPr id="6" name="hfa: сетка 85"/>
          <p:cNvSpPr/>
          <p:nvPr/>
        </p:nvSpPr>
        <p:spPr>
          <a:xfrm>
            <a:off x="932688" y="350306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fa: сетка 90"/>
          <p:cNvSpPr/>
          <p:nvPr/>
        </p:nvSpPr>
        <p:spPr>
          <a:xfrm>
            <a:off x="932688" y="341254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3254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90</a:t>
            </a:r>
          </a:p>
        </p:txBody>
      </p:sp>
      <p:sp>
        <p:nvSpPr>
          <p:cNvPr id="9" name="hfa: сетка 95"/>
          <p:cNvSpPr/>
          <p:nvPr/>
        </p:nvSpPr>
        <p:spPr>
          <a:xfrm>
            <a:off x="932688" y="332201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fa: сетка 100"/>
          <p:cNvSpPr/>
          <p:nvPr/>
        </p:nvSpPr>
        <p:spPr>
          <a:xfrm>
            <a:off x="932688" y="323148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51489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100</a:t>
            </a:r>
          </a:p>
        </p:txBody>
      </p:sp>
      <p:sp>
        <p:nvSpPr>
          <p:cNvPr id="12" name="hfa: сетка 105"/>
          <p:cNvSpPr/>
          <p:nvPr/>
        </p:nvSpPr>
        <p:spPr>
          <a:xfrm>
            <a:off x="932688" y="314096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fa: сетка 110"/>
          <p:cNvSpPr/>
          <p:nvPr/>
        </p:nvSpPr>
        <p:spPr>
          <a:xfrm>
            <a:off x="932688" y="305043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7043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110</a:t>
            </a:r>
          </a:p>
        </p:txBody>
      </p:sp>
      <p:sp>
        <p:nvSpPr>
          <p:cNvPr id="15" name="hfa: сетка 115"/>
          <p:cNvSpPr/>
          <p:nvPr/>
        </p:nvSpPr>
        <p:spPr>
          <a:xfrm>
            <a:off x="932688" y="295991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fa: сетка 120"/>
          <p:cNvSpPr/>
          <p:nvPr/>
        </p:nvSpPr>
        <p:spPr>
          <a:xfrm>
            <a:off x="932688" y="286938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89387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120</a:t>
            </a:r>
          </a:p>
        </p:txBody>
      </p:sp>
      <p:sp>
        <p:nvSpPr>
          <p:cNvPr id="18" name="hfa: сетка 125"/>
          <p:cNvSpPr/>
          <p:nvPr/>
        </p:nvSpPr>
        <p:spPr>
          <a:xfrm>
            <a:off x="932688" y="277886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fa: сетка 130"/>
          <p:cNvSpPr/>
          <p:nvPr/>
        </p:nvSpPr>
        <p:spPr>
          <a:xfrm>
            <a:off x="932688" y="268833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08336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130</a:t>
            </a:r>
          </a:p>
        </p:txBody>
      </p:sp>
      <p:sp>
        <p:nvSpPr>
          <p:cNvPr id="21" name="hfa: сетка 135"/>
          <p:cNvSpPr/>
          <p:nvPr/>
        </p:nvSpPr>
        <p:spPr>
          <a:xfrm>
            <a:off x="932688" y="259781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fa: сетка 140"/>
          <p:cNvSpPr/>
          <p:nvPr/>
        </p:nvSpPr>
        <p:spPr>
          <a:xfrm>
            <a:off x="932688" y="250728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427284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140</a:t>
            </a:r>
          </a:p>
        </p:txBody>
      </p:sp>
      <p:sp>
        <p:nvSpPr>
          <p:cNvPr id="24" name="hfa: сетка 145"/>
          <p:cNvSpPr/>
          <p:nvPr/>
        </p:nvSpPr>
        <p:spPr>
          <a:xfrm>
            <a:off x="932688" y="241675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fa: сетка 150"/>
          <p:cNvSpPr/>
          <p:nvPr/>
        </p:nvSpPr>
        <p:spPr>
          <a:xfrm>
            <a:off x="932688" y="2326233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246233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150</a:t>
            </a:r>
          </a:p>
        </p:txBody>
      </p:sp>
      <p:sp>
        <p:nvSpPr>
          <p:cNvPr id="27" name="hfa: сетка 155"/>
          <p:cNvSpPr/>
          <p:nvPr/>
        </p:nvSpPr>
        <p:spPr>
          <a:xfrm>
            <a:off x="932688" y="223570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fa: сетка 160"/>
          <p:cNvSpPr/>
          <p:nvPr/>
        </p:nvSpPr>
        <p:spPr>
          <a:xfrm>
            <a:off x="932688" y="214518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06518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160</a:t>
            </a:r>
          </a:p>
        </p:txBody>
      </p:sp>
      <p:sp>
        <p:nvSpPr>
          <p:cNvPr id="30" name="hfa: сетка 165"/>
          <p:cNvSpPr/>
          <p:nvPr/>
        </p:nvSpPr>
        <p:spPr>
          <a:xfrm>
            <a:off x="932688" y="205465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fa: сетка 170"/>
          <p:cNvSpPr/>
          <p:nvPr/>
        </p:nvSpPr>
        <p:spPr>
          <a:xfrm>
            <a:off x="932688" y="196413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188413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170</a:t>
            </a:r>
          </a:p>
        </p:txBody>
      </p:sp>
      <p:sp>
        <p:nvSpPr>
          <p:cNvPr id="33" name="hfa: сетка 175"/>
          <p:cNvSpPr/>
          <p:nvPr/>
        </p:nvSpPr>
        <p:spPr>
          <a:xfrm>
            <a:off x="932688" y="187360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fa: сетка 180"/>
          <p:cNvSpPr/>
          <p:nvPr/>
        </p:nvSpPr>
        <p:spPr>
          <a:xfrm>
            <a:off x="932688" y="178308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70308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180</a:t>
            </a:r>
          </a:p>
        </p:txBody>
      </p:sp>
      <p:sp>
        <p:nvSpPr>
          <p:cNvPr id="36" name="hfa: год 2"/>
          <p:cNvSpPr/>
          <p:nvPr/>
        </p:nvSpPr>
        <p:spPr>
          <a:xfrm>
            <a:off x="932688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2688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38" name="hfa: год 3"/>
          <p:cNvSpPr/>
          <p:nvPr/>
        </p:nvSpPr>
        <p:spPr>
          <a:xfrm>
            <a:off x="150113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fa: год 4"/>
          <p:cNvSpPr/>
          <p:nvPr/>
        </p:nvSpPr>
        <p:spPr>
          <a:xfrm>
            <a:off x="206959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1959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1" name="hfa: год 5"/>
          <p:cNvSpPr/>
          <p:nvPr/>
        </p:nvSpPr>
        <p:spPr>
          <a:xfrm>
            <a:off x="263804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fa: год 6"/>
          <p:cNvSpPr/>
          <p:nvPr/>
        </p:nvSpPr>
        <p:spPr>
          <a:xfrm>
            <a:off x="320649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56495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4" name="hfa: год 7"/>
          <p:cNvSpPr/>
          <p:nvPr/>
        </p:nvSpPr>
        <p:spPr>
          <a:xfrm>
            <a:off x="3774947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fa: год 8"/>
          <p:cNvSpPr/>
          <p:nvPr/>
        </p:nvSpPr>
        <p:spPr>
          <a:xfrm>
            <a:off x="434339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93399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7" name="hfa: год 9"/>
          <p:cNvSpPr/>
          <p:nvPr/>
        </p:nvSpPr>
        <p:spPr>
          <a:xfrm>
            <a:off x="491185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fa: год 10"/>
          <p:cNvSpPr/>
          <p:nvPr/>
        </p:nvSpPr>
        <p:spPr>
          <a:xfrm>
            <a:off x="548030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30303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50" name="hfa: год 11"/>
          <p:cNvSpPr/>
          <p:nvPr/>
        </p:nvSpPr>
        <p:spPr>
          <a:xfrm>
            <a:off x="6048755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fa: год 12"/>
          <p:cNvSpPr/>
          <p:nvPr/>
        </p:nvSpPr>
        <p:spPr>
          <a:xfrm>
            <a:off x="6617207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7207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53" name="hfa: год 13"/>
          <p:cNvSpPr/>
          <p:nvPr/>
        </p:nvSpPr>
        <p:spPr>
          <a:xfrm>
            <a:off x="718565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hfa: год 14"/>
          <p:cNvSpPr/>
          <p:nvPr/>
        </p:nvSpPr>
        <p:spPr>
          <a:xfrm>
            <a:off x="775411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04111" y="3714117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56" name="hfa: ось"/>
          <p:cNvSpPr/>
          <p:nvPr/>
        </p:nvSpPr>
        <p:spPr>
          <a:xfrm>
            <a:off x="932688" y="368411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fa: полоса 3–97"/>
          <p:cNvSpPr/>
          <p:nvPr/>
        </p:nvSpPr>
        <p:spPr>
          <a:xfrm>
            <a:off x="932688" y="1912559"/>
            <a:ext cx="6821423" cy="1687186"/>
          </a:xfrm>
          <a:custGeom>
            <a:avLst/>
            <a:gdLst/>
            <a:ahLst/>
            <a:cxnLst/>
            <a:rect l="l" t="t" r="r" b="b"/>
            <a:pathLst>
              <a:path w="6821423" h="1687186">
                <a:moveTo>
                  <a:pt x="0" y="1467398"/>
                </a:moveTo>
                <a:lnTo>
                  <a:pt x="85267" y="1436420"/>
                </a:lnTo>
                <a:lnTo>
                  <a:pt x="170535" y="1406054"/>
                </a:lnTo>
                <a:lnTo>
                  <a:pt x="255803" y="1376871"/>
                </a:lnTo>
                <a:lnTo>
                  <a:pt x="341071" y="1348798"/>
                </a:lnTo>
                <a:lnTo>
                  <a:pt x="426338" y="1322181"/>
                </a:lnTo>
                <a:lnTo>
                  <a:pt x="511606" y="1295964"/>
                </a:lnTo>
                <a:lnTo>
                  <a:pt x="596874" y="1270447"/>
                </a:lnTo>
                <a:lnTo>
                  <a:pt x="682142" y="1245563"/>
                </a:lnTo>
                <a:lnTo>
                  <a:pt x="767410" y="1221243"/>
                </a:lnTo>
                <a:lnTo>
                  <a:pt x="852677" y="1197915"/>
                </a:lnTo>
                <a:lnTo>
                  <a:pt x="937945" y="1174753"/>
                </a:lnTo>
                <a:lnTo>
                  <a:pt x="1023213" y="1152115"/>
                </a:lnTo>
                <a:lnTo>
                  <a:pt x="1108481" y="1129953"/>
                </a:lnTo>
                <a:lnTo>
                  <a:pt x="1193749" y="1108581"/>
                </a:lnTo>
                <a:lnTo>
                  <a:pt x="1279016" y="1087346"/>
                </a:lnTo>
                <a:lnTo>
                  <a:pt x="1364284" y="1066419"/>
                </a:lnTo>
                <a:lnTo>
                  <a:pt x="1449552" y="1045831"/>
                </a:lnTo>
                <a:lnTo>
                  <a:pt x="1534820" y="1025807"/>
                </a:lnTo>
                <a:lnTo>
                  <a:pt x="1620087" y="1005958"/>
                </a:lnTo>
                <a:lnTo>
                  <a:pt x="1705355" y="993237"/>
                </a:lnTo>
                <a:lnTo>
                  <a:pt x="1790623" y="974055"/>
                </a:lnTo>
                <a:lnTo>
                  <a:pt x="1875891" y="955167"/>
                </a:lnTo>
                <a:lnTo>
                  <a:pt x="1961159" y="936597"/>
                </a:lnTo>
                <a:lnTo>
                  <a:pt x="2046426" y="918296"/>
                </a:lnTo>
                <a:lnTo>
                  <a:pt x="2131694" y="900269"/>
                </a:lnTo>
                <a:lnTo>
                  <a:pt x="2216962" y="882492"/>
                </a:lnTo>
                <a:lnTo>
                  <a:pt x="2302230" y="864940"/>
                </a:lnTo>
                <a:lnTo>
                  <a:pt x="2387498" y="847564"/>
                </a:lnTo>
                <a:lnTo>
                  <a:pt x="2472765" y="830311"/>
                </a:lnTo>
                <a:lnTo>
                  <a:pt x="2558033" y="813098"/>
                </a:lnTo>
                <a:lnTo>
                  <a:pt x="2643301" y="795949"/>
                </a:lnTo>
                <a:lnTo>
                  <a:pt x="2728569" y="778818"/>
                </a:lnTo>
                <a:lnTo>
                  <a:pt x="2813836" y="761682"/>
                </a:lnTo>
                <a:lnTo>
                  <a:pt x="2899104" y="744520"/>
                </a:lnTo>
                <a:lnTo>
                  <a:pt x="2984372" y="727312"/>
                </a:lnTo>
                <a:lnTo>
                  <a:pt x="3069640" y="710115"/>
                </a:lnTo>
                <a:lnTo>
                  <a:pt x="3154908" y="692829"/>
                </a:lnTo>
                <a:lnTo>
                  <a:pt x="3240175" y="675524"/>
                </a:lnTo>
                <a:lnTo>
                  <a:pt x="3325443" y="658155"/>
                </a:lnTo>
                <a:lnTo>
                  <a:pt x="3410711" y="640695"/>
                </a:lnTo>
                <a:lnTo>
                  <a:pt x="3495979" y="623171"/>
                </a:lnTo>
                <a:lnTo>
                  <a:pt x="3581247" y="605594"/>
                </a:lnTo>
                <a:lnTo>
                  <a:pt x="3666514" y="587918"/>
                </a:lnTo>
                <a:lnTo>
                  <a:pt x="3751782" y="570195"/>
                </a:lnTo>
                <a:lnTo>
                  <a:pt x="3837050" y="552354"/>
                </a:lnTo>
                <a:lnTo>
                  <a:pt x="3922318" y="534496"/>
                </a:lnTo>
                <a:lnTo>
                  <a:pt x="4007586" y="516530"/>
                </a:lnTo>
                <a:lnTo>
                  <a:pt x="4092853" y="498535"/>
                </a:lnTo>
                <a:lnTo>
                  <a:pt x="4178121" y="480464"/>
                </a:lnTo>
                <a:lnTo>
                  <a:pt x="4263389" y="462338"/>
                </a:lnTo>
                <a:lnTo>
                  <a:pt x="4348657" y="444207"/>
                </a:lnTo>
                <a:lnTo>
                  <a:pt x="4433924" y="425960"/>
                </a:lnTo>
                <a:lnTo>
                  <a:pt x="4519192" y="407678"/>
                </a:lnTo>
                <a:lnTo>
                  <a:pt x="4604460" y="389363"/>
                </a:lnTo>
                <a:lnTo>
                  <a:pt x="4689728" y="370946"/>
                </a:lnTo>
                <a:lnTo>
                  <a:pt x="4774996" y="352450"/>
                </a:lnTo>
                <a:lnTo>
                  <a:pt x="4860263" y="333880"/>
                </a:lnTo>
                <a:lnTo>
                  <a:pt x="4945531" y="315278"/>
                </a:lnTo>
                <a:lnTo>
                  <a:pt x="5030799" y="296615"/>
                </a:lnTo>
                <a:lnTo>
                  <a:pt x="5116067" y="277978"/>
                </a:lnTo>
                <a:lnTo>
                  <a:pt x="5201335" y="259408"/>
                </a:lnTo>
                <a:lnTo>
                  <a:pt x="5286602" y="240972"/>
                </a:lnTo>
                <a:lnTo>
                  <a:pt x="5371870" y="222702"/>
                </a:lnTo>
                <a:lnTo>
                  <a:pt x="5457138" y="204675"/>
                </a:lnTo>
                <a:lnTo>
                  <a:pt x="5542406" y="186966"/>
                </a:lnTo>
                <a:lnTo>
                  <a:pt x="5627673" y="169694"/>
                </a:lnTo>
                <a:lnTo>
                  <a:pt x="5712941" y="152900"/>
                </a:lnTo>
                <a:lnTo>
                  <a:pt x="5798209" y="136644"/>
                </a:lnTo>
                <a:lnTo>
                  <a:pt x="5883477" y="120990"/>
                </a:lnTo>
                <a:lnTo>
                  <a:pt x="5968745" y="106058"/>
                </a:lnTo>
                <a:lnTo>
                  <a:pt x="6054012" y="91932"/>
                </a:lnTo>
                <a:lnTo>
                  <a:pt x="6139280" y="78525"/>
                </a:lnTo>
                <a:lnTo>
                  <a:pt x="6224548" y="65930"/>
                </a:lnTo>
                <a:lnTo>
                  <a:pt x="6309816" y="54133"/>
                </a:lnTo>
                <a:lnTo>
                  <a:pt x="6395084" y="43161"/>
                </a:lnTo>
                <a:lnTo>
                  <a:pt x="6480351" y="32976"/>
                </a:lnTo>
                <a:lnTo>
                  <a:pt x="6565619" y="23630"/>
                </a:lnTo>
                <a:lnTo>
                  <a:pt x="6650887" y="15024"/>
                </a:lnTo>
                <a:lnTo>
                  <a:pt x="6736155" y="7143"/>
                </a:lnTo>
                <a:lnTo>
                  <a:pt x="6821423" y="0"/>
                </a:lnTo>
                <a:lnTo>
                  <a:pt x="6821423" y="472886"/>
                </a:lnTo>
                <a:lnTo>
                  <a:pt x="6736155" y="480395"/>
                </a:lnTo>
                <a:lnTo>
                  <a:pt x="6650887" y="488462"/>
                </a:lnTo>
                <a:lnTo>
                  <a:pt x="6565619" y="497157"/>
                </a:lnTo>
                <a:lnTo>
                  <a:pt x="6480351" y="506508"/>
                </a:lnTo>
                <a:lnTo>
                  <a:pt x="6395084" y="516463"/>
                </a:lnTo>
                <a:lnTo>
                  <a:pt x="6309816" y="527172"/>
                </a:lnTo>
                <a:lnTo>
                  <a:pt x="6224548" y="538509"/>
                </a:lnTo>
                <a:lnTo>
                  <a:pt x="6139280" y="550490"/>
                </a:lnTo>
                <a:lnTo>
                  <a:pt x="6054012" y="563068"/>
                </a:lnTo>
                <a:lnTo>
                  <a:pt x="5968745" y="576300"/>
                </a:lnTo>
                <a:lnTo>
                  <a:pt x="5883477" y="590122"/>
                </a:lnTo>
                <a:lnTo>
                  <a:pt x="5798209" y="604445"/>
                </a:lnTo>
                <a:lnTo>
                  <a:pt x="5712941" y="619264"/>
                </a:lnTo>
                <a:lnTo>
                  <a:pt x="5627673" y="634504"/>
                </a:lnTo>
                <a:lnTo>
                  <a:pt x="5542406" y="650079"/>
                </a:lnTo>
                <a:lnTo>
                  <a:pt x="5457138" y="665916"/>
                </a:lnTo>
                <a:lnTo>
                  <a:pt x="5371870" y="681954"/>
                </a:lnTo>
                <a:lnTo>
                  <a:pt x="5286602" y="698130"/>
                </a:lnTo>
                <a:lnTo>
                  <a:pt x="5201335" y="714398"/>
                </a:lnTo>
                <a:lnTo>
                  <a:pt x="5116067" y="730679"/>
                </a:lnTo>
                <a:lnTo>
                  <a:pt x="5030799" y="746935"/>
                </a:lnTo>
                <a:lnTo>
                  <a:pt x="4945531" y="763116"/>
                </a:lnTo>
                <a:lnTo>
                  <a:pt x="4860263" y="779238"/>
                </a:lnTo>
                <a:lnTo>
                  <a:pt x="4774996" y="795222"/>
                </a:lnTo>
                <a:lnTo>
                  <a:pt x="4689728" y="811085"/>
                </a:lnTo>
                <a:lnTo>
                  <a:pt x="4604460" y="826808"/>
                </a:lnTo>
                <a:lnTo>
                  <a:pt x="4519192" y="842442"/>
                </a:lnTo>
                <a:lnTo>
                  <a:pt x="4433924" y="857924"/>
                </a:lnTo>
                <a:lnTo>
                  <a:pt x="4348657" y="873273"/>
                </a:lnTo>
                <a:lnTo>
                  <a:pt x="4263389" y="888574"/>
                </a:lnTo>
                <a:lnTo>
                  <a:pt x="4178121" y="903720"/>
                </a:lnTo>
                <a:lnTo>
                  <a:pt x="4092853" y="918769"/>
                </a:lnTo>
                <a:lnTo>
                  <a:pt x="4007586" y="933740"/>
                </a:lnTo>
                <a:lnTo>
                  <a:pt x="3922318" y="948589"/>
                </a:lnTo>
                <a:lnTo>
                  <a:pt x="3837050" y="963384"/>
                </a:lnTo>
                <a:lnTo>
                  <a:pt x="3751782" y="978004"/>
                </a:lnTo>
                <a:lnTo>
                  <a:pt x="3666514" y="992563"/>
                </a:lnTo>
                <a:lnTo>
                  <a:pt x="3581247" y="1006991"/>
                </a:lnTo>
                <a:lnTo>
                  <a:pt x="3495979" y="1021341"/>
                </a:lnTo>
                <a:lnTo>
                  <a:pt x="3410711" y="1035573"/>
                </a:lnTo>
                <a:lnTo>
                  <a:pt x="3325443" y="1049695"/>
                </a:lnTo>
                <a:lnTo>
                  <a:pt x="3240175" y="1063749"/>
                </a:lnTo>
                <a:lnTo>
                  <a:pt x="3154908" y="1077725"/>
                </a:lnTo>
                <a:lnTo>
                  <a:pt x="3069640" y="1091600"/>
                </a:lnTo>
                <a:lnTo>
                  <a:pt x="2984372" y="1105457"/>
                </a:lnTo>
                <a:lnTo>
                  <a:pt x="2899104" y="1119195"/>
                </a:lnTo>
                <a:lnTo>
                  <a:pt x="2813836" y="1132904"/>
                </a:lnTo>
                <a:lnTo>
                  <a:pt x="2728569" y="1146572"/>
                </a:lnTo>
                <a:lnTo>
                  <a:pt x="2643301" y="1160202"/>
                </a:lnTo>
                <a:lnTo>
                  <a:pt x="2558033" y="1173815"/>
                </a:lnTo>
                <a:lnTo>
                  <a:pt x="2472765" y="1187421"/>
                </a:lnTo>
                <a:lnTo>
                  <a:pt x="2387498" y="1201103"/>
                </a:lnTo>
                <a:lnTo>
                  <a:pt x="2302230" y="1214844"/>
                </a:lnTo>
                <a:lnTo>
                  <a:pt x="2216962" y="1228691"/>
                </a:lnTo>
                <a:lnTo>
                  <a:pt x="2131694" y="1242699"/>
                </a:lnTo>
                <a:lnTo>
                  <a:pt x="2046426" y="1256936"/>
                </a:lnTo>
                <a:lnTo>
                  <a:pt x="1961159" y="1271379"/>
                </a:lnTo>
                <a:lnTo>
                  <a:pt x="1875891" y="1286053"/>
                </a:lnTo>
                <a:lnTo>
                  <a:pt x="1790623" y="1300944"/>
                </a:lnTo>
                <a:lnTo>
                  <a:pt x="1705355" y="1316105"/>
                </a:lnTo>
                <a:lnTo>
                  <a:pt x="1620087" y="1325442"/>
                </a:lnTo>
                <a:lnTo>
                  <a:pt x="1534820" y="1340788"/>
                </a:lnTo>
                <a:lnTo>
                  <a:pt x="1449552" y="1356311"/>
                </a:lnTo>
                <a:lnTo>
                  <a:pt x="1364284" y="1372287"/>
                </a:lnTo>
                <a:lnTo>
                  <a:pt x="1279016" y="1388557"/>
                </a:lnTo>
                <a:lnTo>
                  <a:pt x="1193749" y="1405081"/>
                </a:lnTo>
                <a:lnTo>
                  <a:pt x="1108481" y="1421754"/>
                </a:lnTo>
                <a:lnTo>
                  <a:pt x="1023213" y="1439006"/>
                </a:lnTo>
                <a:lnTo>
                  <a:pt x="937945" y="1456689"/>
                </a:lnTo>
                <a:lnTo>
                  <a:pt x="852677" y="1474820"/>
                </a:lnTo>
                <a:lnTo>
                  <a:pt x="767410" y="1493070"/>
                </a:lnTo>
                <a:lnTo>
                  <a:pt x="682142" y="1512115"/>
                </a:lnTo>
                <a:lnTo>
                  <a:pt x="596874" y="1531654"/>
                </a:lnTo>
                <a:lnTo>
                  <a:pt x="511606" y="1551689"/>
                </a:lnTo>
                <a:lnTo>
                  <a:pt x="426338" y="1572283"/>
                </a:lnTo>
                <a:lnTo>
                  <a:pt x="341071" y="1593183"/>
                </a:lnTo>
                <a:lnTo>
                  <a:pt x="255803" y="1615309"/>
                </a:lnTo>
                <a:lnTo>
                  <a:pt x="170535" y="1638392"/>
                </a:lnTo>
                <a:lnTo>
                  <a:pt x="85267" y="1662502"/>
                </a:lnTo>
                <a:lnTo>
                  <a:pt x="0" y="168718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hfa: 97-й центиль"/>
          <p:cNvSpPr/>
          <p:nvPr/>
        </p:nvSpPr>
        <p:spPr>
          <a:xfrm>
            <a:off x="932688" y="1912559"/>
            <a:ext cx="6821423" cy="1467398"/>
          </a:xfrm>
          <a:custGeom>
            <a:avLst/>
            <a:gdLst/>
            <a:ahLst/>
            <a:cxnLst/>
            <a:rect l="l" t="t" r="r" b="b"/>
            <a:pathLst>
              <a:path w="6821423" h="1467398">
                <a:moveTo>
                  <a:pt x="0" y="1467398"/>
                </a:moveTo>
                <a:lnTo>
                  <a:pt x="85267" y="1436420"/>
                </a:lnTo>
                <a:lnTo>
                  <a:pt x="170535" y="1406054"/>
                </a:lnTo>
                <a:lnTo>
                  <a:pt x="255803" y="1376871"/>
                </a:lnTo>
                <a:lnTo>
                  <a:pt x="341071" y="1348798"/>
                </a:lnTo>
                <a:lnTo>
                  <a:pt x="426338" y="1322181"/>
                </a:lnTo>
                <a:lnTo>
                  <a:pt x="511606" y="1295964"/>
                </a:lnTo>
                <a:lnTo>
                  <a:pt x="596874" y="1270447"/>
                </a:lnTo>
                <a:lnTo>
                  <a:pt x="682142" y="1245563"/>
                </a:lnTo>
                <a:lnTo>
                  <a:pt x="767410" y="1221243"/>
                </a:lnTo>
                <a:lnTo>
                  <a:pt x="852677" y="1197915"/>
                </a:lnTo>
                <a:lnTo>
                  <a:pt x="937945" y="1174753"/>
                </a:lnTo>
                <a:lnTo>
                  <a:pt x="1023213" y="1152115"/>
                </a:lnTo>
                <a:lnTo>
                  <a:pt x="1108481" y="1129953"/>
                </a:lnTo>
                <a:lnTo>
                  <a:pt x="1193749" y="1108581"/>
                </a:lnTo>
                <a:lnTo>
                  <a:pt x="1279016" y="1087346"/>
                </a:lnTo>
                <a:lnTo>
                  <a:pt x="1364284" y="1066419"/>
                </a:lnTo>
                <a:lnTo>
                  <a:pt x="1449552" y="1045831"/>
                </a:lnTo>
                <a:lnTo>
                  <a:pt x="1534820" y="1025807"/>
                </a:lnTo>
                <a:lnTo>
                  <a:pt x="1620087" y="1005958"/>
                </a:lnTo>
                <a:lnTo>
                  <a:pt x="1705355" y="993237"/>
                </a:lnTo>
                <a:lnTo>
                  <a:pt x="1790623" y="974055"/>
                </a:lnTo>
                <a:lnTo>
                  <a:pt x="1875891" y="955167"/>
                </a:lnTo>
                <a:lnTo>
                  <a:pt x="1961159" y="936597"/>
                </a:lnTo>
                <a:lnTo>
                  <a:pt x="2046426" y="918296"/>
                </a:lnTo>
                <a:lnTo>
                  <a:pt x="2131694" y="900269"/>
                </a:lnTo>
                <a:lnTo>
                  <a:pt x="2216962" y="882492"/>
                </a:lnTo>
                <a:lnTo>
                  <a:pt x="2302230" y="864940"/>
                </a:lnTo>
                <a:lnTo>
                  <a:pt x="2387498" y="847564"/>
                </a:lnTo>
                <a:lnTo>
                  <a:pt x="2472765" y="830311"/>
                </a:lnTo>
                <a:lnTo>
                  <a:pt x="2558033" y="813098"/>
                </a:lnTo>
                <a:lnTo>
                  <a:pt x="2643301" y="795949"/>
                </a:lnTo>
                <a:lnTo>
                  <a:pt x="2728569" y="778818"/>
                </a:lnTo>
                <a:lnTo>
                  <a:pt x="2813836" y="761682"/>
                </a:lnTo>
                <a:lnTo>
                  <a:pt x="2899104" y="744520"/>
                </a:lnTo>
                <a:lnTo>
                  <a:pt x="2984372" y="727312"/>
                </a:lnTo>
                <a:lnTo>
                  <a:pt x="3069640" y="710115"/>
                </a:lnTo>
                <a:lnTo>
                  <a:pt x="3154908" y="692829"/>
                </a:lnTo>
                <a:lnTo>
                  <a:pt x="3240175" y="675524"/>
                </a:lnTo>
                <a:lnTo>
                  <a:pt x="3325443" y="658155"/>
                </a:lnTo>
                <a:lnTo>
                  <a:pt x="3410711" y="640695"/>
                </a:lnTo>
                <a:lnTo>
                  <a:pt x="3495979" y="623171"/>
                </a:lnTo>
                <a:lnTo>
                  <a:pt x="3581247" y="605594"/>
                </a:lnTo>
                <a:lnTo>
                  <a:pt x="3666514" y="587918"/>
                </a:lnTo>
                <a:lnTo>
                  <a:pt x="3751782" y="570195"/>
                </a:lnTo>
                <a:lnTo>
                  <a:pt x="3837050" y="552354"/>
                </a:lnTo>
                <a:lnTo>
                  <a:pt x="3922318" y="534496"/>
                </a:lnTo>
                <a:lnTo>
                  <a:pt x="4007586" y="516530"/>
                </a:lnTo>
                <a:lnTo>
                  <a:pt x="4092853" y="498535"/>
                </a:lnTo>
                <a:lnTo>
                  <a:pt x="4178121" y="480464"/>
                </a:lnTo>
                <a:lnTo>
                  <a:pt x="4263389" y="462338"/>
                </a:lnTo>
                <a:lnTo>
                  <a:pt x="4348657" y="444207"/>
                </a:lnTo>
                <a:lnTo>
                  <a:pt x="4433924" y="425960"/>
                </a:lnTo>
                <a:lnTo>
                  <a:pt x="4519192" y="407678"/>
                </a:lnTo>
                <a:lnTo>
                  <a:pt x="4604460" y="389363"/>
                </a:lnTo>
                <a:lnTo>
                  <a:pt x="4689728" y="370946"/>
                </a:lnTo>
                <a:lnTo>
                  <a:pt x="4774996" y="352450"/>
                </a:lnTo>
                <a:lnTo>
                  <a:pt x="4860263" y="333880"/>
                </a:lnTo>
                <a:lnTo>
                  <a:pt x="4945531" y="315278"/>
                </a:lnTo>
                <a:lnTo>
                  <a:pt x="5030799" y="296615"/>
                </a:lnTo>
                <a:lnTo>
                  <a:pt x="5116067" y="277978"/>
                </a:lnTo>
                <a:lnTo>
                  <a:pt x="5201335" y="259408"/>
                </a:lnTo>
                <a:lnTo>
                  <a:pt x="5286602" y="240972"/>
                </a:lnTo>
                <a:lnTo>
                  <a:pt x="5371870" y="222702"/>
                </a:lnTo>
                <a:lnTo>
                  <a:pt x="5457138" y="204675"/>
                </a:lnTo>
                <a:lnTo>
                  <a:pt x="5542406" y="186966"/>
                </a:lnTo>
                <a:lnTo>
                  <a:pt x="5627673" y="169694"/>
                </a:lnTo>
                <a:lnTo>
                  <a:pt x="5712941" y="152900"/>
                </a:lnTo>
                <a:lnTo>
                  <a:pt x="5798209" y="136644"/>
                </a:lnTo>
                <a:lnTo>
                  <a:pt x="5883477" y="120990"/>
                </a:lnTo>
                <a:lnTo>
                  <a:pt x="5968745" y="106058"/>
                </a:lnTo>
                <a:lnTo>
                  <a:pt x="6054012" y="91932"/>
                </a:lnTo>
                <a:lnTo>
                  <a:pt x="6139280" y="78525"/>
                </a:lnTo>
                <a:lnTo>
                  <a:pt x="6224548" y="65930"/>
                </a:lnTo>
                <a:lnTo>
                  <a:pt x="6309816" y="54133"/>
                </a:lnTo>
                <a:lnTo>
                  <a:pt x="6395084" y="43161"/>
                </a:lnTo>
                <a:lnTo>
                  <a:pt x="6480351" y="32976"/>
                </a:lnTo>
                <a:lnTo>
                  <a:pt x="6565619" y="23630"/>
                </a:lnTo>
                <a:lnTo>
                  <a:pt x="6650887" y="15024"/>
                </a:lnTo>
                <a:lnTo>
                  <a:pt x="6736155" y="7143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4111" y="1837559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60" name="hfa: 85-й центиль"/>
          <p:cNvSpPr/>
          <p:nvPr/>
        </p:nvSpPr>
        <p:spPr>
          <a:xfrm>
            <a:off x="932688" y="2018776"/>
            <a:ext cx="6821423" cy="1410549"/>
          </a:xfrm>
          <a:custGeom>
            <a:avLst/>
            <a:gdLst/>
            <a:ahLst/>
            <a:cxnLst/>
            <a:rect l="l" t="t" r="r" b="b"/>
            <a:pathLst>
              <a:path w="6821423" h="1410549">
                <a:moveTo>
                  <a:pt x="0" y="1410549"/>
                </a:moveTo>
                <a:lnTo>
                  <a:pt x="85267" y="1380985"/>
                </a:lnTo>
                <a:lnTo>
                  <a:pt x="170535" y="1352024"/>
                </a:lnTo>
                <a:lnTo>
                  <a:pt x="255803" y="1324211"/>
                </a:lnTo>
                <a:lnTo>
                  <a:pt x="341071" y="1297473"/>
                </a:lnTo>
                <a:lnTo>
                  <a:pt x="426338" y="1272141"/>
                </a:lnTo>
                <a:lnTo>
                  <a:pt x="511606" y="1247187"/>
                </a:lnTo>
                <a:lnTo>
                  <a:pt x="596874" y="1222901"/>
                </a:lnTo>
                <a:lnTo>
                  <a:pt x="682142" y="1199218"/>
                </a:lnTo>
                <a:lnTo>
                  <a:pt x="767410" y="1176082"/>
                </a:lnTo>
                <a:lnTo>
                  <a:pt x="852677" y="1153895"/>
                </a:lnTo>
                <a:lnTo>
                  <a:pt x="937945" y="1131863"/>
                </a:lnTo>
                <a:lnTo>
                  <a:pt x="1023213" y="1110338"/>
                </a:lnTo>
                <a:lnTo>
                  <a:pt x="1108481" y="1089279"/>
                </a:lnTo>
                <a:lnTo>
                  <a:pt x="1193749" y="1068962"/>
                </a:lnTo>
                <a:lnTo>
                  <a:pt x="1279016" y="1048785"/>
                </a:lnTo>
                <a:lnTo>
                  <a:pt x="1364284" y="1028904"/>
                </a:lnTo>
                <a:lnTo>
                  <a:pt x="1449552" y="1009352"/>
                </a:lnTo>
                <a:lnTo>
                  <a:pt x="1534820" y="990339"/>
                </a:lnTo>
                <a:lnTo>
                  <a:pt x="1620087" y="971501"/>
                </a:lnTo>
                <a:lnTo>
                  <a:pt x="1705355" y="959541"/>
                </a:lnTo>
                <a:lnTo>
                  <a:pt x="1790623" y="941262"/>
                </a:lnTo>
                <a:lnTo>
                  <a:pt x="1875891" y="923272"/>
                </a:lnTo>
                <a:lnTo>
                  <a:pt x="1961159" y="905577"/>
                </a:lnTo>
                <a:lnTo>
                  <a:pt x="2046426" y="888143"/>
                </a:lnTo>
                <a:lnTo>
                  <a:pt x="2131694" y="870966"/>
                </a:lnTo>
                <a:lnTo>
                  <a:pt x="2216962" y="854037"/>
                </a:lnTo>
                <a:lnTo>
                  <a:pt x="2302230" y="837317"/>
                </a:lnTo>
                <a:lnTo>
                  <a:pt x="2387498" y="820757"/>
                </a:lnTo>
                <a:lnTo>
                  <a:pt x="2472765" y="804306"/>
                </a:lnTo>
                <a:lnTo>
                  <a:pt x="2558033" y="787903"/>
                </a:lnTo>
                <a:lnTo>
                  <a:pt x="2643301" y="771548"/>
                </a:lnTo>
                <a:lnTo>
                  <a:pt x="2728569" y="755204"/>
                </a:lnTo>
                <a:lnTo>
                  <a:pt x="2813836" y="738847"/>
                </a:lnTo>
                <a:lnTo>
                  <a:pt x="2899104" y="722461"/>
                </a:lnTo>
                <a:lnTo>
                  <a:pt x="2984372" y="706032"/>
                </a:lnTo>
                <a:lnTo>
                  <a:pt x="3069640" y="689585"/>
                </a:lnTo>
                <a:lnTo>
                  <a:pt x="3154908" y="673066"/>
                </a:lnTo>
                <a:lnTo>
                  <a:pt x="3240175" y="656508"/>
                </a:lnTo>
                <a:lnTo>
                  <a:pt x="3325443" y="639883"/>
                </a:lnTo>
                <a:lnTo>
                  <a:pt x="3410711" y="623174"/>
                </a:lnTo>
                <a:lnTo>
                  <a:pt x="3495979" y="606389"/>
                </a:lnTo>
                <a:lnTo>
                  <a:pt x="3581247" y="589537"/>
                </a:lnTo>
                <a:lnTo>
                  <a:pt x="3666514" y="572590"/>
                </a:lnTo>
                <a:lnTo>
                  <a:pt x="3751782" y="555577"/>
                </a:lnTo>
                <a:lnTo>
                  <a:pt x="3837050" y="538460"/>
                </a:lnTo>
                <a:lnTo>
                  <a:pt x="3922318" y="521290"/>
                </a:lnTo>
                <a:lnTo>
                  <a:pt x="4007586" y="504024"/>
                </a:lnTo>
                <a:lnTo>
                  <a:pt x="4092853" y="486709"/>
                </a:lnTo>
                <a:lnTo>
                  <a:pt x="4178121" y="469317"/>
                </a:lnTo>
                <a:lnTo>
                  <a:pt x="4263389" y="451860"/>
                </a:lnTo>
                <a:lnTo>
                  <a:pt x="4348657" y="434365"/>
                </a:lnTo>
                <a:lnTo>
                  <a:pt x="4433924" y="416769"/>
                </a:lnTo>
                <a:lnTo>
                  <a:pt x="4519192" y="399115"/>
                </a:lnTo>
                <a:lnTo>
                  <a:pt x="4604460" y="381403"/>
                </a:lnTo>
                <a:lnTo>
                  <a:pt x="4689728" y="363591"/>
                </a:lnTo>
                <a:lnTo>
                  <a:pt x="4774996" y="345686"/>
                </a:lnTo>
                <a:lnTo>
                  <a:pt x="4860263" y="327697"/>
                </a:lnTo>
                <a:lnTo>
                  <a:pt x="4945531" y="309652"/>
                </a:lnTo>
                <a:lnTo>
                  <a:pt x="5030799" y="291546"/>
                </a:lnTo>
                <a:lnTo>
                  <a:pt x="5116067" y="273444"/>
                </a:lnTo>
                <a:lnTo>
                  <a:pt x="5201335" y="255388"/>
                </a:lnTo>
                <a:lnTo>
                  <a:pt x="5286602" y="237439"/>
                </a:lnTo>
                <a:lnTo>
                  <a:pt x="5371870" y="219640"/>
                </a:lnTo>
                <a:lnTo>
                  <a:pt x="5457138" y="202060"/>
                </a:lnTo>
                <a:lnTo>
                  <a:pt x="5542406" y="184771"/>
                </a:lnTo>
                <a:lnTo>
                  <a:pt x="5627673" y="167880"/>
                </a:lnTo>
                <a:lnTo>
                  <a:pt x="5712941" y="151435"/>
                </a:lnTo>
                <a:lnTo>
                  <a:pt x="5798209" y="135502"/>
                </a:lnTo>
                <a:lnTo>
                  <a:pt x="5883477" y="120147"/>
                </a:lnTo>
                <a:lnTo>
                  <a:pt x="5968745" y="105465"/>
                </a:lnTo>
                <a:lnTo>
                  <a:pt x="6054012" y="91539"/>
                </a:lnTo>
                <a:lnTo>
                  <a:pt x="6139280" y="78318"/>
                </a:lnTo>
                <a:lnTo>
                  <a:pt x="6224548" y="65861"/>
                </a:lnTo>
                <a:lnTo>
                  <a:pt x="6309816" y="54168"/>
                </a:lnTo>
                <a:lnTo>
                  <a:pt x="6395084" y="43255"/>
                </a:lnTo>
                <a:lnTo>
                  <a:pt x="6480351" y="33121"/>
                </a:lnTo>
                <a:lnTo>
                  <a:pt x="6565619" y="23774"/>
                </a:lnTo>
                <a:lnTo>
                  <a:pt x="6650887" y="15148"/>
                </a:lnTo>
                <a:lnTo>
                  <a:pt x="6736155" y="7225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94111" y="1943776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62" name="hfa: 50-й центиль"/>
          <p:cNvSpPr/>
          <p:nvPr/>
        </p:nvSpPr>
        <p:spPr>
          <a:xfrm>
            <a:off x="932688" y="2149002"/>
            <a:ext cx="6821423" cy="1340849"/>
          </a:xfrm>
          <a:custGeom>
            <a:avLst/>
            <a:gdLst/>
            <a:ahLst/>
            <a:cxnLst/>
            <a:rect l="l" t="t" r="r" b="b"/>
            <a:pathLst>
              <a:path w="6821423" h="1340849">
                <a:moveTo>
                  <a:pt x="0" y="1340849"/>
                </a:moveTo>
                <a:lnTo>
                  <a:pt x="85267" y="1313018"/>
                </a:lnTo>
                <a:lnTo>
                  <a:pt x="170535" y="1285780"/>
                </a:lnTo>
                <a:lnTo>
                  <a:pt x="255803" y="1259647"/>
                </a:lnTo>
                <a:lnTo>
                  <a:pt x="341071" y="1234548"/>
                </a:lnTo>
                <a:lnTo>
                  <a:pt x="426338" y="1210789"/>
                </a:lnTo>
                <a:lnTo>
                  <a:pt x="511606" y="1187383"/>
                </a:lnTo>
                <a:lnTo>
                  <a:pt x="596874" y="1164608"/>
                </a:lnTo>
                <a:lnTo>
                  <a:pt x="682142" y="1142396"/>
                </a:lnTo>
                <a:lnTo>
                  <a:pt x="767410" y="1120714"/>
                </a:lnTo>
                <a:lnTo>
                  <a:pt x="852677" y="1099924"/>
                </a:lnTo>
                <a:lnTo>
                  <a:pt x="937945" y="1079278"/>
                </a:lnTo>
                <a:lnTo>
                  <a:pt x="1023213" y="1059118"/>
                </a:lnTo>
                <a:lnTo>
                  <a:pt x="1108481" y="1039411"/>
                </a:lnTo>
                <a:lnTo>
                  <a:pt x="1193749" y="1020388"/>
                </a:lnTo>
                <a:lnTo>
                  <a:pt x="1279016" y="1001508"/>
                </a:lnTo>
                <a:lnTo>
                  <a:pt x="1364284" y="982910"/>
                </a:lnTo>
                <a:lnTo>
                  <a:pt x="1449552" y="964628"/>
                </a:lnTo>
                <a:lnTo>
                  <a:pt x="1534820" y="946854"/>
                </a:lnTo>
                <a:lnTo>
                  <a:pt x="1620087" y="929257"/>
                </a:lnTo>
                <a:lnTo>
                  <a:pt x="1705355" y="918228"/>
                </a:lnTo>
                <a:lnTo>
                  <a:pt x="1790623" y="901056"/>
                </a:lnTo>
                <a:lnTo>
                  <a:pt x="1875891" y="884167"/>
                </a:lnTo>
                <a:lnTo>
                  <a:pt x="1961159" y="867545"/>
                </a:lnTo>
                <a:lnTo>
                  <a:pt x="2046426" y="851173"/>
                </a:lnTo>
                <a:lnTo>
                  <a:pt x="2131694" y="835041"/>
                </a:lnTo>
                <a:lnTo>
                  <a:pt x="2216962" y="819148"/>
                </a:lnTo>
                <a:lnTo>
                  <a:pt x="2302230" y="803449"/>
                </a:lnTo>
                <a:lnTo>
                  <a:pt x="2387498" y="787891"/>
                </a:lnTo>
                <a:lnTo>
                  <a:pt x="2472765" y="772423"/>
                </a:lnTo>
                <a:lnTo>
                  <a:pt x="2558033" y="757013"/>
                </a:lnTo>
                <a:lnTo>
                  <a:pt x="2643301" y="741633"/>
                </a:lnTo>
                <a:lnTo>
                  <a:pt x="2728569" y="726252"/>
                </a:lnTo>
                <a:lnTo>
                  <a:pt x="2813836" y="710850"/>
                </a:lnTo>
                <a:lnTo>
                  <a:pt x="2899104" y="695414"/>
                </a:lnTo>
                <a:lnTo>
                  <a:pt x="2984372" y="679941"/>
                </a:lnTo>
                <a:lnTo>
                  <a:pt x="3069640" y="664415"/>
                </a:lnTo>
                <a:lnTo>
                  <a:pt x="3154908" y="648834"/>
                </a:lnTo>
                <a:lnTo>
                  <a:pt x="3240175" y="633193"/>
                </a:lnTo>
                <a:lnTo>
                  <a:pt x="3325443" y="617482"/>
                </a:lnTo>
                <a:lnTo>
                  <a:pt x="3410711" y="601691"/>
                </a:lnTo>
                <a:lnTo>
                  <a:pt x="3495979" y="585813"/>
                </a:lnTo>
                <a:lnTo>
                  <a:pt x="3581247" y="569850"/>
                </a:lnTo>
                <a:lnTo>
                  <a:pt x="3666514" y="553798"/>
                </a:lnTo>
                <a:lnTo>
                  <a:pt x="3751782" y="537656"/>
                </a:lnTo>
                <a:lnTo>
                  <a:pt x="3837050" y="521426"/>
                </a:lnTo>
                <a:lnTo>
                  <a:pt x="3922318" y="505099"/>
                </a:lnTo>
                <a:lnTo>
                  <a:pt x="4007586" y="488692"/>
                </a:lnTo>
                <a:lnTo>
                  <a:pt x="4092853" y="472209"/>
                </a:lnTo>
                <a:lnTo>
                  <a:pt x="4178121" y="455649"/>
                </a:lnTo>
                <a:lnTo>
                  <a:pt x="4263389" y="439013"/>
                </a:lnTo>
                <a:lnTo>
                  <a:pt x="4348657" y="422297"/>
                </a:lnTo>
                <a:lnTo>
                  <a:pt x="4433924" y="405499"/>
                </a:lnTo>
                <a:lnTo>
                  <a:pt x="4519192" y="388617"/>
                </a:lnTo>
                <a:lnTo>
                  <a:pt x="4604460" y="371643"/>
                </a:lnTo>
                <a:lnTo>
                  <a:pt x="4689728" y="354573"/>
                </a:lnTo>
                <a:lnTo>
                  <a:pt x="4774996" y="337393"/>
                </a:lnTo>
                <a:lnTo>
                  <a:pt x="4860263" y="320116"/>
                </a:lnTo>
                <a:lnTo>
                  <a:pt x="4945531" y="302754"/>
                </a:lnTo>
                <a:lnTo>
                  <a:pt x="5030799" y="285332"/>
                </a:lnTo>
                <a:lnTo>
                  <a:pt x="5116067" y="267885"/>
                </a:lnTo>
                <a:lnTo>
                  <a:pt x="5201335" y="250460"/>
                </a:lnTo>
                <a:lnTo>
                  <a:pt x="5286602" y="233108"/>
                </a:lnTo>
                <a:lnTo>
                  <a:pt x="5371870" y="215885"/>
                </a:lnTo>
                <a:lnTo>
                  <a:pt x="5457138" y="198853"/>
                </a:lnTo>
                <a:lnTo>
                  <a:pt x="5542406" y="182080"/>
                </a:lnTo>
                <a:lnTo>
                  <a:pt x="5627673" y="165656"/>
                </a:lnTo>
                <a:lnTo>
                  <a:pt x="5712941" y="149639"/>
                </a:lnTo>
                <a:lnTo>
                  <a:pt x="5798209" y="134101"/>
                </a:lnTo>
                <a:lnTo>
                  <a:pt x="5883477" y="119113"/>
                </a:lnTo>
                <a:lnTo>
                  <a:pt x="5968745" y="104736"/>
                </a:lnTo>
                <a:lnTo>
                  <a:pt x="6054012" y="91057"/>
                </a:lnTo>
                <a:lnTo>
                  <a:pt x="6139280" y="78064"/>
                </a:lnTo>
                <a:lnTo>
                  <a:pt x="6224548" y="65776"/>
                </a:lnTo>
                <a:lnTo>
                  <a:pt x="6309816" y="54210"/>
                </a:lnTo>
                <a:lnTo>
                  <a:pt x="6395084" y="43369"/>
                </a:lnTo>
                <a:lnTo>
                  <a:pt x="6480351" y="33299"/>
                </a:lnTo>
                <a:lnTo>
                  <a:pt x="6565619" y="23951"/>
                </a:lnTo>
                <a:lnTo>
                  <a:pt x="6650887" y="15300"/>
                </a:lnTo>
                <a:lnTo>
                  <a:pt x="6736155" y="7326"/>
                </a:lnTo>
                <a:lnTo>
                  <a:pt x="6821423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94111" y="2074002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64" name="hfa: 15-й центиль"/>
          <p:cNvSpPr/>
          <p:nvPr/>
        </p:nvSpPr>
        <p:spPr>
          <a:xfrm>
            <a:off x="932688" y="2279228"/>
            <a:ext cx="6821423" cy="1271149"/>
          </a:xfrm>
          <a:custGeom>
            <a:avLst/>
            <a:gdLst/>
            <a:ahLst/>
            <a:cxnLst/>
            <a:rect l="l" t="t" r="r" b="b"/>
            <a:pathLst>
              <a:path w="6821423" h="1271149">
                <a:moveTo>
                  <a:pt x="0" y="1271149"/>
                </a:moveTo>
                <a:lnTo>
                  <a:pt x="85267" y="1245052"/>
                </a:lnTo>
                <a:lnTo>
                  <a:pt x="170535" y="1219536"/>
                </a:lnTo>
                <a:lnTo>
                  <a:pt x="255803" y="1195083"/>
                </a:lnTo>
                <a:lnTo>
                  <a:pt x="341071" y="1171622"/>
                </a:lnTo>
                <a:lnTo>
                  <a:pt x="426338" y="1149437"/>
                </a:lnTo>
                <a:lnTo>
                  <a:pt x="511606" y="1127580"/>
                </a:lnTo>
                <a:lnTo>
                  <a:pt x="596874" y="1106314"/>
                </a:lnTo>
                <a:lnTo>
                  <a:pt x="682142" y="1085575"/>
                </a:lnTo>
                <a:lnTo>
                  <a:pt x="767410" y="1065345"/>
                </a:lnTo>
                <a:lnTo>
                  <a:pt x="852677" y="1045954"/>
                </a:lnTo>
                <a:lnTo>
                  <a:pt x="937945" y="1026693"/>
                </a:lnTo>
                <a:lnTo>
                  <a:pt x="1023213" y="1007897"/>
                </a:lnTo>
                <a:lnTo>
                  <a:pt x="1108481" y="989542"/>
                </a:lnTo>
                <a:lnTo>
                  <a:pt x="1193749" y="971813"/>
                </a:lnTo>
                <a:lnTo>
                  <a:pt x="1279016" y="954232"/>
                </a:lnTo>
                <a:lnTo>
                  <a:pt x="1364284" y="936916"/>
                </a:lnTo>
                <a:lnTo>
                  <a:pt x="1449552" y="919903"/>
                </a:lnTo>
                <a:lnTo>
                  <a:pt x="1534820" y="903370"/>
                </a:lnTo>
                <a:lnTo>
                  <a:pt x="1620087" y="887012"/>
                </a:lnTo>
                <a:lnTo>
                  <a:pt x="1705355" y="876916"/>
                </a:lnTo>
                <a:lnTo>
                  <a:pt x="1790623" y="860851"/>
                </a:lnTo>
                <a:lnTo>
                  <a:pt x="1875891" y="845062"/>
                </a:lnTo>
                <a:lnTo>
                  <a:pt x="1961159" y="829513"/>
                </a:lnTo>
                <a:lnTo>
                  <a:pt x="2046426" y="814204"/>
                </a:lnTo>
                <a:lnTo>
                  <a:pt x="2131694" y="799115"/>
                </a:lnTo>
                <a:lnTo>
                  <a:pt x="2216962" y="784260"/>
                </a:lnTo>
                <a:lnTo>
                  <a:pt x="2302230" y="769582"/>
                </a:lnTo>
                <a:lnTo>
                  <a:pt x="2387498" y="755024"/>
                </a:lnTo>
                <a:lnTo>
                  <a:pt x="2472765" y="740540"/>
                </a:lnTo>
                <a:lnTo>
                  <a:pt x="2558033" y="726123"/>
                </a:lnTo>
                <a:lnTo>
                  <a:pt x="2643301" y="711717"/>
                </a:lnTo>
                <a:lnTo>
                  <a:pt x="2728569" y="697300"/>
                </a:lnTo>
                <a:lnTo>
                  <a:pt x="2813836" y="682853"/>
                </a:lnTo>
                <a:lnTo>
                  <a:pt x="2899104" y="668368"/>
                </a:lnTo>
                <a:lnTo>
                  <a:pt x="2984372" y="653851"/>
                </a:lnTo>
                <a:lnTo>
                  <a:pt x="3069640" y="639244"/>
                </a:lnTo>
                <a:lnTo>
                  <a:pt x="3154908" y="624603"/>
                </a:lnTo>
                <a:lnTo>
                  <a:pt x="3240175" y="609879"/>
                </a:lnTo>
                <a:lnTo>
                  <a:pt x="3325443" y="595080"/>
                </a:lnTo>
                <a:lnTo>
                  <a:pt x="3410711" y="580209"/>
                </a:lnTo>
                <a:lnTo>
                  <a:pt x="3495979" y="565237"/>
                </a:lnTo>
                <a:lnTo>
                  <a:pt x="3581247" y="550162"/>
                </a:lnTo>
                <a:lnTo>
                  <a:pt x="3666514" y="535005"/>
                </a:lnTo>
                <a:lnTo>
                  <a:pt x="3751782" y="519735"/>
                </a:lnTo>
                <a:lnTo>
                  <a:pt x="3837050" y="504391"/>
                </a:lnTo>
                <a:lnTo>
                  <a:pt x="3922318" y="488908"/>
                </a:lnTo>
                <a:lnTo>
                  <a:pt x="4007586" y="473359"/>
                </a:lnTo>
                <a:lnTo>
                  <a:pt x="4092853" y="457709"/>
                </a:lnTo>
                <a:lnTo>
                  <a:pt x="4178121" y="441981"/>
                </a:lnTo>
                <a:lnTo>
                  <a:pt x="4263389" y="426166"/>
                </a:lnTo>
                <a:lnTo>
                  <a:pt x="4348657" y="410230"/>
                </a:lnTo>
                <a:lnTo>
                  <a:pt x="4433924" y="394230"/>
                </a:lnTo>
                <a:lnTo>
                  <a:pt x="4519192" y="378118"/>
                </a:lnTo>
                <a:lnTo>
                  <a:pt x="4604460" y="361883"/>
                </a:lnTo>
                <a:lnTo>
                  <a:pt x="4689728" y="345554"/>
                </a:lnTo>
                <a:lnTo>
                  <a:pt x="4774996" y="329100"/>
                </a:lnTo>
                <a:lnTo>
                  <a:pt x="4860263" y="312535"/>
                </a:lnTo>
                <a:lnTo>
                  <a:pt x="4945531" y="295856"/>
                </a:lnTo>
                <a:lnTo>
                  <a:pt x="5030799" y="279118"/>
                </a:lnTo>
                <a:lnTo>
                  <a:pt x="5116067" y="262327"/>
                </a:lnTo>
                <a:lnTo>
                  <a:pt x="5201335" y="245532"/>
                </a:lnTo>
                <a:lnTo>
                  <a:pt x="5286602" y="228776"/>
                </a:lnTo>
                <a:lnTo>
                  <a:pt x="5371870" y="212130"/>
                </a:lnTo>
                <a:lnTo>
                  <a:pt x="5457138" y="195646"/>
                </a:lnTo>
                <a:lnTo>
                  <a:pt x="5542406" y="179388"/>
                </a:lnTo>
                <a:lnTo>
                  <a:pt x="5627673" y="163432"/>
                </a:lnTo>
                <a:lnTo>
                  <a:pt x="5712941" y="147843"/>
                </a:lnTo>
                <a:lnTo>
                  <a:pt x="5798209" y="132701"/>
                </a:lnTo>
                <a:lnTo>
                  <a:pt x="5883477" y="118079"/>
                </a:lnTo>
                <a:lnTo>
                  <a:pt x="5968745" y="104008"/>
                </a:lnTo>
                <a:lnTo>
                  <a:pt x="6054012" y="90575"/>
                </a:lnTo>
                <a:lnTo>
                  <a:pt x="6139280" y="77811"/>
                </a:lnTo>
                <a:lnTo>
                  <a:pt x="6224548" y="65692"/>
                </a:lnTo>
                <a:lnTo>
                  <a:pt x="6309816" y="54252"/>
                </a:lnTo>
                <a:lnTo>
                  <a:pt x="6395084" y="43483"/>
                </a:lnTo>
                <a:lnTo>
                  <a:pt x="6480351" y="33477"/>
                </a:lnTo>
                <a:lnTo>
                  <a:pt x="6565619" y="24127"/>
                </a:lnTo>
                <a:lnTo>
                  <a:pt x="6650887" y="15452"/>
                </a:lnTo>
                <a:lnTo>
                  <a:pt x="6736155" y="7427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94111" y="2204228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66" name="hfa: 3-й центиль"/>
          <p:cNvSpPr/>
          <p:nvPr/>
        </p:nvSpPr>
        <p:spPr>
          <a:xfrm>
            <a:off x="932688" y="2385445"/>
            <a:ext cx="6821423" cy="1214300"/>
          </a:xfrm>
          <a:custGeom>
            <a:avLst/>
            <a:gdLst/>
            <a:ahLst/>
            <a:cxnLst/>
            <a:rect l="l" t="t" r="r" b="b"/>
            <a:pathLst>
              <a:path w="6821423" h="1214300">
                <a:moveTo>
                  <a:pt x="0" y="1214300"/>
                </a:moveTo>
                <a:lnTo>
                  <a:pt x="85267" y="1189616"/>
                </a:lnTo>
                <a:lnTo>
                  <a:pt x="170535" y="1165506"/>
                </a:lnTo>
                <a:lnTo>
                  <a:pt x="255803" y="1142423"/>
                </a:lnTo>
                <a:lnTo>
                  <a:pt x="341071" y="1120297"/>
                </a:lnTo>
                <a:lnTo>
                  <a:pt x="426338" y="1099397"/>
                </a:lnTo>
                <a:lnTo>
                  <a:pt x="511606" y="1078803"/>
                </a:lnTo>
                <a:lnTo>
                  <a:pt x="596874" y="1058768"/>
                </a:lnTo>
                <a:lnTo>
                  <a:pt x="682142" y="1039229"/>
                </a:lnTo>
                <a:lnTo>
                  <a:pt x="767410" y="1020184"/>
                </a:lnTo>
                <a:lnTo>
                  <a:pt x="852677" y="1001934"/>
                </a:lnTo>
                <a:lnTo>
                  <a:pt x="937945" y="983803"/>
                </a:lnTo>
                <a:lnTo>
                  <a:pt x="1023213" y="966120"/>
                </a:lnTo>
                <a:lnTo>
                  <a:pt x="1108481" y="948868"/>
                </a:lnTo>
                <a:lnTo>
                  <a:pt x="1193749" y="932195"/>
                </a:lnTo>
                <a:lnTo>
                  <a:pt x="1279016" y="915671"/>
                </a:lnTo>
                <a:lnTo>
                  <a:pt x="1364284" y="899401"/>
                </a:lnTo>
                <a:lnTo>
                  <a:pt x="1449552" y="883425"/>
                </a:lnTo>
                <a:lnTo>
                  <a:pt x="1534820" y="867902"/>
                </a:lnTo>
                <a:lnTo>
                  <a:pt x="1620087" y="852556"/>
                </a:lnTo>
                <a:lnTo>
                  <a:pt x="1705355" y="843219"/>
                </a:lnTo>
                <a:lnTo>
                  <a:pt x="1790623" y="828058"/>
                </a:lnTo>
                <a:lnTo>
                  <a:pt x="1875891" y="813167"/>
                </a:lnTo>
                <a:lnTo>
                  <a:pt x="1961159" y="798493"/>
                </a:lnTo>
                <a:lnTo>
                  <a:pt x="2046426" y="784050"/>
                </a:lnTo>
                <a:lnTo>
                  <a:pt x="2131694" y="769813"/>
                </a:lnTo>
                <a:lnTo>
                  <a:pt x="2216962" y="755805"/>
                </a:lnTo>
                <a:lnTo>
                  <a:pt x="2302230" y="741958"/>
                </a:lnTo>
                <a:lnTo>
                  <a:pt x="2387498" y="728217"/>
                </a:lnTo>
                <a:lnTo>
                  <a:pt x="2472765" y="714535"/>
                </a:lnTo>
                <a:lnTo>
                  <a:pt x="2558033" y="700929"/>
                </a:lnTo>
                <a:lnTo>
                  <a:pt x="2643301" y="687316"/>
                </a:lnTo>
                <a:lnTo>
                  <a:pt x="2728569" y="673686"/>
                </a:lnTo>
                <a:lnTo>
                  <a:pt x="2813836" y="660018"/>
                </a:lnTo>
                <a:lnTo>
                  <a:pt x="2899104" y="646309"/>
                </a:lnTo>
                <a:lnTo>
                  <a:pt x="2984372" y="632571"/>
                </a:lnTo>
                <a:lnTo>
                  <a:pt x="3069640" y="618714"/>
                </a:lnTo>
                <a:lnTo>
                  <a:pt x="3154908" y="604839"/>
                </a:lnTo>
                <a:lnTo>
                  <a:pt x="3240175" y="590863"/>
                </a:lnTo>
                <a:lnTo>
                  <a:pt x="3325443" y="576809"/>
                </a:lnTo>
                <a:lnTo>
                  <a:pt x="3410711" y="562687"/>
                </a:lnTo>
                <a:lnTo>
                  <a:pt x="3495979" y="548455"/>
                </a:lnTo>
                <a:lnTo>
                  <a:pt x="3581247" y="534105"/>
                </a:lnTo>
                <a:lnTo>
                  <a:pt x="3666514" y="519677"/>
                </a:lnTo>
                <a:lnTo>
                  <a:pt x="3751782" y="505118"/>
                </a:lnTo>
                <a:lnTo>
                  <a:pt x="3837050" y="490498"/>
                </a:lnTo>
                <a:lnTo>
                  <a:pt x="3922318" y="475703"/>
                </a:lnTo>
                <a:lnTo>
                  <a:pt x="4007586" y="460854"/>
                </a:lnTo>
                <a:lnTo>
                  <a:pt x="4092853" y="445883"/>
                </a:lnTo>
                <a:lnTo>
                  <a:pt x="4178121" y="430834"/>
                </a:lnTo>
                <a:lnTo>
                  <a:pt x="4263389" y="415688"/>
                </a:lnTo>
                <a:lnTo>
                  <a:pt x="4348657" y="400387"/>
                </a:lnTo>
                <a:lnTo>
                  <a:pt x="4433924" y="385038"/>
                </a:lnTo>
                <a:lnTo>
                  <a:pt x="4519192" y="369556"/>
                </a:lnTo>
                <a:lnTo>
                  <a:pt x="4604460" y="353922"/>
                </a:lnTo>
                <a:lnTo>
                  <a:pt x="4689728" y="338199"/>
                </a:lnTo>
                <a:lnTo>
                  <a:pt x="4774996" y="322336"/>
                </a:lnTo>
                <a:lnTo>
                  <a:pt x="4860263" y="306352"/>
                </a:lnTo>
                <a:lnTo>
                  <a:pt x="4945531" y="290230"/>
                </a:lnTo>
                <a:lnTo>
                  <a:pt x="5030799" y="274049"/>
                </a:lnTo>
                <a:lnTo>
                  <a:pt x="5116067" y="257793"/>
                </a:lnTo>
                <a:lnTo>
                  <a:pt x="5201335" y="241512"/>
                </a:lnTo>
                <a:lnTo>
                  <a:pt x="5286602" y="225244"/>
                </a:lnTo>
                <a:lnTo>
                  <a:pt x="5371870" y="209068"/>
                </a:lnTo>
                <a:lnTo>
                  <a:pt x="5457138" y="193030"/>
                </a:lnTo>
                <a:lnTo>
                  <a:pt x="5542406" y="177193"/>
                </a:lnTo>
                <a:lnTo>
                  <a:pt x="5627673" y="161618"/>
                </a:lnTo>
                <a:lnTo>
                  <a:pt x="5712941" y="146378"/>
                </a:lnTo>
                <a:lnTo>
                  <a:pt x="5798209" y="131559"/>
                </a:lnTo>
                <a:lnTo>
                  <a:pt x="5883477" y="117236"/>
                </a:lnTo>
                <a:lnTo>
                  <a:pt x="5968745" y="103414"/>
                </a:lnTo>
                <a:lnTo>
                  <a:pt x="6054012" y="90182"/>
                </a:lnTo>
                <a:lnTo>
                  <a:pt x="6139280" y="77604"/>
                </a:lnTo>
                <a:lnTo>
                  <a:pt x="6224548" y="65623"/>
                </a:lnTo>
                <a:lnTo>
                  <a:pt x="6309816" y="54286"/>
                </a:lnTo>
                <a:lnTo>
                  <a:pt x="6395084" y="43577"/>
                </a:lnTo>
                <a:lnTo>
                  <a:pt x="6480351" y="33622"/>
                </a:lnTo>
                <a:lnTo>
                  <a:pt x="6565619" y="24271"/>
                </a:lnTo>
                <a:lnTo>
                  <a:pt x="6650887" y="15576"/>
                </a:lnTo>
                <a:lnTo>
                  <a:pt x="6736155" y="7509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94111" y="2310445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8" name="hfa: пример"/>
          <p:cNvSpPr/>
          <p:nvPr/>
        </p:nvSpPr>
        <p:spPr>
          <a:xfrm>
            <a:off x="932688" y="2625548"/>
            <a:ext cx="6252971" cy="911041"/>
          </a:xfrm>
          <a:custGeom>
            <a:avLst/>
            <a:gdLst/>
            <a:ahLst/>
            <a:cxnLst/>
            <a:rect l="l" t="t" r="r" b="b"/>
            <a:pathLst>
              <a:path w="6252971" h="911041">
                <a:moveTo>
                  <a:pt x="0" y="911041"/>
                </a:moveTo>
                <a:lnTo>
                  <a:pt x="94741" y="884155"/>
                </a:lnTo>
                <a:lnTo>
                  <a:pt x="189483" y="858271"/>
                </a:lnTo>
                <a:lnTo>
                  <a:pt x="284225" y="833863"/>
                </a:lnTo>
                <a:lnTo>
                  <a:pt x="378967" y="810790"/>
                </a:lnTo>
                <a:lnTo>
                  <a:pt x="473709" y="788847"/>
                </a:lnTo>
                <a:lnTo>
                  <a:pt x="568451" y="767841"/>
                </a:lnTo>
                <a:lnTo>
                  <a:pt x="663193" y="747646"/>
                </a:lnTo>
                <a:lnTo>
                  <a:pt x="757935" y="728217"/>
                </a:lnTo>
                <a:lnTo>
                  <a:pt x="852677" y="709865"/>
                </a:lnTo>
                <a:lnTo>
                  <a:pt x="947419" y="691856"/>
                </a:lnTo>
                <a:lnTo>
                  <a:pt x="1042161" y="674537"/>
                </a:lnTo>
                <a:lnTo>
                  <a:pt x="1136903" y="657877"/>
                </a:lnTo>
                <a:lnTo>
                  <a:pt x="1231645" y="641760"/>
                </a:lnTo>
                <a:lnTo>
                  <a:pt x="1326387" y="626180"/>
                </a:lnTo>
                <a:lnTo>
                  <a:pt x="1421129" y="611051"/>
                </a:lnTo>
                <a:lnTo>
                  <a:pt x="1515871" y="596719"/>
                </a:lnTo>
                <a:lnTo>
                  <a:pt x="1610613" y="582567"/>
                </a:lnTo>
                <a:lnTo>
                  <a:pt x="1705355" y="574709"/>
                </a:lnTo>
                <a:lnTo>
                  <a:pt x="1800097" y="561105"/>
                </a:lnTo>
                <a:lnTo>
                  <a:pt x="1894839" y="547939"/>
                </a:lnTo>
                <a:lnTo>
                  <a:pt x="1989581" y="535153"/>
                </a:lnTo>
                <a:lnTo>
                  <a:pt x="2084323" y="522722"/>
                </a:lnTo>
                <a:lnTo>
                  <a:pt x="2179065" y="510665"/>
                </a:lnTo>
                <a:lnTo>
                  <a:pt x="2273807" y="498955"/>
                </a:lnTo>
                <a:lnTo>
                  <a:pt x="2368549" y="486674"/>
                </a:lnTo>
                <a:lnTo>
                  <a:pt x="2463291" y="474587"/>
                </a:lnTo>
                <a:lnTo>
                  <a:pt x="2558033" y="462648"/>
                </a:lnTo>
                <a:lnTo>
                  <a:pt x="2652775" y="450779"/>
                </a:lnTo>
                <a:lnTo>
                  <a:pt x="2747517" y="438944"/>
                </a:lnTo>
                <a:lnTo>
                  <a:pt x="2842259" y="427114"/>
                </a:lnTo>
                <a:lnTo>
                  <a:pt x="2937001" y="415319"/>
                </a:lnTo>
                <a:lnTo>
                  <a:pt x="3031743" y="403551"/>
                </a:lnTo>
                <a:lnTo>
                  <a:pt x="3126485" y="391706"/>
                </a:lnTo>
                <a:lnTo>
                  <a:pt x="3221227" y="379867"/>
                </a:lnTo>
                <a:lnTo>
                  <a:pt x="3315969" y="367976"/>
                </a:lnTo>
                <a:lnTo>
                  <a:pt x="3410711" y="356068"/>
                </a:lnTo>
                <a:lnTo>
                  <a:pt x="3505453" y="344088"/>
                </a:lnTo>
                <a:lnTo>
                  <a:pt x="3600195" y="332029"/>
                </a:lnTo>
                <a:lnTo>
                  <a:pt x="3694937" y="319941"/>
                </a:lnTo>
                <a:lnTo>
                  <a:pt x="3789679" y="307709"/>
                </a:lnTo>
                <a:lnTo>
                  <a:pt x="3884421" y="295442"/>
                </a:lnTo>
                <a:lnTo>
                  <a:pt x="3979163" y="283147"/>
                </a:lnTo>
                <a:lnTo>
                  <a:pt x="4073905" y="270716"/>
                </a:lnTo>
                <a:lnTo>
                  <a:pt x="4168647" y="258259"/>
                </a:lnTo>
                <a:lnTo>
                  <a:pt x="4263389" y="245718"/>
                </a:lnTo>
                <a:lnTo>
                  <a:pt x="4358131" y="233029"/>
                </a:lnTo>
                <a:lnTo>
                  <a:pt x="4452873" y="220368"/>
                </a:lnTo>
                <a:lnTo>
                  <a:pt x="4547615" y="207539"/>
                </a:lnTo>
                <a:lnTo>
                  <a:pt x="4642357" y="194595"/>
                </a:lnTo>
                <a:lnTo>
                  <a:pt x="4737099" y="181521"/>
                </a:lnTo>
                <a:lnTo>
                  <a:pt x="4831841" y="168386"/>
                </a:lnTo>
                <a:lnTo>
                  <a:pt x="4926583" y="155057"/>
                </a:lnTo>
                <a:lnTo>
                  <a:pt x="5021325" y="141698"/>
                </a:lnTo>
                <a:lnTo>
                  <a:pt x="5116067" y="128278"/>
                </a:lnTo>
                <a:lnTo>
                  <a:pt x="5210809" y="114844"/>
                </a:lnTo>
                <a:lnTo>
                  <a:pt x="5305551" y="101454"/>
                </a:lnTo>
                <a:lnTo>
                  <a:pt x="5400293" y="88172"/>
                </a:lnTo>
                <a:lnTo>
                  <a:pt x="5495035" y="75074"/>
                </a:lnTo>
                <a:lnTo>
                  <a:pt x="5589777" y="62315"/>
                </a:lnTo>
                <a:lnTo>
                  <a:pt x="5684519" y="49898"/>
                </a:lnTo>
                <a:lnTo>
                  <a:pt x="5731890" y="44825"/>
                </a:lnTo>
                <a:lnTo>
                  <a:pt x="5779261" y="39977"/>
                </a:lnTo>
                <a:lnTo>
                  <a:pt x="5826632" y="35195"/>
                </a:lnTo>
                <a:lnTo>
                  <a:pt x="5874003" y="30660"/>
                </a:lnTo>
                <a:lnTo>
                  <a:pt x="5921374" y="26209"/>
                </a:lnTo>
                <a:lnTo>
                  <a:pt x="5968745" y="21934"/>
                </a:lnTo>
                <a:lnTo>
                  <a:pt x="6016116" y="17839"/>
                </a:lnTo>
                <a:lnTo>
                  <a:pt x="6063487" y="13839"/>
                </a:lnTo>
                <a:lnTo>
                  <a:pt x="6110858" y="10116"/>
                </a:lnTo>
                <a:lnTo>
                  <a:pt x="6158229" y="6583"/>
                </a:lnTo>
                <a:lnTo>
                  <a:pt x="6205600" y="3149"/>
                </a:lnTo>
                <a:lnTo>
                  <a:pt x="6252971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fa: точка 2"/>
          <p:cNvSpPr/>
          <p:nvPr/>
        </p:nvSpPr>
        <p:spPr>
          <a:xfrm>
            <a:off x="874688" y="3478589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hfa: точка 4"/>
          <p:cNvSpPr/>
          <p:nvPr/>
        </p:nvSpPr>
        <p:spPr>
          <a:xfrm>
            <a:off x="2011591" y="3225425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hfa: точка 6"/>
          <p:cNvSpPr/>
          <p:nvPr/>
        </p:nvSpPr>
        <p:spPr>
          <a:xfrm>
            <a:off x="3148495" y="3066503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hfa: точка 8"/>
          <p:cNvSpPr/>
          <p:nvPr/>
        </p:nvSpPr>
        <p:spPr>
          <a:xfrm>
            <a:off x="4285399" y="292361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hfa: точка 10"/>
          <p:cNvSpPr/>
          <p:nvPr/>
        </p:nvSpPr>
        <p:spPr>
          <a:xfrm>
            <a:off x="5422303" y="2775087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hfa: точка 12"/>
          <p:cNvSpPr/>
          <p:nvPr/>
        </p:nvSpPr>
        <p:spPr>
          <a:xfrm>
            <a:off x="6559207" y="2617446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hfa: точка 13"/>
          <p:cNvSpPr/>
          <p:nvPr/>
        </p:nvSpPr>
        <p:spPr>
          <a:xfrm>
            <a:off x="7127659" y="2567548"/>
            <a:ext cx="116000" cy="116000"/>
          </a:xfrm>
          <a:prstGeom prst="ellipse">
            <a:avLst/>
          </a:prstGeom>
          <a:solidFill>
            <a:srgbClr val="1F6F8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событие 4"/>
          <p:cNvSpPr/>
          <p:nvPr/>
        </p:nvSpPr>
        <p:spPr>
          <a:xfrm>
            <a:off x="2069591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119591" y="180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4 года: «маленькая в маму»</a:t>
            </a:r>
          </a:p>
        </p:txBody>
      </p:sp>
      <p:sp>
        <p:nvSpPr>
          <p:cNvPr id="78" name="событие 8"/>
          <p:cNvSpPr/>
          <p:nvPr/>
        </p:nvSpPr>
        <p:spPr>
          <a:xfrm>
            <a:off x="4343399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93399" y="1998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8 лет: −2,2 СО, причину не искали</a:t>
            </a:r>
          </a:p>
        </p:txBody>
      </p:sp>
      <p:sp>
        <p:nvSpPr>
          <p:cNvPr id="80" name="событие 12.5"/>
          <p:cNvSpPr/>
          <p:nvPr/>
        </p:nvSpPr>
        <p:spPr>
          <a:xfrm>
            <a:off x="6901433" y="1783080"/>
            <a:ext cx="0" cy="1901037"/>
          </a:xfrm>
          <a:custGeom>
            <a:avLst/>
            <a:gdLst/>
            <a:ahLst/>
            <a:cxnLst/>
            <a:rect l="l" t="t" r="r" b="b"/>
            <a:pathLst>
              <a:path w="0" h="1901037">
                <a:moveTo>
                  <a:pt x="0" y="0"/>
                </a:moveTo>
                <a:lnTo>
                  <a:pt x="0" y="1901037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01433" y="2193080"/>
            <a:ext cx="2350000" cy="18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12,5 года: нет телархе, кариотип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1533080"/>
            <a:ext cx="7498079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 для возраста, девочки, см</a:t>
            </a:r>
          </a:p>
        </p:txBody>
      </p:sp>
      <p:sp>
        <p:nvSpPr>
          <p:cNvPr id="83" name="bfa: сетка 12"/>
          <p:cNvSpPr/>
          <p:nvPr/>
        </p:nvSpPr>
        <p:spPr>
          <a:xfrm>
            <a:off x="932688" y="51663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5086360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85" name="bfa: сетка 14"/>
          <p:cNvSpPr/>
          <p:nvPr/>
        </p:nvSpPr>
        <p:spPr>
          <a:xfrm>
            <a:off x="932688" y="5057546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bfa: сетка 16"/>
          <p:cNvSpPr/>
          <p:nvPr/>
        </p:nvSpPr>
        <p:spPr>
          <a:xfrm>
            <a:off x="932688" y="494873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868732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88" name="bfa: сетка 18"/>
          <p:cNvSpPr/>
          <p:nvPr/>
        </p:nvSpPr>
        <p:spPr>
          <a:xfrm>
            <a:off x="932688" y="4839919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bfa: сетка 20"/>
          <p:cNvSpPr/>
          <p:nvPr/>
        </p:nvSpPr>
        <p:spPr>
          <a:xfrm>
            <a:off x="932688" y="4731105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8640" y="4651105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  <p:sp>
        <p:nvSpPr>
          <p:cNvPr id="91" name="bfa: сетка 22"/>
          <p:cNvSpPr/>
          <p:nvPr/>
        </p:nvSpPr>
        <p:spPr>
          <a:xfrm>
            <a:off x="932688" y="4622292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bfa: сетка 24"/>
          <p:cNvSpPr/>
          <p:nvPr/>
        </p:nvSpPr>
        <p:spPr>
          <a:xfrm>
            <a:off x="932688" y="4513478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4433478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  <p:sp>
        <p:nvSpPr>
          <p:cNvPr id="94" name="bfa: сетка 26"/>
          <p:cNvSpPr/>
          <p:nvPr/>
        </p:nvSpPr>
        <p:spPr>
          <a:xfrm>
            <a:off x="932688" y="4404664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bfa: сетка 28"/>
          <p:cNvSpPr/>
          <p:nvPr/>
        </p:nvSpPr>
        <p:spPr>
          <a:xfrm>
            <a:off x="932688" y="4295851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4215851"/>
            <a:ext cx="334048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28</a:t>
            </a:r>
          </a:p>
        </p:txBody>
      </p:sp>
      <p:sp>
        <p:nvSpPr>
          <p:cNvPr id="97" name="bfa: сетка 30"/>
          <p:cNvSpPr/>
          <p:nvPr/>
        </p:nvSpPr>
        <p:spPr>
          <a:xfrm>
            <a:off x="932688" y="4187037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bfa: год 2"/>
          <p:cNvSpPr/>
          <p:nvPr/>
        </p:nvSpPr>
        <p:spPr>
          <a:xfrm>
            <a:off x="932688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2688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00" name="bfa: год 3"/>
          <p:cNvSpPr/>
          <p:nvPr/>
        </p:nvSpPr>
        <p:spPr>
          <a:xfrm>
            <a:off x="150113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bfa: год 4"/>
          <p:cNvSpPr/>
          <p:nvPr/>
        </p:nvSpPr>
        <p:spPr>
          <a:xfrm>
            <a:off x="206959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91959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03" name="bfa: год 5"/>
          <p:cNvSpPr/>
          <p:nvPr/>
        </p:nvSpPr>
        <p:spPr>
          <a:xfrm>
            <a:off x="263804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bfa: год 6"/>
          <p:cNvSpPr/>
          <p:nvPr/>
        </p:nvSpPr>
        <p:spPr>
          <a:xfrm>
            <a:off x="320649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056495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06" name="bfa: год 7"/>
          <p:cNvSpPr/>
          <p:nvPr/>
        </p:nvSpPr>
        <p:spPr>
          <a:xfrm>
            <a:off x="3774947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bfa: год 8"/>
          <p:cNvSpPr/>
          <p:nvPr/>
        </p:nvSpPr>
        <p:spPr>
          <a:xfrm>
            <a:off x="434339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93399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09" name="bfa: год 9"/>
          <p:cNvSpPr/>
          <p:nvPr/>
        </p:nvSpPr>
        <p:spPr>
          <a:xfrm>
            <a:off x="491185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bfa: год 10"/>
          <p:cNvSpPr/>
          <p:nvPr/>
        </p:nvSpPr>
        <p:spPr>
          <a:xfrm>
            <a:off x="5480303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330303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12" name="bfa: год 11"/>
          <p:cNvSpPr/>
          <p:nvPr/>
        </p:nvSpPr>
        <p:spPr>
          <a:xfrm>
            <a:off x="6048755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bfa: год 12"/>
          <p:cNvSpPr/>
          <p:nvPr/>
        </p:nvSpPr>
        <p:spPr>
          <a:xfrm>
            <a:off x="6617207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67207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15" name="bfa: год 13"/>
          <p:cNvSpPr/>
          <p:nvPr/>
        </p:nvSpPr>
        <p:spPr>
          <a:xfrm>
            <a:off x="7185659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bfa: год 14"/>
          <p:cNvSpPr/>
          <p:nvPr/>
        </p:nvSpPr>
        <p:spPr>
          <a:xfrm>
            <a:off x="7754111" y="4187037"/>
            <a:ext cx="0" cy="979323"/>
          </a:xfrm>
          <a:custGeom>
            <a:avLst/>
            <a:gdLst/>
            <a:ahLst/>
            <a:cxnLst/>
            <a:rect l="l" t="t" r="r" b="b"/>
            <a:pathLst>
              <a:path w="0" h="979323">
                <a:moveTo>
                  <a:pt x="0" y="0"/>
                </a:moveTo>
                <a:lnTo>
                  <a:pt x="0" y="979323"/>
                </a:lnTo>
              </a:path>
            </a:pathLst>
          </a:custGeom>
          <a:noFill/>
          <a:ln w="6350">
            <a:solidFill>
              <a:srgbClr val="EE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604111" y="519636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18" name="bfa: ось"/>
          <p:cNvSpPr/>
          <p:nvPr/>
        </p:nvSpPr>
        <p:spPr>
          <a:xfrm>
            <a:off x="932688" y="5166360"/>
            <a:ext cx="6821423" cy="0"/>
          </a:xfrm>
          <a:custGeom>
            <a:avLst/>
            <a:gdLst/>
            <a:ahLst/>
            <a:cxnLst/>
            <a:rect l="l" t="t" r="r" b="b"/>
            <a:pathLst>
              <a:path w="6821423" h="0">
                <a:moveTo>
                  <a:pt x="0" y="0"/>
                </a:moveTo>
                <a:lnTo>
                  <a:pt x="6821423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bfa: полоса 3–97"/>
          <p:cNvSpPr/>
          <p:nvPr/>
        </p:nvSpPr>
        <p:spPr>
          <a:xfrm>
            <a:off x="932688" y="4368313"/>
            <a:ext cx="6821423" cy="753089"/>
          </a:xfrm>
          <a:custGeom>
            <a:avLst/>
            <a:gdLst/>
            <a:ahLst/>
            <a:cxnLst/>
            <a:rect l="l" t="t" r="r" b="b"/>
            <a:pathLst>
              <a:path w="6821423" h="753089">
                <a:moveTo>
                  <a:pt x="0" y="442586"/>
                </a:moveTo>
                <a:lnTo>
                  <a:pt x="85267" y="445984"/>
                </a:lnTo>
                <a:lnTo>
                  <a:pt x="170535" y="449199"/>
                </a:lnTo>
                <a:lnTo>
                  <a:pt x="255803" y="452174"/>
                </a:lnTo>
                <a:lnTo>
                  <a:pt x="341071" y="454876"/>
                </a:lnTo>
                <a:lnTo>
                  <a:pt x="426338" y="457141"/>
                </a:lnTo>
                <a:lnTo>
                  <a:pt x="511606" y="458864"/>
                </a:lnTo>
                <a:lnTo>
                  <a:pt x="596874" y="459897"/>
                </a:lnTo>
                <a:lnTo>
                  <a:pt x="682142" y="460269"/>
                </a:lnTo>
                <a:lnTo>
                  <a:pt x="767410" y="460067"/>
                </a:lnTo>
                <a:lnTo>
                  <a:pt x="852677" y="459430"/>
                </a:lnTo>
                <a:lnTo>
                  <a:pt x="937945" y="458479"/>
                </a:lnTo>
                <a:lnTo>
                  <a:pt x="1023213" y="457306"/>
                </a:lnTo>
                <a:lnTo>
                  <a:pt x="1108481" y="455933"/>
                </a:lnTo>
                <a:lnTo>
                  <a:pt x="1193749" y="454300"/>
                </a:lnTo>
                <a:lnTo>
                  <a:pt x="1279016" y="452401"/>
                </a:lnTo>
                <a:lnTo>
                  <a:pt x="1364284" y="450245"/>
                </a:lnTo>
                <a:lnTo>
                  <a:pt x="1449552" y="447980"/>
                </a:lnTo>
                <a:lnTo>
                  <a:pt x="1534820" y="445723"/>
                </a:lnTo>
                <a:lnTo>
                  <a:pt x="1620087" y="443554"/>
                </a:lnTo>
                <a:lnTo>
                  <a:pt x="1705355" y="440390"/>
                </a:lnTo>
                <a:lnTo>
                  <a:pt x="1790623" y="437929"/>
                </a:lnTo>
                <a:lnTo>
                  <a:pt x="1875891" y="435338"/>
                </a:lnTo>
                <a:lnTo>
                  <a:pt x="1961159" y="432580"/>
                </a:lnTo>
                <a:lnTo>
                  <a:pt x="2046426" y="429662"/>
                </a:lnTo>
                <a:lnTo>
                  <a:pt x="2131694" y="426563"/>
                </a:lnTo>
                <a:lnTo>
                  <a:pt x="2216962" y="423304"/>
                </a:lnTo>
                <a:lnTo>
                  <a:pt x="2302230" y="419839"/>
                </a:lnTo>
                <a:lnTo>
                  <a:pt x="2387498" y="416171"/>
                </a:lnTo>
                <a:lnTo>
                  <a:pt x="2472765" y="412291"/>
                </a:lnTo>
                <a:lnTo>
                  <a:pt x="2558033" y="408190"/>
                </a:lnTo>
                <a:lnTo>
                  <a:pt x="2643301" y="403864"/>
                </a:lnTo>
                <a:lnTo>
                  <a:pt x="2728569" y="399283"/>
                </a:lnTo>
                <a:lnTo>
                  <a:pt x="2813836" y="394441"/>
                </a:lnTo>
                <a:lnTo>
                  <a:pt x="2899104" y="389351"/>
                </a:lnTo>
                <a:lnTo>
                  <a:pt x="2984372" y="384016"/>
                </a:lnTo>
                <a:lnTo>
                  <a:pt x="3069640" y="378432"/>
                </a:lnTo>
                <a:lnTo>
                  <a:pt x="3154908" y="372597"/>
                </a:lnTo>
                <a:lnTo>
                  <a:pt x="3240175" y="366532"/>
                </a:lnTo>
                <a:lnTo>
                  <a:pt x="3325443" y="360217"/>
                </a:lnTo>
                <a:lnTo>
                  <a:pt x="3410711" y="353675"/>
                </a:lnTo>
                <a:lnTo>
                  <a:pt x="3495979" y="346910"/>
                </a:lnTo>
                <a:lnTo>
                  <a:pt x="3581247" y="339919"/>
                </a:lnTo>
                <a:lnTo>
                  <a:pt x="3666514" y="332718"/>
                </a:lnTo>
                <a:lnTo>
                  <a:pt x="3751782" y="325348"/>
                </a:lnTo>
                <a:lnTo>
                  <a:pt x="3837050" y="317813"/>
                </a:lnTo>
                <a:lnTo>
                  <a:pt x="3922318" y="310143"/>
                </a:lnTo>
                <a:lnTo>
                  <a:pt x="4007586" y="302359"/>
                </a:lnTo>
                <a:lnTo>
                  <a:pt x="4092853" y="294457"/>
                </a:lnTo>
                <a:lnTo>
                  <a:pt x="4178121" y="286441"/>
                </a:lnTo>
                <a:lnTo>
                  <a:pt x="4263389" y="278350"/>
                </a:lnTo>
                <a:lnTo>
                  <a:pt x="4348657" y="270143"/>
                </a:lnTo>
                <a:lnTo>
                  <a:pt x="4433924" y="261814"/>
                </a:lnTo>
                <a:lnTo>
                  <a:pt x="4519192" y="253347"/>
                </a:lnTo>
                <a:lnTo>
                  <a:pt x="4604460" y="244771"/>
                </a:lnTo>
                <a:lnTo>
                  <a:pt x="4689728" y="236083"/>
                </a:lnTo>
                <a:lnTo>
                  <a:pt x="4774996" y="227226"/>
                </a:lnTo>
                <a:lnTo>
                  <a:pt x="4860263" y="218235"/>
                </a:lnTo>
                <a:lnTo>
                  <a:pt x="4945531" y="209107"/>
                </a:lnTo>
                <a:lnTo>
                  <a:pt x="5030799" y="199852"/>
                </a:lnTo>
                <a:lnTo>
                  <a:pt x="5116067" y="190447"/>
                </a:lnTo>
                <a:lnTo>
                  <a:pt x="5201335" y="180918"/>
                </a:lnTo>
                <a:lnTo>
                  <a:pt x="5286602" y="171295"/>
                </a:lnTo>
                <a:lnTo>
                  <a:pt x="5371870" y="161565"/>
                </a:lnTo>
                <a:lnTo>
                  <a:pt x="5457138" y="151718"/>
                </a:lnTo>
                <a:lnTo>
                  <a:pt x="5542406" y="141798"/>
                </a:lnTo>
                <a:lnTo>
                  <a:pt x="5627673" y="131863"/>
                </a:lnTo>
                <a:lnTo>
                  <a:pt x="5712941" y="121830"/>
                </a:lnTo>
                <a:lnTo>
                  <a:pt x="5798209" y="111832"/>
                </a:lnTo>
                <a:lnTo>
                  <a:pt x="5883477" y="101854"/>
                </a:lnTo>
                <a:lnTo>
                  <a:pt x="5968745" y="91903"/>
                </a:lnTo>
                <a:lnTo>
                  <a:pt x="6054012" y="82041"/>
                </a:lnTo>
                <a:lnTo>
                  <a:pt x="6139280" y="72277"/>
                </a:lnTo>
                <a:lnTo>
                  <a:pt x="6224548" y="62644"/>
                </a:lnTo>
                <a:lnTo>
                  <a:pt x="6309816" y="53125"/>
                </a:lnTo>
                <a:lnTo>
                  <a:pt x="6395084" y="43805"/>
                </a:lnTo>
                <a:lnTo>
                  <a:pt x="6480351" y="34611"/>
                </a:lnTo>
                <a:lnTo>
                  <a:pt x="6565619" y="25643"/>
                </a:lnTo>
                <a:lnTo>
                  <a:pt x="6650887" y="16855"/>
                </a:lnTo>
                <a:lnTo>
                  <a:pt x="6736155" y="8303"/>
                </a:lnTo>
                <a:lnTo>
                  <a:pt x="6821423" y="0"/>
                </a:lnTo>
                <a:lnTo>
                  <a:pt x="6821423" y="600031"/>
                </a:lnTo>
                <a:lnTo>
                  <a:pt x="6736155" y="604075"/>
                </a:lnTo>
                <a:lnTo>
                  <a:pt x="6650887" y="608215"/>
                </a:lnTo>
                <a:lnTo>
                  <a:pt x="6565619" y="612443"/>
                </a:lnTo>
                <a:lnTo>
                  <a:pt x="6480351" y="616762"/>
                </a:lnTo>
                <a:lnTo>
                  <a:pt x="6395084" y="621131"/>
                </a:lnTo>
                <a:lnTo>
                  <a:pt x="6309816" y="625585"/>
                </a:lnTo>
                <a:lnTo>
                  <a:pt x="6224548" y="630072"/>
                </a:lnTo>
                <a:lnTo>
                  <a:pt x="6139280" y="634609"/>
                </a:lnTo>
                <a:lnTo>
                  <a:pt x="6054012" y="639172"/>
                </a:lnTo>
                <a:lnTo>
                  <a:pt x="5968745" y="643745"/>
                </a:lnTo>
                <a:lnTo>
                  <a:pt x="5883477" y="648314"/>
                </a:lnTo>
                <a:lnTo>
                  <a:pt x="5798209" y="652880"/>
                </a:lnTo>
                <a:lnTo>
                  <a:pt x="5712941" y="657411"/>
                </a:lnTo>
                <a:lnTo>
                  <a:pt x="5627673" y="661885"/>
                </a:lnTo>
                <a:lnTo>
                  <a:pt x="5542406" y="666309"/>
                </a:lnTo>
                <a:lnTo>
                  <a:pt x="5457138" y="670638"/>
                </a:lnTo>
                <a:lnTo>
                  <a:pt x="5371870" y="674876"/>
                </a:lnTo>
                <a:lnTo>
                  <a:pt x="5286602" y="679026"/>
                </a:lnTo>
                <a:lnTo>
                  <a:pt x="5201335" y="683066"/>
                </a:lnTo>
                <a:lnTo>
                  <a:pt x="5116067" y="686998"/>
                </a:lnTo>
                <a:lnTo>
                  <a:pt x="5030799" y="690799"/>
                </a:lnTo>
                <a:lnTo>
                  <a:pt x="4945531" y="694492"/>
                </a:lnTo>
                <a:lnTo>
                  <a:pt x="4860263" y="698060"/>
                </a:lnTo>
                <a:lnTo>
                  <a:pt x="4774996" y="701503"/>
                </a:lnTo>
                <a:lnTo>
                  <a:pt x="4689728" y="704835"/>
                </a:lnTo>
                <a:lnTo>
                  <a:pt x="4604460" y="708042"/>
                </a:lnTo>
                <a:lnTo>
                  <a:pt x="4519192" y="711133"/>
                </a:lnTo>
                <a:lnTo>
                  <a:pt x="4433924" y="714112"/>
                </a:lnTo>
                <a:lnTo>
                  <a:pt x="4348657" y="716999"/>
                </a:lnTo>
                <a:lnTo>
                  <a:pt x="4263389" y="719789"/>
                </a:lnTo>
                <a:lnTo>
                  <a:pt x="4178121" y="722486"/>
                </a:lnTo>
                <a:lnTo>
                  <a:pt x="4092853" y="725098"/>
                </a:lnTo>
                <a:lnTo>
                  <a:pt x="4007586" y="727631"/>
                </a:lnTo>
                <a:lnTo>
                  <a:pt x="3922318" y="730088"/>
                </a:lnTo>
                <a:lnTo>
                  <a:pt x="3837050" y="732459"/>
                </a:lnTo>
                <a:lnTo>
                  <a:pt x="3751782" y="734725"/>
                </a:lnTo>
                <a:lnTo>
                  <a:pt x="3666514" y="736887"/>
                </a:lnTo>
                <a:lnTo>
                  <a:pt x="3581247" y="738940"/>
                </a:lnTo>
                <a:lnTo>
                  <a:pt x="3495979" y="740867"/>
                </a:lnTo>
                <a:lnTo>
                  <a:pt x="3410711" y="742669"/>
                </a:lnTo>
                <a:lnTo>
                  <a:pt x="3325443" y="744318"/>
                </a:lnTo>
                <a:lnTo>
                  <a:pt x="3240175" y="745824"/>
                </a:lnTo>
                <a:lnTo>
                  <a:pt x="3154908" y="747196"/>
                </a:lnTo>
                <a:lnTo>
                  <a:pt x="3069640" y="748424"/>
                </a:lnTo>
                <a:lnTo>
                  <a:pt x="2984372" y="749511"/>
                </a:lnTo>
                <a:lnTo>
                  <a:pt x="2899104" y="750456"/>
                </a:lnTo>
                <a:lnTo>
                  <a:pt x="2813836" y="751249"/>
                </a:lnTo>
                <a:lnTo>
                  <a:pt x="2728569" y="751895"/>
                </a:lnTo>
                <a:lnTo>
                  <a:pt x="2643301" y="752397"/>
                </a:lnTo>
                <a:lnTo>
                  <a:pt x="2558033" y="752769"/>
                </a:lnTo>
                <a:lnTo>
                  <a:pt x="2472765" y="752992"/>
                </a:lnTo>
                <a:lnTo>
                  <a:pt x="2387498" y="753089"/>
                </a:lnTo>
                <a:lnTo>
                  <a:pt x="2302230" y="753066"/>
                </a:lnTo>
                <a:lnTo>
                  <a:pt x="2216962" y="752933"/>
                </a:lnTo>
                <a:lnTo>
                  <a:pt x="2131694" y="752698"/>
                </a:lnTo>
                <a:lnTo>
                  <a:pt x="2046426" y="752353"/>
                </a:lnTo>
                <a:lnTo>
                  <a:pt x="1961159" y="751921"/>
                </a:lnTo>
                <a:lnTo>
                  <a:pt x="1875891" y="751393"/>
                </a:lnTo>
                <a:lnTo>
                  <a:pt x="1790623" y="750785"/>
                </a:lnTo>
                <a:lnTo>
                  <a:pt x="1705355" y="750078"/>
                </a:lnTo>
                <a:lnTo>
                  <a:pt x="1620087" y="752908"/>
                </a:lnTo>
                <a:lnTo>
                  <a:pt x="1534820" y="752284"/>
                </a:lnTo>
                <a:lnTo>
                  <a:pt x="1449552" y="751473"/>
                </a:lnTo>
                <a:lnTo>
                  <a:pt x="1364284" y="750454"/>
                </a:lnTo>
                <a:lnTo>
                  <a:pt x="1279016" y="749200"/>
                </a:lnTo>
                <a:lnTo>
                  <a:pt x="1193749" y="747709"/>
                </a:lnTo>
                <a:lnTo>
                  <a:pt x="1108481" y="746033"/>
                </a:lnTo>
                <a:lnTo>
                  <a:pt x="1023213" y="744156"/>
                </a:lnTo>
                <a:lnTo>
                  <a:pt x="937945" y="742100"/>
                </a:lnTo>
                <a:lnTo>
                  <a:pt x="852677" y="739919"/>
                </a:lnTo>
                <a:lnTo>
                  <a:pt x="767410" y="737717"/>
                </a:lnTo>
                <a:lnTo>
                  <a:pt x="682142" y="735488"/>
                </a:lnTo>
                <a:lnTo>
                  <a:pt x="596874" y="733272"/>
                </a:lnTo>
                <a:lnTo>
                  <a:pt x="511606" y="731057"/>
                </a:lnTo>
                <a:lnTo>
                  <a:pt x="426338" y="728859"/>
                </a:lnTo>
                <a:lnTo>
                  <a:pt x="341071" y="726731"/>
                </a:lnTo>
                <a:lnTo>
                  <a:pt x="255803" y="724600"/>
                </a:lnTo>
                <a:lnTo>
                  <a:pt x="170535" y="722476"/>
                </a:lnTo>
                <a:lnTo>
                  <a:pt x="85267" y="720271"/>
                </a:lnTo>
                <a:lnTo>
                  <a:pt x="0" y="717923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bfa: 97-й центиль"/>
          <p:cNvSpPr/>
          <p:nvPr/>
        </p:nvSpPr>
        <p:spPr>
          <a:xfrm>
            <a:off x="932688" y="4368313"/>
            <a:ext cx="6821423" cy="460269"/>
          </a:xfrm>
          <a:custGeom>
            <a:avLst/>
            <a:gdLst/>
            <a:ahLst/>
            <a:cxnLst/>
            <a:rect l="l" t="t" r="r" b="b"/>
            <a:pathLst>
              <a:path w="6821423" h="460269">
                <a:moveTo>
                  <a:pt x="0" y="442586"/>
                </a:moveTo>
                <a:lnTo>
                  <a:pt x="85267" y="445984"/>
                </a:lnTo>
                <a:lnTo>
                  <a:pt x="170535" y="449199"/>
                </a:lnTo>
                <a:lnTo>
                  <a:pt x="255803" y="452174"/>
                </a:lnTo>
                <a:lnTo>
                  <a:pt x="341071" y="454876"/>
                </a:lnTo>
                <a:lnTo>
                  <a:pt x="426338" y="457141"/>
                </a:lnTo>
                <a:lnTo>
                  <a:pt x="511606" y="458864"/>
                </a:lnTo>
                <a:lnTo>
                  <a:pt x="596874" y="459897"/>
                </a:lnTo>
                <a:lnTo>
                  <a:pt x="682142" y="460269"/>
                </a:lnTo>
                <a:lnTo>
                  <a:pt x="767410" y="460067"/>
                </a:lnTo>
                <a:lnTo>
                  <a:pt x="852677" y="459430"/>
                </a:lnTo>
                <a:lnTo>
                  <a:pt x="937945" y="458479"/>
                </a:lnTo>
                <a:lnTo>
                  <a:pt x="1023213" y="457306"/>
                </a:lnTo>
                <a:lnTo>
                  <a:pt x="1108481" y="455933"/>
                </a:lnTo>
                <a:lnTo>
                  <a:pt x="1193749" y="454300"/>
                </a:lnTo>
                <a:lnTo>
                  <a:pt x="1279016" y="452401"/>
                </a:lnTo>
                <a:lnTo>
                  <a:pt x="1364284" y="450245"/>
                </a:lnTo>
                <a:lnTo>
                  <a:pt x="1449552" y="447980"/>
                </a:lnTo>
                <a:lnTo>
                  <a:pt x="1534820" y="445723"/>
                </a:lnTo>
                <a:lnTo>
                  <a:pt x="1620087" y="443554"/>
                </a:lnTo>
                <a:lnTo>
                  <a:pt x="1705355" y="440390"/>
                </a:lnTo>
                <a:lnTo>
                  <a:pt x="1790623" y="437929"/>
                </a:lnTo>
                <a:lnTo>
                  <a:pt x="1875891" y="435338"/>
                </a:lnTo>
                <a:lnTo>
                  <a:pt x="1961159" y="432580"/>
                </a:lnTo>
                <a:lnTo>
                  <a:pt x="2046426" y="429662"/>
                </a:lnTo>
                <a:lnTo>
                  <a:pt x="2131694" y="426563"/>
                </a:lnTo>
                <a:lnTo>
                  <a:pt x="2216962" y="423304"/>
                </a:lnTo>
                <a:lnTo>
                  <a:pt x="2302230" y="419839"/>
                </a:lnTo>
                <a:lnTo>
                  <a:pt x="2387498" y="416171"/>
                </a:lnTo>
                <a:lnTo>
                  <a:pt x="2472765" y="412291"/>
                </a:lnTo>
                <a:lnTo>
                  <a:pt x="2558033" y="408190"/>
                </a:lnTo>
                <a:lnTo>
                  <a:pt x="2643301" y="403864"/>
                </a:lnTo>
                <a:lnTo>
                  <a:pt x="2728569" y="399283"/>
                </a:lnTo>
                <a:lnTo>
                  <a:pt x="2813836" y="394441"/>
                </a:lnTo>
                <a:lnTo>
                  <a:pt x="2899104" y="389351"/>
                </a:lnTo>
                <a:lnTo>
                  <a:pt x="2984372" y="384016"/>
                </a:lnTo>
                <a:lnTo>
                  <a:pt x="3069640" y="378432"/>
                </a:lnTo>
                <a:lnTo>
                  <a:pt x="3154908" y="372597"/>
                </a:lnTo>
                <a:lnTo>
                  <a:pt x="3240175" y="366532"/>
                </a:lnTo>
                <a:lnTo>
                  <a:pt x="3325443" y="360217"/>
                </a:lnTo>
                <a:lnTo>
                  <a:pt x="3410711" y="353675"/>
                </a:lnTo>
                <a:lnTo>
                  <a:pt x="3495979" y="346910"/>
                </a:lnTo>
                <a:lnTo>
                  <a:pt x="3581247" y="339919"/>
                </a:lnTo>
                <a:lnTo>
                  <a:pt x="3666514" y="332718"/>
                </a:lnTo>
                <a:lnTo>
                  <a:pt x="3751782" y="325348"/>
                </a:lnTo>
                <a:lnTo>
                  <a:pt x="3837050" y="317813"/>
                </a:lnTo>
                <a:lnTo>
                  <a:pt x="3922318" y="310143"/>
                </a:lnTo>
                <a:lnTo>
                  <a:pt x="4007586" y="302359"/>
                </a:lnTo>
                <a:lnTo>
                  <a:pt x="4092853" y="294457"/>
                </a:lnTo>
                <a:lnTo>
                  <a:pt x="4178121" y="286441"/>
                </a:lnTo>
                <a:lnTo>
                  <a:pt x="4263389" y="278350"/>
                </a:lnTo>
                <a:lnTo>
                  <a:pt x="4348657" y="270143"/>
                </a:lnTo>
                <a:lnTo>
                  <a:pt x="4433924" y="261814"/>
                </a:lnTo>
                <a:lnTo>
                  <a:pt x="4519192" y="253347"/>
                </a:lnTo>
                <a:lnTo>
                  <a:pt x="4604460" y="244771"/>
                </a:lnTo>
                <a:lnTo>
                  <a:pt x="4689728" y="236083"/>
                </a:lnTo>
                <a:lnTo>
                  <a:pt x="4774996" y="227226"/>
                </a:lnTo>
                <a:lnTo>
                  <a:pt x="4860263" y="218235"/>
                </a:lnTo>
                <a:lnTo>
                  <a:pt x="4945531" y="209107"/>
                </a:lnTo>
                <a:lnTo>
                  <a:pt x="5030799" y="199852"/>
                </a:lnTo>
                <a:lnTo>
                  <a:pt x="5116067" y="190447"/>
                </a:lnTo>
                <a:lnTo>
                  <a:pt x="5201335" y="180918"/>
                </a:lnTo>
                <a:lnTo>
                  <a:pt x="5286602" y="171295"/>
                </a:lnTo>
                <a:lnTo>
                  <a:pt x="5371870" y="161565"/>
                </a:lnTo>
                <a:lnTo>
                  <a:pt x="5457138" y="151718"/>
                </a:lnTo>
                <a:lnTo>
                  <a:pt x="5542406" y="141798"/>
                </a:lnTo>
                <a:lnTo>
                  <a:pt x="5627673" y="131863"/>
                </a:lnTo>
                <a:lnTo>
                  <a:pt x="5712941" y="121830"/>
                </a:lnTo>
                <a:lnTo>
                  <a:pt x="5798209" y="111832"/>
                </a:lnTo>
                <a:lnTo>
                  <a:pt x="5883477" y="101854"/>
                </a:lnTo>
                <a:lnTo>
                  <a:pt x="5968745" y="91903"/>
                </a:lnTo>
                <a:lnTo>
                  <a:pt x="6054012" y="82041"/>
                </a:lnTo>
                <a:lnTo>
                  <a:pt x="6139280" y="72277"/>
                </a:lnTo>
                <a:lnTo>
                  <a:pt x="6224548" y="62644"/>
                </a:lnTo>
                <a:lnTo>
                  <a:pt x="6309816" y="53125"/>
                </a:lnTo>
                <a:lnTo>
                  <a:pt x="6395084" y="43805"/>
                </a:lnTo>
                <a:lnTo>
                  <a:pt x="6480351" y="34611"/>
                </a:lnTo>
                <a:lnTo>
                  <a:pt x="6565619" y="25643"/>
                </a:lnTo>
                <a:lnTo>
                  <a:pt x="6650887" y="16855"/>
                </a:lnTo>
                <a:lnTo>
                  <a:pt x="6736155" y="8303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94111" y="4293313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22" name="bfa: 85-й центиль"/>
          <p:cNvSpPr/>
          <p:nvPr/>
        </p:nvSpPr>
        <p:spPr>
          <a:xfrm>
            <a:off x="932688" y="4575157"/>
            <a:ext cx="6821423" cy="329219"/>
          </a:xfrm>
          <a:custGeom>
            <a:avLst/>
            <a:gdLst/>
            <a:ahLst/>
            <a:cxnLst/>
            <a:rect l="l" t="t" r="r" b="b"/>
            <a:pathLst>
              <a:path w="6821423" h="329219">
                <a:moveTo>
                  <a:pt x="0" y="310314"/>
                </a:moveTo>
                <a:lnTo>
                  <a:pt x="85267" y="313420"/>
                </a:lnTo>
                <a:lnTo>
                  <a:pt x="170535" y="316354"/>
                </a:lnTo>
                <a:lnTo>
                  <a:pt x="255803" y="319097"/>
                </a:lnTo>
                <a:lnTo>
                  <a:pt x="341071" y="321654"/>
                </a:lnTo>
                <a:lnTo>
                  <a:pt x="426338" y="323909"/>
                </a:lnTo>
                <a:lnTo>
                  <a:pt x="511606" y="325815"/>
                </a:lnTo>
                <a:lnTo>
                  <a:pt x="596874" y="327255"/>
                </a:lnTo>
                <a:lnTo>
                  <a:pt x="682142" y="328242"/>
                </a:lnTo>
                <a:lnTo>
                  <a:pt x="767410" y="328843"/>
                </a:lnTo>
                <a:lnTo>
                  <a:pt x="852677" y="329140"/>
                </a:lnTo>
                <a:lnTo>
                  <a:pt x="937945" y="329219"/>
                </a:lnTo>
                <a:lnTo>
                  <a:pt x="1023213" y="329110"/>
                </a:lnTo>
                <a:lnTo>
                  <a:pt x="1108481" y="328809"/>
                </a:lnTo>
                <a:lnTo>
                  <a:pt x="1193749" y="328268"/>
                </a:lnTo>
                <a:lnTo>
                  <a:pt x="1279016" y="327487"/>
                </a:lnTo>
                <a:lnTo>
                  <a:pt x="1364284" y="326456"/>
                </a:lnTo>
                <a:lnTo>
                  <a:pt x="1449552" y="325274"/>
                </a:lnTo>
                <a:lnTo>
                  <a:pt x="1534820" y="324030"/>
                </a:lnTo>
                <a:lnTo>
                  <a:pt x="1620087" y="322783"/>
                </a:lnTo>
                <a:lnTo>
                  <a:pt x="1705355" y="323224"/>
                </a:lnTo>
                <a:lnTo>
                  <a:pt x="1790623" y="322290"/>
                </a:lnTo>
                <a:lnTo>
                  <a:pt x="1875891" y="321251"/>
                </a:lnTo>
                <a:lnTo>
                  <a:pt x="1961159" y="320090"/>
                </a:lnTo>
                <a:lnTo>
                  <a:pt x="2046426" y="318804"/>
                </a:lnTo>
                <a:lnTo>
                  <a:pt x="2131694" y="317385"/>
                </a:lnTo>
                <a:lnTo>
                  <a:pt x="2216962" y="315835"/>
                </a:lnTo>
                <a:lnTo>
                  <a:pt x="2302230" y="314130"/>
                </a:lnTo>
                <a:lnTo>
                  <a:pt x="2387498" y="312266"/>
                </a:lnTo>
                <a:lnTo>
                  <a:pt x="2472765" y="310236"/>
                </a:lnTo>
                <a:lnTo>
                  <a:pt x="2558033" y="308027"/>
                </a:lnTo>
                <a:lnTo>
                  <a:pt x="2643301" y="305630"/>
                </a:lnTo>
                <a:lnTo>
                  <a:pt x="2728569" y="303030"/>
                </a:lnTo>
                <a:lnTo>
                  <a:pt x="2813836" y="300220"/>
                </a:lnTo>
                <a:lnTo>
                  <a:pt x="2899104" y="297202"/>
                </a:lnTo>
                <a:lnTo>
                  <a:pt x="2984372" y="293979"/>
                </a:lnTo>
                <a:lnTo>
                  <a:pt x="3069640" y="290548"/>
                </a:lnTo>
                <a:lnTo>
                  <a:pt x="3154908" y="286909"/>
                </a:lnTo>
                <a:lnTo>
                  <a:pt x="3240175" y="283069"/>
                </a:lnTo>
                <a:lnTo>
                  <a:pt x="3325443" y="279022"/>
                </a:lnTo>
                <a:lnTo>
                  <a:pt x="3410711" y="274777"/>
                </a:lnTo>
                <a:lnTo>
                  <a:pt x="3495979" y="270325"/>
                </a:lnTo>
                <a:lnTo>
                  <a:pt x="3581247" y="265679"/>
                </a:lnTo>
                <a:lnTo>
                  <a:pt x="3666514" y="260848"/>
                </a:lnTo>
                <a:lnTo>
                  <a:pt x="3751782" y="255857"/>
                </a:lnTo>
                <a:lnTo>
                  <a:pt x="3837050" y="250714"/>
                </a:lnTo>
                <a:lnTo>
                  <a:pt x="3922318" y="245428"/>
                </a:lnTo>
                <a:lnTo>
                  <a:pt x="4007586" y="240022"/>
                </a:lnTo>
                <a:lnTo>
                  <a:pt x="4092853" y="234496"/>
                </a:lnTo>
                <a:lnTo>
                  <a:pt x="4178121" y="228850"/>
                </a:lnTo>
                <a:lnTo>
                  <a:pt x="4263389" y="223102"/>
                </a:lnTo>
                <a:lnTo>
                  <a:pt x="4348657" y="217218"/>
                </a:lnTo>
                <a:lnTo>
                  <a:pt x="4433924" y="211200"/>
                </a:lnTo>
                <a:lnTo>
                  <a:pt x="4519192" y="205035"/>
                </a:lnTo>
                <a:lnTo>
                  <a:pt x="4604460" y="198730"/>
                </a:lnTo>
                <a:lnTo>
                  <a:pt x="4689728" y="192279"/>
                </a:lnTo>
                <a:lnTo>
                  <a:pt x="4774996" y="185646"/>
                </a:lnTo>
                <a:lnTo>
                  <a:pt x="4860263" y="178856"/>
                </a:lnTo>
                <a:lnTo>
                  <a:pt x="4945531" y="171900"/>
                </a:lnTo>
                <a:lnTo>
                  <a:pt x="5030799" y="164785"/>
                </a:lnTo>
                <a:lnTo>
                  <a:pt x="5116067" y="157505"/>
                </a:lnTo>
                <a:lnTo>
                  <a:pt x="5201335" y="150062"/>
                </a:lnTo>
                <a:lnTo>
                  <a:pt x="5286602" y="142482"/>
                </a:lnTo>
                <a:lnTo>
                  <a:pt x="5371870" y="134765"/>
                </a:lnTo>
                <a:lnTo>
                  <a:pt x="5457138" y="126912"/>
                </a:lnTo>
                <a:lnTo>
                  <a:pt x="5542406" y="118947"/>
                </a:lnTo>
                <a:lnTo>
                  <a:pt x="5627673" y="110896"/>
                </a:lnTo>
                <a:lnTo>
                  <a:pt x="5712941" y="102746"/>
                </a:lnTo>
                <a:lnTo>
                  <a:pt x="5798209" y="94560"/>
                </a:lnTo>
                <a:lnTo>
                  <a:pt x="5883477" y="86347"/>
                </a:lnTo>
                <a:lnTo>
                  <a:pt x="5968745" y="78119"/>
                </a:lnTo>
                <a:lnTo>
                  <a:pt x="6054012" y="69918"/>
                </a:lnTo>
                <a:lnTo>
                  <a:pt x="6139280" y="61755"/>
                </a:lnTo>
                <a:lnTo>
                  <a:pt x="6224548" y="53656"/>
                </a:lnTo>
                <a:lnTo>
                  <a:pt x="6309816" y="45625"/>
                </a:lnTo>
                <a:lnTo>
                  <a:pt x="6395084" y="37701"/>
                </a:lnTo>
                <a:lnTo>
                  <a:pt x="6480351" y="29873"/>
                </a:lnTo>
                <a:lnTo>
                  <a:pt x="6565619" y="22182"/>
                </a:lnTo>
                <a:lnTo>
                  <a:pt x="6650887" y="14623"/>
                </a:lnTo>
                <a:lnTo>
                  <a:pt x="6736155" y="7223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94111" y="4500157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85</a:t>
            </a:r>
          </a:p>
        </p:txBody>
      </p:sp>
      <p:sp>
        <p:nvSpPr>
          <p:cNvPr id="124" name="bfa: 50-й центиль"/>
          <p:cNvSpPr/>
          <p:nvPr/>
        </p:nvSpPr>
        <p:spPr>
          <a:xfrm>
            <a:off x="932688" y="4754788"/>
            <a:ext cx="6821423" cy="235101"/>
          </a:xfrm>
          <a:custGeom>
            <a:avLst/>
            <a:gdLst/>
            <a:ahLst/>
            <a:cxnLst/>
            <a:rect l="l" t="t" r="r" b="b"/>
            <a:pathLst>
              <a:path w="6821423" h="235101">
                <a:moveTo>
                  <a:pt x="0" y="210914"/>
                </a:moveTo>
                <a:lnTo>
                  <a:pt x="85267" y="213712"/>
                </a:lnTo>
                <a:lnTo>
                  <a:pt x="170535" y="216350"/>
                </a:lnTo>
                <a:lnTo>
                  <a:pt x="255803" y="218844"/>
                </a:lnTo>
                <a:lnTo>
                  <a:pt x="341071" y="221237"/>
                </a:lnTo>
                <a:lnTo>
                  <a:pt x="426338" y="223460"/>
                </a:lnTo>
                <a:lnTo>
                  <a:pt x="511606" y="225519"/>
                </a:lnTo>
                <a:lnTo>
                  <a:pt x="596874" y="227325"/>
                </a:lnTo>
                <a:lnTo>
                  <a:pt x="682142" y="228880"/>
                </a:lnTo>
                <a:lnTo>
                  <a:pt x="767410" y="230226"/>
                </a:lnTo>
                <a:lnTo>
                  <a:pt x="852677" y="231393"/>
                </a:lnTo>
                <a:lnTo>
                  <a:pt x="937945" y="232432"/>
                </a:lnTo>
                <a:lnTo>
                  <a:pt x="1023213" y="233311"/>
                </a:lnTo>
                <a:lnTo>
                  <a:pt x="1108481" y="234005"/>
                </a:lnTo>
                <a:lnTo>
                  <a:pt x="1193749" y="234476"/>
                </a:lnTo>
                <a:lnTo>
                  <a:pt x="1279016" y="234733"/>
                </a:lnTo>
                <a:lnTo>
                  <a:pt x="1364284" y="234745"/>
                </a:lnTo>
                <a:lnTo>
                  <a:pt x="1449552" y="234568"/>
                </a:lnTo>
                <a:lnTo>
                  <a:pt x="1534820" y="234261"/>
                </a:lnTo>
                <a:lnTo>
                  <a:pt x="1620087" y="233868"/>
                </a:lnTo>
                <a:lnTo>
                  <a:pt x="1705355" y="235005"/>
                </a:lnTo>
                <a:lnTo>
                  <a:pt x="1790623" y="235101"/>
                </a:lnTo>
                <a:lnTo>
                  <a:pt x="1875891" y="235098"/>
                </a:lnTo>
                <a:lnTo>
                  <a:pt x="1961159" y="234997"/>
                </a:lnTo>
                <a:lnTo>
                  <a:pt x="2046426" y="234789"/>
                </a:lnTo>
                <a:lnTo>
                  <a:pt x="2131694" y="234472"/>
                </a:lnTo>
                <a:lnTo>
                  <a:pt x="2216962" y="234036"/>
                </a:lnTo>
                <a:lnTo>
                  <a:pt x="2302230" y="233472"/>
                </a:lnTo>
                <a:lnTo>
                  <a:pt x="2387498" y="232774"/>
                </a:lnTo>
                <a:lnTo>
                  <a:pt x="2472765" y="231934"/>
                </a:lnTo>
                <a:lnTo>
                  <a:pt x="2558033" y="230941"/>
                </a:lnTo>
                <a:lnTo>
                  <a:pt x="2643301" y="229777"/>
                </a:lnTo>
                <a:lnTo>
                  <a:pt x="2728569" y="228444"/>
                </a:lnTo>
                <a:lnTo>
                  <a:pt x="2813836" y="226931"/>
                </a:lnTo>
                <a:lnTo>
                  <a:pt x="2899104" y="225238"/>
                </a:lnTo>
                <a:lnTo>
                  <a:pt x="2984372" y="223362"/>
                </a:lnTo>
                <a:lnTo>
                  <a:pt x="3069640" y="221307"/>
                </a:lnTo>
                <a:lnTo>
                  <a:pt x="3154908" y="219072"/>
                </a:lnTo>
                <a:lnTo>
                  <a:pt x="3240175" y="216657"/>
                </a:lnTo>
                <a:lnTo>
                  <a:pt x="3325443" y="214067"/>
                </a:lnTo>
                <a:lnTo>
                  <a:pt x="3410711" y="211300"/>
                </a:lnTo>
                <a:lnTo>
                  <a:pt x="3495979" y="208344"/>
                </a:lnTo>
                <a:lnTo>
                  <a:pt x="3581247" y="205220"/>
                </a:lnTo>
                <a:lnTo>
                  <a:pt x="3666514" y="201933"/>
                </a:lnTo>
                <a:lnTo>
                  <a:pt x="3751782" y="198503"/>
                </a:lnTo>
                <a:lnTo>
                  <a:pt x="3837050" y="194935"/>
                </a:lnTo>
                <a:lnTo>
                  <a:pt x="3922318" y="191230"/>
                </a:lnTo>
                <a:lnTo>
                  <a:pt x="4007586" y="187413"/>
                </a:lnTo>
                <a:lnTo>
                  <a:pt x="4092853" y="183488"/>
                </a:lnTo>
                <a:lnTo>
                  <a:pt x="4178121" y="179451"/>
                </a:lnTo>
                <a:lnTo>
                  <a:pt x="4263389" y="175310"/>
                </a:lnTo>
                <a:lnTo>
                  <a:pt x="4348657" y="171039"/>
                </a:lnTo>
                <a:lnTo>
                  <a:pt x="4433924" y="166641"/>
                </a:lnTo>
                <a:lnTo>
                  <a:pt x="4519192" y="162111"/>
                </a:lnTo>
                <a:lnTo>
                  <a:pt x="4604460" y="157440"/>
                </a:lnTo>
                <a:lnTo>
                  <a:pt x="4689728" y="152622"/>
                </a:lnTo>
                <a:lnTo>
                  <a:pt x="4774996" y="147638"/>
                </a:lnTo>
                <a:lnTo>
                  <a:pt x="4860263" y="142505"/>
                </a:lnTo>
                <a:lnTo>
                  <a:pt x="4945531" y="137211"/>
                </a:lnTo>
                <a:lnTo>
                  <a:pt x="5030799" y="131761"/>
                </a:lnTo>
                <a:lnTo>
                  <a:pt x="5116067" y="126159"/>
                </a:lnTo>
                <a:lnTo>
                  <a:pt x="5201335" y="120395"/>
                </a:lnTo>
                <a:lnTo>
                  <a:pt x="5286602" y="114492"/>
                </a:lnTo>
                <a:lnTo>
                  <a:pt x="5371870" y="108452"/>
                </a:lnTo>
                <a:lnTo>
                  <a:pt x="5457138" y="102287"/>
                </a:lnTo>
                <a:lnTo>
                  <a:pt x="5542406" y="96007"/>
                </a:lnTo>
                <a:lnTo>
                  <a:pt x="5627673" y="89619"/>
                </a:lnTo>
                <a:lnTo>
                  <a:pt x="5712941" y="83148"/>
                </a:lnTo>
                <a:lnTo>
                  <a:pt x="5798209" y="76616"/>
                </a:lnTo>
                <a:lnTo>
                  <a:pt x="5883477" y="70040"/>
                </a:lnTo>
                <a:lnTo>
                  <a:pt x="5968745" y="63444"/>
                </a:lnTo>
                <a:lnTo>
                  <a:pt x="6054012" y="56848"/>
                </a:lnTo>
                <a:lnTo>
                  <a:pt x="6139280" y="50264"/>
                </a:lnTo>
                <a:lnTo>
                  <a:pt x="6224548" y="43714"/>
                </a:lnTo>
                <a:lnTo>
                  <a:pt x="6309816" y="37215"/>
                </a:lnTo>
                <a:lnTo>
                  <a:pt x="6395084" y="30773"/>
                </a:lnTo>
                <a:lnTo>
                  <a:pt x="6480351" y="24415"/>
                </a:lnTo>
                <a:lnTo>
                  <a:pt x="6565619" y="18142"/>
                </a:lnTo>
                <a:lnTo>
                  <a:pt x="6650887" y="11974"/>
                </a:lnTo>
                <a:lnTo>
                  <a:pt x="6736155" y="5922"/>
                </a:lnTo>
                <a:lnTo>
                  <a:pt x="6821423" y="0"/>
                </a:lnTo>
              </a:path>
            </a:pathLst>
          </a:custGeom>
          <a:noFill/>
          <a:ln w="1587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94111" y="4679788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126" name="bfa: 15-й центиль"/>
          <p:cNvSpPr/>
          <p:nvPr/>
        </p:nvSpPr>
        <p:spPr>
          <a:xfrm>
            <a:off x="932688" y="4885341"/>
            <a:ext cx="6821423" cy="182210"/>
          </a:xfrm>
          <a:custGeom>
            <a:avLst/>
            <a:gdLst/>
            <a:ahLst/>
            <a:cxnLst/>
            <a:rect l="l" t="t" r="r" b="b"/>
            <a:pathLst>
              <a:path w="6821423" h="182210">
                <a:moveTo>
                  <a:pt x="0" y="150285"/>
                </a:moveTo>
                <a:lnTo>
                  <a:pt x="85267" y="152820"/>
                </a:lnTo>
                <a:lnTo>
                  <a:pt x="170535" y="155205"/>
                </a:lnTo>
                <a:lnTo>
                  <a:pt x="255803" y="157484"/>
                </a:lnTo>
                <a:lnTo>
                  <a:pt x="341071" y="159727"/>
                </a:lnTo>
                <a:lnTo>
                  <a:pt x="426338" y="161902"/>
                </a:lnTo>
                <a:lnTo>
                  <a:pt x="511606" y="164055"/>
                </a:lnTo>
                <a:lnTo>
                  <a:pt x="596874" y="166120"/>
                </a:lnTo>
                <a:lnTo>
                  <a:pt x="682142" y="168087"/>
                </a:lnTo>
                <a:lnTo>
                  <a:pt x="767410" y="169980"/>
                </a:lnTo>
                <a:lnTo>
                  <a:pt x="852677" y="171788"/>
                </a:lnTo>
                <a:lnTo>
                  <a:pt x="937945" y="173534"/>
                </a:lnTo>
                <a:lnTo>
                  <a:pt x="1023213" y="175141"/>
                </a:lnTo>
                <a:lnTo>
                  <a:pt x="1108481" y="176568"/>
                </a:lnTo>
                <a:lnTo>
                  <a:pt x="1193749" y="177784"/>
                </a:lnTo>
                <a:lnTo>
                  <a:pt x="1279016" y="178805"/>
                </a:lnTo>
                <a:lnTo>
                  <a:pt x="1364284" y="179585"/>
                </a:lnTo>
                <a:lnTo>
                  <a:pt x="1449552" y="180147"/>
                </a:lnTo>
                <a:lnTo>
                  <a:pt x="1534820" y="180531"/>
                </a:lnTo>
                <a:lnTo>
                  <a:pt x="1620087" y="180766"/>
                </a:lnTo>
                <a:lnTo>
                  <a:pt x="1705355" y="180244"/>
                </a:lnTo>
                <a:lnTo>
                  <a:pt x="1790623" y="180813"/>
                </a:lnTo>
                <a:lnTo>
                  <a:pt x="1875891" y="181283"/>
                </a:lnTo>
                <a:lnTo>
                  <a:pt x="1961159" y="181667"/>
                </a:lnTo>
                <a:lnTo>
                  <a:pt x="2046426" y="181949"/>
                </a:lnTo>
                <a:lnTo>
                  <a:pt x="2131694" y="182137"/>
                </a:lnTo>
                <a:lnTo>
                  <a:pt x="2216962" y="182210"/>
                </a:lnTo>
                <a:lnTo>
                  <a:pt x="2302230" y="182171"/>
                </a:lnTo>
                <a:lnTo>
                  <a:pt x="2387498" y="182012"/>
                </a:lnTo>
                <a:lnTo>
                  <a:pt x="2472765" y="181725"/>
                </a:lnTo>
                <a:lnTo>
                  <a:pt x="2558033" y="181299"/>
                </a:lnTo>
                <a:lnTo>
                  <a:pt x="2643301" y="180715"/>
                </a:lnTo>
                <a:lnTo>
                  <a:pt x="2728569" y="179985"/>
                </a:lnTo>
                <a:lnTo>
                  <a:pt x="2813836" y="179096"/>
                </a:lnTo>
                <a:lnTo>
                  <a:pt x="2899104" y="178046"/>
                </a:lnTo>
                <a:lnTo>
                  <a:pt x="2984372" y="176830"/>
                </a:lnTo>
                <a:lnTo>
                  <a:pt x="3069640" y="175456"/>
                </a:lnTo>
                <a:lnTo>
                  <a:pt x="3154908" y="173925"/>
                </a:lnTo>
                <a:lnTo>
                  <a:pt x="3240175" y="172233"/>
                </a:lnTo>
                <a:lnTo>
                  <a:pt x="3325443" y="170390"/>
                </a:lnTo>
                <a:lnTo>
                  <a:pt x="3410711" y="168389"/>
                </a:lnTo>
                <a:lnTo>
                  <a:pt x="3495979" y="166218"/>
                </a:lnTo>
                <a:lnTo>
                  <a:pt x="3581247" y="163904"/>
                </a:lnTo>
                <a:lnTo>
                  <a:pt x="3666514" y="161447"/>
                </a:lnTo>
                <a:lnTo>
                  <a:pt x="3751782" y="158865"/>
                </a:lnTo>
                <a:lnTo>
                  <a:pt x="3837050" y="156163"/>
                </a:lnTo>
                <a:lnTo>
                  <a:pt x="3922318" y="153342"/>
                </a:lnTo>
                <a:lnTo>
                  <a:pt x="4007586" y="150421"/>
                </a:lnTo>
                <a:lnTo>
                  <a:pt x="4092853" y="147410"/>
                </a:lnTo>
                <a:lnTo>
                  <a:pt x="4178121" y="144303"/>
                </a:lnTo>
                <a:lnTo>
                  <a:pt x="4263389" y="141101"/>
                </a:lnTo>
                <a:lnTo>
                  <a:pt x="4348657" y="137789"/>
                </a:lnTo>
                <a:lnTo>
                  <a:pt x="4433924" y="134365"/>
                </a:lnTo>
                <a:lnTo>
                  <a:pt x="4519192" y="130830"/>
                </a:lnTo>
                <a:lnTo>
                  <a:pt x="4604460" y="127169"/>
                </a:lnTo>
                <a:lnTo>
                  <a:pt x="4689728" y="123376"/>
                </a:lnTo>
                <a:lnTo>
                  <a:pt x="4774996" y="119440"/>
                </a:lnTo>
                <a:lnTo>
                  <a:pt x="4860263" y="115375"/>
                </a:lnTo>
                <a:lnTo>
                  <a:pt x="4945531" y="111167"/>
                </a:lnTo>
                <a:lnTo>
                  <a:pt x="5030799" y="106819"/>
                </a:lnTo>
                <a:lnTo>
                  <a:pt x="5116067" y="102343"/>
                </a:lnTo>
                <a:lnTo>
                  <a:pt x="5201335" y="97721"/>
                </a:lnTo>
                <a:lnTo>
                  <a:pt x="5286602" y="92975"/>
                </a:lnTo>
                <a:lnTo>
                  <a:pt x="5371870" y="88105"/>
                </a:lnTo>
                <a:lnTo>
                  <a:pt x="5457138" y="83131"/>
                </a:lnTo>
                <a:lnTo>
                  <a:pt x="5542406" y="78053"/>
                </a:lnTo>
                <a:lnTo>
                  <a:pt x="5627673" y="72871"/>
                </a:lnTo>
                <a:lnTo>
                  <a:pt x="5712941" y="67624"/>
                </a:lnTo>
                <a:lnTo>
                  <a:pt x="5798209" y="62316"/>
                </a:lnTo>
                <a:lnTo>
                  <a:pt x="5883477" y="56965"/>
                </a:lnTo>
                <a:lnTo>
                  <a:pt x="5968745" y="51602"/>
                </a:lnTo>
                <a:lnTo>
                  <a:pt x="6054012" y="46234"/>
                </a:lnTo>
                <a:lnTo>
                  <a:pt x="6139280" y="40873"/>
                </a:lnTo>
                <a:lnTo>
                  <a:pt x="6224548" y="35538"/>
                </a:lnTo>
                <a:lnTo>
                  <a:pt x="6309816" y="30252"/>
                </a:lnTo>
                <a:lnTo>
                  <a:pt x="6395084" y="25003"/>
                </a:lnTo>
                <a:lnTo>
                  <a:pt x="6480351" y="19838"/>
                </a:lnTo>
                <a:lnTo>
                  <a:pt x="6565619" y="14733"/>
                </a:lnTo>
                <a:lnTo>
                  <a:pt x="6650887" y="9723"/>
                </a:lnTo>
                <a:lnTo>
                  <a:pt x="6736155" y="4808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94111" y="4810341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  <p:sp>
        <p:nvSpPr>
          <p:cNvPr id="128" name="bfa: 3-й центиль"/>
          <p:cNvSpPr/>
          <p:nvPr/>
        </p:nvSpPr>
        <p:spPr>
          <a:xfrm>
            <a:off x="932688" y="4968344"/>
            <a:ext cx="6821423" cy="153058"/>
          </a:xfrm>
          <a:custGeom>
            <a:avLst/>
            <a:gdLst/>
            <a:ahLst/>
            <a:cxnLst/>
            <a:rect l="l" t="t" r="r" b="b"/>
            <a:pathLst>
              <a:path w="6821423" h="153058">
                <a:moveTo>
                  <a:pt x="0" y="117892"/>
                </a:moveTo>
                <a:lnTo>
                  <a:pt x="85267" y="120240"/>
                </a:lnTo>
                <a:lnTo>
                  <a:pt x="170535" y="122445"/>
                </a:lnTo>
                <a:lnTo>
                  <a:pt x="255803" y="124569"/>
                </a:lnTo>
                <a:lnTo>
                  <a:pt x="341071" y="126700"/>
                </a:lnTo>
                <a:lnTo>
                  <a:pt x="426338" y="128828"/>
                </a:lnTo>
                <a:lnTo>
                  <a:pt x="511606" y="131026"/>
                </a:lnTo>
                <a:lnTo>
                  <a:pt x="596874" y="133241"/>
                </a:lnTo>
                <a:lnTo>
                  <a:pt x="682142" y="135457"/>
                </a:lnTo>
                <a:lnTo>
                  <a:pt x="767410" y="137686"/>
                </a:lnTo>
                <a:lnTo>
                  <a:pt x="852677" y="139888"/>
                </a:lnTo>
                <a:lnTo>
                  <a:pt x="937945" y="142069"/>
                </a:lnTo>
                <a:lnTo>
                  <a:pt x="1023213" y="144125"/>
                </a:lnTo>
                <a:lnTo>
                  <a:pt x="1108481" y="146002"/>
                </a:lnTo>
                <a:lnTo>
                  <a:pt x="1193749" y="147678"/>
                </a:lnTo>
                <a:lnTo>
                  <a:pt x="1279016" y="149169"/>
                </a:lnTo>
                <a:lnTo>
                  <a:pt x="1364284" y="150423"/>
                </a:lnTo>
                <a:lnTo>
                  <a:pt x="1449552" y="151442"/>
                </a:lnTo>
                <a:lnTo>
                  <a:pt x="1534820" y="152253"/>
                </a:lnTo>
                <a:lnTo>
                  <a:pt x="1620087" y="152877"/>
                </a:lnTo>
                <a:lnTo>
                  <a:pt x="1705355" y="150047"/>
                </a:lnTo>
                <a:lnTo>
                  <a:pt x="1790623" y="150754"/>
                </a:lnTo>
                <a:lnTo>
                  <a:pt x="1875891" y="151362"/>
                </a:lnTo>
                <a:lnTo>
                  <a:pt x="1961159" y="151890"/>
                </a:lnTo>
                <a:lnTo>
                  <a:pt x="2046426" y="152322"/>
                </a:lnTo>
                <a:lnTo>
                  <a:pt x="2131694" y="152667"/>
                </a:lnTo>
                <a:lnTo>
                  <a:pt x="2216962" y="152902"/>
                </a:lnTo>
                <a:lnTo>
                  <a:pt x="2302230" y="153035"/>
                </a:lnTo>
                <a:lnTo>
                  <a:pt x="2387498" y="153058"/>
                </a:lnTo>
                <a:lnTo>
                  <a:pt x="2472765" y="152961"/>
                </a:lnTo>
                <a:lnTo>
                  <a:pt x="2558033" y="152738"/>
                </a:lnTo>
                <a:lnTo>
                  <a:pt x="2643301" y="152366"/>
                </a:lnTo>
                <a:lnTo>
                  <a:pt x="2728569" y="151864"/>
                </a:lnTo>
                <a:lnTo>
                  <a:pt x="2813836" y="151218"/>
                </a:lnTo>
                <a:lnTo>
                  <a:pt x="2899104" y="150425"/>
                </a:lnTo>
                <a:lnTo>
                  <a:pt x="2984372" y="149480"/>
                </a:lnTo>
                <a:lnTo>
                  <a:pt x="3069640" y="148393"/>
                </a:lnTo>
                <a:lnTo>
                  <a:pt x="3154908" y="147165"/>
                </a:lnTo>
                <a:lnTo>
                  <a:pt x="3240175" y="145793"/>
                </a:lnTo>
                <a:lnTo>
                  <a:pt x="3325443" y="144287"/>
                </a:lnTo>
                <a:lnTo>
                  <a:pt x="3410711" y="142638"/>
                </a:lnTo>
                <a:lnTo>
                  <a:pt x="3495979" y="140836"/>
                </a:lnTo>
                <a:lnTo>
                  <a:pt x="3581247" y="138909"/>
                </a:lnTo>
                <a:lnTo>
                  <a:pt x="3666514" y="136856"/>
                </a:lnTo>
                <a:lnTo>
                  <a:pt x="3751782" y="134694"/>
                </a:lnTo>
                <a:lnTo>
                  <a:pt x="3837050" y="132428"/>
                </a:lnTo>
                <a:lnTo>
                  <a:pt x="3922318" y="130057"/>
                </a:lnTo>
                <a:lnTo>
                  <a:pt x="4007586" y="127600"/>
                </a:lnTo>
                <a:lnTo>
                  <a:pt x="4092853" y="125067"/>
                </a:lnTo>
                <a:lnTo>
                  <a:pt x="4178121" y="122455"/>
                </a:lnTo>
                <a:lnTo>
                  <a:pt x="4263389" y="119758"/>
                </a:lnTo>
                <a:lnTo>
                  <a:pt x="4348657" y="116968"/>
                </a:lnTo>
                <a:lnTo>
                  <a:pt x="4433924" y="114081"/>
                </a:lnTo>
                <a:lnTo>
                  <a:pt x="4519192" y="111102"/>
                </a:lnTo>
                <a:lnTo>
                  <a:pt x="4604460" y="108011"/>
                </a:lnTo>
                <a:lnTo>
                  <a:pt x="4689728" y="104804"/>
                </a:lnTo>
                <a:lnTo>
                  <a:pt x="4774996" y="101472"/>
                </a:lnTo>
                <a:lnTo>
                  <a:pt x="4860263" y="98029"/>
                </a:lnTo>
                <a:lnTo>
                  <a:pt x="4945531" y="94461"/>
                </a:lnTo>
                <a:lnTo>
                  <a:pt x="5030799" y="90768"/>
                </a:lnTo>
                <a:lnTo>
                  <a:pt x="5116067" y="86967"/>
                </a:lnTo>
                <a:lnTo>
                  <a:pt x="5201335" y="83035"/>
                </a:lnTo>
                <a:lnTo>
                  <a:pt x="5286602" y="78995"/>
                </a:lnTo>
                <a:lnTo>
                  <a:pt x="5371870" y="74845"/>
                </a:lnTo>
                <a:lnTo>
                  <a:pt x="5457138" y="70607"/>
                </a:lnTo>
                <a:lnTo>
                  <a:pt x="5542406" y="66278"/>
                </a:lnTo>
                <a:lnTo>
                  <a:pt x="5627673" y="61854"/>
                </a:lnTo>
                <a:lnTo>
                  <a:pt x="5712941" y="57380"/>
                </a:lnTo>
                <a:lnTo>
                  <a:pt x="5798209" y="52849"/>
                </a:lnTo>
                <a:lnTo>
                  <a:pt x="5883477" y="48283"/>
                </a:lnTo>
                <a:lnTo>
                  <a:pt x="5968745" y="43714"/>
                </a:lnTo>
                <a:lnTo>
                  <a:pt x="6054012" y="39141"/>
                </a:lnTo>
                <a:lnTo>
                  <a:pt x="6139280" y="34578"/>
                </a:lnTo>
                <a:lnTo>
                  <a:pt x="6224548" y="30041"/>
                </a:lnTo>
                <a:lnTo>
                  <a:pt x="6309816" y="25554"/>
                </a:lnTo>
                <a:lnTo>
                  <a:pt x="6395084" y="21100"/>
                </a:lnTo>
                <a:lnTo>
                  <a:pt x="6480351" y="16731"/>
                </a:lnTo>
                <a:lnTo>
                  <a:pt x="6565619" y="12412"/>
                </a:lnTo>
                <a:lnTo>
                  <a:pt x="6650887" y="8184"/>
                </a:lnTo>
                <a:lnTo>
                  <a:pt x="6736155" y="4044"/>
                </a:lnTo>
                <a:lnTo>
                  <a:pt x="6821423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94111" y="4893344"/>
            <a:ext cx="292608" cy="1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130" name="bfa: пример"/>
          <p:cNvSpPr/>
          <p:nvPr/>
        </p:nvSpPr>
        <p:spPr>
          <a:xfrm>
            <a:off x="932688" y="4823003"/>
            <a:ext cx="6252971" cy="198402"/>
          </a:xfrm>
          <a:custGeom>
            <a:avLst/>
            <a:gdLst/>
            <a:ahLst/>
            <a:cxnLst/>
            <a:rect l="l" t="t" r="r" b="b"/>
            <a:pathLst>
              <a:path w="6252971" h="198402">
                <a:moveTo>
                  <a:pt x="0" y="163923"/>
                </a:moveTo>
                <a:lnTo>
                  <a:pt x="94741" y="167510"/>
                </a:lnTo>
                <a:lnTo>
                  <a:pt x="189483" y="170891"/>
                </a:lnTo>
                <a:lnTo>
                  <a:pt x="284225" y="174120"/>
                </a:lnTo>
                <a:lnTo>
                  <a:pt x="378967" y="177254"/>
                </a:lnTo>
                <a:lnTo>
                  <a:pt x="473709" y="180243"/>
                </a:lnTo>
                <a:lnTo>
                  <a:pt x="568451" y="183008"/>
                </a:lnTo>
                <a:lnTo>
                  <a:pt x="663193" y="185530"/>
                </a:lnTo>
                <a:lnTo>
                  <a:pt x="757935" y="187854"/>
                </a:lnTo>
                <a:lnTo>
                  <a:pt x="852677" y="190012"/>
                </a:lnTo>
                <a:lnTo>
                  <a:pt x="947419" y="192060"/>
                </a:lnTo>
                <a:lnTo>
                  <a:pt x="1042161" y="193928"/>
                </a:lnTo>
                <a:lnTo>
                  <a:pt x="1136903" y="195573"/>
                </a:lnTo>
                <a:lnTo>
                  <a:pt x="1231645" y="196361"/>
                </a:lnTo>
                <a:lnTo>
                  <a:pt x="1326387" y="196869"/>
                </a:lnTo>
                <a:lnTo>
                  <a:pt x="1421129" y="197099"/>
                </a:lnTo>
                <a:lnTo>
                  <a:pt x="1515871" y="197122"/>
                </a:lnTo>
                <a:lnTo>
                  <a:pt x="1610613" y="196998"/>
                </a:lnTo>
                <a:lnTo>
                  <a:pt x="1705355" y="197678"/>
                </a:lnTo>
                <a:lnTo>
                  <a:pt x="1800097" y="198041"/>
                </a:lnTo>
                <a:lnTo>
                  <a:pt x="1894839" y="198279"/>
                </a:lnTo>
                <a:lnTo>
                  <a:pt x="1989581" y="198402"/>
                </a:lnTo>
                <a:lnTo>
                  <a:pt x="2084323" y="198392"/>
                </a:lnTo>
                <a:lnTo>
                  <a:pt x="2179065" y="198255"/>
                </a:lnTo>
                <a:lnTo>
                  <a:pt x="2273807" y="197964"/>
                </a:lnTo>
                <a:lnTo>
                  <a:pt x="2368549" y="197525"/>
                </a:lnTo>
                <a:lnTo>
                  <a:pt x="2463291" y="196913"/>
                </a:lnTo>
                <a:lnTo>
                  <a:pt x="2558033" y="196119"/>
                </a:lnTo>
                <a:lnTo>
                  <a:pt x="2652775" y="195129"/>
                </a:lnTo>
                <a:lnTo>
                  <a:pt x="2747517" y="193940"/>
                </a:lnTo>
                <a:lnTo>
                  <a:pt x="2842259" y="192537"/>
                </a:lnTo>
                <a:lnTo>
                  <a:pt x="2937001" y="190914"/>
                </a:lnTo>
                <a:lnTo>
                  <a:pt x="3031743" y="189087"/>
                </a:lnTo>
                <a:lnTo>
                  <a:pt x="3126485" y="187044"/>
                </a:lnTo>
                <a:lnTo>
                  <a:pt x="3221227" y="184786"/>
                </a:lnTo>
                <a:lnTo>
                  <a:pt x="3315969" y="182326"/>
                </a:lnTo>
                <a:lnTo>
                  <a:pt x="3410711" y="179651"/>
                </a:lnTo>
                <a:lnTo>
                  <a:pt x="3505453" y="176030"/>
                </a:lnTo>
                <a:lnTo>
                  <a:pt x="3600195" y="172198"/>
                </a:lnTo>
                <a:lnTo>
                  <a:pt x="3694937" y="168155"/>
                </a:lnTo>
                <a:lnTo>
                  <a:pt x="3789679" y="163922"/>
                </a:lnTo>
                <a:lnTo>
                  <a:pt x="3884421" y="159518"/>
                </a:lnTo>
                <a:lnTo>
                  <a:pt x="3979163" y="154951"/>
                </a:lnTo>
                <a:lnTo>
                  <a:pt x="4073905" y="150237"/>
                </a:lnTo>
                <a:lnTo>
                  <a:pt x="4168647" y="145368"/>
                </a:lnTo>
                <a:lnTo>
                  <a:pt x="4263389" y="140351"/>
                </a:lnTo>
                <a:lnTo>
                  <a:pt x="4358131" y="135168"/>
                </a:lnTo>
                <a:lnTo>
                  <a:pt x="4452873" y="129812"/>
                </a:lnTo>
                <a:lnTo>
                  <a:pt x="4547615" y="124273"/>
                </a:lnTo>
                <a:lnTo>
                  <a:pt x="4642357" y="119390"/>
                </a:lnTo>
                <a:lnTo>
                  <a:pt x="4737099" y="114335"/>
                </a:lnTo>
                <a:lnTo>
                  <a:pt x="4831841" y="109089"/>
                </a:lnTo>
                <a:lnTo>
                  <a:pt x="4926583" y="103654"/>
                </a:lnTo>
                <a:lnTo>
                  <a:pt x="5021325" y="98028"/>
                </a:lnTo>
                <a:lnTo>
                  <a:pt x="5116067" y="92220"/>
                </a:lnTo>
                <a:lnTo>
                  <a:pt x="5210809" y="86226"/>
                </a:lnTo>
                <a:lnTo>
                  <a:pt x="5305551" y="80062"/>
                </a:lnTo>
                <a:lnTo>
                  <a:pt x="5400293" y="73733"/>
                </a:lnTo>
                <a:lnTo>
                  <a:pt x="5495035" y="67258"/>
                </a:lnTo>
                <a:lnTo>
                  <a:pt x="5589777" y="60650"/>
                </a:lnTo>
                <a:lnTo>
                  <a:pt x="5684519" y="53929"/>
                </a:lnTo>
                <a:lnTo>
                  <a:pt x="5731890" y="49551"/>
                </a:lnTo>
                <a:lnTo>
                  <a:pt x="5779261" y="45140"/>
                </a:lnTo>
                <a:lnTo>
                  <a:pt x="5826632" y="40701"/>
                </a:lnTo>
                <a:lnTo>
                  <a:pt x="5874003" y="36235"/>
                </a:lnTo>
                <a:lnTo>
                  <a:pt x="5921374" y="31750"/>
                </a:lnTo>
                <a:lnTo>
                  <a:pt x="5968745" y="27246"/>
                </a:lnTo>
                <a:lnTo>
                  <a:pt x="6016116" y="22726"/>
                </a:lnTo>
                <a:lnTo>
                  <a:pt x="6063487" y="18197"/>
                </a:lnTo>
                <a:lnTo>
                  <a:pt x="6110858" y="13653"/>
                </a:lnTo>
                <a:lnTo>
                  <a:pt x="6158229" y="9105"/>
                </a:lnTo>
                <a:lnTo>
                  <a:pt x="6205600" y="4552"/>
                </a:lnTo>
                <a:lnTo>
                  <a:pt x="6252971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bfa: точка 2"/>
          <p:cNvSpPr/>
          <p:nvPr/>
        </p:nvSpPr>
        <p:spPr>
          <a:xfrm>
            <a:off x="874688" y="492892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bfa: точка 4"/>
          <p:cNvSpPr/>
          <p:nvPr/>
        </p:nvSpPr>
        <p:spPr>
          <a:xfrm>
            <a:off x="2011591" y="496057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bfa: точка 6"/>
          <p:cNvSpPr/>
          <p:nvPr/>
        </p:nvSpPr>
        <p:spPr>
          <a:xfrm>
            <a:off x="3148495" y="4962967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bfa: точка 8"/>
          <p:cNvSpPr/>
          <p:nvPr/>
        </p:nvSpPr>
        <p:spPr>
          <a:xfrm>
            <a:off x="4285399" y="4944654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bfa: точка 10"/>
          <p:cNvSpPr/>
          <p:nvPr/>
        </p:nvSpPr>
        <p:spPr>
          <a:xfrm>
            <a:off x="5422303" y="4889276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bfa: точка 12"/>
          <p:cNvSpPr/>
          <p:nvPr/>
        </p:nvSpPr>
        <p:spPr>
          <a:xfrm>
            <a:off x="6559207" y="4818932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bfa: точка 13"/>
          <p:cNvSpPr/>
          <p:nvPr/>
        </p:nvSpPr>
        <p:spPr>
          <a:xfrm>
            <a:off x="7127659" y="4765003"/>
            <a:ext cx="116000" cy="116000"/>
          </a:xfrm>
          <a:prstGeom prst="ellipse">
            <a:avLst/>
          </a:prstGeom>
          <a:solidFill>
            <a:srgbClr val="C08A1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3937037"/>
            <a:ext cx="7498079" cy="22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ИМТ для возраста, кг/м²</a:t>
            </a:r>
          </a:p>
        </p:txBody>
      </p:sp>
      <p:sp>
        <p:nvSpPr>
          <p:cNvPr id="139" name="Легенда"/>
          <p:cNvSpPr/>
          <p:nvPr/>
        </p:nvSpPr>
        <p:spPr>
          <a:xfrm>
            <a:off x="548640" y="5550408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Легенда"/>
          <p:cNvSpPr txBox="1"/>
          <p:nvPr/>
        </p:nvSpPr>
        <p:spPr>
          <a:xfrm>
            <a:off x="89611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141" name="Легенда"/>
          <p:cNvSpPr/>
          <p:nvPr/>
        </p:nvSpPr>
        <p:spPr>
          <a:xfrm>
            <a:off x="2560320" y="5550408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Легенда"/>
          <p:cNvSpPr txBox="1"/>
          <p:nvPr/>
        </p:nvSpPr>
        <p:spPr>
          <a:xfrm>
            <a:off x="290779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ИМТ</a:t>
            </a:r>
          </a:p>
        </p:txBody>
      </p:sp>
      <p:sp>
        <p:nvSpPr>
          <p:cNvPr id="143" name="Легенда"/>
          <p:cNvSpPr/>
          <p:nvPr/>
        </p:nvSpPr>
        <p:spPr>
          <a:xfrm>
            <a:off x="4572000" y="5550408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Легенда"/>
          <p:cNvSpPr txBox="1"/>
          <p:nvPr/>
        </p:nvSpPr>
        <p:spPr>
          <a:xfrm>
            <a:off x="4919472" y="5486400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ВОЗ: 3–⁠97-й центиль</a:t>
            </a:r>
          </a:p>
        </p:txBody>
      </p:sp>
      <p:sp>
        <p:nvSpPr>
          <p:cNvPr id="145" name="Текст"/>
          <p:cNvSpPr txBox="1"/>
          <p:nvPr/>
        </p:nvSpPr>
        <p:spPr>
          <a:xfrm>
            <a:off x="8412479" y="1783080"/>
            <a:ext cx="3230576" cy="397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Кариотип нужен и при необъяснённой задержке пубертата или менархе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Считают не меньше 30 метафаз, при подозрении на мозаицизм больше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Материал Y-хромосомы ищут только при кариотипе 45,X с вирилизацией</a:t>
            </a:r>
          </a:p>
        </p:txBody>
      </p:sp>
      <p:sp>
        <p:nvSpPr>
          <p:cNvPr id="146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Gravholt CH et al. Eur J Endocrinol 2024;190:G53–G151; Gravholt CH et al. Lancet Diabetes Endocrinol 2026, PMID 42790437; WHO Multicentre Growth Reference Study Group. Acta Paediatr Suppl 2006;450:76–⁠85 (нормы ВОЗ); de Onis M et al. Bull World Health Organ 2007;85:660–⁠7 (нормы ВОЗ)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рост теряется прежде всего из-за нехватки гена </a:t>
            </a:r>
            <a:r>
              <a:rPr sz="2800" b="1" i="1">
                <a:solidFill>
                  <a:srgbClr val="1B2E3C"/>
                </a:solidFill>
                <a:latin typeface="Cambria"/>
              </a:rPr>
              <a:t>SHOX</a:t>
            </a:r>
          </a:p>
        </p:txBody>
      </p:sp>
      <p:sp>
        <p:nvSpPr>
          <p:cNvPr id="3" name="Короткое плечо"/>
          <p:cNvSpPr/>
          <p:nvPr/>
        </p:nvSpPr>
        <p:spPr>
          <a:xfrm>
            <a:off x="685800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Длинное плечо"/>
          <p:cNvSpPr/>
          <p:nvPr/>
        </p:nvSpPr>
        <p:spPr>
          <a:xfrm>
            <a:off x="685800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OX"/>
          <p:cNvSpPr/>
          <p:nvPr/>
        </p:nvSpPr>
        <p:spPr>
          <a:xfrm>
            <a:off x="658368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Подпись хромосомы"/>
          <p:cNvSpPr txBox="1"/>
          <p:nvPr/>
        </p:nvSpPr>
        <p:spPr>
          <a:xfrm>
            <a:off x="411480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7" name="Короткое плечо"/>
          <p:cNvSpPr/>
          <p:nvPr/>
        </p:nvSpPr>
        <p:spPr>
          <a:xfrm>
            <a:off x="1325880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Длинное плечо"/>
          <p:cNvSpPr/>
          <p:nvPr/>
        </p:nvSpPr>
        <p:spPr>
          <a:xfrm>
            <a:off x="1325880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HOX"/>
          <p:cNvSpPr/>
          <p:nvPr/>
        </p:nvSpPr>
        <p:spPr>
          <a:xfrm>
            <a:off x="1298448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Подпись хромосомы"/>
          <p:cNvSpPr txBox="1"/>
          <p:nvPr/>
        </p:nvSpPr>
        <p:spPr>
          <a:xfrm>
            <a:off x="1051560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11" name="Норма"/>
          <p:cNvSpPr txBox="1"/>
          <p:nvPr/>
        </p:nvSpPr>
        <p:spPr>
          <a:xfrm>
            <a:off x="457200" y="1600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B2E3C"/>
                </a:solidFill>
                <a:latin typeface="Calibri"/>
              </a:rPr>
              <a:t>46,XX: две копии</a:t>
            </a:r>
          </a:p>
        </p:txBody>
      </p:sp>
      <p:sp>
        <p:nvSpPr>
          <p:cNvPr id="12" name="Короткое плечо"/>
          <p:cNvSpPr/>
          <p:nvPr/>
        </p:nvSpPr>
        <p:spPr>
          <a:xfrm>
            <a:off x="2423159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Длинное плечо"/>
          <p:cNvSpPr/>
          <p:nvPr/>
        </p:nvSpPr>
        <p:spPr>
          <a:xfrm>
            <a:off x="2423159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HOX"/>
          <p:cNvSpPr/>
          <p:nvPr/>
        </p:nvSpPr>
        <p:spPr>
          <a:xfrm>
            <a:off x="2395727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дпись хромосомы"/>
          <p:cNvSpPr txBox="1"/>
          <p:nvPr/>
        </p:nvSpPr>
        <p:spPr>
          <a:xfrm>
            <a:off x="2148839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16" name="Короткое плечо"/>
          <p:cNvSpPr/>
          <p:nvPr/>
        </p:nvSpPr>
        <p:spPr>
          <a:xfrm>
            <a:off x="3063239" y="2011680"/>
            <a:ext cx="384048" cy="938174"/>
          </a:xfrm>
          <a:prstGeom prst="roundRect">
            <a:avLst/>
          </a:prstGeom>
          <a:noFill/>
          <a:ln w="12700">
            <a:solidFill>
              <a:srgbClr val="8C97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Длинное плечо"/>
          <p:cNvSpPr/>
          <p:nvPr/>
        </p:nvSpPr>
        <p:spPr>
          <a:xfrm>
            <a:off x="3063239" y="3004718"/>
            <a:ext cx="384048" cy="1475841"/>
          </a:xfrm>
          <a:prstGeom prst="roundRect">
            <a:avLst/>
          </a:prstGeom>
          <a:noFill/>
          <a:ln w="12700">
            <a:solidFill>
              <a:srgbClr val="8C97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одпись хромосомы"/>
          <p:cNvSpPr txBox="1"/>
          <p:nvPr/>
        </p:nvSpPr>
        <p:spPr>
          <a:xfrm>
            <a:off x="2788919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9" name="Тернер"/>
          <p:cNvSpPr txBox="1"/>
          <p:nvPr/>
        </p:nvSpPr>
        <p:spPr>
          <a:xfrm>
            <a:off x="2194559" y="1600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B2E3C"/>
                </a:solidFill>
                <a:latin typeface="Calibri"/>
              </a:rPr>
              <a:t>45,X: одна копия</a:t>
            </a:r>
          </a:p>
        </p:txBody>
      </p:sp>
      <p:sp>
        <p:nvSpPr>
          <p:cNvPr id="20" name="Ген"/>
          <p:cNvSpPr txBox="1"/>
          <p:nvPr/>
        </p:nvSpPr>
        <p:spPr>
          <a:xfrm>
            <a:off x="548640" y="48463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C08A1E"/>
                </a:solidFill>
                <a:latin typeface="Calibri"/>
              </a:rPr>
              <a:t>ген </a:t>
            </a:r>
            <a:r>
              <a:rPr sz="1400" b="0" i="1">
                <a:solidFill>
                  <a:srgbClr val="C08A1E"/>
                </a:solidFill>
                <a:latin typeface="Calibri"/>
              </a:rPr>
              <a:t>SHOX</a:t>
            </a:r>
          </a:p>
        </p:txBody>
      </p:sp>
      <p:sp>
        <p:nvSpPr>
          <p:cNvPr id="21" name="Механизм"/>
          <p:cNvSpPr txBox="1"/>
          <p:nvPr/>
        </p:nvSpPr>
        <p:spPr>
          <a:xfrm>
            <a:off x="4114800" y="1691640"/>
            <a:ext cx="7528255" cy="397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Ген </a:t>
            </a:r>
            <a:r>
              <a:rPr sz="1800" b="0" i="1">
                <a:solidFill>
                  <a:srgbClr val="26323A"/>
                </a:solidFill>
                <a:latin typeface="Calibri"/>
              </a:rPr>
              <a:t>SHOX</a:t>
            </a:r>
            <a:r>
              <a:rPr sz="1800" b="0" i="0">
                <a:solidFill>
                  <a:srgbClr val="26323A"/>
                </a:solidFill>
                <a:latin typeface="Calibri"/>
              </a:rPr>
              <a:t> лежит на конце короткого плеча X- и Y-хромосомы, у здорового человека работают обе копии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При кариотипе 45,X копия одна: это главная причина низкорослости; ось СТГ — ИФР-⁠1 и нехватка эстрогенов могут вносить вклад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Ген работает в хрящевых клетках зоны роста; в зародыше сильнее всего в середине конечностей, укорочены предплечья и голени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Без гормона роста взрослый рост 138–⁠147 см, примерно на 20 см ниже среднего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Реже: короткая четвёртая пястная кость, вальгусное отклонение предплечья, высокое нёбо; деформация Маделунга около 7,5 %</a:t>
            </a:r>
          </a:p>
        </p:txBody>
      </p:sp>
      <p:sp>
        <p:nvSpPr>
          <p:cNvPr id="22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Marchini A et al. Endocr Rev 2016;37:417–⁠48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СТГ можно начинать с 2 лет, эстрогены вводят с 11–⁠12 лет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с 2 лет, если рост отстаёт, уже низкий или ожидается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Доза 45–⁠50 мкг/кг/сут, при слабом ответе до 68 мкг/кг/сут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Прибавка итогового роста 5–⁠8 см, около 1 см на каждый год лечения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ЛГ, ФСГ (фолликулостимулирующий гормон) и антимюллеров гормон: ежегодно с 8–⁠9 до 11–⁠12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с 11–⁠12 лет, если ФСГ повышен в двух измерениях подряд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Малые дозы при индукции явной потери роста не дали, но данных мало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798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37197"/>
                <a:gridCol w="4365015"/>
                <a:gridCol w="4092202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Кто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Чем начинают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Как наращивают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890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Мальчики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обычное начало: тестостерона энантат 50 мг внутримышечно раз в месяц; либо гонадотропины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постепенно до взрослой дозы, темп индивидуальный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890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Девочки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17β-эстрадиол, пластырь на ночь, от 0,05–⁠0,07 мкг/кг (у старших девочек 0,08–⁠0,12)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до взрослой дозы за 2–⁠3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эстрадиол 7 мкг/сут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каждые 6–⁠12 мес, взрослая доза к 4-му году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581144"/>
            <a:ext cx="11094415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Ранний старт эстрогенов против позднего: −1,0 см, 95 % ДИ (доверительный интервал) −4,0…1,9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Синдром Тернера, этинилэстрадиол с СТГ в детстве, не индукция: −2,9 см против плацебо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Андрогены при конституциональной задержке: +1,78 см (95 % ДИ 0,47…3,08), данные ретроспективные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Wang L et al. BMC Endocr Disord 2026;26(1), PMID 41933328; Gawlik-Starzyk A et al. Horm Res Paediatr 2025;98:327–⁠35; Ross JL et al. N Engl J Med 2011;364:1230–⁠42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При гипогонадизме терапия после индукции постоянная, и пациента передают взрослому эндокринологу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Девочкам схему индукции меняют на постоянную взрослую заместительную терапию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Синдром Тернера: эстроген с прогестероном до 50–⁠55 лет, затем пересмотр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Гонадотропины дают сперматогенез у большинства мальчиков без крипторхизма; тестостерон яички не увеличивает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Врождённый гипогонадотропный гипогонадизм обратим у 5–⁠20 %: возможна пауза 4 мес после индукции гонадотропинами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передаче обсудите гормоны, сексуальность, фертильность, психологические и социальные вопросы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Boehm U et al. Nat Rev Endocrinol 2015;11:547–⁠64; Shihadeh F et al. Horm Res Paediatr 2026, PMID 42721063; Cianfarani S et al. Horm Res Paediatr 2026, PMID 41553972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ИФРСБ-⁠3 специфичнее ИФР-⁠1, но пропускает половину случаев дефицита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64033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306024"/>
                <a:gridCol w="2894195"/>
                <a:gridCol w="2894195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Анализ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9852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ИФРСБ-⁠3 (белок, связывающий инсулиноподобный фактор роста, 3-го типа),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50 %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79 %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ИФР-⁠1, 131 пациент 1,3–⁠25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81 %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ИФРСБ-⁠3, те же пациенты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27 %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423410"/>
            <a:ext cx="11094415" cy="1337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ИФР-⁠1 зависит от СТГ, а ещё от питания, возраста, пола и стадии пубертата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До 3 лет 3-й центиль ИФР-⁠1 близок к пределу обнаружения: руководство Нидерландов добавляет ИФРСБ-⁠3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Ось СТГ и ИФР-⁠1, пробы и прайминг: лекция «Соматотропная недостаточность у детей»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Shen Y et al. Eur J Pediatr 2015;174:419–⁠27; Cianfarani S et al. J Clin Endocrinol Metab 2005;90:6028–⁠34; Wit JM et al. J Clin Res Pediatr Endocrinol 2020;12:130–⁠9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ИФР-⁠1 сравнивают с нормой по полу и стадии пубертата, при задержке учитывают костный возраст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Пик ИФР-⁠1: девочки в 14 лет, 4-я стадия Таннера; мальчики в 15, 5-я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пубертата ИФР-⁠1 оценивают в СО по возрасту и полу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задержке пубертата ИФР-⁠1 сравнивают с нормой для стадии Таннера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Если норм по стадиям Таннера нет, СО считают для костного возраста; точность немного ниже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Bereket A et al. Horm Res 2006;65:96–⁠105; Wit JM et al. J Clin Res Pediatr Endocrinol 2020;12:130–⁠9; Juul A et al. J Clin Endocrinol Metab 1994;78:744–⁠52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Разные анализаторы дают разный ИФР-⁠1, и норма годится только для своего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Консенсус 2011 года предложил калибровать все методы по стандарту Всемирной организации здравоохранения 02/254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Там же: нормы каждого метода строят по возрастам, с учётом стадии Таннера и ИМТ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Шесть методов на одних и тех же 911 взрослых: нижние границы нормы близки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Верхние границы расходятся: у мужчин 18–⁠20 лет 391 против 537 нг/мл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Средние СО по нормам своего метода сошлись, согласие у отдельных людей умеренное или хорошее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Clemmons DR. Clin Chem 2011;57:555–⁠9; Burns C et al. Growth Horm IGF Res 2009;19:457–⁠62; Chanson P et al. J Clin Endocrinol Metab 2016;101:3450–⁠8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Если лаборатория дала только интервал, СО считают по нормам того же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Распределение ИФР-⁠1 несимметрично, поэтому интервал нельзя перевести в СО по прямой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СО считают по трём параметрам: асимметрия, медиана и вариация для пола и возраста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таким СО 2,5-й и 97,5-й центили — это ±1,96 СО; 3-й центиль — −1,88 СО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Калькулятор опубликован для взрослых; для детей параметры ищут у авторов норм набора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 нг/мл = 1 мкг/л ≈ 0,131 нмоль/л (расчёт по молекулярной массе 7649 Да)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Chanson P et al. J Clin Endocrinol Metab 2016;101:3450–⁠8; Bidlingmaier M et al. J Clin Endocrinol Metab 2014;99:1712–⁠21; Rinderknecht E, Humbel RE. J Biol Chem 1978;253:2769–⁠76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Порог в СО для проб зависит от вероятности дефицита СТГ до анализа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76834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70775"/>
                <a:gridCol w="3467004"/>
                <a:gridCol w="4556634"/>
              </a:tblGrid>
              <a:tr h="5725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Вероятность дефицита СТГ до анализа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Признаки дефицита в клинике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Когда направлять на пробы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Высокая, около 50 % и выше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несколько «за», ни одного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при любом ИФР-⁠1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Умеренная, около 20 %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часть признаков «за», «против»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0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Скорее низкая, около 10 %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«против»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−1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Низкая, около 5 %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есть хотя бы одно «против»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−2 СО, подтверждённый повтором вместе с ИФРСБ-⁠3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низкая, около 2 % и меньше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«за» нет или есть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повтор с ИФРСБ-⁠3; дальше, если ИФР-⁠1 снова низкий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551426"/>
            <a:ext cx="11094415" cy="1209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ИФР-⁠1 в СО по возрасту, полу и пубертату; числовой поправки на питание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Эксперты Общества по изучению гормона роста: при пангипопитуитаризме сниженного ИФР-⁠1 достаточно для диагноза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Arlien-Søborg MC et al. Pituitary 2025;28:57 (GRS)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ИФР-⁠1 бывает низким и без дефицита СТГ: ось ломается в гипофизе, печени или крови</a:t>
            </a:r>
          </a:p>
        </p:txBody>
      </p:sp>
      <p:sp>
        <p:nvSpPr>
          <p:cNvPr id="3" name="Строка: Гипофиз"/>
          <p:cNvSpPr/>
          <p:nvPr/>
        </p:nvSpPr>
        <p:spPr>
          <a:xfrm>
            <a:off x="3017520" y="155448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физ"/>
          <p:cNvSpPr/>
          <p:nvPr/>
        </p:nvSpPr>
        <p:spPr>
          <a:xfrm>
            <a:off x="548640" y="155448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2402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СТГ мало: гипотиреоз. При ожирении и болезни Кушинга СТГ тоже снижен, но ИФР-⁠1 в норме</a:t>
            </a:r>
          </a:p>
        </p:txBody>
      </p:sp>
      <p:sp>
        <p:nvSpPr>
          <p:cNvPr id="8" name="Строка: Печень"/>
          <p:cNvSpPr/>
          <p:nvPr/>
        </p:nvSpPr>
        <p:spPr>
          <a:xfrm>
            <a:off x="3017520" y="251460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Печень"/>
          <p:cNvSpPr/>
          <p:nvPr/>
        </p:nvSpPr>
        <p:spPr>
          <a:xfrm>
            <a:off x="548640" y="251460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5146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Печень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ИФР-⁠1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20040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51460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Здесь вырабатывается основная часть ИФР-⁠1. СТГ высокий, а печень не отвечает: недоедание, цирроз, диабет 1-го типа с плохим контролем; не работает рецептор СТГ: синдром Ларона</a:t>
            </a:r>
          </a:p>
        </p:txBody>
      </p:sp>
      <p:sp>
        <p:nvSpPr>
          <p:cNvPr id="13" name="Строка: Кровь"/>
          <p:cNvSpPr/>
          <p:nvPr/>
        </p:nvSpPr>
        <p:spPr>
          <a:xfrm>
            <a:off x="3017520" y="347472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Кровь"/>
          <p:cNvSpPr/>
          <p:nvPr/>
        </p:nvSpPr>
        <p:spPr>
          <a:xfrm>
            <a:off x="548640" y="347472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3474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Кровь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связывающие белки</a:t>
            </a:r>
          </a:p>
        </p:txBody>
      </p:sp>
      <p:cxnSp>
        <p:nvCxnSpPr>
          <p:cNvPr id="16" name="Стрелка"/>
          <p:cNvCxnSpPr/>
          <p:nvPr/>
        </p:nvCxnSpPr>
        <p:spPr>
          <a:xfrm>
            <a:off x="1783080" y="41605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Что происходит"/>
          <p:cNvSpPr txBox="1"/>
          <p:nvPr/>
        </p:nvSpPr>
        <p:spPr>
          <a:xfrm>
            <a:off x="3291840" y="347472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Болезнь почек: ИФР-⁠1 в анализе в норме, но связывающих белков избыток, и его действие снижено. Артрит: ИФРСБ-⁠3 разрушается быстрее, и чем выше интерлейкин-6, тем ниже ИФР-⁠1</a:t>
            </a:r>
          </a:p>
        </p:txBody>
      </p:sp>
      <p:sp>
        <p:nvSpPr>
          <p:cNvPr id="18" name="Строка: Зона роста"/>
          <p:cNvSpPr/>
          <p:nvPr/>
        </p:nvSpPr>
        <p:spPr>
          <a:xfrm>
            <a:off x="3017520" y="443484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Уровень: Зона роста"/>
          <p:cNvSpPr/>
          <p:nvPr/>
        </p:nvSpPr>
        <p:spPr>
          <a:xfrm>
            <a:off x="548640" y="443484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Уровень"/>
          <p:cNvSpPr txBox="1"/>
          <p:nvPr/>
        </p:nvSpPr>
        <p:spPr>
          <a:xfrm>
            <a:off x="685800" y="44348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</a:t>
            </a:r>
          </a:p>
        </p:txBody>
      </p:sp>
      <p:sp>
        <p:nvSpPr>
          <p:cNvPr id="21" name="Что происходит"/>
          <p:cNvSpPr txBox="1"/>
          <p:nvPr/>
        </p:nvSpPr>
        <p:spPr>
          <a:xfrm>
            <a:off x="3291840" y="443484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Воспаление напрямую меняет развитие хряща</a:t>
            </a:r>
          </a:p>
        </p:txBody>
      </p:sp>
      <p:sp>
        <p:nvSpPr>
          <p:cNvPr id="22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При целиакии ИФР-⁠1 приходит в норму через 6–⁠12 мес безглютеновой диеты</a:t>
            </a:r>
          </a:p>
        </p:txBody>
      </p:sp>
      <p:sp>
        <p:nvSpPr>
          <p:cNvPr id="23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Fazeli PK, Klibanski A. J Endocrinol 2014;220:R57–⁠65; Wong SC et al. Endocr Rev 2016;37:62–⁠110; Wit JM et al. J Clin Res Pediatr Endocrinol 2020;12:130–⁠9; Chernausek SD, Turner R. J Pediatr 1989;114:968–⁠72; De Benedetti F et al. J Clin Invest 1997;99:643–⁠50; Blum WF et al. Pediatr Nephrol 1991;5:539–⁠44; Guevara-Aguirre J et al. Rev Endocr Metab Disord 2021;22:59–⁠70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Низкий для возраста ИФР-⁠1 дают гипотиреоз, задержка пубертата, голод и воспаление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343611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235871"/>
                <a:gridCol w="3004737"/>
                <a:gridCol w="4853806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ИФР-⁠1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ИФРСБ-⁠3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Гипотиреоз, младенцы с атиреозом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низкий для возраста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растёт положе, чем ИФР-⁠1 (данные здоровых детей)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недоедание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снижен; при квашиоркоре бывает в норме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Целиакия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Системный ювенильный артрит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снижен, протеолиз усилен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Цирроз; диабет 1-го типа с плохим контролем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Zamboni G et al. Acta Paediatr 2000;89:1050–⁠5; Wit JM et al. J Clin Res Pediatr Endocrinol 2020;12:130–⁠9; Bereket A et al. Horm Res 2006;65:96–⁠105; Zamboni G et al. Pediatr Res 1996;39:410–⁠4; Kilic M et al. Clin Biochem 2004;37:382–⁠7; Street ME et al. Clin Endocrinol (Oxf) 2008;68:22–⁠8; Federico G et al. Horm Res 1997;48:108–⁠14; De Benedetti F et al. J Clin Invest 1997;99:643–⁠50; De Benedetti F et al. Endocrinology 2001;142:4818–⁠26; Bucuvalas JC et al. Pediatr Transplant 1997;1:73–⁠9; Virmani A. Indian J Endocrinol Metab 2015;19 Suppl 1:S64–⁠7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ожирении, гиперкортицизме и болезнях почек ИФР-⁠1 не отражает секрецию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333984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012873"/>
                <a:gridCol w="4012873"/>
                <a:gridCol w="3068667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ИФР-⁠1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ИФРСБ-⁠3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Ожирение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норме, в верхней половине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 почек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Нечувствительность к СТГ, синдром Ларона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Избыток СТГ, гигантизм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высокий и (или) СТГ не подавляется глюкозой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нет надёжных данных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Argente J et al. J Clin Endocrinol Metab 1997;82:2076–⁠83; Wit JM et al. J Clin Res Pediatr Endocrinol 2020;12:130–⁠9; Magiakou MA et al. J Clin Endocrinol Metab 1994;78:131–⁠7; Blum WF et al. Pediatr Nephrol 1991;5:539–⁠44; Tönshoff B, Fine RN. Adv Ren Replace Ther 1996;3:37–⁠47; Guevara-Aguirre J et al. Rev Endocr Metab Disord 2021;22:59–⁠70; Al-Ashwal AA et al. Horm Res Paediatr 2017;88:119–⁠26; Moia S et al. Ital J Pediatr 2017;43:94; Gadelha MR et al. J Clin Endocrinol Metab 1999;84:249–⁠56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4000" b="1" i="0">
                <a:solidFill>
                  <a:srgbClr val="1B2E3C"/>
                </a:solidFill>
                <a:latin typeface="Cambria"/>
              </a:rPr>
              <a:t>Спасибо за внимание!</a:t>
            </a:r>
          </a:p>
        </p:txBody>
      </p:sp>
      <p:sp>
        <p:nvSpPr>
          <p:cNvPr id="3" name="Контакт"/>
          <p:cNvSpPr txBox="1"/>
          <p:nvPr/>
        </p:nvSpPr>
        <p:spPr>
          <a:xfrm>
            <a:off x="2194560" y="356616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0" i="0">
                <a:solidFill>
                  <a:srgbClr val="26323A"/>
                </a:solidFill>
                <a:latin typeface="Calibri"/>
              </a:rPr>
              <a:t>@drsiddikov</a:t>
            </a:r>
          </a:p>
          <a:p>
            <a:r>
              <a:rPr sz="1800" b="0" i="0">
                <a:solidFill>
                  <a:srgbClr val="66737C"/>
                </a:solidFill>
                <a:latin typeface="Calibri"/>
              </a:rPr>
              <a:t>telegram</a:t>
            </a:r>
          </a:p>
        </p:txBody>
      </p:sp>
      <p:pic>
        <p:nvPicPr>
          <p:cNvPr id="4" name="Логотип" descr="логоти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429000"/>
            <a:ext cx="3566160" cy="132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Эндокринные причины низкорослости у детей и подростков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