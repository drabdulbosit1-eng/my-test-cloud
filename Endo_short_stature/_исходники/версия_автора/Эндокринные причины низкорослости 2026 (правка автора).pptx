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354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35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0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dina Siddikova" userId="c170bc8eab85294e" providerId="LiveId" clId="{18BCF88D-AE51-4C49-8E98-2912BFA3EEF1}"/>
    <pc:docChg chg="undo custSel addSld delSld modSld sldOrd modMainMaster">
      <pc:chgData name="Odina Siddikova" userId="c170bc8eab85294e" providerId="LiveId" clId="{18BCF88D-AE51-4C49-8E98-2912BFA3EEF1}" dt="2026-10-14T19:10:05.214" v="653" actId="1076"/>
      <pc:docMkLst>
        <pc:docMk/>
      </pc:docMkLst>
      <pc:sldChg chg="addSp delSp modSp del mod">
        <pc:chgData name="Odina Siddikova" userId="c170bc8eab85294e" providerId="LiveId" clId="{18BCF88D-AE51-4C49-8E98-2912BFA3EEF1}" dt="2026-10-14T15:09:47.158" v="64" actId="47"/>
        <pc:sldMkLst>
          <pc:docMk/>
          <pc:sldMk cId="0" sldId="256"/>
        </pc:sldMkLst>
        <pc:spChg chg="del mod">
          <ac:chgData name="Odina Siddikova" userId="c170bc8eab85294e" providerId="LiveId" clId="{18BCF88D-AE51-4C49-8E98-2912BFA3EEF1}" dt="2026-10-14T15:09:46.882" v="63"/>
          <ac:spMkLst>
            <pc:docMk/>
            <pc:sldMk cId="0" sldId="256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4:48:05.737" v="0" actId="478"/>
          <ac:spMkLst>
            <pc:docMk/>
            <pc:sldMk cId="0" sldId="256"/>
            <ac:spMk id="7" creationId="{00000000-0000-0000-0000-000000000000}"/>
          </ac:spMkLst>
        </pc:spChg>
        <pc:picChg chg="add mod ord">
          <ac:chgData name="Odina Siddikova" userId="c170bc8eab85294e" providerId="LiveId" clId="{18BCF88D-AE51-4C49-8E98-2912BFA3EEF1}" dt="2026-10-14T15:09:32.622" v="60" actId="1076"/>
          <ac:picMkLst>
            <pc:docMk/>
            <pc:sldMk cId="0" sldId="256"/>
            <ac:picMk id="7" creationId="{8EBC48ED-B1CA-4FA3-B546-CAA189BBDD0F}"/>
          </ac:picMkLst>
        </pc:picChg>
      </pc:sldChg>
      <pc:sldChg chg="delSp del mod ord modNotes">
        <pc:chgData name="Odina Siddikova" userId="c170bc8eab85294e" providerId="LiveId" clId="{18BCF88D-AE51-4C49-8E98-2912BFA3EEF1}" dt="2026-10-14T16:14:20.383" v="517" actId="47"/>
        <pc:sldMkLst>
          <pc:docMk/>
          <pc:sldMk cId="0" sldId="257"/>
        </pc:sldMkLst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46.472" v="278" actId="478"/>
          <ac:spMkLst>
            <pc:docMk/>
            <pc:sldMk cId="0" sldId="257"/>
            <ac:spMk id="57" creationId="{00000000-0000-0000-0000-000000000000}"/>
          </ac:spMkLst>
        </pc:spChg>
      </pc:sldChg>
      <pc:sldChg chg="delSp del mod modNotes">
        <pc:chgData name="Odina Siddikova" userId="c170bc8eab85294e" providerId="LiveId" clId="{18BCF88D-AE51-4C49-8E98-2912BFA3EEF1}" dt="2026-10-14T16:14:28.257" v="518" actId="47"/>
        <pc:sldMkLst>
          <pc:docMk/>
          <pc:sldMk cId="0" sldId="258"/>
        </pc:sldMkLst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19:50.891" v="279" actId="478"/>
          <ac:spMkLst>
            <pc:docMk/>
            <pc:sldMk cId="0" sldId="258"/>
            <ac:spMk id="57" creationId="{00000000-0000-0000-0000-000000000000}"/>
          </ac:spMkLst>
        </pc:spChg>
      </pc:sldChg>
      <pc:sldChg chg="delSp modSp del mod modNotes">
        <pc:chgData name="Odina Siddikova" userId="c170bc8eab85294e" providerId="LiveId" clId="{18BCF88D-AE51-4C49-8E98-2912BFA3EEF1}" dt="2026-10-14T16:14:02.117" v="516" actId="47"/>
        <pc:sldMkLst>
          <pc:docMk/>
          <pc:sldMk cId="0" sldId="259"/>
        </pc:sldMkLst>
        <pc:spChg chg="del">
          <ac:chgData name="Odina Siddikova" userId="c170bc8eab85294e" providerId="LiveId" clId="{18BCF88D-AE51-4C49-8E98-2912BFA3EEF1}" dt="2026-10-14T16:13:18.961" v="515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6:13:04.002" v="514" actId="1076"/>
          <ac:spMkLst>
            <pc:docMk/>
            <pc:sldMk cId="0" sldId="259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6.572" v="283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6.572" v="283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51" creationId="{00000000-0000-0000-0000-000000000000}"/>
          </ac:spMkLst>
        </pc:spChg>
        <pc:spChg chg="del mod">
          <ac:chgData name="Odina Siddikova" userId="c170bc8eab85294e" providerId="LiveId" clId="{18BCF88D-AE51-4C49-8E98-2912BFA3EEF1}" dt="2026-10-14T15:20:06.572" v="283" actId="478"/>
          <ac:spMkLst>
            <pc:docMk/>
            <pc:sldMk cId="0" sldId="259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0.869" v="282" actId="478"/>
          <ac:spMkLst>
            <pc:docMk/>
            <pc:sldMk cId="0" sldId="259"/>
            <ac:spMk id="5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09.455" v="284" actId="478"/>
          <ac:spMkLst>
            <pc:docMk/>
            <pc:sldMk cId="0" sldId="259"/>
            <ac:spMk id="59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9:10:05.214" v="653" actId="1076"/>
        <pc:sldMkLst>
          <pc:docMk/>
          <pc:sldMk cId="0" sldId="260"/>
        </pc:sldMkLst>
        <pc:spChg chg="mod">
          <ac:chgData name="Odina Siddikova" userId="c170bc8eab85294e" providerId="LiveId" clId="{18BCF88D-AE51-4C49-8E98-2912BFA3EEF1}" dt="2026-10-14T19:09:58.225" v="652" actId="404"/>
          <ac:spMkLst>
            <pc:docMk/>
            <pc:sldMk cId="0" sldId="260"/>
            <ac:spMk id="2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3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4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5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6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7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8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9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11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12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13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14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10:05.214" v="653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16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17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18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19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20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21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22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23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24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25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26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27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28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29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30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31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32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33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34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35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36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37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38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39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40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41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42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43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44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45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46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47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48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49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50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51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52" creationId="{00000000-0000-0000-0000-000000000000}"/>
          </ac:spMkLst>
        </pc:spChg>
        <pc:spChg chg="del mod">
          <ac:chgData name="Odina Siddikova" userId="c170bc8eab85294e" providerId="LiveId" clId="{18BCF88D-AE51-4C49-8E98-2912BFA3EEF1}" dt="2026-10-14T19:03:02.017" v="604" actId="478"/>
          <ac:spMkLst>
            <pc:docMk/>
            <pc:sldMk cId="0" sldId="260"/>
            <ac:spMk id="53" creationId="{00000000-0000-0000-0000-000000000000}"/>
          </ac:spMkLst>
        </pc:spChg>
        <pc:spChg chg="del mod">
          <ac:chgData name="Odina Siddikova" userId="c170bc8eab85294e" providerId="LiveId" clId="{18BCF88D-AE51-4C49-8E98-2912BFA3EEF1}" dt="2026-10-14T19:01:53.698" v="595" actId="478"/>
          <ac:spMkLst>
            <pc:docMk/>
            <pc:sldMk cId="0" sldId="260"/>
            <ac:spMk id="54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9:03:23.271" v="646" actId="1038"/>
          <ac:spMkLst>
            <pc:docMk/>
            <pc:sldMk cId="0" sldId="260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5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5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6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6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6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6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6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6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6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6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6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6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7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7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7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7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7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7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7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7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7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7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8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8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8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8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8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8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8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8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8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8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9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9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9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9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9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9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9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9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9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9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10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10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10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10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10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10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10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10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7.244" v="285" actId="478"/>
          <ac:spMkLst>
            <pc:docMk/>
            <pc:sldMk cId="0" sldId="260"/>
            <ac:spMk id="10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19.199" v="286" actId="478"/>
          <ac:spMkLst>
            <pc:docMk/>
            <pc:sldMk cId="0" sldId="260"/>
            <ac:spMk id="109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436" v="522" actId="368"/>
        <pc:sldMkLst>
          <pc:docMk/>
          <pc:sldMk cId="0" sldId="261"/>
        </pc:sldMkLst>
        <pc:spChg chg="mod">
          <ac:chgData name="Odina Siddikova" userId="c170bc8eab85294e" providerId="LiveId" clId="{18BCF88D-AE51-4C49-8E98-2912BFA3EEF1}" dt="2026-10-14T16:11:39.741" v="504" actId="1076"/>
          <ac:spMkLst>
            <pc:docMk/>
            <pc:sldMk cId="0" sldId="261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44.112" v="290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44.112" v="290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44.112" v="290" actId="478"/>
          <ac:spMkLst>
            <pc:docMk/>
            <pc:sldMk cId="0" sldId="261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44.112" v="290" actId="478"/>
          <ac:spMkLst>
            <pc:docMk/>
            <pc:sldMk cId="0" sldId="261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44.112" v="290" actId="478"/>
          <ac:spMkLst>
            <pc:docMk/>
            <pc:sldMk cId="0" sldId="261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44.112" v="290" actId="478"/>
          <ac:spMkLst>
            <pc:docMk/>
            <pc:sldMk cId="0" sldId="261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4.780" v="289" actId="478"/>
          <ac:spMkLst>
            <pc:docMk/>
            <pc:sldMk cId="0" sldId="261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4.780" v="289" actId="478"/>
          <ac:spMkLst>
            <pc:docMk/>
            <pc:sldMk cId="0" sldId="261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0.726" v="287" actId="478"/>
          <ac:spMkLst>
            <pc:docMk/>
            <pc:sldMk cId="0" sldId="261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0:32.712" v="288" actId="478"/>
          <ac:spMkLst>
            <pc:docMk/>
            <pc:sldMk cId="0" sldId="261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440" v="524" actId="368"/>
        <pc:sldMkLst>
          <pc:docMk/>
          <pc:sldMk cId="0" sldId="262"/>
        </pc:sldMkLst>
        <pc:spChg chg="mod">
          <ac:chgData name="Odina Siddikova" userId="c170bc8eab85294e" providerId="LiveId" clId="{18BCF88D-AE51-4C49-8E98-2912BFA3EEF1}" dt="2026-10-14T16:11:46.442" v="505" actId="1076"/>
          <ac:spMkLst>
            <pc:docMk/>
            <pc:sldMk cId="0" sldId="262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0.858" v="295" actId="478"/>
          <ac:spMkLst>
            <pc:docMk/>
            <pc:sldMk cId="0" sldId="262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14.229" v="296" actId="478"/>
          <ac:spMkLst>
            <pc:docMk/>
            <pc:sldMk cId="0" sldId="262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9:03:53.944" v="648" actId="478"/>
        <pc:sldMkLst>
          <pc:docMk/>
          <pc:sldMk cId="0" sldId="263"/>
        </pc:sldMkLst>
        <pc:spChg chg="del">
          <ac:chgData name="Odina Siddikova" userId="c170bc8eab85294e" providerId="LiveId" clId="{18BCF88D-AE51-4C49-8E98-2912BFA3EEF1}" dt="2026-10-14T19:03:53.944" v="648" actId="478"/>
          <ac:spMkLst>
            <pc:docMk/>
            <pc:sldMk cId="0" sldId="263"/>
            <ac:spMk id="5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9:03:49.963" v="647" actId="478"/>
          <ac:spMkLst>
            <pc:docMk/>
            <pc:sldMk cId="0" sldId="263"/>
            <ac:spMk id="60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5:21:41.586" v="302" actId="1076"/>
          <ac:spMkLst>
            <pc:docMk/>
            <pc:sldMk cId="0" sldId="263"/>
            <ac:spMk id="6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3.623" v="297" actId="478"/>
          <ac:spMkLst>
            <pc:docMk/>
            <pc:sldMk cId="0" sldId="263"/>
            <ac:spMk id="6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3.623" v="297" actId="478"/>
          <ac:spMkLst>
            <pc:docMk/>
            <pc:sldMk cId="0" sldId="263"/>
            <ac:spMk id="6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35.569" v="300" actId="478"/>
          <ac:spMkLst>
            <pc:docMk/>
            <pc:sldMk cId="0" sldId="263"/>
            <ac:spMk id="6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32.173" v="299" actId="478"/>
          <ac:spMkLst>
            <pc:docMk/>
            <pc:sldMk cId="0" sldId="263"/>
            <ac:spMk id="6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32.173" v="299" actId="478"/>
          <ac:spMkLst>
            <pc:docMk/>
            <pc:sldMk cId="0" sldId="263"/>
            <ac:spMk id="6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32.173" v="299" actId="478"/>
          <ac:spMkLst>
            <pc:docMk/>
            <pc:sldMk cId="0" sldId="263"/>
            <ac:spMk id="6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35.569" v="300" actId="478"/>
          <ac:spMkLst>
            <pc:docMk/>
            <pc:sldMk cId="0" sldId="263"/>
            <ac:spMk id="6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32.173" v="299" actId="478"/>
          <ac:spMkLst>
            <pc:docMk/>
            <pc:sldMk cId="0" sldId="263"/>
            <ac:spMk id="6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32.173" v="299" actId="478"/>
          <ac:spMkLst>
            <pc:docMk/>
            <pc:sldMk cId="0" sldId="263"/>
            <ac:spMk id="7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35.569" v="300" actId="478"/>
          <ac:spMkLst>
            <pc:docMk/>
            <pc:sldMk cId="0" sldId="263"/>
            <ac:spMk id="7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32.173" v="299" actId="478"/>
          <ac:spMkLst>
            <pc:docMk/>
            <pc:sldMk cId="0" sldId="263"/>
            <ac:spMk id="7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32.173" v="299" actId="478"/>
          <ac:spMkLst>
            <pc:docMk/>
            <pc:sldMk cId="0" sldId="263"/>
            <ac:spMk id="7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32.173" v="299" actId="478"/>
          <ac:spMkLst>
            <pc:docMk/>
            <pc:sldMk cId="0" sldId="263"/>
            <ac:spMk id="7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32.173" v="299" actId="478"/>
          <ac:spMkLst>
            <pc:docMk/>
            <pc:sldMk cId="0" sldId="263"/>
            <ac:spMk id="7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32.173" v="299" actId="478"/>
          <ac:spMkLst>
            <pc:docMk/>
            <pc:sldMk cId="0" sldId="263"/>
            <ac:spMk id="7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7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7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7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8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8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8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8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8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8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8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8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8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8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9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9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9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9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9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9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9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9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9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9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10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10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10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10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10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10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10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10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3.623" v="297" actId="478"/>
          <ac:spMkLst>
            <pc:docMk/>
            <pc:sldMk cId="0" sldId="263"/>
            <ac:spMk id="10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3.623" v="297" actId="478"/>
          <ac:spMkLst>
            <pc:docMk/>
            <pc:sldMk cId="0" sldId="263"/>
            <ac:spMk id="10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3.623" v="297" actId="478"/>
          <ac:spMkLst>
            <pc:docMk/>
            <pc:sldMk cId="0" sldId="263"/>
            <ac:spMk id="1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3.623" v="297" actId="478"/>
          <ac:spMkLst>
            <pc:docMk/>
            <pc:sldMk cId="0" sldId="263"/>
            <ac:spMk id="1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3.623" v="297" actId="478"/>
          <ac:spMkLst>
            <pc:docMk/>
            <pc:sldMk cId="0" sldId="263"/>
            <ac:spMk id="1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3.623" v="297" actId="478"/>
          <ac:spMkLst>
            <pc:docMk/>
            <pc:sldMk cId="0" sldId="263"/>
            <ac:spMk id="1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3.623" v="297" actId="478"/>
          <ac:spMkLst>
            <pc:docMk/>
            <pc:sldMk cId="0" sldId="263"/>
            <ac:spMk id="1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1:28.422" v="298" actId="478"/>
          <ac:spMkLst>
            <pc:docMk/>
            <pc:sldMk cId="0" sldId="263"/>
            <ac:spMk id="115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448" v="528" actId="368"/>
        <pc:sldMkLst>
          <pc:docMk/>
          <pc:sldMk cId="0" sldId="264"/>
        </pc:sldMkLst>
        <pc:spChg chg="mod">
          <ac:chgData name="Odina Siddikova" userId="c170bc8eab85294e" providerId="LiveId" clId="{18BCF88D-AE51-4C49-8E98-2912BFA3EEF1}" dt="2026-10-14T15:24:12.586" v="309" actId="1036"/>
          <ac:spMkLst>
            <pc:docMk/>
            <pc:sldMk cId="0" sldId="264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7" creationId="{00000000-0000-0000-0000-000000000000}"/>
          </ac:spMkLst>
        </pc:spChg>
        <pc:spChg chg="del mod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03.634" v="306" actId="478"/>
          <ac:spMkLst>
            <pc:docMk/>
            <pc:sldMk cId="0" sldId="264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451" v="530" actId="368"/>
        <pc:sldMkLst>
          <pc:docMk/>
          <pc:sldMk cId="0" sldId="265"/>
        </pc:sldMkLst>
        <pc:spChg chg="mod">
          <ac:chgData name="Odina Siddikova" userId="c170bc8eab85294e" providerId="LiveId" clId="{18BCF88D-AE51-4C49-8E98-2912BFA3EEF1}" dt="2026-10-14T15:24:30.550" v="313" actId="1076"/>
          <ac:spMkLst>
            <pc:docMk/>
            <pc:sldMk cId="0" sldId="265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5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24.218" v="311" actId="478"/>
          <ac:spMkLst>
            <pc:docMk/>
            <pc:sldMk cId="0" sldId="265"/>
            <ac:spMk id="59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462" v="532" actId="368"/>
        <pc:sldMkLst>
          <pc:docMk/>
          <pc:sldMk cId="0" sldId="266"/>
        </pc:sldMkLst>
        <pc:spChg chg="mod">
          <ac:chgData name="Odina Siddikova" userId="c170bc8eab85294e" providerId="LiveId" clId="{18BCF88D-AE51-4C49-8E98-2912BFA3EEF1}" dt="2026-10-14T15:24:38.175" v="314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5:24:55.446" v="318" actId="1076"/>
          <ac:spMkLst>
            <pc:docMk/>
            <pc:sldMk cId="0" sldId="266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4:48.426" v="316" actId="478"/>
          <ac:spMkLst>
            <pc:docMk/>
            <pc:sldMk cId="0" sldId="266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466" v="534" actId="368"/>
        <pc:sldMkLst>
          <pc:docMk/>
          <pc:sldMk cId="0" sldId="267"/>
        </pc:sldMkLst>
        <pc:spChg chg="mod">
          <ac:chgData name="Odina Siddikova" userId="c170bc8eab85294e" providerId="LiveId" clId="{18BCF88D-AE51-4C49-8E98-2912BFA3EEF1}" dt="2026-10-14T15:25:19.897" v="325" actId="1036"/>
          <ac:spMkLst>
            <pc:docMk/>
            <pc:sldMk cId="0" sldId="267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5:13.266" v="322" actId="478"/>
          <ac:spMkLst>
            <pc:docMk/>
            <pc:sldMk cId="0" sldId="267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470" v="536" actId="368"/>
        <pc:sldMkLst>
          <pc:docMk/>
          <pc:sldMk cId="0" sldId="268"/>
        </pc:sldMkLst>
        <pc:spChg chg="mod">
          <ac:chgData name="Odina Siddikova" userId="c170bc8eab85294e" providerId="LiveId" clId="{18BCF88D-AE51-4C49-8E98-2912BFA3EEF1}" dt="2026-10-14T15:26:00.513" v="329" actId="1076"/>
          <ac:spMkLst>
            <pc:docMk/>
            <pc:sldMk cId="0" sldId="268"/>
            <ac:spMk id="3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5:26:18.016" v="333" actId="1076"/>
          <ac:spMkLst>
            <pc:docMk/>
            <pc:sldMk cId="0" sldId="268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09.063" v="331" actId="478"/>
          <ac:spMkLst>
            <pc:docMk/>
            <pc:sldMk cId="0" sldId="268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472" v="538" actId="368"/>
        <pc:sldMkLst>
          <pc:docMk/>
          <pc:sldMk cId="0" sldId="269"/>
        </pc:sldMkLst>
        <pc:spChg chg="mod">
          <ac:chgData name="Odina Siddikova" userId="c170bc8eab85294e" providerId="LiveId" clId="{18BCF88D-AE51-4C49-8E98-2912BFA3EEF1}" dt="2026-10-14T15:26:42.088" v="339" actId="1036"/>
          <ac:spMkLst>
            <pc:docMk/>
            <pc:sldMk cId="0" sldId="269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6:27.837" v="335" actId="478"/>
          <ac:spMkLst>
            <pc:docMk/>
            <pc:sldMk cId="0" sldId="269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478" v="540" actId="368"/>
        <pc:sldMkLst>
          <pc:docMk/>
          <pc:sldMk cId="0" sldId="270"/>
        </pc:sldMkLst>
        <pc:spChg chg="mod">
          <ac:chgData name="Odina Siddikova" userId="c170bc8eab85294e" providerId="LiveId" clId="{18BCF88D-AE51-4C49-8E98-2912BFA3EEF1}" dt="2026-10-14T15:28:21.710" v="346" actId="1076"/>
          <ac:spMkLst>
            <pc:docMk/>
            <pc:sldMk cId="0" sldId="270"/>
            <ac:spMk id="4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5:28:30.625" v="347" actId="1076"/>
          <ac:spMkLst>
            <pc:docMk/>
            <pc:sldMk cId="0" sldId="270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58.550" v="344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58.550" v="344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58.550" v="344" actId="478"/>
          <ac:spMkLst>
            <pc:docMk/>
            <pc:sldMk cId="0" sldId="270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58.550" v="344" actId="478"/>
          <ac:spMkLst>
            <pc:docMk/>
            <pc:sldMk cId="0" sldId="270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5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7:45.468" v="343" actId="478"/>
          <ac:spMkLst>
            <pc:docMk/>
            <pc:sldMk cId="0" sldId="270"/>
            <ac:spMk id="59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9:04:05.374" v="649" actId="478"/>
        <pc:sldMkLst>
          <pc:docMk/>
          <pc:sldMk cId="0" sldId="271"/>
        </pc:sldMkLst>
        <pc:spChg chg="del">
          <ac:chgData name="Odina Siddikova" userId="c170bc8eab85294e" providerId="LiveId" clId="{18BCF88D-AE51-4C49-8E98-2912BFA3EEF1}" dt="2026-10-14T19:04:05.374" v="649" actId="478"/>
          <ac:spMkLst>
            <pc:docMk/>
            <pc:sldMk cId="0" sldId="271"/>
            <ac:spMk id="109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5:30:48.567" v="358" actId="1076"/>
          <ac:spMkLst>
            <pc:docMk/>
            <pc:sldMk cId="0" sldId="271"/>
            <ac:spMk id="1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8:57.887" v="351" actId="478"/>
          <ac:spMkLst>
            <pc:docMk/>
            <pc:sldMk cId="0" sldId="271"/>
            <ac:spMk id="112" creationId="{00000000-0000-0000-0000-000000000000}"/>
          </ac:spMkLst>
        </pc:spChg>
        <pc:spChg chg="del mod">
          <ac:chgData name="Odina Siddikova" userId="c170bc8eab85294e" providerId="LiveId" clId="{18BCF88D-AE51-4C49-8E98-2912BFA3EEF1}" dt="2026-10-14T15:28:57.887" v="351" actId="478"/>
          <ac:spMkLst>
            <pc:docMk/>
            <pc:sldMk cId="0" sldId="271"/>
            <ac:spMk id="113" creationId="{00000000-0000-0000-0000-000000000000}"/>
          </ac:spMkLst>
        </pc:spChg>
        <pc:spChg chg="del mod">
          <ac:chgData name="Odina Siddikova" userId="c170bc8eab85294e" providerId="LiveId" clId="{18BCF88D-AE51-4C49-8E98-2912BFA3EEF1}" dt="2026-10-14T15:30:37.162" v="357" actId="478"/>
          <ac:spMkLst>
            <pc:docMk/>
            <pc:sldMk cId="0" sldId="271"/>
            <ac:spMk id="1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37.162" v="357" actId="478"/>
          <ac:spMkLst>
            <pc:docMk/>
            <pc:sldMk cId="0" sldId="271"/>
            <ac:spMk id="1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37.162" v="357" actId="478"/>
          <ac:spMkLst>
            <pc:docMk/>
            <pc:sldMk cId="0" sldId="271"/>
            <ac:spMk id="1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37.162" v="357" actId="478"/>
          <ac:spMkLst>
            <pc:docMk/>
            <pc:sldMk cId="0" sldId="271"/>
            <ac:spMk id="1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37.162" v="357" actId="478"/>
          <ac:spMkLst>
            <pc:docMk/>
            <pc:sldMk cId="0" sldId="271"/>
            <ac:spMk id="1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37.162" v="357" actId="478"/>
          <ac:spMkLst>
            <pc:docMk/>
            <pc:sldMk cId="0" sldId="271"/>
            <ac:spMk id="1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37.162" v="357" actId="478"/>
          <ac:spMkLst>
            <pc:docMk/>
            <pc:sldMk cId="0" sldId="271"/>
            <ac:spMk id="1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17.310" v="355" actId="478"/>
          <ac:spMkLst>
            <pc:docMk/>
            <pc:sldMk cId="0" sldId="271"/>
            <ac:spMk id="1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37.162" v="357" actId="478"/>
          <ac:spMkLst>
            <pc:docMk/>
            <pc:sldMk cId="0" sldId="271"/>
            <ac:spMk id="157" creationId="{00000000-0000-0000-0000-000000000000}"/>
          </ac:spMkLst>
        </pc:spChg>
        <pc:spChg chg="del mod">
          <ac:chgData name="Odina Siddikova" userId="c170bc8eab85294e" providerId="LiveId" clId="{18BCF88D-AE51-4C49-8E98-2912BFA3EEF1}" dt="2026-10-14T15:30:25.329" v="356" actId="478"/>
          <ac:spMkLst>
            <pc:docMk/>
            <pc:sldMk cId="0" sldId="271"/>
            <ac:spMk id="15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9:18.067" v="353" actId="478"/>
          <ac:spMkLst>
            <pc:docMk/>
            <pc:sldMk cId="0" sldId="271"/>
            <ac:spMk id="15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9:18.067" v="353" actId="478"/>
          <ac:spMkLst>
            <pc:docMk/>
            <pc:sldMk cId="0" sldId="271"/>
            <ac:spMk id="16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9:18.067" v="353" actId="478"/>
          <ac:spMkLst>
            <pc:docMk/>
            <pc:sldMk cId="0" sldId="271"/>
            <ac:spMk id="16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9:18.067" v="353" actId="478"/>
          <ac:spMkLst>
            <pc:docMk/>
            <pc:sldMk cId="0" sldId="271"/>
            <ac:spMk id="16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9:18.067" v="353" actId="478"/>
          <ac:spMkLst>
            <pc:docMk/>
            <pc:sldMk cId="0" sldId="271"/>
            <ac:spMk id="16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29:18.067" v="353" actId="478"/>
          <ac:spMkLst>
            <pc:docMk/>
            <pc:sldMk cId="0" sldId="271"/>
            <ac:spMk id="16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0:37.162" v="357" actId="478"/>
          <ac:spMkLst>
            <pc:docMk/>
            <pc:sldMk cId="0" sldId="271"/>
            <ac:spMk id="165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478" v="544" actId="368"/>
        <pc:sldMkLst>
          <pc:docMk/>
          <pc:sldMk cId="0" sldId="272"/>
        </pc:sldMkLst>
        <pc:spChg chg="mod">
          <ac:chgData name="Odina Siddikova" userId="c170bc8eab85294e" providerId="LiveId" clId="{18BCF88D-AE51-4C49-8E98-2912BFA3EEF1}" dt="2026-10-14T15:31:09.185" v="361" actId="1076"/>
          <ac:spMkLst>
            <pc:docMk/>
            <pc:sldMk cId="0" sldId="272"/>
            <ac:spMk id="4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6:11:59.955" v="508" actId="1036"/>
          <ac:spMkLst>
            <pc:docMk/>
            <pc:sldMk cId="0" sldId="272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5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05.437" v="360" actId="478"/>
          <ac:spMkLst>
            <pc:docMk/>
            <pc:sldMk cId="0" sldId="272"/>
            <ac:spMk id="59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491" v="546" actId="368"/>
        <pc:sldMkLst>
          <pc:docMk/>
          <pc:sldMk cId="0" sldId="273"/>
        </pc:sldMkLst>
        <pc:spChg chg="mod">
          <ac:chgData name="Odina Siddikova" userId="c170bc8eab85294e" providerId="LiveId" clId="{18BCF88D-AE51-4C49-8E98-2912BFA3EEF1}" dt="2026-10-14T16:12:40.257" v="512" actId="1076"/>
          <ac:spMkLst>
            <pc:docMk/>
            <pc:sldMk cId="0" sldId="273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1:42.515" v="365" actId="478"/>
          <ac:spMkLst>
            <pc:docMk/>
            <pc:sldMk cId="0" sldId="273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499" v="548" actId="368"/>
        <pc:sldMkLst>
          <pc:docMk/>
          <pc:sldMk cId="0" sldId="274"/>
        </pc:sldMkLst>
        <pc:spChg chg="mod">
          <ac:chgData name="Odina Siddikova" userId="c170bc8eab85294e" providerId="LiveId" clId="{18BCF88D-AE51-4C49-8E98-2912BFA3EEF1}" dt="2026-10-14T15:32:40.426" v="371" actId="1076"/>
          <ac:spMkLst>
            <pc:docMk/>
            <pc:sldMk cId="0" sldId="274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30.264" v="370" actId="478"/>
          <ac:spMkLst>
            <pc:docMk/>
            <pc:sldMk cId="0" sldId="274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499" v="550" actId="368"/>
        <pc:sldMkLst>
          <pc:docMk/>
          <pc:sldMk cId="0" sldId="275"/>
        </pc:sldMkLst>
        <pc:spChg chg="mod">
          <ac:chgData name="Odina Siddikova" userId="c170bc8eab85294e" providerId="LiveId" clId="{18BCF88D-AE51-4C49-8E98-2912BFA3EEF1}" dt="2026-10-14T15:33:02.258" v="375" actId="1076"/>
          <ac:spMkLst>
            <pc:docMk/>
            <pc:sldMk cId="0" sldId="275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5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2:51.770" v="373" actId="478"/>
          <ac:spMkLst>
            <pc:docMk/>
            <pc:sldMk cId="0" sldId="275"/>
            <ac:spMk id="59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07" v="552" actId="368"/>
        <pc:sldMkLst>
          <pc:docMk/>
          <pc:sldMk cId="0" sldId="276"/>
        </pc:sldMkLst>
        <pc:spChg chg="mod">
          <ac:chgData name="Odina Siddikova" userId="c170bc8eab85294e" providerId="LiveId" clId="{18BCF88D-AE51-4C49-8E98-2912BFA3EEF1}" dt="2026-10-14T15:33:22.777" v="379" actId="1076"/>
          <ac:spMkLst>
            <pc:docMk/>
            <pc:sldMk cId="0" sldId="276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5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15.940" v="378" actId="478"/>
          <ac:spMkLst>
            <pc:docMk/>
            <pc:sldMk cId="0" sldId="276"/>
            <ac:spMk id="59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07" v="554" actId="368"/>
        <pc:sldMkLst>
          <pc:docMk/>
          <pc:sldMk cId="0" sldId="277"/>
        </pc:sldMkLst>
        <pc:spChg chg="mod">
          <ac:chgData name="Odina Siddikova" userId="c170bc8eab85294e" providerId="LiveId" clId="{18BCF88D-AE51-4C49-8E98-2912BFA3EEF1}" dt="2026-10-14T15:33:43.996" v="383" actId="1076"/>
          <ac:spMkLst>
            <pc:docMk/>
            <pc:sldMk cId="0" sldId="277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5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3:35.928" v="382" actId="478"/>
          <ac:spMkLst>
            <pc:docMk/>
            <pc:sldMk cId="0" sldId="277"/>
            <ac:spMk id="59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07" v="556" actId="368"/>
        <pc:sldMkLst>
          <pc:docMk/>
          <pc:sldMk cId="0" sldId="278"/>
        </pc:sldMkLst>
        <pc:spChg chg="mod">
          <ac:chgData name="Odina Siddikova" userId="c170bc8eab85294e" providerId="LiveId" clId="{18BCF88D-AE51-4C49-8E98-2912BFA3EEF1}" dt="2026-10-14T15:34:44.720" v="387" actId="1076"/>
          <ac:spMkLst>
            <pc:docMk/>
            <pc:sldMk cId="0" sldId="278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21.045" v="385" actId="478"/>
          <ac:spMkLst>
            <pc:docMk/>
            <pc:sldMk cId="0" sldId="278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9:04:16.955" v="650" actId="478"/>
        <pc:sldMkLst>
          <pc:docMk/>
          <pc:sldMk cId="0" sldId="279"/>
        </pc:sldMkLst>
        <pc:spChg chg="del">
          <ac:chgData name="Odina Siddikova" userId="c170bc8eab85294e" providerId="LiveId" clId="{18BCF88D-AE51-4C49-8E98-2912BFA3EEF1}" dt="2026-10-14T19:04:16.955" v="650" actId="478"/>
          <ac:spMkLst>
            <pc:docMk/>
            <pc:sldMk cId="0" sldId="279"/>
            <ac:spMk id="73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6:12:21.439" v="510" actId="1076"/>
          <ac:spMkLst>
            <pc:docMk/>
            <pc:sldMk cId="0" sldId="279"/>
            <ac:spMk id="7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7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7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7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7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8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8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8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8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8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8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8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8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8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8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9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9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9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9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9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9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9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9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9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9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0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0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0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0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0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0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0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0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0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0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4:59.562" v="390" actId="478"/>
          <ac:spMkLst>
            <pc:docMk/>
            <pc:sldMk cId="0" sldId="279"/>
            <ac:spMk id="12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24" v="560" actId="368"/>
        <pc:sldMkLst>
          <pc:docMk/>
          <pc:sldMk cId="0" sldId="280"/>
        </pc:sldMkLst>
        <pc:spChg chg="mod">
          <ac:chgData name="Odina Siddikova" userId="c170bc8eab85294e" providerId="LiveId" clId="{18BCF88D-AE51-4C49-8E98-2912BFA3EEF1}" dt="2026-10-14T16:12:28.768" v="511" actId="1076"/>
          <ac:spMkLst>
            <pc:docMk/>
            <pc:sldMk cId="0" sldId="280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5:46.690" v="394" actId="478"/>
          <ac:spMkLst>
            <pc:docMk/>
            <pc:sldMk cId="0" sldId="280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24" v="562" actId="368"/>
        <pc:sldMkLst>
          <pc:docMk/>
          <pc:sldMk cId="0" sldId="281"/>
        </pc:sldMkLst>
        <pc:spChg chg="mod">
          <ac:chgData name="Odina Siddikova" userId="c170bc8eab85294e" providerId="LiveId" clId="{18BCF88D-AE51-4C49-8E98-2912BFA3EEF1}" dt="2026-10-14T15:36:11.391" v="399" actId="1076"/>
          <ac:spMkLst>
            <pc:docMk/>
            <pc:sldMk cId="0" sldId="281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5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06.990" v="398" actId="478"/>
          <ac:spMkLst>
            <pc:docMk/>
            <pc:sldMk cId="0" sldId="281"/>
            <ac:spMk id="59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24" v="564" actId="368"/>
        <pc:sldMkLst>
          <pc:docMk/>
          <pc:sldMk cId="0" sldId="282"/>
        </pc:sldMkLst>
        <pc:spChg chg="mod">
          <ac:chgData name="Odina Siddikova" userId="c170bc8eab85294e" providerId="LiveId" clId="{18BCF88D-AE51-4C49-8E98-2912BFA3EEF1}" dt="2026-10-14T15:36:47.178" v="403" actId="1076"/>
          <ac:spMkLst>
            <pc:docMk/>
            <pc:sldMk cId="0" sldId="282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6:42.126" v="402" actId="478"/>
          <ac:spMkLst>
            <pc:docMk/>
            <pc:sldMk cId="0" sldId="282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39" v="566" actId="368"/>
        <pc:sldMkLst>
          <pc:docMk/>
          <pc:sldMk cId="0" sldId="283"/>
        </pc:sldMkLst>
        <pc:spChg chg="mod">
          <ac:chgData name="Odina Siddikova" userId="c170bc8eab85294e" providerId="LiveId" clId="{18BCF88D-AE51-4C49-8E98-2912BFA3EEF1}" dt="2026-10-14T16:12:14.071" v="509" actId="1076"/>
          <ac:spMkLst>
            <pc:docMk/>
            <pc:sldMk cId="0" sldId="283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6.476" v="407" actId="478"/>
          <ac:spMkLst>
            <pc:docMk/>
            <pc:sldMk cId="0" sldId="283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6.476" v="407" actId="478"/>
          <ac:spMkLst>
            <pc:docMk/>
            <pc:sldMk cId="0" sldId="283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6.476" v="407" actId="478"/>
          <ac:spMkLst>
            <pc:docMk/>
            <pc:sldMk cId="0" sldId="283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6.476" v="407" actId="478"/>
          <ac:spMkLst>
            <pc:docMk/>
            <pc:sldMk cId="0" sldId="283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6.476" v="407" actId="478"/>
          <ac:spMkLst>
            <pc:docMk/>
            <pc:sldMk cId="0" sldId="283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6.476" v="407" actId="478"/>
          <ac:spMkLst>
            <pc:docMk/>
            <pc:sldMk cId="0" sldId="283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6.476" v="407" actId="478"/>
          <ac:spMkLst>
            <pc:docMk/>
            <pc:sldMk cId="0" sldId="283"/>
            <ac:spMk id="5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02.622" v="406" actId="478"/>
          <ac:spMkLst>
            <pc:docMk/>
            <pc:sldMk cId="0" sldId="283"/>
            <ac:spMk id="59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39" v="568" actId="368"/>
        <pc:sldMkLst>
          <pc:docMk/>
          <pc:sldMk cId="0" sldId="284"/>
        </pc:sldMkLst>
        <pc:spChg chg="mod">
          <ac:chgData name="Odina Siddikova" userId="c170bc8eab85294e" providerId="LiveId" clId="{18BCF88D-AE51-4C49-8E98-2912BFA3EEF1}" dt="2026-10-14T15:37:30.301" v="412" actId="1076"/>
          <ac:spMkLst>
            <pc:docMk/>
            <pc:sldMk cId="0" sldId="284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24.126" v="411" actId="478"/>
          <ac:spMkLst>
            <pc:docMk/>
            <pc:sldMk cId="0" sldId="284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9:04:26.092" v="651" actId="478"/>
        <pc:sldMkLst>
          <pc:docMk/>
          <pc:sldMk cId="0" sldId="285"/>
        </pc:sldMkLst>
        <pc:spChg chg="del">
          <ac:chgData name="Odina Siddikova" userId="c170bc8eab85294e" providerId="LiveId" clId="{18BCF88D-AE51-4C49-8E98-2912BFA3EEF1}" dt="2026-10-14T19:04:26.092" v="651" actId="478"/>
          <ac:spMkLst>
            <pc:docMk/>
            <pc:sldMk cId="0" sldId="285"/>
            <ac:spMk id="63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5:37:56.520" v="416" actId="1076"/>
          <ac:spMkLst>
            <pc:docMk/>
            <pc:sldMk cId="0" sldId="285"/>
            <ac:spMk id="6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6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6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6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6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7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7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7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7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7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7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7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7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7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7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8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8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8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8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8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8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8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8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8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8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9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9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9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9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9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9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9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9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9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9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0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0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0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0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0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0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0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0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0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0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7:52.276" v="415" actId="478"/>
          <ac:spMkLst>
            <pc:docMk/>
            <pc:sldMk cId="0" sldId="285"/>
            <ac:spMk id="119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39" v="572" actId="368"/>
        <pc:sldMkLst>
          <pc:docMk/>
          <pc:sldMk cId="0" sldId="286"/>
        </pc:sldMkLst>
        <pc:spChg chg="mod">
          <ac:chgData name="Odina Siddikova" userId="c170bc8eab85294e" providerId="LiveId" clId="{18BCF88D-AE51-4C49-8E98-2912BFA3EEF1}" dt="2026-10-14T15:38:20.874" v="420" actId="1076"/>
          <ac:spMkLst>
            <pc:docMk/>
            <pc:sldMk cId="0" sldId="286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13.748" v="419" actId="478"/>
          <ac:spMkLst>
            <pc:docMk/>
            <pc:sldMk cId="0" sldId="286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55" v="574" actId="368"/>
        <pc:sldMkLst>
          <pc:docMk/>
          <pc:sldMk cId="0" sldId="287"/>
        </pc:sldMkLst>
        <pc:spChg chg="mod">
          <ac:chgData name="Odina Siddikova" userId="c170bc8eab85294e" providerId="LiveId" clId="{18BCF88D-AE51-4C49-8E98-2912BFA3EEF1}" dt="2026-10-14T15:38:43.874" v="424" actId="1076"/>
          <ac:spMkLst>
            <pc:docMk/>
            <pc:sldMk cId="0" sldId="287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5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32.995" v="422" actId="478"/>
          <ac:spMkLst>
            <pc:docMk/>
            <pc:sldMk cId="0" sldId="287"/>
            <ac:spMk id="59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55" v="576" actId="368"/>
        <pc:sldMkLst>
          <pc:docMk/>
          <pc:sldMk cId="0" sldId="288"/>
        </pc:sldMkLst>
        <pc:spChg chg="mod">
          <ac:chgData name="Odina Siddikova" userId="c170bc8eab85294e" providerId="LiveId" clId="{18BCF88D-AE51-4C49-8E98-2912BFA3EEF1}" dt="2026-10-14T15:39:03" v="428" actId="1076"/>
          <ac:spMkLst>
            <pc:docMk/>
            <pc:sldMk cId="0" sldId="288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8:56.833" v="427" actId="478"/>
          <ac:spMkLst>
            <pc:docMk/>
            <pc:sldMk cId="0" sldId="288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55" v="578" actId="368"/>
        <pc:sldMkLst>
          <pc:docMk/>
          <pc:sldMk cId="0" sldId="289"/>
        </pc:sldMkLst>
        <pc:spChg chg="mod">
          <ac:chgData name="Odina Siddikova" userId="c170bc8eab85294e" providerId="LiveId" clId="{18BCF88D-AE51-4C49-8E98-2912BFA3EEF1}" dt="2026-10-14T15:39:20.157" v="432" actId="1076"/>
          <ac:spMkLst>
            <pc:docMk/>
            <pc:sldMk cId="0" sldId="289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5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14.292" v="431" actId="478"/>
          <ac:spMkLst>
            <pc:docMk/>
            <pc:sldMk cId="0" sldId="289"/>
            <ac:spMk id="59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71" v="580" actId="368"/>
        <pc:sldMkLst>
          <pc:docMk/>
          <pc:sldMk cId="0" sldId="290"/>
        </pc:sldMkLst>
        <pc:spChg chg="mod">
          <ac:chgData name="Odina Siddikova" userId="c170bc8eab85294e" providerId="LiveId" clId="{18BCF88D-AE51-4C49-8E98-2912BFA3EEF1}" dt="2026-10-14T15:39:41.633" v="436" actId="1076"/>
          <ac:spMkLst>
            <pc:docMk/>
            <pc:sldMk cId="0" sldId="290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39:34.207" v="435" actId="478"/>
          <ac:spMkLst>
            <pc:docMk/>
            <pc:sldMk cId="0" sldId="290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76" v="582" actId="368"/>
        <pc:sldMkLst>
          <pc:docMk/>
          <pc:sldMk cId="0" sldId="291"/>
        </pc:sldMkLst>
        <pc:spChg chg="mod">
          <ac:chgData name="Odina Siddikova" userId="c170bc8eab85294e" providerId="LiveId" clId="{18BCF88D-AE51-4C49-8E98-2912BFA3EEF1}" dt="2026-10-14T16:11:07.992" v="503" actId="1036"/>
          <ac:spMkLst>
            <pc:docMk/>
            <pc:sldMk cId="0" sldId="291"/>
            <ac:spMk id="3" creationId="{00000000-0000-0000-0000-000000000000}"/>
          </ac:spMkLst>
        </pc:spChg>
        <pc:spChg chg="mod">
          <ac:chgData name="Odina Siddikova" userId="c170bc8eab85294e" providerId="LiveId" clId="{18BCF88D-AE51-4C49-8E98-2912BFA3EEF1}" dt="2026-10-14T16:11:06.343" v="502" actId="1076"/>
          <ac:spMkLst>
            <pc:docMk/>
            <pc:sldMk cId="0" sldId="291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14.670" v="439" actId="478"/>
          <ac:spMkLst>
            <pc:docMk/>
            <pc:sldMk cId="0" sldId="291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76" v="584" actId="368"/>
        <pc:sldMkLst>
          <pc:docMk/>
          <pc:sldMk cId="0" sldId="292"/>
        </pc:sldMkLst>
        <pc:spChg chg="mod">
          <ac:chgData name="Odina Siddikova" userId="c170bc8eab85294e" providerId="LiveId" clId="{18BCF88D-AE51-4C49-8E98-2912BFA3EEF1}" dt="2026-10-14T15:40:51.921" v="445" actId="1076"/>
          <ac:spMkLst>
            <pc:docMk/>
            <pc:sldMk cId="0" sldId="292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0:45.467" v="444" actId="478"/>
          <ac:spMkLst>
            <pc:docMk/>
            <pc:sldMk cId="0" sldId="292"/>
            <ac:spMk id="58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76" v="586" actId="368"/>
        <pc:sldMkLst>
          <pc:docMk/>
          <pc:sldMk cId="0" sldId="293"/>
        </pc:sldMkLst>
        <pc:spChg chg="mod">
          <ac:chgData name="Odina Siddikova" userId="c170bc8eab85294e" providerId="LiveId" clId="{18BCF88D-AE51-4C49-8E98-2912BFA3EEF1}" dt="2026-10-14T15:41:14.527" v="449" actId="1076"/>
          <ac:spMkLst>
            <pc:docMk/>
            <pc:sldMk cId="0" sldId="293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5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07.768" v="448" actId="478"/>
          <ac:spMkLst>
            <pc:docMk/>
            <pc:sldMk cId="0" sldId="293"/>
            <ac:spMk id="59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86" v="588" actId="368"/>
        <pc:sldMkLst>
          <pc:docMk/>
          <pc:sldMk cId="0" sldId="294"/>
        </pc:sldMkLst>
        <pc:spChg chg="mod">
          <ac:chgData name="Odina Siddikova" userId="c170bc8eab85294e" providerId="LiveId" clId="{18BCF88D-AE51-4C49-8E98-2912BFA3EEF1}" dt="2026-10-14T15:41:42.247" v="453" actId="1076"/>
          <ac:spMkLst>
            <pc:docMk/>
            <pc:sldMk cId="0" sldId="294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35.407" v="452" actId="478"/>
          <ac:spMkLst>
            <pc:docMk/>
            <pc:sldMk cId="0" sldId="294"/>
            <ac:spMk id="57" creationId="{00000000-0000-0000-0000-000000000000}"/>
          </ac:spMkLst>
        </pc:spChg>
      </pc:sldChg>
      <pc:sldChg chg="delSp modSp mod modNotes">
        <pc:chgData name="Odina Siddikova" userId="c170bc8eab85294e" providerId="LiveId" clId="{18BCF88D-AE51-4C49-8E98-2912BFA3EEF1}" dt="2026-10-14T16:14:59.586" v="590" actId="368"/>
        <pc:sldMkLst>
          <pc:docMk/>
          <pc:sldMk cId="0" sldId="295"/>
        </pc:sldMkLst>
        <pc:spChg chg="mod">
          <ac:chgData name="Odina Siddikova" userId="c170bc8eab85294e" providerId="LiveId" clId="{18BCF88D-AE51-4C49-8E98-2912BFA3EEF1}" dt="2026-10-14T15:42:03.799" v="457" actId="1076"/>
          <ac:spMkLst>
            <pc:docMk/>
            <pc:sldMk cId="0" sldId="295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1:58.342" v="456" actId="478"/>
          <ac:spMkLst>
            <pc:docMk/>
            <pc:sldMk cId="0" sldId="295"/>
            <ac:spMk id="58" creationId="{00000000-0000-0000-0000-000000000000}"/>
          </ac:spMkLst>
        </pc:spChg>
      </pc:sldChg>
      <pc:sldChg chg="delSp modSp del mod modNotes">
        <pc:chgData name="Odina Siddikova" userId="c170bc8eab85294e" providerId="LiveId" clId="{18BCF88D-AE51-4C49-8E98-2912BFA3EEF1}" dt="2026-10-14T16:10:51.204" v="501" actId="47"/>
        <pc:sldMkLst>
          <pc:docMk/>
          <pc:sldMk cId="0" sldId="296"/>
        </pc:sldMkLst>
        <pc:spChg chg="mod">
          <ac:chgData name="Odina Siddikova" userId="c170bc8eab85294e" providerId="LiveId" clId="{18BCF88D-AE51-4C49-8E98-2912BFA3EEF1}" dt="2026-10-14T15:42:27.816" v="461" actId="1076"/>
          <ac:spMkLst>
            <pc:docMk/>
            <pc:sldMk cId="0" sldId="296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5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19.194" v="460" actId="478"/>
          <ac:spMkLst>
            <pc:docMk/>
            <pc:sldMk cId="0" sldId="296"/>
            <ac:spMk id="58" creationId="{00000000-0000-0000-0000-000000000000}"/>
          </ac:spMkLst>
        </pc:spChg>
      </pc:sldChg>
      <pc:sldChg chg="delSp del mod modNotes">
        <pc:chgData name="Odina Siddikova" userId="c170bc8eab85294e" providerId="LiveId" clId="{18BCF88D-AE51-4C49-8E98-2912BFA3EEF1}" dt="2026-10-14T16:10:21.271" v="500" actId="47"/>
        <pc:sldMkLst>
          <pc:docMk/>
          <pc:sldMk cId="0" sldId="297"/>
        </pc:sldMkLst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1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1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1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1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1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1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1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1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1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1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2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2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2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2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2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2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2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2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2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2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3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3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3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3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3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3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3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3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3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3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4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4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4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4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4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4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4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47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48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49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50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51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52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53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54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55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56" creationId="{00000000-0000-0000-0000-000000000000}"/>
          </ac:spMkLst>
        </pc:spChg>
        <pc:spChg chg="del">
          <ac:chgData name="Odina Siddikova" userId="c170bc8eab85294e" providerId="LiveId" clId="{18BCF88D-AE51-4C49-8E98-2912BFA3EEF1}" dt="2026-10-14T15:42:35.765" v="462" actId="478"/>
          <ac:spMkLst>
            <pc:docMk/>
            <pc:sldMk cId="0" sldId="297"/>
            <ac:spMk id="57" creationId="{00000000-0000-0000-0000-000000000000}"/>
          </ac:spMkLst>
        </pc:spChg>
      </pc:sldChg>
      <pc:sldChg chg="del">
        <pc:chgData name="Odina Siddikova" userId="c170bc8eab85294e" providerId="LiveId" clId="{18BCF88D-AE51-4C49-8E98-2912BFA3EEF1}" dt="2026-10-14T15:07:06.535" v="1" actId="47"/>
        <pc:sldMkLst>
          <pc:docMk/>
          <pc:sldMk cId="0" sldId="298"/>
        </pc:sldMkLst>
      </pc:sldChg>
      <pc:sldChg chg="addSp modSp add mod">
        <pc:chgData name="Odina Siddikova" userId="c170bc8eab85294e" providerId="LiveId" clId="{18BCF88D-AE51-4C49-8E98-2912BFA3EEF1}" dt="2026-10-14T16:09:56.650" v="499" actId="1036"/>
        <pc:sldMkLst>
          <pc:docMk/>
          <pc:sldMk cId="3405054729" sldId="353"/>
        </pc:sldMkLst>
        <pc:spChg chg="add mod">
          <ac:chgData name="Odina Siddikova" userId="c170bc8eab85294e" providerId="LiveId" clId="{18BCF88D-AE51-4C49-8E98-2912BFA3EEF1}" dt="2026-10-14T15:07:53.258" v="38" actId="1076"/>
          <ac:spMkLst>
            <pc:docMk/>
            <pc:sldMk cId="3405054729" sldId="353"/>
            <ac:spMk id="4" creationId="{B521BDCA-4DF6-45BF-8C2C-4C11810738BF}"/>
          </ac:spMkLst>
        </pc:spChg>
        <pc:picChg chg="add mod ord">
          <ac:chgData name="Odina Siddikova" userId="c170bc8eab85294e" providerId="LiveId" clId="{18BCF88D-AE51-4C49-8E98-2912BFA3EEF1}" dt="2026-10-14T16:09:56.650" v="499" actId="1036"/>
          <ac:picMkLst>
            <pc:docMk/>
            <pc:sldMk cId="3405054729" sldId="353"/>
            <ac:picMk id="6" creationId="{833BD973-8CB5-482D-A260-CA40C29B3766}"/>
          </ac:picMkLst>
        </pc:picChg>
      </pc:sldChg>
      <pc:sldChg chg="addSp delSp modSp new mod">
        <pc:chgData name="Odina Siddikova" userId="c170bc8eab85294e" providerId="LiveId" clId="{18BCF88D-AE51-4C49-8E98-2912BFA3EEF1}" dt="2026-10-14T19:01:10.454" v="591" actId="1076"/>
        <pc:sldMkLst>
          <pc:docMk/>
          <pc:sldMk cId="272051162" sldId="354"/>
        </pc:sldMkLst>
        <pc:spChg chg="add mod">
          <ac:chgData name="Odina Siddikova" userId="c170bc8eab85294e" providerId="LiveId" clId="{18BCF88D-AE51-4C49-8E98-2912BFA3EEF1}" dt="2026-10-14T15:12:55.367" v="102" actId="1076"/>
          <ac:spMkLst>
            <pc:docMk/>
            <pc:sldMk cId="272051162" sldId="354"/>
            <ac:spMk id="3" creationId="{190494F2-C360-4725-B77F-8B9954019483}"/>
          </ac:spMkLst>
        </pc:spChg>
        <pc:spChg chg="add del mod">
          <ac:chgData name="Odina Siddikova" userId="c170bc8eab85294e" providerId="LiveId" clId="{18BCF88D-AE51-4C49-8E98-2912BFA3EEF1}" dt="2026-10-14T15:10:50.582" v="82"/>
          <ac:spMkLst>
            <pc:docMk/>
            <pc:sldMk cId="272051162" sldId="354"/>
            <ac:spMk id="5" creationId="{F7F52125-E040-4A1D-A12A-184F713764B5}"/>
          </ac:spMkLst>
        </pc:spChg>
        <pc:spChg chg="add mod">
          <ac:chgData name="Odina Siddikova" userId="c170bc8eab85294e" providerId="LiveId" clId="{18BCF88D-AE51-4C49-8E98-2912BFA3EEF1}" dt="2026-10-14T15:11:49.267" v="97" actId="1076"/>
          <ac:spMkLst>
            <pc:docMk/>
            <pc:sldMk cId="272051162" sldId="354"/>
            <ac:spMk id="6" creationId="{F23D1616-399A-4EBA-B44F-E0363E3664A4}"/>
          </ac:spMkLst>
        </pc:spChg>
        <pc:picChg chg="add mod ord">
          <ac:chgData name="Odina Siddikova" userId="c170bc8eab85294e" providerId="LiveId" clId="{18BCF88D-AE51-4C49-8E98-2912BFA3EEF1}" dt="2026-10-14T19:01:10.454" v="591" actId="1076"/>
          <ac:picMkLst>
            <pc:docMk/>
            <pc:sldMk cId="272051162" sldId="354"/>
            <ac:picMk id="4" creationId="{E477616F-4CB1-4509-8980-281A82006CDB}"/>
          </ac:picMkLst>
        </pc:picChg>
      </pc:sldChg>
      <pc:sldMasterChg chg="addSp delSp mod">
        <pc:chgData name="Odina Siddikova" userId="c170bc8eab85294e" providerId="LiveId" clId="{18BCF88D-AE51-4C49-8E98-2912BFA3EEF1}" dt="2026-10-14T15:19:19.542" v="194" actId="478"/>
        <pc:sldMasterMkLst>
          <pc:docMk/>
          <pc:sldMasterMk cId="2209977519" sldId="2147483648"/>
        </pc:sldMasterMkLst>
        <pc:spChg chg="add del">
          <ac:chgData name="Odina Siddikova" userId="c170bc8eab85294e" providerId="LiveId" clId="{18BCF88D-AE51-4C49-8E98-2912BFA3EEF1}" dt="2026-10-14T15:19:19.542" v="194" actId="478"/>
          <ac:spMkLst>
            <pc:docMk/>
            <pc:sldMasterMk cId="2209977519" sldId="2147483648"/>
            <ac:spMk id="4" creationId="{00000000-0000-0000-0000-000000000000}"/>
          </ac:spMkLst>
        </pc:spChg>
        <pc:spChg chg="add del">
          <ac:chgData name="Odina Siddikova" userId="c170bc8eab85294e" providerId="LiveId" clId="{18BCF88D-AE51-4C49-8E98-2912BFA3EEF1}" dt="2026-10-14T15:19:19.023" v="193" actId="478"/>
          <ac:spMkLst>
            <pc:docMk/>
            <pc:sldMasterMk cId="2209977519" sldId="2147483648"/>
            <ac:spMk id="5" creationId="{00000000-0000-0000-0000-000000000000}"/>
          </ac:spMkLst>
        </pc:spChg>
        <pc:spChg chg="add del">
          <ac:chgData name="Odina Siddikova" userId="c170bc8eab85294e" providerId="LiveId" clId="{18BCF88D-AE51-4C49-8E98-2912BFA3EEF1}" dt="2026-10-14T15:19:18.038" v="192" actId="478"/>
          <ac:spMkLst>
            <pc:docMk/>
            <pc:sldMasterMk cId="2209977519" sldId="2147483648"/>
            <ac:spMk id="6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144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uz-Latn-UZ" dirty="0"/>
          </a:p>
        </p:txBody>
      </p:sp>
    </p:spTree>
    <p:extLst>
      <p:ext uri="{BB962C8B-B14F-4D97-AF65-F5344CB8AC3E}">
        <p14:creationId xmlns:p14="http://schemas.microsoft.com/office/powerpoint/2010/main" val="2341646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77616F-4CB1-4509-8980-281A82006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091" y="39756"/>
            <a:ext cx="9717818" cy="64785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0494F2-C360-4725-B77F-8B9954019483}"/>
              </a:ext>
            </a:extLst>
          </p:cNvPr>
          <p:cNvSpPr txBox="1"/>
          <p:nvPr/>
        </p:nvSpPr>
        <p:spPr>
          <a:xfrm>
            <a:off x="941732" y="4189200"/>
            <a:ext cx="65324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latin typeface="Cambria"/>
              </a:rPr>
              <a:t>Эндокринные причины низкорослости у детей и подростков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D1616-399A-4EBA-B44F-E0363E3664A4}"/>
              </a:ext>
            </a:extLst>
          </p:cNvPr>
          <p:cNvSpPr txBox="1"/>
          <p:nvPr/>
        </p:nvSpPr>
        <p:spPr>
          <a:xfrm>
            <a:off x="941732" y="5260927"/>
            <a:ext cx="69300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344054"/>
                </a:solidFill>
                <a:latin typeface="Arial"/>
              </a:defRPr>
            </a:pPr>
            <a:r>
              <a:rPr lang="ru-RU" sz="1600" dirty="0"/>
              <a:t>Сиддиков </a:t>
            </a:r>
            <a:r>
              <a:rPr lang="ru-RU" sz="1600" dirty="0" err="1"/>
              <a:t>Абдлубосит</a:t>
            </a:r>
            <a:r>
              <a:rPr lang="ru-RU" sz="1600" dirty="0"/>
              <a:t> Адхамович</a:t>
            </a:r>
            <a:br>
              <a:rPr lang="ru-RU" sz="1600" dirty="0"/>
            </a:br>
            <a:r>
              <a:rPr lang="ru-RU" sz="1600" dirty="0"/>
              <a:t>взрослый и детский эндокринолог</a:t>
            </a:r>
          </a:p>
        </p:txBody>
      </p:sp>
    </p:spTree>
    <p:extLst>
      <p:ext uri="{BB962C8B-B14F-4D97-AF65-F5344CB8AC3E}">
        <p14:creationId xmlns:p14="http://schemas.microsoft.com/office/powerpoint/2010/main" val="272051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400" b="1" i="0" dirty="0" err="1">
                <a:solidFill>
                  <a:srgbClr val="1B2E3C"/>
                </a:solidFill>
                <a:latin typeface="Cambria"/>
              </a:rPr>
              <a:t>Первым</a:t>
            </a:r>
            <a:r>
              <a:rPr sz="2400" b="1" i="0" dirty="0">
                <a:solidFill>
                  <a:srgbClr val="1B2E3C"/>
                </a:solidFill>
                <a:latin typeface="Cambria"/>
              </a:rPr>
              <a:t> </a:t>
            </a:r>
            <a:r>
              <a:rPr sz="2400" b="1" i="0" dirty="0" err="1">
                <a:solidFill>
                  <a:srgbClr val="1B2E3C"/>
                </a:solidFill>
                <a:latin typeface="Cambria"/>
              </a:rPr>
              <a:t>делом</a:t>
            </a:r>
            <a:r>
              <a:rPr sz="2400" b="1" i="0" dirty="0">
                <a:solidFill>
                  <a:srgbClr val="1B2E3C"/>
                </a:solidFill>
                <a:latin typeface="Cambria"/>
              </a:rPr>
              <a:t> </a:t>
            </a:r>
            <a:r>
              <a:rPr sz="2400" b="1" i="0" dirty="0" err="1">
                <a:solidFill>
                  <a:srgbClr val="1B2E3C"/>
                </a:solidFill>
                <a:latin typeface="Cambria"/>
              </a:rPr>
              <a:t>смотрите</a:t>
            </a:r>
            <a:r>
              <a:rPr sz="2400" b="1" i="0" dirty="0">
                <a:solidFill>
                  <a:srgbClr val="1B2E3C"/>
                </a:solidFill>
                <a:latin typeface="Cambria"/>
              </a:rPr>
              <a:t>, </a:t>
            </a:r>
            <a:r>
              <a:rPr sz="2400" b="1" i="0" dirty="0" err="1">
                <a:solidFill>
                  <a:srgbClr val="1B2E3C"/>
                </a:solidFill>
                <a:latin typeface="Cambria"/>
              </a:rPr>
              <a:t>что</a:t>
            </a:r>
            <a:r>
              <a:rPr sz="2400" b="1" i="0" dirty="0">
                <a:solidFill>
                  <a:srgbClr val="1B2E3C"/>
                </a:solidFill>
                <a:latin typeface="Cambria"/>
              </a:rPr>
              <a:t> </a:t>
            </a:r>
            <a:r>
              <a:rPr sz="2400" b="1" i="0" dirty="0" err="1">
                <a:solidFill>
                  <a:srgbClr val="1B2E3C"/>
                </a:solidFill>
                <a:latin typeface="Cambria"/>
              </a:rPr>
              <a:t>отстаёт</a:t>
            </a:r>
            <a:r>
              <a:rPr sz="2400" b="1" i="0" dirty="0">
                <a:solidFill>
                  <a:srgbClr val="1B2E3C"/>
                </a:solidFill>
                <a:latin typeface="Cambria"/>
              </a:rPr>
              <a:t> </a:t>
            </a:r>
            <a:r>
              <a:rPr sz="2400" b="1" i="0" dirty="0" err="1">
                <a:solidFill>
                  <a:srgbClr val="1B2E3C"/>
                </a:solidFill>
                <a:latin typeface="Cambria"/>
              </a:rPr>
              <a:t>раньше</a:t>
            </a:r>
            <a:r>
              <a:rPr sz="2400" b="1" i="0" dirty="0">
                <a:solidFill>
                  <a:srgbClr val="1B2E3C"/>
                </a:solidFill>
                <a:latin typeface="Cambria"/>
              </a:rPr>
              <a:t>: </a:t>
            </a:r>
            <a:r>
              <a:rPr sz="2400" b="1" i="0" dirty="0" err="1">
                <a:solidFill>
                  <a:srgbClr val="1B2E3C"/>
                </a:solidFill>
                <a:latin typeface="Cambria"/>
              </a:rPr>
              <a:t>рост</a:t>
            </a:r>
            <a:r>
              <a:rPr sz="2400" b="1" i="0" dirty="0">
                <a:solidFill>
                  <a:srgbClr val="1B2E3C"/>
                </a:solidFill>
                <a:latin typeface="Cambria"/>
              </a:rPr>
              <a:t> </a:t>
            </a:r>
            <a:r>
              <a:rPr sz="2400" b="1" i="0" dirty="0" err="1">
                <a:solidFill>
                  <a:srgbClr val="1B2E3C"/>
                </a:solidFill>
                <a:latin typeface="Cambria"/>
              </a:rPr>
              <a:t>или</a:t>
            </a:r>
            <a:r>
              <a:rPr sz="2400" b="1" i="0" dirty="0">
                <a:solidFill>
                  <a:srgbClr val="1B2E3C"/>
                </a:solidFill>
                <a:latin typeface="Cambria"/>
              </a:rPr>
              <a:t> </a:t>
            </a:r>
            <a:r>
              <a:rPr sz="2400" b="1" i="0" dirty="0" err="1">
                <a:solidFill>
                  <a:srgbClr val="1B2E3C"/>
                </a:solidFill>
                <a:latin typeface="Cambria"/>
              </a:rPr>
              <a:t>масса</a:t>
            </a:r>
            <a:endParaRPr sz="2400" b="1" i="0" dirty="0">
              <a:solidFill>
                <a:srgbClr val="1B2E3C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360410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E3C"/>
                </a:solidFill>
                <a:latin typeface="Calibri"/>
              </a:rPr>
              <a:t>Гипотиреоз</a:t>
            </a:r>
          </a:p>
        </p:txBody>
      </p:sp>
      <p:sp>
        <p:nvSpPr>
          <p:cNvPr id="4" name="Гипотиреоз: норма"/>
          <p:cNvSpPr/>
          <p:nvPr/>
        </p:nvSpPr>
        <p:spPr>
          <a:xfrm>
            <a:off x="808640" y="1996785"/>
            <a:ext cx="3304107" cy="535589"/>
          </a:xfrm>
          <a:custGeom>
            <a:avLst/>
            <a:gdLst/>
            <a:ahLst/>
            <a:cxnLst/>
            <a:rect l="l" t="t" r="r" b="b"/>
            <a:pathLst>
              <a:path w="3304107" h="535589">
                <a:moveTo>
                  <a:pt x="0" y="0"/>
                </a:moveTo>
                <a:lnTo>
                  <a:pt x="3304107" y="0"/>
                </a:lnTo>
                <a:lnTo>
                  <a:pt x="3304107" y="535589"/>
                </a:lnTo>
                <a:lnTo>
                  <a:pt x="0" y="535589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Гипотиреоз: 0"/>
          <p:cNvSpPr/>
          <p:nvPr/>
        </p:nvSpPr>
        <p:spPr>
          <a:xfrm>
            <a:off x="808640" y="2264580"/>
            <a:ext cx="3304107" cy="0"/>
          </a:xfrm>
          <a:custGeom>
            <a:avLst/>
            <a:gdLst/>
            <a:ahLst/>
            <a:cxnLst/>
            <a:rect l="l" t="t" r="r" b="b"/>
            <a:pathLst>
              <a:path w="3304107">
                <a:moveTo>
                  <a:pt x="0" y="0"/>
                </a:moveTo>
                <a:lnTo>
                  <a:pt x="33041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72310"/>
            <a:ext cx="23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−2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87423"/>
            <a:ext cx="23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02535"/>
            <a:ext cx="23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+2</a:t>
            </a:r>
          </a:p>
        </p:txBody>
      </p:sp>
      <p:sp>
        <p:nvSpPr>
          <p:cNvPr id="9" name="Гипотиреоз: масса"/>
          <p:cNvSpPr/>
          <p:nvPr/>
        </p:nvSpPr>
        <p:spPr>
          <a:xfrm>
            <a:off x="808640" y="2193358"/>
            <a:ext cx="3304107" cy="71222"/>
          </a:xfrm>
          <a:custGeom>
            <a:avLst/>
            <a:gdLst/>
            <a:ahLst/>
            <a:cxnLst/>
            <a:rect l="l" t="t" r="r" b="b"/>
            <a:pathLst>
              <a:path w="3304107" h="71222">
                <a:moveTo>
                  <a:pt x="0" y="71222"/>
                </a:moveTo>
                <a:lnTo>
                  <a:pt x="99123" y="69797"/>
                </a:lnTo>
                <a:lnTo>
                  <a:pt x="198246" y="68373"/>
                </a:lnTo>
                <a:lnTo>
                  <a:pt x="297369" y="66948"/>
                </a:lnTo>
                <a:lnTo>
                  <a:pt x="396492" y="65524"/>
                </a:lnTo>
                <a:lnTo>
                  <a:pt x="495616" y="64099"/>
                </a:lnTo>
                <a:lnTo>
                  <a:pt x="594739" y="62675"/>
                </a:lnTo>
                <a:lnTo>
                  <a:pt x="693862" y="61250"/>
                </a:lnTo>
                <a:lnTo>
                  <a:pt x="792985" y="59826"/>
                </a:lnTo>
                <a:lnTo>
                  <a:pt x="892109" y="58402"/>
                </a:lnTo>
                <a:lnTo>
                  <a:pt x="991232" y="56977"/>
                </a:lnTo>
                <a:lnTo>
                  <a:pt x="1090355" y="54128"/>
                </a:lnTo>
                <a:lnTo>
                  <a:pt x="1189478" y="51279"/>
                </a:lnTo>
                <a:lnTo>
                  <a:pt x="1288601" y="48431"/>
                </a:lnTo>
                <a:lnTo>
                  <a:pt x="1387725" y="45582"/>
                </a:lnTo>
                <a:lnTo>
                  <a:pt x="1486848" y="42733"/>
                </a:lnTo>
                <a:lnTo>
                  <a:pt x="1585971" y="39884"/>
                </a:lnTo>
                <a:lnTo>
                  <a:pt x="1685094" y="37035"/>
                </a:lnTo>
                <a:lnTo>
                  <a:pt x="1784218" y="34186"/>
                </a:lnTo>
                <a:lnTo>
                  <a:pt x="1883341" y="31337"/>
                </a:lnTo>
                <a:lnTo>
                  <a:pt x="1982464" y="28488"/>
                </a:lnTo>
                <a:lnTo>
                  <a:pt x="2114628" y="25640"/>
                </a:lnTo>
                <a:lnTo>
                  <a:pt x="2246793" y="22791"/>
                </a:lnTo>
                <a:lnTo>
                  <a:pt x="2378957" y="19942"/>
                </a:lnTo>
                <a:lnTo>
                  <a:pt x="2511121" y="17093"/>
                </a:lnTo>
                <a:lnTo>
                  <a:pt x="2643286" y="14244"/>
                </a:lnTo>
                <a:lnTo>
                  <a:pt x="2775450" y="11395"/>
                </a:lnTo>
                <a:lnTo>
                  <a:pt x="2907614" y="8546"/>
                </a:lnTo>
                <a:lnTo>
                  <a:pt x="3039778" y="5697"/>
                </a:lnTo>
                <a:lnTo>
                  <a:pt x="3171943" y="2849"/>
                </a:lnTo>
                <a:lnTo>
                  <a:pt x="3304107" y="0"/>
                </a:lnTo>
              </a:path>
            </a:pathLst>
          </a:custGeom>
          <a:noFill/>
          <a:ln w="31750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Гипотиреоз: рост"/>
          <p:cNvSpPr/>
          <p:nvPr/>
        </p:nvSpPr>
        <p:spPr>
          <a:xfrm>
            <a:off x="808640" y="2293068"/>
            <a:ext cx="3304107" cy="284888"/>
          </a:xfrm>
          <a:custGeom>
            <a:avLst/>
            <a:gdLst/>
            <a:ahLst/>
            <a:cxnLst/>
            <a:rect l="l" t="t" r="r" b="b"/>
            <a:pathLst>
              <a:path w="3304107" h="284888">
                <a:moveTo>
                  <a:pt x="0" y="0"/>
                </a:moveTo>
                <a:lnTo>
                  <a:pt x="99123" y="2849"/>
                </a:lnTo>
                <a:lnTo>
                  <a:pt x="198246" y="5698"/>
                </a:lnTo>
                <a:lnTo>
                  <a:pt x="297369" y="8547"/>
                </a:lnTo>
                <a:lnTo>
                  <a:pt x="396492" y="11396"/>
                </a:lnTo>
                <a:lnTo>
                  <a:pt x="495616" y="14245"/>
                </a:lnTo>
                <a:lnTo>
                  <a:pt x="594739" y="17094"/>
                </a:lnTo>
                <a:lnTo>
                  <a:pt x="693862" y="19942"/>
                </a:lnTo>
                <a:lnTo>
                  <a:pt x="792985" y="22791"/>
                </a:lnTo>
                <a:lnTo>
                  <a:pt x="892109" y="25640"/>
                </a:lnTo>
                <a:lnTo>
                  <a:pt x="991232" y="28489"/>
                </a:lnTo>
                <a:lnTo>
                  <a:pt x="1090355" y="39885"/>
                </a:lnTo>
                <a:lnTo>
                  <a:pt x="1189478" y="51280"/>
                </a:lnTo>
                <a:lnTo>
                  <a:pt x="1288601" y="62676"/>
                </a:lnTo>
                <a:lnTo>
                  <a:pt x="1387725" y="74071"/>
                </a:lnTo>
                <a:lnTo>
                  <a:pt x="1486848" y="85467"/>
                </a:lnTo>
                <a:lnTo>
                  <a:pt x="1585971" y="96862"/>
                </a:lnTo>
                <a:lnTo>
                  <a:pt x="1685094" y="108258"/>
                </a:lnTo>
                <a:lnTo>
                  <a:pt x="1784218" y="119653"/>
                </a:lnTo>
                <a:lnTo>
                  <a:pt x="1883341" y="131049"/>
                </a:lnTo>
                <a:lnTo>
                  <a:pt x="1982464" y="142444"/>
                </a:lnTo>
                <a:lnTo>
                  <a:pt x="2114628" y="156688"/>
                </a:lnTo>
                <a:lnTo>
                  <a:pt x="2246793" y="170933"/>
                </a:lnTo>
                <a:lnTo>
                  <a:pt x="2378957" y="185177"/>
                </a:lnTo>
                <a:lnTo>
                  <a:pt x="2511121" y="199422"/>
                </a:lnTo>
                <a:lnTo>
                  <a:pt x="2643286" y="213666"/>
                </a:lnTo>
                <a:lnTo>
                  <a:pt x="2775450" y="227910"/>
                </a:lnTo>
                <a:lnTo>
                  <a:pt x="2907614" y="242155"/>
                </a:lnTo>
                <a:lnTo>
                  <a:pt x="3039778" y="256399"/>
                </a:lnTo>
                <a:lnTo>
                  <a:pt x="3171943" y="270643"/>
                </a:lnTo>
                <a:lnTo>
                  <a:pt x="3304107" y="284888"/>
                </a:lnTo>
              </a:path>
            </a:pathLst>
          </a:custGeom>
          <a:noFill/>
          <a:ln w="317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8640" y="3043243"/>
            <a:ext cx="50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6 лет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2747" y="3043243"/>
            <a:ext cx="50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11 лет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50400"/>
            <a:ext cx="360410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6323A"/>
                </a:solidFill>
                <a:latin typeface="Calibri"/>
              </a:rPr>
              <a:t>рост стоит, масса прибавляет; слайд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787" y="1508760"/>
            <a:ext cx="360410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E3C"/>
                </a:solidFill>
                <a:latin typeface="Calibri"/>
              </a:rPr>
              <a:t>Гиперкортицизм</a:t>
            </a:r>
          </a:p>
        </p:txBody>
      </p:sp>
      <p:sp>
        <p:nvSpPr>
          <p:cNvPr id="15" name="Гиперкортицизм: норма"/>
          <p:cNvSpPr/>
          <p:nvPr/>
        </p:nvSpPr>
        <p:spPr>
          <a:xfrm>
            <a:off x="4732787" y="2016663"/>
            <a:ext cx="3304108" cy="535589"/>
          </a:xfrm>
          <a:custGeom>
            <a:avLst/>
            <a:gdLst/>
            <a:ahLst/>
            <a:cxnLst/>
            <a:rect l="l" t="t" r="r" b="b"/>
            <a:pathLst>
              <a:path w="3304108" h="535589">
                <a:moveTo>
                  <a:pt x="0" y="0"/>
                </a:moveTo>
                <a:lnTo>
                  <a:pt x="3304108" y="0"/>
                </a:lnTo>
                <a:lnTo>
                  <a:pt x="3304108" y="535589"/>
                </a:lnTo>
                <a:lnTo>
                  <a:pt x="0" y="535589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Гиперкортицизм: 0"/>
          <p:cNvSpPr/>
          <p:nvPr/>
        </p:nvSpPr>
        <p:spPr>
          <a:xfrm>
            <a:off x="4732787" y="2264580"/>
            <a:ext cx="3304108" cy="0"/>
          </a:xfrm>
          <a:custGeom>
            <a:avLst/>
            <a:gdLst/>
            <a:ahLst/>
            <a:cxnLst/>
            <a:rect l="l" t="t" r="r" b="b"/>
            <a:pathLst>
              <a:path w="3304108">
                <a:moveTo>
                  <a:pt x="0" y="0"/>
                </a:moveTo>
                <a:lnTo>
                  <a:pt x="33041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72787" y="2772310"/>
            <a:ext cx="23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−2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2787" y="2487423"/>
            <a:ext cx="23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2787" y="2202535"/>
            <a:ext cx="23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+2</a:t>
            </a:r>
          </a:p>
        </p:txBody>
      </p:sp>
      <p:sp>
        <p:nvSpPr>
          <p:cNvPr id="20" name="Гиперкортицизм: масса"/>
          <p:cNvSpPr/>
          <p:nvPr/>
        </p:nvSpPr>
        <p:spPr>
          <a:xfrm>
            <a:off x="4732787" y="1894226"/>
            <a:ext cx="3304108" cy="327620"/>
          </a:xfrm>
          <a:custGeom>
            <a:avLst/>
            <a:gdLst/>
            <a:ahLst/>
            <a:cxnLst/>
            <a:rect l="l" t="t" r="r" b="b"/>
            <a:pathLst>
              <a:path w="3304108" h="327620">
                <a:moveTo>
                  <a:pt x="0" y="327620"/>
                </a:moveTo>
                <a:lnTo>
                  <a:pt x="99123" y="320498"/>
                </a:lnTo>
                <a:lnTo>
                  <a:pt x="198246" y="313376"/>
                </a:lnTo>
                <a:lnTo>
                  <a:pt x="297370" y="306254"/>
                </a:lnTo>
                <a:lnTo>
                  <a:pt x="396493" y="299132"/>
                </a:lnTo>
                <a:lnTo>
                  <a:pt x="495616" y="292009"/>
                </a:lnTo>
                <a:lnTo>
                  <a:pt x="594739" y="284887"/>
                </a:lnTo>
                <a:lnTo>
                  <a:pt x="693863" y="277765"/>
                </a:lnTo>
                <a:lnTo>
                  <a:pt x="792986" y="270643"/>
                </a:lnTo>
                <a:lnTo>
                  <a:pt x="892109" y="263521"/>
                </a:lnTo>
                <a:lnTo>
                  <a:pt x="991232" y="256399"/>
                </a:lnTo>
                <a:lnTo>
                  <a:pt x="1090355" y="240730"/>
                </a:lnTo>
                <a:lnTo>
                  <a:pt x="1189479" y="225061"/>
                </a:lnTo>
                <a:lnTo>
                  <a:pt x="1288602" y="209392"/>
                </a:lnTo>
                <a:lnTo>
                  <a:pt x="1387725" y="193723"/>
                </a:lnTo>
                <a:lnTo>
                  <a:pt x="1486848" y="178054"/>
                </a:lnTo>
                <a:lnTo>
                  <a:pt x="1585972" y="162386"/>
                </a:lnTo>
                <a:lnTo>
                  <a:pt x="1685095" y="146717"/>
                </a:lnTo>
                <a:lnTo>
                  <a:pt x="1784218" y="131048"/>
                </a:lnTo>
                <a:lnTo>
                  <a:pt x="1883341" y="115379"/>
                </a:lnTo>
                <a:lnTo>
                  <a:pt x="1982465" y="99710"/>
                </a:lnTo>
                <a:lnTo>
                  <a:pt x="2114629" y="89739"/>
                </a:lnTo>
                <a:lnTo>
                  <a:pt x="2246793" y="79768"/>
                </a:lnTo>
                <a:lnTo>
                  <a:pt x="2378957" y="69797"/>
                </a:lnTo>
                <a:lnTo>
                  <a:pt x="2511122" y="59826"/>
                </a:lnTo>
                <a:lnTo>
                  <a:pt x="2643286" y="49855"/>
                </a:lnTo>
                <a:lnTo>
                  <a:pt x="2775450" y="39884"/>
                </a:lnTo>
                <a:lnTo>
                  <a:pt x="2907615" y="29913"/>
                </a:lnTo>
                <a:lnTo>
                  <a:pt x="3039779" y="19942"/>
                </a:lnTo>
                <a:lnTo>
                  <a:pt x="3171943" y="9971"/>
                </a:lnTo>
                <a:lnTo>
                  <a:pt x="3304108" y="0"/>
                </a:lnTo>
              </a:path>
            </a:pathLst>
          </a:custGeom>
          <a:noFill/>
          <a:ln w="31750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Гиперкортицизм: рост"/>
          <p:cNvSpPr/>
          <p:nvPr/>
        </p:nvSpPr>
        <p:spPr>
          <a:xfrm>
            <a:off x="4732787" y="2221846"/>
            <a:ext cx="3304108" cy="299132"/>
          </a:xfrm>
          <a:custGeom>
            <a:avLst/>
            <a:gdLst/>
            <a:ahLst/>
            <a:cxnLst/>
            <a:rect l="l" t="t" r="r" b="b"/>
            <a:pathLst>
              <a:path w="3304108" h="299132">
                <a:moveTo>
                  <a:pt x="0" y="0"/>
                </a:moveTo>
                <a:lnTo>
                  <a:pt x="99123" y="1425"/>
                </a:lnTo>
                <a:lnTo>
                  <a:pt x="198246" y="2849"/>
                </a:lnTo>
                <a:lnTo>
                  <a:pt x="297370" y="4274"/>
                </a:lnTo>
                <a:lnTo>
                  <a:pt x="396493" y="5698"/>
                </a:lnTo>
                <a:lnTo>
                  <a:pt x="495616" y="7123"/>
                </a:lnTo>
                <a:lnTo>
                  <a:pt x="594739" y="8547"/>
                </a:lnTo>
                <a:lnTo>
                  <a:pt x="693863" y="9971"/>
                </a:lnTo>
                <a:lnTo>
                  <a:pt x="792986" y="11396"/>
                </a:lnTo>
                <a:lnTo>
                  <a:pt x="892109" y="12820"/>
                </a:lnTo>
                <a:lnTo>
                  <a:pt x="991232" y="14245"/>
                </a:lnTo>
                <a:lnTo>
                  <a:pt x="1090355" y="28489"/>
                </a:lnTo>
                <a:lnTo>
                  <a:pt x="1189479" y="42734"/>
                </a:lnTo>
                <a:lnTo>
                  <a:pt x="1288602" y="56978"/>
                </a:lnTo>
                <a:lnTo>
                  <a:pt x="1387725" y="71222"/>
                </a:lnTo>
                <a:lnTo>
                  <a:pt x="1486848" y="85467"/>
                </a:lnTo>
                <a:lnTo>
                  <a:pt x="1585972" y="99711"/>
                </a:lnTo>
                <a:lnTo>
                  <a:pt x="1685095" y="113955"/>
                </a:lnTo>
                <a:lnTo>
                  <a:pt x="1784218" y="128200"/>
                </a:lnTo>
                <a:lnTo>
                  <a:pt x="1883341" y="142444"/>
                </a:lnTo>
                <a:lnTo>
                  <a:pt x="1982465" y="156689"/>
                </a:lnTo>
                <a:lnTo>
                  <a:pt x="2114629" y="170933"/>
                </a:lnTo>
                <a:lnTo>
                  <a:pt x="2246793" y="185177"/>
                </a:lnTo>
                <a:lnTo>
                  <a:pt x="2378957" y="199422"/>
                </a:lnTo>
                <a:lnTo>
                  <a:pt x="2511122" y="213666"/>
                </a:lnTo>
                <a:lnTo>
                  <a:pt x="2643286" y="227910"/>
                </a:lnTo>
                <a:lnTo>
                  <a:pt x="2775450" y="242155"/>
                </a:lnTo>
                <a:lnTo>
                  <a:pt x="2907615" y="256399"/>
                </a:lnTo>
                <a:lnTo>
                  <a:pt x="3039779" y="270644"/>
                </a:lnTo>
                <a:lnTo>
                  <a:pt x="3171943" y="284888"/>
                </a:lnTo>
                <a:lnTo>
                  <a:pt x="3304108" y="299132"/>
                </a:lnTo>
              </a:path>
            </a:pathLst>
          </a:custGeom>
          <a:noFill/>
          <a:ln w="317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32787" y="3043243"/>
            <a:ext cx="50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6 лет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895" y="3043243"/>
            <a:ext cx="50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11 лет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2787" y="2950400"/>
            <a:ext cx="360410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6323A"/>
                </a:solidFill>
                <a:latin typeface="Calibri"/>
              </a:rPr>
              <a:t>рост вниз, масса вверх; слайд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429000"/>
            <a:ext cx="360410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E3C"/>
                </a:solidFill>
                <a:latin typeface="Calibri"/>
              </a:rPr>
              <a:t>Конституциональная задержка</a:t>
            </a:r>
          </a:p>
        </p:txBody>
      </p:sp>
      <p:sp>
        <p:nvSpPr>
          <p:cNvPr id="26" name="Конституциональная задержка: норма"/>
          <p:cNvSpPr/>
          <p:nvPr/>
        </p:nvSpPr>
        <p:spPr>
          <a:xfrm>
            <a:off x="808640" y="3917025"/>
            <a:ext cx="3304107" cy="535589"/>
          </a:xfrm>
          <a:custGeom>
            <a:avLst/>
            <a:gdLst/>
            <a:ahLst/>
            <a:cxnLst/>
            <a:rect l="l" t="t" r="r" b="b"/>
            <a:pathLst>
              <a:path w="3304107" h="535589">
                <a:moveTo>
                  <a:pt x="0" y="0"/>
                </a:moveTo>
                <a:lnTo>
                  <a:pt x="3304107" y="0"/>
                </a:lnTo>
                <a:lnTo>
                  <a:pt x="3304107" y="535589"/>
                </a:lnTo>
                <a:lnTo>
                  <a:pt x="0" y="535589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Конституциональная задержка: 0"/>
          <p:cNvSpPr/>
          <p:nvPr/>
        </p:nvSpPr>
        <p:spPr>
          <a:xfrm>
            <a:off x="808640" y="4184820"/>
            <a:ext cx="3304107" cy="0"/>
          </a:xfrm>
          <a:custGeom>
            <a:avLst/>
            <a:gdLst/>
            <a:ahLst/>
            <a:cxnLst/>
            <a:rect l="l" t="t" r="r" b="b"/>
            <a:pathLst>
              <a:path w="3304107">
                <a:moveTo>
                  <a:pt x="0" y="0"/>
                </a:moveTo>
                <a:lnTo>
                  <a:pt x="33041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692550"/>
            <a:ext cx="23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−2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07663"/>
            <a:ext cx="23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22775"/>
            <a:ext cx="23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+2</a:t>
            </a:r>
          </a:p>
        </p:txBody>
      </p:sp>
      <p:sp>
        <p:nvSpPr>
          <p:cNvPr id="31" name="Конституциональная задержка: масса"/>
          <p:cNvSpPr/>
          <p:nvPr/>
        </p:nvSpPr>
        <p:spPr>
          <a:xfrm>
            <a:off x="808640" y="4256041"/>
            <a:ext cx="3304107" cy="199422"/>
          </a:xfrm>
          <a:custGeom>
            <a:avLst/>
            <a:gdLst/>
            <a:ahLst/>
            <a:cxnLst/>
            <a:rect l="l" t="t" r="r" b="b"/>
            <a:pathLst>
              <a:path w="3304107" h="199422">
                <a:moveTo>
                  <a:pt x="0" y="42734"/>
                </a:moveTo>
                <a:lnTo>
                  <a:pt x="99123" y="45582"/>
                </a:lnTo>
                <a:lnTo>
                  <a:pt x="198246" y="48431"/>
                </a:lnTo>
                <a:lnTo>
                  <a:pt x="297369" y="51280"/>
                </a:lnTo>
                <a:lnTo>
                  <a:pt x="396492" y="54129"/>
                </a:lnTo>
                <a:lnTo>
                  <a:pt x="495616" y="56978"/>
                </a:lnTo>
                <a:lnTo>
                  <a:pt x="594739" y="59827"/>
                </a:lnTo>
                <a:lnTo>
                  <a:pt x="693862" y="62676"/>
                </a:lnTo>
                <a:lnTo>
                  <a:pt x="792985" y="65525"/>
                </a:lnTo>
                <a:lnTo>
                  <a:pt x="892109" y="68373"/>
                </a:lnTo>
                <a:lnTo>
                  <a:pt x="991232" y="71222"/>
                </a:lnTo>
                <a:lnTo>
                  <a:pt x="1057314" y="81193"/>
                </a:lnTo>
                <a:lnTo>
                  <a:pt x="1123396" y="91164"/>
                </a:lnTo>
                <a:lnTo>
                  <a:pt x="1189478" y="101135"/>
                </a:lnTo>
                <a:lnTo>
                  <a:pt x="1255560" y="111107"/>
                </a:lnTo>
                <a:lnTo>
                  <a:pt x="1321643" y="121078"/>
                </a:lnTo>
                <a:lnTo>
                  <a:pt x="1387725" y="131049"/>
                </a:lnTo>
                <a:lnTo>
                  <a:pt x="1453807" y="141020"/>
                </a:lnTo>
                <a:lnTo>
                  <a:pt x="1519889" y="150991"/>
                </a:lnTo>
                <a:lnTo>
                  <a:pt x="1585971" y="160962"/>
                </a:lnTo>
                <a:lnTo>
                  <a:pt x="1652053" y="170933"/>
                </a:lnTo>
                <a:lnTo>
                  <a:pt x="1685094" y="173782"/>
                </a:lnTo>
                <a:lnTo>
                  <a:pt x="1718135" y="176631"/>
                </a:lnTo>
                <a:lnTo>
                  <a:pt x="1751176" y="179480"/>
                </a:lnTo>
                <a:lnTo>
                  <a:pt x="1784218" y="182328"/>
                </a:lnTo>
                <a:lnTo>
                  <a:pt x="1817259" y="185177"/>
                </a:lnTo>
                <a:lnTo>
                  <a:pt x="1850300" y="188026"/>
                </a:lnTo>
                <a:lnTo>
                  <a:pt x="1883341" y="190875"/>
                </a:lnTo>
                <a:lnTo>
                  <a:pt x="1916382" y="193724"/>
                </a:lnTo>
                <a:lnTo>
                  <a:pt x="1949423" y="196573"/>
                </a:lnTo>
                <a:lnTo>
                  <a:pt x="1982464" y="199422"/>
                </a:lnTo>
                <a:lnTo>
                  <a:pt x="2048546" y="188026"/>
                </a:lnTo>
                <a:lnTo>
                  <a:pt x="2114628" y="176631"/>
                </a:lnTo>
                <a:lnTo>
                  <a:pt x="2180710" y="165235"/>
                </a:lnTo>
                <a:lnTo>
                  <a:pt x="2246793" y="153840"/>
                </a:lnTo>
                <a:lnTo>
                  <a:pt x="2312875" y="142444"/>
                </a:lnTo>
                <a:lnTo>
                  <a:pt x="2378957" y="131049"/>
                </a:lnTo>
                <a:lnTo>
                  <a:pt x="2445039" y="119653"/>
                </a:lnTo>
                <a:lnTo>
                  <a:pt x="2511121" y="108258"/>
                </a:lnTo>
                <a:lnTo>
                  <a:pt x="2577203" y="96862"/>
                </a:lnTo>
                <a:lnTo>
                  <a:pt x="2643286" y="85467"/>
                </a:lnTo>
                <a:lnTo>
                  <a:pt x="2709368" y="76920"/>
                </a:lnTo>
                <a:lnTo>
                  <a:pt x="2775450" y="68373"/>
                </a:lnTo>
                <a:lnTo>
                  <a:pt x="2841532" y="59827"/>
                </a:lnTo>
                <a:lnTo>
                  <a:pt x="2907614" y="51280"/>
                </a:lnTo>
                <a:lnTo>
                  <a:pt x="2973696" y="42734"/>
                </a:lnTo>
                <a:lnTo>
                  <a:pt x="3039778" y="34187"/>
                </a:lnTo>
                <a:lnTo>
                  <a:pt x="3105861" y="25640"/>
                </a:lnTo>
                <a:lnTo>
                  <a:pt x="3171943" y="17094"/>
                </a:lnTo>
                <a:lnTo>
                  <a:pt x="3238025" y="8547"/>
                </a:lnTo>
                <a:lnTo>
                  <a:pt x="3304107" y="0"/>
                </a:lnTo>
              </a:path>
            </a:pathLst>
          </a:custGeom>
          <a:noFill/>
          <a:ln w="31750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Конституциональная задержка: рост"/>
          <p:cNvSpPr/>
          <p:nvPr/>
        </p:nvSpPr>
        <p:spPr>
          <a:xfrm>
            <a:off x="808640" y="4284530"/>
            <a:ext cx="3304107" cy="213666"/>
          </a:xfrm>
          <a:custGeom>
            <a:avLst/>
            <a:gdLst/>
            <a:ahLst/>
            <a:cxnLst/>
            <a:rect l="l" t="t" r="r" b="b"/>
            <a:pathLst>
              <a:path w="3304107" h="213666">
                <a:moveTo>
                  <a:pt x="0" y="42733"/>
                </a:moveTo>
                <a:lnTo>
                  <a:pt x="99123" y="45582"/>
                </a:lnTo>
                <a:lnTo>
                  <a:pt x="198246" y="48431"/>
                </a:lnTo>
                <a:lnTo>
                  <a:pt x="297369" y="51280"/>
                </a:lnTo>
                <a:lnTo>
                  <a:pt x="396492" y="54129"/>
                </a:lnTo>
                <a:lnTo>
                  <a:pt x="495616" y="56978"/>
                </a:lnTo>
                <a:lnTo>
                  <a:pt x="594739" y="59827"/>
                </a:lnTo>
                <a:lnTo>
                  <a:pt x="693862" y="62675"/>
                </a:lnTo>
                <a:lnTo>
                  <a:pt x="792985" y="65524"/>
                </a:lnTo>
                <a:lnTo>
                  <a:pt x="892109" y="68373"/>
                </a:lnTo>
                <a:lnTo>
                  <a:pt x="991232" y="71222"/>
                </a:lnTo>
                <a:lnTo>
                  <a:pt x="1057314" y="82618"/>
                </a:lnTo>
                <a:lnTo>
                  <a:pt x="1123396" y="94013"/>
                </a:lnTo>
                <a:lnTo>
                  <a:pt x="1189478" y="105409"/>
                </a:lnTo>
                <a:lnTo>
                  <a:pt x="1255560" y="116804"/>
                </a:lnTo>
                <a:lnTo>
                  <a:pt x="1321643" y="128200"/>
                </a:lnTo>
                <a:lnTo>
                  <a:pt x="1387725" y="139595"/>
                </a:lnTo>
                <a:lnTo>
                  <a:pt x="1453807" y="150991"/>
                </a:lnTo>
                <a:lnTo>
                  <a:pt x="1519889" y="162386"/>
                </a:lnTo>
                <a:lnTo>
                  <a:pt x="1585971" y="173782"/>
                </a:lnTo>
                <a:lnTo>
                  <a:pt x="1652053" y="185177"/>
                </a:lnTo>
                <a:lnTo>
                  <a:pt x="1685094" y="188026"/>
                </a:lnTo>
                <a:lnTo>
                  <a:pt x="1718135" y="190875"/>
                </a:lnTo>
                <a:lnTo>
                  <a:pt x="1751176" y="193724"/>
                </a:lnTo>
                <a:lnTo>
                  <a:pt x="1784218" y="196573"/>
                </a:lnTo>
                <a:lnTo>
                  <a:pt x="1817259" y="199421"/>
                </a:lnTo>
                <a:lnTo>
                  <a:pt x="1850300" y="202270"/>
                </a:lnTo>
                <a:lnTo>
                  <a:pt x="1883341" y="205119"/>
                </a:lnTo>
                <a:lnTo>
                  <a:pt x="1916382" y="207968"/>
                </a:lnTo>
                <a:lnTo>
                  <a:pt x="1949423" y="210817"/>
                </a:lnTo>
                <a:lnTo>
                  <a:pt x="1982464" y="213666"/>
                </a:lnTo>
                <a:lnTo>
                  <a:pt x="2048546" y="200846"/>
                </a:lnTo>
                <a:lnTo>
                  <a:pt x="2114628" y="188026"/>
                </a:lnTo>
                <a:lnTo>
                  <a:pt x="2180710" y="175206"/>
                </a:lnTo>
                <a:lnTo>
                  <a:pt x="2246793" y="162386"/>
                </a:lnTo>
                <a:lnTo>
                  <a:pt x="2312875" y="149566"/>
                </a:lnTo>
                <a:lnTo>
                  <a:pt x="2378957" y="136746"/>
                </a:lnTo>
                <a:lnTo>
                  <a:pt x="2445039" y="123926"/>
                </a:lnTo>
                <a:lnTo>
                  <a:pt x="2511121" y="111106"/>
                </a:lnTo>
                <a:lnTo>
                  <a:pt x="2577203" y="98286"/>
                </a:lnTo>
                <a:lnTo>
                  <a:pt x="2643286" y="85466"/>
                </a:lnTo>
                <a:lnTo>
                  <a:pt x="2709368" y="76920"/>
                </a:lnTo>
                <a:lnTo>
                  <a:pt x="2775450" y="68373"/>
                </a:lnTo>
                <a:lnTo>
                  <a:pt x="2841532" y="59827"/>
                </a:lnTo>
                <a:lnTo>
                  <a:pt x="2907614" y="51280"/>
                </a:lnTo>
                <a:lnTo>
                  <a:pt x="2973696" y="42733"/>
                </a:lnTo>
                <a:lnTo>
                  <a:pt x="3039778" y="34187"/>
                </a:lnTo>
                <a:lnTo>
                  <a:pt x="3105861" y="25640"/>
                </a:lnTo>
                <a:lnTo>
                  <a:pt x="3171943" y="17093"/>
                </a:lnTo>
                <a:lnTo>
                  <a:pt x="3238025" y="8547"/>
                </a:lnTo>
                <a:lnTo>
                  <a:pt x="3304107" y="0"/>
                </a:lnTo>
              </a:path>
            </a:pathLst>
          </a:custGeom>
          <a:noFill/>
          <a:ln w="317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640" y="4963483"/>
            <a:ext cx="50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8 лет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2747" y="4963483"/>
            <a:ext cx="50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18 лет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70640"/>
            <a:ext cx="360410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6323A"/>
                </a:solidFill>
                <a:latin typeface="Calibri"/>
              </a:rPr>
              <a:t>отставание и поздний скачок; слайд 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2787" y="3429000"/>
            <a:ext cx="360410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E3C"/>
                </a:solidFill>
                <a:latin typeface="Calibri"/>
              </a:rPr>
              <a:t>Синдром Тернера</a:t>
            </a:r>
          </a:p>
        </p:txBody>
      </p:sp>
      <p:sp>
        <p:nvSpPr>
          <p:cNvPr id="37" name="Синдром Тернера: норма"/>
          <p:cNvSpPr/>
          <p:nvPr/>
        </p:nvSpPr>
        <p:spPr>
          <a:xfrm>
            <a:off x="4732787" y="3917025"/>
            <a:ext cx="3304108" cy="535589"/>
          </a:xfrm>
          <a:custGeom>
            <a:avLst/>
            <a:gdLst/>
            <a:ahLst/>
            <a:cxnLst/>
            <a:rect l="l" t="t" r="r" b="b"/>
            <a:pathLst>
              <a:path w="3304108" h="535589">
                <a:moveTo>
                  <a:pt x="0" y="0"/>
                </a:moveTo>
                <a:lnTo>
                  <a:pt x="3304108" y="0"/>
                </a:lnTo>
                <a:lnTo>
                  <a:pt x="3304108" y="535589"/>
                </a:lnTo>
                <a:lnTo>
                  <a:pt x="0" y="535589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Синдром Тернера: 0"/>
          <p:cNvSpPr/>
          <p:nvPr/>
        </p:nvSpPr>
        <p:spPr>
          <a:xfrm>
            <a:off x="4732787" y="4184820"/>
            <a:ext cx="3304108" cy="0"/>
          </a:xfrm>
          <a:custGeom>
            <a:avLst/>
            <a:gdLst/>
            <a:ahLst/>
            <a:cxnLst/>
            <a:rect l="l" t="t" r="r" b="b"/>
            <a:pathLst>
              <a:path w="3304108">
                <a:moveTo>
                  <a:pt x="0" y="0"/>
                </a:moveTo>
                <a:lnTo>
                  <a:pt x="33041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72787" y="4692550"/>
            <a:ext cx="23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−2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72787" y="4407663"/>
            <a:ext cx="23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2787" y="4122775"/>
            <a:ext cx="23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+2</a:t>
            </a:r>
          </a:p>
        </p:txBody>
      </p:sp>
      <p:sp>
        <p:nvSpPr>
          <p:cNvPr id="42" name="Синдром Тернера: масса"/>
          <p:cNvSpPr/>
          <p:nvPr/>
        </p:nvSpPr>
        <p:spPr>
          <a:xfrm>
            <a:off x="4732787" y="4227553"/>
            <a:ext cx="3304108" cy="14244"/>
          </a:xfrm>
          <a:custGeom>
            <a:avLst/>
            <a:gdLst/>
            <a:ahLst/>
            <a:cxnLst/>
            <a:rect l="l" t="t" r="r" b="b"/>
            <a:pathLst>
              <a:path w="3304108" h="14244">
                <a:moveTo>
                  <a:pt x="0" y="0"/>
                </a:moveTo>
                <a:lnTo>
                  <a:pt x="90112" y="1424"/>
                </a:lnTo>
                <a:lnTo>
                  <a:pt x="180224" y="2849"/>
                </a:lnTo>
                <a:lnTo>
                  <a:pt x="270336" y="4273"/>
                </a:lnTo>
                <a:lnTo>
                  <a:pt x="360448" y="5697"/>
                </a:lnTo>
                <a:lnTo>
                  <a:pt x="450560" y="7122"/>
                </a:lnTo>
                <a:lnTo>
                  <a:pt x="540672" y="8546"/>
                </a:lnTo>
                <a:lnTo>
                  <a:pt x="630784" y="9971"/>
                </a:lnTo>
                <a:lnTo>
                  <a:pt x="720896" y="11395"/>
                </a:lnTo>
                <a:lnTo>
                  <a:pt x="811008" y="12820"/>
                </a:lnTo>
                <a:lnTo>
                  <a:pt x="901120" y="14244"/>
                </a:lnTo>
                <a:lnTo>
                  <a:pt x="991232" y="14244"/>
                </a:lnTo>
                <a:lnTo>
                  <a:pt x="1081344" y="14244"/>
                </a:lnTo>
                <a:lnTo>
                  <a:pt x="1171456" y="14244"/>
                </a:lnTo>
                <a:lnTo>
                  <a:pt x="1261568" y="14244"/>
                </a:lnTo>
                <a:lnTo>
                  <a:pt x="1351680" y="14244"/>
                </a:lnTo>
                <a:lnTo>
                  <a:pt x="1441792" y="14244"/>
                </a:lnTo>
                <a:lnTo>
                  <a:pt x="1531904" y="14244"/>
                </a:lnTo>
                <a:lnTo>
                  <a:pt x="1622016" y="14244"/>
                </a:lnTo>
                <a:lnTo>
                  <a:pt x="1712128" y="14244"/>
                </a:lnTo>
                <a:lnTo>
                  <a:pt x="1802240" y="14244"/>
                </a:lnTo>
                <a:lnTo>
                  <a:pt x="1892352" y="12820"/>
                </a:lnTo>
                <a:lnTo>
                  <a:pt x="1982465" y="11395"/>
                </a:lnTo>
                <a:lnTo>
                  <a:pt x="2072577" y="9971"/>
                </a:lnTo>
                <a:lnTo>
                  <a:pt x="2162689" y="8546"/>
                </a:lnTo>
                <a:lnTo>
                  <a:pt x="2252801" y="7122"/>
                </a:lnTo>
                <a:lnTo>
                  <a:pt x="2342913" y="5697"/>
                </a:lnTo>
                <a:lnTo>
                  <a:pt x="2433025" y="4273"/>
                </a:lnTo>
                <a:lnTo>
                  <a:pt x="2523137" y="2849"/>
                </a:lnTo>
                <a:lnTo>
                  <a:pt x="2613249" y="1424"/>
                </a:lnTo>
                <a:lnTo>
                  <a:pt x="2703361" y="0"/>
                </a:lnTo>
                <a:lnTo>
                  <a:pt x="2763435" y="0"/>
                </a:lnTo>
                <a:lnTo>
                  <a:pt x="2823510" y="0"/>
                </a:lnTo>
                <a:lnTo>
                  <a:pt x="2883585" y="0"/>
                </a:lnTo>
                <a:lnTo>
                  <a:pt x="2943659" y="0"/>
                </a:lnTo>
                <a:lnTo>
                  <a:pt x="3003734" y="0"/>
                </a:lnTo>
                <a:lnTo>
                  <a:pt x="3063809" y="0"/>
                </a:lnTo>
                <a:lnTo>
                  <a:pt x="3123883" y="0"/>
                </a:lnTo>
                <a:lnTo>
                  <a:pt x="3183958" y="0"/>
                </a:lnTo>
                <a:lnTo>
                  <a:pt x="3244033" y="0"/>
                </a:lnTo>
                <a:lnTo>
                  <a:pt x="3304108" y="0"/>
                </a:lnTo>
              </a:path>
            </a:pathLst>
          </a:custGeom>
          <a:noFill/>
          <a:ln w="31750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Синдром Тернера: рост"/>
          <p:cNvSpPr/>
          <p:nvPr/>
        </p:nvSpPr>
        <p:spPr>
          <a:xfrm>
            <a:off x="4732787" y="4298775"/>
            <a:ext cx="3304108" cy="327620"/>
          </a:xfrm>
          <a:custGeom>
            <a:avLst/>
            <a:gdLst/>
            <a:ahLst/>
            <a:cxnLst/>
            <a:rect l="l" t="t" r="r" b="b"/>
            <a:pathLst>
              <a:path w="3304108" h="327620">
                <a:moveTo>
                  <a:pt x="0" y="0"/>
                </a:moveTo>
                <a:lnTo>
                  <a:pt x="90112" y="9971"/>
                </a:lnTo>
                <a:lnTo>
                  <a:pt x="180224" y="19942"/>
                </a:lnTo>
                <a:lnTo>
                  <a:pt x="270336" y="29913"/>
                </a:lnTo>
                <a:lnTo>
                  <a:pt x="360448" y="39884"/>
                </a:lnTo>
                <a:lnTo>
                  <a:pt x="450560" y="49855"/>
                </a:lnTo>
                <a:lnTo>
                  <a:pt x="540672" y="59826"/>
                </a:lnTo>
                <a:lnTo>
                  <a:pt x="630784" y="69797"/>
                </a:lnTo>
                <a:lnTo>
                  <a:pt x="720896" y="79768"/>
                </a:lnTo>
                <a:lnTo>
                  <a:pt x="811008" y="89739"/>
                </a:lnTo>
                <a:lnTo>
                  <a:pt x="901120" y="99710"/>
                </a:lnTo>
                <a:lnTo>
                  <a:pt x="991232" y="109681"/>
                </a:lnTo>
                <a:lnTo>
                  <a:pt x="1081344" y="119652"/>
                </a:lnTo>
                <a:lnTo>
                  <a:pt x="1171456" y="129623"/>
                </a:lnTo>
                <a:lnTo>
                  <a:pt x="1261568" y="139594"/>
                </a:lnTo>
                <a:lnTo>
                  <a:pt x="1351680" y="149565"/>
                </a:lnTo>
                <a:lnTo>
                  <a:pt x="1441792" y="159537"/>
                </a:lnTo>
                <a:lnTo>
                  <a:pt x="1531904" y="169508"/>
                </a:lnTo>
                <a:lnTo>
                  <a:pt x="1622016" y="179479"/>
                </a:lnTo>
                <a:lnTo>
                  <a:pt x="1712128" y="189450"/>
                </a:lnTo>
                <a:lnTo>
                  <a:pt x="1802240" y="199421"/>
                </a:lnTo>
                <a:lnTo>
                  <a:pt x="1892352" y="207967"/>
                </a:lnTo>
                <a:lnTo>
                  <a:pt x="1982465" y="216514"/>
                </a:lnTo>
                <a:lnTo>
                  <a:pt x="2072577" y="225061"/>
                </a:lnTo>
                <a:lnTo>
                  <a:pt x="2162689" y="233607"/>
                </a:lnTo>
                <a:lnTo>
                  <a:pt x="2252801" y="242154"/>
                </a:lnTo>
                <a:lnTo>
                  <a:pt x="2342913" y="250701"/>
                </a:lnTo>
                <a:lnTo>
                  <a:pt x="2433025" y="259247"/>
                </a:lnTo>
                <a:lnTo>
                  <a:pt x="2523137" y="267794"/>
                </a:lnTo>
                <a:lnTo>
                  <a:pt x="2613249" y="276340"/>
                </a:lnTo>
                <a:lnTo>
                  <a:pt x="2703361" y="284887"/>
                </a:lnTo>
                <a:lnTo>
                  <a:pt x="2763435" y="289160"/>
                </a:lnTo>
                <a:lnTo>
                  <a:pt x="2823510" y="293434"/>
                </a:lnTo>
                <a:lnTo>
                  <a:pt x="2883585" y="297707"/>
                </a:lnTo>
                <a:lnTo>
                  <a:pt x="2943659" y="301980"/>
                </a:lnTo>
                <a:lnTo>
                  <a:pt x="3003734" y="306254"/>
                </a:lnTo>
                <a:lnTo>
                  <a:pt x="3063809" y="310527"/>
                </a:lnTo>
                <a:lnTo>
                  <a:pt x="3123883" y="314800"/>
                </a:lnTo>
                <a:lnTo>
                  <a:pt x="3183958" y="319074"/>
                </a:lnTo>
                <a:lnTo>
                  <a:pt x="3244033" y="323347"/>
                </a:lnTo>
                <a:lnTo>
                  <a:pt x="3304108" y="327620"/>
                </a:lnTo>
              </a:path>
            </a:pathLst>
          </a:custGeom>
          <a:noFill/>
          <a:ln w="317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32787" y="4963483"/>
            <a:ext cx="50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2 лет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6895" y="4963483"/>
            <a:ext cx="500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13 лет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72787" y="4870640"/>
            <a:ext cx="360410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26323A"/>
                </a:solidFill>
                <a:latin typeface="Calibri"/>
              </a:rPr>
              <a:t>постепенный</a:t>
            </a:r>
            <a:r>
              <a:rPr sz="1100" b="0" i="0" dirty="0">
                <a:solidFill>
                  <a:srgbClr val="26323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6323A"/>
                </a:solidFill>
                <a:latin typeface="Calibri"/>
              </a:rPr>
              <a:t>уход</a:t>
            </a:r>
            <a:r>
              <a:rPr sz="1100" b="0" i="0" dirty="0">
                <a:solidFill>
                  <a:srgbClr val="26323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6323A"/>
                </a:solidFill>
                <a:latin typeface="Calibri"/>
              </a:rPr>
              <a:t>вниз</a:t>
            </a:r>
            <a:r>
              <a:rPr sz="1100" b="0" i="0" dirty="0">
                <a:solidFill>
                  <a:srgbClr val="26323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6323A"/>
                </a:solidFill>
                <a:latin typeface="Calibri"/>
              </a:rPr>
              <a:t>от</a:t>
            </a:r>
            <a:r>
              <a:rPr sz="1100" b="0" i="0" dirty="0">
                <a:solidFill>
                  <a:srgbClr val="26323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6323A"/>
                </a:solidFill>
                <a:latin typeface="Calibri"/>
              </a:rPr>
              <a:t>центилей</a:t>
            </a:r>
            <a:r>
              <a:rPr sz="1100" b="0" i="0" dirty="0">
                <a:solidFill>
                  <a:srgbClr val="26323A"/>
                </a:solidFill>
                <a:latin typeface="Calibri"/>
              </a:rPr>
              <a:t>; </a:t>
            </a:r>
            <a:r>
              <a:rPr sz="1100" b="0" i="0" dirty="0" err="1">
                <a:solidFill>
                  <a:srgbClr val="26323A"/>
                </a:solidFill>
                <a:latin typeface="Calibri"/>
              </a:rPr>
              <a:t>слайд</a:t>
            </a:r>
            <a:r>
              <a:rPr sz="1100" b="0" i="0" dirty="0">
                <a:solidFill>
                  <a:srgbClr val="26323A"/>
                </a:solidFill>
                <a:latin typeface="Calibri"/>
              </a:rPr>
              <a:t> 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239512"/>
            <a:ext cx="274320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Легенда"/>
          <p:cNvSpPr txBox="1"/>
          <p:nvPr/>
        </p:nvSpPr>
        <p:spPr>
          <a:xfrm>
            <a:off x="896112" y="5175504"/>
            <a:ext cx="14630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рост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5239512"/>
            <a:ext cx="274320" cy="91440"/>
          </a:xfrm>
          <a:prstGeom prst="rect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Легенда"/>
          <p:cNvSpPr txBox="1"/>
          <p:nvPr/>
        </p:nvSpPr>
        <p:spPr>
          <a:xfrm>
            <a:off x="2724912" y="5175504"/>
            <a:ext cx="14630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масса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5239512"/>
            <a:ext cx="274320" cy="9144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Легенда"/>
          <p:cNvSpPr txBox="1"/>
          <p:nvPr/>
        </p:nvSpPr>
        <p:spPr>
          <a:xfrm>
            <a:off x="4553712" y="5175504"/>
            <a:ext cx="14630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коридор нормы</a:t>
            </a:r>
          </a:p>
        </p:txBody>
      </p:sp>
      <p:sp>
        <p:nvSpPr>
          <p:cNvPr id="55" name="Доказательность и источник"/>
          <p:cNvSpPr txBox="1"/>
          <p:nvPr/>
        </p:nvSpPr>
        <p:spPr>
          <a:xfrm>
            <a:off x="369736" y="6272251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 err="1">
                <a:solidFill>
                  <a:srgbClr val="66737C"/>
                </a:solidFill>
                <a:latin typeface="Calibri"/>
              </a:rPr>
              <a:t>Mameli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C et al. Ital J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2026;52(1), PMID 41723458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Одно измерение роста мало что говорит, решает скорость роста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Скорость роста меняется раньше, чем рост становится заметно низким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Рост в СО: число стандартных отклонений от средней для возраста и пола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Пересечение центилей вниз: рост в СО падает, ребёнок растёт медленнее сверстников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Порог низкорослости: −2 СО в 28 из 42 работ, центильный (чаще 3-й) в 19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Целевой рост: средний рост родителей, мальчикам плюс 6,5 см, девочкам минус 6,5 см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369736" y="6196953"/>
            <a:ext cx="10454335" cy="2769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900" b="0" i="0" dirty="0" err="1">
                <a:solidFill>
                  <a:srgbClr val="66737C"/>
                </a:solidFill>
                <a:latin typeface="Calibri"/>
              </a:rPr>
              <a:t>Mameli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C et al. Ital J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2026;52(1), PMID 41723458 (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описание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метода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Таннера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: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среднее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роста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родителей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±6,5 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см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); Tanner JM et al. Arch Dis Child 1970;45:755–⁠62 (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центильные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таблицы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с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поправкой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на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рост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родителей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Костный возраст показывает запас роста, но причину не называет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Тяжёлый приобретённый гипотиреоз: отставание в среднем 5,2 года у девочек, 4,2 года у мальчиков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Конституциональная задержка роста и пубертата: костный возраст тоже отстаёт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Отставание бывает и у здоровых низкорослых детей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414690" y="6318504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 err="1">
                <a:solidFill>
                  <a:srgbClr val="66737C"/>
                </a:solidFill>
                <a:latin typeface="Calibri"/>
              </a:rPr>
              <a:t>Rivkees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SA et al. N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Engl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J Med 1988;318:599–⁠602;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Persani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L et al. Endocrine 2021;71:681–⁠8; Martin DD et al.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Res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Paediatr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2011;76:1–⁠9</a:t>
            </a:r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При приобретённом гипотиреозе отставание в росте бывает первым признаком</a:t>
            </a:r>
          </a:p>
        </p:txBody>
      </p:sp>
      <p:sp>
        <p:nvSpPr>
          <p:cNvPr id="3" name="height: полоса 3–97"/>
          <p:cNvSpPr/>
          <p:nvPr/>
        </p:nvSpPr>
        <p:spPr>
          <a:xfrm>
            <a:off x="548640" y="2288627"/>
            <a:ext cx="6446560" cy="916447"/>
          </a:xfrm>
          <a:custGeom>
            <a:avLst/>
            <a:gdLst/>
            <a:ahLst/>
            <a:cxnLst/>
            <a:rect l="l" t="t" r="r" b="b"/>
            <a:pathLst>
              <a:path w="6446560" h="916447">
                <a:moveTo>
                  <a:pt x="0" y="703570"/>
                </a:moveTo>
                <a:lnTo>
                  <a:pt x="107442" y="690914"/>
                </a:lnTo>
                <a:lnTo>
                  <a:pt x="214885" y="678450"/>
                </a:lnTo>
                <a:lnTo>
                  <a:pt x="322328" y="666172"/>
                </a:lnTo>
                <a:lnTo>
                  <a:pt x="429770" y="654078"/>
                </a:lnTo>
                <a:lnTo>
                  <a:pt x="537213" y="642163"/>
                </a:lnTo>
                <a:lnTo>
                  <a:pt x="644656" y="630425"/>
                </a:lnTo>
                <a:lnTo>
                  <a:pt x="752098" y="618859"/>
                </a:lnTo>
                <a:lnTo>
                  <a:pt x="859541" y="607461"/>
                </a:lnTo>
                <a:lnTo>
                  <a:pt x="966983" y="596227"/>
                </a:lnTo>
                <a:lnTo>
                  <a:pt x="1074426" y="585154"/>
                </a:lnTo>
                <a:lnTo>
                  <a:pt x="1181869" y="574237"/>
                </a:lnTo>
                <a:lnTo>
                  <a:pt x="1289312" y="563471"/>
                </a:lnTo>
                <a:lnTo>
                  <a:pt x="1396754" y="552852"/>
                </a:lnTo>
                <a:lnTo>
                  <a:pt x="1504197" y="542374"/>
                </a:lnTo>
                <a:lnTo>
                  <a:pt x="1611640" y="532033"/>
                </a:lnTo>
                <a:lnTo>
                  <a:pt x="1719082" y="521823"/>
                </a:lnTo>
                <a:lnTo>
                  <a:pt x="1826525" y="511737"/>
                </a:lnTo>
                <a:lnTo>
                  <a:pt x="1933968" y="501770"/>
                </a:lnTo>
                <a:lnTo>
                  <a:pt x="2041410" y="491913"/>
                </a:lnTo>
                <a:lnTo>
                  <a:pt x="2148853" y="482159"/>
                </a:lnTo>
                <a:lnTo>
                  <a:pt x="2256296" y="472499"/>
                </a:lnTo>
                <a:lnTo>
                  <a:pt x="2363738" y="462924"/>
                </a:lnTo>
                <a:lnTo>
                  <a:pt x="2471181" y="453423"/>
                </a:lnTo>
                <a:lnTo>
                  <a:pt x="2578624" y="443983"/>
                </a:lnTo>
                <a:lnTo>
                  <a:pt x="2686066" y="434592"/>
                </a:lnTo>
                <a:lnTo>
                  <a:pt x="2793509" y="425235"/>
                </a:lnTo>
                <a:lnTo>
                  <a:pt x="2900952" y="415896"/>
                </a:lnTo>
                <a:lnTo>
                  <a:pt x="3008394" y="406555"/>
                </a:lnTo>
                <a:lnTo>
                  <a:pt x="3115837" y="397192"/>
                </a:lnTo>
                <a:lnTo>
                  <a:pt x="3223280" y="387784"/>
                </a:lnTo>
                <a:lnTo>
                  <a:pt x="3330722" y="378305"/>
                </a:lnTo>
                <a:lnTo>
                  <a:pt x="3438165" y="368728"/>
                </a:lnTo>
                <a:lnTo>
                  <a:pt x="3545607" y="359020"/>
                </a:lnTo>
                <a:lnTo>
                  <a:pt x="3653050" y="349149"/>
                </a:lnTo>
                <a:lnTo>
                  <a:pt x="3760493" y="339077"/>
                </a:lnTo>
                <a:lnTo>
                  <a:pt x="3867936" y="328764"/>
                </a:lnTo>
                <a:lnTo>
                  <a:pt x="3975378" y="318169"/>
                </a:lnTo>
                <a:lnTo>
                  <a:pt x="4082821" y="307248"/>
                </a:lnTo>
                <a:lnTo>
                  <a:pt x="4190264" y="295960"/>
                </a:lnTo>
                <a:lnTo>
                  <a:pt x="4297706" y="284259"/>
                </a:lnTo>
                <a:lnTo>
                  <a:pt x="4405149" y="272108"/>
                </a:lnTo>
                <a:lnTo>
                  <a:pt x="4512592" y="259472"/>
                </a:lnTo>
                <a:lnTo>
                  <a:pt x="4620034" y="246325"/>
                </a:lnTo>
                <a:lnTo>
                  <a:pt x="4727477" y="232652"/>
                </a:lnTo>
                <a:lnTo>
                  <a:pt x="4834920" y="218454"/>
                </a:lnTo>
                <a:lnTo>
                  <a:pt x="4942362" y="203749"/>
                </a:lnTo>
                <a:lnTo>
                  <a:pt x="5049805" y="188577"/>
                </a:lnTo>
                <a:lnTo>
                  <a:pt x="5157248" y="173001"/>
                </a:lnTo>
                <a:lnTo>
                  <a:pt x="5264690" y="157112"/>
                </a:lnTo>
                <a:lnTo>
                  <a:pt x="5372133" y="141019"/>
                </a:lnTo>
                <a:lnTo>
                  <a:pt x="5479576" y="124856"/>
                </a:lnTo>
                <a:lnTo>
                  <a:pt x="5587018" y="108771"/>
                </a:lnTo>
                <a:lnTo>
                  <a:pt x="5694461" y="92921"/>
                </a:lnTo>
                <a:lnTo>
                  <a:pt x="5801903" y="77465"/>
                </a:lnTo>
                <a:lnTo>
                  <a:pt x="5909346" y="62552"/>
                </a:lnTo>
                <a:lnTo>
                  <a:pt x="6016789" y="48318"/>
                </a:lnTo>
                <a:lnTo>
                  <a:pt x="6124232" y="34875"/>
                </a:lnTo>
                <a:lnTo>
                  <a:pt x="6231674" y="22308"/>
                </a:lnTo>
                <a:lnTo>
                  <a:pt x="6339117" y="10674"/>
                </a:lnTo>
                <a:lnTo>
                  <a:pt x="6446560" y="0"/>
                </a:lnTo>
                <a:lnTo>
                  <a:pt x="6446560" y="308671"/>
                </a:lnTo>
                <a:lnTo>
                  <a:pt x="6339117" y="317748"/>
                </a:lnTo>
                <a:lnTo>
                  <a:pt x="6231674" y="327786"/>
                </a:lnTo>
                <a:lnTo>
                  <a:pt x="6124232" y="338756"/>
                </a:lnTo>
                <a:lnTo>
                  <a:pt x="6016789" y="350603"/>
                </a:lnTo>
                <a:lnTo>
                  <a:pt x="5909346" y="363241"/>
                </a:lnTo>
                <a:lnTo>
                  <a:pt x="5801903" y="376557"/>
                </a:lnTo>
                <a:lnTo>
                  <a:pt x="5694461" y="390416"/>
                </a:lnTo>
                <a:lnTo>
                  <a:pt x="5587018" y="404669"/>
                </a:lnTo>
                <a:lnTo>
                  <a:pt x="5479576" y="419158"/>
                </a:lnTo>
                <a:lnTo>
                  <a:pt x="5372133" y="433724"/>
                </a:lnTo>
                <a:lnTo>
                  <a:pt x="5264690" y="448220"/>
                </a:lnTo>
                <a:lnTo>
                  <a:pt x="5157248" y="462514"/>
                </a:lnTo>
                <a:lnTo>
                  <a:pt x="5049805" y="476492"/>
                </a:lnTo>
                <a:lnTo>
                  <a:pt x="4942362" y="490068"/>
                </a:lnTo>
                <a:lnTo>
                  <a:pt x="4834920" y="503176"/>
                </a:lnTo>
                <a:lnTo>
                  <a:pt x="4727477" y="515778"/>
                </a:lnTo>
                <a:lnTo>
                  <a:pt x="4620034" y="527855"/>
                </a:lnTo>
                <a:lnTo>
                  <a:pt x="4512592" y="539405"/>
                </a:lnTo>
                <a:lnTo>
                  <a:pt x="4405149" y="550445"/>
                </a:lnTo>
                <a:lnTo>
                  <a:pt x="4297706" y="560999"/>
                </a:lnTo>
                <a:lnTo>
                  <a:pt x="4190264" y="571103"/>
                </a:lnTo>
                <a:lnTo>
                  <a:pt x="4082821" y="580795"/>
                </a:lnTo>
                <a:lnTo>
                  <a:pt x="3975378" y="590119"/>
                </a:lnTo>
                <a:lnTo>
                  <a:pt x="3867936" y="599117"/>
                </a:lnTo>
                <a:lnTo>
                  <a:pt x="3760493" y="607833"/>
                </a:lnTo>
                <a:lnTo>
                  <a:pt x="3653050" y="616309"/>
                </a:lnTo>
                <a:lnTo>
                  <a:pt x="3545607" y="624584"/>
                </a:lnTo>
                <a:lnTo>
                  <a:pt x="3438165" y="632695"/>
                </a:lnTo>
                <a:lnTo>
                  <a:pt x="3330722" y="640676"/>
                </a:lnTo>
                <a:lnTo>
                  <a:pt x="3223280" y="648558"/>
                </a:lnTo>
                <a:lnTo>
                  <a:pt x="3115837" y="656369"/>
                </a:lnTo>
                <a:lnTo>
                  <a:pt x="3008394" y="664135"/>
                </a:lnTo>
                <a:lnTo>
                  <a:pt x="2900952" y="671880"/>
                </a:lnTo>
                <a:lnTo>
                  <a:pt x="2793509" y="679623"/>
                </a:lnTo>
                <a:lnTo>
                  <a:pt x="2686066" y="687383"/>
                </a:lnTo>
                <a:lnTo>
                  <a:pt x="2578624" y="695178"/>
                </a:lnTo>
                <a:lnTo>
                  <a:pt x="2471181" y="703021"/>
                </a:lnTo>
                <a:lnTo>
                  <a:pt x="2363738" y="710925"/>
                </a:lnTo>
                <a:lnTo>
                  <a:pt x="2256296" y="718904"/>
                </a:lnTo>
                <a:lnTo>
                  <a:pt x="2148853" y="726967"/>
                </a:lnTo>
                <a:lnTo>
                  <a:pt x="2041410" y="735125"/>
                </a:lnTo>
                <a:lnTo>
                  <a:pt x="1933968" y="743385"/>
                </a:lnTo>
                <a:lnTo>
                  <a:pt x="1826525" y="751756"/>
                </a:lnTo>
                <a:lnTo>
                  <a:pt x="1719082" y="760245"/>
                </a:lnTo>
                <a:lnTo>
                  <a:pt x="1611640" y="768858"/>
                </a:lnTo>
                <a:lnTo>
                  <a:pt x="1504197" y="777603"/>
                </a:lnTo>
                <a:lnTo>
                  <a:pt x="1396754" y="786484"/>
                </a:lnTo>
                <a:lnTo>
                  <a:pt x="1289312" y="795506"/>
                </a:lnTo>
                <a:lnTo>
                  <a:pt x="1181869" y="804676"/>
                </a:lnTo>
                <a:lnTo>
                  <a:pt x="1074426" y="813996"/>
                </a:lnTo>
                <a:lnTo>
                  <a:pt x="966983" y="823473"/>
                </a:lnTo>
                <a:lnTo>
                  <a:pt x="859541" y="833110"/>
                </a:lnTo>
                <a:lnTo>
                  <a:pt x="752098" y="842911"/>
                </a:lnTo>
                <a:lnTo>
                  <a:pt x="644656" y="852881"/>
                </a:lnTo>
                <a:lnTo>
                  <a:pt x="537213" y="863023"/>
                </a:lnTo>
                <a:lnTo>
                  <a:pt x="429770" y="873341"/>
                </a:lnTo>
                <a:lnTo>
                  <a:pt x="322328" y="883838"/>
                </a:lnTo>
                <a:lnTo>
                  <a:pt x="214885" y="894519"/>
                </a:lnTo>
                <a:lnTo>
                  <a:pt x="107442" y="905388"/>
                </a:lnTo>
                <a:lnTo>
                  <a:pt x="0" y="916447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ight: 3-й центиль"/>
          <p:cNvSpPr/>
          <p:nvPr/>
        </p:nvSpPr>
        <p:spPr>
          <a:xfrm>
            <a:off x="548640" y="2597298"/>
            <a:ext cx="6446560" cy="607776"/>
          </a:xfrm>
          <a:custGeom>
            <a:avLst/>
            <a:gdLst/>
            <a:ahLst/>
            <a:cxnLst/>
            <a:rect l="l" t="t" r="r" b="b"/>
            <a:pathLst>
              <a:path w="6446560" h="607776">
                <a:moveTo>
                  <a:pt x="0" y="607776"/>
                </a:moveTo>
                <a:lnTo>
                  <a:pt x="107442" y="596717"/>
                </a:lnTo>
                <a:lnTo>
                  <a:pt x="214885" y="585848"/>
                </a:lnTo>
                <a:lnTo>
                  <a:pt x="322328" y="575167"/>
                </a:lnTo>
                <a:lnTo>
                  <a:pt x="429770" y="564670"/>
                </a:lnTo>
                <a:lnTo>
                  <a:pt x="537213" y="554352"/>
                </a:lnTo>
                <a:lnTo>
                  <a:pt x="644656" y="544210"/>
                </a:lnTo>
                <a:lnTo>
                  <a:pt x="752098" y="534240"/>
                </a:lnTo>
                <a:lnTo>
                  <a:pt x="859541" y="524439"/>
                </a:lnTo>
                <a:lnTo>
                  <a:pt x="966983" y="514802"/>
                </a:lnTo>
                <a:lnTo>
                  <a:pt x="1074426" y="505325"/>
                </a:lnTo>
                <a:lnTo>
                  <a:pt x="1181869" y="496005"/>
                </a:lnTo>
                <a:lnTo>
                  <a:pt x="1289312" y="486835"/>
                </a:lnTo>
                <a:lnTo>
                  <a:pt x="1396754" y="477813"/>
                </a:lnTo>
                <a:lnTo>
                  <a:pt x="1504197" y="468932"/>
                </a:lnTo>
                <a:lnTo>
                  <a:pt x="1611640" y="460187"/>
                </a:lnTo>
                <a:lnTo>
                  <a:pt x="1719082" y="451574"/>
                </a:lnTo>
                <a:lnTo>
                  <a:pt x="1826525" y="443085"/>
                </a:lnTo>
                <a:lnTo>
                  <a:pt x="1933968" y="434714"/>
                </a:lnTo>
                <a:lnTo>
                  <a:pt x="2041410" y="426454"/>
                </a:lnTo>
                <a:lnTo>
                  <a:pt x="2148853" y="418296"/>
                </a:lnTo>
                <a:lnTo>
                  <a:pt x="2256296" y="410233"/>
                </a:lnTo>
                <a:lnTo>
                  <a:pt x="2363738" y="402254"/>
                </a:lnTo>
                <a:lnTo>
                  <a:pt x="2471181" y="394350"/>
                </a:lnTo>
                <a:lnTo>
                  <a:pt x="2578624" y="386507"/>
                </a:lnTo>
                <a:lnTo>
                  <a:pt x="2686066" y="378712"/>
                </a:lnTo>
                <a:lnTo>
                  <a:pt x="2793509" y="370952"/>
                </a:lnTo>
                <a:lnTo>
                  <a:pt x="2900952" y="363209"/>
                </a:lnTo>
                <a:lnTo>
                  <a:pt x="3008394" y="355464"/>
                </a:lnTo>
                <a:lnTo>
                  <a:pt x="3115837" y="347698"/>
                </a:lnTo>
                <a:lnTo>
                  <a:pt x="3223280" y="339887"/>
                </a:lnTo>
                <a:lnTo>
                  <a:pt x="3330722" y="332005"/>
                </a:lnTo>
                <a:lnTo>
                  <a:pt x="3438165" y="324024"/>
                </a:lnTo>
                <a:lnTo>
                  <a:pt x="3545607" y="315913"/>
                </a:lnTo>
                <a:lnTo>
                  <a:pt x="3653050" y="307638"/>
                </a:lnTo>
                <a:lnTo>
                  <a:pt x="3760493" y="299162"/>
                </a:lnTo>
                <a:lnTo>
                  <a:pt x="3867936" y="290446"/>
                </a:lnTo>
                <a:lnTo>
                  <a:pt x="3975378" y="281448"/>
                </a:lnTo>
                <a:lnTo>
                  <a:pt x="4082821" y="272124"/>
                </a:lnTo>
                <a:lnTo>
                  <a:pt x="4190264" y="262432"/>
                </a:lnTo>
                <a:lnTo>
                  <a:pt x="4297706" y="252328"/>
                </a:lnTo>
                <a:lnTo>
                  <a:pt x="4405149" y="241774"/>
                </a:lnTo>
                <a:lnTo>
                  <a:pt x="4512592" y="230734"/>
                </a:lnTo>
                <a:lnTo>
                  <a:pt x="4620034" y="219184"/>
                </a:lnTo>
                <a:lnTo>
                  <a:pt x="4727477" y="207107"/>
                </a:lnTo>
                <a:lnTo>
                  <a:pt x="4834920" y="194505"/>
                </a:lnTo>
                <a:lnTo>
                  <a:pt x="4942362" y="181397"/>
                </a:lnTo>
                <a:lnTo>
                  <a:pt x="5049805" y="167821"/>
                </a:lnTo>
                <a:lnTo>
                  <a:pt x="5157248" y="153843"/>
                </a:lnTo>
                <a:lnTo>
                  <a:pt x="5264690" y="139549"/>
                </a:lnTo>
                <a:lnTo>
                  <a:pt x="5372133" y="125053"/>
                </a:lnTo>
                <a:lnTo>
                  <a:pt x="5479576" y="110487"/>
                </a:lnTo>
                <a:lnTo>
                  <a:pt x="5587018" y="95998"/>
                </a:lnTo>
                <a:lnTo>
                  <a:pt x="5694461" y="81745"/>
                </a:lnTo>
                <a:lnTo>
                  <a:pt x="5801903" y="67886"/>
                </a:lnTo>
                <a:lnTo>
                  <a:pt x="5909346" y="54570"/>
                </a:lnTo>
                <a:lnTo>
                  <a:pt x="6016789" y="41932"/>
                </a:lnTo>
                <a:lnTo>
                  <a:pt x="6124232" y="30085"/>
                </a:lnTo>
                <a:lnTo>
                  <a:pt x="6231674" y="19115"/>
                </a:lnTo>
                <a:lnTo>
                  <a:pt x="6339117" y="9077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35200" y="2517298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6" name="height: 50-й центиль"/>
          <p:cNvSpPr/>
          <p:nvPr/>
        </p:nvSpPr>
        <p:spPr>
          <a:xfrm>
            <a:off x="548640" y="2442963"/>
            <a:ext cx="6446560" cy="655672"/>
          </a:xfrm>
          <a:custGeom>
            <a:avLst/>
            <a:gdLst/>
            <a:ahLst/>
            <a:cxnLst/>
            <a:rect l="l" t="t" r="r" b="b"/>
            <a:pathLst>
              <a:path w="6446560" h="655672">
                <a:moveTo>
                  <a:pt x="0" y="655672"/>
                </a:moveTo>
                <a:lnTo>
                  <a:pt x="107442" y="643815"/>
                </a:lnTo>
                <a:lnTo>
                  <a:pt x="214885" y="632149"/>
                </a:lnTo>
                <a:lnTo>
                  <a:pt x="322328" y="620669"/>
                </a:lnTo>
                <a:lnTo>
                  <a:pt x="429770" y="609373"/>
                </a:lnTo>
                <a:lnTo>
                  <a:pt x="537213" y="598257"/>
                </a:lnTo>
                <a:lnTo>
                  <a:pt x="644656" y="587317"/>
                </a:lnTo>
                <a:lnTo>
                  <a:pt x="752098" y="576549"/>
                </a:lnTo>
                <a:lnTo>
                  <a:pt x="859541" y="565949"/>
                </a:lnTo>
                <a:lnTo>
                  <a:pt x="966983" y="555514"/>
                </a:lnTo>
                <a:lnTo>
                  <a:pt x="1074426" y="545239"/>
                </a:lnTo>
                <a:lnTo>
                  <a:pt x="1181869" y="535120"/>
                </a:lnTo>
                <a:lnTo>
                  <a:pt x="1289312" y="525152"/>
                </a:lnTo>
                <a:lnTo>
                  <a:pt x="1396754" y="515332"/>
                </a:lnTo>
                <a:lnTo>
                  <a:pt x="1504197" y="505652"/>
                </a:lnTo>
                <a:lnTo>
                  <a:pt x="1611640" y="496110"/>
                </a:lnTo>
                <a:lnTo>
                  <a:pt x="1719082" y="486698"/>
                </a:lnTo>
                <a:lnTo>
                  <a:pt x="1826525" y="477410"/>
                </a:lnTo>
                <a:lnTo>
                  <a:pt x="1933968" y="468241"/>
                </a:lnTo>
                <a:lnTo>
                  <a:pt x="2041410" y="459183"/>
                </a:lnTo>
                <a:lnTo>
                  <a:pt x="2148853" y="450227"/>
                </a:lnTo>
                <a:lnTo>
                  <a:pt x="2256296" y="441366"/>
                </a:lnTo>
                <a:lnTo>
                  <a:pt x="2363738" y="432589"/>
                </a:lnTo>
                <a:lnTo>
                  <a:pt x="2471181" y="423886"/>
                </a:lnTo>
                <a:lnTo>
                  <a:pt x="2578624" y="415245"/>
                </a:lnTo>
                <a:lnTo>
                  <a:pt x="2686066" y="406652"/>
                </a:lnTo>
                <a:lnTo>
                  <a:pt x="2793509" y="398093"/>
                </a:lnTo>
                <a:lnTo>
                  <a:pt x="2900952" y="389552"/>
                </a:lnTo>
                <a:lnTo>
                  <a:pt x="3008394" y="381009"/>
                </a:lnTo>
                <a:lnTo>
                  <a:pt x="3115837" y="372444"/>
                </a:lnTo>
                <a:lnTo>
                  <a:pt x="3223280" y="363835"/>
                </a:lnTo>
                <a:lnTo>
                  <a:pt x="3330722" y="355154"/>
                </a:lnTo>
                <a:lnTo>
                  <a:pt x="3438165" y="346375"/>
                </a:lnTo>
                <a:lnTo>
                  <a:pt x="3545607" y="337466"/>
                </a:lnTo>
                <a:lnTo>
                  <a:pt x="3653050" y="328393"/>
                </a:lnTo>
                <a:lnTo>
                  <a:pt x="3760493" y="319119"/>
                </a:lnTo>
                <a:lnTo>
                  <a:pt x="3867936" y="309604"/>
                </a:lnTo>
                <a:lnTo>
                  <a:pt x="3975378" y="299808"/>
                </a:lnTo>
                <a:lnTo>
                  <a:pt x="4082821" y="289686"/>
                </a:lnTo>
                <a:lnTo>
                  <a:pt x="4190264" y="279195"/>
                </a:lnTo>
                <a:lnTo>
                  <a:pt x="4297706" y="268293"/>
                </a:lnTo>
                <a:lnTo>
                  <a:pt x="4405149" y="256941"/>
                </a:lnTo>
                <a:lnTo>
                  <a:pt x="4512592" y="245103"/>
                </a:lnTo>
                <a:lnTo>
                  <a:pt x="4620034" y="232754"/>
                </a:lnTo>
                <a:lnTo>
                  <a:pt x="4727477" y="219879"/>
                </a:lnTo>
                <a:lnTo>
                  <a:pt x="4834920" y="206479"/>
                </a:lnTo>
                <a:lnTo>
                  <a:pt x="4942362" y="192572"/>
                </a:lnTo>
                <a:lnTo>
                  <a:pt x="5049805" y="178198"/>
                </a:lnTo>
                <a:lnTo>
                  <a:pt x="5157248" y="163422"/>
                </a:lnTo>
                <a:lnTo>
                  <a:pt x="5264690" y="148330"/>
                </a:lnTo>
                <a:lnTo>
                  <a:pt x="5372133" y="133036"/>
                </a:lnTo>
                <a:lnTo>
                  <a:pt x="5479576" y="117671"/>
                </a:lnTo>
                <a:lnTo>
                  <a:pt x="5587018" y="102384"/>
                </a:lnTo>
                <a:lnTo>
                  <a:pt x="5694461" y="87333"/>
                </a:lnTo>
                <a:lnTo>
                  <a:pt x="5801903" y="72675"/>
                </a:lnTo>
                <a:lnTo>
                  <a:pt x="5909346" y="58560"/>
                </a:lnTo>
                <a:lnTo>
                  <a:pt x="6016789" y="45124"/>
                </a:lnTo>
                <a:lnTo>
                  <a:pt x="6124232" y="32479"/>
                </a:lnTo>
                <a:lnTo>
                  <a:pt x="6231674" y="20711"/>
                </a:lnTo>
                <a:lnTo>
                  <a:pt x="6339117" y="9875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35200" y="2362963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8" name="height: 97-й центиль"/>
          <p:cNvSpPr/>
          <p:nvPr/>
        </p:nvSpPr>
        <p:spPr>
          <a:xfrm>
            <a:off x="548640" y="2288627"/>
            <a:ext cx="6446560" cy="703570"/>
          </a:xfrm>
          <a:custGeom>
            <a:avLst/>
            <a:gdLst/>
            <a:ahLst/>
            <a:cxnLst/>
            <a:rect l="l" t="t" r="r" b="b"/>
            <a:pathLst>
              <a:path w="6446560" h="703570">
                <a:moveTo>
                  <a:pt x="0" y="703570"/>
                </a:moveTo>
                <a:lnTo>
                  <a:pt x="107442" y="690914"/>
                </a:lnTo>
                <a:lnTo>
                  <a:pt x="214885" y="678450"/>
                </a:lnTo>
                <a:lnTo>
                  <a:pt x="322328" y="666172"/>
                </a:lnTo>
                <a:lnTo>
                  <a:pt x="429770" y="654078"/>
                </a:lnTo>
                <a:lnTo>
                  <a:pt x="537213" y="642163"/>
                </a:lnTo>
                <a:lnTo>
                  <a:pt x="644656" y="630425"/>
                </a:lnTo>
                <a:lnTo>
                  <a:pt x="752098" y="618859"/>
                </a:lnTo>
                <a:lnTo>
                  <a:pt x="859541" y="607461"/>
                </a:lnTo>
                <a:lnTo>
                  <a:pt x="966983" y="596227"/>
                </a:lnTo>
                <a:lnTo>
                  <a:pt x="1074426" y="585154"/>
                </a:lnTo>
                <a:lnTo>
                  <a:pt x="1181869" y="574237"/>
                </a:lnTo>
                <a:lnTo>
                  <a:pt x="1289312" y="563471"/>
                </a:lnTo>
                <a:lnTo>
                  <a:pt x="1396754" y="552852"/>
                </a:lnTo>
                <a:lnTo>
                  <a:pt x="1504197" y="542374"/>
                </a:lnTo>
                <a:lnTo>
                  <a:pt x="1611640" y="532033"/>
                </a:lnTo>
                <a:lnTo>
                  <a:pt x="1719082" y="521823"/>
                </a:lnTo>
                <a:lnTo>
                  <a:pt x="1826525" y="511737"/>
                </a:lnTo>
                <a:lnTo>
                  <a:pt x="1933968" y="501770"/>
                </a:lnTo>
                <a:lnTo>
                  <a:pt x="2041410" y="491913"/>
                </a:lnTo>
                <a:lnTo>
                  <a:pt x="2148853" y="482159"/>
                </a:lnTo>
                <a:lnTo>
                  <a:pt x="2256296" y="472499"/>
                </a:lnTo>
                <a:lnTo>
                  <a:pt x="2363738" y="462924"/>
                </a:lnTo>
                <a:lnTo>
                  <a:pt x="2471181" y="453423"/>
                </a:lnTo>
                <a:lnTo>
                  <a:pt x="2578624" y="443983"/>
                </a:lnTo>
                <a:lnTo>
                  <a:pt x="2686066" y="434592"/>
                </a:lnTo>
                <a:lnTo>
                  <a:pt x="2793509" y="425235"/>
                </a:lnTo>
                <a:lnTo>
                  <a:pt x="2900952" y="415896"/>
                </a:lnTo>
                <a:lnTo>
                  <a:pt x="3008394" y="406555"/>
                </a:lnTo>
                <a:lnTo>
                  <a:pt x="3115837" y="397192"/>
                </a:lnTo>
                <a:lnTo>
                  <a:pt x="3223280" y="387784"/>
                </a:lnTo>
                <a:lnTo>
                  <a:pt x="3330722" y="378305"/>
                </a:lnTo>
                <a:lnTo>
                  <a:pt x="3438165" y="368728"/>
                </a:lnTo>
                <a:lnTo>
                  <a:pt x="3545607" y="359020"/>
                </a:lnTo>
                <a:lnTo>
                  <a:pt x="3653050" y="349149"/>
                </a:lnTo>
                <a:lnTo>
                  <a:pt x="3760493" y="339077"/>
                </a:lnTo>
                <a:lnTo>
                  <a:pt x="3867936" y="328764"/>
                </a:lnTo>
                <a:lnTo>
                  <a:pt x="3975378" y="318169"/>
                </a:lnTo>
                <a:lnTo>
                  <a:pt x="4082821" y="307248"/>
                </a:lnTo>
                <a:lnTo>
                  <a:pt x="4190264" y="295960"/>
                </a:lnTo>
                <a:lnTo>
                  <a:pt x="4297706" y="284259"/>
                </a:lnTo>
                <a:lnTo>
                  <a:pt x="4405149" y="272108"/>
                </a:lnTo>
                <a:lnTo>
                  <a:pt x="4512592" y="259472"/>
                </a:lnTo>
                <a:lnTo>
                  <a:pt x="4620034" y="246325"/>
                </a:lnTo>
                <a:lnTo>
                  <a:pt x="4727477" y="232652"/>
                </a:lnTo>
                <a:lnTo>
                  <a:pt x="4834920" y="218454"/>
                </a:lnTo>
                <a:lnTo>
                  <a:pt x="4942362" y="203749"/>
                </a:lnTo>
                <a:lnTo>
                  <a:pt x="5049805" y="188577"/>
                </a:lnTo>
                <a:lnTo>
                  <a:pt x="5157248" y="173001"/>
                </a:lnTo>
                <a:lnTo>
                  <a:pt x="5264690" y="157112"/>
                </a:lnTo>
                <a:lnTo>
                  <a:pt x="5372133" y="141019"/>
                </a:lnTo>
                <a:lnTo>
                  <a:pt x="5479576" y="124856"/>
                </a:lnTo>
                <a:lnTo>
                  <a:pt x="5587018" y="108771"/>
                </a:lnTo>
                <a:lnTo>
                  <a:pt x="5694461" y="92921"/>
                </a:lnTo>
                <a:lnTo>
                  <a:pt x="5801903" y="77465"/>
                </a:lnTo>
                <a:lnTo>
                  <a:pt x="5909346" y="62552"/>
                </a:lnTo>
                <a:lnTo>
                  <a:pt x="6016789" y="48318"/>
                </a:lnTo>
                <a:lnTo>
                  <a:pt x="6124232" y="34875"/>
                </a:lnTo>
                <a:lnTo>
                  <a:pt x="6231674" y="22308"/>
                </a:lnTo>
                <a:lnTo>
                  <a:pt x="6339117" y="10674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35200" y="2208627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10" name="height: ось"/>
          <p:cNvSpPr/>
          <p:nvPr/>
        </p:nvSpPr>
        <p:spPr>
          <a:xfrm>
            <a:off x="548640" y="3260061"/>
            <a:ext cx="6446560" cy="0"/>
          </a:xfrm>
          <a:custGeom>
            <a:avLst/>
            <a:gdLst/>
            <a:ahLst/>
            <a:cxnLst/>
            <a:rect l="l" t="t" r="r" b="b"/>
            <a:pathLst>
              <a:path w="6446560">
                <a:moveTo>
                  <a:pt x="0" y="0"/>
                </a:moveTo>
                <a:lnTo>
                  <a:pt x="6446560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8640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1208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3777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6346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8915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16" name="height: пациент"/>
          <p:cNvSpPr/>
          <p:nvPr/>
        </p:nvSpPr>
        <p:spPr>
          <a:xfrm>
            <a:off x="548640" y="2858458"/>
            <a:ext cx="4297706" cy="234516"/>
          </a:xfrm>
          <a:custGeom>
            <a:avLst/>
            <a:gdLst/>
            <a:ahLst/>
            <a:cxnLst/>
            <a:rect l="l" t="t" r="r" b="b"/>
            <a:pathLst>
              <a:path w="4297706" h="234516">
                <a:moveTo>
                  <a:pt x="0" y="234516"/>
                </a:moveTo>
                <a:lnTo>
                  <a:pt x="59690" y="227881"/>
                </a:lnTo>
                <a:lnTo>
                  <a:pt x="119380" y="221306"/>
                </a:lnTo>
                <a:lnTo>
                  <a:pt x="179071" y="214789"/>
                </a:lnTo>
                <a:lnTo>
                  <a:pt x="238761" y="208331"/>
                </a:lnTo>
                <a:lnTo>
                  <a:pt x="298451" y="201930"/>
                </a:lnTo>
                <a:lnTo>
                  <a:pt x="358142" y="195585"/>
                </a:lnTo>
                <a:lnTo>
                  <a:pt x="417832" y="189298"/>
                </a:lnTo>
                <a:lnTo>
                  <a:pt x="477522" y="183065"/>
                </a:lnTo>
                <a:lnTo>
                  <a:pt x="537213" y="176888"/>
                </a:lnTo>
                <a:lnTo>
                  <a:pt x="596903" y="170765"/>
                </a:lnTo>
                <a:lnTo>
                  <a:pt x="656594" y="164696"/>
                </a:lnTo>
                <a:lnTo>
                  <a:pt x="716284" y="158680"/>
                </a:lnTo>
                <a:lnTo>
                  <a:pt x="775974" y="153213"/>
                </a:lnTo>
                <a:lnTo>
                  <a:pt x="835665" y="147802"/>
                </a:lnTo>
                <a:lnTo>
                  <a:pt x="895355" y="142446"/>
                </a:lnTo>
                <a:lnTo>
                  <a:pt x="955045" y="137145"/>
                </a:lnTo>
                <a:lnTo>
                  <a:pt x="1014736" y="131897"/>
                </a:lnTo>
                <a:lnTo>
                  <a:pt x="1074426" y="126701"/>
                </a:lnTo>
                <a:lnTo>
                  <a:pt x="1134117" y="121558"/>
                </a:lnTo>
                <a:lnTo>
                  <a:pt x="1193807" y="116466"/>
                </a:lnTo>
                <a:lnTo>
                  <a:pt x="1253497" y="111424"/>
                </a:lnTo>
                <a:lnTo>
                  <a:pt x="1313188" y="106432"/>
                </a:lnTo>
                <a:lnTo>
                  <a:pt x="1372878" y="101490"/>
                </a:lnTo>
                <a:lnTo>
                  <a:pt x="1432568" y="96595"/>
                </a:lnTo>
                <a:lnTo>
                  <a:pt x="1492259" y="91747"/>
                </a:lnTo>
                <a:lnTo>
                  <a:pt x="1551949" y="86946"/>
                </a:lnTo>
                <a:lnTo>
                  <a:pt x="1611640" y="82189"/>
                </a:lnTo>
                <a:lnTo>
                  <a:pt x="1671330" y="77477"/>
                </a:lnTo>
                <a:lnTo>
                  <a:pt x="1731020" y="72809"/>
                </a:lnTo>
                <a:lnTo>
                  <a:pt x="1790711" y="68182"/>
                </a:lnTo>
                <a:lnTo>
                  <a:pt x="1850401" y="63597"/>
                </a:lnTo>
                <a:lnTo>
                  <a:pt x="1910091" y="59052"/>
                </a:lnTo>
                <a:lnTo>
                  <a:pt x="1969782" y="54545"/>
                </a:lnTo>
                <a:lnTo>
                  <a:pt x="2029472" y="50075"/>
                </a:lnTo>
                <a:lnTo>
                  <a:pt x="2089162" y="45642"/>
                </a:lnTo>
                <a:lnTo>
                  <a:pt x="2148853" y="41243"/>
                </a:lnTo>
                <a:lnTo>
                  <a:pt x="2208543" y="39055"/>
                </a:lnTo>
                <a:lnTo>
                  <a:pt x="2268234" y="36915"/>
                </a:lnTo>
                <a:lnTo>
                  <a:pt x="2327924" y="34819"/>
                </a:lnTo>
                <a:lnTo>
                  <a:pt x="2387614" y="32768"/>
                </a:lnTo>
                <a:lnTo>
                  <a:pt x="2447305" y="30758"/>
                </a:lnTo>
                <a:lnTo>
                  <a:pt x="2506995" y="28787"/>
                </a:lnTo>
                <a:lnTo>
                  <a:pt x="2566685" y="26855"/>
                </a:lnTo>
                <a:lnTo>
                  <a:pt x="2626376" y="24957"/>
                </a:lnTo>
                <a:lnTo>
                  <a:pt x="2686066" y="23092"/>
                </a:lnTo>
                <a:lnTo>
                  <a:pt x="2745757" y="21257"/>
                </a:lnTo>
                <a:lnTo>
                  <a:pt x="2805447" y="19450"/>
                </a:lnTo>
                <a:lnTo>
                  <a:pt x="2865137" y="17667"/>
                </a:lnTo>
                <a:lnTo>
                  <a:pt x="2924828" y="17041"/>
                </a:lnTo>
                <a:lnTo>
                  <a:pt x="2984518" y="16441"/>
                </a:lnTo>
                <a:lnTo>
                  <a:pt x="3044208" y="15864"/>
                </a:lnTo>
                <a:lnTo>
                  <a:pt x="3103899" y="15305"/>
                </a:lnTo>
                <a:lnTo>
                  <a:pt x="3163589" y="14761"/>
                </a:lnTo>
                <a:lnTo>
                  <a:pt x="3223280" y="14227"/>
                </a:lnTo>
                <a:lnTo>
                  <a:pt x="3282970" y="13698"/>
                </a:lnTo>
                <a:lnTo>
                  <a:pt x="3342660" y="13171"/>
                </a:lnTo>
                <a:lnTo>
                  <a:pt x="3402351" y="12640"/>
                </a:lnTo>
                <a:lnTo>
                  <a:pt x="3462041" y="12099"/>
                </a:lnTo>
                <a:lnTo>
                  <a:pt x="3521731" y="11544"/>
                </a:lnTo>
                <a:lnTo>
                  <a:pt x="3581422" y="10968"/>
                </a:lnTo>
                <a:lnTo>
                  <a:pt x="3641112" y="10365"/>
                </a:lnTo>
                <a:lnTo>
                  <a:pt x="3700802" y="9729"/>
                </a:lnTo>
                <a:lnTo>
                  <a:pt x="3760493" y="9054"/>
                </a:lnTo>
                <a:lnTo>
                  <a:pt x="3820183" y="8331"/>
                </a:lnTo>
                <a:lnTo>
                  <a:pt x="3879874" y="7555"/>
                </a:lnTo>
                <a:lnTo>
                  <a:pt x="3939564" y="6718"/>
                </a:lnTo>
                <a:lnTo>
                  <a:pt x="3999254" y="5813"/>
                </a:lnTo>
                <a:lnTo>
                  <a:pt x="4058945" y="4832"/>
                </a:lnTo>
                <a:lnTo>
                  <a:pt x="4118635" y="3767"/>
                </a:lnTo>
                <a:lnTo>
                  <a:pt x="4178325" y="2612"/>
                </a:lnTo>
                <a:lnTo>
                  <a:pt x="4238016" y="1359"/>
                </a:lnTo>
                <a:lnTo>
                  <a:pt x="4297706" y="0"/>
                </a:lnTo>
              </a:path>
            </a:pathLst>
          </a:custGeom>
          <a:noFill/>
          <a:ln w="349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height: визит 4"/>
          <p:cNvSpPr/>
          <p:nvPr/>
        </p:nvSpPr>
        <p:spPr>
          <a:xfrm>
            <a:off x="488640" y="3032974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height: визит 5"/>
          <p:cNvSpPr/>
          <p:nvPr/>
        </p:nvSpPr>
        <p:spPr>
          <a:xfrm>
            <a:off x="1204924" y="2957138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height: визит 6"/>
          <p:cNvSpPr/>
          <p:nvPr/>
        </p:nvSpPr>
        <p:spPr>
          <a:xfrm>
            <a:off x="1921208" y="2895053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height: визит 7"/>
          <p:cNvSpPr/>
          <p:nvPr/>
        </p:nvSpPr>
        <p:spPr>
          <a:xfrm>
            <a:off x="2637493" y="2839701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height: визит 8"/>
          <p:cNvSpPr/>
          <p:nvPr/>
        </p:nvSpPr>
        <p:spPr>
          <a:xfrm>
            <a:off x="3353777" y="2816125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height: визит 9"/>
          <p:cNvSpPr/>
          <p:nvPr/>
        </p:nvSpPr>
        <p:spPr>
          <a:xfrm>
            <a:off x="4070062" y="2809426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height: визит 10"/>
          <p:cNvSpPr/>
          <p:nvPr/>
        </p:nvSpPr>
        <p:spPr>
          <a:xfrm>
            <a:off x="4786346" y="2798458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событие 7.5"/>
          <p:cNvSpPr/>
          <p:nvPr/>
        </p:nvSpPr>
        <p:spPr>
          <a:xfrm>
            <a:off x="3055635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05635" y="1738760"/>
            <a:ext cx="23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6323A"/>
                </a:solidFill>
                <a:latin typeface="Calibri"/>
              </a:rPr>
              <a:t>7,5 года: рост замедлился</a:t>
            </a:r>
          </a:p>
        </p:txBody>
      </p:sp>
      <p:sp>
        <p:nvSpPr>
          <p:cNvPr id="26" name="событие 9"/>
          <p:cNvSpPr/>
          <p:nvPr/>
        </p:nvSpPr>
        <p:spPr>
          <a:xfrm>
            <a:off x="4130062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80062" y="1928760"/>
            <a:ext cx="23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6323A"/>
                </a:solidFill>
                <a:latin typeface="Calibri"/>
              </a:rPr>
              <a:t>9 лет: визит, замедление не заметили</a:t>
            </a:r>
          </a:p>
        </p:txBody>
      </p:sp>
      <p:sp>
        <p:nvSpPr>
          <p:cNvPr id="28" name="событие 10"/>
          <p:cNvSpPr/>
          <p:nvPr/>
        </p:nvSpPr>
        <p:spPr>
          <a:xfrm>
            <a:off x="4846346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96346" y="2118760"/>
            <a:ext cx="23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6323A"/>
                </a:solidFill>
                <a:latin typeface="Calibri"/>
              </a:rPr>
              <a:t>10 лет: диагноз, начат левотироксин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1508760"/>
            <a:ext cx="6446560" cy="2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Рост, см</a:t>
            </a:r>
          </a:p>
        </p:txBody>
      </p:sp>
      <p:sp>
        <p:nvSpPr>
          <p:cNvPr id="31" name="weight: полоса 3–97"/>
          <p:cNvSpPr/>
          <p:nvPr/>
        </p:nvSpPr>
        <p:spPr>
          <a:xfrm>
            <a:off x="548640" y="3865242"/>
            <a:ext cx="6446560" cy="753016"/>
          </a:xfrm>
          <a:custGeom>
            <a:avLst/>
            <a:gdLst/>
            <a:ahLst/>
            <a:cxnLst/>
            <a:rect l="l" t="t" r="r" b="b"/>
            <a:pathLst>
              <a:path w="6446560" h="753016">
                <a:moveTo>
                  <a:pt x="0" y="616227"/>
                </a:moveTo>
                <a:lnTo>
                  <a:pt x="107442" y="609961"/>
                </a:lnTo>
                <a:lnTo>
                  <a:pt x="214885" y="603694"/>
                </a:lnTo>
                <a:lnTo>
                  <a:pt x="322328" y="597427"/>
                </a:lnTo>
                <a:lnTo>
                  <a:pt x="429770" y="591160"/>
                </a:lnTo>
                <a:lnTo>
                  <a:pt x="537213" y="584894"/>
                </a:lnTo>
                <a:lnTo>
                  <a:pt x="644656" y="578627"/>
                </a:lnTo>
                <a:lnTo>
                  <a:pt x="752098" y="572012"/>
                </a:lnTo>
                <a:lnTo>
                  <a:pt x="859541" y="564701"/>
                </a:lnTo>
                <a:lnTo>
                  <a:pt x="966983" y="557390"/>
                </a:lnTo>
                <a:lnTo>
                  <a:pt x="1074426" y="550079"/>
                </a:lnTo>
                <a:lnTo>
                  <a:pt x="1181869" y="542767"/>
                </a:lnTo>
                <a:lnTo>
                  <a:pt x="1289312" y="535456"/>
                </a:lnTo>
                <a:lnTo>
                  <a:pt x="1396754" y="528145"/>
                </a:lnTo>
                <a:lnTo>
                  <a:pt x="1504197" y="520834"/>
                </a:lnTo>
                <a:lnTo>
                  <a:pt x="1611640" y="513523"/>
                </a:lnTo>
                <a:lnTo>
                  <a:pt x="1719082" y="506212"/>
                </a:lnTo>
                <a:lnTo>
                  <a:pt x="1826525" y="498900"/>
                </a:lnTo>
                <a:lnTo>
                  <a:pt x="1933968" y="491589"/>
                </a:lnTo>
                <a:lnTo>
                  <a:pt x="2041410" y="484278"/>
                </a:lnTo>
                <a:lnTo>
                  <a:pt x="2148853" y="476967"/>
                </a:lnTo>
                <a:lnTo>
                  <a:pt x="2256296" y="469656"/>
                </a:lnTo>
                <a:lnTo>
                  <a:pt x="2363738" y="462344"/>
                </a:lnTo>
                <a:lnTo>
                  <a:pt x="2471181" y="455033"/>
                </a:lnTo>
                <a:lnTo>
                  <a:pt x="2578624" y="447722"/>
                </a:lnTo>
                <a:lnTo>
                  <a:pt x="2686066" y="440411"/>
                </a:lnTo>
                <a:lnTo>
                  <a:pt x="2793509" y="433100"/>
                </a:lnTo>
                <a:lnTo>
                  <a:pt x="2900952" y="424309"/>
                </a:lnTo>
                <a:lnTo>
                  <a:pt x="3008394" y="412559"/>
                </a:lnTo>
                <a:lnTo>
                  <a:pt x="3115837" y="400809"/>
                </a:lnTo>
                <a:lnTo>
                  <a:pt x="3223280" y="389059"/>
                </a:lnTo>
                <a:lnTo>
                  <a:pt x="3330722" y="377309"/>
                </a:lnTo>
                <a:lnTo>
                  <a:pt x="3438165" y="365558"/>
                </a:lnTo>
                <a:lnTo>
                  <a:pt x="3545607" y="353808"/>
                </a:lnTo>
                <a:lnTo>
                  <a:pt x="3653050" y="342058"/>
                </a:lnTo>
                <a:lnTo>
                  <a:pt x="3760493" y="330308"/>
                </a:lnTo>
                <a:lnTo>
                  <a:pt x="3867936" y="318558"/>
                </a:lnTo>
                <a:lnTo>
                  <a:pt x="3975378" y="306808"/>
                </a:lnTo>
                <a:lnTo>
                  <a:pt x="4082821" y="295058"/>
                </a:lnTo>
                <a:lnTo>
                  <a:pt x="4190264" y="283308"/>
                </a:lnTo>
                <a:lnTo>
                  <a:pt x="4297706" y="271558"/>
                </a:lnTo>
                <a:lnTo>
                  <a:pt x="4405149" y="258241"/>
                </a:lnTo>
                <a:lnTo>
                  <a:pt x="4512592" y="244924"/>
                </a:lnTo>
                <a:lnTo>
                  <a:pt x="4620034" y="231607"/>
                </a:lnTo>
                <a:lnTo>
                  <a:pt x="4727477" y="218290"/>
                </a:lnTo>
                <a:lnTo>
                  <a:pt x="4834920" y="204974"/>
                </a:lnTo>
                <a:lnTo>
                  <a:pt x="4942362" y="191657"/>
                </a:lnTo>
                <a:lnTo>
                  <a:pt x="5049805" y="178340"/>
                </a:lnTo>
                <a:lnTo>
                  <a:pt x="5157248" y="165023"/>
                </a:lnTo>
                <a:lnTo>
                  <a:pt x="5264690" y="151706"/>
                </a:lnTo>
                <a:lnTo>
                  <a:pt x="5372133" y="138390"/>
                </a:lnTo>
                <a:lnTo>
                  <a:pt x="5479576" y="125073"/>
                </a:lnTo>
                <a:lnTo>
                  <a:pt x="5587018" y="111756"/>
                </a:lnTo>
                <a:lnTo>
                  <a:pt x="5694461" y="98439"/>
                </a:lnTo>
                <a:lnTo>
                  <a:pt x="5801903" y="84600"/>
                </a:lnTo>
                <a:lnTo>
                  <a:pt x="5909346" y="70500"/>
                </a:lnTo>
                <a:lnTo>
                  <a:pt x="6016789" y="56400"/>
                </a:lnTo>
                <a:lnTo>
                  <a:pt x="6124232" y="42300"/>
                </a:lnTo>
                <a:lnTo>
                  <a:pt x="6231674" y="28200"/>
                </a:lnTo>
                <a:lnTo>
                  <a:pt x="6339117" y="14100"/>
                </a:lnTo>
                <a:lnTo>
                  <a:pt x="6446560" y="0"/>
                </a:lnTo>
                <a:lnTo>
                  <a:pt x="6446560" y="388994"/>
                </a:lnTo>
                <a:lnTo>
                  <a:pt x="6339117" y="397323"/>
                </a:lnTo>
                <a:lnTo>
                  <a:pt x="6231674" y="405652"/>
                </a:lnTo>
                <a:lnTo>
                  <a:pt x="6124232" y="413982"/>
                </a:lnTo>
                <a:lnTo>
                  <a:pt x="6016789" y="422311"/>
                </a:lnTo>
                <a:lnTo>
                  <a:pt x="5909346" y="430640"/>
                </a:lnTo>
                <a:lnTo>
                  <a:pt x="5801903" y="438970"/>
                </a:lnTo>
                <a:lnTo>
                  <a:pt x="5694461" y="447145"/>
                </a:lnTo>
                <a:lnTo>
                  <a:pt x="5587018" y="455011"/>
                </a:lnTo>
                <a:lnTo>
                  <a:pt x="5479576" y="462878"/>
                </a:lnTo>
                <a:lnTo>
                  <a:pt x="5372133" y="470744"/>
                </a:lnTo>
                <a:lnTo>
                  <a:pt x="5264690" y="478611"/>
                </a:lnTo>
                <a:lnTo>
                  <a:pt x="5157248" y="486478"/>
                </a:lnTo>
                <a:lnTo>
                  <a:pt x="5049805" y="494344"/>
                </a:lnTo>
                <a:lnTo>
                  <a:pt x="4942362" y="502211"/>
                </a:lnTo>
                <a:lnTo>
                  <a:pt x="4834920" y="510077"/>
                </a:lnTo>
                <a:lnTo>
                  <a:pt x="4727477" y="517944"/>
                </a:lnTo>
                <a:lnTo>
                  <a:pt x="4620034" y="525811"/>
                </a:lnTo>
                <a:lnTo>
                  <a:pt x="4512592" y="533677"/>
                </a:lnTo>
                <a:lnTo>
                  <a:pt x="4405149" y="541544"/>
                </a:lnTo>
                <a:lnTo>
                  <a:pt x="4297706" y="549410"/>
                </a:lnTo>
                <a:lnTo>
                  <a:pt x="4190264" y="556352"/>
                </a:lnTo>
                <a:lnTo>
                  <a:pt x="4082821" y="563293"/>
                </a:lnTo>
                <a:lnTo>
                  <a:pt x="3975378" y="570234"/>
                </a:lnTo>
                <a:lnTo>
                  <a:pt x="3867936" y="577175"/>
                </a:lnTo>
                <a:lnTo>
                  <a:pt x="3760493" y="584116"/>
                </a:lnTo>
                <a:lnTo>
                  <a:pt x="3653050" y="591057"/>
                </a:lnTo>
                <a:lnTo>
                  <a:pt x="3545607" y="597998"/>
                </a:lnTo>
                <a:lnTo>
                  <a:pt x="3438165" y="604939"/>
                </a:lnTo>
                <a:lnTo>
                  <a:pt x="3330722" y="611880"/>
                </a:lnTo>
                <a:lnTo>
                  <a:pt x="3223280" y="618822"/>
                </a:lnTo>
                <a:lnTo>
                  <a:pt x="3115837" y="625763"/>
                </a:lnTo>
                <a:lnTo>
                  <a:pt x="3008394" y="632704"/>
                </a:lnTo>
                <a:lnTo>
                  <a:pt x="2900952" y="639645"/>
                </a:lnTo>
                <a:lnTo>
                  <a:pt x="2793509" y="644838"/>
                </a:lnTo>
                <a:lnTo>
                  <a:pt x="2686066" y="649157"/>
                </a:lnTo>
                <a:lnTo>
                  <a:pt x="2578624" y="653476"/>
                </a:lnTo>
                <a:lnTo>
                  <a:pt x="2471181" y="657795"/>
                </a:lnTo>
                <a:lnTo>
                  <a:pt x="2363738" y="662114"/>
                </a:lnTo>
                <a:lnTo>
                  <a:pt x="2256296" y="666433"/>
                </a:lnTo>
                <a:lnTo>
                  <a:pt x="2148853" y="670751"/>
                </a:lnTo>
                <a:lnTo>
                  <a:pt x="2041410" y="675070"/>
                </a:lnTo>
                <a:lnTo>
                  <a:pt x="1933968" y="679389"/>
                </a:lnTo>
                <a:lnTo>
                  <a:pt x="1826525" y="683708"/>
                </a:lnTo>
                <a:lnTo>
                  <a:pt x="1719082" y="688027"/>
                </a:lnTo>
                <a:lnTo>
                  <a:pt x="1611640" y="692346"/>
                </a:lnTo>
                <a:lnTo>
                  <a:pt x="1504197" y="696665"/>
                </a:lnTo>
                <a:lnTo>
                  <a:pt x="1396754" y="700984"/>
                </a:lnTo>
                <a:lnTo>
                  <a:pt x="1289312" y="705303"/>
                </a:lnTo>
                <a:lnTo>
                  <a:pt x="1181869" y="709622"/>
                </a:lnTo>
                <a:lnTo>
                  <a:pt x="1074426" y="713941"/>
                </a:lnTo>
                <a:lnTo>
                  <a:pt x="966983" y="718259"/>
                </a:lnTo>
                <a:lnTo>
                  <a:pt x="859541" y="722578"/>
                </a:lnTo>
                <a:lnTo>
                  <a:pt x="752098" y="726897"/>
                </a:lnTo>
                <a:lnTo>
                  <a:pt x="644656" y="730805"/>
                </a:lnTo>
                <a:lnTo>
                  <a:pt x="537213" y="734507"/>
                </a:lnTo>
                <a:lnTo>
                  <a:pt x="429770" y="738209"/>
                </a:lnTo>
                <a:lnTo>
                  <a:pt x="322328" y="741911"/>
                </a:lnTo>
                <a:lnTo>
                  <a:pt x="214885" y="745613"/>
                </a:lnTo>
                <a:lnTo>
                  <a:pt x="107442" y="749315"/>
                </a:lnTo>
                <a:lnTo>
                  <a:pt x="0" y="753016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eight: 3-й центиль"/>
          <p:cNvSpPr/>
          <p:nvPr/>
        </p:nvSpPr>
        <p:spPr>
          <a:xfrm>
            <a:off x="548640" y="4254236"/>
            <a:ext cx="6446560" cy="364022"/>
          </a:xfrm>
          <a:custGeom>
            <a:avLst/>
            <a:gdLst/>
            <a:ahLst/>
            <a:cxnLst/>
            <a:rect l="l" t="t" r="r" b="b"/>
            <a:pathLst>
              <a:path w="6446560" h="364022">
                <a:moveTo>
                  <a:pt x="0" y="364022"/>
                </a:moveTo>
                <a:lnTo>
                  <a:pt x="107442" y="360321"/>
                </a:lnTo>
                <a:lnTo>
                  <a:pt x="214885" y="356619"/>
                </a:lnTo>
                <a:lnTo>
                  <a:pt x="322328" y="352917"/>
                </a:lnTo>
                <a:lnTo>
                  <a:pt x="429770" y="349215"/>
                </a:lnTo>
                <a:lnTo>
                  <a:pt x="537213" y="345513"/>
                </a:lnTo>
                <a:lnTo>
                  <a:pt x="644656" y="341811"/>
                </a:lnTo>
                <a:lnTo>
                  <a:pt x="752098" y="337903"/>
                </a:lnTo>
                <a:lnTo>
                  <a:pt x="859541" y="333584"/>
                </a:lnTo>
                <a:lnTo>
                  <a:pt x="966983" y="329265"/>
                </a:lnTo>
                <a:lnTo>
                  <a:pt x="1074426" y="324947"/>
                </a:lnTo>
                <a:lnTo>
                  <a:pt x="1181869" y="320628"/>
                </a:lnTo>
                <a:lnTo>
                  <a:pt x="1289312" y="316309"/>
                </a:lnTo>
                <a:lnTo>
                  <a:pt x="1396754" y="311990"/>
                </a:lnTo>
                <a:lnTo>
                  <a:pt x="1504197" y="307671"/>
                </a:lnTo>
                <a:lnTo>
                  <a:pt x="1611640" y="303352"/>
                </a:lnTo>
                <a:lnTo>
                  <a:pt x="1719082" y="299033"/>
                </a:lnTo>
                <a:lnTo>
                  <a:pt x="1826525" y="294714"/>
                </a:lnTo>
                <a:lnTo>
                  <a:pt x="1933968" y="290395"/>
                </a:lnTo>
                <a:lnTo>
                  <a:pt x="2041410" y="286076"/>
                </a:lnTo>
                <a:lnTo>
                  <a:pt x="2148853" y="281757"/>
                </a:lnTo>
                <a:lnTo>
                  <a:pt x="2256296" y="277439"/>
                </a:lnTo>
                <a:lnTo>
                  <a:pt x="2363738" y="273120"/>
                </a:lnTo>
                <a:lnTo>
                  <a:pt x="2471181" y="268801"/>
                </a:lnTo>
                <a:lnTo>
                  <a:pt x="2578624" y="264482"/>
                </a:lnTo>
                <a:lnTo>
                  <a:pt x="2686066" y="260163"/>
                </a:lnTo>
                <a:lnTo>
                  <a:pt x="2793509" y="255844"/>
                </a:lnTo>
                <a:lnTo>
                  <a:pt x="2900952" y="250651"/>
                </a:lnTo>
                <a:lnTo>
                  <a:pt x="3008394" y="243710"/>
                </a:lnTo>
                <a:lnTo>
                  <a:pt x="3115837" y="236769"/>
                </a:lnTo>
                <a:lnTo>
                  <a:pt x="3223280" y="229828"/>
                </a:lnTo>
                <a:lnTo>
                  <a:pt x="3330722" y="222886"/>
                </a:lnTo>
                <a:lnTo>
                  <a:pt x="3438165" y="215945"/>
                </a:lnTo>
                <a:lnTo>
                  <a:pt x="3545607" y="209004"/>
                </a:lnTo>
                <a:lnTo>
                  <a:pt x="3653050" y="202063"/>
                </a:lnTo>
                <a:lnTo>
                  <a:pt x="3760493" y="195122"/>
                </a:lnTo>
                <a:lnTo>
                  <a:pt x="3867936" y="188181"/>
                </a:lnTo>
                <a:lnTo>
                  <a:pt x="3975378" y="181240"/>
                </a:lnTo>
                <a:lnTo>
                  <a:pt x="4082821" y="174299"/>
                </a:lnTo>
                <a:lnTo>
                  <a:pt x="4190264" y="167358"/>
                </a:lnTo>
                <a:lnTo>
                  <a:pt x="4297706" y="160416"/>
                </a:lnTo>
                <a:lnTo>
                  <a:pt x="4405149" y="152550"/>
                </a:lnTo>
                <a:lnTo>
                  <a:pt x="4512592" y="144683"/>
                </a:lnTo>
                <a:lnTo>
                  <a:pt x="4620034" y="136817"/>
                </a:lnTo>
                <a:lnTo>
                  <a:pt x="4727477" y="128950"/>
                </a:lnTo>
                <a:lnTo>
                  <a:pt x="4834920" y="121083"/>
                </a:lnTo>
                <a:lnTo>
                  <a:pt x="4942362" y="113217"/>
                </a:lnTo>
                <a:lnTo>
                  <a:pt x="5049805" y="105350"/>
                </a:lnTo>
                <a:lnTo>
                  <a:pt x="5157248" y="97484"/>
                </a:lnTo>
                <a:lnTo>
                  <a:pt x="5264690" y="89617"/>
                </a:lnTo>
                <a:lnTo>
                  <a:pt x="5372133" y="81750"/>
                </a:lnTo>
                <a:lnTo>
                  <a:pt x="5479576" y="73884"/>
                </a:lnTo>
                <a:lnTo>
                  <a:pt x="5587018" y="66017"/>
                </a:lnTo>
                <a:lnTo>
                  <a:pt x="5694461" y="58151"/>
                </a:lnTo>
                <a:lnTo>
                  <a:pt x="5801903" y="49976"/>
                </a:lnTo>
                <a:lnTo>
                  <a:pt x="5909346" y="41646"/>
                </a:lnTo>
                <a:lnTo>
                  <a:pt x="6016789" y="33317"/>
                </a:lnTo>
                <a:lnTo>
                  <a:pt x="6124232" y="24988"/>
                </a:lnTo>
                <a:lnTo>
                  <a:pt x="6231674" y="16658"/>
                </a:lnTo>
                <a:lnTo>
                  <a:pt x="6339117" y="8329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35200" y="4174236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34" name="weight: 50-й центиль"/>
          <p:cNvSpPr/>
          <p:nvPr/>
        </p:nvSpPr>
        <p:spPr>
          <a:xfrm>
            <a:off x="548640" y="4125248"/>
            <a:ext cx="6446560" cy="447652"/>
          </a:xfrm>
          <a:custGeom>
            <a:avLst/>
            <a:gdLst/>
            <a:ahLst/>
            <a:cxnLst/>
            <a:rect l="l" t="t" r="r" b="b"/>
            <a:pathLst>
              <a:path w="6446560" h="447652">
                <a:moveTo>
                  <a:pt x="0" y="447652"/>
                </a:moveTo>
                <a:lnTo>
                  <a:pt x="107442" y="443100"/>
                </a:lnTo>
                <a:lnTo>
                  <a:pt x="214885" y="438547"/>
                </a:lnTo>
                <a:lnTo>
                  <a:pt x="322328" y="433995"/>
                </a:lnTo>
                <a:lnTo>
                  <a:pt x="429770" y="429443"/>
                </a:lnTo>
                <a:lnTo>
                  <a:pt x="537213" y="424890"/>
                </a:lnTo>
                <a:lnTo>
                  <a:pt x="644656" y="420338"/>
                </a:lnTo>
                <a:lnTo>
                  <a:pt x="752098" y="415532"/>
                </a:lnTo>
                <a:lnTo>
                  <a:pt x="859541" y="410221"/>
                </a:lnTo>
                <a:lnTo>
                  <a:pt x="966983" y="404910"/>
                </a:lnTo>
                <a:lnTo>
                  <a:pt x="1074426" y="399599"/>
                </a:lnTo>
                <a:lnTo>
                  <a:pt x="1181869" y="394288"/>
                </a:lnTo>
                <a:lnTo>
                  <a:pt x="1289312" y="388977"/>
                </a:lnTo>
                <a:lnTo>
                  <a:pt x="1396754" y="383666"/>
                </a:lnTo>
                <a:lnTo>
                  <a:pt x="1504197" y="378355"/>
                </a:lnTo>
                <a:lnTo>
                  <a:pt x="1611640" y="373043"/>
                </a:lnTo>
                <a:lnTo>
                  <a:pt x="1719082" y="367732"/>
                </a:lnTo>
                <a:lnTo>
                  <a:pt x="1826525" y="362421"/>
                </a:lnTo>
                <a:lnTo>
                  <a:pt x="1933968" y="357110"/>
                </a:lnTo>
                <a:lnTo>
                  <a:pt x="2041410" y="351799"/>
                </a:lnTo>
                <a:lnTo>
                  <a:pt x="2148853" y="346488"/>
                </a:lnTo>
                <a:lnTo>
                  <a:pt x="2256296" y="341177"/>
                </a:lnTo>
                <a:lnTo>
                  <a:pt x="2363738" y="335866"/>
                </a:lnTo>
                <a:lnTo>
                  <a:pt x="2471181" y="330554"/>
                </a:lnTo>
                <a:lnTo>
                  <a:pt x="2578624" y="325243"/>
                </a:lnTo>
                <a:lnTo>
                  <a:pt x="2686066" y="319932"/>
                </a:lnTo>
                <a:lnTo>
                  <a:pt x="2793509" y="314621"/>
                </a:lnTo>
                <a:lnTo>
                  <a:pt x="2900952" y="308235"/>
                </a:lnTo>
                <a:lnTo>
                  <a:pt x="3008394" y="299699"/>
                </a:lnTo>
                <a:lnTo>
                  <a:pt x="3115837" y="291164"/>
                </a:lnTo>
                <a:lnTo>
                  <a:pt x="3223280" y="282628"/>
                </a:lnTo>
                <a:lnTo>
                  <a:pt x="3330722" y="274092"/>
                </a:lnTo>
                <a:lnTo>
                  <a:pt x="3438165" y="265556"/>
                </a:lnTo>
                <a:lnTo>
                  <a:pt x="3545607" y="257021"/>
                </a:lnTo>
                <a:lnTo>
                  <a:pt x="3653050" y="248485"/>
                </a:lnTo>
                <a:lnTo>
                  <a:pt x="3760493" y="239949"/>
                </a:lnTo>
                <a:lnTo>
                  <a:pt x="3867936" y="231413"/>
                </a:lnTo>
                <a:lnTo>
                  <a:pt x="3975378" y="222878"/>
                </a:lnTo>
                <a:lnTo>
                  <a:pt x="4082821" y="214342"/>
                </a:lnTo>
                <a:lnTo>
                  <a:pt x="4190264" y="205806"/>
                </a:lnTo>
                <a:lnTo>
                  <a:pt x="4297706" y="197270"/>
                </a:lnTo>
                <a:lnTo>
                  <a:pt x="4405149" y="187597"/>
                </a:lnTo>
                <a:lnTo>
                  <a:pt x="4512592" y="177923"/>
                </a:lnTo>
                <a:lnTo>
                  <a:pt x="4620034" y="168249"/>
                </a:lnTo>
                <a:lnTo>
                  <a:pt x="4727477" y="158575"/>
                </a:lnTo>
                <a:lnTo>
                  <a:pt x="4834920" y="148901"/>
                </a:lnTo>
                <a:lnTo>
                  <a:pt x="4942362" y="139227"/>
                </a:lnTo>
                <a:lnTo>
                  <a:pt x="5049805" y="129553"/>
                </a:lnTo>
                <a:lnTo>
                  <a:pt x="5157248" y="119880"/>
                </a:lnTo>
                <a:lnTo>
                  <a:pt x="5264690" y="110206"/>
                </a:lnTo>
                <a:lnTo>
                  <a:pt x="5372133" y="100532"/>
                </a:lnTo>
                <a:lnTo>
                  <a:pt x="5479576" y="90858"/>
                </a:lnTo>
                <a:lnTo>
                  <a:pt x="5587018" y="81184"/>
                </a:lnTo>
                <a:lnTo>
                  <a:pt x="5694461" y="71510"/>
                </a:lnTo>
                <a:lnTo>
                  <a:pt x="5801903" y="61457"/>
                </a:lnTo>
                <a:lnTo>
                  <a:pt x="5909346" y="51214"/>
                </a:lnTo>
                <a:lnTo>
                  <a:pt x="6016789" y="40971"/>
                </a:lnTo>
                <a:lnTo>
                  <a:pt x="6124232" y="30729"/>
                </a:lnTo>
                <a:lnTo>
                  <a:pt x="6231674" y="20486"/>
                </a:lnTo>
                <a:lnTo>
                  <a:pt x="6339117" y="10243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35200" y="4045248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36" name="weight: 97-й центиль"/>
          <p:cNvSpPr/>
          <p:nvPr/>
        </p:nvSpPr>
        <p:spPr>
          <a:xfrm>
            <a:off x="548640" y="3865242"/>
            <a:ext cx="6446560" cy="616227"/>
          </a:xfrm>
          <a:custGeom>
            <a:avLst/>
            <a:gdLst/>
            <a:ahLst/>
            <a:cxnLst/>
            <a:rect l="l" t="t" r="r" b="b"/>
            <a:pathLst>
              <a:path w="6446560" h="616227">
                <a:moveTo>
                  <a:pt x="0" y="616227"/>
                </a:moveTo>
                <a:lnTo>
                  <a:pt x="107442" y="609961"/>
                </a:lnTo>
                <a:lnTo>
                  <a:pt x="214885" y="603694"/>
                </a:lnTo>
                <a:lnTo>
                  <a:pt x="322328" y="597427"/>
                </a:lnTo>
                <a:lnTo>
                  <a:pt x="429770" y="591160"/>
                </a:lnTo>
                <a:lnTo>
                  <a:pt x="537213" y="584894"/>
                </a:lnTo>
                <a:lnTo>
                  <a:pt x="644656" y="578627"/>
                </a:lnTo>
                <a:lnTo>
                  <a:pt x="752098" y="572012"/>
                </a:lnTo>
                <a:lnTo>
                  <a:pt x="859541" y="564701"/>
                </a:lnTo>
                <a:lnTo>
                  <a:pt x="966983" y="557390"/>
                </a:lnTo>
                <a:lnTo>
                  <a:pt x="1074426" y="550079"/>
                </a:lnTo>
                <a:lnTo>
                  <a:pt x="1181869" y="542767"/>
                </a:lnTo>
                <a:lnTo>
                  <a:pt x="1289312" y="535456"/>
                </a:lnTo>
                <a:lnTo>
                  <a:pt x="1396754" y="528145"/>
                </a:lnTo>
                <a:lnTo>
                  <a:pt x="1504197" y="520834"/>
                </a:lnTo>
                <a:lnTo>
                  <a:pt x="1611640" y="513523"/>
                </a:lnTo>
                <a:lnTo>
                  <a:pt x="1719082" y="506212"/>
                </a:lnTo>
                <a:lnTo>
                  <a:pt x="1826525" y="498900"/>
                </a:lnTo>
                <a:lnTo>
                  <a:pt x="1933968" y="491589"/>
                </a:lnTo>
                <a:lnTo>
                  <a:pt x="2041410" y="484278"/>
                </a:lnTo>
                <a:lnTo>
                  <a:pt x="2148853" y="476967"/>
                </a:lnTo>
                <a:lnTo>
                  <a:pt x="2256296" y="469656"/>
                </a:lnTo>
                <a:lnTo>
                  <a:pt x="2363738" y="462344"/>
                </a:lnTo>
                <a:lnTo>
                  <a:pt x="2471181" y="455033"/>
                </a:lnTo>
                <a:lnTo>
                  <a:pt x="2578624" y="447722"/>
                </a:lnTo>
                <a:lnTo>
                  <a:pt x="2686066" y="440411"/>
                </a:lnTo>
                <a:lnTo>
                  <a:pt x="2793509" y="433100"/>
                </a:lnTo>
                <a:lnTo>
                  <a:pt x="2900952" y="424309"/>
                </a:lnTo>
                <a:lnTo>
                  <a:pt x="3008394" y="412559"/>
                </a:lnTo>
                <a:lnTo>
                  <a:pt x="3115837" y="400809"/>
                </a:lnTo>
                <a:lnTo>
                  <a:pt x="3223280" y="389059"/>
                </a:lnTo>
                <a:lnTo>
                  <a:pt x="3330722" y="377309"/>
                </a:lnTo>
                <a:lnTo>
                  <a:pt x="3438165" y="365558"/>
                </a:lnTo>
                <a:lnTo>
                  <a:pt x="3545607" y="353808"/>
                </a:lnTo>
                <a:lnTo>
                  <a:pt x="3653050" y="342058"/>
                </a:lnTo>
                <a:lnTo>
                  <a:pt x="3760493" y="330308"/>
                </a:lnTo>
                <a:lnTo>
                  <a:pt x="3867936" y="318558"/>
                </a:lnTo>
                <a:lnTo>
                  <a:pt x="3975378" y="306808"/>
                </a:lnTo>
                <a:lnTo>
                  <a:pt x="4082821" y="295058"/>
                </a:lnTo>
                <a:lnTo>
                  <a:pt x="4190264" y="283308"/>
                </a:lnTo>
                <a:lnTo>
                  <a:pt x="4297706" y="271558"/>
                </a:lnTo>
                <a:lnTo>
                  <a:pt x="4405149" y="258241"/>
                </a:lnTo>
                <a:lnTo>
                  <a:pt x="4512592" y="244924"/>
                </a:lnTo>
                <a:lnTo>
                  <a:pt x="4620034" y="231607"/>
                </a:lnTo>
                <a:lnTo>
                  <a:pt x="4727477" y="218290"/>
                </a:lnTo>
                <a:lnTo>
                  <a:pt x="4834920" y="204974"/>
                </a:lnTo>
                <a:lnTo>
                  <a:pt x="4942362" y="191657"/>
                </a:lnTo>
                <a:lnTo>
                  <a:pt x="5049805" y="178340"/>
                </a:lnTo>
                <a:lnTo>
                  <a:pt x="5157248" y="165023"/>
                </a:lnTo>
                <a:lnTo>
                  <a:pt x="5264690" y="151706"/>
                </a:lnTo>
                <a:lnTo>
                  <a:pt x="5372133" y="138390"/>
                </a:lnTo>
                <a:lnTo>
                  <a:pt x="5479576" y="125073"/>
                </a:lnTo>
                <a:lnTo>
                  <a:pt x="5587018" y="111756"/>
                </a:lnTo>
                <a:lnTo>
                  <a:pt x="5694461" y="98439"/>
                </a:lnTo>
                <a:lnTo>
                  <a:pt x="5801903" y="84600"/>
                </a:lnTo>
                <a:lnTo>
                  <a:pt x="5909346" y="70500"/>
                </a:lnTo>
                <a:lnTo>
                  <a:pt x="6016789" y="56400"/>
                </a:lnTo>
                <a:lnTo>
                  <a:pt x="6124232" y="42300"/>
                </a:lnTo>
                <a:lnTo>
                  <a:pt x="6231674" y="28200"/>
                </a:lnTo>
                <a:lnTo>
                  <a:pt x="6339117" y="14100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35200" y="3785242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38" name="weight: ось"/>
          <p:cNvSpPr/>
          <p:nvPr/>
        </p:nvSpPr>
        <p:spPr>
          <a:xfrm>
            <a:off x="548640" y="4663440"/>
            <a:ext cx="6446560" cy="0"/>
          </a:xfrm>
          <a:custGeom>
            <a:avLst/>
            <a:gdLst/>
            <a:ahLst/>
            <a:cxnLst/>
            <a:rect l="l" t="t" r="r" b="b"/>
            <a:pathLst>
              <a:path w="6446560">
                <a:moveTo>
                  <a:pt x="0" y="0"/>
                </a:moveTo>
                <a:lnTo>
                  <a:pt x="6446560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8640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31208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63777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6346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8915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44" name="weight: пациент"/>
          <p:cNvSpPr/>
          <p:nvPr/>
        </p:nvSpPr>
        <p:spPr>
          <a:xfrm>
            <a:off x="548640" y="4269559"/>
            <a:ext cx="4297706" cy="299178"/>
          </a:xfrm>
          <a:custGeom>
            <a:avLst/>
            <a:gdLst/>
            <a:ahLst/>
            <a:cxnLst/>
            <a:rect l="l" t="t" r="r" b="b"/>
            <a:pathLst>
              <a:path w="4297706" h="299178">
                <a:moveTo>
                  <a:pt x="0" y="299178"/>
                </a:moveTo>
                <a:lnTo>
                  <a:pt x="59690" y="296252"/>
                </a:lnTo>
                <a:lnTo>
                  <a:pt x="119380" y="293318"/>
                </a:lnTo>
                <a:lnTo>
                  <a:pt x="179071" y="290376"/>
                </a:lnTo>
                <a:lnTo>
                  <a:pt x="238761" y="287427"/>
                </a:lnTo>
                <a:lnTo>
                  <a:pt x="298451" y="284469"/>
                </a:lnTo>
                <a:lnTo>
                  <a:pt x="358142" y="281504"/>
                </a:lnTo>
                <a:lnTo>
                  <a:pt x="417832" y="278530"/>
                </a:lnTo>
                <a:lnTo>
                  <a:pt x="477522" y="275549"/>
                </a:lnTo>
                <a:lnTo>
                  <a:pt x="537213" y="272560"/>
                </a:lnTo>
                <a:lnTo>
                  <a:pt x="596903" y="269563"/>
                </a:lnTo>
                <a:lnTo>
                  <a:pt x="656594" y="266558"/>
                </a:lnTo>
                <a:lnTo>
                  <a:pt x="716284" y="263545"/>
                </a:lnTo>
                <a:lnTo>
                  <a:pt x="775974" y="260493"/>
                </a:lnTo>
                <a:lnTo>
                  <a:pt x="835665" y="257440"/>
                </a:lnTo>
                <a:lnTo>
                  <a:pt x="895355" y="254387"/>
                </a:lnTo>
                <a:lnTo>
                  <a:pt x="955045" y="251335"/>
                </a:lnTo>
                <a:lnTo>
                  <a:pt x="1014736" y="248282"/>
                </a:lnTo>
                <a:lnTo>
                  <a:pt x="1074426" y="245229"/>
                </a:lnTo>
                <a:lnTo>
                  <a:pt x="1134117" y="242177"/>
                </a:lnTo>
                <a:lnTo>
                  <a:pt x="1193807" y="239124"/>
                </a:lnTo>
                <a:lnTo>
                  <a:pt x="1253497" y="236071"/>
                </a:lnTo>
                <a:lnTo>
                  <a:pt x="1313188" y="233019"/>
                </a:lnTo>
                <a:lnTo>
                  <a:pt x="1372878" y="229966"/>
                </a:lnTo>
                <a:lnTo>
                  <a:pt x="1432568" y="226913"/>
                </a:lnTo>
                <a:lnTo>
                  <a:pt x="1492259" y="223404"/>
                </a:lnTo>
                <a:lnTo>
                  <a:pt x="1551949" y="219885"/>
                </a:lnTo>
                <a:lnTo>
                  <a:pt x="1611640" y="216357"/>
                </a:lnTo>
                <a:lnTo>
                  <a:pt x="1671330" y="212819"/>
                </a:lnTo>
                <a:lnTo>
                  <a:pt x="1731020" y="209272"/>
                </a:lnTo>
                <a:lnTo>
                  <a:pt x="1790711" y="205716"/>
                </a:lnTo>
                <a:lnTo>
                  <a:pt x="1850401" y="202150"/>
                </a:lnTo>
                <a:lnTo>
                  <a:pt x="1910091" y="198575"/>
                </a:lnTo>
                <a:lnTo>
                  <a:pt x="1969782" y="194990"/>
                </a:lnTo>
                <a:lnTo>
                  <a:pt x="2029472" y="191396"/>
                </a:lnTo>
                <a:lnTo>
                  <a:pt x="2089162" y="187793"/>
                </a:lnTo>
                <a:lnTo>
                  <a:pt x="2148853" y="184180"/>
                </a:lnTo>
                <a:lnTo>
                  <a:pt x="2208543" y="180557"/>
                </a:lnTo>
                <a:lnTo>
                  <a:pt x="2268234" y="176925"/>
                </a:lnTo>
                <a:lnTo>
                  <a:pt x="2327924" y="173284"/>
                </a:lnTo>
                <a:lnTo>
                  <a:pt x="2387614" y="169632"/>
                </a:lnTo>
                <a:lnTo>
                  <a:pt x="2447305" y="165972"/>
                </a:lnTo>
                <a:lnTo>
                  <a:pt x="2506995" y="162301"/>
                </a:lnTo>
                <a:lnTo>
                  <a:pt x="2566685" y="158621"/>
                </a:lnTo>
                <a:lnTo>
                  <a:pt x="2626376" y="154931"/>
                </a:lnTo>
                <a:lnTo>
                  <a:pt x="2686066" y="151232"/>
                </a:lnTo>
                <a:lnTo>
                  <a:pt x="2745757" y="147523"/>
                </a:lnTo>
                <a:lnTo>
                  <a:pt x="2805447" y="143804"/>
                </a:lnTo>
                <a:lnTo>
                  <a:pt x="2865137" y="140075"/>
                </a:lnTo>
                <a:lnTo>
                  <a:pt x="2924828" y="134416"/>
                </a:lnTo>
                <a:lnTo>
                  <a:pt x="2984518" y="128743"/>
                </a:lnTo>
                <a:lnTo>
                  <a:pt x="3044208" y="123054"/>
                </a:lnTo>
                <a:lnTo>
                  <a:pt x="3103899" y="117349"/>
                </a:lnTo>
                <a:lnTo>
                  <a:pt x="3163589" y="111629"/>
                </a:lnTo>
                <a:lnTo>
                  <a:pt x="3223280" y="105894"/>
                </a:lnTo>
                <a:lnTo>
                  <a:pt x="3282970" y="100144"/>
                </a:lnTo>
                <a:lnTo>
                  <a:pt x="3342660" y="94378"/>
                </a:lnTo>
                <a:lnTo>
                  <a:pt x="3402351" y="88597"/>
                </a:lnTo>
                <a:lnTo>
                  <a:pt x="3462041" y="82800"/>
                </a:lnTo>
                <a:lnTo>
                  <a:pt x="3521731" y="76988"/>
                </a:lnTo>
                <a:lnTo>
                  <a:pt x="3581422" y="71160"/>
                </a:lnTo>
                <a:lnTo>
                  <a:pt x="3641112" y="65316"/>
                </a:lnTo>
                <a:lnTo>
                  <a:pt x="3700802" y="59457"/>
                </a:lnTo>
                <a:lnTo>
                  <a:pt x="3760493" y="53582"/>
                </a:lnTo>
                <a:lnTo>
                  <a:pt x="3820183" y="47692"/>
                </a:lnTo>
                <a:lnTo>
                  <a:pt x="3879874" y="41786"/>
                </a:lnTo>
                <a:lnTo>
                  <a:pt x="3939564" y="35864"/>
                </a:lnTo>
                <a:lnTo>
                  <a:pt x="3999254" y="29926"/>
                </a:lnTo>
                <a:lnTo>
                  <a:pt x="4058945" y="23973"/>
                </a:lnTo>
                <a:lnTo>
                  <a:pt x="4118635" y="18004"/>
                </a:lnTo>
                <a:lnTo>
                  <a:pt x="4178325" y="12018"/>
                </a:lnTo>
                <a:lnTo>
                  <a:pt x="4238016" y="6017"/>
                </a:lnTo>
                <a:lnTo>
                  <a:pt x="4297706" y="0"/>
                </a:lnTo>
              </a:path>
            </a:pathLst>
          </a:custGeom>
          <a:noFill/>
          <a:ln w="34925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weight: визит 4"/>
          <p:cNvSpPr/>
          <p:nvPr/>
        </p:nvSpPr>
        <p:spPr>
          <a:xfrm>
            <a:off x="488640" y="4508737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weight: визит 5"/>
          <p:cNvSpPr/>
          <p:nvPr/>
        </p:nvSpPr>
        <p:spPr>
          <a:xfrm>
            <a:off x="1204924" y="4473104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weight: визит 6"/>
          <p:cNvSpPr/>
          <p:nvPr/>
        </p:nvSpPr>
        <p:spPr>
          <a:xfrm>
            <a:off x="1921208" y="4436472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weight: визит 7"/>
          <p:cNvSpPr/>
          <p:nvPr/>
        </p:nvSpPr>
        <p:spPr>
          <a:xfrm>
            <a:off x="2637493" y="439373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weight: визит 8"/>
          <p:cNvSpPr/>
          <p:nvPr/>
        </p:nvSpPr>
        <p:spPr>
          <a:xfrm>
            <a:off x="3353777" y="4349634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weight: визит 9"/>
          <p:cNvSpPr/>
          <p:nvPr/>
        </p:nvSpPr>
        <p:spPr>
          <a:xfrm>
            <a:off x="4070062" y="428071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weight: визит 10"/>
          <p:cNvSpPr/>
          <p:nvPr/>
        </p:nvSpPr>
        <p:spPr>
          <a:xfrm>
            <a:off x="4786346" y="420955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3590061"/>
            <a:ext cx="6446560" cy="2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Масса, кг</a:t>
            </a:r>
          </a:p>
        </p:txBody>
      </p:sp>
      <p:sp>
        <p:nvSpPr>
          <p:cNvPr id="53" name="Легенда"/>
          <p:cNvSpPr/>
          <p:nvPr/>
        </p:nvSpPr>
        <p:spPr>
          <a:xfrm>
            <a:off x="548640" y="5029200"/>
            <a:ext cx="274320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Легенда"/>
          <p:cNvSpPr txBox="1"/>
          <p:nvPr/>
        </p:nvSpPr>
        <p:spPr>
          <a:xfrm>
            <a:off x="896112" y="496519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рост</a:t>
            </a:r>
          </a:p>
        </p:txBody>
      </p:sp>
      <p:sp>
        <p:nvSpPr>
          <p:cNvPr id="55" name="Легенда"/>
          <p:cNvSpPr/>
          <p:nvPr/>
        </p:nvSpPr>
        <p:spPr>
          <a:xfrm>
            <a:off x="2560320" y="5029200"/>
            <a:ext cx="274320" cy="91440"/>
          </a:xfrm>
          <a:prstGeom prst="rect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Легенда"/>
          <p:cNvSpPr txBox="1"/>
          <p:nvPr/>
        </p:nvSpPr>
        <p:spPr>
          <a:xfrm>
            <a:off x="2907792" y="496519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масса</a:t>
            </a:r>
          </a:p>
        </p:txBody>
      </p:sp>
      <p:sp>
        <p:nvSpPr>
          <p:cNvPr id="57" name="Легенда"/>
          <p:cNvSpPr/>
          <p:nvPr/>
        </p:nvSpPr>
        <p:spPr>
          <a:xfrm>
            <a:off x="4572000" y="5029200"/>
            <a:ext cx="274320" cy="9144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Легенда"/>
          <p:cNvSpPr txBox="1"/>
          <p:nvPr/>
        </p:nvSpPr>
        <p:spPr>
          <a:xfrm>
            <a:off x="4919472" y="496519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норма: 3–⁠97-й центиль</a:t>
            </a:r>
          </a:p>
        </p:txBody>
      </p:sp>
      <p:sp>
        <p:nvSpPr>
          <p:cNvPr id="61" name="Доказательность и источник"/>
          <p:cNvSpPr txBox="1"/>
          <p:nvPr/>
        </p:nvSpPr>
        <p:spPr>
          <a:xfrm>
            <a:off x="398640" y="6291640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>
                <a:solidFill>
                  <a:srgbClr val="66737C"/>
                </a:solidFill>
                <a:latin typeface="Calibri"/>
              </a:rPr>
              <a:t>Salerno M et al. Front Endocrinol (Lausanne) 2026;16:1744280;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Rohner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F et al. Thyroid 2020;30:898–⁠907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Чем дольше гипотиреоз не выявлен, тем больше потеря итогового роста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130759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881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6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Девочки (18)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Мальчики (6)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Возраст при диагнозе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11,4 года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10,6 года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Рост при диагнозе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−4,04 СО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−3,15 СО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Итоговый рост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149 см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168 см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063240"/>
            <a:ext cx="1109441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Тяжёлый первичный гипотиреоз: итоговый рост около 2 СО ниже нормы и ниже целевого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Итоговый рост в СО ниже, чем был до болезни: лечение потерю не вернуло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Связь с длительностью болезни до лечения: уровень значимости менее 0,01</a:t>
            </a:r>
          </a:p>
        </p:txBody>
      </p:sp>
      <p:sp>
        <p:nvSpPr>
          <p:cNvPr id="5" name="Доказательность и источник"/>
          <p:cNvSpPr txBox="1"/>
          <p:nvPr/>
        </p:nvSpPr>
        <p:spPr>
          <a:xfrm>
            <a:off x="398405" y="6330003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 err="1">
                <a:solidFill>
                  <a:srgbClr val="66737C"/>
                </a:solidFill>
                <a:latin typeface="Calibri"/>
              </a:rPr>
              <a:t>Rivkees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SA et al. N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Engl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J Med 1988;318:599–⁠602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Догоняющий рост тем полнее, чем раньше начато лечение и чем дальше до пубертата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12801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5547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Приобретённый первичный гипотиреоз: возраст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Стартовая доза левотироксина, мкг/кг/сут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1–⁠3 года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4–⁠6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3–⁠10 лет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3–⁠5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10–⁠16 лет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2–⁠4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063240"/>
            <a:ext cx="1109441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Тяжёлый гипотиреоз: малая стартовая доза, повышение за несколько недель (совет авторов обзора 2026 года)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Серия из 4 детей: скачок роста есть и после многолетнего гипотиреоза, но потеря осталась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Начало лечения незадолго до пубертата или в нём: догоняющий рост может быть неполным</a:t>
            </a:r>
          </a:p>
        </p:txBody>
      </p:sp>
      <p:sp>
        <p:nvSpPr>
          <p:cNvPr id="5" name="Доказательность и источник"/>
          <p:cNvSpPr txBox="1"/>
          <p:nvPr/>
        </p:nvSpPr>
        <p:spPr>
          <a:xfrm>
            <a:off x="386274" y="6320064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>
                <a:solidFill>
                  <a:srgbClr val="66737C"/>
                </a:solidFill>
                <a:latin typeface="Calibri"/>
              </a:rPr>
              <a:t>Salerno M et al. Front Endocrinol (Lausanne) 2026;16:1744280; Boersma B et al. Eur J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1996;155:362–⁠7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У ребёнка с давним гипотиреозом кость на лечении созревает быстрее, чем идёт рост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489797" y="1420699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Первые 18 мес лечения костный возраст обгонял рост, и до пубертата, и в нём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Аналог ГнРГ (гонадотропин-рилизинг-гормона) к левотироксину: польза для итогового роста не доказана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Малую стартовую дозу со слайда 10 советуют ради безопасности, о росте данных нет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370527" y="6335453"/>
            <a:ext cx="10454335" cy="1384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900" b="0" i="0" dirty="0" err="1">
                <a:solidFill>
                  <a:srgbClr val="66737C"/>
                </a:solidFill>
                <a:latin typeface="Calibri"/>
              </a:rPr>
              <a:t>Rivkees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SA et al. N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Engl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J Med 1988;318:599–⁠602; Teng L et al. J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Endocrinol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2004;17:345–⁠54; Salerno M et al. Front Endocrinol (Lausanne) 2026;16:1744280;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Minamitani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K et al. Arch Dis Child 1994;70:429–⁠30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300" b="1" i="0">
                <a:solidFill>
                  <a:srgbClr val="1B2E3C"/>
                </a:solidFill>
                <a:latin typeface="Cambria"/>
              </a:rPr>
              <a:t>Идиопатический субклинический гипотиреоз рост не замедляет, при отставании ищут другую причину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Идиопатический: причина повышения ТТГ (тиреотропного гормона) не найдена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36 детей, ТТГ 4,5–⁠10 мЕд/л, в среднем 3,3 года без лечения: рост не ухудшился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92 ребёнка, 2 года наблюдения: рост и ИМТ (индекс массы тела) не изменились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ТТГ нормализовался у 38 из 92, у 11 превысил 10 мЕд/л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111 детей, не только идиопатических: рост без лечения не ухудшился; лечение понадобилось 8,6 % идиопатических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449614" y="6351700"/>
            <a:ext cx="1039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 err="1">
                <a:solidFill>
                  <a:srgbClr val="66737C"/>
                </a:solidFill>
                <a:latin typeface="Calibri"/>
              </a:rPr>
              <a:t>Cerbone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M et al. Eur J Endocrinol 2011;164:591–⁠7;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Wasniewska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M et al. Eur J Endocrinol 2009;160:417–⁠21;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Zengin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NŞ et al. J Clin Res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Endocrinol 2026;18:498–⁠507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При центральном гипотиреозе ТТГ бывает нормальным, диагноз ставят по св. Т4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Диагноз: низкий св. Т4 (свободный тироксин) при низком или нормальном ТТГ, в двух анализах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Болезнь гипоталамуса или гипофиза: падение св. Т4 больше 20 % от исходного подкрепляет диагноз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Приобретённый: из объёмных образований у детей чаще краниофарингиома, обычно страдают и другие оси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До левотироксина исключить надпочечниковую недостаточность; если не удаётся, сначала глюкокортикоиды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Цель: св. Т4 в верхней половине возрастной нормы, кровь до утренней таблетки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327608" y="6320064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 err="1">
                <a:solidFill>
                  <a:srgbClr val="66737C"/>
                </a:solidFill>
                <a:latin typeface="Calibri"/>
              </a:rPr>
              <a:t>Persani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L et al.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Endocr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Connect 2019;8:R44–R54; van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Trotsenburg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P et al. Thyroid 2021;31:387–⁠419;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Boelen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A et al.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Handb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Clin Neurol 2021;180:161–⁠169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После начала лечения СТГ св. Т4 снижается, и части детей нужен левотироксин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15 детей: Т4 и индекс св. Т4 снизились за месяц, вернулись за 3–⁠12 мес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75 детей: св. Т4 снизился за 3–⁠6 мес, левотироксин понадобился 17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У этих 17 детей прибавка скорости роста на СТГ была меньше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СТГ или половые стероиды могут выявить скрытый центральный гипотиреоз или повысить потребность в левотироксине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Центральный гипотиреоз бывает частью дефицита нескольких гормонов гипофиза: о надпочечниках — слайд 13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356456" y="6361013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>
                <a:solidFill>
                  <a:srgbClr val="66737C"/>
                </a:solidFill>
                <a:latin typeface="Calibri"/>
              </a:rPr>
              <a:t>Wyatt DT et al. J Clin Endocrinol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1998;83:3493–⁠7;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Smyczyńska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J et al. Thyroid Res 2010;3:2;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Persani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L et al.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Endocr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Connect 2019;8:R44–R54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При раннем и достаточном лечении врождённого гипотиреоза итоговый рост не страдает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12801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6270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3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Врождённый гипотиреоз, св. Т4 до лечения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Стартовая доза левотироксина, мкг/кг/сут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Тяжёлый: меньше 5 пмоль/л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10–⁠15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Лёгкий: больше 10 пмоль/л при повышенном ТТГ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около 10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В пределах возрастной нормы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возможно 5–⁠10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485665" y="3063240"/>
            <a:ext cx="1109441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Левотироксин начинают как можно раньше, не позднее 2 недель жизни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При несиндромальной форме итоговый рост в норме, у большинства выше целевого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172 ребёнка: в 2 года рост нормальный, но ниже целевого при любой стартовой дозе</a:t>
            </a:r>
          </a:p>
        </p:txBody>
      </p:sp>
      <p:sp>
        <p:nvSpPr>
          <p:cNvPr id="5" name="Доказательность и источник"/>
          <p:cNvSpPr txBox="1"/>
          <p:nvPr/>
        </p:nvSpPr>
        <p:spPr>
          <a:xfrm>
            <a:off x="227248" y="6333949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>
                <a:solidFill>
                  <a:srgbClr val="66737C"/>
                </a:solidFill>
                <a:latin typeface="Calibri"/>
              </a:rPr>
              <a:t>van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Trotsenburg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P et al. Thyroid 2021;31:387–⁠419 (Endo-ERN,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одобрено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ESPE и ESE);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Niuro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L et al.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Res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Paediatr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2023;96:376–⁠84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Ребёнок с ожирением выше сверстников, а ребёнок с гиперкортицизмом ниже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5318607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E3C"/>
                </a:solidFill>
                <a:latin typeface="Calibri"/>
              </a:rPr>
              <a:t>Простое ожирение</a:t>
            </a:r>
          </a:p>
        </p:txBody>
      </p:sp>
      <p:sp>
        <p:nvSpPr>
          <p:cNvPr id="4" name="height: полоса 3–97"/>
          <p:cNvSpPr/>
          <p:nvPr/>
        </p:nvSpPr>
        <p:spPr>
          <a:xfrm>
            <a:off x="548640" y="2026445"/>
            <a:ext cx="4998607" cy="794750"/>
          </a:xfrm>
          <a:custGeom>
            <a:avLst/>
            <a:gdLst/>
            <a:ahLst/>
            <a:cxnLst/>
            <a:rect l="l" t="t" r="r" b="b"/>
            <a:pathLst>
              <a:path w="4998607" h="794750">
                <a:moveTo>
                  <a:pt x="0" y="579614"/>
                </a:moveTo>
                <a:lnTo>
                  <a:pt x="83310" y="566596"/>
                </a:lnTo>
                <a:lnTo>
                  <a:pt x="166620" y="553744"/>
                </a:lnTo>
                <a:lnTo>
                  <a:pt x="249930" y="541054"/>
                </a:lnTo>
                <a:lnTo>
                  <a:pt x="333240" y="528525"/>
                </a:lnTo>
                <a:lnTo>
                  <a:pt x="416550" y="516153"/>
                </a:lnTo>
                <a:lnTo>
                  <a:pt x="499860" y="503938"/>
                </a:lnTo>
                <a:lnTo>
                  <a:pt x="583170" y="491877"/>
                </a:lnTo>
                <a:lnTo>
                  <a:pt x="666481" y="479968"/>
                </a:lnTo>
                <a:lnTo>
                  <a:pt x="749791" y="468208"/>
                </a:lnTo>
                <a:lnTo>
                  <a:pt x="833101" y="456595"/>
                </a:lnTo>
                <a:lnTo>
                  <a:pt x="916411" y="445128"/>
                </a:lnTo>
                <a:lnTo>
                  <a:pt x="999721" y="433804"/>
                </a:lnTo>
                <a:lnTo>
                  <a:pt x="1083031" y="422620"/>
                </a:lnTo>
                <a:lnTo>
                  <a:pt x="1166341" y="411576"/>
                </a:lnTo>
                <a:lnTo>
                  <a:pt x="1249651" y="400669"/>
                </a:lnTo>
                <a:lnTo>
                  <a:pt x="1332962" y="389896"/>
                </a:lnTo>
                <a:lnTo>
                  <a:pt x="1416272" y="379256"/>
                </a:lnTo>
                <a:lnTo>
                  <a:pt x="1499582" y="368746"/>
                </a:lnTo>
                <a:lnTo>
                  <a:pt x="1582892" y="358365"/>
                </a:lnTo>
                <a:lnTo>
                  <a:pt x="1666202" y="348110"/>
                </a:lnTo>
                <a:lnTo>
                  <a:pt x="1749512" y="337978"/>
                </a:lnTo>
                <a:lnTo>
                  <a:pt x="1832822" y="327969"/>
                </a:lnTo>
                <a:lnTo>
                  <a:pt x="1916132" y="318079"/>
                </a:lnTo>
                <a:lnTo>
                  <a:pt x="1999443" y="308306"/>
                </a:lnTo>
                <a:lnTo>
                  <a:pt x="2082753" y="298648"/>
                </a:lnTo>
                <a:lnTo>
                  <a:pt x="2166063" y="289103"/>
                </a:lnTo>
                <a:lnTo>
                  <a:pt x="2249373" y="279667"/>
                </a:lnTo>
                <a:lnTo>
                  <a:pt x="2332683" y="270339"/>
                </a:lnTo>
                <a:lnTo>
                  <a:pt x="2415993" y="261115"/>
                </a:lnTo>
                <a:lnTo>
                  <a:pt x="2499303" y="251994"/>
                </a:lnTo>
                <a:lnTo>
                  <a:pt x="2582613" y="242971"/>
                </a:lnTo>
                <a:lnTo>
                  <a:pt x="2665924" y="234044"/>
                </a:lnTo>
                <a:lnTo>
                  <a:pt x="2749234" y="225210"/>
                </a:lnTo>
                <a:lnTo>
                  <a:pt x="2832544" y="216465"/>
                </a:lnTo>
                <a:lnTo>
                  <a:pt x="2915854" y="207806"/>
                </a:lnTo>
                <a:lnTo>
                  <a:pt x="2999164" y="199229"/>
                </a:lnTo>
                <a:lnTo>
                  <a:pt x="3082474" y="190730"/>
                </a:lnTo>
                <a:lnTo>
                  <a:pt x="3165784" y="182304"/>
                </a:lnTo>
                <a:lnTo>
                  <a:pt x="3249094" y="173946"/>
                </a:lnTo>
                <a:lnTo>
                  <a:pt x="3332405" y="165652"/>
                </a:lnTo>
                <a:lnTo>
                  <a:pt x="3415715" y="157416"/>
                </a:lnTo>
                <a:lnTo>
                  <a:pt x="3499025" y="149232"/>
                </a:lnTo>
                <a:lnTo>
                  <a:pt x="3582335" y="141094"/>
                </a:lnTo>
                <a:lnTo>
                  <a:pt x="3665645" y="132995"/>
                </a:lnTo>
                <a:lnTo>
                  <a:pt x="3748955" y="124926"/>
                </a:lnTo>
                <a:lnTo>
                  <a:pt x="3832265" y="116881"/>
                </a:lnTo>
                <a:lnTo>
                  <a:pt x="3915575" y="108849"/>
                </a:lnTo>
                <a:lnTo>
                  <a:pt x="3998886" y="100822"/>
                </a:lnTo>
                <a:lnTo>
                  <a:pt x="4082196" y="92788"/>
                </a:lnTo>
                <a:lnTo>
                  <a:pt x="4165506" y="84737"/>
                </a:lnTo>
                <a:lnTo>
                  <a:pt x="4248816" y="76655"/>
                </a:lnTo>
                <a:lnTo>
                  <a:pt x="4332126" y="68529"/>
                </a:lnTo>
                <a:lnTo>
                  <a:pt x="4415436" y="60346"/>
                </a:lnTo>
                <a:lnTo>
                  <a:pt x="4498746" y="52088"/>
                </a:lnTo>
                <a:lnTo>
                  <a:pt x="4582056" y="43741"/>
                </a:lnTo>
                <a:lnTo>
                  <a:pt x="4665367" y="35285"/>
                </a:lnTo>
                <a:lnTo>
                  <a:pt x="4748677" y="26704"/>
                </a:lnTo>
                <a:lnTo>
                  <a:pt x="4831987" y="17976"/>
                </a:lnTo>
                <a:lnTo>
                  <a:pt x="4915297" y="9081"/>
                </a:lnTo>
                <a:lnTo>
                  <a:pt x="4998607" y="0"/>
                </a:lnTo>
                <a:lnTo>
                  <a:pt x="4998607" y="286848"/>
                </a:lnTo>
                <a:lnTo>
                  <a:pt x="4915297" y="294735"/>
                </a:lnTo>
                <a:lnTo>
                  <a:pt x="4831987" y="302434"/>
                </a:lnTo>
                <a:lnTo>
                  <a:pt x="4748677" y="309967"/>
                </a:lnTo>
                <a:lnTo>
                  <a:pt x="4665367" y="317354"/>
                </a:lnTo>
                <a:lnTo>
                  <a:pt x="4582056" y="324614"/>
                </a:lnTo>
                <a:lnTo>
                  <a:pt x="4498746" y="331766"/>
                </a:lnTo>
                <a:lnTo>
                  <a:pt x="4415436" y="338828"/>
                </a:lnTo>
                <a:lnTo>
                  <a:pt x="4332126" y="345816"/>
                </a:lnTo>
                <a:lnTo>
                  <a:pt x="4248816" y="352747"/>
                </a:lnTo>
                <a:lnTo>
                  <a:pt x="4165506" y="359633"/>
                </a:lnTo>
                <a:lnTo>
                  <a:pt x="4082196" y="366490"/>
                </a:lnTo>
                <a:lnTo>
                  <a:pt x="3998886" y="373328"/>
                </a:lnTo>
                <a:lnTo>
                  <a:pt x="3915575" y="380161"/>
                </a:lnTo>
                <a:lnTo>
                  <a:pt x="3832265" y="386997"/>
                </a:lnTo>
                <a:lnTo>
                  <a:pt x="3748955" y="393847"/>
                </a:lnTo>
                <a:lnTo>
                  <a:pt x="3665645" y="400720"/>
                </a:lnTo>
                <a:lnTo>
                  <a:pt x="3582335" y="407625"/>
                </a:lnTo>
                <a:lnTo>
                  <a:pt x="3499025" y="414568"/>
                </a:lnTo>
                <a:lnTo>
                  <a:pt x="3415715" y="421556"/>
                </a:lnTo>
                <a:lnTo>
                  <a:pt x="3332405" y="428597"/>
                </a:lnTo>
                <a:lnTo>
                  <a:pt x="3249094" y="435696"/>
                </a:lnTo>
                <a:lnTo>
                  <a:pt x="3165784" y="442858"/>
                </a:lnTo>
                <a:lnTo>
                  <a:pt x="3082474" y="450089"/>
                </a:lnTo>
                <a:lnTo>
                  <a:pt x="2999164" y="457393"/>
                </a:lnTo>
                <a:lnTo>
                  <a:pt x="2915854" y="464775"/>
                </a:lnTo>
                <a:lnTo>
                  <a:pt x="2832544" y="472239"/>
                </a:lnTo>
                <a:lnTo>
                  <a:pt x="2749234" y="479789"/>
                </a:lnTo>
                <a:lnTo>
                  <a:pt x="2665924" y="487427"/>
                </a:lnTo>
                <a:lnTo>
                  <a:pt x="2582613" y="495159"/>
                </a:lnTo>
                <a:lnTo>
                  <a:pt x="2499303" y="502987"/>
                </a:lnTo>
                <a:lnTo>
                  <a:pt x="2415993" y="510913"/>
                </a:lnTo>
                <a:lnTo>
                  <a:pt x="2332683" y="518941"/>
                </a:lnTo>
                <a:lnTo>
                  <a:pt x="2249373" y="527074"/>
                </a:lnTo>
                <a:lnTo>
                  <a:pt x="2166063" y="535315"/>
                </a:lnTo>
                <a:lnTo>
                  <a:pt x="2082753" y="543665"/>
                </a:lnTo>
                <a:lnTo>
                  <a:pt x="1999443" y="552128"/>
                </a:lnTo>
                <a:lnTo>
                  <a:pt x="1916132" y="560705"/>
                </a:lnTo>
                <a:lnTo>
                  <a:pt x="1832822" y="569400"/>
                </a:lnTo>
                <a:lnTo>
                  <a:pt x="1749512" y="578214"/>
                </a:lnTo>
                <a:lnTo>
                  <a:pt x="1666202" y="587150"/>
                </a:lnTo>
                <a:lnTo>
                  <a:pt x="1582892" y="596210"/>
                </a:lnTo>
                <a:lnTo>
                  <a:pt x="1499582" y="605397"/>
                </a:lnTo>
                <a:lnTo>
                  <a:pt x="1416272" y="614711"/>
                </a:lnTo>
                <a:lnTo>
                  <a:pt x="1332962" y="624156"/>
                </a:lnTo>
                <a:lnTo>
                  <a:pt x="1249651" y="633733"/>
                </a:lnTo>
                <a:lnTo>
                  <a:pt x="1166341" y="643446"/>
                </a:lnTo>
                <a:lnTo>
                  <a:pt x="1083031" y="653295"/>
                </a:lnTo>
                <a:lnTo>
                  <a:pt x="999721" y="663283"/>
                </a:lnTo>
                <a:lnTo>
                  <a:pt x="916411" y="673412"/>
                </a:lnTo>
                <a:lnTo>
                  <a:pt x="833101" y="683684"/>
                </a:lnTo>
                <a:lnTo>
                  <a:pt x="749791" y="694101"/>
                </a:lnTo>
                <a:lnTo>
                  <a:pt x="666481" y="704666"/>
                </a:lnTo>
                <a:lnTo>
                  <a:pt x="583170" y="715380"/>
                </a:lnTo>
                <a:lnTo>
                  <a:pt x="499860" y="726246"/>
                </a:lnTo>
                <a:lnTo>
                  <a:pt x="416550" y="737266"/>
                </a:lnTo>
                <a:lnTo>
                  <a:pt x="333240" y="748442"/>
                </a:lnTo>
                <a:lnTo>
                  <a:pt x="249930" y="759776"/>
                </a:lnTo>
                <a:lnTo>
                  <a:pt x="166620" y="771271"/>
                </a:lnTo>
                <a:lnTo>
                  <a:pt x="83310" y="782928"/>
                </a:lnTo>
                <a:lnTo>
                  <a:pt x="0" y="794750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ight: 3-й центиль"/>
          <p:cNvSpPr/>
          <p:nvPr/>
        </p:nvSpPr>
        <p:spPr>
          <a:xfrm>
            <a:off x="548640" y="2313293"/>
            <a:ext cx="4998607" cy="507902"/>
          </a:xfrm>
          <a:custGeom>
            <a:avLst/>
            <a:gdLst/>
            <a:ahLst/>
            <a:cxnLst/>
            <a:rect l="l" t="t" r="r" b="b"/>
            <a:pathLst>
              <a:path w="4998607" h="507902">
                <a:moveTo>
                  <a:pt x="0" y="507902"/>
                </a:moveTo>
                <a:lnTo>
                  <a:pt x="83310" y="496080"/>
                </a:lnTo>
                <a:lnTo>
                  <a:pt x="166620" y="484423"/>
                </a:lnTo>
                <a:lnTo>
                  <a:pt x="249930" y="472928"/>
                </a:lnTo>
                <a:lnTo>
                  <a:pt x="333240" y="461594"/>
                </a:lnTo>
                <a:lnTo>
                  <a:pt x="416550" y="450418"/>
                </a:lnTo>
                <a:lnTo>
                  <a:pt x="499860" y="439398"/>
                </a:lnTo>
                <a:lnTo>
                  <a:pt x="583170" y="428532"/>
                </a:lnTo>
                <a:lnTo>
                  <a:pt x="666481" y="417818"/>
                </a:lnTo>
                <a:lnTo>
                  <a:pt x="749791" y="407253"/>
                </a:lnTo>
                <a:lnTo>
                  <a:pt x="833101" y="396836"/>
                </a:lnTo>
                <a:lnTo>
                  <a:pt x="916411" y="386564"/>
                </a:lnTo>
                <a:lnTo>
                  <a:pt x="999721" y="376435"/>
                </a:lnTo>
                <a:lnTo>
                  <a:pt x="1083031" y="366447"/>
                </a:lnTo>
                <a:lnTo>
                  <a:pt x="1166341" y="356598"/>
                </a:lnTo>
                <a:lnTo>
                  <a:pt x="1249651" y="346885"/>
                </a:lnTo>
                <a:lnTo>
                  <a:pt x="1332962" y="337308"/>
                </a:lnTo>
                <a:lnTo>
                  <a:pt x="1416272" y="327863"/>
                </a:lnTo>
                <a:lnTo>
                  <a:pt x="1499582" y="318549"/>
                </a:lnTo>
                <a:lnTo>
                  <a:pt x="1582892" y="309362"/>
                </a:lnTo>
                <a:lnTo>
                  <a:pt x="1666202" y="300302"/>
                </a:lnTo>
                <a:lnTo>
                  <a:pt x="1749512" y="291366"/>
                </a:lnTo>
                <a:lnTo>
                  <a:pt x="1832822" y="282552"/>
                </a:lnTo>
                <a:lnTo>
                  <a:pt x="1916132" y="273857"/>
                </a:lnTo>
                <a:lnTo>
                  <a:pt x="1999443" y="265280"/>
                </a:lnTo>
                <a:lnTo>
                  <a:pt x="2082753" y="256817"/>
                </a:lnTo>
                <a:lnTo>
                  <a:pt x="2166063" y="248467"/>
                </a:lnTo>
                <a:lnTo>
                  <a:pt x="2249373" y="240226"/>
                </a:lnTo>
                <a:lnTo>
                  <a:pt x="2332683" y="232093"/>
                </a:lnTo>
                <a:lnTo>
                  <a:pt x="2415993" y="224065"/>
                </a:lnTo>
                <a:lnTo>
                  <a:pt x="2499303" y="216139"/>
                </a:lnTo>
                <a:lnTo>
                  <a:pt x="2582613" y="208311"/>
                </a:lnTo>
                <a:lnTo>
                  <a:pt x="2665924" y="200579"/>
                </a:lnTo>
                <a:lnTo>
                  <a:pt x="2749234" y="192941"/>
                </a:lnTo>
                <a:lnTo>
                  <a:pt x="2832544" y="185391"/>
                </a:lnTo>
                <a:lnTo>
                  <a:pt x="2915854" y="177927"/>
                </a:lnTo>
                <a:lnTo>
                  <a:pt x="2999164" y="170545"/>
                </a:lnTo>
                <a:lnTo>
                  <a:pt x="3082474" y="163241"/>
                </a:lnTo>
                <a:lnTo>
                  <a:pt x="3165784" y="156010"/>
                </a:lnTo>
                <a:lnTo>
                  <a:pt x="3249094" y="148848"/>
                </a:lnTo>
                <a:lnTo>
                  <a:pt x="3332405" y="141749"/>
                </a:lnTo>
                <a:lnTo>
                  <a:pt x="3415715" y="134708"/>
                </a:lnTo>
                <a:lnTo>
                  <a:pt x="3499025" y="127720"/>
                </a:lnTo>
                <a:lnTo>
                  <a:pt x="3582335" y="120777"/>
                </a:lnTo>
                <a:lnTo>
                  <a:pt x="3665645" y="113872"/>
                </a:lnTo>
                <a:lnTo>
                  <a:pt x="3748955" y="106999"/>
                </a:lnTo>
                <a:lnTo>
                  <a:pt x="3832265" y="100149"/>
                </a:lnTo>
                <a:lnTo>
                  <a:pt x="3915575" y="93313"/>
                </a:lnTo>
                <a:lnTo>
                  <a:pt x="3998886" y="86480"/>
                </a:lnTo>
                <a:lnTo>
                  <a:pt x="4082196" y="79642"/>
                </a:lnTo>
                <a:lnTo>
                  <a:pt x="4165506" y="72785"/>
                </a:lnTo>
                <a:lnTo>
                  <a:pt x="4248816" y="65899"/>
                </a:lnTo>
                <a:lnTo>
                  <a:pt x="4332126" y="58968"/>
                </a:lnTo>
                <a:lnTo>
                  <a:pt x="4415436" y="51980"/>
                </a:lnTo>
                <a:lnTo>
                  <a:pt x="4498746" y="44918"/>
                </a:lnTo>
                <a:lnTo>
                  <a:pt x="4582056" y="37766"/>
                </a:lnTo>
                <a:lnTo>
                  <a:pt x="4665367" y="30506"/>
                </a:lnTo>
                <a:lnTo>
                  <a:pt x="4748677" y="23119"/>
                </a:lnTo>
                <a:lnTo>
                  <a:pt x="4831987" y="15586"/>
                </a:lnTo>
                <a:lnTo>
                  <a:pt x="4915297" y="7887"/>
                </a:lnTo>
                <a:lnTo>
                  <a:pt x="49986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87247" y="2233293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7" name="height: 50-й центиль"/>
          <p:cNvSpPr/>
          <p:nvPr/>
        </p:nvSpPr>
        <p:spPr>
          <a:xfrm>
            <a:off x="548640" y="2169869"/>
            <a:ext cx="4998607" cy="543758"/>
          </a:xfrm>
          <a:custGeom>
            <a:avLst/>
            <a:gdLst/>
            <a:ahLst/>
            <a:cxnLst/>
            <a:rect l="l" t="t" r="r" b="b"/>
            <a:pathLst>
              <a:path w="4998607" h="543758">
                <a:moveTo>
                  <a:pt x="0" y="543758"/>
                </a:moveTo>
                <a:lnTo>
                  <a:pt x="83310" y="531338"/>
                </a:lnTo>
                <a:lnTo>
                  <a:pt x="166620" y="519083"/>
                </a:lnTo>
                <a:lnTo>
                  <a:pt x="249930" y="506991"/>
                </a:lnTo>
                <a:lnTo>
                  <a:pt x="333240" y="495059"/>
                </a:lnTo>
                <a:lnTo>
                  <a:pt x="416550" y="483286"/>
                </a:lnTo>
                <a:lnTo>
                  <a:pt x="499860" y="471668"/>
                </a:lnTo>
                <a:lnTo>
                  <a:pt x="583170" y="460205"/>
                </a:lnTo>
                <a:lnTo>
                  <a:pt x="666481" y="448893"/>
                </a:lnTo>
                <a:lnTo>
                  <a:pt x="749791" y="437730"/>
                </a:lnTo>
                <a:lnTo>
                  <a:pt x="833101" y="426715"/>
                </a:lnTo>
                <a:lnTo>
                  <a:pt x="916411" y="415846"/>
                </a:lnTo>
                <a:lnTo>
                  <a:pt x="999721" y="405119"/>
                </a:lnTo>
                <a:lnTo>
                  <a:pt x="1083031" y="394534"/>
                </a:lnTo>
                <a:lnTo>
                  <a:pt x="1166341" y="384087"/>
                </a:lnTo>
                <a:lnTo>
                  <a:pt x="1249651" y="373777"/>
                </a:lnTo>
                <a:lnTo>
                  <a:pt x="1332962" y="363602"/>
                </a:lnTo>
                <a:lnTo>
                  <a:pt x="1416272" y="353559"/>
                </a:lnTo>
                <a:lnTo>
                  <a:pt x="1499582" y="343647"/>
                </a:lnTo>
                <a:lnTo>
                  <a:pt x="1582892" y="333864"/>
                </a:lnTo>
                <a:lnTo>
                  <a:pt x="1666202" y="324206"/>
                </a:lnTo>
                <a:lnTo>
                  <a:pt x="1749512" y="314672"/>
                </a:lnTo>
                <a:lnTo>
                  <a:pt x="1832822" y="305261"/>
                </a:lnTo>
                <a:lnTo>
                  <a:pt x="1916132" y="295968"/>
                </a:lnTo>
                <a:lnTo>
                  <a:pt x="1999443" y="286793"/>
                </a:lnTo>
                <a:lnTo>
                  <a:pt x="2082753" y="277733"/>
                </a:lnTo>
                <a:lnTo>
                  <a:pt x="2166063" y="268785"/>
                </a:lnTo>
                <a:lnTo>
                  <a:pt x="2249373" y="259947"/>
                </a:lnTo>
                <a:lnTo>
                  <a:pt x="2332683" y="251216"/>
                </a:lnTo>
                <a:lnTo>
                  <a:pt x="2415993" y="242590"/>
                </a:lnTo>
                <a:lnTo>
                  <a:pt x="2499303" y="234066"/>
                </a:lnTo>
                <a:lnTo>
                  <a:pt x="2582613" y="225641"/>
                </a:lnTo>
                <a:lnTo>
                  <a:pt x="2665924" y="217312"/>
                </a:lnTo>
                <a:lnTo>
                  <a:pt x="2749234" y="209075"/>
                </a:lnTo>
                <a:lnTo>
                  <a:pt x="2832544" y="200928"/>
                </a:lnTo>
                <a:lnTo>
                  <a:pt x="2915854" y="192867"/>
                </a:lnTo>
                <a:lnTo>
                  <a:pt x="2999164" y="184887"/>
                </a:lnTo>
                <a:lnTo>
                  <a:pt x="3082474" y="176985"/>
                </a:lnTo>
                <a:lnTo>
                  <a:pt x="3165784" y="169157"/>
                </a:lnTo>
                <a:lnTo>
                  <a:pt x="3249094" y="161397"/>
                </a:lnTo>
                <a:lnTo>
                  <a:pt x="3332405" y="153701"/>
                </a:lnTo>
                <a:lnTo>
                  <a:pt x="3415715" y="146062"/>
                </a:lnTo>
                <a:lnTo>
                  <a:pt x="3499025" y="138476"/>
                </a:lnTo>
                <a:lnTo>
                  <a:pt x="3582335" y="130935"/>
                </a:lnTo>
                <a:lnTo>
                  <a:pt x="3665645" y="123434"/>
                </a:lnTo>
                <a:lnTo>
                  <a:pt x="3748955" y="115963"/>
                </a:lnTo>
                <a:lnTo>
                  <a:pt x="3832265" y="108515"/>
                </a:lnTo>
                <a:lnTo>
                  <a:pt x="3915575" y="101081"/>
                </a:lnTo>
                <a:lnTo>
                  <a:pt x="3998886" y="93651"/>
                </a:lnTo>
                <a:lnTo>
                  <a:pt x="4082196" y="86215"/>
                </a:lnTo>
                <a:lnTo>
                  <a:pt x="4165506" y="78761"/>
                </a:lnTo>
                <a:lnTo>
                  <a:pt x="4248816" y="71277"/>
                </a:lnTo>
                <a:lnTo>
                  <a:pt x="4332126" y="63749"/>
                </a:lnTo>
                <a:lnTo>
                  <a:pt x="4415436" y="56163"/>
                </a:lnTo>
                <a:lnTo>
                  <a:pt x="4498746" y="48503"/>
                </a:lnTo>
                <a:lnTo>
                  <a:pt x="4582056" y="40753"/>
                </a:lnTo>
                <a:lnTo>
                  <a:pt x="4665367" y="32896"/>
                </a:lnTo>
                <a:lnTo>
                  <a:pt x="4748677" y="24911"/>
                </a:lnTo>
                <a:lnTo>
                  <a:pt x="4831987" y="16781"/>
                </a:lnTo>
                <a:lnTo>
                  <a:pt x="4915297" y="8484"/>
                </a:lnTo>
                <a:lnTo>
                  <a:pt x="49986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87247" y="2089869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9" name="height: 97-й центиль"/>
          <p:cNvSpPr/>
          <p:nvPr/>
        </p:nvSpPr>
        <p:spPr>
          <a:xfrm>
            <a:off x="548640" y="2026445"/>
            <a:ext cx="4998607" cy="579614"/>
          </a:xfrm>
          <a:custGeom>
            <a:avLst/>
            <a:gdLst/>
            <a:ahLst/>
            <a:cxnLst/>
            <a:rect l="l" t="t" r="r" b="b"/>
            <a:pathLst>
              <a:path w="4998607" h="579614">
                <a:moveTo>
                  <a:pt x="0" y="579614"/>
                </a:moveTo>
                <a:lnTo>
                  <a:pt x="83310" y="566596"/>
                </a:lnTo>
                <a:lnTo>
                  <a:pt x="166620" y="553744"/>
                </a:lnTo>
                <a:lnTo>
                  <a:pt x="249930" y="541054"/>
                </a:lnTo>
                <a:lnTo>
                  <a:pt x="333240" y="528525"/>
                </a:lnTo>
                <a:lnTo>
                  <a:pt x="416550" y="516153"/>
                </a:lnTo>
                <a:lnTo>
                  <a:pt x="499860" y="503938"/>
                </a:lnTo>
                <a:lnTo>
                  <a:pt x="583170" y="491877"/>
                </a:lnTo>
                <a:lnTo>
                  <a:pt x="666481" y="479968"/>
                </a:lnTo>
                <a:lnTo>
                  <a:pt x="749791" y="468208"/>
                </a:lnTo>
                <a:lnTo>
                  <a:pt x="833101" y="456595"/>
                </a:lnTo>
                <a:lnTo>
                  <a:pt x="916411" y="445128"/>
                </a:lnTo>
                <a:lnTo>
                  <a:pt x="999721" y="433804"/>
                </a:lnTo>
                <a:lnTo>
                  <a:pt x="1083031" y="422620"/>
                </a:lnTo>
                <a:lnTo>
                  <a:pt x="1166341" y="411576"/>
                </a:lnTo>
                <a:lnTo>
                  <a:pt x="1249651" y="400669"/>
                </a:lnTo>
                <a:lnTo>
                  <a:pt x="1332962" y="389896"/>
                </a:lnTo>
                <a:lnTo>
                  <a:pt x="1416272" y="379256"/>
                </a:lnTo>
                <a:lnTo>
                  <a:pt x="1499582" y="368746"/>
                </a:lnTo>
                <a:lnTo>
                  <a:pt x="1582892" y="358365"/>
                </a:lnTo>
                <a:lnTo>
                  <a:pt x="1666202" y="348110"/>
                </a:lnTo>
                <a:lnTo>
                  <a:pt x="1749512" y="337978"/>
                </a:lnTo>
                <a:lnTo>
                  <a:pt x="1832822" y="327969"/>
                </a:lnTo>
                <a:lnTo>
                  <a:pt x="1916132" y="318079"/>
                </a:lnTo>
                <a:lnTo>
                  <a:pt x="1999443" y="308306"/>
                </a:lnTo>
                <a:lnTo>
                  <a:pt x="2082753" y="298648"/>
                </a:lnTo>
                <a:lnTo>
                  <a:pt x="2166063" y="289103"/>
                </a:lnTo>
                <a:lnTo>
                  <a:pt x="2249373" y="279667"/>
                </a:lnTo>
                <a:lnTo>
                  <a:pt x="2332683" y="270339"/>
                </a:lnTo>
                <a:lnTo>
                  <a:pt x="2415993" y="261115"/>
                </a:lnTo>
                <a:lnTo>
                  <a:pt x="2499303" y="251994"/>
                </a:lnTo>
                <a:lnTo>
                  <a:pt x="2582613" y="242971"/>
                </a:lnTo>
                <a:lnTo>
                  <a:pt x="2665924" y="234044"/>
                </a:lnTo>
                <a:lnTo>
                  <a:pt x="2749234" y="225210"/>
                </a:lnTo>
                <a:lnTo>
                  <a:pt x="2832544" y="216465"/>
                </a:lnTo>
                <a:lnTo>
                  <a:pt x="2915854" y="207806"/>
                </a:lnTo>
                <a:lnTo>
                  <a:pt x="2999164" y="199229"/>
                </a:lnTo>
                <a:lnTo>
                  <a:pt x="3082474" y="190730"/>
                </a:lnTo>
                <a:lnTo>
                  <a:pt x="3165784" y="182304"/>
                </a:lnTo>
                <a:lnTo>
                  <a:pt x="3249094" y="173946"/>
                </a:lnTo>
                <a:lnTo>
                  <a:pt x="3332405" y="165652"/>
                </a:lnTo>
                <a:lnTo>
                  <a:pt x="3415715" y="157416"/>
                </a:lnTo>
                <a:lnTo>
                  <a:pt x="3499025" y="149232"/>
                </a:lnTo>
                <a:lnTo>
                  <a:pt x="3582335" y="141094"/>
                </a:lnTo>
                <a:lnTo>
                  <a:pt x="3665645" y="132995"/>
                </a:lnTo>
                <a:lnTo>
                  <a:pt x="3748955" y="124926"/>
                </a:lnTo>
                <a:lnTo>
                  <a:pt x="3832265" y="116881"/>
                </a:lnTo>
                <a:lnTo>
                  <a:pt x="3915575" y="108849"/>
                </a:lnTo>
                <a:lnTo>
                  <a:pt x="3998886" y="100822"/>
                </a:lnTo>
                <a:lnTo>
                  <a:pt x="4082196" y="92788"/>
                </a:lnTo>
                <a:lnTo>
                  <a:pt x="4165506" y="84737"/>
                </a:lnTo>
                <a:lnTo>
                  <a:pt x="4248816" y="76655"/>
                </a:lnTo>
                <a:lnTo>
                  <a:pt x="4332126" y="68529"/>
                </a:lnTo>
                <a:lnTo>
                  <a:pt x="4415436" y="60346"/>
                </a:lnTo>
                <a:lnTo>
                  <a:pt x="4498746" y="52088"/>
                </a:lnTo>
                <a:lnTo>
                  <a:pt x="4582056" y="43741"/>
                </a:lnTo>
                <a:lnTo>
                  <a:pt x="4665367" y="35285"/>
                </a:lnTo>
                <a:lnTo>
                  <a:pt x="4748677" y="26704"/>
                </a:lnTo>
                <a:lnTo>
                  <a:pt x="4831987" y="17976"/>
                </a:lnTo>
                <a:lnTo>
                  <a:pt x="4915297" y="9081"/>
                </a:lnTo>
                <a:lnTo>
                  <a:pt x="49986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87247" y="1946445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11" name="height: ось"/>
          <p:cNvSpPr/>
          <p:nvPr/>
        </p:nvSpPr>
        <p:spPr>
          <a:xfrm>
            <a:off x="548640" y="2868881"/>
            <a:ext cx="4998607" cy="0"/>
          </a:xfrm>
          <a:custGeom>
            <a:avLst/>
            <a:gdLst/>
            <a:ahLst/>
            <a:cxnLst/>
            <a:rect l="l" t="t" r="r" b="b"/>
            <a:pathLst>
              <a:path w="4998607">
                <a:moveTo>
                  <a:pt x="0" y="0"/>
                </a:moveTo>
                <a:lnTo>
                  <a:pt x="4998607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8640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726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6813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0900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4987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9073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3160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7247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20" name="height: пациент"/>
          <p:cNvSpPr/>
          <p:nvPr/>
        </p:nvSpPr>
        <p:spPr>
          <a:xfrm>
            <a:off x="548640" y="2142291"/>
            <a:ext cx="4284520" cy="542727"/>
          </a:xfrm>
          <a:custGeom>
            <a:avLst/>
            <a:gdLst/>
            <a:ahLst/>
            <a:cxnLst/>
            <a:rect l="l" t="t" r="r" b="b"/>
            <a:pathLst>
              <a:path w="4284520" h="542727">
                <a:moveTo>
                  <a:pt x="0" y="542727"/>
                </a:moveTo>
                <a:lnTo>
                  <a:pt x="119014" y="523367"/>
                </a:lnTo>
                <a:lnTo>
                  <a:pt x="238028" y="504318"/>
                </a:lnTo>
                <a:lnTo>
                  <a:pt x="357043" y="485574"/>
                </a:lnTo>
                <a:lnTo>
                  <a:pt x="476057" y="467130"/>
                </a:lnTo>
                <a:lnTo>
                  <a:pt x="595072" y="448978"/>
                </a:lnTo>
                <a:lnTo>
                  <a:pt x="714086" y="431112"/>
                </a:lnTo>
                <a:lnTo>
                  <a:pt x="833101" y="413526"/>
                </a:lnTo>
                <a:lnTo>
                  <a:pt x="952115" y="396214"/>
                </a:lnTo>
                <a:lnTo>
                  <a:pt x="1071130" y="379170"/>
                </a:lnTo>
                <a:lnTo>
                  <a:pt x="1190144" y="362387"/>
                </a:lnTo>
                <a:lnTo>
                  <a:pt x="1309159" y="345859"/>
                </a:lnTo>
                <a:lnTo>
                  <a:pt x="1428173" y="329580"/>
                </a:lnTo>
                <a:lnTo>
                  <a:pt x="1547188" y="313545"/>
                </a:lnTo>
                <a:lnTo>
                  <a:pt x="1666202" y="297746"/>
                </a:lnTo>
                <a:lnTo>
                  <a:pt x="1785216" y="282177"/>
                </a:lnTo>
                <a:lnTo>
                  <a:pt x="1904231" y="266832"/>
                </a:lnTo>
                <a:lnTo>
                  <a:pt x="2023245" y="251704"/>
                </a:lnTo>
                <a:lnTo>
                  <a:pt x="2142260" y="236786"/>
                </a:lnTo>
                <a:lnTo>
                  <a:pt x="2261274" y="222072"/>
                </a:lnTo>
                <a:lnTo>
                  <a:pt x="2380289" y="207553"/>
                </a:lnTo>
                <a:lnTo>
                  <a:pt x="2499303" y="193222"/>
                </a:lnTo>
                <a:lnTo>
                  <a:pt x="2618318" y="179070"/>
                </a:lnTo>
                <a:lnTo>
                  <a:pt x="2737332" y="165088"/>
                </a:lnTo>
                <a:lnTo>
                  <a:pt x="2856347" y="151267"/>
                </a:lnTo>
                <a:lnTo>
                  <a:pt x="2975361" y="138167"/>
                </a:lnTo>
                <a:lnTo>
                  <a:pt x="3094376" y="125213"/>
                </a:lnTo>
                <a:lnTo>
                  <a:pt x="3213390" y="112393"/>
                </a:lnTo>
                <a:lnTo>
                  <a:pt x="3332405" y="99691"/>
                </a:lnTo>
                <a:lnTo>
                  <a:pt x="3451419" y="87093"/>
                </a:lnTo>
                <a:lnTo>
                  <a:pt x="3570433" y="74580"/>
                </a:lnTo>
                <a:lnTo>
                  <a:pt x="3689448" y="62133"/>
                </a:lnTo>
                <a:lnTo>
                  <a:pt x="3808462" y="49729"/>
                </a:lnTo>
                <a:lnTo>
                  <a:pt x="3927477" y="37344"/>
                </a:lnTo>
                <a:lnTo>
                  <a:pt x="4046491" y="24949"/>
                </a:lnTo>
                <a:lnTo>
                  <a:pt x="4165506" y="12513"/>
                </a:lnTo>
                <a:lnTo>
                  <a:pt x="4284520" y="0"/>
                </a:lnTo>
              </a:path>
            </a:pathLst>
          </a:custGeom>
          <a:noFill/>
          <a:ln w="349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height: визит 5"/>
          <p:cNvSpPr/>
          <p:nvPr/>
        </p:nvSpPr>
        <p:spPr>
          <a:xfrm>
            <a:off x="488640" y="2625018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height: визит 7"/>
          <p:cNvSpPr/>
          <p:nvPr/>
        </p:nvSpPr>
        <p:spPr>
          <a:xfrm>
            <a:off x="1916813" y="2411871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height: визит 9"/>
          <p:cNvSpPr/>
          <p:nvPr/>
        </p:nvSpPr>
        <p:spPr>
          <a:xfrm>
            <a:off x="3344987" y="2233558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height: визит 11"/>
          <p:cNvSpPr/>
          <p:nvPr/>
        </p:nvSpPr>
        <p:spPr>
          <a:xfrm>
            <a:off x="4773160" y="2082291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1748760"/>
            <a:ext cx="4998607" cy="2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Рост, см</a:t>
            </a:r>
          </a:p>
        </p:txBody>
      </p:sp>
      <p:sp>
        <p:nvSpPr>
          <p:cNvPr id="26" name="weight: полоса 3–97"/>
          <p:cNvSpPr/>
          <p:nvPr/>
        </p:nvSpPr>
        <p:spPr>
          <a:xfrm>
            <a:off x="548640" y="3473667"/>
            <a:ext cx="4998607" cy="526500"/>
          </a:xfrm>
          <a:custGeom>
            <a:avLst/>
            <a:gdLst/>
            <a:ahLst/>
            <a:cxnLst/>
            <a:rect l="l" t="t" r="r" b="b"/>
            <a:pathLst>
              <a:path w="4998607" h="526500">
                <a:moveTo>
                  <a:pt x="0" y="389375"/>
                </a:moveTo>
                <a:lnTo>
                  <a:pt x="83310" y="384445"/>
                </a:lnTo>
                <a:lnTo>
                  <a:pt x="166620" y="379515"/>
                </a:lnTo>
                <a:lnTo>
                  <a:pt x="249930" y="374585"/>
                </a:lnTo>
                <a:lnTo>
                  <a:pt x="333240" y="369655"/>
                </a:lnTo>
                <a:lnTo>
                  <a:pt x="416550" y="364725"/>
                </a:lnTo>
                <a:lnTo>
                  <a:pt x="499860" y="359795"/>
                </a:lnTo>
                <a:lnTo>
                  <a:pt x="583170" y="354865"/>
                </a:lnTo>
                <a:lnTo>
                  <a:pt x="666481" y="349935"/>
                </a:lnTo>
                <a:lnTo>
                  <a:pt x="749791" y="345005"/>
                </a:lnTo>
                <a:lnTo>
                  <a:pt x="833101" y="340075"/>
                </a:lnTo>
                <a:lnTo>
                  <a:pt x="916411" y="335145"/>
                </a:lnTo>
                <a:lnTo>
                  <a:pt x="999721" y="330214"/>
                </a:lnTo>
                <a:lnTo>
                  <a:pt x="1083031" y="325284"/>
                </a:lnTo>
                <a:lnTo>
                  <a:pt x="1166341" y="320354"/>
                </a:lnTo>
                <a:lnTo>
                  <a:pt x="1249651" y="315424"/>
                </a:lnTo>
                <a:lnTo>
                  <a:pt x="1332962" y="310494"/>
                </a:lnTo>
                <a:lnTo>
                  <a:pt x="1416272" y="305564"/>
                </a:lnTo>
                <a:lnTo>
                  <a:pt x="1499582" y="300634"/>
                </a:lnTo>
                <a:lnTo>
                  <a:pt x="1582892" y="295704"/>
                </a:lnTo>
                <a:lnTo>
                  <a:pt x="1666202" y="290774"/>
                </a:lnTo>
                <a:lnTo>
                  <a:pt x="1749512" y="285844"/>
                </a:lnTo>
                <a:lnTo>
                  <a:pt x="1832822" y="280914"/>
                </a:lnTo>
                <a:lnTo>
                  <a:pt x="1916132" y="275984"/>
                </a:lnTo>
                <a:lnTo>
                  <a:pt x="1999443" y="271054"/>
                </a:lnTo>
                <a:lnTo>
                  <a:pt x="2082753" y="266123"/>
                </a:lnTo>
                <a:lnTo>
                  <a:pt x="2166063" y="260640"/>
                </a:lnTo>
                <a:lnTo>
                  <a:pt x="2249373" y="253773"/>
                </a:lnTo>
                <a:lnTo>
                  <a:pt x="2332683" y="246906"/>
                </a:lnTo>
                <a:lnTo>
                  <a:pt x="2415993" y="240039"/>
                </a:lnTo>
                <a:lnTo>
                  <a:pt x="2499303" y="233172"/>
                </a:lnTo>
                <a:lnTo>
                  <a:pt x="2582613" y="226306"/>
                </a:lnTo>
                <a:lnTo>
                  <a:pt x="2665924" y="219439"/>
                </a:lnTo>
                <a:lnTo>
                  <a:pt x="2749234" y="212572"/>
                </a:lnTo>
                <a:lnTo>
                  <a:pt x="2832544" y="205705"/>
                </a:lnTo>
                <a:lnTo>
                  <a:pt x="2915854" y="198838"/>
                </a:lnTo>
                <a:lnTo>
                  <a:pt x="2999164" y="191971"/>
                </a:lnTo>
                <a:lnTo>
                  <a:pt x="3082474" y="185104"/>
                </a:lnTo>
                <a:lnTo>
                  <a:pt x="3165784" y="178237"/>
                </a:lnTo>
                <a:lnTo>
                  <a:pt x="3249094" y="171370"/>
                </a:lnTo>
                <a:lnTo>
                  <a:pt x="3332405" y="164504"/>
                </a:lnTo>
                <a:lnTo>
                  <a:pt x="3415715" y="157637"/>
                </a:lnTo>
                <a:lnTo>
                  <a:pt x="3499025" y="150770"/>
                </a:lnTo>
                <a:lnTo>
                  <a:pt x="3582335" y="143676"/>
                </a:lnTo>
                <a:lnTo>
                  <a:pt x="3665645" y="135225"/>
                </a:lnTo>
                <a:lnTo>
                  <a:pt x="3748955" y="126773"/>
                </a:lnTo>
                <a:lnTo>
                  <a:pt x="3832265" y="118322"/>
                </a:lnTo>
                <a:lnTo>
                  <a:pt x="3915575" y="109870"/>
                </a:lnTo>
                <a:lnTo>
                  <a:pt x="3998886" y="101419"/>
                </a:lnTo>
                <a:lnTo>
                  <a:pt x="4082196" y="92967"/>
                </a:lnTo>
                <a:lnTo>
                  <a:pt x="4165506" y="84516"/>
                </a:lnTo>
                <a:lnTo>
                  <a:pt x="4248816" y="76064"/>
                </a:lnTo>
                <a:lnTo>
                  <a:pt x="4332126" y="67612"/>
                </a:lnTo>
                <a:lnTo>
                  <a:pt x="4415436" y="59161"/>
                </a:lnTo>
                <a:lnTo>
                  <a:pt x="4498746" y="50709"/>
                </a:lnTo>
                <a:lnTo>
                  <a:pt x="4582056" y="42258"/>
                </a:lnTo>
                <a:lnTo>
                  <a:pt x="4665367" y="33806"/>
                </a:lnTo>
                <a:lnTo>
                  <a:pt x="4748677" y="25355"/>
                </a:lnTo>
                <a:lnTo>
                  <a:pt x="4831987" y="16903"/>
                </a:lnTo>
                <a:lnTo>
                  <a:pt x="4915297" y="8452"/>
                </a:lnTo>
                <a:lnTo>
                  <a:pt x="4998607" y="0"/>
                </a:lnTo>
                <a:lnTo>
                  <a:pt x="4998607" y="296485"/>
                </a:lnTo>
                <a:lnTo>
                  <a:pt x="4915297" y="301477"/>
                </a:lnTo>
                <a:lnTo>
                  <a:pt x="4831987" y="306470"/>
                </a:lnTo>
                <a:lnTo>
                  <a:pt x="4748677" y="311462"/>
                </a:lnTo>
                <a:lnTo>
                  <a:pt x="4665367" y="316455"/>
                </a:lnTo>
                <a:lnTo>
                  <a:pt x="4582056" y="321448"/>
                </a:lnTo>
                <a:lnTo>
                  <a:pt x="4498746" y="326440"/>
                </a:lnTo>
                <a:lnTo>
                  <a:pt x="4415436" y="331433"/>
                </a:lnTo>
                <a:lnTo>
                  <a:pt x="4332126" y="336425"/>
                </a:lnTo>
                <a:lnTo>
                  <a:pt x="4248816" y="341418"/>
                </a:lnTo>
                <a:lnTo>
                  <a:pt x="4165506" y="346410"/>
                </a:lnTo>
                <a:lnTo>
                  <a:pt x="4082196" y="351403"/>
                </a:lnTo>
                <a:lnTo>
                  <a:pt x="3998886" y="356396"/>
                </a:lnTo>
                <a:lnTo>
                  <a:pt x="3915575" y="361388"/>
                </a:lnTo>
                <a:lnTo>
                  <a:pt x="3832265" y="366381"/>
                </a:lnTo>
                <a:lnTo>
                  <a:pt x="3748955" y="371373"/>
                </a:lnTo>
                <a:lnTo>
                  <a:pt x="3665645" y="376366"/>
                </a:lnTo>
                <a:lnTo>
                  <a:pt x="3582335" y="381358"/>
                </a:lnTo>
                <a:lnTo>
                  <a:pt x="3499025" y="385549"/>
                </a:lnTo>
                <a:lnTo>
                  <a:pt x="3415715" y="389605"/>
                </a:lnTo>
                <a:lnTo>
                  <a:pt x="3332405" y="393662"/>
                </a:lnTo>
                <a:lnTo>
                  <a:pt x="3249094" y="397718"/>
                </a:lnTo>
                <a:lnTo>
                  <a:pt x="3165784" y="401774"/>
                </a:lnTo>
                <a:lnTo>
                  <a:pt x="3082474" y="405831"/>
                </a:lnTo>
                <a:lnTo>
                  <a:pt x="2999164" y="409887"/>
                </a:lnTo>
                <a:lnTo>
                  <a:pt x="2915854" y="413944"/>
                </a:lnTo>
                <a:lnTo>
                  <a:pt x="2832544" y="418000"/>
                </a:lnTo>
                <a:lnTo>
                  <a:pt x="2749234" y="422057"/>
                </a:lnTo>
                <a:lnTo>
                  <a:pt x="2665924" y="426113"/>
                </a:lnTo>
                <a:lnTo>
                  <a:pt x="2582613" y="430170"/>
                </a:lnTo>
                <a:lnTo>
                  <a:pt x="2499303" y="434226"/>
                </a:lnTo>
                <a:lnTo>
                  <a:pt x="2415993" y="438283"/>
                </a:lnTo>
                <a:lnTo>
                  <a:pt x="2332683" y="442339"/>
                </a:lnTo>
                <a:lnTo>
                  <a:pt x="2249373" y="446396"/>
                </a:lnTo>
                <a:lnTo>
                  <a:pt x="2166063" y="450452"/>
                </a:lnTo>
                <a:lnTo>
                  <a:pt x="2082753" y="453691"/>
                </a:lnTo>
                <a:lnTo>
                  <a:pt x="1999443" y="456604"/>
                </a:lnTo>
                <a:lnTo>
                  <a:pt x="1916132" y="459516"/>
                </a:lnTo>
                <a:lnTo>
                  <a:pt x="1832822" y="462428"/>
                </a:lnTo>
                <a:lnTo>
                  <a:pt x="1749512" y="465341"/>
                </a:lnTo>
                <a:lnTo>
                  <a:pt x="1666202" y="468253"/>
                </a:lnTo>
                <a:lnTo>
                  <a:pt x="1582892" y="471165"/>
                </a:lnTo>
                <a:lnTo>
                  <a:pt x="1499582" y="474078"/>
                </a:lnTo>
                <a:lnTo>
                  <a:pt x="1416272" y="476990"/>
                </a:lnTo>
                <a:lnTo>
                  <a:pt x="1332962" y="479902"/>
                </a:lnTo>
                <a:lnTo>
                  <a:pt x="1249651" y="482815"/>
                </a:lnTo>
                <a:lnTo>
                  <a:pt x="1166341" y="485727"/>
                </a:lnTo>
                <a:lnTo>
                  <a:pt x="1083031" y="488639"/>
                </a:lnTo>
                <a:lnTo>
                  <a:pt x="999721" y="491552"/>
                </a:lnTo>
                <a:lnTo>
                  <a:pt x="916411" y="494464"/>
                </a:lnTo>
                <a:lnTo>
                  <a:pt x="833101" y="497376"/>
                </a:lnTo>
                <a:lnTo>
                  <a:pt x="749791" y="500289"/>
                </a:lnTo>
                <a:lnTo>
                  <a:pt x="666481" y="503201"/>
                </a:lnTo>
                <a:lnTo>
                  <a:pt x="583170" y="506113"/>
                </a:lnTo>
                <a:lnTo>
                  <a:pt x="499860" y="509026"/>
                </a:lnTo>
                <a:lnTo>
                  <a:pt x="416550" y="511938"/>
                </a:lnTo>
                <a:lnTo>
                  <a:pt x="333240" y="514850"/>
                </a:lnTo>
                <a:lnTo>
                  <a:pt x="249930" y="517763"/>
                </a:lnTo>
                <a:lnTo>
                  <a:pt x="166620" y="520675"/>
                </a:lnTo>
                <a:lnTo>
                  <a:pt x="83310" y="523587"/>
                </a:lnTo>
                <a:lnTo>
                  <a:pt x="0" y="526500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weight: 3-й центиль"/>
          <p:cNvSpPr/>
          <p:nvPr/>
        </p:nvSpPr>
        <p:spPr>
          <a:xfrm>
            <a:off x="548640" y="3770152"/>
            <a:ext cx="4998607" cy="230015"/>
          </a:xfrm>
          <a:custGeom>
            <a:avLst/>
            <a:gdLst/>
            <a:ahLst/>
            <a:cxnLst/>
            <a:rect l="l" t="t" r="r" b="b"/>
            <a:pathLst>
              <a:path w="4998607" h="230015">
                <a:moveTo>
                  <a:pt x="0" y="230015"/>
                </a:moveTo>
                <a:lnTo>
                  <a:pt x="83310" y="227102"/>
                </a:lnTo>
                <a:lnTo>
                  <a:pt x="166620" y="224190"/>
                </a:lnTo>
                <a:lnTo>
                  <a:pt x="249930" y="221278"/>
                </a:lnTo>
                <a:lnTo>
                  <a:pt x="333240" y="218365"/>
                </a:lnTo>
                <a:lnTo>
                  <a:pt x="416550" y="215453"/>
                </a:lnTo>
                <a:lnTo>
                  <a:pt x="499860" y="212541"/>
                </a:lnTo>
                <a:lnTo>
                  <a:pt x="583170" y="209628"/>
                </a:lnTo>
                <a:lnTo>
                  <a:pt x="666481" y="206716"/>
                </a:lnTo>
                <a:lnTo>
                  <a:pt x="749791" y="203804"/>
                </a:lnTo>
                <a:lnTo>
                  <a:pt x="833101" y="200891"/>
                </a:lnTo>
                <a:lnTo>
                  <a:pt x="916411" y="197979"/>
                </a:lnTo>
                <a:lnTo>
                  <a:pt x="999721" y="195067"/>
                </a:lnTo>
                <a:lnTo>
                  <a:pt x="1083031" y="192154"/>
                </a:lnTo>
                <a:lnTo>
                  <a:pt x="1166341" y="189242"/>
                </a:lnTo>
                <a:lnTo>
                  <a:pt x="1249651" y="186330"/>
                </a:lnTo>
                <a:lnTo>
                  <a:pt x="1332962" y="183417"/>
                </a:lnTo>
                <a:lnTo>
                  <a:pt x="1416272" y="180505"/>
                </a:lnTo>
                <a:lnTo>
                  <a:pt x="1499582" y="177593"/>
                </a:lnTo>
                <a:lnTo>
                  <a:pt x="1582892" y="174680"/>
                </a:lnTo>
                <a:lnTo>
                  <a:pt x="1666202" y="171768"/>
                </a:lnTo>
                <a:lnTo>
                  <a:pt x="1749512" y="168856"/>
                </a:lnTo>
                <a:lnTo>
                  <a:pt x="1832822" y="165943"/>
                </a:lnTo>
                <a:lnTo>
                  <a:pt x="1916132" y="163031"/>
                </a:lnTo>
                <a:lnTo>
                  <a:pt x="1999443" y="160119"/>
                </a:lnTo>
                <a:lnTo>
                  <a:pt x="2082753" y="157206"/>
                </a:lnTo>
                <a:lnTo>
                  <a:pt x="2166063" y="153967"/>
                </a:lnTo>
                <a:lnTo>
                  <a:pt x="2249373" y="149911"/>
                </a:lnTo>
                <a:lnTo>
                  <a:pt x="2332683" y="145854"/>
                </a:lnTo>
                <a:lnTo>
                  <a:pt x="2415993" y="141798"/>
                </a:lnTo>
                <a:lnTo>
                  <a:pt x="2499303" y="137741"/>
                </a:lnTo>
                <a:lnTo>
                  <a:pt x="2582613" y="133685"/>
                </a:lnTo>
                <a:lnTo>
                  <a:pt x="2665924" y="129628"/>
                </a:lnTo>
                <a:lnTo>
                  <a:pt x="2749234" y="125572"/>
                </a:lnTo>
                <a:lnTo>
                  <a:pt x="2832544" y="121515"/>
                </a:lnTo>
                <a:lnTo>
                  <a:pt x="2915854" y="117459"/>
                </a:lnTo>
                <a:lnTo>
                  <a:pt x="2999164" y="113402"/>
                </a:lnTo>
                <a:lnTo>
                  <a:pt x="3082474" y="109346"/>
                </a:lnTo>
                <a:lnTo>
                  <a:pt x="3165784" y="105289"/>
                </a:lnTo>
                <a:lnTo>
                  <a:pt x="3249094" y="101233"/>
                </a:lnTo>
                <a:lnTo>
                  <a:pt x="3332405" y="97177"/>
                </a:lnTo>
                <a:lnTo>
                  <a:pt x="3415715" y="93120"/>
                </a:lnTo>
                <a:lnTo>
                  <a:pt x="3499025" y="89064"/>
                </a:lnTo>
                <a:lnTo>
                  <a:pt x="3582335" y="84873"/>
                </a:lnTo>
                <a:lnTo>
                  <a:pt x="3665645" y="79881"/>
                </a:lnTo>
                <a:lnTo>
                  <a:pt x="3748955" y="74888"/>
                </a:lnTo>
                <a:lnTo>
                  <a:pt x="3832265" y="69896"/>
                </a:lnTo>
                <a:lnTo>
                  <a:pt x="3915575" y="64903"/>
                </a:lnTo>
                <a:lnTo>
                  <a:pt x="3998886" y="59911"/>
                </a:lnTo>
                <a:lnTo>
                  <a:pt x="4082196" y="54918"/>
                </a:lnTo>
                <a:lnTo>
                  <a:pt x="4165506" y="49925"/>
                </a:lnTo>
                <a:lnTo>
                  <a:pt x="4248816" y="44933"/>
                </a:lnTo>
                <a:lnTo>
                  <a:pt x="4332126" y="39940"/>
                </a:lnTo>
                <a:lnTo>
                  <a:pt x="4415436" y="34948"/>
                </a:lnTo>
                <a:lnTo>
                  <a:pt x="4498746" y="29955"/>
                </a:lnTo>
                <a:lnTo>
                  <a:pt x="4582056" y="24963"/>
                </a:lnTo>
                <a:lnTo>
                  <a:pt x="4665367" y="19970"/>
                </a:lnTo>
                <a:lnTo>
                  <a:pt x="4748677" y="14977"/>
                </a:lnTo>
                <a:lnTo>
                  <a:pt x="4831987" y="9985"/>
                </a:lnTo>
                <a:lnTo>
                  <a:pt x="4915297" y="4992"/>
                </a:lnTo>
                <a:lnTo>
                  <a:pt x="49986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87247" y="3690152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29" name="weight: 50-й центиль"/>
          <p:cNvSpPr/>
          <p:nvPr/>
        </p:nvSpPr>
        <p:spPr>
          <a:xfrm>
            <a:off x="548640" y="3671839"/>
            <a:ext cx="4998607" cy="282858"/>
          </a:xfrm>
          <a:custGeom>
            <a:avLst/>
            <a:gdLst/>
            <a:ahLst/>
            <a:cxnLst/>
            <a:rect l="l" t="t" r="r" b="b"/>
            <a:pathLst>
              <a:path w="4998607" h="282858">
                <a:moveTo>
                  <a:pt x="0" y="282858"/>
                </a:moveTo>
                <a:lnTo>
                  <a:pt x="83310" y="279277"/>
                </a:lnTo>
                <a:lnTo>
                  <a:pt x="166620" y="275695"/>
                </a:lnTo>
                <a:lnTo>
                  <a:pt x="249930" y="272114"/>
                </a:lnTo>
                <a:lnTo>
                  <a:pt x="333240" y="268533"/>
                </a:lnTo>
                <a:lnTo>
                  <a:pt x="416550" y="264951"/>
                </a:lnTo>
                <a:lnTo>
                  <a:pt x="499860" y="261370"/>
                </a:lnTo>
                <a:lnTo>
                  <a:pt x="583170" y="257788"/>
                </a:lnTo>
                <a:lnTo>
                  <a:pt x="666481" y="254207"/>
                </a:lnTo>
                <a:lnTo>
                  <a:pt x="749791" y="250626"/>
                </a:lnTo>
                <a:lnTo>
                  <a:pt x="833101" y="247044"/>
                </a:lnTo>
                <a:lnTo>
                  <a:pt x="916411" y="243463"/>
                </a:lnTo>
                <a:lnTo>
                  <a:pt x="999721" y="239881"/>
                </a:lnTo>
                <a:lnTo>
                  <a:pt x="1083031" y="236300"/>
                </a:lnTo>
                <a:lnTo>
                  <a:pt x="1166341" y="232719"/>
                </a:lnTo>
                <a:lnTo>
                  <a:pt x="1249651" y="229137"/>
                </a:lnTo>
                <a:lnTo>
                  <a:pt x="1332962" y="225556"/>
                </a:lnTo>
                <a:lnTo>
                  <a:pt x="1416272" y="221974"/>
                </a:lnTo>
                <a:lnTo>
                  <a:pt x="1499582" y="218393"/>
                </a:lnTo>
                <a:lnTo>
                  <a:pt x="1582892" y="214811"/>
                </a:lnTo>
                <a:lnTo>
                  <a:pt x="1666202" y="211230"/>
                </a:lnTo>
                <a:lnTo>
                  <a:pt x="1749512" y="207649"/>
                </a:lnTo>
                <a:lnTo>
                  <a:pt x="1832822" y="204067"/>
                </a:lnTo>
                <a:lnTo>
                  <a:pt x="1916132" y="200486"/>
                </a:lnTo>
                <a:lnTo>
                  <a:pt x="1999443" y="196904"/>
                </a:lnTo>
                <a:lnTo>
                  <a:pt x="2082753" y="193323"/>
                </a:lnTo>
                <a:lnTo>
                  <a:pt x="2166063" y="189340"/>
                </a:lnTo>
                <a:lnTo>
                  <a:pt x="2249373" y="184351"/>
                </a:lnTo>
                <a:lnTo>
                  <a:pt x="2332683" y="179363"/>
                </a:lnTo>
                <a:lnTo>
                  <a:pt x="2415993" y="174375"/>
                </a:lnTo>
                <a:lnTo>
                  <a:pt x="2499303" y="169386"/>
                </a:lnTo>
                <a:lnTo>
                  <a:pt x="2582613" y="164398"/>
                </a:lnTo>
                <a:lnTo>
                  <a:pt x="2665924" y="159409"/>
                </a:lnTo>
                <a:lnTo>
                  <a:pt x="2749234" y="154421"/>
                </a:lnTo>
                <a:lnTo>
                  <a:pt x="2832544" y="149433"/>
                </a:lnTo>
                <a:lnTo>
                  <a:pt x="2915854" y="144444"/>
                </a:lnTo>
                <a:lnTo>
                  <a:pt x="2999164" y="139456"/>
                </a:lnTo>
                <a:lnTo>
                  <a:pt x="3082474" y="134467"/>
                </a:lnTo>
                <a:lnTo>
                  <a:pt x="3165784" y="129479"/>
                </a:lnTo>
                <a:lnTo>
                  <a:pt x="3249094" y="124491"/>
                </a:lnTo>
                <a:lnTo>
                  <a:pt x="3332405" y="119502"/>
                </a:lnTo>
                <a:lnTo>
                  <a:pt x="3415715" y="114514"/>
                </a:lnTo>
                <a:lnTo>
                  <a:pt x="3499025" y="109526"/>
                </a:lnTo>
                <a:lnTo>
                  <a:pt x="3582335" y="104373"/>
                </a:lnTo>
                <a:lnTo>
                  <a:pt x="3665645" y="98233"/>
                </a:lnTo>
                <a:lnTo>
                  <a:pt x="3748955" y="92094"/>
                </a:lnTo>
                <a:lnTo>
                  <a:pt x="3832265" y="85954"/>
                </a:lnTo>
                <a:lnTo>
                  <a:pt x="3915575" y="79815"/>
                </a:lnTo>
                <a:lnTo>
                  <a:pt x="3998886" y="73675"/>
                </a:lnTo>
                <a:lnTo>
                  <a:pt x="4082196" y="67535"/>
                </a:lnTo>
                <a:lnTo>
                  <a:pt x="4165506" y="61396"/>
                </a:lnTo>
                <a:lnTo>
                  <a:pt x="4248816" y="55256"/>
                </a:lnTo>
                <a:lnTo>
                  <a:pt x="4332126" y="49117"/>
                </a:lnTo>
                <a:lnTo>
                  <a:pt x="4415436" y="42977"/>
                </a:lnTo>
                <a:lnTo>
                  <a:pt x="4498746" y="36838"/>
                </a:lnTo>
                <a:lnTo>
                  <a:pt x="4582056" y="30698"/>
                </a:lnTo>
                <a:lnTo>
                  <a:pt x="4665367" y="24559"/>
                </a:lnTo>
                <a:lnTo>
                  <a:pt x="4748677" y="18419"/>
                </a:lnTo>
                <a:lnTo>
                  <a:pt x="4831987" y="12280"/>
                </a:lnTo>
                <a:lnTo>
                  <a:pt x="4915297" y="6140"/>
                </a:lnTo>
                <a:lnTo>
                  <a:pt x="49986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87247" y="3591839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31" name="weight: 97-й центиль"/>
          <p:cNvSpPr/>
          <p:nvPr/>
        </p:nvSpPr>
        <p:spPr>
          <a:xfrm>
            <a:off x="548640" y="3473667"/>
            <a:ext cx="4998607" cy="389375"/>
          </a:xfrm>
          <a:custGeom>
            <a:avLst/>
            <a:gdLst/>
            <a:ahLst/>
            <a:cxnLst/>
            <a:rect l="l" t="t" r="r" b="b"/>
            <a:pathLst>
              <a:path w="4998607" h="389375">
                <a:moveTo>
                  <a:pt x="0" y="389375"/>
                </a:moveTo>
                <a:lnTo>
                  <a:pt x="83310" y="384445"/>
                </a:lnTo>
                <a:lnTo>
                  <a:pt x="166620" y="379515"/>
                </a:lnTo>
                <a:lnTo>
                  <a:pt x="249930" y="374585"/>
                </a:lnTo>
                <a:lnTo>
                  <a:pt x="333240" y="369655"/>
                </a:lnTo>
                <a:lnTo>
                  <a:pt x="416550" y="364725"/>
                </a:lnTo>
                <a:lnTo>
                  <a:pt x="499860" y="359795"/>
                </a:lnTo>
                <a:lnTo>
                  <a:pt x="583170" y="354865"/>
                </a:lnTo>
                <a:lnTo>
                  <a:pt x="666481" y="349935"/>
                </a:lnTo>
                <a:lnTo>
                  <a:pt x="749791" y="345005"/>
                </a:lnTo>
                <a:lnTo>
                  <a:pt x="833101" y="340075"/>
                </a:lnTo>
                <a:lnTo>
                  <a:pt x="916411" y="335145"/>
                </a:lnTo>
                <a:lnTo>
                  <a:pt x="999721" y="330214"/>
                </a:lnTo>
                <a:lnTo>
                  <a:pt x="1083031" y="325284"/>
                </a:lnTo>
                <a:lnTo>
                  <a:pt x="1166341" y="320354"/>
                </a:lnTo>
                <a:lnTo>
                  <a:pt x="1249651" y="315424"/>
                </a:lnTo>
                <a:lnTo>
                  <a:pt x="1332962" y="310494"/>
                </a:lnTo>
                <a:lnTo>
                  <a:pt x="1416272" y="305564"/>
                </a:lnTo>
                <a:lnTo>
                  <a:pt x="1499582" y="300634"/>
                </a:lnTo>
                <a:lnTo>
                  <a:pt x="1582892" y="295704"/>
                </a:lnTo>
                <a:lnTo>
                  <a:pt x="1666202" y="290774"/>
                </a:lnTo>
                <a:lnTo>
                  <a:pt x="1749512" y="285844"/>
                </a:lnTo>
                <a:lnTo>
                  <a:pt x="1832822" y="280914"/>
                </a:lnTo>
                <a:lnTo>
                  <a:pt x="1916132" y="275984"/>
                </a:lnTo>
                <a:lnTo>
                  <a:pt x="1999443" y="271054"/>
                </a:lnTo>
                <a:lnTo>
                  <a:pt x="2082753" y="266123"/>
                </a:lnTo>
                <a:lnTo>
                  <a:pt x="2166063" y="260640"/>
                </a:lnTo>
                <a:lnTo>
                  <a:pt x="2249373" y="253773"/>
                </a:lnTo>
                <a:lnTo>
                  <a:pt x="2332683" y="246906"/>
                </a:lnTo>
                <a:lnTo>
                  <a:pt x="2415993" y="240039"/>
                </a:lnTo>
                <a:lnTo>
                  <a:pt x="2499303" y="233172"/>
                </a:lnTo>
                <a:lnTo>
                  <a:pt x="2582613" y="226306"/>
                </a:lnTo>
                <a:lnTo>
                  <a:pt x="2665924" y="219439"/>
                </a:lnTo>
                <a:lnTo>
                  <a:pt x="2749234" y="212572"/>
                </a:lnTo>
                <a:lnTo>
                  <a:pt x="2832544" y="205705"/>
                </a:lnTo>
                <a:lnTo>
                  <a:pt x="2915854" y="198838"/>
                </a:lnTo>
                <a:lnTo>
                  <a:pt x="2999164" y="191971"/>
                </a:lnTo>
                <a:lnTo>
                  <a:pt x="3082474" y="185104"/>
                </a:lnTo>
                <a:lnTo>
                  <a:pt x="3165784" y="178237"/>
                </a:lnTo>
                <a:lnTo>
                  <a:pt x="3249094" y="171370"/>
                </a:lnTo>
                <a:lnTo>
                  <a:pt x="3332405" y="164504"/>
                </a:lnTo>
                <a:lnTo>
                  <a:pt x="3415715" y="157637"/>
                </a:lnTo>
                <a:lnTo>
                  <a:pt x="3499025" y="150770"/>
                </a:lnTo>
                <a:lnTo>
                  <a:pt x="3582335" y="143676"/>
                </a:lnTo>
                <a:lnTo>
                  <a:pt x="3665645" y="135225"/>
                </a:lnTo>
                <a:lnTo>
                  <a:pt x="3748955" y="126773"/>
                </a:lnTo>
                <a:lnTo>
                  <a:pt x="3832265" y="118322"/>
                </a:lnTo>
                <a:lnTo>
                  <a:pt x="3915575" y="109870"/>
                </a:lnTo>
                <a:lnTo>
                  <a:pt x="3998886" y="101419"/>
                </a:lnTo>
                <a:lnTo>
                  <a:pt x="4082196" y="92967"/>
                </a:lnTo>
                <a:lnTo>
                  <a:pt x="4165506" y="84516"/>
                </a:lnTo>
                <a:lnTo>
                  <a:pt x="4248816" y="76064"/>
                </a:lnTo>
                <a:lnTo>
                  <a:pt x="4332126" y="67612"/>
                </a:lnTo>
                <a:lnTo>
                  <a:pt x="4415436" y="59161"/>
                </a:lnTo>
                <a:lnTo>
                  <a:pt x="4498746" y="50709"/>
                </a:lnTo>
                <a:lnTo>
                  <a:pt x="4582056" y="42258"/>
                </a:lnTo>
                <a:lnTo>
                  <a:pt x="4665367" y="33806"/>
                </a:lnTo>
                <a:lnTo>
                  <a:pt x="4748677" y="25355"/>
                </a:lnTo>
                <a:lnTo>
                  <a:pt x="4831987" y="16903"/>
                </a:lnTo>
                <a:lnTo>
                  <a:pt x="4915297" y="8452"/>
                </a:lnTo>
                <a:lnTo>
                  <a:pt x="49986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87247" y="3393667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33" name="weight: ось"/>
          <p:cNvSpPr/>
          <p:nvPr/>
        </p:nvSpPr>
        <p:spPr>
          <a:xfrm>
            <a:off x="548640" y="4032504"/>
            <a:ext cx="4998607" cy="0"/>
          </a:xfrm>
          <a:custGeom>
            <a:avLst/>
            <a:gdLst/>
            <a:ahLst/>
            <a:cxnLst/>
            <a:rect l="l" t="t" r="r" b="b"/>
            <a:pathLst>
              <a:path w="4998607">
                <a:moveTo>
                  <a:pt x="0" y="0"/>
                </a:moveTo>
                <a:lnTo>
                  <a:pt x="4998607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8640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2726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6813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40900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54987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9073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3160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7247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42" name="weight: пациент"/>
          <p:cNvSpPr/>
          <p:nvPr/>
        </p:nvSpPr>
        <p:spPr>
          <a:xfrm>
            <a:off x="548640" y="3461217"/>
            <a:ext cx="4284520" cy="438402"/>
          </a:xfrm>
          <a:custGeom>
            <a:avLst/>
            <a:gdLst/>
            <a:ahLst/>
            <a:cxnLst/>
            <a:rect l="l" t="t" r="r" b="b"/>
            <a:pathLst>
              <a:path w="4284520" h="438402">
                <a:moveTo>
                  <a:pt x="0" y="438402"/>
                </a:moveTo>
                <a:lnTo>
                  <a:pt x="119014" y="429526"/>
                </a:lnTo>
                <a:lnTo>
                  <a:pt x="238028" y="420521"/>
                </a:lnTo>
                <a:lnTo>
                  <a:pt x="357043" y="411384"/>
                </a:lnTo>
                <a:lnTo>
                  <a:pt x="476057" y="402115"/>
                </a:lnTo>
                <a:lnTo>
                  <a:pt x="595072" y="392711"/>
                </a:lnTo>
                <a:lnTo>
                  <a:pt x="714086" y="383171"/>
                </a:lnTo>
                <a:lnTo>
                  <a:pt x="833101" y="373493"/>
                </a:lnTo>
                <a:lnTo>
                  <a:pt x="952115" y="363675"/>
                </a:lnTo>
                <a:lnTo>
                  <a:pt x="1071130" y="353717"/>
                </a:lnTo>
                <a:lnTo>
                  <a:pt x="1190144" y="343615"/>
                </a:lnTo>
                <a:lnTo>
                  <a:pt x="1309159" y="333369"/>
                </a:lnTo>
                <a:lnTo>
                  <a:pt x="1428173" y="322977"/>
                </a:lnTo>
                <a:lnTo>
                  <a:pt x="1547188" y="313038"/>
                </a:lnTo>
                <a:lnTo>
                  <a:pt x="1666202" y="302978"/>
                </a:lnTo>
                <a:lnTo>
                  <a:pt x="1785216" y="292797"/>
                </a:lnTo>
                <a:lnTo>
                  <a:pt x="1904231" y="282492"/>
                </a:lnTo>
                <a:lnTo>
                  <a:pt x="2023245" y="272064"/>
                </a:lnTo>
                <a:lnTo>
                  <a:pt x="2142260" y="261511"/>
                </a:lnTo>
                <a:lnTo>
                  <a:pt x="2261274" y="247962"/>
                </a:lnTo>
                <a:lnTo>
                  <a:pt x="2380289" y="234245"/>
                </a:lnTo>
                <a:lnTo>
                  <a:pt x="2499303" y="220358"/>
                </a:lnTo>
                <a:lnTo>
                  <a:pt x="2618318" y="206299"/>
                </a:lnTo>
                <a:lnTo>
                  <a:pt x="2737332" y="192066"/>
                </a:lnTo>
                <a:lnTo>
                  <a:pt x="2856347" y="177657"/>
                </a:lnTo>
                <a:lnTo>
                  <a:pt x="2975361" y="164695"/>
                </a:lnTo>
                <a:lnTo>
                  <a:pt x="3094376" y="151632"/>
                </a:lnTo>
                <a:lnTo>
                  <a:pt x="3213390" y="138468"/>
                </a:lnTo>
                <a:lnTo>
                  <a:pt x="3332405" y="125203"/>
                </a:lnTo>
                <a:lnTo>
                  <a:pt x="3451419" y="111836"/>
                </a:lnTo>
                <a:lnTo>
                  <a:pt x="3570433" y="98366"/>
                </a:lnTo>
                <a:lnTo>
                  <a:pt x="3689448" y="82288"/>
                </a:lnTo>
                <a:lnTo>
                  <a:pt x="3808462" y="66084"/>
                </a:lnTo>
                <a:lnTo>
                  <a:pt x="3927477" y="49754"/>
                </a:lnTo>
                <a:lnTo>
                  <a:pt x="4046491" y="33298"/>
                </a:lnTo>
                <a:lnTo>
                  <a:pt x="4165506" y="16713"/>
                </a:lnTo>
                <a:lnTo>
                  <a:pt x="4284520" y="0"/>
                </a:lnTo>
              </a:path>
            </a:pathLst>
          </a:custGeom>
          <a:noFill/>
          <a:ln w="34925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weight: визит 5"/>
          <p:cNvSpPr/>
          <p:nvPr/>
        </p:nvSpPr>
        <p:spPr>
          <a:xfrm>
            <a:off x="488640" y="383961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weight: визит 7"/>
          <p:cNvSpPr/>
          <p:nvPr/>
        </p:nvSpPr>
        <p:spPr>
          <a:xfrm>
            <a:off x="1916813" y="3724194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weight: визит 9"/>
          <p:cNvSpPr/>
          <p:nvPr/>
        </p:nvSpPr>
        <p:spPr>
          <a:xfrm>
            <a:off x="3344987" y="3578874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weight: визит 11"/>
          <p:cNvSpPr/>
          <p:nvPr/>
        </p:nvSpPr>
        <p:spPr>
          <a:xfrm>
            <a:off x="4773160" y="3401217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3198881"/>
            <a:ext cx="4998607" cy="2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Масса, кг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4447" y="1508760"/>
            <a:ext cx="5318607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E3C"/>
                </a:solidFill>
                <a:latin typeface="Calibri"/>
              </a:rPr>
              <a:t>Гиперкортицизм</a:t>
            </a:r>
          </a:p>
        </p:txBody>
      </p:sp>
      <p:sp>
        <p:nvSpPr>
          <p:cNvPr id="49" name="height: полоса 3–97"/>
          <p:cNvSpPr/>
          <p:nvPr/>
        </p:nvSpPr>
        <p:spPr>
          <a:xfrm>
            <a:off x="6324447" y="2300490"/>
            <a:ext cx="4998608" cy="536217"/>
          </a:xfrm>
          <a:custGeom>
            <a:avLst/>
            <a:gdLst/>
            <a:ahLst/>
            <a:cxnLst/>
            <a:rect l="l" t="t" r="r" b="b"/>
            <a:pathLst>
              <a:path w="4998608" h="536217">
                <a:moveTo>
                  <a:pt x="0" y="391065"/>
                </a:moveTo>
                <a:lnTo>
                  <a:pt x="83310" y="382282"/>
                </a:lnTo>
                <a:lnTo>
                  <a:pt x="166620" y="373611"/>
                </a:lnTo>
                <a:lnTo>
                  <a:pt x="249930" y="365049"/>
                </a:lnTo>
                <a:lnTo>
                  <a:pt x="333241" y="356595"/>
                </a:lnTo>
                <a:lnTo>
                  <a:pt x="416551" y="348248"/>
                </a:lnTo>
                <a:lnTo>
                  <a:pt x="499861" y="340007"/>
                </a:lnTo>
                <a:lnTo>
                  <a:pt x="583171" y="331869"/>
                </a:lnTo>
                <a:lnTo>
                  <a:pt x="666481" y="323834"/>
                </a:lnTo>
                <a:lnTo>
                  <a:pt x="749791" y="315899"/>
                </a:lnTo>
                <a:lnTo>
                  <a:pt x="833101" y="308064"/>
                </a:lnTo>
                <a:lnTo>
                  <a:pt x="916411" y="300327"/>
                </a:lnTo>
                <a:lnTo>
                  <a:pt x="999722" y="292687"/>
                </a:lnTo>
                <a:lnTo>
                  <a:pt x="1083032" y="285142"/>
                </a:lnTo>
                <a:lnTo>
                  <a:pt x="1166342" y="277690"/>
                </a:lnTo>
                <a:lnTo>
                  <a:pt x="1249652" y="270331"/>
                </a:lnTo>
                <a:lnTo>
                  <a:pt x="1332962" y="263063"/>
                </a:lnTo>
                <a:lnTo>
                  <a:pt x="1416272" y="255884"/>
                </a:lnTo>
                <a:lnTo>
                  <a:pt x="1499582" y="248793"/>
                </a:lnTo>
                <a:lnTo>
                  <a:pt x="1582892" y="241789"/>
                </a:lnTo>
                <a:lnTo>
                  <a:pt x="1666203" y="234869"/>
                </a:lnTo>
                <a:lnTo>
                  <a:pt x="1749513" y="228034"/>
                </a:lnTo>
                <a:lnTo>
                  <a:pt x="1832823" y="221281"/>
                </a:lnTo>
                <a:lnTo>
                  <a:pt x="1916133" y="214608"/>
                </a:lnTo>
                <a:lnTo>
                  <a:pt x="1999443" y="208014"/>
                </a:lnTo>
                <a:lnTo>
                  <a:pt x="2082753" y="201498"/>
                </a:lnTo>
                <a:lnTo>
                  <a:pt x="2166063" y="195058"/>
                </a:lnTo>
                <a:lnTo>
                  <a:pt x="2249373" y="188691"/>
                </a:lnTo>
                <a:lnTo>
                  <a:pt x="2332684" y="182398"/>
                </a:lnTo>
                <a:lnTo>
                  <a:pt x="2415994" y="176175"/>
                </a:lnTo>
                <a:lnTo>
                  <a:pt x="2499304" y="170020"/>
                </a:lnTo>
                <a:lnTo>
                  <a:pt x="2582614" y="163933"/>
                </a:lnTo>
                <a:lnTo>
                  <a:pt x="2665924" y="157910"/>
                </a:lnTo>
                <a:lnTo>
                  <a:pt x="2749234" y="151949"/>
                </a:lnTo>
                <a:lnTo>
                  <a:pt x="2832544" y="146049"/>
                </a:lnTo>
                <a:lnTo>
                  <a:pt x="2915854" y="140207"/>
                </a:lnTo>
                <a:lnTo>
                  <a:pt x="2999165" y="134420"/>
                </a:lnTo>
                <a:lnTo>
                  <a:pt x="3082475" y="128685"/>
                </a:lnTo>
                <a:lnTo>
                  <a:pt x="3165785" y="123000"/>
                </a:lnTo>
                <a:lnTo>
                  <a:pt x="3249095" y="117361"/>
                </a:lnTo>
                <a:lnTo>
                  <a:pt x="3332405" y="111766"/>
                </a:lnTo>
                <a:lnTo>
                  <a:pt x="3415715" y="106209"/>
                </a:lnTo>
                <a:lnTo>
                  <a:pt x="3499025" y="100687"/>
                </a:lnTo>
                <a:lnTo>
                  <a:pt x="3582335" y="95196"/>
                </a:lnTo>
                <a:lnTo>
                  <a:pt x="3665646" y="89732"/>
                </a:lnTo>
                <a:lnTo>
                  <a:pt x="3748956" y="84288"/>
                </a:lnTo>
                <a:lnTo>
                  <a:pt x="3832266" y="78860"/>
                </a:lnTo>
                <a:lnTo>
                  <a:pt x="3915576" y="73441"/>
                </a:lnTo>
                <a:lnTo>
                  <a:pt x="3998886" y="68025"/>
                </a:lnTo>
                <a:lnTo>
                  <a:pt x="4082196" y="62604"/>
                </a:lnTo>
                <a:lnTo>
                  <a:pt x="4165506" y="57172"/>
                </a:lnTo>
                <a:lnTo>
                  <a:pt x="4248816" y="51719"/>
                </a:lnTo>
                <a:lnTo>
                  <a:pt x="4332127" y="46237"/>
                </a:lnTo>
                <a:lnTo>
                  <a:pt x="4415437" y="40715"/>
                </a:lnTo>
                <a:lnTo>
                  <a:pt x="4498747" y="35144"/>
                </a:lnTo>
                <a:lnTo>
                  <a:pt x="4582057" y="29512"/>
                </a:lnTo>
                <a:lnTo>
                  <a:pt x="4665367" y="23807"/>
                </a:lnTo>
                <a:lnTo>
                  <a:pt x="4748677" y="18017"/>
                </a:lnTo>
                <a:lnTo>
                  <a:pt x="4831987" y="12128"/>
                </a:lnTo>
                <a:lnTo>
                  <a:pt x="4915297" y="6127"/>
                </a:lnTo>
                <a:lnTo>
                  <a:pt x="4998608" y="0"/>
                </a:lnTo>
                <a:lnTo>
                  <a:pt x="4998608" y="193537"/>
                </a:lnTo>
                <a:lnTo>
                  <a:pt x="4915297" y="198858"/>
                </a:lnTo>
                <a:lnTo>
                  <a:pt x="4831987" y="204052"/>
                </a:lnTo>
                <a:lnTo>
                  <a:pt x="4748677" y="209135"/>
                </a:lnTo>
                <a:lnTo>
                  <a:pt x="4665367" y="214118"/>
                </a:lnTo>
                <a:lnTo>
                  <a:pt x="4582057" y="219017"/>
                </a:lnTo>
                <a:lnTo>
                  <a:pt x="4498747" y="223842"/>
                </a:lnTo>
                <a:lnTo>
                  <a:pt x="4415437" y="228607"/>
                </a:lnTo>
                <a:lnTo>
                  <a:pt x="4332127" y="233322"/>
                </a:lnTo>
                <a:lnTo>
                  <a:pt x="4248816" y="237998"/>
                </a:lnTo>
                <a:lnTo>
                  <a:pt x="4165506" y="242645"/>
                </a:lnTo>
                <a:lnTo>
                  <a:pt x="4082196" y="247271"/>
                </a:lnTo>
                <a:lnTo>
                  <a:pt x="3998886" y="251884"/>
                </a:lnTo>
                <a:lnTo>
                  <a:pt x="3915576" y="256494"/>
                </a:lnTo>
                <a:lnTo>
                  <a:pt x="3832266" y="261107"/>
                </a:lnTo>
                <a:lnTo>
                  <a:pt x="3748956" y="265729"/>
                </a:lnTo>
                <a:lnTo>
                  <a:pt x="3665646" y="270366"/>
                </a:lnTo>
                <a:lnTo>
                  <a:pt x="3582335" y="275024"/>
                </a:lnTo>
                <a:lnTo>
                  <a:pt x="3499025" y="279709"/>
                </a:lnTo>
                <a:lnTo>
                  <a:pt x="3415715" y="284424"/>
                </a:lnTo>
                <a:lnTo>
                  <a:pt x="3332405" y="289174"/>
                </a:lnTo>
                <a:lnTo>
                  <a:pt x="3249095" y="293964"/>
                </a:lnTo>
                <a:lnTo>
                  <a:pt x="3165785" y="298796"/>
                </a:lnTo>
                <a:lnTo>
                  <a:pt x="3082475" y="303675"/>
                </a:lnTo>
                <a:lnTo>
                  <a:pt x="2999165" y="308603"/>
                </a:lnTo>
                <a:lnTo>
                  <a:pt x="2915854" y="313584"/>
                </a:lnTo>
                <a:lnTo>
                  <a:pt x="2832544" y="318619"/>
                </a:lnTo>
                <a:lnTo>
                  <a:pt x="2749234" y="323713"/>
                </a:lnTo>
                <a:lnTo>
                  <a:pt x="2665924" y="328867"/>
                </a:lnTo>
                <a:lnTo>
                  <a:pt x="2582614" y="334083"/>
                </a:lnTo>
                <a:lnTo>
                  <a:pt x="2499304" y="339365"/>
                </a:lnTo>
                <a:lnTo>
                  <a:pt x="2415994" y="344713"/>
                </a:lnTo>
                <a:lnTo>
                  <a:pt x="2332684" y="350129"/>
                </a:lnTo>
                <a:lnTo>
                  <a:pt x="2249373" y="355617"/>
                </a:lnTo>
                <a:lnTo>
                  <a:pt x="2166063" y="361177"/>
                </a:lnTo>
                <a:lnTo>
                  <a:pt x="2082753" y="366810"/>
                </a:lnTo>
                <a:lnTo>
                  <a:pt x="1999443" y="372520"/>
                </a:lnTo>
                <a:lnTo>
                  <a:pt x="1916133" y="378308"/>
                </a:lnTo>
                <a:lnTo>
                  <a:pt x="1832823" y="384174"/>
                </a:lnTo>
                <a:lnTo>
                  <a:pt x="1749513" y="390121"/>
                </a:lnTo>
                <a:lnTo>
                  <a:pt x="1666203" y="396150"/>
                </a:lnTo>
                <a:lnTo>
                  <a:pt x="1582892" y="402263"/>
                </a:lnTo>
                <a:lnTo>
                  <a:pt x="1499582" y="408461"/>
                </a:lnTo>
                <a:lnTo>
                  <a:pt x="1416272" y="414745"/>
                </a:lnTo>
                <a:lnTo>
                  <a:pt x="1332962" y="421118"/>
                </a:lnTo>
                <a:lnTo>
                  <a:pt x="1249652" y="427579"/>
                </a:lnTo>
                <a:lnTo>
                  <a:pt x="1166342" y="434132"/>
                </a:lnTo>
                <a:lnTo>
                  <a:pt x="1083032" y="440777"/>
                </a:lnTo>
                <a:lnTo>
                  <a:pt x="999722" y="447516"/>
                </a:lnTo>
                <a:lnTo>
                  <a:pt x="916411" y="454350"/>
                </a:lnTo>
                <a:lnTo>
                  <a:pt x="833101" y="461281"/>
                </a:lnTo>
                <a:lnTo>
                  <a:pt x="749791" y="468310"/>
                </a:lnTo>
                <a:lnTo>
                  <a:pt x="666481" y="475438"/>
                </a:lnTo>
                <a:lnTo>
                  <a:pt x="583171" y="482667"/>
                </a:lnTo>
                <a:lnTo>
                  <a:pt x="499861" y="489998"/>
                </a:lnTo>
                <a:lnTo>
                  <a:pt x="416551" y="497433"/>
                </a:lnTo>
                <a:lnTo>
                  <a:pt x="333241" y="504973"/>
                </a:lnTo>
                <a:lnTo>
                  <a:pt x="249930" y="512620"/>
                </a:lnTo>
                <a:lnTo>
                  <a:pt x="166620" y="520376"/>
                </a:lnTo>
                <a:lnTo>
                  <a:pt x="83310" y="528241"/>
                </a:lnTo>
                <a:lnTo>
                  <a:pt x="0" y="536217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height: 3-й центиль"/>
          <p:cNvSpPr/>
          <p:nvPr/>
        </p:nvSpPr>
        <p:spPr>
          <a:xfrm>
            <a:off x="6324447" y="2494027"/>
            <a:ext cx="4998608" cy="342680"/>
          </a:xfrm>
          <a:custGeom>
            <a:avLst/>
            <a:gdLst/>
            <a:ahLst/>
            <a:cxnLst/>
            <a:rect l="l" t="t" r="r" b="b"/>
            <a:pathLst>
              <a:path w="4998608" h="342680">
                <a:moveTo>
                  <a:pt x="0" y="342680"/>
                </a:moveTo>
                <a:lnTo>
                  <a:pt x="83310" y="334704"/>
                </a:lnTo>
                <a:lnTo>
                  <a:pt x="166620" y="326839"/>
                </a:lnTo>
                <a:lnTo>
                  <a:pt x="249930" y="319083"/>
                </a:lnTo>
                <a:lnTo>
                  <a:pt x="333241" y="311436"/>
                </a:lnTo>
                <a:lnTo>
                  <a:pt x="416551" y="303896"/>
                </a:lnTo>
                <a:lnTo>
                  <a:pt x="499861" y="296461"/>
                </a:lnTo>
                <a:lnTo>
                  <a:pt x="583171" y="289130"/>
                </a:lnTo>
                <a:lnTo>
                  <a:pt x="666481" y="281901"/>
                </a:lnTo>
                <a:lnTo>
                  <a:pt x="749791" y="274773"/>
                </a:lnTo>
                <a:lnTo>
                  <a:pt x="833101" y="267744"/>
                </a:lnTo>
                <a:lnTo>
                  <a:pt x="916411" y="260813"/>
                </a:lnTo>
                <a:lnTo>
                  <a:pt x="999722" y="253979"/>
                </a:lnTo>
                <a:lnTo>
                  <a:pt x="1083032" y="247240"/>
                </a:lnTo>
                <a:lnTo>
                  <a:pt x="1166342" y="240595"/>
                </a:lnTo>
                <a:lnTo>
                  <a:pt x="1249652" y="234042"/>
                </a:lnTo>
                <a:lnTo>
                  <a:pt x="1332962" y="227581"/>
                </a:lnTo>
                <a:lnTo>
                  <a:pt x="1416272" y="221208"/>
                </a:lnTo>
                <a:lnTo>
                  <a:pt x="1499582" y="214924"/>
                </a:lnTo>
                <a:lnTo>
                  <a:pt x="1582892" y="208726"/>
                </a:lnTo>
                <a:lnTo>
                  <a:pt x="1666203" y="202613"/>
                </a:lnTo>
                <a:lnTo>
                  <a:pt x="1749513" y="196584"/>
                </a:lnTo>
                <a:lnTo>
                  <a:pt x="1832823" y="190637"/>
                </a:lnTo>
                <a:lnTo>
                  <a:pt x="1916133" y="184771"/>
                </a:lnTo>
                <a:lnTo>
                  <a:pt x="1999443" y="178983"/>
                </a:lnTo>
                <a:lnTo>
                  <a:pt x="2082753" y="173273"/>
                </a:lnTo>
                <a:lnTo>
                  <a:pt x="2166063" y="167640"/>
                </a:lnTo>
                <a:lnTo>
                  <a:pt x="2249373" y="162080"/>
                </a:lnTo>
                <a:lnTo>
                  <a:pt x="2332684" y="156592"/>
                </a:lnTo>
                <a:lnTo>
                  <a:pt x="2415994" y="151176"/>
                </a:lnTo>
                <a:lnTo>
                  <a:pt x="2499304" y="145828"/>
                </a:lnTo>
                <a:lnTo>
                  <a:pt x="2582614" y="140546"/>
                </a:lnTo>
                <a:lnTo>
                  <a:pt x="2665924" y="135330"/>
                </a:lnTo>
                <a:lnTo>
                  <a:pt x="2749234" y="130176"/>
                </a:lnTo>
                <a:lnTo>
                  <a:pt x="2832544" y="125082"/>
                </a:lnTo>
                <a:lnTo>
                  <a:pt x="2915854" y="120047"/>
                </a:lnTo>
                <a:lnTo>
                  <a:pt x="2999165" y="115066"/>
                </a:lnTo>
                <a:lnTo>
                  <a:pt x="3082475" y="110138"/>
                </a:lnTo>
                <a:lnTo>
                  <a:pt x="3165785" y="105259"/>
                </a:lnTo>
                <a:lnTo>
                  <a:pt x="3249095" y="100427"/>
                </a:lnTo>
                <a:lnTo>
                  <a:pt x="3332405" y="95637"/>
                </a:lnTo>
                <a:lnTo>
                  <a:pt x="3415715" y="90887"/>
                </a:lnTo>
                <a:lnTo>
                  <a:pt x="3499025" y="86172"/>
                </a:lnTo>
                <a:lnTo>
                  <a:pt x="3582335" y="81487"/>
                </a:lnTo>
                <a:lnTo>
                  <a:pt x="3665646" y="76829"/>
                </a:lnTo>
                <a:lnTo>
                  <a:pt x="3748956" y="72192"/>
                </a:lnTo>
                <a:lnTo>
                  <a:pt x="3832266" y="67570"/>
                </a:lnTo>
                <a:lnTo>
                  <a:pt x="3915576" y="62957"/>
                </a:lnTo>
                <a:lnTo>
                  <a:pt x="3998886" y="58347"/>
                </a:lnTo>
                <a:lnTo>
                  <a:pt x="4082196" y="53734"/>
                </a:lnTo>
                <a:lnTo>
                  <a:pt x="4165506" y="49108"/>
                </a:lnTo>
                <a:lnTo>
                  <a:pt x="4248816" y="44461"/>
                </a:lnTo>
                <a:lnTo>
                  <a:pt x="4332127" y="39785"/>
                </a:lnTo>
                <a:lnTo>
                  <a:pt x="4415437" y="35070"/>
                </a:lnTo>
                <a:lnTo>
                  <a:pt x="4498747" y="30305"/>
                </a:lnTo>
                <a:lnTo>
                  <a:pt x="4582057" y="25480"/>
                </a:lnTo>
                <a:lnTo>
                  <a:pt x="4665367" y="20581"/>
                </a:lnTo>
                <a:lnTo>
                  <a:pt x="4748677" y="15598"/>
                </a:lnTo>
                <a:lnTo>
                  <a:pt x="4831987" y="10515"/>
                </a:lnTo>
                <a:lnTo>
                  <a:pt x="4915297" y="5321"/>
                </a:lnTo>
                <a:lnTo>
                  <a:pt x="49986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1363055" y="2414027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52" name="height: 50-й центиль"/>
          <p:cNvSpPr/>
          <p:nvPr/>
        </p:nvSpPr>
        <p:spPr>
          <a:xfrm>
            <a:off x="6324447" y="2397258"/>
            <a:ext cx="4998608" cy="366873"/>
          </a:xfrm>
          <a:custGeom>
            <a:avLst/>
            <a:gdLst/>
            <a:ahLst/>
            <a:cxnLst/>
            <a:rect l="l" t="t" r="r" b="b"/>
            <a:pathLst>
              <a:path w="4998608" h="366873">
                <a:moveTo>
                  <a:pt x="0" y="366873"/>
                </a:moveTo>
                <a:lnTo>
                  <a:pt x="83310" y="358494"/>
                </a:lnTo>
                <a:lnTo>
                  <a:pt x="166620" y="350225"/>
                </a:lnTo>
                <a:lnTo>
                  <a:pt x="249930" y="342067"/>
                </a:lnTo>
                <a:lnTo>
                  <a:pt x="333241" y="334016"/>
                </a:lnTo>
                <a:lnTo>
                  <a:pt x="416551" y="326073"/>
                </a:lnTo>
                <a:lnTo>
                  <a:pt x="499861" y="318234"/>
                </a:lnTo>
                <a:lnTo>
                  <a:pt x="583171" y="310500"/>
                </a:lnTo>
                <a:lnTo>
                  <a:pt x="666481" y="302868"/>
                </a:lnTo>
                <a:lnTo>
                  <a:pt x="749791" y="295336"/>
                </a:lnTo>
                <a:lnTo>
                  <a:pt x="833101" y="287905"/>
                </a:lnTo>
                <a:lnTo>
                  <a:pt x="916411" y="280571"/>
                </a:lnTo>
                <a:lnTo>
                  <a:pt x="999722" y="273334"/>
                </a:lnTo>
                <a:lnTo>
                  <a:pt x="1083032" y="266192"/>
                </a:lnTo>
                <a:lnTo>
                  <a:pt x="1166342" y="259143"/>
                </a:lnTo>
                <a:lnTo>
                  <a:pt x="1249652" y="252187"/>
                </a:lnTo>
                <a:lnTo>
                  <a:pt x="1332962" y="245322"/>
                </a:lnTo>
                <a:lnTo>
                  <a:pt x="1416272" y="238546"/>
                </a:lnTo>
                <a:lnTo>
                  <a:pt x="1499582" y="231859"/>
                </a:lnTo>
                <a:lnTo>
                  <a:pt x="1582892" y="225258"/>
                </a:lnTo>
                <a:lnTo>
                  <a:pt x="1666203" y="218742"/>
                </a:lnTo>
                <a:lnTo>
                  <a:pt x="1749513" y="212309"/>
                </a:lnTo>
                <a:lnTo>
                  <a:pt x="1832823" y="205959"/>
                </a:lnTo>
                <a:lnTo>
                  <a:pt x="1916133" y="199690"/>
                </a:lnTo>
                <a:lnTo>
                  <a:pt x="1999443" y="193499"/>
                </a:lnTo>
                <a:lnTo>
                  <a:pt x="2082753" y="187386"/>
                </a:lnTo>
                <a:lnTo>
                  <a:pt x="2166063" y="181349"/>
                </a:lnTo>
                <a:lnTo>
                  <a:pt x="2249373" y="175386"/>
                </a:lnTo>
                <a:lnTo>
                  <a:pt x="2332684" y="169496"/>
                </a:lnTo>
                <a:lnTo>
                  <a:pt x="2415994" y="163676"/>
                </a:lnTo>
                <a:lnTo>
                  <a:pt x="2499304" y="157924"/>
                </a:lnTo>
                <a:lnTo>
                  <a:pt x="2582614" y="152240"/>
                </a:lnTo>
                <a:lnTo>
                  <a:pt x="2665924" y="146620"/>
                </a:lnTo>
                <a:lnTo>
                  <a:pt x="2749234" y="141063"/>
                </a:lnTo>
                <a:lnTo>
                  <a:pt x="2832544" y="135566"/>
                </a:lnTo>
                <a:lnTo>
                  <a:pt x="2915854" y="130127"/>
                </a:lnTo>
                <a:lnTo>
                  <a:pt x="2999165" y="124743"/>
                </a:lnTo>
                <a:lnTo>
                  <a:pt x="3082475" y="119412"/>
                </a:lnTo>
                <a:lnTo>
                  <a:pt x="3165785" y="114130"/>
                </a:lnTo>
                <a:lnTo>
                  <a:pt x="3249095" y="108895"/>
                </a:lnTo>
                <a:lnTo>
                  <a:pt x="3332405" y="103702"/>
                </a:lnTo>
                <a:lnTo>
                  <a:pt x="3415715" y="98548"/>
                </a:lnTo>
                <a:lnTo>
                  <a:pt x="3499025" y="93430"/>
                </a:lnTo>
                <a:lnTo>
                  <a:pt x="3582335" y="88342"/>
                </a:lnTo>
                <a:lnTo>
                  <a:pt x="3665646" y="83281"/>
                </a:lnTo>
                <a:lnTo>
                  <a:pt x="3748956" y="78240"/>
                </a:lnTo>
                <a:lnTo>
                  <a:pt x="3832266" y="73215"/>
                </a:lnTo>
                <a:lnTo>
                  <a:pt x="3915576" y="68199"/>
                </a:lnTo>
                <a:lnTo>
                  <a:pt x="3998886" y="63187"/>
                </a:lnTo>
                <a:lnTo>
                  <a:pt x="4082196" y="58169"/>
                </a:lnTo>
                <a:lnTo>
                  <a:pt x="4165506" y="53140"/>
                </a:lnTo>
                <a:lnTo>
                  <a:pt x="4248816" y="48091"/>
                </a:lnTo>
                <a:lnTo>
                  <a:pt x="4332127" y="43012"/>
                </a:lnTo>
                <a:lnTo>
                  <a:pt x="4415437" y="37893"/>
                </a:lnTo>
                <a:lnTo>
                  <a:pt x="4498747" y="32725"/>
                </a:lnTo>
                <a:lnTo>
                  <a:pt x="4582057" y="27496"/>
                </a:lnTo>
                <a:lnTo>
                  <a:pt x="4665367" y="22195"/>
                </a:lnTo>
                <a:lnTo>
                  <a:pt x="4748677" y="16808"/>
                </a:lnTo>
                <a:lnTo>
                  <a:pt x="4831987" y="11322"/>
                </a:lnTo>
                <a:lnTo>
                  <a:pt x="4915297" y="5725"/>
                </a:lnTo>
                <a:lnTo>
                  <a:pt x="49986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363055" y="2317258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54" name="height: 97-й центиль"/>
          <p:cNvSpPr/>
          <p:nvPr/>
        </p:nvSpPr>
        <p:spPr>
          <a:xfrm>
            <a:off x="6324447" y="2300490"/>
            <a:ext cx="4998608" cy="391065"/>
          </a:xfrm>
          <a:custGeom>
            <a:avLst/>
            <a:gdLst/>
            <a:ahLst/>
            <a:cxnLst/>
            <a:rect l="l" t="t" r="r" b="b"/>
            <a:pathLst>
              <a:path w="4998608" h="391065">
                <a:moveTo>
                  <a:pt x="0" y="391065"/>
                </a:moveTo>
                <a:lnTo>
                  <a:pt x="83310" y="382282"/>
                </a:lnTo>
                <a:lnTo>
                  <a:pt x="166620" y="373611"/>
                </a:lnTo>
                <a:lnTo>
                  <a:pt x="249930" y="365049"/>
                </a:lnTo>
                <a:lnTo>
                  <a:pt x="333241" y="356595"/>
                </a:lnTo>
                <a:lnTo>
                  <a:pt x="416551" y="348248"/>
                </a:lnTo>
                <a:lnTo>
                  <a:pt x="499861" y="340007"/>
                </a:lnTo>
                <a:lnTo>
                  <a:pt x="583171" y="331869"/>
                </a:lnTo>
                <a:lnTo>
                  <a:pt x="666481" y="323834"/>
                </a:lnTo>
                <a:lnTo>
                  <a:pt x="749791" y="315899"/>
                </a:lnTo>
                <a:lnTo>
                  <a:pt x="833101" y="308064"/>
                </a:lnTo>
                <a:lnTo>
                  <a:pt x="916411" y="300327"/>
                </a:lnTo>
                <a:lnTo>
                  <a:pt x="999722" y="292687"/>
                </a:lnTo>
                <a:lnTo>
                  <a:pt x="1083032" y="285142"/>
                </a:lnTo>
                <a:lnTo>
                  <a:pt x="1166342" y="277690"/>
                </a:lnTo>
                <a:lnTo>
                  <a:pt x="1249652" y="270331"/>
                </a:lnTo>
                <a:lnTo>
                  <a:pt x="1332962" y="263063"/>
                </a:lnTo>
                <a:lnTo>
                  <a:pt x="1416272" y="255884"/>
                </a:lnTo>
                <a:lnTo>
                  <a:pt x="1499582" y="248793"/>
                </a:lnTo>
                <a:lnTo>
                  <a:pt x="1582892" y="241789"/>
                </a:lnTo>
                <a:lnTo>
                  <a:pt x="1666203" y="234869"/>
                </a:lnTo>
                <a:lnTo>
                  <a:pt x="1749513" y="228034"/>
                </a:lnTo>
                <a:lnTo>
                  <a:pt x="1832823" y="221281"/>
                </a:lnTo>
                <a:lnTo>
                  <a:pt x="1916133" y="214608"/>
                </a:lnTo>
                <a:lnTo>
                  <a:pt x="1999443" y="208014"/>
                </a:lnTo>
                <a:lnTo>
                  <a:pt x="2082753" y="201498"/>
                </a:lnTo>
                <a:lnTo>
                  <a:pt x="2166063" y="195058"/>
                </a:lnTo>
                <a:lnTo>
                  <a:pt x="2249373" y="188691"/>
                </a:lnTo>
                <a:lnTo>
                  <a:pt x="2332684" y="182398"/>
                </a:lnTo>
                <a:lnTo>
                  <a:pt x="2415994" y="176175"/>
                </a:lnTo>
                <a:lnTo>
                  <a:pt x="2499304" y="170020"/>
                </a:lnTo>
                <a:lnTo>
                  <a:pt x="2582614" y="163933"/>
                </a:lnTo>
                <a:lnTo>
                  <a:pt x="2665924" y="157910"/>
                </a:lnTo>
                <a:lnTo>
                  <a:pt x="2749234" y="151949"/>
                </a:lnTo>
                <a:lnTo>
                  <a:pt x="2832544" y="146049"/>
                </a:lnTo>
                <a:lnTo>
                  <a:pt x="2915854" y="140207"/>
                </a:lnTo>
                <a:lnTo>
                  <a:pt x="2999165" y="134420"/>
                </a:lnTo>
                <a:lnTo>
                  <a:pt x="3082475" y="128685"/>
                </a:lnTo>
                <a:lnTo>
                  <a:pt x="3165785" y="123000"/>
                </a:lnTo>
                <a:lnTo>
                  <a:pt x="3249095" y="117361"/>
                </a:lnTo>
                <a:lnTo>
                  <a:pt x="3332405" y="111766"/>
                </a:lnTo>
                <a:lnTo>
                  <a:pt x="3415715" y="106209"/>
                </a:lnTo>
                <a:lnTo>
                  <a:pt x="3499025" y="100687"/>
                </a:lnTo>
                <a:lnTo>
                  <a:pt x="3582335" y="95196"/>
                </a:lnTo>
                <a:lnTo>
                  <a:pt x="3665646" y="89732"/>
                </a:lnTo>
                <a:lnTo>
                  <a:pt x="3748956" y="84288"/>
                </a:lnTo>
                <a:lnTo>
                  <a:pt x="3832266" y="78860"/>
                </a:lnTo>
                <a:lnTo>
                  <a:pt x="3915576" y="73441"/>
                </a:lnTo>
                <a:lnTo>
                  <a:pt x="3998886" y="68025"/>
                </a:lnTo>
                <a:lnTo>
                  <a:pt x="4082196" y="62604"/>
                </a:lnTo>
                <a:lnTo>
                  <a:pt x="4165506" y="57172"/>
                </a:lnTo>
                <a:lnTo>
                  <a:pt x="4248816" y="51719"/>
                </a:lnTo>
                <a:lnTo>
                  <a:pt x="4332127" y="46237"/>
                </a:lnTo>
                <a:lnTo>
                  <a:pt x="4415437" y="40715"/>
                </a:lnTo>
                <a:lnTo>
                  <a:pt x="4498747" y="35144"/>
                </a:lnTo>
                <a:lnTo>
                  <a:pt x="4582057" y="29512"/>
                </a:lnTo>
                <a:lnTo>
                  <a:pt x="4665367" y="23807"/>
                </a:lnTo>
                <a:lnTo>
                  <a:pt x="4748677" y="18017"/>
                </a:lnTo>
                <a:lnTo>
                  <a:pt x="4831987" y="12128"/>
                </a:lnTo>
                <a:lnTo>
                  <a:pt x="4915297" y="6127"/>
                </a:lnTo>
                <a:lnTo>
                  <a:pt x="49986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363055" y="2220490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56" name="height: ось"/>
          <p:cNvSpPr/>
          <p:nvPr/>
        </p:nvSpPr>
        <p:spPr>
          <a:xfrm>
            <a:off x="6324447" y="2868881"/>
            <a:ext cx="4998608" cy="0"/>
          </a:xfrm>
          <a:custGeom>
            <a:avLst/>
            <a:gdLst/>
            <a:ahLst/>
            <a:cxnLst/>
            <a:rect l="l" t="t" r="r" b="b"/>
            <a:pathLst>
              <a:path w="4998608">
                <a:moveTo>
                  <a:pt x="0" y="0"/>
                </a:moveTo>
                <a:lnTo>
                  <a:pt x="4998608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74447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88534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02621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6707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30794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44881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58968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73055" y="289888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65" name="height: пациент"/>
          <p:cNvSpPr/>
          <p:nvPr/>
        </p:nvSpPr>
        <p:spPr>
          <a:xfrm>
            <a:off x="6324447" y="2537481"/>
            <a:ext cx="4284521" cy="215069"/>
          </a:xfrm>
          <a:custGeom>
            <a:avLst/>
            <a:gdLst/>
            <a:ahLst/>
            <a:cxnLst/>
            <a:rect l="l" t="t" r="r" b="b"/>
            <a:pathLst>
              <a:path w="4284521" h="215069">
                <a:moveTo>
                  <a:pt x="0" y="215069"/>
                </a:moveTo>
                <a:lnTo>
                  <a:pt x="119014" y="203364"/>
                </a:lnTo>
                <a:lnTo>
                  <a:pt x="238029" y="191891"/>
                </a:lnTo>
                <a:lnTo>
                  <a:pt x="357043" y="180644"/>
                </a:lnTo>
                <a:lnTo>
                  <a:pt x="476058" y="169619"/>
                </a:lnTo>
                <a:lnTo>
                  <a:pt x="595072" y="158812"/>
                </a:lnTo>
                <a:lnTo>
                  <a:pt x="714087" y="148218"/>
                </a:lnTo>
                <a:lnTo>
                  <a:pt x="833101" y="137834"/>
                </a:lnTo>
                <a:lnTo>
                  <a:pt x="952116" y="127655"/>
                </a:lnTo>
                <a:lnTo>
                  <a:pt x="1071130" y="117677"/>
                </a:lnTo>
                <a:lnTo>
                  <a:pt x="1190145" y="107895"/>
                </a:lnTo>
                <a:lnTo>
                  <a:pt x="1309159" y="98307"/>
                </a:lnTo>
                <a:lnTo>
                  <a:pt x="1428174" y="88906"/>
                </a:lnTo>
                <a:lnTo>
                  <a:pt x="1487681" y="85867"/>
                </a:lnTo>
                <a:lnTo>
                  <a:pt x="1547188" y="82885"/>
                </a:lnTo>
                <a:lnTo>
                  <a:pt x="1606695" y="79959"/>
                </a:lnTo>
                <a:lnTo>
                  <a:pt x="1666203" y="77089"/>
                </a:lnTo>
                <a:lnTo>
                  <a:pt x="1725710" y="74275"/>
                </a:lnTo>
                <a:lnTo>
                  <a:pt x="1785217" y="71515"/>
                </a:lnTo>
                <a:lnTo>
                  <a:pt x="1844724" y="68810"/>
                </a:lnTo>
                <a:lnTo>
                  <a:pt x="1904231" y="66158"/>
                </a:lnTo>
                <a:lnTo>
                  <a:pt x="1963739" y="63560"/>
                </a:lnTo>
                <a:lnTo>
                  <a:pt x="2023246" y="61015"/>
                </a:lnTo>
                <a:lnTo>
                  <a:pt x="2082753" y="58521"/>
                </a:lnTo>
                <a:lnTo>
                  <a:pt x="2142260" y="56079"/>
                </a:lnTo>
                <a:lnTo>
                  <a:pt x="2201768" y="54057"/>
                </a:lnTo>
                <a:lnTo>
                  <a:pt x="2261275" y="52087"/>
                </a:lnTo>
                <a:lnTo>
                  <a:pt x="2320782" y="50170"/>
                </a:lnTo>
                <a:lnTo>
                  <a:pt x="2380289" y="48304"/>
                </a:lnTo>
                <a:lnTo>
                  <a:pt x="2439797" y="46489"/>
                </a:lnTo>
                <a:lnTo>
                  <a:pt x="2499304" y="44724"/>
                </a:lnTo>
                <a:lnTo>
                  <a:pt x="2558811" y="43009"/>
                </a:lnTo>
                <a:lnTo>
                  <a:pt x="2618318" y="41342"/>
                </a:lnTo>
                <a:lnTo>
                  <a:pt x="2677825" y="39723"/>
                </a:lnTo>
                <a:lnTo>
                  <a:pt x="2737333" y="38151"/>
                </a:lnTo>
                <a:lnTo>
                  <a:pt x="2796840" y="36626"/>
                </a:lnTo>
                <a:lnTo>
                  <a:pt x="2856347" y="35145"/>
                </a:lnTo>
                <a:lnTo>
                  <a:pt x="2915854" y="33710"/>
                </a:lnTo>
                <a:lnTo>
                  <a:pt x="2975362" y="32317"/>
                </a:lnTo>
                <a:lnTo>
                  <a:pt x="3034869" y="30967"/>
                </a:lnTo>
                <a:lnTo>
                  <a:pt x="3094376" y="29659"/>
                </a:lnTo>
                <a:lnTo>
                  <a:pt x="3153883" y="28391"/>
                </a:lnTo>
                <a:lnTo>
                  <a:pt x="3213391" y="27162"/>
                </a:lnTo>
                <a:lnTo>
                  <a:pt x="3272898" y="25971"/>
                </a:lnTo>
                <a:lnTo>
                  <a:pt x="3332405" y="24817"/>
                </a:lnTo>
                <a:lnTo>
                  <a:pt x="3391912" y="23698"/>
                </a:lnTo>
                <a:lnTo>
                  <a:pt x="3451419" y="22613"/>
                </a:lnTo>
                <a:lnTo>
                  <a:pt x="3510927" y="21560"/>
                </a:lnTo>
                <a:lnTo>
                  <a:pt x="3570434" y="20538"/>
                </a:lnTo>
                <a:lnTo>
                  <a:pt x="3629941" y="18746"/>
                </a:lnTo>
                <a:lnTo>
                  <a:pt x="3689448" y="16976"/>
                </a:lnTo>
                <a:lnTo>
                  <a:pt x="3748956" y="15226"/>
                </a:lnTo>
                <a:lnTo>
                  <a:pt x="3808463" y="13494"/>
                </a:lnTo>
                <a:lnTo>
                  <a:pt x="3867970" y="11778"/>
                </a:lnTo>
                <a:lnTo>
                  <a:pt x="3927477" y="10076"/>
                </a:lnTo>
                <a:lnTo>
                  <a:pt x="3986985" y="8385"/>
                </a:lnTo>
                <a:lnTo>
                  <a:pt x="4046492" y="6702"/>
                </a:lnTo>
                <a:lnTo>
                  <a:pt x="4105999" y="5025"/>
                </a:lnTo>
                <a:lnTo>
                  <a:pt x="4165506" y="3352"/>
                </a:lnTo>
                <a:lnTo>
                  <a:pt x="4225013" y="1677"/>
                </a:lnTo>
                <a:lnTo>
                  <a:pt x="4284521" y="0"/>
                </a:lnTo>
              </a:path>
            </a:pathLst>
          </a:custGeom>
          <a:noFill/>
          <a:ln w="349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height: визит 5"/>
          <p:cNvSpPr/>
          <p:nvPr/>
        </p:nvSpPr>
        <p:spPr>
          <a:xfrm>
            <a:off x="6264447" y="2692550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height: визит 7"/>
          <p:cNvSpPr/>
          <p:nvPr/>
        </p:nvSpPr>
        <p:spPr>
          <a:xfrm>
            <a:off x="7692621" y="2566387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height: визит 8"/>
          <p:cNvSpPr/>
          <p:nvPr/>
        </p:nvSpPr>
        <p:spPr>
          <a:xfrm>
            <a:off x="8406707" y="2533560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height: визит 9"/>
          <p:cNvSpPr/>
          <p:nvPr/>
        </p:nvSpPr>
        <p:spPr>
          <a:xfrm>
            <a:off x="9120794" y="2512626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height: визит 10"/>
          <p:cNvSpPr/>
          <p:nvPr/>
        </p:nvSpPr>
        <p:spPr>
          <a:xfrm>
            <a:off x="9834881" y="2498019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height: визит 11"/>
          <p:cNvSpPr/>
          <p:nvPr/>
        </p:nvSpPr>
        <p:spPr>
          <a:xfrm>
            <a:off x="10548968" y="2477481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событие 11"/>
          <p:cNvSpPr/>
          <p:nvPr/>
        </p:nvSpPr>
        <p:spPr>
          <a:xfrm>
            <a:off x="10608968" y="1978760"/>
            <a:ext cx="0" cy="890121"/>
          </a:xfrm>
          <a:custGeom>
            <a:avLst/>
            <a:gdLst/>
            <a:ahLst/>
            <a:cxnLst/>
            <a:rect l="l" t="t" r="r" b="b"/>
            <a:pathLst>
              <a:path h="890121">
                <a:moveTo>
                  <a:pt x="0" y="0"/>
                </a:moveTo>
                <a:lnTo>
                  <a:pt x="0" y="89012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58968" y="1978760"/>
            <a:ext cx="23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6323A"/>
                </a:solidFill>
                <a:latin typeface="Calibri"/>
              </a:rPr>
              <a:t>11 лет: диагноз</a:t>
            </a:r>
          </a:p>
        </p:txBody>
      </p:sp>
      <p:sp>
        <p:nvSpPr>
          <p:cNvPr id="74" name="событие 7.5"/>
          <p:cNvSpPr/>
          <p:nvPr/>
        </p:nvSpPr>
        <p:spPr>
          <a:xfrm>
            <a:off x="8109664" y="1978760"/>
            <a:ext cx="0" cy="890121"/>
          </a:xfrm>
          <a:custGeom>
            <a:avLst/>
            <a:gdLst/>
            <a:ahLst/>
            <a:cxnLst/>
            <a:rect l="l" t="t" r="r" b="b"/>
            <a:pathLst>
              <a:path h="890121">
                <a:moveTo>
                  <a:pt x="0" y="0"/>
                </a:moveTo>
                <a:lnTo>
                  <a:pt x="0" y="89012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159664" y="2168760"/>
            <a:ext cx="23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6323A"/>
                </a:solidFill>
                <a:latin typeface="Calibri"/>
              </a:rPr>
              <a:t>7,5 года: масса вверх, рост замедлился</a:t>
            </a:r>
          </a:p>
        </p:txBody>
      </p:sp>
      <p:sp>
        <p:nvSpPr>
          <p:cNvPr id="76" name="событие 9"/>
          <p:cNvSpPr/>
          <p:nvPr/>
        </p:nvSpPr>
        <p:spPr>
          <a:xfrm>
            <a:off x="9180794" y="1978760"/>
            <a:ext cx="0" cy="890121"/>
          </a:xfrm>
          <a:custGeom>
            <a:avLst/>
            <a:gdLst/>
            <a:ahLst/>
            <a:cxnLst/>
            <a:rect l="l" t="t" r="r" b="b"/>
            <a:pathLst>
              <a:path h="890121">
                <a:moveTo>
                  <a:pt x="0" y="0"/>
                </a:moveTo>
                <a:lnTo>
                  <a:pt x="0" y="89012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830794" y="2358760"/>
            <a:ext cx="23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6323A"/>
                </a:solidFill>
                <a:latin typeface="Calibri"/>
              </a:rPr>
              <a:t>9 лет: сочли простым ожирением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24447" y="1748760"/>
            <a:ext cx="4998607" cy="2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Рост, см</a:t>
            </a:r>
          </a:p>
        </p:txBody>
      </p:sp>
      <p:sp>
        <p:nvSpPr>
          <p:cNvPr id="79" name="weight: полоса 3–97"/>
          <p:cNvSpPr/>
          <p:nvPr/>
        </p:nvSpPr>
        <p:spPr>
          <a:xfrm>
            <a:off x="6324447" y="3461247"/>
            <a:ext cx="4998608" cy="538920"/>
          </a:xfrm>
          <a:custGeom>
            <a:avLst/>
            <a:gdLst/>
            <a:ahLst/>
            <a:cxnLst/>
            <a:rect l="l" t="t" r="r" b="b"/>
            <a:pathLst>
              <a:path w="4998608" h="538920">
                <a:moveTo>
                  <a:pt x="0" y="398561"/>
                </a:moveTo>
                <a:lnTo>
                  <a:pt x="83310" y="393514"/>
                </a:lnTo>
                <a:lnTo>
                  <a:pt x="166620" y="388468"/>
                </a:lnTo>
                <a:lnTo>
                  <a:pt x="249930" y="383421"/>
                </a:lnTo>
                <a:lnTo>
                  <a:pt x="333241" y="378375"/>
                </a:lnTo>
                <a:lnTo>
                  <a:pt x="416551" y="373329"/>
                </a:lnTo>
                <a:lnTo>
                  <a:pt x="499861" y="368282"/>
                </a:lnTo>
                <a:lnTo>
                  <a:pt x="583171" y="363236"/>
                </a:lnTo>
                <a:lnTo>
                  <a:pt x="666481" y="358190"/>
                </a:lnTo>
                <a:lnTo>
                  <a:pt x="749791" y="353143"/>
                </a:lnTo>
                <a:lnTo>
                  <a:pt x="833101" y="348097"/>
                </a:lnTo>
                <a:lnTo>
                  <a:pt x="916411" y="343050"/>
                </a:lnTo>
                <a:lnTo>
                  <a:pt x="999722" y="338004"/>
                </a:lnTo>
                <a:lnTo>
                  <a:pt x="1083032" y="332958"/>
                </a:lnTo>
                <a:lnTo>
                  <a:pt x="1166342" y="327911"/>
                </a:lnTo>
                <a:lnTo>
                  <a:pt x="1249652" y="322865"/>
                </a:lnTo>
                <a:lnTo>
                  <a:pt x="1332962" y="317819"/>
                </a:lnTo>
                <a:lnTo>
                  <a:pt x="1416272" y="312772"/>
                </a:lnTo>
                <a:lnTo>
                  <a:pt x="1499582" y="307726"/>
                </a:lnTo>
                <a:lnTo>
                  <a:pt x="1582892" y="302679"/>
                </a:lnTo>
                <a:lnTo>
                  <a:pt x="1666203" y="297633"/>
                </a:lnTo>
                <a:lnTo>
                  <a:pt x="1749513" y="292587"/>
                </a:lnTo>
                <a:lnTo>
                  <a:pt x="1832823" y="287540"/>
                </a:lnTo>
                <a:lnTo>
                  <a:pt x="1916133" y="282494"/>
                </a:lnTo>
                <a:lnTo>
                  <a:pt x="1999443" y="277448"/>
                </a:lnTo>
                <a:lnTo>
                  <a:pt x="2082753" y="272401"/>
                </a:lnTo>
                <a:lnTo>
                  <a:pt x="2166063" y="266788"/>
                </a:lnTo>
                <a:lnTo>
                  <a:pt x="2249373" y="259759"/>
                </a:lnTo>
                <a:lnTo>
                  <a:pt x="2332684" y="252731"/>
                </a:lnTo>
                <a:lnTo>
                  <a:pt x="2415994" y="245702"/>
                </a:lnTo>
                <a:lnTo>
                  <a:pt x="2499304" y="238673"/>
                </a:lnTo>
                <a:lnTo>
                  <a:pt x="2582614" y="231644"/>
                </a:lnTo>
                <a:lnTo>
                  <a:pt x="2665924" y="224615"/>
                </a:lnTo>
                <a:lnTo>
                  <a:pt x="2749234" y="217586"/>
                </a:lnTo>
                <a:lnTo>
                  <a:pt x="2832544" y="210557"/>
                </a:lnTo>
                <a:lnTo>
                  <a:pt x="2915854" y="203528"/>
                </a:lnTo>
                <a:lnTo>
                  <a:pt x="2999165" y="196499"/>
                </a:lnTo>
                <a:lnTo>
                  <a:pt x="3082475" y="189471"/>
                </a:lnTo>
                <a:lnTo>
                  <a:pt x="3165785" y="182442"/>
                </a:lnTo>
                <a:lnTo>
                  <a:pt x="3249095" y="175413"/>
                </a:lnTo>
                <a:lnTo>
                  <a:pt x="3332405" y="168384"/>
                </a:lnTo>
                <a:lnTo>
                  <a:pt x="3415715" y="161355"/>
                </a:lnTo>
                <a:lnTo>
                  <a:pt x="3499025" y="154326"/>
                </a:lnTo>
                <a:lnTo>
                  <a:pt x="3582335" y="147066"/>
                </a:lnTo>
                <a:lnTo>
                  <a:pt x="3665646" y="138415"/>
                </a:lnTo>
                <a:lnTo>
                  <a:pt x="3748956" y="129764"/>
                </a:lnTo>
                <a:lnTo>
                  <a:pt x="3832266" y="121113"/>
                </a:lnTo>
                <a:lnTo>
                  <a:pt x="3915576" y="112462"/>
                </a:lnTo>
                <a:lnTo>
                  <a:pt x="3998886" y="103811"/>
                </a:lnTo>
                <a:lnTo>
                  <a:pt x="4082196" y="95160"/>
                </a:lnTo>
                <a:lnTo>
                  <a:pt x="4165506" y="86509"/>
                </a:lnTo>
                <a:lnTo>
                  <a:pt x="4248816" y="77858"/>
                </a:lnTo>
                <a:lnTo>
                  <a:pt x="4332127" y="69207"/>
                </a:lnTo>
                <a:lnTo>
                  <a:pt x="4415437" y="60556"/>
                </a:lnTo>
                <a:lnTo>
                  <a:pt x="4498747" y="51905"/>
                </a:lnTo>
                <a:lnTo>
                  <a:pt x="4582057" y="43254"/>
                </a:lnTo>
                <a:lnTo>
                  <a:pt x="4665367" y="34603"/>
                </a:lnTo>
                <a:lnTo>
                  <a:pt x="4748677" y="25953"/>
                </a:lnTo>
                <a:lnTo>
                  <a:pt x="4831987" y="17302"/>
                </a:lnTo>
                <a:lnTo>
                  <a:pt x="4915297" y="8651"/>
                </a:lnTo>
                <a:lnTo>
                  <a:pt x="4998608" y="0"/>
                </a:lnTo>
                <a:lnTo>
                  <a:pt x="4998608" y="303479"/>
                </a:lnTo>
                <a:lnTo>
                  <a:pt x="4915297" y="308589"/>
                </a:lnTo>
                <a:lnTo>
                  <a:pt x="4831987" y="313699"/>
                </a:lnTo>
                <a:lnTo>
                  <a:pt x="4748677" y="318810"/>
                </a:lnTo>
                <a:lnTo>
                  <a:pt x="4665367" y="323920"/>
                </a:lnTo>
                <a:lnTo>
                  <a:pt x="4582057" y="329030"/>
                </a:lnTo>
                <a:lnTo>
                  <a:pt x="4498747" y="334141"/>
                </a:lnTo>
                <a:lnTo>
                  <a:pt x="4415437" y="339251"/>
                </a:lnTo>
                <a:lnTo>
                  <a:pt x="4332127" y="344361"/>
                </a:lnTo>
                <a:lnTo>
                  <a:pt x="4248816" y="349472"/>
                </a:lnTo>
                <a:lnTo>
                  <a:pt x="4165506" y="354582"/>
                </a:lnTo>
                <a:lnTo>
                  <a:pt x="4082196" y="359692"/>
                </a:lnTo>
                <a:lnTo>
                  <a:pt x="3998886" y="364803"/>
                </a:lnTo>
                <a:lnTo>
                  <a:pt x="3915576" y="369913"/>
                </a:lnTo>
                <a:lnTo>
                  <a:pt x="3832266" y="375023"/>
                </a:lnTo>
                <a:lnTo>
                  <a:pt x="3748956" y="380134"/>
                </a:lnTo>
                <a:lnTo>
                  <a:pt x="3665646" y="385244"/>
                </a:lnTo>
                <a:lnTo>
                  <a:pt x="3582335" y="390354"/>
                </a:lnTo>
                <a:lnTo>
                  <a:pt x="3499025" y="394644"/>
                </a:lnTo>
                <a:lnTo>
                  <a:pt x="3415715" y="398796"/>
                </a:lnTo>
                <a:lnTo>
                  <a:pt x="3332405" y="402948"/>
                </a:lnTo>
                <a:lnTo>
                  <a:pt x="3249095" y="407100"/>
                </a:lnTo>
                <a:lnTo>
                  <a:pt x="3165785" y="411252"/>
                </a:lnTo>
                <a:lnTo>
                  <a:pt x="3082475" y="415404"/>
                </a:lnTo>
                <a:lnTo>
                  <a:pt x="2999165" y="419556"/>
                </a:lnTo>
                <a:lnTo>
                  <a:pt x="2915854" y="423709"/>
                </a:lnTo>
                <a:lnTo>
                  <a:pt x="2832544" y="427861"/>
                </a:lnTo>
                <a:lnTo>
                  <a:pt x="2749234" y="432013"/>
                </a:lnTo>
                <a:lnTo>
                  <a:pt x="2665924" y="436165"/>
                </a:lnTo>
                <a:lnTo>
                  <a:pt x="2582614" y="440317"/>
                </a:lnTo>
                <a:lnTo>
                  <a:pt x="2499304" y="444469"/>
                </a:lnTo>
                <a:lnTo>
                  <a:pt x="2415994" y="448622"/>
                </a:lnTo>
                <a:lnTo>
                  <a:pt x="2332684" y="452774"/>
                </a:lnTo>
                <a:lnTo>
                  <a:pt x="2249373" y="456926"/>
                </a:lnTo>
                <a:lnTo>
                  <a:pt x="2166063" y="461078"/>
                </a:lnTo>
                <a:lnTo>
                  <a:pt x="2082753" y="464394"/>
                </a:lnTo>
                <a:lnTo>
                  <a:pt x="1999443" y="467375"/>
                </a:lnTo>
                <a:lnTo>
                  <a:pt x="1916133" y="470356"/>
                </a:lnTo>
                <a:lnTo>
                  <a:pt x="1832823" y="473337"/>
                </a:lnTo>
                <a:lnTo>
                  <a:pt x="1749513" y="476318"/>
                </a:lnTo>
                <a:lnTo>
                  <a:pt x="1666203" y="479299"/>
                </a:lnTo>
                <a:lnTo>
                  <a:pt x="1582892" y="482280"/>
                </a:lnTo>
                <a:lnTo>
                  <a:pt x="1499582" y="485261"/>
                </a:lnTo>
                <a:lnTo>
                  <a:pt x="1416272" y="488242"/>
                </a:lnTo>
                <a:lnTo>
                  <a:pt x="1332962" y="491223"/>
                </a:lnTo>
                <a:lnTo>
                  <a:pt x="1249652" y="494204"/>
                </a:lnTo>
                <a:lnTo>
                  <a:pt x="1166342" y="497185"/>
                </a:lnTo>
                <a:lnTo>
                  <a:pt x="1083032" y="500166"/>
                </a:lnTo>
                <a:lnTo>
                  <a:pt x="999722" y="503147"/>
                </a:lnTo>
                <a:lnTo>
                  <a:pt x="916411" y="506128"/>
                </a:lnTo>
                <a:lnTo>
                  <a:pt x="833101" y="509109"/>
                </a:lnTo>
                <a:lnTo>
                  <a:pt x="749791" y="512090"/>
                </a:lnTo>
                <a:lnTo>
                  <a:pt x="666481" y="515071"/>
                </a:lnTo>
                <a:lnTo>
                  <a:pt x="583171" y="518052"/>
                </a:lnTo>
                <a:lnTo>
                  <a:pt x="499861" y="521033"/>
                </a:lnTo>
                <a:lnTo>
                  <a:pt x="416551" y="524014"/>
                </a:lnTo>
                <a:lnTo>
                  <a:pt x="333241" y="526995"/>
                </a:lnTo>
                <a:lnTo>
                  <a:pt x="249930" y="529976"/>
                </a:lnTo>
                <a:lnTo>
                  <a:pt x="166620" y="532957"/>
                </a:lnTo>
                <a:lnTo>
                  <a:pt x="83310" y="535939"/>
                </a:lnTo>
                <a:lnTo>
                  <a:pt x="0" y="538920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weight: 3-й центиль"/>
          <p:cNvSpPr/>
          <p:nvPr/>
        </p:nvSpPr>
        <p:spPr>
          <a:xfrm>
            <a:off x="6324447" y="3764726"/>
            <a:ext cx="4998608" cy="235441"/>
          </a:xfrm>
          <a:custGeom>
            <a:avLst/>
            <a:gdLst/>
            <a:ahLst/>
            <a:cxnLst/>
            <a:rect l="l" t="t" r="r" b="b"/>
            <a:pathLst>
              <a:path w="4998608" h="235441">
                <a:moveTo>
                  <a:pt x="0" y="235441"/>
                </a:moveTo>
                <a:lnTo>
                  <a:pt x="83310" y="232460"/>
                </a:lnTo>
                <a:lnTo>
                  <a:pt x="166620" y="229478"/>
                </a:lnTo>
                <a:lnTo>
                  <a:pt x="249930" y="226497"/>
                </a:lnTo>
                <a:lnTo>
                  <a:pt x="333241" y="223516"/>
                </a:lnTo>
                <a:lnTo>
                  <a:pt x="416551" y="220535"/>
                </a:lnTo>
                <a:lnTo>
                  <a:pt x="499861" y="217554"/>
                </a:lnTo>
                <a:lnTo>
                  <a:pt x="583171" y="214573"/>
                </a:lnTo>
                <a:lnTo>
                  <a:pt x="666481" y="211592"/>
                </a:lnTo>
                <a:lnTo>
                  <a:pt x="749791" y="208611"/>
                </a:lnTo>
                <a:lnTo>
                  <a:pt x="833101" y="205630"/>
                </a:lnTo>
                <a:lnTo>
                  <a:pt x="916411" y="202649"/>
                </a:lnTo>
                <a:lnTo>
                  <a:pt x="999722" y="199668"/>
                </a:lnTo>
                <a:lnTo>
                  <a:pt x="1083032" y="196687"/>
                </a:lnTo>
                <a:lnTo>
                  <a:pt x="1166342" y="193706"/>
                </a:lnTo>
                <a:lnTo>
                  <a:pt x="1249652" y="190725"/>
                </a:lnTo>
                <a:lnTo>
                  <a:pt x="1332962" y="187744"/>
                </a:lnTo>
                <a:lnTo>
                  <a:pt x="1416272" y="184763"/>
                </a:lnTo>
                <a:lnTo>
                  <a:pt x="1499582" y="181782"/>
                </a:lnTo>
                <a:lnTo>
                  <a:pt x="1582892" y="178801"/>
                </a:lnTo>
                <a:lnTo>
                  <a:pt x="1666203" y="175820"/>
                </a:lnTo>
                <a:lnTo>
                  <a:pt x="1749513" y="172839"/>
                </a:lnTo>
                <a:lnTo>
                  <a:pt x="1832823" y="169858"/>
                </a:lnTo>
                <a:lnTo>
                  <a:pt x="1916133" y="166877"/>
                </a:lnTo>
                <a:lnTo>
                  <a:pt x="1999443" y="163896"/>
                </a:lnTo>
                <a:lnTo>
                  <a:pt x="2082753" y="160915"/>
                </a:lnTo>
                <a:lnTo>
                  <a:pt x="2166063" y="157599"/>
                </a:lnTo>
                <a:lnTo>
                  <a:pt x="2249373" y="153447"/>
                </a:lnTo>
                <a:lnTo>
                  <a:pt x="2332684" y="149295"/>
                </a:lnTo>
                <a:lnTo>
                  <a:pt x="2415994" y="145143"/>
                </a:lnTo>
                <a:lnTo>
                  <a:pt x="2499304" y="140990"/>
                </a:lnTo>
                <a:lnTo>
                  <a:pt x="2582614" y="136838"/>
                </a:lnTo>
                <a:lnTo>
                  <a:pt x="2665924" y="132686"/>
                </a:lnTo>
                <a:lnTo>
                  <a:pt x="2749234" y="128534"/>
                </a:lnTo>
                <a:lnTo>
                  <a:pt x="2832544" y="124382"/>
                </a:lnTo>
                <a:lnTo>
                  <a:pt x="2915854" y="120230"/>
                </a:lnTo>
                <a:lnTo>
                  <a:pt x="2999165" y="116077"/>
                </a:lnTo>
                <a:lnTo>
                  <a:pt x="3082475" y="111925"/>
                </a:lnTo>
                <a:lnTo>
                  <a:pt x="3165785" y="107773"/>
                </a:lnTo>
                <a:lnTo>
                  <a:pt x="3249095" y="103621"/>
                </a:lnTo>
                <a:lnTo>
                  <a:pt x="3332405" y="99469"/>
                </a:lnTo>
                <a:lnTo>
                  <a:pt x="3415715" y="95317"/>
                </a:lnTo>
                <a:lnTo>
                  <a:pt x="3499025" y="91165"/>
                </a:lnTo>
                <a:lnTo>
                  <a:pt x="3582335" y="86875"/>
                </a:lnTo>
                <a:lnTo>
                  <a:pt x="3665646" y="81765"/>
                </a:lnTo>
                <a:lnTo>
                  <a:pt x="3748956" y="76655"/>
                </a:lnTo>
                <a:lnTo>
                  <a:pt x="3832266" y="71544"/>
                </a:lnTo>
                <a:lnTo>
                  <a:pt x="3915576" y="66434"/>
                </a:lnTo>
                <a:lnTo>
                  <a:pt x="3998886" y="61324"/>
                </a:lnTo>
                <a:lnTo>
                  <a:pt x="4082196" y="56213"/>
                </a:lnTo>
                <a:lnTo>
                  <a:pt x="4165506" y="51103"/>
                </a:lnTo>
                <a:lnTo>
                  <a:pt x="4248816" y="45993"/>
                </a:lnTo>
                <a:lnTo>
                  <a:pt x="4332127" y="40882"/>
                </a:lnTo>
                <a:lnTo>
                  <a:pt x="4415437" y="35772"/>
                </a:lnTo>
                <a:lnTo>
                  <a:pt x="4498747" y="30662"/>
                </a:lnTo>
                <a:lnTo>
                  <a:pt x="4582057" y="25551"/>
                </a:lnTo>
                <a:lnTo>
                  <a:pt x="4665367" y="20441"/>
                </a:lnTo>
                <a:lnTo>
                  <a:pt x="4748677" y="15331"/>
                </a:lnTo>
                <a:lnTo>
                  <a:pt x="4831987" y="10220"/>
                </a:lnTo>
                <a:lnTo>
                  <a:pt x="4915297" y="5110"/>
                </a:lnTo>
                <a:lnTo>
                  <a:pt x="49986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1363055" y="3684726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82" name="weight: 50-й центиль"/>
          <p:cNvSpPr/>
          <p:nvPr/>
        </p:nvSpPr>
        <p:spPr>
          <a:xfrm>
            <a:off x="6324447" y="3664094"/>
            <a:ext cx="4998608" cy="289531"/>
          </a:xfrm>
          <a:custGeom>
            <a:avLst/>
            <a:gdLst/>
            <a:ahLst/>
            <a:cxnLst/>
            <a:rect l="l" t="t" r="r" b="b"/>
            <a:pathLst>
              <a:path w="4998608" h="289531">
                <a:moveTo>
                  <a:pt x="0" y="289531"/>
                </a:moveTo>
                <a:lnTo>
                  <a:pt x="83310" y="285865"/>
                </a:lnTo>
                <a:lnTo>
                  <a:pt x="166620" y="282199"/>
                </a:lnTo>
                <a:lnTo>
                  <a:pt x="249930" y="278533"/>
                </a:lnTo>
                <a:lnTo>
                  <a:pt x="333241" y="274867"/>
                </a:lnTo>
                <a:lnTo>
                  <a:pt x="416551" y="271201"/>
                </a:lnTo>
                <a:lnTo>
                  <a:pt x="499861" y="267535"/>
                </a:lnTo>
                <a:lnTo>
                  <a:pt x="583171" y="263869"/>
                </a:lnTo>
                <a:lnTo>
                  <a:pt x="666481" y="260203"/>
                </a:lnTo>
                <a:lnTo>
                  <a:pt x="749791" y="256538"/>
                </a:lnTo>
                <a:lnTo>
                  <a:pt x="833101" y="252872"/>
                </a:lnTo>
                <a:lnTo>
                  <a:pt x="916411" y="249206"/>
                </a:lnTo>
                <a:lnTo>
                  <a:pt x="999722" y="245540"/>
                </a:lnTo>
                <a:lnTo>
                  <a:pt x="1083032" y="241874"/>
                </a:lnTo>
                <a:lnTo>
                  <a:pt x="1166342" y="238208"/>
                </a:lnTo>
                <a:lnTo>
                  <a:pt x="1249652" y="234542"/>
                </a:lnTo>
                <a:lnTo>
                  <a:pt x="1332962" y="230876"/>
                </a:lnTo>
                <a:lnTo>
                  <a:pt x="1416272" y="227210"/>
                </a:lnTo>
                <a:lnTo>
                  <a:pt x="1499582" y="223545"/>
                </a:lnTo>
                <a:lnTo>
                  <a:pt x="1582892" y="219879"/>
                </a:lnTo>
                <a:lnTo>
                  <a:pt x="1666203" y="216213"/>
                </a:lnTo>
                <a:lnTo>
                  <a:pt x="1749513" y="212547"/>
                </a:lnTo>
                <a:lnTo>
                  <a:pt x="1832823" y="208881"/>
                </a:lnTo>
                <a:lnTo>
                  <a:pt x="1916133" y="205215"/>
                </a:lnTo>
                <a:lnTo>
                  <a:pt x="1999443" y="201549"/>
                </a:lnTo>
                <a:lnTo>
                  <a:pt x="2082753" y="197883"/>
                </a:lnTo>
                <a:lnTo>
                  <a:pt x="2166063" y="193806"/>
                </a:lnTo>
                <a:lnTo>
                  <a:pt x="2249373" y="188700"/>
                </a:lnTo>
                <a:lnTo>
                  <a:pt x="2332684" y="183594"/>
                </a:lnTo>
                <a:lnTo>
                  <a:pt x="2415994" y="178488"/>
                </a:lnTo>
                <a:lnTo>
                  <a:pt x="2499304" y="173382"/>
                </a:lnTo>
                <a:lnTo>
                  <a:pt x="2582614" y="168276"/>
                </a:lnTo>
                <a:lnTo>
                  <a:pt x="2665924" y="163170"/>
                </a:lnTo>
                <a:lnTo>
                  <a:pt x="2749234" y="158064"/>
                </a:lnTo>
                <a:lnTo>
                  <a:pt x="2832544" y="152957"/>
                </a:lnTo>
                <a:lnTo>
                  <a:pt x="2915854" y="147851"/>
                </a:lnTo>
                <a:lnTo>
                  <a:pt x="2999165" y="142745"/>
                </a:lnTo>
                <a:lnTo>
                  <a:pt x="3082475" y="137639"/>
                </a:lnTo>
                <a:lnTo>
                  <a:pt x="3165785" y="132533"/>
                </a:lnTo>
                <a:lnTo>
                  <a:pt x="3249095" y="127427"/>
                </a:lnTo>
                <a:lnTo>
                  <a:pt x="3332405" y="122321"/>
                </a:lnTo>
                <a:lnTo>
                  <a:pt x="3415715" y="117215"/>
                </a:lnTo>
                <a:lnTo>
                  <a:pt x="3499025" y="112109"/>
                </a:lnTo>
                <a:lnTo>
                  <a:pt x="3582335" y="106835"/>
                </a:lnTo>
                <a:lnTo>
                  <a:pt x="3665646" y="100550"/>
                </a:lnTo>
                <a:lnTo>
                  <a:pt x="3748956" y="94266"/>
                </a:lnTo>
                <a:lnTo>
                  <a:pt x="3832266" y="87981"/>
                </a:lnTo>
                <a:lnTo>
                  <a:pt x="3915576" y="81697"/>
                </a:lnTo>
                <a:lnTo>
                  <a:pt x="3998886" y="75413"/>
                </a:lnTo>
                <a:lnTo>
                  <a:pt x="4082196" y="69128"/>
                </a:lnTo>
                <a:lnTo>
                  <a:pt x="4165506" y="62844"/>
                </a:lnTo>
                <a:lnTo>
                  <a:pt x="4248816" y="56560"/>
                </a:lnTo>
                <a:lnTo>
                  <a:pt x="4332127" y="50275"/>
                </a:lnTo>
                <a:lnTo>
                  <a:pt x="4415437" y="43991"/>
                </a:lnTo>
                <a:lnTo>
                  <a:pt x="4498747" y="37706"/>
                </a:lnTo>
                <a:lnTo>
                  <a:pt x="4582057" y="31422"/>
                </a:lnTo>
                <a:lnTo>
                  <a:pt x="4665367" y="25138"/>
                </a:lnTo>
                <a:lnTo>
                  <a:pt x="4748677" y="18853"/>
                </a:lnTo>
                <a:lnTo>
                  <a:pt x="4831987" y="12569"/>
                </a:lnTo>
                <a:lnTo>
                  <a:pt x="4915297" y="6285"/>
                </a:lnTo>
                <a:lnTo>
                  <a:pt x="49986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1363055" y="3584094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84" name="weight: 97-й центиль"/>
          <p:cNvSpPr/>
          <p:nvPr/>
        </p:nvSpPr>
        <p:spPr>
          <a:xfrm>
            <a:off x="6324447" y="3461247"/>
            <a:ext cx="4998608" cy="398561"/>
          </a:xfrm>
          <a:custGeom>
            <a:avLst/>
            <a:gdLst/>
            <a:ahLst/>
            <a:cxnLst/>
            <a:rect l="l" t="t" r="r" b="b"/>
            <a:pathLst>
              <a:path w="4998608" h="398561">
                <a:moveTo>
                  <a:pt x="0" y="398561"/>
                </a:moveTo>
                <a:lnTo>
                  <a:pt x="83310" y="393514"/>
                </a:lnTo>
                <a:lnTo>
                  <a:pt x="166620" y="388468"/>
                </a:lnTo>
                <a:lnTo>
                  <a:pt x="249930" y="383421"/>
                </a:lnTo>
                <a:lnTo>
                  <a:pt x="333241" y="378375"/>
                </a:lnTo>
                <a:lnTo>
                  <a:pt x="416551" y="373329"/>
                </a:lnTo>
                <a:lnTo>
                  <a:pt x="499861" y="368282"/>
                </a:lnTo>
                <a:lnTo>
                  <a:pt x="583171" y="363236"/>
                </a:lnTo>
                <a:lnTo>
                  <a:pt x="666481" y="358190"/>
                </a:lnTo>
                <a:lnTo>
                  <a:pt x="749791" y="353143"/>
                </a:lnTo>
                <a:lnTo>
                  <a:pt x="833101" y="348097"/>
                </a:lnTo>
                <a:lnTo>
                  <a:pt x="916411" y="343050"/>
                </a:lnTo>
                <a:lnTo>
                  <a:pt x="999722" y="338004"/>
                </a:lnTo>
                <a:lnTo>
                  <a:pt x="1083032" y="332958"/>
                </a:lnTo>
                <a:lnTo>
                  <a:pt x="1166342" y="327911"/>
                </a:lnTo>
                <a:lnTo>
                  <a:pt x="1249652" y="322865"/>
                </a:lnTo>
                <a:lnTo>
                  <a:pt x="1332962" y="317819"/>
                </a:lnTo>
                <a:lnTo>
                  <a:pt x="1416272" y="312772"/>
                </a:lnTo>
                <a:lnTo>
                  <a:pt x="1499582" y="307726"/>
                </a:lnTo>
                <a:lnTo>
                  <a:pt x="1582892" y="302679"/>
                </a:lnTo>
                <a:lnTo>
                  <a:pt x="1666203" y="297633"/>
                </a:lnTo>
                <a:lnTo>
                  <a:pt x="1749513" y="292587"/>
                </a:lnTo>
                <a:lnTo>
                  <a:pt x="1832823" y="287540"/>
                </a:lnTo>
                <a:lnTo>
                  <a:pt x="1916133" y="282494"/>
                </a:lnTo>
                <a:lnTo>
                  <a:pt x="1999443" y="277448"/>
                </a:lnTo>
                <a:lnTo>
                  <a:pt x="2082753" y="272401"/>
                </a:lnTo>
                <a:lnTo>
                  <a:pt x="2166063" y="266788"/>
                </a:lnTo>
                <a:lnTo>
                  <a:pt x="2249373" y="259759"/>
                </a:lnTo>
                <a:lnTo>
                  <a:pt x="2332684" y="252731"/>
                </a:lnTo>
                <a:lnTo>
                  <a:pt x="2415994" y="245702"/>
                </a:lnTo>
                <a:lnTo>
                  <a:pt x="2499304" y="238673"/>
                </a:lnTo>
                <a:lnTo>
                  <a:pt x="2582614" y="231644"/>
                </a:lnTo>
                <a:lnTo>
                  <a:pt x="2665924" y="224615"/>
                </a:lnTo>
                <a:lnTo>
                  <a:pt x="2749234" y="217586"/>
                </a:lnTo>
                <a:lnTo>
                  <a:pt x="2832544" y="210557"/>
                </a:lnTo>
                <a:lnTo>
                  <a:pt x="2915854" y="203528"/>
                </a:lnTo>
                <a:lnTo>
                  <a:pt x="2999165" y="196499"/>
                </a:lnTo>
                <a:lnTo>
                  <a:pt x="3082475" y="189471"/>
                </a:lnTo>
                <a:lnTo>
                  <a:pt x="3165785" y="182442"/>
                </a:lnTo>
                <a:lnTo>
                  <a:pt x="3249095" y="175413"/>
                </a:lnTo>
                <a:lnTo>
                  <a:pt x="3332405" y="168384"/>
                </a:lnTo>
                <a:lnTo>
                  <a:pt x="3415715" y="161355"/>
                </a:lnTo>
                <a:lnTo>
                  <a:pt x="3499025" y="154326"/>
                </a:lnTo>
                <a:lnTo>
                  <a:pt x="3582335" y="147066"/>
                </a:lnTo>
                <a:lnTo>
                  <a:pt x="3665646" y="138415"/>
                </a:lnTo>
                <a:lnTo>
                  <a:pt x="3748956" y="129764"/>
                </a:lnTo>
                <a:lnTo>
                  <a:pt x="3832266" y="121113"/>
                </a:lnTo>
                <a:lnTo>
                  <a:pt x="3915576" y="112462"/>
                </a:lnTo>
                <a:lnTo>
                  <a:pt x="3998886" y="103811"/>
                </a:lnTo>
                <a:lnTo>
                  <a:pt x="4082196" y="95160"/>
                </a:lnTo>
                <a:lnTo>
                  <a:pt x="4165506" y="86509"/>
                </a:lnTo>
                <a:lnTo>
                  <a:pt x="4248816" y="77858"/>
                </a:lnTo>
                <a:lnTo>
                  <a:pt x="4332127" y="69207"/>
                </a:lnTo>
                <a:lnTo>
                  <a:pt x="4415437" y="60556"/>
                </a:lnTo>
                <a:lnTo>
                  <a:pt x="4498747" y="51905"/>
                </a:lnTo>
                <a:lnTo>
                  <a:pt x="4582057" y="43254"/>
                </a:lnTo>
                <a:lnTo>
                  <a:pt x="4665367" y="34603"/>
                </a:lnTo>
                <a:lnTo>
                  <a:pt x="4748677" y="25953"/>
                </a:lnTo>
                <a:lnTo>
                  <a:pt x="4831987" y="17302"/>
                </a:lnTo>
                <a:lnTo>
                  <a:pt x="4915297" y="8651"/>
                </a:lnTo>
                <a:lnTo>
                  <a:pt x="49986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1363055" y="3381247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86" name="weight: ось"/>
          <p:cNvSpPr/>
          <p:nvPr/>
        </p:nvSpPr>
        <p:spPr>
          <a:xfrm>
            <a:off x="6324447" y="4032504"/>
            <a:ext cx="4998608" cy="0"/>
          </a:xfrm>
          <a:custGeom>
            <a:avLst/>
            <a:gdLst/>
            <a:ahLst/>
            <a:cxnLst/>
            <a:rect l="l" t="t" r="r" b="b"/>
            <a:pathLst>
              <a:path w="4998608">
                <a:moveTo>
                  <a:pt x="0" y="0"/>
                </a:moveTo>
                <a:lnTo>
                  <a:pt x="4998608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174447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88534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02621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16707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30794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44881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58968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173055" y="4062504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95" name="weight: пациент"/>
          <p:cNvSpPr/>
          <p:nvPr/>
        </p:nvSpPr>
        <p:spPr>
          <a:xfrm>
            <a:off x="6324447" y="3461217"/>
            <a:ext cx="4284521" cy="479372"/>
          </a:xfrm>
          <a:custGeom>
            <a:avLst/>
            <a:gdLst/>
            <a:ahLst/>
            <a:cxnLst/>
            <a:rect l="l" t="t" r="r" b="b"/>
            <a:pathLst>
              <a:path w="4284521" h="479372">
                <a:moveTo>
                  <a:pt x="0" y="479372"/>
                </a:moveTo>
                <a:lnTo>
                  <a:pt x="119014" y="473102"/>
                </a:lnTo>
                <a:lnTo>
                  <a:pt x="238029" y="466798"/>
                </a:lnTo>
                <a:lnTo>
                  <a:pt x="357043" y="460460"/>
                </a:lnTo>
                <a:lnTo>
                  <a:pt x="476058" y="454089"/>
                </a:lnTo>
                <a:lnTo>
                  <a:pt x="595072" y="447684"/>
                </a:lnTo>
                <a:lnTo>
                  <a:pt x="714087" y="441244"/>
                </a:lnTo>
                <a:lnTo>
                  <a:pt x="833101" y="434771"/>
                </a:lnTo>
                <a:lnTo>
                  <a:pt x="952116" y="428263"/>
                </a:lnTo>
                <a:lnTo>
                  <a:pt x="1071130" y="421721"/>
                </a:lnTo>
                <a:lnTo>
                  <a:pt x="1190145" y="415144"/>
                </a:lnTo>
                <a:lnTo>
                  <a:pt x="1309159" y="408533"/>
                </a:lnTo>
                <a:lnTo>
                  <a:pt x="1428174" y="401886"/>
                </a:lnTo>
                <a:lnTo>
                  <a:pt x="1487681" y="396112"/>
                </a:lnTo>
                <a:lnTo>
                  <a:pt x="1547188" y="390263"/>
                </a:lnTo>
                <a:lnTo>
                  <a:pt x="1606695" y="384340"/>
                </a:lnTo>
                <a:lnTo>
                  <a:pt x="1666203" y="378342"/>
                </a:lnTo>
                <a:lnTo>
                  <a:pt x="1725710" y="372267"/>
                </a:lnTo>
                <a:lnTo>
                  <a:pt x="1785217" y="366115"/>
                </a:lnTo>
                <a:lnTo>
                  <a:pt x="1844724" y="359885"/>
                </a:lnTo>
                <a:lnTo>
                  <a:pt x="1904231" y="353575"/>
                </a:lnTo>
                <a:lnTo>
                  <a:pt x="1963739" y="347186"/>
                </a:lnTo>
                <a:lnTo>
                  <a:pt x="2023246" y="340716"/>
                </a:lnTo>
                <a:lnTo>
                  <a:pt x="2082753" y="334164"/>
                </a:lnTo>
                <a:lnTo>
                  <a:pt x="2142260" y="327530"/>
                </a:lnTo>
                <a:lnTo>
                  <a:pt x="2201768" y="319561"/>
                </a:lnTo>
                <a:lnTo>
                  <a:pt x="2261275" y="311487"/>
                </a:lnTo>
                <a:lnTo>
                  <a:pt x="2320782" y="303305"/>
                </a:lnTo>
                <a:lnTo>
                  <a:pt x="2380289" y="295015"/>
                </a:lnTo>
                <a:lnTo>
                  <a:pt x="2439797" y="286615"/>
                </a:lnTo>
                <a:lnTo>
                  <a:pt x="2499304" y="278105"/>
                </a:lnTo>
                <a:lnTo>
                  <a:pt x="2558811" y="269482"/>
                </a:lnTo>
                <a:lnTo>
                  <a:pt x="2618318" y="260746"/>
                </a:lnTo>
                <a:lnTo>
                  <a:pt x="2677825" y="251895"/>
                </a:lnTo>
                <a:lnTo>
                  <a:pt x="2737333" y="242928"/>
                </a:lnTo>
                <a:lnTo>
                  <a:pt x="2796840" y="233844"/>
                </a:lnTo>
                <a:lnTo>
                  <a:pt x="2856347" y="224641"/>
                </a:lnTo>
                <a:lnTo>
                  <a:pt x="2915854" y="216062"/>
                </a:lnTo>
                <a:lnTo>
                  <a:pt x="2975362" y="207388"/>
                </a:lnTo>
                <a:lnTo>
                  <a:pt x="3034869" y="198617"/>
                </a:lnTo>
                <a:lnTo>
                  <a:pt x="3094376" y="189749"/>
                </a:lnTo>
                <a:lnTo>
                  <a:pt x="3153883" y="180781"/>
                </a:lnTo>
                <a:lnTo>
                  <a:pt x="3213391" y="171715"/>
                </a:lnTo>
                <a:lnTo>
                  <a:pt x="3272898" y="162547"/>
                </a:lnTo>
                <a:lnTo>
                  <a:pt x="3332405" y="153278"/>
                </a:lnTo>
                <a:lnTo>
                  <a:pt x="3391912" y="143907"/>
                </a:lnTo>
                <a:lnTo>
                  <a:pt x="3451419" y="134432"/>
                </a:lnTo>
                <a:lnTo>
                  <a:pt x="3510927" y="124852"/>
                </a:lnTo>
                <a:lnTo>
                  <a:pt x="3570434" y="115167"/>
                </a:lnTo>
                <a:lnTo>
                  <a:pt x="3629941" y="105947"/>
                </a:lnTo>
                <a:lnTo>
                  <a:pt x="3689448" y="96659"/>
                </a:lnTo>
                <a:lnTo>
                  <a:pt x="3748956" y="87304"/>
                </a:lnTo>
                <a:lnTo>
                  <a:pt x="3808463" y="77881"/>
                </a:lnTo>
                <a:lnTo>
                  <a:pt x="3867970" y="68390"/>
                </a:lnTo>
                <a:lnTo>
                  <a:pt x="3927477" y="58830"/>
                </a:lnTo>
                <a:lnTo>
                  <a:pt x="3986985" y="49201"/>
                </a:lnTo>
                <a:lnTo>
                  <a:pt x="4046492" y="39501"/>
                </a:lnTo>
                <a:lnTo>
                  <a:pt x="4105999" y="29732"/>
                </a:lnTo>
                <a:lnTo>
                  <a:pt x="4165506" y="19893"/>
                </a:lnTo>
                <a:lnTo>
                  <a:pt x="4225013" y="9982"/>
                </a:lnTo>
                <a:lnTo>
                  <a:pt x="4284521" y="0"/>
                </a:lnTo>
              </a:path>
            </a:pathLst>
          </a:custGeom>
          <a:noFill/>
          <a:ln w="34925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weight: визит 5"/>
          <p:cNvSpPr/>
          <p:nvPr/>
        </p:nvSpPr>
        <p:spPr>
          <a:xfrm>
            <a:off x="6264447" y="388058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weight: визит 7"/>
          <p:cNvSpPr/>
          <p:nvPr/>
        </p:nvSpPr>
        <p:spPr>
          <a:xfrm>
            <a:off x="7692621" y="3803103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weight: визит 8"/>
          <p:cNvSpPr/>
          <p:nvPr/>
        </p:nvSpPr>
        <p:spPr>
          <a:xfrm>
            <a:off x="8406707" y="3728747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weight: визит 9"/>
          <p:cNvSpPr/>
          <p:nvPr/>
        </p:nvSpPr>
        <p:spPr>
          <a:xfrm>
            <a:off x="9120794" y="3625858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weight: визит 10"/>
          <p:cNvSpPr/>
          <p:nvPr/>
        </p:nvSpPr>
        <p:spPr>
          <a:xfrm>
            <a:off x="9834881" y="3516384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weight: визит 11"/>
          <p:cNvSpPr/>
          <p:nvPr/>
        </p:nvSpPr>
        <p:spPr>
          <a:xfrm>
            <a:off x="10548968" y="3401217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324447" y="3198881"/>
            <a:ext cx="4998607" cy="2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Масса, кг</a:t>
            </a:r>
          </a:p>
        </p:txBody>
      </p:sp>
      <p:sp>
        <p:nvSpPr>
          <p:cNvPr id="103" name="Легенда"/>
          <p:cNvSpPr/>
          <p:nvPr/>
        </p:nvSpPr>
        <p:spPr>
          <a:xfrm>
            <a:off x="548640" y="4343400"/>
            <a:ext cx="274320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Легенда"/>
          <p:cNvSpPr txBox="1"/>
          <p:nvPr/>
        </p:nvSpPr>
        <p:spPr>
          <a:xfrm>
            <a:off x="896112" y="427939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рост</a:t>
            </a:r>
          </a:p>
        </p:txBody>
      </p:sp>
      <p:sp>
        <p:nvSpPr>
          <p:cNvPr id="105" name="Легенда"/>
          <p:cNvSpPr/>
          <p:nvPr/>
        </p:nvSpPr>
        <p:spPr>
          <a:xfrm>
            <a:off x="2560320" y="4343400"/>
            <a:ext cx="274320" cy="91440"/>
          </a:xfrm>
          <a:prstGeom prst="rect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Легенда"/>
          <p:cNvSpPr txBox="1"/>
          <p:nvPr/>
        </p:nvSpPr>
        <p:spPr>
          <a:xfrm>
            <a:off x="2907792" y="427939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масса</a:t>
            </a:r>
          </a:p>
        </p:txBody>
      </p:sp>
      <p:sp>
        <p:nvSpPr>
          <p:cNvPr id="107" name="Легенда"/>
          <p:cNvSpPr/>
          <p:nvPr/>
        </p:nvSpPr>
        <p:spPr>
          <a:xfrm>
            <a:off x="4572000" y="4343400"/>
            <a:ext cx="274320" cy="9144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Легенда"/>
          <p:cNvSpPr txBox="1"/>
          <p:nvPr/>
        </p:nvSpPr>
        <p:spPr>
          <a:xfrm>
            <a:off x="4919472" y="427939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норма: 3–⁠97-й центиль</a:t>
            </a:r>
          </a:p>
        </p:txBody>
      </p:sp>
      <p:sp>
        <p:nvSpPr>
          <p:cNvPr id="110" name="Текст"/>
          <p:cNvSpPr txBox="1"/>
          <p:nvPr/>
        </p:nvSpPr>
        <p:spPr>
          <a:xfrm>
            <a:off x="548640" y="4599432"/>
            <a:ext cx="1109441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400"/>
              </a:spcAft>
              <a:buClr>
                <a:srgbClr val="1F6F8B"/>
              </a:buClr>
              <a:buChar char="–"/>
            </a:pPr>
            <a:r>
              <a:rPr sz="1700" b="0" i="0">
                <a:solidFill>
                  <a:srgbClr val="26323A"/>
                </a:solidFill>
                <a:latin typeface="Calibri"/>
              </a:rPr>
              <a:t>Рост при диагнозе: простое ожирение +1,18 СО, болезнь Кушинга −1,88 СО</a:t>
            </a:r>
          </a:p>
          <a:p>
            <a:pPr marL="256032" indent="-256032">
              <a:lnSpc>
                <a:spcPct val="100000"/>
              </a:lnSpc>
              <a:spcAft>
                <a:spcPts val="400"/>
              </a:spcAft>
              <a:buClr>
                <a:srgbClr val="1F6F8B"/>
              </a:buClr>
              <a:buChar char="–"/>
            </a:pPr>
            <a:r>
              <a:rPr sz="1700" b="0" i="0">
                <a:solidFill>
                  <a:srgbClr val="26323A"/>
                </a:solidFill>
                <a:latin typeface="Calibri"/>
              </a:rPr>
              <a:t>Первые признаки у 59 больных: прибавка массы у 90 %, замедление роста у 83 %</a:t>
            </a:r>
          </a:p>
        </p:txBody>
      </p:sp>
      <p:sp>
        <p:nvSpPr>
          <p:cNvPr id="111" name="Доказательность и источник"/>
          <p:cNvSpPr txBox="1"/>
          <p:nvPr/>
        </p:nvSpPr>
        <p:spPr>
          <a:xfrm>
            <a:off x="320079" y="6357099"/>
            <a:ext cx="10454335" cy="2769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900" b="0" i="0" dirty="0">
                <a:solidFill>
                  <a:srgbClr val="66737C"/>
                </a:solidFill>
                <a:latin typeface="Calibri"/>
              </a:rPr>
              <a:t>Greening JE et al. J Endocrinol Invest 2006;29:885–⁠7;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Magiakou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MA et al. N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Engl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J Med 1994;331:629–⁠36; Yamamoto M et al.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Endocr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J 2026, PMID 42386546;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Fleseriu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M et al. Lancet Diabetes Endocrinol 2021;9:847–⁠75 (Pituitary Society)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Самый частый гиперкортицизм у детей назначен врачом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12801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8960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Глюкокортикоиды внутрь при тяжёлой астме: ретроспективно, сравнение непрямое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Рост, СО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эпизодические курсы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−0,44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через день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−1,22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ежедневно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−0,93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54628" y="3063240"/>
            <a:ext cx="1109441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Ятрогенный синдром Кушинга: длительный приём глюкокортикоидов или введение АКТГ (адренокортикотропного гормона)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Даже малые дозы внутрь, ежедневно или через день, могут замедлять рост у части детей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Системный ювенильный артрит, отмена преднизолона: ускоренный рост у 17 из 24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По всей серии итоговый рост −2,0 СО, у 87 % ниже целевого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Совет докладчика: после длительного приёма назначивший врач снижает дозу постепенно, помня о надпочечниках</a:t>
            </a:r>
          </a:p>
        </p:txBody>
      </p:sp>
      <p:sp>
        <p:nvSpPr>
          <p:cNvPr id="5" name="Доказательность и источник"/>
          <p:cNvSpPr txBox="1"/>
          <p:nvPr/>
        </p:nvSpPr>
        <p:spPr>
          <a:xfrm>
            <a:off x="548640" y="6355330"/>
            <a:ext cx="10454335" cy="2769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900" b="0" i="0" dirty="0" err="1">
                <a:solidFill>
                  <a:srgbClr val="66737C"/>
                </a:solidFill>
                <a:latin typeface="Calibri"/>
              </a:rPr>
              <a:t>Stratakis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CA. Endocrinol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Clin North Am 2012;41:793–⁠803; Allen DB. Endocrinol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Clin North Am 1996;25:699–⁠717; Hochberg Z.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Res 2002;58 Suppl 1:33–⁠8;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Covar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RA et al. J Allergy Clin Immunol 2000;106:651–⁠9; Simon D et al. J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Rheumatol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2002;29:1296–⁠300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300" b="1" i="0">
                <a:solidFill>
                  <a:srgbClr val="1B2E3C"/>
                </a:solidFill>
                <a:latin typeface="Cambria"/>
              </a:rPr>
              <a:t>Ингаляционные и некоторые назальные стероиды замедляют рост, сильные накожные дают синдром Кушинга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21488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081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2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Препарат и срок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Ингаляционные, 1-й год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скорость роста ниже на 0,48 см/год; во 2-й год разница незначима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Будесонид 400 мкг/сут, 4–⁠6 лет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итоговый рост ниже на 1,2 см, вся потеря — в первые 2 года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Беклометазон в нос, 1 год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прибавка 5,0 см против 5,9 см на плацебо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Мометазон в нос, 1 год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рост не замедлился: 6,95 см против 6,35 см на плацебо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Клобетазол на кожу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описан синдром Кушинга у 22 детей, чаще младенцев; ось восстанавливалась около 3,5 мес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Доказательность и источник"/>
          <p:cNvSpPr txBox="1"/>
          <p:nvPr/>
        </p:nvSpPr>
        <p:spPr>
          <a:xfrm>
            <a:off x="359797" y="6333612"/>
            <a:ext cx="10454335" cy="2769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900" b="0" i="0" dirty="0">
                <a:solidFill>
                  <a:srgbClr val="66737C"/>
                </a:solidFill>
                <a:latin typeface="Calibri"/>
              </a:rPr>
              <a:t>Zhang L et al. Cochrane Database Syst Rev 2014;(7):CD009471; Kelly HW et al. N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Engl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J Med 2012;367:904–⁠12;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Skoner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DP et al. Pediatrics 2000;105:E23; Schenkel EJ et al. Pediatrics 2000;105:E22;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Tempark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T et al. Endocrine 2010;38:328–⁠34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Причина эндогенного гиперкортицизма зависит от возраста ребёнка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229819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060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81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Возраст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Что искать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Подсказка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816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Младенцы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синдром Мак-Кьюна — Олбрайта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редкий, начало обычно до 6 мес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816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Младше 6–⁠7 лет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надпочечниковые причины: опухоль коры, двусторонняя гиперплазия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одиночная опухоль злокачественна больше чем в 70 %, чаще проявляется до 5 лет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816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Старше 6–⁠7 лет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болезнь Кушинга: около 75 % случаев после 7 лет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до 10 лет чаще у мальчиков (британские эксперты)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816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Школьники и подростки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первичная пигментная узелковая дисплазия надпочечников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течение часто циклическое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Доказательность и источник"/>
          <p:cNvSpPr txBox="1"/>
          <p:nvPr/>
        </p:nvSpPr>
        <p:spPr>
          <a:xfrm>
            <a:off x="309360" y="6227731"/>
            <a:ext cx="10454335" cy="24622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800" b="0" i="0" dirty="0" err="1">
                <a:solidFill>
                  <a:srgbClr val="66737C"/>
                </a:solidFill>
                <a:latin typeface="Calibri"/>
              </a:rPr>
              <a:t>Stratakis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CA. Endocrinol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Clin North Am 2012;41:793–⁠803;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Fleseriu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M et al. Lancet Diabetes Endocrinol 2021;9:847–⁠75 (Pituitary Society);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Korbonits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M et al. Nat Rev Endocrinol 2024;20:290–⁠309; Hassan M et al.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Res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Paediatr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2026;99:718–⁠29; Wasserman JD et al. J Clin Oncol 2015;33:602–⁠9;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Magiakou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MA et al. N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Engl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J Med 1994;331:629–⁠36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Гиперкортицизм подтверждают повторными тестами первой линии, а не разовым кортизолом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206044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615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9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Тест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Условия и порог у детей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Свободный кортизол в суточной моче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 поправкой на площадь поверхности тела; детского порога в источниках нет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Кортизол слюны в 23:00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≥ 8 нмоль/л (0,29 мкг/дл), дети с ожирением: 10 больных, 22 контроля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Ночная проба: 1 мг дексаметазона в 23:00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кортизол сыворотки в 8:00 &gt; 50 нмоль/л (1,8 мкг/дл): дообследовать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Полуночный кортизол сыворотки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в стационаре, после повышенного кортизола мочи: ≥ 121 нмоль/л (4,4 мкг/дл), чувствительность 99 %, специфичность 100 %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733800"/>
            <a:ext cx="11094415" cy="1706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Начинают с доступного: ночная проба, суточная моча или слюна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Мочу и слюну повторяют 2–⁠3 раза (Общество гипофиза, общая рекомендация)</a:t>
            </a:r>
          </a:p>
        </p:txBody>
      </p:sp>
      <p:sp>
        <p:nvSpPr>
          <p:cNvPr id="5" name="Доказательность и источник"/>
          <p:cNvSpPr txBox="1"/>
          <p:nvPr/>
        </p:nvSpPr>
        <p:spPr>
          <a:xfrm>
            <a:off x="259845" y="6235753"/>
            <a:ext cx="10454335" cy="2769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900" b="0" i="0" dirty="0" err="1">
                <a:solidFill>
                  <a:srgbClr val="66737C"/>
                </a:solidFill>
                <a:latin typeface="Calibri"/>
              </a:rPr>
              <a:t>Fleseriu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M et al. Lancet Diabetes Endocrinol 2021;9:847–⁠75 (Pituitary Society);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Stratakis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CA. Endocrinol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Clin North Am 2012;41:793–⁠803; Batista DL et al. Pediatrics 2007;120:e575–⁠86;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Ballerini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MG et al.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Res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Paediatr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2025;98:719–⁠27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Пограничный скрининг повторяют, а подтверждённый гиперкортицизм ведёт центр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192938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6985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9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Что даёт ложное отклонение (общие разделы, не только дети)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В каком тесте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Тяжёлое ожирение, стресс, депрессия, плохо компенсированный диабет, много выпитой жидкости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свободный кортизол в суточной моче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Эстрогены внутрь, беременность, активный гепатит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ночная проба с дексаметазоном по кортизолу сыворотки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Фенобарбитал, карбамазепин, зверобой, диарея, целиакия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ночная проба с дексаметазоном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520440"/>
            <a:ext cx="11094415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Общество гипофиза: центр с детским эндокринологом и нейрохирургом по гипофизу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Британские эксперты: вместе со специалистами по гипофизу у взрослых, включая переход и пожизненное наблюдение</a:t>
            </a:r>
          </a:p>
        </p:txBody>
      </p:sp>
      <p:sp>
        <p:nvSpPr>
          <p:cNvPr id="5" name="Доказательность и источник"/>
          <p:cNvSpPr txBox="1"/>
          <p:nvPr/>
        </p:nvSpPr>
        <p:spPr>
          <a:xfrm>
            <a:off x="246717" y="6196953"/>
            <a:ext cx="10454335" cy="2769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900" b="0" i="0" dirty="0" err="1">
                <a:solidFill>
                  <a:srgbClr val="66737C"/>
                </a:solidFill>
                <a:latin typeface="Calibri"/>
              </a:rPr>
              <a:t>Fleseriu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M et al. Lancet Diabetes Endocrinol 2021;9:847–⁠75 (Pituitary Society);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Stratakis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CA. Endocrinol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Clin North Am 2012;41:793–⁠803;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Korbonits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M et al. Nat Rev Endocrinol 2024;20:290–⁠309;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Ballerini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MG et al.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Res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Paediatr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2025;98:719–⁠27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После излечения итоговый рост в среднем примерно на 1 СО ниже целевого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3" cy="12801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218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5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Серия, год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Дети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Ниже целевого при диагнозе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Ниже целевого в конце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1994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на 8,9 см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2000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на 1,72 СО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на 0,93 СО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2005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на 2,4 СО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на 1,2 СО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063240"/>
            <a:ext cx="1109441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Итоговый или последний рост в трёх сериях около −1,3 СО от нормы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ИМТ в серии 2005 года снизился с +2,7 до +1,7 СО, нормы не достиг</a:t>
            </a:r>
          </a:p>
        </p:txBody>
      </p:sp>
      <p:sp>
        <p:nvSpPr>
          <p:cNvPr id="5" name="Доказательность и источник"/>
          <p:cNvSpPr txBox="1"/>
          <p:nvPr/>
        </p:nvSpPr>
        <p:spPr>
          <a:xfrm>
            <a:off x="323632" y="6249298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 err="1">
                <a:solidFill>
                  <a:srgbClr val="66737C"/>
                </a:solidFill>
                <a:latin typeface="Calibri"/>
              </a:rPr>
              <a:t>Magiakou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MA et al. J Clin Endocrinol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1994;79:1082–⁠5;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Lebrethon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MC et al. J Clin Endocrinol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2000;85:3262–⁠5; Davies JH et al. Clin Endocrinol (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Oxf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) 2005;62:466–⁠72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Дефицит СТГ после операции проверяют в первые 3–⁠6 месяцев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Надпочечниковая недостаточность после излечения: замещение до восстановления оси (около года), стрессовые дозы при болезни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При дефиците СТГ лечение начинают сразу, чтобы ребёнок рос нормально (Общество гипофиза)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Серия 2005 года: пик СТГ ниже 20 мЕд/л у 13 из 14 детей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Оценка Общества гипофиза: пик ниже 9 мЕд/л у 31 %, ниже 30 мЕд/л у 54 %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У взрослых рецидив ищут пожизненно, после облучения ещё и дефицит гормонов (Общество гипофиза)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308700" y="6221070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 err="1">
                <a:solidFill>
                  <a:srgbClr val="66737C"/>
                </a:solidFill>
                <a:latin typeface="Calibri"/>
              </a:rPr>
              <a:t>Fleseriu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M et al. Lancet Diabetes Endocrinol 2021;9:847–⁠75 (Pituitary Society);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Stratakis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CA. Endocrinol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Clin North Am 2012;41:793–⁠803; Davies JH et al. Clin Endocrinol (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Oxf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) 2005;62:466–⁠72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При конституциональной задержке рост отстаёт до пубертата и догоняет поздно</a:t>
            </a:r>
          </a:p>
        </p:txBody>
      </p:sp>
      <p:sp>
        <p:nvSpPr>
          <p:cNvPr id="3" name="height: полоса 3–97"/>
          <p:cNvSpPr/>
          <p:nvPr/>
        </p:nvSpPr>
        <p:spPr>
          <a:xfrm>
            <a:off x="548640" y="2288627"/>
            <a:ext cx="6446560" cy="916447"/>
          </a:xfrm>
          <a:custGeom>
            <a:avLst/>
            <a:gdLst/>
            <a:ahLst/>
            <a:cxnLst/>
            <a:rect l="l" t="t" r="r" b="b"/>
            <a:pathLst>
              <a:path w="6446560" h="916447">
                <a:moveTo>
                  <a:pt x="0" y="808806"/>
                </a:moveTo>
                <a:lnTo>
                  <a:pt x="107442" y="784818"/>
                </a:lnTo>
                <a:lnTo>
                  <a:pt x="214885" y="761530"/>
                </a:lnTo>
                <a:lnTo>
                  <a:pt x="322328" y="738922"/>
                </a:lnTo>
                <a:lnTo>
                  <a:pt x="429770" y="716972"/>
                </a:lnTo>
                <a:lnTo>
                  <a:pt x="537213" y="695660"/>
                </a:lnTo>
                <a:lnTo>
                  <a:pt x="644656" y="674968"/>
                </a:lnTo>
                <a:lnTo>
                  <a:pt x="752098" y="654877"/>
                </a:lnTo>
                <a:lnTo>
                  <a:pt x="859541" y="635367"/>
                </a:lnTo>
                <a:lnTo>
                  <a:pt x="966984" y="616422"/>
                </a:lnTo>
                <a:lnTo>
                  <a:pt x="1074426" y="598025"/>
                </a:lnTo>
                <a:lnTo>
                  <a:pt x="1181869" y="580157"/>
                </a:lnTo>
                <a:lnTo>
                  <a:pt x="1289312" y="562804"/>
                </a:lnTo>
                <a:lnTo>
                  <a:pt x="1396754" y="545949"/>
                </a:lnTo>
                <a:lnTo>
                  <a:pt x="1504197" y="529577"/>
                </a:lnTo>
                <a:lnTo>
                  <a:pt x="1611640" y="513672"/>
                </a:lnTo>
                <a:lnTo>
                  <a:pt x="1719082" y="498219"/>
                </a:lnTo>
                <a:lnTo>
                  <a:pt x="1826525" y="483204"/>
                </a:lnTo>
                <a:lnTo>
                  <a:pt x="1933968" y="468612"/>
                </a:lnTo>
                <a:lnTo>
                  <a:pt x="2041410" y="454427"/>
                </a:lnTo>
                <a:lnTo>
                  <a:pt x="2148853" y="440636"/>
                </a:lnTo>
                <a:lnTo>
                  <a:pt x="2256296" y="427223"/>
                </a:lnTo>
                <a:lnTo>
                  <a:pt x="2363738" y="414172"/>
                </a:lnTo>
                <a:lnTo>
                  <a:pt x="2471181" y="401467"/>
                </a:lnTo>
                <a:lnTo>
                  <a:pt x="2578624" y="389091"/>
                </a:lnTo>
                <a:lnTo>
                  <a:pt x="2686066" y="377024"/>
                </a:lnTo>
                <a:lnTo>
                  <a:pt x="2793509" y="365245"/>
                </a:lnTo>
                <a:lnTo>
                  <a:pt x="2900951" y="353730"/>
                </a:lnTo>
                <a:lnTo>
                  <a:pt x="3008394" y="342453"/>
                </a:lnTo>
                <a:lnTo>
                  <a:pt x="3115837" y="331379"/>
                </a:lnTo>
                <a:lnTo>
                  <a:pt x="3223280" y="320473"/>
                </a:lnTo>
                <a:lnTo>
                  <a:pt x="3330722" y="309686"/>
                </a:lnTo>
                <a:lnTo>
                  <a:pt x="3438165" y="298965"/>
                </a:lnTo>
                <a:lnTo>
                  <a:pt x="3545608" y="288242"/>
                </a:lnTo>
                <a:lnTo>
                  <a:pt x="3653050" y="277437"/>
                </a:lnTo>
                <a:lnTo>
                  <a:pt x="3760493" y="266454"/>
                </a:lnTo>
                <a:lnTo>
                  <a:pt x="3867936" y="255179"/>
                </a:lnTo>
                <a:lnTo>
                  <a:pt x="3975378" y="243484"/>
                </a:lnTo>
                <a:lnTo>
                  <a:pt x="4082821" y="231226"/>
                </a:lnTo>
                <a:lnTo>
                  <a:pt x="4190264" y="218260"/>
                </a:lnTo>
                <a:lnTo>
                  <a:pt x="4297706" y="204450"/>
                </a:lnTo>
                <a:lnTo>
                  <a:pt x="4405149" y="189696"/>
                </a:lnTo>
                <a:lnTo>
                  <a:pt x="4512592" y="173967"/>
                </a:lnTo>
                <a:lnTo>
                  <a:pt x="4620034" y="157331"/>
                </a:lnTo>
                <a:lnTo>
                  <a:pt x="4727477" y="139991"/>
                </a:lnTo>
                <a:lnTo>
                  <a:pt x="4834920" y="122295"/>
                </a:lnTo>
                <a:lnTo>
                  <a:pt x="4942362" y="104707"/>
                </a:lnTo>
                <a:lnTo>
                  <a:pt x="5049805" y="87758"/>
                </a:lnTo>
                <a:lnTo>
                  <a:pt x="5157248" y="71954"/>
                </a:lnTo>
                <a:lnTo>
                  <a:pt x="5264690" y="57699"/>
                </a:lnTo>
                <a:lnTo>
                  <a:pt x="5372133" y="45240"/>
                </a:lnTo>
                <a:lnTo>
                  <a:pt x="5479576" y="34650"/>
                </a:lnTo>
                <a:lnTo>
                  <a:pt x="5587018" y="25859"/>
                </a:lnTo>
                <a:lnTo>
                  <a:pt x="5694461" y="18690"/>
                </a:lnTo>
                <a:lnTo>
                  <a:pt x="5801903" y="12916"/>
                </a:lnTo>
                <a:lnTo>
                  <a:pt x="5909346" y="8791"/>
                </a:lnTo>
                <a:lnTo>
                  <a:pt x="6016789" y="5889"/>
                </a:lnTo>
                <a:lnTo>
                  <a:pt x="6124232" y="3710"/>
                </a:lnTo>
                <a:lnTo>
                  <a:pt x="6231674" y="2087"/>
                </a:lnTo>
                <a:lnTo>
                  <a:pt x="6339117" y="886"/>
                </a:lnTo>
                <a:lnTo>
                  <a:pt x="6446560" y="0"/>
                </a:lnTo>
                <a:lnTo>
                  <a:pt x="6446560" y="194352"/>
                </a:lnTo>
                <a:lnTo>
                  <a:pt x="6339117" y="195238"/>
                </a:lnTo>
                <a:lnTo>
                  <a:pt x="6231674" y="196439"/>
                </a:lnTo>
                <a:lnTo>
                  <a:pt x="6124232" y="198062"/>
                </a:lnTo>
                <a:lnTo>
                  <a:pt x="6016789" y="200241"/>
                </a:lnTo>
                <a:lnTo>
                  <a:pt x="5909346" y="203143"/>
                </a:lnTo>
                <a:lnTo>
                  <a:pt x="5801903" y="206670"/>
                </a:lnTo>
                <a:lnTo>
                  <a:pt x="5694461" y="210850"/>
                </a:lnTo>
                <a:lnTo>
                  <a:pt x="5587018" y="216424"/>
                </a:lnTo>
                <a:lnTo>
                  <a:pt x="5479576" y="223620"/>
                </a:lnTo>
                <a:lnTo>
                  <a:pt x="5372133" y="232615"/>
                </a:lnTo>
                <a:lnTo>
                  <a:pt x="5264690" y="243479"/>
                </a:lnTo>
                <a:lnTo>
                  <a:pt x="5157248" y="256140"/>
                </a:lnTo>
                <a:lnTo>
                  <a:pt x="5049805" y="270349"/>
                </a:lnTo>
                <a:lnTo>
                  <a:pt x="4942362" y="285704"/>
                </a:lnTo>
                <a:lnTo>
                  <a:pt x="4834920" y="301697"/>
                </a:lnTo>
                <a:lnTo>
                  <a:pt x="4727477" y="317799"/>
                </a:lnTo>
                <a:lnTo>
                  <a:pt x="4620034" y="333543"/>
                </a:lnTo>
                <a:lnTo>
                  <a:pt x="4512592" y="348584"/>
                </a:lnTo>
                <a:lnTo>
                  <a:pt x="4405149" y="362719"/>
                </a:lnTo>
                <a:lnTo>
                  <a:pt x="4297706" y="375878"/>
                </a:lnTo>
                <a:lnTo>
                  <a:pt x="4190264" y="388093"/>
                </a:lnTo>
                <a:lnTo>
                  <a:pt x="4082821" y="399465"/>
                </a:lnTo>
                <a:lnTo>
                  <a:pt x="3975378" y="410128"/>
                </a:lnTo>
                <a:lnTo>
                  <a:pt x="3867936" y="420229"/>
                </a:lnTo>
                <a:lnTo>
                  <a:pt x="3760493" y="429909"/>
                </a:lnTo>
                <a:lnTo>
                  <a:pt x="3653050" y="439297"/>
                </a:lnTo>
                <a:lnTo>
                  <a:pt x="3545608" y="448508"/>
                </a:lnTo>
                <a:lnTo>
                  <a:pt x="3438165" y="457636"/>
                </a:lnTo>
                <a:lnTo>
                  <a:pt x="3330722" y="466762"/>
                </a:lnTo>
                <a:lnTo>
                  <a:pt x="3223280" y="475954"/>
                </a:lnTo>
                <a:lnTo>
                  <a:pt x="3115837" y="485266"/>
                </a:lnTo>
                <a:lnTo>
                  <a:pt x="3008394" y="494745"/>
                </a:lnTo>
                <a:lnTo>
                  <a:pt x="2900951" y="504428"/>
                </a:lnTo>
                <a:lnTo>
                  <a:pt x="2793509" y="514348"/>
                </a:lnTo>
                <a:lnTo>
                  <a:pt x="2686066" y="524532"/>
                </a:lnTo>
                <a:lnTo>
                  <a:pt x="2578624" y="535004"/>
                </a:lnTo>
                <a:lnTo>
                  <a:pt x="2471181" y="545786"/>
                </a:lnTo>
                <a:lnTo>
                  <a:pt x="2363738" y="556896"/>
                </a:lnTo>
                <a:lnTo>
                  <a:pt x="2256296" y="568352"/>
                </a:lnTo>
                <a:lnTo>
                  <a:pt x="2148853" y="580171"/>
                </a:lnTo>
                <a:lnTo>
                  <a:pt x="2041410" y="592367"/>
                </a:lnTo>
                <a:lnTo>
                  <a:pt x="1933968" y="604957"/>
                </a:lnTo>
                <a:lnTo>
                  <a:pt x="1826525" y="617955"/>
                </a:lnTo>
                <a:lnTo>
                  <a:pt x="1719082" y="631375"/>
                </a:lnTo>
                <a:lnTo>
                  <a:pt x="1611640" y="645233"/>
                </a:lnTo>
                <a:lnTo>
                  <a:pt x="1504197" y="659544"/>
                </a:lnTo>
                <a:lnTo>
                  <a:pt x="1396754" y="674321"/>
                </a:lnTo>
                <a:lnTo>
                  <a:pt x="1289312" y="689582"/>
                </a:lnTo>
                <a:lnTo>
                  <a:pt x="1181869" y="705340"/>
                </a:lnTo>
                <a:lnTo>
                  <a:pt x="1074426" y="721613"/>
                </a:lnTo>
                <a:lnTo>
                  <a:pt x="966984" y="738416"/>
                </a:lnTo>
                <a:lnTo>
                  <a:pt x="859541" y="755766"/>
                </a:lnTo>
                <a:lnTo>
                  <a:pt x="752098" y="773681"/>
                </a:lnTo>
                <a:lnTo>
                  <a:pt x="644656" y="792178"/>
                </a:lnTo>
                <a:lnTo>
                  <a:pt x="537213" y="811275"/>
                </a:lnTo>
                <a:lnTo>
                  <a:pt x="429770" y="830992"/>
                </a:lnTo>
                <a:lnTo>
                  <a:pt x="322328" y="851347"/>
                </a:lnTo>
                <a:lnTo>
                  <a:pt x="214885" y="872361"/>
                </a:lnTo>
                <a:lnTo>
                  <a:pt x="107442" y="894054"/>
                </a:lnTo>
                <a:lnTo>
                  <a:pt x="0" y="916447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ight: 3-й центиль"/>
          <p:cNvSpPr/>
          <p:nvPr/>
        </p:nvSpPr>
        <p:spPr>
          <a:xfrm>
            <a:off x="548640" y="2482979"/>
            <a:ext cx="6446560" cy="722095"/>
          </a:xfrm>
          <a:custGeom>
            <a:avLst/>
            <a:gdLst/>
            <a:ahLst/>
            <a:cxnLst/>
            <a:rect l="l" t="t" r="r" b="b"/>
            <a:pathLst>
              <a:path w="6446560" h="722095">
                <a:moveTo>
                  <a:pt x="0" y="722095"/>
                </a:moveTo>
                <a:lnTo>
                  <a:pt x="107442" y="699702"/>
                </a:lnTo>
                <a:lnTo>
                  <a:pt x="214885" y="678009"/>
                </a:lnTo>
                <a:lnTo>
                  <a:pt x="322328" y="656995"/>
                </a:lnTo>
                <a:lnTo>
                  <a:pt x="429770" y="636640"/>
                </a:lnTo>
                <a:lnTo>
                  <a:pt x="537213" y="616923"/>
                </a:lnTo>
                <a:lnTo>
                  <a:pt x="644656" y="597826"/>
                </a:lnTo>
                <a:lnTo>
                  <a:pt x="752098" y="579329"/>
                </a:lnTo>
                <a:lnTo>
                  <a:pt x="859541" y="561414"/>
                </a:lnTo>
                <a:lnTo>
                  <a:pt x="966984" y="544064"/>
                </a:lnTo>
                <a:lnTo>
                  <a:pt x="1074426" y="527261"/>
                </a:lnTo>
                <a:lnTo>
                  <a:pt x="1181869" y="510988"/>
                </a:lnTo>
                <a:lnTo>
                  <a:pt x="1289312" y="495230"/>
                </a:lnTo>
                <a:lnTo>
                  <a:pt x="1396754" y="479969"/>
                </a:lnTo>
                <a:lnTo>
                  <a:pt x="1504197" y="465192"/>
                </a:lnTo>
                <a:lnTo>
                  <a:pt x="1611640" y="450881"/>
                </a:lnTo>
                <a:lnTo>
                  <a:pt x="1719082" y="437023"/>
                </a:lnTo>
                <a:lnTo>
                  <a:pt x="1826525" y="423603"/>
                </a:lnTo>
                <a:lnTo>
                  <a:pt x="1933968" y="410605"/>
                </a:lnTo>
                <a:lnTo>
                  <a:pt x="2041410" y="398015"/>
                </a:lnTo>
                <a:lnTo>
                  <a:pt x="2148853" y="385819"/>
                </a:lnTo>
                <a:lnTo>
                  <a:pt x="2256296" y="374000"/>
                </a:lnTo>
                <a:lnTo>
                  <a:pt x="2363738" y="362544"/>
                </a:lnTo>
                <a:lnTo>
                  <a:pt x="2471181" y="351434"/>
                </a:lnTo>
                <a:lnTo>
                  <a:pt x="2578624" y="340652"/>
                </a:lnTo>
                <a:lnTo>
                  <a:pt x="2686066" y="330180"/>
                </a:lnTo>
                <a:lnTo>
                  <a:pt x="2793509" y="319996"/>
                </a:lnTo>
                <a:lnTo>
                  <a:pt x="2900951" y="310076"/>
                </a:lnTo>
                <a:lnTo>
                  <a:pt x="3008394" y="300393"/>
                </a:lnTo>
                <a:lnTo>
                  <a:pt x="3115837" y="290914"/>
                </a:lnTo>
                <a:lnTo>
                  <a:pt x="3223280" y="281602"/>
                </a:lnTo>
                <a:lnTo>
                  <a:pt x="3330722" y="272410"/>
                </a:lnTo>
                <a:lnTo>
                  <a:pt x="3438165" y="263284"/>
                </a:lnTo>
                <a:lnTo>
                  <a:pt x="3545608" y="254156"/>
                </a:lnTo>
                <a:lnTo>
                  <a:pt x="3653050" y="244945"/>
                </a:lnTo>
                <a:lnTo>
                  <a:pt x="3760493" y="235557"/>
                </a:lnTo>
                <a:lnTo>
                  <a:pt x="3867936" y="225877"/>
                </a:lnTo>
                <a:lnTo>
                  <a:pt x="3975378" y="215776"/>
                </a:lnTo>
                <a:lnTo>
                  <a:pt x="4082821" y="205113"/>
                </a:lnTo>
                <a:lnTo>
                  <a:pt x="4190264" y="193741"/>
                </a:lnTo>
                <a:lnTo>
                  <a:pt x="4297706" y="181526"/>
                </a:lnTo>
                <a:lnTo>
                  <a:pt x="4405149" y="168367"/>
                </a:lnTo>
                <a:lnTo>
                  <a:pt x="4512592" y="154232"/>
                </a:lnTo>
                <a:lnTo>
                  <a:pt x="4620034" y="139191"/>
                </a:lnTo>
                <a:lnTo>
                  <a:pt x="4727477" y="123447"/>
                </a:lnTo>
                <a:lnTo>
                  <a:pt x="4834920" y="107345"/>
                </a:lnTo>
                <a:lnTo>
                  <a:pt x="4942362" y="91352"/>
                </a:lnTo>
                <a:lnTo>
                  <a:pt x="5049805" y="75997"/>
                </a:lnTo>
                <a:lnTo>
                  <a:pt x="5157248" y="61788"/>
                </a:lnTo>
                <a:lnTo>
                  <a:pt x="5264690" y="49127"/>
                </a:lnTo>
                <a:lnTo>
                  <a:pt x="5372133" y="38263"/>
                </a:lnTo>
                <a:lnTo>
                  <a:pt x="5479576" y="29268"/>
                </a:lnTo>
                <a:lnTo>
                  <a:pt x="5587018" y="22072"/>
                </a:lnTo>
                <a:lnTo>
                  <a:pt x="5694461" y="16498"/>
                </a:lnTo>
                <a:lnTo>
                  <a:pt x="5801903" y="12318"/>
                </a:lnTo>
                <a:lnTo>
                  <a:pt x="5909346" y="8791"/>
                </a:lnTo>
                <a:lnTo>
                  <a:pt x="6016789" y="5889"/>
                </a:lnTo>
                <a:lnTo>
                  <a:pt x="6124232" y="3710"/>
                </a:lnTo>
                <a:lnTo>
                  <a:pt x="6231674" y="2087"/>
                </a:lnTo>
                <a:lnTo>
                  <a:pt x="6339117" y="886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35200" y="2402979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6" name="height: 50-й центиль"/>
          <p:cNvSpPr/>
          <p:nvPr/>
        </p:nvSpPr>
        <p:spPr>
          <a:xfrm>
            <a:off x="548640" y="2385803"/>
            <a:ext cx="6446560" cy="765450"/>
          </a:xfrm>
          <a:custGeom>
            <a:avLst/>
            <a:gdLst/>
            <a:ahLst/>
            <a:cxnLst/>
            <a:rect l="l" t="t" r="r" b="b"/>
            <a:pathLst>
              <a:path w="6446560" h="765450">
                <a:moveTo>
                  <a:pt x="0" y="765450"/>
                </a:moveTo>
                <a:lnTo>
                  <a:pt x="107442" y="742260"/>
                </a:lnTo>
                <a:lnTo>
                  <a:pt x="214885" y="719769"/>
                </a:lnTo>
                <a:lnTo>
                  <a:pt x="322328" y="697958"/>
                </a:lnTo>
                <a:lnTo>
                  <a:pt x="429770" y="676806"/>
                </a:lnTo>
                <a:lnTo>
                  <a:pt x="537213" y="656292"/>
                </a:lnTo>
                <a:lnTo>
                  <a:pt x="644656" y="636397"/>
                </a:lnTo>
                <a:lnTo>
                  <a:pt x="752098" y="617103"/>
                </a:lnTo>
                <a:lnTo>
                  <a:pt x="859541" y="598391"/>
                </a:lnTo>
                <a:lnTo>
                  <a:pt x="966984" y="580243"/>
                </a:lnTo>
                <a:lnTo>
                  <a:pt x="1074426" y="562643"/>
                </a:lnTo>
                <a:lnTo>
                  <a:pt x="1181869" y="545573"/>
                </a:lnTo>
                <a:lnTo>
                  <a:pt x="1289312" y="529017"/>
                </a:lnTo>
                <a:lnTo>
                  <a:pt x="1396754" y="512959"/>
                </a:lnTo>
                <a:lnTo>
                  <a:pt x="1504197" y="497384"/>
                </a:lnTo>
                <a:lnTo>
                  <a:pt x="1611640" y="482277"/>
                </a:lnTo>
                <a:lnTo>
                  <a:pt x="1719082" y="467621"/>
                </a:lnTo>
                <a:lnTo>
                  <a:pt x="1826525" y="453404"/>
                </a:lnTo>
                <a:lnTo>
                  <a:pt x="1933968" y="439608"/>
                </a:lnTo>
                <a:lnTo>
                  <a:pt x="2041410" y="426221"/>
                </a:lnTo>
                <a:lnTo>
                  <a:pt x="2148853" y="413228"/>
                </a:lnTo>
                <a:lnTo>
                  <a:pt x="2256296" y="400612"/>
                </a:lnTo>
                <a:lnTo>
                  <a:pt x="2363738" y="388358"/>
                </a:lnTo>
                <a:lnTo>
                  <a:pt x="2471181" y="376451"/>
                </a:lnTo>
                <a:lnTo>
                  <a:pt x="2578624" y="364872"/>
                </a:lnTo>
                <a:lnTo>
                  <a:pt x="2686066" y="353602"/>
                </a:lnTo>
                <a:lnTo>
                  <a:pt x="2793509" y="342620"/>
                </a:lnTo>
                <a:lnTo>
                  <a:pt x="2900951" y="331903"/>
                </a:lnTo>
                <a:lnTo>
                  <a:pt x="3008394" y="321423"/>
                </a:lnTo>
                <a:lnTo>
                  <a:pt x="3115837" y="311147"/>
                </a:lnTo>
                <a:lnTo>
                  <a:pt x="3223280" y="301037"/>
                </a:lnTo>
                <a:lnTo>
                  <a:pt x="3330722" y="291048"/>
                </a:lnTo>
                <a:lnTo>
                  <a:pt x="3438165" y="281124"/>
                </a:lnTo>
                <a:lnTo>
                  <a:pt x="3545608" y="271199"/>
                </a:lnTo>
                <a:lnTo>
                  <a:pt x="3653050" y="261191"/>
                </a:lnTo>
                <a:lnTo>
                  <a:pt x="3760493" y="251005"/>
                </a:lnTo>
                <a:lnTo>
                  <a:pt x="3867936" y="240528"/>
                </a:lnTo>
                <a:lnTo>
                  <a:pt x="3975378" y="229630"/>
                </a:lnTo>
                <a:lnTo>
                  <a:pt x="4082821" y="218170"/>
                </a:lnTo>
                <a:lnTo>
                  <a:pt x="4190264" y="206001"/>
                </a:lnTo>
                <a:lnTo>
                  <a:pt x="4297706" y="192988"/>
                </a:lnTo>
                <a:lnTo>
                  <a:pt x="4405149" y="179032"/>
                </a:lnTo>
                <a:lnTo>
                  <a:pt x="4512592" y="164099"/>
                </a:lnTo>
                <a:lnTo>
                  <a:pt x="4620034" y="148261"/>
                </a:lnTo>
                <a:lnTo>
                  <a:pt x="4727477" y="131719"/>
                </a:lnTo>
                <a:lnTo>
                  <a:pt x="4834920" y="114820"/>
                </a:lnTo>
                <a:lnTo>
                  <a:pt x="4942362" y="98030"/>
                </a:lnTo>
                <a:lnTo>
                  <a:pt x="5049805" y="81878"/>
                </a:lnTo>
                <a:lnTo>
                  <a:pt x="5157248" y="66871"/>
                </a:lnTo>
                <a:lnTo>
                  <a:pt x="5264690" y="53413"/>
                </a:lnTo>
                <a:lnTo>
                  <a:pt x="5372133" y="41751"/>
                </a:lnTo>
                <a:lnTo>
                  <a:pt x="5479576" y="31959"/>
                </a:lnTo>
                <a:lnTo>
                  <a:pt x="5587018" y="23965"/>
                </a:lnTo>
                <a:lnTo>
                  <a:pt x="5694461" y="17594"/>
                </a:lnTo>
                <a:lnTo>
                  <a:pt x="5801903" y="12617"/>
                </a:lnTo>
                <a:lnTo>
                  <a:pt x="5909346" y="8791"/>
                </a:lnTo>
                <a:lnTo>
                  <a:pt x="6016789" y="5889"/>
                </a:lnTo>
                <a:lnTo>
                  <a:pt x="6124232" y="3710"/>
                </a:lnTo>
                <a:lnTo>
                  <a:pt x="6231674" y="2087"/>
                </a:lnTo>
                <a:lnTo>
                  <a:pt x="6339117" y="886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35200" y="2305803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8" name="height: 97-й центиль"/>
          <p:cNvSpPr/>
          <p:nvPr/>
        </p:nvSpPr>
        <p:spPr>
          <a:xfrm>
            <a:off x="548640" y="2288627"/>
            <a:ext cx="6446560" cy="808806"/>
          </a:xfrm>
          <a:custGeom>
            <a:avLst/>
            <a:gdLst/>
            <a:ahLst/>
            <a:cxnLst/>
            <a:rect l="l" t="t" r="r" b="b"/>
            <a:pathLst>
              <a:path w="6446560" h="808806">
                <a:moveTo>
                  <a:pt x="0" y="808806"/>
                </a:moveTo>
                <a:lnTo>
                  <a:pt x="107442" y="784818"/>
                </a:lnTo>
                <a:lnTo>
                  <a:pt x="214885" y="761530"/>
                </a:lnTo>
                <a:lnTo>
                  <a:pt x="322328" y="738922"/>
                </a:lnTo>
                <a:lnTo>
                  <a:pt x="429770" y="716972"/>
                </a:lnTo>
                <a:lnTo>
                  <a:pt x="537213" y="695660"/>
                </a:lnTo>
                <a:lnTo>
                  <a:pt x="644656" y="674968"/>
                </a:lnTo>
                <a:lnTo>
                  <a:pt x="752098" y="654877"/>
                </a:lnTo>
                <a:lnTo>
                  <a:pt x="859541" y="635367"/>
                </a:lnTo>
                <a:lnTo>
                  <a:pt x="966984" y="616422"/>
                </a:lnTo>
                <a:lnTo>
                  <a:pt x="1074426" y="598025"/>
                </a:lnTo>
                <a:lnTo>
                  <a:pt x="1181869" y="580157"/>
                </a:lnTo>
                <a:lnTo>
                  <a:pt x="1289312" y="562804"/>
                </a:lnTo>
                <a:lnTo>
                  <a:pt x="1396754" y="545949"/>
                </a:lnTo>
                <a:lnTo>
                  <a:pt x="1504197" y="529577"/>
                </a:lnTo>
                <a:lnTo>
                  <a:pt x="1611640" y="513672"/>
                </a:lnTo>
                <a:lnTo>
                  <a:pt x="1719082" y="498219"/>
                </a:lnTo>
                <a:lnTo>
                  <a:pt x="1826525" y="483204"/>
                </a:lnTo>
                <a:lnTo>
                  <a:pt x="1933968" y="468612"/>
                </a:lnTo>
                <a:lnTo>
                  <a:pt x="2041410" y="454427"/>
                </a:lnTo>
                <a:lnTo>
                  <a:pt x="2148853" y="440636"/>
                </a:lnTo>
                <a:lnTo>
                  <a:pt x="2256296" y="427223"/>
                </a:lnTo>
                <a:lnTo>
                  <a:pt x="2363738" y="414172"/>
                </a:lnTo>
                <a:lnTo>
                  <a:pt x="2471181" y="401467"/>
                </a:lnTo>
                <a:lnTo>
                  <a:pt x="2578624" y="389091"/>
                </a:lnTo>
                <a:lnTo>
                  <a:pt x="2686066" y="377024"/>
                </a:lnTo>
                <a:lnTo>
                  <a:pt x="2793509" y="365245"/>
                </a:lnTo>
                <a:lnTo>
                  <a:pt x="2900951" y="353730"/>
                </a:lnTo>
                <a:lnTo>
                  <a:pt x="3008394" y="342453"/>
                </a:lnTo>
                <a:lnTo>
                  <a:pt x="3115837" y="331379"/>
                </a:lnTo>
                <a:lnTo>
                  <a:pt x="3223280" y="320473"/>
                </a:lnTo>
                <a:lnTo>
                  <a:pt x="3330722" y="309686"/>
                </a:lnTo>
                <a:lnTo>
                  <a:pt x="3438165" y="298965"/>
                </a:lnTo>
                <a:lnTo>
                  <a:pt x="3545608" y="288242"/>
                </a:lnTo>
                <a:lnTo>
                  <a:pt x="3653050" y="277437"/>
                </a:lnTo>
                <a:lnTo>
                  <a:pt x="3760493" y="266454"/>
                </a:lnTo>
                <a:lnTo>
                  <a:pt x="3867936" y="255179"/>
                </a:lnTo>
                <a:lnTo>
                  <a:pt x="3975378" y="243484"/>
                </a:lnTo>
                <a:lnTo>
                  <a:pt x="4082821" y="231226"/>
                </a:lnTo>
                <a:lnTo>
                  <a:pt x="4190264" y="218260"/>
                </a:lnTo>
                <a:lnTo>
                  <a:pt x="4297706" y="204450"/>
                </a:lnTo>
                <a:lnTo>
                  <a:pt x="4405149" y="189696"/>
                </a:lnTo>
                <a:lnTo>
                  <a:pt x="4512592" y="173967"/>
                </a:lnTo>
                <a:lnTo>
                  <a:pt x="4620034" y="157331"/>
                </a:lnTo>
                <a:lnTo>
                  <a:pt x="4727477" y="139991"/>
                </a:lnTo>
                <a:lnTo>
                  <a:pt x="4834920" y="122295"/>
                </a:lnTo>
                <a:lnTo>
                  <a:pt x="4942362" y="104707"/>
                </a:lnTo>
                <a:lnTo>
                  <a:pt x="5049805" y="87758"/>
                </a:lnTo>
                <a:lnTo>
                  <a:pt x="5157248" y="71954"/>
                </a:lnTo>
                <a:lnTo>
                  <a:pt x="5264690" y="57699"/>
                </a:lnTo>
                <a:lnTo>
                  <a:pt x="5372133" y="45240"/>
                </a:lnTo>
                <a:lnTo>
                  <a:pt x="5479576" y="34650"/>
                </a:lnTo>
                <a:lnTo>
                  <a:pt x="5587018" y="25859"/>
                </a:lnTo>
                <a:lnTo>
                  <a:pt x="5694461" y="18690"/>
                </a:lnTo>
                <a:lnTo>
                  <a:pt x="5801903" y="12916"/>
                </a:lnTo>
                <a:lnTo>
                  <a:pt x="5909346" y="8791"/>
                </a:lnTo>
                <a:lnTo>
                  <a:pt x="6016789" y="5889"/>
                </a:lnTo>
                <a:lnTo>
                  <a:pt x="6124232" y="3710"/>
                </a:lnTo>
                <a:lnTo>
                  <a:pt x="6231674" y="2087"/>
                </a:lnTo>
                <a:lnTo>
                  <a:pt x="6339117" y="886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35200" y="2208627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10" name="height: ось"/>
          <p:cNvSpPr/>
          <p:nvPr/>
        </p:nvSpPr>
        <p:spPr>
          <a:xfrm>
            <a:off x="548640" y="3260061"/>
            <a:ext cx="6446560" cy="0"/>
          </a:xfrm>
          <a:custGeom>
            <a:avLst/>
            <a:gdLst/>
            <a:ahLst/>
            <a:cxnLst/>
            <a:rect l="l" t="t" r="r" b="b"/>
            <a:pathLst>
              <a:path w="6446560">
                <a:moveTo>
                  <a:pt x="0" y="0"/>
                </a:moveTo>
                <a:lnTo>
                  <a:pt x="6446560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8640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4460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0280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100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920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7740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3560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9380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5200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18</a:t>
            </a:r>
          </a:p>
        </p:txBody>
      </p:sp>
      <p:sp>
        <p:nvSpPr>
          <p:cNvPr id="20" name="height: пациент"/>
          <p:cNvSpPr/>
          <p:nvPr/>
        </p:nvSpPr>
        <p:spPr>
          <a:xfrm>
            <a:off x="548640" y="2427155"/>
            <a:ext cx="6446560" cy="732687"/>
          </a:xfrm>
          <a:custGeom>
            <a:avLst/>
            <a:gdLst/>
            <a:ahLst/>
            <a:cxnLst/>
            <a:rect l="l" t="t" r="r" b="b"/>
            <a:pathLst>
              <a:path w="6446560" h="732687">
                <a:moveTo>
                  <a:pt x="0" y="732687"/>
                </a:moveTo>
                <a:lnTo>
                  <a:pt x="33575" y="725642"/>
                </a:lnTo>
                <a:lnTo>
                  <a:pt x="67151" y="718670"/>
                </a:lnTo>
                <a:lnTo>
                  <a:pt x="100727" y="711770"/>
                </a:lnTo>
                <a:lnTo>
                  <a:pt x="134303" y="704940"/>
                </a:lnTo>
                <a:lnTo>
                  <a:pt x="167879" y="698180"/>
                </a:lnTo>
                <a:lnTo>
                  <a:pt x="201455" y="691489"/>
                </a:lnTo>
                <a:lnTo>
                  <a:pt x="235030" y="684868"/>
                </a:lnTo>
                <a:lnTo>
                  <a:pt x="268606" y="678314"/>
                </a:lnTo>
                <a:lnTo>
                  <a:pt x="302182" y="671828"/>
                </a:lnTo>
                <a:lnTo>
                  <a:pt x="335758" y="665409"/>
                </a:lnTo>
                <a:lnTo>
                  <a:pt x="369334" y="659056"/>
                </a:lnTo>
                <a:lnTo>
                  <a:pt x="402910" y="652769"/>
                </a:lnTo>
                <a:lnTo>
                  <a:pt x="503637" y="634805"/>
                </a:lnTo>
                <a:lnTo>
                  <a:pt x="604365" y="617424"/>
                </a:lnTo>
                <a:lnTo>
                  <a:pt x="705092" y="600610"/>
                </a:lnTo>
                <a:lnTo>
                  <a:pt x="805820" y="584348"/>
                </a:lnTo>
                <a:lnTo>
                  <a:pt x="906547" y="568623"/>
                </a:lnTo>
                <a:lnTo>
                  <a:pt x="1007275" y="553420"/>
                </a:lnTo>
                <a:lnTo>
                  <a:pt x="1108002" y="538726"/>
                </a:lnTo>
                <a:lnTo>
                  <a:pt x="1208730" y="524527"/>
                </a:lnTo>
                <a:lnTo>
                  <a:pt x="1309457" y="510809"/>
                </a:lnTo>
                <a:lnTo>
                  <a:pt x="1410185" y="497560"/>
                </a:lnTo>
                <a:lnTo>
                  <a:pt x="1510912" y="484766"/>
                </a:lnTo>
                <a:lnTo>
                  <a:pt x="1611640" y="472416"/>
                </a:lnTo>
                <a:lnTo>
                  <a:pt x="1712367" y="459906"/>
                </a:lnTo>
                <a:lnTo>
                  <a:pt x="1813095" y="447801"/>
                </a:lnTo>
                <a:lnTo>
                  <a:pt x="1913822" y="436090"/>
                </a:lnTo>
                <a:lnTo>
                  <a:pt x="2014550" y="424759"/>
                </a:lnTo>
                <a:lnTo>
                  <a:pt x="2115277" y="413797"/>
                </a:lnTo>
                <a:lnTo>
                  <a:pt x="2216005" y="403191"/>
                </a:lnTo>
                <a:lnTo>
                  <a:pt x="2316732" y="392930"/>
                </a:lnTo>
                <a:lnTo>
                  <a:pt x="2417460" y="382998"/>
                </a:lnTo>
                <a:lnTo>
                  <a:pt x="2518187" y="373383"/>
                </a:lnTo>
                <a:lnTo>
                  <a:pt x="2618915" y="364069"/>
                </a:lnTo>
                <a:lnTo>
                  <a:pt x="2719642" y="355040"/>
                </a:lnTo>
                <a:lnTo>
                  <a:pt x="2820370" y="346279"/>
                </a:lnTo>
                <a:lnTo>
                  <a:pt x="2887521" y="340576"/>
                </a:lnTo>
                <a:lnTo>
                  <a:pt x="2954673" y="334976"/>
                </a:lnTo>
                <a:lnTo>
                  <a:pt x="3021825" y="329471"/>
                </a:lnTo>
                <a:lnTo>
                  <a:pt x="3088976" y="324054"/>
                </a:lnTo>
                <a:lnTo>
                  <a:pt x="3156128" y="318714"/>
                </a:lnTo>
                <a:lnTo>
                  <a:pt x="3223280" y="313442"/>
                </a:lnTo>
                <a:lnTo>
                  <a:pt x="3290431" y="308227"/>
                </a:lnTo>
                <a:lnTo>
                  <a:pt x="3357583" y="303054"/>
                </a:lnTo>
                <a:lnTo>
                  <a:pt x="3424735" y="297910"/>
                </a:lnTo>
                <a:lnTo>
                  <a:pt x="3491886" y="292777"/>
                </a:lnTo>
                <a:lnTo>
                  <a:pt x="3559038" y="287639"/>
                </a:lnTo>
                <a:lnTo>
                  <a:pt x="3626190" y="282473"/>
                </a:lnTo>
                <a:lnTo>
                  <a:pt x="3693341" y="278696"/>
                </a:lnTo>
                <a:lnTo>
                  <a:pt x="3760493" y="274861"/>
                </a:lnTo>
                <a:lnTo>
                  <a:pt x="3827645" y="270940"/>
                </a:lnTo>
                <a:lnTo>
                  <a:pt x="3894796" y="266900"/>
                </a:lnTo>
                <a:lnTo>
                  <a:pt x="3961948" y="262709"/>
                </a:lnTo>
                <a:lnTo>
                  <a:pt x="4029100" y="258332"/>
                </a:lnTo>
                <a:lnTo>
                  <a:pt x="4096251" y="253734"/>
                </a:lnTo>
                <a:lnTo>
                  <a:pt x="4163403" y="248878"/>
                </a:lnTo>
                <a:lnTo>
                  <a:pt x="4230555" y="243730"/>
                </a:lnTo>
                <a:lnTo>
                  <a:pt x="4297706" y="238262"/>
                </a:lnTo>
                <a:lnTo>
                  <a:pt x="4364858" y="232451"/>
                </a:lnTo>
                <a:lnTo>
                  <a:pt x="4432010" y="226283"/>
                </a:lnTo>
                <a:lnTo>
                  <a:pt x="4465585" y="223066"/>
                </a:lnTo>
                <a:lnTo>
                  <a:pt x="4499161" y="219761"/>
                </a:lnTo>
                <a:lnTo>
                  <a:pt x="4532737" y="216373"/>
                </a:lnTo>
                <a:lnTo>
                  <a:pt x="4566313" y="212903"/>
                </a:lnTo>
                <a:lnTo>
                  <a:pt x="4599889" y="209360"/>
                </a:lnTo>
                <a:lnTo>
                  <a:pt x="4633465" y="205748"/>
                </a:lnTo>
                <a:lnTo>
                  <a:pt x="4667040" y="202076"/>
                </a:lnTo>
                <a:lnTo>
                  <a:pt x="4700616" y="198355"/>
                </a:lnTo>
                <a:lnTo>
                  <a:pt x="4734192" y="194594"/>
                </a:lnTo>
                <a:lnTo>
                  <a:pt x="4767768" y="190807"/>
                </a:lnTo>
                <a:lnTo>
                  <a:pt x="4801344" y="187007"/>
                </a:lnTo>
                <a:lnTo>
                  <a:pt x="4834920" y="183208"/>
                </a:lnTo>
                <a:lnTo>
                  <a:pt x="4868495" y="176635"/>
                </a:lnTo>
                <a:lnTo>
                  <a:pt x="4902071" y="170080"/>
                </a:lnTo>
                <a:lnTo>
                  <a:pt x="4935647" y="163558"/>
                </a:lnTo>
                <a:lnTo>
                  <a:pt x="4969223" y="157086"/>
                </a:lnTo>
                <a:lnTo>
                  <a:pt x="5002799" y="150682"/>
                </a:lnTo>
                <a:lnTo>
                  <a:pt x="5036375" y="144360"/>
                </a:lnTo>
                <a:lnTo>
                  <a:pt x="5069950" y="138135"/>
                </a:lnTo>
                <a:lnTo>
                  <a:pt x="5103526" y="132023"/>
                </a:lnTo>
                <a:lnTo>
                  <a:pt x="5137102" y="126037"/>
                </a:lnTo>
                <a:lnTo>
                  <a:pt x="5170678" y="120188"/>
                </a:lnTo>
                <a:lnTo>
                  <a:pt x="5204254" y="114486"/>
                </a:lnTo>
                <a:lnTo>
                  <a:pt x="5237830" y="108941"/>
                </a:lnTo>
                <a:lnTo>
                  <a:pt x="5271405" y="102735"/>
                </a:lnTo>
                <a:lnTo>
                  <a:pt x="5304981" y="96694"/>
                </a:lnTo>
                <a:lnTo>
                  <a:pt x="5338557" y="90820"/>
                </a:lnTo>
                <a:lnTo>
                  <a:pt x="5372133" y="85117"/>
                </a:lnTo>
                <a:lnTo>
                  <a:pt x="5405709" y="79584"/>
                </a:lnTo>
                <a:lnTo>
                  <a:pt x="5439285" y="74220"/>
                </a:lnTo>
                <a:lnTo>
                  <a:pt x="5472860" y="69024"/>
                </a:lnTo>
                <a:lnTo>
                  <a:pt x="5506436" y="63992"/>
                </a:lnTo>
                <a:lnTo>
                  <a:pt x="5540012" y="59119"/>
                </a:lnTo>
                <a:lnTo>
                  <a:pt x="5573588" y="54400"/>
                </a:lnTo>
                <a:lnTo>
                  <a:pt x="5607164" y="49830"/>
                </a:lnTo>
                <a:lnTo>
                  <a:pt x="5640740" y="45401"/>
                </a:lnTo>
                <a:lnTo>
                  <a:pt x="5707891" y="39924"/>
                </a:lnTo>
                <a:lnTo>
                  <a:pt x="5775043" y="34958"/>
                </a:lnTo>
                <a:lnTo>
                  <a:pt x="5842195" y="30443"/>
                </a:lnTo>
                <a:lnTo>
                  <a:pt x="5909346" y="26020"/>
                </a:lnTo>
                <a:lnTo>
                  <a:pt x="5976498" y="21958"/>
                </a:lnTo>
                <a:lnTo>
                  <a:pt x="6043650" y="18206"/>
                </a:lnTo>
                <a:lnTo>
                  <a:pt x="6110801" y="14717"/>
                </a:lnTo>
                <a:lnTo>
                  <a:pt x="6177953" y="11453"/>
                </a:lnTo>
                <a:lnTo>
                  <a:pt x="6245105" y="8377"/>
                </a:lnTo>
                <a:lnTo>
                  <a:pt x="6312256" y="5460"/>
                </a:lnTo>
                <a:lnTo>
                  <a:pt x="6379408" y="2675"/>
                </a:lnTo>
                <a:lnTo>
                  <a:pt x="6446560" y="0"/>
                </a:lnTo>
              </a:path>
            </a:pathLst>
          </a:custGeom>
          <a:noFill/>
          <a:ln w="349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height: визит 2"/>
          <p:cNvSpPr/>
          <p:nvPr/>
        </p:nvSpPr>
        <p:spPr>
          <a:xfrm>
            <a:off x="488640" y="3099842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height: визит 3"/>
          <p:cNvSpPr/>
          <p:nvPr/>
        </p:nvSpPr>
        <p:spPr>
          <a:xfrm>
            <a:off x="891550" y="3019924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height: визит 6"/>
          <p:cNvSpPr/>
          <p:nvPr/>
        </p:nvSpPr>
        <p:spPr>
          <a:xfrm>
            <a:off x="2100280" y="2839571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height: визит 9"/>
          <p:cNvSpPr/>
          <p:nvPr/>
        </p:nvSpPr>
        <p:spPr>
          <a:xfrm>
            <a:off x="3309010" y="2713434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height: визит 11"/>
          <p:cNvSpPr/>
          <p:nvPr/>
        </p:nvSpPr>
        <p:spPr>
          <a:xfrm>
            <a:off x="4114830" y="2649628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height: визит 13"/>
          <p:cNvSpPr/>
          <p:nvPr/>
        </p:nvSpPr>
        <p:spPr>
          <a:xfrm>
            <a:off x="4920650" y="2593438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height: визит 14"/>
          <p:cNvSpPr/>
          <p:nvPr/>
        </p:nvSpPr>
        <p:spPr>
          <a:xfrm>
            <a:off x="5323560" y="2550363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height: визит 15"/>
          <p:cNvSpPr/>
          <p:nvPr/>
        </p:nvSpPr>
        <p:spPr>
          <a:xfrm>
            <a:off x="5726470" y="2476096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height: визит 16"/>
          <p:cNvSpPr/>
          <p:nvPr/>
        </p:nvSpPr>
        <p:spPr>
          <a:xfrm>
            <a:off x="6129380" y="2412556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height: визит 18"/>
          <p:cNvSpPr/>
          <p:nvPr/>
        </p:nvSpPr>
        <p:spPr>
          <a:xfrm>
            <a:off x="6935200" y="2367155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событие 3"/>
          <p:cNvSpPr/>
          <p:nvPr/>
        </p:nvSpPr>
        <p:spPr>
          <a:xfrm>
            <a:off x="951550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1550" y="1738760"/>
            <a:ext cx="23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6323A"/>
                </a:solidFill>
                <a:latin typeface="Calibri"/>
              </a:rPr>
              <a:t>3–9 лет: рост в СО медленно снижается</a:t>
            </a:r>
          </a:p>
        </p:txBody>
      </p:sp>
      <p:sp>
        <p:nvSpPr>
          <p:cNvPr id="33" name="событие 14"/>
          <p:cNvSpPr/>
          <p:nvPr/>
        </p:nvSpPr>
        <p:spPr>
          <a:xfrm>
            <a:off x="5383560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33560" y="1928760"/>
            <a:ext cx="23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6323A"/>
                </a:solidFill>
                <a:latin typeface="Calibri"/>
              </a:rPr>
              <a:t>14 лет: яички меньше 4 мл</a:t>
            </a:r>
          </a:p>
        </p:txBody>
      </p:sp>
      <p:sp>
        <p:nvSpPr>
          <p:cNvPr id="35" name="событие 15"/>
          <p:cNvSpPr/>
          <p:nvPr/>
        </p:nvSpPr>
        <p:spPr>
          <a:xfrm>
            <a:off x="5786470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36470" y="2118760"/>
            <a:ext cx="23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6323A"/>
                </a:solidFill>
                <a:latin typeface="Calibri"/>
              </a:rPr>
              <a:t>15 лет: пубертат, поздний скачок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1508760"/>
            <a:ext cx="6446560" cy="2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Рост, см</a:t>
            </a:r>
          </a:p>
        </p:txBody>
      </p:sp>
      <p:sp>
        <p:nvSpPr>
          <p:cNvPr id="38" name="weight: полоса 3–97"/>
          <p:cNvSpPr/>
          <p:nvPr/>
        </p:nvSpPr>
        <p:spPr>
          <a:xfrm>
            <a:off x="548640" y="3865242"/>
            <a:ext cx="6446560" cy="753016"/>
          </a:xfrm>
          <a:custGeom>
            <a:avLst/>
            <a:gdLst/>
            <a:ahLst/>
            <a:cxnLst/>
            <a:rect l="l" t="t" r="r" b="b"/>
            <a:pathLst>
              <a:path w="6446560" h="753016">
                <a:moveTo>
                  <a:pt x="0" y="689463"/>
                </a:moveTo>
                <a:lnTo>
                  <a:pt x="107442" y="682837"/>
                </a:lnTo>
                <a:lnTo>
                  <a:pt x="214885" y="676212"/>
                </a:lnTo>
                <a:lnTo>
                  <a:pt x="322328" y="669586"/>
                </a:lnTo>
                <a:lnTo>
                  <a:pt x="429770" y="662961"/>
                </a:lnTo>
                <a:lnTo>
                  <a:pt x="537213" y="656335"/>
                </a:lnTo>
                <a:lnTo>
                  <a:pt x="644656" y="649710"/>
                </a:lnTo>
                <a:lnTo>
                  <a:pt x="752098" y="643085"/>
                </a:lnTo>
                <a:lnTo>
                  <a:pt x="859541" y="636459"/>
                </a:lnTo>
                <a:lnTo>
                  <a:pt x="966984" y="629834"/>
                </a:lnTo>
                <a:lnTo>
                  <a:pt x="1074426" y="623208"/>
                </a:lnTo>
                <a:lnTo>
                  <a:pt x="1181869" y="616583"/>
                </a:lnTo>
                <a:lnTo>
                  <a:pt x="1289312" y="609129"/>
                </a:lnTo>
                <a:lnTo>
                  <a:pt x="1396754" y="601399"/>
                </a:lnTo>
                <a:lnTo>
                  <a:pt x="1504197" y="593670"/>
                </a:lnTo>
                <a:lnTo>
                  <a:pt x="1611640" y="585940"/>
                </a:lnTo>
                <a:lnTo>
                  <a:pt x="1719082" y="578210"/>
                </a:lnTo>
                <a:lnTo>
                  <a:pt x="1826525" y="570480"/>
                </a:lnTo>
                <a:lnTo>
                  <a:pt x="1933968" y="562751"/>
                </a:lnTo>
                <a:lnTo>
                  <a:pt x="2041410" y="555021"/>
                </a:lnTo>
                <a:lnTo>
                  <a:pt x="2148853" y="547291"/>
                </a:lnTo>
                <a:lnTo>
                  <a:pt x="2256296" y="539562"/>
                </a:lnTo>
                <a:lnTo>
                  <a:pt x="2363738" y="531832"/>
                </a:lnTo>
                <a:lnTo>
                  <a:pt x="2471181" y="522584"/>
                </a:lnTo>
                <a:lnTo>
                  <a:pt x="2578624" y="511817"/>
                </a:lnTo>
                <a:lnTo>
                  <a:pt x="2686066" y="501051"/>
                </a:lnTo>
                <a:lnTo>
                  <a:pt x="2793509" y="490285"/>
                </a:lnTo>
                <a:lnTo>
                  <a:pt x="2900951" y="479518"/>
                </a:lnTo>
                <a:lnTo>
                  <a:pt x="3008394" y="468752"/>
                </a:lnTo>
                <a:lnTo>
                  <a:pt x="3115837" y="457985"/>
                </a:lnTo>
                <a:lnTo>
                  <a:pt x="3223280" y="447219"/>
                </a:lnTo>
                <a:lnTo>
                  <a:pt x="3330722" y="433968"/>
                </a:lnTo>
                <a:lnTo>
                  <a:pt x="3438165" y="420717"/>
                </a:lnTo>
                <a:lnTo>
                  <a:pt x="3545608" y="407466"/>
                </a:lnTo>
                <a:lnTo>
                  <a:pt x="3653050" y="394215"/>
                </a:lnTo>
                <a:lnTo>
                  <a:pt x="3760493" y="380964"/>
                </a:lnTo>
                <a:lnTo>
                  <a:pt x="3867936" y="367713"/>
                </a:lnTo>
                <a:lnTo>
                  <a:pt x="3975378" y="354462"/>
                </a:lnTo>
                <a:lnTo>
                  <a:pt x="4082821" y="338727"/>
                </a:lnTo>
                <a:lnTo>
                  <a:pt x="4190264" y="320507"/>
                </a:lnTo>
                <a:lnTo>
                  <a:pt x="4297706" y="302287"/>
                </a:lnTo>
                <a:lnTo>
                  <a:pt x="4405149" y="284067"/>
                </a:lnTo>
                <a:lnTo>
                  <a:pt x="4512592" y="265847"/>
                </a:lnTo>
                <a:lnTo>
                  <a:pt x="4620034" y="247627"/>
                </a:lnTo>
                <a:lnTo>
                  <a:pt x="4727477" y="229407"/>
                </a:lnTo>
                <a:lnTo>
                  <a:pt x="4834920" y="211186"/>
                </a:lnTo>
                <a:lnTo>
                  <a:pt x="4942362" y="194623"/>
                </a:lnTo>
                <a:lnTo>
                  <a:pt x="5049805" y="178059"/>
                </a:lnTo>
                <a:lnTo>
                  <a:pt x="5157248" y="161495"/>
                </a:lnTo>
                <a:lnTo>
                  <a:pt x="5264690" y="144932"/>
                </a:lnTo>
                <a:lnTo>
                  <a:pt x="5372133" y="128368"/>
                </a:lnTo>
                <a:lnTo>
                  <a:pt x="5479576" y="111804"/>
                </a:lnTo>
                <a:lnTo>
                  <a:pt x="5587018" y="95241"/>
                </a:lnTo>
                <a:lnTo>
                  <a:pt x="5694461" y="81162"/>
                </a:lnTo>
                <a:lnTo>
                  <a:pt x="5801903" y="69567"/>
                </a:lnTo>
                <a:lnTo>
                  <a:pt x="5909346" y="57972"/>
                </a:lnTo>
                <a:lnTo>
                  <a:pt x="6016789" y="46378"/>
                </a:lnTo>
                <a:lnTo>
                  <a:pt x="6124232" y="34783"/>
                </a:lnTo>
                <a:lnTo>
                  <a:pt x="6231674" y="23189"/>
                </a:lnTo>
                <a:lnTo>
                  <a:pt x="6339117" y="11594"/>
                </a:lnTo>
                <a:lnTo>
                  <a:pt x="6446560" y="0"/>
                </a:lnTo>
                <a:lnTo>
                  <a:pt x="6446560" y="345731"/>
                </a:lnTo>
                <a:lnTo>
                  <a:pt x="6339117" y="352581"/>
                </a:lnTo>
                <a:lnTo>
                  <a:pt x="6231674" y="359430"/>
                </a:lnTo>
                <a:lnTo>
                  <a:pt x="6124232" y="366279"/>
                </a:lnTo>
                <a:lnTo>
                  <a:pt x="6016789" y="373128"/>
                </a:lnTo>
                <a:lnTo>
                  <a:pt x="5909346" y="379978"/>
                </a:lnTo>
                <a:lnTo>
                  <a:pt x="5801903" y="386827"/>
                </a:lnTo>
                <a:lnTo>
                  <a:pt x="5694461" y="393676"/>
                </a:lnTo>
                <a:lnTo>
                  <a:pt x="5587018" y="401993"/>
                </a:lnTo>
                <a:lnTo>
                  <a:pt x="5479576" y="411778"/>
                </a:lnTo>
                <a:lnTo>
                  <a:pt x="5372133" y="421562"/>
                </a:lnTo>
                <a:lnTo>
                  <a:pt x="5264690" y="431347"/>
                </a:lnTo>
                <a:lnTo>
                  <a:pt x="5157248" y="441131"/>
                </a:lnTo>
                <a:lnTo>
                  <a:pt x="5049805" y="450916"/>
                </a:lnTo>
                <a:lnTo>
                  <a:pt x="4942362" y="460701"/>
                </a:lnTo>
                <a:lnTo>
                  <a:pt x="4834920" y="470485"/>
                </a:lnTo>
                <a:lnTo>
                  <a:pt x="4727477" y="481248"/>
                </a:lnTo>
                <a:lnTo>
                  <a:pt x="4620034" y="492012"/>
                </a:lnTo>
                <a:lnTo>
                  <a:pt x="4512592" y="502775"/>
                </a:lnTo>
                <a:lnTo>
                  <a:pt x="4405149" y="513538"/>
                </a:lnTo>
                <a:lnTo>
                  <a:pt x="4297706" y="524301"/>
                </a:lnTo>
                <a:lnTo>
                  <a:pt x="4190264" y="535064"/>
                </a:lnTo>
                <a:lnTo>
                  <a:pt x="4082821" y="545827"/>
                </a:lnTo>
                <a:lnTo>
                  <a:pt x="3975378" y="555122"/>
                </a:lnTo>
                <a:lnTo>
                  <a:pt x="3867936" y="562950"/>
                </a:lnTo>
                <a:lnTo>
                  <a:pt x="3760493" y="570778"/>
                </a:lnTo>
                <a:lnTo>
                  <a:pt x="3653050" y="578605"/>
                </a:lnTo>
                <a:lnTo>
                  <a:pt x="3545608" y="586433"/>
                </a:lnTo>
                <a:lnTo>
                  <a:pt x="3438165" y="594261"/>
                </a:lnTo>
                <a:lnTo>
                  <a:pt x="3330722" y="602089"/>
                </a:lnTo>
                <a:lnTo>
                  <a:pt x="3223280" y="609916"/>
                </a:lnTo>
                <a:lnTo>
                  <a:pt x="3115837" y="616276"/>
                </a:lnTo>
                <a:lnTo>
                  <a:pt x="3008394" y="622636"/>
                </a:lnTo>
                <a:lnTo>
                  <a:pt x="2900951" y="628996"/>
                </a:lnTo>
                <a:lnTo>
                  <a:pt x="2793509" y="635356"/>
                </a:lnTo>
                <a:lnTo>
                  <a:pt x="2686066" y="641716"/>
                </a:lnTo>
                <a:lnTo>
                  <a:pt x="2578624" y="648076"/>
                </a:lnTo>
                <a:lnTo>
                  <a:pt x="2471181" y="654436"/>
                </a:lnTo>
                <a:lnTo>
                  <a:pt x="2363738" y="659899"/>
                </a:lnTo>
                <a:lnTo>
                  <a:pt x="2256296" y="664466"/>
                </a:lnTo>
                <a:lnTo>
                  <a:pt x="2148853" y="669032"/>
                </a:lnTo>
                <a:lnTo>
                  <a:pt x="2041410" y="673598"/>
                </a:lnTo>
                <a:lnTo>
                  <a:pt x="1933968" y="678164"/>
                </a:lnTo>
                <a:lnTo>
                  <a:pt x="1826525" y="682730"/>
                </a:lnTo>
                <a:lnTo>
                  <a:pt x="1719082" y="687296"/>
                </a:lnTo>
                <a:lnTo>
                  <a:pt x="1611640" y="691863"/>
                </a:lnTo>
                <a:lnTo>
                  <a:pt x="1504197" y="696429"/>
                </a:lnTo>
                <a:lnTo>
                  <a:pt x="1396754" y="700995"/>
                </a:lnTo>
                <a:lnTo>
                  <a:pt x="1289312" y="705561"/>
                </a:lnTo>
                <a:lnTo>
                  <a:pt x="1181869" y="709964"/>
                </a:lnTo>
                <a:lnTo>
                  <a:pt x="1074426" y="713878"/>
                </a:lnTo>
                <a:lnTo>
                  <a:pt x="966984" y="717792"/>
                </a:lnTo>
                <a:lnTo>
                  <a:pt x="859541" y="721706"/>
                </a:lnTo>
                <a:lnTo>
                  <a:pt x="752098" y="725620"/>
                </a:lnTo>
                <a:lnTo>
                  <a:pt x="644656" y="729533"/>
                </a:lnTo>
                <a:lnTo>
                  <a:pt x="537213" y="733447"/>
                </a:lnTo>
                <a:lnTo>
                  <a:pt x="429770" y="737361"/>
                </a:lnTo>
                <a:lnTo>
                  <a:pt x="322328" y="741275"/>
                </a:lnTo>
                <a:lnTo>
                  <a:pt x="214885" y="745189"/>
                </a:lnTo>
                <a:lnTo>
                  <a:pt x="107442" y="749103"/>
                </a:lnTo>
                <a:lnTo>
                  <a:pt x="0" y="753016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eight: 3-й центиль"/>
          <p:cNvSpPr/>
          <p:nvPr/>
        </p:nvSpPr>
        <p:spPr>
          <a:xfrm>
            <a:off x="548640" y="4210973"/>
            <a:ext cx="6446560" cy="407285"/>
          </a:xfrm>
          <a:custGeom>
            <a:avLst/>
            <a:gdLst/>
            <a:ahLst/>
            <a:cxnLst/>
            <a:rect l="l" t="t" r="r" b="b"/>
            <a:pathLst>
              <a:path w="6446560" h="407285">
                <a:moveTo>
                  <a:pt x="0" y="407285"/>
                </a:moveTo>
                <a:lnTo>
                  <a:pt x="107442" y="403372"/>
                </a:lnTo>
                <a:lnTo>
                  <a:pt x="214885" y="399458"/>
                </a:lnTo>
                <a:lnTo>
                  <a:pt x="322328" y="395544"/>
                </a:lnTo>
                <a:lnTo>
                  <a:pt x="429770" y="391630"/>
                </a:lnTo>
                <a:lnTo>
                  <a:pt x="537213" y="387716"/>
                </a:lnTo>
                <a:lnTo>
                  <a:pt x="644656" y="383802"/>
                </a:lnTo>
                <a:lnTo>
                  <a:pt x="752098" y="379889"/>
                </a:lnTo>
                <a:lnTo>
                  <a:pt x="859541" y="375975"/>
                </a:lnTo>
                <a:lnTo>
                  <a:pt x="966984" y="372061"/>
                </a:lnTo>
                <a:lnTo>
                  <a:pt x="1074426" y="368147"/>
                </a:lnTo>
                <a:lnTo>
                  <a:pt x="1181869" y="364233"/>
                </a:lnTo>
                <a:lnTo>
                  <a:pt x="1289312" y="359830"/>
                </a:lnTo>
                <a:lnTo>
                  <a:pt x="1396754" y="355264"/>
                </a:lnTo>
                <a:lnTo>
                  <a:pt x="1504197" y="350698"/>
                </a:lnTo>
                <a:lnTo>
                  <a:pt x="1611640" y="346132"/>
                </a:lnTo>
                <a:lnTo>
                  <a:pt x="1719082" y="341565"/>
                </a:lnTo>
                <a:lnTo>
                  <a:pt x="1826525" y="336999"/>
                </a:lnTo>
                <a:lnTo>
                  <a:pt x="1933968" y="332433"/>
                </a:lnTo>
                <a:lnTo>
                  <a:pt x="2041410" y="327867"/>
                </a:lnTo>
                <a:lnTo>
                  <a:pt x="2148853" y="323301"/>
                </a:lnTo>
                <a:lnTo>
                  <a:pt x="2256296" y="318735"/>
                </a:lnTo>
                <a:lnTo>
                  <a:pt x="2363738" y="314168"/>
                </a:lnTo>
                <a:lnTo>
                  <a:pt x="2471181" y="308705"/>
                </a:lnTo>
                <a:lnTo>
                  <a:pt x="2578624" y="302345"/>
                </a:lnTo>
                <a:lnTo>
                  <a:pt x="2686066" y="295985"/>
                </a:lnTo>
                <a:lnTo>
                  <a:pt x="2793509" y="289625"/>
                </a:lnTo>
                <a:lnTo>
                  <a:pt x="2900951" y="283265"/>
                </a:lnTo>
                <a:lnTo>
                  <a:pt x="3008394" y="276905"/>
                </a:lnTo>
                <a:lnTo>
                  <a:pt x="3115837" y="270545"/>
                </a:lnTo>
                <a:lnTo>
                  <a:pt x="3223280" y="264185"/>
                </a:lnTo>
                <a:lnTo>
                  <a:pt x="3330722" y="256358"/>
                </a:lnTo>
                <a:lnTo>
                  <a:pt x="3438165" y="248530"/>
                </a:lnTo>
                <a:lnTo>
                  <a:pt x="3545608" y="240702"/>
                </a:lnTo>
                <a:lnTo>
                  <a:pt x="3653050" y="232874"/>
                </a:lnTo>
                <a:lnTo>
                  <a:pt x="3760493" y="225047"/>
                </a:lnTo>
                <a:lnTo>
                  <a:pt x="3867936" y="217219"/>
                </a:lnTo>
                <a:lnTo>
                  <a:pt x="3975378" y="209391"/>
                </a:lnTo>
                <a:lnTo>
                  <a:pt x="4082821" y="200096"/>
                </a:lnTo>
                <a:lnTo>
                  <a:pt x="4190264" y="189333"/>
                </a:lnTo>
                <a:lnTo>
                  <a:pt x="4297706" y="178570"/>
                </a:lnTo>
                <a:lnTo>
                  <a:pt x="4405149" y="167807"/>
                </a:lnTo>
                <a:lnTo>
                  <a:pt x="4512592" y="157044"/>
                </a:lnTo>
                <a:lnTo>
                  <a:pt x="4620034" y="146281"/>
                </a:lnTo>
                <a:lnTo>
                  <a:pt x="4727477" y="135517"/>
                </a:lnTo>
                <a:lnTo>
                  <a:pt x="4834920" y="124754"/>
                </a:lnTo>
                <a:lnTo>
                  <a:pt x="4942362" y="114970"/>
                </a:lnTo>
                <a:lnTo>
                  <a:pt x="5049805" y="105185"/>
                </a:lnTo>
                <a:lnTo>
                  <a:pt x="5157248" y="95400"/>
                </a:lnTo>
                <a:lnTo>
                  <a:pt x="5264690" y="85616"/>
                </a:lnTo>
                <a:lnTo>
                  <a:pt x="5372133" y="75831"/>
                </a:lnTo>
                <a:lnTo>
                  <a:pt x="5479576" y="66047"/>
                </a:lnTo>
                <a:lnTo>
                  <a:pt x="5587018" y="56262"/>
                </a:lnTo>
                <a:lnTo>
                  <a:pt x="5694461" y="47945"/>
                </a:lnTo>
                <a:lnTo>
                  <a:pt x="5801903" y="41096"/>
                </a:lnTo>
                <a:lnTo>
                  <a:pt x="5909346" y="34247"/>
                </a:lnTo>
                <a:lnTo>
                  <a:pt x="6016789" y="27397"/>
                </a:lnTo>
                <a:lnTo>
                  <a:pt x="6124232" y="20548"/>
                </a:lnTo>
                <a:lnTo>
                  <a:pt x="6231674" y="13699"/>
                </a:lnTo>
                <a:lnTo>
                  <a:pt x="6339117" y="6850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35200" y="4130973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41" name="weight: 50-й центиль"/>
          <p:cNvSpPr/>
          <p:nvPr/>
        </p:nvSpPr>
        <p:spPr>
          <a:xfrm>
            <a:off x="548640" y="4096331"/>
            <a:ext cx="6446560" cy="500854"/>
          </a:xfrm>
          <a:custGeom>
            <a:avLst/>
            <a:gdLst/>
            <a:ahLst/>
            <a:cxnLst/>
            <a:rect l="l" t="t" r="r" b="b"/>
            <a:pathLst>
              <a:path w="6446560" h="500854">
                <a:moveTo>
                  <a:pt x="0" y="500854"/>
                </a:moveTo>
                <a:lnTo>
                  <a:pt x="107442" y="496041"/>
                </a:lnTo>
                <a:lnTo>
                  <a:pt x="214885" y="491228"/>
                </a:lnTo>
                <a:lnTo>
                  <a:pt x="322328" y="486415"/>
                </a:lnTo>
                <a:lnTo>
                  <a:pt x="429770" y="481602"/>
                </a:lnTo>
                <a:lnTo>
                  <a:pt x="537213" y="476789"/>
                </a:lnTo>
                <a:lnTo>
                  <a:pt x="644656" y="471976"/>
                </a:lnTo>
                <a:lnTo>
                  <a:pt x="752098" y="467162"/>
                </a:lnTo>
                <a:lnTo>
                  <a:pt x="859541" y="462349"/>
                </a:lnTo>
                <a:lnTo>
                  <a:pt x="966984" y="457536"/>
                </a:lnTo>
                <a:lnTo>
                  <a:pt x="1074426" y="452723"/>
                </a:lnTo>
                <a:lnTo>
                  <a:pt x="1181869" y="447910"/>
                </a:lnTo>
                <a:lnTo>
                  <a:pt x="1289312" y="442496"/>
                </a:lnTo>
                <a:lnTo>
                  <a:pt x="1396754" y="436881"/>
                </a:lnTo>
                <a:lnTo>
                  <a:pt x="1504197" y="431265"/>
                </a:lnTo>
                <a:lnTo>
                  <a:pt x="1611640" y="425650"/>
                </a:lnTo>
                <a:lnTo>
                  <a:pt x="1719082" y="420035"/>
                </a:lnTo>
                <a:lnTo>
                  <a:pt x="1826525" y="414420"/>
                </a:lnTo>
                <a:lnTo>
                  <a:pt x="1933968" y="408805"/>
                </a:lnTo>
                <a:lnTo>
                  <a:pt x="2041410" y="403190"/>
                </a:lnTo>
                <a:lnTo>
                  <a:pt x="2148853" y="397574"/>
                </a:lnTo>
                <a:lnTo>
                  <a:pt x="2256296" y="391959"/>
                </a:lnTo>
                <a:lnTo>
                  <a:pt x="2363738" y="386344"/>
                </a:lnTo>
                <a:lnTo>
                  <a:pt x="2471181" y="379626"/>
                </a:lnTo>
                <a:lnTo>
                  <a:pt x="2578624" y="371805"/>
                </a:lnTo>
                <a:lnTo>
                  <a:pt x="2686066" y="363984"/>
                </a:lnTo>
                <a:lnTo>
                  <a:pt x="2793509" y="356163"/>
                </a:lnTo>
                <a:lnTo>
                  <a:pt x="2900951" y="348341"/>
                </a:lnTo>
                <a:lnTo>
                  <a:pt x="3008394" y="340520"/>
                </a:lnTo>
                <a:lnTo>
                  <a:pt x="3115837" y="332699"/>
                </a:lnTo>
                <a:lnTo>
                  <a:pt x="3223280" y="324878"/>
                </a:lnTo>
                <a:lnTo>
                  <a:pt x="3330722" y="315252"/>
                </a:lnTo>
                <a:lnTo>
                  <a:pt x="3438165" y="305626"/>
                </a:lnTo>
                <a:lnTo>
                  <a:pt x="3545608" y="296000"/>
                </a:lnTo>
                <a:lnTo>
                  <a:pt x="3653050" y="286374"/>
                </a:lnTo>
                <a:lnTo>
                  <a:pt x="3760493" y="276748"/>
                </a:lnTo>
                <a:lnTo>
                  <a:pt x="3867936" y="267122"/>
                </a:lnTo>
                <a:lnTo>
                  <a:pt x="3975378" y="257496"/>
                </a:lnTo>
                <a:lnTo>
                  <a:pt x="4082821" y="246065"/>
                </a:lnTo>
                <a:lnTo>
                  <a:pt x="4190264" y="232829"/>
                </a:lnTo>
                <a:lnTo>
                  <a:pt x="4297706" y="219594"/>
                </a:lnTo>
                <a:lnTo>
                  <a:pt x="4405149" y="206358"/>
                </a:lnTo>
                <a:lnTo>
                  <a:pt x="4512592" y="193122"/>
                </a:lnTo>
                <a:lnTo>
                  <a:pt x="4620034" y="179886"/>
                </a:lnTo>
                <a:lnTo>
                  <a:pt x="4727477" y="166650"/>
                </a:lnTo>
                <a:lnTo>
                  <a:pt x="4834920" y="153415"/>
                </a:lnTo>
                <a:lnTo>
                  <a:pt x="4942362" y="141382"/>
                </a:lnTo>
                <a:lnTo>
                  <a:pt x="5049805" y="129350"/>
                </a:lnTo>
                <a:lnTo>
                  <a:pt x="5157248" y="117317"/>
                </a:lnTo>
                <a:lnTo>
                  <a:pt x="5264690" y="105285"/>
                </a:lnTo>
                <a:lnTo>
                  <a:pt x="5372133" y="93252"/>
                </a:lnTo>
                <a:lnTo>
                  <a:pt x="5479576" y="81220"/>
                </a:lnTo>
                <a:lnTo>
                  <a:pt x="5587018" y="69187"/>
                </a:lnTo>
                <a:lnTo>
                  <a:pt x="5694461" y="58959"/>
                </a:lnTo>
                <a:lnTo>
                  <a:pt x="5801903" y="50537"/>
                </a:lnTo>
                <a:lnTo>
                  <a:pt x="5909346" y="42114"/>
                </a:lnTo>
                <a:lnTo>
                  <a:pt x="6016789" y="33691"/>
                </a:lnTo>
                <a:lnTo>
                  <a:pt x="6124232" y="25268"/>
                </a:lnTo>
                <a:lnTo>
                  <a:pt x="6231674" y="16846"/>
                </a:lnTo>
                <a:lnTo>
                  <a:pt x="6339117" y="8423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35200" y="4016331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43" name="weight: 97-й центиль"/>
          <p:cNvSpPr/>
          <p:nvPr/>
        </p:nvSpPr>
        <p:spPr>
          <a:xfrm>
            <a:off x="548640" y="3865242"/>
            <a:ext cx="6446560" cy="689463"/>
          </a:xfrm>
          <a:custGeom>
            <a:avLst/>
            <a:gdLst/>
            <a:ahLst/>
            <a:cxnLst/>
            <a:rect l="l" t="t" r="r" b="b"/>
            <a:pathLst>
              <a:path w="6446560" h="689463">
                <a:moveTo>
                  <a:pt x="0" y="689463"/>
                </a:moveTo>
                <a:lnTo>
                  <a:pt x="107442" y="682837"/>
                </a:lnTo>
                <a:lnTo>
                  <a:pt x="214885" y="676212"/>
                </a:lnTo>
                <a:lnTo>
                  <a:pt x="322328" y="669586"/>
                </a:lnTo>
                <a:lnTo>
                  <a:pt x="429770" y="662961"/>
                </a:lnTo>
                <a:lnTo>
                  <a:pt x="537213" y="656335"/>
                </a:lnTo>
                <a:lnTo>
                  <a:pt x="644656" y="649710"/>
                </a:lnTo>
                <a:lnTo>
                  <a:pt x="752098" y="643085"/>
                </a:lnTo>
                <a:lnTo>
                  <a:pt x="859541" y="636459"/>
                </a:lnTo>
                <a:lnTo>
                  <a:pt x="966984" y="629834"/>
                </a:lnTo>
                <a:lnTo>
                  <a:pt x="1074426" y="623208"/>
                </a:lnTo>
                <a:lnTo>
                  <a:pt x="1181869" y="616583"/>
                </a:lnTo>
                <a:lnTo>
                  <a:pt x="1289312" y="609129"/>
                </a:lnTo>
                <a:lnTo>
                  <a:pt x="1396754" y="601399"/>
                </a:lnTo>
                <a:lnTo>
                  <a:pt x="1504197" y="593670"/>
                </a:lnTo>
                <a:lnTo>
                  <a:pt x="1611640" y="585940"/>
                </a:lnTo>
                <a:lnTo>
                  <a:pt x="1719082" y="578210"/>
                </a:lnTo>
                <a:lnTo>
                  <a:pt x="1826525" y="570480"/>
                </a:lnTo>
                <a:lnTo>
                  <a:pt x="1933968" y="562751"/>
                </a:lnTo>
                <a:lnTo>
                  <a:pt x="2041410" y="555021"/>
                </a:lnTo>
                <a:lnTo>
                  <a:pt x="2148853" y="547291"/>
                </a:lnTo>
                <a:lnTo>
                  <a:pt x="2256296" y="539562"/>
                </a:lnTo>
                <a:lnTo>
                  <a:pt x="2363738" y="531832"/>
                </a:lnTo>
                <a:lnTo>
                  <a:pt x="2471181" y="522584"/>
                </a:lnTo>
                <a:lnTo>
                  <a:pt x="2578624" y="511817"/>
                </a:lnTo>
                <a:lnTo>
                  <a:pt x="2686066" y="501051"/>
                </a:lnTo>
                <a:lnTo>
                  <a:pt x="2793509" y="490285"/>
                </a:lnTo>
                <a:lnTo>
                  <a:pt x="2900951" y="479518"/>
                </a:lnTo>
                <a:lnTo>
                  <a:pt x="3008394" y="468752"/>
                </a:lnTo>
                <a:lnTo>
                  <a:pt x="3115837" y="457985"/>
                </a:lnTo>
                <a:lnTo>
                  <a:pt x="3223280" y="447219"/>
                </a:lnTo>
                <a:lnTo>
                  <a:pt x="3330722" y="433968"/>
                </a:lnTo>
                <a:lnTo>
                  <a:pt x="3438165" y="420717"/>
                </a:lnTo>
                <a:lnTo>
                  <a:pt x="3545608" y="407466"/>
                </a:lnTo>
                <a:lnTo>
                  <a:pt x="3653050" y="394215"/>
                </a:lnTo>
                <a:lnTo>
                  <a:pt x="3760493" y="380964"/>
                </a:lnTo>
                <a:lnTo>
                  <a:pt x="3867936" y="367713"/>
                </a:lnTo>
                <a:lnTo>
                  <a:pt x="3975378" y="354462"/>
                </a:lnTo>
                <a:lnTo>
                  <a:pt x="4082821" y="338727"/>
                </a:lnTo>
                <a:lnTo>
                  <a:pt x="4190264" y="320507"/>
                </a:lnTo>
                <a:lnTo>
                  <a:pt x="4297706" y="302287"/>
                </a:lnTo>
                <a:lnTo>
                  <a:pt x="4405149" y="284067"/>
                </a:lnTo>
                <a:lnTo>
                  <a:pt x="4512592" y="265847"/>
                </a:lnTo>
                <a:lnTo>
                  <a:pt x="4620034" y="247627"/>
                </a:lnTo>
                <a:lnTo>
                  <a:pt x="4727477" y="229407"/>
                </a:lnTo>
                <a:lnTo>
                  <a:pt x="4834920" y="211186"/>
                </a:lnTo>
                <a:lnTo>
                  <a:pt x="4942362" y="194623"/>
                </a:lnTo>
                <a:lnTo>
                  <a:pt x="5049805" y="178059"/>
                </a:lnTo>
                <a:lnTo>
                  <a:pt x="5157248" y="161495"/>
                </a:lnTo>
                <a:lnTo>
                  <a:pt x="5264690" y="144932"/>
                </a:lnTo>
                <a:lnTo>
                  <a:pt x="5372133" y="128368"/>
                </a:lnTo>
                <a:lnTo>
                  <a:pt x="5479576" y="111804"/>
                </a:lnTo>
                <a:lnTo>
                  <a:pt x="5587018" y="95241"/>
                </a:lnTo>
                <a:lnTo>
                  <a:pt x="5694461" y="81162"/>
                </a:lnTo>
                <a:lnTo>
                  <a:pt x="5801903" y="69567"/>
                </a:lnTo>
                <a:lnTo>
                  <a:pt x="5909346" y="57972"/>
                </a:lnTo>
                <a:lnTo>
                  <a:pt x="6016789" y="46378"/>
                </a:lnTo>
                <a:lnTo>
                  <a:pt x="6124232" y="34783"/>
                </a:lnTo>
                <a:lnTo>
                  <a:pt x="6231674" y="23189"/>
                </a:lnTo>
                <a:lnTo>
                  <a:pt x="6339117" y="11594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35200" y="3785242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45" name="weight: ось"/>
          <p:cNvSpPr/>
          <p:nvPr/>
        </p:nvSpPr>
        <p:spPr>
          <a:xfrm>
            <a:off x="548640" y="4663440"/>
            <a:ext cx="6446560" cy="0"/>
          </a:xfrm>
          <a:custGeom>
            <a:avLst/>
            <a:gdLst/>
            <a:ahLst/>
            <a:cxnLst/>
            <a:rect l="l" t="t" r="r" b="b"/>
            <a:pathLst>
              <a:path w="6446560">
                <a:moveTo>
                  <a:pt x="0" y="0"/>
                </a:moveTo>
                <a:lnTo>
                  <a:pt x="6446560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8640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4460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0280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16100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21920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27740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3560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9380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45200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18</a:t>
            </a:r>
          </a:p>
        </p:txBody>
      </p:sp>
      <p:sp>
        <p:nvSpPr>
          <p:cNvPr id="55" name="weight: пациент"/>
          <p:cNvSpPr/>
          <p:nvPr/>
        </p:nvSpPr>
        <p:spPr>
          <a:xfrm>
            <a:off x="548640" y="4129171"/>
            <a:ext cx="6446560" cy="469248"/>
          </a:xfrm>
          <a:custGeom>
            <a:avLst/>
            <a:gdLst/>
            <a:ahLst/>
            <a:cxnLst/>
            <a:rect l="l" t="t" r="r" b="b"/>
            <a:pathLst>
              <a:path w="6446560" h="469248">
                <a:moveTo>
                  <a:pt x="0" y="469248"/>
                </a:moveTo>
                <a:lnTo>
                  <a:pt x="33575" y="467864"/>
                </a:lnTo>
                <a:lnTo>
                  <a:pt x="67151" y="466482"/>
                </a:lnTo>
                <a:lnTo>
                  <a:pt x="100727" y="465103"/>
                </a:lnTo>
                <a:lnTo>
                  <a:pt x="134303" y="463727"/>
                </a:lnTo>
                <a:lnTo>
                  <a:pt x="167879" y="462354"/>
                </a:lnTo>
                <a:lnTo>
                  <a:pt x="201455" y="460983"/>
                </a:lnTo>
                <a:lnTo>
                  <a:pt x="235030" y="459615"/>
                </a:lnTo>
                <a:lnTo>
                  <a:pt x="268606" y="458249"/>
                </a:lnTo>
                <a:lnTo>
                  <a:pt x="302182" y="456886"/>
                </a:lnTo>
                <a:lnTo>
                  <a:pt x="335758" y="455525"/>
                </a:lnTo>
                <a:lnTo>
                  <a:pt x="369334" y="454167"/>
                </a:lnTo>
                <a:lnTo>
                  <a:pt x="402910" y="452812"/>
                </a:lnTo>
                <a:lnTo>
                  <a:pt x="503637" y="448883"/>
                </a:lnTo>
                <a:lnTo>
                  <a:pt x="604365" y="444984"/>
                </a:lnTo>
                <a:lnTo>
                  <a:pt x="705092" y="441115"/>
                </a:lnTo>
                <a:lnTo>
                  <a:pt x="805820" y="437277"/>
                </a:lnTo>
                <a:lnTo>
                  <a:pt x="906547" y="433468"/>
                </a:lnTo>
                <a:lnTo>
                  <a:pt x="1007275" y="429690"/>
                </a:lnTo>
                <a:lnTo>
                  <a:pt x="1108002" y="425941"/>
                </a:lnTo>
                <a:lnTo>
                  <a:pt x="1208730" y="422221"/>
                </a:lnTo>
                <a:lnTo>
                  <a:pt x="1309457" y="417819"/>
                </a:lnTo>
                <a:lnTo>
                  <a:pt x="1410185" y="413451"/>
                </a:lnTo>
                <a:lnTo>
                  <a:pt x="1510912" y="409118"/>
                </a:lnTo>
                <a:lnTo>
                  <a:pt x="1611640" y="404818"/>
                </a:lnTo>
                <a:lnTo>
                  <a:pt x="1712367" y="400387"/>
                </a:lnTo>
                <a:lnTo>
                  <a:pt x="1813095" y="395982"/>
                </a:lnTo>
                <a:lnTo>
                  <a:pt x="1913822" y="391602"/>
                </a:lnTo>
                <a:lnTo>
                  <a:pt x="2014550" y="387247"/>
                </a:lnTo>
                <a:lnTo>
                  <a:pt x="2115277" y="382918"/>
                </a:lnTo>
                <a:lnTo>
                  <a:pt x="2216005" y="378614"/>
                </a:lnTo>
                <a:lnTo>
                  <a:pt x="2316732" y="374336"/>
                </a:lnTo>
                <a:lnTo>
                  <a:pt x="2417460" y="370082"/>
                </a:lnTo>
                <a:lnTo>
                  <a:pt x="2518187" y="363964"/>
                </a:lnTo>
                <a:lnTo>
                  <a:pt x="2618915" y="357882"/>
                </a:lnTo>
                <a:lnTo>
                  <a:pt x="2719642" y="351835"/>
                </a:lnTo>
                <a:lnTo>
                  <a:pt x="2820370" y="345822"/>
                </a:lnTo>
                <a:lnTo>
                  <a:pt x="2887521" y="341834"/>
                </a:lnTo>
                <a:lnTo>
                  <a:pt x="2954673" y="337860"/>
                </a:lnTo>
                <a:lnTo>
                  <a:pt x="3021825" y="333902"/>
                </a:lnTo>
                <a:lnTo>
                  <a:pt x="3088976" y="329959"/>
                </a:lnTo>
                <a:lnTo>
                  <a:pt x="3156128" y="326031"/>
                </a:lnTo>
                <a:lnTo>
                  <a:pt x="3223280" y="322119"/>
                </a:lnTo>
                <a:lnTo>
                  <a:pt x="3290431" y="317213"/>
                </a:lnTo>
                <a:lnTo>
                  <a:pt x="3357583" y="312326"/>
                </a:lnTo>
                <a:lnTo>
                  <a:pt x="3424735" y="307458"/>
                </a:lnTo>
                <a:lnTo>
                  <a:pt x="3491886" y="302608"/>
                </a:lnTo>
                <a:lnTo>
                  <a:pt x="3559038" y="297778"/>
                </a:lnTo>
                <a:lnTo>
                  <a:pt x="3626190" y="292966"/>
                </a:lnTo>
                <a:lnTo>
                  <a:pt x="3693341" y="289243"/>
                </a:lnTo>
                <a:lnTo>
                  <a:pt x="3760493" y="285570"/>
                </a:lnTo>
                <a:lnTo>
                  <a:pt x="3827645" y="281946"/>
                </a:lnTo>
                <a:lnTo>
                  <a:pt x="3894796" y="278371"/>
                </a:lnTo>
                <a:lnTo>
                  <a:pt x="3961948" y="274844"/>
                </a:lnTo>
                <a:lnTo>
                  <a:pt x="4029100" y="271364"/>
                </a:lnTo>
                <a:lnTo>
                  <a:pt x="4096251" y="266009"/>
                </a:lnTo>
                <a:lnTo>
                  <a:pt x="4163403" y="260721"/>
                </a:lnTo>
                <a:lnTo>
                  <a:pt x="4230555" y="255502"/>
                </a:lnTo>
                <a:lnTo>
                  <a:pt x="4297706" y="250348"/>
                </a:lnTo>
                <a:lnTo>
                  <a:pt x="4364858" y="245262"/>
                </a:lnTo>
                <a:lnTo>
                  <a:pt x="4432010" y="240241"/>
                </a:lnTo>
                <a:lnTo>
                  <a:pt x="4465585" y="237755"/>
                </a:lnTo>
                <a:lnTo>
                  <a:pt x="4499161" y="235285"/>
                </a:lnTo>
                <a:lnTo>
                  <a:pt x="4532737" y="232831"/>
                </a:lnTo>
                <a:lnTo>
                  <a:pt x="4566313" y="230394"/>
                </a:lnTo>
                <a:lnTo>
                  <a:pt x="4599889" y="227972"/>
                </a:lnTo>
                <a:lnTo>
                  <a:pt x="4633465" y="225567"/>
                </a:lnTo>
                <a:lnTo>
                  <a:pt x="4667040" y="223177"/>
                </a:lnTo>
                <a:lnTo>
                  <a:pt x="4700616" y="220803"/>
                </a:lnTo>
                <a:lnTo>
                  <a:pt x="4734192" y="218445"/>
                </a:lnTo>
                <a:lnTo>
                  <a:pt x="4767768" y="216102"/>
                </a:lnTo>
                <a:lnTo>
                  <a:pt x="4801344" y="213776"/>
                </a:lnTo>
                <a:lnTo>
                  <a:pt x="4834920" y="211464"/>
                </a:lnTo>
                <a:lnTo>
                  <a:pt x="4868495" y="207079"/>
                </a:lnTo>
                <a:lnTo>
                  <a:pt x="4902071" y="202666"/>
                </a:lnTo>
                <a:lnTo>
                  <a:pt x="4935647" y="198226"/>
                </a:lnTo>
                <a:lnTo>
                  <a:pt x="4969223" y="193758"/>
                </a:lnTo>
                <a:lnTo>
                  <a:pt x="5002799" y="189263"/>
                </a:lnTo>
                <a:lnTo>
                  <a:pt x="5036375" y="184740"/>
                </a:lnTo>
                <a:lnTo>
                  <a:pt x="5069950" y="180189"/>
                </a:lnTo>
                <a:lnTo>
                  <a:pt x="5103526" y="175610"/>
                </a:lnTo>
                <a:lnTo>
                  <a:pt x="5137102" y="171003"/>
                </a:lnTo>
                <a:lnTo>
                  <a:pt x="5170678" y="166367"/>
                </a:lnTo>
                <a:lnTo>
                  <a:pt x="5204254" y="161703"/>
                </a:lnTo>
                <a:lnTo>
                  <a:pt x="5237830" y="157010"/>
                </a:lnTo>
                <a:lnTo>
                  <a:pt x="5271405" y="151502"/>
                </a:lnTo>
                <a:lnTo>
                  <a:pt x="5304981" y="145946"/>
                </a:lnTo>
                <a:lnTo>
                  <a:pt x="5338557" y="140341"/>
                </a:lnTo>
                <a:lnTo>
                  <a:pt x="5372133" y="134689"/>
                </a:lnTo>
                <a:lnTo>
                  <a:pt x="5405709" y="128987"/>
                </a:lnTo>
                <a:lnTo>
                  <a:pt x="5439285" y="123236"/>
                </a:lnTo>
                <a:lnTo>
                  <a:pt x="5472860" y="117435"/>
                </a:lnTo>
                <a:lnTo>
                  <a:pt x="5506436" y="111584"/>
                </a:lnTo>
                <a:lnTo>
                  <a:pt x="5540012" y="105683"/>
                </a:lnTo>
                <a:lnTo>
                  <a:pt x="5573588" y="99731"/>
                </a:lnTo>
                <a:lnTo>
                  <a:pt x="5607164" y="93728"/>
                </a:lnTo>
                <a:lnTo>
                  <a:pt x="5640740" y="87673"/>
                </a:lnTo>
                <a:lnTo>
                  <a:pt x="5707891" y="80670"/>
                </a:lnTo>
                <a:lnTo>
                  <a:pt x="5775043" y="73613"/>
                </a:lnTo>
                <a:lnTo>
                  <a:pt x="5842195" y="66502"/>
                </a:lnTo>
                <a:lnTo>
                  <a:pt x="5909346" y="59336"/>
                </a:lnTo>
                <a:lnTo>
                  <a:pt x="5976498" y="52115"/>
                </a:lnTo>
                <a:lnTo>
                  <a:pt x="6043650" y="44839"/>
                </a:lnTo>
                <a:lnTo>
                  <a:pt x="6110801" y="37507"/>
                </a:lnTo>
                <a:lnTo>
                  <a:pt x="6177953" y="30119"/>
                </a:lnTo>
                <a:lnTo>
                  <a:pt x="6245105" y="22675"/>
                </a:lnTo>
                <a:lnTo>
                  <a:pt x="6312256" y="15174"/>
                </a:lnTo>
                <a:lnTo>
                  <a:pt x="6379408" y="7616"/>
                </a:lnTo>
                <a:lnTo>
                  <a:pt x="6446560" y="0"/>
                </a:lnTo>
              </a:path>
            </a:pathLst>
          </a:custGeom>
          <a:noFill/>
          <a:ln w="34925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weight: визит 2"/>
          <p:cNvSpPr/>
          <p:nvPr/>
        </p:nvSpPr>
        <p:spPr>
          <a:xfrm>
            <a:off x="488640" y="453841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weight: визит 3"/>
          <p:cNvSpPr/>
          <p:nvPr/>
        </p:nvSpPr>
        <p:spPr>
          <a:xfrm>
            <a:off x="891550" y="4521983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weight: визит 6"/>
          <p:cNvSpPr/>
          <p:nvPr/>
        </p:nvSpPr>
        <p:spPr>
          <a:xfrm>
            <a:off x="2100280" y="447398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weight: визит 9"/>
          <p:cNvSpPr/>
          <p:nvPr/>
        </p:nvSpPr>
        <p:spPr>
          <a:xfrm>
            <a:off x="3309010" y="4414993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weight: визит 11"/>
          <p:cNvSpPr/>
          <p:nvPr/>
        </p:nvSpPr>
        <p:spPr>
          <a:xfrm>
            <a:off x="4114830" y="4362137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weight: визит 13"/>
          <p:cNvSpPr/>
          <p:nvPr/>
        </p:nvSpPr>
        <p:spPr>
          <a:xfrm>
            <a:off x="4920650" y="4309412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weight: визит 14"/>
          <p:cNvSpPr/>
          <p:nvPr/>
        </p:nvSpPr>
        <p:spPr>
          <a:xfrm>
            <a:off x="5323560" y="4280635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weight: визит 15"/>
          <p:cNvSpPr/>
          <p:nvPr/>
        </p:nvSpPr>
        <p:spPr>
          <a:xfrm>
            <a:off x="5726470" y="4226181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weight: визит 16"/>
          <p:cNvSpPr/>
          <p:nvPr/>
        </p:nvSpPr>
        <p:spPr>
          <a:xfrm>
            <a:off x="6129380" y="4156844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weight: визит 18"/>
          <p:cNvSpPr/>
          <p:nvPr/>
        </p:nvSpPr>
        <p:spPr>
          <a:xfrm>
            <a:off x="6935200" y="4069171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8640" y="3590061"/>
            <a:ext cx="6446560" cy="2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Масса, кг</a:t>
            </a:r>
          </a:p>
        </p:txBody>
      </p:sp>
      <p:sp>
        <p:nvSpPr>
          <p:cNvPr id="67" name="Легенда"/>
          <p:cNvSpPr/>
          <p:nvPr/>
        </p:nvSpPr>
        <p:spPr>
          <a:xfrm>
            <a:off x="548640" y="5029200"/>
            <a:ext cx="274320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Легенда"/>
          <p:cNvSpPr txBox="1"/>
          <p:nvPr/>
        </p:nvSpPr>
        <p:spPr>
          <a:xfrm>
            <a:off x="896112" y="496519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рост</a:t>
            </a:r>
          </a:p>
        </p:txBody>
      </p:sp>
      <p:sp>
        <p:nvSpPr>
          <p:cNvPr id="69" name="Легенда"/>
          <p:cNvSpPr/>
          <p:nvPr/>
        </p:nvSpPr>
        <p:spPr>
          <a:xfrm>
            <a:off x="2560320" y="5029200"/>
            <a:ext cx="274320" cy="91440"/>
          </a:xfrm>
          <a:prstGeom prst="rect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Легенда"/>
          <p:cNvSpPr txBox="1"/>
          <p:nvPr/>
        </p:nvSpPr>
        <p:spPr>
          <a:xfrm>
            <a:off x="2907792" y="496519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масса</a:t>
            </a:r>
          </a:p>
        </p:txBody>
      </p:sp>
      <p:sp>
        <p:nvSpPr>
          <p:cNvPr id="71" name="Легенда"/>
          <p:cNvSpPr/>
          <p:nvPr/>
        </p:nvSpPr>
        <p:spPr>
          <a:xfrm>
            <a:off x="4572000" y="5029200"/>
            <a:ext cx="274320" cy="9144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Легенда"/>
          <p:cNvSpPr txBox="1"/>
          <p:nvPr/>
        </p:nvSpPr>
        <p:spPr>
          <a:xfrm>
            <a:off x="4919472" y="496519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норма: 3–⁠97-й центиль</a:t>
            </a:r>
          </a:p>
        </p:txBody>
      </p:sp>
      <p:sp>
        <p:nvSpPr>
          <p:cNvPr id="74" name="Текст"/>
          <p:cNvSpPr txBox="1"/>
          <p:nvPr/>
        </p:nvSpPr>
        <p:spPr>
          <a:xfrm>
            <a:off x="7635240" y="1691640"/>
            <a:ext cx="4007815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800" b="0" i="0">
                <a:solidFill>
                  <a:srgbClr val="26323A"/>
                </a:solidFill>
                <a:latin typeface="Calibri"/>
              </a:rPr>
              <a:t>Ретроспективно у 31 из 70 мужчин рост в СО снижался уже в 3–⁠9 лет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800" b="0" i="0">
                <a:solidFill>
                  <a:srgbClr val="26323A"/>
                </a:solidFill>
                <a:latin typeface="Calibri"/>
              </a:rPr>
              <a:t>Родственники 1-й степени с задержкой: 80 % из 95 мальчиков и 75 % из 29 девочек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800" b="0" i="0">
                <a:solidFill>
                  <a:srgbClr val="26323A"/>
                </a:solidFill>
                <a:latin typeface="Calibri"/>
              </a:rPr>
              <a:t>Итоговый рост чаще в целевом диапазоне, но в части когорт на 0,6 СО ниже</a:t>
            </a:r>
          </a:p>
        </p:txBody>
      </p:sp>
      <p:sp>
        <p:nvSpPr>
          <p:cNvPr id="75" name="Доказательность и источник"/>
          <p:cNvSpPr txBox="1"/>
          <p:nvPr/>
        </p:nvSpPr>
        <p:spPr>
          <a:xfrm>
            <a:off x="415912" y="6385944"/>
            <a:ext cx="10454335" cy="2769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900" b="0" i="0" dirty="0" err="1">
                <a:solidFill>
                  <a:srgbClr val="66737C"/>
                </a:solidFill>
                <a:latin typeface="Calibri"/>
              </a:rPr>
              <a:t>Wehkalampi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K et al.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Res 2007;68:99–⁠104;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Wehkalampi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K et al. J Clin Endocrinol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2008;93:723–⁠8;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Akın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Kağızmanlı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G et al. J Clin Res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Endocrinol 2025;17:410–⁠8; Adan L et al. J Clin Endocrinol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1994;78:478–⁠82;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Persani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L et al. Endocrine 2021;71:681–⁠8</a:t>
            </a:r>
          </a:p>
        </p:txBody>
      </p:sp>
      <p:sp>
        <p:nvSpPr>
          <p:cNvPr id="12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Пубертат задержан, если к 13 годам нет телархе, а к 14 объём яичка меньше 4 мл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Норма начала пубертата: девочки 8–⁠13 лет, мальчики 9–⁠14; позже ребёнка должен осмотреть специалист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Объём яичка у мальчика определяют по орхидометру Прадера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Нет менархе через 3 года после телархе: подумайте об обследовании (обзор 2021 года)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Телархе за десятилетие наступает на 0,24 года раньше (1977–⁠2013), пороги задержки в руководствах прежние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435969" y="6320063"/>
            <a:ext cx="10454335" cy="3077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 err="1">
                <a:solidFill>
                  <a:srgbClr val="66737C"/>
                </a:solidFill>
                <a:latin typeface="Calibri"/>
              </a:rPr>
              <a:t>Persani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L et al. Endocrine 2021;71:681–⁠8;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Nordenström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A et al. Eur J Endocrinol 2022;186:G9–G49;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Seppä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S et al. Eur J Endocrinol 2021;184:R225–R242; Eckert-Lind C et al. JAMA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2020;174:e195881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Причин четыре группы, и у девочек конституциональная задержка встречается вдвое реже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251155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910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Группа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Доля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Что за ней стоит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Конституциональная задержка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53 %: мальчики 63 %, девочки 30 %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вариант нормы, слайд 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Функциональный гипогонадотропный гипогонадизм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19 %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хроническая болезнь, ограничение питания, нагрузки, анорексия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Стойкий гипогонадотропный гипогонадизм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12 %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в том числе врождённый, слайды 27–⁠28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Гипергонадотропный гипогонадизм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13 %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в том числе синдром Тернера, слайд 30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Не удалось отнести к группе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3 %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4160520"/>
            <a:ext cx="1109441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158 мальчиков и 74 девочки с задержкой пубертата</a:t>
            </a:r>
          </a:p>
        </p:txBody>
      </p:sp>
      <p:sp>
        <p:nvSpPr>
          <p:cNvPr id="5" name="Доказательность и источник"/>
          <p:cNvSpPr txBox="1"/>
          <p:nvPr/>
        </p:nvSpPr>
        <p:spPr>
          <a:xfrm>
            <a:off x="274345" y="6320064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 err="1">
                <a:solidFill>
                  <a:srgbClr val="66737C"/>
                </a:solidFill>
                <a:latin typeface="Calibri"/>
              </a:rPr>
              <a:t>Sedlmeyer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IL,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Palmert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MR. J Clin Endocrinol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2002;87:1613–⁠20;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Persani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L et al. Endocrine 2021;71:681–⁠8;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Varimo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T et al. Hum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Reprod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2017;32:147–⁠53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Аносмия, микропенис и крипторхизм указывают на врождённый гипогонадизм, а не на задержку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Обоняние снижено или отсутствует примерно у половины больных, по другой оценке реже: синдром Каллмана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У новорождённого мальчика: микропенис и крипторхизм, особенно двусторонний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Крипторхизм в анамнезе: отношение шансов стойкого гипогонадизма 17,2 (95 % доверительный интервал 3,4–⁠85,4)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Расщелина губы или нёба, тугоухость, бимануальные синкинезии, изменения костей пальцев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Нистагм, дальтонизм; аномалии почек частые, поэтому их ищут ультразвуковым исследованием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229721" y="6307341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>
                <a:solidFill>
                  <a:srgbClr val="66737C"/>
                </a:solidFill>
                <a:latin typeface="Calibri"/>
              </a:rPr>
              <a:t>Boehm U et al. Nat Rev Endocrinol 2015;11:547–⁠64;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Persani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L et al. Endocrine 2021;71:681–⁠8;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Varimo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T et al. Hum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Reprod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2017;32:147–⁠53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300" b="1" i="0">
                <a:solidFill>
                  <a:srgbClr val="1B2E3C"/>
                </a:solidFill>
                <a:latin typeface="Cambria"/>
              </a:rPr>
              <a:t>Анализы сужают выбор между задержкой и врождённым гипогонадизмом, окончательно решает время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3" cy="19202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910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2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Показатель у мальчиков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Порог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Чувствительность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Специфичность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Базальный ЛГ (лютеинизирующий гормон)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&lt; 0,3 МЕ/л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100 %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88 %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ЛГ через 4 ч после трипторелина 0,1 мг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&lt; 5,3 МЕ/л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Ингибин 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&lt; 111 пг/мл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100 %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92 %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Ингибин В, объём яичка &lt; 3 мл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≤ 35 пг/мл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Ингибин В, объём яичка 3–⁠6 мл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≤ 65 пг/мл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80–⁠86 %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88–⁠92 %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703320"/>
            <a:ext cx="1109441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Пороги из разных когорт и наборов, только у мальчиков; рутинного теста нет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Нет пубертата после короткого курса малых доз тестостерона: довод за врождённый гипогонадизм (мнение экспертов)</a:t>
            </a:r>
          </a:p>
        </p:txBody>
      </p:sp>
      <p:sp>
        <p:nvSpPr>
          <p:cNvPr id="5" name="Доказательность и источник"/>
          <p:cNvSpPr txBox="1"/>
          <p:nvPr/>
        </p:nvSpPr>
        <p:spPr>
          <a:xfrm>
            <a:off x="443309" y="6335453"/>
            <a:ext cx="10454335" cy="1384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900" b="0" i="0" dirty="0">
                <a:solidFill>
                  <a:srgbClr val="66737C"/>
                </a:solidFill>
                <a:latin typeface="Calibri"/>
              </a:rPr>
              <a:t>Binder G et al. Clin Endocrinol (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Oxf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) 2015;82:100–⁠5;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Coutant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R et al. J Clin Endocrinol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2010;95:5225–⁠32; Harrington J,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Palmert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MR. J Clin Endocrinol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2012;97:3056–⁠67;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Persani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L et al. Endocrine 2021;71:681–⁠8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300" b="1" i="0">
                <a:solidFill>
                  <a:srgbClr val="1B2E3C"/>
                </a:solidFill>
                <a:latin typeface="Cambria"/>
              </a:rPr>
              <a:t>Изолированный гипогонадизм даёт высокий рост, низкорослость с ним указывает на вторую причину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Эстрогены дают пубертатный скачок у обоих полов и способствуют закрытию зон роста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При врождённом гипогонадизме зоны роста открыты: рост часто относительно высокий, облик евнухоидный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Низкий рост с медленным темпом и малой массой: возможна функциональная форма (слайд 26)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Гипогонадизм бывает и при синдроме Тернера, дефиците нескольких гормонов гипофиза, синдроме Прадера — Вилли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277279" y="6320064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 err="1">
                <a:solidFill>
                  <a:srgbClr val="66737C"/>
                </a:solidFill>
                <a:latin typeface="Calibri"/>
              </a:rPr>
              <a:t>Persani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L et al. Endocrine 2021;71:681–⁠8;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Nordenström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A et al. Eur J Endocrinol 2022;186:G9–G49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Кариотип нужен каждой девочке с необъяснённой низкорослостью, даже без признаков Тернера</a:t>
            </a:r>
          </a:p>
        </p:txBody>
      </p:sp>
      <p:sp>
        <p:nvSpPr>
          <p:cNvPr id="3" name="height: полоса 3–97"/>
          <p:cNvSpPr/>
          <p:nvPr/>
        </p:nvSpPr>
        <p:spPr>
          <a:xfrm>
            <a:off x="548640" y="2288627"/>
            <a:ext cx="6446560" cy="916447"/>
          </a:xfrm>
          <a:custGeom>
            <a:avLst/>
            <a:gdLst/>
            <a:ahLst/>
            <a:cxnLst/>
            <a:rect l="l" t="t" r="r" b="b"/>
            <a:pathLst>
              <a:path w="6446560" h="916447">
                <a:moveTo>
                  <a:pt x="0" y="761398"/>
                </a:moveTo>
                <a:lnTo>
                  <a:pt x="107442" y="744660"/>
                </a:lnTo>
                <a:lnTo>
                  <a:pt x="214885" y="728266"/>
                </a:lnTo>
                <a:lnTo>
                  <a:pt x="322328" y="712209"/>
                </a:lnTo>
                <a:lnTo>
                  <a:pt x="429770" y="696482"/>
                </a:lnTo>
                <a:lnTo>
                  <a:pt x="537213" y="681078"/>
                </a:lnTo>
                <a:lnTo>
                  <a:pt x="644656" y="665988"/>
                </a:lnTo>
                <a:lnTo>
                  <a:pt x="752098" y="651206"/>
                </a:lnTo>
                <a:lnTo>
                  <a:pt x="859541" y="636724"/>
                </a:lnTo>
                <a:lnTo>
                  <a:pt x="966984" y="622537"/>
                </a:lnTo>
                <a:lnTo>
                  <a:pt x="1074426" y="608636"/>
                </a:lnTo>
                <a:lnTo>
                  <a:pt x="1181869" y="595014"/>
                </a:lnTo>
                <a:lnTo>
                  <a:pt x="1289312" y="581665"/>
                </a:lnTo>
                <a:lnTo>
                  <a:pt x="1396754" y="568582"/>
                </a:lnTo>
                <a:lnTo>
                  <a:pt x="1504197" y="555758"/>
                </a:lnTo>
                <a:lnTo>
                  <a:pt x="1611640" y="543185"/>
                </a:lnTo>
                <a:lnTo>
                  <a:pt x="1719082" y="530856"/>
                </a:lnTo>
                <a:lnTo>
                  <a:pt x="1826525" y="518764"/>
                </a:lnTo>
                <a:lnTo>
                  <a:pt x="1933968" y="506900"/>
                </a:lnTo>
                <a:lnTo>
                  <a:pt x="2041410" y="495256"/>
                </a:lnTo>
                <a:lnTo>
                  <a:pt x="2148853" y="483823"/>
                </a:lnTo>
                <a:lnTo>
                  <a:pt x="2256296" y="472592"/>
                </a:lnTo>
                <a:lnTo>
                  <a:pt x="2363738" y="461552"/>
                </a:lnTo>
                <a:lnTo>
                  <a:pt x="2471181" y="450690"/>
                </a:lnTo>
                <a:lnTo>
                  <a:pt x="2578624" y="439996"/>
                </a:lnTo>
                <a:lnTo>
                  <a:pt x="2686066" y="429453"/>
                </a:lnTo>
                <a:lnTo>
                  <a:pt x="2793509" y="419045"/>
                </a:lnTo>
                <a:lnTo>
                  <a:pt x="2900952" y="408754"/>
                </a:lnTo>
                <a:lnTo>
                  <a:pt x="3008394" y="398558"/>
                </a:lnTo>
                <a:lnTo>
                  <a:pt x="3115837" y="388431"/>
                </a:lnTo>
                <a:lnTo>
                  <a:pt x="3223280" y="378346"/>
                </a:lnTo>
                <a:lnTo>
                  <a:pt x="3330722" y="368267"/>
                </a:lnTo>
                <a:lnTo>
                  <a:pt x="3438165" y="358157"/>
                </a:lnTo>
                <a:lnTo>
                  <a:pt x="3545607" y="347971"/>
                </a:lnTo>
                <a:lnTo>
                  <a:pt x="3653050" y="337655"/>
                </a:lnTo>
                <a:lnTo>
                  <a:pt x="3760493" y="327152"/>
                </a:lnTo>
                <a:lnTo>
                  <a:pt x="3867936" y="316396"/>
                </a:lnTo>
                <a:lnTo>
                  <a:pt x="3975378" y="305313"/>
                </a:lnTo>
                <a:lnTo>
                  <a:pt x="4082821" y="293824"/>
                </a:lnTo>
                <a:lnTo>
                  <a:pt x="4190264" y="281846"/>
                </a:lnTo>
                <a:lnTo>
                  <a:pt x="4297706" y="269297"/>
                </a:lnTo>
                <a:lnTo>
                  <a:pt x="4405149" y="256099"/>
                </a:lnTo>
                <a:lnTo>
                  <a:pt x="4512592" y="242191"/>
                </a:lnTo>
                <a:lnTo>
                  <a:pt x="4620034" y="227532"/>
                </a:lnTo>
                <a:lnTo>
                  <a:pt x="4727477" y="212119"/>
                </a:lnTo>
                <a:lnTo>
                  <a:pt x="4834920" y="195995"/>
                </a:lnTo>
                <a:lnTo>
                  <a:pt x="4942362" y="179258"/>
                </a:lnTo>
                <a:lnTo>
                  <a:pt x="5049805" y="162071"/>
                </a:lnTo>
                <a:lnTo>
                  <a:pt x="5157248" y="144654"/>
                </a:lnTo>
                <a:lnTo>
                  <a:pt x="5264690" y="127278"/>
                </a:lnTo>
                <a:lnTo>
                  <a:pt x="5372133" y="110240"/>
                </a:lnTo>
                <a:lnTo>
                  <a:pt x="5479576" y="93841"/>
                </a:lnTo>
                <a:lnTo>
                  <a:pt x="5587018" y="78355"/>
                </a:lnTo>
                <a:lnTo>
                  <a:pt x="5694461" y="64004"/>
                </a:lnTo>
                <a:lnTo>
                  <a:pt x="5801904" y="50942"/>
                </a:lnTo>
                <a:lnTo>
                  <a:pt x="5909346" y="39252"/>
                </a:lnTo>
                <a:lnTo>
                  <a:pt x="6016789" y="28944"/>
                </a:lnTo>
                <a:lnTo>
                  <a:pt x="6124232" y="19968"/>
                </a:lnTo>
                <a:lnTo>
                  <a:pt x="6231674" y="12235"/>
                </a:lnTo>
                <a:lnTo>
                  <a:pt x="6339117" y="5623"/>
                </a:lnTo>
                <a:lnTo>
                  <a:pt x="6446560" y="0"/>
                </a:lnTo>
                <a:lnTo>
                  <a:pt x="6446560" y="258415"/>
                </a:lnTo>
                <a:lnTo>
                  <a:pt x="6339117" y="262315"/>
                </a:lnTo>
                <a:lnTo>
                  <a:pt x="6231674" y="267204"/>
                </a:lnTo>
                <a:lnTo>
                  <a:pt x="6124232" y="273215"/>
                </a:lnTo>
                <a:lnTo>
                  <a:pt x="6016789" y="280467"/>
                </a:lnTo>
                <a:lnTo>
                  <a:pt x="5909346" y="289053"/>
                </a:lnTo>
                <a:lnTo>
                  <a:pt x="5801904" y="299020"/>
                </a:lnTo>
                <a:lnTo>
                  <a:pt x="5694461" y="310359"/>
                </a:lnTo>
                <a:lnTo>
                  <a:pt x="5587018" y="322987"/>
                </a:lnTo>
                <a:lnTo>
                  <a:pt x="5479576" y="336751"/>
                </a:lnTo>
                <a:lnTo>
                  <a:pt x="5372133" y="351427"/>
                </a:lnTo>
                <a:lnTo>
                  <a:pt x="5264690" y="366742"/>
                </a:lnTo>
                <a:lnTo>
                  <a:pt x="5157248" y="382396"/>
                </a:lnTo>
                <a:lnTo>
                  <a:pt x="5049805" y="398090"/>
                </a:lnTo>
                <a:lnTo>
                  <a:pt x="4942362" y="413554"/>
                </a:lnTo>
                <a:lnTo>
                  <a:pt x="4834920" y="428568"/>
                </a:lnTo>
                <a:lnTo>
                  <a:pt x="4727477" y="442970"/>
                </a:lnTo>
                <a:lnTo>
                  <a:pt x="4620034" y="456660"/>
                </a:lnTo>
                <a:lnTo>
                  <a:pt x="4512592" y="469596"/>
                </a:lnTo>
                <a:lnTo>
                  <a:pt x="4405149" y="481781"/>
                </a:lnTo>
                <a:lnTo>
                  <a:pt x="4297706" y="493256"/>
                </a:lnTo>
                <a:lnTo>
                  <a:pt x="4190264" y="504083"/>
                </a:lnTo>
                <a:lnTo>
                  <a:pt x="4082821" y="514338"/>
                </a:lnTo>
                <a:lnTo>
                  <a:pt x="3975378" y="524104"/>
                </a:lnTo>
                <a:lnTo>
                  <a:pt x="3867936" y="533464"/>
                </a:lnTo>
                <a:lnTo>
                  <a:pt x="3760493" y="542498"/>
                </a:lnTo>
                <a:lnTo>
                  <a:pt x="3653050" y="551278"/>
                </a:lnTo>
                <a:lnTo>
                  <a:pt x="3545607" y="559870"/>
                </a:lnTo>
                <a:lnTo>
                  <a:pt x="3438165" y="568334"/>
                </a:lnTo>
                <a:lnTo>
                  <a:pt x="3330722" y="576722"/>
                </a:lnTo>
                <a:lnTo>
                  <a:pt x="3223280" y="585077"/>
                </a:lnTo>
                <a:lnTo>
                  <a:pt x="3115837" y="593440"/>
                </a:lnTo>
                <a:lnTo>
                  <a:pt x="3008394" y="601844"/>
                </a:lnTo>
                <a:lnTo>
                  <a:pt x="2900952" y="610317"/>
                </a:lnTo>
                <a:lnTo>
                  <a:pt x="2793509" y="618886"/>
                </a:lnTo>
                <a:lnTo>
                  <a:pt x="2686066" y="627570"/>
                </a:lnTo>
                <a:lnTo>
                  <a:pt x="2578624" y="636391"/>
                </a:lnTo>
                <a:lnTo>
                  <a:pt x="2471181" y="645363"/>
                </a:lnTo>
                <a:lnTo>
                  <a:pt x="2363738" y="654501"/>
                </a:lnTo>
                <a:lnTo>
                  <a:pt x="2256296" y="663819"/>
                </a:lnTo>
                <a:lnTo>
                  <a:pt x="2148853" y="673327"/>
                </a:lnTo>
                <a:lnTo>
                  <a:pt x="2041410" y="683037"/>
                </a:lnTo>
                <a:lnTo>
                  <a:pt x="1933968" y="692959"/>
                </a:lnTo>
                <a:lnTo>
                  <a:pt x="1826525" y="703100"/>
                </a:lnTo>
                <a:lnTo>
                  <a:pt x="1719082" y="713469"/>
                </a:lnTo>
                <a:lnTo>
                  <a:pt x="1611640" y="724075"/>
                </a:lnTo>
                <a:lnTo>
                  <a:pt x="1504197" y="734926"/>
                </a:lnTo>
                <a:lnTo>
                  <a:pt x="1396754" y="746027"/>
                </a:lnTo>
                <a:lnTo>
                  <a:pt x="1289312" y="757387"/>
                </a:lnTo>
                <a:lnTo>
                  <a:pt x="1181869" y="769013"/>
                </a:lnTo>
                <a:lnTo>
                  <a:pt x="1074426" y="780912"/>
                </a:lnTo>
                <a:lnTo>
                  <a:pt x="966984" y="793090"/>
                </a:lnTo>
                <a:lnTo>
                  <a:pt x="859541" y="805555"/>
                </a:lnTo>
                <a:lnTo>
                  <a:pt x="752098" y="818314"/>
                </a:lnTo>
                <a:lnTo>
                  <a:pt x="644656" y="831373"/>
                </a:lnTo>
                <a:lnTo>
                  <a:pt x="537213" y="844740"/>
                </a:lnTo>
                <a:lnTo>
                  <a:pt x="429770" y="858422"/>
                </a:lnTo>
                <a:lnTo>
                  <a:pt x="322328" y="872426"/>
                </a:lnTo>
                <a:lnTo>
                  <a:pt x="214885" y="886760"/>
                </a:lnTo>
                <a:lnTo>
                  <a:pt x="107442" y="901431"/>
                </a:lnTo>
                <a:lnTo>
                  <a:pt x="0" y="916447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ight: 3-й центиль"/>
          <p:cNvSpPr/>
          <p:nvPr/>
        </p:nvSpPr>
        <p:spPr>
          <a:xfrm>
            <a:off x="548640" y="2547042"/>
            <a:ext cx="6446560" cy="658032"/>
          </a:xfrm>
          <a:custGeom>
            <a:avLst/>
            <a:gdLst/>
            <a:ahLst/>
            <a:cxnLst/>
            <a:rect l="l" t="t" r="r" b="b"/>
            <a:pathLst>
              <a:path w="6446560" h="658032">
                <a:moveTo>
                  <a:pt x="0" y="658032"/>
                </a:moveTo>
                <a:lnTo>
                  <a:pt x="107442" y="643016"/>
                </a:lnTo>
                <a:lnTo>
                  <a:pt x="214885" y="628345"/>
                </a:lnTo>
                <a:lnTo>
                  <a:pt x="322328" y="614011"/>
                </a:lnTo>
                <a:lnTo>
                  <a:pt x="429770" y="600007"/>
                </a:lnTo>
                <a:lnTo>
                  <a:pt x="537213" y="586325"/>
                </a:lnTo>
                <a:lnTo>
                  <a:pt x="644656" y="572958"/>
                </a:lnTo>
                <a:lnTo>
                  <a:pt x="752098" y="559899"/>
                </a:lnTo>
                <a:lnTo>
                  <a:pt x="859541" y="547140"/>
                </a:lnTo>
                <a:lnTo>
                  <a:pt x="966984" y="534675"/>
                </a:lnTo>
                <a:lnTo>
                  <a:pt x="1074426" y="522497"/>
                </a:lnTo>
                <a:lnTo>
                  <a:pt x="1181869" y="510598"/>
                </a:lnTo>
                <a:lnTo>
                  <a:pt x="1289312" y="498972"/>
                </a:lnTo>
                <a:lnTo>
                  <a:pt x="1396754" y="487612"/>
                </a:lnTo>
                <a:lnTo>
                  <a:pt x="1504197" y="476511"/>
                </a:lnTo>
                <a:lnTo>
                  <a:pt x="1611640" y="465660"/>
                </a:lnTo>
                <a:lnTo>
                  <a:pt x="1719082" y="455054"/>
                </a:lnTo>
                <a:lnTo>
                  <a:pt x="1826525" y="444685"/>
                </a:lnTo>
                <a:lnTo>
                  <a:pt x="1933968" y="434544"/>
                </a:lnTo>
                <a:lnTo>
                  <a:pt x="2041410" y="424622"/>
                </a:lnTo>
                <a:lnTo>
                  <a:pt x="2148853" y="414912"/>
                </a:lnTo>
                <a:lnTo>
                  <a:pt x="2256296" y="405404"/>
                </a:lnTo>
                <a:lnTo>
                  <a:pt x="2363738" y="396086"/>
                </a:lnTo>
                <a:lnTo>
                  <a:pt x="2471181" y="386948"/>
                </a:lnTo>
                <a:lnTo>
                  <a:pt x="2578624" y="377976"/>
                </a:lnTo>
                <a:lnTo>
                  <a:pt x="2686066" y="369155"/>
                </a:lnTo>
                <a:lnTo>
                  <a:pt x="2793509" y="360471"/>
                </a:lnTo>
                <a:lnTo>
                  <a:pt x="2900952" y="351902"/>
                </a:lnTo>
                <a:lnTo>
                  <a:pt x="3008394" y="343429"/>
                </a:lnTo>
                <a:lnTo>
                  <a:pt x="3115837" y="335025"/>
                </a:lnTo>
                <a:lnTo>
                  <a:pt x="3223280" y="326662"/>
                </a:lnTo>
                <a:lnTo>
                  <a:pt x="3330722" y="318307"/>
                </a:lnTo>
                <a:lnTo>
                  <a:pt x="3438165" y="309919"/>
                </a:lnTo>
                <a:lnTo>
                  <a:pt x="3545607" y="301455"/>
                </a:lnTo>
                <a:lnTo>
                  <a:pt x="3653050" y="292863"/>
                </a:lnTo>
                <a:lnTo>
                  <a:pt x="3760493" y="284083"/>
                </a:lnTo>
                <a:lnTo>
                  <a:pt x="3867936" y="275049"/>
                </a:lnTo>
                <a:lnTo>
                  <a:pt x="3975378" y="265689"/>
                </a:lnTo>
                <a:lnTo>
                  <a:pt x="4082821" y="255923"/>
                </a:lnTo>
                <a:lnTo>
                  <a:pt x="4190264" y="245668"/>
                </a:lnTo>
                <a:lnTo>
                  <a:pt x="4297706" y="234841"/>
                </a:lnTo>
                <a:lnTo>
                  <a:pt x="4405149" y="223366"/>
                </a:lnTo>
                <a:lnTo>
                  <a:pt x="4512592" y="211181"/>
                </a:lnTo>
                <a:lnTo>
                  <a:pt x="4620034" y="198245"/>
                </a:lnTo>
                <a:lnTo>
                  <a:pt x="4727477" y="184555"/>
                </a:lnTo>
                <a:lnTo>
                  <a:pt x="4834920" y="170153"/>
                </a:lnTo>
                <a:lnTo>
                  <a:pt x="4942362" y="155139"/>
                </a:lnTo>
                <a:lnTo>
                  <a:pt x="5049805" y="139675"/>
                </a:lnTo>
                <a:lnTo>
                  <a:pt x="5157248" y="123981"/>
                </a:lnTo>
                <a:lnTo>
                  <a:pt x="5264690" y="108327"/>
                </a:lnTo>
                <a:lnTo>
                  <a:pt x="5372133" y="93012"/>
                </a:lnTo>
                <a:lnTo>
                  <a:pt x="5479576" y="78336"/>
                </a:lnTo>
                <a:lnTo>
                  <a:pt x="5587018" y="64572"/>
                </a:lnTo>
                <a:lnTo>
                  <a:pt x="5694461" y="51944"/>
                </a:lnTo>
                <a:lnTo>
                  <a:pt x="5801904" y="40605"/>
                </a:lnTo>
                <a:lnTo>
                  <a:pt x="5909346" y="30638"/>
                </a:lnTo>
                <a:lnTo>
                  <a:pt x="6016789" y="22052"/>
                </a:lnTo>
                <a:lnTo>
                  <a:pt x="6124232" y="14800"/>
                </a:lnTo>
                <a:lnTo>
                  <a:pt x="6231674" y="8789"/>
                </a:lnTo>
                <a:lnTo>
                  <a:pt x="6339117" y="3900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35200" y="2467042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6" name="height: 50-й центиль"/>
          <p:cNvSpPr/>
          <p:nvPr/>
        </p:nvSpPr>
        <p:spPr>
          <a:xfrm>
            <a:off x="548640" y="2417835"/>
            <a:ext cx="6446560" cy="709714"/>
          </a:xfrm>
          <a:custGeom>
            <a:avLst/>
            <a:gdLst/>
            <a:ahLst/>
            <a:cxnLst/>
            <a:rect l="l" t="t" r="r" b="b"/>
            <a:pathLst>
              <a:path w="6446560" h="709714">
                <a:moveTo>
                  <a:pt x="0" y="709714"/>
                </a:moveTo>
                <a:lnTo>
                  <a:pt x="107442" y="693837"/>
                </a:lnTo>
                <a:lnTo>
                  <a:pt x="214885" y="678305"/>
                </a:lnTo>
                <a:lnTo>
                  <a:pt x="322328" y="663110"/>
                </a:lnTo>
                <a:lnTo>
                  <a:pt x="429770" y="648244"/>
                </a:lnTo>
                <a:lnTo>
                  <a:pt x="537213" y="633701"/>
                </a:lnTo>
                <a:lnTo>
                  <a:pt x="644656" y="619472"/>
                </a:lnTo>
                <a:lnTo>
                  <a:pt x="752098" y="605552"/>
                </a:lnTo>
                <a:lnTo>
                  <a:pt x="859541" y="591932"/>
                </a:lnTo>
                <a:lnTo>
                  <a:pt x="966984" y="578605"/>
                </a:lnTo>
                <a:lnTo>
                  <a:pt x="1074426" y="565566"/>
                </a:lnTo>
                <a:lnTo>
                  <a:pt x="1181869" y="552806"/>
                </a:lnTo>
                <a:lnTo>
                  <a:pt x="1289312" y="540318"/>
                </a:lnTo>
                <a:lnTo>
                  <a:pt x="1396754" y="528097"/>
                </a:lnTo>
                <a:lnTo>
                  <a:pt x="1504197" y="516134"/>
                </a:lnTo>
                <a:lnTo>
                  <a:pt x="1611640" y="504422"/>
                </a:lnTo>
                <a:lnTo>
                  <a:pt x="1719082" y="492955"/>
                </a:lnTo>
                <a:lnTo>
                  <a:pt x="1826525" y="481724"/>
                </a:lnTo>
                <a:lnTo>
                  <a:pt x="1933968" y="470721"/>
                </a:lnTo>
                <a:lnTo>
                  <a:pt x="2041410" y="459939"/>
                </a:lnTo>
                <a:lnTo>
                  <a:pt x="2148853" y="449367"/>
                </a:lnTo>
                <a:lnTo>
                  <a:pt x="2256296" y="438997"/>
                </a:lnTo>
                <a:lnTo>
                  <a:pt x="2363738" y="428818"/>
                </a:lnTo>
                <a:lnTo>
                  <a:pt x="2471181" y="418818"/>
                </a:lnTo>
                <a:lnTo>
                  <a:pt x="2578624" y="408985"/>
                </a:lnTo>
                <a:lnTo>
                  <a:pt x="2686066" y="399303"/>
                </a:lnTo>
                <a:lnTo>
                  <a:pt x="2793509" y="389757"/>
                </a:lnTo>
                <a:lnTo>
                  <a:pt x="2900952" y="380328"/>
                </a:lnTo>
                <a:lnTo>
                  <a:pt x="3008394" y="370993"/>
                </a:lnTo>
                <a:lnTo>
                  <a:pt x="3115837" y="361728"/>
                </a:lnTo>
                <a:lnTo>
                  <a:pt x="3223280" y="352504"/>
                </a:lnTo>
                <a:lnTo>
                  <a:pt x="3330722" y="343287"/>
                </a:lnTo>
                <a:lnTo>
                  <a:pt x="3438165" y="334038"/>
                </a:lnTo>
                <a:lnTo>
                  <a:pt x="3545607" y="324712"/>
                </a:lnTo>
                <a:lnTo>
                  <a:pt x="3653050" y="315258"/>
                </a:lnTo>
                <a:lnTo>
                  <a:pt x="3760493" y="305617"/>
                </a:lnTo>
                <a:lnTo>
                  <a:pt x="3867936" y="295722"/>
                </a:lnTo>
                <a:lnTo>
                  <a:pt x="3975378" y="285501"/>
                </a:lnTo>
                <a:lnTo>
                  <a:pt x="4082821" y="274873"/>
                </a:lnTo>
                <a:lnTo>
                  <a:pt x="4190264" y="263756"/>
                </a:lnTo>
                <a:lnTo>
                  <a:pt x="4297706" y="252068"/>
                </a:lnTo>
                <a:lnTo>
                  <a:pt x="4405149" y="239732"/>
                </a:lnTo>
                <a:lnTo>
                  <a:pt x="4512592" y="226685"/>
                </a:lnTo>
                <a:lnTo>
                  <a:pt x="4620034" y="212888"/>
                </a:lnTo>
                <a:lnTo>
                  <a:pt x="4727477" y="198336"/>
                </a:lnTo>
                <a:lnTo>
                  <a:pt x="4834920" y="183073"/>
                </a:lnTo>
                <a:lnTo>
                  <a:pt x="4942362" y="167198"/>
                </a:lnTo>
                <a:lnTo>
                  <a:pt x="5049805" y="150872"/>
                </a:lnTo>
                <a:lnTo>
                  <a:pt x="5157248" y="134317"/>
                </a:lnTo>
                <a:lnTo>
                  <a:pt x="5264690" y="117802"/>
                </a:lnTo>
                <a:lnTo>
                  <a:pt x="5372133" y="101625"/>
                </a:lnTo>
                <a:lnTo>
                  <a:pt x="5479576" y="86088"/>
                </a:lnTo>
                <a:lnTo>
                  <a:pt x="5587018" y="71463"/>
                </a:lnTo>
                <a:lnTo>
                  <a:pt x="5694461" y="57973"/>
                </a:lnTo>
                <a:lnTo>
                  <a:pt x="5801904" y="45773"/>
                </a:lnTo>
                <a:lnTo>
                  <a:pt x="5909346" y="34945"/>
                </a:lnTo>
                <a:lnTo>
                  <a:pt x="6016789" y="25497"/>
                </a:lnTo>
                <a:lnTo>
                  <a:pt x="6124232" y="17383"/>
                </a:lnTo>
                <a:lnTo>
                  <a:pt x="6231674" y="10511"/>
                </a:lnTo>
                <a:lnTo>
                  <a:pt x="6339117" y="4761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35200" y="2337835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8" name="height: 97-й центиль"/>
          <p:cNvSpPr/>
          <p:nvPr/>
        </p:nvSpPr>
        <p:spPr>
          <a:xfrm>
            <a:off x="548640" y="2288627"/>
            <a:ext cx="6446560" cy="761398"/>
          </a:xfrm>
          <a:custGeom>
            <a:avLst/>
            <a:gdLst/>
            <a:ahLst/>
            <a:cxnLst/>
            <a:rect l="l" t="t" r="r" b="b"/>
            <a:pathLst>
              <a:path w="6446560" h="761398">
                <a:moveTo>
                  <a:pt x="0" y="761398"/>
                </a:moveTo>
                <a:lnTo>
                  <a:pt x="107442" y="744660"/>
                </a:lnTo>
                <a:lnTo>
                  <a:pt x="214885" y="728266"/>
                </a:lnTo>
                <a:lnTo>
                  <a:pt x="322328" y="712209"/>
                </a:lnTo>
                <a:lnTo>
                  <a:pt x="429770" y="696482"/>
                </a:lnTo>
                <a:lnTo>
                  <a:pt x="537213" y="681078"/>
                </a:lnTo>
                <a:lnTo>
                  <a:pt x="644656" y="665988"/>
                </a:lnTo>
                <a:lnTo>
                  <a:pt x="752098" y="651206"/>
                </a:lnTo>
                <a:lnTo>
                  <a:pt x="859541" y="636724"/>
                </a:lnTo>
                <a:lnTo>
                  <a:pt x="966984" y="622537"/>
                </a:lnTo>
                <a:lnTo>
                  <a:pt x="1074426" y="608636"/>
                </a:lnTo>
                <a:lnTo>
                  <a:pt x="1181869" y="595014"/>
                </a:lnTo>
                <a:lnTo>
                  <a:pt x="1289312" y="581665"/>
                </a:lnTo>
                <a:lnTo>
                  <a:pt x="1396754" y="568582"/>
                </a:lnTo>
                <a:lnTo>
                  <a:pt x="1504197" y="555758"/>
                </a:lnTo>
                <a:lnTo>
                  <a:pt x="1611640" y="543185"/>
                </a:lnTo>
                <a:lnTo>
                  <a:pt x="1719082" y="530856"/>
                </a:lnTo>
                <a:lnTo>
                  <a:pt x="1826525" y="518764"/>
                </a:lnTo>
                <a:lnTo>
                  <a:pt x="1933968" y="506900"/>
                </a:lnTo>
                <a:lnTo>
                  <a:pt x="2041410" y="495256"/>
                </a:lnTo>
                <a:lnTo>
                  <a:pt x="2148853" y="483823"/>
                </a:lnTo>
                <a:lnTo>
                  <a:pt x="2256296" y="472592"/>
                </a:lnTo>
                <a:lnTo>
                  <a:pt x="2363738" y="461552"/>
                </a:lnTo>
                <a:lnTo>
                  <a:pt x="2471181" y="450690"/>
                </a:lnTo>
                <a:lnTo>
                  <a:pt x="2578624" y="439996"/>
                </a:lnTo>
                <a:lnTo>
                  <a:pt x="2686066" y="429453"/>
                </a:lnTo>
                <a:lnTo>
                  <a:pt x="2793509" y="419045"/>
                </a:lnTo>
                <a:lnTo>
                  <a:pt x="2900952" y="408754"/>
                </a:lnTo>
                <a:lnTo>
                  <a:pt x="3008394" y="398558"/>
                </a:lnTo>
                <a:lnTo>
                  <a:pt x="3115837" y="388431"/>
                </a:lnTo>
                <a:lnTo>
                  <a:pt x="3223280" y="378346"/>
                </a:lnTo>
                <a:lnTo>
                  <a:pt x="3330722" y="368267"/>
                </a:lnTo>
                <a:lnTo>
                  <a:pt x="3438165" y="358157"/>
                </a:lnTo>
                <a:lnTo>
                  <a:pt x="3545607" y="347971"/>
                </a:lnTo>
                <a:lnTo>
                  <a:pt x="3653050" y="337655"/>
                </a:lnTo>
                <a:lnTo>
                  <a:pt x="3760493" y="327152"/>
                </a:lnTo>
                <a:lnTo>
                  <a:pt x="3867936" y="316396"/>
                </a:lnTo>
                <a:lnTo>
                  <a:pt x="3975378" y="305313"/>
                </a:lnTo>
                <a:lnTo>
                  <a:pt x="4082821" y="293824"/>
                </a:lnTo>
                <a:lnTo>
                  <a:pt x="4190264" y="281846"/>
                </a:lnTo>
                <a:lnTo>
                  <a:pt x="4297706" y="269297"/>
                </a:lnTo>
                <a:lnTo>
                  <a:pt x="4405149" y="256099"/>
                </a:lnTo>
                <a:lnTo>
                  <a:pt x="4512592" y="242191"/>
                </a:lnTo>
                <a:lnTo>
                  <a:pt x="4620034" y="227532"/>
                </a:lnTo>
                <a:lnTo>
                  <a:pt x="4727477" y="212119"/>
                </a:lnTo>
                <a:lnTo>
                  <a:pt x="4834920" y="195995"/>
                </a:lnTo>
                <a:lnTo>
                  <a:pt x="4942362" y="179258"/>
                </a:lnTo>
                <a:lnTo>
                  <a:pt x="5049805" y="162071"/>
                </a:lnTo>
                <a:lnTo>
                  <a:pt x="5157248" y="144654"/>
                </a:lnTo>
                <a:lnTo>
                  <a:pt x="5264690" y="127278"/>
                </a:lnTo>
                <a:lnTo>
                  <a:pt x="5372133" y="110240"/>
                </a:lnTo>
                <a:lnTo>
                  <a:pt x="5479576" y="93841"/>
                </a:lnTo>
                <a:lnTo>
                  <a:pt x="5587018" y="78355"/>
                </a:lnTo>
                <a:lnTo>
                  <a:pt x="5694461" y="64004"/>
                </a:lnTo>
                <a:lnTo>
                  <a:pt x="5801904" y="50942"/>
                </a:lnTo>
                <a:lnTo>
                  <a:pt x="5909346" y="39252"/>
                </a:lnTo>
                <a:lnTo>
                  <a:pt x="6016789" y="28944"/>
                </a:lnTo>
                <a:lnTo>
                  <a:pt x="6124232" y="19968"/>
                </a:lnTo>
                <a:lnTo>
                  <a:pt x="6231674" y="12235"/>
                </a:lnTo>
                <a:lnTo>
                  <a:pt x="6339117" y="5623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35200" y="2208627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10" name="height: ось"/>
          <p:cNvSpPr/>
          <p:nvPr/>
        </p:nvSpPr>
        <p:spPr>
          <a:xfrm>
            <a:off x="548640" y="3260061"/>
            <a:ext cx="6446560" cy="0"/>
          </a:xfrm>
          <a:custGeom>
            <a:avLst/>
            <a:gdLst/>
            <a:ahLst/>
            <a:cxnLst/>
            <a:rect l="l" t="t" r="r" b="b"/>
            <a:pathLst>
              <a:path w="6446560">
                <a:moveTo>
                  <a:pt x="0" y="0"/>
                </a:moveTo>
                <a:lnTo>
                  <a:pt x="6446560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8640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3066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7493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920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6346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0773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5200" y="3290061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14</a:t>
            </a:r>
          </a:p>
        </p:txBody>
      </p:sp>
      <p:sp>
        <p:nvSpPr>
          <p:cNvPr id="18" name="height: пациент"/>
          <p:cNvSpPr/>
          <p:nvPr/>
        </p:nvSpPr>
        <p:spPr>
          <a:xfrm>
            <a:off x="548640" y="2672020"/>
            <a:ext cx="5909346" cy="488518"/>
          </a:xfrm>
          <a:custGeom>
            <a:avLst/>
            <a:gdLst/>
            <a:ahLst/>
            <a:cxnLst/>
            <a:rect l="l" t="t" r="r" b="b"/>
            <a:pathLst>
              <a:path w="5909346" h="488518">
                <a:moveTo>
                  <a:pt x="0" y="488518"/>
                </a:moveTo>
                <a:lnTo>
                  <a:pt x="89535" y="477303"/>
                </a:lnTo>
                <a:lnTo>
                  <a:pt x="179071" y="466360"/>
                </a:lnTo>
                <a:lnTo>
                  <a:pt x="268606" y="455684"/>
                </a:lnTo>
                <a:lnTo>
                  <a:pt x="358142" y="445271"/>
                </a:lnTo>
                <a:lnTo>
                  <a:pt x="447677" y="435118"/>
                </a:lnTo>
                <a:lnTo>
                  <a:pt x="537213" y="425219"/>
                </a:lnTo>
                <a:lnTo>
                  <a:pt x="626748" y="415571"/>
                </a:lnTo>
                <a:lnTo>
                  <a:pt x="716284" y="406170"/>
                </a:lnTo>
                <a:lnTo>
                  <a:pt x="805820" y="397010"/>
                </a:lnTo>
                <a:lnTo>
                  <a:pt x="895355" y="388089"/>
                </a:lnTo>
                <a:lnTo>
                  <a:pt x="984891" y="379401"/>
                </a:lnTo>
                <a:lnTo>
                  <a:pt x="1074426" y="370944"/>
                </a:lnTo>
                <a:lnTo>
                  <a:pt x="1163962" y="362713"/>
                </a:lnTo>
                <a:lnTo>
                  <a:pt x="1253497" y="354704"/>
                </a:lnTo>
                <a:lnTo>
                  <a:pt x="1343033" y="346913"/>
                </a:lnTo>
                <a:lnTo>
                  <a:pt x="1432568" y="339336"/>
                </a:lnTo>
                <a:lnTo>
                  <a:pt x="1522104" y="331968"/>
                </a:lnTo>
                <a:lnTo>
                  <a:pt x="1611640" y="324806"/>
                </a:lnTo>
                <a:lnTo>
                  <a:pt x="1701175" y="317846"/>
                </a:lnTo>
                <a:lnTo>
                  <a:pt x="1790711" y="311082"/>
                </a:lnTo>
                <a:lnTo>
                  <a:pt x="1880246" y="304511"/>
                </a:lnTo>
                <a:lnTo>
                  <a:pt x="1969782" y="298127"/>
                </a:lnTo>
                <a:lnTo>
                  <a:pt x="2059317" y="291926"/>
                </a:lnTo>
                <a:lnTo>
                  <a:pt x="2148853" y="285902"/>
                </a:lnTo>
                <a:lnTo>
                  <a:pt x="2238388" y="279627"/>
                </a:lnTo>
                <a:lnTo>
                  <a:pt x="2327924" y="273511"/>
                </a:lnTo>
                <a:lnTo>
                  <a:pt x="2417460" y="267548"/>
                </a:lnTo>
                <a:lnTo>
                  <a:pt x="2506995" y="261731"/>
                </a:lnTo>
                <a:lnTo>
                  <a:pt x="2596531" y="256051"/>
                </a:lnTo>
                <a:lnTo>
                  <a:pt x="2686066" y="250500"/>
                </a:lnTo>
                <a:lnTo>
                  <a:pt x="2775602" y="245069"/>
                </a:lnTo>
                <a:lnTo>
                  <a:pt x="2865137" y="239747"/>
                </a:lnTo>
                <a:lnTo>
                  <a:pt x="2954673" y="234521"/>
                </a:lnTo>
                <a:lnTo>
                  <a:pt x="3044208" y="229378"/>
                </a:lnTo>
                <a:lnTo>
                  <a:pt x="3133744" y="224303"/>
                </a:lnTo>
                <a:lnTo>
                  <a:pt x="3223280" y="219279"/>
                </a:lnTo>
                <a:lnTo>
                  <a:pt x="3312815" y="214284"/>
                </a:lnTo>
                <a:lnTo>
                  <a:pt x="3402351" y="209298"/>
                </a:lnTo>
                <a:lnTo>
                  <a:pt x="3491886" y="204296"/>
                </a:lnTo>
                <a:lnTo>
                  <a:pt x="3581422" y="199248"/>
                </a:lnTo>
                <a:lnTo>
                  <a:pt x="3670957" y="194123"/>
                </a:lnTo>
                <a:lnTo>
                  <a:pt x="3760493" y="188887"/>
                </a:lnTo>
                <a:lnTo>
                  <a:pt x="3850028" y="183500"/>
                </a:lnTo>
                <a:lnTo>
                  <a:pt x="3939564" y="177920"/>
                </a:lnTo>
                <a:lnTo>
                  <a:pt x="4029100" y="172103"/>
                </a:lnTo>
                <a:lnTo>
                  <a:pt x="4118635" y="166001"/>
                </a:lnTo>
                <a:lnTo>
                  <a:pt x="4208171" y="159565"/>
                </a:lnTo>
                <a:lnTo>
                  <a:pt x="4297706" y="152749"/>
                </a:lnTo>
                <a:lnTo>
                  <a:pt x="4387242" y="145508"/>
                </a:lnTo>
                <a:lnTo>
                  <a:pt x="4476777" y="137804"/>
                </a:lnTo>
                <a:lnTo>
                  <a:pt x="4566313" y="129611"/>
                </a:lnTo>
                <a:lnTo>
                  <a:pt x="4655848" y="120917"/>
                </a:lnTo>
                <a:lnTo>
                  <a:pt x="4745384" y="111729"/>
                </a:lnTo>
                <a:lnTo>
                  <a:pt x="4834920" y="102081"/>
                </a:lnTo>
                <a:lnTo>
                  <a:pt x="4924455" y="92032"/>
                </a:lnTo>
                <a:lnTo>
                  <a:pt x="5013991" y="81672"/>
                </a:lnTo>
                <a:lnTo>
                  <a:pt x="5103526" y="71122"/>
                </a:lnTo>
                <a:lnTo>
                  <a:pt x="5193062" y="60528"/>
                </a:lnTo>
                <a:lnTo>
                  <a:pt x="5282597" y="50054"/>
                </a:lnTo>
                <a:lnTo>
                  <a:pt x="5372133" y="39877"/>
                </a:lnTo>
                <a:lnTo>
                  <a:pt x="5416901" y="35490"/>
                </a:lnTo>
                <a:lnTo>
                  <a:pt x="5461668" y="31244"/>
                </a:lnTo>
                <a:lnTo>
                  <a:pt x="5506436" y="27160"/>
                </a:lnTo>
                <a:lnTo>
                  <a:pt x="5551204" y="23255"/>
                </a:lnTo>
                <a:lnTo>
                  <a:pt x="5595972" y="19545"/>
                </a:lnTo>
                <a:lnTo>
                  <a:pt x="5640740" y="16046"/>
                </a:lnTo>
                <a:lnTo>
                  <a:pt x="5685507" y="12769"/>
                </a:lnTo>
                <a:lnTo>
                  <a:pt x="5730275" y="9725"/>
                </a:lnTo>
                <a:lnTo>
                  <a:pt x="5775043" y="6922"/>
                </a:lnTo>
                <a:lnTo>
                  <a:pt x="5819811" y="4365"/>
                </a:lnTo>
                <a:lnTo>
                  <a:pt x="5864578" y="2057"/>
                </a:lnTo>
                <a:lnTo>
                  <a:pt x="5909346" y="0"/>
                </a:lnTo>
              </a:path>
            </a:pathLst>
          </a:custGeom>
          <a:noFill/>
          <a:ln w="349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height: визит 2"/>
          <p:cNvSpPr/>
          <p:nvPr/>
        </p:nvSpPr>
        <p:spPr>
          <a:xfrm>
            <a:off x="488640" y="3100538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height: визит 4"/>
          <p:cNvSpPr/>
          <p:nvPr/>
        </p:nvSpPr>
        <p:spPr>
          <a:xfrm>
            <a:off x="1563066" y="2982964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height: визит 6"/>
          <p:cNvSpPr/>
          <p:nvPr/>
        </p:nvSpPr>
        <p:spPr>
          <a:xfrm>
            <a:off x="2637493" y="2897922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height: визит 8"/>
          <p:cNvSpPr/>
          <p:nvPr/>
        </p:nvSpPr>
        <p:spPr>
          <a:xfrm>
            <a:off x="3711920" y="2831299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height: визит 10"/>
          <p:cNvSpPr/>
          <p:nvPr/>
        </p:nvSpPr>
        <p:spPr>
          <a:xfrm>
            <a:off x="4786346" y="2764769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height: визит 12"/>
          <p:cNvSpPr/>
          <p:nvPr/>
        </p:nvSpPr>
        <p:spPr>
          <a:xfrm>
            <a:off x="5860773" y="2651897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height: визит 13"/>
          <p:cNvSpPr/>
          <p:nvPr/>
        </p:nvSpPr>
        <p:spPr>
          <a:xfrm>
            <a:off x="6397986" y="2612020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событие 4"/>
          <p:cNvSpPr/>
          <p:nvPr/>
        </p:nvSpPr>
        <p:spPr>
          <a:xfrm>
            <a:off x="1623066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73066" y="1738760"/>
            <a:ext cx="23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6323A"/>
                </a:solidFill>
                <a:latin typeface="Calibri"/>
              </a:rPr>
              <a:t>4 года: «маленькая в маму»</a:t>
            </a:r>
          </a:p>
        </p:txBody>
      </p:sp>
      <p:sp>
        <p:nvSpPr>
          <p:cNvPr id="28" name="событие 8"/>
          <p:cNvSpPr/>
          <p:nvPr/>
        </p:nvSpPr>
        <p:spPr>
          <a:xfrm>
            <a:off x="3771920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21920" y="1928760"/>
            <a:ext cx="23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6323A"/>
                </a:solidFill>
                <a:latin typeface="Calibri"/>
              </a:rPr>
              <a:t>8 лет: −2,2 СО, причину не искали</a:t>
            </a:r>
          </a:p>
        </p:txBody>
      </p:sp>
      <p:sp>
        <p:nvSpPr>
          <p:cNvPr id="30" name="событие 12.5"/>
          <p:cNvSpPr/>
          <p:nvPr/>
        </p:nvSpPr>
        <p:spPr>
          <a:xfrm>
            <a:off x="6189380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39380" y="2118760"/>
            <a:ext cx="23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6323A"/>
                </a:solidFill>
                <a:latin typeface="Calibri"/>
              </a:rPr>
              <a:t>12,5 года: нет телархе, кариотип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1508760"/>
            <a:ext cx="6446560" cy="2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Рост, см</a:t>
            </a:r>
          </a:p>
        </p:txBody>
      </p:sp>
      <p:sp>
        <p:nvSpPr>
          <p:cNvPr id="33" name="weight: полоса 3–97"/>
          <p:cNvSpPr/>
          <p:nvPr/>
        </p:nvSpPr>
        <p:spPr>
          <a:xfrm>
            <a:off x="548640" y="3865242"/>
            <a:ext cx="6446560" cy="753016"/>
          </a:xfrm>
          <a:custGeom>
            <a:avLst/>
            <a:gdLst/>
            <a:ahLst/>
            <a:cxnLst/>
            <a:rect l="l" t="t" r="r" b="b"/>
            <a:pathLst>
              <a:path w="6446560" h="753016">
                <a:moveTo>
                  <a:pt x="0" y="666832"/>
                </a:moveTo>
                <a:lnTo>
                  <a:pt x="107442" y="659813"/>
                </a:lnTo>
                <a:lnTo>
                  <a:pt x="214885" y="652794"/>
                </a:lnTo>
                <a:lnTo>
                  <a:pt x="322328" y="645775"/>
                </a:lnTo>
                <a:lnTo>
                  <a:pt x="429770" y="638755"/>
                </a:lnTo>
                <a:lnTo>
                  <a:pt x="537213" y="631736"/>
                </a:lnTo>
                <a:lnTo>
                  <a:pt x="644656" y="624717"/>
                </a:lnTo>
                <a:lnTo>
                  <a:pt x="752098" y="617697"/>
                </a:lnTo>
                <a:lnTo>
                  <a:pt x="859541" y="610678"/>
                </a:lnTo>
                <a:lnTo>
                  <a:pt x="966984" y="603659"/>
                </a:lnTo>
                <a:lnTo>
                  <a:pt x="1074426" y="596639"/>
                </a:lnTo>
                <a:lnTo>
                  <a:pt x="1181869" y="589620"/>
                </a:lnTo>
                <a:lnTo>
                  <a:pt x="1289312" y="582601"/>
                </a:lnTo>
                <a:lnTo>
                  <a:pt x="1396754" y="575582"/>
                </a:lnTo>
                <a:lnTo>
                  <a:pt x="1504197" y="568562"/>
                </a:lnTo>
                <a:lnTo>
                  <a:pt x="1611640" y="561543"/>
                </a:lnTo>
                <a:lnTo>
                  <a:pt x="1719082" y="553354"/>
                </a:lnTo>
                <a:lnTo>
                  <a:pt x="1826525" y="545165"/>
                </a:lnTo>
                <a:lnTo>
                  <a:pt x="1933968" y="536975"/>
                </a:lnTo>
                <a:lnTo>
                  <a:pt x="2041410" y="528786"/>
                </a:lnTo>
                <a:lnTo>
                  <a:pt x="2148853" y="520597"/>
                </a:lnTo>
                <a:lnTo>
                  <a:pt x="2256296" y="512408"/>
                </a:lnTo>
                <a:lnTo>
                  <a:pt x="2363738" y="504219"/>
                </a:lnTo>
                <a:lnTo>
                  <a:pt x="2471181" y="496030"/>
                </a:lnTo>
                <a:lnTo>
                  <a:pt x="2578624" y="487840"/>
                </a:lnTo>
                <a:lnTo>
                  <a:pt x="2686066" y="479651"/>
                </a:lnTo>
                <a:lnTo>
                  <a:pt x="2793509" y="471462"/>
                </a:lnTo>
                <a:lnTo>
                  <a:pt x="2900952" y="463273"/>
                </a:lnTo>
                <a:lnTo>
                  <a:pt x="3008394" y="455084"/>
                </a:lnTo>
                <a:lnTo>
                  <a:pt x="3115837" y="446895"/>
                </a:lnTo>
                <a:lnTo>
                  <a:pt x="3223280" y="438705"/>
                </a:lnTo>
                <a:lnTo>
                  <a:pt x="3330722" y="425544"/>
                </a:lnTo>
                <a:lnTo>
                  <a:pt x="3438165" y="412383"/>
                </a:lnTo>
                <a:lnTo>
                  <a:pt x="3545607" y="399222"/>
                </a:lnTo>
                <a:lnTo>
                  <a:pt x="3653050" y="386061"/>
                </a:lnTo>
                <a:lnTo>
                  <a:pt x="3760493" y="372899"/>
                </a:lnTo>
                <a:lnTo>
                  <a:pt x="3867936" y="359738"/>
                </a:lnTo>
                <a:lnTo>
                  <a:pt x="3975378" y="346577"/>
                </a:lnTo>
                <a:lnTo>
                  <a:pt x="4082821" y="333416"/>
                </a:lnTo>
                <a:lnTo>
                  <a:pt x="4190264" y="320255"/>
                </a:lnTo>
                <a:lnTo>
                  <a:pt x="4297706" y="307094"/>
                </a:lnTo>
                <a:lnTo>
                  <a:pt x="4405149" y="292178"/>
                </a:lnTo>
                <a:lnTo>
                  <a:pt x="4512592" y="277262"/>
                </a:lnTo>
                <a:lnTo>
                  <a:pt x="4620034" y="262346"/>
                </a:lnTo>
                <a:lnTo>
                  <a:pt x="4727477" y="247430"/>
                </a:lnTo>
                <a:lnTo>
                  <a:pt x="4834920" y="232514"/>
                </a:lnTo>
                <a:lnTo>
                  <a:pt x="4942362" y="217598"/>
                </a:lnTo>
                <a:lnTo>
                  <a:pt x="5049805" y="202682"/>
                </a:lnTo>
                <a:lnTo>
                  <a:pt x="5157248" y="187766"/>
                </a:lnTo>
                <a:lnTo>
                  <a:pt x="5264690" y="172850"/>
                </a:lnTo>
                <a:lnTo>
                  <a:pt x="5372133" y="157934"/>
                </a:lnTo>
                <a:lnTo>
                  <a:pt x="5479576" y="142140"/>
                </a:lnTo>
                <a:lnTo>
                  <a:pt x="5587018" y="126347"/>
                </a:lnTo>
                <a:lnTo>
                  <a:pt x="5694461" y="110553"/>
                </a:lnTo>
                <a:lnTo>
                  <a:pt x="5801904" y="94760"/>
                </a:lnTo>
                <a:lnTo>
                  <a:pt x="5909346" y="78967"/>
                </a:lnTo>
                <a:lnTo>
                  <a:pt x="6016789" y="63173"/>
                </a:lnTo>
                <a:lnTo>
                  <a:pt x="6124232" y="47380"/>
                </a:lnTo>
                <a:lnTo>
                  <a:pt x="6231674" y="31586"/>
                </a:lnTo>
                <a:lnTo>
                  <a:pt x="6339117" y="15793"/>
                </a:lnTo>
                <a:lnTo>
                  <a:pt x="6446560" y="0"/>
                </a:lnTo>
                <a:lnTo>
                  <a:pt x="6446560" y="359100"/>
                </a:lnTo>
                <a:lnTo>
                  <a:pt x="6339117" y="368429"/>
                </a:lnTo>
                <a:lnTo>
                  <a:pt x="6231674" y="377759"/>
                </a:lnTo>
                <a:lnTo>
                  <a:pt x="6124232" y="387089"/>
                </a:lnTo>
                <a:lnTo>
                  <a:pt x="6016789" y="396418"/>
                </a:lnTo>
                <a:lnTo>
                  <a:pt x="5909346" y="405748"/>
                </a:lnTo>
                <a:lnTo>
                  <a:pt x="5801904" y="415077"/>
                </a:lnTo>
                <a:lnTo>
                  <a:pt x="5694461" y="424407"/>
                </a:lnTo>
                <a:lnTo>
                  <a:pt x="5587018" y="433737"/>
                </a:lnTo>
                <a:lnTo>
                  <a:pt x="5479576" y="443066"/>
                </a:lnTo>
                <a:lnTo>
                  <a:pt x="5372133" y="452396"/>
                </a:lnTo>
                <a:lnTo>
                  <a:pt x="5264690" y="461207"/>
                </a:lnTo>
                <a:lnTo>
                  <a:pt x="5157248" y="470018"/>
                </a:lnTo>
                <a:lnTo>
                  <a:pt x="5049805" y="478830"/>
                </a:lnTo>
                <a:lnTo>
                  <a:pt x="4942362" y="487641"/>
                </a:lnTo>
                <a:lnTo>
                  <a:pt x="4834920" y="496452"/>
                </a:lnTo>
                <a:lnTo>
                  <a:pt x="4727477" y="505264"/>
                </a:lnTo>
                <a:lnTo>
                  <a:pt x="4620034" y="514075"/>
                </a:lnTo>
                <a:lnTo>
                  <a:pt x="4512592" y="522886"/>
                </a:lnTo>
                <a:lnTo>
                  <a:pt x="4405149" y="531697"/>
                </a:lnTo>
                <a:lnTo>
                  <a:pt x="4297706" y="540509"/>
                </a:lnTo>
                <a:lnTo>
                  <a:pt x="4190264" y="548283"/>
                </a:lnTo>
                <a:lnTo>
                  <a:pt x="4082821" y="556058"/>
                </a:lnTo>
                <a:lnTo>
                  <a:pt x="3975378" y="563833"/>
                </a:lnTo>
                <a:lnTo>
                  <a:pt x="3867936" y="571607"/>
                </a:lnTo>
                <a:lnTo>
                  <a:pt x="3760493" y="579382"/>
                </a:lnTo>
                <a:lnTo>
                  <a:pt x="3653050" y="587157"/>
                </a:lnTo>
                <a:lnTo>
                  <a:pt x="3545607" y="594931"/>
                </a:lnTo>
                <a:lnTo>
                  <a:pt x="3438165" y="602706"/>
                </a:lnTo>
                <a:lnTo>
                  <a:pt x="3330722" y="610481"/>
                </a:lnTo>
                <a:lnTo>
                  <a:pt x="3223280" y="618256"/>
                </a:lnTo>
                <a:lnTo>
                  <a:pt x="3115837" y="623093"/>
                </a:lnTo>
                <a:lnTo>
                  <a:pt x="3008394" y="627931"/>
                </a:lnTo>
                <a:lnTo>
                  <a:pt x="2900952" y="632768"/>
                </a:lnTo>
                <a:lnTo>
                  <a:pt x="2793509" y="637606"/>
                </a:lnTo>
                <a:lnTo>
                  <a:pt x="2686066" y="642443"/>
                </a:lnTo>
                <a:lnTo>
                  <a:pt x="2578624" y="647281"/>
                </a:lnTo>
                <a:lnTo>
                  <a:pt x="2471181" y="652119"/>
                </a:lnTo>
                <a:lnTo>
                  <a:pt x="2363738" y="656956"/>
                </a:lnTo>
                <a:lnTo>
                  <a:pt x="2256296" y="661794"/>
                </a:lnTo>
                <a:lnTo>
                  <a:pt x="2148853" y="666631"/>
                </a:lnTo>
                <a:lnTo>
                  <a:pt x="2041410" y="671469"/>
                </a:lnTo>
                <a:lnTo>
                  <a:pt x="1933968" y="676306"/>
                </a:lnTo>
                <a:lnTo>
                  <a:pt x="1826525" y="681144"/>
                </a:lnTo>
                <a:lnTo>
                  <a:pt x="1719082" y="685982"/>
                </a:lnTo>
                <a:lnTo>
                  <a:pt x="1611640" y="690819"/>
                </a:lnTo>
                <a:lnTo>
                  <a:pt x="1504197" y="694966"/>
                </a:lnTo>
                <a:lnTo>
                  <a:pt x="1396754" y="699112"/>
                </a:lnTo>
                <a:lnTo>
                  <a:pt x="1289312" y="703259"/>
                </a:lnTo>
                <a:lnTo>
                  <a:pt x="1181869" y="707405"/>
                </a:lnTo>
                <a:lnTo>
                  <a:pt x="1074426" y="711552"/>
                </a:lnTo>
                <a:lnTo>
                  <a:pt x="966984" y="715698"/>
                </a:lnTo>
                <a:lnTo>
                  <a:pt x="859541" y="719845"/>
                </a:lnTo>
                <a:lnTo>
                  <a:pt x="752098" y="723991"/>
                </a:lnTo>
                <a:lnTo>
                  <a:pt x="644656" y="728138"/>
                </a:lnTo>
                <a:lnTo>
                  <a:pt x="537213" y="732284"/>
                </a:lnTo>
                <a:lnTo>
                  <a:pt x="429770" y="736431"/>
                </a:lnTo>
                <a:lnTo>
                  <a:pt x="322328" y="740577"/>
                </a:lnTo>
                <a:lnTo>
                  <a:pt x="214885" y="744723"/>
                </a:lnTo>
                <a:lnTo>
                  <a:pt x="107442" y="748870"/>
                </a:lnTo>
                <a:lnTo>
                  <a:pt x="0" y="753016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eight: 3-й центиль"/>
          <p:cNvSpPr/>
          <p:nvPr/>
        </p:nvSpPr>
        <p:spPr>
          <a:xfrm>
            <a:off x="548640" y="4224342"/>
            <a:ext cx="6446560" cy="393916"/>
          </a:xfrm>
          <a:custGeom>
            <a:avLst/>
            <a:gdLst/>
            <a:ahLst/>
            <a:cxnLst/>
            <a:rect l="l" t="t" r="r" b="b"/>
            <a:pathLst>
              <a:path w="6446560" h="393916">
                <a:moveTo>
                  <a:pt x="0" y="393916"/>
                </a:moveTo>
                <a:lnTo>
                  <a:pt x="107442" y="389770"/>
                </a:lnTo>
                <a:lnTo>
                  <a:pt x="214885" y="385623"/>
                </a:lnTo>
                <a:lnTo>
                  <a:pt x="322328" y="381477"/>
                </a:lnTo>
                <a:lnTo>
                  <a:pt x="429770" y="377331"/>
                </a:lnTo>
                <a:lnTo>
                  <a:pt x="537213" y="373184"/>
                </a:lnTo>
                <a:lnTo>
                  <a:pt x="644656" y="369038"/>
                </a:lnTo>
                <a:lnTo>
                  <a:pt x="752098" y="364891"/>
                </a:lnTo>
                <a:lnTo>
                  <a:pt x="859541" y="360745"/>
                </a:lnTo>
                <a:lnTo>
                  <a:pt x="966984" y="356598"/>
                </a:lnTo>
                <a:lnTo>
                  <a:pt x="1074426" y="352452"/>
                </a:lnTo>
                <a:lnTo>
                  <a:pt x="1181869" y="348305"/>
                </a:lnTo>
                <a:lnTo>
                  <a:pt x="1289312" y="344159"/>
                </a:lnTo>
                <a:lnTo>
                  <a:pt x="1396754" y="340012"/>
                </a:lnTo>
                <a:lnTo>
                  <a:pt x="1504197" y="335866"/>
                </a:lnTo>
                <a:lnTo>
                  <a:pt x="1611640" y="331719"/>
                </a:lnTo>
                <a:lnTo>
                  <a:pt x="1719082" y="326882"/>
                </a:lnTo>
                <a:lnTo>
                  <a:pt x="1826525" y="322044"/>
                </a:lnTo>
                <a:lnTo>
                  <a:pt x="1933968" y="317206"/>
                </a:lnTo>
                <a:lnTo>
                  <a:pt x="2041410" y="312369"/>
                </a:lnTo>
                <a:lnTo>
                  <a:pt x="2148853" y="307531"/>
                </a:lnTo>
                <a:lnTo>
                  <a:pt x="2256296" y="302694"/>
                </a:lnTo>
                <a:lnTo>
                  <a:pt x="2363738" y="297856"/>
                </a:lnTo>
                <a:lnTo>
                  <a:pt x="2471181" y="293019"/>
                </a:lnTo>
                <a:lnTo>
                  <a:pt x="2578624" y="288181"/>
                </a:lnTo>
                <a:lnTo>
                  <a:pt x="2686066" y="283343"/>
                </a:lnTo>
                <a:lnTo>
                  <a:pt x="2793509" y="278506"/>
                </a:lnTo>
                <a:lnTo>
                  <a:pt x="2900952" y="273668"/>
                </a:lnTo>
                <a:lnTo>
                  <a:pt x="3008394" y="268831"/>
                </a:lnTo>
                <a:lnTo>
                  <a:pt x="3115837" y="263993"/>
                </a:lnTo>
                <a:lnTo>
                  <a:pt x="3223280" y="259156"/>
                </a:lnTo>
                <a:lnTo>
                  <a:pt x="3330722" y="251381"/>
                </a:lnTo>
                <a:lnTo>
                  <a:pt x="3438165" y="243606"/>
                </a:lnTo>
                <a:lnTo>
                  <a:pt x="3545607" y="235831"/>
                </a:lnTo>
                <a:lnTo>
                  <a:pt x="3653050" y="228057"/>
                </a:lnTo>
                <a:lnTo>
                  <a:pt x="3760493" y="220282"/>
                </a:lnTo>
                <a:lnTo>
                  <a:pt x="3867936" y="212507"/>
                </a:lnTo>
                <a:lnTo>
                  <a:pt x="3975378" y="204733"/>
                </a:lnTo>
                <a:lnTo>
                  <a:pt x="4082821" y="196958"/>
                </a:lnTo>
                <a:lnTo>
                  <a:pt x="4190264" y="189183"/>
                </a:lnTo>
                <a:lnTo>
                  <a:pt x="4297706" y="181409"/>
                </a:lnTo>
                <a:lnTo>
                  <a:pt x="4405149" y="172597"/>
                </a:lnTo>
                <a:lnTo>
                  <a:pt x="4512592" y="163786"/>
                </a:lnTo>
                <a:lnTo>
                  <a:pt x="4620034" y="154975"/>
                </a:lnTo>
                <a:lnTo>
                  <a:pt x="4727477" y="146164"/>
                </a:lnTo>
                <a:lnTo>
                  <a:pt x="4834920" y="137352"/>
                </a:lnTo>
                <a:lnTo>
                  <a:pt x="4942362" y="128541"/>
                </a:lnTo>
                <a:lnTo>
                  <a:pt x="5049805" y="119730"/>
                </a:lnTo>
                <a:lnTo>
                  <a:pt x="5157248" y="110918"/>
                </a:lnTo>
                <a:lnTo>
                  <a:pt x="5264690" y="102107"/>
                </a:lnTo>
                <a:lnTo>
                  <a:pt x="5372133" y="93296"/>
                </a:lnTo>
                <a:lnTo>
                  <a:pt x="5479576" y="83966"/>
                </a:lnTo>
                <a:lnTo>
                  <a:pt x="5587018" y="74637"/>
                </a:lnTo>
                <a:lnTo>
                  <a:pt x="5694461" y="65307"/>
                </a:lnTo>
                <a:lnTo>
                  <a:pt x="5801904" y="55977"/>
                </a:lnTo>
                <a:lnTo>
                  <a:pt x="5909346" y="46648"/>
                </a:lnTo>
                <a:lnTo>
                  <a:pt x="6016789" y="37318"/>
                </a:lnTo>
                <a:lnTo>
                  <a:pt x="6124232" y="27989"/>
                </a:lnTo>
                <a:lnTo>
                  <a:pt x="6231674" y="18659"/>
                </a:lnTo>
                <a:lnTo>
                  <a:pt x="6339117" y="9329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35200" y="4144342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36" name="weight: 50-й центиль"/>
          <p:cNvSpPr/>
          <p:nvPr/>
        </p:nvSpPr>
        <p:spPr>
          <a:xfrm>
            <a:off x="548640" y="4105267"/>
            <a:ext cx="6446560" cy="484413"/>
          </a:xfrm>
          <a:custGeom>
            <a:avLst/>
            <a:gdLst/>
            <a:ahLst/>
            <a:cxnLst/>
            <a:rect l="l" t="t" r="r" b="b"/>
            <a:pathLst>
              <a:path w="6446560" h="484413">
                <a:moveTo>
                  <a:pt x="0" y="484413"/>
                </a:moveTo>
                <a:lnTo>
                  <a:pt x="107442" y="479314"/>
                </a:lnTo>
                <a:lnTo>
                  <a:pt x="214885" y="474215"/>
                </a:lnTo>
                <a:lnTo>
                  <a:pt x="322328" y="469116"/>
                </a:lnTo>
                <a:lnTo>
                  <a:pt x="429770" y="464017"/>
                </a:lnTo>
                <a:lnTo>
                  <a:pt x="537213" y="458918"/>
                </a:lnTo>
                <a:lnTo>
                  <a:pt x="644656" y="453819"/>
                </a:lnTo>
                <a:lnTo>
                  <a:pt x="752098" y="448720"/>
                </a:lnTo>
                <a:lnTo>
                  <a:pt x="859541" y="443621"/>
                </a:lnTo>
                <a:lnTo>
                  <a:pt x="966984" y="438522"/>
                </a:lnTo>
                <a:lnTo>
                  <a:pt x="1074426" y="433423"/>
                </a:lnTo>
                <a:lnTo>
                  <a:pt x="1181869" y="428323"/>
                </a:lnTo>
                <a:lnTo>
                  <a:pt x="1289312" y="423224"/>
                </a:lnTo>
                <a:lnTo>
                  <a:pt x="1396754" y="418125"/>
                </a:lnTo>
                <a:lnTo>
                  <a:pt x="1504197" y="413026"/>
                </a:lnTo>
                <a:lnTo>
                  <a:pt x="1611640" y="407927"/>
                </a:lnTo>
                <a:lnTo>
                  <a:pt x="1719082" y="401978"/>
                </a:lnTo>
                <a:lnTo>
                  <a:pt x="1826525" y="396029"/>
                </a:lnTo>
                <a:lnTo>
                  <a:pt x="1933968" y="390080"/>
                </a:lnTo>
                <a:lnTo>
                  <a:pt x="2041410" y="384131"/>
                </a:lnTo>
                <a:lnTo>
                  <a:pt x="2148853" y="378182"/>
                </a:lnTo>
                <a:lnTo>
                  <a:pt x="2256296" y="372233"/>
                </a:lnTo>
                <a:lnTo>
                  <a:pt x="2363738" y="366284"/>
                </a:lnTo>
                <a:lnTo>
                  <a:pt x="2471181" y="360336"/>
                </a:lnTo>
                <a:lnTo>
                  <a:pt x="2578624" y="354387"/>
                </a:lnTo>
                <a:lnTo>
                  <a:pt x="2686066" y="348438"/>
                </a:lnTo>
                <a:lnTo>
                  <a:pt x="2793509" y="342489"/>
                </a:lnTo>
                <a:lnTo>
                  <a:pt x="2900952" y="336540"/>
                </a:lnTo>
                <a:lnTo>
                  <a:pt x="3008394" y="330591"/>
                </a:lnTo>
                <a:lnTo>
                  <a:pt x="3115837" y="324642"/>
                </a:lnTo>
                <a:lnTo>
                  <a:pt x="3223280" y="318693"/>
                </a:lnTo>
                <a:lnTo>
                  <a:pt x="3330722" y="309132"/>
                </a:lnTo>
                <a:lnTo>
                  <a:pt x="3438165" y="299571"/>
                </a:lnTo>
                <a:lnTo>
                  <a:pt x="3545607" y="290011"/>
                </a:lnTo>
                <a:lnTo>
                  <a:pt x="3653050" y="280450"/>
                </a:lnTo>
                <a:lnTo>
                  <a:pt x="3760493" y="270889"/>
                </a:lnTo>
                <a:lnTo>
                  <a:pt x="3867936" y="261328"/>
                </a:lnTo>
                <a:lnTo>
                  <a:pt x="3975378" y="251767"/>
                </a:lnTo>
                <a:lnTo>
                  <a:pt x="4082821" y="242207"/>
                </a:lnTo>
                <a:lnTo>
                  <a:pt x="4190264" y="232646"/>
                </a:lnTo>
                <a:lnTo>
                  <a:pt x="4297706" y="223085"/>
                </a:lnTo>
                <a:lnTo>
                  <a:pt x="4405149" y="212249"/>
                </a:lnTo>
                <a:lnTo>
                  <a:pt x="4512592" y="201414"/>
                </a:lnTo>
                <a:lnTo>
                  <a:pt x="4620034" y="190578"/>
                </a:lnTo>
                <a:lnTo>
                  <a:pt x="4727477" y="179743"/>
                </a:lnTo>
                <a:lnTo>
                  <a:pt x="4834920" y="168907"/>
                </a:lnTo>
                <a:lnTo>
                  <a:pt x="4942362" y="158072"/>
                </a:lnTo>
                <a:lnTo>
                  <a:pt x="5049805" y="147236"/>
                </a:lnTo>
                <a:lnTo>
                  <a:pt x="5157248" y="136400"/>
                </a:lnTo>
                <a:lnTo>
                  <a:pt x="5264690" y="125565"/>
                </a:lnTo>
                <a:lnTo>
                  <a:pt x="5372133" y="114729"/>
                </a:lnTo>
                <a:lnTo>
                  <a:pt x="5479576" y="103256"/>
                </a:lnTo>
                <a:lnTo>
                  <a:pt x="5587018" y="91783"/>
                </a:lnTo>
                <a:lnTo>
                  <a:pt x="5694461" y="80310"/>
                </a:lnTo>
                <a:lnTo>
                  <a:pt x="5801904" y="68837"/>
                </a:lnTo>
                <a:lnTo>
                  <a:pt x="5909346" y="57364"/>
                </a:lnTo>
                <a:lnTo>
                  <a:pt x="6016789" y="45891"/>
                </a:lnTo>
                <a:lnTo>
                  <a:pt x="6124232" y="34419"/>
                </a:lnTo>
                <a:lnTo>
                  <a:pt x="6231674" y="22946"/>
                </a:lnTo>
                <a:lnTo>
                  <a:pt x="6339117" y="11473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35200" y="4025267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38" name="weight: 97-й центиль"/>
          <p:cNvSpPr/>
          <p:nvPr/>
        </p:nvSpPr>
        <p:spPr>
          <a:xfrm>
            <a:off x="548640" y="3865242"/>
            <a:ext cx="6446560" cy="666832"/>
          </a:xfrm>
          <a:custGeom>
            <a:avLst/>
            <a:gdLst/>
            <a:ahLst/>
            <a:cxnLst/>
            <a:rect l="l" t="t" r="r" b="b"/>
            <a:pathLst>
              <a:path w="6446560" h="666832">
                <a:moveTo>
                  <a:pt x="0" y="666832"/>
                </a:moveTo>
                <a:lnTo>
                  <a:pt x="107442" y="659813"/>
                </a:lnTo>
                <a:lnTo>
                  <a:pt x="214885" y="652794"/>
                </a:lnTo>
                <a:lnTo>
                  <a:pt x="322328" y="645775"/>
                </a:lnTo>
                <a:lnTo>
                  <a:pt x="429770" y="638755"/>
                </a:lnTo>
                <a:lnTo>
                  <a:pt x="537213" y="631736"/>
                </a:lnTo>
                <a:lnTo>
                  <a:pt x="644656" y="624717"/>
                </a:lnTo>
                <a:lnTo>
                  <a:pt x="752098" y="617697"/>
                </a:lnTo>
                <a:lnTo>
                  <a:pt x="859541" y="610678"/>
                </a:lnTo>
                <a:lnTo>
                  <a:pt x="966984" y="603659"/>
                </a:lnTo>
                <a:lnTo>
                  <a:pt x="1074426" y="596639"/>
                </a:lnTo>
                <a:lnTo>
                  <a:pt x="1181869" y="589620"/>
                </a:lnTo>
                <a:lnTo>
                  <a:pt x="1289312" y="582601"/>
                </a:lnTo>
                <a:lnTo>
                  <a:pt x="1396754" y="575582"/>
                </a:lnTo>
                <a:lnTo>
                  <a:pt x="1504197" y="568562"/>
                </a:lnTo>
                <a:lnTo>
                  <a:pt x="1611640" y="561543"/>
                </a:lnTo>
                <a:lnTo>
                  <a:pt x="1719082" y="553354"/>
                </a:lnTo>
                <a:lnTo>
                  <a:pt x="1826525" y="545165"/>
                </a:lnTo>
                <a:lnTo>
                  <a:pt x="1933968" y="536975"/>
                </a:lnTo>
                <a:lnTo>
                  <a:pt x="2041410" y="528786"/>
                </a:lnTo>
                <a:lnTo>
                  <a:pt x="2148853" y="520597"/>
                </a:lnTo>
                <a:lnTo>
                  <a:pt x="2256296" y="512408"/>
                </a:lnTo>
                <a:lnTo>
                  <a:pt x="2363738" y="504219"/>
                </a:lnTo>
                <a:lnTo>
                  <a:pt x="2471181" y="496030"/>
                </a:lnTo>
                <a:lnTo>
                  <a:pt x="2578624" y="487840"/>
                </a:lnTo>
                <a:lnTo>
                  <a:pt x="2686066" y="479651"/>
                </a:lnTo>
                <a:lnTo>
                  <a:pt x="2793509" y="471462"/>
                </a:lnTo>
                <a:lnTo>
                  <a:pt x="2900952" y="463273"/>
                </a:lnTo>
                <a:lnTo>
                  <a:pt x="3008394" y="455084"/>
                </a:lnTo>
                <a:lnTo>
                  <a:pt x="3115837" y="446895"/>
                </a:lnTo>
                <a:lnTo>
                  <a:pt x="3223280" y="438705"/>
                </a:lnTo>
                <a:lnTo>
                  <a:pt x="3330722" y="425544"/>
                </a:lnTo>
                <a:lnTo>
                  <a:pt x="3438165" y="412383"/>
                </a:lnTo>
                <a:lnTo>
                  <a:pt x="3545607" y="399222"/>
                </a:lnTo>
                <a:lnTo>
                  <a:pt x="3653050" y="386061"/>
                </a:lnTo>
                <a:lnTo>
                  <a:pt x="3760493" y="372899"/>
                </a:lnTo>
                <a:lnTo>
                  <a:pt x="3867936" y="359738"/>
                </a:lnTo>
                <a:lnTo>
                  <a:pt x="3975378" y="346577"/>
                </a:lnTo>
                <a:lnTo>
                  <a:pt x="4082821" y="333416"/>
                </a:lnTo>
                <a:lnTo>
                  <a:pt x="4190264" y="320255"/>
                </a:lnTo>
                <a:lnTo>
                  <a:pt x="4297706" y="307094"/>
                </a:lnTo>
                <a:lnTo>
                  <a:pt x="4405149" y="292178"/>
                </a:lnTo>
                <a:lnTo>
                  <a:pt x="4512592" y="277262"/>
                </a:lnTo>
                <a:lnTo>
                  <a:pt x="4620034" y="262346"/>
                </a:lnTo>
                <a:lnTo>
                  <a:pt x="4727477" y="247430"/>
                </a:lnTo>
                <a:lnTo>
                  <a:pt x="4834920" y="232514"/>
                </a:lnTo>
                <a:lnTo>
                  <a:pt x="4942362" y="217598"/>
                </a:lnTo>
                <a:lnTo>
                  <a:pt x="5049805" y="202682"/>
                </a:lnTo>
                <a:lnTo>
                  <a:pt x="5157248" y="187766"/>
                </a:lnTo>
                <a:lnTo>
                  <a:pt x="5264690" y="172850"/>
                </a:lnTo>
                <a:lnTo>
                  <a:pt x="5372133" y="157934"/>
                </a:lnTo>
                <a:lnTo>
                  <a:pt x="5479576" y="142140"/>
                </a:lnTo>
                <a:lnTo>
                  <a:pt x="5587018" y="126347"/>
                </a:lnTo>
                <a:lnTo>
                  <a:pt x="5694461" y="110553"/>
                </a:lnTo>
                <a:lnTo>
                  <a:pt x="5801904" y="94760"/>
                </a:lnTo>
                <a:lnTo>
                  <a:pt x="5909346" y="78967"/>
                </a:lnTo>
                <a:lnTo>
                  <a:pt x="6016789" y="63173"/>
                </a:lnTo>
                <a:lnTo>
                  <a:pt x="6124232" y="47380"/>
                </a:lnTo>
                <a:lnTo>
                  <a:pt x="6231674" y="31586"/>
                </a:lnTo>
                <a:lnTo>
                  <a:pt x="6339117" y="15793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35200" y="3785242"/>
            <a:ext cx="30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40" name="weight: ось"/>
          <p:cNvSpPr/>
          <p:nvPr/>
        </p:nvSpPr>
        <p:spPr>
          <a:xfrm>
            <a:off x="548640" y="4663440"/>
            <a:ext cx="6446560" cy="0"/>
          </a:xfrm>
          <a:custGeom>
            <a:avLst/>
            <a:gdLst/>
            <a:ahLst/>
            <a:cxnLst/>
            <a:rect l="l" t="t" r="r" b="b"/>
            <a:pathLst>
              <a:path w="6446560">
                <a:moveTo>
                  <a:pt x="0" y="0"/>
                </a:moveTo>
                <a:lnTo>
                  <a:pt x="6446560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8640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73066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7493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21920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6346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70773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45200" y="4693440"/>
            <a:ext cx="3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14</a:t>
            </a:r>
          </a:p>
        </p:txBody>
      </p:sp>
      <p:sp>
        <p:nvSpPr>
          <p:cNvPr id="48" name="weight: пациент"/>
          <p:cNvSpPr/>
          <p:nvPr/>
        </p:nvSpPr>
        <p:spPr>
          <a:xfrm>
            <a:off x="548640" y="4175253"/>
            <a:ext cx="5909346" cy="419393"/>
          </a:xfrm>
          <a:custGeom>
            <a:avLst/>
            <a:gdLst/>
            <a:ahLst/>
            <a:cxnLst/>
            <a:rect l="l" t="t" r="r" b="b"/>
            <a:pathLst>
              <a:path w="5909346" h="419393">
                <a:moveTo>
                  <a:pt x="0" y="419393"/>
                </a:moveTo>
                <a:lnTo>
                  <a:pt x="89535" y="415421"/>
                </a:lnTo>
                <a:lnTo>
                  <a:pt x="179071" y="411457"/>
                </a:lnTo>
                <a:lnTo>
                  <a:pt x="268606" y="407500"/>
                </a:lnTo>
                <a:lnTo>
                  <a:pt x="358142" y="403550"/>
                </a:lnTo>
                <a:lnTo>
                  <a:pt x="447677" y="399607"/>
                </a:lnTo>
                <a:lnTo>
                  <a:pt x="537213" y="395672"/>
                </a:lnTo>
                <a:lnTo>
                  <a:pt x="626748" y="391745"/>
                </a:lnTo>
                <a:lnTo>
                  <a:pt x="716284" y="387824"/>
                </a:lnTo>
                <a:lnTo>
                  <a:pt x="805820" y="383911"/>
                </a:lnTo>
                <a:lnTo>
                  <a:pt x="895355" y="380006"/>
                </a:lnTo>
                <a:lnTo>
                  <a:pt x="984891" y="376107"/>
                </a:lnTo>
                <a:lnTo>
                  <a:pt x="1074426" y="372216"/>
                </a:lnTo>
                <a:lnTo>
                  <a:pt x="1163962" y="368150"/>
                </a:lnTo>
                <a:lnTo>
                  <a:pt x="1253497" y="364084"/>
                </a:lnTo>
                <a:lnTo>
                  <a:pt x="1343033" y="360017"/>
                </a:lnTo>
                <a:lnTo>
                  <a:pt x="1432568" y="355951"/>
                </a:lnTo>
                <a:lnTo>
                  <a:pt x="1522104" y="351885"/>
                </a:lnTo>
                <a:lnTo>
                  <a:pt x="1611640" y="347818"/>
                </a:lnTo>
                <a:lnTo>
                  <a:pt x="1701175" y="343074"/>
                </a:lnTo>
                <a:lnTo>
                  <a:pt x="1790711" y="338330"/>
                </a:lnTo>
                <a:lnTo>
                  <a:pt x="1880246" y="333586"/>
                </a:lnTo>
                <a:lnTo>
                  <a:pt x="1969782" y="328842"/>
                </a:lnTo>
                <a:lnTo>
                  <a:pt x="2059317" y="324098"/>
                </a:lnTo>
                <a:lnTo>
                  <a:pt x="2148853" y="319354"/>
                </a:lnTo>
                <a:lnTo>
                  <a:pt x="2238388" y="314610"/>
                </a:lnTo>
                <a:lnTo>
                  <a:pt x="2327924" y="309866"/>
                </a:lnTo>
                <a:lnTo>
                  <a:pt x="2417460" y="305122"/>
                </a:lnTo>
                <a:lnTo>
                  <a:pt x="2506995" y="300378"/>
                </a:lnTo>
                <a:lnTo>
                  <a:pt x="2596531" y="295634"/>
                </a:lnTo>
                <a:lnTo>
                  <a:pt x="2686066" y="290890"/>
                </a:lnTo>
                <a:lnTo>
                  <a:pt x="2775602" y="286146"/>
                </a:lnTo>
                <a:lnTo>
                  <a:pt x="2865137" y="281402"/>
                </a:lnTo>
                <a:lnTo>
                  <a:pt x="2954673" y="276658"/>
                </a:lnTo>
                <a:lnTo>
                  <a:pt x="3044208" y="271914"/>
                </a:lnTo>
                <a:lnTo>
                  <a:pt x="3133744" y="267169"/>
                </a:lnTo>
                <a:lnTo>
                  <a:pt x="3223280" y="262425"/>
                </a:lnTo>
                <a:lnTo>
                  <a:pt x="3312815" y="254514"/>
                </a:lnTo>
                <a:lnTo>
                  <a:pt x="3402351" y="246589"/>
                </a:lnTo>
                <a:lnTo>
                  <a:pt x="3491886" y="238649"/>
                </a:lnTo>
                <a:lnTo>
                  <a:pt x="3581422" y="230696"/>
                </a:lnTo>
                <a:lnTo>
                  <a:pt x="3670957" y="222727"/>
                </a:lnTo>
                <a:lnTo>
                  <a:pt x="3760493" y="214745"/>
                </a:lnTo>
                <a:lnTo>
                  <a:pt x="3850028" y="206748"/>
                </a:lnTo>
                <a:lnTo>
                  <a:pt x="3939564" y="198737"/>
                </a:lnTo>
                <a:lnTo>
                  <a:pt x="4029100" y="190711"/>
                </a:lnTo>
                <a:lnTo>
                  <a:pt x="4118635" y="182671"/>
                </a:lnTo>
                <a:lnTo>
                  <a:pt x="4208171" y="174617"/>
                </a:lnTo>
                <a:lnTo>
                  <a:pt x="4297706" y="166548"/>
                </a:lnTo>
                <a:lnTo>
                  <a:pt x="4387242" y="157811"/>
                </a:lnTo>
                <a:lnTo>
                  <a:pt x="4476777" y="149075"/>
                </a:lnTo>
                <a:lnTo>
                  <a:pt x="4566313" y="140338"/>
                </a:lnTo>
                <a:lnTo>
                  <a:pt x="4655848" y="131602"/>
                </a:lnTo>
                <a:lnTo>
                  <a:pt x="4745384" y="122865"/>
                </a:lnTo>
                <a:lnTo>
                  <a:pt x="4834920" y="114129"/>
                </a:lnTo>
                <a:lnTo>
                  <a:pt x="4924455" y="105392"/>
                </a:lnTo>
                <a:lnTo>
                  <a:pt x="5013991" y="96656"/>
                </a:lnTo>
                <a:lnTo>
                  <a:pt x="5103526" y="87919"/>
                </a:lnTo>
                <a:lnTo>
                  <a:pt x="5193062" y="79182"/>
                </a:lnTo>
                <a:lnTo>
                  <a:pt x="5282597" y="70446"/>
                </a:lnTo>
                <a:lnTo>
                  <a:pt x="5372133" y="61709"/>
                </a:lnTo>
                <a:lnTo>
                  <a:pt x="5416901" y="56616"/>
                </a:lnTo>
                <a:lnTo>
                  <a:pt x="5461668" y="51514"/>
                </a:lnTo>
                <a:lnTo>
                  <a:pt x="5506436" y="46403"/>
                </a:lnTo>
                <a:lnTo>
                  <a:pt x="5551204" y="41283"/>
                </a:lnTo>
                <a:lnTo>
                  <a:pt x="5595972" y="36154"/>
                </a:lnTo>
                <a:lnTo>
                  <a:pt x="5640740" y="31016"/>
                </a:lnTo>
                <a:lnTo>
                  <a:pt x="5685507" y="25869"/>
                </a:lnTo>
                <a:lnTo>
                  <a:pt x="5730275" y="20713"/>
                </a:lnTo>
                <a:lnTo>
                  <a:pt x="5775043" y="15548"/>
                </a:lnTo>
                <a:lnTo>
                  <a:pt x="5819811" y="10374"/>
                </a:lnTo>
                <a:lnTo>
                  <a:pt x="5864578" y="5192"/>
                </a:lnTo>
                <a:lnTo>
                  <a:pt x="5909346" y="0"/>
                </a:lnTo>
              </a:path>
            </a:pathLst>
          </a:custGeom>
          <a:noFill/>
          <a:ln w="34925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weight: визит 2"/>
          <p:cNvSpPr/>
          <p:nvPr/>
        </p:nvSpPr>
        <p:spPr>
          <a:xfrm>
            <a:off x="488640" y="4534646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weight: визит 4"/>
          <p:cNvSpPr/>
          <p:nvPr/>
        </p:nvSpPr>
        <p:spPr>
          <a:xfrm>
            <a:off x="1563066" y="448746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weight: визит 6"/>
          <p:cNvSpPr/>
          <p:nvPr/>
        </p:nvSpPr>
        <p:spPr>
          <a:xfrm>
            <a:off x="2637493" y="4434607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weight: визит 8"/>
          <p:cNvSpPr/>
          <p:nvPr/>
        </p:nvSpPr>
        <p:spPr>
          <a:xfrm>
            <a:off x="3711920" y="4377678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weight: визит 10"/>
          <p:cNvSpPr/>
          <p:nvPr/>
        </p:nvSpPr>
        <p:spPr>
          <a:xfrm>
            <a:off x="4786346" y="4281801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weight: визит 12"/>
          <p:cNvSpPr/>
          <p:nvPr/>
        </p:nvSpPr>
        <p:spPr>
          <a:xfrm>
            <a:off x="5860773" y="4176962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weight: визит 13"/>
          <p:cNvSpPr/>
          <p:nvPr/>
        </p:nvSpPr>
        <p:spPr>
          <a:xfrm>
            <a:off x="6397986" y="4115253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3590061"/>
            <a:ext cx="6446560" cy="2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Масса, кг</a:t>
            </a:r>
          </a:p>
        </p:txBody>
      </p:sp>
      <p:sp>
        <p:nvSpPr>
          <p:cNvPr id="57" name="Легенда"/>
          <p:cNvSpPr/>
          <p:nvPr/>
        </p:nvSpPr>
        <p:spPr>
          <a:xfrm>
            <a:off x="548640" y="5029200"/>
            <a:ext cx="274320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Легенда"/>
          <p:cNvSpPr txBox="1"/>
          <p:nvPr/>
        </p:nvSpPr>
        <p:spPr>
          <a:xfrm>
            <a:off x="896112" y="496519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рост</a:t>
            </a:r>
          </a:p>
        </p:txBody>
      </p:sp>
      <p:sp>
        <p:nvSpPr>
          <p:cNvPr id="59" name="Легенда"/>
          <p:cNvSpPr/>
          <p:nvPr/>
        </p:nvSpPr>
        <p:spPr>
          <a:xfrm>
            <a:off x="2560320" y="5029200"/>
            <a:ext cx="274320" cy="91440"/>
          </a:xfrm>
          <a:prstGeom prst="rect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Легенда"/>
          <p:cNvSpPr txBox="1"/>
          <p:nvPr/>
        </p:nvSpPr>
        <p:spPr>
          <a:xfrm>
            <a:off x="2907792" y="496519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масса</a:t>
            </a:r>
          </a:p>
        </p:txBody>
      </p:sp>
      <p:sp>
        <p:nvSpPr>
          <p:cNvPr id="61" name="Легенда"/>
          <p:cNvSpPr/>
          <p:nvPr/>
        </p:nvSpPr>
        <p:spPr>
          <a:xfrm>
            <a:off x="4572000" y="5029200"/>
            <a:ext cx="274320" cy="9144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Легенда"/>
          <p:cNvSpPr txBox="1"/>
          <p:nvPr/>
        </p:nvSpPr>
        <p:spPr>
          <a:xfrm>
            <a:off x="4919472" y="496519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норма: 3–⁠97-й центиль</a:t>
            </a:r>
          </a:p>
        </p:txBody>
      </p:sp>
      <p:sp>
        <p:nvSpPr>
          <p:cNvPr id="64" name="Текст"/>
          <p:cNvSpPr txBox="1"/>
          <p:nvPr/>
        </p:nvSpPr>
        <p:spPr>
          <a:xfrm>
            <a:off x="7635240" y="1691640"/>
            <a:ext cx="4007815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800" b="0" i="0">
                <a:solidFill>
                  <a:srgbClr val="26323A"/>
                </a:solidFill>
                <a:latin typeface="Calibri"/>
              </a:rPr>
              <a:t>Кариотип нужен и при необъяснённой задержке пубертата или менархе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800" b="0" i="0">
                <a:solidFill>
                  <a:srgbClr val="26323A"/>
                </a:solidFill>
                <a:latin typeface="Calibri"/>
              </a:rPr>
              <a:t>Считают не меньше 30 метафаз, при подозрении на мозаицизм больше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800" b="0" i="0">
                <a:solidFill>
                  <a:srgbClr val="26323A"/>
                </a:solidFill>
                <a:latin typeface="Calibri"/>
              </a:rPr>
              <a:t>Материал Y-хромосомы ищут только при кариотипе 45,X с вирилизацией</a:t>
            </a:r>
          </a:p>
        </p:txBody>
      </p:sp>
      <p:sp>
        <p:nvSpPr>
          <p:cNvPr id="65" name="Доказательность и источник"/>
          <p:cNvSpPr txBox="1"/>
          <p:nvPr/>
        </p:nvSpPr>
        <p:spPr>
          <a:xfrm>
            <a:off x="245641" y="6304884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 err="1">
                <a:solidFill>
                  <a:srgbClr val="66737C"/>
                </a:solidFill>
                <a:latin typeface="Calibri"/>
              </a:rPr>
              <a:t>Gravholt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CH et al. Eur J Endocrinol 2024;190:G53–G151;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Gravholt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CH et al. Lancet Diabetes Endocrinol 2026, PMID 42790437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При синдроме Тернера СТГ можно начинать с 2 лет, эстрогены вводят с 11–⁠12 лет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СТГ с 2 лет, если рост отстаёт, уже низкий или ожидается низким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Доза 45–⁠50 мкг/кг/сут, при слабом ответе до 68 мкг/кг/сут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Прибавка итогового роста 5–⁠8 см, около 1 см на каждый год лечения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ЛГ, ФСГ (фолликулостимулирующий гормон) и антимюллеров гормон: ежегодно с 8–⁠9 до 11–⁠12 лет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Эстрогены с 11–⁠12 лет, если ФСГ повышен в двух измерениях подряд; дозы — слайд 32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296567" y="6337527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 err="1">
                <a:solidFill>
                  <a:srgbClr val="66737C"/>
                </a:solidFill>
                <a:latin typeface="Calibri"/>
              </a:rPr>
              <a:t>Gravholt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CH et al. Eur J Endocrinol 2024;190:G53–G151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Малые дозы при индукции явной потери роста не дали, но данных мало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204368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637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5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Кто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Чем начинают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Как наращивают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Мальчики с гипогонадизмом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обычное начало: тестостерона энантат 50 мг внутримышечно раз в месяц; либо гонадотропины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постепенно до взрослой дозы, темп индивидуальный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Девочки с гипогонадизмом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17β-эстрадиол, пластырь на ночь, от 0,05–⁠0,07 мкг/кг (у старших девочек 0,08–⁠0,12)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до взрослой дозы за 2–⁠3 года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Синдром Тернера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эстрадиол 7 мкг/сут на кожу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каждые 6–⁠12 мес, взрослая доза к 4-му году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749040"/>
            <a:ext cx="11094415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Ранний старт эстрогенов против позднего: −1,0 см, 95 % ДИ (доверительный интервал) −4,0…1,9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Синдром Тернера, этинилэстрадиол с СТГ в детстве, не индукция: −2,9 см против плацебо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Андрогены при конституциональной задержке: +1,78 см (95 % ДИ 0,47…3,08), данные ретроспективные</a:t>
            </a:r>
          </a:p>
        </p:txBody>
      </p:sp>
      <p:sp>
        <p:nvSpPr>
          <p:cNvPr id="5" name="Доказательность и источник"/>
          <p:cNvSpPr txBox="1"/>
          <p:nvPr/>
        </p:nvSpPr>
        <p:spPr>
          <a:xfrm>
            <a:off x="371724" y="6190696"/>
            <a:ext cx="10454335" cy="2769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900" b="0" i="0" dirty="0" err="1">
                <a:solidFill>
                  <a:srgbClr val="66737C"/>
                </a:solidFill>
                <a:latin typeface="Calibri"/>
              </a:rPr>
              <a:t>Nordenström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A et al. Eur J Endocrinol 2022;186:G9–G49;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Gravholt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CH et al. Eur J Endocrinol 2024;190:G53–G151; Wang L et al. BMC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Endocr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Disord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2026;26(1), PMID 41933328;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Gawlik-Starzyk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A et al.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Res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Paediatr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2025;98:327–⁠35; Ross JL et al. N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Engl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J Med 2011;364:1230–⁠42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300" b="1" i="0">
                <a:solidFill>
                  <a:srgbClr val="1B2E3C"/>
                </a:solidFill>
                <a:latin typeface="Cambria"/>
              </a:rPr>
              <a:t>При гипогонадизме терапия после индукции постоянная, и пациента передают взрослому эндокринологу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Девочкам схему индукции меняют на постоянную взрослую заместительную терапию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Синдром Тернера: эстроген с прогестероном до 50–⁠55 лет, затем пересмотр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Гонадотропины дают сперматогенез у большинства мальчиков без крипторхизма; тестостерон яички не увеличивает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Врождённый гипогонадотропный гипогонадизм обратим у 5–⁠20 %: возможна пауза 4 мес после индукции гонадотропинами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При передаче обсудите гормоны, сексуальность, фертильность, психологические и социальные вопросы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326639" y="6196953"/>
            <a:ext cx="10454335" cy="2769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900" b="0" i="0" dirty="0" err="1">
                <a:solidFill>
                  <a:srgbClr val="66737C"/>
                </a:solidFill>
                <a:latin typeface="Calibri"/>
              </a:rPr>
              <a:t>Nordenström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A et al. Eur J Endocrinol 2022;186:G9–G49;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Gravholt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CH et al. Eur J Endocrinol 2024;190:G53–G151; Boehm U et al. Nat Rev Endocrinol 2015;11:547–⁠64;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Shihadeh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F et al.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Res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Paediatr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2026, PMID 42721063;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Cianfarani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S et al.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Res </a:t>
            </a:r>
            <a:r>
              <a:rPr sz="900" b="0" i="0" dirty="0" err="1">
                <a:solidFill>
                  <a:srgbClr val="66737C"/>
                </a:solidFill>
                <a:latin typeface="Calibri"/>
              </a:rPr>
              <a:t>Paediatr</a:t>
            </a:r>
            <a:r>
              <a:rPr sz="900" b="0" i="0" dirty="0">
                <a:solidFill>
                  <a:srgbClr val="66737C"/>
                </a:solidFill>
                <a:latin typeface="Calibri"/>
              </a:rPr>
              <a:t> 2026, PMID 41553972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ИФРСБ-3 специфичнее ИФР-1, но пропускает половину случаев дефицита СТГ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16002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530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4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Анализ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Чувствительность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Специфичность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ИФР-1, метаанализ 12 исследований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66 %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69 %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ИФРСБ-3, метаанализ 12 исследований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50 %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79 %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ИФР-1, 131 пациент 1,3–⁠25 лет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69 %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81 %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ИФРСБ-3, те же пациенты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27 %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383280"/>
            <a:ext cx="11094415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ИФР-1 зависит от СТГ, а ещё от питания, возраста, пола и стадии пубертата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До 3 лет 3-й центиль ИФР-1 близок к пределу обнаружения: руководство Нидерландов добавляет ИФРСБ-3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Ось СТГ и ИФР-1, пробы и прайминг: лекция «Соматотропная недостаточность у детей»</a:t>
            </a:r>
          </a:p>
        </p:txBody>
      </p:sp>
      <p:sp>
        <p:nvSpPr>
          <p:cNvPr id="5" name="Доказательность и источник"/>
          <p:cNvSpPr txBox="1"/>
          <p:nvPr/>
        </p:nvSpPr>
        <p:spPr>
          <a:xfrm>
            <a:off x="241726" y="6320064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>
                <a:solidFill>
                  <a:srgbClr val="66737C"/>
                </a:solidFill>
                <a:latin typeface="Calibri"/>
              </a:rPr>
              <a:t>Shen Y et al. Eur J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2015;174:419–⁠27;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Cianfarani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S et al. J Clin Endocrinol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2005;90:6028–⁠34; Wit JM et al. J Clin Res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Endocrinol 2020;12:130–⁠9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300" b="1" i="0">
                <a:solidFill>
                  <a:srgbClr val="1B2E3C"/>
                </a:solidFill>
                <a:latin typeface="Cambria"/>
              </a:rPr>
              <a:t>ИФР-1 сравнивают с нормой по полу и стадии пубертата, при задержке учитывают костный возраст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Пик ИФР-1: девочки в 14 лет, 4-я стадия Таннера; мальчики в 15, 5-я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До пубертата ИФР-1 оценивают в СО по возрасту и полу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При задержке пубертата ИФР-1 сравнивают с нормой для стадии Таннера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Если норм по стадиям Таннера нет, СО считают для костного возраста; точность немного ниже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333979" y="6307708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>
                <a:solidFill>
                  <a:srgbClr val="66737C"/>
                </a:solidFill>
                <a:latin typeface="Calibri"/>
              </a:rPr>
              <a:t>Bereket A et al.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Res 2006;65:96–⁠105; Wit JM et al. J Clin Res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Endocrinol 2020;12:130–⁠9; Juul A et al. J Clin Endocrinol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1994;78:744–⁠52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Разные анализаторы дают разный ИФР-1, и норма годится только для своего метода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55859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Консенсус 2011 года предложил калибровать все методы по стандарту Всемирной организации здравоохранения 02/254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Там же: нормы каждого метода строят по возрастам, с учётом стадии Таннера и ИМТ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Шесть методов на одних и тех же 911 взрослых: нижние границы нормы близки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Верхние границы расходятся: у мужчин 18–⁠20 лет 391 против 537 нг/мл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Средние СО по нормам своего метода сошлись, согласие у отдельных людей умеренное или хорошее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380489" y="647395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>
                <a:solidFill>
                  <a:srgbClr val="66737C"/>
                </a:solidFill>
                <a:latin typeface="Calibri"/>
              </a:rPr>
              <a:t>Clemmons DR. Clin Chem 2011;57:555–⁠9; Burns C et al. Growth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IGF Res 2009;19:457–⁠62; Chanson P et al. J Clin Endocrinol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2016;101:3450–⁠8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Если лаборатория дала только интервал, СО считают по нормам того же метода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Распределение ИФР-1 несимметрично, поэтому интервал нельзя перевести в СО по прямой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СО считают по трём параметрам: асимметрия, медиана и вариация для пола и возраста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По таким СО 2,5-й и 97,5-й центили — это ±1,96 СО; 3-й центиль — −1,88 СО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Калькулятор опубликован для взрослых; для детей параметры ищут у авторов норм набора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1 нг/мл = 1 мкг/л ≈ 0,131 нмоль/л (расчёт по молекулярной массе 7649 Да)</a:t>
            </a:r>
          </a:p>
        </p:txBody>
      </p:sp>
      <p:sp>
        <p:nvSpPr>
          <p:cNvPr id="4" name="Доказательность и источник"/>
          <p:cNvSpPr txBox="1"/>
          <p:nvPr/>
        </p:nvSpPr>
        <p:spPr>
          <a:xfrm>
            <a:off x="318639" y="6109750"/>
            <a:ext cx="10454335" cy="36420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>
              <a:spcAft>
                <a:spcPts val="200"/>
              </a:spcAft>
            </a:pPr>
            <a:endParaRPr sz="1200" b="0" i="1" dirty="0">
              <a:solidFill>
                <a:srgbClr val="66737C"/>
              </a:solidFill>
              <a:latin typeface="Calibri"/>
            </a:endParaRPr>
          </a:p>
          <a:p>
            <a:r>
              <a:rPr sz="1000" b="0" i="0" dirty="0">
                <a:solidFill>
                  <a:srgbClr val="66737C"/>
                </a:solidFill>
                <a:latin typeface="Calibri"/>
              </a:rPr>
              <a:t>Chanson P et al. J Clin Endocrinol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2016;101:3450–⁠8;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Bidlingmaier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M et al. J Clin Endocrinol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2014;99:1712–⁠21;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Rinderknecht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E,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Humbel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RE. J Biol Chem 1978;253:2769–⁠76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Порог в СО для проб зависит от вероятности дефицита СТГ до анализа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3" cy="250342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07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6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Вероятность дефицита СТГ до анализа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Признаки дефицита в клинике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Когда направлять на пробы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Высокая, около 50 % и выше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несколько «за», ни одного «против»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при любом ИФР-1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Умеренная, около 20 %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часть признаков «за», «против» нет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ИФР-1 ниже 0 СО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Скорее низкая, около 10 %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мало «за», «против» нет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ИФР-1 ниже −1 СО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Низкая, около 5 %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мало «за», есть хотя бы одно «против»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ИФР-1 ниже −2 СО, подтверждённый повтором вместе с ИФРСБ-3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Очень низкая, около 2 % и меньше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«за» нет или есть «против»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повтор с ИФРСБ-3; дальше, если ИФР-1 снова низкий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4038600"/>
            <a:ext cx="11094415" cy="1402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ИФР-1 в СО по возрасту, полу и пубертату; числовой поправки на питание нет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Эксперты Общества по изучению гормона роста: при пангипопитуитаризме сниженного ИФР-1 достаточно для диагноза</a:t>
            </a:r>
          </a:p>
        </p:txBody>
      </p:sp>
      <p:sp>
        <p:nvSpPr>
          <p:cNvPr id="5" name="Доказательность и источник"/>
          <p:cNvSpPr txBox="1"/>
          <p:nvPr/>
        </p:nvSpPr>
        <p:spPr>
          <a:xfrm>
            <a:off x="419711" y="6320064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1000" b="0" i="0" dirty="0">
                <a:solidFill>
                  <a:srgbClr val="66737C"/>
                </a:solidFill>
                <a:latin typeface="Calibri"/>
              </a:rPr>
              <a:t>Wit JM et al. J Clin Res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Endocrinol 2020;12:130–⁠9; </a:t>
            </a:r>
            <a:r>
              <a:rPr sz="1000" b="0" i="0" dirty="0" err="1">
                <a:solidFill>
                  <a:srgbClr val="66737C"/>
                </a:solidFill>
                <a:latin typeface="Calibri"/>
              </a:rPr>
              <a:t>Arlien-Søborg</a:t>
            </a:r>
            <a:r>
              <a:rPr sz="1000" b="0" i="0" dirty="0">
                <a:solidFill>
                  <a:srgbClr val="66737C"/>
                </a:solidFill>
                <a:latin typeface="Calibri"/>
              </a:rPr>
              <a:t> MC et al. Pituitary 2025;28:57 (GRS)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Низкий для возраста ИФР-1 дают гипотиреоз, задержка пубертата, голод и воспаление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3" cy="359359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485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7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7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Состояние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ИФР-1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ИФРСБ-3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Почему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7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Гипотиреоз, младенцы с атиреозом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СТГ тоже снижен; на лечении норма к 6 мес жизни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7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Задержка пубертата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низкий для возраста (слайд 35)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в норме растёт положе, чем ИФР-1 (данные здоровых детей)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пубертатного подъёма ещё нет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7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Тяжёлое недоедание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снижен; при квашиоркоре бывает в норме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СТГ повышен: резистентность к СТГ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7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Целиакия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обратимо: на безглютеновой диете норма через 6–⁠12 мес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7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Системный ювенильный артрит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снижен, протеолиз усилен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у детей чем выше интерлейкин-6, тем ниже ИФР-1; у мышей ускорено выведение ИФР-1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Цирроз; диабет 1-го типа с плохим контролем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СТГ повышен, печень к нему резистентна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Доказательность и источник"/>
          <p:cNvSpPr txBox="1"/>
          <p:nvPr/>
        </p:nvSpPr>
        <p:spPr>
          <a:xfrm>
            <a:off x="408091" y="6113764"/>
            <a:ext cx="10454335" cy="36933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800" b="0" i="0" dirty="0">
                <a:solidFill>
                  <a:srgbClr val="66737C"/>
                </a:solidFill>
                <a:latin typeface="Calibri"/>
              </a:rPr>
              <a:t>Zamboni G et al. Acta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Paediatr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2000;89:1050–⁠5; Wit JM et al. J Clin Res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Endocrinol 2020;12:130–⁠9; Bereket A et al.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Res 2006;65:96–⁠105; Zamboni G et al.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Res 1996;39:410–⁠4;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Kilic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M et al. Clin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Biochem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2004;37:382–⁠7; Street ME et al. Clin Endocrinol (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Oxf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) 2008;68:22–⁠8; Federico G et al.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Res 1997;48:108–⁠14; De Benedetti F et al. J Clin Invest 1997;99:643–⁠50; De Benedetti F et al. Endocrinology 2001;142:4818–⁠26;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Bucuvalas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JC et al.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Transplant 1997;1:73–⁠9;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Virmani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A. Indian J Endocrinol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2015;19 Suppl 1:S64–⁠7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При ожирении, гиперкортицизме и болезнях почек ИФР-1 не отражает секрецию СТГ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2" cy="284073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64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5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3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Состояние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ИФР-1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ИФРСБ-3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Почему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Ожирение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в норме, в верхней половине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повышен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секреция СТГ снижена, свободный ИФР-1 повышен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Болезнь Кушинга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в норме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в норме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секреция СТГ резко снижена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Хроническая болезнь почек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в норме по иммуноанализу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повышен по иммуноанализу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резистентность к СТГ; избыток связывающих белков гасит действие ИФР-1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Нечувствительность к СТГ, синдром Ларона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очень низкий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очень низкий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СТГ в норме или повышен, но не действует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Избыток СТГ, гигантизм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высокий и (или) СТГ не подавляется глюкозой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нет надёжных данных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базальный СТГ высокий у всех 8 больных из двух семей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Доказательность и источник"/>
          <p:cNvSpPr txBox="1"/>
          <p:nvPr/>
        </p:nvSpPr>
        <p:spPr>
          <a:xfrm>
            <a:off x="348175" y="6227731"/>
            <a:ext cx="10454335" cy="24622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800" b="0" i="0" dirty="0" err="1">
                <a:solidFill>
                  <a:srgbClr val="66737C"/>
                </a:solidFill>
                <a:latin typeface="Calibri"/>
              </a:rPr>
              <a:t>Argente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J et al. J Clin Endocrinol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1997;82:2076–⁠83; Wit JM et al. J Clin Res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Endocrinol 2020;12:130–⁠9;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Magiakou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MA et al. J Clin Endocrinol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1994;78:131–⁠7; Blum WF et al.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Nephrol 1991;5:539–⁠44;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Tönshoff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B, Fine RN. Adv Ren Replace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Ther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1996;3:37–⁠47; Guevara-Aguirre J et al. Rev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Endocr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Disord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2021;22:59–⁠70; Al-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Ashwal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AA et al.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Horm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Res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Paediatr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2017;88:119–⁠26;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Moia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S et al. Ital J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Pediatr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2017;43:94; Gadelha MR et al. J Clin Endocrinol </a:t>
            </a:r>
            <a:r>
              <a:rPr sz="800" b="0" i="0" dirty="0" err="1">
                <a:solidFill>
                  <a:srgbClr val="66737C"/>
                </a:solidFill>
                <a:latin typeface="Calibri"/>
              </a:rPr>
              <a:t>Metab</a:t>
            </a:r>
            <a:r>
              <a:rPr sz="800" b="0" i="0" dirty="0">
                <a:solidFill>
                  <a:srgbClr val="66737C"/>
                </a:solidFill>
                <a:latin typeface="Calibri"/>
              </a:rPr>
              <a:t> 1999;84:249–⁠56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3BD973-8CB5-482D-A260-CA40C29B3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841" y="2907879"/>
            <a:ext cx="5908232" cy="39388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075D82-3A34-4B57-ACC5-A14F187811E6}"/>
              </a:ext>
            </a:extLst>
          </p:cNvPr>
          <p:cNvSpPr txBox="1"/>
          <p:nvPr/>
        </p:nvSpPr>
        <p:spPr>
          <a:xfrm>
            <a:off x="950657" y="4718266"/>
            <a:ext cx="6097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@drsiddikov</a:t>
            </a:r>
            <a:br>
              <a:rPr lang="en-US" sz="4800" dirty="0"/>
            </a:br>
            <a:r>
              <a:rPr lang="en-US" sz="4800" dirty="0"/>
              <a:t>telegram</a:t>
            </a:r>
            <a:endParaRPr lang="uz-Latn-UZ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1BDCA-4DF6-45BF-8C2C-4C11810738BF}"/>
              </a:ext>
            </a:extLst>
          </p:cNvPr>
          <p:cNvSpPr txBox="1"/>
          <p:nvPr/>
        </p:nvSpPr>
        <p:spPr>
          <a:xfrm>
            <a:off x="2710897" y="2026285"/>
            <a:ext cx="76754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dirty="0"/>
              <a:t>Спасибо за внимание!</a:t>
            </a:r>
            <a:endParaRPr lang="uz-Latn-UZ" sz="5400" b="1" dirty="0"/>
          </a:p>
        </p:txBody>
      </p:sp>
    </p:spTree>
    <p:extLst>
      <p:ext uri="{BB962C8B-B14F-4D97-AF65-F5344CB8AC3E}">
        <p14:creationId xmlns:p14="http://schemas.microsoft.com/office/powerpoint/2010/main" val="340505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5224</Words>
  <Application>Microsoft Office PowerPoint</Application>
  <PresentationFormat>Широкоэкранный</PresentationFormat>
  <Paragraphs>593</Paragraphs>
  <Slides>38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2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Эндокринные причины низкорослости у детей и подростков</dc:title>
  <dc:subject/>
  <dc:creator/>
  <cp:keywords/>
  <dc:description>generated using python-pptx</dc:description>
  <cp:lastModifiedBy>Odina Siddikova</cp:lastModifiedBy>
  <cp:revision>2</cp:revision>
  <dcterms:created xsi:type="dcterms:W3CDTF">2013-01-27T09:14:16Z</dcterms:created>
  <dcterms:modified xsi:type="dcterms:W3CDTF">2026-10-14T19:10:26Z</dcterms:modified>
  <cp:category/>
  <dc:language>ru-RU</dc:language>
</cp:coreProperties>
</file>