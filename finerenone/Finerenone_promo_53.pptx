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theme/theme28.xml" ContentType="application/vnd.openxmlformats-officedocument.theme+xml"/>
  <Override PartName="/ppt/theme/theme29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  <p:sldMasterId id="2147483664" r:id="rId3"/>
    <p:sldMasterId id="2147483676" r:id="rId4"/>
    <p:sldMasterId id="2147483678" r:id="rId5"/>
    <p:sldMasterId id="2147483690" r:id="rId6"/>
    <p:sldMasterId id="2147483694" r:id="rId7"/>
    <p:sldMasterId id="2147483697" r:id="rId8"/>
    <p:sldMasterId id="2147483699" r:id="rId9"/>
    <p:sldMasterId id="2147483702" r:id="rId10"/>
    <p:sldMasterId id="2147483705" r:id="rId11"/>
    <p:sldMasterId id="2147483708" r:id="rId12"/>
    <p:sldMasterId id="2147483711" r:id="rId13"/>
    <p:sldMasterId id="2147483714" r:id="rId14"/>
    <p:sldMasterId id="2147483717" r:id="rId15"/>
    <p:sldMasterId id="2147483720" r:id="rId16"/>
    <p:sldMasterId id="2147483722" r:id="rId17"/>
    <p:sldMasterId id="2147483724" r:id="rId18"/>
    <p:sldMasterId id="2147483736" r:id="rId19"/>
    <p:sldMasterId id="2147483748" r:id="rId20"/>
    <p:sldMasterId id="2147483760" r:id="rId21"/>
    <p:sldMasterId id="2147483772" r:id="rId22"/>
    <p:sldMasterId id="2147483784" r:id="rId23"/>
    <p:sldMasterId id="2147483797" r:id="rId24"/>
    <p:sldMasterId id="2147483809" r:id="rId25"/>
    <p:sldMasterId id="2147483821" r:id="rId26"/>
    <p:sldMasterId id="2147483833" r:id="rId27"/>
    <p:sldMasterId id="2147483845" r:id="rId28"/>
    <p:sldMasterId id="2147483857" r:id="rId29"/>
  </p:sldMasterIdLst>
  <p:notesMasterIdLst>
    <p:notesMasterId r:id="rId77"/>
  </p:notesMasterIdLst>
  <p:sldIdLst>
    <p:sldId id="256" r:id="rId30"/>
    <p:sldId id="307" r:id="rId83"/>
    <p:sldId id="257" r:id="rId31"/>
    <p:sldId id="265" r:id="rId32"/>
    <p:sldId id="266" r:id="rId33"/>
    <p:sldId id="267" r:id="rId34"/>
    <p:sldId id="269" r:id="rId36"/>
    <p:sldId id="263" r:id="rId37"/>
    <p:sldId id="264" r:id="rId38"/>
    <p:sldId id="260" r:id="rId39"/>
    <p:sldId id="261" r:id="rId40"/>
    <p:sldId id="262" r:id="rId41"/>
    <p:sldId id="308" r:id="rId84"/>
    <p:sldId id="258" r:id="rId42"/>
    <p:sldId id="259" r:id="rId44"/>
    <p:sldId id="270" r:id="rId45"/>
    <p:sldId id="271" r:id="rId46"/>
    <p:sldId id="272" r:id="rId47"/>
    <p:sldId id="309" r:id="rId85"/>
    <p:sldId id="304" r:id="rId43"/>
    <p:sldId id="273" r:id="rId48"/>
    <p:sldId id="274" r:id="rId49"/>
    <p:sldId id="275" r:id="rId50"/>
    <p:sldId id="276" r:id="rId51"/>
    <p:sldId id="277" r:id="rId52"/>
    <p:sldId id="278" r:id="rId53"/>
    <p:sldId id="280" r:id="rId55"/>
    <p:sldId id="281" r:id="rId56"/>
    <p:sldId id="279" r:id="rId54"/>
    <p:sldId id="286" r:id="rId60"/>
    <p:sldId id="287" r:id="rId61"/>
    <p:sldId id="288" r:id="rId62"/>
    <p:sldId id="283" r:id="rId57"/>
    <p:sldId id="305" r:id="rId58"/>
    <p:sldId id="284" r:id="rId59"/>
    <p:sldId id="302" r:id="rId63"/>
    <p:sldId id="289" r:id="rId64"/>
    <p:sldId id="290" r:id="rId65"/>
    <p:sldId id="310" r:id="rId86"/>
    <p:sldId id="311" r:id="rId87"/>
    <p:sldId id="312" r:id="rId88"/>
    <p:sldId id="297" r:id="rId66"/>
    <p:sldId id="298" r:id="rId67"/>
    <p:sldId id="299" r:id="rId68"/>
    <p:sldId id="300" r:id="rId69"/>
    <p:sldId id="291" r:id="rId70"/>
    <p:sldId id="306" r:id="rId71"/>
    <p:sldId id="294" r:id="rId76"/>
    <p:sldId id="293" r:id="rId74"/>
    <p:sldId id="295" r:id="rId75"/>
    <p:sldId id="292" r:id="rId73"/>
    <p:sldId id="282" r:id="rId72"/>
    <p:sldId id="268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48855" autoAdjust="0"/>
  </p:normalViewPr>
  <p:slideViewPr>
    <p:cSldViewPr snapToGrid="0" snapToObjects="1">
      <p:cViewPr>
        <p:scale>
          <a:sx n="66" d="100"/>
          <a:sy n="66" d="100"/>
        </p:scale>
        <p:origin x="1483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Master" Target="slideMasters/slideMaster23.xml"/><Relationship Id="rId24" Type="http://schemas.openxmlformats.org/officeDocument/2006/relationships/slideMaster" Target="slideMasters/slideMaster24.xml"/><Relationship Id="rId25" Type="http://schemas.openxmlformats.org/officeDocument/2006/relationships/slideMaster" Target="slideMasters/slideMaster25.xml"/><Relationship Id="rId26" Type="http://schemas.openxmlformats.org/officeDocument/2006/relationships/slideMaster" Target="slideMasters/slideMaster26.xml"/><Relationship Id="rId27" Type="http://schemas.openxmlformats.org/officeDocument/2006/relationships/slideMaster" Target="slideMasters/slideMaster27.xml"/><Relationship Id="rId28" Type="http://schemas.openxmlformats.org/officeDocument/2006/relationships/slideMaster" Target="slideMasters/slideMaster28.xml"/><Relationship Id="rId29" Type="http://schemas.openxmlformats.org/officeDocument/2006/relationships/slideMaster" Target="slideMasters/slideMaster29.xml"/><Relationship Id="rId30" Type="http://schemas.openxmlformats.org/officeDocument/2006/relationships/slide" Target="slides/slide1.xml"/><Relationship Id="rId31" Type="http://schemas.openxmlformats.org/officeDocument/2006/relationships/slide" Target="slides/slide2.xml"/><Relationship Id="rId32" Type="http://schemas.openxmlformats.org/officeDocument/2006/relationships/slide" Target="slides/slide3.xml"/><Relationship Id="rId33" Type="http://schemas.openxmlformats.org/officeDocument/2006/relationships/slide" Target="slides/slide4.xml"/><Relationship Id="rId34" Type="http://schemas.openxmlformats.org/officeDocument/2006/relationships/slide" Target="slides/slide5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1.xml"/><Relationship Id="rId41" Type="http://schemas.openxmlformats.org/officeDocument/2006/relationships/slide" Target="slides/slide12.xml"/><Relationship Id="rId42" Type="http://schemas.openxmlformats.org/officeDocument/2006/relationships/slide" Target="slides/slide13.xml"/><Relationship Id="rId43" Type="http://schemas.openxmlformats.org/officeDocument/2006/relationships/slide" Target="slides/slide14.xml"/><Relationship Id="rId44" Type="http://schemas.openxmlformats.org/officeDocument/2006/relationships/slide" Target="slides/slide15.xml"/><Relationship Id="rId45" Type="http://schemas.openxmlformats.org/officeDocument/2006/relationships/slide" Target="slides/slide16.xml"/><Relationship Id="rId46" Type="http://schemas.openxmlformats.org/officeDocument/2006/relationships/slide" Target="slides/slide17.xml"/><Relationship Id="rId47" Type="http://schemas.openxmlformats.org/officeDocument/2006/relationships/slide" Target="slides/slide18.xml"/><Relationship Id="rId48" Type="http://schemas.openxmlformats.org/officeDocument/2006/relationships/slide" Target="slides/slide19.xml"/><Relationship Id="rId49" Type="http://schemas.openxmlformats.org/officeDocument/2006/relationships/slide" Target="slides/slide20.xml"/><Relationship Id="rId50" Type="http://schemas.openxmlformats.org/officeDocument/2006/relationships/slide" Target="slides/slide21.xml"/><Relationship Id="rId51" Type="http://schemas.openxmlformats.org/officeDocument/2006/relationships/slide" Target="slides/slide22.xml"/><Relationship Id="rId52" Type="http://schemas.openxmlformats.org/officeDocument/2006/relationships/slide" Target="slides/slide23.xml"/><Relationship Id="rId53" Type="http://schemas.openxmlformats.org/officeDocument/2006/relationships/slide" Target="slides/slide24.xml"/><Relationship Id="rId54" Type="http://schemas.openxmlformats.org/officeDocument/2006/relationships/slide" Target="slides/slide25.xml"/><Relationship Id="rId55" Type="http://schemas.openxmlformats.org/officeDocument/2006/relationships/slide" Target="slides/slide26.xml"/><Relationship Id="rId56" Type="http://schemas.openxmlformats.org/officeDocument/2006/relationships/slide" Target="slides/slide27.xml"/><Relationship Id="rId57" Type="http://schemas.openxmlformats.org/officeDocument/2006/relationships/slide" Target="slides/slide28.xml"/><Relationship Id="rId58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1" Type="http://schemas.openxmlformats.org/officeDocument/2006/relationships/slide" Target="slides/slide32.xml"/><Relationship Id="rId62" Type="http://schemas.openxmlformats.org/officeDocument/2006/relationships/slide" Target="slides/slide33.xml"/><Relationship Id="rId63" Type="http://schemas.openxmlformats.org/officeDocument/2006/relationships/slide" Target="slides/slide34.xml"/><Relationship Id="rId64" Type="http://schemas.openxmlformats.org/officeDocument/2006/relationships/slide" Target="slides/slide35.xml"/><Relationship Id="rId65" Type="http://schemas.openxmlformats.org/officeDocument/2006/relationships/slide" Target="slides/slide36.xml"/><Relationship Id="rId66" Type="http://schemas.openxmlformats.org/officeDocument/2006/relationships/slide" Target="slides/slide37.xml"/><Relationship Id="rId67" Type="http://schemas.openxmlformats.org/officeDocument/2006/relationships/slide" Target="slides/slide38.xml"/><Relationship Id="rId68" Type="http://schemas.openxmlformats.org/officeDocument/2006/relationships/slide" Target="slides/slide39.xml"/><Relationship Id="rId69" Type="http://schemas.openxmlformats.org/officeDocument/2006/relationships/slide" Target="slides/slide40.xml"/><Relationship Id="rId70" Type="http://schemas.openxmlformats.org/officeDocument/2006/relationships/slide" Target="slides/slide41.xml"/><Relationship Id="rId71" Type="http://schemas.openxmlformats.org/officeDocument/2006/relationships/slide" Target="slides/slide42.xml"/><Relationship Id="rId72" Type="http://schemas.openxmlformats.org/officeDocument/2006/relationships/slide" Target="slides/slide43.xml"/><Relationship Id="rId73" Type="http://schemas.openxmlformats.org/officeDocument/2006/relationships/slide" Target="slides/slide44.xml"/><Relationship Id="rId74" Type="http://schemas.openxmlformats.org/officeDocument/2006/relationships/slide" Target="slides/slide45.xml"/><Relationship Id="rId75" Type="http://schemas.openxmlformats.org/officeDocument/2006/relationships/slide" Target="slides/slide46.xml"/><Relationship Id="rId76" Type="http://schemas.openxmlformats.org/officeDocument/2006/relationships/slide" Target="slides/slide47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microsoft.com/office/2016/11/relationships/changesInfo" Target="changesInfos/changesInfo1.xml"/><Relationship Id="rId83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168800AB-69B9-4C35-943D-E13185F69300}"/>
    <pc:docChg chg="custSel delMainMaster">
      <pc:chgData name="Odina Siddikova" userId="c170bc8eab85294e" providerId="LiveId" clId="{168800AB-69B9-4C35-943D-E13185F69300}" dt="2026-09-27T19:35:51.054" v="13" actId="2696"/>
      <pc:docMkLst>
        <pc:docMk/>
      </pc:docMkLst>
      <pc:sldMasterChg chg="del delSldLayout">
        <pc:chgData name="Odina Siddikova" userId="c170bc8eab85294e" providerId="LiveId" clId="{168800AB-69B9-4C35-943D-E13185F69300}" dt="2026-09-27T19:35:51.054" v="1" actId="2696"/>
        <pc:sldMasterMkLst>
          <pc:docMk/>
          <pc:sldMasterMk cId="0" sldId="2147483702"/>
        </pc:sldMasterMkLst>
        <pc:sldLayoutChg chg="del">
          <pc:chgData name="Odina Siddikova" userId="c170bc8eab85294e" providerId="LiveId" clId="{168800AB-69B9-4C35-943D-E13185F69300}" dt="2026-09-27T19:35:51.054" v="0" actId="2696"/>
          <pc:sldLayoutMkLst>
            <pc:docMk/>
            <pc:sldMasterMk cId="0" sldId="2147483702"/>
            <pc:sldLayoutMk cId="0" sldId="2147483703"/>
          </pc:sldLayoutMkLst>
        </pc:sldLayoutChg>
      </pc:sldMasterChg>
      <pc:sldMasterChg chg="del delSldLayout">
        <pc:chgData name="Odina Siddikova" userId="c170bc8eab85294e" providerId="LiveId" clId="{168800AB-69B9-4C35-943D-E13185F69300}" dt="2026-09-27T19:35:51.054" v="13" actId="2696"/>
        <pc:sldMasterMkLst>
          <pc:docMk/>
          <pc:sldMasterMk cId="0" sldId="2147483704"/>
        </pc:sldMasterMkLst>
        <pc:sldLayoutChg chg="del">
          <pc:chgData name="Odina Siddikova" userId="c170bc8eab85294e" providerId="LiveId" clId="{168800AB-69B9-4C35-943D-E13185F69300}" dt="2026-09-27T19:35:51.054" v="2" actId="2696"/>
          <pc:sldLayoutMkLst>
            <pc:docMk/>
            <pc:sldMasterMk cId="0" sldId="2147483704"/>
            <pc:sldLayoutMk cId="0" sldId="2147483705"/>
          </pc:sldLayoutMkLst>
        </pc:sldLayoutChg>
        <pc:sldLayoutChg chg="del">
          <pc:chgData name="Odina Siddikova" userId="c170bc8eab85294e" providerId="LiveId" clId="{168800AB-69B9-4C35-943D-E13185F69300}" dt="2026-09-27T19:35:51.054" v="3" actId="2696"/>
          <pc:sldLayoutMkLst>
            <pc:docMk/>
            <pc:sldMasterMk cId="0" sldId="2147483704"/>
            <pc:sldLayoutMk cId="0" sldId="2147483706"/>
          </pc:sldLayoutMkLst>
        </pc:sldLayoutChg>
        <pc:sldLayoutChg chg="del">
          <pc:chgData name="Odina Siddikova" userId="c170bc8eab85294e" providerId="LiveId" clId="{168800AB-69B9-4C35-943D-E13185F69300}" dt="2026-09-27T19:35:51.054" v="4" actId="2696"/>
          <pc:sldLayoutMkLst>
            <pc:docMk/>
            <pc:sldMasterMk cId="0" sldId="2147483704"/>
            <pc:sldLayoutMk cId="0" sldId="2147483707"/>
          </pc:sldLayoutMkLst>
        </pc:sldLayoutChg>
        <pc:sldLayoutChg chg="del">
          <pc:chgData name="Odina Siddikova" userId="c170bc8eab85294e" providerId="LiveId" clId="{168800AB-69B9-4C35-943D-E13185F69300}" dt="2026-09-27T19:35:51.054" v="5" actId="2696"/>
          <pc:sldLayoutMkLst>
            <pc:docMk/>
            <pc:sldMasterMk cId="0" sldId="2147483704"/>
            <pc:sldLayoutMk cId="0" sldId="2147483708"/>
          </pc:sldLayoutMkLst>
        </pc:sldLayoutChg>
        <pc:sldLayoutChg chg="del">
          <pc:chgData name="Odina Siddikova" userId="c170bc8eab85294e" providerId="LiveId" clId="{168800AB-69B9-4C35-943D-E13185F69300}" dt="2026-09-27T19:35:51.054" v="6" actId="2696"/>
          <pc:sldLayoutMkLst>
            <pc:docMk/>
            <pc:sldMasterMk cId="0" sldId="2147483704"/>
            <pc:sldLayoutMk cId="0" sldId="2147483709"/>
          </pc:sldLayoutMkLst>
        </pc:sldLayoutChg>
        <pc:sldLayoutChg chg="del">
          <pc:chgData name="Odina Siddikova" userId="c170bc8eab85294e" providerId="LiveId" clId="{168800AB-69B9-4C35-943D-E13185F69300}" dt="2026-09-27T19:35:51.054" v="7" actId="2696"/>
          <pc:sldLayoutMkLst>
            <pc:docMk/>
            <pc:sldMasterMk cId="0" sldId="2147483704"/>
            <pc:sldLayoutMk cId="0" sldId="2147483710"/>
          </pc:sldLayoutMkLst>
        </pc:sldLayoutChg>
        <pc:sldLayoutChg chg="del">
          <pc:chgData name="Odina Siddikova" userId="c170bc8eab85294e" providerId="LiveId" clId="{168800AB-69B9-4C35-943D-E13185F69300}" dt="2026-09-27T19:35:51.054" v="8" actId="2696"/>
          <pc:sldLayoutMkLst>
            <pc:docMk/>
            <pc:sldMasterMk cId="0" sldId="2147483704"/>
            <pc:sldLayoutMk cId="0" sldId="2147483711"/>
          </pc:sldLayoutMkLst>
        </pc:sldLayoutChg>
        <pc:sldLayoutChg chg="del">
          <pc:chgData name="Odina Siddikova" userId="c170bc8eab85294e" providerId="LiveId" clId="{168800AB-69B9-4C35-943D-E13185F69300}" dt="2026-09-27T19:35:51.054" v="9" actId="2696"/>
          <pc:sldLayoutMkLst>
            <pc:docMk/>
            <pc:sldMasterMk cId="0" sldId="2147483704"/>
            <pc:sldLayoutMk cId="0" sldId="2147483712"/>
          </pc:sldLayoutMkLst>
        </pc:sldLayoutChg>
        <pc:sldLayoutChg chg="del">
          <pc:chgData name="Odina Siddikova" userId="c170bc8eab85294e" providerId="LiveId" clId="{168800AB-69B9-4C35-943D-E13185F69300}" dt="2026-09-27T19:35:51.054" v="10" actId="2696"/>
          <pc:sldLayoutMkLst>
            <pc:docMk/>
            <pc:sldMasterMk cId="0" sldId="2147483704"/>
            <pc:sldLayoutMk cId="0" sldId="2147483713"/>
          </pc:sldLayoutMkLst>
        </pc:sldLayoutChg>
        <pc:sldLayoutChg chg="del">
          <pc:chgData name="Odina Siddikova" userId="c170bc8eab85294e" providerId="LiveId" clId="{168800AB-69B9-4C35-943D-E13185F69300}" dt="2026-09-27T19:35:51.054" v="11" actId="2696"/>
          <pc:sldLayoutMkLst>
            <pc:docMk/>
            <pc:sldMasterMk cId="0" sldId="2147483704"/>
            <pc:sldLayoutMk cId="0" sldId="2147483714"/>
          </pc:sldLayoutMkLst>
        </pc:sldLayoutChg>
        <pc:sldLayoutChg chg="del">
          <pc:chgData name="Odina Siddikova" userId="c170bc8eab85294e" providerId="LiveId" clId="{168800AB-69B9-4C35-943D-E13185F69300}" dt="2026-09-27T19:35:51.054" v="12" actId="2696"/>
          <pc:sldLayoutMkLst>
            <pc:docMk/>
            <pc:sldMasterMk cId="0" sldId="2147483704"/>
            <pc:sldLayoutMk cId="0" sldId="2147483715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исходом*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Первичный исход</c:v>
                </c:pt>
              </c:strCache>
            </c:strRef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Плацебо (340 из 2199)</c:v>
                </c:pt>
                <c:pt idx="1">
                  <c:v>Канаглифлозин (245 из 2202)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0.15461573442473853</c:v>
                </c:pt>
                <c:pt idx="1">
                  <c:v>0.11126248864668484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  <a:endParaRPr lang="uz-Latn-UZ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</a:t>
            </a:r>
          </a:p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0.53200000000000003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  <a:endParaRPr lang="uz-Latn-UZ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АКО относительно исходного</c:v>
          </c:tx>
          <c:spPr>
            <a:solidFill>
              <a:srgbClr val="7030A0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4EA72E"/>
              </a:solidFill>
            </c:spPr>
            <c:extLst>
              <c:ext xmlns:c16="http://schemas.microsoft.com/office/drawing/2014/chart" uri="{C3380CC4-5D6E-409C-BE32-E72D297353CC}">
                <c16:uniqueId val="{00000001-97FC-405C-919B-7607AA9E93EF}"/>
              </c:ext>
            </c:extLst>
          </c:dPt>
          <c:dPt>
            <c:idx val="1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97FC-405C-919B-7607AA9E93EF}"/>
              </c:ext>
            </c:extLst>
          </c:dPt>
          <c:dPt>
            <c:idx val="2"/>
            <c:invertIfNegative val="1"/>
            <c:bubble3D val="0"/>
            <c:spPr>
              <a:solidFill>
                <a:srgbClr val="0F9ED5"/>
              </a:solidFill>
            </c:spPr>
            <c:extLst>
              <c:ext xmlns:c16="http://schemas.microsoft.com/office/drawing/2014/chart" uri="{C3380CC4-5D6E-409C-BE32-E72D297353CC}">
                <c16:uniqueId val="{00000005-97FC-405C-919B-7607AA9E93EF}"/>
              </c:ext>
            </c:extLst>
          </c:dPt>
          <c:dLbls>
            <c:numFmt formatCode="[$-419]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00">
                    <a:latin typeface="Arial Narrow"/>
                    <a:ea typeface="Arial Narrow"/>
                    <a:cs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Комбинация</c:v>
              </c:pt>
              <c:pt idx="1">
                <c:v>Финеренон</c:v>
              </c:pt>
              <c:pt idx="2">
                <c:v>Эмпаглифлозин</c:v>
              </c:pt>
            </c:strLit>
          </c:cat>
          <c:val>
            <c:numLit>
              <c:formatCode>General</c:formatCode>
              <c:ptCount val="3"/>
              <c:pt idx="0">
                <c:v>0.48</c:v>
              </c:pt>
              <c:pt idx="1">
                <c:v>0.68</c:v>
              </c:pt>
              <c:pt idx="2">
                <c:v>0.71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6-97FC-405C-919B-7607AA9E93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00">
                <a:solidFill>
                  <a:srgbClr val="666666"/>
                </a:solidFill>
                <a:latin typeface="Arial Narrow"/>
                <a:ea typeface="Arial Narrow"/>
                <a:cs typeface="Arial Narrow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</c:spPr>
    </c:plotArea>
    <c:plotVisOnly val="1"/>
    <c:dispBlanksAs val="zero"/>
    <c:showDLblsOverMax val="1"/>
  </c:chart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Калий &gt;5,5 ммоль/л, %</c:v>
          </c:tx>
          <c:spPr>
            <a:solidFill>
              <a:srgbClr val="7030A0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4EA72E"/>
              </a:solidFill>
            </c:spPr>
            <c:extLst>
              <c:ext xmlns:c16="http://schemas.microsoft.com/office/drawing/2014/chart" uri="{C3380CC4-5D6E-409C-BE32-E72D297353CC}">
                <c16:uniqueId val="{00000001-03D6-4498-8914-B654635C6F38}"/>
              </c:ext>
            </c:extLst>
          </c:dPt>
          <c:dPt>
            <c:idx val="1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03D6-4498-8914-B654635C6F38}"/>
              </c:ext>
            </c:extLst>
          </c:dPt>
          <c:dPt>
            <c:idx val="2"/>
            <c:invertIfNegative val="1"/>
            <c:bubble3D val="0"/>
            <c:spPr>
              <a:solidFill>
                <a:srgbClr val="0F9ED5"/>
              </a:solidFill>
            </c:spPr>
            <c:extLst>
              <c:ext xmlns:c16="http://schemas.microsoft.com/office/drawing/2014/chart" uri="{C3380CC4-5D6E-409C-BE32-E72D297353CC}">
                <c16:uniqueId val="{00000005-03D6-4498-8914-B654635C6F38}"/>
              </c:ext>
            </c:extLst>
          </c:dPt>
          <c:dLbls>
            <c:numFmt formatCode="[$-419]0.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00">
                    <a:latin typeface="Arial Narrow"/>
                    <a:ea typeface="Arial Narrow"/>
                    <a:cs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Комбинация</c:v>
              </c:pt>
              <c:pt idx="1">
                <c:v>Финеренон</c:v>
              </c:pt>
              <c:pt idx="2">
                <c:v>Эмпаглифлозин</c:v>
              </c:pt>
            </c:strLit>
          </c:cat>
          <c:val>
            <c:numLit>
              <c:formatCode>General</c:formatCode>
              <c:ptCount val="3"/>
              <c:pt idx="0">
                <c:v>15.1</c:v>
              </c:pt>
              <c:pt idx="1">
                <c:v>18.8</c:v>
              </c:pt>
              <c:pt idx="2">
                <c:v>9.6999999999999993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6-03D6-4498-8914-B654635C6F3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00">
                <a:solidFill>
                  <a:srgbClr val="666666"/>
                </a:solidFill>
                <a:latin typeface="Arial Narrow"/>
                <a:ea typeface="Arial Narrow"/>
                <a:cs typeface="Arial Narrow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</c:spPr>
    </c:plotArea>
    <c:plotVisOnly val="1"/>
    <c:dispBlanksAs val="zero"/>
    <c:showDLblsOverMax val="1"/>
  </c:chart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156082"/>
              </a:solidFill>
            </a:ln>
          </c:spPr>
          <c:marker>
            <c:symbol val="circle"/>
            <c:size val="10"/>
            <c:spPr>
              <a:solidFill>
                <a:srgbClr val="156082"/>
              </a:solidFill>
              <a:ln>
                <a:solidFill>
                  <a:srgbClr val="156082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156082"/>
                      </a:solidFill>
                    </a:defRPr>
                  </a:pPr>
                  <a:endParaRPr lang="uz-Latn-UZ"/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5A5-467A-8DC5-308FB4C846B8}"/>
                </c:ext>
              </c:extLst>
            </c:dLbl>
            <c:numFmt formatCode="[$-419]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>
                    <a:solidFill>
                      <a:srgbClr val="156082"/>
                    </a:solidFill>
                  </a:defRPr>
                </a:pPr>
                <a:endParaRPr lang="uz-Latn-UZ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4.9000000000000004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5A5-467A-8DC5-308FB4C846B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E97132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5A5-467A-8DC5-308FB4C846B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196B24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5A5-467A-8DC5-308FB4C846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  <a:endParaRPr lang="uz-Latn-UZ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"/>
          <c:min val="4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  <a:endParaRPr lang="uz-Latn-UZ"/>
          </a:p>
        </c:txPr>
        <c:crossAx val="2118791784"/>
        <c:crosses val="autoZero"/>
        <c:crossBetween val="between"/>
        <c:majorUnit val="0.5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uz-Latn-UZ"/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</c:dPt>
          <c:dPt>
            <c:idx val="1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2"/>
            <c:invertIfNegative val="1"/>
            <c:bubble3D val="0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spPr/>
              <c:txPr>
                <a:bodyPr/>
                <a:lstStyle/>
                <a:p>
                  <a:pPr>
                    <a:defRPr lang="ru-RU"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spPr/>
              <c:txPr>
                <a:bodyPr/>
                <a:lstStyle/>
                <a:p>
                  <a:pPr>
                    <a:defRPr lang="ru-RU"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19]0.0%" sourceLinked="0"/>
              <c:spPr/>
              <c:txPr>
                <a:bodyPr/>
                <a:lstStyle/>
                <a:p>
                  <a:pPr>
                    <a:defRPr lang="ru-RU" sz="1800" b="1">
                      <a:solidFill>
                        <a:srgbClr val="0F9ED5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lang="ru-RU"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Плацебо</c:v>
                </c:pt>
                <c:pt idx="1">
                  <c:v>Финеренон</c:v>
                </c:pt>
                <c:pt idx="2">
                  <c:v>Спиронолактон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0.015</c:v>
                </c:pt>
                <c:pt idx="1">
                  <c:v>0.053</c:v>
                </c:pt>
                <c:pt idx="2">
                  <c:v>0.127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B8C-44E2-AFC9-E23D54C150F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lang="ru-RU" sz="1700">
                <a:solidFill>
                  <a:srgbClr val="000000"/>
                </a:solidFill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15"/>
          <c:min val="0"/>
        </c:scaling>
        <c:delete val="1"/>
        <c:axPos val="t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lang="ru-RU"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v>Среднегодовое изменение рСКФ</c:v>
          </c:tx>
          <c:spPr>
            <a:solidFill>
              <a:srgbClr val="7030A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D914-4779-A17B-461073342E5B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D914-4779-A17B-461073342E5B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600" b="0"/>
                    </a:pPr>
                    <a:r>
                      <a:rPr lang="ru-RU" sz="1600" b="0">
                        <a:latin typeface="Arial Narrow"/>
                        <a:cs typeface="Arial Narrow"/>
                      </a:rPr>
                      <a:t>−3,3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600" b="0"/>
                    </a:pPr>
                    <a:r>
                      <a:rPr lang="ru-RU" sz="1600" b="0">
                        <a:latin typeface="Arial Narrow"/>
                        <a:cs typeface="Arial Narrow"/>
                      </a:rPr>
                      <a:t>−4,0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00">
                    <a:latin typeface="Arial Narrow"/>
                    <a:ea typeface="Arial Narrow"/>
                    <a:cs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Финеренон</c:v>
              </c:pt>
              <c:pt idx="1">
                <c:v>Плацебо</c:v>
              </c:pt>
            </c:strLit>
          </c:cat>
          <c:val>
            <c:numLit>
              <c:formatCode>General</c:formatCode>
              <c:ptCount val="2"/>
              <c:pt idx="0">
                <c:v>-3.3</c:v>
              </c:pt>
              <c:pt idx="1">
                <c:v>-4</c:v>
              </c:pt>
            </c:numLit>
          </c:val>
          <c:extLst>
            <c:ext xmlns:c16="http://schemas.microsoft.com/office/drawing/2014/chart" uri="{C3380CC4-5D6E-409C-BE32-E72D297353CC}">
              <c16:uniqueId val="{00000004-D914-4779-A17B-461073342E5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60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</c:spPr>
    </c:plotArea>
    <c:plotVisOnly val="1"/>
    <c:dispBlanksAs val="zero"/>
    <c:showDLblsOverMax val="1"/>
  </c:chart>
  <c:spPr>
    <a:noFill/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EB90-49B0-AD33-250788ABE345}"/>
                </c:ext>
              </c:extLst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EB90-49B0-AD33-250788ABE345}"/>
                </c:ext>
              </c:extLst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0430-4ADD-83D7-16C1092450CA}"/>
                </c:ext>
              </c:extLst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0430-4ADD-83D7-16C1092450CA}"/>
                </c:ext>
              </c:extLst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 (3003 пациента)</c:v>
                </c:pt>
                <c:pt idx="1">
                  <c:v>Плацебо (2998 пациентов)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Сегодня разберём финеренон: препарат для взрослых с хронической болезнью почек, связанной с сахарным диабетом 2 типа. Он снижает риск устойчивого снижения функции почек, терминальной стадии болезни почек, сердечно-сосудистой смерти, нефатального инфаркта миокарда и госпитализации по поводу сердечной недостаточности. План такой. Сначала главная мысль курса. Затем как работает почка, чем её повреждает диабет и как найти пациентов с таким риском. Потом механизм действия финеренона и показание, которое из него следует. Дальше исследования, место среди других препаратов, правила назначения с контролем калия и ответы на возражения врачей.</a:t>
            </a:r>
          </a:p>
          <a:p>
            <a:endParaRPr/>
          </a:p>
          <a:p>
            <a:r>
              <a:t>После обучения вы сможете за 30 секунд объяснить врачу, как работает финеренон, у каких пациентов есть показание, что показали исследования и почему калий проверяют по простому правилу. Также нужно знать, как передавать сообщения о нежелательных явлениях по процедуре компании. Решение о лечении конкретного пациента принимает врач. Начнём с главной мысли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Эти две ситуации пройдут через весь курс. Первая о том, у каких пациентов искать показание. Вторая о том, что делать, если калий повысился. У взрослого с хронической болезнью почек и диабетом 2 типа давление и уровень глюкозы в крови находятся в целевом диапазоне, но повышенная потеря альбумина с мочой сохраняется. Каких данных не хватает, чтобы обсудить дополнительное лечение?</a:t>
            </a:r>
          </a:p>
          <a:p>
            <a:endParaRPr/>
          </a:p>
          <a:p>
            <a:r>
              <a:t>Во второй ситуации после начала приёма финеренона повысился калий в крови. Всегда ли это означает окончательную отмену? При каких условиях лечение можно возобновить? К этим ситуациям вернёмся в конце курса, и вы ответите на оба вопроса сами. А пока вспомним, как работает почка и почему при диабете она страдает.</a:t>
            </a:r>
          </a:p>
          <a:p/>
          <a:p>
            <a:r>
              <a:t>Фраза для визита: «У каких ваших пациентов с хронической болезнью почек и диабетом 2 типа альбуминурия сохраняется на ингибиторе АПФ или БРА?»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Начнём с клубочка. Кровь поступает в клубочек по приносящей артериоле, небольшому артериальному сосуду, и покидает его по выносящей артериоле. Часть воды и мелких растворённых веществ проходит через фильтрационный барьер в капсулу Боумена. Клетки крови и большая часть белков остаются в сосудах. Так образуется первичная моча.</a:t>
            </a:r>
          </a:p>
          <a:p>
            <a:endParaRPr/>
          </a:p>
          <a:p>
            <a:r>
              <a:t>Затем жидкость проходит по канальцам. Большая часть воды, глюкоза и другие нужные вещества возвращаются в кровь. Такой процесс называют реабсорбцией, или обратным всасыванием. В конце схемы расположена собирательная трубочка. В её клетках есть минералокортикоидные рецепторы, участвующие в обмене натрия и калия. Финеренон блокирует такие рецепторы; к ним вернёмся на отдельных слайдах. Для понимания: в разговоре с врачом этот слайд не используется. Сейчас о том, как клубочек сам регулирует фильтрацию.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увидели, как кровь фильтруется и как каналец возвращает нужное. Плотное пятно состоит из чувствительных клеток канальца рядом с его клубочком. На рисунке это конец восходящего колена петли Генле, участка канальца, который возвращается к своему клубочку. Клетки плотного пятна реагируют на поступление соли с канальцевой жидкостью. Когда соли поступает больше, сигнал способствует сужению приносящей артериолы, и фильтрация уменьшается. Когда соли меньше, ограничивающий сигнал ослабевает, поэтому фильтрация может увеличиться.</a:t>
            </a:r>
          </a:p>
          <a:p>
            <a:endParaRPr/>
          </a:p>
          <a:p>
            <a:r>
              <a:t>Такую местную связь канальца со своим клубочком называют тубулогломерулярной обратной связью. Для понимания: в разговоре с врачом этот слайд не используется. Запомните схему: на следующем слайде при диабете она сбивается, и клубочек перегружается.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 прошлом слайде плотное пятно держало фильтрацию в норме. При диабете в первичной моче может быть больше глюкозы. Проксимальный каналец возвращает в кровь больше глюкозы и натрия, поэтому до плотного пятна доходит меньше соли. Сигнал, ограничивающий фильтрацию, ослабевает, приносящая артериола расширяется, а давление в клубочке повышается. У части пациентов развивается гиперфильтрация, то есть избыточная фильтрация в клубочке. Она бывает не у каждого человека с диабетом.</a:t>
            </a:r>
          </a:p>
          <a:p>
            <a:endParaRPr/>
          </a:p>
          <a:p>
            <a:r>
              <a:t>Длительная перегрузка может повреждать фильтрационный барьер. Поэтому сохранная расчётная фильтрация ещё не исключает повреждения почек: нужен и показатель альбумина в моче. На описанный механизм действуют ингибиторы НГЛТ2: они уменьшают обратное всасывание глюкозы и натрия в проксимальном канальце. Финеренон действует на другой путь: воспаление и фиброз через минералокортикоидный рецептор, о нём дальше. Поэтому эти препараты можно сочетать. Перегрузка клубочка не единственный путь повреждения. Второй путь: воспаление и фиброз в канальцах и ткани между ними.</a:t>
            </a:r>
          </a:p>
          <a:p/>
          <a:p>
            <a:r>
              <a:t>Фраза для визита: «Расчётная фильтрация может быть нормальной, когда почка уже повреждена. Поэтому при диабете 2 типа раз в год проверяют и рСКФ, и альбумин в моче.»</a:t>
            </a:r>
          </a:p>
          <a:p/>
          <a:p>
            <a:r>
              <a:t>Если врач спросит: «Финеренон заменяет иНГЛТ2?» Ответ: «Нет, у них разные механизмы, и препараты можно сочетать. В CONFIDENCE (800 пациентов, 180 дней) альбуминурия снизилась от исходного на 52% при комбинации, на 32% на финереноне и на 29% на эмпаглифлозине. АКО здесь отношение альбумина к креатинину мочи.»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Для понимания: в разговоре с врачом этот слайд не используется. Мезангий поддерживает капилляры клубочка и состоит из клеток и межклеточного вещества, которое называют матриксом. При диабетической болезни почек объём матрикса может увеличиваться. В классе III, при узелковом склерозе клубочка, в мезангии формируются плотные округлые узелки.</a:t>
            </a:r>
          </a:p>
          <a:p>
            <a:endParaRPr/>
          </a:p>
          <a:p>
            <a:r>
              <a:t>На снимках разные образцы. Динамику одной почки они не показывают. Гистологический класс описывает ткань под микроскопом, а стадия хронической болезни почек по рСКФ характеризует функцию почек.</a:t>
            </a:r>
          </a:p>
          <a:p/>
          <a:p>
            <a:r>
              <a:t>Если врач спросит: «Финеренон убирает эти изменения?» Ответ: «Снимки показывают изменения при диабете. Польза финеренона оценена по клиническим исходам: почечный исход развился у 17,8% на финереноне и у 21,1% на плацебо в FIDELIO-DKD. Вопросы о тканевых эффектах передаю в медицинский отдел.»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 диабете повреждение затрагивает и канальцы, и ткань между ними. Канальцы выстланы эпителием, слоем клеток. Между ними расположен интерстиций с кровеносными сосудами. Воспалительные клетки могут накапливаться рядом с канальцами и сосудами: в биопсиях 20 пациентов с диабетической нефропатией в интерстиции в среднем было 296,9 макрофага на мм² против 19,0 в нормальной ткани (Nguyen, 2006). При фиброзе увеличивается количество межклеточного матрикса. В его образовании участвуют миофибробласты. При атрофии эпителий становится ниже, а структура канальца меняется.</a:t>
            </a:r>
          </a:p>
          <a:p>
            <a:endParaRPr/>
          </a:p>
          <a:p>
            <a:r>
              <a:t>Воспаление и фиброз могут присутствовать одновременно, поэтому схема не означает обязательной смены стадий. Избыточная активация минералокортикоидного рецептора (МКР) поддерживает эти процессы, а финеренон блокирует этот рецептор; подробно о рецепторе поговорим позже. Клиническую пользу показали исходы: по сравнению с плацебо меньше почечных и сердечно-сосудистых событий в FIDELIO-DKD и FIGARO-DKD. Почки при диабете страдают не одни. Дальше о связи сердца и почек.</a:t>
            </a:r>
          </a:p>
          <a:p/>
          <a:p>
            <a:r>
              <a:t>Фраза для визита: «При диабете в почке идут воспаление и фиброз. Финеренон блокирует рецептор, который их поддерживает, и снижает риск почечных и сердечно-сосудистых событий.»</a:t>
            </a:r>
          </a:p>
          <a:p/>
          <a:p>
            <a:r>
              <a:t>Если врач спросит: «Финеренон восстанавливает ткань почки?» Ответ: «Влияние на воспаление и фиброз описано в доклинических исследованиях. Для врача важнее клинические исходы: почечный исход 17,8% на финереноне и 21,1% на плацебо в FIDELIO-DKD. По тканевым эффектам у человека передаю вопрос в медицинский отдел.»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увидели, что при диабете страдают клубочки, канальцы и ткань между ними. Сердце и почки поражаются вместе. Сердце влияет на работу почек через кровоснабжение и венозный застой. Такое сочетание называют хроническим кардиоренальным синдромом, тип 2: болезнь сердца ухудшает работу почек. При сердечной недостаточности эти изменения могут снижать фильтрацию. При диабете и гипертензии оба органа могут повреждаться одновременно, поэтому не всегда удаётся определить, какое заболевание возникло первым.</a:t>
            </a:r>
          </a:p>
          <a:p>
            <a:endParaRPr/>
          </a:p>
          <a:p>
            <a:r>
              <a:t>При декомпенсации, выраженной гипотензии или гиповолемии врач оценивает состояние пациента и лечение.</a:t>
            </a:r>
          </a:p>
          <a:p>
            <a:endParaRPr/>
          </a:p>
          <a:p>
            <a:r>
              <a:t>Поэтому у пациентов с ХБП и диабетом 2 типа смотрят на оба органа. В показание финеренона входит снижение риска госпитализации по поводу сердечной недостаточности. В FIGARO-DKD риск такой госпитализации был ниже на 29% по сравнению с плацебо (отношение рисков 0,71; 95% ДИ 0,56–0,90). Связь работает и в обратную сторону: дальше о том, как болезнь почек нагружает сердце.</a:t>
            </a:r>
          </a:p>
          <a:p/>
          <a:p>
            <a:r>
              <a:t>Фраза для визита: «Сердце и почки при диабете могут страдать вместе. У пациентов с хронической болезнью почек и диабетом 2 типа финеренон снижает риск госпитализации по поводу сердечной недостаточности.»</a:t>
            </a:r>
          </a:p>
          <a:p/>
          <a:p>
            <a:r>
              <a:t>Если врач спросит: «А при сердечной недостаточности без хронической болезни почек?» Ответ: «Показание в инструкции относится к взрослым с хронической болезнью почек, связанной с диабетом 2 типа. По другим группам пациентов передаю ваш вопрос в медицинский отдел.»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Хроническая болезнь почек также увеличивает нагрузку на сердце. Задерживаются натрий и вода, активируются гормональные механизмы и симпатическая нервная система. Нарушения состава крови и уремия дополнительно влияют на работу сердца. Такое сочетание называют хроническим ренокардиальным синдромом, тип 4: болезнь почек ухудшает работу сердца.</a:t>
            </a:r>
          </a:p>
          <a:p/>
          <a:p>
            <a:r>
              <a:t>Общие для обоих органов процессы включают окислительный стресс и воспаление. На схеме показаны их основные связи. Руководство AHA/ACC/ADA/ASN 2026 рассматривает болезни сердца, почек и обмен веществ как взаимосвязанные состояния. Доказательства для финеренона дают клинические исследования, их разберём дальше.</a:t>
            </a:r>
          </a:p>
          <a:p/>
          <a:p>
            <a:r>
              <a:t>Один из путей на схеме идёт через избыток альдостерона. Он действует на сердце и почки через МКР, а финеренон блокирует этот рецептор. Финеренон назначают взрослым с ХБП, связанной с диабетом 2 типа: показание включает снижение риска почечных и сердечно-сосудистых событий, в том числе госпитализации по поводу сердечной недостаточности. В объединённом анализе FIDELITY (13 026 пациентов) такой риск был ниже на 22% по сравнению с плацебо (ОР 0,78; 95% ДИ 0,66–0,92; медиана 3,0 года). Теперь о том, как найти таких пациентов.</a:t>
            </a:r>
          </a:p>
          <a:p/>
          <a:p>
            <a:r>
              <a:t>Фраза для визита: «Доктор, при диабете и болезни почек страдают и почки, и сердце. Финеренон блокирует рецептор альдостерона и снижает риск почечных и сердечно-сосудистых событий.»</a:t>
            </a:r>
          </a:p>
          <a:p/>
          <a:p>
            <a:r>
              <a:t>Если врач спросит: «А при сердечной недостаточности без хронической болезни почек?» Ответ: «Показание относится к взрослым с ХБП, связанной с диабетом 2 типа. По другим группам пациентов передам ваш вопрос в медицинский отдел.»</a:t>
            </a:r>
          </a:p>
          <a:p/>
          <a:p>
            <a:r>
              <a:t>Если врач спросит: «У пациента с ХБП и диабетом есть и сердечная недостаточность. Можно ли назначать финеренон?» Ответ: «Сердечная недостаточность в перечне противопоказаний инструкции не стоит и группу сама по себе не исключает. В FIDELIO-DKD и FIGARO-DKD не включали пациентов с хронической симптомной сердечной недостаточностью со сниженной фракцией выброса; сердечная недостаточность в анамнезе была у 7,7% участников FIDELITY. Решение о назначении принимает врач.»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Искать начинаем с анализов. Для оценки почек нужны два разных анализа. По креатинину крови с учётом возраста и пола рассчитывают скорость клубочковой фильтрации, или рСКФ. Она характеризует фильтрационную функцию почек. Альбумин и креатинин измеряют в одной порции мочи. Их отношение обозначают сокращением АКО. Оно помогает выявить повышенную потерю альбумина.</a:t>
            </a:r>
          </a:p>
          <a:p/>
          <a:p>
            <a:r>
              <a:t>При диабете 2 типа оба показателя проверяют не реже одного раза в год. При установленной хронической болезни почек частота зависит от категории риска. Повреждение возможно уже при сохранной фильтрации. В FIDELITY у 40% участников (5195 из 13 026) рСКФ была 60 и выше, и ХБП у них определяли только по альбуминурии. Поэтому одной рСКФ недостаточно, нужно и АКО. Если альбуминурия выявлена, дальше нужно подтвердить ХБП. Критерии на следующем слайде.</a:t>
            </a:r>
          </a:p>
          <a:p/>
          <a:p>
            <a:r>
              <a:t>Фраза для визита: «Доктор, при диабете 2 типа рСКФ и АКО проверяют не реже раза в год. Повышенное АКО может указать на болезнь почек даже при сохранной рСКФ. У скольких ваших пациентов за последний год определяли оба показателя?»</a:t>
            </a:r>
          </a:p>
          <a:p/>
          <a:p>
            <a:r>
              <a:t>Если врач спросит: «А если лаборатория выдаёт АКО в мг/ммоль?» Ответ: «30 мг/г соответствует примерно 3 мг/ммоль (KDIGO 2024).»</a:t>
            </a:r>
          </a:p>
          <a:p/>
          <a:p>
            <a:r>
              <a:t>Если врач спросит: «Так бывает у 40% всех пациентов с ХБП и диабетом?» Ответ: «Нет. 40% относится к участникам FIDELITY: в исследования включали пациентов с альбуминурией, в том числе с рСКФ 60 и выше. Частоту в практике число не показывает. Оно показывает, что без АКО такие пациенты остаются вне критериев ХБП.»</a:t>
            </a:r>
          </a:p>
          <a:p/>
          <a:p>
            <a:r>
              <a:t>Если врач спросит: «Хватит ли тест-полоски?» Ответ: «Для скрининга альбуминурии определяют АКО. Вопрос о замене АКО другими тестами передам в медицинский отдел.»</a:t>
            </a:r>
          </a:p>
          <a:p/>
          <a:p>
            <a:r>
              <a:t>Если врач спросит: «Как часто АКО определяют на практике?» Ответ: «Это американские данные: среди 28 295 982 пациентов с диабетом и/или гипертензией АКО определяли у 21,0%, а рСКФ у 89,6% (Alfego D, et al. Diabetes Care. 2021;44:2025–2032; лаборатория Labcorp, 2013–2019 годы). Они показывают разрыв между двумя анализами, но не описывают практику у нас.»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Какие значения этих анализов говорят о ХБП? Хроническую болезнь почек можно выявить по снижению функции или признакам повреждения. Два основных лабораторных критерия: рСКФ ниже 60 мл/мин/1,73 м² или АКО не менее 30 мг/г. Одновременного наличия обоих не требуется. Существуют и другие маркеры повреждения почек.</a:t>
            </a:r>
          </a:p>
          <a:p/>
          <a:p>
            <a:r>
              <a:t>Чтобы считать изменения хроническими, они должны сохраняться не менее трёх месяцев. Повышенное АКО подтверждают повторно и оценивают временные причины, например инфекцию. Поэтому один повышенный результат ещё не подтверждает хроническую болезнь почек. При стойких признаках повреждения сохранная рСКФ её не исключает. Диагноз устанавливает врач. Теперь о том, как два показателя вместе описывают риск.</a:t>
            </a:r>
          </a:p>
          <a:p/>
          <a:p>
            <a:r>
              <a:t>Фраза для визита: «Доктор, по критериям KDIGO для ХБП достаточно одного признака. Если АКО от 30 мг/г сохраняется три месяца, это ХБП и при сохранной рСКФ. Диагноз, конечно, ставите вы.»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Здесь два показателя сведены в одну таблицу. В одной строке таблицы категория фильтрации одинакова, а альбуминурия увеличивается слева направо. Например, при рСКФ 65 мл/мин/1,73 м² и АКО 15 мг/г клетка зелёная. При той же фильтрации и АКО 350 мг/г риск уже высокий. Поэтому одного значения фильтрации для оценки недостаточно.</a:t>
            </a:r>
          </a:p>
          <a:p/>
          <a:p>
            <a:r>
              <a:t>Цвет описывает риск прогрессирования болезни почек и связанных осложнений в группах пациентов. Он не даёт точной вероятности осложнения у конкретного человека. Категории оценивают с учётом хронического характера изменений, сохраняющихся не менее трёх месяцев. Зелёная клетка при сохранной фильтрации, без альбуминурии и других признаков повреждения сама по себе не означает хроническую болезнь почек. Дальше соберём портрет такого пациента.</a:t>
            </a:r>
          </a:p>
          <a:p/>
          <a:p>
            <a:r>
              <a:t>Фраза для визита: «Доктор, при диабете АКО от 30 мг/г повышает риск даже при сохранной рСКФ. Поэтому смотрим на оба показателя.»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Для защиты почек при диабете 2 типа используют четыре группы препаратов с разными мишенями. Ингибиторы АПФ и блокаторы рецепторов ангиотензина влияют на регуляцию давления в клубочке: расширяют выносящую артериолу и уменьшают внутриклубочковое давление. Ингибиторы НГЛТ2 действуют в проксимальном канальце и уменьшают возврат натрия и глюкозы в кровь.</a:t>
            </a:r>
          </a:p>
          <a:p/>
          <a:p>
            <a:r>
              <a:t>Финеренон препятствует активации минералокортикоидного рецептора. Агонисты рецептора глюкагоноподобного пептида-1, или ГПП-1, помогают контролировать уровень глюкозы и массу тела. В исследовании FLOW для семаглутида показана польза по комбинированному исходу: тяжёлые почечные события или смерть от почечных или сердечно-сосудистых причин.</a:t>
            </a:r>
          </a:p>
          <a:p/>
          <a:p>
            <a:r>
              <a:t>Разные механизмы и результаты исследований помогают врачу выбрать лечение по диагнозу, функции почек, альбуминурии, калию и инструкции каждого препарата. Давление и уровень глюкозы продолжают контролировать. Финеренон добавляют к ингибитору АПФ или БРА. С остальными группами его сочетание разберём отдельно. Хватает ли этих препаратов? Ответ даёт исследование CREDENCE.</a:t>
            </a:r>
          </a:p>
          <a:p/>
          <a:p>
            <a:r>
              <a:t>Фраза для визита: «Доктор, у финеренона своя мишень: минералокортикоидный рецептор. Его добавляют к ингибитору АПФ или БРА.»</a:t>
            </a:r>
          </a:p>
          <a:p/>
          <a:p>
            <a:r>
              <a:t>Если врач спросит о доказательствах для ингибиторов АПФ и БРА: «Исходы при диабете 2 типа и нефропатии показаны для блокаторов рецепторов ангиотензина: лозартан в RENAAL (1513 пациентов; первичный комбинированный исход, то есть удвоение креатинина, терминальная почечная недостаточность или смерть, ниже на 16% по сравнению с плацебо, в среднем 3,4 года) и ирбесартан в IDNT (1715 пациентов с гипертензией; ниже на 20% по сравнению с плацебо, в среднем 2,6 года).»</a:t>
            </a:r>
          </a:p>
          <a:p/>
          <a:p>
            <a:r>
              <a:t>Если врач спросит: «А других агонистов ГПП-1?» Ответ: «Данные FLOW относятся к семаглутиду, по другим препаратам передам вопрос в медицинский отдел.»</a:t>
            </a:r>
          </a:p>
          <a:p/>
          <a:p>
            <a:r>
              <a:t>Если врач спросит, нужны ли все четыре группы каждому: «Набор подбирает врач по рСКФ, АКО, калию, давлению и глюкозе; финеренон добавляют к ингибитору АПФ или БРА у взрослых с ХБП и диабетом 2 типа.»</a:t>
            </a:r>
          </a:p>
          <a:p/>
          <a:p>
            <a:r>
              <a:t>Если врач спросит о сочетании с ингибиторами НГЛТ2 и агонистами ГПП-1: «В FIDELITY ингибиторы НГЛТ2 в начале исследования принимали 6,7% участников (877 человек), агонисты ГПП-1 7,2% (944 человека); результаты в этих подгруппах согласуются с общими. Рандомизированного сравнения комбинаций в FIDELITY не было; сочетание с эмпаглифлозином изучено в CONFIDENCE, оно разобрано на слайде о комбинации.»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Короткая памятка: как читать числа исследования и как пересказать их врачу. Чтобы понять результат исследования, сначала уточняем, кого лечили, с чем сравнивали препарат, какие события учитывали и как долго наблюдали пациентов. В FIDELIO-DKD участвовали пациенты с хронической болезнью почек и диабетом 2 типа. Финеренон сравнивали с плацебо на фоне ингибитора АПФ или блокатора рецепторов ангиотензина. Главный исход выбрали заранее. Его называют первичным. Вторичные исходы оценивали по статистическому плану.</a:t>
            </a:r>
          </a:p>
          <a:p/>
          <a:p>
            <a:r>
              <a:t>Первичный исход объединял почечную недостаточность, устойчивое снижение рСКФ не менее чем на 40% и смерть от почечных причин. Отношение рисков составило 0,82. Ему соответствует относительное снижение на 18% по сравнению с плацебо. Абсолютную разницу видно в процентах: 21,1% против 17,8%, то есть на 3,3 процентного пункта меньше. Доверительный интервал от 0,73 до 0,93 помогает оценить неопределённость результата. Он не включает 1.</a:t>
            </a:r>
          </a:p>
          <a:p/>
          <a:p>
            <a:r>
              <a:t>Кривая накопленной частоты показывает события к определённому моменту с учётом разной длительности наблюдения. ЧБНЛ показывает, сколько пациентов нужно лечить за заданный срок, чтобы предотвратить одно событие по сравнению с плацебо. В FIDELIO-DKD для почечного исхода это 29 пациентов за 3 года. Проценты 17,8 и 21,1 относятся к медиане 2,6 года, поэтому число 29 из их разницы напрямую не получить. Промежуточный показатель, например АКО, меняется раньше, а пользу подтверждают клинические исходы: их мы разберём на следующих слайдах. Теперь посмотрим программу исследований финеренона.</a:t>
            </a:r>
          </a:p>
          <a:p/>
          <a:p>
            <a:r>
              <a:t>Фраза для визита: «Доктор, в FIDELIO-DKD риск почечного исхода был ниже на 18% по сравнению с плацебо: у 17,8% пациентов на финереноне против 21,1% на плацебо за 2,6 года.»</a:t>
            </a:r>
          </a:p>
          <a:p/>
          <a:p>
            <a:r>
              <a:t>Если врач спросит о компонентах исхода: «Исход составной: почечная недостаточность, устойчивое снижение рСКФ на 40% и больше, смерть от почечных причин. Данные по каждому компоненту есть в публикации; запрос по ним передам в медицинский отдел.»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CREDENCE участвовал 4401 пациент с диабетом 2 типа, хронической болезнью почек и выраженной альбуминурией. Канаглифлозин, препарат группы ингибиторов НГЛТ2, сравнивали с плацебо на фоне ингибитора АПФ или блокатора рецепторов ангиотензина. Первичный исход объединял терминальную почечную недостаточность, удвоение креатинина и смерть от почечных или сердечно-сосудистых причин.</a:t>
            </a:r>
          </a:p>
          <a:p/>
          <a:p>
            <a:r>
              <a:t>При медиане наблюдения 2,6 года относительный риск этого исхода был ниже на 30%. Но осложнения продолжали возникать: за всё исследование первичный исход зарегистрировали у 11,1% пациентов на канаглифлозине. Сохраняющийся на фоне лечения риск называют остаточным. Остаточный риск остаётся даже на ингибиторе АПФ или БРА с ингибитором НГЛТ2. Поэтому нужен ещё один механизм защиты. Он связан с рецептором, который мы сейчас рассмотрим.</a:t>
            </a:r>
          </a:p>
          <a:p/>
          <a:p>
            <a:r>
              <a:t>Фраза для визита: «Доктор, в исследовании CREDENCE у пациентов с ХБП и диабетом на ингибиторе АПФ или БРА с канаглифлозином почечный или сердечно-сосудистый исход за 2,6 года возник у 11,1%. Остаточный риск есть, и у финеренона другая мишень: МКР.»</a:t>
            </a:r>
          </a:p>
          <a:p/>
          <a:p>
            <a:r>
              <a:t>Если врач спросит: «А что даёт финеренон на таком фоне?» Ответ: «В FIDELIO-DKD финеренон добавляли к ингибитору АПФ или БРА в максимально переносимой дозе: почечный исход возник у 17,8% против 21,1% на плацебо (ОР 0,82; 95% ДИ 0,73–0,93; медиана 2,6 года). В FIDELITY ингибиторы НГЛТ2 принимали 6,7% участников, и результаты в этой подгруппе согласуются с общими; рандомизированного сравнения комбинации там не было. Сочетание с эмпаглифлозином изучали в CONFIDENCE (800 пациентов, 180 дней): АКО ниже от исходного на 52% при комбинации, на 32% на финереноне, на 29% на эмпаглифлозине. Прямого сравнения с канаглифлозином нет.»</a:t>
            </a:r>
          </a:p>
          <a:p/>
          <a:p>
            <a:r>
              <a:t>Если врач спросит: «Почему 11,1%, а у вас 17,8%?» Ответ: «У CREDENCE другой первичный исход (с сердечно-сосудистой смертью), другая группа (АКО выше 300 мг/г) и другое лечение. Эти числа не сравнивают.»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Начнём с нормы: как минералокортикоидный рецептор работает в здоровой почке. В главной клетке собирательной трубочки альдостерон связывается с минералокортикоидным рецептором. Альдостерон вырабатывается корой надпочечников и участвует в обмене натрия и калия. После активации рецептора меняются регуляция генов, синтез белков, число и активность натриевых каналов и натрий-калиевых насосов.</a:t>
            </a:r>
          </a:p>
          <a:p/>
          <a:p>
            <a:r>
              <a:t>Натрий возвращается из просвета трубочки в кровь. Его обратное всасывание создаёт электрическую движущую силу для перемещения калия в просвет. Такой переход калия называют секрецией. Затем он может выводиться с мочой. Натрий-калиевый насос использует энергию аденозинтрифосфата. Поэтому блокада МКР влияет и на калий, и его контролируют по простому правилу; оно будет на слайде о назначении. А сначала посмотрим, что происходит, когда МКР активирован слишком сильно.</a:t>
            </a:r>
          </a:p>
          <a:p/>
          <a:p>
            <a:r>
              <a:t>Фраза для визита: «Доктор, альдостерон включает рецептор МКР, и тот управляет обменом натрия и калия в почке. Финеренон блокирует этот рецептор, поэтому калий проверяют по простому правилу.»</a:t>
            </a:r>
          </a:p>
          <a:p/>
          <a:p>
            <a:r>
              <a:t>Если врач спросит: «МКР есть только в почке?» Ответ: «МКР есть в почках, сердце, сосудах и иммунных клетках. Что происходит при его избыточной активации, показывает следующий слайд.»</a:t>
            </a:r>
          </a:p>
          <a:p/>
          <a:p>
            <a:r>
              <a:t>Если врач спросит: «Насколько часто растёт калий?» Ответ: «В FIDELITY (13 026 пациентов, медиана 3,0 года) нежелательные явления по гиперкалиемии были у 14,0% на финереноне против 6,9% на плацебо; окончательная отмена из-за гиперкалиемии 1,7% против 0,6%; случаев со смертельным исходом не было. Калий проверяют до начала, через 4 недели и далее периодически.»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 прошлом слайде рецептор работал в норме: регулировал натрий и калий в клетке канальца. Теперь о том, что происходит, когда он активен сильнее нормы.</a:t>
            </a:r>
          </a:p>
          <a:p/>
          <a:p>
            <a:r>
              <a:t>При диабете и хронической болезни почек сигнал минералокортикоидного рецептора может усиливаться. Такая избыточная активация способна поддерживать воспаление и накопление межклеточного матрикса. На схеме показаны разные клетки: иммунные, эпителиальные и фибробласты. Фибробласты образуют компоненты матрикса. Его избыточное накопление связано с фиброзом. На схеме фрагмент почки. Рецептор есть и в сердце, и в сосудах, и там его избыточная активация тоже поддерживает воспаление и фиброз.</a:t>
            </a:r>
          </a:p>
          <a:p/>
          <a:p>
            <a:r>
              <a:t>Если этот сигнал заблокировать, воспаление и фиброз могут стать слабее. Как это делает финеренон, показывает следующий слайд.</a:t>
            </a:r>
          </a:p>
          <a:p/>
          <a:p>
            <a:r>
              <a:t>Фраза для визита: «При диабете и ХБП минералокортикоидный рецептор может быть избыточно активен и поддерживать воспаление и фиброз в почке и сердце. Ингибиторы АПФ, БРА и иНГЛТ2 сам этот рецептор не блокируют».</a:t>
            </a:r>
          </a:p>
          <a:p/>
          <a:p>
            <a:r>
              <a:t>Если врач спросит: «Доказана ли эта связь у людей?» Связь избыточной активации МКР с воспалением и фиброзом описана в экспериментальных работах и обзорах (Agarwal, 2021). Эффект финеренона на воспаление и фиброз показан в доклинических моделях. В клинических исследованиях оценивали исходы, они показаны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 прошлом слайде рецептор работал избыточно. Теперь о том, что меняет финеренон.</a:t>
            </a:r>
          </a:p>
          <a:p/>
          <a:p>
            <a:r>
              <a:t>Финеренон связывается с минералокортикоидным рецептором внутри клетки и препятствует его активации. Поэтому его называют антагонистом рецептора. Избирательность означает преимущественное действие на эту мишень, а слово «нестероидный» описывает химическое строение. По инструкции финеренон блокирует привлечение коактиваторов: это белки-помощники, которые рецептору нужны, чтобы включить гены воспаления и фиброза. В экспериментах на животных финеренон уменьшал фиброз в сердце и почках.</a:t>
            </a:r>
          </a:p>
          <a:p/>
          <a:p>
            <a:r>
              <a:t>Клинические эффекты изучали у взрослых с хронической болезнью почек и диабетом 2 типа в FIDELIO-DKD, FIGARO-DKD и объединённом анализе FIDELITY. Финеренон сравнивали с плацебо на фоне ингибитора АПФ или блокатора рецепторов ангиотензина в максимально переносимой дозе. Блокада рецептора в почечных канальцах снижает выведение калия, поэтому его уровень в крови может повышаться. Правило простое: калий и рСКФ проверяют до начала лечения, через 4 недели после начала, возобновления или повышения дозы и далее периодически. Помните схему с натрием и калием: когда рецептор заблокирован, калий хуже выходит в просвет канальца.</a:t>
            </a:r>
          </a:p>
          <a:p/>
          <a:p>
            <a:r>
              <a:t>Как блокада рецептора приводит к исходам, показывает следующий слайд: цепочка от рецептора до строк показания.</a:t>
            </a:r>
          </a:p>
          <a:p/>
          <a:p>
            <a:r>
              <a:t>Фраза для визита: «Финеренон блокирует минералокортикоидный рецептор, который при диабете и ХБП может работать избыточно. У взрослых с ХБП, альбуминурией и диабетом 2 типа на фоне ИАПФ или БРА он снизил по сравнению с плацебо риск почечных исходов (FIDELIO-DKD) и сердечно-сосудистых исходов (FIGARO-DKD). Калий проверяют до начала лечения, через 4 недели и далее периодически».</a:t>
            </a:r>
          </a:p>
          <a:p/>
          <a:p>
            <a:r>
              <a:t>Если врач спросит: «Влияние на воспаление и фиброз доказано у людей?» Данные получены в экспериментах: у мышей финеренон уменьшал фиброз сердца и инвазию макрофагов в ткань (Grune, 2018); в моделях фиброза почки он уменьшал накопление миофибробластов и коллагена, а маркеры воспаления в тестированных дозах не менялись (Droebner, 2021). У пациентов оценивали клинические исходы, они на следующих слайдах.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FIDELIO-DKD главным был комбинированный почечный исход. В FIGARO-DKD главным был сердечно-сосудистый исход. В обоих исследованиях участвовали взрослые с хронической болезнью почек и диабетом 2 типа. Критерии включения предусматривали альбуминурию и калий не выше 4,8 ммоль/л. Финеренон сравнивали с плацебо на фоне ингибитора АПФ или блокатора рецепторов ангиотензина в максимально переносимой дозе.</a:t>
            </a:r>
          </a:p>
          <a:p/>
          <a:p>
            <a:r>
              <a:t>FIDELITY объединил индивидуальные данные этих работ. Из 13 171 случайно распределённого участника в анализ вошли 13 026. Разница в 145 участников: их исключили до анализа из-за критических нарушений правил надлежащей клинической практики в исследовательских центрах.</a:t>
            </a:r>
          </a:p>
          <a:p/>
          <a:p>
            <a:r>
              <a:t>Объединённый анализ запланировали заранее; значения p в нём приведены без поправки на множественные сравнения. В его почечном исходе учитывали устойчивое снижение рСКФ не менее чем на 57%, а в исходных исследованиях порог был 40%, поэтому почечные результаты FIDELITY и отдельных исследований напрямую не сравнивают.</a:t>
            </a:r>
          </a:p>
          <a:p/>
          <a:p>
            <a:r>
              <a:t>Начнём с FIDELIO-DKD: исследования, где главным исходом были почки.</a:t>
            </a:r>
          </a:p>
          <a:p/>
          <a:p>
            <a:r>
              <a:t>Фраза для визита: «Финеренон изучали в двух исследованиях III фазы, более чем у 13 000 пациентов с ХБП и диабетом 2 типа на фоне ИАПФ или БРА. FIDELIO-DKD оценивал почечные исходы, FIGARO-DKD сердечно-сосудистые, а FIDELITY объединил данные обоих».</a:t>
            </a:r>
          </a:p>
          <a:p/>
          <a:p>
            <a:r>
              <a:t>Если врач спросит: «А пациенты на иНГЛТ2?» В FIDELIO-DKD и FIGARO-DKD иНГЛТ2 получали 877 из 13 026 пациентов (6,7%); в заранее заданной подгруппе результат согласуется с общим (слайд FIDELITY). Группа небольшая; комбинацию двух препаратов изучали отдельно в исследовании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FIDELIO-DKD изучали взрослых с хронической болезнью почек и диабетом 2 типа. Финеренон сравнивали с плацебо на фоне ингибитора АПФ или блокатора рецепторов ангиотензина в максимально переносимой дозе. Первичный исход объединял почечную недостаточность, снижение рСКФ не менее чем на 40%, сохранявшееся не менее четырёх недель, и смерть от почечных причин.</a:t>
            </a:r>
          </a:p>
          <a:p/>
          <a:p>
            <a:r>
              <a:t>Группа плацебо показывает остаточный риск: на ИАПФ или БРА в максимально переносимой дозе почечный исход возник у 21,1% пациентов при медиане наблюдения 2,6 года. На финереноне у 17,8%.</a:t>
            </a:r>
          </a:p>
          <a:p/>
          <a:p>
            <a:r>
              <a:t>При медиане наблюдения 2,6 года отношение рисков составило 0,82, что соответствует относительному снижению на 18%. Доверительный интервал составил 0,73–0,93. За всё исследование исход зарегистрировали у 17,8% пациентов на финереноне и у 21,1% на плацебо. Кривая показывает накопленную частоту к каждому месяцу с учётом разного срока наблюдения, поэтому её конец не совпадает с долей за всё исследование.</a:t>
            </a:r>
          </a:p>
          <a:p/>
          <a:p>
            <a:r>
              <a:t>Исследователи сообщали о гиперкалиемии у 18,3% пациентов на финереноне и у 9,0% на плацебо. Окончательную отмену из-за неё зарегистрировали у 2,3% и 0,9% соответственно. Калий и рСКФ проверяют до начала лечения, через 4 недели после начала, возобновления или повышения дозы и далее периодически; в исследовании гиперкалиемии со смертельным исходом не зарегистрировали.</a:t>
            </a:r>
          </a:p>
          <a:p/>
          <a:p>
            <a:r>
              <a:t>Почки показаны. Теперь сердце: FIGARO-DKD, следующий слайд.</a:t>
            </a:r>
          </a:p>
          <a:p/>
          <a:p>
            <a:r>
              <a:t>Фраза для визита: «В FIDELIO-DKD у пациентов с ХБП, диабетом 2 типа и альбуминурией на ИАПФ или БРА в максимально переносимой дозе финеренон снизил риск почечного исхода на 18% по сравнению с плацебо: исход возник у 17,8% против 21,1% при медиане наблюдения 2,6 года».</a:t>
            </a:r>
          </a:p>
          <a:p/>
          <a:p>
            <a:r>
              <a:t>Если врач спросит: «Есть ли польза для сердца?» Да, сердечно-сосудистый исход (вторичный): 13,0% против 14,8%, отношение рисков 0,86 (0,75–0,99). Подробно в FIGARO-DKD. «Сколько лечить?» ЧБНЛ 29 за 3 года. «Почему на графике 34% и 37%, а в тексте 17,8% и 21,1%?» Кривая показывает накопленную частоту к каждому месяцу, к концу графика наблюдаемых пациентов остаётся мало; 17,8% и 21,1% доля за всё исследование. «Почему в публикациях разные цифры по калию?» Исследователи сообщали о гиперкалиемии у 18,3% и 9,0%; по лабораторному критерию (калий выше 5,5 ммоль/л) в отдельном анализе было 21,4% и 9,2%, выше 6,0 ммоль/л 4,5% и 1,4% (Agarwal, JASN 2022). Определения разные, риск возрастал примерно вдвое, а по выводу авторов анализа регулярный контроль калия и меры при повышении калия свели влияние гиперкалиемии к минимуму.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FIGARO-DKD группа пациентов шире, чем в FIDELIO-DKD, и включает начальные стадии ХБП.</a:t>
            </a:r>
          </a:p>
          <a:p/>
          <a:p>
            <a:r>
              <a:t>В FIGARO-DKD участвовали взрослые с хронической болезнью почек и диабетом 2 типа. Финеренон сравнивали с плацебо на фоне ингибитора АПФ или блокатора рецепторов ангиотензина в максимально переносимой дозе. Первичный исход объединял сердечно-сосудистую смерть, нефатальные инфаркт и инсульт, а также госпитализацию по поводу сердечной недостаточности.</a:t>
            </a:r>
          </a:p>
          <a:p/>
          <a:p>
            <a:r>
              <a:t>При медиане наблюдения 3,4 года отношение рисков составило 0,87, что соответствует относительному снижению на 13%. Доверительный интервал составил 0,76–0,98. Основной вклад дали госпитализации по поводу сердечной недостаточности: риск ниже на 29% (отношение рисков 0,71; 95% ДИ 0,56–0,90). Снижение риска госпитализации по поводу сердечной недостаточности входит в показание у взрослых с ХБП при диабете 2 типа.</a:t>
            </a:r>
          </a:p>
          <a:p/>
          <a:p>
            <a:r>
              <a:t>Исследователи сообщали о гиперкалиемии у 10,8% пациентов на финереноне и у 5,3% на плацебо. Окончательную отмену из-за неё зарегистрировали у 1,2% и 0,4% соответственно. Калий и рСКФ проверяют до начала лечения, через 4 недели после начала, возобновления или повышения дозы и далее периодически.</a:t>
            </a:r>
          </a:p>
          <a:p/>
          <a:p>
            <a:r>
              <a:t>FIDELIO-DKD и FIGARO-DKD вместе: объединённый анализ FIDELITY.</a:t>
            </a:r>
          </a:p>
          <a:p/>
          <a:p>
            <a:r>
              <a:t>Фраза для визита: «В FIGARO-DKD у пациентов с ХБП и диабетом 2 типа на ИАПФ или БРА финеренон снизил риск сердечно-сосудистых событий на 13% по сравнению с плацебо: 12,4% против 14,2% при медиане наблюдения 3,4 года. Основной вклад дали госпитализации по поводу сердечной недостаточности: риск ниже на 29%».</a:t>
            </a:r>
          </a:p>
          <a:p/>
          <a:p>
            <a:r>
              <a:t>Если врач спросит: «А остальные компоненты?» По отдельности различия по сердечно-сосудистой смерти, инфаркту и инсульту незначимы; основной вклад дали госпитализации по сердечной недостаточности. «А почки в FIGARO-DKD?» Почечный исход (вторичный) 9,5% против 10,8%, отношение рисков 0,87 (0,76–1,01), значимости не достиг. Почечную пользу показывают FIDELIO-DKD и FIDELITY. «А если у пациента есть сердечная недостаточность?» Пациентов с хронической симптомной сердечной недостаточностью со сниженной фракцией выброса в исследование не включали; сердечная недостаточность в анамнезе была у 7,7% участников объединённого анализа. Показание касается снижения риска госпитализации по сердечной недостаточности у взрослых с ХБП и диабетом 2 типа; лечение сердечной недостаточности как отдельного состояния в показание не входит, такие вопросы мы передаём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каждом исследовании мы видели свою сторону: почки в FIDELIO-DKD и сердце в FIGARO-DKD. FIDELITY объединяет их данные.</a:t>
            </a:r>
          </a:p>
          <a:p/>
          <a:p>
            <a:r>
              <a:t>FIDELITY объединил данные FIDELIO-DKD и FIGARO-DKD: 13 026 пациентов с хронической болезнью почек и диабетом 2 типа, медиана наблюдения три года. При сравнении финеренона с плацебо относительный риск комбинированного сердечно-сосудистого исхода был ниже на 14%. Для комбинированного почечного исхода относительное снижение риска составило 23%. Почечный исход включал почечную недостаточность, снижение рСКФ не менее чем на 57%, сохранявшееся не менее четырёх недель, и смерть от почечных причин.</a:t>
            </a:r>
          </a:p>
          <a:p/>
          <a:p>
            <a:r>
              <a:t>Исследователи сообщали о гиперкалиемии у 14,0% пациентов на финереноне и у 6,9% на плацебо. Окончательную отмену из-за неё зарегистрировали у 1,7% и 0,6% соответственно. Калий и рСКФ проверяют до начала лечения, через 4 недели после начала, возобновления или повышения дозы и далее периодически.</a:t>
            </a:r>
          </a:p>
          <a:p/>
          <a:p>
            <a:r>
              <a:t>Одним из первых признаков ответа служит альбуминурия. Что с ней происходит в первые месяцы, на следующем слайде.</a:t>
            </a:r>
          </a:p>
          <a:p/>
          <a:p>
            <a:r>
              <a:t>Фраза для визита: «В объединённом анализе FIDELITY у 13 026 пациентов с ХБП и диабетом 2 типа при медиане наблюдения 3 года финеренон по сравнению с плацебо снизил риск сердечно-сосудистых событий на 14%, риск почечных исходов на 23% и риск госпитализаций по поводу сердечной недостаточности на 22%. Результат согласуется и у пациентов, получавших иНГЛТ2».</a:t>
            </a:r>
          </a:p>
          <a:p/>
          <a:p>
            <a:r>
              <a:t>Если врач спросит: «А пациенты на иНГЛТ2?» На старте иНГЛТ2 получали 877 пациентов (6,7%), арГПП-1 944 (7,2%); в заранее заданных подгруппах результат согласуется с общим. Рандомизированного сравнения комбинации в FIDELITY не было; об отдельном исследовании комбинации см. CONFIDENCE. «Что с калием?» Госпитализация из-за тяжёлой гиперкалиемии 0,9% против 0,2%, гипокалиемия реже: 1,1% против 2,3%. «Насколько надёжен объединённый анализ?» Анализ спланирован заранее, до объединения данных; его тесты поисковые, p без поправки на множественные сравнения, поэтому опираемся на отношения рисков и доверительные интервалы.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FIDELITY к четвёртому месяцу отношение альбумина к креатинину мочи при финереноне было на 32% ниже, чем при плацебо, с поправкой на исходный уровень. Разница между группами относительная. На слайде отдельно показана доля пациентов, у которых АКО снизилось не менее чем на 30% от собственного исходного уровня: 53,2% при финереноне и 27,0% при плацебо. Этот показатель рассчитали в дополнительном анализе после получения данных исследования. По инструкции в FIDELIO-DKD АКО к 4-му месяцу было ниже на 31%, в FIGARO-DKD на 32% по сравнению с плацебо.</a:t>
            </a:r>
          </a:p>
          <a:p/>
          <a:p>
            <a:r>
              <a:t>Раннее изменение альбуминурии помогает оценивать ответ на лечение. В дополнительном анализе снижение АКО объясняло от 64% до 84% почечного эффекта и от 26% до 37% сердечно-сосудистого.</a:t>
            </a:r>
          </a:p>
          <a:p/>
          <a:p>
            <a:r>
              <a:t>Альбуминурию снижает и ингибитор НГЛТ2. Часто возникает вопрос, что будет, если начать оба препарата. Об этом исследование CONFIDENCE.</a:t>
            </a:r>
          </a:p>
          <a:p/>
          <a:p>
            <a:r>
              <a:t>Фраза для визита: «В FIDELITY к 4-му месяцу АКО на финереноне было на 32% ниже, чем на плацебо. В дополнительном анализе это раннее снижение объясняло большую часть почечного эффекта финеренона».</a:t>
            </a:r>
          </a:p>
          <a:p/>
          <a:p>
            <a:r>
              <a:t>Если врач спросит: «Можно ли по АКО предсказать исход у конкретного пациента?» АКО показывает ответ на уровне групп; индивидуальный прогноз врач оценивает отдельно, с учётом калия и функции почек, которые продолжают контролировать.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CONFIDENCE сравнивали одновременное начало приёма финеренона и эмпаглифлозина с началом приёма каждого препарата отдельно. В основной анализ вошли 800 взрослых с хронической болезнью почек и диабетом 2 типа. Все получали ингибитор АПФ или блокатор рецепторов ангиотензина в максимально переносимой дозе.</a:t>
            </a:r>
          </a:p>
          <a:p/>
          <a:p>
            <a:r>
              <a:t>Слева показано отношение АКО к исходному уровню на 180-й день: 0,48 при комбинации, 0,68 при финереноне и 0,71 при эмпаглифлозине. Такие отношения соответствуют снижению внутри групп на 52%, 32% и 29%. В подписях приведены 95% доверительные интервалы. При сравнении групп АКО на комбинации было на 29% ниже, чем на финереноне, и на 32% ниже, чем на эмпаглифлозине. В обоих сравнениях значение p было меньше 0,001. Результаты относятся к альбуминурии. Исходы в исследовании не оценивали; пользу по исходам показывают FIDELIO-DKD, FIGARO-DKD и FIDELITY.</a:t>
            </a:r>
          </a:p>
          <a:p/>
          <a:p>
            <a:r>
              <a:t>Справа показана доля пациентов, у которых калий хотя бы раз превысил 5,5 ммоль/л: 15,1% при комбинации, 18,8% при финереноне и 9,7% при эмпаглифлозине. Различие между комбинацией и финереноном по шансам гиперкалиемии незначимо (p=0,85). Калий при сочетании контролируют по тому же правилу.</a:t>
            </a:r>
          </a:p>
          <a:p/>
          <a:p>
            <a:r>
              <a:t>Что это значит для лечения: финеренон и иНГЛТ2 действуют на разные мишени, и по альбуминурии вместе они дали больший эффект, чем по отдельности. Как это выглядит в схеме лечения, показывает следующий слайд.</a:t>
            </a:r>
          </a:p>
          <a:p/>
          <a:p>
            <a:r>
              <a:t>Фраза для визита: «В исследовании CONFIDENCE у 800 пациентов с ХБП и диабетом 2 типа одновременный старт финеренона и эмпаглифлозина снизил АКО к 180-му дню на 52% от исходного. На одном финереноне снижение составило 32%, на одном эмпаглифлозине 29%; различие комбинации с каждым из препаратов значимо (p&lt;0,001). Гиперкалиемия при комбинации возникла у 15,1% пациентов, на одном финереноне у 18,8%; различие незначимо (p=0,85)».</a:t>
            </a:r>
          </a:p>
          <a:p/>
          <a:p>
            <a:r>
              <a:t>Если врач спросит: «Есть ли данные по исходам у комбинации?» В CONFIDENCE оценивали АКО за 180 дней, исходы не оценивали. Польза финеренона по исходам показана в FIDELIO-DKD, FIGARO-DKD и FIDELITY, в том числе у пациентов на иНГЛТ2. «Эмпаглифлозин снижает риск гиперкалиемии?» В CONFIDENCE при добавлении эмпаглифлозина значимого снижения гиперкалиемии не было: 15,1% на комбинации и 18,8% на финереноне (p=0,85); на одном эмпаглифлозине 9,7%. «Насколько комбинация лучше?» АКО на комбинации ниже, чем на финереноне, на 29% (отношение 0,71; 95% ДИ 0,61–0,82), и ниже, чем на эмпаглифлозине, на 32% (0,68; 0,59–0,79); это сравнение между группами, не путать со снижением от исходного (52%, 32%, 29%). «Почему нет группы плацебо?» В каждой группе был активный препарат и плацебо-пара другого препарата; чистой группы плацебо в исследовании не было. «Можно ли начинать финеренон и эмпаглифлозин одновременно?» В CONFIDENCE изучали одновременный старт. Схема одновременного старта двух препаратов в инструкции не описана: медицинский представитель пересказывает результаты исследования и не даёт рекомендаций по схеме назначения; порядок назначения определяет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рекомендациях ADA 2026 отдельно рассмотрены применение финеренона и начало его приёма одновременно с ингибитором НГЛТ2. Рекомендация 11.8 касается нестероидного антагониста МКР с доказанной эффективностью при ХБП с альбуминурией и рСКФ не менее 25 мл/мин/1,73 м². После начала лечения необходим контроль калия.</a:t>
            </a:r>
          </a:p>
          <a:p/>
          <a:p>
            <a:r>
              <a:t>Рекомендация 11.9 с уровнем доказательств B позволяет рассмотреть одновременное начало приёма финеренона и ингибитора НГЛТ2 у взрослых с диабетом 2 типа, АКО не менее 100 мг/г и рСКФ 30–90 мл/мин/1,73 м² на фоне ингибитора АПФ или БРА. Основанием послужило снижение альбуминурии в CONFIDENCE: к 180-му дню АКО снизилось от исходного на 52% при сочетании, на 32% на финереноне и на 29% на эмпаглифлозине.</a:t>
            </a:r>
          </a:p>
          <a:p/>
          <a:p>
            <a:r>
              <a:t>Рекомендации определили место финеренона. Теперь практический вопрос: как начать лечение, на каких анализах и с какой дозы.</a:t>
            </a:r>
          </a:p>
          <a:p/>
          <a:p>
            <a:r>
              <a:t>Фраза для визита: «Финеренон входит в рекомендации ADA для пациентов с диабетом 2 типа и ХБП с альбуминурией. У каких ваших пациентов с диабетом 2 типа альбуминурия сохраняется на фоне ингибитора АПФ или БРА?»</a:t>
            </a:r>
          </a:p>
          <a:p/>
          <a:p>
            <a:r>
              <a:t>Если врач спросит: «Есть ли исходы при одновременном старте?» Ответ: CONFIDENCE оценивал АКО за 180 дней (II фаза), клинические исходы в нём не изучали. Рекомендация 11.9 (уровень B) основана на снижении альбуминурии и допускает одновременный старт.</a:t>
            </a:r>
          </a:p>
          <a:p/>
          <a:p>
            <a:r>
              <a:t>Если врач спросит: «Написано ли это в вашей инструкции?» Ответ: Показание Финеренон-Орвилле: ХБП, связанная с диабетом 2 типа. Рекомендации описывают место препарата в схеме лечения, показание они не меняют. Одновременный старт с ингибитором НГЛТ2 в инструкции не описан: это рекомендация ADA, решение принимает врач. Условия начала и противопоказания смотрим по инструкции.</a:t>
            </a:r>
          </a:p>
          <a:p/>
          <a:p>
            <a:r>
              <a:t>Если врач спросит: «Какой уровень доказательств у рекомендации?» Ответ: У 11.9 уровень B. По 11.8 уровень уточню у медицинского отдела.</a:t>
            </a:r>
          </a:p>
          <a:p/>
          <a:p>
            <a:r>
              <a:t>Если врач спросит: «А европейские рекомендации?» Ответ: «Уточню в медицинском отделе и вернусь с ответом».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Препараты действуют на разные мишени. Поэтому назначение финеренона само по себе не требует отмены переносимого ингибитора НГЛТ2.</a:t>
            </a:r>
          </a:p>
          <a:p/>
          <a:p>
            <a:r>
              <a:t>В рекомендациях KDIGO препараты добавляют к терапии по показаниям. Для финеренона на этой схеме приведены диабет 2 типа, АКО не менее 30 мг/г, рСКФ не менее 25 мл/мин/1,73 м² и нормальный калий. Для ингибитора НГЛТ2 указан порог рСКФ не менее 20 мл/мин/1,73 м². Показание по инструкции Финеренон-Орвилле: ХБП, связанная с диабетом 2 типа. KDIGO описывает более узкую группу: нужны альбуминурия и ингибитор АПФ или БРА в максимальной дозе. Порог калия для старта по инструкции: не выше 4,8 ммоль/л, до 5,0 с дополнительным контролем в первые 4 недели. Сочетание и последовательность врач определяет по анализам и переносимости.</a:t>
            </a:r>
          </a:p>
          <a:p/>
          <a:p>
            <a:r>
              <a:t>Мы разобрали, как финеренон сочетается с ингибитором НГЛТ2. Теперь вопрос, который врачи задают часто: чем финеренон отличается от спиронолактона, который они знают дольше.</a:t>
            </a:r>
          </a:p>
          <a:p/>
          <a:p>
            <a:r>
              <a:t>Фраза для визита: «Финеренон и ингибитор НГЛТ2 действуют на разные мишени, врачу не нужно выбирать между ними. В исследовании CONFIDENCE при одновременном начале обоих препаратов альбуминурия снизилась на 52% от исходной, на одном финереноне на 32%, на одном эмпаглифлозине на 29%».</a:t>
            </a:r>
          </a:p>
          <a:p/>
          <a:p>
            <a:r>
              <a:t>Если врач спросит: «Можно заменить ингибитор НГЛТ2 финереноном?» Ответ: Препараты не взаимозаменяемы, у них разные механизмы, исследования и показания. Если ингибитор НГЛТ2 не подходит, финеренон назначают на фоне ингибитора АПФ или БРА.</a:t>
            </a:r>
          </a:p>
          <a:p/>
          <a:p>
            <a:r>
              <a:t>Если врач спросит: «Польза сочетания по исходам доказана?» Ответ: CONFIDENCE (II фаза) оценивал АКО за 180 дней, исходов в нём нет. По исходам финеренон изучали в FIDELITY: ингибитор НГЛТ2 получали 877 из 13 026 пациентов (6,7%), результаты в этой подгруппе согласовались с общими. Рандомизации по ингибитору НГЛТ2 в FIDELITY не было.</a:t>
            </a:r>
          </a:p>
          <a:p/>
          <a:p>
            <a:r>
              <a:t>Если врач спросит: «Не растёт ли калий при сочетании?» Ответ: В CONFIDENCE калий выше 5,5 ммоль/л хотя бы раз был у 15,1% на сочетании, у 18,8% на финереноне и у 9,7% на эмпаглифлозине. Между сочетанием и одним финереноном значимой разницы нет (p=0,85). Контроль калия сохраняется.</a:t>
            </a:r>
          </a:p>
          <a:p/>
          <a:p>
            <a:r>
              <a:t>Если врач спросит: «А арГПП-1?» Ответ: арГПП-1 действуют на обмен веществ, финеренон блокирует МКР. В FIDELITY арГПП-1 получали 944 пациента (7,2%), результаты в этой подгруппе согласовались с общими. Сочетание врач выбирает по показаниям.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Финеренон и спиронолактон блокируют один и тот же минералокортикоидный рецептор. Финеренон нестероидный, избирательно блокирует МКР, его метаболиты неактивны. Спиронолактон стероидный: он действует и на рецепторы половых гормонов, с чем связаны антиандрогенные эффекты, и у него есть активные метаболиты. В FIDELITY гинекомастия отмечена у 0,1% пациентов на финереноне и у 0,2% на плацебо.</a:t>
            </a:r>
          </a:p>
          <a:p/>
          <a:p>
            <a:r>
              <a:t>Главное различие в доказательствах. Для финеренона есть крупные исследования исходов у пациентов с ХБП и диабетом 2 типа. В FIDELITY у 13 026 пациентов по сравнению с плацебо риск почечного исхода был ниже на 23% (отношение рисков 0,77; 95% ДИ 0,67–0,88), риск сердечно-сосудистого исхода ниже на 14% (отношение рисков 0,86; 0,78–0,95); медиана наблюдения 3,0 года. Для спиронолактона и эплеренона таких исследований при ХБП и диабете 2 типа нет.</a:t>
            </a:r>
          </a:p>
          <a:p/>
          <a:p>
            <a:r>
              <a:t>Прямое сравнение есть по калию. В ARTS (II фаза, 392 пациента с сердечной недостаточностью со сниженной фракцией выброса и умеренной ХБП, 4 недели) гиперкалиемия возникла у 5,3% на финереноне и у 12,7% на спиронолактоне (p=0,048). Пациенты в ARTS другие, исследование II фазы, поэтому на визите называйте его полностью: ARTS, II фаза, сердечная недостаточность и ХБП.</a:t>
            </a:r>
          </a:p>
          <a:p/>
          <a:p>
            <a:r>
              <a:t>Рекомендация ADA называет именно нестероидный антагонист МКР с доказанной пользой. Посмотрим, что в ней записано.</a:t>
            </a:r>
          </a:p>
          <a:p/>
          <a:p>
            <a:r>
              <a:t>Фраза для визита: «Финеренон нестероидный и избирательный, и у него есть крупные исследования исходов у пациентов с ХБП и диабетом 2 типа. По калию его сравнивали со спиронолактоном в ARTS (II фаза, сердечная недостаточность и ХБП): гиперкалиемия 5,3% против 12,7%. С финереноном спиронолактон не назначают».</a:t>
            </a:r>
          </a:p>
          <a:p/>
          <a:p>
            <a:r>
              <a:t>Если врач спросит: «Что лучше?» Ответ: Прямого сравнения по почечным и сердечно-сосудистым исходам нет, и мы его не заявляем. У пациента с ХБП и диабетом 2 типа довод за финеренон в том, что именно для этой группы есть исследования FIDELIO-DKD и FIGARO-DKD и показание в инструкции. Прямое сравнение есть по калию (ARTS).</a:t>
            </a:r>
          </a:p>
          <a:p/>
          <a:p>
            <a:r>
              <a:t>Если врач спросит: «У спиронолактона разве нет доказательств?» Ответ: Есть, в другой группе. В RALES (1663 пациента с тяжёлой СН и ФВ ЛЖ не выше 35%) спиронолактон снизил риск смерти на 30% по сравнению с плацебо (относительный риск 0,70; 95% ДИ 0,60–0,82). Гинекомастия или боль в груди отмечены у 10% мужчин на спиронолактоне и у 1% на плацебо. При ХБП и диабете 2 типа исследований исходов у спиронолактона нет.</a:t>
            </a:r>
          </a:p>
          <a:p/>
          <a:p>
            <a:r>
              <a:t>Если врач спросит: «На чём основана избирательность?» Ответ: По инструкции финеренон селективный нестероидный антагонист МКР. В лабораторных работах показана высокая избирательность финеренона и недостаток её у спиронолактона (Bärfacker L, et al. ChemMedChem 2012). Клинические данные по половым гормонам: гинекомастия в FIDELITY 0,1% и 0,2% на плацебо (все участники). В RALES у мужчин на спиронолактоне 10% против 1% на плацебо. Исследования и группы разные, прямого сравнения нет.</a:t>
            </a:r>
          </a:p>
          <a:p/>
          <a:p>
            <a:r>
              <a:t>Если врач спросит: «Какие дозы были в ARTS?» Ответ: Финеренон 2,5, 5 или 10 мг один раз в сутки либо 5 мг два раза в сутки, спиронолактон 25 или 50 мг в открытой группе. Цифра 5,3% относится ко всем дозам финеренона вместе. Зарегистрированная схема 10 и 20 мг.</a:t>
            </a:r>
          </a:p>
          <a:p/>
          <a:p>
            <a:r>
              <a:t>Если врач спросит: «А эплеренон?» Ответ: Эплеренон тоже стероидный. Исследований исходов при ХБП и диабете 2 типа у него нет, с финереноном его не назначают (инструкция).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Повышение калия связано с той же мишенью, через которую действует финеренон. В клетках собирательной трубочки сигнал альдостерона поддерживает всасывание натрия и выведение калия в мочу. При блокаде рецептора через натриевый канал проходит меньше натрия. Электрическая движущая сила для секреции калия ослабевает, и меньше калия поступает в просвет трубочки. Его концентрация в крови может повыситься.</a:t>
            </a:r>
          </a:p>
          <a:p/>
          <a:p>
            <a:r>
              <a:t>Риск зависит также от исходного калия, функции почек, сопутствующих заболеваний и лекарств.</a:t>
            </a:r>
          </a:p>
          <a:p/>
          <a:p>
            <a:r>
              <a:t>Калий зависит и от концентрации самого финеренона. Её меняют лекарства, которые влияют на фермент CYP3A4. Об этом следующий слайд.</a:t>
            </a:r>
          </a:p>
          <a:p/>
          <a:p>
            <a:r>
              <a:t>Фраза для визита: «Повышение калия при финереноне связано с механизмом действия, поэтому калий проверяют по расписанию: до начала, через 4 недели и далее периодически. В FIDELITY из-за гиперкалиемии окончательно прекратили лечение 1,7% пациентов на финереноне и 0,6% на плацебо за время наблюдения около 3 лет».</a:t>
            </a:r>
          </a:p>
          <a:p/>
          <a:p>
            <a:r>
              <a:t>Если врач спросит: «Правда, что ингибиторы НГЛТ2 снижают риск гиперкалиемии?» Ответ: В анализе FIDELIO-DKD у получавших ингибиторы НГЛТ2 или диуретики риск был ниже. Наблюдение сделано без рандомизации: пациентов на такую терапию случайно не распределяли. В CONFIDENCE калий выше 5,5 ммоль/л хотя бы раз был у 15,1% на сочетании, у 18,8% на финереноне и у 9,7% на эмпаглифлозине; между сочетанием и финереноном значимой разницы нет (p=0,85). Контроль калия сохраняется.</a:t>
            </a:r>
          </a:p>
          <a:p/>
          <a:p>
            <a:r>
              <a:t>Если врач спросит: «А если смотреть по строгому порогу?» Ответ: В FIDELIO-DKD калий выше 5,5 ммоль/л хотя бы раз отмечен у 21,4% на финереноне и 9,2% на плацебо, выше 6,0 у 4,5% и 1,4%. По протоколу исследования препарат при этом временно отменяли и возобновляли по 10 мг при калии ≤5,0.</a:t>
            </a:r>
          </a:p>
          <a:p/>
          <a:p>
            <a:r>
              <a:t>Если врач спросит: «А тяжёлая гиперкалиемия бывает?» Ответ: В FIDELITY госпитализация из-за гиперкалиемии у 0,9% на финереноне и 0,2% на плацебо, случаев со смертельным исходом не было ни в одной группе. После 4-го месяца калий в среднем вырос на 0,21 ммоль/л на финереноне и на 0,02 на плацебо и дальше держался стабильно. Гипокалиемия реже на финереноне: 1,1% против 2,3%.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Финеренон превращается в неактивные метаболиты; около 90% приходится на CYP3A4 в печени и стенке кишечника, около 10% на CYP2C8. Абсолютная биодоступность финеренона 43,5%: часть дозы метаболизируется при первом проходе через стенку кишечника и печень. Сравним два варианта при одной и той же дозе финеренона.</a:t>
            </a:r>
          </a:p>
          <a:p/>
          <a:p>
            <a:r>
              <a:t>В верхней строке показано ингибирование. Активность CYP3A4 подавляется, метаболизм замедляется. Концентрация финеренона в крови повышается, и риск гиперкалиемии может расти. Совместное применение финеренона с сильными ингибиторами CYP3A4 противопоказано. К ним относятся кларитромицин, кетоконазол, итраконазол, ритонавир и нелфинавир.</a:t>
            </a:r>
          </a:p>
          <a:p/>
          <a:p>
            <a:r>
              <a:t>С умеренными и слабыми ингибиторами нужен контроль калия. Его проверяют при начале лечения и при изменении дозы финеренона или ингибитора CYP3A4. При необходимости врач корректирует дозу финеренона. Примеры умеренных ингибиторов: эритромицин и верапамил. Пример слабого: флувоксамин.</a:t>
            </a:r>
          </a:p>
          <a:p/>
          <a:p>
            <a:r>
              <a:t>Нижняя строка показывает индукцию. Способность системы метаболизировать препарат возрастает. Концентрация финеренона снижается, и его эффект может ослабевать. Совместное применение с сильными и умеренными индукторами не рекомендуется. Сильные индукторы: рифампицин, карбамазепин и зверобой. Умеренный индуктор: эфавиренз. Грейпфрут и его сок исключают на время лечения.</a:t>
            </a:r>
          </a:p>
          <a:p/>
          <a:p>
            <a:r>
              <a:t>Теперь соберём все группы взаимодействий в одном слайде.</a:t>
            </a:r>
          </a:p>
          <a:p/>
          <a:p>
            <a:r>
              <a:t>Фраза для визита: «Перед назначением финеренона смотрим список лекарств: сильные ингибиторы CYP3A4, например кларитромицин, противопоказаны, а сильные и умеренные индукторы, например рифампицин, не рекомендуются».</a:t>
            </a:r>
          </a:p>
          <a:p/>
          <a:p>
            <a:r>
              <a:t>Если врач спросит: «Где это написано?» Ответ: Сильные ингибиторы указаны в инструкции Финеренон-Орвилле. Умеренные и слабые ингибиторы, индукторы и грейпфрут описаны в инструкции Kerendia (раздел 4.5). Конкретное сочетание и дозу оценивает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Взаимодействия различаются по требуемым действиям. Сильные ингибиторы CYP3A4 противопоказаны (инструкция Финеренон-Орвилле). К ним относятся кларитромицин, кетоконазол, итраконазол, ритонавир и нелфинавир. Финеренон также не следует назначать вместе с другими антагонистами минералокортикоидного рецептора или калийсберегающими диуретиками. При сочетании с препаратами калия и триметопримом, в том числе в составе ко-тримоксазола, нужны осторожность и контроль калия.</a:t>
            </a:r>
          </a:p>
          <a:p/>
          <a:p>
            <a:r>
              <a:t>Инструкция Kerendia (ЕС) не рекомендует сильные и умеренные индукторы CYP3A4, предусматривает исключение грейпфрута и его сока и дополнительный контроль при умеренных или слабых ингибиторах.</a:t>
            </a:r>
          </a:p>
          <a:p/>
          <a:p>
            <a:r>
              <a:t>Для проверки нужен полный список лекарств, добавок и безрецептурных средств. Объясните врачу, почему взаимодействия имеют значение. Необходимость сочетания, изменение доз и сроки анализов определяет врач.</a:t>
            </a:r>
          </a:p>
          <a:p/>
          <a:p>
            <a:r>
              <a:t>Взаимодействия проверены. Осталось посмотреть, что нужно знать об особых группах пациентов: это следующий слайд, о безопасности.</a:t>
            </a:r>
          </a:p>
          <a:p/>
          <a:p>
            <a:r>
              <a:t>Фраза для визита: «Перед назначением финеренона врач проверяет список лекарств. Сильные ингибиторы CYP3A4 противопоказаны, другие антагонисты МКР и калийсберегающие диуретики не назначают, с препаратами калия и триметопримом контролируют калий».</a:t>
            </a:r>
          </a:p>
          <a:p/>
          <a:p>
            <a:r>
              <a:t>Если врач спросит: «Где это написано?» Ответ: Сильные ингибиторы, другие антагонисты МКР, калийсберегающие диуретики, препараты калия и триметоприм указаны в инструкции Финеренон-Орвилле. Индукторы, грейпфрут, умеренные и слабые ингибиторы описаны в инструкции Kerendia (раздел 4.5).</a:t>
            </a:r>
          </a:p>
          <a:p/>
          <a:p>
            <a:r>
              <a:t>Если врач спросит: «Что делать с НПВП и заменителями соли?» Ответ: В тексте инструкции Финеренон-Орвилле их нет. Общий клинический принцип для пациентов с ХБП: НПВП и калийсодержащие заменители соли могут повышать калий, а НПВП ещё и ухудшать функцию почек. Конкретную тактику выбирает врач, источник уточню у медицинского отдела.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Показание по инструкции Финеренон-Орвилле (перевод с узбекского): «Финеренон показан для снижения риска устойчивого снижения скорости клубочковой фильтрации, терминальной стадии болезни почек, смерти от осложнений сердечно-сосудистых заболеваний, нефатального инфаркта миокарда и госпитализации по поводу сердечной недостаточности у взрослых пациентов с хронической болезнью почек, связанной с сахарным диабетом 2 типа». Перечень рисков относится именно к этой группе пациентов.</a:t>
            </a:r>
          </a:p>
          <a:p/>
          <a:p>
            <a:r>
              <a:t>Перед началом врач оценивает калий, рСКФ, противопоказания и сопутствующие препараты. При калии не выше 4,8 ммоль/л лечение можно начать, если остальные условия соблюдены. При калии выше 4,8, но не выше 5,0 ммоль/л начало можно рассмотреть с дополнительным контролем калия в первые четыре недели. При калии выше 5,0 ммоль/л лечение не начинают.</a:t>
            </a:r>
          </a:p>
          <a:p/>
          <a:p>
            <a:r>
              <a:t>Если рСКФ не менее 60 мл/мин/1,73 м², начальная доза составляет 20 мг один раз в сутки. Если рСКФ не менее 25, но ниже 60, начальная доза составляет 10 мг один раз в сутки. При рСКФ ниже 25 начинать лечение не рекомендуется. Целевая и максимальная доза составляет 20 мг один раз в сутки. Противопоказания включают гиперчувствительность к компонентам, болезнь Аддисона и одновременное применение сильных ингибиторов CYP3A4. Одной рСКФ недостаточно, чтобы решить, можно ли начать лечение.</a:t>
            </a:r>
          </a:p>
          <a:p/>
          <a:p>
            <a:r>
              <a:t>Допустим, лечение началось. Теперь о том, когда проверять калий и рСКФ дальше.</a:t>
            </a:r>
          </a:p>
          <a:p/>
          <a:p>
            <a:r>
              <a:t>Фраза для визита: «Правило старта простое: два анализа, калий и рСКФ. Калий решает, можно ли начинать, рСКФ определяет дозу, 20 или 10 мг. Целевая доза 20 мг один раз в сутки».</a:t>
            </a:r>
          </a:p>
          <a:p/>
          <a:p>
            <a:r>
              <a:t>Если врач спросит: «Почему при рСКФ 25–60 доза 10 мг?» Ответ: Начальную дозу инструкция выбирает по рСКФ. При умеренном нарушении функции почек (клиренс креатинина от 30 до 60 мл/мин) AUC финеренона по инструкции выше на 34–36%. Цель 20 мг, повышение дозы идёт по калию (слайд «Коррекция дозы»).</a:t>
            </a:r>
          </a:p>
          <a:p/>
          <a:p>
            <a:r>
              <a:t>Если врач спросит: «Можно ли начинать при калии 4,9?» Ответ: По инструкции при калии выше 4,8 и не выше 5,0 ммоль/л начало можно рассмотреть, с дополнительным контролем калия в первые 4 недели. При калии выше 5,0 лечение не начинают.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Наблюдение планируют с самого начала лечения. Калий и рСКФ определяют до первой дозы, затем через четыре недели после начала, возобновления лечения или повышения дозы (инструкция). Далее калий контролируют периодически с учётом особенностей пациента и результатов анализов.</a:t>
            </a:r>
          </a:p>
          <a:p/>
          <a:p>
            <a:r>
              <a:t>Если исходный калий выше 4,8, но не выше 5,0 ммоль/л, инструкция предусматривает дополнительный контроль в первые четыре недели. Острое заболевание, обезвоживание, ухудшение функции почек или новое взаимодействующее лекарство могут потребовать более раннего анализа. Срок определяет врач. При сочетании с ингибитором НГЛТ2 необходимость контроля калия сохраняется.</a:t>
            </a:r>
          </a:p>
          <a:p/>
          <a:p>
            <a:r>
              <a:t>Что делать, если калий вырос: алгоритм коррекции дозы на следующем слайде.</a:t>
            </a:r>
          </a:p>
          <a:p/>
          <a:p>
            <a:r>
              <a:t>Фраза для визита: «Контроль простой: калий и рСКФ до первой дозы, через 4 недели и далее периодически. При остром заболевании, обезвоживании или новом препарате анализ делают раньше».</a:t>
            </a:r>
          </a:p>
          <a:p/>
          <a:p>
            <a:r>
              <a:t>Если врач спросит: «Как часто потом?» Ответ: Инструкция: периодически, с учётом калия и особенностей пациента. В протоколах FIDELIO-DKD и FIGARO-DKD калий определяли на плановых визитах примерно каждые 4 месяца. Конкретный срок определяет врач.</a:t>
            </a:r>
          </a:p>
          <a:p/>
          <a:p>
            <a:r>
              <a:t>Если врач спросит: «После начала упала рСКФ, что делать?» Ответ: По инструкции начало лечения может привести к небольшому снижению рСКФ в первые 4 недели, затем она стабилизируется. В FIDELITY снижение рСКФ как нежелательное явление отмечено у 5,3% на финереноне и 4,2% на плацебо. Оценку и тактику выбирает врач.</a:t>
            </a:r>
          </a:p>
          <a:p/>
          <a:p>
            <a:r>
              <a:t>Если врач спросит: «Что с рСКФ после старта?» Ответ: В первые 4 недели рСКФ может немного снизиться, затем стабилизируется; калий и рСКФ проверяют через 4 недели. Решение о коррекции принимает врач.</a:t>
            </a:r>
          </a:p>
          <a:p/>
          <a:p>
            <a:r>
              <a:t>Если врач спросит: «С ингибитором НГЛТ2 калий можно контролировать реже?» Ответ: Сочетание значимо не снижало риск гиперкалиемии. В CONFIDENCE калий выше 5,5 ммоль/л хотя бы раз был у 15,1% на сочетании и у 18,8% на финереноне (p=0,85). Режим контроля тот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Коррекция дозы зависит от калия и изменения рСКФ. При калии 4,8 ммоль/л и ниже дозу 10 мг повышают до 20 мг один раз в сутки, а дозу 20 мг сохраняют. Есть исключение: если рСКФ снизилась более чем на 30% от предыдущего измерения, дозу 10 мг не повышают. При калии выше 4,8, но не выше 5,5 ммоль/л сохраняют текущую дозу.</a:t>
            </a:r>
          </a:p>
          <a:p/>
          <a:p>
            <a:r>
              <a:t>При калии выше 5,5 ммоль/л финеренон временно отменяют. Если в повторном анализе калий не выше 5,0 ммоль/л, врач может возобновить приём финеренона в дозе 10 мг один раз в сутки. Через четыре недели после начала лечения, его возобновления или повышения дозы повторяют калий и рСКФ.</a:t>
            </a:r>
          </a:p>
          <a:p/>
          <a:p>
            <a:r>
              <a:t>Срочность оценки высокого калия описана в руководстве UK Kidney Association (издание июля 2026 года). При калии 6,0 ммоль/л и выше оценка срочная, без ожидания планового контроля; при 6,5 и выше нужна немедленная оценка в стационаре. Ухудшение состояния может потребовать помощи раньше. МП не определяет тактику лечения гиперкалиемии.</a:t>
            </a:r>
          </a:p>
          <a:p/>
          <a:p>
            <a:r>
              <a:t>Правило простое. Теперь разберём, откуда берётся повышение калия и насколько часто оно бывает.</a:t>
            </a:r>
          </a:p>
          <a:p/>
          <a:p>
            <a:r>
              <a:t>Фраза для визита: «Дозу выбирают по калию: при 4,8 и ниже 10 мг повышают до 20 мг, до 5,5 сохраняют, выше 5,5 временно отменяют. Калий и рСКФ проверяют через 4 недели после старта».</a:t>
            </a:r>
          </a:p>
          <a:p/>
          <a:p>
            <a:r>
              <a:t>Если врач спросит: «Почему рСКФ снизилась после старта?» В первые 4 недели возможно небольшое снижение рСКФ, затем показатель стабилизируется (по инструкции). Поэтому рСКФ и калий проверяют через 4 недели, а дозу 10 мг не повышают, если рСКФ снизилась более чем на 30% от предыдущего измерения.</a:t>
            </a:r>
          </a:p>
          <a:p/>
          <a:p>
            <a:r>
              <a:t>Если врач спросит, как вели калий в исследованиях: в FIDELITY (13 026 пациентов, медиана 3,0 года) препарат приостанавливали при калии выше 5,5 и возобновляли при 5,0 и ниже; окончательно отменили из-за гиперкалиемии 1,7% пациентов на финереноне и 0,6% на плацебо.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Сведения о безопасности собраны на одном слайде в трёх карточках: калий, другие реакции, особые группы. Финеренон может вызывать гиперкалиемию, гипотензию и гипонатриемию. Числа на слайде получены в FIDELITY: 13 026 пациентов, медиана наблюдения 3,0 года. Гиперкалиемия по сообщениям исследователей была у 14,0% на финереноне и у 6,9% на плацебо; окончательно отменили лечение из-за неё 1,7% и 0,6%; случаев смерти от гиперкалиемии не было. Острое повреждение почек: 3,4% и 3,6%. Серьёзные нежелательные явления: 31,6% и 33,7%. До 18 лет эффективность и безопасность не установлены, пожилым коррекция дозы не требуется, данных о применении при беременности и в период лактации в инструкции нет.</a:t>
            </a:r>
          </a:p>
          <a:p/>
          <a:p>
            <a:r>
              <a:t>При рСКФ ниже 15 мл/мин/1,73 м² лечение прекращают. При тяжёлом нарушении функции печени класса C по Чайлд–Пью его не начинают. При классе B начальную дозу не меняют и рассматривают дополнительный контроль калия. Во время беременности препарат применяют только после тщательной оценки пользы для матери и риска для плода, женщинам детородного возраста нужна эффективная контрацепция, при грудном вскармливании решают, что прекратить: кормление или лечение. Эти правила взяты из европейской инструкции Kerendia и отмечены на слайде значком ¹.</a:t>
            </a:r>
          </a:p>
          <a:p/>
          <a:p>
            <a:r>
              <a:t>Если МП узнал о нежелательном явлении, он передаёт сведения в фармаконадзор по действующей процедуре компании. Доказательства связи с препаратом ждать не нужно. Срочность медицинской помощи оценивает врач независимо от срока передачи сообщения. МП не советует лечение и не устанавливает причинную связь.</a:t>
            </a:r>
          </a:p>
          <a:p/>
          <a:p>
            <a:r>
              <a:t>Правила понятны. Проверим, как они работают на двух условных пациентах.</a:t>
            </a:r>
          </a:p>
          <a:p/>
          <a:p>
            <a:r>
              <a:t>Фраза для визита: «Калий проверяют до начала, через 4 недели и далее периодически. В FIDELITY из-за гиперкалиемии лечение окончательно отменили у 1,7% пациентов на финереноне и у 0,6% на плацебо».</a:t>
            </a:r>
          </a:p>
          <a:p/>
          <a:p>
            <a:r>
              <a:t>Если врач спросит о давлении: среднее систолическое давление через 4 месяца изменилось на −3,2 мм рт. ст. на финереноне и на +0,5 на плацебо. О полной картине (в каждой паре первое число у финеренона, второе у плацебо): любые нежелательные явления 86,1% и 86,4%; явления, приведшие к отмене, 6,4% и 5,4%; госпитализация из-за серьёзной гиперкалиемии 0,9% и 0,2%. О низком калии: гипокалиемия 1,1% на финереноне и 2,3% на плацебо. О гинекомастии: 0,1% и 0,2%. Откуда правила для печени, для рСКФ ниже 15 и по контрацепции: из европейской инструкции Kerendia; в инструкции Финеренон-Орвилле по беременности и лактации данных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Перед нами два условных случая. У первого пациента АКО составляет 320 и 360 мг/г в анализах с интервалом четыре месяца, рСКФ 48 мл/мин/1,73 м², калий 4,6 ммоль/л. Известны препараты, которые он получает: лозартан и эмпаглифлозин. У второго пациента АКО 110 мг/г определили однократно во время инфекции мочевых путей, рСКФ составляет 78, а результат калия и полный список лекарств пока неизвестны.</a:t>
            </a:r>
          </a:p>
          <a:p/>
          <a:p>
            <a:r>
              <a:t>Какие сведения уже позволяют врачу оценивать возможность начала лечения, а чего ещё не хватает? Какой результат нельзя трактовать без учёта обстоятельств, в которых сделан анализ?</a:t>
            </a:r>
          </a:p>
          <a:p/>
          <a:p>
            <a:r>
              <a:t>У пациента 1 есть все данные: подтверждённая альбуминурия, рСКФ 48, калий 4,6, лозартан в максимальной дозе, известный список лекарств; по рСКФ 48 стартовая доза 10 мг. Если врач не найдёт противопоказаний и взаимодействий, он может рассмотреть начало лечения. У пациента 2 АКО определено один раз при инфекции мочевых путей, поэтому анализ нужно повторить; сохранная рСКФ не исключает ХБП, поэтому одной рСКФ для решения недостаточно. Решение о лечении принимает врач.</a:t>
            </a:r>
          </a:p>
          <a:p/>
          <a:p>
            <a:r>
              <a:t>Следующий случай другой: у пациента с рСКФ 65 через 4 недели после старта повысился калий.</a:t>
            </a:r>
          </a:p>
          <a:p/>
          <a:p>
            <a:r>
              <a:t>Фраза для визита: «У каких ваших пациентов с ХБП и диабетом 2 типа альбуминурия сохраняется, несмотря на ингибитор АПФ или БРА в максимальной дозе (с ингибитором НГЛТ2 или без)?»</a:t>
            </a:r>
          </a:p>
          <a:p/>
          <a:p>
            <a:r>
              <a:t>Если врач спросит про калий 4,9–5,0: по инструкции начало возможно с дополнительным контролем калия в первые 4 недели; строка «Калий ≤4,8» показывает условие без оговорок.</a:t>
            </a:r>
          </a:p>
          <a:p/>
          <a:p>
            <a:r>
              <a:t>Если врач спросит: «Пациент уже получает эмпаглифлозин». Ингибитор НГЛТ2 не исключает финеренон: в FIDELITY его получали 877 из 13 026 пациентов (6,7%), и польза у них была не меньше, чем у остальных; в CONFIDENCE снижение АКО от исходного составило 52% при комбинации против 32% на финереноне и 29% на эмпаглифлозине (800 пациентов, 180 дней).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этом условном случае до лечения калий составлял 4,5 ммоль/л, рСКФ 65 мл/мин/1,73 м². Пациент начал получать финеренон 20 мг один раз в сутки. Через четыре недели калий повысился до 5,7, рСКФ составила 61. Незадолго до анализа пациент получил ко-тримоксазол.</a:t>
            </a:r>
          </a:p>
          <a:p/>
          <a:p>
            <a:r>
              <a:t>Что в этой истории требует внимания врача? Означает ли повышение калия, что лечение нужно окончательно прекратить? От чего зависят срок повторного анализа и возможность возобновления?</a:t>
            </a:r>
          </a:p>
          <a:p/>
          <a:p>
            <a:r>
              <a:t>Калий 5,7 выше 5,5, поэтому финеренон временно отменяют и ищут причину: недавно начатый курс ко-тримоксазола (триметоприм) может повышать калий. Окончательная отмена не потребовалась: при повторном анализе калий 4,9, и врач возобновляет лечение с 10 мг, а через 4 недели при калии 4,8 и ниже и снижении рСКФ не более чем на 30% дозу повышают до 20 мг. Врач действует по анализам; МП, получивший сообщение о нежелательном явлении, передаёт его в фармаконадзор и лечение не советует. Лечение конкретному пациенту назначает врач.</a:t>
            </a:r>
          </a:p>
          <a:p/>
          <a:p>
            <a:r>
              <a:t>Вопросы о калии мы услышим на визитах. Следующие слайды собирают возражения врачей и ответы на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прошли путь от механизма действия до сценария визита. У взрослого с ХБП и диабетом 2 типа давление и уровень глюкозы в целевом диапазоне, но альбуминурия сохраняется. Какие сведения нужны для обсуждения дополнительного лечения?</a:t>
            </a:r>
          </a:p>
          <a:p/>
          <a:p>
            <a:r>
              <a:t>Во второй ситуации после начала приёма финеренона повысился калий. Всегда ли это означает окончательную отмену? При каких условиях врач может рассмотреть возобновление? Сначала сформулируем ответы своими словами, затем сопоставим их с разобранными данными. Начнём с первого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Для первого случая нужны подтверждение хронической болезни почек, оценка функции почек и калия, список лекарств и проверка противопоказаний. Целевые давление и глюкоза сами по себе не устраняют риск осложнений. В группе плацебо FIDELITY за медиану 3,0 года составной сердечно-сосудистый исход произошёл у 14,4% пациентов, составной почечный исход у 7,1%, хотя ингибитор АПФ или БРА получали 99,8% участников. Если обсуждается сохраняющаяся альбуминурия, врач оценивает повторные результаты, длительность изменений и временные причины, например инфекцию.</a:t>
            </a:r>
          </a:p>
          <a:p/>
          <a:p>
            <a:r>
              <a:t>Калий: начинают при 4,8 ммоль/л и ниже; при значении выше 4,8 и до 5,0 начало возможно с дополнительным контролем в первые 4 недели; выше 5,0 не начинают. Стартовую дозу выбирают по рСКФ.</a:t>
            </a:r>
          </a:p>
          <a:p/>
          <a:p>
            <a:r>
              <a:t>Применимость лечения к конкретному пациенту врач определяет по инструкции, анализам и сопутствующей терапии.</a:t>
            </a:r>
          </a:p>
          <a:p/>
          <a:p>
            <a:r>
              <a:t>Теперь ответ на второй вопрос: что делать, если повысился калий.</a:t>
            </a:r>
          </a:p>
          <a:p/>
          <a:p>
            <a:r>
              <a:t>Фраза для визита: «Сначала подтверждаем альбуминурию, затем смотрим рСКФ, калий и текущее лечение. Если ингибитор АПФ или БРА в максимальной дозе уже есть, а альбуминурия сохраняется, врач может обсудить финеренон».</a:t>
            </a:r>
          </a:p>
          <a:p/>
          <a:p>
            <a:r>
              <a:t>Если врач спросит: «Альбуминурия есть в показании?» Показание шире: взрослые с ХБП, связанной с диабетом 2 типа. Повышенное АКО было критерием отбора в FIDELIO-DKD и FIGARO-DKD и используется в рекомендациях KDIGO; пользу показали именно такие пациенты.</a:t>
            </a:r>
          </a:p>
          <a:p/>
          <a:p>
            <a:r>
              <a:t>Если врач спросит: «Пациент на иНГЛТ2». В FIDELITY иНГЛТ2 получали 877 пациентов (6,7%), и польза у них была не меньше, чем у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Второй вопрос: после начала приёма финеренона повысился калий. Повышение калия не всегда требует окончательного прекращения лечения. При калии выше 5,5 ммоль/л финеренон временно отменяют и повторно определяют калий. Если в повторном анализе калий не выше 5,0 ммоль/л, врач может возобновить приём финеренона в дозе 10 мг один раз в сутки. Через четыре недели после возобновления вновь оценивают калий и рСКФ.</a:t>
            </a:r>
          </a:p>
          <a:p/>
          <a:p>
            <a:r>
              <a:t>При дальнейшем повышении дозы учитывают функцию почек. Если рСКФ снизилась более чем на 30% от предыдущего измерения, дозу с 10 до 20 мг не повышают.</a:t>
            </a:r>
          </a:p>
          <a:p/>
          <a:p>
            <a:r>
              <a:t>Срочность помощи при повышенном калии оценивают отдельно от выбора дозы. По руководству UK Kidney Association при калии 6,0 ммоль/л и выше нужна срочная оценка, при 6,5 и выше немедленная оценка в стационаре. Ухудшение состояния может требовать более срочной помощи. В FIDELITY окончательно отменили лечение из-за гиперкалиемии 1,7% пациентов на финереноне и 0,6% на плацебо. Эти частоты получены при предусмотренном контроле калия, поэтому контроль сохраняют.</a:t>
            </a:r>
          </a:p>
          <a:p/>
          <a:p>
            <a:r>
              <a:t>Мы ответили на оба вопроса. Теперь проверим себя шире.</a:t>
            </a:r>
          </a:p>
          <a:p/>
          <a:p>
            <a:r>
              <a:t>Фраза для визита: «При повышении калия финеренон временно отменяют, а когда калий 5,0 и ниже, врач может возобновить его с 10 мг. В FIDELITY из-за гиперкалиемии окончательно отменили лечение у 1,7% пациентов на финереноне и у 0,6% на плацебо».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Шесть вопросов, которые может задать врач. Каждый ответ нужно коротко обосновать: что именно изучали, с кем сравнивали, от какого условия зависит действие. Число без группы сравнения и срока может изменить смысл ответа.</a:t>
            </a:r>
          </a:p>
          <a:p/>
          <a:p>
            <a:r>
              <a:t>Как вы ответили бы врачу своими словами? На какие вопросы можно ответить по инструкции, а какие требуют оценки конкретного пациента? К ответам вернёмся после обсуждения каждого вопроса.</a:t>
            </a:r>
          </a:p>
          <a:p/>
          <a:p>
            <a:r>
              <a:t>Ключи ответов. 1. Механизм: при диабете и ХБП минералокортикоидный рецептор активируется избыточно и запускает воспаление и фиброз; финеренон блокирует привлечение коактиваторов этих генов; к 4-му месяцу АКО ниже на 31% (FIDELIO-DKD) и 32% (FIGARO-DKD) по сравнению с плацебо. 2. FIDELIO-DKD: первичный почечный составной исход 17,8% против 21,1% на плацебо, ОР 0,82 (95% ДИ 0,73–0,93), медиана 2,6 года. FIGARO-DKD: первичный сердечно-сосудистый составной исход 12,4% против 14,2%, ОР 0,87 (0,76–0,98), медиана 3,4 года; госпитализации по СН ОР 0,71 (0,56–0,90). 3. Сахарный диабет 2 типа, ХБП, АКО ≥30 мг/г не менее 3 месяцев, рСКФ ≥25, калий ≤4,8 (4,9–5,0 с дополнительным контролем), ингибитор АПФ или БРА в максимально переносимой дозе. 4. Калий 4,8 и ниже: повысить до 20 мг; до 5,5: сохранить; выше 5,5: временно отменить, возобновить с 10 мг при 5,0 и ниже; окончательная отмена из-за гиперкалиемии 1,7% против 0,6% на плацебо (FIDELITY). 5. Спиронолактон: в ARTS (II фаза, 4 недели, СН с ФВ ЛЖ 40% и ниже и ХБП) повышение калия 5,3% на финереноне против 12,7% на спиронолактоне; у спиронолактона и эплеренона нет крупных исследований исходов при ХБП и СД2; иНГЛТ2: в CONFIDENCE снижение АКО от исходного 52% при комбинации против 32% на финереноне и 29% на эмпаглифлозине (800 пациентов, 180 дней). 6. Вне показания МП тему не начинает и отвечает через медицинский отдел; о нежелательном явлении сообщает в фармаконадзор по процедуре компании.</a:t>
            </a:r>
          </a:p>
          <a:p/>
          <a:p>
            <a:r>
              <a:t>Дополнительные вопросы для ролевой игры: почему сохранная рСКФ не исключает ХБП, какие данные дополняет АКО, какие сочетания лекарств требуют внимания.</a:t>
            </a:r>
          </a:p>
          <a:p/>
          <a:p>
            <a:r>
              <a:t>Итоги собираем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Вернёмся к главному из занятия. Финеренон-Орвилле показан взрослым с ХБП, связанной с диабетом 2 типа: он снижает риск устойчивого снижения скорости клубочковой фильтрации, терминальной стадии болезни почек, смерти от осложнений сердечно-сосудистых заболеваний, нефатального инфаркта миокарда и госпитализации по поводу сердечной недостаточности. В исследованиях участвовали пациенты с альбуминурией на ингибиторе АПФ или БРА. Группу исследования и текст показания называйте раздельно.</a:t>
            </a:r>
          </a:p>
          <a:p/>
          <a:p>
            <a:r>
              <a:t>В FIDELIO-DKD относительный риск комбинированного почечного исхода был ниже на 18% по сравнению с плацебо. В FIGARO-DKD относительный риск комбинированного сердечно-сосудистого исхода был ниже на 13% по сравнению с плацебо. В объединённом анализе FIDELITY (13 026 пациентов) по сравнению с плацебо риск сердечно-сосудистого исхода ниже на 14% (ОР 0,86; ЧБНЛ 46 за 3 года), риск почечного исхода ниже на 23% (ОР 0,77; ЧБНЛ 60). ЧБНЛ: число больных, которых нужно лечить, чтобы предотвратить одно событие.</a:t>
            </a:r>
          </a:p>
          <a:p/>
          <a:p>
            <a:r>
              <a:t>Правило по калию простое: анализ до начала, через четыре недели после начала, возобновления или повышения дозы, далее периодически. Начинают при калии не выше 4,8 ммоль/л; при калии выше 4,8 и до 5,0 можно начинать с дополнительным контролем в первые четыре недели; выше 5,0 не начинают. В FIDELITY гиперкалиемия была у 14,0% на финереноне и у 6,9% на плацебо; окончательная отмена из-за неё у 1,7% и 0,6%. До назначения проверяют противопоказания и взаимодействия. Решение о лечении принимает врач. О нежелательных явлениях сообщают в фармаконадзор. Вопросы о применении вне показания передают в медицинский отдел.</a:t>
            </a:r>
          </a:p>
          <a:p/>
          <a:p>
            <a:r>
              <a:t>Дальше научный раздел: данные по другим группам пациентов. Сами эти темы на визите вы не начинаете.</a:t>
            </a:r>
          </a:p>
          <a:p/>
          <a:p>
            <a:r>
              <a:t>Фраза для визита: «У каких ваших пациентов с ХБП и диабетом 2 типа альбуминурия сохраняется на ингибиторе АПФ или БРА? У таких пациентов финеренон снижал риск почечных и сердечно-сосудистых исходов по сравнению с плацебо. Калий проверяем до начала и через 4 недели.»</a:t>
            </a:r>
          </a:p>
          <a:p/>
          <a:p>
            <a:r>
              <a:t>Если врач спросит: «Какая польза у моего пациента?» Ответ: цифры описывают группы в исследованиях, решение о лечении конкретного пациента принимает врач.</a:t>
            </a:r>
          </a:p>
          <a:p/>
          <a:p>
            <a:r>
              <a:t>Если врач спросит: «Это относительное снижение?» Ответ: да, относительное; абсолютные доли даны рядом (17,8% и 21,1%; 12,4% и 14,2%).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Промоционная часть закончена. Научный раздел нужен, чтобы вы понимали вопрос врача и передавали его точно. Здесь сердечная недостаточность с ФВ ЛЖ 40% и выше, ХБП при диабете 1 типа, ХБП без диабета и короткое сравнение со спиронолактоном при сердечной недостаточности. У этих исследований другие пациенты, цели и иногда дозы.</a:t>
            </a:r>
          </a:p>
          <a:p>
            <a:endParaRPr/>
          </a:p>
          <a:p>
            <a:r>
              <a:t>Правило раздела: эти темы вы сами на визите не начинаете. Если врач спросил, вы не обсуждаете применение: записываете вопрос и передаёте его в медицинский отдел или медицинскому советнику. Что сказать врачу: «Спасибо за вопрос. Такие темы разбирает медицинский отдел. Я передам вопрос, и медицинский советник свяжется с вами». Материалы раздела врачу не показывают и не отправляют. Показание Финеренон-Орвилле: взрослые с ХБП, связанной с диабетом 2 типа. Снижение риска госпитализации по поводу сердечной недостаточности входит в него для этой группы. Сердечная недостаточность с ФВ ЛЖ 40% и выше без ХБП при диабете 2 типа в показание не входит.</a:t>
            </a:r>
          </a:p>
          <a:p>
            <a:endParaRPr/>
          </a:p>
          <a:p>
            <a:r>
              <a:t>Статусы регистрации даны на 03.10.2026, их обновляет медицинский отдел. Когда показание появится в инструкции Финеренон-Орвилле, соответствующий слайд переносится в промоционную часть. Учебные материалы используют и передают по действующей процедуре компании. Начнём с самой крупной группы: сердечная недостаточность с ФВ ЛЖ 40% и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Слайд отвечает на вопрос «чем финеренон отличается от спиронолактона». В части B ARTS участвовали пациенты с сердечной недостаточностью со сниженной фракцией выброса и умеренным нарушением функции почек. Лечение продолжалось четыре недели. Дозы финеренона составляли 2,5, 5 или 10 мг один раз в сутки либо 5 мг дважды в сутки. Спиронолактон применяли открыто в дозах 25–50 мг один раз в сутки.</a:t>
            </a:r>
          </a:p>
          <a:p/>
          <a:p>
            <a:r>
              <a:t>Исследователи сообщали о гиперкалиемии или повышении калия у 5,3% пациентов в объединённых группах финеренона, у 12,7% при спиронолактоне и у 1,5% при плацебо. В дополнительном анализе объединили группы разных доз финеренона. Результат показывает различие в переносимости изученных схем за четыре недели. Другие данные ARTS: нарушение функции почек как нежелательное явление у 3,8% на финереноне, у 28,6% на спиронолактоне и у 9,2% на плацебо; BNP, NT-proBNP и АКО снижались на финереноне не меньше, чем на спиронолактоне (описательный анализ, значимого общего эффекта лечения не было). Калий и функцию почек контролируют при любом антагонисте минералокортикоидного рецептора.</a:t>
            </a:r>
          </a:p>
          <a:p/>
          <a:p>
            <a:r>
              <a:t>Раздел закончен. Вопросы врача по этим темам передавайте в медицинский отдел или медицинскому советнику. Дальше приложение к курсу.</a:t>
            </a:r>
          </a:p>
          <a:p/>
          <a:p>
            <a:r>
              <a:t>Если врач спросит: «А долгосрочная безопасность и клинические исходы?» Ответ: в ARTS их не оценивали: исследование II фазы подбирало дозы для программы III фазы. Дозы финеренона в ARTS были от 2,5 до 10 мг.</a:t>
            </a:r>
          </a:p>
          <a:p/>
          <a:p>
            <a:r>
              <a:t>Если врач спросит: «А гинекомастия? А эплеренон?» Ответ: ARTS эти вопросы не изучал, сравнения с эплереноном в нём не было.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FIND-CKD включало 1584 взрослых с хронической болезнью почек без диабета и с альбуминурией. Финеренон 10 или 20 мг сравнивали с плацебо на фоне ингибитора ренин-ангиотензиновой системы. Первичным исходом было среднегодовое изменение рСКФ от исходного уровня до 32-го месяца.</a:t>
            </a:r>
          </a:p>
          <a:p/>
          <a:p>
            <a:r>
              <a:t>Столбцы показывают годовой темп: −3,3 мл/мин/1,73 м² в год при финереноне и −4,0 при плацебо. В подписях приведены 95% доверительные интервалы каждой группы. Межгрупповая разница составила 0,7 с 95% доверительным интервалом от 0,3 до 1,1. Значение p было меньше 0,001. Среднегодовое снижение фильтрации на финереноне медленнее. Показатель рассчитан по модели за весь период оценки, а не по одной точке. После отмены препарата наклон составил +1,2 на финереноне и −0,5 на плацебо (рисунок 1A публикации).</a:t>
            </a:r>
          </a:p>
          <a:p/>
          <a:p>
            <a:r>
              <a:t>Вторичный комбинированный исход (почечные и сердечно-сосудистые события): ОР 0,77 (95% ДИ 0,60–0,99), p=0,04; риск ниже на 23% по сравнению с плацебо. Его проверяли по заранее заданной иерархии. Доли пациентов с событием по сообщению о докладе на ERA 2026: 13,9% на финереноне и 16,9% на плацебо (сверить с таблицей публикации). Гиперкалиемия отмечалась у 17,0% пациентов на финереноне и у 13,3% на плацебо. Окончательную отмену из-за неё зарегистрировали у 1,5% и 0,1% соответственно. Статус на 03.10.2026: показание при ХБП без диабета нигде в мире не зарегистрировано. По сообщениям разработчика, в августе 2026 поданы заявки на расширение применения при ХБП в Китае (ХБП без диабета) и в Японии (28.08.2026); решений нет. Рекомендаций с этим показанием на дату подготовки не найдено. Вопросы врача по ХБП без диабета передавайте в медицинский отдел.</a:t>
            </a:r>
          </a:p>
          <a:p/>
          <a:p>
            <a:r>
              <a:t>Последний слайд раздела: сравнение со спиронолактоном по калию, ARTS.</a:t>
            </a:r>
          </a:p>
          <a:p/>
          <a:p>
            <a:r>
              <a:t>Если врач спросит: «А компоненты вторичного исхода?» Ответ: почечный комбинированный исход: ОР 0,78 (95% ДИ 0,60–1,01); сердечно-сосудистый комбинированный исход: ОР 0,60 (95% ДИ 0,27–1,33). Доверительные интервалы широкие и включают 1, поэтому основу составляет общий исход.</a:t>
            </a:r>
          </a:p>
          <a:p/>
          <a:p>
            <a:r>
              <a:t>Если врач спросит: «А безопасность?» Ответ: гиперкалиемия потребовала госпитализации у 0,9% на финереноне и у 0,6% на плацебо.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FINE-ONE участвовали 242 взрослых с ХБП и диабетом 1 типа. Финеренон сравнивали с плацебо на фоне инсулина и ингибитора АПФ или БРА. Первичным исходом было изменение альбуминурии в среднем по визитам на третьем и шестом месяцах.</a:t>
            </a:r>
          </a:p>
          <a:p>
            <a:endParaRPr/>
          </a:p>
          <a:p>
            <a:r>
              <a:t>АКО снизилось от исходного уровня на 34% при финереноне и на 12% при плацебо. Межгрупповой эффект составил 25%: отношение оставшихся долей исходного АКО равно 0,75. Его 95% доверительный интервал составил 0,65–0,87. Значение p было меньше 0,001. Высоты столбиков нельзя просто вычитать, поскольку они показывают изменения внутри групп. Поэтому разницу 34% и 12% не читают как 22 процентных пункта: эффект выражен отношением геометрических средних 0,75, то есть на 25% больше снижения.</a:t>
            </a:r>
          </a:p>
          <a:p>
            <a:endParaRPr/>
          </a:p>
          <a:p>
            <a:r>
              <a:t>В FINE-ONE оценивали АКО. Диализ и другие клинические исходы не изучали, поэтому показание FDA сформулировано через ожидаемый эффект (следующий слайд). Гиперкалиемия: 10,1% на финереноне и 3,3% на плацебо; двое пациентов (1,7%) окончательно прекратили приём финеренона из-за неё. К 6-му месяцу рСКФ снизилась на 5,6 мл/мин/1,73 м² на финереноне и на 2,7 на плацебо (разница −2,9; 95% ДИ −5,1…−0,7); в период отмены значения приближались к исходным. Вопросы врача о применении при диабете 1 типа передавайте в медицинский отдел. Решение FDA рассматриваем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Результат FINE-ONE привёл к регистрационному решению. 16 сентября 2026 года FDA одобрило дополнение к американской инструкции Керендии для взрослых с ХБП, связанной с диабетом 1 типа. Формулировка относится к снижению отношения альбумина к креатинину мочи с ожидаемым уменьшением риска устойчивого снижения рСКФ и терминальной почечной недостаточности.</a:t>
            </a:r>
          </a:p>
          <a:p/>
          <a:p>
            <a:r>
              <a:t>Основанием служили снижение АКО в FINE-ONE и данные исследований при диабете 2 типа. Ожидаемую клиническую пользу нельзя считать прямым доказательством снижения потребности в диализе в FINE-ONE: такие исходы там не оценивали.</a:t>
            </a:r>
          </a:p>
          <a:p/>
          <a:p>
            <a:r>
              <a:t>Решение FDA действует в США и относится к препарату Керендия. В инструкции Финеренон-Орвилле такого показания нет. Если врач спросит о диабете 1 типа, вы не обсуждаете применение. Что сказать: «Спасибо за вопрос. Такие темы разбирает медицинский отдел. Я передам вопрос, и медицинский советник свяжется с вами». Решение о применении принимает врач.</a:t>
            </a:r>
          </a:p>
          <a:p/>
          <a:p>
            <a:r>
              <a:t>Дальше ХБП без диабета, исследование FIND-CKD.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Напомню правило: эту тему вы сами не начинаете. В анализ FINEARTS-HF вошёл 6001 пациент с симптомной сердечной недостаточностью и фракцией выброса левого желудочка 40% и выше, с диабетом или без него. Учитывали первые и повторные незапланированные госпитализации или срочные визиты из-за сердечной недостаточности, а также сердечно-сосудистую смерть. При медиане наблюдения 32 месяца частота событий первичного исхода была на 16% ниже при финереноне, чем при плацебо. Отношение частот составило 0,84 с 95% доверительным интервалом 0,74–0,95. Значение p составило 0,007.</a:t>
            </a:r>
          </a:p>
          <a:p/>
          <a:p>
            <a:r>
              <a:t>Один пациент мог перенести несколько событий, поэтому отношение частот не равно отношению долей пациентов с событием. Ухудшения сердечной недостаточности (первые и повторные): 842 события на финереноне и 1024 на плацебо, отношение частот 0,82 (95% ДИ 0,71–0,94). Сердечно-сосудистая смерть: 8,1% на финереноне и 8,7% на плацебо, отношение рисков 0,93 (95% ДИ 0,78–1,11), различие статистически незначимо.</a:t>
            </a:r>
          </a:p>
          <a:p/>
          <a:p>
            <a:r>
              <a:t>В FINEARTS-HF калий выше 5,5 ммоль/л встречался чаще при финереноне, чем при плацебо, а гипокалиемия реже. Контроль калия остаётся необходимым.</a:t>
            </a:r>
          </a:p>
          <a:p/>
          <a:p>
            <a:r>
              <a:t>Сводный анализ FINE-HEART объединил FIDELIO-DKD, FIGARO-DKD и FINEARTS-HF: 18 991 пациент, медиана наблюдения 2,9 года. Финеренон по сравнению с плацебо, госпитализации по поводу СН: ОР 0,83 (95% ДИ 0,75–0,92). Смерть от любой причины: 11,0% на финереноне и 12,0% на плацебо, ОР 0,91 (0,84–0,99). Сердечно-сосудистая смерть, первичный исход анализа: 4,4% на финереноне и 5,0% на плацебо, ОР 0,89 (0,78–1,01), p=0,076. Составной почечный исход: ОР 0,80 (0,72–0,90). Участники FIDELIO-DKD и FIGARO-DKD относятся к группе показания Финеренон-Орвилле.</a:t>
            </a:r>
          </a:p>
          <a:p/>
          <a:p>
            <a:r>
              <a:t>Статусы регистрации при СН с ФВ ЛЖ 40% и выше на 03.10.2026: США (FDA), июль 2025; Евросоюз, решение Еврокомиссии 26.03.2026 (разработчик объявил 30.03.2026); Япония, 22.12.2025, и Великобритания, апрель 2026, по сообщениям разработчика. Список стран неполный; актуальный список ведёт медицинский отдел.</a:t>
            </a:r>
          </a:p>
          <a:p/>
          <a:p>
            <a:r>
              <a:t>Следующая группа: ХБП при диабете 1 типа.</a:t>
            </a:r>
          </a:p>
          <a:p/>
          <a:p>
            <a:r>
              <a:t>Если врач спросит: «Какая доза?» Ответ: в FINEARTS-HF максимальная доза была 20 или 40 мг в зависимости от рСКФ, в инструкции Финеренон-Орвилле максимальная доза 20 мг один раз в сутки.</a:t>
            </a:r>
          </a:p>
          <a:p/>
          <a:p>
            <a:r>
              <a:t>Если врач спросит: «А пациент с ХБП, диабетом 2 типа и СН?» Ответ: такой пациент входит в показание Финеренон-Орвилле, снижение риска госпитализации по поводу СН включено в показание (FIGARO-DKD, ОР 0,71); соответствие пациента показанию оценивает врач. Вопросы о СН без ХБП передавайте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Титул задал тему и рамки курса. Прежде чем разбирать механизм и данные, ответим на вопрос врача: зачем ему этот препарат.</a:t>
            </a:r>
          </a:p>
          <a:p/>
          <a:p>
            <a:r>
              <a:t>У взрослого с хронической болезнью почек (ХБП) и диабетом 2 типа риск осложнений остаётся высоким даже на стандартном лечении. Финеренон блокирует минералокортикоидный рецептор (МКР), а у ингибиторов АПФ, БРА и НГЛТ2 мишени другие. В исследованиях на фоне стандартной терапии риск был ниже, чем на плацебо.</a:t>
            </a:r>
          </a:p>
          <a:p/>
          <a:p>
            <a:r>
              <a:t>В FIDELIO-DKD все пациенты получали ингибитор АПФ или БРА в максимально переносимой дозе. В группе плацебо комбинированный почечный исход за время наблюдения (медиана 2,6 года) возник у 21,1%. Остаточный риск есть и на ингибиторе НГЛТ2: в CREDENCE первичный исход возник у 11,1% пациентов на канаглифлозине и у 15,5% на плацебо, все получали ингибитор АПФ или БРА. Финеренон в CREDENCE не изучали, исходы двух работ определены по-разному, поэтому числа из разных исследований между собой не сравниваем. CREDENCE разберём подробно позже. Третья карточка: в FIDELIO-DKD комбинированный почечный исход возник у 17,8% на финереноне и у 21,1% на плацебо, риск ниже на 18%. В FIGARO-DKD комбинированный сердечно-сосудистый исход возник у 12,4% и 14,2%, риск ниже на 13%; госпитализации по поводу сердечной недостаточности: риск ниже на 29%. Подробности каждого исследования будут дальше.</a:t>
            </a:r>
          </a:p>
          <a:p/>
          <a:p>
            <a:r>
              <a:t>Теперь два вопроса, на которые вы ответите к концу курса.</a:t>
            </a:r>
          </a:p>
          <a:p/>
          <a:p>
            <a:r>
              <a:t>Фраза для визита: «У пациентов с хронической болезнью почек и диабетом 2 типа риск остаётся высоким даже на ингибиторе АПФ или БРА. Финеренон блокирует минералокортикоидный рецептор, и в исследованиях FIDELIO-DKD и FIGARO-DKD на фоне ингибитора АПФ или БРА риск почечных и сердечно-сосудистых осложнений был ниже, чем на плацебо».</a:t>
            </a:r>
          </a:p>
          <a:p/>
          <a:p>
            <a:r>
              <a:t>Если врач спросит: «Вы сравниваете финеренон с канаглифлозином?» Нет. Исследования разные, исходы определены по-разному. Карточка показывает один факт: риск остаётся и на ингибиторе НГЛТ2.</a:t>
            </a:r>
          </a:p>
          <a:p/>
          <a:p>
            <a:r>
              <a:t>Если врач спросит: «Воспаление и фиброз доказаны у человека?» Ослабление сигналов воспаления и фиброза показано в доклинических исследованиях. Клинический результат показан в FIDELIO-DKD и FIGARO-DKD.</a:t>
            </a:r>
          </a:p>
          <a:p/>
          <a:p>
            <a:r>
              <a:t>Если врач спросит: «А если у пациента нет альбуминурии?» В исследования включали взрослых с диабетом 2 типа, хронической болезнью почек и альбуминурией. Показание в инструкции: взрослые с хронической болезнью почек, связанной с диабетом 2 типа. Решение о назначении принимает врач; по вопросам вне этих данных передаю запрос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предыдущих слайдах мы разобрали, как у пациента с диабетом 2 типа оценивают почки: рСКФ, АКО и стадии риска. Теперь определим, кого из пациентов врача искать.</a:t>
            </a:r>
          </a:p>
          <a:p/>
          <a:p>
            <a:r>
              <a:t>Искать нужно взрослых с диабетом 2 типа и хронической болезнью почек (ХБП), прежде всего тех, у кого альбуминурия сохраняется на ингибиторе АПФ или БРА.</a:t>
            </a:r>
          </a:p>
          <a:p/>
          <a:p>
            <a:r>
              <a:t>Показание по инструкции: взрослые с ХБП, связанной с диабетом 2 типа. Порога АКО в показании нет. Условия начала по инструкции: рСКФ не менее 25 мл/мин/1,73 м² и калий не выше 4,8 ммоль/л. При калии выше 4,8 и до 5,0 лечение можно начинать с дополнительным контролем калия в первые 4 недели, при калии выше 5,0 лечение не начинают. АКО не менее 30 мг/г и ингибитор АПФ или БРА в максимально переносимой дозе взяты из критериев FIDELIO-DKD и FIGARO-DKD и из рекомендаций KDIGO. В тексте показания их нет, поэтому они стоят в отдельной карточке. Поводы для разговора: альбуминурия сохраняется на ингибиторе АПФ или БРА; АКО давно не определяли; АКО повышено при сохранной рСКФ. При диабете 2 типа рСКФ и АКО проверяют не реже раза в год. Задача представителя: задать вопрос и подсказать, на какие анализы посмотреть. Решение о пациенте принимает врач.</a:t>
            </a:r>
          </a:p>
          <a:p/>
          <a:p>
            <a:r>
              <a:t>Когда пациент найден, врач смотрит, что он уже получает. Следующий слайд показывает четыре группы препаратов для защиты почек.</a:t>
            </a:r>
          </a:p>
          <a:p/>
          <a:p>
            <a:r>
              <a:t>Фраза для визита: «У каких ваших пациентов с диабетом 2 типа и хронической болезнью почек альбуминурия сохраняется, несмотря на ингибитор АПФ или БРА в максимальной дозе?»</a:t>
            </a:r>
          </a:p>
          <a:p/>
          <a:p>
            <a:r>
              <a:t>Если врач спросит: «Подойдёт ли пациент с АКО ниже 30 мг/г?» В показании порога АКО нет. В FIDELIO-DKD и FIGARO-DKD участвовали пациенты с АКО от 30 мг/г; данных у пациентов без альбуминурии в этих исследованиях нет. Решение по конкретному пациенту принимает врач, вопрос о таких пациентах передаю в медицинский отдел.</a:t>
            </a:r>
          </a:p>
          <a:p/>
          <a:p>
            <a:r>
              <a:t>Если врач спросит: «В карте нет АКО». АКО определяют в разовой порции мочи вместе с креатинином; рСКФ и АКО при диабете 2 типа проверяют не реже раза в год.</a:t>
            </a:r>
          </a:p>
          <a:p/>
          <a:p>
            <a:r>
              <a:t>Если врач спросит: «Какой специалист назначает?» Решение принимает лечащий врач; пациентов с диабетом 2 типа и ХБП видят эндокринологи, терапевты, нефрологи и кардиологи.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предыдущем слайде финеренон блокировал МКР внутри клетки.</a:t>
            </a:r>
          </a:p>
          <a:p/>
          <a:p>
            <a:r>
              <a:t>Блокада МКР, более низкая альбуминурия и меньший риск почечных и сердечно-сосудистых исходов образуют одну линию. У каждого звена свой источник.</a:t>
            </a:r>
          </a:p>
          <a:p/>
          <a:p>
            <a:r>
              <a:t>Звенья 1 и 2. По инструкции финеренон блокирует привлечение коактиваторов, которые включают гены воспаления и фиброза. Ослабление этих сигналов показано в доклинических исследованиях. Звено 3. По инструкции к 4-му месяцу АКО было ниже, чем на плацебо, на 31% в FIDELIO-DKD и на 32% в FIGARO-DKD; в объединённом анализе FIDELITY тоже на 32%. Правые ветки. В FIDELIO-DKD комбинированный почечный исход возник у 17,8% на финереноне и у 21,1% на плацебо, отношение рисков 0,82 (95% ДИ 0,73–0,93). В FIGARO-DKD комбинированный сердечно-сосудистый исход возник у 12,4% и 14,2%, отношение рисков 0,87 (0,76–0,98); госпитализации по поводу сердечной недостаточности: отношение рисков 0,71 (0,56–0,90). Строки показания справа входят в состав этих комбинированных исходов.</a:t>
            </a:r>
          </a:p>
          <a:p/>
          <a:p>
            <a:r>
              <a:t>Подробности каждого исследования впереди. Сначала договоримся, как читать результат: отношение рисков, доверительный интервал, проценты.</a:t>
            </a:r>
          </a:p>
          <a:p/>
          <a:p>
            <a:r>
              <a:t>Фраза для визита: «Финеренон блокирует минералокортикоидный рецептор. К 4-му месяцу альбуминурия была ниже, чем на плацебо, а в FIDELIO-DKD и FIGARO-DKD ниже был и риск почечных и сердечно-сосудистых исходов».</a:t>
            </a:r>
          </a:p>
          <a:p/>
          <a:p>
            <a:r>
              <a:t>Если врач спросит: «АКО объясняет пользу у моего пациента?» По АКО нельзя рассчитать пользу для одного пациента. В дополнительном анализе объединённых данных (12 512 пациентов), не запланированном заранее, изменение АКО к 4-му месяцу объясняло 84% эффекта на комбинированный почечный исход и 37% на сердечно-сосудистый; при пороге снижения АКО на 30% доли составили 64% и 26%. Почечный исход в этом анализе определён как у FIDELITY (снижение рСКФ на 57% и больше). Авторы отмечают, что результат нельзя переносить на другие препараты.</a:t>
            </a:r>
          </a:p>
          <a:p/>
          <a:p>
            <a:r>
              <a:t>Если врач спросит: «Финеренон снижает каждый пункт показания?» Исследования оценивали комбинированные исходы. Отдельно показано снижение госпитализаций по поводу сердечной недостаточности в FIGARO-DKD. Снижение остальных компонентов по отдельности не доказано.</a:t>
            </a:r>
          </a:p>
          <a:p/>
          <a:p>
            <a:r>
              <a:t>Если врач спросит: «Почему в показании нет инсульта?» Показание приведено дословно по инструкции. В FIGARO-DKD сердечно-сосудистый исход включал также нефатальный инсульт.</a:t>
            </a:r>
          </a:p>
          <a:p/>
          <a:p>
            <a:r>
              <a:t>Если врач спросит: «Воспаление и фиброз ослабляются у пациента?» Ослабление показано в доклинических данных. У пациента измеряют АКО и оценивают исходы.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разобрали, как начинать лечение и контролировать калий. Первые четыре возражения касаются других препаратов.</a:t>
            </a:r>
          </a:p>
          <a:p/>
          <a:p>
            <a:r>
              <a:t>На возражение отвечают тремя элементами: свойство или мишень, число с группой сравнения, название исследования. Ответ занимает одну-две фразы. Превосходство заявляем только там, где есть прямое сравнение: по частоте повышения калия в ARTS.</a:t>
            </a:r>
          </a:p>
          <a:p/>
          <a:p>
            <a:r>
              <a:t>1. Ингибитор НГЛТ2. Мишени разные: ингибитор НГЛТ2 действует в проксимальном канальце, финеренон блокирует МКР. В CONFIDENCE (800 пациентов с ХБП и диабетом 2 типа, 180 дней) АКО снизилось от исходного на 52% при одновременном начале двух препаратов, на 32% на финереноне, на 29% на эмпаглифлозине. Показатель относится к альбуминурии, клинические исходы в этом исследовании не оценивали. В FIDELITY польза финеренона отмечена и у пациентов, получавших ингибитор НГЛТ2; числа этой подгруппы на слайд не вынесены.</a:t>
            </a:r>
          </a:p>
          <a:p/>
          <a:p>
            <a:r>
              <a:t>2. Много таблеток. Финеренон принимают один раз в сутки, 10 или 20 мг, независимо от еды. В FIDELIO-DKD, чтобы по сравнению с плацебо предотвратить 1 почечное событие за 3 года, нужно лечить 29 пациентов (95% ДИ 16–166). Какие препараты оставить, решает врач.</a:t>
            </a:r>
          </a:p>
          <a:p/>
          <a:p>
            <a:r>
              <a:t>3. Спиронолактон. Различия касаются свойств и данных. Финеренон нестероидный, метаболиты неактивны. Исходы при ХБП и диабете 2 типа изучены в FIDELIO-DKD и FIGARO-DKD. В ARTS (часть B: II фаза, 392 пациента с сердечной недостаточностью со сниженной фракцией выброса и умеренным нарушением функции почек, 4 недели) гиперкалиемия возникла у 5,3% на финереноне (объединённые группы доз) и у 12,7% на спиронолактоне, p=0,048. Группа ARTS отличается от показания, поэтому число всегда называем вместе с группой.</a:t>
            </a:r>
          </a:p>
          <a:p/>
          <a:p>
            <a:r>
              <a:t>4. Эплеренон. Эплеренон и спиронолактон относят к стероидным антагонистам МКР. Крупных исследований исходов при ХБП и диабете 2 типа у эплеренона нет, у финеренона они есть. Эплеренон изучали при сердечной недостаточности; это другая группа пациентов, тему сами не открываем.</a:t>
            </a:r>
          </a:p>
          <a:p/>
          <a:p>
            <a:r>
              <a:t>Вторая группа возражений касается калия, функции почек, альбуминурии и стоимости.</a:t>
            </a:r>
          </a:p>
          <a:p/>
          <a:p>
            <a:r>
              <a:t>Фраза для визита: «Финеренон добавляют к ингибитору АПФ или БРА. Мишень у него другая, чем у ингибитора НГЛТ2, а исходы при ХБП и диабете 2 типа изучены в FIDELIO-DKD и FIGARO-DKD».</a:t>
            </a:r>
          </a:p>
          <a:p/>
          <a:p>
            <a:r>
              <a:t>Если врач спросит: «Сравнивали ли финеренон с эплереноном напрямую?» Да, в ARTS-HF (II фаза, 1066 пациентов с обострением хронической сердечной недостаточности со сниженной фракцией выброса и диабетом или ХБП, 90 дней). Снижение NT-proBNP более чем на 30% наблюдали у 37,2% на эплеренона и у 30,9–38,8% на разных дозах финеренона, различия незначимы. Группа ARTS-HF вне показания: данные для обсуждения передаю в медицинский отдел.</a:t>
            </a:r>
          </a:p>
          <a:p/>
          <a:p>
            <a:r>
              <a:t>Если врач спросит: «А гинекомастия?» Частоты у меня на слайдах нет; запрос передам в медицинский отдел.</a:t>
            </a:r>
          </a:p>
          <a:p/>
          <a:p>
            <a:r>
              <a:t>Если врач спросит: «Можно назначить финеренон вместе со спиронолактоном или эплереноном?» Нет. По инструкции другие антагонисты МКР вместе с финереноном не назначают.</a:t>
            </a:r>
          </a:p>
          <a:p/>
          <a:p>
            <a:r>
              <a:t>Если врач спросит: «А если пациент получает арГПП-1?» Мишени разные: арГПП-1 действуют на рецептор ГПП-1, финеренон на МКР. В противопоказаниях и взаимодействиях инструкции арГПП-1 не названы. Сочетание определяет врач.</a:t>
            </a:r>
          </a:p>
          <a:p/>
          <a:p>
            <a:r>
              <a:t>Если врач спросит: «В ARTS другая группа пациентов». Верно: исследование II фазы при сердечной недостаточности, спиронолактон назначали открыто, срок 4 недели. Число показывает частоту повышения калия в той группе. У вашего пациента калий контролируют по правилу инструкции.</a:t>
            </a:r>
          </a:p>
          <a:p/>
          <a:p>
            <a:r>
              <a:t>Если врач спросит: «Спиронолактон дешевле». Стоимость препаратов различается; условия уточняю по процедуре компании. Клинические данные при ХБП и диабете 2 типа для финеренона приведены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каждый вопрос отвечает число из исследования или правило из инструкции. Совет по конкретному пациенту представитель не даёт.</a:t>
            </a:r>
          </a:p>
          <a:p/>
          <a:p>
            <a:r>
              <a:t>1. Калий. Правило простое: калий и рСКФ определяют до начала, через 4 недели после начала, возобновления или повышения дозы и далее периодически. Перед началом калий не выше 4,8 ммоль/л; при 4,8–5,0 можно начинать с дополнительным контролем в первые 4 недели; выше 5,0 лечение не начинают. В FIDELITY гиперкалиемия возникла у 14,0% на финереноне и у 6,9% на плацебо. Из-за неё лечение окончательно отменили у 1,7% и 0,6%. При калии выше 5,5 ммоль/л препарат временно отменяют; возобновить можно при калии не выше 5,0 в дозе 10 мг.</a:t>
            </a:r>
          </a:p>
          <a:p/>
          <a:p>
            <a:r>
              <a:t>2. Низкая рСКФ. По инструкции лечение можно начинать при рСКФ не менее 25. При рСКФ от 25 до 60 начальная доза 10 мг, при 60 и выше 20 мг, ниже 25 начинать не рекомендуют. Начало лечения может дать небольшое снижение рСКФ в первые 4 недели с последующей стабилизацией. В FIDELIO-DKD участвовали пациенты с рСКФ от 25 до менее 75, преобладала 3–4-я стадия ХБП: комбинированный почечный исход 17,8% против 21,1%, риск ниже на 18%. Результат относится ко всей когорте; отдельный результат у пациентов с рСКФ ниже 60 я не называю.</a:t>
            </a:r>
          </a:p>
          <a:p/>
          <a:p>
            <a:r>
              <a:t>3. Альбуминурия небольшая, пациент стабилен. ХБП долго протекает без симптомов, поэтому стабильное состояние риск не отменяет. FIGARO-DKD включал и пациентов 2–4-й стадии с умеренно повышенной альбуминурией (АКО 30–300 мг/г), и пациентов 1–2-й стадии с АКО 300–5000 мг/г при рСКФ 60 и выше. Результат относится к исследованию в целом: сердечно-сосудистый исход 12,4% против 14,2%, риск ниже на 13%. Отдельный результат для умеренной альбуминурии я не называю.</a:t>
            </a:r>
          </a:p>
          <a:p/>
          <a:p>
            <a:r>
              <a:t>4. Дорого. Цен и условий доступности в учебных материалах нет, поэтому ответ: уточню по процедуре компании. Для оценки пользы: чтобы по сравнению с плацебо предотвратить 1 событие, в FIDELIO-DKD лечили 29 пациентов за 3 года (95% ДИ 16–166), в FIGARO-DKD 47 за 3,5 года (26–226). Число пациентов, которых нужно лечить, не заменяет экономическую оценку.</a:t>
            </a:r>
          </a:p>
          <a:p/>
          <a:p>
            <a:r>
              <a:t>Теперь соберём всё в сценарий визита из пяти шагов.</a:t>
            </a:r>
          </a:p>
          <a:p/>
          <a:p>
            <a:r>
              <a:t>Фраза для визита: «Калий проверяют до начала, через 4 недели и далее периодически. В FIDELITY из-за гиперкалиемии лечение окончательно отменили 1,7% пациентов против 0,6% на плацебо».</a:t>
            </a:r>
          </a:p>
          <a:p/>
          <a:p>
            <a:r>
              <a:t>Если врач спросит: «Что делать при калии 5,6?» По инструкции финеренон временно отменяют, причину выясняет врач; срочность оценивают по клиническим рекомендациям. Тактику лечения гиперкалиемии представитель не определяет.</a:t>
            </a:r>
          </a:p>
          <a:p/>
          <a:p>
            <a:r>
              <a:t>Если врач спросит: «Были ли смертельные случаи гиперкалиемии?» В FIDELIO-DKD гиперкалиемии со смертельным исходом не было.</a:t>
            </a:r>
          </a:p>
          <a:p/>
          <a:p>
            <a:r>
              <a:t>Если врач спросит: «рСКФ снизилась больше чем на 30%». По инструкции в этом случае дозу не повышают с 10 до 20 мг, причину снижения оценивает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Сценарий из пяти шагов удобно отработать в тройках.</a:t>
            </a:r>
          </a:p>
          <a:p/>
          <a:p>
            <a:r>
              <a:t>Визит начинается с вопроса о пациентах врача и заканчивается просьбой проверить АКО и рассмотреть финеренон, если есть показание. Между ними одно сообщение, одно доказательство и правило по калию.</a:t>
            </a:r>
          </a:p>
          <a:p/>
          <a:p>
            <a:r>
              <a:t>Шаг 1. Вопрос открывает разговор о пациентах врача, детали берём со слайда «Кого искать». Шаг 2. Одно сообщение о мишени, без деталей механизма. Шаг 3. Два числа с группой сравнения: в FIDELIO-DKD комбинированный почечный исход 17,8% против 21,1% на плацебо, риск ниже на 18%; в FIGARO-DKD комбинированный сердечно-сосудистый исход 12,4% против 14,2%, риск ниже на 13%. Шаг 4. Правило по калию: до начала, через 4 недели после начала, возобновления или повышения дозы, далее периодически. Если врач просит число, называем FIDELITY: гиперкалиемия 14,0% против 6,9% на плацебо, окончательная отмена 1,7% против 0,6%. Шаг 5. Просим проверить АКО у таких пациентов и рассмотреть финеренон, если у них есть показание; оставляем инструкцию и публикации по процедуре компании. Решение о лечении принимает врач. Темы вне показания (сердечная недостаточность без ХБП, ХБП без диабета, диабет 1 типа) представитель сам не начинает. Вопрос врача он передаёт в медицинский отдел.</a:t>
            </a:r>
          </a:p>
          <a:p/>
          <a:p>
            <a:r>
              <a:t>Упражнение (7 минут, тройки): первый играет врача и выбирает возражение с одного из двух слайдов о возражениях врача, второй проходит пять шагов, третий отмечает четыре пункта: задан ли вопрос о пациентах; названа ли группа сравнения при каждом числе; сказано ли правило по калию; прозвучало ли «решение остаётся за вами».</a:t>
            </a:r>
          </a:p>
          <a:p/>
          <a:p>
            <a:r>
              <a:t>Вернёмся к двум вопросам из начала курса и ответим на них.</a:t>
            </a:r>
          </a:p>
          <a:p/>
          <a:p>
            <a:r>
              <a:t>Фраза для визита: открывающая: «У каких ваших пациентов с диабетом 2 типа и ХБП альбуминурия сохраняется на ингибиторе АПФ или БРА?» Закрывающая: «Прошу проверить АКО у таких пациентов и рассмотреть финеренон, если есть показание. Решение о лечении остаётся за вами». Три фразы между ними произносим дословно со слайда (около 40 секунд всего при темпе 110–130 слов в минуту: 76 слов).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2389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01/10/2026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01/10/2026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01/10/2026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01/10/2026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01/10/2026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01/10/2026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01/10/2026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01/10/2026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01/10/2026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01/10/2026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3204577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7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9.xml"/><Relationship Id="rId3" Type="http://schemas.openxmlformats.org/officeDocument/2006/relationships/slideLayout" Target="../slideLayouts/slideLayout40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slideLayout" Target="../slideLayouts/slideLayout51.xml"/><Relationship Id="rId3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slideLayout" Target="../slideLayouts/slideLayout53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5.xml"/><Relationship Id="rId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78.xml"/><Relationship Id="rId9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1.xml"/><Relationship Id="rId12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slideLayout" Target="../slideLayouts/slideLayout83.xml"/><Relationship Id="rId3" Type="http://schemas.openxmlformats.org/officeDocument/2006/relationships/slideLayout" Target="../slideLayouts/slideLayout84.xml"/><Relationship Id="rId4" Type="http://schemas.openxmlformats.org/officeDocument/2006/relationships/slideLayout" Target="../slideLayouts/slideLayout85.xml"/><Relationship Id="rId5" Type="http://schemas.openxmlformats.org/officeDocument/2006/relationships/slideLayout" Target="../slideLayouts/slideLayout86.xml"/><Relationship Id="rId6" Type="http://schemas.openxmlformats.org/officeDocument/2006/relationships/slideLayout" Target="../slideLayouts/slideLayout87.xml"/><Relationship Id="rId7" Type="http://schemas.openxmlformats.org/officeDocument/2006/relationships/slideLayout" Target="../slideLayouts/slideLayout88.xml"/><Relationship Id="rId8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2.xml"/><Relationship Id="rId12" Type="http://schemas.openxmlformats.org/officeDocument/2006/relationships/theme" Target="../theme/theme20.xml"/></Relationships>
</file>

<file path=ppt/slideMasters/_rels/slideMaster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slideLayout" Target="../slideLayouts/slideLayout94.xml"/><Relationship Id="rId3" Type="http://schemas.openxmlformats.org/officeDocument/2006/relationships/slideLayout" Target="../slideLayouts/slideLayout95.xml"/><Relationship Id="rId4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7.xml"/><Relationship Id="rId6" Type="http://schemas.openxmlformats.org/officeDocument/2006/relationships/slideLayout" Target="../slideLayouts/slideLayout98.xml"/><Relationship Id="rId7" Type="http://schemas.openxmlformats.org/officeDocument/2006/relationships/slideLayout" Target="../slideLayouts/slideLayout99.xml"/><Relationship Id="rId8" Type="http://schemas.openxmlformats.org/officeDocument/2006/relationships/slideLayout" Target="../slideLayouts/slideLayout100.xml"/><Relationship Id="rId9" Type="http://schemas.openxmlformats.org/officeDocument/2006/relationships/slideLayout" Target="../slideLayouts/slideLayout101.xml"/><Relationship Id="rId10" Type="http://schemas.openxmlformats.org/officeDocument/2006/relationships/slideLayout" Target="../slideLayouts/slideLayout102.xml"/><Relationship Id="rId11" Type="http://schemas.openxmlformats.org/officeDocument/2006/relationships/slideLayout" Target="../slideLayouts/slideLayout103.xml"/><Relationship Id="rId12" Type="http://schemas.openxmlformats.org/officeDocument/2006/relationships/theme" Target="../theme/theme21.xml"/></Relationships>
</file>

<file path=ppt/slideMasters/_rels/slideMaster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slideLayout" Target="../slideLayouts/slideLayout105.xml"/><Relationship Id="rId3" Type="http://schemas.openxmlformats.org/officeDocument/2006/relationships/slideLayout" Target="../slideLayouts/slideLayout106.xml"/><Relationship Id="rId4" Type="http://schemas.openxmlformats.org/officeDocument/2006/relationships/slideLayout" Target="../slideLayouts/slideLayout107.xml"/><Relationship Id="rId5" Type="http://schemas.openxmlformats.org/officeDocument/2006/relationships/slideLayout" Target="../slideLayouts/slideLayout108.xml"/><Relationship Id="rId6" Type="http://schemas.openxmlformats.org/officeDocument/2006/relationships/slideLayout" Target="../slideLayouts/slideLayout109.xml"/><Relationship Id="rId7" Type="http://schemas.openxmlformats.org/officeDocument/2006/relationships/slideLayout" Target="../slideLayouts/slideLayout110.xml"/><Relationship Id="rId8" Type="http://schemas.openxmlformats.org/officeDocument/2006/relationships/slideLayout" Target="../slideLayouts/slideLayout111.xml"/><Relationship Id="rId9" Type="http://schemas.openxmlformats.org/officeDocument/2006/relationships/slideLayout" Target="../slideLayouts/slideLayout112.xml"/><Relationship Id="rId10" Type="http://schemas.openxmlformats.org/officeDocument/2006/relationships/slideLayout" Target="../slideLayouts/slideLayout113.xml"/><Relationship Id="rId11" Type="http://schemas.openxmlformats.org/officeDocument/2006/relationships/slideLayout" Target="../slideLayouts/slideLayout114.xml"/><Relationship Id="rId12" Type="http://schemas.openxmlformats.org/officeDocument/2006/relationships/theme" Target="../theme/theme22.xml"/></Relationships>
</file>

<file path=ppt/slideMasters/_rels/slideMaster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slideLayout" Target="../slideLayouts/slideLayout116.xml"/><Relationship Id="rId3" Type="http://schemas.openxmlformats.org/officeDocument/2006/relationships/slideLayout" Target="../slideLayouts/slideLayout117.xml"/><Relationship Id="rId4" Type="http://schemas.openxmlformats.org/officeDocument/2006/relationships/slideLayout" Target="../slideLayouts/slideLayout118.xml"/><Relationship Id="rId5" Type="http://schemas.openxmlformats.org/officeDocument/2006/relationships/slideLayout" Target="../slideLayouts/slideLayout119.xml"/><Relationship Id="rId6" Type="http://schemas.openxmlformats.org/officeDocument/2006/relationships/slideLayout" Target="../slideLayouts/slideLayout120.xml"/><Relationship Id="rId7" Type="http://schemas.openxmlformats.org/officeDocument/2006/relationships/slideLayout" Target="../slideLayouts/slideLayout121.xml"/><Relationship Id="rId8" Type="http://schemas.openxmlformats.org/officeDocument/2006/relationships/slideLayout" Target="../slideLayouts/slideLayout122.xml"/><Relationship Id="rId9" Type="http://schemas.openxmlformats.org/officeDocument/2006/relationships/slideLayout" Target="../slideLayouts/slideLayout123.xml"/><Relationship Id="rId10" Type="http://schemas.openxmlformats.org/officeDocument/2006/relationships/slideLayout" Target="../slideLayouts/slideLayout124.xml"/><Relationship Id="rId11" Type="http://schemas.openxmlformats.org/officeDocument/2006/relationships/slideLayout" Target="../slideLayouts/slideLayout125.xml"/><Relationship Id="rId12" Type="http://schemas.openxmlformats.org/officeDocument/2006/relationships/slideLayout" Target="../slideLayouts/slideLayout126.xml"/><Relationship Id="rId13" Type="http://schemas.openxmlformats.org/officeDocument/2006/relationships/theme" Target="../theme/theme23.xml"/></Relationships>
</file>

<file path=ppt/slideMasters/_rels/slideMaster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theme" Target="../theme/theme24.xml"/></Relationships>
</file>

<file path=ppt/slideMasters/_rels/slideMaster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140.xml"/><Relationship Id="rId4" Type="http://schemas.openxmlformats.org/officeDocument/2006/relationships/slideLayout" Target="../slideLayouts/slideLayout141.xml"/><Relationship Id="rId5" Type="http://schemas.openxmlformats.org/officeDocument/2006/relationships/slideLayout" Target="../slideLayouts/slideLayout142.xml"/><Relationship Id="rId6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145.xml"/><Relationship Id="rId9" Type="http://schemas.openxmlformats.org/officeDocument/2006/relationships/slideLayout" Target="../slideLayouts/slideLayout146.xml"/><Relationship Id="rId10" Type="http://schemas.openxmlformats.org/officeDocument/2006/relationships/slideLayout" Target="../slideLayouts/slideLayout147.xml"/><Relationship Id="rId11" Type="http://schemas.openxmlformats.org/officeDocument/2006/relationships/slideLayout" Target="../slideLayouts/slideLayout148.xml"/><Relationship Id="rId12" Type="http://schemas.openxmlformats.org/officeDocument/2006/relationships/theme" Target="../theme/theme25.xml"/></Relationships>
</file>

<file path=ppt/slideMasters/_rels/slideMaster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slideLayout" Target="../slideLayouts/slideLayout150.xml"/><Relationship Id="rId3" Type="http://schemas.openxmlformats.org/officeDocument/2006/relationships/slideLayout" Target="../slideLayouts/slideLayout151.xml"/><Relationship Id="rId4" Type="http://schemas.openxmlformats.org/officeDocument/2006/relationships/slideLayout" Target="../slideLayouts/slideLayout152.xml"/><Relationship Id="rId5" Type="http://schemas.openxmlformats.org/officeDocument/2006/relationships/slideLayout" Target="../slideLayouts/slideLayout153.xml"/><Relationship Id="rId6" Type="http://schemas.openxmlformats.org/officeDocument/2006/relationships/slideLayout" Target="../slideLayouts/slideLayout154.xml"/><Relationship Id="rId7" Type="http://schemas.openxmlformats.org/officeDocument/2006/relationships/slideLayout" Target="../slideLayouts/slideLayout155.xml"/><Relationship Id="rId8" Type="http://schemas.openxmlformats.org/officeDocument/2006/relationships/slideLayout" Target="../slideLayouts/slideLayout156.xml"/><Relationship Id="rId9" Type="http://schemas.openxmlformats.org/officeDocument/2006/relationships/slideLayout" Target="../slideLayouts/slideLayout157.xml"/><Relationship Id="rId10" Type="http://schemas.openxmlformats.org/officeDocument/2006/relationships/slideLayout" Target="../slideLayouts/slideLayout158.xml"/><Relationship Id="rId11" Type="http://schemas.openxmlformats.org/officeDocument/2006/relationships/slideLayout" Target="../slideLayouts/slideLayout159.xml"/><Relationship Id="rId12" Type="http://schemas.openxmlformats.org/officeDocument/2006/relationships/theme" Target="../theme/theme26.xml"/></Relationships>
</file>

<file path=ppt/slideMasters/_rels/slideMaster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slideLayout" Target="../slideLayouts/slideLayout161.xml"/><Relationship Id="rId3" Type="http://schemas.openxmlformats.org/officeDocument/2006/relationships/slideLayout" Target="../slideLayouts/slideLayout162.xml"/><Relationship Id="rId4" Type="http://schemas.openxmlformats.org/officeDocument/2006/relationships/slideLayout" Target="../slideLayouts/slideLayout163.xml"/><Relationship Id="rId5" Type="http://schemas.openxmlformats.org/officeDocument/2006/relationships/slideLayout" Target="../slideLayouts/slideLayout164.xml"/><Relationship Id="rId6" Type="http://schemas.openxmlformats.org/officeDocument/2006/relationships/slideLayout" Target="../slideLayouts/slideLayout165.xml"/><Relationship Id="rId7" Type="http://schemas.openxmlformats.org/officeDocument/2006/relationships/slideLayout" Target="../slideLayouts/slideLayout166.xml"/><Relationship Id="rId8" Type="http://schemas.openxmlformats.org/officeDocument/2006/relationships/slideLayout" Target="../slideLayouts/slideLayout167.xml"/><Relationship Id="rId9" Type="http://schemas.openxmlformats.org/officeDocument/2006/relationships/slideLayout" Target="../slideLayouts/slideLayout168.xml"/><Relationship Id="rId10" Type="http://schemas.openxmlformats.org/officeDocument/2006/relationships/slideLayout" Target="../slideLayouts/slideLayout169.xml"/><Relationship Id="rId11" Type="http://schemas.openxmlformats.org/officeDocument/2006/relationships/slideLayout" Target="../slideLayouts/slideLayout170.xml"/><Relationship Id="rId12" Type="http://schemas.openxmlformats.org/officeDocument/2006/relationships/theme" Target="../theme/theme27.xml"/></Relationships>
</file>

<file path=ppt/slideMasters/_rels/slideMaster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slideLayout" Target="../slideLayouts/slideLayout172.xml"/><Relationship Id="rId3" Type="http://schemas.openxmlformats.org/officeDocument/2006/relationships/slideLayout" Target="../slideLayouts/slideLayout173.xml"/><Relationship Id="rId4" Type="http://schemas.openxmlformats.org/officeDocument/2006/relationships/slideLayout" Target="../slideLayouts/slideLayout174.xml"/><Relationship Id="rId5" Type="http://schemas.openxmlformats.org/officeDocument/2006/relationships/slideLayout" Target="../slideLayouts/slideLayout175.xml"/><Relationship Id="rId6" Type="http://schemas.openxmlformats.org/officeDocument/2006/relationships/slideLayout" Target="../slideLayouts/slideLayout176.xml"/><Relationship Id="rId7" Type="http://schemas.openxmlformats.org/officeDocument/2006/relationships/slideLayout" Target="../slideLayouts/slideLayout177.xml"/><Relationship Id="rId8" Type="http://schemas.openxmlformats.org/officeDocument/2006/relationships/slideLayout" Target="../slideLayouts/slideLayout178.xml"/><Relationship Id="rId9" Type="http://schemas.openxmlformats.org/officeDocument/2006/relationships/slideLayout" Target="../slideLayouts/slideLayout179.xml"/><Relationship Id="rId10" Type="http://schemas.openxmlformats.org/officeDocument/2006/relationships/slideLayout" Target="../slideLayouts/slideLayout180.xml"/><Relationship Id="rId11" Type="http://schemas.openxmlformats.org/officeDocument/2006/relationships/slideLayout" Target="../slideLayouts/slideLayout181.xml"/><Relationship Id="rId12" Type="http://schemas.openxmlformats.org/officeDocument/2006/relationships/theme" Target="../theme/theme28.xml"/></Relationships>
</file>

<file path=ppt/slideMasters/_rels/slideMaster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theme" Target="../theme/theme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789" r:id="rId5"/>
    <p:sldLayoutId id="2147483790" r:id="rId6"/>
    <p:sldLayoutId id="2147483791" r:id="rId7"/>
    <p:sldLayoutId id="2147483792" r:id="rId8"/>
    <p:sldLayoutId id="2147483793" r:id="rId9"/>
    <p:sldLayoutId id="2147483794" r:id="rId10"/>
    <p:sldLayoutId id="2147483795" r:id="rId11"/>
    <p:sldLayoutId id="2147483796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  <p:sldLayoutId id="2147483849" r:id="rId4"/>
    <p:sldLayoutId id="2147483850" r:id="rId5"/>
    <p:sldLayoutId id="2147483851" r:id="rId6"/>
    <p:sldLayoutId id="2147483852" r:id="rId7"/>
    <p:sldLayoutId id="2147483853" r:id="rId8"/>
    <p:sldLayoutId id="2147483854" r:id="rId9"/>
    <p:sldLayoutId id="2147483855" r:id="rId10"/>
    <p:sldLayoutId id="2147483856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.xml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.png"/><Relationship Id="rId8" Type="http://schemas.openxmlformats.org/officeDocument/2006/relationships/image" Target="../media/image6.png"/><Relationship Id="rId9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.xml"/><Relationship Id="rId4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5.xml"/><Relationship Id="rId4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6.xml"/><Relationship Id="rId4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.png"/><Relationship Id="rId4" Type="http://schemas.openxmlformats.org/officeDocument/2006/relationships/chart" Target="../charts/char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chart" Target="../charts/chart8.xml"/><Relationship Id="rId4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9.xml"/><Relationship Id="rId4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0" extrusionOk="0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12700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Финеренон-Орвилле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2146300"/>
            <a:ext cx="4800600" cy="14986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000000"/>
                </a:solidFill>
                <a:latin typeface="Arial Narrow"/>
                <a:cs typeface="Arial Narrow"/>
              </a:rPr>
              <a:t>Снижает риск устойчивого снижения функции почек, терминальной стадии болезни почек, сердечно-сосудистой смерти, нефатального инфаркта миокарда и госпитализации по поводу сердечной недостаточности у взрослых с хронической болезнью почек, связанной с сахарным диабетом 2 типа</a:t>
            </a:r>
            <a:endParaRPr sz="1800" b="0" dirty="0"/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3898900"/>
            <a:ext cx="4762500" cy="11176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000000"/>
                </a:solidFill>
                <a:latin typeface="Arial Narrow"/>
                <a:cs typeface="Arial Narrow"/>
              </a:rPr>
              <a:t>После курса вы сможете:</a:t>
            </a:r>
            <a:endParaRPr sz="1600" b="0" dirty="0"/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000000"/>
                </a:solidFill>
                <a:latin typeface="Arial Narrow"/>
                <a:cs typeface="Arial Narrow"/>
              </a:rPr>
              <a:t>объяснить механизм действия и показание;</a:t>
            </a:r>
            <a:endParaRPr sz="1600" b="0" dirty="0"/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000000"/>
                </a:solidFill>
                <a:latin typeface="Arial Narrow"/>
                <a:cs typeface="Arial Narrow"/>
              </a:rPr>
              <a:t>помочь врачу найти таких пациентов;</a:t>
            </a:r>
            <a:endParaRPr sz="1600" b="0" dirty="0"/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000000"/>
                </a:solidFill>
                <a:latin typeface="Arial Narrow"/>
                <a:cs typeface="Arial Narrow"/>
              </a:rPr>
              <a:t>ответить на вопросы о калии и других препаратах.</a:t>
            </a:r>
            <a:endParaRPr sz="1600" b="0" dirty="0"/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избирательный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PubChem. Finerenone. Финеренон-Орвилле. Инструкция по медицинскому применению.</a:t>
            </a:r>
            <a:endParaRPr lang="ru-RU" sz="800" b="0" dirty="0"/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295900"/>
            <a:ext cx="6096000" cy="482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0" dirty="0">
                <a:solidFill>
                  <a:srgbClr val="53585A"/>
                </a:solidFill>
                <a:latin typeface="Arial Narrow"/>
                <a:cs typeface="Arial Narrow"/>
              </a:rPr>
              <a:t>Внутреннее обучение медицинских представителей.</a:t>
            </a:r>
            <a:endParaRPr sz="1200" b="0" dirty="0"/>
          </a:p>
          <a:p>
            <a:pPr algn="l">
              <a:lnSpc>
                <a:spcPct val="90000"/>
              </a:lnSpc>
            </a:pPr>
            <a:r>
              <a:rPr sz="1400" b="0" dirty="0">
                <a:solidFill>
                  <a:srgbClr val="53585A"/>
                </a:solidFill>
                <a:latin typeface="Arial Narrow"/>
                <a:cs typeface="Arial Narrow"/>
              </a:rPr>
              <a:t>Материал не предназначен для передачи врачам.</a:t>
            </a:r>
            <a:endParaRPr sz="1200" b="0" dirty="0"/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курса: у каких пациентов обсуждать финеренон и как действовать при повышении калия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KDIGO 2024. Kidney Int. 105(4S):S117–S314.</a:t>
            </a:r>
            <a:endParaRPr lang="ru-RU" sz="800" b="0" dirty="0"/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67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почек.</a:t>
            </a:r>
            <a:endParaRPr lang="ru-RU" sz="1000" b="0" dirty="0"/>
          </a:p>
        </p:txBody>
      </p:sp>
      <p:sp>
        <p:nvSpPr>
          <p:cNvPr id="68" name="Плашка вопроса 1"/>
          <p:cNvSpPr/>
          <p:nvPr/>
        </p:nvSpPr>
        <p:spPr>
          <a:xfrm>
            <a:off x="3098800" y="1320800"/>
            <a:ext cx="86360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Вопрос 1. Кого искать</a:t>
            </a:r>
          </a:p>
        </p:txBody>
      </p:sp>
      <p:sp>
        <p:nvSpPr>
          <p:cNvPr id="69" name="Карточка вопроса 1"/>
          <p:cNvSpPr/>
          <p:nvPr/>
        </p:nvSpPr>
        <p:spPr>
          <a:xfrm>
            <a:off x="3098800" y="1752600"/>
            <a:ext cx="8636000" cy="1422400"/>
          </a:xfrm>
          <a:prstGeom prst="roundRect">
            <a:avLst>
              <a:gd name="adj" fmla="val 71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50800" bIns="5080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Взрослый с ХБП и диабетом 2 типа: уровень глюкозы в крови и давление в целевом диапазоне.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sp>
        <p:nvSpPr>
          <p:cNvPr id="70" name="Плашка вопроса 2"/>
          <p:cNvSpPr/>
          <p:nvPr/>
        </p:nvSpPr>
        <p:spPr>
          <a:xfrm>
            <a:off x="3098800" y="3657600"/>
            <a:ext cx="86360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Вопрос 2. Калий на лечении</a:t>
            </a:r>
          </a:p>
        </p:txBody>
      </p:sp>
      <p:sp>
        <p:nvSpPr>
          <p:cNvPr id="71" name="Карточка вопроса 2"/>
          <p:cNvSpPr/>
          <p:nvPr/>
        </p:nvSpPr>
        <p:spPr>
          <a:xfrm>
            <a:off x="3098800" y="4089400"/>
            <a:ext cx="8636000" cy="1422400"/>
          </a:xfrm>
          <a:prstGeom prst="roundRect">
            <a:avLst>
              <a:gd name="adj" fmla="val 71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50800" bIns="5080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После начала приёма финеренона повысился уровень калия в крови.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022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Рисунок адаптирован: подписи на русском.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NIDDK. Your Kidneys &amp; How They Work. Рисунок: T. Kebert &amp; umimeto.org; Jmarchn.</a:t>
            </a:r>
            <a:endParaRPr lang="ru-RU" sz="800" b="0" dirty="0"/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7" name="Плашка: Фильтрация"/>
          <p:cNvSpPr/>
          <p:nvPr/>
        </p:nvSpPr>
        <p:spPr>
          <a:xfrm>
            <a:off x="6223000" y="1244600"/>
            <a:ext cx="54610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1">
                <a:solidFill>
                  <a:srgbClr val="FFFFFF"/>
                </a:solidFill>
                <a:latin typeface="Arial Narrow"/>
                <a:cs typeface="Arial Narrow"/>
              </a:rPr>
              <a:t>Клубочек: сосудистый фильтр</a:t>
            </a:r>
          </a:p>
        </p:txBody>
      </p:sp>
      <p:sp>
        <p:nvSpPr>
          <p:cNvPr id="48" name="Карточка: Фильтрация"/>
          <p:cNvSpPr/>
          <p:nvPr/>
        </p:nvSpPr>
        <p:spPr>
          <a:xfrm>
            <a:off x="6223000" y="1600200"/>
            <a:ext cx="5461000" cy="1041400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101600" bIns="762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Кровь приходит по приносящей артериоле (мелкой артерии) и уходит по выносящей. Часть воды и мелких веществ из капилляров переходит в капсулу Боумена.</a:t>
            </a:r>
          </a:p>
        </p:txBody>
      </p:sp>
      <p:sp>
        <p:nvSpPr>
          <p:cNvPr id="49" name="Плашка: Первичная моча"/>
          <p:cNvSpPr/>
          <p:nvPr/>
        </p:nvSpPr>
        <p:spPr>
          <a:xfrm>
            <a:off x="6223000" y="2819400"/>
            <a:ext cx="54610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1">
                <a:solidFill>
                  <a:srgbClr val="FFFFFF"/>
                </a:solidFill>
                <a:latin typeface="Arial Narrow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50" name="Карточка: Первичная моча"/>
          <p:cNvSpPr/>
          <p:nvPr/>
        </p:nvSpPr>
        <p:spPr>
          <a:xfrm>
            <a:off x="6223000" y="3175000"/>
            <a:ext cx="5461000" cy="1041400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101600" bIns="762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Жидкость поступает в канальцы. Клетки крови и большая часть белков остаются в сосудах.</a:t>
            </a:r>
          </a:p>
        </p:txBody>
      </p:sp>
      <p:sp>
        <p:nvSpPr>
          <p:cNvPr id="51" name="Плашка: Реабсорбция"/>
          <p:cNvSpPr/>
          <p:nvPr/>
        </p:nvSpPr>
        <p:spPr>
          <a:xfrm>
            <a:off x="6223000" y="4394200"/>
            <a:ext cx="54610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1">
                <a:solidFill>
                  <a:srgbClr val="FFFFFF"/>
                </a:solidFill>
                <a:latin typeface="Arial Narrow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52" name="Карточка: Реабсорбция"/>
          <p:cNvSpPr/>
          <p:nvPr/>
        </p:nvSpPr>
        <p:spPr>
          <a:xfrm>
            <a:off x="6223000" y="4749800"/>
            <a:ext cx="5461000" cy="1041400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101600" bIns="762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Большая часть воды, глюкоза и другие нужные вещества возвращаются в кровь. Обратное всасывание называется реабсорбцией.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измеряет соль в канальце и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Vallon V, Thomson SC. Nat Rev Nephrol. 2020;16:317–336.</a:t>
            </a:r>
            <a:endParaRPr lang="ru-RU" sz="800" b="0" dirty="0"/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61" name="Плашка: определение"/>
          <p:cNvSpPr/>
          <p:nvPr/>
        </p:nvSpPr>
        <p:spPr>
          <a:xfrm>
            <a:off x="6985000" y="1193800"/>
            <a:ext cx="46990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Плотное пятно</a:t>
            </a:r>
          </a:p>
        </p:txBody>
      </p:sp>
      <p:sp>
        <p:nvSpPr>
          <p:cNvPr id="62" name="Карточка: определение"/>
          <p:cNvSpPr/>
          <p:nvPr/>
        </p:nvSpPr>
        <p:spPr>
          <a:xfrm>
            <a:off x="6985000" y="1524000"/>
            <a:ext cx="4699000" cy="88900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50800" bIns="508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Группа клеток канальца, которая измеряет содержание соли (хлорида натрия) в канальцевой жидкости и сообщает об этом приносящей артериоле.</a:t>
            </a:r>
          </a:p>
        </p:txBody>
      </p:sp>
      <p:sp>
        <p:nvSpPr>
          <p:cNvPr id="63" name="Плашка: Соли много"/>
          <p:cNvSpPr/>
          <p:nvPr/>
        </p:nvSpPr>
        <p:spPr>
          <a:xfrm>
            <a:off x="6985000" y="2590800"/>
            <a:ext cx="46990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Соли много</a:t>
            </a:r>
          </a:p>
        </p:txBody>
      </p:sp>
      <p:sp>
        <p:nvSpPr>
          <p:cNvPr id="64" name="Карточка: Соли много"/>
          <p:cNvSpPr/>
          <p:nvPr/>
        </p:nvSpPr>
        <p:spPr>
          <a:xfrm>
            <a:off x="6985000" y="2921000"/>
            <a:ext cx="4699000" cy="1320800"/>
          </a:xfrm>
          <a:prstGeom prst="roundRect">
            <a:avLst>
              <a:gd name="adj" fmla="val 769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5" name="Соли много: шаг 1"/>
          <p:cNvSpPr txBox="1"/>
          <p:nvPr/>
        </p:nvSpPr>
        <p:spPr>
          <a:xfrm>
            <a:off x="7137400" y="2997200"/>
            <a:ext cx="4394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 плотному пятну поступает больше соли</a:t>
            </a:r>
          </a:p>
        </p:txBody>
      </p:sp>
      <p:sp>
        <p:nvSpPr>
          <p:cNvPr id="66" name="Соли много: шеврон 1"/>
          <p:cNvSpPr/>
          <p:nvPr/>
        </p:nvSpPr>
        <p:spPr>
          <a:xfrm rot="5400000">
            <a:off x="9277350" y="32131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Соли много: шаг 2"/>
          <p:cNvSpPr txBox="1"/>
          <p:nvPr/>
        </p:nvSpPr>
        <p:spPr>
          <a:xfrm>
            <a:off x="7137400" y="3454400"/>
            <a:ext cx="4394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Приносящая артериола сужается</a:t>
            </a:r>
          </a:p>
        </p:txBody>
      </p:sp>
      <p:sp>
        <p:nvSpPr>
          <p:cNvPr id="68" name="Соли много: шеврон 2"/>
          <p:cNvSpPr/>
          <p:nvPr/>
        </p:nvSpPr>
        <p:spPr>
          <a:xfrm rot="5400000">
            <a:off x="9277350" y="36703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Соли много: шаг 3"/>
          <p:cNvSpPr txBox="1"/>
          <p:nvPr/>
        </p:nvSpPr>
        <p:spPr>
          <a:xfrm>
            <a:off x="7137400" y="3911600"/>
            <a:ext cx="4394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Фильтрация уменьшается</a:t>
            </a:r>
          </a:p>
        </p:txBody>
      </p:sp>
      <p:sp>
        <p:nvSpPr>
          <p:cNvPr id="70" name="Плашка: Соли мало"/>
          <p:cNvSpPr/>
          <p:nvPr/>
        </p:nvSpPr>
        <p:spPr>
          <a:xfrm>
            <a:off x="6985000" y="4419600"/>
            <a:ext cx="4699000" cy="3302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Соли мало</a:t>
            </a:r>
          </a:p>
        </p:txBody>
      </p:sp>
      <p:sp>
        <p:nvSpPr>
          <p:cNvPr id="71" name="Карточка: Соли мало"/>
          <p:cNvSpPr/>
          <p:nvPr/>
        </p:nvSpPr>
        <p:spPr>
          <a:xfrm>
            <a:off x="6985000" y="4749800"/>
            <a:ext cx="4699000" cy="1320800"/>
          </a:xfrm>
          <a:prstGeom prst="roundRect">
            <a:avLst>
              <a:gd name="adj" fmla="val 769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2" name="Соли мало: шаг 1"/>
          <p:cNvSpPr txBox="1"/>
          <p:nvPr/>
        </p:nvSpPr>
        <p:spPr>
          <a:xfrm>
            <a:off x="7137400" y="4826000"/>
            <a:ext cx="4394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73" name="Соли мало: шеврон 1"/>
          <p:cNvSpPr/>
          <p:nvPr/>
        </p:nvSpPr>
        <p:spPr>
          <a:xfrm rot="5400000">
            <a:off x="9277350" y="50419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Соли мало: шаг 2"/>
          <p:cNvSpPr txBox="1"/>
          <p:nvPr/>
        </p:nvSpPr>
        <p:spPr>
          <a:xfrm>
            <a:off x="7137400" y="5283200"/>
            <a:ext cx="4394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Сигнал, ограничивающий фильтрацию, ослабевает</a:t>
            </a:r>
          </a:p>
        </p:txBody>
      </p:sp>
      <p:sp>
        <p:nvSpPr>
          <p:cNvPr id="75" name="Соли мало: шеврон 2"/>
          <p:cNvSpPr/>
          <p:nvPr/>
        </p:nvSpPr>
        <p:spPr>
          <a:xfrm rot="5400000">
            <a:off x="9277350" y="54991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Соли мало: шаг 3"/>
          <p:cNvSpPr txBox="1"/>
          <p:nvPr/>
        </p:nvSpPr>
        <p:spPr>
          <a:xfrm>
            <a:off x="7137400" y="5740400"/>
            <a:ext cx="4394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Фильтрация может увеличиться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в клубочке может стать избыточной; на этот механизм действуют ингибиторы НГЛТ2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303030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Повреждение почек возможно и при сохранной рСКФ, поэтому проверяют и альбумин в моче.</a:t>
            </a:r>
            <a:endParaRPr lang="ru-RU" sz="1400"/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Vallon V, Thomson SC. Nat Rev Nephrol. 2020;16:317–336. Tonneijck L, et al. J Am Soc Nephrol. 2017;28:1023–1039. KDIGO 2024. Kidney Int. 105(4S):S117–S314.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Рисунок адаптирован: подписи на русском. Рисунок: T. Kebert &amp; umimeto.org; Jmarchn.</a:t>
            </a:r>
            <a:endParaRPr lang="ru-RU" sz="800" b="0" dirty="0"/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51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типа; иНГЛТ2: ингибиторы НГЛТ2.</a:t>
            </a:r>
            <a:endParaRPr lang="ru-RU" sz="1000" b="0" dirty="0"/>
          </a:p>
        </p:txBody>
      </p:sp>
      <p:sp>
        <p:nvSpPr>
          <p:cNvPr id="52" name="Карточка: Глюкоза в моче"/>
          <p:cNvSpPr/>
          <p:nvPr/>
        </p:nvSpPr>
        <p:spPr>
          <a:xfrm>
            <a:off x="6578600" y="1168400"/>
            <a:ext cx="5156200" cy="381000"/>
          </a:xfrm>
          <a:prstGeom prst="roundRect">
            <a:avLst>
              <a:gd name="adj" fmla="val 2666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38100" bIns="38100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53" name="Шеврон: Глюкоза в моче"/>
          <p:cNvSpPr/>
          <p:nvPr/>
        </p:nvSpPr>
        <p:spPr>
          <a:xfrm rot="5400000">
            <a:off x="9099550" y="14986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Карточка: Возврат глюкозы и натрия"/>
          <p:cNvSpPr/>
          <p:nvPr/>
        </p:nvSpPr>
        <p:spPr>
          <a:xfrm>
            <a:off x="6578600" y="1727200"/>
            <a:ext cx="51562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38100" bIns="381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Проксимальный каналец возвращает в кровь больше глюкозы и натрия</a:t>
            </a:r>
          </a:p>
        </p:txBody>
      </p:sp>
      <p:sp>
        <p:nvSpPr>
          <p:cNvPr id="55" name="Шеврон: Возврат глюкозы и натрия"/>
          <p:cNvSpPr/>
          <p:nvPr/>
        </p:nvSpPr>
        <p:spPr>
          <a:xfrm rot="5400000">
            <a:off x="9099550" y="23114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Карточка: Меньше соли у плотного пятна"/>
          <p:cNvSpPr/>
          <p:nvPr/>
        </p:nvSpPr>
        <p:spPr>
          <a:xfrm>
            <a:off x="6578600" y="2540000"/>
            <a:ext cx="5156200" cy="381000"/>
          </a:xfrm>
          <a:prstGeom prst="roundRect">
            <a:avLst>
              <a:gd name="adj" fmla="val 2666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38100" bIns="381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57" name="Шеврон: Меньше соли у плотного пятна"/>
          <p:cNvSpPr/>
          <p:nvPr/>
        </p:nvSpPr>
        <p:spPr>
          <a:xfrm rot="5400000">
            <a:off x="9099550" y="28702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Карточка: Слабее сигнал"/>
          <p:cNvSpPr/>
          <p:nvPr/>
        </p:nvSpPr>
        <p:spPr>
          <a:xfrm>
            <a:off x="6578600" y="3098800"/>
            <a:ext cx="5156200" cy="381000"/>
          </a:xfrm>
          <a:prstGeom prst="roundRect">
            <a:avLst>
              <a:gd name="adj" fmla="val 2666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38100" bIns="381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Сигнал, ограничивающий фильтрацию, ослабевает</a:t>
            </a:r>
          </a:p>
        </p:txBody>
      </p:sp>
      <p:sp>
        <p:nvSpPr>
          <p:cNvPr id="59" name="Шеврон: Слабее сигнал"/>
          <p:cNvSpPr/>
          <p:nvPr/>
        </p:nvSpPr>
        <p:spPr>
          <a:xfrm rot="5400000">
            <a:off x="9099550" y="34290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Плашка: Гиперфильтрация"/>
          <p:cNvSpPr/>
          <p:nvPr/>
        </p:nvSpPr>
        <p:spPr>
          <a:xfrm>
            <a:off x="6578600" y="3657600"/>
            <a:ext cx="5156200" cy="279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Гиперфильтрация</a:t>
            </a:r>
          </a:p>
        </p:txBody>
      </p:sp>
      <p:sp>
        <p:nvSpPr>
          <p:cNvPr id="61" name="Карточка: Гиперфильтрация"/>
          <p:cNvSpPr/>
          <p:nvPr/>
        </p:nvSpPr>
        <p:spPr>
          <a:xfrm>
            <a:off x="6578600" y="3937000"/>
            <a:ext cx="5156200" cy="88900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38100" bIns="38100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Приносящая артериола расширяется, давление в клубочке растёт: у части пациентов клубочек фильтрует больше нормы (гиперфильтрация).</a:t>
            </a:r>
          </a:p>
        </p:txBody>
      </p:sp>
      <p:sp>
        <p:nvSpPr>
          <p:cNvPr id="62" name="Шеврон: Гиперфильтрация"/>
          <p:cNvSpPr/>
          <p:nvPr/>
        </p:nvSpPr>
        <p:spPr>
          <a:xfrm rot="5400000">
            <a:off x="9099550" y="4775200"/>
            <a:ext cx="1143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Карточка: Повреждение барьера"/>
          <p:cNvSpPr/>
          <p:nvPr/>
        </p:nvSpPr>
        <p:spPr>
          <a:xfrm>
            <a:off x="6578600" y="5003800"/>
            <a:ext cx="51562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38100" bIns="381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Длительная перегрузка может повреждать фильтрационный барьер.</a:t>
            </a:r>
          </a:p>
        </p:txBody>
      </p:sp>
      <p:sp>
        <p:nvSpPr>
          <p:cNvPr id="64" name="Метка_иНГЛТ2"/>
          <p:cNvSpPr/>
          <p:nvPr/>
        </p:nvSpPr>
        <p:spPr>
          <a:xfrm>
            <a:off x="4889500" y="4635500"/>
            <a:ext cx="1600200" cy="558800"/>
          </a:xfrm>
          <a:prstGeom prst="roundRect">
            <a:avLst>
              <a:gd name="adj" fmla="val 18181"/>
            </a:avLst>
          </a:prstGeom>
          <a:solidFill>
            <a:srgbClr val="0F9ED5"/>
          </a:solidFill>
          <a:ln>
            <a:noFill/>
          </a:ln>
          <a:effectLst/>
        </p:spPr>
        <p:txBody>
          <a:bodyPr rtlCol="0" anchor="ctr" wrap="square" lIns="76200" rIns="50800" tIns="25400" bIns="25400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иНГЛТ2 блокируют этот транспорт</a:t>
            </a:r>
          </a:p>
        </p:txBody>
      </p:sp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При диабете в клубочке расширяется мезангий и могут появиться узелки</a:t>
            </a:r>
            <a:endParaRPr lang="ru-RU" sz="2000" b="0" dirty="0"/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520444"/>
            <a:ext cx="34747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3"/>
          <a:srcRect l="3456" t="26663" r="74542" b="57729"/>
          <a:stretch>
            <a:fillRect/>
          </a:stretch>
        </p:blipFill>
        <p:spPr>
          <a:xfrm>
            <a:off x="502920" y="1767331"/>
            <a:ext cx="3236976" cy="3236976"/>
          </a:xfrm>
          <a:prstGeom prst="rect">
            <a:avLst/>
          </a:prstGeom>
        </p:spPr>
      </p:pic>
      <p:sp>
        <p:nvSpPr>
          <p:cNvPr id="7" name="Класс II"/>
          <p:cNvSpPr txBox="1"/>
          <p:nvPr/>
        </p:nvSpPr>
        <p:spPr>
          <a:xfrm>
            <a:off x="4389120" y="1520444"/>
            <a:ext cx="34747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3"/>
          <a:srcRect l="48307" t="26713" r="29690" b="57679"/>
          <a:stretch>
            <a:fillRect/>
          </a:stretch>
        </p:blipFill>
        <p:spPr>
          <a:xfrm>
            <a:off x="4389120" y="1767331"/>
            <a:ext cx="3236976" cy="3236976"/>
          </a:xfrm>
          <a:prstGeom prst="rect">
            <a:avLst/>
          </a:prstGeom>
        </p:spPr>
      </p:pic>
      <p:sp>
        <p:nvSpPr>
          <p:cNvPr id="10" name="Класс III"/>
          <p:cNvSpPr txBox="1"/>
          <p:nvPr/>
        </p:nvSpPr>
        <p:spPr>
          <a:xfrm>
            <a:off x="8275320" y="1520444"/>
            <a:ext cx="34747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3"/>
          <a:srcRect l="70733" t="26663" r="7264" b="57729"/>
          <a:stretch>
            <a:fillRect/>
          </a:stretch>
        </p:blipFill>
        <p:spPr>
          <a:xfrm>
            <a:off x="8275320" y="17673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106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10677"/>
            <a:ext cx="210403" cy="291327"/>
          </a:xfrm>
          <a:prstGeom prst="line">
            <a:avLst/>
          </a:prstGeom>
          <a:ln w="15875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6289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39684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3968475"/>
            <a:ext cx="339882" cy="388437"/>
          </a:xfrm>
          <a:prstGeom prst="line">
            <a:avLst/>
          </a:prstGeom>
          <a:ln w="15875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 склероза"/>
          <p:cNvSpPr txBox="1"/>
          <p:nvPr/>
        </p:nvSpPr>
        <p:spPr>
          <a:xfrm>
            <a:off x="8331200" y="34315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6032500"/>
            <a:ext cx="10817352" cy="2413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Показаны разные образцы, динамику одной почки они не отражают. Гистологический класс не равен стадии ХБП по рСКФ.</a:t>
            </a:r>
            <a:endParaRPr lang="ru-RU" sz="1400"/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7305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2959100"/>
            <a:ext cx="736600" cy="279400"/>
          </a:xfrm>
          <a:prstGeom prst="line">
            <a:avLst/>
          </a:prstGeom>
          <a:ln w="15875">
            <a:solidFill>
              <a:srgbClr val="15608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Рисунок адаптирован: панели вырезаны, подписи на русском.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Bai Y et al. Front Endocrinol. 2022;13:984452. Cohen Tervaert TW et al. JASN. 2010;21:556–563.</a:t>
            </a:r>
            <a:endParaRPr lang="ru-RU" sz="800" b="0" dirty="0"/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8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  <a:endParaRPr lang="ru-RU" sz="1000" b="0" dirty="0"/>
          </a:p>
        </p:txBody>
      </p:sp>
      <p:sp>
        <p:nvSpPr>
          <p:cNvPr id="29" name="Плашка: Сохранная структура"/>
          <p:cNvSpPr/>
          <p:nvPr/>
        </p:nvSpPr>
        <p:spPr>
          <a:xfrm>
            <a:off x="508000" y="1168400"/>
            <a:ext cx="34290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30" name="Плашка: Расширение мезангия"/>
          <p:cNvSpPr/>
          <p:nvPr/>
        </p:nvSpPr>
        <p:spPr>
          <a:xfrm>
            <a:off x="4394200" y="1168400"/>
            <a:ext cx="34290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31" name="Плашка: Узелковый склероз"/>
          <p:cNvSpPr/>
          <p:nvPr/>
        </p:nvSpPr>
        <p:spPr>
          <a:xfrm>
            <a:off x="8280400" y="1168400"/>
            <a:ext cx="34290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32" name="Карточка: Мезангий состоит из клет"/>
          <p:cNvSpPr/>
          <p:nvPr/>
        </p:nvSpPr>
        <p:spPr>
          <a:xfrm>
            <a:off x="508000" y="5041900"/>
            <a:ext cx="3429000" cy="889000"/>
          </a:xfrm>
          <a:prstGeom prst="roundRect">
            <a:avLst>
              <a:gd name="adj" fmla="val 12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27000" rIns="127000" tIns="38100" bIns="381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состоит из клеток и матрикса и поддерживает капилляры.</a:t>
            </a:r>
          </a:p>
        </p:txBody>
      </p:sp>
      <p:sp>
        <p:nvSpPr>
          <p:cNvPr id="33" name="Карточка: Мезангиальный матрикс ув"/>
          <p:cNvSpPr/>
          <p:nvPr/>
        </p:nvSpPr>
        <p:spPr>
          <a:xfrm>
            <a:off x="4394200" y="5041900"/>
            <a:ext cx="3429000" cy="889000"/>
          </a:xfrm>
          <a:prstGeom prst="roundRect">
            <a:avLst>
              <a:gd name="adj" fmla="val 12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27000" rIns="127000" tIns="38100" bIns="381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Мезангиальный матрикс увеличен. Узелкового склероза нет.</a:t>
            </a:r>
          </a:p>
        </p:txBody>
      </p:sp>
      <p:sp>
        <p:nvSpPr>
          <p:cNvPr id="34" name="Карточка: В мезангии образуются ок"/>
          <p:cNvSpPr/>
          <p:nvPr/>
        </p:nvSpPr>
        <p:spPr>
          <a:xfrm>
            <a:off x="8280400" y="5041900"/>
            <a:ext cx="3429000" cy="889000"/>
          </a:xfrm>
          <a:prstGeom prst="roundRect">
            <a:avLst>
              <a:gd name="adj" fmla="val 12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27000" rIns="127000" tIns="38100" bIns="38100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образуются округлые узелки из межклеточного матрикса (склероз: рубцовое уплотнение).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dirty="0">
                <a:solidFill>
                  <a:srgbClr val="7030A0"/>
                </a:solidFill>
                <a:latin typeface="Arial Narrow"/>
                <a:cs typeface="Arial Narrow"/>
              </a:rPr>
              <a:t>При диабете в канальцах и ткани между ними развиваются воспаление и фиброз</a:t>
            </a:r>
            <a:endParaRPr sz="2000" b="0" dirty="0"/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30303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30303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30303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30303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30303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30303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Nguyen D, et al. Nephrology. 2006;11:226–231. Kuppe C, et al. Nature. 2021;589:281–286. Cohen Tervaert TW, et al. J Am Soc Nephrol. 2010;21:556–563. Финеренон-Орвилле. Инструкция по медицинскому применению (механизм действия).</a:t>
            </a:r>
            <a:endParaRPr lang="ru-RU" sz="800" b="0" dirty="0"/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729" name="Плашка: Сохранная ткань"/>
          <p:cNvSpPr/>
          <p:nvPr/>
        </p:nvSpPr>
        <p:spPr>
          <a:xfrm>
            <a:off x="508000" y="1295400"/>
            <a:ext cx="34036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30" name="Плашка: Воспаление"/>
          <p:cNvSpPr/>
          <p:nvPr/>
        </p:nvSpPr>
        <p:spPr>
          <a:xfrm>
            <a:off x="4394200" y="1295400"/>
            <a:ext cx="34036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31" name="Плашка: Фиброз и атрофия"/>
          <p:cNvSpPr/>
          <p:nvPr/>
        </p:nvSpPr>
        <p:spPr>
          <a:xfrm>
            <a:off x="8280400" y="1295400"/>
            <a:ext cx="34036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32" name="Карточка: Эпителий образует один с"/>
          <p:cNvSpPr/>
          <p:nvPr/>
        </p:nvSpPr>
        <p:spPr>
          <a:xfrm>
            <a:off x="508000" y="5054600"/>
            <a:ext cx="3403600" cy="660400"/>
          </a:xfrm>
          <a:prstGeom prst="roundRect">
            <a:avLst>
              <a:gd name="adj" fmla="val 1538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01600" rIns="101600" tIns="12700" bIns="127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 Между канальцами лежит интерстиций, в нём проходят сосуды.</a:t>
            </a:r>
          </a:p>
        </p:txBody>
      </p:sp>
      <p:sp>
        <p:nvSpPr>
          <p:cNvPr id="733" name="Карточка: Воспалительные клетки ск"/>
          <p:cNvSpPr/>
          <p:nvPr/>
        </p:nvSpPr>
        <p:spPr>
          <a:xfrm>
            <a:off x="4394200" y="5054600"/>
            <a:ext cx="3403600" cy="660400"/>
          </a:xfrm>
          <a:prstGeom prst="roundRect">
            <a:avLst>
              <a:gd name="adj" fmla="val 1538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01600" rIns="101600" tIns="12700" bIns="127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 скапливаются в интерстиции рядом с канальцами и сосудами.</a:t>
            </a:r>
          </a:p>
        </p:txBody>
      </p:sp>
      <p:sp>
        <p:nvSpPr>
          <p:cNvPr id="734" name="Карточка: При фиброзе накапливаетс"/>
          <p:cNvSpPr/>
          <p:nvPr/>
        </p:nvSpPr>
        <p:spPr>
          <a:xfrm>
            <a:off x="8280400" y="5054600"/>
            <a:ext cx="3403600" cy="660400"/>
          </a:xfrm>
          <a:prstGeom prst="roundRect">
            <a:avLst>
              <a:gd name="adj" fmla="val 1538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01600" rIns="101600" tIns="12700" bIns="127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 При атрофии уменьшается высота эпителия канальцев.</a:t>
            </a:r>
          </a:p>
        </p:txBody>
      </p:sp>
      <p:sp>
        <p:nvSpPr>
          <p:cNvPr id="735" name="Плашка: МКР и финеренон"/>
          <p:cNvSpPr/>
          <p:nvPr/>
        </p:nvSpPr>
        <p:spPr>
          <a:xfrm>
            <a:off x="508000" y="5816600"/>
            <a:ext cx="11176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Избыточная активация МКР поддерживает воспаление и фиброз. Финеренон блокирует этот рецептор.</a:t>
            </a:r>
          </a:p>
        </p:txBody>
      </p:sp>
      <p:sp>
        <p:nvSpPr>
          <p:cNvPr id="736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 Миофибробласты: клетки, которые образуют межклеточный матрикс.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Сердце и почки связаны: сердечная недостаточность ухудшает работу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Кардиоренальный синдром: болезнь сердца ухудшает работу почек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2794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3505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Гибель клеток почки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Kumar U, et al. Cardiol Clin. 2019;37:251–265. Иллюстрации: Servier Medical Art. Финеренон-Орвилле. Инструкция по медицинскому применению.</a:t>
            </a:r>
            <a:endParaRPr lang="ru-RU" sz="800" b="0" dirty="0"/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5" name="pathway_2_1"/>
          <p:cNvSpPr/>
          <p:nvPr/>
        </p:nvSpPr>
        <p:spPr>
          <a:xfrm>
            <a:off x="2159000" y="1879600"/>
            <a:ext cx="5842000" cy="558800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sp>
        <p:nvSpPr>
          <p:cNvPr id="46" name="Шеврон 1"/>
          <p:cNvSpPr/>
          <p:nvPr/>
        </p:nvSpPr>
        <p:spPr>
          <a:xfrm rot="5400000">
            <a:off x="5029200" y="2362200"/>
            <a:ext cx="1016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pathway_2_2"/>
          <p:cNvSpPr/>
          <p:nvPr/>
        </p:nvSpPr>
        <p:spPr>
          <a:xfrm>
            <a:off x="2159000" y="2565400"/>
            <a:ext cx="5842000" cy="88900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25400" bIns="254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острая декомпенсация сердечной недостаточности. Гиповолемия и выраженная гипотензия могут ухудшать кровоснабжение почек.</a:t>
            </a:r>
          </a:p>
        </p:txBody>
      </p:sp>
      <p:sp>
        <p:nvSpPr>
          <p:cNvPr id="48" name="Шеврон 2"/>
          <p:cNvSpPr/>
          <p:nvPr/>
        </p:nvSpPr>
        <p:spPr>
          <a:xfrm rot="5400000">
            <a:off x="5029200" y="3378200"/>
            <a:ext cx="1016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pathway_2_3"/>
          <p:cNvSpPr/>
          <p:nvPr/>
        </p:nvSpPr>
        <p:spPr>
          <a:xfrm>
            <a:off x="2159000" y="3581400"/>
            <a:ext cx="5842000" cy="558800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sp>
        <p:nvSpPr>
          <p:cNvPr id="50" name="Шеврон 3"/>
          <p:cNvSpPr/>
          <p:nvPr/>
        </p:nvSpPr>
        <p:spPr>
          <a:xfrm rot="5400000">
            <a:off x="5029200" y="4064000"/>
            <a:ext cx="1016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pathway_2_4"/>
          <p:cNvSpPr/>
          <p:nvPr/>
        </p:nvSpPr>
        <p:spPr>
          <a:xfrm>
            <a:off x="2159000" y="4267200"/>
            <a:ext cx="5842000" cy="558800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Нервно-гормональная активация. Сосудосуживающие медиаторы: катехоламины, эндотелин, ангиотензин II и </a:t>
            </a: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альдостерон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52" name="Шеврон 4"/>
          <p:cNvSpPr/>
          <p:nvPr/>
        </p:nvSpPr>
        <p:spPr>
          <a:xfrm rot="5400000">
            <a:off x="5029200" y="4749800"/>
            <a:ext cx="101600" cy="2794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pathway_2_5"/>
          <p:cNvSpPr/>
          <p:nvPr/>
        </p:nvSpPr>
        <p:spPr>
          <a:xfrm>
            <a:off x="2159000" y="4953000"/>
            <a:ext cx="5842000" cy="558800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sp>
        <p:nvSpPr>
          <p:cNvPr id="54" name="Шеврон: от сердца"/>
          <p:cNvSpPr/>
          <p:nvPr/>
        </p:nvSpPr>
        <p:spPr>
          <a:xfrm>
            <a:off x="1803400" y="3479800"/>
            <a:ext cx="228600" cy="3556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Шеврон: к почкам"/>
          <p:cNvSpPr/>
          <p:nvPr/>
        </p:nvSpPr>
        <p:spPr>
          <a:xfrm>
            <a:off x="8191500" y="3873500"/>
            <a:ext cx="228600" cy="3556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Связь_с_финереноном"/>
          <p:cNvSpPr txBox="1"/>
          <p:nvPr/>
        </p:nvSpPr>
        <p:spPr>
          <a:xfrm>
            <a:off x="457200" y="5740400"/>
            <a:ext cx="107950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 снижает риск госпитализации по поводу сердечной недостаточности у взрослых с ХБП, связанной с диабетом 2 типа.</a:t>
            </a:r>
          </a:p>
        </p:txBody>
      </p:sp>
      <p:sp>
        <p:nvSpPr>
          <p:cNvPr id="57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ХБП растёт нагрузка на сердце: защита нужна и почкам, и сердцу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Ренокардиальный синдром: болезнь почек ухудшает работу сердца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1676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2956560"/>
            <a:ext cx="265175" cy="0"/>
          </a:xfrm>
          <a:prstGeom prst="line">
            <a:avLst/>
          </a:prstGeom>
          <a:ln w="1651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184400" y="1600200"/>
            <a:ext cx="5867400" cy="69850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wrap="square" lIns="76200" tIns="25400" rIns="76200" bIns="25400" anchor="ctr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</a:t>
            </a: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альдостерона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. Задержка натрия и воды. Увеличение объёма жидкости.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74519" y="1955291"/>
            <a:ext cx="284481" cy="0"/>
          </a:xfrm>
          <a:prstGeom prst="line">
            <a:avLst/>
          </a:prstGeom>
          <a:ln w="11430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77200" y="1955291"/>
            <a:ext cx="234696" cy="0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184400" y="2451100"/>
            <a:ext cx="5867400" cy="685800"/>
          </a:xfrm>
          <a:prstGeom prst="roundRect">
            <a:avLst>
              <a:gd name="adj" fmla="val 148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wrap="square" lIns="76200" tIns="25400" rIns="76200" bIns="25400" anchor="ctr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74519" y="2796540"/>
            <a:ext cx="284481" cy="0"/>
          </a:xfrm>
          <a:prstGeom prst="line">
            <a:avLst/>
          </a:prstGeom>
          <a:ln w="11430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77200" y="2796540"/>
            <a:ext cx="234696" cy="0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184400" y="3289300"/>
            <a:ext cx="5867400" cy="533400"/>
          </a:xfrm>
          <a:prstGeom prst="roundRect">
            <a:avLst>
              <a:gd name="adj" fmla="val 19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wrap="square" lIns="76200" tIns="25400" rIns="76200" bIns="25400" anchor="ctr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74519" y="3550920"/>
            <a:ext cx="284481" cy="0"/>
          </a:xfrm>
          <a:prstGeom prst="line">
            <a:avLst/>
          </a:prstGeom>
          <a:ln w="11430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77200" y="3550920"/>
            <a:ext cx="234696" cy="0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1955291"/>
            <a:ext cx="0" cy="1595629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1955291"/>
            <a:ext cx="0" cy="1595629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2781300"/>
            <a:ext cx="384048" cy="0"/>
          </a:xfrm>
          <a:prstGeom prst="line">
            <a:avLst/>
          </a:prstGeom>
          <a:ln w="17780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562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2667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140200"/>
            <a:ext cx="10795000" cy="330200"/>
          </a:xfrm>
          <a:prstGeom prst="roundRect">
            <a:avLst>
              <a:gd name="adj" fmla="val 23076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52400" tIns="0" rIns="101600" bIns="0" anchor="ctr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sp>
        <p:nvSpPr>
          <p:cNvPr id="45" name="Карточка_общие_процессы"/>
          <p:cNvSpPr/>
          <p:nvPr/>
        </p:nvSpPr>
        <p:spPr>
          <a:xfrm>
            <a:off x="457200" y="4495800"/>
            <a:ext cx="10795000" cy="838200"/>
          </a:xfrm>
          <a:prstGeom prst="roundRect">
            <a:avLst>
              <a:gd name="adj" fmla="val 12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48" name="Разделитель_колонок_3"/>
          <p:cNvCxnSpPr/>
          <p:nvPr/>
        </p:nvCxnSpPr>
        <p:spPr>
          <a:xfrm>
            <a:off x="8553450" y="4597400"/>
            <a:ext cx="0" cy="63500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47" name="Разделитель_колонок_2"/>
          <p:cNvCxnSpPr/>
          <p:nvPr/>
        </p:nvCxnSpPr>
        <p:spPr>
          <a:xfrm>
            <a:off x="5854700" y="4597400"/>
            <a:ext cx="0" cy="63500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46" name="Разделитель_колонок_1"/>
          <p:cNvCxnSpPr/>
          <p:nvPr/>
        </p:nvCxnSpPr>
        <p:spPr>
          <a:xfrm>
            <a:off x="3155950" y="4597400"/>
            <a:ext cx="0" cy="63500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31" name="shared_0.57"/>
          <p:cNvSpPr txBox="1"/>
          <p:nvPr/>
        </p:nvSpPr>
        <p:spPr>
          <a:xfrm>
            <a:off x="457200" y="4495800"/>
            <a:ext cx="2698750" cy="838200"/>
          </a:xfrm>
          <a:prstGeom prst="rect">
            <a:avLst/>
          </a:prstGeom>
          <a:noFill/>
          <a:effectLst/>
        </p:spPr>
        <p:txBody>
          <a:bodyPr wrap="square" lIns="127000" tIns="0" rIns="12700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Больше воспалительных веществ (цитокинов)</a:t>
            </a:r>
          </a:p>
        </p:txBody>
      </p:sp>
      <p:sp>
        <p:nvSpPr>
          <p:cNvPr id="33" name="shared_3.75"/>
          <p:cNvSpPr txBox="1"/>
          <p:nvPr/>
        </p:nvSpPr>
        <p:spPr>
          <a:xfrm>
            <a:off x="3155950" y="4495800"/>
            <a:ext cx="2698750" cy="838200"/>
          </a:xfrm>
          <a:prstGeom prst="rect">
            <a:avLst/>
          </a:prstGeom>
          <a:noFill/>
          <a:effectLst/>
        </p:spPr>
        <p:txBody>
          <a:bodyPr wrap="square" lIns="127000" tIns="0" rIns="12700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sp>
        <p:nvSpPr>
          <p:cNvPr id="35" name="shared_6.93"/>
          <p:cNvSpPr txBox="1"/>
          <p:nvPr/>
        </p:nvSpPr>
        <p:spPr>
          <a:xfrm>
            <a:off x="5854700" y="4495800"/>
            <a:ext cx="2698750" cy="838200"/>
          </a:xfrm>
          <a:prstGeom prst="rect">
            <a:avLst/>
          </a:prstGeom>
          <a:noFill/>
          <a:effectLst/>
        </p:spPr>
        <p:txBody>
          <a:bodyPr wrap="square" lIns="127000" tIns="0" rIns="12700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sp>
        <p:nvSpPr>
          <p:cNvPr id="37" name="shared_10.05"/>
          <p:cNvSpPr txBox="1"/>
          <p:nvPr/>
        </p:nvSpPr>
        <p:spPr>
          <a:xfrm>
            <a:off x="8553450" y="4495800"/>
            <a:ext cx="2698750" cy="838200"/>
          </a:xfrm>
          <a:prstGeom prst="rect">
            <a:avLst/>
          </a:prstGeom>
          <a:noFill/>
          <a:effectLst/>
        </p:spPr>
        <p:txBody>
          <a:bodyPr wrap="square" lIns="127000" tIns="0" rIns="12700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работы эндотелия (внутренней стенки сосудов)</a:t>
            </a:r>
          </a:p>
        </p:txBody>
      </p: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317" y="2453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600" y="1524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47180"/>
            <a:ext cx="10795000" cy="1346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Kumar U, et al. Cardiol Clin. 2019;37:251–265. Ndumele CE, et al. Circulation. 2026;154:e50–e158. Agarwal R, et al. Eur Heart J. 2021;42:152–161. Адаптировано по: Servier Medical Art (CC BY 4.0).</a:t>
            </a:r>
            <a:endParaRPr lang="ru-RU" sz="800" b="0" dirty="0"/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537200"/>
            <a:ext cx="10795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</p:spPr>
        <p:txBody>
          <a:bodyPr wrap="square" lIns="152400" tIns="0" rIns="10160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Избыток альдостерона действует на сердце и почки через минералокортикоидный рецептор (МКР). </a:t>
            </a:r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Финеренон блокирует МКР.</a:t>
            </a:r>
            <a:endParaRPr lang="ru-RU" sz="1300"/>
          </a:p>
        </p:txBody>
      </p:sp>
      <p:sp>
        <p:nvSpPr>
          <p:cNvPr id="49" name="Сокращения"/>
          <p:cNvSpPr txBox="1"/>
          <p:nvPr/>
        </p:nvSpPr>
        <p:spPr>
          <a:xfrm>
            <a:off x="457200" y="6482080"/>
            <a:ext cx="10795000" cy="1651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10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Карточка_кровь"/>
          <p:cNvSpPr/>
          <p:nvPr/>
        </p:nvSpPr>
        <p:spPr>
          <a:xfrm>
            <a:off x="457200" y="1143000"/>
            <a:ext cx="6959600" cy="2844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76" name="Карточка_моча"/>
          <p:cNvSpPr/>
          <p:nvPr/>
        </p:nvSpPr>
        <p:spPr>
          <a:xfrm>
            <a:off x="457200" y="4140200"/>
            <a:ext cx="6959600" cy="2108200"/>
          </a:xfrm>
          <a:prstGeom prst="roundRect">
            <a:avLst>
              <a:gd name="adj" fmla="val 470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78" name="Карточка_ответ"/>
          <p:cNvSpPr/>
          <p:nvPr/>
        </p:nvSpPr>
        <p:spPr>
          <a:xfrm>
            <a:off x="7772400" y="1981200"/>
            <a:ext cx="3962400" cy="2362200"/>
          </a:xfrm>
          <a:prstGeom prst="roundRect">
            <a:avLst>
              <a:gd name="adj" fmla="val 256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80" name="Карточка_частота"/>
          <p:cNvSpPr/>
          <p:nvPr/>
        </p:nvSpPr>
        <p:spPr>
          <a:xfrm>
            <a:off x="7772400" y="4445000"/>
            <a:ext cx="39624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1" name="Карточка_вопрос_врачу"/>
          <p:cNvSpPr/>
          <p:nvPr/>
        </p:nvSpPr>
        <p:spPr>
          <a:xfrm>
            <a:off x="7772400" y="5283200"/>
            <a:ext cx="3962400" cy="965200"/>
          </a:xfrm>
          <a:prstGeom prst="roundRect">
            <a:avLst>
              <a:gd name="adj" fmla="val 1052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Плашка_вопрос"/>
          <p:cNvSpPr/>
          <p:nvPr/>
        </p:nvSpPr>
        <p:spPr>
          <a:xfrm>
            <a:off x="7772400" y="1143000"/>
            <a:ext cx="3962400" cy="736600"/>
          </a:xfrm>
          <a:prstGeom prst="roundRect">
            <a:avLst>
              <a:gd name="adj" fmla="val 10344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 типа рСКФ и АКО проверяют не реже раза в год: АКО выявляет болезнь почек при сохранной фильтрации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sp>
        <p:nvSpPr>
          <p:cNvPr id="65" name="Clinical_question"/>
          <p:cNvSpPr txBox="1"/>
          <p:nvPr/>
        </p:nvSpPr>
        <p:spPr>
          <a:xfrm>
            <a:off x="7772400" y="1143000"/>
            <a:ext cx="3962400" cy="736600"/>
          </a:xfrm>
          <a:prstGeom prst="rect">
            <a:avLst/>
          </a:prstGeom>
          <a:noFill/>
          <a:effectLst/>
        </p:spPr>
        <p:txBody>
          <a:bodyPr wrap="square" lIns="17780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5600" y="2082800"/>
            <a:ext cx="358140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82" name="Число_40"/>
          <p:cNvSpPr txBox="1"/>
          <p:nvPr/>
        </p:nvSpPr>
        <p:spPr>
          <a:xfrm>
            <a:off x="7975600" y="2971800"/>
            <a:ext cx="35814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>
                <a:solidFill>
                  <a:srgbClr val="2C71A4"/>
                </a:solidFill>
                <a:latin typeface="Arial Narrow"/>
                <a:cs typeface="Arial Narrow"/>
              </a:rPr>
              <a:t>40%</a:t>
            </a:r>
          </a:p>
        </p:txBody>
      </p:sp>
      <p:sp>
        <p:nvSpPr>
          <p:cNvPr id="83" name="Подпись_40"/>
          <p:cNvSpPr txBox="1"/>
          <p:nvPr/>
        </p:nvSpPr>
        <p:spPr>
          <a:xfrm>
            <a:off x="7975600" y="3454400"/>
            <a:ext cx="35814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участников FIDELITY имели рСКФ 60 и выше. ХБП у них определяли только по альбуминурии.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5600" y="4445000"/>
            <a:ext cx="3581400" cy="736600"/>
          </a:xfrm>
          <a:prstGeom prst="rect">
            <a:avLst/>
          </a:prstGeom>
          <a:noFill/>
          <a:effectLst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ХБП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определяет категория риска: чем выше риск, тем чаще.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5600" y="5283200"/>
            <a:ext cx="3581400" cy="965200"/>
          </a:xfrm>
          <a:prstGeom prst="rect">
            <a:avLst/>
          </a:prstGeom>
          <a:noFill/>
          <a:effectLst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Вопрос врачу: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у скольких ваших пациентов с диабетом 2 типа за год определяли и рСКФ, и АКО?</a:t>
            </a:r>
            <a:endParaRPr lang="ru-RU" sz="1800"/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647180"/>
            <a:ext cx="10795000" cy="1346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KDIGO 2024. Kidney Int. 105(4S):S117–S314. American Diabetes Association Professional Practice Committee. Standards of Care in Diabetes-2026. Diabetes Care. 2026;49(Suppl 1):S246–S260. Agarwal R, et al. Eur Heart J. 2022;43:474–484.</a:t>
            </a:r>
            <a:endParaRPr lang="ru-RU" sz="800" b="0" dirty="0"/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79" name="Сокращения"/>
          <p:cNvSpPr txBox="1"/>
          <p:nvPr/>
        </p:nvSpPr>
        <p:spPr>
          <a:xfrm>
            <a:off x="457200" y="6329680"/>
            <a:ext cx="10795000" cy="317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FIDELITY: объединённый анализ FIDELIO-DKD и FIGARO-DKD, 13 026 пациентов с ХБП и диабетом 2 типа; рСКФ 60 и выше у 5195 (39,9%).</a:t>
            </a:r>
            <a:endParaRPr lang="ru-RU" sz="1000" b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Карточка_хроническая"/>
          <p:cNvSpPr/>
          <p:nvPr/>
        </p:nvSpPr>
        <p:spPr>
          <a:xfrm>
            <a:off x="457200" y="4064000"/>
            <a:ext cx="11277600" cy="1168400"/>
          </a:xfrm>
          <a:prstGeom prst="roundRect">
            <a:avLst>
              <a:gd name="adj" fmla="val 7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19" name="Карточка_функция"/>
          <p:cNvSpPr/>
          <p:nvPr/>
        </p:nvSpPr>
        <p:spPr>
          <a:xfrm>
            <a:off x="4572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4008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5" name="Круг_или"/>
          <p:cNvSpPr/>
          <p:nvPr/>
        </p:nvSpPr>
        <p:spPr>
          <a:xfrm>
            <a:off x="5816600" y="2438400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ХБП подтверждают по рСКФ ниже 60 или АКО от 30 мг/г, если это сохраняется не менее 3 месяцев</a:t>
            </a:r>
            <a:endParaRPr sz="2000" b="0" dirty="0"/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6604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6604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6604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6040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6040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Критерий ХБП: ≥30 мг/г (≥3 мг/ммоль)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6040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660400" y="4241800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признака повреждения почек, например альбуминурии.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660400" y="4861072"/>
            <a:ext cx="10871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Повышенную альбуминурию подтверждают повторным анализом и исключают временные причины, например инфекцию.</a:t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65800" y="2540000"/>
            <a:ext cx="660400" cy="355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647180"/>
            <a:ext cx="10795000" cy="1346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KDIGO 2024. Kidney Int. 105(4S):S117–S314.</a:t>
            </a:r>
            <a:endParaRPr lang="ru-RU" sz="800" b="0" dirty="0"/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3" name="Плашка_функция"/>
          <p:cNvSpPr/>
          <p:nvPr/>
        </p:nvSpPr>
        <p:spPr>
          <a:xfrm>
            <a:off x="4572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24" name="Плашка_повреждение"/>
          <p:cNvSpPr/>
          <p:nvPr/>
        </p:nvSpPr>
        <p:spPr>
          <a:xfrm>
            <a:off x="64008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Повреждение почек</a:t>
            </a:r>
          </a:p>
        </p:txBody>
      </p:sp>
      <p:grpSp>
        <p:nvGrpSpPr>
          <p:cNvPr id="27" name="Blood_illustration_editable"/>
          <p:cNvGrpSpPr/>
          <p:nvPr/>
        </p:nvGrpSpPr>
        <p:grpSpPr>
          <a:xfrm>
            <a:off x="4978400" y="1930400"/>
            <a:ext cx="1245638" cy="1422400"/>
            <a:chOff x="749808" y="1399032"/>
            <a:chExt cx="1536192" cy="1754184"/>
          </a:xfrm>
        </p:grpSpPr>
        <p:sp>
          <p:nvSpPr>
            <p:cNvPr id="28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3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4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5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6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7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8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9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40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41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2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3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4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5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6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7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8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9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</p:grpSp>
      <p:grpSp>
        <p:nvGrpSpPr>
          <p:cNvPr id="50" name="Urine_illustration_editable"/>
          <p:cNvGrpSpPr/>
          <p:nvPr/>
        </p:nvGrpSpPr>
        <p:grpSpPr>
          <a:xfrm>
            <a:off x="10490200" y="2108200"/>
            <a:ext cx="1432452" cy="1066800"/>
            <a:chOff x="548640" y="4507992"/>
            <a:chExt cx="1737360" cy="1293876"/>
          </a:xfrm>
        </p:grpSpPr>
        <p:sp>
          <p:nvSpPr>
            <p:cNvPr id="51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55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6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7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8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9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0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1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2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3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4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5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66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67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8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9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0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1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2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3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4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5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6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</p:grpSp>
      <p:sp>
        <p:nvSpPr>
          <p:cNvPr id="77" name="Сокращения"/>
          <p:cNvSpPr txBox="1"/>
          <p:nvPr/>
        </p:nvSpPr>
        <p:spPr>
          <a:xfrm>
            <a:off x="457200" y="6482080"/>
            <a:ext cx="10795000" cy="1651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мочи.</a:t>
            </a:r>
            <a:endParaRPr lang="ru-RU" sz="1000" b="0" dirty="0"/>
          </a:p>
        </p:txBody>
      </p: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Карточка_пример"/>
          <p:cNvSpPr/>
          <p:nvPr/>
        </p:nvSpPr>
        <p:spPr>
          <a:xfrm>
            <a:off x="457200" y="2298700"/>
            <a:ext cx="2387600" cy="2616200"/>
          </a:xfrm>
          <a:prstGeom prst="roundRect">
            <a:avLst>
              <a:gd name="adj" fmla="val 579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55" name="Шапка_рСКФ"/>
          <p:cNvSpPr/>
          <p:nvPr/>
        </p:nvSpPr>
        <p:spPr>
          <a:xfrm>
            <a:off x="2946400" y="1346200"/>
            <a:ext cx="15240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56" name="Шапка_A1"/>
          <p:cNvSpPr/>
          <p:nvPr/>
        </p:nvSpPr>
        <p:spPr>
          <a:xfrm>
            <a:off x="4521200" y="1346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57" name="Шапка_A2"/>
          <p:cNvSpPr/>
          <p:nvPr/>
        </p:nvSpPr>
        <p:spPr>
          <a:xfrm>
            <a:off x="6934200" y="1346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58" name="Шапка_A3"/>
          <p:cNvSpPr/>
          <p:nvPr/>
        </p:nvSpPr>
        <p:spPr>
          <a:xfrm>
            <a:off x="9347200" y="1346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59" name="Шапка_G1"/>
          <p:cNvSpPr/>
          <p:nvPr/>
        </p:nvSpPr>
        <p:spPr>
          <a:xfrm>
            <a:off x="2946400" y="2108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60" name="Шапка_G2"/>
          <p:cNvSpPr/>
          <p:nvPr/>
        </p:nvSpPr>
        <p:spPr>
          <a:xfrm>
            <a:off x="2946400" y="2743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61" name="Шапка_G3"/>
          <p:cNvSpPr/>
          <p:nvPr/>
        </p:nvSpPr>
        <p:spPr>
          <a:xfrm>
            <a:off x="2946400" y="3378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62" name="Шапка_G4"/>
          <p:cNvSpPr/>
          <p:nvPr/>
        </p:nvSpPr>
        <p:spPr>
          <a:xfrm>
            <a:off x="2946400" y="4013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63" name="Шапка_G5"/>
          <p:cNvSpPr/>
          <p:nvPr/>
        </p:nvSpPr>
        <p:spPr>
          <a:xfrm>
            <a:off x="2946400" y="4648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64" name="Шапка_G6"/>
          <p:cNvSpPr/>
          <p:nvPr/>
        </p:nvSpPr>
        <p:spPr>
          <a:xfrm>
            <a:off x="2946400" y="5283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повышает риск и при сохранной рСКФ: при рСКФ 65 и АКО 350 мг/г риск высокий</a:t>
            </a:r>
            <a:endParaRPr lang="ru-RU" sz="2000" b="0" u="none" dirty="0"/>
          </a:p>
        </p:txBody>
      </p:sp>
      <p:sp>
        <p:nvSpPr>
          <p:cNvPr id="5" name="Text_4"/>
          <p:cNvSpPr txBox="1"/>
          <p:nvPr/>
        </p:nvSpPr>
        <p:spPr>
          <a:xfrm>
            <a:off x="2946400" y="1346200"/>
            <a:ext cx="1524000" cy="711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рСКФ (G)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мл/мин/1,73 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21200" y="1346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34200" y="1346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47200" y="1346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2946400" y="2108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200" y="2108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21200" y="210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34200" y="2108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34200" y="210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7200" y="2108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347200" y="210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2946400" y="2743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1200" y="2743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21200" y="274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743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34200" y="274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7200" y="2743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347200" y="274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2946400" y="3378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1200" y="3378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21200" y="337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34200" y="3378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34200" y="337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7200" y="3378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347200" y="337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2946400" y="4013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1200" y="4013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21200" y="401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34200" y="4013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34200" y="401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7200" y="4013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347200" y="401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2946400" y="4648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1200" y="4648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21200" y="464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4648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34200" y="464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7200" y="4648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347200" y="4648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2946400" y="5283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1200" y="5283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21200" y="528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5283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34200" y="528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7200" y="5283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347200" y="5283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558800" y="2400300"/>
            <a:ext cx="2184400" cy="241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Цвет клетки: риск прогрессирования ХБП и осложнений в группе пациентов.</a:t>
            </a:r>
          </a:p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рСКФ 65 (G2).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15 мг/г (A1): риск низкий*.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350 мг/г (A3): 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647180"/>
            <a:ext cx="10795000" cy="1346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KDIGO 2024. Kidney Int. 105(4S):S117–S314.</a:t>
            </a:r>
            <a:endParaRPr lang="ru-RU" sz="800" b="0" dirty="0"/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65" name="Рамка_пример_A1"/>
          <p:cNvSpPr/>
          <p:nvPr/>
        </p:nvSpPr>
        <p:spPr>
          <a:xfrm>
            <a:off x="4495800" y="2717800"/>
            <a:ext cx="2438400" cy="635000"/>
          </a:xfrm>
          <a:prstGeom prst="rect">
            <a:avLst/>
          </a:prstGeom>
          <a:noFill/>
          <a:ln w="28575">
            <a:solidFill>
              <a:srgbClr val="000000"/>
            </a:solidFill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66" name="Рамка_пример_A3"/>
          <p:cNvSpPr/>
          <p:nvPr/>
        </p:nvSpPr>
        <p:spPr>
          <a:xfrm>
            <a:off x="9321800" y="2717800"/>
            <a:ext cx="2438400" cy="635000"/>
          </a:xfrm>
          <a:prstGeom prst="rect">
            <a:avLst/>
          </a:prstGeom>
          <a:noFill/>
          <a:ln w="28575">
            <a:solidFill>
              <a:srgbClr val="000000"/>
            </a:solidFill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68" name="Сокращения"/>
          <p:cNvSpPr txBox="1"/>
          <p:nvPr/>
        </p:nvSpPr>
        <p:spPr>
          <a:xfrm>
            <a:off x="457200" y="6482080"/>
            <a:ext cx="10795000" cy="1651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G: категории рСКФ; A: категории АКО. АКО в мг/ммоль: A1 &lt;3, A2 3–30, A3 &gt;30.</a:t>
            </a:r>
            <a:endParaRPr lang="ru-RU" sz="1000" b="0" dirty="0"/>
          </a:p>
        </p:txBody>
      </p:sp>
      <p:sp>
        <p:nvSpPr>
          <p:cNvPr id="69" name="Подпись_скобки"/>
          <p:cNvSpPr txBox="1"/>
          <p:nvPr/>
        </p:nvSpPr>
        <p:spPr>
          <a:xfrm>
            <a:off x="6934200" y="990600"/>
            <a:ext cx="4800600" cy="241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Участники FIDELIO-DKD и FIGARO-DKD: АКО от 30 мг/г</a:t>
            </a:r>
          </a:p>
        </p:txBody>
      </p:sp>
      <p:cxnSp>
        <p:nvCxnSpPr>
          <p:cNvPr id="70" name="Скобка_A2_A3"/>
          <p:cNvCxnSpPr/>
          <p:nvPr/>
        </p:nvCxnSpPr>
        <p:spPr>
          <a:xfrm>
            <a:off x="6959600" y="1282700"/>
            <a:ext cx="4749800" cy="0"/>
          </a:xfrm>
          <a:prstGeom prst="line">
            <a:avLst/>
          </a:prstGeom>
          <a:ln w="19050">
            <a:solidFill>
              <a:srgbClr val="2C71A4"/>
            </a:solidFill>
          </a:ln>
        </p:spPr>
      </p:cxnSp>
      <p:cxnSp>
        <p:nvCxnSpPr>
          <p:cNvPr id="71" name="Скобка_A2_A3_левый_край"/>
          <p:cNvCxnSpPr/>
          <p:nvPr/>
        </p:nvCxnSpPr>
        <p:spPr>
          <a:xfrm>
            <a:off x="6959600" y="1282700"/>
            <a:ext cx="0" cy="50800"/>
          </a:xfrm>
          <a:prstGeom prst="line">
            <a:avLst/>
          </a:prstGeom>
          <a:ln w="19050">
            <a:solidFill>
              <a:srgbClr val="2C71A4"/>
            </a:solidFill>
          </a:ln>
        </p:spPr>
      </p:cxnSp>
      <p:cxnSp>
        <p:nvCxnSpPr>
          <p:cNvPr id="72" name="Скобка_A2_A3_правый_край"/>
          <p:cNvCxnSpPr/>
          <p:nvPr/>
        </p:nvCxnSpPr>
        <p:spPr>
          <a:xfrm>
            <a:off x="11709400" y="1282700"/>
            <a:ext cx="0" cy="50800"/>
          </a:xfrm>
          <a:prstGeom prst="line">
            <a:avLst/>
          </a:prstGeom>
          <a:ln w="19050">
            <a:solidFill>
              <a:srgbClr val="2C71A4"/>
            </a:solidFill>
          </a:ln>
        </p:spPr>
      </p:cxnSp>
      <p:sp>
        <p:nvSpPr>
          <p:cNvPr id="73" name="Сноска"/>
          <p:cNvSpPr txBox="1"/>
          <p:nvPr/>
        </p:nvSpPr>
        <p:spPr>
          <a:xfrm>
            <a:off x="457200" y="6347459"/>
            <a:ext cx="10795000" cy="1346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98800" y="4927600"/>
            <a:ext cx="8636000" cy="914400"/>
          </a:xfrm>
          <a:prstGeom prst="roundRect">
            <a:avLst>
              <a:gd name="adj" fmla="val 6185"/>
            </a:avLst>
          </a:prstGeom>
          <a:solidFill>
            <a:srgbClr val="F2F2F2"/>
          </a:solidFill>
          <a:ln w="15875"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48" name="Рамка_группа_3"/>
          <p:cNvSpPr/>
          <p:nvPr/>
        </p:nvSpPr>
        <p:spPr>
          <a:xfrm>
            <a:off x="3098800" y="3644900"/>
            <a:ext cx="8636000" cy="914400"/>
          </a:xfrm>
          <a:prstGeom prst="roundRect">
            <a:avLst>
              <a:gd name="adj" fmla="val 6185"/>
            </a:avLst>
          </a:prstGeom>
          <a:solidFill>
            <a:srgbClr val="F2F2F2"/>
          </a:solidFill>
          <a:ln w="1905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47" name="Рамка_группа_2"/>
          <p:cNvSpPr/>
          <p:nvPr/>
        </p:nvSpPr>
        <p:spPr>
          <a:xfrm>
            <a:off x="3098800" y="2362200"/>
            <a:ext cx="8636000" cy="914400"/>
          </a:xfrm>
          <a:prstGeom prst="roundRect">
            <a:avLst>
              <a:gd name="adj" fmla="val 6185"/>
            </a:avLst>
          </a:prstGeom>
          <a:solidFill>
            <a:srgbClr val="F2F2F2"/>
          </a:solidFill>
          <a:ln w="15875"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46" name="Рамка_группа_1"/>
          <p:cNvSpPr/>
          <p:nvPr/>
        </p:nvSpPr>
        <p:spPr>
          <a:xfrm>
            <a:off x="3098800" y="1079500"/>
            <a:ext cx="8636000" cy="914400"/>
          </a:xfrm>
          <a:prstGeom prst="roundRect">
            <a:avLst>
              <a:gd name="adj" fmla="val 6185"/>
            </a:avLst>
          </a:prstGeom>
          <a:solidFill>
            <a:srgbClr val="F2F2F2"/>
          </a:solidFill>
          <a:ln w="15875"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защищают почки разными путями: у финеренона своя мишень, МКР</a:t>
            </a:r>
            <a:endParaRPr lang="ru-RU" sz="2000" b="0" dirty="0"/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8636000" cy="3048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</p:spPr>
        <p:txBody>
          <a:bodyPr spcFirstLastPara="1" wrap="square" lIns="431800" tIns="0" rIns="101600" bIns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149600" y="762000"/>
            <a:ext cx="279400" cy="279400"/>
          </a:xfrm>
          <a:prstGeom prst="ellipse">
            <a:avLst/>
          </a:prstGeom>
          <a:solidFill>
            <a:srgbClr val="FFFFFF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149600" y="76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00" b="1" u="none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225800" y="1130300"/>
            <a:ext cx="3708400" cy="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Мишень: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АПФ или рецептор ангиотензина II.</a:t>
            </a:r>
            <a:endParaRPr lang="ru-RU" sz="1400"/>
          </a:p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Действие: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расширяют выносящую артериолу; снижают давление в клубочке.</a:t>
            </a:r>
            <a:endParaRPr lang="ru-RU" sz="1400"/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62800" y="1130300"/>
            <a:ext cx="4470400" cy="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Польза: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ниже риск прогрессирования ХБП при альбуминурии.</a:t>
            </a:r>
            <a:endParaRPr lang="ru-RU" sz="1400"/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endParaRPr lang="ru-RU" sz="1400"/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8636000" cy="304800"/>
          </a:xfrm>
          <a:prstGeom prst="roundRect">
            <a:avLst>
              <a:gd name="adj" fmla="val 25000"/>
            </a:avLst>
          </a:prstGeom>
          <a:solidFill>
            <a:srgbClr val="196B24"/>
          </a:solidFill>
          <a:ln>
            <a:noFill/>
          </a:ln>
        </p:spPr>
        <p:txBody>
          <a:bodyPr spcFirstLastPara="1" wrap="square" lIns="431800" tIns="0" rIns="101600" bIns="0" anchor="ctr">
            <a:noAutofit/>
          </a:bodyPr>
          <a:lstStyle/>
          <a:p>
            <a:pPr algn="l">
              <a:lnSpc>
                <a:spcPct val="90000"/>
              </a:lnSpc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lang="ru-RU" sz="16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Ингибиторы натрий-глюкозного котранспортёра 2 типа (НГЛТ2)</a:t>
            </a:r>
            <a:endParaRPr lang="ru-RU" sz="1600"/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149600" y="2044700"/>
            <a:ext cx="279400" cy="279400"/>
          </a:xfrm>
          <a:prstGeom prst="ellipse">
            <a:avLst/>
          </a:prstGeom>
          <a:solidFill>
            <a:srgbClr val="FFFFFF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149600" y="204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225800" y="2413000"/>
            <a:ext cx="3708400" cy="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Мишень: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НГЛТ2 в проксимальном канальце.</a:t>
            </a:r>
            <a:endParaRPr lang="ru-RU" sz="1400"/>
          </a:p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Действие: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уменьшают возврат натрия и глюкозы в кровь.</a:t>
            </a:r>
            <a:endParaRPr lang="ru-RU" sz="1400"/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62800" y="2413000"/>
            <a:ext cx="4470400" cy="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Польза: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ниже риск прогрессирования ХБП и госпитализации</a:t>
            </a:r>
            <a:b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</a:b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из-за сердечной недостаточности.</a:t>
            </a:r>
            <a:endParaRPr lang="ru-RU" sz="1400"/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endParaRPr lang="ru-RU" sz="1400"/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8636000" cy="3048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</p:spPr>
        <p:txBody>
          <a:bodyPr spcFirstLastPara="1" wrap="square" lIns="431800" tIns="0" rIns="101600" bIns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149600" y="3327400"/>
            <a:ext cx="279400" cy="279400"/>
          </a:xfrm>
          <a:prstGeom prst="ellipse">
            <a:avLst/>
          </a:prstGeom>
          <a:solidFill>
            <a:srgbClr val="FFFFFF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149600" y="332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225800" y="3695700"/>
            <a:ext cx="3708400" cy="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Мишень: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МКР в почках, сердце и сосудах.</a:t>
            </a:r>
            <a:endParaRPr lang="ru-RU" sz="1400"/>
          </a:p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Действие: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блокирует МКР, препятствуя включению генов воспаления и фиброза.</a:t>
            </a:r>
            <a:endParaRPr lang="ru-RU" sz="1400"/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62800" y="3695700"/>
            <a:ext cx="4470400" cy="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Польза: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ниже риск прогрессирования ХБП и сердечно-сосудистых событий у взрослых с ХБП и диабетом 2 типа (FIDELIO-DKD, FIGARO-DKD, FIDELITY).</a:t>
            </a:r>
            <a:endParaRPr lang="ru-RU" sz="1400"/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endParaRPr lang="ru-RU" sz="1400"/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8636000" cy="3048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</p:spPr>
        <p:txBody>
          <a:bodyPr spcFirstLastPara="1" wrap="square" lIns="431800" tIns="0" rIns="101600" bIns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149600" y="4610100"/>
            <a:ext cx="279400" cy="279400"/>
          </a:xfrm>
          <a:prstGeom prst="ellipse">
            <a:avLst/>
          </a:prstGeom>
          <a:solidFill>
            <a:srgbClr val="FFFFFF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149600" y="46101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00" b="1" u="none">
                <a:solidFill>
                  <a:srgbClr val="E97132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225800" y="4978400"/>
            <a:ext cx="3708400" cy="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Мишень: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рецептор ГПП-1.</a:t>
            </a:r>
            <a:endParaRPr lang="ru-RU" sz="1400"/>
          </a:p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Действие: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улучшают контроль глюкозы, снижают массу тела.</a:t>
            </a:r>
            <a:endParaRPr lang="ru-RU" sz="1400"/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62800" y="4978400"/>
            <a:ext cx="4470400" cy="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Польза¹: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ниже риск тяжёлых почечных событий и смерти от почечных или сердечно-сосудистых причин.</a:t>
            </a:r>
            <a:endParaRPr lang="ru-RU" sz="1400"/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endParaRPr lang="ru-RU" sz="1400"/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Где находится мишень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928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 добавляют к ингибитору АПФ или БРА. Набор препаратов врач подбирает по рСКФ, АКО и калию.</a:t>
            </a:r>
            <a:endParaRPr lang="ru-RU" sz="1600"/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E97132"/>
          </a:solidFill>
          <a:ln w="15240">
            <a:solidFill>
              <a:srgbClr val="FFFFFF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2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525259"/>
            <a:ext cx="10795000" cy="25654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0000"/>
              </a:lnSpc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¹ Данные семаглутида, исследование FLOW: Perkovic V, et al. N Engl J Med. 2024;391:109–121. KDIGO 2024. Kidney Int. 105(4S):S117–S314. Финеренон-Орвилле. Инструкция по медицинскому применению. Bakris GL, et al. N Engl J Med. 2020;383:2219–2229. Pitt B, et al. N Engl J Med. 2021;385:2252–2263. Адаптировано по: Servier Medical Art (CC BY 4.0).</a:t>
            </a:r>
            <a:endParaRPr lang="ru-RU" sz="800" b="0" dirty="0"/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54" name="Сокращения"/>
          <p:cNvSpPr txBox="1"/>
          <p:nvPr/>
        </p:nvSpPr>
        <p:spPr>
          <a:xfrm>
            <a:off x="457200" y="6207759"/>
            <a:ext cx="10795000" cy="3175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0000"/>
              </a:lnSpc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НГЛТ2: натрий-глюкозный котранспортёр 2 типа; МКР: минералокортикоидный рецептор; ГПП-1: глюкагоноподобный пептид-1.</a:t>
            </a:r>
            <a:endParaRPr lang="ru-RU" sz="1000" b="0" dirty="0"/>
          </a:p>
        </p:txBody>
      </p:sp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Отношение рисков 0,82 означает риск ниже на 18% по сравнению с плацебо</a:t>
            </a:r>
            <a:endParaRPr lang="ru-RU" sz="2000"/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647180"/>
            <a:ext cx="10795000" cy="1346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Bakris GL et al. N Engl J Med. 2020;383:2219–2229.</a:t>
            </a:r>
            <a:endParaRPr lang="ru-RU" sz="800" b="0" dirty="0"/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65" name="Пример исследования"/>
          <p:cNvSpPr txBox="1"/>
          <p:nvPr/>
        </p:nvSpPr>
        <p:spPr>
          <a:xfrm>
            <a:off x="457200" y="10668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7030A0"/>
          </a:solidFill>
          <a:ln>
            <a:noFill/>
          </a:ln>
        </p:spPr>
        <p:txBody>
          <a:bodyPr wrap="square" lIns="152400" tIns="0" rIns="10160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FIDELIO-DKD: взрослые с ХБП и диабетом 2 типа, финеренон или плацебо на фоне ингибитора АПФ или БРА</a:t>
            </a:r>
            <a:endParaRPr lang="ru-RU" sz="2400"/>
          </a:p>
        </p:txBody>
      </p:sp>
      <p:sp>
        <p:nvSpPr>
          <p:cNvPr id="75" name="Карточка_1"/>
          <p:cNvSpPr/>
          <p:nvPr/>
        </p:nvSpPr>
        <p:spPr>
          <a:xfrm>
            <a:off x="457200" y="1625600"/>
            <a:ext cx="11277600" cy="711200"/>
          </a:xfrm>
          <a:prstGeom prst="roundRect">
            <a:avLst>
              <a:gd name="adj" fmla="val 1428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6" name="Карточка_2"/>
          <p:cNvSpPr/>
          <p:nvPr/>
        </p:nvSpPr>
        <p:spPr>
          <a:xfrm>
            <a:off x="457200" y="2413000"/>
            <a:ext cx="11277600" cy="711200"/>
          </a:xfrm>
          <a:prstGeom prst="roundRect">
            <a:avLst>
              <a:gd name="adj" fmla="val 1428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Карточка_3"/>
          <p:cNvSpPr/>
          <p:nvPr/>
        </p:nvSpPr>
        <p:spPr>
          <a:xfrm>
            <a:off x="457200" y="3200400"/>
            <a:ext cx="11277600" cy="711200"/>
          </a:xfrm>
          <a:prstGeom prst="roundRect">
            <a:avLst>
              <a:gd name="adj" fmla="val 1428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Карточка_4"/>
          <p:cNvSpPr/>
          <p:nvPr/>
        </p:nvSpPr>
        <p:spPr>
          <a:xfrm>
            <a:off x="457200" y="3987800"/>
            <a:ext cx="11277600" cy="711200"/>
          </a:xfrm>
          <a:prstGeom prst="roundRect">
            <a:avLst>
              <a:gd name="adj" fmla="val 1428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7" name="Первичный исход"/>
          <p:cNvSpPr txBox="1"/>
          <p:nvPr/>
        </p:nvSpPr>
        <p:spPr>
          <a:xfrm>
            <a:off x="609600" y="1625600"/>
            <a:ext cx="2997200" cy="711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оценивали</a:t>
            </a:r>
            <a:endParaRPr lang="ru-RU" sz="1800"/>
          </a:p>
        </p:txBody>
      </p:sp>
      <p:sp>
        <p:nvSpPr>
          <p:cNvPr id="68" name="Состав исхода"/>
          <p:cNvSpPr txBox="1"/>
          <p:nvPr/>
        </p:nvSpPr>
        <p:spPr>
          <a:xfrm>
            <a:off x="3708400" y="1625600"/>
            <a:ext cx="7874000" cy="711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Почечная недостаточность, устойчивое снижение рСКФ на ≥40% или смерть от почечных причин.</a:t>
            </a:r>
            <a:endParaRPr lang="ru-RU" sz="1800"/>
          </a:p>
        </p:txBody>
      </p:sp>
      <p:sp>
        <p:nvSpPr>
          <p:cNvPr id="69" name="Отношение рисков"/>
          <p:cNvSpPr txBox="1"/>
          <p:nvPr/>
        </p:nvSpPr>
        <p:spPr>
          <a:xfrm>
            <a:off x="609600" y="2413000"/>
            <a:ext cx="2997200" cy="711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  <a:endParaRPr lang="ru-RU" sz="1800"/>
          </a:p>
        </p:txBody>
      </p:sp>
      <p:sp>
        <p:nvSpPr>
          <p:cNvPr id="70" name="Эффект"/>
          <p:cNvSpPr txBox="1"/>
          <p:nvPr/>
        </p:nvSpPr>
        <p:spPr>
          <a:xfrm>
            <a:off x="3708400" y="2413000"/>
            <a:ext cx="7874000" cy="711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7030A0"/>
                </a:solidFill>
                <a:latin typeface="Arial Narrow"/>
                <a:cs typeface="Arial Narrow"/>
              </a:rPr>
              <a:t>0,82</a:t>
            </a: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: риск ниже на 18% по сравнению с плацебо</a:t>
            </a:r>
            <a:endParaRPr lang="ru-RU" sz="2400"/>
          </a:p>
        </p:txBody>
      </p:sp>
      <p:sp>
        <p:nvSpPr>
          <p:cNvPr id="71" name="Доверительный интервал"/>
          <p:cNvSpPr txBox="1"/>
          <p:nvPr/>
        </p:nvSpPr>
        <p:spPr>
          <a:xfrm>
            <a:off x="609600" y="3200400"/>
            <a:ext cx="2997200" cy="711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</a:t>
            </a:r>
            <a:endParaRPr lang="ru-RU" sz="1800"/>
          </a:p>
        </p:txBody>
      </p:sp>
      <p:sp>
        <p:nvSpPr>
          <p:cNvPr id="72" name="Неопределённость"/>
          <p:cNvSpPr txBox="1"/>
          <p:nvPr/>
        </p:nvSpPr>
        <p:spPr>
          <a:xfrm>
            <a:off x="3708400" y="3200400"/>
            <a:ext cx="7874000" cy="711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0,73–0,93. Весь интервал ниже 1: результат статистически значим.</a:t>
            </a:r>
            <a:endParaRPr lang="ru-RU" sz="1800"/>
          </a:p>
        </p:txBody>
      </p:sp>
      <p:sp>
        <p:nvSpPr>
          <p:cNvPr id="73" name="Условия интерпретации"/>
          <p:cNvSpPr txBox="1"/>
          <p:nvPr/>
        </p:nvSpPr>
        <p:spPr>
          <a:xfrm>
            <a:off x="457200" y="4978400"/>
            <a:ext cx="11277600" cy="609600"/>
          </a:xfrm>
          <a:prstGeom prst="roundRect">
            <a:avLst>
              <a:gd name="adj" fmla="val 16666"/>
            </a:avLst>
          </a:prstGeom>
          <a:solidFill>
            <a:srgbClr val="F2F2F2"/>
          </a:solidFill>
          <a:ln>
            <a:noFill/>
          </a:ln>
        </p:spPr>
        <p:txBody>
          <a:bodyPr wrap="square" lIns="152400" tIns="0" rIns="15240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Результат относится к комбинированному исходу у взрослых с ХБП и диабетом 2 типа на фоне ингибитора АПФ или БРА.</a:t>
            </a:r>
            <a:endParaRPr lang="ru-RU" sz="1700"/>
          </a:p>
        </p:txBody>
      </p:sp>
      <p:sp>
        <p:nvSpPr>
          <p:cNvPr id="74" name="Сокращения"/>
          <p:cNvSpPr txBox="1"/>
          <p:nvPr/>
        </p:nvSpPr>
        <p:spPr>
          <a:xfrm>
            <a:off x="457200" y="6329680"/>
            <a:ext cx="10795000" cy="317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II; ОР: отношение рисков; ЧБНЛ: число больных, которых необходимо лечить.</a:t>
            </a:r>
            <a:endParaRPr lang="ru-RU" sz="1000" b="0" dirty="0"/>
          </a:p>
        </p:txBody>
      </p:sp>
      <p:sp>
        <p:nvSpPr>
          <p:cNvPr id="79" name="Метка_в_процентах_и_ЧБНЛ"/>
          <p:cNvSpPr txBox="1"/>
          <p:nvPr/>
        </p:nvSpPr>
        <p:spPr>
          <a:xfrm>
            <a:off x="609600" y="3987800"/>
            <a:ext cx="2997200" cy="711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 процентах и ЧБНЛ</a:t>
            </a:r>
          </a:p>
        </p:txBody>
      </p:sp>
      <p:sp>
        <p:nvSpPr>
          <p:cNvPr id="80" name="Значение_в_процентах_и_ЧБНЛ"/>
          <p:cNvSpPr txBox="1"/>
          <p:nvPr/>
        </p:nvSpPr>
        <p:spPr>
          <a:xfrm>
            <a:off x="3708400" y="3987800"/>
            <a:ext cx="7874000" cy="711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17,8% на финереноне и 21,1% на плацебо за медиану 2,6 года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ЧБНЛ 29 за 3 года: столько пациентов нужно лечить, чтобы предотвратить одно событие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58100" y="2641600"/>
            <a:ext cx="4076700" cy="28448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Остаточный риск сохраняется даже на ингибиторе АПФ или БРА с канаглифлозином: первичный исход у 11,1% пациентов (медиана наблюдения 2,6 года)</a:t>
            </a:r>
          </a:p>
        </p:txBody>
      </p:sp>
      <p:sp>
        <p:nvSpPr>
          <p:cNvPr id="21" name="Карточка_исследование"/>
          <p:cNvSpPr/>
          <p:nvPr/>
        </p:nvSpPr>
        <p:spPr>
          <a:xfrm>
            <a:off x="457200" y="965200"/>
            <a:ext cx="11277600" cy="1600200"/>
          </a:xfrm>
          <a:prstGeom prst="roundRect">
            <a:avLst>
              <a:gd name="adj" fmla="val 634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9728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609600" y="1422400"/>
            <a:ext cx="109728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4401 пациент с диабетом 2 типа, хронической болезнью почек и АКО выше 300 мг/г.</a:t>
            </a:r>
            <a:endParaRPr lang="ru-RU" sz="1600"/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канаглифлозин (ингибитор НГЛТ2) или плацебо; все получали ингибитор АПФ или БРА.</a:t>
            </a:r>
            <a:endParaRPr lang="ru-RU" sz="1600"/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Первичный исход:</a:t>
            </a: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терминальная почечная недостаточность, удвоение уровня креатинина или смерть от почечных или сердечно-сосудистых причин.</a:t>
            </a:r>
            <a:endParaRPr lang="ru-RU" sz="1600"/>
          </a:p>
        </p:txBody>
      </p:sp>
      <p:graphicFrame>
        <p:nvGraphicFramePr>
          <p:cNvPr id="16" name="Chart"/>
          <p:cNvGraphicFramePr/>
          <p:nvPr/>
        </p:nvGraphicFramePr>
        <p:xfrm>
          <a:off x="457200" y="2641600"/>
          <a:ext cx="6896100" cy="284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43200"/>
            <a:ext cx="36957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 0,70 (95% ДИ 0,59–0,82)</a:t>
            </a:r>
            <a:endParaRPr lang="ru-RU" sz="1800"/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2997200"/>
            <a:ext cx="36957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Риск ниже на 30% по сравнению с плацебо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657600"/>
            <a:ext cx="36957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медиана 2,6 года. 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546600"/>
            <a:ext cx="3695700" cy="889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 канаглифлозине и ингибиторе АПФ или БРА первичный исход возник у </a:t>
            </a:r>
            <a:r>
              <a:rPr sz="2400" b="1">
                <a:solidFill>
                  <a:srgbClr val="000000"/>
                </a:solidFill>
                <a:latin typeface="Arial Narrow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пациентов.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588000"/>
            <a:ext cx="11277600" cy="381000"/>
          </a:xfrm>
          <a:prstGeom prst="roundRect">
            <a:avLst>
              <a:gd name="adj" fmla="val 26666"/>
            </a:avLst>
          </a:prstGeom>
          <a:solidFill>
            <a:srgbClr val="7030A0"/>
          </a:solidFill>
          <a:ln w="0">
            <a:noFill/>
          </a:ln>
        </p:spPr>
        <p:txBody>
          <a:bodyPr wrap="square" lIns="152400" tIns="0" rIns="10160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Остаточный риск остаётся даже на ингибиторе АПФ или БРА с ингибитором НГЛТ2. У финеренона другая мишень: МКР.</a:t>
            </a:r>
            <a:endParaRPr lang="ru-RU" sz="1600"/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647180"/>
            <a:ext cx="10795000" cy="1346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Perkovic V, et al. N Engl J Med. 2019;380:2295–2306.</a:t>
            </a:r>
            <a:endParaRPr lang="ru-RU" sz="800" b="0" dirty="0"/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0" name="Сокращения"/>
          <p:cNvSpPr txBox="1"/>
          <p:nvPr/>
        </p:nvSpPr>
        <p:spPr>
          <a:xfrm>
            <a:off x="457200" y="6329680"/>
            <a:ext cx="10795000" cy="317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 типа; ДИ: доверительный интервал; АКО: отношение альбумина к креатинину мочи; МКР: минералокортикоидный рецептор.</a:t>
            </a:r>
            <a:endParaRPr lang="ru-RU" sz="1000" b="0" dirty="0"/>
          </a:p>
        </p:txBody>
      </p:sp>
      <p:sp>
        <p:nvSpPr>
          <p:cNvPr id="22" name="Сноска"/>
          <p:cNvSpPr txBox="1"/>
          <p:nvPr/>
        </p:nvSpPr>
        <p:spPr>
          <a:xfrm>
            <a:off x="457200" y="6195059"/>
            <a:ext cx="10795000" cy="1346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Финеренон в исследовании CREDENCE не применяли; результаты разных исследований напрямую не сравнивают.</a:t>
            </a:r>
          </a:p>
        </p:txBody>
      </p:sp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Альдостерон через МКР задерживает натрий и выводит калий</a:t>
            </a:r>
            <a:endParaRPr lang="ru-RU" sz="2000" b="0" dirty="0"/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C1E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B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 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 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solidFill>
            <a:srgbClr val="F2F2F2"/>
          </a:solidFill>
          <a:ln w="26670">
            <a:solidFill>
              <a:srgbClr val="AEAE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solidFill>
            <a:srgbClr val="D9D9D9"/>
          </a:solidFill>
          <a:ln w="1079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solidFill>
            <a:srgbClr val="D9D9D9"/>
          </a:solidFill>
          <a:ln w="1079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solidFill>
            <a:srgbClr val="F2F2F2"/>
          </a:solidFill>
          <a:ln w="1841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AEAE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000000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6B24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196B2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196B24"/>
          </a:solidFill>
          <a:ln w="762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solidFill>
            <a:srgbClr val="7F7F7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196B24"/>
          </a:solidFill>
          <a:ln w="762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 рецептор"/>
          <p:cNvSpPr txBox="1"/>
          <p:nvPr/>
        </p:nvSpPr>
        <p:spPr>
          <a:xfrm>
            <a:off x="6858000" y="3182112"/>
            <a:ext cx="2387600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000000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000000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Текст: Комплекс переходит 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F7F7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F7F7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 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AEA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156082"/>
              </a:gs>
              <a:gs pos="100000">
                <a:srgbClr val="156082"/>
              </a:gs>
            </a:gsLst>
            <a:lin ang="5400000" scaled="1"/>
          </a:gradFill>
          <a:ln w="889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156082"/>
              </a:gs>
              <a:gs pos="100000">
                <a:srgbClr val="156082"/>
              </a:gs>
            </a:gsLst>
            <a:lin ang="5400000" scaled="1"/>
          </a:gradFill>
          <a:ln w="889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E97132"/>
              </a:gs>
              <a:gs pos="100000">
                <a:srgbClr val="E97132"/>
              </a:gs>
            </a:gsLst>
            <a:lin ang="5400000" scaled="1"/>
          </a:gradFill>
          <a:ln w="889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E97132"/>
              </a:gs>
              <a:gs pos="100000">
                <a:srgbClr val="E97132"/>
              </a:gs>
            </a:gsLst>
            <a:lin ang="5400000" scaled="1"/>
          </a:gradFill>
          <a:ln w="889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solidFill>
            <a:srgbClr val="D9D9D9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 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56082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E9713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56082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267200"/>
            <a:ext cx="1271016" cy="5059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56082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56082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E9713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97132"/>
                </a:solidFill>
                <a:latin typeface="Arial Narrow"/>
                <a:cs typeface="Arial Narrow"/>
              </a:rPr>
              <a:t>Калий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1560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1560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F7F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F7F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E97132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647180"/>
            <a:ext cx="10795000" cy="1346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  <a:endParaRPr lang="ru-RU" sz="800" b="0" dirty="0"/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56" name="Сокращения"/>
          <p:cNvSpPr txBox="1"/>
          <p:nvPr/>
        </p:nvSpPr>
        <p:spPr>
          <a:xfrm>
            <a:off x="457200" y="6482080"/>
            <a:ext cx="10795000" cy="1651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МКР: минералокортикоидный рецептор.</a:t>
            </a:r>
            <a:endParaRPr lang="ru-RU" sz="1000" b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МКР поддерживает воспаление и фиброз в почке и сердце</a:t>
            </a:r>
            <a:endParaRPr sz="2000" b="0" dirty="0"/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2115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4734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6047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2831896"/>
            <a:ext cx="465978" cy="358444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2692908"/>
            <a:ext cx="441015" cy="438912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000146"/>
            <a:ext cx="482620" cy="336499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2853842"/>
            <a:ext cx="507583" cy="402336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2875787"/>
            <a:ext cx="191383" cy="73152"/>
          </a:xfrm>
          <a:prstGeom prst="ellipse">
            <a:avLst/>
          </a:prstGeom>
          <a:solidFill>
            <a:srgbClr val="B3B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Ядро"/>
          <p:cNvSpPr txBox="1"/>
          <p:nvPr/>
        </p:nvSpPr>
        <p:spPr>
          <a:xfrm>
            <a:off x="3538728" y="21534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6543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5433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1168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56082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27934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464308"/>
            <a:ext cx="219456" cy="301752"/>
          </a:xfrm>
          <a:prstGeom prst="line">
            <a:avLst/>
          </a:prstGeom>
          <a:ln w="13970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022092"/>
            <a:ext cx="640080" cy="0"/>
          </a:xfrm>
          <a:prstGeom prst="line">
            <a:avLst/>
          </a:prstGeom>
          <a:ln w="23495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3911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18059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2847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5773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28940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1866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28575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4244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4116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6063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0449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6557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1537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6246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1482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29178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3960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6146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0650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28675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2223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3174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6402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3384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1857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29205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3412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2589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29983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4363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2141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2305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4244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4408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5191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5191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39639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0251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0517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0251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0517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0251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0517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0251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0517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0251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0517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0251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0517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0251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0517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3022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0134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sp>
        <p:nvSpPr>
          <p:cNvPr id="77" name="Тканевой ответ"/>
          <p:cNvSpPr txBox="1"/>
          <p:nvPr/>
        </p:nvSpPr>
        <p:spPr>
          <a:xfrm>
            <a:off x="5588000" y="2298700"/>
            <a:ext cx="863600" cy="431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ояснение_МКР"/>
          <p:cNvSpPr txBox="1"/>
          <p:nvPr/>
        </p:nvSpPr>
        <p:spPr>
          <a:xfrm>
            <a:off x="508000" y="5232400"/>
            <a:ext cx="5588000" cy="508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ХБП сигнал МКР может усиливаться: рецептор сильнее включает гены воспаления и фиброза.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527300"/>
            <a:ext cx="1270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27813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Обзоры: Agarwal R, et al. Eur Heart J. 2021;42:152–161. Barrera-Chimal J, et al. Kidney Int. 2019;96:302–319. Иллюстрации: Servier Medical Art (CC BY 4.0).</a:t>
            </a:r>
            <a:endParaRPr lang="ru-RU" sz="800" b="0" dirty="0"/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84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МКР: минералокортикоидный рецептор; ХБП: хроническая болезнь почек.</a:t>
            </a:r>
            <a:endParaRPr lang="ru-RU" sz="1000" b="0" dirty="0"/>
          </a:p>
        </p:txBody>
      </p:sp>
      <p:sp>
        <p:nvSpPr>
          <p:cNvPr id="85" name="Шеврон_тканевой_ответ"/>
          <p:cNvSpPr/>
          <p:nvPr/>
        </p:nvSpPr>
        <p:spPr>
          <a:xfrm>
            <a:off x="5867400" y="2819400"/>
            <a:ext cx="381000" cy="5842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Полоса_воспаление"/>
          <p:cNvSpPr/>
          <p:nvPr/>
        </p:nvSpPr>
        <p:spPr>
          <a:xfrm>
            <a:off x="6451600" y="4673600"/>
            <a:ext cx="25400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87" name="Карточка_воспаление"/>
          <p:cNvSpPr/>
          <p:nvPr/>
        </p:nvSpPr>
        <p:spPr>
          <a:xfrm>
            <a:off x="6451600" y="5054600"/>
            <a:ext cx="25400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8" name="Текст_воспаление"/>
          <p:cNvSpPr txBox="1"/>
          <p:nvPr/>
        </p:nvSpPr>
        <p:spPr>
          <a:xfrm>
            <a:off x="6578600" y="5130800"/>
            <a:ext cx="22860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 иммунных клеток.</a:t>
            </a:r>
          </a:p>
        </p:txBody>
      </p:sp>
      <p:sp>
        <p:nvSpPr>
          <p:cNvPr id="89" name="Полоса_фиброз"/>
          <p:cNvSpPr/>
          <p:nvPr/>
        </p:nvSpPr>
        <p:spPr>
          <a:xfrm>
            <a:off x="9156700" y="4673600"/>
            <a:ext cx="25400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90" name="Карточка_фиброз"/>
          <p:cNvSpPr/>
          <p:nvPr/>
        </p:nvSpPr>
        <p:spPr>
          <a:xfrm>
            <a:off x="9156700" y="5054600"/>
            <a:ext cx="25400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1" name="Текст_фиброз"/>
          <p:cNvSpPr txBox="1"/>
          <p:nvPr/>
        </p:nvSpPr>
        <p:spPr>
          <a:xfrm>
            <a:off x="9283700" y="5130800"/>
            <a:ext cx="22860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Рубцовая ткань: избыток межклеточного вещества (матрикса).</a:t>
            </a:r>
          </a:p>
        </p:txBody>
      </p:sp>
      <p:pic>
        <p:nvPicPr>
          <p:cNvPr id="92" name="Иконка_почка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1200" y="1193800"/>
            <a:ext cx="381000" cy="584200"/>
          </a:xfrm>
          <a:prstGeom prst="rect">
            <a:avLst/>
          </a:prstGeom>
        </p:spPr>
      </p:pic>
      <p:pic>
        <p:nvPicPr>
          <p:cNvPr id="93" name="Иконка_сердц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3000" y="1193800"/>
            <a:ext cx="431800" cy="584200"/>
          </a:xfrm>
          <a:prstGeom prst="rect">
            <a:avLst/>
          </a:prstGeom>
        </p:spPr>
      </p:pic>
      <p:sp>
        <p:nvSpPr>
          <p:cNvPr id="94" name="Подпись_почка_и_сердце"/>
          <p:cNvSpPr txBox="1"/>
          <p:nvPr/>
        </p:nvSpPr>
        <p:spPr>
          <a:xfrm>
            <a:off x="8890000" y="1346200"/>
            <a:ext cx="1879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Почка и сердце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Карточка_польза"/>
          <p:cNvSpPr/>
          <p:nvPr/>
        </p:nvSpPr>
        <p:spPr>
          <a:xfrm>
            <a:off x="6299200" y="1689100"/>
            <a:ext cx="5422900" cy="1727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025900"/>
            <a:ext cx="5422900" cy="17018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7030A0"/>
                </a:solidFill>
                <a:latin typeface="Arial Narrow"/>
                <a:cs typeface="Arial Narrow"/>
              </a:rPr>
              <a:t>Финеренон избирательно блокирует МКР, и гены воспаления и фиброза включаются слабее</a:t>
            </a:r>
            <a:endParaRPr sz="2000" b="0" dirty="0"/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2115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4734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6047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2831896"/>
            <a:ext cx="465978" cy="358444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2692908"/>
            <a:ext cx="441015" cy="438912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000146"/>
            <a:ext cx="482620" cy="336499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2853842"/>
            <a:ext cx="507583" cy="402336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2875787"/>
            <a:ext cx="191383" cy="73152"/>
          </a:xfrm>
          <a:prstGeom prst="ellipse">
            <a:avLst/>
          </a:prstGeom>
          <a:solidFill>
            <a:srgbClr val="B3B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Ядро"/>
          <p:cNvSpPr txBox="1"/>
          <p:nvPr/>
        </p:nvSpPr>
        <p:spPr>
          <a:xfrm>
            <a:off x="3538728" y="21534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8849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5433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F7F7F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2793492"/>
            <a:ext cx="192024" cy="192024"/>
          </a:xfrm>
          <a:prstGeom prst="ellipse">
            <a:avLst/>
          </a:prstGeom>
          <a:solidFill>
            <a:srgbClr val="7030A0"/>
          </a:solidFill>
          <a:ln w="508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1168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473452"/>
            <a:ext cx="219456" cy="292608"/>
          </a:xfrm>
          <a:prstGeom prst="line">
            <a:avLst/>
          </a:prstGeom>
          <a:ln w="1651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0220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2820924"/>
            <a:ext cx="0" cy="402336"/>
          </a:xfrm>
          <a:prstGeom prst="line">
            <a:avLst/>
          </a:prstGeom>
          <a:ln w="39370">
            <a:solidFill>
              <a:srgbClr val="7030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038600"/>
            <a:ext cx="3644900" cy="508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Слабее включаются гены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08000" y="5156200"/>
            <a:ext cx="5588000" cy="9144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избирательный антагонист МКР. Связывается с МКР внутри клетки и блокирует привлечение белков-коактиваторов, которые нужны для включения генов воспаления и фиброза.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1790700"/>
            <a:ext cx="5080000" cy="9652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000000"/>
                </a:solidFill>
                <a:latin typeface="Arial Narrow"/>
                <a:cs typeface="Arial Narrow"/>
              </a:rPr>
              <a:t>Финеренон на фоне ИАПФ или БРА в максимально переносимой дозе снижал по сравнению с плацебо риск почечного исхода (FIDELIO-DKD) и сердечно-сосудистого исхода (FIGARO-DKD).</a:t>
            </a:r>
            <a:endParaRPr sz="1800" b="0" dirty="0"/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2908300"/>
            <a:ext cx="5080000" cy="4064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 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FIDELIO-DKD, FIGARO-DKD; объединённый анализ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127500"/>
            <a:ext cx="5080000" cy="14986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Блокада МКР в почечных канальцах снижает выведение калия, поэтому его уровень в крови может расти.</a:t>
            </a:r>
            <a:endParaRPr lang="ru-RU" sz="1800"/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Калий и рСКФ проверяют до начала лечения, через 4 недели после начала, возобновления или повышения дозы и далее периодически.</a:t>
            </a:r>
            <a:endParaRPr lang="ru-RU" sz="1800"/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2319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Доказано при ХБП с альбуминурией и диабете 2 типа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35687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Калий: правило простое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 Bakris GL, et al. N Engl J Med. 2020;383:2219–2229. Pitt B, et al. N Engl J Med. 2021;385:2252–2263. Agarwal R, et al. Eur Heart J. 2022;43:474–484. Механизм и доклинические данные: Amazit L, et al. J Biol Chem. 2015;290:21876–21889; Grune J, et al. Hypertension. 2018;71:599–608; Droebner K, et al. Am J Nephrol. 2021;52:588–601. Иллюстрации: Servier Medical Art (CC BY 4.0).</a:t>
            </a:r>
            <a:endParaRPr lang="ru-RU" sz="800" b="0" dirty="0"/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3" name="Сокращения"/>
          <p:cNvSpPr txBox="1"/>
          <p:nvPr/>
        </p:nvSpPr>
        <p:spPr>
          <a:xfrm>
            <a:off x="457200" y="620522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МКР: минералокортикоидный рецептор; ХБП: хроническая болезнь почек; рСКФ: расчётная скорость клубочковой фильтрации; ИАПФ: ингибитор ангиотензинпревращающего фермента; БРА: блокатор рецепторов ангиотензина II.</a:t>
            </a:r>
            <a:endParaRPr lang="ru-RU" sz="1000" b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Более 13 000 пациентов с ХБП и диабетом 2 типа: FIDELIO-DKD оценивал почечные исходы, FIGARO-DKD сердечно-сосудистые</a:t>
            </a:r>
            <a:endParaRPr sz="2000" b="0" dirty="0"/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22225">
            <a:solidFill>
              <a:srgbClr val="D9D9D9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22225">
            <a:solidFill>
              <a:srgbClr val="D9D9D9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08200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Первичный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почечный исход</a:t>
            </a:r>
            <a:endParaRPr lang="ru-RU" sz="1600"/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108200"/>
            <a:ext cx="228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Первичный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сердечно-сосудистый исход</a:t>
            </a:r>
            <a:endParaRPr lang="ru-RU" sz="1600"/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381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7371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7656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0609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данных каждого пациента.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Bakris GL, et al. N Engl J Med. 2020;383:2219–2229. Pitt B, et al. N Engl J Med. 2021;385:2252–2263. Agarwal R, et al. Eur Heart J. 2022;43:474–484. Иллюстрации: Servier Medical Art.</a:t>
            </a:r>
            <a:endParaRPr lang="ru-RU" sz="800" b="0" dirty="0"/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9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ИАПФ: ингибитор ангиотензинпревращающего фермента; БРА: блокатор рецепторов ангиотензина II.</a:t>
            </a:r>
            <a:endParaRPr lang="ru-RU" sz="1000" b="0" dirty="0"/>
          </a:p>
        </p:txBody>
      </p:sp>
      <p:sp>
        <p:nvSpPr>
          <p:cNvPr id="50" name="Полоса_участники"/>
          <p:cNvSpPr/>
          <p:nvPr/>
        </p:nvSpPr>
        <p:spPr>
          <a:xfrm>
            <a:off x="457200" y="1143000"/>
            <a:ext cx="350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Кто участвовал</a:t>
            </a:r>
          </a:p>
        </p:txBody>
      </p:sp>
      <p:sp>
        <p:nvSpPr>
          <p:cNvPr id="51" name="Карточка_участники"/>
          <p:cNvSpPr/>
          <p:nvPr/>
        </p:nvSpPr>
        <p:spPr>
          <a:xfrm>
            <a:off x="457200" y="1574800"/>
            <a:ext cx="3505200" cy="1143000"/>
          </a:xfrm>
          <a:prstGeom prst="roundRect">
            <a:avLst>
              <a:gd name="adj" fmla="val 888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Текст_участники"/>
          <p:cNvSpPr txBox="1"/>
          <p:nvPr/>
        </p:nvSpPr>
        <p:spPr>
          <a:xfrm>
            <a:off x="584200" y="1651000"/>
            <a:ext cx="3251200" cy="990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Пациенты с хронической болезнью почек, сахарным диабетом 2 типа и альбуминурией; калий сыворотки при включении ≤4,8 ммоль/л.</a:t>
            </a:r>
          </a:p>
        </p:txBody>
      </p:sp>
      <p:sp>
        <p:nvSpPr>
          <p:cNvPr id="53" name="Полоса_сравнение"/>
          <p:cNvSpPr/>
          <p:nvPr/>
        </p:nvSpPr>
        <p:spPr>
          <a:xfrm>
            <a:off x="457200" y="2895600"/>
            <a:ext cx="350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Что сравнивали</a:t>
            </a:r>
          </a:p>
        </p:txBody>
      </p:sp>
      <p:sp>
        <p:nvSpPr>
          <p:cNvPr id="54" name="Карточка_сравнение"/>
          <p:cNvSpPr/>
          <p:nvPr/>
        </p:nvSpPr>
        <p:spPr>
          <a:xfrm>
            <a:off x="457200" y="3327400"/>
            <a:ext cx="3505200" cy="965200"/>
          </a:xfrm>
          <a:prstGeom prst="roundRect">
            <a:avLst>
              <a:gd name="adj" fmla="val 1052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Текст_сравнение"/>
          <p:cNvSpPr txBox="1"/>
          <p:nvPr/>
        </p:nvSpPr>
        <p:spPr>
          <a:xfrm>
            <a:off x="584200" y="3403600"/>
            <a:ext cx="32512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 или плацебо на фоне ИАПФ или БРА в максимально переносимой дозе.</a:t>
            </a:r>
          </a:p>
        </p:txBody>
      </p:sp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lang="ru-RU"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FIDELIO-DKD: риск почечного исхода ниже на 18% по сравнению с плацебо</a:t>
            </a:r>
            <a:endParaRPr lang="ru-RU" sz="2000" b="0" dirty="0"/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5674 пациента в анализе (5734 рандомизированы): ХБП и диабет 2 типа, преимущественно 3–4-я стадия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финеренон или плацебо на фоне ИАПФ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6989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815975" y="5298317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454025" y="5196443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863600" y="4600531"/>
            <a:ext cx="4038600" cy="86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815975" y="4600531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454025" y="4498657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863600" y="3902744"/>
            <a:ext cx="4038600" cy="86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815975" y="3902744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454025" y="38008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863600" y="3204958"/>
            <a:ext cx="4038600" cy="86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815975" y="3204958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454025" y="310308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863600" y="2507170"/>
            <a:ext cx="4038600" cy="86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815975" y="2507170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454025" y="240529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863600" y="2507160"/>
            <a:ext cx="95" cy="2791146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863600" y="5295900"/>
            <a:ext cx="4038600" cy="86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863600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644525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1368425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1149350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1873250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1654175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2378075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2159000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2882900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2663825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3387725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3168650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3892550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3673475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4397375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4178300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4902200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4683125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863600" y="2507160"/>
            <a:ext cx="4038600" cy="2791146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5400">
            <a:solidFill>
              <a:srgbClr val="7030A0"/>
            </a:solidFill>
            <a:prstDash val="solid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863600" y="2507160"/>
            <a:ext cx="4038600" cy="2791146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5400">
            <a:solidFill>
              <a:srgbClr val="7F7F7F"/>
            </a:solidFill>
            <a:prstDash val="dash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041400" y="2745176"/>
            <a:ext cx="266700" cy="86"/>
          </a:xfrm>
          <a:prstGeom prst="line">
            <a:avLst/>
          </a:prstGeom>
          <a:noFill/>
          <a:ln w="25400">
            <a:solidFill>
              <a:srgbClr val="7030A0"/>
            </a:solidFill>
            <a:prstDash val="solid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1371600" y="263248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8AD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2514600" y="2745176"/>
            <a:ext cx="266700" cy="86"/>
          </a:xfrm>
          <a:prstGeom prst="line">
            <a:avLst/>
          </a:prstGeom>
          <a:noFill/>
          <a:ln w="25400">
            <a:solidFill>
              <a:srgbClr val="7F7F7F"/>
            </a:solidFill>
            <a:prstDash val="dash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2844800" y="263248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AD62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863600" y="5651891"/>
            <a:ext cx="4038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433820"/>
            <a:ext cx="10795000" cy="3987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ЧБНЛ: число пациентов, которых нужно лечить, чтобы предотвратить 1 событие. Гиперкалиемия: повышение калия сыворотки. Сердечно-сосудистый исход: сердечно-сосудистая смерть, нефатальные инфаркт миокарда и инсульт, госпитализация по поводу сердечной недостаточности.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Bakris GL, et al. N Engl J Med. 2020;383:2219–2229.</a:t>
            </a:r>
            <a:endParaRPr lang="ru-RU" sz="800" b="0" dirty="0"/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123" name="Сокращения"/>
          <p:cNvSpPr txBox="1"/>
          <p:nvPr/>
        </p:nvSpPr>
        <p:spPr>
          <a:xfrm>
            <a:off x="457200" y="6238240"/>
            <a:ext cx="108966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ИАПФ: ингибитор ангиотензинпревращающего фермента; БРА: блокатор рецепторов ангиотензина II; ДИ: доверительный интервал.</a:t>
            </a:r>
            <a:endParaRPr lang="ru-RU" sz="1000" b="0" dirty="0"/>
          </a:p>
        </p:txBody>
      </p:sp>
      <p:sp>
        <p:nvSpPr>
          <p:cNvPr id="124" name="Сноска_график"/>
          <p:cNvSpPr txBox="1"/>
          <p:nvPr/>
        </p:nvSpPr>
        <p:spPr>
          <a:xfrm>
            <a:off x="457200" y="5918200"/>
            <a:ext cx="4724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  <a:latin typeface="Arial Narrow"/>
                <a:cs typeface="Arial Narrow"/>
              </a:rPr>
              <a:t>Кривая показывает накопленную частоту к каждому месяцу с учётом разного срока наблюдения, поэтому её конец выше доли за всё исследование.</a:t>
            </a:r>
          </a:p>
        </p:txBody>
      </p:sp>
      <p:sp>
        <p:nvSpPr>
          <p:cNvPr id="125" name="Полоса_результат"/>
          <p:cNvSpPr/>
          <p:nvPr/>
        </p:nvSpPr>
        <p:spPr>
          <a:xfrm>
            <a:off x="5232400" y="2133600"/>
            <a:ext cx="6502400" cy="3048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Результат</a:t>
            </a:r>
          </a:p>
        </p:txBody>
      </p:sp>
      <p:sp>
        <p:nvSpPr>
          <p:cNvPr id="130" name="Карточка_результат"/>
          <p:cNvSpPr/>
          <p:nvPr/>
        </p:nvSpPr>
        <p:spPr>
          <a:xfrm>
            <a:off x="5232400" y="2463800"/>
            <a:ext cx="6502400" cy="2116201"/>
          </a:xfrm>
          <a:prstGeom prst="roundRect">
            <a:avLst>
              <a:gd name="adj" fmla="val 5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6" name="Подпись_доли"/>
          <p:cNvSpPr txBox="1"/>
          <p:nvPr/>
        </p:nvSpPr>
        <p:spPr>
          <a:xfrm>
            <a:off x="5359400" y="2540000"/>
            <a:ext cx="6248400" cy="2094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127" name="Доля_финеренон"/>
          <p:cNvSpPr txBox="1"/>
          <p:nvPr/>
        </p:nvSpPr>
        <p:spPr>
          <a:xfrm>
            <a:off x="5359400" y="2749423"/>
            <a:ext cx="3124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030A0"/>
                </a:solidFill>
                <a:latin typeface="Arial Narrow"/>
                <a:cs typeface="Arial Narrow"/>
              </a:rPr>
              <a:t>17,8%</a:t>
            </a:r>
            <a:r>
              <a:rPr sz="1400" b="0">
                <a:solidFill>
                  <a:srgbClr val="7030A0"/>
                </a:solidFill>
                <a:latin typeface="Arial Narrow"/>
                <a:cs typeface="Arial Narrow"/>
              </a:rPr>
              <a:t>  Финеренон</a:t>
            </a:r>
          </a:p>
        </p:txBody>
      </p:sp>
      <p:sp>
        <p:nvSpPr>
          <p:cNvPr id="128" name="Доля_плацебо"/>
          <p:cNvSpPr txBox="1"/>
          <p:nvPr/>
        </p:nvSpPr>
        <p:spPr>
          <a:xfrm>
            <a:off x="8483600" y="2749423"/>
            <a:ext cx="3124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F7F7F"/>
                </a:solidFill>
                <a:latin typeface="Arial Narrow"/>
                <a:cs typeface="Arial Narrow"/>
              </a:rPr>
              <a:t>21,1%</a:t>
            </a:r>
            <a:r>
              <a:rPr sz="1400" b="0">
                <a:solidFill>
                  <a:srgbClr val="7F7F7F"/>
                </a:solidFill>
                <a:latin typeface="Arial Narrow"/>
                <a:cs typeface="Arial Narrow"/>
              </a:rPr>
              <a:t>  Плацебо</a:t>
            </a:r>
          </a:p>
        </p:txBody>
      </p:sp>
      <p:sp>
        <p:nvSpPr>
          <p:cNvPr id="129" name="Текст_результат"/>
          <p:cNvSpPr txBox="1"/>
          <p:nvPr/>
        </p:nvSpPr>
        <p:spPr>
          <a:xfrm>
            <a:off x="5359400" y="3206623"/>
            <a:ext cx="6248400" cy="12819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Риск ниже на 18% по сравнению с плацебо: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отношение рисков 0,82 (95% ДИ 0,73–0,93), p=0,001.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ЧБНЛ: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чтобы предотвратить 1 событие за 3 года, лечат 29 пациентов.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Сердечно-сосудистый исход (вторичный):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риск ниже на 14% по сравнению с плацебо; 13,0% на финереноне и 14,8% на плацебо, отношение рисков 0,86 (95% ДИ 0,75–0,99).</a:t>
            </a:r>
          </a:p>
        </p:txBody>
      </p:sp>
      <p:sp>
        <p:nvSpPr>
          <p:cNvPr id="131" name="Полоса_калий"/>
          <p:cNvSpPr/>
          <p:nvPr/>
        </p:nvSpPr>
        <p:spPr>
          <a:xfrm>
            <a:off x="5232400" y="4681601"/>
            <a:ext cx="6502400" cy="3048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133" name="Карточка_калий"/>
          <p:cNvSpPr/>
          <p:nvPr/>
        </p:nvSpPr>
        <p:spPr>
          <a:xfrm>
            <a:off x="5232400" y="5011801"/>
            <a:ext cx="6502400" cy="1110615"/>
          </a:xfrm>
          <a:prstGeom prst="roundRect">
            <a:avLst>
              <a:gd name="adj" fmla="val 914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2" name="Текст_калий"/>
          <p:cNvSpPr txBox="1"/>
          <p:nvPr/>
        </p:nvSpPr>
        <p:spPr>
          <a:xfrm>
            <a:off x="5359400" y="5088001"/>
            <a:ext cx="6248400" cy="9836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по сообщениям исследователей: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18,3% на финереноне, 9,0% на плацебо.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Окончательная отмена из-за неё: 2,3% и 0,9%.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Смертельных исходов гиперкалиемии не было.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до начала, через 4 недели после начала, возобновления или повышения дозы, далее периодически.</a:t>
            </a:r>
          </a:p>
        </p:txBody>
      </p:sp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lang="ru-RU"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FIGARO-DKD: риск сердечно-сосудистых событий ниже на 13% по сравнению с плацебо, основной вклад дали госпитализации по поводу сердечной недостаточности (ниже на 29%)</a:t>
            </a:r>
            <a:endParaRPr lang="ru-RU" sz="2000" b="0" dirty="0"/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8636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7352 пациента в анализе (7437 рандомизированы). ХБП и диабет 2 типа: 2–4-я стадия с умеренно повышенной альбуминурией или 1–2-я стадия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финеренон или плацебо на фоне ИАПФ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6287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6989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815975" y="5298317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454025" y="5196443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863600" y="4600531"/>
            <a:ext cx="4036149" cy="86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815975" y="4600531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454025" y="4498657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863600" y="3902744"/>
            <a:ext cx="4036149" cy="86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815975" y="3902744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454025" y="38008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863600" y="3204958"/>
            <a:ext cx="4036149" cy="86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815975" y="3204958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454025" y="310308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863600" y="2507170"/>
            <a:ext cx="4036149" cy="86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815975" y="2507170"/>
            <a:ext cx="47625" cy="86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454025" y="240529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863600" y="2507160"/>
            <a:ext cx="95" cy="2791146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863600" y="5295900"/>
            <a:ext cx="4036149" cy="86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866050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646975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1314511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1095436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1762972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1543897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2211433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1992358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2659894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2440819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3108355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2889280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3556816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3337741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4005277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3786202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4453738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4234663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4902200" y="5304758"/>
            <a:ext cx="95" cy="52007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4683125" y="542255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863600" y="2507160"/>
            <a:ext cx="4036149" cy="2791146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5400">
            <a:solidFill>
              <a:srgbClr val="7F7F7F"/>
            </a:solidFill>
            <a:prstDash val="dash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863600" y="2507160"/>
            <a:ext cx="4036149" cy="2791146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5400">
            <a:solidFill>
              <a:srgbClr val="7030A0"/>
            </a:solidFill>
            <a:prstDash val="solid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041400" y="2745176"/>
            <a:ext cx="266700" cy="86"/>
          </a:xfrm>
          <a:prstGeom prst="line">
            <a:avLst/>
          </a:prstGeom>
          <a:noFill/>
          <a:ln w="25400">
            <a:solidFill>
              <a:srgbClr val="7030A0"/>
            </a:solidFill>
            <a:prstDash val="solid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1371600" y="263248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8AD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2514600" y="2745176"/>
            <a:ext cx="266700" cy="86"/>
          </a:xfrm>
          <a:prstGeom prst="line">
            <a:avLst/>
          </a:prstGeom>
          <a:noFill/>
          <a:ln w="25400">
            <a:solidFill>
              <a:srgbClr val="7F7F7F"/>
            </a:solidFill>
            <a:prstDash val="dash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2844800" y="263248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AD62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863600" y="5651891"/>
            <a:ext cx="4038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Pitt B, et al. N Engl J Med. 2021;385:2252–2263.</a:t>
            </a:r>
            <a:endParaRPr lang="ru-RU" sz="800" b="0" dirty="0"/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125" name="Сокращения"/>
          <p:cNvSpPr txBox="1"/>
          <p:nvPr/>
        </p:nvSpPr>
        <p:spPr>
          <a:xfrm>
            <a:off x="457200" y="627380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ЧБНЛ: число пациентов, которых нужно лечить, чтобы предотвратить 1 событие; ИАПФ: ингибитор ангиотензинпревращающего фермента; БРА: блокатор рецепторов ангиотензина II; ДИ: доверительный интервал.</a:t>
            </a:r>
            <a:endParaRPr lang="ru-RU" sz="1000" b="0" dirty="0"/>
          </a:p>
        </p:txBody>
      </p:sp>
      <p:sp>
        <p:nvSpPr>
          <p:cNvPr id="126" name="Полоса_результат"/>
          <p:cNvSpPr/>
          <p:nvPr/>
        </p:nvSpPr>
        <p:spPr>
          <a:xfrm>
            <a:off x="5232400" y="2133600"/>
            <a:ext cx="6502400" cy="3048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Результат</a:t>
            </a:r>
          </a:p>
        </p:txBody>
      </p:sp>
      <p:sp>
        <p:nvSpPr>
          <p:cNvPr id="133" name="Карточка_результат"/>
          <p:cNvSpPr/>
          <p:nvPr/>
        </p:nvSpPr>
        <p:spPr>
          <a:xfrm>
            <a:off x="5232400" y="2463800"/>
            <a:ext cx="6502400" cy="2116328"/>
          </a:xfrm>
          <a:prstGeom prst="roundRect">
            <a:avLst>
              <a:gd name="adj" fmla="val 48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7" name="Подпись_доли"/>
          <p:cNvSpPr txBox="1"/>
          <p:nvPr/>
        </p:nvSpPr>
        <p:spPr>
          <a:xfrm>
            <a:off x="5359400" y="2540000"/>
            <a:ext cx="6248400" cy="2094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128" name="Доля_финеренон"/>
          <p:cNvSpPr txBox="1"/>
          <p:nvPr/>
        </p:nvSpPr>
        <p:spPr>
          <a:xfrm>
            <a:off x="5359400" y="2749423"/>
            <a:ext cx="3124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030A0"/>
                </a:solidFill>
                <a:latin typeface="Arial Narrow"/>
                <a:cs typeface="Arial Narrow"/>
              </a:rPr>
              <a:t>12,4%</a:t>
            </a:r>
            <a:r>
              <a:rPr sz="1400" b="0">
                <a:solidFill>
                  <a:srgbClr val="7030A0"/>
                </a:solidFill>
                <a:latin typeface="Arial Narrow"/>
                <a:cs typeface="Arial Narrow"/>
              </a:rPr>
              <a:t>  Финеренон</a:t>
            </a:r>
          </a:p>
        </p:txBody>
      </p:sp>
      <p:sp>
        <p:nvSpPr>
          <p:cNvPr id="129" name="Доля_плацебо"/>
          <p:cNvSpPr txBox="1"/>
          <p:nvPr/>
        </p:nvSpPr>
        <p:spPr>
          <a:xfrm>
            <a:off x="8483600" y="2749423"/>
            <a:ext cx="3124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F7F7F"/>
                </a:solidFill>
                <a:latin typeface="Arial Narrow"/>
                <a:cs typeface="Arial Narrow"/>
              </a:rPr>
              <a:t>14,2%</a:t>
            </a:r>
            <a:r>
              <a:rPr sz="1400" b="0">
                <a:solidFill>
                  <a:srgbClr val="7F7F7F"/>
                </a:solidFill>
                <a:latin typeface="Arial Narrow"/>
                <a:cs typeface="Arial Narrow"/>
              </a:rPr>
              <a:t>  Плацебо</a:t>
            </a:r>
          </a:p>
        </p:txBody>
      </p:sp>
      <p:sp>
        <p:nvSpPr>
          <p:cNvPr id="130" name="Текст_результат"/>
          <p:cNvSpPr txBox="1"/>
          <p:nvPr/>
        </p:nvSpPr>
        <p:spPr>
          <a:xfrm>
            <a:off x="5359400" y="3206623"/>
            <a:ext cx="6248400" cy="6155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Риск ниже на 13% по сравнению с плацебо: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отношение рисков 0,87 (95% ДИ 0,76–0,98), p=0,03.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ЧБНЛ: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чтобы предотвратить 1 событие за 3,5 года, лечат 47 пациентов.</a:t>
            </a:r>
          </a:p>
        </p:txBody>
      </p:sp>
      <p:sp>
        <p:nvSpPr>
          <p:cNvPr id="131" name="Госпитализации_по_СН_число"/>
          <p:cNvSpPr txBox="1"/>
          <p:nvPr/>
        </p:nvSpPr>
        <p:spPr>
          <a:xfrm>
            <a:off x="5359400" y="3872992"/>
            <a:ext cx="9906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030A0"/>
                </a:solidFill>
                <a:latin typeface="Arial Narrow"/>
                <a:cs typeface="Arial Narrow"/>
              </a:rPr>
              <a:t>−29%</a:t>
            </a:r>
          </a:p>
        </p:txBody>
      </p:sp>
      <p:sp>
        <p:nvSpPr>
          <p:cNvPr id="132" name="Госпитализации_по_СН_текст"/>
          <p:cNvSpPr txBox="1"/>
          <p:nvPr/>
        </p:nvSpPr>
        <p:spPr>
          <a:xfrm>
            <a:off x="6375400" y="3872992"/>
            <a:ext cx="5232400" cy="6563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Основной вклад дали госпитализации по поводу сердечной недостаточности (компонент первичного исхода): риск ниже на 29%, отношение рисков 0,71 (95% ДИ 0,56–0,90).</a:t>
            </a:r>
          </a:p>
        </p:txBody>
      </p:sp>
      <p:sp>
        <p:nvSpPr>
          <p:cNvPr id="134" name="Полоса_калий"/>
          <p:cNvSpPr/>
          <p:nvPr/>
        </p:nvSpPr>
        <p:spPr>
          <a:xfrm>
            <a:off x="5232400" y="4681728"/>
            <a:ext cx="6502400" cy="3048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136" name="Карточка_калий"/>
          <p:cNvSpPr/>
          <p:nvPr/>
        </p:nvSpPr>
        <p:spPr>
          <a:xfrm>
            <a:off x="5232400" y="5011928"/>
            <a:ext cx="6502400" cy="1110615"/>
          </a:xfrm>
          <a:prstGeom prst="roundRect">
            <a:avLst>
              <a:gd name="adj" fmla="val 914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5" name="Текст_калий"/>
          <p:cNvSpPr txBox="1"/>
          <p:nvPr/>
        </p:nvSpPr>
        <p:spPr>
          <a:xfrm>
            <a:off x="5359400" y="5088128"/>
            <a:ext cx="6248400" cy="9836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по сообщениям исследователей: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10,8% на финереноне, 5,3% на плацебо.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Окончательная отмена из-за неё: 1,2% и 0,4%.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Смертельных исходов гиперкалиемии не было.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до начала, через 4 недели после начала, возобновления или повышения дозы, далее периодически.</a:t>
            </a:r>
          </a:p>
        </p:txBody>
      </p:sp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Карточка_renal_результат"/>
          <p:cNvSpPr/>
          <p:nvPr/>
        </p:nvSpPr>
        <p:spPr>
          <a:xfrm>
            <a:off x="6248400" y="1562100"/>
            <a:ext cx="5486400" cy="3772154"/>
          </a:xfrm>
          <a:prstGeom prst="roundRect">
            <a:avLst>
              <a:gd name="adj" fmla="val 26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8" name="Карточка_cv_результат"/>
          <p:cNvSpPr/>
          <p:nvPr/>
        </p:nvSpPr>
        <p:spPr>
          <a:xfrm>
            <a:off x="457200" y="1562100"/>
            <a:ext cx="5486400" cy="3772154"/>
          </a:xfrm>
          <a:prstGeom prst="roundRect">
            <a:avLst>
              <a:gd name="adj" fmla="val 26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lang="ru-RU"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FIDELITY: у 13 026 пациентов риск сердечно-сосудистых событий ниже на 14%, а почечных исходов ниже на 23% по сравнению с плацебо</a:t>
            </a:r>
            <a:endParaRPr lang="ru-RU" sz="2000" b="0" dirty="0"/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838200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13 026 пациентов с ХБП и диабетом 2 типа из FIDELIO-DKD и FIGARO-DKD, медиана наблюдения 3,0 года. Заранее запланированный объединённый анализ данных каждого пациента. Результат согласуется в подгруппах, в том числе у 877 пациентов (6,7%), получавших иНГЛТ2.</a:t>
            </a:r>
            <a:endParaRPr lang="ru-RU" sz="1400"/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584200" y="1625600"/>
            <a:ext cx="5232400" cy="406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 нефатальный инсульт или госпитализация 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584200" y="2057400"/>
            <a:ext cx="3810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942975" y="353597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600075" y="342159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990600" y="3302830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942975" y="330283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600075" y="318845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990600" y="3069690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942975" y="306969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600075" y="2955314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990600" y="2836548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942975" y="2836548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600075" y="2722173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990600" y="2603407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942975" y="260340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600075" y="248903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990600" y="2370267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942975" y="237026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600075" y="225589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990600" y="2370253"/>
            <a:ext cx="95" cy="1165704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990600" y="3531616"/>
            <a:ext cx="4571999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9832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7832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1422888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222863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1994388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1794363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2565888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365863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137388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2937363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3708888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508863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280388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080363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4851888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651863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423388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223363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990600" y="2370253"/>
            <a:ext cx="4571999" cy="1165704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5400">
            <a:solidFill>
              <a:srgbClr val="7F7F7F"/>
            </a:solidFill>
            <a:prstDash val="dash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990600" y="2370253"/>
            <a:ext cx="4571999" cy="1165704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5400">
            <a:solidFill>
              <a:srgbClr val="7030A0"/>
            </a:solidFill>
            <a:prstDash val="solid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092200" y="2514600"/>
            <a:ext cx="228600" cy="95"/>
          </a:xfrm>
          <a:prstGeom prst="line">
            <a:avLst/>
          </a:prstGeom>
          <a:noFill/>
          <a:ln w="25400">
            <a:solidFill>
              <a:srgbClr val="7030A0"/>
            </a:solidFill>
            <a:prstDash val="solid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1371600" y="2387600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8AD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2743200" y="2514600"/>
            <a:ext cx="228600" cy="95"/>
          </a:xfrm>
          <a:prstGeom prst="line">
            <a:avLst/>
          </a:prstGeom>
          <a:noFill/>
          <a:ln w="25400">
            <a:solidFill>
              <a:srgbClr val="7F7F7F"/>
            </a:solidFill>
            <a:prstDash val="dash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048000" y="2387600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AD62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990600" y="3925316"/>
            <a:ext cx="4572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75400" y="1625600"/>
            <a:ext cx="5232400" cy="406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сохраняющееся не менее 4 недель, 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75400" y="2057400"/>
            <a:ext cx="3810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6734175" y="353597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6391275" y="342159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6781800" y="3302830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6734175" y="330283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6391275" y="318845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6781800" y="3069690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6734175" y="306969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6391275" y="2955314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6781800" y="2836548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6734175" y="2836548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6391275" y="2722173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6781800" y="2603407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6734175" y="260340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6391275" y="248903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6781800" y="2370267"/>
            <a:ext cx="4571999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6734175" y="237026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6391275" y="225589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6781800" y="2370253"/>
            <a:ext cx="95" cy="1165704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6781800" y="3531616"/>
            <a:ext cx="4571999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67744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65744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73459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1459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79174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77174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84889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2889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0604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88604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96319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4319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2034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0034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07749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5749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346473" y="3547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146448" y="3690132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6781800" y="2370253"/>
            <a:ext cx="4571999" cy="1165704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5400">
            <a:solidFill>
              <a:srgbClr val="7F7F7F"/>
            </a:solidFill>
            <a:prstDash val="dash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6781800" y="2370253"/>
            <a:ext cx="4571999" cy="1165704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5400">
            <a:solidFill>
              <a:srgbClr val="7030A0"/>
            </a:solidFill>
            <a:prstDash val="solid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6883400" y="2514600"/>
            <a:ext cx="228600" cy="95"/>
          </a:xfrm>
          <a:prstGeom prst="line">
            <a:avLst/>
          </a:prstGeom>
          <a:noFill/>
          <a:ln w="25400">
            <a:solidFill>
              <a:srgbClr val="7030A0"/>
            </a:solidFill>
            <a:prstDash val="solid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7162800" y="2387600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8AD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8534400" y="2514600"/>
            <a:ext cx="228600" cy="95"/>
          </a:xfrm>
          <a:prstGeom prst="line">
            <a:avLst/>
          </a:prstGeom>
          <a:noFill/>
          <a:ln w="25400">
            <a:solidFill>
              <a:srgbClr val="7F7F7F"/>
            </a:solidFill>
            <a:prstDash val="dash"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8839200" y="2387600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AD62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6781800" y="3925316"/>
            <a:ext cx="4572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Agarwal R, et al. Eur Heart J. 2022;43:474–484. p-значения поискового анализа без поправки на множественные сравнения.</a:t>
            </a:r>
            <a:endParaRPr lang="ru-RU" sz="800" b="0" dirty="0"/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43" name="Сокращения"/>
          <p:cNvSpPr txBox="1"/>
          <p:nvPr/>
        </p:nvSpPr>
        <p:spPr>
          <a:xfrm>
            <a:off x="457200" y="627380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ДИ: доверительный интервал; ЧБНЛ: число пациентов, которых нужно лечить в течение 3 лет, чтобы предотвратить 1 событие; иНГЛТ2: ингибитор натрий-глюкозного котранспортёра 2 типа.</a:t>
            </a:r>
            <a:endParaRPr lang="ru-RU" sz="1000" b="0" dirty="0"/>
          </a:p>
        </p:txBody>
      </p:sp>
      <p:sp>
        <p:nvSpPr>
          <p:cNvPr id="244" name="Полоса_калий"/>
          <p:cNvSpPr/>
          <p:nvPr/>
        </p:nvSpPr>
        <p:spPr>
          <a:xfrm>
            <a:off x="457200" y="5397754"/>
            <a:ext cx="11277600" cy="3048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45" name="Карточка_калий"/>
          <p:cNvSpPr/>
          <p:nvPr/>
        </p:nvSpPr>
        <p:spPr>
          <a:xfrm>
            <a:off x="457200" y="5727954"/>
            <a:ext cx="11277600" cy="495045"/>
          </a:xfrm>
          <a:prstGeom prst="roundRect">
            <a:avLst>
              <a:gd name="adj" fmla="val 2052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6" name="Текст_калий"/>
          <p:cNvSpPr txBox="1"/>
          <p:nvPr/>
        </p:nvSpPr>
        <p:spPr>
          <a:xfrm>
            <a:off x="584200" y="5791454"/>
            <a:ext cx="11023600" cy="3934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по сообщениям исследователей: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14,0% на финереноне, 6,9% на плацебо. Окончательная отмена из-за неё: 1,7% и 0,6%. Смертельных исходов гиперкалиемии не было.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до начала, через 4 недели после начала, возобновления или повышения дозы, далее периодически.</a:t>
            </a:r>
          </a:p>
        </p:txBody>
      </p:sp>
      <p:sp>
        <p:nvSpPr>
          <p:cNvPr id="247" name="Полоса_cv_результат"/>
          <p:cNvSpPr/>
          <p:nvPr/>
        </p:nvSpPr>
        <p:spPr>
          <a:xfrm>
            <a:off x="457200" y="1257300"/>
            <a:ext cx="5486400" cy="279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49" name="cv_результаты"/>
          <p:cNvSpPr txBox="1"/>
          <p:nvPr/>
        </p:nvSpPr>
        <p:spPr>
          <a:xfrm>
            <a:off x="584200" y="4128516"/>
            <a:ext cx="5232400" cy="11803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с событием за всё исследование: </a:t>
            </a:r>
            <a:r>
              <a:rPr sz="1400" b="0">
                <a:solidFill>
                  <a:srgbClr val="7030A0"/>
                </a:solidFill>
                <a:latin typeface="Arial Narrow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Риск ниже на 14% по сравнению с плацебо: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отношение рисков 0,86 (95% ДИ 0,78–0,95), p=0,0018. ЧБНЛ за 3 года: 46 (95% ДИ 29–109).</a:t>
            </a:r>
          </a:p>
          <a:p>
            <a:pPr algn="l">
              <a:lnSpc>
                <a:spcPct val="9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Из компонентов: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госпитализации по поводу сердечной недостаточности, риск ниже на 22% (отношение рисков 0,78; 95% ДИ 0,66–0,92).</a:t>
            </a:r>
          </a:p>
        </p:txBody>
      </p:sp>
      <p:sp>
        <p:nvSpPr>
          <p:cNvPr id="250" name="Полоса_renal_результат"/>
          <p:cNvSpPr/>
          <p:nvPr/>
        </p:nvSpPr>
        <p:spPr>
          <a:xfrm>
            <a:off x="6248400" y="1257300"/>
            <a:ext cx="5486400" cy="279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252" name="renal_результаты"/>
          <p:cNvSpPr txBox="1"/>
          <p:nvPr/>
        </p:nvSpPr>
        <p:spPr>
          <a:xfrm>
            <a:off x="6375400" y="4128516"/>
            <a:ext cx="5232400" cy="6028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с событием за всё исследование: </a:t>
            </a:r>
            <a:r>
              <a:rPr sz="1400" b="0">
                <a:solidFill>
                  <a:srgbClr val="7030A0"/>
                </a:solidFill>
                <a:latin typeface="Arial Narrow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Риск ниже на 23% по сравнению с плацебо: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отношение рисков 0,77 (95% ДИ 0,67–0,88), p=0,0002. ЧБНЛ за 3 года: 60 (95% ДИ 38–142).</a:t>
            </a:r>
          </a:p>
        </p:txBody>
      </p:sp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 4-му месяцу АКО на финереноне на 32% ниже, чем на плацебо</a:t>
            </a:r>
            <a:endParaRPr sz="2000" b="0" dirty="0"/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7400"/>
            <a:ext cx="1127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 с ХБП и диабетом 2 типа.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ИАПФ или БРА в максимально переносимой дозе.</a:t>
            </a:r>
          </a:p>
        </p:txBody>
      </p:sp>
      <p:sp>
        <p:nvSpPr>
          <p:cNvPr id="41" name="Карточка_разница"/>
          <p:cNvSpPr/>
          <p:nvPr/>
        </p:nvSpPr>
        <p:spPr>
          <a:xfrm>
            <a:off x="457200" y="1955800"/>
            <a:ext cx="43815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584200" y="2032000"/>
            <a:ext cx="41275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584200" y="2489200"/>
            <a:ext cx="41275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584200" y="2768600"/>
            <a:ext cx="4127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 к плацебо: 0,68 (95% ДИ 0,66–0,70);</a:t>
            </a:r>
            <a:endParaRPr lang="ru-RU" sz="14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1 − 0,68 = 0,32.</a:t>
            </a:r>
            <a:endParaRPr lang="ru-RU" sz="1400"/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270000"/>
          <a:ext cx="6819900" cy="294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8600" y="4267200"/>
            <a:ext cx="6426200" cy="558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 ≥30% от исходного: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53,2%, плацебо 27,0% (дополнительный анализ, не запланированный заранее; 12 512 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03800"/>
            <a:ext cx="112776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В дополнительном анализе снижение АКО к 4-му месяцу объясняло большую часть эффекта финеренона на почки: от 64% до 84% в зависимости от метода анализа.</a:t>
            </a:r>
            <a:endParaRPr sz="1600" b="0" dirty="0"/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537200"/>
            <a:ext cx="112776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АКО помогает оценивать ответ на терапию.</a:t>
            </a:r>
            <a:endParaRPr lang="ru-RU" sz="1600" b="0" dirty="0"/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 Agarwal R, et al. Eur Heart J. 2022;43:474–484. Agarwal R, et al. Ann Intern Med. 2023;176:1606–1616. KDIGO 2024. Kidney Int. 105(4S):S117–S314.</a:t>
            </a:r>
            <a:endParaRPr lang="ru-RU" sz="800" b="0" dirty="0"/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9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АКО: отношение альбумина к креатинину мочи; ХБП: хроническая болезнь почек; ИАПФ: ингибитор ангиотензинпревращающего фермента; БРА: блокатор рецепторов ангиотензина II; ДИ: доверительный интервал.</a:t>
            </a:r>
            <a:endParaRPr lang="ru-RU" sz="1000" b="0" dirty="0"/>
          </a:p>
        </p:txBody>
      </p:sp>
      <p:sp>
        <p:nvSpPr>
          <p:cNvPr id="40" name="Полоса_разница"/>
          <p:cNvSpPr/>
          <p:nvPr/>
        </p:nvSpPr>
        <p:spPr>
          <a:xfrm>
            <a:off x="457200" y="1295400"/>
            <a:ext cx="4381500" cy="609600"/>
          </a:xfrm>
          <a:prstGeom prst="roundRect">
            <a:avLst>
              <a:gd name="adj" fmla="val 16666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Относительная разница с плацебо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 АКО к 4-му месяцу</a:t>
            </a:r>
          </a:p>
        </p:txBody>
      </p:sp>
      <p:sp>
        <p:nvSpPr>
          <p:cNvPr id="42" name="Отдельные_исследования"/>
          <p:cNvSpPr txBox="1"/>
          <p:nvPr/>
        </p:nvSpPr>
        <p:spPr>
          <a:xfrm>
            <a:off x="584200" y="3276600"/>
            <a:ext cx="4127500" cy="3934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отдельных исследованиях АКО было ниже, чем на плацебо, на 31% (FIDELIO-DKD) и на 32% (FIGARO-DKD).</a:t>
            </a:r>
          </a:p>
        </p:txBody>
      </p:sp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CONFIDENCE: при одновременном старте финеренона и эмпаглифлозина АКО снизилось сильнее, чем на каждом препарате отдельно</a:t>
            </a:r>
            <a:endParaRPr lang="ru-RU" sz="2000" b="0" dirty="0"/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Agarwal R et al. N Engl J Med. 2025;393:533–543, Table 2. Agarwal R et al. J Am Coll Cardiol. 2026;87:772–784.</a:t>
            </a:r>
            <a:endParaRPr lang="ru-RU" sz="800" b="0" dirty="0"/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557" name="Карточка_исследование"/>
          <p:cNvSpPr/>
          <p:nvPr/>
        </p:nvSpPr>
        <p:spPr>
          <a:xfrm>
            <a:off x="457200" y="11938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4" name="Пациенты"/>
          <p:cNvSpPr txBox="1"/>
          <p:nvPr/>
        </p:nvSpPr>
        <p:spPr>
          <a:xfrm>
            <a:off x="584200" y="1257300"/>
            <a:ext cx="110236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800 взрослых с ХБП и диабетом 2 типа. Двойное слепое исследование, 180 дней.</a:t>
            </a:r>
            <a:endParaRPr lang="ru-RU" sz="1500"/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 30–90 мл/мин/1,73 м²; АКО 100–5000 мг/г; калий ≤4,8 ммоль/л; ИАПФ или БРА.</a:t>
            </a:r>
            <a:endParaRPr lang="ru-RU" sz="1500"/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Что сравнивали: </a:t>
            </a:r>
            <a:r>
              <a:rPr lang="ru-RU" sz="15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 и эмпаглифлозин одновременно, финеренон отдельно, эмпаглифлозин отдельно.</a:t>
            </a:r>
            <a:endParaRPr lang="ru-RU" sz="1500"/>
          </a:p>
        </p:txBody>
      </p:sp>
      <p:sp>
        <p:nvSpPr>
          <p:cNvPr id="545" name="АКО заголовок"/>
          <p:cNvSpPr txBox="1"/>
          <p:nvPr/>
        </p:nvSpPr>
        <p:spPr>
          <a:xfrm>
            <a:off x="457200" y="2006600"/>
            <a:ext cx="5410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АКО на 180-й день</a:t>
            </a:r>
            <a:endParaRPr lang="ru-RU" sz="2000"/>
          </a:p>
        </p:txBody>
      </p:sp>
      <p:sp>
        <p:nvSpPr>
          <p:cNvPr id="546" name="Калий заголовок"/>
          <p:cNvSpPr txBox="1"/>
          <p:nvPr/>
        </p:nvSpPr>
        <p:spPr>
          <a:xfrm>
            <a:off x="6350000" y="2006600"/>
            <a:ext cx="5384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Калий &gt;5,5 ммоль/л хотя бы раз</a:t>
            </a:r>
            <a:endParaRPr lang="ru-RU" sz="2000"/>
          </a:p>
        </p:txBody>
      </p:sp>
      <p:sp>
        <p:nvSpPr>
          <p:cNvPr id="547" name="АКО единицы"/>
          <p:cNvSpPr txBox="1"/>
          <p:nvPr/>
        </p:nvSpPr>
        <p:spPr>
          <a:xfrm>
            <a:off x="457200" y="2336800"/>
            <a:ext cx="54102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Отношение к исходному уровню (1,0 = исходный); в скобках 95% ДИ</a:t>
            </a:r>
            <a:endParaRPr lang="ru-RU" sz="1400"/>
          </a:p>
        </p:txBody>
      </p:sp>
      <p:sp>
        <p:nvSpPr>
          <p:cNvPr id="548" name="Калий единицы"/>
          <p:cNvSpPr txBox="1"/>
          <p:nvPr/>
        </p:nvSpPr>
        <p:spPr>
          <a:xfrm>
            <a:off x="6350000" y="2336800"/>
            <a:ext cx="53848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Доля пациентов, %</a:t>
            </a:r>
            <a:endParaRPr lang="ru-RU" sz="1400"/>
          </a:p>
        </p:txBody>
      </p:sp>
      <p:sp>
        <p:nvSpPr>
          <p:cNvPr id="550" name="Калий сравнение"/>
          <p:cNvSpPr txBox="1"/>
          <p:nvPr/>
        </p:nvSpPr>
        <p:spPr>
          <a:xfrm>
            <a:off x="6350000" y="4724400"/>
            <a:ext cx="53848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Гиперкалиемия (калий выше 5,5 ммоль/л хотя бы раз): 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15,1% на комбинации, 18,8% на финереноне; различие незначимо (p=0,85).</a:t>
            </a:r>
            <a:endParaRPr lang="ru-RU" sz="1400"/>
          </a:p>
        </p:txBody>
      </p:sp>
      <p:sp>
        <p:nvSpPr>
          <p:cNvPr id="551" name="Результат"/>
          <p:cNvSpPr txBox="1"/>
          <p:nvPr/>
        </p:nvSpPr>
        <p:spPr>
          <a:xfrm>
            <a:off x="457200" y="5207000"/>
            <a:ext cx="11277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Комбинация снизила АКО сильнее каждого препарата отдельно: ниже, чем на финереноне, на 29%, и ниже, чем на эмпаглифлозине, на 32% (p&lt;0,001 для обоих сравнений).</a:t>
            </a:r>
            <a:endParaRPr lang="ru-RU" sz="1600"/>
          </a:p>
        </p:txBody>
      </p:sp>
      <p:sp>
        <p:nvSpPr>
          <p:cNvPr id="561" name="Карточка_первичная_точка"/>
          <p:cNvSpPr/>
          <p:nvPr/>
        </p:nvSpPr>
        <p:spPr>
          <a:xfrm>
            <a:off x="457200" y="5689600"/>
            <a:ext cx="11277600" cy="5080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2" name="Граница результата"/>
          <p:cNvSpPr txBox="1"/>
          <p:nvPr/>
        </p:nvSpPr>
        <p:spPr>
          <a:xfrm>
            <a:off x="584200" y="5753100"/>
            <a:ext cx="110236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Первичная точка: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изменение АКО от исходного до 180-го дня. </a:t>
            </a: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Калий и рСКФ проверяют до начала лечения, через 4 недели после начала, возобновления или повышения дозы и далее периодически.</a:t>
            </a:r>
            <a:endParaRPr lang="ru-RU" sz="1400"/>
          </a:p>
        </p:txBody>
      </p:sp>
      <p:graphicFrame>
        <p:nvGraphicFramePr>
          <p:cNvPr id="553" name="АКО на 180 день"/>
          <p:cNvGraphicFramePr/>
          <p:nvPr/>
        </p:nvGraphicFramePr>
        <p:xfrm>
          <a:off x="457200" y="2590800"/>
          <a:ext cx="5384800" cy="2108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54" name="Калий выше 5,5"/>
          <p:cNvGraphicFramePr/>
          <p:nvPr/>
        </p:nvGraphicFramePr>
        <p:xfrm>
          <a:off x="6350000" y="2590800"/>
          <a:ext cx="5384800" cy="2108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55" name="Сокращения"/>
          <p:cNvSpPr txBox="1"/>
          <p:nvPr/>
        </p:nvSpPr>
        <p:spPr>
          <a:xfrm>
            <a:off x="457200" y="627380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ИАПФ: ингибитор ангиотензинпревращающего фермента; БРА: блокатор рецепторов ангиотензина II; ДИ: доверительный интервал.</a:t>
            </a:r>
            <a:endParaRPr lang="ru-RU" sz="1000" b="0" dirty="0"/>
          </a:p>
        </p:txBody>
      </p:sp>
      <p:sp>
        <p:nvSpPr>
          <p:cNvPr id="556" name="Полоса_исследование"/>
          <p:cNvSpPr/>
          <p:nvPr/>
        </p:nvSpPr>
        <p:spPr>
          <a:xfrm>
            <a:off x="457200" y="889000"/>
            <a:ext cx="11277600" cy="279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Кто участвовал и что сравнивали</a:t>
            </a:r>
          </a:p>
        </p:txBody>
      </p:sp>
      <p:sp>
        <p:nvSpPr>
          <p:cNvPr id="558" name="Подпись_столбца_комбинация"/>
          <p:cNvSpPr txBox="1"/>
          <p:nvPr/>
        </p:nvSpPr>
        <p:spPr>
          <a:xfrm>
            <a:off x="584200" y="4724400"/>
            <a:ext cx="16764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0,48 (0,44–0,54)</a:t>
            </a:r>
          </a:p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−52% от исходного</a:t>
            </a:r>
          </a:p>
        </p:txBody>
      </p:sp>
      <p:sp>
        <p:nvSpPr>
          <p:cNvPr id="559" name="Подпись_столбца_финеренон"/>
          <p:cNvSpPr txBox="1"/>
          <p:nvPr/>
        </p:nvSpPr>
        <p:spPr>
          <a:xfrm>
            <a:off x="2311400" y="4724400"/>
            <a:ext cx="16764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0,68 (0,61–0,76)</a:t>
            </a:r>
          </a:p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−32% от исходного</a:t>
            </a:r>
          </a:p>
        </p:txBody>
      </p:sp>
      <p:sp>
        <p:nvSpPr>
          <p:cNvPr id="560" name="Подпись_столбца_эмпаглифлозин"/>
          <p:cNvSpPr txBox="1"/>
          <p:nvPr/>
        </p:nvSpPr>
        <p:spPr>
          <a:xfrm>
            <a:off x="4038600" y="4724400"/>
            <a:ext cx="16764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0,71 (0,64–0,79)</a:t>
            </a:r>
          </a:p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−29% от исходного</a:t>
            </a:r>
          </a:p>
        </p:txBody>
      </p:sp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in_title">
            <a:extLst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рекомендует финеренон при диабете 2 типа и ХБП с альбуминурией</a:t>
            </a:r>
            <a:endParaRPr sz="2000" b="0" dirty="0"/>
          </a:p>
        </p:txBody>
      </p:sp>
      <p:sp>
        <p:nvSpPr>
          <p:cNvPr id="18" name="Полоса_36"/>
          <p:cNvSpPr/>
          <p:nvPr/>
        </p:nvSpPr>
        <p:spPr>
          <a:xfrm>
            <a:off x="457200" y="10668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7030A0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ADA 2026, рекомендация 11.8</a:t>
            </a:r>
          </a:p>
        </p:txBody>
      </p:sp>
      <p:sp>
        <p:nvSpPr>
          <p:cNvPr id="19" name="Карточка_36"/>
          <p:cNvSpPr/>
          <p:nvPr/>
        </p:nvSpPr>
        <p:spPr>
          <a:xfrm>
            <a:off x="457200" y="1549400"/>
            <a:ext cx="5486400" cy="2870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0" name="Текст_36"/>
          <p:cNvSpPr txBox="1"/>
          <p:nvPr/>
        </p:nvSpPr>
        <p:spPr>
          <a:xfrm>
            <a:off x="685800" y="1701800"/>
            <a:ext cx="5029200" cy="149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МКР с доказанной пользой (финеренон): он снижает риск прогрессирования ХБП и сердечно-сосудистых событий.</a:t>
            </a:r>
          </a:p>
        </p:txBody>
      </p:sp>
      <p:cxnSp>
        <p:nvCxnSpPr>
          <p:cNvPr id="21" name="Разделитель_36"/>
          <p:cNvCxnSpPr/>
          <p:nvPr/>
        </p:nvCxnSpPr>
        <p:spPr>
          <a:xfrm>
            <a:off x="685800" y="3251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>
        <p:nvSpPr>
          <p:cNvPr id="22" name="Условие_36"/>
          <p:cNvSpPr txBox="1"/>
          <p:nvPr/>
        </p:nvSpPr>
        <p:spPr>
          <a:xfrm>
            <a:off x="685800" y="3352800"/>
            <a:ext cx="5029200" cy="965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Условие: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м²; после начала лечения контролируют калий.</a:t>
            </a:r>
          </a:p>
        </p:txBody>
      </p:sp>
      <p:sp>
        <p:nvSpPr>
          <p:cNvPr id="23" name="Полоса_492"/>
          <p:cNvSpPr/>
          <p:nvPr/>
        </p:nvSpPr>
        <p:spPr>
          <a:xfrm>
            <a:off x="6248400" y="10668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4EA72E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ADA 2026, рекомендация 11.9, уровень B</a:t>
            </a:r>
          </a:p>
        </p:txBody>
      </p:sp>
      <p:sp>
        <p:nvSpPr>
          <p:cNvPr id="24" name="Карточка_492"/>
          <p:cNvSpPr/>
          <p:nvPr/>
        </p:nvSpPr>
        <p:spPr>
          <a:xfrm>
            <a:off x="6248400" y="1549400"/>
            <a:ext cx="5486400" cy="2870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5" name="Текст_492"/>
          <p:cNvSpPr txBox="1"/>
          <p:nvPr/>
        </p:nvSpPr>
        <p:spPr>
          <a:xfrm>
            <a:off x="6477000" y="1701800"/>
            <a:ext cx="5029200" cy="149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Одновременное начало приёма финеренона и ингибитора НГЛТ2 можно рассмотреть у взрослых с диабетом 2 типа при АКО ≥100 мг/г и рСКФ 30–90 мл/мин/1,73 м² на фоне ингибитора АПФ или БРА.</a:t>
            </a:r>
            <a:endParaRPr lang="ru-RU" sz="1700"/>
          </a:p>
        </p:txBody>
      </p:sp>
      <p:cxnSp>
        <p:nvCxnSpPr>
          <p:cNvPr id="26" name="Разделитель_492"/>
          <p:cNvCxnSpPr/>
          <p:nvPr/>
        </p:nvCxnSpPr>
        <p:spPr>
          <a:xfrm>
            <a:off x="6477000" y="3251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>
        <p:nvSpPr>
          <p:cNvPr id="27" name="Условие_492"/>
          <p:cNvSpPr txBox="1"/>
          <p:nvPr/>
        </p:nvSpPr>
        <p:spPr>
          <a:xfrm>
            <a:off x="6477000" y="3352800"/>
            <a:ext cx="5029200" cy="965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600" b="1" dirty="0">
                <a:solidFill>
                  <a:srgbClr val="000000"/>
                </a:solidFill>
                <a:latin typeface="Arial Narrow"/>
                <a:cs typeface="Arial Narrow"/>
              </a:rPr>
              <a:t>Основание: </a:t>
            </a:r>
            <a:r>
              <a:rPr sz="1600" b="0" dirty="0">
                <a:solidFill>
                  <a:srgbClr val="000000"/>
                </a:solidFill>
                <a:latin typeface="Arial Narrow"/>
                <a:cs typeface="Arial Narrow"/>
              </a:rPr>
              <a:t>исследование CONFIDENCE. К 180-му дню АКО снизилось от исходного на 52% при сочетании, на 32% на финереноне и на 29% на эмпаглифлозине.</a:t>
            </a:r>
            <a:endParaRPr sz="1600" b="0" dirty="0"/>
          </a:p>
        </p:txBody>
      </p:sp>
      <p:sp>
        <p:nvSpPr>
          <p:cNvPr id="30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American Diabetes Association Professional Practice Committee. 11. Chronic Kidney Disease and Risk Management: Standards of Care in Diabetes-2026. Diabetes Care. 2026;49(Suppl 1):S246–S260. Agarwal R, et al. N Engl J Med. 2025;393:533–543.</a:t>
            </a:r>
            <a:endParaRPr lang="ru-RU" sz="800" b="0" dirty="0"/>
          </a:p>
        </p:txBody>
      </p:sp>
      <p:pic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2" name="Сокращения"/>
          <p:cNvSpPr txBox="1"/>
          <p:nvPr/>
        </p:nvSpPr>
        <p:spPr>
          <a:xfrm>
            <a:off x="457200" y="627380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НГЛТ2: натрий-глюкозный котранспортёр 2 типа; МКР: минералокортикоидный рецептор; ADA: Американская диабетическая ассоциация.</a:t>
            </a:r>
            <a:endParaRPr lang="ru-RU" sz="1000" b="0" dirty="0"/>
          </a:p>
        </p:txBody>
      </p:sp>
      <p:sp>
        <p:nvSpPr>
          <p:cNvPr id="33" name="Итоговая_плашка"/>
          <p:cNvSpPr/>
          <p:nvPr/>
        </p:nvSpPr>
        <p:spPr>
          <a:xfrm>
            <a:off x="457200" y="4648200"/>
            <a:ext cx="11277600" cy="558800"/>
          </a:xfrm>
          <a:prstGeom prst="roundRect">
            <a:avLst>
              <a:gd name="adj" fmla="val 18181"/>
            </a:avLst>
          </a:prstGeom>
          <a:solidFill>
            <a:srgbClr val="00000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Финеренон входит в рекомендации ADA при ХБП и диабете 2 типа с альбуминурией</a:t>
            </a:r>
          </a:p>
        </p:txBody>
      </p:sp>
    </p:spTree>
    <p:extLst>
      <p:ext uri="{BB962C8B-B14F-4D97-AF65-F5344CB8AC3E}">
        <p14:creationId xmlns:p14="http://schemas.microsoft.com/office/powerpoint/2010/main" val="13182347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Title">
            <a:extLst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 и ингибитор НГЛТ2 действуют на разные мишени: вместе они снижают альбуминурию сильнее, чем по отдельности</a:t>
            </a:r>
            <a:endParaRPr sz="2000" b="0" dirty="0"/>
          </a:p>
        </p:txBody>
      </p:sp>
      <p:sp>
        <p:nvSpPr>
          <p:cNvPr id="15" name="Ветка_36"/>
          <p:cNvSpPr/>
          <p:nvPr/>
        </p:nvSpPr>
        <p:spPr>
          <a:xfrm>
            <a:off x="457200" y="1168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принимает ингибитор НГЛТ2</a:t>
            </a:r>
          </a:p>
        </p:txBody>
      </p:sp>
      <p:sp>
        <p:nvSpPr>
          <p:cNvPr id="16" name="Ветка_текст_фон_36"/>
          <p:cNvSpPr/>
          <p:nvPr/>
        </p:nvSpPr>
        <p:spPr>
          <a:xfrm>
            <a:off x="457200" y="1625600"/>
            <a:ext cx="5486400" cy="8890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" name="Решение_36"/>
          <p:cNvSpPr txBox="1"/>
          <p:nvPr/>
        </p:nvSpPr>
        <p:spPr>
          <a:xfrm>
            <a:off x="685800" y="1676400"/>
            <a:ext cx="5029200" cy="787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Ингибитор НГЛТ2 продолжают, финеренон добавляют к текущей терапии по показаниям.</a:t>
            </a:r>
            <a:endParaRPr lang="ru-RU" sz="1700" b="0" dirty="0"/>
          </a:p>
        </p:txBody>
      </p:sp>
      <p:sp>
        <p:nvSpPr>
          <p:cNvPr id="18" name="Ветка_492"/>
          <p:cNvSpPr/>
          <p:nvPr/>
        </p:nvSpPr>
        <p:spPr>
          <a:xfrm>
            <a:off x="6248400" y="1168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>
        <p:nvSpPr>
          <p:cNvPr id="19" name="Ветка_текст_фон_492"/>
          <p:cNvSpPr/>
          <p:nvPr/>
        </p:nvSpPr>
        <p:spPr>
          <a:xfrm>
            <a:off x="6248400" y="1625600"/>
            <a:ext cx="5486400" cy="8890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0" name="Решение_492"/>
          <p:cNvSpPr txBox="1"/>
          <p:nvPr/>
        </p:nvSpPr>
        <p:spPr>
          <a:xfrm>
            <a:off x="6477000" y="1676400"/>
            <a:ext cx="5029200" cy="787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 назначают на фоне ингибитора АПФ или БРА после проверки калия, рСКФ и противопоказаний.</a:t>
            </a:r>
            <a:endParaRPr lang="ru-RU" sz="1700"/>
          </a:p>
        </p:txBody>
      </p:sp>
      <p:sp>
        <p:nvSpPr>
          <p:cNvPr id="21" name="Схема_заголовок"/>
          <p:cNvSpPr txBox="1"/>
          <p:nvPr/>
        </p:nvSpPr>
        <p:spPr>
          <a:xfrm>
            <a:off x="457200" y="271780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Схема KDIGO: препараты добавляют к базовой терапии по показаниям</a:t>
            </a:r>
          </a:p>
        </p:txBody>
      </p:sp>
      <p:sp>
        <p:nvSpPr>
          <p:cNvPr id="22" name="Слой_284"/>
          <p:cNvSpPr/>
          <p:nvPr/>
        </p:nvSpPr>
        <p:spPr>
          <a:xfrm>
            <a:off x="1905000" y="31242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диабет 2 типа, АКО ≥30 мг/г, рСКФ ≥25 мл/мин/1,73 м², нормальный калий</a:t>
            </a:r>
          </a:p>
        </p:txBody>
      </p:sp>
      <p:sp>
        <p:nvSpPr>
          <p:cNvPr id="23" name="Слой_328"/>
          <p:cNvSpPr/>
          <p:nvPr/>
        </p:nvSpPr>
        <p:spPr>
          <a:xfrm>
            <a:off x="1905000" y="36830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0F9ED5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>
        <p:nvSpPr>
          <p:cNvPr id="24" name="Слой_372"/>
          <p:cNvSpPr/>
          <p:nvPr/>
        </p:nvSpPr>
        <p:spPr>
          <a:xfrm>
            <a:off x="1905000" y="4241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>
        <p:nvSpPr>
          <p:cNvPr id="25" name="Стрелка_добавление"/>
          <p:cNvSpPr/>
          <p:nvPr/>
        </p:nvSpPr>
        <p:spPr>
          <a:xfrm>
            <a:off x="1219200" y="31242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" name="Подпись_добавление"/>
          <p:cNvSpPr txBox="1"/>
          <p:nvPr/>
        </p:nvSpPr>
        <p:spPr>
          <a:xfrm>
            <a:off x="10541000" y="3124200"/>
            <a:ext cx="1193800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KDIGO 2024. Kidney Int. 2024;105(4S):S117–S314. KDIGO 2022 Clinical Practice Guideline for Diabetes Management in CKD. Kidney Int. 2022;102(5S):S1–S127. Agarwal R, et al. N Engl J Med. 2025;393:533–543. Agarwal R, et al. Eur Heart J. 2022;43:474–484.</a:t>
            </a:r>
            <a:endParaRPr lang="ru-RU" sz="800" b="0" dirty="0"/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1" name="Сокращения"/>
          <p:cNvSpPr txBox="1"/>
          <p:nvPr/>
        </p:nvSpPr>
        <p:spPr>
          <a:xfrm>
            <a:off x="457200" y="627380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НГЛТ2: натрий-глюкозный котранспортёр 2 типа; KDIGO: Kidney Disease: Improving Global Outcomes, международные рекомендации по болезням почек.</a:t>
            </a:r>
            <a:endParaRPr lang="ru-RU" sz="1000" b="0" dirty="0"/>
          </a:p>
        </p:txBody>
      </p:sp>
      <p:sp>
        <p:nvSpPr>
          <p:cNvPr id="32" name="Карточка_данные"/>
          <p:cNvSpPr/>
          <p:nvPr/>
        </p:nvSpPr>
        <p:spPr>
          <a:xfrm>
            <a:off x="457200" y="4876800"/>
            <a:ext cx="11277600" cy="1066800"/>
          </a:xfrm>
          <a:prstGeom prst="roundRect">
            <a:avLst>
              <a:gd name="adj" fmla="val 952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Текст_данные"/>
          <p:cNvSpPr txBox="1"/>
          <p:nvPr/>
        </p:nvSpPr>
        <p:spPr>
          <a:xfrm>
            <a:off x="584200" y="4953000"/>
            <a:ext cx="110236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CONFIDENCE (одновременное начало, рСКФ 30–90, АКО ≥100 мг/г):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 180-му дню АКО снизилось от исходного на 52% при сочетании, на 32% на финереноне, на 29% на эмпаглифлозине. Группы плацебо не было.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FIDELITY: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результаты согласовались в подгруппе пациентов на ингибиторе НГЛТ2 (877 из 13 026, 6,7%).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Финеренон отличается от спиронолактона строением, избирательностью и доказательствами при ХБП и диабете 2 типа</a:t>
            </a:r>
            <a:endParaRPr lang="ru-RU" sz="2000" b="0" u="none" dirty="0"/>
          </a:p>
        </p:txBody>
      </p:sp>
      <p:sp>
        <p:nvSpPr>
          <p:cNvPr id="13" name="Полоса_финеренон"/>
          <p:cNvSpPr/>
          <p:nvPr/>
        </p:nvSpPr>
        <p:spPr>
          <a:xfrm>
            <a:off x="2463800" y="1066800"/>
            <a:ext cx="45720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 dirty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  <a:endParaRPr sz="1700" b="0" dirty="0"/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162800" y="1066800"/>
            <a:ext cx="4572000" cy="381000"/>
          </a:xfrm>
          <a:prstGeom prst="roundRect">
            <a:avLst>
              <a:gd name="adj" fmla="val 25000"/>
            </a:avLst>
          </a:prstGeom>
          <a:solidFill>
            <a:srgbClr val="0F9ED5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 dirty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  <a:endParaRPr sz="1700" b="0" dirty="0"/>
          </a:p>
        </p:txBody>
      </p:sp>
      <p:sp>
        <p:nvSpPr>
          <p:cNvPr id="19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 Agarwal R, et al. Eur Heart J. 2022;43:474–484. Pitt B, et al. Eur Heart J. 2013;34:2453–2463. Pitt B, et al. N Engl J Med. 1999;341:709–717. Aldactone (spironolactone). Prescribing information. Kerendia. EMA assessment report, 2022. Gerisch M, et al. Drug Metab Dispos. 2018;46:1546–1555.</a:t>
            </a:r>
            <a:endParaRPr lang="ru-RU" sz="800" b="0" dirty="0"/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1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СН: сердечная недостаточность; ФВ ЛЖ: фракция выброса левого желудочка; МКР: минералокортикоидный рецептор; RALES, ARTS, FIDELITY: названия исследований.</a:t>
            </a:r>
            <a:endParaRPr lang="ru-RU" sz="1000" b="0" dirty="0"/>
          </a:p>
        </p:txBody>
      </p:sp>
      <p:sp>
        <p:nvSpPr>
          <p:cNvPr id="22" name="Название_строки_1"/>
          <p:cNvSpPr/>
          <p:nvPr/>
        </p:nvSpPr>
        <p:spPr>
          <a:xfrm>
            <a:off x="457200" y="1524000"/>
            <a:ext cx="1905000" cy="647700"/>
          </a:xfrm>
          <a:prstGeom prst="roundRect">
            <a:avLst>
              <a:gd name="adj" fmla="val 15686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Строение</a:t>
            </a:r>
          </a:p>
        </p:txBody>
      </p:sp>
      <p:sp>
        <p:nvSpPr>
          <p:cNvPr id="23" name="Финеренон_строка_1"/>
          <p:cNvSpPr/>
          <p:nvPr/>
        </p:nvSpPr>
        <p:spPr>
          <a:xfrm>
            <a:off x="2463800" y="1524000"/>
            <a:ext cx="4572000" cy="647700"/>
          </a:xfrm>
          <a:prstGeom prst="roundRect">
            <a:avLst>
              <a:gd name="adj" fmla="val 1568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 МКР. Метаболиты неактивны.</a:t>
            </a:r>
          </a:p>
        </p:txBody>
      </p:sp>
      <p:sp>
        <p:nvSpPr>
          <p:cNvPr id="24" name="Спиронолактон_строка_1"/>
          <p:cNvSpPr/>
          <p:nvPr/>
        </p:nvSpPr>
        <p:spPr>
          <a:xfrm>
            <a:off x="7162800" y="1524000"/>
            <a:ext cx="4572000" cy="647700"/>
          </a:xfrm>
          <a:prstGeom prst="roundRect">
            <a:avLst>
              <a:gd name="adj" fmla="val 1568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Стероидный антагонист МКР. Есть активные метаболиты.</a:t>
            </a:r>
          </a:p>
        </p:txBody>
      </p:sp>
      <p:sp>
        <p:nvSpPr>
          <p:cNvPr id="25" name="Название_строки_2"/>
          <p:cNvSpPr/>
          <p:nvPr/>
        </p:nvSpPr>
        <p:spPr>
          <a:xfrm>
            <a:off x="457200" y="2273300"/>
            <a:ext cx="1905000" cy="647700"/>
          </a:xfrm>
          <a:prstGeom prst="roundRect">
            <a:avLst>
              <a:gd name="adj" fmla="val 15686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Избирательность</a:t>
            </a:r>
          </a:p>
        </p:txBody>
      </p:sp>
      <p:sp>
        <p:nvSpPr>
          <p:cNvPr id="26" name="Финеренон_строка_2"/>
          <p:cNvSpPr/>
          <p:nvPr/>
        </p:nvSpPr>
        <p:spPr>
          <a:xfrm>
            <a:off x="2463800" y="2273300"/>
            <a:ext cx="4572000" cy="647700"/>
          </a:xfrm>
          <a:prstGeom prst="roundRect">
            <a:avLst>
              <a:gd name="adj" fmla="val 1568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Избирательно блокирует МКР.</a:t>
            </a:r>
          </a:p>
        </p:txBody>
      </p:sp>
      <p:sp>
        <p:nvSpPr>
          <p:cNvPr id="27" name="Спиронолактон_строка_2"/>
          <p:cNvSpPr/>
          <p:nvPr/>
        </p:nvSpPr>
        <p:spPr>
          <a:xfrm>
            <a:off x="7162800" y="2273300"/>
            <a:ext cx="4572000" cy="647700"/>
          </a:xfrm>
          <a:prstGeom prst="roundRect">
            <a:avLst>
              <a:gd name="adj" fmla="val 1568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Действует и на рецепторы половых гормонов, отсюда антиандрогенное действие.</a:t>
            </a:r>
          </a:p>
        </p:txBody>
      </p:sp>
      <p:sp>
        <p:nvSpPr>
          <p:cNvPr id="28" name="Название_строки_3"/>
          <p:cNvSpPr/>
          <p:nvPr/>
        </p:nvSpPr>
        <p:spPr>
          <a:xfrm>
            <a:off x="457200" y="3022600"/>
            <a:ext cx="1905000" cy="1320800"/>
          </a:xfrm>
          <a:prstGeom prst="roundRect">
            <a:avLst>
              <a:gd name="adj" fmla="val 9302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Исходы при ХБП и диабете 2 типа</a:t>
            </a:r>
          </a:p>
        </p:txBody>
      </p:sp>
      <p:sp>
        <p:nvSpPr>
          <p:cNvPr id="29" name="Финеренон_строка_3"/>
          <p:cNvSpPr/>
          <p:nvPr/>
        </p:nvSpPr>
        <p:spPr>
          <a:xfrm>
            <a:off x="2463800" y="3022600"/>
            <a:ext cx="4572000" cy="1320800"/>
          </a:xfrm>
          <a:prstGeom prst="roundRect">
            <a:avLst>
              <a:gd name="adj" fmla="val 93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FIDELITY, 13 026 пациентов, медиана наблюдения 3,0 года, по сравнению с плацебо: риск комбинированного почечного исхода ниже на </a:t>
            </a: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23%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 xml:space="preserve">, комбинированного сердечно-сосудистого на </a:t>
            </a: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14%</a:t>
            </a:r>
          </a:p>
        </p:txBody>
      </p:sp>
      <p:sp>
        <p:nvSpPr>
          <p:cNvPr id="30" name="Спиронолактон_строка_3"/>
          <p:cNvSpPr/>
          <p:nvPr/>
        </p:nvSpPr>
        <p:spPr>
          <a:xfrm>
            <a:off x="7162800" y="3022600"/>
            <a:ext cx="4572000" cy="1320800"/>
          </a:xfrm>
          <a:prstGeom prst="roundRect">
            <a:avLst>
              <a:gd name="adj" fmla="val 93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Доказательства получены при тяжёлой СН (RALES). Крупных исследований исходов при ХБП и диабете 2 типа нет.</a:t>
            </a:r>
          </a:p>
        </p:txBody>
      </p:sp>
      <p:sp>
        <p:nvSpPr>
          <p:cNvPr id="31" name="Название_строки_4"/>
          <p:cNvSpPr/>
          <p:nvPr/>
        </p:nvSpPr>
        <p:spPr>
          <a:xfrm>
            <a:off x="457200" y="4445000"/>
            <a:ext cx="1905000" cy="647700"/>
          </a:xfrm>
          <a:prstGeom prst="roundRect">
            <a:avLst>
              <a:gd name="adj" fmla="val 15686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Калий: прямое сравнение, ARTS</a:t>
            </a:r>
          </a:p>
        </p:txBody>
      </p:sp>
      <p:sp>
        <p:nvSpPr>
          <p:cNvPr id="32" name="Финеренон_строка_4"/>
          <p:cNvSpPr/>
          <p:nvPr/>
        </p:nvSpPr>
        <p:spPr>
          <a:xfrm>
            <a:off x="2463800" y="4445000"/>
            <a:ext cx="4572000" cy="647700"/>
          </a:xfrm>
          <a:prstGeom prst="roundRect">
            <a:avLst>
              <a:gd name="adj" fmla="val 1568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5,3%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 гиперкалиемия</a:t>
            </a:r>
          </a:p>
        </p:txBody>
      </p:sp>
      <p:sp>
        <p:nvSpPr>
          <p:cNvPr id="33" name="Спиронолактон_строка_4"/>
          <p:cNvSpPr/>
          <p:nvPr/>
        </p:nvSpPr>
        <p:spPr>
          <a:xfrm>
            <a:off x="7162800" y="4445000"/>
            <a:ext cx="4572000" cy="647700"/>
          </a:xfrm>
          <a:prstGeom prst="roundRect">
            <a:avLst>
              <a:gd name="adj" fmla="val 1568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0F9ED5"/>
                </a:solidFill>
                <a:latin typeface="Arial Narrow"/>
                <a:cs typeface="Arial Narrow"/>
              </a:rPr>
              <a:t>12,7%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 гиперкалиемия</a:t>
            </a:r>
          </a:p>
        </p:txBody>
      </p:sp>
      <p:sp>
        <p:nvSpPr>
          <p:cNvPr id="34" name="Подпись_ARTS"/>
          <p:cNvSpPr txBox="1"/>
          <p:nvPr/>
        </p:nvSpPr>
        <p:spPr>
          <a:xfrm>
            <a:off x="2463800" y="5143500"/>
            <a:ext cx="9271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ARTS: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II фаза, 392 пациента с СН со сниженной ФВ ЛЖ и умеренной ХБП, 4 недели, p=0,048</a:t>
            </a:r>
          </a:p>
        </p:txBody>
      </p:sp>
      <p:sp>
        <p:nvSpPr>
          <p:cNvPr id="35" name="Нижняя_строка"/>
          <p:cNvSpPr txBox="1"/>
          <p:nvPr/>
        </p:nvSpPr>
        <p:spPr>
          <a:xfrm>
            <a:off x="457200" y="5549900"/>
            <a:ext cx="11277600" cy="35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финереноном спиронолактон и эплеренон не назначают. При любом антагонисте МКР контролируют калий.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 dirty="0">
                <a:solidFill>
                  <a:srgbClr val="7030A0"/>
                </a:solidFill>
                <a:latin typeface="Arial Narrow"/>
                <a:cs typeface="Arial Narrow"/>
              </a:rPr>
              <a:t>Повышение калия при финереноне объясняется механизмом действия и управляется контролем калия</a:t>
            </a:r>
            <a:endParaRPr sz="2000" b="0" dirty="0"/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C1E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B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F5F5"/>
              </a:gs>
              <a:gs pos="70000">
                <a:srgbClr val="E7E6E6"/>
              </a:gs>
              <a:gs pos="100000">
                <a:srgbClr val="D9D9D9"/>
              </a:gs>
            </a:gsLst>
            <a:lin ang="5400000" scaled="1"/>
          </a:gradFill>
          <a:ln w="1841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8C8C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Arial"/>
              </a:defRPr>
            </a:pPr>
            <a:r>
              <a:rPr sz="1400" b="0">
                <a:solidFill>
                  <a:srgbClr val="666666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D4D4D4"/>
              </a:gs>
              <a:gs pos="42000">
                <a:srgbClr val="A0A0A0"/>
              </a:gs>
              <a:gs pos="100000">
                <a:srgbClr val="666666"/>
              </a:gs>
            </a:gsLst>
            <a:lin ang="2700000" scaled="1"/>
          </a:gra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7030A0"/>
                </a:solidFill>
                <a:latin typeface="Arial"/>
              </a:defRPr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7030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F7F7F"/>
                </a:solidFill>
                <a:latin typeface="Arial"/>
              </a:defRPr>
            </a:pPr>
            <a:r>
              <a:rPr sz="1400" b="1">
                <a:solidFill>
                  <a:srgbClr val="7F7F7F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666666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7030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156082"/>
              </a:gs>
              <a:gs pos="100000">
                <a:srgbClr val="156082"/>
              </a:gs>
            </a:gsLst>
            <a:lin ang="5400000" scaled="1"/>
          </a:gradFill>
          <a:ln w="889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156082"/>
              </a:gs>
              <a:gs pos="100000">
                <a:srgbClr val="156082"/>
              </a:gs>
            </a:gsLst>
            <a:lin ang="5400000" scaled="1"/>
          </a:gradFill>
          <a:ln w="889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E97132"/>
              </a:gs>
              <a:gs pos="100000">
                <a:srgbClr val="E97132"/>
              </a:gs>
            </a:gsLst>
            <a:lin ang="5400000" scaled="1"/>
          </a:gradFill>
          <a:ln w="889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E97132"/>
              </a:gs>
              <a:gs pos="100000">
                <a:srgbClr val="E97132"/>
              </a:gs>
            </a:gsLst>
            <a:lin ang="5400000" scaled="1"/>
          </a:gradFill>
          <a:ln w="889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DEDED"/>
              </a:gs>
              <a:gs pos="37000">
                <a:srgbClr val="C8C8C8"/>
              </a:gs>
              <a:gs pos="100000">
                <a:srgbClr val="8C8C8C"/>
              </a:gs>
            </a:gsLst>
            <a:lin ang="0" scaled="1"/>
          </a:gradFill>
          <a:ln w="12700">
            <a:solidFill>
              <a:srgbClr val="6E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156082"/>
                </a:solidFill>
                <a:latin typeface="Arial"/>
              </a:defRPr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156082"/>
                </a:solidFill>
                <a:latin typeface="Arial"/>
              </a:defRPr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156082"/>
                </a:solidFill>
                <a:latin typeface="Arial"/>
              </a:defRPr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156082"/>
                </a:solidFill>
                <a:latin typeface="Arial"/>
              </a:defRPr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156082"/>
                </a:solidFill>
                <a:latin typeface="Arial"/>
              </a:defRPr>
            </a:pPr>
            <a:r>
              <a:rPr sz="1400" b="1">
                <a:solidFill>
                  <a:srgbClr val="156082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15608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E97132"/>
                </a:solidFill>
                <a:latin typeface="Arial"/>
              </a:defRPr>
            </a:pPr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E97132"/>
                </a:solidFill>
                <a:latin typeface="Arial"/>
              </a:defRPr>
            </a:pPr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97132"/>
                </a:solidFill>
                <a:latin typeface="Arial"/>
              </a:defRPr>
            </a:pPr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97132"/>
                </a:solidFill>
                <a:latin typeface="Arial"/>
              </a:defRPr>
            </a:pPr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97132"/>
                </a:solidFill>
                <a:latin typeface="Arial"/>
              </a:defRPr>
            </a:pPr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E9713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E9713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666666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666666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7030A0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 Kerendia. Summary of Product Characteristics (EMA). Agarwal R, et al. Eur Heart J. 2022;43:474–484. Agarwal R, et al. J Am Soc Nephrol. 2022;33:225–237. Agarwal R, et al. N Engl J Med. 2025;393:533–543. Agarwal R, et al. J Am Coll Cardiol. 2026;87:772–784. Sørensen MV, et al. JCI Insight. 2019;4:e126910. Czogalla J, et al. Pflügers Arch. 2016;468:849–858.</a:t>
            </a:r>
            <a:endParaRPr lang="ru-RU" sz="800" b="0" dirty="0"/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72" name="Сокращения"/>
          <p:cNvSpPr txBox="1"/>
          <p:nvPr/>
        </p:nvSpPr>
        <p:spPr>
          <a:xfrm>
            <a:off x="457200" y="620522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МКР: минералокортикоидный рецептор; рСКФ: расчётная скорость клубочковой фильтрации; гиперкалиемия в FIDELITY: нежелательные явления «гиперкалиемия» и «повышение калия в крови» по сообщению исследователя.</a:t>
            </a:r>
            <a:endParaRPr lang="ru-RU" sz="1000" b="0" dirty="0"/>
          </a:p>
        </p:txBody>
      </p:sp>
      <p:sp>
        <p:nvSpPr>
          <p:cNvPr id="273" name="Полоса_риск"/>
          <p:cNvSpPr/>
          <p:nvPr/>
        </p:nvSpPr>
        <p:spPr>
          <a:xfrm>
            <a:off x="7696200" y="1016000"/>
            <a:ext cx="40386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Кому проверять калий особенно внимательно</a:t>
            </a:r>
          </a:p>
        </p:txBody>
      </p:sp>
      <p:sp>
        <p:nvSpPr>
          <p:cNvPr id="274" name="Карточка_риск"/>
          <p:cNvSpPr/>
          <p:nvPr/>
        </p:nvSpPr>
        <p:spPr>
          <a:xfrm>
            <a:off x="7696200" y="1371600"/>
            <a:ext cx="4038600" cy="2133600"/>
          </a:xfrm>
          <a:prstGeom prst="roundRect">
            <a:avLst>
              <a:gd name="adj" fmla="val 476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5" name="Текст_факторы_риска"/>
          <p:cNvSpPr txBox="1"/>
          <p:nvPr/>
        </p:nvSpPr>
        <p:spPr>
          <a:xfrm>
            <a:off x="7823200" y="1447800"/>
            <a:ext cx="3784600" cy="1320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Анализ FIDELIO-DKD: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cxnSp>
        <p:nvCxnSpPr>
          <p:cNvPr id="276" name="Разделитель_риск"/>
          <p:cNvCxnSpPr/>
          <p:nvPr/>
        </p:nvCxnSpPr>
        <p:spPr>
          <a:xfrm>
            <a:off x="7823200" y="2806700"/>
            <a:ext cx="37846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>
        <p:nvSpPr>
          <p:cNvPr id="277" name="Текст_также"/>
          <p:cNvSpPr txBox="1"/>
          <p:nvPr/>
        </p:nvSpPr>
        <p:spPr>
          <a:xfrm>
            <a:off x="7823200" y="2844800"/>
            <a:ext cx="37846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Также: острое заболевание, обезвоживание, лекарства, повышающие калий или концентрацию финеренона.</a:t>
            </a:r>
          </a:p>
        </p:txBody>
      </p:sp>
      <p:sp>
        <p:nvSpPr>
          <p:cNvPr id="278" name="Полоса_FIDELITY"/>
          <p:cNvSpPr/>
          <p:nvPr/>
        </p:nvSpPr>
        <p:spPr>
          <a:xfrm>
            <a:off x="7696200" y="3581400"/>
            <a:ext cx="40386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FIDELITY, медиана наблюдения 3,0 года</a:t>
            </a:r>
          </a:p>
        </p:txBody>
      </p:sp>
      <p:sp>
        <p:nvSpPr>
          <p:cNvPr id="279" name="Карточка_FIDELITY"/>
          <p:cNvSpPr/>
          <p:nvPr/>
        </p:nvSpPr>
        <p:spPr>
          <a:xfrm>
            <a:off x="7696200" y="3937000"/>
            <a:ext cx="4038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0" name="Легенда_FIDELITY"/>
          <p:cNvSpPr txBox="1"/>
          <p:nvPr/>
        </p:nvSpPr>
        <p:spPr>
          <a:xfrm>
            <a:off x="7823200" y="3987800"/>
            <a:ext cx="3784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 </a:t>
            </a:r>
            <a:r>
              <a:rPr sz="1400" b="1">
                <a:solidFill>
                  <a:srgbClr val="7F7F7F"/>
                </a:solidFill>
                <a:latin typeface="Arial Narrow"/>
                <a:cs typeface="Arial Narrow"/>
              </a:rPr>
              <a:t>плацебо</a:t>
            </a:r>
          </a:p>
        </p:txBody>
      </p:sp>
      <p:sp>
        <p:nvSpPr>
          <p:cNvPr id="281" name="Число_гиперкалиемия"/>
          <p:cNvSpPr txBox="1"/>
          <p:nvPr/>
        </p:nvSpPr>
        <p:spPr>
          <a:xfrm>
            <a:off x="7772400" y="4178300"/>
            <a:ext cx="2032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2800" b="1">
                <a:solidFill>
                  <a:srgbClr val="7030A0"/>
                </a:solidFill>
                <a:latin typeface="Arial Narrow"/>
                <a:cs typeface="Arial Narrow"/>
              </a:rPr>
              <a:t>14,0%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 и </a:t>
            </a:r>
            <a:r>
              <a:rPr sz="2800" b="1">
                <a:solidFill>
                  <a:srgbClr val="7F7F7F"/>
                </a:solidFill>
                <a:latin typeface="Arial Narrow"/>
                <a:cs typeface="Arial Narrow"/>
              </a:rPr>
              <a:t>6,9%</a:t>
            </a:r>
          </a:p>
        </p:txBody>
      </p:sp>
      <p:sp>
        <p:nvSpPr>
          <p:cNvPr id="282" name="Подпись_гиперкалиемия"/>
          <p:cNvSpPr txBox="1"/>
          <p:nvPr/>
        </p:nvSpPr>
        <p:spPr>
          <a:xfrm>
            <a:off x="7772400" y="4597400"/>
            <a:ext cx="2032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</a:t>
            </a:r>
          </a:p>
        </p:txBody>
      </p:sp>
      <p:sp>
        <p:nvSpPr>
          <p:cNvPr id="283" name="Число_отмена"/>
          <p:cNvSpPr txBox="1"/>
          <p:nvPr/>
        </p:nvSpPr>
        <p:spPr>
          <a:xfrm>
            <a:off x="9880600" y="41783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2800" b="1">
                <a:solidFill>
                  <a:srgbClr val="7030A0"/>
                </a:solidFill>
                <a:latin typeface="Arial Narrow"/>
                <a:cs typeface="Arial Narrow"/>
              </a:rPr>
              <a:t>1,7%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 и </a:t>
            </a:r>
            <a:r>
              <a:rPr sz="2800" b="1">
                <a:solidFill>
                  <a:srgbClr val="7F7F7F"/>
                </a:solidFill>
                <a:latin typeface="Arial Narrow"/>
                <a:cs typeface="Arial Narrow"/>
              </a:rPr>
              <a:t>0,6%</a:t>
            </a:r>
          </a:p>
        </p:txBody>
      </p:sp>
      <p:sp>
        <p:nvSpPr>
          <p:cNvPr id="284" name="Подпись_отмена"/>
          <p:cNvSpPr txBox="1"/>
          <p:nvPr/>
        </p:nvSpPr>
        <p:spPr>
          <a:xfrm>
            <a:off x="9880600" y="45974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</a:t>
            </a:r>
          </a:p>
        </p:txBody>
      </p:sp>
      <p:sp>
        <p:nvSpPr>
          <p:cNvPr id="285" name="Полоса_правило"/>
          <p:cNvSpPr/>
          <p:nvPr/>
        </p:nvSpPr>
        <p:spPr>
          <a:xfrm>
            <a:off x="7696200" y="4927600"/>
            <a:ext cx="40386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Правило контроля</a:t>
            </a:r>
          </a:p>
        </p:txBody>
      </p:sp>
      <p:sp>
        <p:nvSpPr>
          <p:cNvPr id="286" name="Карточка_правило"/>
          <p:cNvSpPr/>
          <p:nvPr/>
        </p:nvSpPr>
        <p:spPr>
          <a:xfrm>
            <a:off x="7696200" y="5283200"/>
            <a:ext cx="4038600" cy="774700"/>
          </a:xfrm>
          <a:prstGeom prst="roundRect">
            <a:avLst>
              <a:gd name="adj" fmla="val 131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7" name="Текст_правило"/>
          <p:cNvSpPr txBox="1"/>
          <p:nvPr/>
        </p:nvSpPr>
        <p:spPr>
          <a:xfrm>
            <a:off x="7823200" y="5359400"/>
            <a:ext cx="3784600" cy="647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Калий и рСКФ: 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до начала, через 4 недели и далее периодически. </a:t>
            </a: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Калий выше 5,5 ммоль/л: 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препарат временно отменяют.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Заголовок">
            <a:extLst>
              <a:ext uri="{FF2B5EF4-FFF2-40B4-BE49-F238E27FC236}">
                <a16:creationId xmlns:a16="http://schemas.microsoft.com/office/drawing/2014/main" id="{D5655B0C-3516-4E1A-8203-03ADC0971886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/>
          <a:p>
            <a:pPr>
              <a:defRPr sz="255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defRPr>
            </a:pPr>
            <a:r>
              <a:rPr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Лекарства, которые подавляют или ускоряют CYP3A4, меняют концентрацию финеренона</a:t>
            </a:r>
            <a:endParaRPr sz="2000" b="0" dirty="0"/>
          </a:p>
        </p:txBody>
      </p:sp>
      <p:sp>
        <p:nvSpPr>
          <p:cNvPr id="2" name="Одинаковая доза">
            <a:extLst>
              <a:ext uri="{FF2B5EF4-FFF2-40B4-BE49-F238E27FC236}">
                <a16:creationId xmlns:a16="http://schemas.microsoft.com/office/drawing/2014/main" id="{FCB025CC-ED79-4127-8E16-D9F130BE000E}"/>
              </a:ext>
            </a:extLst>
          </p:cNvPr>
          <p:cNvSpPr>
            <a:spLocks noGrp="1"/>
          </p:cNvSpPr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defRPr sz="1725" b="0">
                <a:solidFill>
                  <a:srgbClr val="555555"/>
                </a:solidFill>
                <a:latin typeface="Arial Narrow"/>
                <a:ea typeface="Arial Narrow"/>
                <a:cs typeface="Arial Narrow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При одинаковой дозе. Около 90% финеренона превращается в неактивные метаболиты с участием CYP3A4, около 10% с участием CYP2C8.</a:t>
            </a:r>
          </a:p>
        </p:txBody>
      </p:sp>
      <p:sp>
        <p:nvSpPr>
          <p:cNvPr id="20" name="Источники">
            <a:extLst>
              <a:ext uri="{FF2B5EF4-FFF2-40B4-BE49-F238E27FC236}">
                <a16:creationId xmlns:a16="http://schemas.microsoft.com/office/drawing/2014/main" id="{39F1E6DB-3101-4500-89DC-5CB4CB80B2BB}"/>
              </a:ext>
            </a:extLst>
          </p:cNvPr>
          <p:cNvSpPr>
            <a:spLocks noGrp="1"/>
          </p:cNvSpPr>
          <p:nvPr/>
        </p:nvSpPr>
        <p:spPr>
          <a:xfrm>
            <a:off x="457200" y="6629400"/>
            <a:ext cx="10477500" cy="20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Autofit/>
          </a:bodyPr>
          <a:lstStyle/>
          <a:p>
            <a:pPr>
              <a:defRPr sz="900" b="0">
                <a:solidFill>
                  <a:srgbClr val="555555"/>
                </a:solidFill>
                <a:latin typeface="Arial Narrow"/>
                <a:ea typeface="Arial Narrow"/>
                <a:cs typeface="Arial Narrow"/>
              </a:defRPr>
            </a:pPr>
            <a:r>
              <a:rPr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 (метаболизм, сильные ингибиторы CYP3A4). Kerendia. Summary of Product Characteristics, раздел 4.5 (умеренные и слабые ингибиторы, индукторы, грейпфрут).</a:t>
            </a:r>
            <a:endParaRPr sz="800" b="0" dirty="0"/>
          </a:p>
        </p:txBody>
      </p:sp>
      <p:pic>
        <p:nvPicPr>
          <p:cNvPr id="99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1000" name="Узел_финеренон"/>
          <p:cNvSpPr/>
          <p:nvPr/>
        </p:nvSpPr>
        <p:spPr>
          <a:xfrm>
            <a:off x="457200" y="1346200"/>
            <a:ext cx="2540000" cy="457200"/>
          </a:xfrm>
          <a:prstGeom prst="roundRect">
            <a:avLst>
              <a:gd name="adj" fmla="val 2222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001" name="Шеврон_1"/>
          <p:cNvSpPr/>
          <p:nvPr/>
        </p:nvSpPr>
        <p:spPr>
          <a:xfrm>
            <a:off x="3098800" y="1397000"/>
            <a:ext cx="711200" cy="3556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2" name="Узел_CYP3A4"/>
          <p:cNvSpPr/>
          <p:nvPr/>
        </p:nvSpPr>
        <p:spPr>
          <a:xfrm>
            <a:off x="3911600" y="1346200"/>
            <a:ext cx="3810000" cy="457200"/>
          </a:xfrm>
          <a:prstGeom prst="roundRect">
            <a:avLst>
              <a:gd name="adj" fmla="val 2222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CYP3A4: печень и стенка кишечника</a:t>
            </a:r>
          </a:p>
        </p:txBody>
      </p:sp>
      <p:sp>
        <p:nvSpPr>
          <p:cNvPr id="1003" name="Шеврон_2"/>
          <p:cNvSpPr/>
          <p:nvPr/>
        </p:nvSpPr>
        <p:spPr>
          <a:xfrm>
            <a:off x="7823200" y="1397000"/>
            <a:ext cx="711200" cy="3556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4" name="Узел_метаболиты"/>
          <p:cNvSpPr/>
          <p:nvPr/>
        </p:nvSpPr>
        <p:spPr>
          <a:xfrm>
            <a:off x="8636000" y="1346200"/>
            <a:ext cx="3098800" cy="457200"/>
          </a:xfrm>
          <a:prstGeom prst="roundRect">
            <a:avLst>
              <a:gd name="adj" fmla="val 22222"/>
            </a:avLst>
          </a:prstGeom>
          <a:solidFill>
            <a:srgbClr val="666666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Неактивные метаболиты</a:t>
            </a:r>
          </a:p>
        </p:txBody>
      </p:sp>
      <p:sp>
        <p:nvSpPr>
          <p:cNvPr id="1005" name="Подпись_шевроны"/>
          <p:cNvSpPr txBox="1"/>
          <p:nvPr/>
        </p:nvSpPr>
        <p:spPr>
          <a:xfrm>
            <a:off x="6146800" y="18542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666666"/>
                </a:solidFill>
                <a:latin typeface="Arial Narrow"/>
                <a:cs typeface="Arial Narrow"/>
              </a:rPr>
              <a:t>ингибиторы замедляют фермент, индукторы ускоряют</a:t>
            </a:r>
          </a:p>
        </p:txBody>
      </p:sp>
      <p:sp>
        <p:nvSpPr>
          <p:cNvPr id="1006" name="Полоса_ингибиторы"/>
          <p:cNvSpPr/>
          <p:nvPr/>
        </p:nvSpPr>
        <p:spPr>
          <a:xfrm>
            <a:off x="457200" y="2184400"/>
            <a:ext cx="38100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Ингибиторы: метаболизм замедляется</a:t>
            </a:r>
          </a:p>
        </p:txBody>
      </p:sp>
      <p:sp>
        <p:nvSpPr>
          <p:cNvPr id="1007" name="Эффект_ингибиторы"/>
          <p:cNvSpPr/>
          <p:nvPr/>
        </p:nvSpPr>
        <p:spPr>
          <a:xfrm>
            <a:off x="457200" y="2667000"/>
            <a:ext cx="3810000" cy="1092200"/>
          </a:xfrm>
          <a:prstGeom prst="roundRect">
            <a:avLst>
              <a:gd name="adj" fmla="val 93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Концентрация финеренона в крови выше.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 может повышаться.</a:t>
            </a:r>
          </a:p>
        </p:txBody>
      </p:sp>
      <p:sp>
        <p:nvSpPr>
          <p:cNvPr id="1008" name="Правила_фон_ингибиторы"/>
          <p:cNvSpPr/>
          <p:nvPr/>
        </p:nvSpPr>
        <p:spPr>
          <a:xfrm>
            <a:off x="4419600" y="2184400"/>
            <a:ext cx="7315200" cy="1574800"/>
          </a:xfrm>
          <a:prstGeom prst="roundRect">
            <a:avLst>
              <a:gd name="adj" fmla="val 64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09" name="Правила_ингибиторы"/>
          <p:cNvSpPr txBox="1"/>
          <p:nvPr/>
        </p:nvSpPr>
        <p:spPr>
          <a:xfrm>
            <a:off x="4572000" y="2311400"/>
            <a:ext cx="7010400" cy="1320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 marL="152400" indent="-152400">
              <a:lnSpc>
                <a:spcPct val="90000"/>
              </a:lnSpc>
              <a:spcAft>
                <a:spcPts val="8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ингибиторы, например кларитромицин и ритонавир: </a:t>
            </a: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противопоказаны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  <a:p>
            <a:pPr algn="l" marL="152400" indent="-152400">
              <a:lnSpc>
                <a:spcPct val="90000"/>
              </a:lnSpc>
              <a:spcAft>
                <a:spcPts val="8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ингибиторы: калий контролируют при начале приёма или изменении дозы; при необходимости врач корректирует дозу финеренона.</a:t>
            </a:r>
          </a:p>
        </p:txBody>
      </p:sp>
      <p:sp>
        <p:nvSpPr>
          <p:cNvPr id="1010" name="Полоса_индукторы"/>
          <p:cNvSpPr/>
          <p:nvPr/>
        </p:nvSpPr>
        <p:spPr>
          <a:xfrm>
            <a:off x="457200" y="3860800"/>
            <a:ext cx="38100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Индукторы: метаболизм ускоряется</a:t>
            </a:r>
          </a:p>
        </p:txBody>
      </p:sp>
      <p:sp>
        <p:nvSpPr>
          <p:cNvPr id="1011" name="Эффект_индукторы"/>
          <p:cNvSpPr/>
          <p:nvPr/>
        </p:nvSpPr>
        <p:spPr>
          <a:xfrm>
            <a:off x="457200" y="4343400"/>
            <a:ext cx="3810000" cy="1092200"/>
          </a:xfrm>
          <a:prstGeom prst="roundRect">
            <a:avLst>
              <a:gd name="adj" fmla="val 93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127000" tIns="50800" bIns="508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Концентрация финеренона в крови ниже.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Лечебный эффект может ослабевать.</a:t>
            </a:r>
          </a:p>
        </p:txBody>
      </p:sp>
      <p:sp>
        <p:nvSpPr>
          <p:cNvPr id="1012" name="Правила_фон_индукторы"/>
          <p:cNvSpPr/>
          <p:nvPr/>
        </p:nvSpPr>
        <p:spPr>
          <a:xfrm>
            <a:off x="4419600" y="3860800"/>
            <a:ext cx="7315200" cy="1574800"/>
          </a:xfrm>
          <a:prstGeom prst="roundRect">
            <a:avLst>
              <a:gd name="adj" fmla="val 64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13" name="Правила_индукторы"/>
          <p:cNvSpPr txBox="1"/>
          <p:nvPr/>
        </p:nvSpPr>
        <p:spPr>
          <a:xfrm>
            <a:off x="4572000" y="3987800"/>
            <a:ext cx="7010400" cy="1320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 marL="152400" indent="-152400">
              <a:lnSpc>
                <a:spcPct val="90000"/>
              </a:lnSpc>
              <a:spcAft>
                <a:spcPts val="8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индукторы, например рифампицин: совместное применение </a:t>
            </a: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не рекомендуется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  <a:p>
            <a:pPr algn="l" marL="152400" indent="-152400">
              <a:lnSpc>
                <a:spcPct val="90000"/>
              </a:lnSpc>
              <a:spcAft>
                <a:spcPts val="8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Грейпфрут и его сок исключают на время лечения.</a:t>
            </a:r>
          </a:p>
        </p:txBody>
      </p:sp>
      <p:sp>
        <p:nvSpPr>
          <p:cNvPr id="1014" name="Итоговая_плашка"/>
          <p:cNvSpPr/>
          <p:nvPr/>
        </p:nvSpPr>
        <p:spPr>
          <a:xfrm>
            <a:off x="457200" y="5562600"/>
            <a:ext cx="11277600" cy="5080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Arial Narrow"/>
                <a:cs typeface="Arial Narrow"/>
              </a:rPr>
              <a:t>Перед назначением нужен полный список лекарств, добавок и безрецептурных средств.</a:t>
            </a:r>
          </a:p>
        </p:txBody>
      </p:sp>
      <p:sp>
        <p:nvSpPr>
          <p:cNvPr id="1015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  <a:latin typeface="Arial Narrow"/>
                <a:cs typeface="Arial Narrow"/>
              </a:rPr>
              <a:t>CYP3A4, CYP2C8: изоферменты цитохрома P450.</a:t>
            </a:r>
          </a:p>
        </p:txBody>
      </p:sp>
    </p:spTree>
    <p:extLst>
      <p:ext uri="{BB962C8B-B14F-4D97-AF65-F5344CB8AC3E}">
        <p14:creationId xmlns:p14="http://schemas.microsoft.com/office/powerpoint/2010/main" val="14879384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Три группы взаимодействий финеренона: что противопоказано, чего избегают и что требует контроля калия</a:t>
            </a:r>
            <a:endParaRPr lang="ru-RU" sz="2000" b="0" dirty="0"/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 Kerendia. Summary of Product Characteristics, раздел 4.5. KDIGO 2024. Kidney Int. 2024;105(4S):S117–S314.</a:t>
            </a:r>
            <a:endParaRPr lang="ru-RU" sz="800" b="0" dirty="0"/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Сильные ингибиторы CYP3A4: </a:t>
            </a: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кларитромицин, кетоконазол, итраконазол, ритонавир, нелфинавир и др.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Концентрация финеренона повышается.</a:t>
            </a:r>
            <a:endParaRPr lang="ru-RU" sz="1600"/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FFD009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 dirty="0">
                <a:solidFill>
                  <a:srgbClr val="000000"/>
                </a:solidFill>
                <a:latin typeface="Arial Narrow"/>
                <a:cs typeface="Arial Narrow"/>
              </a:rPr>
              <a:t>Избегают сочетаний</a:t>
            </a:r>
            <a:endParaRPr sz="1700" b="0" dirty="0"/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Другие антагонисты МКР: </a:t>
            </a: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спиронолактон, эплеренон.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Калийсберегающие диуретики: </a:t>
            </a: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амилорид, триамтерен.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Сильные и умеренные индукторы CYP3A4: </a:t>
            </a: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рифампицин, карбамазепин, зверобой, эфавиренз.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Грейпфрут и его сок исключают.</a:t>
            </a:r>
            <a:endParaRPr lang="ru-RU" sz="1600"/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Препараты калия.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Триметоприм, в том числе ко‑тримоксазол.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Умеренные и слабые ингибиторы CYP3A4.</a:t>
            </a:r>
            <a:endParaRPr lang="ru-RU" sz="1600"/>
          </a:p>
        </p:txBody>
      </p:sp>
      <p:sp>
        <p:nvSpPr>
          <p:cNvPr id="38" name="Карточка_фоновая_терапия"/>
          <p:cNvSpPr/>
          <p:nvPr/>
        </p:nvSpPr>
        <p:spPr>
          <a:xfrm>
            <a:off x="457200" y="4826000"/>
            <a:ext cx="11277600" cy="609600"/>
          </a:xfrm>
          <a:prstGeom prst="roundRect">
            <a:avLst>
              <a:gd name="adj" fmla="val 1666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Светофор_вывод"/>
          <p:cNvSpPr txBox="1"/>
          <p:nvPr/>
        </p:nvSpPr>
        <p:spPr>
          <a:xfrm>
            <a:off x="584200" y="4876800"/>
            <a:ext cx="11023600" cy="50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 ингибитору АПФ или БРА в максимально переносимой дозе финеренон добавляют по показаниям. Калий и функцию почек продолжают контролировать.</a:t>
            </a:r>
          </a:p>
        </p:txBody>
      </p:sp>
      <p:sp>
        <p:nvSpPr>
          <p:cNvPr id="33" name="Значок_1"/>
          <p:cNvSpPr/>
          <p:nvPr/>
        </p:nvSpPr>
        <p:spPr>
          <a:xfrm>
            <a:off x="3683000" y="1066800"/>
            <a:ext cx="304800" cy="304800"/>
          </a:xfrm>
          <a:prstGeom prst="noSmoking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Значок_2"/>
          <p:cNvSpPr/>
          <p:nvPr/>
        </p:nvSpPr>
        <p:spPr>
          <a:xfrm>
            <a:off x="7480300" y="1054100"/>
            <a:ext cx="342900" cy="31750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txBody>
          <a:bodyPr wrap="none" lIns="0" tIns="76200" rIns="0" bIns="0" rtlCol="0" anchor="ctr"/>
          <a:lstStyle/>
          <a:p/>
        </p:txBody>
      </p:sp>
      <p:sp>
        <p:nvSpPr>
          <p:cNvPr id="35" name="Значок_3"/>
          <p:cNvSpPr/>
          <p:nvPr/>
        </p:nvSpPr>
        <p:spPr>
          <a:xfrm>
            <a:off x="11303000" y="1066800"/>
            <a:ext cx="304800" cy="304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156082"/>
                </a:solidFill>
                <a:latin typeface="Arial Narrow"/>
                <a:cs typeface="Arial Narrow"/>
              </a:rPr>
              <a:t>K</a:t>
            </a:r>
          </a:p>
        </p:txBody>
      </p:sp>
      <p:sp>
        <p:nvSpPr>
          <p:cNvPr id="36" name="Сокращения"/>
          <p:cNvSpPr txBox="1"/>
          <p:nvPr/>
        </p:nvSpPr>
        <p:spPr>
          <a:xfrm>
            <a:off x="457200" y="627380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CYP3A4: изофермент цитохрома P450; KDIGO: Kidney Disease: Improving Global Outcomes, международные рекомендации по болезням почек.</a:t>
            </a:r>
            <a:endParaRPr lang="ru-RU" sz="1000" b="0" dirty="0"/>
          </a:p>
        </p:txBody>
      </p:sp>
      <p:sp>
        <p:nvSpPr>
          <p:cNvPr id="37" name="Значок_2_знак"/>
          <p:cNvSpPr txBox="1"/>
          <p:nvPr/>
        </p:nvSpPr>
        <p:spPr>
          <a:xfrm>
            <a:off x="7480300" y="11366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>
                <a:solidFill>
                  <a:srgbClr val="FFD009"/>
                </a:solidFill>
                <a:latin typeface="Arial Narrow"/>
                <a:cs typeface="Arial Narrow"/>
              </a:rPr>
              <a:t>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Ячейка_калий_0"/>
          <p:cNvSpPr/>
          <p:nvPr/>
        </p:nvSpPr>
        <p:spPr>
          <a:xfrm>
            <a:off x="457200" y="2921000"/>
            <a:ext cx="2009073" cy="609600"/>
          </a:xfrm>
          <a:prstGeom prst="roundRect">
            <a:avLst>
              <a:gd name="adj" fmla="val 8333"/>
            </a:avLst>
          </a:prstGeom>
          <a:solidFill>
            <a:srgbClr val="196B24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3" name="Текст_калий_0"/>
          <p:cNvSpPr/>
          <p:nvPr/>
        </p:nvSpPr>
        <p:spPr>
          <a:xfrm>
            <a:off x="2519848" y="2921000"/>
            <a:ext cx="3321668" cy="6096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4" name="Ячейка_рскф_0"/>
          <p:cNvSpPr/>
          <p:nvPr/>
        </p:nvSpPr>
        <p:spPr>
          <a:xfrm>
            <a:off x="6350482" y="2921000"/>
            <a:ext cx="2009073" cy="609600"/>
          </a:xfrm>
          <a:prstGeom prst="roundRect">
            <a:avLst>
              <a:gd name="adj" fmla="val 8333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5" name="Текст_рскф_0"/>
          <p:cNvSpPr/>
          <p:nvPr/>
        </p:nvSpPr>
        <p:spPr>
          <a:xfrm>
            <a:off x="8413131" y="2921000"/>
            <a:ext cx="3321668" cy="6096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606800"/>
            <a:ext cx="2009073" cy="914400"/>
          </a:xfrm>
          <a:prstGeom prst="roundRect">
            <a:avLst>
              <a:gd name="adj" fmla="val 6818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7" name="Текст_калий_1"/>
          <p:cNvSpPr/>
          <p:nvPr/>
        </p:nvSpPr>
        <p:spPr>
          <a:xfrm>
            <a:off x="2519848" y="3606800"/>
            <a:ext cx="3321668" cy="914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8" name="Ячейка_рскф_1"/>
          <p:cNvSpPr/>
          <p:nvPr/>
        </p:nvSpPr>
        <p:spPr>
          <a:xfrm>
            <a:off x="6350482" y="3606800"/>
            <a:ext cx="2009073" cy="914400"/>
          </a:xfrm>
          <a:prstGeom prst="roundRect">
            <a:avLst>
              <a:gd name="adj" fmla="val 6818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9" name="Текст_рскф_1"/>
          <p:cNvSpPr/>
          <p:nvPr/>
        </p:nvSpPr>
        <p:spPr>
          <a:xfrm>
            <a:off x="8413131" y="3606800"/>
            <a:ext cx="3321668" cy="914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597400"/>
            <a:ext cx="2009073" cy="609600"/>
          </a:xfrm>
          <a:prstGeom prst="roundRect">
            <a:avLst>
              <a:gd name="adj" fmla="val 12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1" name="Текст_калий_2"/>
          <p:cNvSpPr/>
          <p:nvPr/>
        </p:nvSpPr>
        <p:spPr>
          <a:xfrm>
            <a:off x="2519848" y="4597400"/>
            <a:ext cx="3321668" cy="6096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2" name="Ячейка_рскф_2"/>
          <p:cNvSpPr/>
          <p:nvPr/>
        </p:nvSpPr>
        <p:spPr>
          <a:xfrm>
            <a:off x="6350482" y="4597400"/>
            <a:ext cx="2009073" cy="609600"/>
          </a:xfrm>
          <a:prstGeom prst="roundRect">
            <a:avLst>
              <a:gd name="adj" fmla="val 12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3" name="Текст_рскф_2"/>
          <p:cNvSpPr/>
          <p:nvPr/>
        </p:nvSpPr>
        <p:spPr>
          <a:xfrm>
            <a:off x="8413131" y="4597400"/>
            <a:ext cx="3321668" cy="6096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Правило старта простое: калий определяет, можно ли начать, рСКФ определяет дозу 10 или 20 мг</a:t>
            </a:r>
            <a:endParaRPr lang="ru-RU" sz="2000" b="0" dirty="0"/>
          </a:p>
        </p:txBody>
      </p:sp>
      <p:sp>
        <p:nvSpPr>
          <p:cNvPr id="37" name="Карточка_показание"/>
          <p:cNvSpPr/>
          <p:nvPr/>
        </p:nvSpPr>
        <p:spPr>
          <a:xfrm>
            <a:off x="457200" y="1320800"/>
            <a:ext cx="11277600" cy="812800"/>
          </a:xfrm>
          <a:prstGeom prst="roundRect">
            <a:avLst>
              <a:gd name="adj" fmla="val 125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Популяция"/>
          <p:cNvSpPr txBox="1"/>
          <p:nvPr/>
        </p:nvSpPr>
        <p:spPr>
          <a:xfrm>
            <a:off x="609600" y="1320800"/>
            <a:ext cx="1097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 dirty="0">
                <a:solidFill>
                  <a:srgbClr val="000000"/>
                </a:solidFill>
                <a:latin typeface="Arial Narrow"/>
                <a:cs typeface="Arial Narrow"/>
              </a:rPr>
              <a:t>Финеренон показан для снижения риска устойчивого снижения скорости клубочковой фильтрации, терминальной стадии болезни почек, смерти от осложнений сердечно-сосудистых заболеваний, нефатального инфаркта миокарда и госпитализации по поводу сердечной недостаточности у взрослых пациентов с хронической болезнью почек, связанной с сахарным диабетом 2 типа.</a:t>
            </a:r>
            <a:endParaRPr lang="ru-RU" sz="1600" b="0" dirty="0"/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21971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56082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25781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21971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56082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2578100"/>
            <a:ext cx="5504861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921000"/>
            <a:ext cx="190861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921000"/>
            <a:ext cx="308057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606800"/>
            <a:ext cx="1908619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606800"/>
            <a:ext cx="3080579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Начало можно рассмотреть с учётом особенностей пациента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597400"/>
            <a:ext cx="190861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597400"/>
            <a:ext cx="308057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921000"/>
            <a:ext cx="20593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921000"/>
            <a:ext cx="308057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606800"/>
            <a:ext cx="20593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606800"/>
            <a:ext cx="3080579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597400"/>
            <a:ext cx="20593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597400"/>
            <a:ext cx="308057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Целевая и максимальная доза: 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сутки, независимо от приёма пищи.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1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 (перевод с узбекского): разделы «Показания», «Способ применения и дозы», «Противопоказания».</a:t>
            </a:r>
            <a:endParaRPr lang="ru-RU" sz="800" b="0" dirty="0"/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6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фильтрации; CYP3A4: изофермент цитохрома P450.</a:t>
            </a:r>
            <a:endParaRPr lang="ru-RU" sz="1000" b="0" dirty="0"/>
          </a:p>
        </p:txBody>
      </p:sp>
      <p:sp>
        <p:nvSpPr>
          <p:cNvPr id="38" name="Полоса_показание"/>
          <p:cNvSpPr/>
          <p:nvPr/>
        </p:nvSpPr>
        <p:spPr>
          <a:xfrm>
            <a:off x="457200" y="965200"/>
            <a:ext cx="1524000" cy="3302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Показание</a:t>
            </a:r>
          </a:p>
        </p:txBody>
      </p:sp>
      <p:sp>
        <p:nvSpPr>
          <p:cNvPr id="39" name="Условия_старта"/>
          <p:cNvSpPr txBox="1"/>
          <p:nvPr/>
        </p:nvSpPr>
        <p:spPr>
          <a:xfrm>
            <a:off x="457200" y="5257800"/>
            <a:ext cx="53848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Условия старта: 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рСКФ ≥25 и нет противопоказаний.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Калий и рСКФ проверяют до первой дозы, через 4 недели и далее периодически</a:t>
            </a:r>
            <a:endParaRPr lang="ru-RU" sz="2000" b="0" dirty="0"/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524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438400"/>
            <a:ext cx="3200400" cy="990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524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438400"/>
            <a:ext cx="3200400" cy="990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После начала или возобновления лечения и после повышения дозы повторно определяют калий сыворотки и рассчитывают рСКФ.</a:t>
            </a:r>
            <a:endParaRPr lang="ru-RU" sz="1600"/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Далее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5240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Далее периодически</a:t>
            </a:r>
            <a:endParaRPr lang="ru-RU" sz="1700"/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438400"/>
            <a:ext cx="3200400" cy="990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Далее калий контролируют периодически, с учётом уровня калия и особенностей пациента.</a:t>
            </a:r>
            <a:endParaRPr lang="ru-RU" sz="1600"/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wrap="square" lIns="1524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685800" y="4267200"/>
            <a:ext cx="10769600" cy="1066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11800"/>
            <a:ext cx="1117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 калий контролируют так же: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CONFIDENCE сочетание значимо не снижало риск гиперкалиемии.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 Kerendia. Summary of Product Characteristics. Agarwal R, et al. J Am Coll Cardiol. 2026;87:772–784.</a:t>
            </a:r>
            <a:endParaRPr lang="ru-RU" sz="800" b="0" dirty="0"/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5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типа.</a:t>
            </a:r>
            <a:endParaRPr lang="ru-RU" sz="1000" b="0" dirty="0"/>
          </a:p>
        </p:txBody>
      </p:sp>
      <p:sp>
        <p:nvSpPr>
          <p:cNvPr id="26" name="Строка_рСКФ"/>
          <p:cNvSpPr/>
          <p:nvPr/>
        </p:nvSpPr>
        <p:spPr>
          <a:xfrm>
            <a:off x="508000" y="5867400"/>
            <a:ext cx="11176000" cy="330200"/>
          </a:xfrm>
          <a:prstGeom prst="roundRect">
            <a:avLst>
              <a:gd name="adj" fmla="val 3076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50800" bIns="508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первые 4 недели рСКФ может немного снизиться, затем она стабилизируется.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Шаг_36"/>
          <p:cNvSpPr/>
          <p:nvPr/>
        </p:nvSpPr>
        <p:spPr>
          <a:xfrm>
            <a:off x="457200" y="42164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30" name="Шаг_336"/>
          <p:cNvSpPr/>
          <p:nvPr/>
        </p:nvSpPr>
        <p:spPr>
          <a:xfrm>
            <a:off x="4267200" y="42164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31" name="Срочно_рамка"/>
          <p:cNvSpPr/>
          <p:nvPr/>
        </p:nvSpPr>
        <p:spPr>
          <a:xfrm>
            <a:off x="8077200" y="4216400"/>
            <a:ext cx="36576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 w="19050">
            <a:solidFill>
              <a:srgbClr val="E97132"/>
            </a:solidFill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196B24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выбирают по калию: повышают, сохраняют или временно отменяют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на плановом контроле,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400" b="1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400" b="1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400" b="1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Дозу 10 мг повышают до 20 мг один раз в сутки (целевая доза).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 10 или 20 мг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 Повторно определяют калий и уточняют причину повышения.</a:t>
            </a:r>
          </a:p>
        </p:txBody>
      </p:sp>
      <p:sp>
        <p:nvSpPr>
          <p:cNvPr id="35" name="Карточка_исключение"/>
          <p:cNvSpPr/>
          <p:nvPr/>
        </p:nvSpPr>
        <p:spPr>
          <a:xfrm>
            <a:off x="457200" y="3276600"/>
            <a:ext cx="11277600" cy="584200"/>
          </a:xfrm>
          <a:prstGeom prst="roundRect">
            <a:avLst>
              <a:gd name="adj" fmla="val 1666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609600" y="3276600"/>
            <a:ext cx="10972800" cy="5842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609600" y="43434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419600" y="43434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калий и рСКФ проверяют через 4 недели после начала лечения, его возобновления или повышения дозы, далее периодически.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8229600" y="4343400"/>
            <a:ext cx="3352800" cy="1129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Срочно¹:</a:t>
            </a: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калий 6,0 ммоль/л и выше или ухудшение состояния. Врач оценивает пациента сразу, без ожидания планового контроля.</a:t>
            </a:r>
            <a:endParaRPr lang="ru-RU" sz="1600"/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¹ UK Kidney Association. Clinical Practice Guideline: Management of Hyperkalaemia in Adults. Updated July 2026.</a:t>
            </a:r>
            <a:endParaRPr lang="ru-RU" sz="800" b="0" dirty="0"/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2" name="Стрелка_шаг"/>
          <p:cNvSpPr/>
          <p:nvPr/>
        </p:nvSpPr>
        <p:spPr>
          <a:xfrm>
            <a:off x="3987800" y="4730140"/>
            <a:ext cx="228600" cy="355600"/>
          </a:xfrm>
          <a:prstGeom prst="chevron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фильтрации.</a:t>
            </a:r>
            <a:endParaRPr lang="ru-RU" sz="1000" b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финеренона: калий контролируют по простому правилу, острое повреждение почек и серьёзные нежелательные явления сопоставимы с плацебо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FIDELITY: Agarwal R, et al. Eur Heart J. 2022;43:474–484. ¹ Kerendia (finerenone). Summary of Product Characteristics. EMA.</a:t>
            </a:r>
            <a:endParaRPr lang="ru-RU" sz="800" b="0" dirty="0"/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1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фильтрации; МКР: минералокортикоидный рецептор; МП: медицинский представитель; FIDELITY: объединённый анализ исследований FIDELIO-DKD и FIGARO-DKD.</a:t>
            </a:r>
            <a:endParaRPr lang="ru-RU" sz="1000" b="0" dirty="0"/>
          </a:p>
        </p:txBody>
      </p:sp>
      <p:sp>
        <p:nvSpPr>
          <p:cNvPr id="32" name="Плашка_калий"/>
          <p:cNvSpPr/>
          <p:nvPr/>
        </p:nvSpPr>
        <p:spPr>
          <a:xfrm>
            <a:off x="457200" y="1117600"/>
            <a:ext cx="3505200" cy="457200"/>
          </a:xfrm>
          <a:prstGeom prst="roundRect">
            <a:avLst>
              <a:gd name="adj" fmla="val 16666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3" name="Плашка_реакции"/>
          <p:cNvSpPr/>
          <p:nvPr/>
        </p:nvSpPr>
        <p:spPr>
          <a:xfrm>
            <a:off x="4343400" y="1117600"/>
            <a:ext cx="3505200" cy="457200"/>
          </a:xfrm>
          <a:prstGeom prst="roundRect">
            <a:avLst>
              <a:gd name="adj" fmla="val 16666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Другие реакции</a:t>
            </a:r>
          </a:p>
        </p:txBody>
      </p:sp>
      <p:sp>
        <p:nvSpPr>
          <p:cNvPr id="34" name="Плашка_группы"/>
          <p:cNvSpPr/>
          <p:nvPr/>
        </p:nvSpPr>
        <p:spPr>
          <a:xfrm>
            <a:off x="8229600" y="1117600"/>
            <a:ext cx="3505200" cy="457200"/>
          </a:xfrm>
          <a:prstGeom prst="roundRect">
            <a:avLst>
              <a:gd name="adj" fmla="val 16666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Особые группы</a:t>
            </a:r>
          </a:p>
        </p:txBody>
      </p:sp>
      <p:sp>
        <p:nvSpPr>
          <p:cNvPr id="35" name="Карточка_калий"/>
          <p:cNvSpPr/>
          <p:nvPr/>
        </p:nvSpPr>
        <p:spPr>
          <a:xfrm>
            <a:off x="457200" y="1651000"/>
            <a:ext cx="3505200" cy="3759200"/>
          </a:xfrm>
          <a:prstGeom prst="roundRect">
            <a:avLst>
              <a:gd name="adj" fmla="val 289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127000" bIns="127000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 ожидаема при блокаде МКР: 14,0% на финереноне и 6,9% на плацебо (по сообщениям исследователей). Случаев смерти от гиперкалиемии не было.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800" b="1">
                <a:solidFill>
                  <a:srgbClr val="7030A0"/>
                </a:solidFill>
                <a:latin typeface="Arial Narrow"/>
                <a:cs typeface="Arial Narrow"/>
              </a:rPr>
              <a:t>1,7%</a:t>
            </a:r>
            <a:r>
              <a:rPr sz="2800" b="1">
                <a:solidFill>
                  <a:srgbClr val="000000"/>
                </a:solidFill>
                <a:latin typeface="Arial Narrow"/>
                <a:cs typeface="Arial Narrow"/>
              </a:rPr>
              <a:t> и </a:t>
            </a:r>
            <a:r>
              <a:rPr sz="2800" b="1">
                <a:solidFill>
                  <a:srgbClr val="7F7F7F"/>
                </a:solidFill>
                <a:latin typeface="Arial Narrow"/>
                <a:cs typeface="Arial Narrow"/>
              </a:rPr>
              <a:t>0,6%</a:t>
            </a:r>
          </a:p>
          <a:p>
            <a:pPr algn="l">
              <a:lnSpc>
                <a:spcPct val="90000"/>
              </a:lnSpc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гиперкалиемии: финеренон и плацебо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 до начала, через 4 недели, далее периодически.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FIDELITY: 13 026 пациентов, медиана наблюдения 3,0 года.</a:t>
            </a:r>
          </a:p>
        </p:txBody>
      </p:sp>
      <p:sp>
        <p:nvSpPr>
          <p:cNvPr id="36" name="Карточка_реакции"/>
          <p:cNvSpPr/>
          <p:nvPr/>
        </p:nvSpPr>
        <p:spPr>
          <a:xfrm>
            <a:off x="4343400" y="1651000"/>
            <a:ext cx="3505200" cy="3759200"/>
          </a:xfrm>
          <a:prstGeom prst="roundRect">
            <a:avLst>
              <a:gd name="adj" fmla="val 289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127000" bIns="127000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По инструкции: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гипотензия, гипонатриемия.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 FIDELITY острое повреждение почек было у 3,4% на финереноне и у 3,6% на плацебо; серьёзные нежелательные явления у 31,6% и у 33,7%.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Давление: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в FIDELITY через 4 месяца среднее систолическое изменилось на −3,2 мм рт. ст. на финереноне и на +0,5 на плацебо.</a:t>
            </a:r>
          </a:p>
        </p:txBody>
      </p:sp>
      <p:sp>
        <p:nvSpPr>
          <p:cNvPr id="37" name="Карточка_группы"/>
          <p:cNvSpPr/>
          <p:nvPr/>
        </p:nvSpPr>
        <p:spPr>
          <a:xfrm>
            <a:off x="8229600" y="1651000"/>
            <a:ext cx="3505200" cy="3759200"/>
          </a:xfrm>
          <a:prstGeom prst="roundRect">
            <a:avLst>
              <a:gd name="adj" fmla="val 289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127000" bIns="127000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Почки: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начало лечения при рСКФ ≥25 мл/мин/1,73 м²; при рСКФ ниже 15 лечение прекращают¹.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Печень: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при классе C по Чайлд–Пью лечение не начинают; при классе B рассматривают дополнительный контроль калия¹.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Возраст: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пожилым дозу не меняют. До 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Беременность: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применяют только после тщательной оценки пользы для матери и риска для плода¹. Нужна эффективная контрацепция¹. При грудном вскармливании решают: прекратить кормление или лечение¹.</a:t>
            </a:r>
          </a:p>
        </p:txBody>
      </p:sp>
      <p:sp>
        <p:nvSpPr>
          <p:cNvPr id="38" name="Плашка_фармаконадзор"/>
          <p:cNvSpPr/>
          <p:nvPr/>
        </p:nvSpPr>
        <p:spPr>
          <a:xfrm>
            <a:off x="457200" y="5511800"/>
            <a:ext cx="2413000" cy="558800"/>
          </a:xfrm>
          <a:prstGeom prst="roundRect">
            <a:avLst>
              <a:gd name="adj" fmla="val 16666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Фармаконадзор</a:t>
            </a:r>
          </a:p>
        </p:txBody>
      </p:sp>
      <p:sp>
        <p:nvSpPr>
          <p:cNvPr id="39" name="Карточка_фармаконадзор"/>
          <p:cNvSpPr/>
          <p:nvPr/>
        </p:nvSpPr>
        <p:spPr>
          <a:xfrm>
            <a:off x="2946400" y="5511800"/>
            <a:ext cx="8788400" cy="558800"/>
          </a:xfrm>
          <a:prstGeom prst="roundRect">
            <a:avLst>
              <a:gd name="adj" fmla="val 1666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МП передаёт сообщение о нежелательном явлении в фармаконадзор по процедуре компании, не дожидаясь подтверждения связи с препаратом.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У пациента 1 данных для решения о начале лечения достаточно, у пациента 2 их пока не хватает</a:t>
            </a:r>
            <a:endParaRPr lang="ru-RU" sz="2000" b="0" dirty="0"/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¹ KDIGO 2024 Clinical Practice Guideline for the Evaluation and Management of CKD. Kidney Int. 2024;105(4S):S117–S314.</a:t>
            </a:r>
            <a:endParaRPr lang="ru-RU" sz="800" b="0" dirty="0"/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666666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C2F1C8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C2F1C8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месяцев¹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C2F1C8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BE3D6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C2F1C8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C2F1C8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C2F1C8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BE3D6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дозе¹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C2F1C8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BE3D6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C2F1C8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BE3D6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нет данных (список 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196B24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Врач проверяет противопоказания и взаимодействия, может начать лечение в дозе 10 мг один раз в сутки (рСКФ 48). Контроль: калий и рСКФ через 4 недели.</a:t>
            </a:r>
            <a:endParaRPr lang="ru-RU" sz="1400"/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АКО определено один раз, во время инфекции. Врач повторяет АКО после её лечения, подтверждает, что изменения держатся не менее 3 месяцев, определяет калий и уточняет список лекарств.</a:t>
            </a:r>
            <a:endParaRPr lang="ru-RU" sz="1400"/>
          </a:p>
        </p:txBody>
      </p:sp>
      <p:sp>
        <p:nvSpPr>
          <p:cNvPr id="79" name="Сокращения"/>
          <p:cNvSpPr txBox="1"/>
          <p:nvPr/>
        </p:nvSpPr>
        <p:spPr>
          <a:xfrm>
            <a:off x="457200" y="620522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II.</a:t>
            </a:r>
            <a:endParaRPr lang="ru-RU" sz="1000" b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Калий повысился: лечение временно отменяют, повторяют анализ и рассматривают возобновление с 10 мг</a:t>
            </a:r>
            <a:endParaRPr lang="ru-RU" sz="2000" b="0" u="none" dirty="0"/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756400" y="1219200"/>
            <a:ext cx="49784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11111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756400" y="1549400"/>
            <a:ext cx="49784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Врач назначает финеренон 20 мг один раз в сутки (рСКФ ≥60, калий ≤4,8 ммоль/л).</a:t>
            </a:r>
            <a:endParaRPr lang="ru-RU" sz="1600"/>
          </a:p>
        </p:txBody>
      </p:sp>
      <p:sp>
        <p:nvSpPr>
          <p:cNvPr id="7" name="Шаг_170"/>
          <p:cNvSpPr txBox="1"/>
          <p:nvPr/>
        </p:nvSpPr>
        <p:spPr>
          <a:xfrm>
            <a:off x="6756400" y="2235200"/>
            <a:ext cx="49784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11111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756400" y="2565400"/>
            <a:ext cx="4978400" cy="812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Возможная причина: недавний курс ко-тримоксазола.</a:t>
            </a:r>
            <a:endParaRPr lang="ru-RU" sz="16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Врач временно отменяет финеренон, выясняет причину и повторяет анализ.</a:t>
            </a:r>
            <a:endParaRPr lang="ru-RU" sz="1600"/>
          </a:p>
        </p:txBody>
      </p:sp>
      <p:sp>
        <p:nvSpPr>
          <p:cNvPr id="9" name="Шаг_270"/>
          <p:cNvSpPr txBox="1"/>
          <p:nvPr/>
        </p:nvSpPr>
        <p:spPr>
          <a:xfrm>
            <a:off x="6756400" y="3492500"/>
            <a:ext cx="49784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lang="ru-RU" sz="1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Повторный анализ: срок определяет врач</a:t>
            </a:r>
            <a:endParaRPr lang="ru-RU" sz="1700"/>
          </a:p>
        </p:txBody>
      </p:sp>
      <p:sp>
        <p:nvSpPr>
          <p:cNvPr id="10" name="Шаг_текст_270"/>
          <p:cNvSpPr txBox="1"/>
          <p:nvPr/>
        </p:nvSpPr>
        <p:spPr>
          <a:xfrm>
            <a:off x="6756400" y="3822700"/>
            <a:ext cx="49784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Калий 4,9 ммоль/л. Врач может возобновить лечение в дозе 10 мг один раз в сутки.</a:t>
            </a:r>
            <a:endParaRPr lang="ru-RU" sz="1600"/>
          </a:p>
        </p:txBody>
      </p:sp>
      <p:sp>
        <p:nvSpPr>
          <p:cNvPr id="11" name="Шаг_356"/>
          <p:cNvSpPr txBox="1"/>
          <p:nvPr/>
        </p:nvSpPr>
        <p:spPr>
          <a:xfrm>
            <a:off x="6756400" y="4508500"/>
            <a:ext cx="49784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111111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756400" y="4838700"/>
            <a:ext cx="49784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и снижение рСКФ не более чем на 30% от предыдущего измерения: дозу повышают до 20 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537200"/>
            <a:ext cx="53848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Срочно¹:</a:t>
            </a: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 xml:space="preserve"> калий 6,0 ммоль/л и выше или ухудшение состояния. Врач оценивает пациента сразу.</a:t>
            </a:r>
            <a:endParaRPr lang="ru-RU" sz="1600"/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¹ UK Kidney Association. Clinical Practice Guideline: Management of Hyperkalaemia in Adults. Updated July 2026.</a:t>
            </a:r>
            <a:endParaRPr lang="ru-RU" sz="800" b="0" dirty="0"/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18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  <a:endParaRPr lang="ru-RU" sz="1000" b="0" dirty="0"/>
          </a:p>
        </p:txBody>
      </p:sp>
      <p:sp>
        <p:nvSpPr>
          <p:cNvPr id="19" name="Маркер_шага_1"/>
          <p:cNvSpPr/>
          <p:nvPr/>
        </p:nvSpPr>
        <p:spPr>
          <a:xfrm>
            <a:off x="6350000" y="1219200"/>
            <a:ext cx="304800" cy="304800"/>
          </a:xfrm>
          <a:prstGeom prst="ellipse">
            <a:avLst/>
          </a:prstGeom>
          <a:solidFill>
            <a:srgbClr val="196B2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1</a:t>
            </a:r>
          </a:p>
        </p:txBody>
      </p:sp>
      <p:sp>
        <p:nvSpPr>
          <p:cNvPr id="20" name="Маркер_шага_2"/>
          <p:cNvSpPr/>
          <p:nvPr/>
        </p:nvSpPr>
        <p:spPr>
          <a:xfrm>
            <a:off x="6350000" y="2235200"/>
            <a:ext cx="304800" cy="30480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2</a:t>
            </a:r>
          </a:p>
        </p:txBody>
      </p:sp>
      <p:sp>
        <p:nvSpPr>
          <p:cNvPr id="21" name="Маркер_шага_3"/>
          <p:cNvSpPr/>
          <p:nvPr/>
        </p:nvSpPr>
        <p:spPr>
          <a:xfrm>
            <a:off x="6350000" y="3492500"/>
            <a:ext cx="304800" cy="304800"/>
          </a:xfrm>
          <a:prstGeom prst="ellipse">
            <a:avLst/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3</a:t>
            </a:r>
          </a:p>
        </p:txBody>
      </p:sp>
      <p:sp>
        <p:nvSpPr>
          <p:cNvPr id="22" name="Маркер_шага_4"/>
          <p:cNvSpPr/>
          <p:nvPr/>
        </p:nvSpPr>
        <p:spPr>
          <a:xfrm>
            <a:off x="6350000" y="4508500"/>
            <a:ext cx="304800" cy="304800"/>
          </a:xfrm>
          <a:prstGeom prst="ellipse">
            <a:avLst/>
          </a:prstGeom>
          <a:solidFill>
            <a:srgbClr val="196B2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Карточка_вопрос_1"/>
          <p:cNvSpPr/>
          <p:nvPr/>
        </p:nvSpPr>
        <p:spPr>
          <a:xfrm>
            <a:off x="457200" y="11430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69" name="Карточка_вопрос_2"/>
          <p:cNvSpPr/>
          <p:nvPr/>
        </p:nvSpPr>
        <p:spPr>
          <a:xfrm>
            <a:off x="457200" y="37592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618261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810799"/>
            <a:ext cx="8382000" cy="5334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Вопрос 1.</a:t>
            </a: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Взрослый с ХБП и диабетом 2 типа: уровень глюкозы в крови и давление в целевом диапазоне</a:t>
            </a:r>
            <a:endParaRPr lang="ru-RU" sz="1800"/>
          </a:p>
        </p:txBody>
      </p:sp>
      <p:sp>
        <p:nvSpPr>
          <p:cNvPr id="35" name="Text_6"/>
          <p:cNvSpPr txBox="1"/>
          <p:nvPr/>
        </p:nvSpPr>
        <p:spPr>
          <a:xfrm>
            <a:off x="3095625" y="23187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405892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44269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Вопрос 2.</a:t>
            </a: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 После начала приёма финеренона повысился уровень калия в крови</a:t>
            </a:r>
            <a:endParaRPr lang="ru-RU" sz="1800"/>
          </a:p>
        </p:txBody>
      </p:sp>
      <p:sp>
        <p:nvSpPr>
          <p:cNvPr id="62" name="Text_9"/>
          <p:cNvSpPr txBox="1"/>
          <p:nvPr/>
        </p:nvSpPr>
        <p:spPr>
          <a:xfrm>
            <a:off x="3095625" y="49349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826739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61848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занятия: ответьте своими словами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578600"/>
            <a:ext cx="10795000" cy="254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ru-RU" sz="800"/>
          </a:p>
        </p:txBody>
      </p:sp>
      <p:sp>
        <p:nvSpPr>
          <p:cNvPr id="70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почек.</a:t>
            </a:r>
            <a:endParaRPr lang="ru-RU" sz="1000" b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ru-RU"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Альбуминурия сохраняется: для разговора о финереноне нужны пять сведений</a:t>
            </a:r>
            <a:endParaRPr lang="ru-RU" sz="2000" b="0" dirty="0"/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5588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lang="ru-RU" sz="17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Вопрос 1.</a:t>
            </a:r>
            <a:r>
              <a:rPr lang="ru-RU" sz="1700" b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 Взрослый с ХБП и сахарным диабетом 2 типа; давление и уровень глюкозы в крови под контролем, альбуминурия сохраняется. Какие данные нужны, чтобы обсудить дополнительное лечение?</a:t>
            </a:r>
            <a:endParaRPr lang="ru-RU" sz="1700"/>
          </a:p>
        </p:txBody>
      </p:sp>
      <p:sp>
        <p:nvSpPr>
          <p:cNvPr id="4" name="Пункт_фон_1"/>
          <p:cNvSpPr/>
          <p:nvPr/>
        </p:nvSpPr>
        <p:spPr>
          <a:xfrm>
            <a:off x="457200" y="1625600"/>
            <a:ext cx="11277600" cy="6604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5" name="Пункт_1"/>
          <p:cNvSpPr txBox="1"/>
          <p:nvPr/>
        </p:nvSpPr>
        <p:spPr>
          <a:xfrm>
            <a:off x="1066800" y="1625600"/>
            <a:ext cx="2590800" cy="660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111111"/>
                </a:solidFill>
                <a:latin typeface="Arial Narrow"/>
                <a:cs typeface="Arial Narrow"/>
              </a:rPr>
              <a:t>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625600"/>
            <a:ext cx="77978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АКО ≥30 мг/г подтверждено повторно, изменения держатся не менее 3 месяцев, временные причины (например, инфекция) исключены¹.</a:t>
            </a:r>
            <a:endParaRPr lang="ru-RU" sz="1600"/>
          </a:p>
        </p:txBody>
      </p:sp>
      <p:sp>
        <p:nvSpPr>
          <p:cNvPr id="7" name="Пункт_фон_2"/>
          <p:cNvSpPr/>
          <p:nvPr/>
        </p:nvSpPr>
        <p:spPr>
          <a:xfrm>
            <a:off x="457200" y="2362200"/>
            <a:ext cx="11277600" cy="6604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8" name="Пункт_2"/>
          <p:cNvSpPr txBox="1"/>
          <p:nvPr/>
        </p:nvSpPr>
        <p:spPr>
          <a:xfrm>
            <a:off x="1066800" y="2362200"/>
            <a:ext cx="2590800" cy="660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111111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362200"/>
            <a:ext cx="77978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 ≥25 мл/мин/1,73 м². Стартовая доза: 20 мг при рСКФ ≥60, 10 мг при рСКФ ≥25 и &lt;60.</a:t>
            </a:r>
            <a:endParaRPr lang="ru-RU" sz="1600"/>
          </a:p>
        </p:txBody>
      </p:sp>
      <p:sp>
        <p:nvSpPr>
          <p:cNvPr id="10" name="Пункт_фон_3"/>
          <p:cNvSpPr/>
          <p:nvPr/>
        </p:nvSpPr>
        <p:spPr>
          <a:xfrm>
            <a:off x="457200" y="3098800"/>
            <a:ext cx="11277600" cy="6604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1" name="Пункт_3"/>
          <p:cNvSpPr txBox="1"/>
          <p:nvPr/>
        </p:nvSpPr>
        <p:spPr>
          <a:xfrm>
            <a:off x="1066800" y="3098800"/>
            <a:ext cx="2590800" cy="660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111111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098800"/>
            <a:ext cx="77978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Калий ≤4,8 ммоль/л: начать можно. &gt;4,8 и ≤5,0: начало с дополнительным контролем калия в первые 4 недели. &gt;5,0: не начинают.</a:t>
            </a:r>
            <a:endParaRPr lang="ru-RU" sz="1600"/>
          </a:p>
        </p:txBody>
      </p:sp>
      <p:sp>
        <p:nvSpPr>
          <p:cNvPr id="13" name="Пункт_фон_4"/>
          <p:cNvSpPr/>
          <p:nvPr/>
        </p:nvSpPr>
        <p:spPr>
          <a:xfrm>
            <a:off x="457200" y="3835400"/>
            <a:ext cx="11277600" cy="6604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4" name="Пункт_4"/>
          <p:cNvSpPr txBox="1"/>
          <p:nvPr/>
        </p:nvSpPr>
        <p:spPr>
          <a:xfrm>
            <a:off x="1066800" y="3835400"/>
            <a:ext cx="2590800" cy="660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111111"/>
                </a:solidFill>
                <a:latin typeface="Arial Narrow"/>
                <a:cs typeface="Arial Narrow"/>
              </a:rPr>
              <a:t>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835400"/>
            <a:ext cx="7797800" cy="660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Ингибитор АПФ или БРА в максимально переносимой дозе: так лечили пациентов в FIDELIO-DKD и FIGARO-DKD². Уточнить приём ингибитора НГЛТ2 и полный список лекарств.</a:t>
            </a:r>
            <a:endParaRPr lang="ru-RU" sz="1600"/>
          </a:p>
        </p:txBody>
      </p:sp>
      <p:sp>
        <p:nvSpPr>
          <p:cNvPr id="16" name="Пункт_фон_5"/>
          <p:cNvSpPr/>
          <p:nvPr/>
        </p:nvSpPr>
        <p:spPr>
          <a:xfrm>
            <a:off x="457200" y="4572000"/>
            <a:ext cx="11277600" cy="6604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7" name="Пункт_5"/>
          <p:cNvSpPr txBox="1"/>
          <p:nvPr/>
        </p:nvSpPr>
        <p:spPr>
          <a:xfrm>
            <a:off x="1066800" y="4572000"/>
            <a:ext cx="2590800" cy="660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0000"/>
              </a:lnSpc>
            </a:pPr>
            <a:r>
              <a:rPr lang="ru-RU" sz="16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Противопоказания</a:t>
            </a:r>
            <a:endParaRPr lang="ru-RU" sz="1600"/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572000"/>
            <a:ext cx="77978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Противопоказания: гиперчувствительность, болезнь Аддисона, сильные ингибиторы CYP3A4. Не назначают вместе со спиронолактоном, эплереноном и калийсберегающими диуретиками.</a:t>
            </a:r>
            <a:endParaRPr lang="ru-RU" sz="1600"/>
          </a:p>
        </p:txBody>
      </p:sp>
      <p:sp>
        <p:nvSpPr>
          <p:cNvPr id="19" name="Итог"/>
          <p:cNvSpPr txBox="1"/>
          <p:nvPr/>
        </p:nvSpPr>
        <p:spPr>
          <a:xfrm>
            <a:off x="457200" y="5384800"/>
            <a:ext cx="112776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¹ KDIGO 2024 Clinical Practice Guideline for the Evaluation and Management of CKD. Kidney Int. 2024;105(4S):S117–S314. ² Bakris GL, et al. N Engl J Med. 2020;383:2219–2229; Pitt B, et al. N Engl J Med. 2021;385:2252–2263.</a:t>
            </a:r>
            <a:endParaRPr lang="ru-RU" sz="800" b="0" dirty="0"/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22" name="Сокращения"/>
          <p:cNvSpPr txBox="1"/>
          <p:nvPr/>
        </p:nvSpPr>
        <p:spPr>
          <a:xfrm>
            <a:off x="457200" y="620522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НГЛТ2: натрий-глюкозный котранспортёр 2 типа; CYP3A4: изофермент цитохрома P450 3A4.</a:t>
            </a:r>
            <a:endParaRPr lang="ru-RU" sz="1000" b="0" dirty="0"/>
          </a:p>
        </p:txBody>
      </p:sp>
      <p:sp>
        <p:nvSpPr>
          <p:cNvPr id="23" name="Номер_1"/>
          <p:cNvSpPr/>
          <p:nvPr/>
        </p:nvSpPr>
        <p:spPr>
          <a:xfrm>
            <a:off x="584200" y="1778000"/>
            <a:ext cx="355600" cy="355600"/>
          </a:xfrm>
          <a:prstGeom prst="roundRect">
            <a:avLst>
              <a:gd name="adj" fmla="val 14285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1</a:t>
            </a:r>
          </a:p>
        </p:txBody>
      </p:sp>
      <p:sp>
        <p:nvSpPr>
          <p:cNvPr id="24" name="Номер_2"/>
          <p:cNvSpPr/>
          <p:nvPr/>
        </p:nvSpPr>
        <p:spPr>
          <a:xfrm>
            <a:off x="584200" y="2514600"/>
            <a:ext cx="355600" cy="355600"/>
          </a:xfrm>
          <a:prstGeom prst="roundRect">
            <a:avLst>
              <a:gd name="adj" fmla="val 14285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2</a:t>
            </a:r>
          </a:p>
        </p:txBody>
      </p:sp>
      <p:sp>
        <p:nvSpPr>
          <p:cNvPr id="25" name="Номер_3"/>
          <p:cNvSpPr/>
          <p:nvPr/>
        </p:nvSpPr>
        <p:spPr>
          <a:xfrm>
            <a:off x="584200" y="3251200"/>
            <a:ext cx="355600" cy="355600"/>
          </a:xfrm>
          <a:prstGeom prst="roundRect">
            <a:avLst>
              <a:gd name="adj" fmla="val 14285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3</a:t>
            </a:r>
          </a:p>
        </p:txBody>
      </p:sp>
      <p:sp>
        <p:nvSpPr>
          <p:cNvPr id="26" name="Номер_4"/>
          <p:cNvSpPr/>
          <p:nvPr/>
        </p:nvSpPr>
        <p:spPr>
          <a:xfrm>
            <a:off x="584200" y="3987800"/>
            <a:ext cx="355600" cy="355600"/>
          </a:xfrm>
          <a:prstGeom prst="roundRect">
            <a:avLst>
              <a:gd name="adj" fmla="val 14285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4</a:t>
            </a:r>
          </a:p>
        </p:txBody>
      </p:sp>
      <p:sp>
        <p:nvSpPr>
          <p:cNvPr id="27" name="Номер_5"/>
          <p:cNvSpPr/>
          <p:nvPr/>
        </p:nvSpPr>
        <p:spPr>
          <a:xfrm>
            <a:off x="584200" y="4724400"/>
            <a:ext cx="355600" cy="355600"/>
          </a:xfrm>
          <a:prstGeom prst="roundRect">
            <a:avLst>
              <a:gd name="adj" fmla="val 14285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Калий выше 5,5: финеренон временно отменяют, повторяют анализ и рассматривают возобновление с 10 мг</a:t>
            </a:r>
            <a:endParaRPr lang="ru-RU" sz="2000"/>
          </a:p>
        </p:txBody>
      </p:sp>
      <p:sp>
        <p:nvSpPr>
          <p:cNvPr id="19" name="Итог"/>
          <p:cNvSpPr txBox="1"/>
          <p:nvPr/>
        </p:nvSpPr>
        <p:spPr>
          <a:xfrm>
            <a:off x="457200" y="538480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Решение принимает врач.</a:t>
            </a:r>
            <a:endParaRPr lang="ru-RU" sz="1500"/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FIDELITY: Agarwal R, et al. Eur Heart J. 2022;43:474–484.</a:t>
            </a:r>
            <a:endParaRPr lang="ru-RU" sz="800" b="0" dirty="0"/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4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рСКФ: расчётная скорость клубочковой фильтрации; FIDELITY: объединённый анализ исследований FIDELIO-DKD и FIGARO-DKD.</a:t>
            </a:r>
            <a:endParaRPr lang="ru-RU" sz="1000" b="0" dirty="0"/>
          </a:p>
        </p:txBody>
      </p:sp>
      <p:sp>
        <p:nvSpPr>
          <p:cNvPr id="45" name="Плашка_вопрос_2"/>
          <p:cNvSpPr/>
          <p:nvPr/>
        </p:nvSpPr>
        <p:spPr>
          <a:xfrm>
            <a:off x="457200" y="1016000"/>
            <a:ext cx="11277600" cy="609600"/>
          </a:xfrm>
          <a:prstGeom prst="roundRect">
            <a:avLst>
              <a:gd name="adj" fmla="val 16666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FFFFFF"/>
                </a:solidFill>
                <a:latin typeface="Arial Narrow"/>
                <a:cs typeface="Arial Narrow"/>
              </a:rPr>
              <a:t>Вопрос 2.</a:t>
            </a: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 После начала приёма финеренона повысился калий. Всегда ли нужна окончательная отмена? Когда можно возобновить лечение?</a:t>
            </a:r>
          </a:p>
        </p:txBody>
      </p:sp>
      <p:sp>
        <p:nvSpPr>
          <p:cNvPr id="46" name="Шаг_1"/>
          <p:cNvSpPr/>
          <p:nvPr/>
        </p:nvSpPr>
        <p:spPr>
          <a:xfrm>
            <a:off x="457200" y="1828800"/>
            <a:ext cx="2476500" cy="2286000"/>
          </a:xfrm>
          <a:prstGeom prst="roundRect">
            <a:avLst>
              <a:gd name="adj" fmla="val 4444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52400" rIns="152400" tIns="127000" bIns="1270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При плановом контроле калий выше 5,5 ммоль/л</a:t>
            </a:r>
          </a:p>
        </p:txBody>
      </p:sp>
      <p:sp>
        <p:nvSpPr>
          <p:cNvPr id="47" name="Шаг_2"/>
          <p:cNvSpPr/>
          <p:nvPr/>
        </p:nvSpPr>
        <p:spPr>
          <a:xfrm>
            <a:off x="3390900" y="1828800"/>
            <a:ext cx="2476500" cy="2286000"/>
          </a:xfrm>
          <a:prstGeom prst="roundRect">
            <a:avLst>
              <a:gd name="adj" fmla="val 4444"/>
            </a:avLst>
          </a:prstGeom>
          <a:solidFill>
            <a:srgbClr val="666666"/>
          </a:solidFill>
          <a:ln>
            <a:noFill/>
          </a:ln>
          <a:effectLst/>
        </p:spPr>
        <p:txBody>
          <a:bodyPr rtlCol="0" anchor="ctr" wrap="square" lIns="152400" rIns="152400" tIns="127000" bIns="1270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 временно отменяют, врач выясняет причину и повторяет анализ калия</a:t>
            </a:r>
          </a:p>
        </p:txBody>
      </p:sp>
      <p:sp>
        <p:nvSpPr>
          <p:cNvPr id="48" name="Шаг_3"/>
          <p:cNvSpPr/>
          <p:nvPr/>
        </p:nvSpPr>
        <p:spPr>
          <a:xfrm>
            <a:off x="6324600" y="1828800"/>
            <a:ext cx="2476500" cy="2286000"/>
          </a:xfrm>
          <a:prstGeom prst="roundRect">
            <a:avLst>
              <a:gd name="adj" fmla="val 4444"/>
            </a:avLst>
          </a:prstGeom>
          <a:solidFill>
            <a:srgbClr val="196B24"/>
          </a:solidFill>
          <a:ln>
            <a:noFill/>
          </a:ln>
          <a:effectLst/>
        </p:spPr>
        <p:txBody>
          <a:bodyPr rtlCol="0" anchor="ctr" wrap="square" lIns="152400" rIns="152400" tIns="127000" bIns="1270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Калий 5,0 ммоль/л и ниже: врач может возобновить лечение в дозе 10 мг один раз в сутки</a:t>
            </a:r>
          </a:p>
        </p:txBody>
      </p:sp>
      <p:sp>
        <p:nvSpPr>
          <p:cNvPr id="49" name="Шаг_4"/>
          <p:cNvSpPr/>
          <p:nvPr/>
        </p:nvSpPr>
        <p:spPr>
          <a:xfrm>
            <a:off x="9258300" y="1828800"/>
            <a:ext cx="2476500" cy="228600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127000" bIns="1270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≤4,8 и снижение рСКФ не более 30% от предыдущего измерения. Тогда дозу повышают до 20 мг.</a:t>
            </a:r>
          </a:p>
        </p:txBody>
      </p:sp>
      <p:sp>
        <p:nvSpPr>
          <p:cNvPr id="50" name="Шеврон_1"/>
          <p:cNvSpPr/>
          <p:nvPr/>
        </p:nvSpPr>
        <p:spPr>
          <a:xfrm>
            <a:off x="3009900" y="2717800"/>
            <a:ext cx="304800" cy="5080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Шеврон_2"/>
          <p:cNvSpPr/>
          <p:nvPr/>
        </p:nvSpPr>
        <p:spPr>
          <a:xfrm>
            <a:off x="5943600" y="2717800"/>
            <a:ext cx="304800" cy="5080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Шеврон_3"/>
          <p:cNvSpPr/>
          <p:nvPr/>
        </p:nvSpPr>
        <p:spPr>
          <a:xfrm>
            <a:off x="8877300" y="2717800"/>
            <a:ext cx="304800" cy="5080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Карточка_FIDELITY"/>
          <p:cNvSpPr/>
          <p:nvPr/>
        </p:nvSpPr>
        <p:spPr>
          <a:xfrm>
            <a:off x="457200" y="4368800"/>
            <a:ext cx="11277600" cy="812800"/>
          </a:xfrm>
          <a:prstGeom prst="roundRect">
            <a:avLst>
              <a:gd name="adj" fmla="val 125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76200" bIns="76200"/>
          <a:lstStyle/>
          <a:p>
            <a:pPr algn="l">
              <a:lnSpc>
                <a:spcPct val="90000"/>
              </a:lnSpc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 FIDELITY из-за гиперкалиемии лечение окончательно отменили у </a:t>
            </a: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1,7%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пациентов на финереноне и у </a:t>
            </a:r>
            <a:r>
              <a:rPr sz="1800" b="1">
                <a:solidFill>
                  <a:srgbClr val="7F7F7F"/>
                </a:solidFill>
                <a:latin typeface="Arial Narrow"/>
                <a:cs typeface="Arial Narrow"/>
              </a:rPr>
              <a:t>0,6%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на плацебо (13 026 пациентов, медиана наблюдения 3,0 года).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Карточка_6"/>
          <p:cNvSpPr/>
          <p:nvPr/>
        </p:nvSpPr>
        <p:spPr>
          <a:xfrm>
            <a:off x="6248400" y="4216400"/>
            <a:ext cx="54864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Карточка_5"/>
          <p:cNvSpPr/>
          <p:nvPr/>
        </p:nvSpPr>
        <p:spPr>
          <a:xfrm>
            <a:off x="457200" y="4216400"/>
            <a:ext cx="54864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Карточка_4"/>
          <p:cNvSpPr/>
          <p:nvPr/>
        </p:nvSpPr>
        <p:spPr>
          <a:xfrm>
            <a:off x="6248400" y="2641600"/>
            <a:ext cx="54864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5" name="Карточка_3"/>
          <p:cNvSpPr/>
          <p:nvPr/>
        </p:nvSpPr>
        <p:spPr>
          <a:xfrm>
            <a:off x="457200" y="2641600"/>
            <a:ext cx="54864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4" name="Карточка_2"/>
          <p:cNvSpPr/>
          <p:nvPr/>
        </p:nvSpPr>
        <p:spPr>
          <a:xfrm>
            <a:off x="6248400" y="1066800"/>
            <a:ext cx="54864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3" name="Карточка_1"/>
          <p:cNvSpPr/>
          <p:nvPr/>
        </p:nvSpPr>
        <p:spPr>
          <a:xfrm>
            <a:off x="457200" y="1066800"/>
            <a:ext cx="54864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Шесть вопросов для самопроверки: что вы ответите врачу</a:t>
            </a:r>
            <a:endParaRPr lang="ru-RU" sz="2000"/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0" name="Тема 1"/>
          <p:cNvSpPr txBox="1"/>
          <p:nvPr/>
        </p:nvSpPr>
        <p:spPr>
          <a:xfrm>
            <a:off x="609600" y="1193800"/>
            <a:ext cx="51816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1. Механизм</a:t>
            </a:r>
            <a:endParaRPr lang="ru-RU" sz="1800"/>
          </a:p>
        </p:txBody>
      </p:sp>
      <p:sp>
        <p:nvSpPr>
          <p:cNvPr id="31" name="Вопрос 1"/>
          <p:cNvSpPr txBox="1"/>
          <p:nvPr/>
        </p:nvSpPr>
        <p:spPr>
          <a:xfrm>
            <a:off x="609600" y="1549400"/>
            <a:ext cx="51816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Объясните врачу за 30 секунд, как блокада МКР защищает почки и сердце.</a:t>
            </a:r>
            <a:endParaRPr lang="ru-RU" sz="1800"/>
          </a:p>
        </p:txBody>
      </p:sp>
      <p:sp>
        <p:nvSpPr>
          <p:cNvPr id="32" name="Тема 2"/>
          <p:cNvSpPr txBox="1"/>
          <p:nvPr/>
        </p:nvSpPr>
        <p:spPr>
          <a:xfrm>
            <a:off x="6400800" y="1193800"/>
            <a:ext cx="51816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2. Доказательства</a:t>
            </a:r>
            <a:endParaRPr lang="ru-RU" sz="1800"/>
          </a:p>
        </p:txBody>
      </p:sp>
      <p:sp>
        <p:nvSpPr>
          <p:cNvPr id="33" name="Вопрос 2"/>
          <p:cNvSpPr txBox="1"/>
          <p:nvPr/>
        </p:nvSpPr>
        <p:spPr>
          <a:xfrm>
            <a:off x="6400800" y="1549400"/>
            <a:ext cx="51816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Что показали FIDELIO-DKD и FIGARO-DKD? Какие результаты вы назовёте врачу?</a:t>
            </a:r>
            <a:endParaRPr lang="ru-RU" sz="1800"/>
          </a:p>
        </p:txBody>
      </p:sp>
      <p:sp>
        <p:nvSpPr>
          <p:cNvPr id="34" name="Тема 3"/>
          <p:cNvSpPr txBox="1"/>
          <p:nvPr/>
        </p:nvSpPr>
        <p:spPr>
          <a:xfrm>
            <a:off x="609600" y="2768600"/>
            <a:ext cx="51816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3. Кого искать</a:t>
            </a:r>
            <a:endParaRPr lang="ru-RU" sz="1800"/>
          </a:p>
        </p:txBody>
      </p:sp>
      <p:sp>
        <p:nvSpPr>
          <p:cNvPr id="35" name="Вопрос 3"/>
          <p:cNvSpPr txBox="1"/>
          <p:nvPr/>
        </p:nvSpPr>
        <p:spPr>
          <a:xfrm>
            <a:off x="609600" y="3124200"/>
            <a:ext cx="51816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У каких пациентов с ХБП и диабетом 2 типа вы предложите врачу обсудить финеренон? Какие данные нужны для начала лечения?</a:t>
            </a:r>
            <a:endParaRPr lang="ru-RU" sz="1800"/>
          </a:p>
        </p:txBody>
      </p:sp>
      <p:sp>
        <p:nvSpPr>
          <p:cNvPr id="36" name="Тема 4"/>
          <p:cNvSpPr txBox="1"/>
          <p:nvPr/>
        </p:nvSpPr>
        <p:spPr>
          <a:xfrm>
            <a:off x="6400800" y="2768600"/>
            <a:ext cx="51816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4. Калий</a:t>
            </a:r>
            <a:endParaRPr lang="ru-RU" sz="1800"/>
          </a:p>
        </p:txBody>
      </p:sp>
      <p:sp>
        <p:nvSpPr>
          <p:cNvPr id="37" name="Вопрос 4"/>
          <p:cNvSpPr txBox="1"/>
          <p:nvPr/>
        </p:nvSpPr>
        <p:spPr>
          <a:xfrm>
            <a:off x="6400800" y="3124200"/>
            <a:ext cx="51816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Когда дозу повышают, сохраняют и временно отменяют? Как ответить на слова «я боюсь гиперкалиемии»?</a:t>
            </a:r>
            <a:endParaRPr lang="ru-RU" sz="1800"/>
          </a:p>
        </p:txBody>
      </p:sp>
      <p:sp>
        <p:nvSpPr>
          <p:cNvPr id="38" name="Тема 5"/>
          <p:cNvSpPr txBox="1"/>
          <p:nvPr/>
        </p:nvSpPr>
        <p:spPr>
          <a:xfrm>
            <a:off x="609600" y="4343400"/>
            <a:ext cx="51816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5. Место в лечении</a:t>
            </a:r>
            <a:endParaRPr lang="ru-RU" sz="1800"/>
          </a:p>
        </p:txBody>
      </p:sp>
      <p:sp>
        <p:nvSpPr>
          <p:cNvPr id="39" name="Вопрос 5"/>
          <p:cNvSpPr txBox="1"/>
          <p:nvPr/>
        </p:nvSpPr>
        <p:spPr>
          <a:xfrm>
            <a:off x="609600" y="4699000"/>
            <a:ext cx="51816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Чем финеренон отличается от спиронолактона и эплеренона? Как он сочетается с ингибиторами НГЛТ2?</a:t>
            </a:r>
            <a:endParaRPr lang="ru-RU" sz="1800"/>
          </a:p>
        </p:txBody>
      </p:sp>
      <p:sp>
        <p:nvSpPr>
          <p:cNvPr id="40" name="Тема 6"/>
          <p:cNvSpPr txBox="1"/>
          <p:nvPr/>
        </p:nvSpPr>
        <p:spPr>
          <a:xfrm>
            <a:off x="6400800" y="4343400"/>
            <a:ext cx="51816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6. Границы и безопасность</a:t>
            </a:r>
            <a:endParaRPr lang="ru-RU" sz="1800"/>
          </a:p>
        </p:txBody>
      </p:sp>
      <p:sp>
        <p:nvSpPr>
          <p:cNvPr id="41" name="Вопрос 6"/>
          <p:cNvSpPr txBox="1"/>
          <p:nvPr/>
        </p:nvSpPr>
        <p:spPr>
          <a:xfrm>
            <a:off x="6400800" y="4699000"/>
            <a:ext cx="51816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Как ответить на вопрос о применении вне зарегистрированного показания? Что делать, если врач сообщит о нежелательном явлении?</a:t>
            </a:r>
            <a:endParaRPr lang="ru-RU" sz="1800"/>
          </a:p>
        </p:txBody>
      </p:sp>
      <p:sp>
        <p:nvSpPr>
          <p:cNvPr id="42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МКР: минералокортикоидный рецептор; НГЛТ2: натрий-глюкозный котранспортёр 2 типа.</a:t>
            </a:r>
            <a:endParaRPr lang="ru-RU" sz="1000" b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Финеренон снижает риск почечных и сердечно-сосудистых исходов у взрослых с ХБП и диабетом 2 типа; контроль калия сводится к простому правилу</a:t>
            </a:r>
            <a:endParaRPr lang="ru-RU" sz="2000">
              <a:latin typeface="Arial Narrow"/>
              <a:cs typeface="Arial Narrow"/>
            </a:endParaRP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Bakris GL, et al. N Engl J Med. 2020;383:2219–2229. Pitt B, et al. N Engl J Med. 2021;385:2252–2263. Agarwal R, et al. Eur Heart J. 2022;43:474–484.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</a:t>
            </a:r>
            <a:endParaRPr lang="ru-RU" sz="800" b="0" dirty="0"/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56" name="Сокращения"/>
          <p:cNvSpPr txBox="1"/>
          <p:nvPr/>
        </p:nvSpPr>
        <p:spPr>
          <a:xfrm>
            <a:off x="457200" y="620522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СН: сердечная недостаточность; АПФ: ангиотензинпревращающий фермент; БРА: блокатор рецепторов ангиотензина II; ОР: отношение рисков.</a:t>
            </a:r>
            <a:endParaRPr lang="ru-RU" sz="1000" b="0" dirty="0"/>
          </a:p>
        </p:txBody>
      </p:sp>
      <p:sp>
        <p:nvSpPr>
          <p:cNvPr id="57" name="Плашка_Кого искать"/>
          <p:cNvSpPr/>
          <p:nvPr/>
        </p:nvSpPr>
        <p:spPr>
          <a:xfrm>
            <a:off x="45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Кого искать</a:t>
            </a:r>
          </a:p>
        </p:txBody>
      </p:sp>
      <p:sp>
        <p:nvSpPr>
          <p:cNvPr id="58" name="Карточка_Кого искать"/>
          <p:cNvSpPr/>
          <p:nvPr/>
        </p:nvSpPr>
        <p:spPr>
          <a:xfrm>
            <a:off x="457200" y="1485900"/>
            <a:ext cx="3657600" cy="3263900"/>
          </a:xfrm>
          <a:prstGeom prst="roundRect">
            <a:avLst>
              <a:gd name="adj" fmla="val 311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63500" bIns="63500"/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Взрослые с ХБП, связанной с диабетом 2 типа.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Показание: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снижение риска устойчивого снижения скорости клубочковой фильтрации, терминальной стадии болезни почек, смерти от осложнений сердечно-сосудистых заболеваний, нефатального инфаркта миокарда и госпитализации по поводу СН.</a:t>
            </a:r>
          </a:p>
          <a:p>
            <a:pPr algn="l">
              <a:lnSpc>
                <a:spcPct val="95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В исследованиях: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альбуминурия (АКО от 30 мг/г) на ингибиторе АПФ или БРА в максимально переносимой дозе.</a:t>
            </a:r>
          </a:p>
        </p:txBody>
      </p:sp>
      <p:sp>
        <p:nvSpPr>
          <p:cNvPr id="59" name="Плашка_Что доказано"/>
          <p:cNvSpPr/>
          <p:nvPr/>
        </p:nvSpPr>
        <p:spPr>
          <a:xfrm>
            <a:off x="426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Что доказано</a:t>
            </a:r>
          </a:p>
        </p:txBody>
      </p:sp>
      <p:sp>
        <p:nvSpPr>
          <p:cNvPr id="60" name="Карточка_Что доказано"/>
          <p:cNvSpPr/>
          <p:nvPr/>
        </p:nvSpPr>
        <p:spPr>
          <a:xfrm>
            <a:off x="4267200" y="1485900"/>
            <a:ext cx="3657600" cy="3263900"/>
          </a:xfrm>
          <a:prstGeom prst="roundRect">
            <a:avLst>
              <a:gd name="adj" fmla="val 311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63500" bIns="63500"/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 сравнению с плацебо риск комбинированного почечного исхода ниже на </a:t>
            </a:r>
            <a:r>
              <a:rPr sz="1500" b="1">
                <a:solidFill>
                  <a:srgbClr val="7030A0"/>
                </a:solidFill>
                <a:latin typeface="Arial Narrow"/>
                <a:cs typeface="Arial Narrow"/>
              </a:rPr>
              <a:t>18%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(17,8% против 21,1%; FIDELIO-DKD, медиана 2,6 года), комбинированного сердечно-сосудистого исхода ниже на </a:t>
            </a:r>
            <a:r>
              <a:rPr sz="1500" b="1">
                <a:solidFill>
                  <a:srgbClr val="7030A0"/>
                </a:solidFill>
                <a:latin typeface="Arial Narrow"/>
                <a:cs typeface="Arial Narrow"/>
              </a:rPr>
              <a:t>13%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(12,4% против 14,2%; FIGARO-DKD, медиана 3,4 года).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Госпитализации по поводу СН в FIGARO-DKD: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риск ниже на 29% по сравнению с плацебо (ОР 0,71).</a:t>
            </a:r>
          </a:p>
          <a:p>
            <a:pPr algn="l">
              <a:lnSpc>
                <a:spcPct val="95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FIDELITY, 13 026 пациентов: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ОР 0,86 (сердечно-сосудистый исход) и 0,77 (почечный исход) по сравнению с плацебо.</a:t>
            </a:r>
          </a:p>
        </p:txBody>
      </p:sp>
      <p:sp>
        <p:nvSpPr>
          <p:cNvPr id="61" name="Плашка_Как назначать"/>
          <p:cNvSpPr/>
          <p:nvPr/>
        </p:nvSpPr>
        <p:spPr>
          <a:xfrm>
            <a:off x="807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Как назначать и контролировать</a:t>
            </a:r>
          </a:p>
        </p:txBody>
      </p:sp>
      <p:sp>
        <p:nvSpPr>
          <p:cNvPr id="62" name="Карточка_Как назначать"/>
          <p:cNvSpPr/>
          <p:nvPr/>
        </p:nvSpPr>
        <p:spPr>
          <a:xfrm>
            <a:off x="8077200" y="1485900"/>
            <a:ext cx="3657600" cy="3263900"/>
          </a:xfrm>
          <a:prstGeom prst="roundRect">
            <a:avLst>
              <a:gd name="adj" fmla="val 311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63500" bIns="63500"/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Старт: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 xml:space="preserve"> калий ≤4,8 ммоль/л (&gt;4,8 и ≤5,0 с дополнительным контролем), выше 5,0 не начинают; рСКФ ≥25. Доза 10 или 20 мг по рСКФ, цель 20 мг один раз в сутки.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до начала, через 4 недели после начала, возобновления или повышения дозы, далее периодически.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1,7% против 0,6% на плацебо (FIDELITY).</a:t>
            </a:r>
          </a:p>
          <a:p>
            <a:pPr algn="l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До назначения проверяют противопоказания и взаимодействия.</a:t>
            </a:r>
          </a:p>
        </p:txBody>
      </p:sp>
      <p:sp>
        <p:nvSpPr>
          <p:cNvPr id="63" name="Плашка_Вопрос врачу"/>
          <p:cNvSpPr/>
          <p:nvPr/>
        </p:nvSpPr>
        <p:spPr>
          <a:xfrm>
            <a:off x="457200" y="4927600"/>
            <a:ext cx="112776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Вопрос врачу на визите</a:t>
            </a:r>
          </a:p>
        </p:txBody>
      </p:sp>
      <p:sp>
        <p:nvSpPr>
          <p:cNvPr id="64" name="Карточка_Вопрос врачу"/>
          <p:cNvSpPr/>
          <p:nvPr/>
        </p:nvSpPr>
        <p:spPr>
          <a:xfrm>
            <a:off x="457200" y="5295900"/>
            <a:ext cx="11277600" cy="69850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63500" bIns="63500"/>
          <a:lstStyle/>
          <a:p>
            <a:pPr algn="l">
              <a:lnSpc>
                <a:spcPct val="95000"/>
              </a:lnSpc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У каких ваших пациентов с ХБП и диабетом 2 типа альбуминурия сохраняется, несмотря на ингибитор АПФ или БРА?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Заголовок">
            <a:extLst>
              <a:ext uri="{FF2B5EF4-FFF2-40B4-BE49-F238E27FC236}">
                <a16:creationId xmlns:a16="http://schemas.microsoft.com/office/drawing/2014/main" id="{4952619C-D9E6-4078-B63E-A957242F725D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 algn="l">
              <a:lnSpc>
                <a:spcPct val="95000"/>
              </a:lnSpc>
              <a:defRPr sz="255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Научные данные: другие группы пациентов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86400" y="3022600"/>
            <a:ext cx="1219200" cy="2921000"/>
          </a:xfrm>
          <a:prstGeom prst="rect">
            <a:avLst/>
          </a:prstGeom>
        </p:spPr>
      </p:pic>
      <p:sp>
        <p:nvSpPr>
          <p:cNvPr id="22" name="Источники">
            <a:extLst>
              <a:ext uri="{FF2B5EF4-FFF2-40B4-BE49-F238E27FC236}">
                <a16:creationId xmlns:a16="http://schemas.microsoft.com/office/drawing/2014/main" id="{9E7773F8-C90E-4A93-9317-8E0F5E637C5C}"/>
              </a:ext>
            </a:extLst>
          </p:cNvPr>
          <p:cNvSpPr>
            <a:spLocks noGrp="1"/>
          </p:cNvSpPr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wrap="square" anchor="b">
            <a:noAutofit/>
          </a:bodyPr>
          <a:lstStyle/>
          <a:p>
            <a:pPr>
              <a:defRPr sz="900" b="0">
                <a:solidFill>
                  <a:srgbClr val="66616B"/>
                </a:solidFill>
                <a:latin typeface="Arial Narrow"/>
                <a:ea typeface="Arial Narrow"/>
                <a:cs typeface="Arial Narrow"/>
              </a:defRPr>
            </a:pPr>
            <a:r>
              <a:rPr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Финеренон-Орвилле. Инструкция по медицинскому применению. Статусы регистрации на 03.10.2026: решения регуляторов и сообщения разработчика; источники по каждому исследованию на следующих слайдах.</a:t>
            </a:r>
            <a:endParaRPr sz="800" b="0" dirty="0"/>
          </a:p>
        </p:txBody>
      </p:sp>
      <p:pic>
        <p:nvPicPr>
          <p:cNvPr id="46" name="Рисунок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7" name="Подзаголовок"/>
          <p:cNvSpPr txBox="1"/>
          <p:nvPr/>
        </p:nvSpPr>
        <p:spPr>
          <a:xfrm>
            <a:off x="457200" y="736600"/>
            <a:ext cx="11277600" cy="482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Группы пациентов вне показания Финеренон-Орвилле. Данные нужны, чтобы понять вопрос врача и передать его точно. Материал для обучения МП: врачам не показывать и не передавать.</a:t>
            </a:r>
          </a:p>
        </p:txBody>
      </p:sp>
      <p:sp>
        <p:nvSpPr>
          <p:cNvPr id="48" name="Плашка_Правило для МП"/>
          <p:cNvSpPr/>
          <p:nvPr/>
        </p:nvSpPr>
        <p:spPr>
          <a:xfrm>
            <a:off x="457200" y="1270000"/>
            <a:ext cx="112776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Правило для медицинского представителя</a:t>
            </a:r>
          </a:p>
        </p:txBody>
      </p:sp>
      <p:sp>
        <p:nvSpPr>
          <p:cNvPr id="49" name="Карточка_Правило для МП"/>
          <p:cNvSpPr/>
          <p:nvPr/>
        </p:nvSpPr>
        <p:spPr>
          <a:xfrm>
            <a:off x="457200" y="1663700"/>
            <a:ext cx="11277600" cy="1231900"/>
          </a:xfrm>
          <a:prstGeom prst="roundRect">
            <a:avLst>
              <a:gd name="adj" fmla="val 82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52400" rIns="152400" tIns="63500" bIns="63500"/>
          <a:lstStyle/>
          <a:p/>
        </p:txBody>
      </p:sp>
      <p:sp>
        <p:nvSpPr>
          <p:cNvPr id="50" name="Правило_строка"/>
          <p:cNvSpPr txBox="1"/>
          <p:nvPr/>
        </p:nvSpPr>
        <p:spPr>
          <a:xfrm>
            <a:off x="635000" y="1727200"/>
            <a:ext cx="109220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МП эти темы сам не начинает.</a:t>
            </a:r>
          </a:p>
        </p:txBody>
      </p:sp>
      <p:sp>
        <p:nvSpPr>
          <p:cNvPr id="51" name="Шаг_1"/>
          <p:cNvSpPr/>
          <p:nvPr/>
        </p:nvSpPr>
        <p:spPr>
          <a:xfrm>
            <a:off x="635000" y="2108200"/>
            <a:ext cx="33782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101600" rIns="101600" tIns="38100" bIns="38100"/>
          <a:lstStyle/>
          <a:p>
            <a:pPr algn="ctr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другой группе пациентов</a:t>
            </a:r>
          </a:p>
        </p:txBody>
      </p:sp>
      <p:sp>
        <p:nvSpPr>
          <p:cNvPr id="52" name="Шаг_2"/>
          <p:cNvSpPr/>
          <p:nvPr/>
        </p:nvSpPr>
        <p:spPr>
          <a:xfrm>
            <a:off x="4343400" y="2108200"/>
            <a:ext cx="33782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101600" rIns="101600" tIns="38100" bIns="38100"/>
          <a:lstStyle/>
          <a:p>
            <a:pPr algn="ctr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МП не обсуждает применение и записывает вопрос</a:t>
            </a:r>
          </a:p>
        </p:txBody>
      </p:sp>
      <p:sp>
        <p:nvSpPr>
          <p:cNvPr id="53" name="Шаг_3"/>
          <p:cNvSpPr/>
          <p:nvPr/>
        </p:nvSpPr>
        <p:spPr>
          <a:xfrm>
            <a:off x="8051800" y="2108200"/>
            <a:ext cx="33782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101600" rIns="101600" tIns="38100" bIns="38100"/>
          <a:lstStyle/>
          <a:p>
            <a:pPr algn="ctr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Медицинский отдел или медицинский советник отвечает врачу</a:t>
            </a:r>
          </a:p>
        </p:txBody>
      </p:sp>
      <p:sp>
        <p:nvSpPr>
          <p:cNvPr id="54" name="Шеврон_1"/>
          <p:cNvSpPr/>
          <p:nvPr/>
        </p:nvSpPr>
        <p:spPr>
          <a:xfrm>
            <a:off x="4038600" y="2273300"/>
            <a:ext cx="279400" cy="3810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Шеврон_2"/>
          <p:cNvSpPr/>
          <p:nvPr/>
        </p:nvSpPr>
        <p:spPr>
          <a:xfrm>
            <a:off x="7747000" y="2273300"/>
            <a:ext cx="279400" cy="3810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Плашка_FINEARTS-HF"/>
          <p:cNvSpPr/>
          <p:nvPr/>
        </p:nvSpPr>
        <p:spPr>
          <a:xfrm>
            <a:off x="457200" y="3022600"/>
            <a:ext cx="48768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FINEARTS-HF</a:t>
            </a:r>
          </a:p>
        </p:txBody>
      </p:sp>
      <p:sp>
        <p:nvSpPr>
          <p:cNvPr id="57" name="Карточка_FINEARTS-HF"/>
          <p:cNvSpPr/>
          <p:nvPr/>
        </p:nvSpPr>
        <p:spPr>
          <a:xfrm>
            <a:off x="457200" y="3390900"/>
            <a:ext cx="4876800" cy="1028700"/>
          </a:xfrm>
          <a:prstGeom prst="roundRect">
            <a:avLst>
              <a:gd name="adj" fmla="val 987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63500" bIns="63500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ФВ ЛЖ ≥40%, 6001 пациент. Зарегистрировано, включая США и Евросоюз; Япония и Великобритания: по сообщениям разработчика.</a:t>
            </a:r>
          </a:p>
        </p:txBody>
      </p:sp>
      <p:sp>
        <p:nvSpPr>
          <p:cNvPr id="58" name="Плашка_FINE-ONE"/>
          <p:cNvSpPr/>
          <p:nvPr/>
        </p:nvSpPr>
        <p:spPr>
          <a:xfrm>
            <a:off x="6858000" y="3022600"/>
            <a:ext cx="48768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FINE-ONE</a:t>
            </a:r>
          </a:p>
        </p:txBody>
      </p:sp>
      <p:sp>
        <p:nvSpPr>
          <p:cNvPr id="59" name="Карточка_FINE-ONE"/>
          <p:cNvSpPr/>
          <p:nvPr/>
        </p:nvSpPr>
        <p:spPr>
          <a:xfrm>
            <a:off x="6858000" y="3390900"/>
            <a:ext cx="4876800" cy="1028700"/>
          </a:xfrm>
          <a:prstGeom prst="roundRect">
            <a:avLst>
              <a:gd name="adj" fmla="val 987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63500" bIns="63500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ХБП при диабете 1 типа, 242 пациента. Зарегистрировано в США (16.09.2026).</a:t>
            </a:r>
          </a:p>
        </p:txBody>
      </p:sp>
      <p:sp>
        <p:nvSpPr>
          <p:cNvPr id="60" name="Плашка_FIND-CKD"/>
          <p:cNvSpPr/>
          <p:nvPr/>
        </p:nvSpPr>
        <p:spPr>
          <a:xfrm>
            <a:off x="457200" y="4546600"/>
            <a:ext cx="48768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FIND-CKD</a:t>
            </a:r>
          </a:p>
        </p:txBody>
      </p:sp>
      <p:sp>
        <p:nvSpPr>
          <p:cNvPr id="61" name="Карточка_FIND-CKD"/>
          <p:cNvSpPr/>
          <p:nvPr/>
        </p:nvSpPr>
        <p:spPr>
          <a:xfrm>
            <a:off x="457200" y="4914900"/>
            <a:ext cx="4876800" cy="1028700"/>
          </a:xfrm>
          <a:prstGeom prst="roundRect">
            <a:avLst>
              <a:gd name="adj" fmla="val 987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63500" bIns="63500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ХБП без диабета, 1584 пациента. Нигде в мире не зарегистрировано.</a:t>
            </a:r>
          </a:p>
        </p:txBody>
      </p:sp>
      <p:sp>
        <p:nvSpPr>
          <p:cNvPr id="62" name="Плашка_ARTS"/>
          <p:cNvSpPr/>
          <p:nvPr/>
        </p:nvSpPr>
        <p:spPr>
          <a:xfrm>
            <a:off x="6858000" y="4546600"/>
            <a:ext cx="4876800" cy="3302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ARTS</a:t>
            </a:r>
          </a:p>
        </p:txBody>
      </p:sp>
      <p:sp>
        <p:nvSpPr>
          <p:cNvPr id="63" name="Карточка_ARTS"/>
          <p:cNvSpPr/>
          <p:nvPr/>
        </p:nvSpPr>
        <p:spPr>
          <a:xfrm>
            <a:off x="6858000" y="4914900"/>
            <a:ext cx="4876800" cy="1028700"/>
          </a:xfrm>
          <a:prstGeom prst="roundRect">
            <a:avLst>
              <a:gd name="adj" fmla="val 987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63500" bIns="63500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со сниженной ФВ ЛЖ и ХБП, II фаза, 4 недели: повышение калия, сравнение со спиронолактоном.</a:t>
            </a:r>
          </a:p>
        </p:txBody>
      </p:sp>
      <p:sp>
        <p:nvSpPr>
          <p:cNvPr id="64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  <a:latin typeface="Arial Narrow"/>
                <a:cs typeface="Arial Narrow"/>
              </a:rPr>
              <a:t>МП: медицинский представитель; ХБП: хроническая болезнь почек; ФВ ЛЖ: фракция выброса левого желудочка.</a:t>
            </a:r>
          </a:p>
        </p:txBody>
      </p:sp>
    </p:spTree>
    <p:extLst>
      <p:ext uri="{BB962C8B-B14F-4D97-AF65-F5344CB8AC3E}">
        <p14:creationId xmlns:p14="http://schemas.microsoft.com/office/powerpoint/2010/main" val="19873580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Карточка_ARTS"/>
          <p:cNvSpPr/>
          <p:nvPr/>
        </p:nvSpPr>
        <p:spPr>
          <a:xfrm>
            <a:off x="7467600" y="1524000"/>
            <a:ext cx="4267200" cy="1473200"/>
          </a:xfrm>
          <a:prstGeom prst="roundRect">
            <a:avLst>
              <a:gd name="adj" fmla="val 7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18" name="Карточка_дозы"/>
          <p:cNvSpPr/>
          <p:nvPr/>
        </p:nvSpPr>
        <p:spPr>
          <a:xfrm>
            <a:off x="7467600" y="3556000"/>
            <a:ext cx="4267200" cy="914400"/>
          </a:xfrm>
          <a:prstGeom prst="roundRect">
            <a:avLst>
              <a:gd name="adj" fmla="val 1108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19" name="Карточка_ограничение"/>
          <p:cNvSpPr/>
          <p:nvPr/>
        </p:nvSpPr>
        <p:spPr>
          <a:xfrm>
            <a:off x="7467600" y="4597400"/>
            <a:ext cx="4267200" cy="1371600"/>
          </a:xfrm>
          <a:prstGeom prst="roundRect">
            <a:avLst>
              <a:gd name="adj" fmla="val 80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20" name="Карточка_вывод"/>
          <p:cNvSpPr/>
          <p:nvPr/>
        </p:nvSpPr>
        <p:spPr>
          <a:xfrm>
            <a:off x="457200" y="4673600"/>
            <a:ext cx="6858000" cy="1295400"/>
          </a:xfrm>
          <a:prstGeom prst="roundRect">
            <a:avLst>
              <a:gd name="adj" fmla="val 893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83820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dirty="0">
                <a:solidFill>
                  <a:srgbClr val="7030A0"/>
                </a:solidFill>
                <a:latin typeface="Arial Narrow"/>
                <a:cs typeface="Arial Narrow"/>
              </a:rPr>
              <a:t>ARTS, II фаза: при СН со сниженной ФВ ЛЖ и ХБП калий за 4 недели повышался реже на финереноне (5,3%), чем на спиронолактоне (12,7%)</a:t>
            </a:r>
            <a:endParaRPr sz="2000" b="0" dirty="0">
              <a:latin typeface="Arial Narrow"/>
              <a:cs typeface="Arial Narrow"/>
            </a:endParaRP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143000"/>
            <a:ext cx="6464808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1500" y="1778000"/>
          <a:ext cx="6413500" cy="236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609600" y="4749800"/>
            <a:ext cx="6553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ru-RU" sz="15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В ARTS исследователи реже сообщали о повышении калия при финереноне, чем при спиронолактоне.</a:t>
            </a:r>
            <a:endParaRPr lang="ru-RU" sz="16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Средний прирост калия за 4 недели: 0,04–0,30 ммоль/л на финереноне и 0,45 ммоль/л на спиронолактоне. Калий и функцию почек контролируют при обоих препаратах.</a:t>
            </a:r>
            <a:endParaRPr lang="ru-RU" sz="1600" b="0" dirty="0"/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645400" y="1600200"/>
            <a:ext cx="3937000" cy="127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 xml:space="preserve"> 392 пациента с сердечной недостаточностью, ФВ ЛЖ 40% и ниже, рСКФ от 30 до 60 мл/мин/1,73 м² (часть B, 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645400" y="3657600"/>
            <a:ext cx="3937000" cy="7130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 один раз в сутки либо 5 мг 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 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645400" y="4597400"/>
            <a:ext cx="3937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Группы доз финеренона объединены (дополнительный анализ). Спиронолактон применяли открыто.</a:t>
            </a:r>
            <a:endParaRPr lang="ru-RU" sz="1500" b="0" dirty="0"/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Pitt B, et al. Eur Heart J. 2013;34:2453–2463.</a:t>
            </a:r>
            <a:endParaRPr lang="ru-RU" sz="800" b="0" dirty="0"/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15" name="Плашка_ARTS"/>
          <p:cNvSpPr/>
          <p:nvPr/>
        </p:nvSpPr>
        <p:spPr>
          <a:xfrm>
            <a:off x="7467600" y="1092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17" name="Плашка_дозы"/>
          <p:cNvSpPr/>
          <p:nvPr/>
        </p:nvSpPr>
        <p:spPr>
          <a:xfrm>
            <a:off x="7467600" y="3124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22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СН: сердечная недостаточность; ФВ ЛЖ: фракция выброса левого желудочка; рСКФ: расчётная скорость клубочковой фильтрации.</a:t>
            </a:r>
            <a:endParaRPr lang="ru-RU" sz="1000" b="0" dirty="0"/>
          </a:p>
        </p:txBody>
      </p:sp>
      <p:sp>
        <p:nvSpPr>
          <p:cNvPr id="23" name="Метка_раздела"/>
          <p:cNvSpPr/>
          <p:nvPr/>
        </p:nvSpPr>
        <p:spPr>
          <a:xfrm>
            <a:off x="8991600" y="304800"/>
            <a:ext cx="2743200" cy="508000"/>
          </a:xfrm>
          <a:prstGeom prst="roundRect">
            <a:avLst>
              <a:gd name="adj" fmla="val 20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50800" rIns="50800" tIns="25400" bIns="25400"/>
          <a:lstStyle/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Научные данные:</a:t>
            </a:r>
          </a:p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другие группы пациентов</a:t>
            </a:r>
          </a:p>
        </p:txBody>
      </p:sp>
      <p:sp>
        <p:nvSpPr>
          <p:cNvPr id="24" name="Подпись диаграммы"/>
          <p:cNvSpPr txBox="1"/>
          <p:nvPr/>
        </p:nvSpPr>
        <p:spPr>
          <a:xfrm>
            <a:off x="533400" y="4292600"/>
            <a:ext cx="6477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p=0,048 (финеренон и спиронолактон); p=0,32 (финеренон и плацебо).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83820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FIND-CKD: у взрослых с ХБП без диабета рСКФ на финереноне снижалась медленнее, чем на плацебо (−3,3 против −4,0 мл/мин/1,73 м² в год)</a:t>
            </a:r>
            <a:endParaRPr lang="ru-RU" sz="2000">
              <a:latin typeface="Arial Narrow"/>
              <a:cs typeface="Arial Narrow"/>
            </a:endParaRP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Heerspink HJL, et al. N Engl J Med. 2026;395:533–545.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Статус регистрации на 03.10.2026: решения регуляторов и сообщения Bayer AG.</a:t>
            </a:r>
            <a:endParaRPr lang="ru-RU" sz="800" b="0" dirty="0"/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308" name="Годовой темп"/>
          <p:cNvSpPr txBox="1"/>
          <p:nvPr/>
        </p:nvSpPr>
        <p:spPr>
          <a:xfrm>
            <a:off x="457200" y="1930400"/>
            <a:ext cx="112776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Первичный исход: среднегодовое изменение рСКФ до 32-го месяца, мл/мин/1,73 м² в год</a:t>
            </a:r>
            <a:endParaRPr lang="ru-RU" sz="1800"/>
          </a:p>
        </p:txBody>
      </p:sp>
      <p:graphicFrame>
        <p:nvGraphicFramePr>
          <p:cNvPr id="315" name="Годовое изменение рСКФ"/>
          <p:cNvGraphicFramePr/>
          <p:nvPr/>
        </p:nvGraphicFramePr>
        <p:xfrm>
          <a:off x="457200" y="2235200"/>
          <a:ext cx="6858000" cy="165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6" name="ДИ групп"/>
          <p:cNvSpPr txBox="1"/>
          <p:nvPr/>
        </p:nvSpPr>
        <p:spPr>
          <a:xfrm>
            <a:off x="457200" y="3911600"/>
            <a:ext cx="7188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95% ДИ: финеренон −3,6…−3,1; плацебо −4,3…−3,8.</a:t>
            </a:r>
            <a:endParaRPr lang="ru-RU" sz="1200"/>
          </a:p>
        </p:txBody>
      </p:sp>
      <p:sp>
        <p:nvSpPr>
          <p:cNvPr id="317" name="Сокращения"/>
          <p:cNvSpPr txBox="1"/>
          <p:nvPr/>
        </p:nvSpPr>
        <p:spPr>
          <a:xfrm>
            <a:off x="457200" y="620522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СН: сердечная недостаточность; ДИ: доверительный интервал; ОР: отношение рисков.</a:t>
            </a:r>
            <a:endParaRPr lang="ru-RU" sz="1000" b="0" dirty="0"/>
          </a:p>
        </p:txBody>
      </p:sp>
      <p:sp>
        <p:nvSpPr>
          <p:cNvPr id="318" name="Метка_раздела"/>
          <p:cNvSpPr/>
          <p:nvPr/>
        </p:nvSpPr>
        <p:spPr>
          <a:xfrm>
            <a:off x="8991600" y="304800"/>
            <a:ext cx="2743200" cy="508000"/>
          </a:xfrm>
          <a:prstGeom prst="roundRect">
            <a:avLst>
              <a:gd name="adj" fmla="val 20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50800" rIns="50800" tIns="25400" bIns="25400"/>
          <a:lstStyle/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Научные данные:</a:t>
            </a:r>
          </a:p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другие группы пациентов</a:t>
            </a:r>
          </a:p>
        </p:txBody>
      </p:sp>
      <p:sp>
        <p:nvSpPr>
          <p:cNvPr id="319" name="Плашка_Пациенты и сравнение"/>
          <p:cNvSpPr/>
          <p:nvPr/>
        </p:nvSpPr>
        <p:spPr>
          <a:xfrm>
            <a:off x="457200" y="1016000"/>
            <a:ext cx="11277600" cy="279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Пациенты и сравнение</a:t>
            </a:r>
          </a:p>
        </p:txBody>
      </p:sp>
      <p:sp>
        <p:nvSpPr>
          <p:cNvPr id="320" name="Карточка_Пациенты и сравнение"/>
          <p:cNvSpPr/>
          <p:nvPr/>
        </p:nvSpPr>
        <p:spPr>
          <a:xfrm>
            <a:off x="457200" y="1333500"/>
            <a:ext cx="11277600" cy="520700"/>
          </a:xfrm>
          <a:prstGeom prst="roundRect">
            <a:avLst>
              <a:gd name="adj" fmla="val 1951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38100" bIns="38100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1584 взрослых с ХБП без диабета: рСКФ от 25 до менее 90 мл/мин/1,73 м², АКО от 200 до 3500 мг/г. Финеренон 10 или 20 мг либо плацебо на фоне ингибитора ренин-ангиотензиновой системы.</a:t>
            </a:r>
          </a:p>
        </p:txBody>
      </p:sp>
      <p:sp>
        <p:nvSpPr>
          <p:cNvPr id="321" name="Карточка_разница"/>
          <p:cNvSpPr/>
          <p:nvPr/>
        </p:nvSpPr>
        <p:spPr>
          <a:xfrm>
            <a:off x="7620000" y="2235200"/>
            <a:ext cx="41148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63500" bIns="63500"/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3200" b="1">
                <a:solidFill>
                  <a:srgbClr val="7030A0"/>
                </a:solidFill>
                <a:latin typeface="Arial Narrow"/>
                <a:cs typeface="Arial Narrow"/>
              </a:rPr>
              <a:t>Разница 0,7</a:t>
            </a:r>
          </a:p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мл/мин/1,73 м² в год в пользу финеренона</a:t>
            </a:r>
          </a:p>
          <a:p>
            <a:pPr algn="l">
              <a:lnSpc>
                <a:spcPct val="95000"/>
              </a:lnSpc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95% ДИ 0,3–1,1; p&lt;0,001</a:t>
            </a:r>
          </a:p>
        </p:txBody>
      </p:sp>
      <p:sp>
        <p:nvSpPr>
          <p:cNvPr id="322" name="Карточка_вторичный исход и безопасность"/>
          <p:cNvSpPr/>
          <p:nvPr/>
        </p:nvSpPr>
        <p:spPr>
          <a:xfrm>
            <a:off x="457200" y="4191000"/>
            <a:ext cx="1127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50800" bIns="50800"/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Вторичный комбинированный исход (почечные и сердечно-сосудистые события):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риск ниже на 23% по сравнению с плацебо; ОР 0,77 (95% ДИ 0,60–0,99), p=0,04.</a:t>
            </a:r>
          </a:p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Состав: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снижение рСКФ на 57% и более от исходного, почечная недостаточность, госпитализация по поводу СН или сердечно-сосудистая смерть.</a:t>
            </a:r>
          </a:p>
          <a:p>
            <a:pPr algn="l">
              <a:lnSpc>
                <a:spcPct val="95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17,0% на финереноне и 13,3% на плацебо; окончательная отмена из-за неё: 1,5% и 0,1%.</a:t>
            </a:r>
          </a:p>
        </p:txBody>
      </p:sp>
      <p:sp>
        <p:nvSpPr>
          <p:cNvPr id="323" name="Плашка_Статус регистрации"/>
          <p:cNvSpPr/>
          <p:nvPr/>
        </p:nvSpPr>
        <p:spPr>
          <a:xfrm>
            <a:off x="457200" y="5461000"/>
            <a:ext cx="11277600" cy="279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Статус регистрации на 03.10.2026</a:t>
            </a:r>
          </a:p>
        </p:txBody>
      </p:sp>
      <p:sp>
        <p:nvSpPr>
          <p:cNvPr id="324" name="Карточка_Статус регистрации"/>
          <p:cNvSpPr/>
          <p:nvPr/>
        </p:nvSpPr>
        <p:spPr>
          <a:xfrm>
            <a:off x="457200" y="5778500"/>
            <a:ext cx="11277600" cy="317500"/>
          </a:xfrm>
          <a:prstGeom prst="roundRect">
            <a:avLst>
              <a:gd name="adj" fmla="val 32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25400" bIns="25400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Показание при ХБП без диабета нигде в мире не зарегистрировано.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результат"/>
          <p:cNvSpPr/>
          <p:nvPr/>
        </p:nvSpPr>
        <p:spPr>
          <a:xfrm>
            <a:off x="7366000" y="2133600"/>
            <a:ext cx="4368800" cy="2667000"/>
          </a:xfrm>
          <a:prstGeom prst="roundRect">
            <a:avLst>
              <a:gd name="adj" fmla="val 350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endParaRPr/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83820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FINE-ONE: при ХБП и диабете 1 типа АКО за 6 месяцев снизилось на 34% на финереноне и на 12% на плацебо</a:t>
            </a:r>
            <a:endParaRPr lang="ru-RU" sz="2000" b="0" u="none" dirty="0">
              <a:latin typeface="Arial Narrow"/>
              <a:cs typeface="Arial Narrow"/>
            </a:endParaRPr>
          </a:p>
        </p:txBody>
      </p:sp>
      <p:sp>
        <p:nvSpPr>
          <p:cNvPr id="6" name="Text_5"/>
          <p:cNvSpPr txBox="1"/>
          <p:nvPr/>
        </p:nvSpPr>
        <p:spPr>
          <a:xfrm>
            <a:off x="457200" y="2133600"/>
            <a:ext cx="6858000" cy="508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Снижение АКО от исходного уровня внутри групп, %</a:t>
            </a:r>
            <a:endParaRPr lang="ru-RU" sz="17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За 6 месяцев (среднее по визитам на 3-м и 6-м месяцах)</a:t>
            </a:r>
            <a:endParaRPr lang="ru-RU" sz="1700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600" y="2641600"/>
          <a:ext cx="6083300" cy="215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286000"/>
            <a:ext cx="3962400" cy="558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3200" b="1" u="none">
                <a:solidFill>
                  <a:srgbClr val="7030A0"/>
                </a:solidFill>
                <a:latin typeface="Arial Narrow"/>
                <a:cs typeface="Arial Narrow"/>
              </a:rPr>
              <a:t>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921000"/>
            <a:ext cx="3962400" cy="1803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Первичный исход достигнут: АКО снизилось на 25% больше, чем на плацебо (относительная разница между группами).</a:t>
            </a:r>
            <a:endParaRPr lang="ru-RU" sz="18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Отношение геометрических средних 0,75 (95% ДИ 0,65–0,87), p&lt;0,001.</a:t>
            </a:r>
            <a:endParaRPr lang="ru-RU" sz="1800"/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Heerspink HJL, et al. N Engl J Med. 2026;394:947–957. FDA. Supplement Approval Letter, NDA 215341/S-011, 16.09.2026.</a:t>
            </a:r>
            <a:endParaRPr lang="ru-RU" sz="800" b="0" dirty="0"/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16" name="Сокращения"/>
          <p:cNvSpPr txBox="1"/>
          <p:nvPr/>
        </p:nvSpPr>
        <p:spPr>
          <a:xfrm>
            <a:off x="457200" y="6273800"/>
            <a:ext cx="10795000" cy="314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  <a:endParaRPr lang="ru-RU" sz="1000" b="0" dirty="0"/>
          </a:p>
        </p:txBody>
      </p:sp>
      <p:sp>
        <p:nvSpPr>
          <p:cNvPr id="17" name="Метка_раздела"/>
          <p:cNvSpPr/>
          <p:nvPr/>
        </p:nvSpPr>
        <p:spPr>
          <a:xfrm>
            <a:off x="8991600" y="304800"/>
            <a:ext cx="2743200" cy="508000"/>
          </a:xfrm>
          <a:prstGeom prst="roundRect">
            <a:avLst>
              <a:gd name="adj" fmla="val 20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50800" rIns="50800" tIns="25400" bIns="25400"/>
          <a:lstStyle/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Научные данные:</a:t>
            </a:r>
          </a:p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другие группы пациентов</a:t>
            </a:r>
          </a:p>
        </p:txBody>
      </p:sp>
      <p:sp>
        <p:nvSpPr>
          <p:cNvPr id="18" name="Плашка_Пациенты и сравнение"/>
          <p:cNvSpPr/>
          <p:nvPr/>
        </p:nvSpPr>
        <p:spPr>
          <a:xfrm>
            <a:off x="457200" y="1016000"/>
            <a:ext cx="11277600" cy="279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Пациенты и сравнение</a:t>
            </a:r>
          </a:p>
        </p:txBody>
      </p:sp>
      <p:sp>
        <p:nvSpPr>
          <p:cNvPr id="19" name="Карточка_Пациенты и сравнение"/>
          <p:cNvSpPr/>
          <p:nvPr/>
        </p:nvSpPr>
        <p:spPr>
          <a:xfrm>
            <a:off x="457200" y="13335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38100" bIns="38100"/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 &lt;90 мл/мин/1,73 м², АКО ≥200 и &lt;5000 мг/г.</a:t>
            </a:r>
          </a:p>
          <a:p>
            <a:pPr algn="l">
              <a:lnSpc>
                <a:spcPct val="95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10 или 20 мг (по рСКФ) либо плацебо на фоне инсулина и ингибитора АПФ или БРА.</a:t>
            </a:r>
          </a:p>
        </p:txBody>
      </p:sp>
      <p:sp>
        <p:nvSpPr>
          <p:cNvPr id="20" name="Карточка_выводы"/>
          <p:cNvSpPr/>
          <p:nvPr/>
        </p:nvSpPr>
        <p:spPr>
          <a:xfrm>
            <a:off x="457200" y="4838700"/>
            <a:ext cx="11277600" cy="558800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38100" bIns="38100"/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 FINE-ONE оценивали АКО; клинические исходы не изучали.</a:t>
            </a:r>
          </a:p>
          <a:p>
            <a:pPr algn="l">
              <a:lnSpc>
                <a:spcPct val="95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10,1% на финереноне и 3,3% на плацебо; окончательная отмена из-за неё у 1,7% на финереноне.</a:t>
            </a:r>
          </a:p>
        </p:txBody>
      </p:sp>
      <p:sp>
        <p:nvSpPr>
          <p:cNvPr id="21" name="Плашка_Статус регистрации"/>
          <p:cNvSpPr/>
          <p:nvPr/>
        </p:nvSpPr>
        <p:spPr>
          <a:xfrm>
            <a:off x="457200" y="5461000"/>
            <a:ext cx="11277600" cy="279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Статус регистрации на 03.10.2026</a:t>
            </a:r>
          </a:p>
        </p:txBody>
      </p:sp>
      <p:sp>
        <p:nvSpPr>
          <p:cNvPr id="22" name="Карточка_Статус регистрации"/>
          <p:cNvSpPr/>
          <p:nvPr/>
        </p:nvSpPr>
        <p:spPr>
          <a:xfrm>
            <a:off x="457200" y="5778500"/>
            <a:ext cx="11277600" cy="330200"/>
          </a:xfrm>
          <a:prstGeom prst="roundRect">
            <a:avLst>
              <a:gd name="adj" fmla="val 3076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25400" bIns="25400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США (FDA): 16.09.2026, подробности на следующем слайде. Решений других регуляторов по сообщениям нет.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>
            <a:extLst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8382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16.09.2026 FDA одобрило финеренон при ХБП и диабете 1 типа на основании снижения АКО в FINE-ONE и данных при диабете 2 типа</a:t>
            </a:r>
            <a:endParaRPr lang="ru-RU" sz="2000">
              <a:latin typeface="Arial Narrow"/>
              <a:cs typeface="Arial Narrow"/>
            </a:endParaRP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FDA. Supplement Approval Letter, NDA 215341/S-011, 16.09.2026. Kerendia. Prescribing Information. US FDA.</a:t>
            </a:r>
            <a:endParaRPr lang="ru-RU" sz="800" b="0" dirty="0"/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16" name="США_полоса_1"/>
          <p:cNvSpPr/>
          <p:nvPr/>
        </p:nvSpPr>
        <p:spPr>
          <a:xfrm>
            <a:off x="457200" y="1066800"/>
            <a:ext cx="3810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>
        <p:nvSpPr>
          <p:cNvPr id="17" name="США_фон_1"/>
          <p:cNvSpPr/>
          <p:nvPr/>
        </p:nvSpPr>
        <p:spPr>
          <a:xfrm>
            <a:off x="457200" y="1498600"/>
            <a:ext cx="38100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18" name="США_текст_1"/>
          <p:cNvSpPr txBox="1"/>
          <p:nvPr/>
        </p:nvSpPr>
        <p:spPr>
          <a:xfrm>
            <a:off x="635000" y="1600200"/>
            <a:ext cx="3454400" cy="21136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16.09.2026 (объявлено 17.09.2026).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>
        <p:nvSpPr>
          <p:cNvPr id="19" name="США_полоса_2"/>
          <p:cNvSpPr/>
          <p:nvPr/>
        </p:nvSpPr>
        <p:spPr>
          <a:xfrm>
            <a:off x="4419600" y="1066800"/>
            <a:ext cx="731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>
        <p:nvSpPr>
          <p:cNvPr id="20" name="США_фон_2"/>
          <p:cNvSpPr/>
          <p:nvPr/>
        </p:nvSpPr>
        <p:spPr>
          <a:xfrm>
            <a:off x="4419600" y="1498600"/>
            <a:ext cx="73152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1" name="США_текст_2"/>
          <p:cNvSpPr txBox="1"/>
          <p:nvPr/>
        </p:nvSpPr>
        <p:spPr>
          <a:xfrm>
            <a:off x="4597400" y="1600200"/>
            <a:ext cx="6654800" cy="21136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 xml:space="preserve"> снижение АКО в FINE-ONE (суррогатная конечная точка) и данные исследований при диабете 2 типа.</a:t>
            </a:r>
          </a:p>
        </p:txBody>
      </p:sp>
      <p:sp>
        <p:nvSpPr>
          <p:cNvPr id="22" name="США_полоса_3"/>
          <p:cNvSpPr/>
          <p:nvPr/>
        </p:nvSpPr>
        <p:spPr>
          <a:xfrm>
            <a:off x="457200" y="4018625"/>
            <a:ext cx="1127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wrap="square" lIns="127000" tIns="25400" rIns="101600" bIns="25400" rtlCol="0" anchor="ctr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Статус регистрации на 03.10.2026</a:t>
            </a:r>
          </a:p>
        </p:txBody>
      </p:sp>
      <p:sp>
        <p:nvSpPr>
          <p:cNvPr id="23" name="США_фон_3"/>
          <p:cNvSpPr/>
          <p:nvPr/>
        </p:nvSpPr>
        <p:spPr>
          <a:xfrm>
            <a:off x="457200" y="4450425"/>
            <a:ext cx="11277600" cy="852256"/>
          </a:xfrm>
          <a:prstGeom prst="roundRect">
            <a:avLst>
              <a:gd name="adj" fmla="val 763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24" name="США_текст_3"/>
          <p:cNvSpPr txBox="1"/>
          <p:nvPr/>
        </p:nvSpPr>
        <p:spPr>
          <a:xfrm>
            <a:off x="635000" y="4450425"/>
            <a:ext cx="10922000" cy="8522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800" b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США: одобрено 16.09.2026. Решений других регуляторов по сообщениям нет; актуальный статус даёт медицинский отдел.</a:t>
            </a:r>
            <a:endParaRPr lang="ru-RU" sz="1800"/>
          </a:p>
        </p:txBody>
      </p:sp>
      <p:sp>
        <p:nvSpPr>
          <p:cNvPr id="25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FDA: Управление по контролю качества пищевых продуктов и лекарств США.</a:t>
            </a:r>
            <a:endParaRPr lang="ru-RU" sz="1000" b="0" dirty="0"/>
          </a:p>
        </p:txBody>
      </p:sp>
      <p:sp>
        <p:nvSpPr>
          <p:cNvPr id="26" name="Метка_раздела"/>
          <p:cNvSpPr/>
          <p:nvPr/>
        </p:nvSpPr>
        <p:spPr>
          <a:xfrm>
            <a:off x="8991600" y="304800"/>
            <a:ext cx="2743200" cy="508000"/>
          </a:xfrm>
          <a:prstGeom prst="roundRect">
            <a:avLst>
              <a:gd name="adj" fmla="val 20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50800" rIns="50800" tIns="25400" bIns="25400"/>
          <a:lstStyle/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Научные данные:</a:t>
            </a:r>
          </a:p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другие группы пациентов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83820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dirty="0">
                <a:solidFill>
                  <a:srgbClr val="7030A0"/>
                </a:solidFill>
                <a:latin typeface="Arial Narrow"/>
                <a:ea typeface="Arial Narrow"/>
                <a:cs typeface="Arial Narrow"/>
              </a:rPr>
              <a:t>FINEARTS-HF: при сердечной недостаточности с ФВ ЛЖ ≥40% частота ухудшений СН и сердечно-сосудистой смерти ниже на 16% по сравнению с плацебо</a:t>
            </a:r>
            <a:endParaRPr lang="ru-RU" sz="2000" b="0" dirty="0">
              <a:latin typeface="Arial Narrow"/>
              <a:cs typeface="Arial Narrow"/>
            </a:endParaRPr>
          </a:p>
        </p:txBody>
      </p:sp>
      <p:sp>
        <p:nvSpPr>
          <p:cNvPr id="5" name="Text_4"/>
          <p:cNvSpPr txBox="1"/>
          <p:nvPr/>
        </p:nvSpPr>
        <p:spPr>
          <a:xfrm>
            <a:off x="457200" y="990600"/>
            <a:ext cx="11277600" cy="660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 dirty="0">
                <a:solidFill>
                  <a:srgbClr val="000000"/>
                </a:solidFill>
                <a:latin typeface="Arial Narrow"/>
                <a:cs typeface="Arial Narrow"/>
              </a:rPr>
              <a:t>В анализе: 6001 пациент с симптомной сердечной недостаточностью и ФВ ЛЖ ≥40%, с диабетом или без него.</a:t>
            </a:r>
            <a:endParaRPr lang="ru-RU" sz="1800" b="0" dirty="0"/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 dirty="0">
                <a:solidFill>
                  <a:srgbClr val="000000"/>
                </a:solidFill>
                <a:latin typeface="Arial Narrow"/>
                <a:cs typeface="Arial Narrow"/>
              </a:rPr>
              <a:t>Наблюдение: медиана 32 месяца. Доза в исследовании: до 20 или 40 мг один раз в сутки в зависимости от рСКФ. Максимальная доза Финеренон-Орвилле: 20 мг в сутки.</a:t>
            </a:r>
            <a:endParaRPr lang="ru-RU" sz="1800" b="0" dirty="0"/>
          </a:p>
        </p:txBody>
      </p:sp>
      <p:sp>
        <p:nvSpPr>
          <p:cNvPr id="6" name="Text_5"/>
          <p:cNvSpPr txBox="1"/>
          <p:nvPr/>
        </p:nvSpPr>
        <p:spPr>
          <a:xfrm>
            <a:off x="457200" y="1727200"/>
            <a:ext cx="6731000" cy="279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 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600" y="2082800"/>
          <a:ext cx="608330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_10"/>
          <p:cNvSpPr txBox="1"/>
          <p:nvPr/>
        </p:nvSpPr>
        <p:spPr>
          <a:xfrm>
            <a:off x="457200" y="4546600"/>
            <a:ext cx="112776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незапланированные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558280"/>
            <a:ext cx="10795000" cy="2743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Solomon SD, et al. N Engl J Med. 2024;391:1475–1485. Vaduganathan M, et al. Nat Med. 2024;30:3758–3764. FDA. Supplement Approval Letter, NDA 215341/S-009, July 2025. European Commission Decision C(2026) 2188 final, 26.03.2026.</a:t>
            </a:r>
            <a:endParaRPr lang="ru-RU" sz="800" b="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8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Bayer AG. Сообщения о регистрации в Японии (12.2025) и Великобритании (04.2026). Финеренон-Орвилле. Инструкция по медицинскому применению.</a:t>
            </a:r>
            <a:endParaRPr lang="ru-RU" sz="800" b="0" dirty="0"/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17" name="Сокращения"/>
          <p:cNvSpPr txBox="1"/>
          <p:nvPr/>
        </p:nvSpPr>
        <p:spPr>
          <a:xfrm>
            <a:off x="457200" y="6273800"/>
            <a:ext cx="10795000" cy="157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00" b="0" dirty="0">
                <a:solidFill>
                  <a:srgbClr val="000000"/>
                </a:solidFill>
                <a:latin typeface="Arial Narrow"/>
                <a:ea typeface="Arial Narrow"/>
                <a:cs typeface="Arial Narrow"/>
              </a:rPr>
              <a:t>СН: сердечная недостаточность; ФВ ЛЖ: фракция выброса левого желудочка; рСКФ: расчётная скорость клубочковой фильтрации; ДИ: доверительный интервал; ОР: отношение рисков.</a:t>
            </a:r>
            <a:endParaRPr lang="ru-RU" sz="1000" b="0" dirty="0"/>
          </a:p>
        </p:txBody>
      </p:sp>
      <p:sp>
        <p:nvSpPr>
          <p:cNvPr id="19" name="Метка_раздела"/>
          <p:cNvSpPr/>
          <p:nvPr/>
        </p:nvSpPr>
        <p:spPr>
          <a:xfrm>
            <a:off x="8991600" y="304800"/>
            <a:ext cx="2743200" cy="508000"/>
          </a:xfrm>
          <a:prstGeom prst="roundRect">
            <a:avLst>
              <a:gd name="adj" fmla="val 20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50800" rIns="50800" tIns="25400" bIns="25400"/>
          <a:lstStyle/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Научные данные:</a:t>
            </a:r>
          </a:p>
          <a:p>
            <a:pPr algn="ctr">
              <a:lnSpc>
                <a:spcPct val="95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другие группы пациентов</a:t>
            </a:r>
          </a:p>
        </p:txBody>
      </p:sp>
      <p:sp>
        <p:nvSpPr>
          <p:cNvPr id="20" name="Карточка_результат"/>
          <p:cNvSpPr/>
          <p:nvPr/>
        </p:nvSpPr>
        <p:spPr>
          <a:xfrm>
            <a:off x="7264400" y="1701800"/>
            <a:ext cx="4470400" cy="2794000"/>
          </a:xfrm>
          <a:prstGeom prst="roundRect">
            <a:avLst>
              <a:gd name="adj" fmla="val 373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76200" bIns="76200"/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3200" b="1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 (95% ДИ 0,74–0,95); p=0,007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Частота событий ниже на 16% по сравнению с плацебо</a:t>
            </a:r>
          </a:p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Ухудшения СН (первые и повторные):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 xml:space="preserve"> 842 события против 1024 на плацебо, отношение частот 0,82 (95% ДИ 0,71–0,94).</a:t>
            </a:r>
          </a:p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Сердечно-сосудистая смерть: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8,1% на финереноне и 8,7% на плацебо; ОР 0,93 (95% ДИ 0,78–1,11).</a:t>
            </a:r>
          </a:p>
          <a:p>
            <a:pPr algn="l">
              <a:lnSpc>
                <a:spcPct val="95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 встречалась чаще, чем на плацебо, гипокалиемия реже. Калий контролируют.</a:t>
            </a:r>
          </a:p>
        </p:txBody>
      </p:sp>
      <p:sp>
        <p:nvSpPr>
          <p:cNvPr id="21" name="Плашка_FINE-HEART"/>
          <p:cNvSpPr/>
          <p:nvPr/>
        </p:nvSpPr>
        <p:spPr>
          <a:xfrm>
            <a:off x="457200" y="5054600"/>
            <a:ext cx="6654800" cy="3048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FINE-HEART: финеренон и плацебо</a:t>
            </a:r>
          </a:p>
        </p:txBody>
      </p:sp>
      <p:sp>
        <p:nvSpPr>
          <p:cNvPr id="22" name="Карточка_FINE-HEART"/>
          <p:cNvSpPr/>
          <p:nvPr/>
        </p:nvSpPr>
        <p:spPr>
          <a:xfrm>
            <a:off x="457200" y="5397500"/>
            <a:ext cx="6654800" cy="749300"/>
          </a:xfrm>
          <a:prstGeom prst="roundRect">
            <a:avLst>
              <a:gd name="adj" fmla="val 1355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63500" bIns="635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Сводный анализ FIDELIO-DKD, FIGARO-DKD и FINEARTS-HF: 18 991 пациент, медиана 2,9 года. Госпитализации по поводу СН: ОР 0,83 (95% ДИ 0,75–0,92). Смерть от любой причины: ОР 0,91 (0,84–0,99). Сердечно-сосудистая смерть: ОР 0,89 (0,78–1,01), p=0,076.</a:t>
            </a:r>
          </a:p>
        </p:txBody>
      </p:sp>
      <p:sp>
        <p:nvSpPr>
          <p:cNvPr id="23" name="Плашка_Статус регистрации"/>
          <p:cNvSpPr/>
          <p:nvPr/>
        </p:nvSpPr>
        <p:spPr>
          <a:xfrm>
            <a:off x="7264400" y="5054600"/>
            <a:ext cx="4470400" cy="3048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Статус регистрации на 03.10.2026</a:t>
            </a:r>
          </a:p>
        </p:txBody>
      </p:sp>
      <p:sp>
        <p:nvSpPr>
          <p:cNvPr id="24" name="Карточка_Статус регистрации"/>
          <p:cNvSpPr/>
          <p:nvPr/>
        </p:nvSpPr>
        <p:spPr>
          <a:xfrm>
            <a:off x="7264400" y="5397500"/>
            <a:ext cx="4470400" cy="749300"/>
          </a:xfrm>
          <a:prstGeom prst="roundRect">
            <a:avLst>
              <a:gd name="adj" fmla="val 1355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52400" tIns="63500" bIns="635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СН с ФВ ЛЖ ≥40%: США (FDA), июль 2025; Евросоюз, 26.03.2026. Япония (22.12.2025) и Великобритания (апрель 2026): по сообщениям разработчика.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При хронической болезни почек и диабете 2 типа риск остаётся высоким на стандартном лечении; финеренон снижал его по сравнению с плацебо</a:t>
            </a:r>
          </a:p>
        </p:txBody>
      </p:sp>
      <p:pic>
        <p:nvPicPr>
          <p:cNvPr id="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" name="Плашка_1_Риск_остаётся"/>
          <p:cNvSpPr/>
          <p:nvPr/>
        </p:nvSpPr>
        <p:spPr>
          <a:xfrm>
            <a:off x="457200" y="1168400"/>
            <a:ext cx="36068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1. Риск остаётся</a:t>
            </a:r>
          </a:p>
        </p:txBody>
      </p:sp>
      <p:sp>
        <p:nvSpPr>
          <p:cNvPr id="5" name="Плашка_2_Другая_мишень"/>
          <p:cNvSpPr/>
          <p:nvPr/>
        </p:nvSpPr>
        <p:spPr>
          <a:xfrm>
            <a:off x="4292600" y="1168400"/>
            <a:ext cx="3606800" cy="431800"/>
          </a:xfrm>
          <a:prstGeom prst="roundRect">
            <a:avLst>
              <a:gd name="adj" fmla="val 23529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2. Другая мишень</a:t>
            </a:r>
          </a:p>
        </p:txBody>
      </p:sp>
      <p:sp>
        <p:nvSpPr>
          <p:cNvPr id="6" name="Плашка_3_Риск_ниже"/>
          <p:cNvSpPr/>
          <p:nvPr/>
        </p:nvSpPr>
        <p:spPr>
          <a:xfrm>
            <a:off x="8128000" y="1168400"/>
            <a:ext cx="3606800" cy="431800"/>
          </a:xfrm>
          <a:prstGeom prst="roundRect">
            <a:avLst>
              <a:gd name="adj" fmla="val 23529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3. Риск ниже</a:t>
            </a:r>
          </a:p>
        </p:txBody>
      </p:sp>
      <p:sp>
        <p:nvSpPr>
          <p:cNvPr id="7" name="Карточка_1"/>
          <p:cNvSpPr/>
          <p:nvPr/>
        </p:nvSpPr>
        <p:spPr>
          <a:xfrm>
            <a:off x="457200" y="1651000"/>
            <a:ext cx="3606800" cy="3683000"/>
          </a:xfrm>
          <a:prstGeom prst="roundRect">
            <a:avLst>
              <a:gd name="adj" fmla="val 281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Карточка_2"/>
          <p:cNvSpPr/>
          <p:nvPr/>
        </p:nvSpPr>
        <p:spPr>
          <a:xfrm>
            <a:off x="4292600" y="1651000"/>
            <a:ext cx="3606800" cy="3683000"/>
          </a:xfrm>
          <a:prstGeom prst="roundRect">
            <a:avLst>
              <a:gd name="adj" fmla="val 281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Карточка_3"/>
          <p:cNvSpPr/>
          <p:nvPr/>
        </p:nvSpPr>
        <p:spPr>
          <a:xfrm>
            <a:off x="8128000" y="1651000"/>
            <a:ext cx="3606800" cy="3683000"/>
          </a:xfrm>
          <a:prstGeom prst="roundRect">
            <a:avLst>
              <a:gd name="adj" fmla="val 281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исло_плацебо_21,1%"/>
          <p:cNvSpPr txBox="1"/>
          <p:nvPr/>
        </p:nvSpPr>
        <p:spPr>
          <a:xfrm>
            <a:off x="635000" y="1752600"/>
            <a:ext cx="3251200" cy="482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7F7F7F"/>
                </a:solidFill>
                <a:latin typeface="Arial Narrow"/>
                <a:cs typeface="Arial Narrow"/>
              </a:rPr>
              <a:t>21,1%</a:t>
            </a:r>
          </a:p>
        </p:txBody>
      </p:sp>
      <p:sp>
        <p:nvSpPr>
          <p:cNvPr id="11" name="Подпись_плацебо_FIDELIO-DKD"/>
          <p:cNvSpPr txBox="1"/>
          <p:nvPr/>
        </p:nvSpPr>
        <p:spPr>
          <a:xfrm>
            <a:off x="635000" y="2260600"/>
            <a:ext cx="32512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пациентов в группе плацебо перенесли комбинированный почечный исход за время наблюдения (медиана 2,6 года), все на ингибиторе АПФ или БРА (FIDELIO-DKD)</a:t>
            </a:r>
          </a:p>
        </p:txBody>
      </p:sp>
      <p:sp>
        <p:nvSpPr>
          <p:cNvPr id="12" name="Текст_CREDENCE"/>
          <p:cNvSpPr txBox="1"/>
          <p:nvPr/>
        </p:nvSpPr>
        <p:spPr>
          <a:xfrm>
            <a:off x="635000" y="3987800"/>
            <a:ext cx="3251200" cy="111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остаётся и при добавлении ингибитора НГЛТ2: в CREDENCE события возникали и на канаглифлозине¹</a:t>
            </a:r>
          </a:p>
        </p:txBody>
      </p:sp>
      <p:pic>
        <p:nvPicPr>
          <p:cNvPr id="13" name="Рисунок_клетка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70500" y="1752631"/>
            <a:ext cx="1650364" cy="1225881"/>
          </a:xfrm>
          <a:prstGeom prst="rect">
            <a:avLst/>
          </a:prstGeom>
        </p:spPr>
      </p:pic>
      <p:pic>
        <p:nvPicPr>
          <p:cNvPr id="14" name="Рисунок_рецептор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533390" y="2322195"/>
            <a:ext cx="438150" cy="438150"/>
          </a:xfrm>
          <a:prstGeom prst="rect">
            <a:avLst/>
          </a:prstGeom>
        </p:spPr>
      </p:pic>
      <p:sp>
        <p:nvSpPr>
          <p:cNvPr id="15" name="Подпись_МКР"/>
          <p:cNvSpPr txBox="1"/>
          <p:nvPr/>
        </p:nvSpPr>
        <p:spPr>
          <a:xfrm>
            <a:off x="6146800" y="2322195"/>
            <a:ext cx="711200" cy="33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6" name="Текст_карточки_2"/>
          <p:cNvSpPr txBox="1"/>
          <p:nvPr/>
        </p:nvSpPr>
        <p:spPr>
          <a:xfrm>
            <a:off x="4470400" y="3098800"/>
            <a:ext cx="3251200" cy="160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блокирует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МКР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. У ингибиторов АПФ, БРА и НГЛТ2 мишени другие. При диабете и ХБП избыточная активация МКР поддерживает воспаление и фиброз².</a:t>
            </a:r>
          </a:p>
        </p:txBody>
      </p:sp>
      <p:sp>
        <p:nvSpPr>
          <p:cNvPr id="17" name="Легенда_финеренон_плацебо"/>
          <p:cNvSpPr txBox="1"/>
          <p:nvPr/>
        </p:nvSpPr>
        <p:spPr>
          <a:xfrm>
            <a:off x="8305800" y="1752600"/>
            <a:ext cx="3251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против </a:t>
            </a:r>
            <a:r>
              <a:rPr sz="1400" b="1" lang="ru-RU">
                <a:solidFill>
                  <a:srgbClr val="7F7F7F"/>
                </a:solidFill>
                <a:latin typeface="Arial Narrow"/>
                <a:cs typeface="Arial Narrow"/>
              </a:rPr>
              <a:t>плацебо</a:t>
            </a:r>
          </a:p>
        </p:txBody>
      </p:sp>
      <p:sp>
        <p:nvSpPr>
          <p:cNvPr id="18" name="Подпись_исход_1"/>
          <p:cNvSpPr txBox="1"/>
          <p:nvPr/>
        </p:nvSpPr>
        <p:spPr>
          <a:xfrm>
            <a:off x="8305800" y="2057400"/>
            <a:ext cx="3251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почечный исход, FIDELIO-DKD</a:t>
            </a:r>
          </a:p>
        </p:txBody>
      </p:sp>
      <p:sp>
        <p:nvSpPr>
          <p:cNvPr id="19" name="Число_исход_1"/>
          <p:cNvSpPr txBox="1"/>
          <p:nvPr/>
        </p:nvSpPr>
        <p:spPr>
          <a:xfrm>
            <a:off x="8305800" y="2514600"/>
            <a:ext cx="3251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7030A0"/>
                </a:solidFill>
                <a:latin typeface="Arial Narrow"/>
                <a:cs typeface="Arial Narrow"/>
              </a:rPr>
              <a:t>17,8%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против </a:t>
            </a:r>
            <a:r>
              <a:rPr sz="2800" b="1" lang="ru-RU">
                <a:solidFill>
                  <a:srgbClr val="7F7F7F"/>
                </a:solidFill>
                <a:latin typeface="Arial Narrow"/>
                <a:cs typeface="Arial Narrow"/>
              </a:rPr>
              <a:t>21,1%</a:t>
            </a:r>
          </a:p>
        </p:txBody>
      </p:sp>
      <p:sp>
        <p:nvSpPr>
          <p:cNvPr id="20" name="Пояснение_исход_1"/>
          <p:cNvSpPr txBox="1"/>
          <p:nvPr/>
        </p:nvSpPr>
        <p:spPr>
          <a:xfrm>
            <a:off x="8305800" y="2997200"/>
            <a:ext cx="3251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ниже на 18% по сравнению с плацебо</a:t>
            </a:r>
          </a:p>
        </p:txBody>
      </p:sp>
      <p:sp>
        <p:nvSpPr>
          <p:cNvPr id="21" name="Подпись_исход_2"/>
          <p:cNvSpPr txBox="1"/>
          <p:nvPr/>
        </p:nvSpPr>
        <p:spPr>
          <a:xfrm>
            <a:off x="8305800" y="3581400"/>
            <a:ext cx="3251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сердечно-сосудистый исход, FIGARO-DKD</a:t>
            </a:r>
          </a:p>
        </p:txBody>
      </p:sp>
      <p:sp>
        <p:nvSpPr>
          <p:cNvPr id="22" name="Число_исход_2"/>
          <p:cNvSpPr txBox="1"/>
          <p:nvPr/>
        </p:nvSpPr>
        <p:spPr>
          <a:xfrm>
            <a:off x="8305800" y="4038600"/>
            <a:ext cx="3251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7030A0"/>
                </a:solidFill>
                <a:latin typeface="Arial Narrow"/>
                <a:cs typeface="Arial Narrow"/>
              </a:rPr>
              <a:t>12,4%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против </a:t>
            </a:r>
            <a:r>
              <a:rPr sz="2800" b="1" lang="ru-RU">
                <a:solidFill>
                  <a:srgbClr val="7F7F7F"/>
                </a:solidFill>
                <a:latin typeface="Arial Narrow"/>
                <a:cs typeface="Arial Narrow"/>
              </a:rPr>
              <a:t>14,2%</a:t>
            </a:r>
          </a:p>
        </p:txBody>
      </p:sp>
      <p:sp>
        <p:nvSpPr>
          <p:cNvPr id="23" name="Пояснение_исход_2"/>
          <p:cNvSpPr txBox="1"/>
          <p:nvPr/>
        </p:nvSpPr>
        <p:spPr>
          <a:xfrm>
            <a:off x="8305800" y="4521200"/>
            <a:ext cx="3251200" cy="736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ниже на 13% по сравнению с плацебо; госпитализации по поводу сердечной недостаточности: на 29%</a:t>
            </a:r>
          </a:p>
        </p:txBody>
      </p:sp>
      <p:sp>
        <p:nvSpPr>
          <p:cNvPr id="24" name="Итоговая_строка"/>
          <p:cNvSpPr txBox="1"/>
          <p:nvPr/>
        </p:nvSpPr>
        <p:spPr>
          <a:xfrm>
            <a:off x="457200" y="5461000"/>
            <a:ext cx="11277600" cy="431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Группа пациентов:</a:t>
            </a:r>
            <a:r>
              <a:rPr sz="1800" b="0" lang="ru-RU">
                <a:solidFill>
                  <a:srgbClr val="7030A0"/>
                </a:solidFill>
                <a:latin typeface="Arial Narrow"/>
                <a:cs typeface="Arial Narrow"/>
              </a:rPr>
              <a:t xml:space="preserve"> взрослые с ХБП, связанной с сахарным диабетом 2 типа³. Калий и рСКФ контролируют.</a:t>
            </a:r>
          </a:p>
        </p:txBody>
      </p:sp>
      <p:sp>
        <p:nvSpPr>
          <p:cNvPr id="25" name="Сокращения"/>
          <p:cNvSpPr txBox="1"/>
          <p:nvPr/>
        </p:nvSpPr>
        <p:spPr>
          <a:xfrm>
            <a:off x="457200" y="6184900"/>
            <a:ext cx="107950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ru-RU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АПФ: ангиотензинпревращающий фермент; БРА: блокатор рецепторов ангиотензина II; НГЛТ2: натрий-глюкозный котранспортёр 2 типа; рСКФ: расчётная скорость клубочковой фильтрации.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553200"/>
            <a:ext cx="10795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ru-RU">
                <a:solidFill>
                  <a:srgbClr val="000000"/>
                </a:solidFill>
                <a:latin typeface="Arial Narrow"/>
                <a:cs typeface="Arial Narrow"/>
              </a:rPr>
              <a:t>¹ В CREDENCE финеренон не изучали. ² Доклинические данные. ³ В FIDELIO-DKD и FIGARO-DKD включали взрослых с альбуминурией. Bakris GL, et al. N Engl J Med. 2020;383:2219–2229. Pitt B, et al. N Engl J Med. 2021;385:2252–2263. Perkovic V, et al. N Engl J Med. 2019;380:2295–2306. Amazit L, et al. J Biol Chem. 2015;290:21876–21889. Финеренон-Орвилле. Инструкция по медицинскому применению. Иллюстрации: Servier Medical Art.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Кого искать: взрослых с ХБП и диабетом 2 типа, прежде всего тех, у кого альбуминурия сохраняется на ингибиторе АПФ или БРА</a:t>
            </a:r>
          </a:p>
        </p:txBody>
      </p:sp>
      <p:pic>
        <p:nvPicPr>
          <p:cNvPr id="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" name="Плашка_Портрет_пациента"/>
          <p:cNvSpPr/>
          <p:nvPr/>
        </p:nvSpPr>
        <p:spPr>
          <a:xfrm>
            <a:off x="457200" y="11176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Портрет пациента</a:t>
            </a:r>
          </a:p>
        </p:txBody>
      </p:sp>
      <p:sp>
        <p:nvSpPr>
          <p:cNvPr id="5" name="Плашка_Поводы_для_разговора"/>
          <p:cNvSpPr/>
          <p:nvPr/>
        </p:nvSpPr>
        <p:spPr>
          <a:xfrm>
            <a:off x="6248400" y="11176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Поводы для разговора с врачом</a:t>
            </a:r>
          </a:p>
        </p:txBody>
      </p:sp>
      <p:sp>
        <p:nvSpPr>
          <p:cNvPr id="6" name="Карточка_портрет_A"/>
          <p:cNvSpPr/>
          <p:nvPr/>
        </p:nvSpPr>
        <p:spPr>
          <a:xfrm>
            <a:off x="457200" y="1600200"/>
            <a:ext cx="5486400" cy="965200"/>
          </a:xfrm>
          <a:prstGeom prst="roundRect">
            <a:avLst>
              <a:gd name="adj" fmla="val 1052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Подпись_портрет_A"/>
          <p:cNvSpPr txBox="1"/>
          <p:nvPr/>
        </p:nvSpPr>
        <p:spPr>
          <a:xfrm>
            <a:off x="635000" y="1676400"/>
            <a:ext cx="51308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156082"/>
                </a:solidFill>
                <a:latin typeface="Arial Narrow"/>
                <a:cs typeface="Arial Narrow"/>
              </a:rPr>
              <a:t>Показание</a:t>
            </a:r>
          </a:p>
        </p:txBody>
      </p:sp>
      <p:sp>
        <p:nvSpPr>
          <p:cNvPr id="8" name="Текст_портрет_A"/>
          <p:cNvSpPr txBox="1"/>
          <p:nvPr/>
        </p:nvSpPr>
        <p:spPr>
          <a:xfrm>
            <a:off x="635000" y="1955800"/>
            <a:ext cx="51308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Взрослый с ХБП, связанной с сахарным диабетом 2 типа.</a:t>
            </a:r>
          </a:p>
        </p:txBody>
      </p:sp>
      <p:sp>
        <p:nvSpPr>
          <p:cNvPr id="9" name="Карточка_повод_1"/>
          <p:cNvSpPr/>
          <p:nvPr/>
        </p:nvSpPr>
        <p:spPr>
          <a:xfrm>
            <a:off x="6248400" y="1600200"/>
            <a:ext cx="5486400" cy="965200"/>
          </a:xfrm>
          <a:prstGeom prst="roundRect">
            <a:avLst>
              <a:gd name="adj" fmla="val 1052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Текст_повод_1"/>
          <p:cNvSpPr txBox="1"/>
          <p:nvPr/>
        </p:nvSpPr>
        <p:spPr>
          <a:xfrm>
            <a:off x="6908800" y="1701800"/>
            <a:ext cx="4648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 на ингибиторе АПФ или БРА в максимальной переносимой дозе, с ингибитором НГЛТ2 или без.</a:t>
            </a:r>
          </a:p>
        </p:txBody>
      </p:sp>
      <p:sp>
        <p:nvSpPr>
          <p:cNvPr id="11" name="Номер_повода_1"/>
          <p:cNvSpPr/>
          <p:nvPr/>
        </p:nvSpPr>
        <p:spPr>
          <a:xfrm>
            <a:off x="6400800" y="1917700"/>
            <a:ext cx="330200" cy="3302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FFFFFF"/>
                </a:solidFill>
                <a:latin typeface="Arial Narrow"/>
                <a:cs typeface="Arial Narrow"/>
              </a:rPr>
              <a:t>1</a:t>
            </a:r>
          </a:p>
        </p:txBody>
      </p:sp>
      <p:sp>
        <p:nvSpPr>
          <p:cNvPr id="12" name="Карточка_портрет_B"/>
          <p:cNvSpPr/>
          <p:nvPr/>
        </p:nvSpPr>
        <p:spPr>
          <a:xfrm>
            <a:off x="457200" y="2667000"/>
            <a:ext cx="5486400" cy="965200"/>
          </a:xfrm>
          <a:prstGeom prst="roundRect">
            <a:avLst>
              <a:gd name="adj" fmla="val 1052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Подпись_портрет_B"/>
          <p:cNvSpPr txBox="1"/>
          <p:nvPr/>
        </p:nvSpPr>
        <p:spPr>
          <a:xfrm>
            <a:off x="635000" y="2743200"/>
            <a:ext cx="51308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156082"/>
                </a:solidFill>
                <a:latin typeface="Arial Narrow"/>
                <a:cs typeface="Arial Narrow"/>
              </a:rPr>
              <a:t>Условия начала по инструкции</a:t>
            </a:r>
          </a:p>
        </p:txBody>
      </p:sp>
      <p:sp>
        <p:nvSpPr>
          <p:cNvPr id="14" name="Текст_портрет_B"/>
          <p:cNvSpPr txBox="1"/>
          <p:nvPr/>
        </p:nvSpPr>
        <p:spPr>
          <a:xfrm>
            <a:off x="635000" y="3022600"/>
            <a:ext cx="51308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рСКФ ≥25 мл/мин/1,73 м². Калий ≤4,8 ммоль/л; при 4,8–5,0 можно начинать с контролем калия в первые 4 недели.</a:t>
            </a:r>
          </a:p>
        </p:txBody>
      </p:sp>
      <p:sp>
        <p:nvSpPr>
          <p:cNvPr id="15" name="Карточка_повод_2"/>
          <p:cNvSpPr/>
          <p:nvPr/>
        </p:nvSpPr>
        <p:spPr>
          <a:xfrm>
            <a:off x="6248400" y="2667000"/>
            <a:ext cx="5486400" cy="965200"/>
          </a:xfrm>
          <a:prstGeom prst="roundRect">
            <a:avLst>
              <a:gd name="adj" fmla="val 1052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Текст_повод_2"/>
          <p:cNvSpPr txBox="1"/>
          <p:nvPr/>
        </p:nvSpPr>
        <p:spPr>
          <a:xfrm>
            <a:off x="6908800" y="2768600"/>
            <a:ext cx="3962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В карте нет АКО за последние 12 месяцев.</a:t>
            </a:r>
          </a:p>
        </p:txBody>
      </p:sp>
      <p:sp>
        <p:nvSpPr>
          <p:cNvPr id="17" name="Номер_повода_2"/>
          <p:cNvSpPr/>
          <p:nvPr/>
        </p:nvSpPr>
        <p:spPr>
          <a:xfrm>
            <a:off x="6400800" y="2984500"/>
            <a:ext cx="330200" cy="3302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FFFFFF"/>
                </a:solidFill>
                <a:latin typeface="Arial Narrow"/>
                <a:cs typeface="Arial Narrow"/>
              </a:rPr>
              <a:t>2</a:t>
            </a:r>
          </a:p>
        </p:txBody>
      </p:sp>
      <p:sp>
        <p:nvSpPr>
          <p:cNvPr id="18" name="Карточка_портрет_C"/>
          <p:cNvSpPr/>
          <p:nvPr/>
        </p:nvSpPr>
        <p:spPr>
          <a:xfrm>
            <a:off x="457200" y="3733800"/>
            <a:ext cx="5486400" cy="965200"/>
          </a:xfrm>
          <a:prstGeom prst="roundRect">
            <a:avLst>
              <a:gd name="adj" fmla="val 1052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Подпись_портрет_C"/>
          <p:cNvSpPr txBox="1"/>
          <p:nvPr/>
        </p:nvSpPr>
        <p:spPr>
          <a:xfrm>
            <a:off x="635000" y="3810000"/>
            <a:ext cx="51308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156082"/>
                </a:solidFill>
                <a:latin typeface="Arial Narrow"/>
                <a:cs typeface="Arial Narrow"/>
              </a:rPr>
              <a:t>Критерии исследований и KDIGO</a:t>
            </a:r>
          </a:p>
        </p:txBody>
      </p:sp>
      <p:sp>
        <p:nvSpPr>
          <p:cNvPr id="20" name="Текст_портрет_C"/>
          <p:cNvSpPr txBox="1"/>
          <p:nvPr/>
        </p:nvSpPr>
        <p:spPr>
          <a:xfrm>
            <a:off x="635000" y="4089400"/>
            <a:ext cx="51308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АКО ≥30 мг/г. Ингибитор АПФ или БРА в максимально переносимой дозе.</a:t>
            </a:r>
          </a:p>
        </p:txBody>
      </p:sp>
      <p:sp>
        <p:nvSpPr>
          <p:cNvPr id="21" name="Карточка_повод_3"/>
          <p:cNvSpPr/>
          <p:nvPr/>
        </p:nvSpPr>
        <p:spPr>
          <a:xfrm>
            <a:off x="6248400" y="3733800"/>
            <a:ext cx="5486400" cy="965200"/>
          </a:xfrm>
          <a:prstGeom prst="roundRect">
            <a:avLst>
              <a:gd name="adj" fmla="val 1052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Текст_повод_3"/>
          <p:cNvSpPr txBox="1"/>
          <p:nvPr/>
        </p:nvSpPr>
        <p:spPr>
          <a:xfrm>
            <a:off x="6908800" y="3835400"/>
            <a:ext cx="3962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АКО ≥30 мг/г при сохранной рСКФ.</a:t>
            </a:r>
          </a:p>
        </p:txBody>
      </p:sp>
      <p:sp>
        <p:nvSpPr>
          <p:cNvPr id="23" name="Номер_повода_3"/>
          <p:cNvSpPr/>
          <p:nvPr/>
        </p:nvSpPr>
        <p:spPr>
          <a:xfrm>
            <a:off x="6400800" y="4051300"/>
            <a:ext cx="330200" cy="3302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FFFFFF"/>
                </a:solidFill>
                <a:latin typeface="Arial Narrow"/>
                <a:cs typeface="Arial Narrow"/>
              </a:rPr>
              <a:t>3</a:t>
            </a:r>
          </a:p>
        </p:txBody>
      </p:sp>
      <p:grpSp>
        <p:nvGrpSpPr>
          <p:cNvPr id="24" name="Иконка_моча"/>
          <p:cNvGrpSpPr/>
          <p:nvPr/>
        </p:nvGrpSpPr>
        <p:grpSpPr>
          <a:xfrm>
            <a:off x="11023600" y="2933700"/>
            <a:ext cx="508000" cy="378326"/>
            <a:chOff x="548640" y="4507992"/>
            <a:chExt cx="1737360" cy="1293876"/>
          </a:xfrm>
        </p:grpSpPr>
        <p:grpSp>
          <p:nvGrpSpPr>
            <p:cNvPr id="25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26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27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28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29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30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1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2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3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4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5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6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7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8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39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40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41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2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43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51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grpSp>
        <p:nvGrpSpPr>
          <p:cNvPr id="52" name="Иконка_кровь"/>
          <p:cNvGrpSpPr/>
          <p:nvPr/>
        </p:nvGrpSpPr>
        <p:grpSpPr>
          <a:xfrm>
            <a:off x="11023600" y="4000500"/>
            <a:ext cx="508000" cy="580087"/>
            <a:chOff x="749808" y="1399032"/>
            <a:chExt cx="1536192" cy="1754184"/>
          </a:xfrm>
        </p:grpSpPr>
        <p:grpSp>
          <p:nvGrpSpPr>
            <p:cNvPr id="53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54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55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56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57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58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9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60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61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62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63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64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65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66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67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68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69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70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71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72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73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74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75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76" name="Подпись_специалисты"/>
          <p:cNvSpPr txBox="1"/>
          <p:nvPr/>
        </p:nvSpPr>
        <p:spPr>
          <a:xfrm>
            <a:off x="457200" y="4927600"/>
            <a:ext cx="3048000" cy="431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ru-RU">
                <a:solidFill>
                  <a:srgbClr val="000000"/>
                </a:solidFill>
                <a:latin typeface="Arial Narrow"/>
                <a:cs typeface="Arial Narrow"/>
              </a:rPr>
              <a:t>Кто видит таких пациентов:</a:t>
            </a:r>
          </a:p>
        </p:txBody>
      </p:sp>
      <p:sp>
        <p:nvSpPr>
          <p:cNvPr id="77" name="Плашка_Эндокринолог"/>
          <p:cNvSpPr/>
          <p:nvPr/>
        </p:nvSpPr>
        <p:spPr>
          <a:xfrm>
            <a:off x="3581400" y="4927600"/>
            <a:ext cx="1905000" cy="431800"/>
          </a:xfrm>
          <a:prstGeom prst="roundRect">
            <a:avLst>
              <a:gd name="adj" fmla="val 235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Эндокринолог</a:t>
            </a:r>
          </a:p>
        </p:txBody>
      </p:sp>
      <p:sp>
        <p:nvSpPr>
          <p:cNvPr id="78" name="Плашка_Терапевт"/>
          <p:cNvSpPr/>
          <p:nvPr/>
        </p:nvSpPr>
        <p:spPr>
          <a:xfrm>
            <a:off x="5638800" y="4927600"/>
            <a:ext cx="1905000" cy="431800"/>
          </a:xfrm>
          <a:prstGeom prst="roundRect">
            <a:avLst>
              <a:gd name="adj" fmla="val 235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Терапевт</a:t>
            </a:r>
          </a:p>
        </p:txBody>
      </p:sp>
      <p:sp>
        <p:nvSpPr>
          <p:cNvPr id="79" name="Плашка_Нефролог"/>
          <p:cNvSpPr/>
          <p:nvPr/>
        </p:nvSpPr>
        <p:spPr>
          <a:xfrm>
            <a:off x="7696200" y="4927600"/>
            <a:ext cx="1905000" cy="431800"/>
          </a:xfrm>
          <a:prstGeom prst="roundRect">
            <a:avLst>
              <a:gd name="adj" fmla="val 235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Нефролог</a:t>
            </a:r>
          </a:p>
        </p:txBody>
      </p:sp>
      <p:sp>
        <p:nvSpPr>
          <p:cNvPr id="80" name="Плашка_Кардиолог"/>
          <p:cNvSpPr/>
          <p:nvPr/>
        </p:nvSpPr>
        <p:spPr>
          <a:xfrm>
            <a:off x="9753600" y="4927600"/>
            <a:ext cx="1905000" cy="431800"/>
          </a:xfrm>
          <a:prstGeom prst="roundRect">
            <a:avLst>
              <a:gd name="adj" fmla="val 235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Кардиолог</a:t>
            </a:r>
          </a:p>
        </p:txBody>
      </p:sp>
      <p:sp>
        <p:nvSpPr>
          <p:cNvPr id="81" name="Решение_врача"/>
          <p:cNvSpPr txBox="1"/>
          <p:nvPr/>
        </p:nvSpPr>
        <p:spPr>
          <a:xfrm>
            <a:off x="457200" y="55372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82" name="Сокращения"/>
          <p:cNvSpPr txBox="1"/>
          <p:nvPr/>
        </p:nvSpPr>
        <p:spPr>
          <a:xfrm>
            <a:off x="457200" y="6184900"/>
            <a:ext cx="107950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ru-RU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НГЛТ2: натрий-глюкозный котранспортёр 2 типа.</a:t>
            </a:r>
          </a:p>
        </p:txBody>
      </p:sp>
      <p:sp>
        <p:nvSpPr>
          <p:cNvPr id="83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 KDIGO 2024. Kidney Int. 105(4S):S117–S314. Bakris GL, et al. N Engl J Med. 2020;383:2219–2229. Pitt B, et al. N Engl J Med. 2021;385:2252–2263.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 блокирует МКР; в исследованиях альбуминурия и риск почечных и сердечно-сосудистых исходов были ниже, чем на плацебо</a:t>
            </a:r>
          </a:p>
        </p:txBody>
      </p:sp>
      <p:pic>
        <p:nvPicPr>
          <p:cNvPr id="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" name="Плашка_звено_1"/>
          <p:cNvSpPr/>
          <p:nvPr/>
        </p:nvSpPr>
        <p:spPr>
          <a:xfrm>
            <a:off x="457200" y="2235200"/>
            <a:ext cx="1841500" cy="584200"/>
          </a:xfrm>
          <a:prstGeom prst="roundRect">
            <a:avLst>
              <a:gd name="adj" fmla="val 17391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01600" rIns="762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FFFFFF"/>
                </a:solidFill>
                <a:latin typeface="Arial Narrow"/>
                <a:cs typeface="Arial Narrow"/>
              </a:rPr>
              <a:t>1. Блокада МКР</a:t>
            </a:r>
          </a:p>
        </p:txBody>
      </p:sp>
      <p:sp>
        <p:nvSpPr>
          <p:cNvPr id="5" name="Карточка_звено_1"/>
          <p:cNvSpPr/>
          <p:nvPr/>
        </p:nvSpPr>
        <p:spPr>
          <a:xfrm>
            <a:off x="457200" y="2870200"/>
            <a:ext cx="1841500" cy="1422400"/>
          </a:xfrm>
          <a:prstGeom prst="roundRect">
            <a:avLst>
              <a:gd name="adj" fmla="val 71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Текст_звено_1"/>
          <p:cNvSpPr txBox="1"/>
          <p:nvPr/>
        </p:nvSpPr>
        <p:spPr>
          <a:xfrm>
            <a:off x="558800" y="2971800"/>
            <a:ext cx="16383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Блокирует МКР в почках, сердце и сосудах.</a:t>
            </a:r>
          </a:p>
        </p:txBody>
      </p:sp>
      <p:sp>
        <p:nvSpPr>
          <p:cNvPr id="7" name="Плашка_звено_2"/>
          <p:cNvSpPr/>
          <p:nvPr/>
        </p:nvSpPr>
        <p:spPr>
          <a:xfrm>
            <a:off x="2501900" y="2235200"/>
            <a:ext cx="1841500" cy="584200"/>
          </a:xfrm>
          <a:prstGeom prst="roundRect">
            <a:avLst>
              <a:gd name="adj" fmla="val 17391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01600" rIns="762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FFFFFF"/>
                </a:solidFill>
                <a:latin typeface="Arial Narrow"/>
                <a:cs typeface="Arial Narrow"/>
              </a:rPr>
              <a:t>2. Воспаление и фиброз слабее¹</a:t>
            </a:r>
          </a:p>
        </p:txBody>
      </p:sp>
      <p:sp>
        <p:nvSpPr>
          <p:cNvPr id="8" name="Карточка_звено_2"/>
          <p:cNvSpPr/>
          <p:nvPr/>
        </p:nvSpPr>
        <p:spPr>
          <a:xfrm>
            <a:off x="2501900" y="2870200"/>
            <a:ext cx="1841500" cy="1422400"/>
          </a:xfrm>
          <a:prstGeom prst="roundRect">
            <a:avLst>
              <a:gd name="adj" fmla="val 71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Текст_звено_2"/>
          <p:cNvSpPr txBox="1"/>
          <p:nvPr/>
        </p:nvSpPr>
        <p:spPr>
          <a:xfrm>
            <a:off x="2603500" y="2971800"/>
            <a:ext cx="16383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Рецептор не включает гены воспаления и фиброза.</a:t>
            </a:r>
          </a:p>
        </p:txBody>
      </p:sp>
      <p:sp>
        <p:nvSpPr>
          <p:cNvPr id="10" name="Плашка_звено_3"/>
          <p:cNvSpPr/>
          <p:nvPr/>
        </p:nvSpPr>
        <p:spPr>
          <a:xfrm>
            <a:off x="4546600" y="2235200"/>
            <a:ext cx="1841500" cy="584200"/>
          </a:xfrm>
          <a:prstGeom prst="roundRect">
            <a:avLst>
              <a:gd name="adj" fmla="val 17391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01600" rIns="762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FFFFFF"/>
                </a:solidFill>
                <a:latin typeface="Arial Narrow"/>
                <a:cs typeface="Arial Narrow"/>
              </a:rPr>
              <a:t>3. Альбуминурия ниже</a:t>
            </a:r>
          </a:p>
        </p:txBody>
      </p:sp>
      <p:sp>
        <p:nvSpPr>
          <p:cNvPr id="11" name="Карточка_звено_3"/>
          <p:cNvSpPr/>
          <p:nvPr/>
        </p:nvSpPr>
        <p:spPr>
          <a:xfrm>
            <a:off x="4546600" y="2870200"/>
            <a:ext cx="1841500" cy="1422400"/>
          </a:xfrm>
          <a:prstGeom prst="roundRect">
            <a:avLst>
              <a:gd name="adj" fmla="val 71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Текст_звено_3"/>
          <p:cNvSpPr txBox="1"/>
          <p:nvPr/>
        </p:nvSpPr>
        <p:spPr>
          <a:xfrm>
            <a:off x="4648200" y="2971800"/>
            <a:ext cx="16383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 4-му месяцу АКО ниже, чем на плацебо: на </a:t>
            </a:r>
            <a:r>
              <a:rPr sz="1500" b="1" lang="ru-RU">
                <a:solidFill>
                  <a:srgbClr val="7030A0"/>
                </a:solidFill>
                <a:latin typeface="Arial Narrow"/>
                <a:cs typeface="Arial Narrow"/>
              </a:rPr>
              <a:t>31%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(FIDELIO-DKD), на </a:t>
            </a:r>
            <a:r>
              <a:rPr sz="1500" b="1" lang="ru-RU">
                <a:solidFill>
                  <a:srgbClr val="7030A0"/>
                </a:solidFill>
                <a:latin typeface="Arial Narrow"/>
                <a:cs typeface="Arial Narrow"/>
              </a:rPr>
              <a:t>32%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(FIGARO-DKD).</a:t>
            </a:r>
          </a:p>
        </p:txBody>
      </p:sp>
      <p:sp>
        <p:nvSpPr>
          <p:cNvPr id="13" name="Шеврон_1_2"/>
          <p:cNvSpPr/>
          <p:nvPr/>
        </p:nvSpPr>
        <p:spPr>
          <a:xfrm>
            <a:off x="2298700" y="3048000"/>
            <a:ext cx="203200" cy="4318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Шеврон_2_3"/>
          <p:cNvSpPr/>
          <p:nvPr/>
        </p:nvSpPr>
        <p:spPr>
          <a:xfrm>
            <a:off x="4343400" y="3048000"/>
            <a:ext cx="203200" cy="4318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Подпись_под_цепочкой"/>
          <p:cNvSpPr txBox="1"/>
          <p:nvPr/>
        </p:nvSpPr>
        <p:spPr>
          <a:xfrm>
            <a:off x="457200" y="4445000"/>
            <a:ext cx="59309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Раннее снижение АКО связано с меньшим риском почечных исходов².</a:t>
            </a:r>
          </a:p>
        </p:txBody>
      </p:sp>
      <p:cxnSp>
        <p:nvCxnSpPr>
          <p:cNvPr id="16" name="Стрелка_к_сердечно-сосудистым_исходам"/>
          <p:cNvCxnSpPr/>
          <p:nvPr/>
        </p:nvCxnSpPr>
        <p:spPr>
          <a:xfrm>
            <a:off x="6388100" y="3263900"/>
            <a:ext cx="596900" cy="0"/>
          </a:xfrm>
          <a:prstGeom prst="line">
            <a:avLst/>
          </a:prstGeom>
          <a:ln w="38100">
            <a:solidFill>
              <a:srgbClr val="AEAEAE"/>
            </a:solidFill>
            <a:tailEnd type="triangle" w="med" len="med"/>
          </a:ln>
        </p:spPr>
      </p:cxnSp>
      <p:sp>
        <p:nvSpPr>
          <p:cNvPr id="17" name="Стрелка_к_почечным_исходам"/>
          <p:cNvSpPr/>
          <p:nvPr/>
        </p:nvSpPr>
        <p:spPr>
          <a:xfrm>
            <a:off x="6388100" y="1384300"/>
            <a:ext cx="596900" cy="1879600"/>
          </a:xfrm>
          <a:custGeom>
            <a:avLst/>
            <a:gdLst/>
            <a:ahLst/>
            <a:cxnLst/>
            <a:rect l="l" t="t" r="r" b="b"/>
            <a:pathLst>
              <a:path w="596900" h="1879600">
                <a:moveTo>
                  <a:pt x="0" y="1879600"/>
                </a:moveTo>
                <a:lnTo>
                  <a:pt x="292100" y="1879600"/>
                </a:lnTo>
                <a:lnTo>
                  <a:pt x="292100" y="0"/>
                </a:lnTo>
                <a:lnTo>
                  <a:pt x="596900" y="0"/>
                </a:lnTo>
              </a:path>
            </a:pathLst>
          </a:custGeom>
          <a:noFill/>
          <a:ln w="38100">
            <a:solidFill>
              <a:srgbClr val="AEAEA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Плашка_почечные_исходы"/>
          <p:cNvSpPr/>
          <p:nvPr/>
        </p:nvSpPr>
        <p:spPr>
          <a:xfrm>
            <a:off x="6985000" y="1168400"/>
            <a:ext cx="47498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5080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Почечные исходы</a:t>
            </a:r>
          </a:p>
        </p:txBody>
      </p:sp>
      <p:sp>
        <p:nvSpPr>
          <p:cNvPr id="19" name="Карточка_почечные_исходы"/>
          <p:cNvSpPr/>
          <p:nvPr/>
        </p:nvSpPr>
        <p:spPr>
          <a:xfrm>
            <a:off x="6985000" y="1651000"/>
            <a:ext cx="4749800" cy="127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Текст_почечные_исходы"/>
          <p:cNvSpPr txBox="1"/>
          <p:nvPr/>
        </p:nvSpPr>
        <p:spPr>
          <a:xfrm>
            <a:off x="7137400" y="1701800"/>
            <a:ext cx="4445000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FIDELIO-DKD: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комбинированный почечный исход </a:t>
            </a:r>
            <a:r>
              <a:rPr sz="1500" b="1" lang="ru-RU">
                <a:solidFill>
                  <a:srgbClr val="7030A0"/>
                </a:solidFill>
                <a:latin typeface="Arial Narrow"/>
                <a:cs typeface="Arial Narrow"/>
              </a:rPr>
              <a:t>17,8%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против </a:t>
            </a:r>
            <a:r>
              <a:rPr sz="1500" b="1" lang="ru-RU">
                <a:solidFill>
                  <a:srgbClr val="7F7F7F"/>
                </a:solidFill>
                <a:latin typeface="Arial Narrow"/>
                <a:cs typeface="Arial Narrow"/>
              </a:rPr>
              <a:t>21,1%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на плацебо; риск ниже на 18%.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В показании: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устойчивое снижение рСКФ, терминальная стадия болезни почек.</a:t>
            </a:r>
          </a:p>
        </p:txBody>
      </p:sp>
      <p:sp>
        <p:nvSpPr>
          <p:cNvPr id="21" name="Плашка_сердечно-сосудистые_исходы"/>
          <p:cNvSpPr/>
          <p:nvPr/>
        </p:nvSpPr>
        <p:spPr>
          <a:xfrm>
            <a:off x="6985000" y="3048000"/>
            <a:ext cx="47498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5080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Сердечно-сосудистые исходы</a:t>
            </a:r>
          </a:p>
        </p:txBody>
      </p:sp>
      <p:sp>
        <p:nvSpPr>
          <p:cNvPr id="22" name="Карточка_сердечно-сосудистые_исходы"/>
          <p:cNvSpPr/>
          <p:nvPr/>
        </p:nvSpPr>
        <p:spPr>
          <a:xfrm>
            <a:off x="6985000" y="3530600"/>
            <a:ext cx="47498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Текст_сердечно-сосудистые_исходы"/>
          <p:cNvSpPr txBox="1"/>
          <p:nvPr/>
        </p:nvSpPr>
        <p:spPr>
          <a:xfrm>
            <a:off x="7137400" y="3581400"/>
            <a:ext cx="4445000" cy="180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FIGARO-DKD: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комбинированный сердечно-сосудистый исход </a:t>
            </a:r>
            <a:r>
              <a:rPr sz="1500" b="1" lang="ru-RU">
                <a:solidFill>
                  <a:srgbClr val="7030A0"/>
                </a:solidFill>
                <a:latin typeface="Arial Narrow"/>
                <a:cs typeface="Arial Narrow"/>
              </a:rPr>
              <a:t>12,4%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против </a:t>
            </a:r>
            <a:r>
              <a:rPr sz="1500" b="1" lang="ru-RU">
                <a:solidFill>
                  <a:srgbClr val="7F7F7F"/>
                </a:solidFill>
                <a:latin typeface="Arial Narrow"/>
                <a:cs typeface="Arial Narrow"/>
              </a:rPr>
              <a:t>14,2%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на плацебо; риск ниже на 13%.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Госпитализации по поводу сердечной недостаточности: риск ниже на 29%.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В показании: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смерть от сердечно-сосудистых осложнений, нефатальный инфаркт миокарда, госпитализация по поводу сердечной недостаточности.</a:t>
            </a:r>
          </a:p>
        </p:txBody>
      </p:sp>
      <p:sp>
        <p:nvSpPr>
          <p:cNvPr id="24" name="Круг_Почка_финеренон"/>
          <p:cNvSpPr/>
          <p:nvPr/>
        </p:nvSpPr>
        <p:spPr>
          <a:xfrm>
            <a:off x="7061200" y="1206500"/>
            <a:ext cx="355600" cy="355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Значок_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670" y="1231900"/>
            <a:ext cx="200660" cy="304800"/>
          </a:xfrm>
          <a:prstGeom prst="rect">
            <a:avLst/>
          </a:prstGeom>
        </p:spPr>
      </p:pic>
      <p:sp>
        <p:nvSpPr>
          <p:cNvPr id="26" name="Круг_Сердце_финеренон"/>
          <p:cNvSpPr/>
          <p:nvPr/>
        </p:nvSpPr>
        <p:spPr>
          <a:xfrm>
            <a:off x="7061200" y="3086100"/>
            <a:ext cx="355600" cy="355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Значок_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3124200"/>
            <a:ext cx="213360" cy="279400"/>
          </a:xfrm>
          <a:prstGeom prst="rect">
            <a:avLst/>
          </a:prstGeom>
        </p:spPr>
      </p:pic>
      <p:sp>
        <p:nvSpPr>
          <p:cNvPr id="28" name="Итоговая_полоса"/>
          <p:cNvSpPr/>
          <p:nvPr/>
        </p:nvSpPr>
        <p:spPr>
          <a:xfrm>
            <a:off x="457200" y="55880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778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ru-RU">
                <a:solidFill>
                  <a:srgbClr val="FFFFFF"/>
                </a:solidFill>
                <a:latin typeface="Arial Narrow"/>
                <a:cs typeface="Arial Narrow"/>
              </a:rPr>
              <a:t>Группа по показанию:</a:t>
            </a: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 взрослые с ХБП, связанной с сахарным диабетом 2 типа</a:t>
            </a:r>
          </a:p>
        </p:txBody>
      </p:sp>
      <p:sp>
        <p:nvSpPr>
          <p:cNvPr id="29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ru-RU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рецептор; АКО: отношение альбумина к креатинину мочи; ХБП: хроническая болезнь почек; рСКФ: расчётная скорость клубочковой фильтрации.</a:t>
            </a:r>
          </a:p>
        </p:txBody>
      </p:sp>
      <p:sp>
        <p:nvSpPr>
          <p:cNvPr id="30" name="Источники"/>
          <p:cNvSpPr txBox="1"/>
          <p:nvPr/>
        </p:nvSpPr>
        <p:spPr>
          <a:xfrm>
            <a:off x="457200" y="6553200"/>
            <a:ext cx="10795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ru-RU">
                <a:solidFill>
                  <a:srgbClr val="000000"/>
                </a:solidFill>
                <a:latin typeface="Arial Narrow"/>
                <a:cs typeface="Arial Narrow"/>
              </a:rPr>
              <a:t>¹ Доклинические данные. ² Дополнительный анализ объединённых данных FIDELIO-DKD и FIGARO-DKD, не запланированный заранее. Amazit L, et al. J Biol Chem. 2015;290:21876–21889. Bakris GL, et al. N Engl J Med. 2020;383:2219–2229. Pitt B, et al. N Engl J Med. 2021;385:2252–2263. Agarwal R, et al. Ann Intern Med. 2023;176:1606–1616. Финеренон-Орвилле. Инструкция по медицинскому применению. Иллюстрации: Servier Medical Art.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Возражения о других препаратах: у финеренона исходы изучены при ХБП и диабете 2 типа, а мишень отличается от ингибиторов НГЛТ2</a:t>
            </a:r>
          </a:p>
        </p:txBody>
      </p:sp>
      <p:pic>
        <p:nvPicPr>
          <p:cNvPr id="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" name="Плашка_вопрос_1"/>
          <p:cNvSpPr/>
          <p:nvPr/>
        </p:nvSpPr>
        <p:spPr>
          <a:xfrm>
            <a:off x="457200" y="10668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«У меня уже есть ингибитор НГЛТ2»</a:t>
            </a:r>
          </a:p>
        </p:txBody>
      </p:sp>
      <p:sp>
        <p:nvSpPr>
          <p:cNvPr id="5" name="Карточка_ответ_1"/>
          <p:cNvSpPr/>
          <p:nvPr/>
        </p:nvSpPr>
        <p:spPr>
          <a:xfrm>
            <a:off x="457200" y="1549400"/>
            <a:ext cx="54864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Ответ_1"/>
          <p:cNvSpPr txBox="1"/>
          <p:nvPr/>
        </p:nvSpPr>
        <p:spPr>
          <a:xfrm>
            <a:off x="635000" y="1676400"/>
            <a:ext cx="51308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Мишени разные. В CONFIDENCE (800 пациентов с ХБП и диабетом 2 типа, 180 дней) АКО снизилось от исходного на </a:t>
            </a:r>
            <a:r>
              <a:rPr sz="1800" b="1" lang="ru-RU">
                <a:solidFill>
                  <a:srgbClr val="4EA72E"/>
                </a:solidFill>
                <a:latin typeface="Arial Narrow"/>
                <a:cs typeface="Arial Narrow"/>
              </a:rPr>
              <a:t>52%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при начале обоих препаратов, на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32%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на финереноне, на </a:t>
            </a:r>
            <a:r>
              <a:rPr sz="1800" b="1" lang="ru-RU">
                <a:solidFill>
                  <a:srgbClr val="0F9ED5"/>
                </a:solidFill>
                <a:latin typeface="Arial Narrow"/>
                <a:cs typeface="Arial Narrow"/>
              </a:rPr>
              <a:t>29%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на эмпаглифлозине.</a:t>
            </a:r>
          </a:p>
        </p:txBody>
      </p:sp>
      <p:sp>
        <p:nvSpPr>
          <p:cNvPr id="7" name="Плашка_вопрос_2"/>
          <p:cNvSpPr/>
          <p:nvPr/>
        </p:nvSpPr>
        <p:spPr>
          <a:xfrm>
            <a:off x="6248400" y="10668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«Пациент и так принимает много таблеток»</a:t>
            </a:r>
          </a:p>
        </p:txBody>
      </p:sp>
      <p:sp>
        <p:nvSpPr>
          <p:cNvPr id="8" name="Карточка_ответ_2"/>
          <p:cNvSpPr/>
          <p:nvPr/>
        </p:nvSpPr>
        <p:spPr>
          <a:xfrm>
            <a:off x="6248400" y="1549400"/>
            <a:ext cx="54864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Ответ_2"/>
          <p:cNvSpPr txBox="1"/>
          <p:nvPr/>
        </p:nvSpPr>
        <p:spPr>
          <a:xfrm>
            <a:off x="6426200" y="1676400"/>
            <a:ext cx="51308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Одна таблетка раз в сутки, 10 или 20 мг, независимо от еды. В FIDELIO-DKD, чтобы по сравнению с плацебо предотвратить 1 почечное событие за 3 года, лечили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29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пациентов.</a:t>
            </a:r>
          </a:p>
        </p:txBody>
      </p:sp>
      <p:sp>
        <p:nvSpPr>
          <p:cNvPr id="10" name="Плашка_вопрос_3"/>
          <p:cNvSpPr/>
          <p:nvPr/>
        </p:nvSpPr>
        <p:spPr>
          <a:xfrm>
            <a:off x="457200" y="35052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0F9ED5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«Чем он лучше спиронолактона?»</a:t>
            </a:r>
          </a:p>
        </p:txBody>
      </p:sp>
      <p:sp>
        <p:nvSpPr>
          <p:cNvPr id="11" name="Карточка_ответ_3"/>
          <p:cNvSpPr/>
          <p:nvPr/>
        </p:nvSpPr>
        <p:spPr>
          <a:xfrm>
            <a:off x="457200" y="3987800"/>
            <a:ext cx="54864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Ответ_3"/>
          <p:cNvSpPr txBox="1"/>
          <p:nvPr/>
        </p:nvSpPr>
        <p:spPr>
          <a:xfrm>
            <a:off x="635000" y="4114800"/>
            <a:ext cx="51308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Финеренон нестероидный, метаболиты неактивны. Исходы при ХБП и диабете 2 типа изучены в FIDELIO‑DKD и FIGARO‑DKD. В ARTS (II фаза, сердечная недостаточность и ХБП, 4 недели) калий повышался реже: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5,3%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против </a:t>
            </a:r>
            <a:r>
              <a:rPr sz="1800" b="1" lang="ru-RU">
                <a:solidFill>
                  <a:srgbClr val="0F9ED5"/>
                </a:solidFill>
                <a:latin typeface="Arial Narrow"/>
                <a:cs typeface="Arial Narrow"/>
              </a:rPr>
              <a:t>12,7%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на спиронолактоне¹.</a:t>
            </a:r>
          </a:p>
        </p:txBody>
      </p:sp>
      <p:sp>
        <p:nvSpPr>
          <p:cNvPr id="13" name="Плашка_вопрос_4"/>
          <p:cNvSpPr/>
          <p:nvPr/>
        </p:nvSpPr>
        <p:spPr>
          <a:xfrm>
            <a:off x="6248400" y="35052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0F9ED5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«Почему не эплеренон?»</a:t>
            </a:r>
          </a:p>
        </p:txBody>
      </p:sp>
      <p:sp>
        <p:nvSpPr>
          <p:cNvPr id="14" name="Карточка_ответ_4"/>
          <p:cNvSpPr/>
          <p:nvPr/>
        </p:nvSpPr>
        <p:spPr>
          <a:xfrm>
            <a:off x="6248400" y="3987800"/>
            <a:ext cx="54864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Ответ_4"/>
          <p:cNvSpPr txBox="1"/>
          <p:nvPr/>
        </p:nvSpPr>
        <p:spPr>
          <a:xfrm>
            <a:off x="6426200" y="4114800"/>
            <a:ext cx="51308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Эплеренон, как и спиронолактон, стероидный антагонист МКР. Крупных исследований исходов при ХБП и диабете 2 типа у него нет, у финеренона они есть: FIDELIO-DKD и FIGARO-DKD.</a:t>
            </a:r>
          </a:p>
        </p:txBody>
      </p:sp>
      <p:sp>
        <p:nvSpPr>
          <p:cNvPr id="16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ru-RU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НГЛТ2: натрий-глюкозный котранспортёр 2 типа.</a:t>
            </a:r>
          </a:p>
        </p:txBody>
      </p:sp>
      <p:sp>
        <p:nvSpPr>
          <p:cNvPr id="17" name="Источники"/>
          <p:cNvSpPr txBox="1"/>
          <p:nvPr/>
        </p:nvSpPr>
        <p:spPr>
          <a:xfrm>
            <a:off x="457200" y="6553200"/>
            <a:ext cx="10795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ru-RU">
                <a:solidFill>
                  <a:srgbClr val="000000"/>
                </a:solidFill>
                <a:latin typeface="Arial Narrow"/>
                <a:cs typeface="Arial Narrow"/>
              </a:rPr>
              <a:t>¹ ARTS, часть B: II фаза, 392 пациента с сердечной недостаточностью со сниженной фракцией выброса и умеренным нарушением функции почек, 4 недели; финеренон: объединённые группы доз, спиронолактон открыто. Agarwal R, et al. N Engl J Med. 2025;393:533–543. Bakris GL, et al. N Engl J Med. 2020;383:2219–2229. Pitt B, et al. N Engl J Med. 2021;385:2252–2263. Pitt B, et al. Eur Heart J. 2013;34:2453–2463. 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Возражения о калии, функции почек и стоимости: на каждое есть правило инструкции или число из исследования</a:t>
            </a:r>
          </a:p>
        </p:txBody>
      </p:sp>
      <p:pic>
        <p:nvPicPr>
          <p:cNvPr id="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" name="Плашка_вопрос_1"/>
          <p:cNvSpPr/>
          <p:nvPr/>
        </p:nvSpPr>
        <p:spPr>
          <a:xfrm>
            <a:off x="457200" y="10668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«Боюсь гиперкалиемии»</a:t>
            </a:r>
          </a:p>
        </p:txBody>
      </p:sp>
      <p:sp>
        <p:nvSpPr>
          <p:cNvPr id="5" name="Карточка_ответ_1"/>
          <p:cNvSpPr/>
          <p:nvPr/>
        </p:nvSpPr>
        <p:spPr>
          <a:xfrm>
            <a:off x="457200" y="1549400"/>
            <a:ext cx="54864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Ответ_1"/>
          <p:cNvSpPr txBox="1"/>
          <p:nvPr/>
        </p:nvSpPr>
        <p:spPr>
          <a:xfrm>
            <a:off x="635000" y="1676400"/>
            <a:ext cx="51308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Правило простое: калий до начала, через 4 недели и далее периодически. В FIDELITY гиперкалиемия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14,0%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против </a:t>
            </a:r>
            <a:r>
              <a:rPr sz="1800" b="1" lang="ru-RU">
                <a:solidFill>
                  <a:srgbClr val="7F7F7F"/>
                </a:solidFill>
                <a:latin typeface="Arial Narrow"/>
                <a:cs typeface="Arial Narrow"/>
              </a:rPr>
              <a:t>6,9%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на плацебо; окончательная отмена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1,7%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против </a:t>
            </a:r>
            <a:r>
              <a:rPr sz="1800" b="1" lang="ru-RU">
                <a:solidFill>
                  <a:srgbClr val="7F7F7F"/>
                </a:solidFill>
                <a:latin typeface="Arial Narrow"/>
                <a:cs typeface="Arial Narrow"/>
              </a:rPr>
              <a:t>0,6%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7" name="Плашка_вопрос_2"/>
          <p:cNvSpPr/>
          <p:nvPr/>
        </p:nvSpPr>
        <p:spPr>
          <a:xfrm>
            <a:off x="6248400" y="10668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«У пациента низкая рСКФ»</a:t>
            </a:r>
          </a:p>
        </p:txBody>
      </p:sp>
      <p:sp>
        <p:nvSpPr>
          <p:cNvPr id="8" name="Карточка_ответ_2"/>
          <p:cNvSpPr/>
          <p:nvPr/>
        </p:nvSpPr>
        <p:spPr>
          <a:xfrm>
            <a:off x="6248400" y="1549400"/>
            <a:ext cx="54864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Ответ_2"/>
          <p:cNvSpPr txBox="1"/>
          <p:nvPr/>
        </p:nvSpPr>
        <p:spPr>
          <a:xfrm>
            <a:off x="6426200" y="1676400"/>
            <a:ext cx="51308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можно при рСКФ ≥25 мл/мин/1,73 м² (доза 10 мг при рСКФ от 25 до 60). В FIDELIO-DKD рСКФ была 25–75, преимущественно 3–4-я стадия ХБП; в целом риск комбинированного почечного исхода ниже на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18%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по сравнению с плацебо.</a:t>
            </a:r>
          </a:p>
        </p:txBody>
      </p:sp>
      <p:sp>
        <p:nvSpPr>
          <p:cNvPr id="10" name="Плашка_вопрос_3"/>
          <p:cNvSpPr/>
          <p:nvPr/>
        </p:nvSpPr>
        <p:spPr>
          <a:xfrm>
            <a:off x="457200" y="35052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«Альбуминурия небольшая, пациент стабилен»</a:t>
            </a:r>
          </a:p>
        </p:txBody>
      </p:sp>
      <p:sp>
        <p:nvSpPr>
          <p:cNvPr id="11" name="Карточка_ответ_3"/>
          <p:cNvSpPr/>
          <p:nvPr/>
        </p:nvSpPr>
        <p:spPr>
          <a:xfrm>
            <a:off x="457200" y="3987800"/>
            <a:ext cx="54864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Ответ_3"/>
          <p:cNvSpPr txBox="1"/>
          <p:nvPr/>
        </p:nvSpPr>
        <p:spPr>
          <a:xfrm>
            <a:off x="635000" y="4114800"/>
            <a:ext cx="51308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ХБП долго протекает без симптомов. FIGARO-DKD включал и пациентов с умеренно повышенной альбуминурией (АКО 30–300 мг/г); в целом по исследованию сердечно-сосудистый исход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12,4%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против </a:t>
            </a:r>
            <a:r>
              <a:rPr sz="1800" b="1" lang="ru-RU">
                <a:solidFill>
                  <a:srgbClr val="7F7F7F"/>
                </a:solidFill>
                <a:latin typeface="Arial Narrow"/>
                <a:cs typeface="Arial Narrow"/>
              </a:rPr>
              <a:t>14,2%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на плацебо.</a:t>
            </a:r>
          </a:p>
        </p:txBody>
      </p:sp>
      <p:sp>
        <p:nvSpPr>
          <p:cNvPr id="13" name="Плашка_вопрос_4"/>
          <p:cNvSpPr/>
          <p:nvPr/>
        </p:nvSpPr>
        <p:spPr>
          <a:xfrm>
            <a:off x="6248400" y="35052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524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«Дорого»</a:t>
            </a:r>
          </a:p>
        </p:txBody>
      </p:sp>
      <p:sp>
        <p:nvSpPr>
          <p:cNvPr id="14" name="Карточка_ответ_4"/>
          <p:cNvSpPr/>
          <p:nvPr/>
        </p:nvSpPr>
        <p:spPr>
          <a:xfrm>
            <a:off x="6248400" y="3987800"/>
            <a:ext cx="54864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Ответ_4"/>
          <p:cNvSpPr txBox="1"/>
          <p:nvPr/>
        </p:nvSpPr>
        <p:spPr>
          <a:xfrm>
            <a:off x="6426200" y="4114800"/>
            <a:ext cx="5130800" cy="162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Цену и условия поставки уточню по процедуре компании. По пользе: чтобы по сравнению с плацебо предотвратить 1 событие, нужно лечить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29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пациентов за 3 года (почечный исход, FIDELIO‑DKD) или </a:t>
            </a: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47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за 3,5 года (сердечно-сосудистый исход, FIGARO‑DKD).</a:t>
            </a:r>
          </a:p>
        </p:txBody>
      </p:sp>
      <p:sp>
        <p:nvSpPr>
          <p:cNvPr id="16" name="Сокращения"/>
          <p:cNvSpPr txBox="1"/>
          <p:nvPr/>
        </p:nvSpPr>
        <p:spPr>
          <a:xfrm>
            <a:off x="457200" y="6273800"/>
            <a:ext cx="10795000" cy="241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ru-RU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АКО: отношение альбумина к креатинину мочи.</a:t>
            </a:r>
          </a:p>
        </p:txBody>
      </p:sp>
      <p:sp>
        <p:nvSpPr>
          <p:cNvPr id="17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ru-RU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Визит в пять шагов: от вопроса о пациентах врача до просьбы проверить АКО и рассмотреть финеренон</a:t>
            </a:r>
          </a:p>
        </p:txBody>
      </p:sp>
      <p:pic>
        <p:nvPicPr>
          <p:cNvPr id="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600" y="6350000"/>
            <a:ext cx="711200" cy="431800"/>
          </a:xfrm>
          <a:prstGeom prst="rect">
            <a:avLst/>
          </a:prstGeom>
        </p:spPr>
      </p:pic>
      <p:sp>
        <p:nvSpPr>
          <p:cNvPr id="4" name="Полоса_цель_визита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77800" rIns="101600" tIns="25400" bIns="2540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ru-RU">
                <a:solidFill>
                  <a:srgbClr val="FFFFFF"/>
                </a:solidFill>
                <a:latin typeface="Arial Narrow"/>
                <a:cs typeface="Arial Narrow"/>
              </a:rPr>
              <a:t>Цель визита:</a:t>
            </a:r>
            <a:r>
              <a:rPr sz="1700" b="0" lang="ru-RU">
                <a:solidFill>
                  <a:srgbClr val="FFFFFF"/>
                </a:solidFill>
                <a:latin typeface="Arial Narrow"/>
                <a:cs typeface="Arial Narrow"/>
              </a:rPr>
              <a:t> врач проверяет АКО у пациентов с ХБП и диабетом 2 типа и рассматривает финеренон</a:t>
            </a:r>
          </a:p>
        </p:txBody>
      </p:sp>
      <p:sp>
        <p:nvSpPr>
          <p:cNvPr id="5" name="Строка_1"/>
          <p:cNvSpPr/>
          <p:nvPr/>
        </p:nvSpPr>
        <p:spPr>
          <a:xfrm>
            <a:off x="457200" y="14478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Подпись_шага_1"/>
          <p:cNvSpPr txBox="1"/>
          <p:nvPr/>
        </p:nvSpPr>
        <p:spPr>
          <a:xfrm>
            <a:off x="660400" y="1447800"/>
            <a:ext cx="22860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156082"/>
                </a:solidFill>
                <a:latin typeface="Arial Narrow"/>
                <a:cs typeface="Arial Narrow"/>
              </a:rPr>
              <a:t>1. Вопрос врачу</a:t>
            </a:r>
          </a:p>
        </p:txBody>
      </p:sp>
      <p:sp>
        <p:nvSpPr>
          <p:cNvPr id="7" name="Фраза_шага_1"/>
          <p:cNvSpPr txBox="1"/>
          <p:nvPr/>
        </p:nvSpPr>
        <p:spPr>
          <a:xfrm>
            <a:off x="3048000" y="1447800"/>
            <a:ext cx="85344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каких ваших пациентов с диабетом 2 типа и ХБП </a:t>
            </a: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на ингибиторе АПФ или БРА?</a:t>
            </a:r>
          </a:p>
        </p:txBody>
      </p:sp>
      <p:sp>
        <p:nvSpPr>
          <p:cNvPr id="8" name="Строка_2"/>
          <p:cNvSpPr/>
          <p:nvPr/>
        </p:nvSpPr>
        <p:spPr>
          <a:xfrm>
            <a:off x="457200" y="23114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Подпись_шага_2"/>
          <p:cNvSpPr txBox="1"/>
          <p:nvPr/>
        </p:nvSpPr>
        <p:spPr>
          <a:xfrm>
            <a:off x="660400" y="2311400"/>
            <a:ext cx="22860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156082"/>
                </a:solidFill>
                <a:latin typeface="Arial Narrow"/>
                <a:cs typeface="Arial Narrow"/>
              </a:rPr>
              <a:t>2. Сообщение</a:t>
            </a:r>
          </a:p>
        </p:txBody>
      </p:sp>
      <p:sp>
        <p:nvSpPr>
          <p:cNvPr id="10" name="Фраза_шага_2"/>
          <p:cNvSpPr txBox="1"/>
          <p:nvPr/>
        </p:nvSpPr>
        <p:spPr>
          <a:xfrm>
            <a:off x="3048000" y="2311400"/>
            <a:ext cx="85344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блокирует минералокортикоидный рецептор. У ингибиторов АПФ, БРА и НГЛТ2 </a:t>
            </a: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мишени другие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Строка_3"/>
          <p:cNvSpPr/>
          <p:nvPr/>
        </p:nvSpPr>
        <p:spPr>
          <a:xfrm>
            <a:off x="457200" y="31750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Подпись_шага_3"/>
          <p:cNvSpPr txBox="1"/>
          <p:nvPr/>
        </p:nvSpPr>
        <p:spPr>
          <a:xfrm>
            <a:off x="660400" y="3175000"/>
            <a:ext cx="22860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156082"/>
                </a:solidFill>
                <a:latin typeface="Arial Narrow"/>
                <a:cs typeface="Arial Narrow"/>
              </a:rPr>
              <a:t>3. Доказательство</a:t>
            </a:r>
          </a:p>
        </p:txBody>
      </p:sp>
      <p:sp>
        <p:nvSpPr>
          <p:cNvPr id="13" name="Фраза_шага_3"/>
          <p:cNvSpPr txBox="1"/>
          <p:nvPr/>
        </p:nvSpPr>
        <p:spPr>
          <a:xfrm>
            <a:off x="3048000" y="3175000"/>
            <a:ext cx="85344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По сравнению с плацебо риск комбинированного почечного исхода </a:t>
            </a:r>
            <a:r>
              <a:rPr sz="1600" b="1" lang="ru-RU">
                <a:solidFill>
                  <a:srgbClr val="7030A0"/>
                </a:solidFill>
                <a:latin typeface="Arial Narrow"/>
                <a:cs typeface="Arial Narrow"/>
              </a:rPr>
              <a:t>ниже на 18%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в FIDELIO-DKD, сердечно-сосудистого </a:t>
            </a:r>
            <a:r>
              <a:rPr sz="1600" b="1" lang="ru-RU">
                <a:solidFill>
                  <a:srgbClr val="7030A0"/>
                </a:solidFill>
                <a:latin typeface="Arial Narrow"/>
                <a:cs typeface="Arial Narrow"/>
              </a:rPr>
              <a:t>на 13%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в FIGARO-DKD.</a:t>
            </a:r>
          </a:p>
        </p:txBody>
      </p:sp>
      <p:sp>
        <p:nvSpPr>
          <p:cNvPr id="14" name="Строка_4"/>
          <p:cNvSpPr/>
          <p:nvPr/>
        </p:nvSpPr>
        <p:spPr>
          <a:xfrm>
            <a:off x="457200" y="40386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Подпись_шага_4"/>
          <p:cNvSpPr txBox="1"/>
          <p:nvPr/>
        </p:nvSpPr>
        <p:spPr>
          <a:xfrm>
            <a:off x="660400" y="4038600"/>
            <a:ext cx="22860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156082"/>
                </a:solidFill>
                <a:latin typeface="Arial Narrow"/>
                <a:cs typeface="Arial Narrow"/>
              </a:rPr>
              <a:t>4. Калий</a:t>
            </a:r>
          </a:p>
        </p:txBody>
      </p:sp>
      <p:sp>
        <p:nvSpPr>
          <p:cNvPr id="16" name="Фраза_шага_4"/>
          <p:cNvSpPr txBox="1"/>
          <p:nvPr/>
        </p:nvSpPr>
        <p:spPr>
          <a:xfrm>
            <a:off x="3048000" y="4038600"/>
            <a:ext cx="85344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Правило простое: </a:t>
            </a: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калий до начала, через 4 недели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и далее периодически.</a:t>
            </a:r>
          </a:p>
        </p:txBody>
      </p:sp>
      <p:sp>
        <p:nvSpPr>
          <p:cNvPr id="17" name="Строка_5"/>
          <p:cNvSpPr/>
          <p:nvPr/>
        </p:nvSpPr>
        <p:spPr>
          <a:xfrm>
            <a:off x="457200" y="49022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Подпись_шага_5"/>
          <p:cNvSpPr txBox="1"/>
          <p:nvPr/>
        </p:nvSpPr>
        <p:spPr>
          <a:xfrm>
            <a:off x="660400" y="4902200"/>
            <a:ext cx="22860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156082"/>
                </a:solidFill>
                <a:latin typeface="Arial Narrow"/>
                <a:cs typeface="Arial Narrow"/>
              </a:rPr>
              <a:t>5. Просьба</a:t>
            </a:r>
          </a:p>
        </p:txBody>
      </p:sp>
      <p:sp>
        <p:nvSpPr>
          <p:cNvPr id="19" name="Фраза_шага_5"/>
          <p:cNvSpPr txBox="1"/>
          <p:nvPr/>
        </p:nvSpPr>
        <p:spPr>
          <a:xfrm>
            <a:off x="3048000" y="4902200"/>
            <a:ext cx="85344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Прошу </a:t>
            </a: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проверить АКО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у таких пациентов и </a:t>
            </a: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рассмотреть финеренон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, если есть показание. Решение о лечении остаётся за вами.</a:t>
            </a:r>
          </a:p>
        </p:txBody>
      </p:sp>
      <p:sp>
        <p:nvSpPr>
          <p:cNvPr id="20" name="Нижняя_строка"/>
          <p:cNvSpPr txBox="1"/>
          <p:nvPr/>
        </p:nvSpPr>
        <p:spPr>
          <a:xfrm>
            <a:off x="457200" y="57404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Вне показания: тему сам не открываю, вопрос врача передаю в медицинский отдел.</a:t>
            </a:r>
          </a:p>
        </p:txBody>
      </p:sp>
      <p:sp>
        <p:nvSpPr>
          <p:cNvPr id="21" name="Сокращения"/>
          <p:cNvSpPr txBox="1"/>
          <p:nvPr/>
        </p:nvSpPr>
        <p:spPr>
          <a:xfrm>
            <a:off x="457200" y="6184900"/>
            <a:ext cx="107950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ru-RU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мочи; АПФ: ангиотензинпревращающий фермент; БРА: блокатор рецепторов ангиотензина II; НГЛТ2: натрий-глюкозный котранспортёр 2 типа.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629400"/>
            <a:ext cx="10795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ru-RU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0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826</TotalTime>
  <Words>14897</Words>
  <Application>Microsoft Office PowerPoint</Application>
  <PresentationFormat>Широкоэкранный</PresentationFormat>
  <Paragraphs>1219</Paragraphs>
  <Slides>47</Slides>
  <Notes>47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29</vt:i4>
      </vt:variant>
      <vt:variant>
        <vt:lpstr>Заголовки слайдов</vt:lpstr>
      </vt:variant>
      <vt:variant>
        <vt:i4>47</vt:i4>
      </vt:variant>
    </vt:vector>
  </HeadingPairs>
  <TitlesOfParts>
    <vt:vector size="80" baseType="lpstr">
      <vt:lpstr>Arial</vt:lpstr>
      <vt:lpstr>Arial Narrow</vt:lpstr>
      <vt:lpstr>Calibri</vt:lpstr>
      <vt:lpstr>Calibri Light</vt:lpstr>
      <vt:lpstr>Office Theme</vt:lpstr>
      <vt:lpstr>Office Theme</vt:lpstr>
      <vt:lpstr>Simple Light</vt:lpstr>
      <vt:lpstr>ChatGPT</vt:lpstr>
      <vt:lpstr>Office Theme</vt:lpstr>
      <vt:lpstr>Office Theme</vt:lpstr>
      <vt:lpstr>Office Theme</vt:lpstr>
      <vt:lpstr>ChatGPT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ChatGPT</vt:lpstr>
      <vt:lpstr>ChatGPT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 при хронической болезни почек и сахарном диабете 2 типа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15</cp:revision>
  <dcterms:created xsi:type="dcterms:W3CDTF">2013-01-27T09:14:16Z</dcterms:created>
  <dcterms:modified xsi:type="dcterms:W3CDTF">2026-10-01T17:55:58Z</dcterms:modified>
  <cp:category/>
</cp:coreProperties>
</file>