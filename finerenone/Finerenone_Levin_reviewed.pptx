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notesSlides/notesSlide2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265" r:id="rIdReviewed10"/>
    <p:sldId id="266" r:id="rIdReviewed11"/>
    <p:sldId id="267" r:id="rIdReviewed12"/>
    <p:sldId id="268" r:id="rIdReviewed13"/>
    <p:sldId id="269" r:id="rIdReviewed14"/>
    <p:sldId id="260" r:id="rIdReviewed5"/>
    <p:sldId id="261" r:id="rIdReviewed6"/>
    <p:sldId id="262" r:id="rIdReviewed7"/>
    <p:sldId id="263" r:id="rIdReviewed8"/>
    <p:sldId id="264" r:id="rIdReviewed9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289" r:id="rIdReviewed34"/>
    <p:sldId id="290" r:id="rIdReviewed35"/>
    <p:sldId id="291" r:id="rIdReviewed36"/>
    <p:sldId id="297" r:id="rId83"/>
    <p:sldId id="298" r:id="rId84"/>
    <p:sldId id="299" r:id="rId85"/>
    <p:sldId id="300" r:id="rId86"/>
    <p:sldId id="301" r:id="rId87"/>
    <p:sldId id="282" r:id="rIdReviewed27"/>
    <p:sldId id="292" r:id="rIdReviewed37"/>
    <p:sldId id="293" r:id="rIdReviewed38"/>
    <p:sldId id="295" r:id="rIdT1D1"/>
    <p:sldId id="296" r:id="rIdT1D2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10.xml"/><Relationship Id="rIdReviewed11" Type="http://schemas.openxmlformats.org/officeDocument/2006/relationships/slide" Target="slides/slide11.xml"/><Relationship Id="rIdReviewed12" Type="http://schemas.openxmlformats.org/officeDocument/2006/relationships/slide" Target="slides/slide12.xml"/><Relationship Id="rIdReviewed13" Type="http://schemas.openxmlformats.org/officeDocument/2006/relationships/slide" Target="slides/slide13.xml"/><Relationship Id="rIdReviewed14" Type="http://schemas.openxmlformats.org/officeDocument/2006/relationships/slide" Target="slides/slide14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27.xml"/><Relationship Id="rIdReviewed28" Type="http://schemas.openxmlformats.org/officeDocument/2006/relationships/slide" Target="slides/slide28.xml"/><Relationship Id="rIdReviewed29" Type="http://schemas.openxmlformats.org/officeDocument/2006/relationships/slide" Target="slides/slide29.xml"/><Relationship Id="rIdReviewed3" Type="http://schemas.openxmlformats.org/officeDocument/2006/relationships/slide" Target="slides/slide3.xml"/><Relationship Id="rIdReviewed30" Type="http://schemas.openxmlformats.org/officeDocument/2006/relationships/slide" Target="slides/slide30.xml"/><Relationship Id="rIdReviewed31" Type="http://schemas.openxmlformats.org/officeDocument/2006/relationships/slide" Target="slides/slide31.xml"/><Relationship Id="rIdReviewed32" Type="http://schemas.openxmlformats.org/officeDocument/2006/relationships/slide" Target="slides/slide32.xml"/><Relationship Id="rIdReviewed33" Type="http://schemas.openxmlformats.org/officeDocument/2006/relationships/slide" Target="slides/slide33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37.xml"/><Relationship Id="rIdReviewed38" Type="http://schemas.openxmlformats.org/officeDocument/2006/relationships/slide" Target="slides/slide38.xml"/><Relationship Id="rIdReviewed39" Type="http://schemas.openxmlformats.org/officeDocument/2006/relationships/slide" Target="slides/slide41.xml"/><Relationship Id="rIdReviewed4" Type="http://schemas.openxmlformats.org/officeDocument/2006/relationships/slide" Target="slides/slide4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5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6.xml"/><Relationship Id="rIdReviewed7" Type="http://schemas.openxmlformats.org/officeDocument/2006/relationships/slide" Target="slides/slide7.xml"/><Relationship Id="rIdReviewed8" Type="http://schemas.openxmlformats.org/officeDocument/2006/relationships/slide" Target="slides/slide8.xml"/><Relationship Id="rIdReviewed9" Type="http://schemas.openxmlformats.org/officeDocument/2006/relationships/slide" Target="slides/slide9.xml"/><Relationship Id="rIdT1D1" Type="http://schemas.openxmlformats.org/officeDocument/2006/relationships/slide" Target="slides/slide39.xml"/><Relationship Id="rIdT1D2" Type="http://schemas.openxmlformats.org/officeDocument/2006/relationships/slide" Target="slides/slide40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4.xml"/><Relationship Id="rId86" Type="http://schemas.openxmlformats.org/officeDocument/2006/relationships/slide" Target="slides/slide45.xml"/><Relationship Id="rId87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1F4E79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A9C4CC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Calibri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Calibri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Calibri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Calibri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16324F"/>
                </a:solidFill>
                <a:latin typeface="Calibri"/>
                <a:ea typeface="Calibri"/>
                <a:cs typeface="Calibri"/>
              </a:rPr>
              <a:t>Пациенты со снижением АКО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5C87C3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5C87C3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C7543B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5C87C3"/>
                        </a:solidFill>
                        <a:latin typeface="Calibri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C7543B"/>
                        </a:solidFill>
                        <a:latin typeface="Calibri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Calibri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Calibri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Calibri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Calibri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Calibri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Calibri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uz-Latn-UZ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27 (механизм), 31 (контроль), 32 (коррекция дозы), 34 (случай), 19–21 (частота окончательной отмены).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5, 8, 9.</a:t>
            </a:r>
          </a:p>
          <a:p>
            <a:r>
              <a:t>2. рСКФ 48 — 10 мг, рСКФ 72 — 20 мг один раз в сутки; при рСКФ &lt;25 лечение не начинают. Слайды 30, 33.</a:t>
            </a:r>
          </a:p>
          <a:p>
            <a:r>
              <a:t>3. Если рСКФ снизилась более чем на 30% от предыдущего измерения. Слайд 32.</a:t>
            </a:r>
          </a:p>
          <a:p>
            <a:r>
              <a:t>4. FIDELIO-DKD — комбинированный почечный исход (ОР 0,82); FIGARO-DKD — комбинированный сердечно-сосудистый исход (ОР 0,87, в основном за счёт госпитализаций из-за сердечной недостаточности). Слайды 18–20.</a:t>
            </a:r>
          </a:p>
          <a:p>
            <a:r>
              <a:t>5. Нет. Снижение АКО — суррогатный маркер на уровне групп; влияние на исходы показано в FIDELIO-DKD и FIGARO-DKD. Слайды 22, 23.</a:t>
            </a:r>
          </a:p>
          <a:p>
            <a:r>
              <a:t>6. Автоматически заменять нельзя: назначение финеренона само по себе не требует отмены ингибитора НГЛТ2. Слайд 25.</a:t>
            </a:r>
          </a:p>
          <a:p>
            <a:r>
              <a:t>7. Не рекомендуется: другие антагонисты МКР (спиронолактон, эплеренон), калийсберегающие диуретики (амилорид, триамтерен), сильные и умеренные индукторы CYP3A4; противопоказаны сильные ингибиторы CYP3A4. С контролем калия: препараты калия и заменители соли, триметоприм (ко-тримоксазол), НПВП, умеренные и слабые ингибиторы CYP3A4. Слайды 28, 29.</a:t>
            </a:r>
          </a:p>
          <a:p>
            <a:r>
              <a:t>8. Эти показания не указаны в местной инструкции: представитель их не обсуждает и передаёт вопрос в медицинский отдел. Приложение.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Разбор: следующий слайд — вопрос 1, затем вопрос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8–10 (анализы и прогноз), 13 (остаточный риск), 19–21 (FIDELIO-DKD, FIGARO-DKD, FIDELITY), 30 (перед началом), 33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Одобрение при сердечной недостаточности не требует наличия сахарного диабета. США: FDA 11.07.2025,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Европейская комиссия, C(2026)2188 от 26.03.2026, симптомная хроническая сердечная недостаточность с фракцией выброса левого желудочка ≥40% у взрослых. Это дата решения, а не дата пресс-релиза 30.03.2026. В опубликованной инструкции Финеренон-Орвилле данное показание не указано. Дата проверки 24.09.2026.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5989BB"/>
              </a:solidFill>
              <a:ln>
                <a:noFill/>
              </a:ln>
            </c:spPr>
          </c:dPt>
          <c:dPt>
            <c:idx val="1"/>
            <c:spPr>
              <a:solidFill>
                <a:srgbClr val="7957A1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193951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273C4A"/>
                </a:solidFill>
                <a:latin typeface="Calibri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/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/Relationships>
</file>

<file path=ppt/slides/_rels/slide33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39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/Relationships>
</file>

<file path=ppt/slides/_rels/slide40.xml.rels><?xml version='1.0' encoding='UTF-8' standalone='yes'?>
<Relationships xmlns="http://schemas.openxmlformats.org/package/2006/relationships"><Relationship Id="R0032103bd1e44bb2" Type="http://schemas.openxmlformats.org/officeDocument/2006/relationships/notesSlide" Target="../t1d_approval/notesSlides/notesSlide2.xml"/><Relationship Id="R01545398bbe44f77" Type="http://schemas.openxmlformats.org/officeDocument/2006/relationships/hyperlink" Target="https://orvilleservices.com/instructions/Finerenon_Instruction_ru.pdf" TargetMode="External"/><Relationship Id="R290cfdcdb716453a" Type="http://schemas.openxmlformats.org/officeDocument/2006/relationships/image" Target="../t1d_approval/media/image2.png"/><Relationship Id="R985443ce4be24b2f" Type="http://schemas.openxmlformats.org/officeDocument/2006/relationships/slideLayout" Target="../t1d_approval/slideLayouts/slideLayout1.xml"/><Relationship Id="Rbcab1758281a4745" Type="http://schemas.openxmlformats.org/officeDocument/2006/relationships/hyperlink" Target="https://www.accessdata.fda.gov/drugsatfda_docs/label/2026/215341s011lbl.pdf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"/>
                <a:ea typeface="Arial"/>
                <a:cs typeface="Arial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с сахарным диабетом 2 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04775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Кому подходит препарат и как он действует.</a:t>
            </a:r>
            <a:br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Какая польза подтверждена исследованиями.</a:t>
            </a:r>
            <a:br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Как контролировать калий и функцию почек.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Нестероидный антагонист</a:t>
            </a:r>
            <a:br/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минералокортикоидного рецептора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PubChem. Finerenone, CID 60150535.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"/>
                <a:cs typeface="Arial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"/>
                <a:cs typeface="Arial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3" name="Urine_to_ratio"/>
              <p:cNvCxnSpPr/>
              <p:nvPr/>
            </p:nvCxnSpPr>
            <p:spPr>
              <a:xfrm>
                <a:off x="1764792" y="5404104"/>
                <a:ext cx="521208" cy="0"/>
              </a:xfrm>
              <a:prstGeom prst="line">
                <a:avLst/>
              </a:prstGeom>
              <a:ln w="21590">
                <a:solidFill>
                  <a:srgbClr val="C8104E"/>
                </a:solidFill>
                <a:tailEnd type="triangle" w="sm" len="sm"/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Глюкоза крови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контролируются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16324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  <p:cxnSp>
            <p:nvCxnSpPr>
              <p:cNvPr id="60" name="Blood_to_result"/>
              <p:cNvCxnSpPr/>
              <p:nvPr/>
            </p:nvCxnSpPr>
            <p:spPr>
              <a:xfrm>
                <a:off x="1764792" y="2414016"/>
                <a:ext cx="521208" cy="0"/>
              </a:xfrm>
              <a:prstGeom prst="line">
                <a:avLst/>
              </a:prstGeom>
              <a:ln w="21590">
                <a:solidFill>
                  <a:srgbClr val="0E5A8A"/>
                </a:solidFill>
                <a:tailEnd type="triangle" w="sm" len="sm"/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Когда возможен возврат к лечению?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"/>
                <a:cs typeface="Arial"/>
              </a:rPr>
              <a:t>Четыре группы препаратов для защиты почек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"/>
                <a:cs typeface="Arial"/>
              </a:rPr>
              <a:t>при сахарном диабете 2 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9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495300" y="12700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495300" y="1270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82700" y="10922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82700" y="10922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452327" y="996820"/>
            <a:ext cx="8284546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Ингибиторы</a:t>
            </a:r>
            <a:r>
              <a:rPr sz="1600" b="1" u="none" dirty="0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 АПФ </a:t>
            </a:r>
            <a:r>
              <a:rPr sz="1600" b="1" u="none" dirty="0" err="1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или</a:t>
            </a:r>
            <a:r>
              <a:rPr sz="1600" b="1" u="none" dirty="0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1" u="none" dirty="0" err="1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блокаторы</a:t>
            </a:r>
            <a:r>
              <a:rPr sz="1600" b="1" u="none" dirty="0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1" u="none" dirty="0" err="1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рецепторов</a:t>
            </a:r>
            <a:r>
              <a:rPr sz="1600" b="1" u="none" dirty="0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1" u="none" dirty="0" err="1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ангиотензина</a:t>
            </a:r>
            <a:r>
              <a:rPr sz="1600" b="1" u="none" dirty="0">
                <a:solidFill>
                  <a:srgbClr val="156082"/>
                </a:solidFill>
                <a:latin typeface="Calibri"/>
                <a:ea typeface="Calibri"/>
                <a:cs typeface="Calibri"/>
              </a:rPr>
              <a:t> II</a:t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2984500" y="12319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Мишень</a:t>
            </a:r>
            <a:r>
              <a:rPr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АПФ 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рецептор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ангиотензина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II 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типа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Снижают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давление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клубочке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6985000" y="12319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Доказанная польза: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2984500" y="19381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Исследования</a:t>
            </a:r>
            <a:r>
              <a:rPr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RENAAL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лозартан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IDNT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ирбесартан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390900" y="22098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Calibri"/>
                <a:ea typeface="Calibri"/>
                <a:cs typeface="Calibri"/>
              </a:rPr>
              <a:t>Ингибиторы натрий-глюкозного котранспортёра 2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2984500" y="24892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НГЛТ2 проксимального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канальца. Снижают возврат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6985000" y="24892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Доказанная польза: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2984500" y="31954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Исследования</a:t>
            </a:r>
            <a:r>
              <a:rPr sz="14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CREDENCE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канаглифлозин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DAPA-CKD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дапаглифлозин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EMPA-KIDNEY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эмпаглифлозин</a:t>
            </a:r>
            <a:r>
              <a:rPr sz="1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390900" y="34671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Нестероидный антагонист МКР: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2984500" y="37465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МКР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минералокортикоидный рецептор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почках, сердце и сосудах.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6985000" y="37465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Доказанная польза: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2984500" y="44527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FIDELIO-DKD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FIGARO-DKD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FIDELITY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(объединённый анализ). В дополнение к терапии группы 1.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390900" y="47244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Calibri"/>
                <a:ea typeface="Calibri"/>
                <a:cs typeface="Calibri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2984500" y="5003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Улучшают контроль глюкозы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6985000" y="50038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Доказанная польза: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2984500" y="57100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Исследование: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FLOW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(семаглутид). Первичный комбинированный исход†.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2540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9436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Контроль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давления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гликемии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Терапию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выбирают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функции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почек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альбуминурии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калию</a:t>
            </a:r>
            <a:r>
              <a:rPr sz="16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2032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4318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9652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7399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2540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2768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3022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2540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2768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3022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3448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3676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3930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3448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3676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3930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4356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4584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4838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4356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4584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4838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5264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5492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5746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5264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5492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5746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6172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6400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6654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6172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6400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6654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7080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7308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7562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7080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7308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7562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7988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8216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8470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7988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8216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8470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8896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9124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9378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8896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9124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9378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9804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0033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0287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9804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0033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0287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0712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0941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1195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0712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0941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1195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1620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1849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2103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1620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1849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2103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2528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2757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3011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2528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2757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3011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3436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3665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3919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3436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3665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3919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4344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4573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4827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4344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4573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4827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5252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5481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5735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5252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5481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5735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643947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4699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6764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мембране</a:t>
            </a:r>
          </a:p>
        </p:txBody>
      </p:sp>
      <p:cxnSp>
        <p:nvCxnSpPr>
          <p:cNvPr id="345" name="Разделитель пояснений и библиографии"/>
          <p:cNvCxnSpPr/>
          <p:nvPr/>
        </p:nvCxnSpPr>
        <p:spPr>
          <a:xfrm>
            <a:off x="7534656" y="6356909"/>
            <a:ext cx="0" cy="440741"/>
          </a:xfrm>
          <a:prstGeom prst="line">
            <a:avLst/>
          </a:prstGeom>
          <a:ln w="6350">
            <a:solidFill>
              <a:srgbClr val="D9E0E4"/>
            </a:solidFill>
          </a:ln>
        </p:spPr>
      </p:cxnSp>
      <p:sp>
        <p:nvSpPr>
          <p:cNvPr id="346" name="Источники"/>
          <p:cNvSpPr txBox="1"/>
          <p:nvPr/>
        </p:nvSpPr>
        <p:spPr>
          <a:xfrm>
            <a:off x="457200" y="6134100"/>
            <a:ext cx="112776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* Раннее снижение рСКФ после начала ингибитора НГЛТ2 обычно обратимо; выраженное снижение требует оценки врача. † FLOW: почечная недостаточность, устойчивое снижение рСКФ на 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ХБП — хроническая болезнь почек; рСКФ — расчётная скорость клубочковой фильтрации; АПФ —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 BY 4.0.</a:t>
            </a:r>
          </a:p>
        </p:txBody>
      </p:sp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Остаточный риск сохраняется на фоне лечения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0515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838200" y="1562100"/>
            <a:ext cx="10515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CREDENCE: 4401 пациент с диабетом 2 типа, хронической болезнью почек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 выраженной альбуминурией. Все получали ингибитор ангиотензинпревращающего фермента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либо блокатор рецепторов ангиотензина II.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800350"/>
            <a:ext cx="35052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257550"/>
            <a:ext cx="350520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95% доверительный интервал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0,59–0,82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4029075"/>
            <a:ext cx="35052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Медиана наблюдения 2,62 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Доли рассчитаны за весь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период исследования.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5057775"/>
            <a:ext cx="35052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 в этом исследовании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не изучался.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838200" y="580072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Первичный исход: терминальная почечная недостаточность, удвоение креатинина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смерть от почечной либо сердечно-сосудистой причины.</a:t>
            </a:r>
          </a:p>
        </p:txBody>
      </p:sp>
      <p:sp>
        <p:nvSpPr>
          <p:cNvPr id="1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Доли рассчитаны по опубликованному числу участников с событием.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Perkovic V, et al. N Engl J Med. 2019;380:2295–2306.</a:t>
            </a:r>
          </a:p>
        </p:txBody>
      </p:sp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При диабете 2 типа нужны анализы крови и мочи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746504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фильтрации, мл/мин/1,73 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Насколько хорошо почки фильтруют?</a:t>
            </a:r>
          </a:p>
        </p:txBody>
      </p:sp>
      <p:cxnSp>
        <p:nvCxnSpPr>
          <p:cNvPr id="32" name="Separate_tests"/>
          <p:cNvCxnSpPr/>
          <p:nvPr/>
        </p:nvCxnSpPr>
        <p:spPr>
          <a:xfrm>
            <a:off x="548640" y="4014215"/>
            <a:ext cx="6702552" cy="0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104E"/>
                </a:solidFill>
                <a:latin typeface="Calibri"/>
                <a:cs typeface="Calibri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Calibri"/>
                <a:cs typeface="Calibri"/>
              </a:rPr>
              <a:t>Отношение альбумина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Calibri"/>
                <a:cs typeface="Calibri"/>
              </a:rPr>
              <a:t>к креатинину мочи,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Нет ли повышенной потери альбумина?</a:t>
            </a:r>
          </a:p>
        </p:txBody>
      </p:sp>
      <p:cxnSp>
        <p:nvCxnSpPr>
          <p:cNvPr id="64" name="Interpretation_separator"/>
          <p:cNvCxnSpPr/>
          <p:nvPr/>
        </p:nvCxnSpPr>
        <p:spPr>
          <a:xfrm>
            <a:off x="7635240" y="1225296"/>
            <a:ext cx="0" cy="4946904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65" name="Clinical_question"/>
          <p:cNvSpPr txBox="1"/>
          <p:nvPr/>
        </p:nvSpPr>
        <p:spPr>
          <a:xfrm>
            <a:off x="7972425" y="1295400"/>
            <a:ext cx="3524250" cy="73342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Фильтрация сохранна.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2425" y="2247900"/>
            <a:ext cx="352425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может быть повышен уже при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2425" y="3314700"/>
            <a:ext cx="3524250" cy="109537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Оба показателя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не реже одного раза в год.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болезни почек частоту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2425" y="4629150"/>
            <a:ext cx="3524250" cy="85725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Тест-полоска на общий белок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не заменяет определение отношения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альбумина к креатинину мочи.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0E5A8A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C8104E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American Diabetes Association Professional Practice Committee. Standards of Care in Diabetes—2026. Diabetes Care. 2026;49(Suppl 1):S246–S260.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Карточка_функция"/>
          <p:cNvSpPr/>
          <p:nvPr/>
        </p:nvSpPr>
        <p:spPr>
          <a:xfrm>
            <a:off x="755650" y="1203325"/>
            <a:ext cx="4832350" cy="2724150"/>
          </a:xfrm>
          <a:prstGeom prst="roundRect">
            <a:avLst>
              <a:gd name="adj" fmla="val 3729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повреждение"/>
          <p:cNvSpPr/>
          <p:nvPr/>
        </p:nvSpPr>
        <p:spPr>
          <a:xfrm>
            <a:off x="6356350" y="1203325"/>
            <a:ext cx="5175250" cy="2724150"/>
          </a:xfrm>
          <a:prstGeom prst="roundRect">
            <a:avLst>
              <a:gd name="adj" fmla="val 3729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Два анализа помогают выявить поражение почек</a:t>
            </a:r>
          </a:p>
        </p:txBody>
      </p:sp>
      <p:sp>
        <p:nvSpPr>
          <p:cNvPr id="3" name="function-label">
            <a:extLst>
              <a:ext uri="{FF2B5EF4-FFF2-40B4-BE49-F238E27FC236}">
                <a16:creationId xmlns:a16="http://schemas.microsoft.com/office/drawing/2014/main" id="{4608A116-DE20-40FC-8A31-6DB58E3786A8}"/>
              </a:ext>
            </a:extLst>
          </p:cNvPr>
          <p:cNvSpPr>
            <a:spLocks noGrp="1"/>
          </p:cNvSpPr>
          <p:nvPr/>
        </p:nvSpPr>
        <p:spPr>
          <a:xfrm>
            <a:off x="933450" y="1381125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Функция почек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933450" y="1847850"/>
            <a:ext cx="4476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Расчётная скорость клубочковой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933450" y="26193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&lt;60 мл/мин/1,73 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Снижение фильтрации — один из критериев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хронической болезни почек.</a:t>
            </a:r>
          </a:p>
        </p:txBody>
      </p:sp>
      <p:sp>
        <p:nvSpPr>
          <p:cNvPr id="7" name="damage-label">
            <a:extLst>
              <a:ext uri="{FF2B5EF4-FFF2-40B4-BE49-F238E27FC236}">
                <a16:creationId xmlns:a16="http://schemas.microsoft.com/office/drawing/2014/main" id="{A590F3DC-E69C-4E4B-A335-43D00E1B6C20}"/>
              </a:ext>
            </a:extLst>
          </p:cNvPr>
          <p:cNvSpPr>
            <a:spLocks noGrp="1"/>
          </p:cNvSpPr>
          <p:nvPr/>
        </p:nvSpPr>
        <p:spPr>
          <a:xfrm>
            <a:off x="6534150" y="1381125"/>
            <a:ext cx="48196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Повреждение почек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534150" y="1847850"/>
            <a:ext cx="48196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 креатинину мочи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534150" y="2619375"/>
            <a:ext cx="4819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≥30 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534150" y="3181350"/>
            <a:ext cx="48196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называется альбуминурией.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DA6982E4-441A-440A-9212-C17C0B0B9387}"/>
              </a:ext>
            </a:extLst>
          </p:cNvPr>
          <p:cNvSpPr>
            <a:spLocks noGrp="1"/>
          </p:cNvSpPr>
          <p:nvPr/>
        </p:nvSpPr>
        <p:spPr>
          <a:xfrm>
            <a:off x="933450" y="3971925"/>
            <a:ext cx="10420350" cy="9525"/>
          </a:xfrm>
          <a:prstGeom prst="rect">
            <a:avLst/>
          </a:prstGeom>
          <a:solidFill>
            <a:srgbClr val="D7E0E5"/>
          </a:solidFill>
          <a:ln w="0">
            <a:noFill/>
          </a:ln>
        </p:spPr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4203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Для хронической болезни изменения сохраняются не менее 3 месяцев.</a:t>
            </a: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Достаточно одного критерия: снижения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933450" y="5114925"/>
            <a:ext cx="104203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Сохранная рСКФ не исключает болезнь почек. Повышенную альбуминурию</a:t>
            </a:r>
            <a:r>
              <a:rPr sz="15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подтверждают повторно, с учётом временных причин, например инфекции.</a:t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72150" y="2619375"/>
            <a:ext cx="5524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Показаны два основных критерия; существуют и другие маркеры повреждения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</a:t>
            </a:r>
          </a:p>
        </p:txBody>
      </p:sp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При одинаковой фильтрации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3143250" y="1590675"/>
            <a:ext cx="180975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Calibri"/>
                <a:cs typeface="Calibri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Calibri"/>
                <a:cs typeface="Calibri"/>
              </a:rPr>
              <a:t>мл/мин/1,73 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АКО &lt;30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151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АКО 30–300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535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АКО &gt;300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3143250" y="235267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352675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316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5150" y="2352675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700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3550" y="2352675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4084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3143250" y="2864739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6750" y="2864739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316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5150" y="2864739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700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3550" y="2864739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4084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3143250" y="3376803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376803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316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3376803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700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53550" y="3376803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4084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3143250" y="3888867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76750" y="3888867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316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51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700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535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4084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3143250" y="4400931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767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316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700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535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4084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3143250" y="491299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67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316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51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700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535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4084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457200" y="2571750"/>
            <a:ext cx="2305050" cy="2524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При рСКФ 65 мл/мин/1,73 м² АКО 15 и 350 мг/г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соответствуют разным категориям риска.</a:t>
            </a:r>
          </a:p>
        </p:txBody>
      </p:sp>
      <p:sp>
        <p:nvSpPr>
          <p:cNvPr id="52" name="Text_51"/>
          <p:cNvSpPr txBox="1"/>
          <p:nvPr/>
        </p:nvSpPr>
        <p:spPr>
          <a:xfrm>
            <a:off x="457200" y="5781675"/>
            <a:ext cx="11277600" cy="619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фильтрации; АКО — отношение альбумина к креатинину мочи.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* При G1–G2 без альбуминурии и других признаков повреждения диагноз болезни почек не устанавливают.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Calibri"/>
                <a:cs typeface="Calibri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диабете 2 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Calibri"/>
                <a:cs typeface="Calibri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Calibri"/>
                <a:cs typeface="Calibri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Calibri"/>
                <a:cs typeface="Calibri"/>
              </a:rPr>
              <a:t>недостаточность</a:t>
            </a:r>
          </a:p>
        </p:txBody>
      </p:sp>
      <p:pic>
        <p:nvPicPr>
          <p:cNvPr id="12" name="Picture 11" descr="h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971800"/>
            <a:ext cx="1051560" cy="13622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20240"/>
            <a:ext cx="5687568" cy="8229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20240"/>
            <a:ext cx="0" cy="77724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33172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33172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834640"/>
            <a:ext cx="5687568" cy="13258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ангиотензинпревращающего фермента;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834640"/>
            <a:ext cx="0" cy="128016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49758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49758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4251960"/>
            <a:ext cx="5687568" cy="5394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4251960"/>
            <a:ext cx="0" cy="493776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4521708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4521708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86460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Нейрогуморальная активация. Сосудосуживающие медиаторы: адреналин, эндотелин и ангиотензин.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86460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5152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5152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59612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59612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88416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88416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331720"/>
            <a:ext cx="0" cy="3552444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331720"/>
            <a:ext cx="0" cy="3552444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болезнь почек</a:t>
            </a:r>
          </a:p>
        </p:txBody>
      </p:sp>
      <p:pic>
        <p:nvPicPr>
          <p:cNvPr id="38" name="Picture 37" descr="kidn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0072" y="2606040"/>
            <a:ext cx="795528" cy="1123683"/>
          </a:xfrm>
          <a:prstGeom prst="rect">
            <a:avLst/>
          </a:prstGeom>
        </p:spPr>
      </p:pic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Фиброз и склероз</a:t>
            </a:r>
          </a:p>
        </p:txBody>
      </p:sp>
      <p:sp>
        <p:nvSpPr>
          <p:cNvPr id="40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Kumar U, Wettersten N, Garimella PS. Cardiol Clin. 2019;37:251–265.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Calibri"/>
                <a:cs typeface="Calibri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Современные руководства рассматривают 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и метаболические нарушения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болезнь почек</a:t>
            </a:r>
          </a:p>
        </p:txBody>
      </p:sp>
      <p:pic>
        <p:nvPicPr>
          <p:cNvPr id="7" name="Picture 6" descr="kid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834640"/>
            <a:ext cx="740664" cy="1046187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Активация ренин-ангиотензин-альдостероновой системы.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Активация симпатической нервной системы. Сужение сосудов. Повышение уровня 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2004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778240" y="1938528"/>
            <a:ext cx="2816352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Calibri"/>
                <a:cs typeface="Calibri"/>
              </a:rPr>
              <a:t>Хроническая 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Calibri"/>
                <a:cs typeface="Calibri"/>
              </a:rPr>
              <a:t>недостаточность</a:t>
            </a:r>
          </a:p>
        </p:txBody>
      </p:sp>
      <p:pic>
        <p:nvPicPr>
          <p:cNvPr id="27" name="Picture 26" descr="he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2488" y="2670048"/>
            <a:ext cx="685800" cy="888422"/>
          </a:xfrm>
          <a:prstGeom prst="rect">
            <a:avLst/>
          </a:prstGeom>
        </p:spPr>
      </p:pic>
      <p:sp>
        <p:nvSpPr>
          <p:cNvPr id="28" name="heart_changes"/>
          <p:cNvSpPr txBox="1"/>
          <p:nvPr/>
        </p:nvSpPr>
        <p:spPr>
          <a:xfrm>
            <a:off x="8805672" y="2670048"/>
            <a:ext cx="1901952" cy="170078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6177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Calibri"/>
                <a:cs typeface="Calibri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4041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4041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51206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9377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Kumar U, et al. Cardiol Clin. 2019;37:251–265. Ndumele CE, et al. Circulation. 2026;154:e50–e158.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Как в клубочке образуется первичная моча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Calibri"/>
                <a:ea typeface="Calibri"/>
                <a:cs typeface="Calibri"/>
              </a:rPr>
              <a:t>Кровь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3" name="Прямая со стрелкой 32"/>
          <p:cNvCxnSpPr>
            <a:stCxn id="9" idx="3"/>
            <a:endCxn id="10" idx="1"/>
          </p:cNvCxnSpPr>
          <p:nvPr/>
        </p:nvCxnSpPr>
        <p:spPr>
          <a:xfrm flipV="1">
            <a:off x="1819275" y="2738438"/>
            <a:ext cx="1514475" cy="5762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5095875" y="4000500"/>
            <a:ext cx="10287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Calibri"/>
                <a:ea typeface="Calibri"/>
                <a:cs typeface="Calibri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6" name="Прямая со стрелкой 35"/>
          <p:cNvCxnSpPr>
            <a:stCxn id="12" idx="1"/>
            <a:endCxn id="13" idx="1"/>
          </p:cNvCxnSpPr>
          <p:nvPr/>
        </p:nvCxnSpPr>
        <p:spPr>
          <a:xfrm flipH="1" flipV="1">
            <a:off x="3495675" y="4100513"/>
            <a:ext cx="1600200" cy="38100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Клубочек —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996111"/>
                </a:solidFill>
                <a:latin typeface="Calibri"/>
                <a:ea typeface="Calibri"/>
                <a:cs typeface="Calibri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Это обратное всасывание — реабсорбция.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NIDDK. Your Kidneys &amp; How They Work. Nephron simple.svg (T. Kebert, Jmarchn), CC BY-SA 4.0.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Плотное пятно помогает регулировать фильтрацию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9" name="Прямая со стрелкой 38"/>
          <p:cNvCxnSpPr>
            <a:stCxn id="9" idx="3"/>
            <a:endCxn id="10" idx="1"/>
          </p:cNvCxnSpPr>
          <p:nvPr/>
        </p:nvCxnSpPr>
        <p:spPr>
          <a:xfrm flipV="1">
            <a:off x="2009775" y="3643313"/>
            <a:ext cx="333375" cy="352425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Этот участок канальца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43" name="Прямая со стрелкой 42"/>
          <p:cNvCxnSpPr>
            <a:stCxn id="13" idx="1"/>
            <a:endCxn id="14" idx="1"/>
          </p:cNvCxnSpPr>
          <p:nvPr/>
        </p:nvCxnSpPr>
        <p:spPr>
          <a:xfrm flipH="1" flipV="1">
            <a:off x="2952750" y="5367338"/>
            <a:ext cx="123825" cy="59055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838950" y="1276350"/>
            <a:ext cx="48577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Плотное пятно —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Calibri"/>
                <a:ea typeface="Calibri"/>
                <a:cs typeface="Calibri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Сдерживающий сигнал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Calibri"/>
                <a:ea typeface="Calibri"/>
                <a:cs typeface="Calibri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Vallon V, Thomson SC. Nat Rev Nephrol. 2020;16:317–336.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Calibri"/>
                <a:ea typeface="Calibri"/>
                <a:cs typeface="Calibri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Calibri"/>
                <a:ea typeface="Calibri"/>
                <a:cs typeface="Calibri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6" name="Прямая со стрелкой 35"/>
          <p:cNvCxnSpPr>
            <a:stCxn id="9" idx="1"/>
            <a:endCxn id="10" idx="1"/>
          </p:cNvCxnSpPr>
          <p:nvPr/>
        </p:nvCxnSpPr>
        <p:spPr>
          <a:xfrm flipH="1" flipV="1">
            <a:off x="3581400" y="3014663"/>
            <a:ext cx="1304925" cy="319088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глюкозу и натрий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Calibri"/>
                <a:ea typeface="Calibri"/>
                <a:cs typeface="Calibri"/>
              </a:rPr>
              <a:t>Давление в клубочке может повышаться.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Calibri"/>
                <a:ea typeface="Calibri"/>
                <a:cs typeface="Calibri"/>
              </a:rPr>
              <a:t>Избыточная фильтрация — гиперфильтрация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Длительная перегрузка способствует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повреждению фильтрационного барьера.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Повреждение почек возможно и при сохранной рСКФ —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расчётной скорости клубочковой фильтрации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Vallon V, Thomson SC. Nat Rev Nephrol. 2020;16:317–336. Alicic RZ, et al. Clin J Am Soc Nephrol. 2017;12:2032–2045. Retnakaran R, et al. Diabetes. 2006;55:1832–1839. Nephron simple.svg (T. Kebert, Jmarchn), CC BY-SA 4.0.</a:t>
            </a:r>
          </a:p>
        </p:txBody>
      </p:sp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При диабетической нефропатии расширяется мезангий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и 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Сохранённая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Фон подписи матрикса"/>
          <p:cNvSpPr/>
          <p:nvPr/>
        </p:nvSpPr>
        <p:spPr>
          <a:xfrm>
            <a:off x="4553712" y="2807208"/>
            <a:ext cx="941832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5" name="Матрикс"/>
          <p:cNvSpPr txBox="1"/>
          <p:nvPr/>
        </p:nvSpPr>
        <p:spPr>
          <a:xfrm>
            <a:off x="4590288" y="283463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Calibri"/>
                <a:cs typeface="Calibri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Фон подписи узла"/>
          <p:cNvSpPr/>
          <p:nvPr/>
        </p:nvSpPr>
        <p:spPr>
          <a:xfrm>
            <a:off x="8302752" y="3502152"/>
            <a:ext cx="905256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9" name="Узел&#10;склероза"/>
          <p:cNvSpPr txBox="1"/>
          <p:nvPr/>
        </p:nvSpPr>
        <p:spPr>
          <a:xfrm>
            <a:off x="8348472" y="3520439"/>
            <a:ext cx="859536" cy="448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Calibri"/>
                <a:cs typeface="Calibri"/>
              </a:rPr>
              <a:t>Узел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Calibri"/>
                <a:cs typeface="Calibri"/>
              </a:rPr>
              <a:t>склероза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6076950"/>
            <a:ext cx="10817352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ШИК-реакция. Масштабный отрезок — 20 мкм.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Образцы разных пациентов. Гистологический класс не соответствует стадии ХБП по рСКФ.</a:t>
            </a:r>
          </a:p>
        </p:txBody>
      </p:sp>
      <p:sp>
        <p:nvSpPr>
          <p:cNvPr id="24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ХБП — хроническая болезнь почек; рСКФ —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Bai Y, et al. Front Endocrinol. 2022;13:984452 (CC BY 4.0). Cohen Tervaert TW, et al. J Am Soc Nephrol. 2010;21:556–563.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Calibri"/>
                <a:cs typeface="Calibri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Calibri"/>
                <a:cs typeface="Calibri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Calibri"/>
                <a:cs typeface="Calibri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Calibri"/>
                <a:cs typeface="Calibri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>
            <a:off x="9848088" y="2002536"/>
            <a:ext cx="0" cy="237744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3172968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Calibri"/>
                <a:cs typeface="Calibri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AB3442"/>
                </a:solidFill>
                <a:latin typeface="Calibri"/>
                <a:cs typeface="Calibri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 — тк"/>
          <p:cNvSpPr txBox="1"/>
          <p:nvPr/>
        </p:nvSpPr>
        <p:spPr>
          <a:xfrm>
            <a:off x="5029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Интерстиций — ткань между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канальцами; в ней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2920" y="6126480"/>
            <a:ext cx="10442448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Воспаление и фиброз могут сочетаться. Показаны состояния ткани, а не обязательная последовательность стадий.</a:t>
            </a:r>
          </a:p>
        </p:txBody>
      </p:sp>
      <p:sp>
        <p:nvSpPr>
          <p:cNvPr id="725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Учебная схема, не микрофотография.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"/>
                <a:cs typeface="Arial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"/>
                <a:cs typeface="Arial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Calibri"/>
                <a:cs typeface="Calibri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Calibri"/>
                <a:cs typeface="Calibri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Calibri"/>
                <a:cs typeface="Calibri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Calibri"/>
                <a:cs typeface="Calibri"/>
              </a:rPr>
              <a:t>со стороны крови</a:t>
            </a:r>
          </a:p>
        </p:txBody>
      </p:sp>
      <p:sp>
        <p:nvSpPr>
          <p:cNvPr id="8" name="Главная клетка —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 —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 —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Calibri"/>
                <a:cs typeface="Calibri"/>
              </a:rPr>
              <a:t>Регуляция 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Calibri"/>
                <a:cs typeface="Calibri"/>
              </a:rPr>
              <a:t>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Calibri"/>
                <a:cs typeface="Calibri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Calibri"/>
                <a:cs typeface="Calibri"/>
              </a:rPr>
              <a:t>Внутриклеточный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Calibri"/>
                <a:cs typeface="Calibri"/>
              </a:rPr>
              <a:t>рецептор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Calibri"/>
                <a:cs typeface="Calibri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Calibri"/>
                <a:cs typeface="Calibri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Calibri"/>
                <a:cs typeface="Calibri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Calibri"/>
                <a:cs typeface="Calibri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 —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 —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 —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 —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Calibri"/>
                <a:cs typeface="Calibri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Calibri"/>
                <a:cs typeface="Calibri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3017520" y="4443984"/>
            <a:ext cx="260604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Calibri"/>
                <a:cs typeface="Calibri"/>
              </a:rPr>
              <a:t>Натриевый канал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3017520" y="5184648"/>
            <a:ext cx="260604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Calibri"/>
                <a:cs typeface="Calibri"/>
              </a:rPr>
              <a:t>Калиевый канал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Calibri"/>
                <a:cs typeface="Calibri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Calibri"/>
                <a:cs typeface="Calibri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Calibri"/>
                <a:cs typeface="Calibri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Calibri"/>
                <a:cs typeface="Calibri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Calibri"/>
                <a:cs typeface="Calibri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Всасывание натрия создаёт электрическую движущую силу для выхода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аденозинтрифосфата (АТФ)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386584" y="4059936"/>
            <a:ext cx="1234440" cy="55321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Calibri"/>
                <a:cs typeface="Calibri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Calibri"/>
                <a:cs typeface="Calibri"/>
              </a:rPr>
              <a:t>Рецептор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069848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Calibri"/>
                <a:cs typeface="Calibri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443A"/>
                </a:solidFill>
                <a:latin typeface="Calibri"/>
                <a:cs typeface="Calibri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Calibri"/>
                <a:cs typeface="Calibri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Calibri"/>
                <a:cs typeface="Calibri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2920" y="5550408"/>
            <a:ext cx="5330952" cy="8046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При диабете и повреждении тканей сигнал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рецептора может усиливаться. Ответ зависит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от типа клетки и состояния ткани.</a:t>
            </a:r>
          </a:p>
        </p:txBody>
      </p:sp>
      <p:sp>
        <p:nvSpPr>
          <p:cNvPr id="79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Grune J, et al. Hypertension. 2018;71:599–608. Droebner K, et al. Am J Nephrol. 2021;52:588–601. Kerendia (finerenone). Summary of Product Characteristics. EMA. Servier Medical Art, CC BY 4.0.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Calibri"/>
                <a:cs typeface="Calibri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Calibri"/>
                <a:cs typeface="Calibri"/>
              </a:rPr>
              <a:t>Рецептор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Calibri"/>
                <a:cs typeface="Calibri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3312" y="4356354"/>
            <a:ext cx="3648456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Calibri"/>
                <a:cs typeface="Calibri"/>
              </a:rPr>
              <a:t>Сигналы воспаления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Calibri"/>
                <a:cs typeface="Calibri"/>
              </a:rPr>
              <a:t>и фиброза ослабляются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Нестероидный селективный антагонист.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Связывается с рецептором внутри клетки.</a:t>
            </a:r>
          </a:p>
        </p:txBody>
      </p:sp>
      <p:sp>
        <p:nvSpPr>
          <p:cNvPr id="22" name="Клиническая польза"/>
          <p:cNvSpPr txBox="1"/>
          <p:nvPr/>
        </p:nvSpPr>
        <p:spPr>
          <a:xfrm>
            <a:off x="6300216" y="1636776"/>
            <a:ext cx="5394960" cy="3566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Клиническая польза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300216" y="2130552"/>
            <a:ext cx="5422392" cy="1371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При хронической болезни почек и диабете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2 типа финеренон снижал риск почечных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и сердечно-сосудистых событий на фоне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300216" y="3575304"/>
            <a:ext cx="54223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FIDELIO-DKD, FIGARO-DKD, FIDELITY</a:t>
            </a:r>
          </a:p>
        </p:txBody>
      </p:sp>
      <p:sp>
        <p:nvSpPr>
          <p:cNvPr id="25" name="Почему контролируют калий"/>
          <p:cNvSpPr txBox="1"/>
          <p:nvPr/>
        </p:nvSpPr>
        <p:spPr>
          <a:xfrm>
            <a:off x="6300216" y="4096512"/>
            <a:ext cx="5422392" cy="3749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Почему контролируют калий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300216" y="4572000"/>
            <a:ext cx="5422392" cy="1353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Блокада рецептора может уменьшать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Калий крови и функцию почек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до начала лечения и в динамике.</a:t>
            </a:r>
          </a:p>
        </p:txBody>
      </p:sp>
      <p:sp>
        <p:nvSpPr>
          <p:cNvPr id="2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Противовоспалительное и антифибротическое действие показано в доклинических исследованиях.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Amazit L, et al. J Biol Chem. 2015;290:21876–21889. Agarwal R, et al. Eur Heart J. 2022;43:474–484. Kerendia (finerenone). Summary of Product Characteristics. EMA. Servier Medical Art, CC BY 4.0.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D08C356-B587-495A-A68B-38360B7F70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55165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838200" y="723900"/>
            <a:ext cx="3048000" cy="1847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Финеренон:</a:t>
            </a: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 два исследования</a:t>
            </a: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 III фазы</a:t>
            </a: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 и объединённый</a:t>
            </a: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838200" y="2714625"/>
            <a:ext cx="30480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Пациенты с хронической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болезнью почек,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сахарным диабетом 2 типа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 альбуминурией.</a:t>
            </a:r>
          </a:p>
          <a:p>
            <a:pPr>
              <a:spcBef>
                <a:spcPts val="0"/>
              </a:spcBef>
              <a:spcAft>
                <a:spcPts val="0"/>
              </a:spcAft>
              <a:lnSpc>
                <a:spcPct val="90000"/>
              </a:lnSpc>
            </a:pPr>
            <a:endParaRPr sz="1600" b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 или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 фоне стандартной терапии,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включая ингибитор АПФ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БРА в максимально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переносимой дозе.</a:t>
            </a:r>
          </a:p>
        </p:txBody>
      </p:sp>
      <p:sp>
        <p:nvSpPr>
          <p:cNvPr id="7" name="egfr_expansion">
            <a:extLst>
              <a:ext uri="{FF2B5EF4-FFF2-40B4-BE49-F238E27FC236}">
                <a16:creationId xmlns:a16="http://schemas.microsoft.com/office/drawing/2014/main" id="{1FDD5C7E-60F5-48C3-A660-E1D6AD19D518}"/>
              </a:ext>
            </a:extLst>
          </p:cNvPr>
          <p:cNvSpPr>
            <a:spLocks noGrp="1"/>
          </p:cNvSpPr>
          <p:nvPr/>
        </p:nvSpPr>
        <p:spPr>
          <a:xfrm>
            <a:off x="838200" y="5210175"/>
            <a:ext cx="30480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рСКФ: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клубочковой фильтрации.</a:t>
            </a:r>
          </a:p>
        </p:txBody>
      </p:sp>
      <p:sp>
        <p:nvSpPr>
          <p:cNvPr id="8" name="left_abbreviations">
            <a:extLst>
              <a:ext uri="{FF2B5EF4-FFF2-40B4-BE49-F238E27FC236}">
                <a16:creationId xmlns:a16="http://schemas.microsoft.com/office/drawing/2014/main" id="{995AE09D-97E3-43C0-BE8F-5733C20A0239}"/>
              </a:ext>
            </a:extLst>
          </p:cNvPr>
          <p:cNvSpPr>
            <a:spLocks noGrp="1"/>
          </p:cNvSpPr>
          <p:nvPr/>
        </p:nvSpPr>
        <p:spPr>
          <a:xfrm>
            <a:off x="838200" y="5753100"/>
            <a:ext cx="3048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АПФ: ангиотензинпревращающий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фермент. БРА: блокатор рецепторов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ангиотензина II.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285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007FB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B5"/>
                </a:solidFill>
                <a:latin typeface="Calibri"/>
                <a:ea typeface="Arial"/>
                <a:cs typeface="Calibri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285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C7C3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C7C32"/>
                </a:solidFill>
                <a:latin typeface="Calibri"/>
                <a:ea typeface="Arial"/>
                <a:cs typeface="Calibri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666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5734 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666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7437 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981075"/>
            <a:ext cx="3619500" cy="95"/>
          </a:xfrm>
          <a:prstGeom prst="line">
            <a:avLst/>
          </a:prstGeom>
          <a:noFill/>
          <a:ln w="17145">
            <a:solidFill>
              <a:srgbClr val="007FB5"/>
            </a:solidFill>
          </a:ln>
        </p:spPr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981075"/>
            <a:ext cx="3619500" cy="95"/>
          </a:xfrm>
          <a:prstGeom prst="line">
            <a:avLst/>
          </a:prstGeom>
          <a:noFill/>
          <a:ln w="17145">
            <a:solidFill>
              <a:srgbClr val="4C7C32"/>
            </a:solidFill>
          </a:ln>
        </p:spPr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162050"/>
            <a:ext cx="896378" cy="1362075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152660"/>
            <a:ext cx="1009650" cy="1323706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1552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Calibri"/>
                <a:ea typeface="Calibri"/>
                <a:cs typeface="Calibri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Calibri"/>
                <a:ea typeface="Calibri"/>
                <a:cs typeface="Calibri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1419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Calibri"/>
                <a:ea typeface="Calibri"/>
                <a:cs typeface="Calibri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Calibri"/>
                <a:ea typeface="Calibri"/>
                <a:cs typeface="Calibri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Calibri"/>
                <a:ea typeface="Calibri"/>
                <a:cs typeface="Calibri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6860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≥40%</a:t>
            </a: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6860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инфаркт или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без смертельного исхода,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39528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39528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4862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4862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6101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6386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13 026 пациентов в анализе из 13 171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49339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Заранее запланированный объединённый анализ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Основные исходы: сердечно-сосудистый, как в FIGARO-DKD, и почечный,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как в FIDELIO-DKD, но с устойчивым снижением рСКФ на ≥57%</a:t>
            </a: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30" name="other_outcomes">
            <a:extLst>
              <a:ext uri="{FF2B5EF4-FFF2-40B4-BE49-F238E27FC236}">
                <a16:creationId xmlns:a16="http://schemas.microsoft.com/office/drawing/2014/main" id="{B54DD7E0-BB54-4216-AD1F-0EA77AE0F9AA}"/>
              </a:ext>
            </a:extLst>
          </p:cNvPr>
          <p:cNvSpPr>
            <a:spLocks noGrp="1"/>
          </p:cNvSpPr>
          <p:nvPr/>
        </p:nvSpPr>
        <p:spPr>
          <a:xfrm>
            <a:off x="4267200" y="5591175"/>
            <a:ext cx="76200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Дополнительно: смерть и госпитализации от любых причин,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изменение отношения альбумин/креатинин мочи к 4-му месяцу.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6067425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гиперкалиемия (повышение калия в крови).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Устойчивое снижение рСКФ подтверждали через ≥4 недели.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Bakris GL, et al. N Engl J Med. 2020;383:2219–2229. Pitt B, et al. N Engl J Med. 2021;385:2252–2263. Agarwal R, et al. Eur Heart J. 2022;43:474–484. Servier Medical Art, CC BY 4.0.</a:t>
            </a:r>
          </a:p>
        </p:txBody>
      </p:sp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FIDELIO-DKD: риск комбинированного почечного исхода ниже на 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5674 пациента в анализе (5734 рандомизированы). Хроническая болезнь почек и сахарный диабет 2 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Преимущественно 3–4-я стадия болезни почек с выраженной альбуминурией. Медиана наблюдения 2,6 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 xml:space="preserve"> почечная недостаточность, снижение рСКФ на ≥40%, сохраняющееся не менее 4 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05025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491490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4800600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300538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300538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18623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3686175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368617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57187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0718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0718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2957513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457450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343150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457450"/>
            <a:ext cx="95" cy="2457450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4914900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457450"/>
            <a:ext cx="5181600" cy="2457450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457450"/>
            <a:ext cx="5181600" cy="2457450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667000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543175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667000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543175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200650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Месяцы до первого события</a:t>
            </a:r>
          </a:p>
        </p:txBody>
      </p:sp>
      <p:sp>
        <p:nvSpPr>
          <p:cNvPr id="55" name="risk_table_heading">
            <a:extLst>
              <a:ext uri="{FF2B5EF4-FFF2-40B4-BE49-F238E27FC236}">
                <a16:creationId xmlns:a16="http://schemas.microsoft.com/office/drawing/2014/main" id="{8D6CED5F-45E1-4A5B-85F3-6A39FCFF5C9F}"/>
              </a:ext>
            </a:extLst>
          </p:cNvPr>
          <p:cNvSpPr>
            <a:spLocks noGrp="1"/>
          </p:cNvSpPr>
          <p:nvPr/>
        </p:nvSpPr>
        <p:spPr>
          <a:xfrm>
            <a:off x="457200" y="5495925"/>
            <a:ext cx="65722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Без первого события и под наблюдением</a:t>
            </a:r>
          </a:p>
        </p:txBody>
      </p:sp>
      <p:graphicFrame>
        <p:nvGraphicFramePr>
          <p:cNvPr id="120" name="Таблица 119"/>
          <p:cNvGraphicFramePr/>
          <p:nvPr/>
        </p:nvGraphicFramePr>
        <p:xfrm>
          <a:off x="1428750" y="5772150"/>
          <a:ext cx="5829300" cy="55245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2841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2724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2586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2379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1758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1248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792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453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82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2833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2705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2397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1808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1274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787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441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83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7" name="risk_placebo">
            <a:extLst>
              <a:ext uri="{FF2B5EF4-FFF2-40B4-BE49-F238E27FC236}">
                <a16:creationId xmlns:a16="http://schemas.microsoft.com/office/drawing/2014/main" id="{24C7ABC9-0B84-450C-810A-95444A24FECB}"/>
              </a:ext>
            </a:extLst>
          </p:cNvPr>
          <p:cNvSpPr>
            <a:spLocks noGrp="1"/>
          </p:cNvSpPr>
          <p:nvPr/>
        </p:nvSpPr>
        <p:spPr>
          <a:xfrm>
            <a:off x="342900" y="5781675"/>
            <a:ext cx="1095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58" name="risk_finerenone">
            <a:extLst>
              <a:ext uri="{FF2B5EF4-FFF2-40B4-BE49-F238E27FC236}">
                <a16:creationId xmlns:a16="http://schemas.microsoft.com/office/drawing/2014/main" id="{3471643B-259E-4A00-9A0D-912E8AD1F4F6}"/>
              </a:ext>
            </a:extLst>
          </p:cNvPr>
          <p:cNvSpPr>
            <a:spLocks noGrp="1"/>
          </p:cNvSpPr>
          <p:nvPr/>
        </p:nvSpPr>
        <p:spPr>
          <a:xfrm>
            <a:off x="342900" y="6057900"/>
            <a:ext cx="1095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Пациенты с событием за время исследования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</a:t>
            </a: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0,82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(95% ДИ 0,73–0,93)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p=0,001. Относительное снижение риска 18%.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 события за 3 года: 29 (95% ДИ 16–166).</a:t>
            </a:r>
          </a:p>
        </p:txBody>
      </p:sp>
      <p:sp>
        <p:nvSpPr>
          <p:cNvPr id="67" name="cardiovascular_result">
            <a:extLst>
              <a:ext uri="{FF2B5EF4-FFF2-40B4-BE49-F238E27FC236}">
                <a16:creationId xmlns:a16="http://schemas.microsoft.com/office/drawing/2014/main" id="{E10A6781-90FF-4884-A92F-22D327841DE8}"/>
              </a:ext>
            </a:extLst>
          </p:cNvPr>
          <p:cNvSpPr>
            <a:spLocks noGrp="1"/>
          </p:cNvSpPr>
          <p:nvPr/>
        </p:nvSpPr>
        <p:spPr>
          <a:xfrm>
            <a:off x="7600950" y="4276725"/>
            <a:ext cx="4124325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Сердечно-сосудистый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13,0% против 14,8%. Отношение рисков 0,86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(95% ДИ 0,75–0,99), p=0,03.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991100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Гиперкалиемия: 18,3% против 9,0%.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2,3% против 0,9%.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Гиперкалиемии со смертельным исходом не было.</a:t>
            </a:r>
          </a:p>
        </p:txBody>
      </p:sp>
      <p:sp>
        <p:nvSpPr>
          <p:cNvPr id="69" name="sglt2_caveat">
            <a:extLst>
              <a:ext uri="{FF2B5EF4-FFF2-40B4-BE49-F238E27FC236}">
                <a16:creationId xmlns:a16="http://schemas.microsoft.com/office/drawing/2014/main" id="{412A6FD5-6796-4782-BC7C-379E76186740}"/>
              </a:ext>
            </a:extLst>
          </p:cNvPr>
          <p:cNvSpPr>
            <a:spLocks noGrp="1"/>
          </p:cNvSpPr>
          <p:nvPr/>
        </p:nvSpPr>
        <p:spPr>
          <a:xfrm>
            <a:off x="7600950" y="5924550"/>
            <a:ext cx="412432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Ингибиторы НГЛТ2 исходно получали 4,6% пациентов.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Выводы об эффекте комбинации ограничены.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фильтрации; АПФ — ангиотензинпревращающий фермент; БРА — блокатор рецепторов ангиотензина II; НГЛТ2 — натрий-глюкозный котранспортёр 2 типа; ДИ — доверительный интервал. Гиперкалиемия —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Bakris GL, et al. N Engl J Med. 2020;383:2219–2229.</a:t>
            </a:r>
          </a:p>
        </p:txBody>
      </p:sp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FIGARO-DKD: риск комбинированного сердечно-сосудистого исхода ниже на 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7352 пациента в анализе (7437 рандомизированы). Хроническая болезнь почек и сахарный диабет 2 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Более широкий диапазон функции почек, чем в FIDELIO-DKD. Медиана наблюдения 3,4 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05025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491490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343025" y="4800600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300538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300538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343025" y="418623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3686175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368617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343025" y="357187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0718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0718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343025" y="2957513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45745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343025" y="2343150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95" cy="2457450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4914900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5229225" cy="2457450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5229225" cy="2457450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667000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543175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667000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543175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200650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Месяцы до первого события</a:t>
            </a:r>
          </a:p>
        </p:txBody>
      </p:sp>
      <p:sp>
        <p:nvSpPr>
          <p:cNvPr id="57" name="risk_table_heading">
            <a:extLst>
              <a:ext uri="{FF2B5EF4-FFF2-40B4-BE49-F238E27FC236}">
                <a16:creationId xmlns:a16="http://schemas.microsoft.com/office/drawing/2014/main" id="{F7EDE4ED-93DD-4873-8701-83C0411A40A4}"/>
              </a:ext>
            </a:extLst>
          </p:cNvPr>
          <p:cNvSpPr>
            <a:spLocks noGrp="1"/>
          </p:cNvSpPr>
          <p:nvPr/>
        </p:nvSpPr>
        <p:spPr>
          <a:xfrm>
            <a:off x="457200" y="5495925"/>
            <a:ext cx="65722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Без первого события и под наблюдением</a:t>
            </a:r>
          </a:p>
        </p:txBody>
      </p:sp>
      <p:graphicFrame>
        <p:nvGraphicFramePr>
          <p:cNvPr id="122" name="Таблица 121"/>
          <p:cNvGraphicFramePr/>
          <p:nvPr/>
        </p:nvGraphicFramePr>
        <p:xfrm>
          <a:off x="1414463" y="5772150"/>
          <a:ext cx="5810250" cy="552450"/>
        </p:xfrm>
        <a:graphic>
          <a:graphicData uri="http://schemas.openxmlformats.org/drawingml/2006/table">
            <a:tbl>
              <a:tblPr/>
              <a:tblGrid>
                <a:gridCol w="581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3666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3577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3479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3389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3267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2730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2125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1657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1076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585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3686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3600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3517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3427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3320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2781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2184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1712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1093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598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9" name="risk_placebo">
            <a:extLst>
              <a:ext uri="{FF2B5EF4-FFF2-40B4-BE49-F238E27FC236}">
                <a16:creationId xmlns:a16="http://schemas.microsoft.com/office/drawing/2014/main" id="{D05B455B-198B-43B5-B31A-11DDEFA6229F}"/>
              </a:ext>
            </a:extLst>
          </p:cNvPr>
          <p:cNvSpPr>
            <a:spLocks noGrp="1"/>
          </p:cNvSpPr>
          <p:nvPr/>
        </p:nvSpPr>
        <p:spPr>
          <a:xfrm>
            <a:off x="342900" y="5781675"/>
            <a:ext cx="1095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60" name="risk_finerenone">
            <a:extLst>
              <a:ext uri="{FF2B5EF4-FFF2-40B4-BE49-F238E27FC236}">
                <a16:creationId xmlns:a16="http://schemas.microsoft.com/office/drawing/2014/main" id="{0EBB5F32-67DC-4E28-9FBC-BA59601C4271}"/>
              </a:ext>
            </a:extLst>
          </p:cNvPr>
          <p:cNvSpPr>
            <a:spLocks noGrp="1"/>
          </p:cNvSpPr>
          <p:nvPr/>
        </p:nvSpPr>
        <p:spPr>
          <a:xfrm>
            <a:off x="342900" y="6057900"/>
            <a:ext cx="1095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Пациенты с событием за время исследования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755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</a:t>
            </a: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0,87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(95% ДИ 0,76–0,98)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p=0,03. Относительное снижение риска 13%.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14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 события за 3,5 года: 47 (95% ДИ 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4825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Основной вклад: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меньше госпитализаций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 поводу сердечной недостаточности.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0,71 (95% ДИ 0,56–0,90).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Снижение других компонентов не доказано.</a:t>
            </a:r>
          </a:p>
        </p:txBody>
      </p:sp>
      <p:sp>
        <p:nvSpPr>
          <p:cNvPr id="70" name="kidney_result">
            <a:extLst>
              <a:ext uri="{FF2B5EF4-FFF2-40B4-BE49-F238E27FC236}">
                <a16:creationId xmlns:a16="http://schemas.microsoft.com/office/drawing/2014/main" id="{5B98F475-F491-44B5-9321-8D48FF086270}"/>
              </a:ext>
            </a:extLst>
          </p:cNvPr>
          <p:cNvSpPr>
            <a:spLocks noGrp="1"/>
          </p:cNvSpPr>
          <p:nvPr/>
        </p:nvSpPr>
        <p:spPr>
          <a:xfrm>
            <a:off x="7600950" y="5229225"/>
            <a:ext cx="412432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Почечный исход*: 9,5% против 10,8%.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0,87 (95% ДИ 0,76–1,01).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Статистически значимых различий нет.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962650"/>
            <a:ext cx="412432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1,2% против 0,4%.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* Почечный исход: почечная недостаточность, снижение рСКФ на ≥40%, сохраняющееся ≥4 недель, или смерть от почечных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фильтрации; АПФ — ангиотензинпревращающий фермент; БРА — блокатор рецепторов ангиотензина II; ДИ —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Pitt B, et al. N Engl J Med. 2021;385:2252–2263.</a:t>
            </a:r>
          </a:p>
        </p:txBody>
      </p:sp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FIDELITY: риск почечного исхода ниже на 23%, сердечно-сосудистого — на 14%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74295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Заранее запланированный объединённый анализ индивидуальных данных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13 026 пациентов с хронической болезнью почек и сахарным диабетом 2 типа. Медиана наблюдения 3,0 года.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3429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3429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342900" y="2105025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609725" y="36290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257300" y="351472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657350" y="339280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609725" y="339280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257300" y="327850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657350" y="315658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609725" y="315658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257300" y="304228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657350" y="292036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609725" y="292036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257300" y="28060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657350" y="268414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609725" y="268414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257300" y="256984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657350" y="24479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609725" y="24479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257300" y="233362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657350" y="2447925"/>
            <a:ext cx="95" cy="1181100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657350" y="3629025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6573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4573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657350" y="2447925"/>
            <a:ext cx="3962400" cy="1181100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657350" y="2447925"/>
            <a:ext cx="3962400" cy="1181100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562225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438400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562225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438400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657350" y="3933825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Месяцы до первого события</a:t>
            </a:r>
          </a:p>
        </p:txBody>
      </p:sp>
      <p:sp>
        <p:nvSpPr>
          <p:cNvPr id="71" name="cv_risk_heading">
            <a:extLst>
              <a:ext uri="{FF2B5EF4-FFF2-40B4-BE49-F238E27FC236}">
                <a16:creationId xmlns:a16="http://schemas.microsoft.com/office/drawing/2014/main" id="{B7540D23-90C8-4DFE-9BD8-8592D3C3ECC7}"/>
              </a:ext>
            </a:extLst>
          </p:cNvPr>
          <p:cNvSpPr>
            <a:spLocks noGrp="1"/>
          </p:cNvSpPr>
          <p:nvPr/>
        </p:nvSpPr>
        <p:spPr>
          <a:xfrm>
            <a:off x="342900" y="4171950"/>
            <a:ext cx="5524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Без первого события и под наблюдением</a:t>
            </a:r>
          </a:p>
        </p:txBody>
      </p:sp>
      <p:graphicFrame>
        <p:nvGraphicFramePr>
          <p:cNvPr id="186" name="Таблица 185"/>
          <p:cNvGraphicFramePr/>
          <p:nvPr/>
        </p:nvGraphicFramePr>
        <p:xfrm>
          <a:off x="1409700" y="4429125"/>
          <a:ext cx="4457700" cy="552450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6507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6330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6125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5938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5184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4147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2969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2135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1082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6519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6360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6202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6009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5273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4207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3065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2187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1087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3" name="cv_risk_placebo">
            <a:extLst>
              <a:ext uri="{FF2B5EF4-FFF2-40B4-BE49-F238E27FC236}">
                <a16:creationId xmlns:a16="http://schemas.microsoft.com/office/drawing/2014/main" id="{2EF0BFDD-ABB7-449D-BD01-7287CB1FBBEB}"/>
              </a:ext>
            </a:extLst>
          </p:cNvPr>
          <p:cNvSpPr>
            <a:spLocks noGrp="1"/>
          </p:cNvSpPr>
          <p:nvPr/>
        </p:nvSpPr>
        <p:spPr>
          <a:xfrm>
            <a:off x="342900" y="4438650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74" name="cv_risk_finerenone">
            <a:extLst>
              <a:ext uri="{FF2B5EF4-FFF2-40B4-BE49-F238E27FC236}">
                <a16:creationId xmlns:a16="http://schemas.microsoft.com/office/drawing/2014/main" id="{F78AC2A7-C54C-47E3-A3AA-7AC2CA06183B}"/>
              </a:ext>
            </a:extLst>
          </p:cNvPr>
          <p:cNvSpPr>
            <a:spLocks noGrp="1"/>
          </p:cNvSpPr>
          <p:nvPr/>
        </p:nvSpPr>
        <p:spPr>
          <a:xfrm>
            <a:off x="342900" y="4714875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3429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 12,7%.</a:t>
            </a: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1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 14,4%.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3429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0,86 (95% ДИ 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3429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Для предотвращения 1 события за 3 года: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46 пациентов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(95% ДИ 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Почечная недостаточность, снижение рСКФ на ≥57%</a:t>
            </a: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сохраняющееся не менее 4 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36290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351472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39280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39280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27850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15658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15658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04228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292036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292036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28060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68414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68414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56984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4479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4479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33362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447925"/>
            <a:ext cx="95" cy="1181100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3629025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447925"/>
            <a:ext cx="3962400" cy="1181100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447925"/>
            <a:ext cx="3962400" cy="1181100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562225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438400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562225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438400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3933825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Месяцы до первого события</a:t>
            </a:r>
          </a:p>
        </p:txBody>
      </p:sp>
      <p:sp>
        <p:nvSpPr>
          <p:cNvPr id="125" name="renal_risk_heading">
            <a:extLst>
              <a:ext uri="{FF2B5EF4-FFF2-40B4-BE49-F238E27FC236}">
                <a16:creationId xmlns:a16="http://schemas.microsoft.com/office/drawing/2014/main" id="{B8C846A1-9E10-475F-B126-E46A766892A5}"/>
              </a:ext>
            </a:extLst>
          </p:cNvPr>
          <p:cNvSpPr>
            <a:spLocks noGrp="1"/>
          </p:cNvSpPr>
          <p:nvPr/>
        </p:nvSpPr>
        <p:spPr>
          <a:xfrm>
            <a:off x="6324600" y="4171950"/>
            <a:ext cx="5524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Без первого события и под наблюдением</a:t>
            </a:r>
          </a:p>
        </p:txBody>
      </p:sp>
      <p:graphicFrame>
        <p:nvGraphicFramePr>
          <p:cNvPr id="240" name="Таблица 239"/>
          <p:cNvGraphicFramePr/>
          <p:nvPr/>
        </p:nvGraphicFramePr>
        <p:xfrm>
          <a:off x="7391400" y="4429125"/>
          <a:ext cx="4457700" cy="552450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6507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6292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6071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5815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4949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3932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2798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1988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962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6519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6291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6107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5848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5027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3973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2815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2024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959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7" name="renal_risk_placebo">
            <a:extLst>
              <a:ext uri="{FF2B5EF4-FFF2-40B4-BE49-F238E27FC236}">
                <a16:creationId xmlns:a16="http://schemas.microsoft.com/office/drawing/2014/main" id="{A05205C2-5F6D-4D91-BCD9-5305915BB47F}"/>
              </a:ext>
            </a:extLst>
          </p:cNvPr>
          <p:cNvSpPr>
            <a:spLocks noGrp="1"/>
          </p:cNvSpPr>
          <p:nvPr/>
        </p:nvSpPr>
        <p:spPr>
          <a:xfrm>
            <a:off x="6324600" y="4438650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128" name="renal_risk_finerenone">
            <a:extLst>
              <a:ext uri="{FF2B5EF4-FFF2-40B4-BE49-F238E27FC236}">
                <a16:creationId xmlns:a16="http://schemas.microsoft.com/office/drawing/2014/main" id="{4D8480C7-C79A-46E2-8C93-ABA260AB399E}"/>
              </a:ext>
            </a:extLst>
          </p:cNvPr>
          <p:cNvSpPr>
            <a:spLocks noGrp="1"/>
          </p:cNvSpPr>
          <p:nvPr/>
        </p:nvSpPr>
        <p:spPr>
          <a:xfrm>
            <a:off x="6324600" y="4714875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Calibri"/>
                <a:ea typeface="Calibri"/>
                <a:cs typeface="Calibri"/>
              </a:rPr>
              <a:t>Финеренон 5,5%.</a:t>
            </a: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00" b="1">
                <a:solidFill>
                  <a:srgbClr val="C7543B"/>
                </a:solidFill>
                <a:latin typeface="Calibri"/>
                <a:ea typeface="Calibri"/>
                <a:cs typeface="Calibri"/>
              </a:rPr>
              <a:t>Плацебо 7,1%.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0,77 (95% ДИ 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Для предотвращения 1 события за 3 года: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60 пациентов</a:t>
            </a: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(95% ДИ 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342900" y="5972175"/>
            <a:ext cx="115062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Ингибиторы НГЛТ2 исходно получали 6,7% пациентов.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Гиперкалиемия: 14,0% на финереноне и 6,9% на плацебо; окончательная отмена из-за неё: 1,7% и 0,6%.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Проценты — доли пациентов с событием за весь период; снижение риска относительное; статистические проверки без поправки на множественные сравнения. рСКФ — расчётная скорость клубочковой фильтрации; НГЛТ2 — натрий-глюкозный котранспортёр 2 типа; ДИ —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Agarwal R, et al. Eur Heart J. 2022;43:474–484 (CC BY-NC 4.0).</a:t>
            </a:r>
          </a:p>
        </p:txBody>
      </p:sp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FIDELITY: к 4-му месяцу финеренон снизил АКО на 32%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838200" y="781050"/>
            <a:ext cx="10515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FIDELITY. Пациенты с хронической болезнью почек и сахарным диабетом 2 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838200" y="1038225"/>
            <a:ext cx="10515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Все пациенты получали ингибитор АПФ или БРА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АКО: отношение альбумина к креатинину мочи. Этот показатель помогает оценить потерю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838200" y="1952625"/>
            <a:ext cx="400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Разница между группами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838200" y="2314575"/>
            <a:ext cx="40005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Calibri"/>
                <a:ea typeface="Calibri"/>
                <a:cs typeface="Calibri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838200" y="3133725"/>
            <a:ext cx="40005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АКО ниже по сравнению с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 4-му месяцу, с учётом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исходного уровня.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838200" y="4057650"/>
            <a:ext cx="4000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изменений 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0,68 (95% ДИ 0,66–0,70).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FIDELITY, 13 026 пациентов.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Дополнительный анализ FIDELITY, 12 512 пациентов.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838200" y="5095875"/>
            <a:ext cx="10515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Снижение АКО — ранний маркер эффекта лечения на уровне групп пациентов.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838200" y="547687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 его величине нельзя рассчитать, на сколько процентов снизится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диализа, инфаркта или смерти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838200" y="6096000"/>
            <a:ext cx="1051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Наблюдение, оценку функции почек и контроль калия продолжают.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АКО — отношение альбумина к креатинину мочи; АПФ — ангиотензинпревращающий фермент; БРА — блокатор рецепторов ангиотензина II; ДИ —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CONFIDENCE: комбинация с эмпаглифлозином снижала альбуминурию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800 участников анализа эффективности с хронической болезнью почек и сахарным диабетом 2 типа. II фаза.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рСКФ 30–90 мл/мин/1,73 м². АКО 100–5000 мг/г. Протокол предусматривал блокаду ренин-ангиотензиновой системы.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 180-му дню АКО при комбинации ниже, чем при финереноне (на 29%) и эмпаглифлозине (на 32%). Оба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E9C31D"/>
            </a:solidFill>
          </a:ln>
        </p:spPr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5C87C3"/>
            </a:solidFill>
          </a:ln>
        </p:spPr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9EC66D"/>
            </a:solidFill>
          </a:ln>
        </p:spPr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Изменение альбуминурии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1971675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Среднее отношение АКО к исходному уровню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95" cy="1692757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121632"/>
            <a:ext cx="95" cy="116993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026382"/>
            <a:ext cx="114300" cy="95250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074007"/>
            <a:ext cx="114300" cy="95250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23862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33362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22885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72633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62156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119032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014257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51172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40695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3904442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3799667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23862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13385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210</a:t>
            </a:r>
          </a:p>
        </p:txBody>
      </p:sp>
      <p:sp>
        <p:nvSpPr>
          <p:cNvPr id="57" name="A_n_heading">
            <a:extLst>
              <a:ext uri="{FF2B5EF4-FFF2-40B4-BE49-F238E27FC236}">
                <a16:creationId xmlns:a16="http://schemas.microsoft.com/office/drawing/2014/main" id="{B907C940-4B43-401D-89B2-735B64847436}"/>
              </a:ext>
            </a:extLst>
          </p:cNvPr>
          <p:cNvSpPr>
            <a:spLocks noGrp="1"/>
          </p:cNvSpPr>
          <p:nvPr/>
        </p:nvSpPr>
        <p:spPr>
          <a:xfrm>
            <a:off x="457200" y="4533900"/>
            <a:ext cx="23431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Пациенты с измерением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453390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graphicFrame>
        <p:nvGraphicFramePr>
          <p:cNvPr id="393" name="Таблица 392"/>
          <p:cNvGraphicFramePr/>
          <p:nvPr/>
        </p:nvGraphicFramePr>
        <p:xfrm>
          <a:off x="2030751" y="4781550"/>
          <a:ext cx="3999615" cy="828675"/>
        </p:xfrm>
        <a:graphic>
          <a:graphicData uri="http://schemas.openxmlformats.org/drawingml/2006/table">
            <a:tbl>
              <a:tblPr/>
              <a:tblGrid>
                <a:gridCol w="30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3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73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63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73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63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73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64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258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227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261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265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4" name="A_n_label_finerenone">
            <a:extLst>
              <a:ext uri="{FF2B5EF4-FFF2-40B4-BE49-F238E27FC236}">
                <a16:creationId xmlns:a16="http://schemas.microsoft.com/office/drawing/2014/main" id="{06233C9A-A8B1-4263-B9EA-0C4E24851D35}"/>
              </a:ext>
            </a:extLst>
          </p:cNvPr>
          <p:cNvSpPr>
            <a:spLocks noGrp="1"/>
          </p:cNvSpPr>
          <p:nvPr/>
        </p:nvSpPr>
        <p:spPr>
          <a:xfrm>
            <a:off x="457200" y="478155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25" name="A_n_label_empagliflozin">
            <a:extLst>
              <a:ext uri="{FF2B5EF4-FFF2-40B4-BE49-F238E27FC236}">
                <a16:creationId xmlns:a16="http://schemas.microsoft.com/office/drawing/2014/main" id="{4A00A8A9-E18B-4E40-8737-AD25F4E7E21A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Эмпаглифлозин</a:t>
            </a:r>
          </a:p>
        </p:txBody>
      </p:sp>
      <p:sp>
        <p:nvSpPr>
          <p:cNvPr id="126" name="A_n_label_combination">
            <a:extLst>
              <a:ext uri="{FF2B5EF4-FFF2-40B4-BE49-F238E27FC236}">
                <a16:creationId xmlns:a16="http://schemas.microsoft.com/office/drawing/2014/main" id="{CD74CF4E-E57F-410D-8A12-276165CAF3C3}"/>
              </a:ext>
            </a:extLst>
          </p:cNvPr>
          <p:cNvSpPr>
            <a:spLocks noGrp="1"/>
          </p:cNvSpPr>
          <p:nvPr/>
        </p:nvSpPr>
        <p:spPr>
          <a:xfrm>
            <a:off x="457200" y="533400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Комбинация</a:t>
            </a: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Изменение калия в сыворотке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1971675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Среднее изменение от исходного,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95" cy="1905000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23862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33362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22885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54530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4405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7569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65219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296862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286385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18029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0755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39195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28717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360362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49884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381529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371052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02696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392219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23862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13385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210</a:t>
            </a:r>
          </a:p>
        </p:txBody>
      </p:sp>
      <p:sp>
        <p:nvSpPr>
          <p:cNvPr id="203" name="B_n_heading">
            <a:extLst>
              <a:ext uri="{FF2B5EF4-FFF2-40B4-BE49-F238E27FC236}">
                <a16:creationId xmlns:a16="http://schemas.microsoft.com/office/drawing/2014/main" id="{8F0EECCC-5A03-47F7-83A6-1090416D40CC}"/>
              </a:ext>
            </a:extLst>
          </p:cNvPr>
          <p:cNvSpPr>
            <a:spLocks noGrp="1"/>
          </p:cNvSpPr>
          <p:nvPr/>
        </p:nvSpPr>
        <p:spPr>
          <a:xfrm>
            <a:off x="6267450" y="4533900"/>
            <a:ext cx="23431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Пациенты с измерением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453390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9EC66D"/>
          </a:solidFill>
          <a:ln w="0">
            <a:noFill/>
          </a:ln>
        </p:spPr>
      </p:sp>
      <p:graphicFrame>
        <p:nvGraphicFramePr>
          <p:cNvPr id="541" name="Таблица 540"/>
          <p:cNvGraphicFramePr/>
          <p:nvPr/>
        </p:nvGraphicFramePr>
        <p:xfrm>
          <a:off x="7841001" y="4781550"/>
          <a:ext cx="3999621" cy="828675"/>
        </p:xfrm>
        <a:graphic>
          <a:graphicData uri="http://schemas.openxmlformats.org/drawingml/2006/table">
            <a:tbl>
              <a:tblPr/>
              <a:tblGrid>
                <a:gridCol w="30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3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3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73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6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73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638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72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64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264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235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266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267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261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253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72" name="B_n_label_finerenone">
            <a:extLst>
              <a:ext uri="{FF2B5EF4-FFF2-40B4-BE49-F238E27FC236}">
                <a16:creationId xmlns:a16="http://schemas.microsoft.com/office/drawing/2014/main" id="{2B9D1AA1-CA55-4F6D-99E6-69D3EBE822FE}"/>
              </a:ext>
            </a:extLst>
          </p:cNvPr>
          <p:cNvSpPr>
            <a:spLocks noGrp="1"/>
          </p:cNvSpPr>
          <p:nvPr/>
        </p:nvSpPr>
        <p:spPr>
          <a:xfrm>
            <a:off x="6267450" y="478155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273" name="B_n_label_empagliflozin">
            <a:extLst>
              <a:ext uri="{FF2B5EF4-FFF2-40B4-BE49-F238E27FC236}">
                <a16:creationId xmlns:a16="http://schemas.microsoft.com/office/drawing/2014/main" id="{C4941DDA-101D-4A40-BBB2-2DBC9A3FB971}"/>
              </a:ext>
            </a:extLst>
          </p:cNvPr>
          <p:cNvSpPr>
            <a:spLocks noGrp="1"/>
          </p:cNvSpPr>
          <p:nvPr/>
        </p:nvSpPr>
        <p:spPr>
          <a:xfrm>
            <a:off x="6267450" y="5057775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Эмпаглифлозин</a:t>
            </a:r>
          </a:p>
        </p:txBody>
      </p:sp>
      <p:sp>
        <p:nvSpPr>
          <p:cNvPr id="274" name="B_n_label_combination">
            <a:extLst>
              <a:ext uri="{FF2B5EF4-FFF2-40B4-BE49-F238E27FC236}">
                <a16:creationId xmlns:a16="http://schemas.microsoft.com/office/drawing/2014/main" id="{D716AC23-468D-4671-91CF-A9E0E02299E7}"/>
              </a:ext>
            </a:extLst>
          </p:cNvPr>
          <p:cNvSpPr>
            <a:spLocks noGrp="1"/>
          </p:cNvSpPr>
          <p:nvPr/>
        </p:nvSpPr>
        <p:spPr>
          <a:xfrm>
            <a:off x="6267450" y="533400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Комбинация</a:t>
            </a: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День 0: до лечения. Препараты отменили на 180-й день. День 210: через 30 дней после отмены.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Гиперкалиемия: 15,1% при комбинации, 18,8% при финереноне, 9,7% при эмпаглифлозине; комбинация риск не снижала.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Суррогатная конечная точка: изменение альбуминурии за 180 дней.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Влияние на почечную недостаточность и сердечно-сосудистые события в исследовании не оценивали.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АКО — отношение альбумина к креатинину мочи; рСКФ — расчётная скорость клубочковой фильтрации. Для АКО — среднее методом наименьших квадратов. Гиперкалиемия — калий &gt;5,5 ммоль/л.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Agarwal R, et al. N Engl J Med. 2025;393:533–543. Agarwal R, et al. J Am Coll Cardiol. 2026;87:772–784. ClinicalTrials.gov: NCT05254002.</a:t>
            </a:r>
          </a:p>
        </p:txBody>
      </p:sp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Кому рекомендуют финеренон при диабете 2 типа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10160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Американская диабетическая ассоциация (ADA), 2026. </a:t>
            </a: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Диабет 2 типа, хроническая болезнь почек и альбуминурия.</a:t>
            </a:r>
          </a:p>
        </p:txBody>
      </p:sp>
      <p:sp xmlns:a="http://schemas.openxmlformats.org/drawingml/2006/main">
        <p:nvSpPr>
          <p:cNvPr id="18" name="Карточка_Рекомендация 11.8"/>
          <p:cNvSpPr/>
          <p:nvPr/>
        </p:nvSpPr>
        <p:spPr>
          <a:xfrm>
            <a:off x="457200" y="1422400"/>
            <a:ext cx="5486400" cy="3683000"/>
          </a:xfrm>
          <a:prstGeom prst="roundRect">
            <a:avLst>
              <a:gd name="adj" fmla="val 3448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19" name="Номер_Рекомендация 11.8"/>
          <p:cNvSpPr txBox="1"/>
          <p:nvPr/>
        </p:nvSpPr>
        <p:spPr>
          <a:xfrm>
            <a:off x="711200" y="16510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7030A0"/>
                </a:solidFill>
                <a:latin typeface="Calibri"/>
                <a:cs typeface="Calibri"/>
              </a:rPr>
              <a:t>Рекомендация 11.8</a:t>
            </a:r>
          </a:p>
        </p:txBody>
      </p:sp>
      <p:sp xmlns:a="http://schemas.openxmlformats.org/drawingml/2006/main">
        <p:nvSpPr>
          <p:cNvPr id="20" name="Уровень_A"/>
          <p:cNvSpPr/>
          <p:nvPr/>
        </p:nvSpPr>
        <p:spPr>
          <a:xfrm>
            <a:off x="4191000" y="1625600"/>
            <a:ext cx="1498600" cy="3302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Уровень A</a:t>
            </a:r>
          </a:p>
        </p:txBody>
      </p:sp>
      <p:sp xmlns:a="http://schemas.openxmlformats.org/drawingml/2006/main">
        <p:nvSpPr>
          <p:cNvPr id="21" name="Цель_Рекомендация 11.8"/>
          <p:cNvSpPr txBox="1"/>
          <p:nvPr/>
        </p:nvSpPr>
        <p:spPr>
          <a:xfrm>
            <a:off x="711200" y="2108200"/>
            <a:ext cx="49784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Для снижения риска осложнений</a:t>
            </a:r>
          </a:p>
        </p:txBody>
      </p:sp>
      <p:sp xmlns:a="http://schemas.openxmlformats.org/drawingml/2006/main">
        <p:nvSpPr>
          <p:cNvPr id="22" name="Текст_Рекомендация 11.8"/>
          <p:cNvSpPr txBox="1"/>
          <p:nvPr/>
        </p:nvSpPr>
        <p:spPr>
          <a:xfrm>
            <a:off x="711200" y="2540000"/>
            <a:ext cx="49784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Финеренон рекомендован для снижения риска прогрессирования болезни почек и сердечно-сосудистых событий.</a:t>
            </a:r>
          </a:p>
        </p:txBody>
      </p:sp>
      <p:sp xmlns:a="http://schemas.openxmlformats.org/drawingml/2006/main">
        <p:nvSpPr>
          <p:cNvPr id="23" name="Разделитель_Рекомендация 11.8"/>
          <p:cNvSpPr/>
          <p:nvPr/>
        </p:nvSpPr>
        <p:spPr>
          <a:xfrm>
            <a:off x="711200" y="3810000"/>
            <a:ext cx="4978400" cy="15240"/>
          </a:xfrm>
          <a:prstGeom prst="rect">
            <a:avLst/>
          </a:prstGeom>
          <a:solidFill>
            <a:srgbClr val="C9B6DD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4" name="Условие_Рекомендация 11.8"/>
          <p:cNvSpPr txBox="1"/>
          <p:nvPr/>
        </p:nvSpPr>
        <p:spPr>
          <a:xfrm>
            <a:off x="711200" y="3937000"/>
            <a:ext cx="49784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Условия: рСКФ ≥25 мл/мин/1,73 м², нормальный калий, максимально переносимая доза ингибитора АПФ или БРА.</a:t>
            </a:r>
          </a:p>
        </p:txBody>
      </p:sp>
      <p:sp xmlns:a="http://schemas.openxmlformats.org/drawingml/2006/main">
        <p:nvSpPr>
          <p:cNvPr id="25" name="Карточка_Рекомендация 11.9"/>
          <p:cNvSpPr/>
          <p:nvPr/>
        </p:nvSpPr>
        <p:spPr>
          <a:xfrm>
            <a:off x="6248400" y="1422400"/>
            <a:ext cx="5486400" cy="3683000"/>
          </a:xfrm>
          <a:prstGeom prst="roundRect">
            <a:avLst>
              <a:gd name="adj" fmla="val 3448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6" name="Номер_Рекомендация 11.9"/>
          <p:cNvSpPr txBox="1"/>
          <p:nvPr/>
        </p:nvSpPr>
        <p:spPr>
          <a:xfrm>
            <a:off x="6502400" y="16510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7030A0"/>
                </a:solidFill>
                <a:latin typeface="Calibri"/>
                <a:cs typeface="Calibri"/>
              </a:rPr>
              <a:t>Рекомендация 11.9</a:t>
            </a:r>
          </a:p>
        </p:txBody>
      </p:sp>
      <p:sp xmlns:a="http://schemas.openxmlformats.org/drawingml/2006/main">
        <p:nvSpPr>
          <p:cNvPr id="27" name="Уровень_B"/>
          <p:cNvSpPr/>
          <p:nvPr/>
        </p:nvSpPr>
        <p:spPr>
          <a:xfrm>
            <a:off x="9982200" y="1625600"/>
            <a:ext cx="1498600" cy="3302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Уровень B</a:t>
            </a:r>
          </a:p>
        </p:txBody>
      </p:sp>
      <p:sp xmlns:a="http://schemas.openxmlformats.org/drawingml/2006/main">
        <p:nvSpPr>
          <p:cNvPr id="28" name="Цель_Рекомендация 11.9"/>
          <p:cNvSpPr txBox="1"/>
          <p:nvPr/>
        </p:nvSpPr>
        <p:spPr>
          <a:xfrm>
            <a:off x="6502400" y="2108200"/>
            <a:ext cx="49784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Одновременный старт с ингибитором НГЛТ2</a:t>
            </a:r>
          </a:p>
        </p:txBody>
      </p:sp>
      <p:sp xmlns:a="http://schemas.openxmlformats.org/drawingml/2006/main">
        <p:nvSpPr>
          <p:cNvPr id="29" name="Текст_Рекомендация 11.9"/>
          <p:cNvSpPr txBox="1"/>
          <p:nvPr/>
        </p:nvSpPr>
        <p:spPr>
          <a:xfrm>
            <a:off x="6502400" y="2540000"/>
            <a:ext cx="49784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Одновременное начало финеренона и ингибитора НГЛТ2 можно рассмотреть при АКО ≥100 мг/г и рСКФ 30–90 мл/мин/1,73 м² на фоне ингибитора АПФ или БРА.</a:t>
            </a:r>
          </a:p>
        </p:txBody>
      </p:sp>
      <p:sp xmlns:a="http://schemas.openxmlformats.org/drawingml/2006/main">
        <p:nvSpPr>
          <p:cNvPr id="30" name="Разделитель_Рекомендация 11.9"/>
          <p:cNvSpPr/>
          <p:nvPr/>
        </p:nvSpPr>
        <p:spPr>
          <a:xfrm>
            <a:off x="6502400" y="3810000"/>
            <a:ext cx="4978400" cy="15240"/>
          </a:xfrm>
          <a:prstGeom prst="rect">
            <a:avLst/>
          </a:prstGeom>
          <a:solidFill>
            <a:srgbClr val="C9B6DD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31" name="Условие_Рекомендация 11.9"/>
          <p:cNvSpPr txBox="1"/>
          <p:nvPr/>
        </p:nvSpPr>
        <p:spPr>
          <a:xfrm>
            <a:off x="6502400" y="3937000"/>
            <a:ext cx="49784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Основание: снижение альбуминурии и данные безопасности (CONFIDENCE).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32" name="Местная_инструкция_фон"/>
          <p:cNvSpPr/>
          <p:nvPr/>
        </p:nvSpPr>
        <p:spPr>
          <a:xfrm>
            <a:off x="457200" y="5257800"/>
            <a:ext cx="11277600" cy="736600"/>
          </a:xfrm>
          <a:prstGeom prst="roundRect">
            <a:avLst>
              <a:gd name="adj" fmla="val 1379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33" name="Местная_инструкция"/>
          <p:cNvSpPr txBox="1"/>
          <p:nvPr/>
        </p:nvSpPr>
        <p:spPr>
          <a:xfrm>
            <a:off x="711200" y="5257800"/>
            <a:ext cx="10769600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Финеренон-Орвилле по местной инструкции: </a:t>
            </a: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взрослые с хронической болезнью почек, связанной с сахарным диабетом 2 типа. Зарубежные рекомендации не расширяют местные показания.</a:t>
            </a:r>
          </a:p>
        </p:txBody>
      </p:sp>
      <p:sp xmlns:a="http://schemas.openxmlformats.org/drawingml/2006/main">
        <p:nvSpPr>
          <p:cNvPr id="34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НГЛТ2 — натрий-глюкозный котранспортёр 2 типа; АКО — отношение альбумина к креатинину мочи; рСКФ — расчётная скорость клубочковой фильтрации; АПФ —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American Diabetes Association Professional Practice Committee. Standards of Care in Diabetes—2026.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Можно ли заменить ингибитор НГЛТ2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финереноном?</a:t>
            </a:r>
          </a:p>
        </p:txBody>
      </p:sp>
      <p:sp xmlns:a="http://schemas.openxmlformats.org/drawingml/2006/main">
        <p:nvSpPr>
          <p:cNvPr id="14" name="Ответ_фон"/>
          <p:cNvSpPr/>
          <p:nvPr/>
        </p:nvSpPr>
        <p:spPr>
          <a:xfrm>
            <a:off x="457200" y="1041400"/>
            <a:ext cx="11277600" cy="787400"/>
          </a:xfrm>
          <a:prstGeom prst="roundRect">
            <a:avLst>
              <a:gd name="adj" fmla="val 16129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15" name="Прямой ответ"/>
          <p:cNvSpPr txBox="1"/>
          <p:nvPr/>
        </p:nvSpPr>
        <p:spPr>
          <a:xfrm>
            <a:off x="711200" y="1041400"/>
            <a:ext cx="107696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Автоматически заменять нельзя. </a:t>
            </a: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Назначение финеренона само по себе не требует отмены ингибитора НГЛТ2.</a:t>
            </a:r>
          </a:p>
        </p:txBody>
      </p:sp>
      <p:cxnSp xmlns:a="http://schemas.openxmlformats.org/drawingml/2006/main">
        <p:nvCxnSpPr>
          <p:cNvPr id="16" name="Стрелка_1"/>
          <p:cNvCxnSpPr/>
          <p:nvPr/>
        </p:nvCxnSpPr>
        <p:spPr>
          <a:xfrm flipH="1">
            <a:off x="3175000" y="1828800"/>
            <a:ext cx="635000" cy="53340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</p:cxnSp>
      <p:cxnSp xmlns:a="http://schemas.openxmlformats.org/drawingml/2006/main">
        <p:nvCxnSpPr>
          <p:cNvPr id="17" name="Стрелка_2"/>
          <p:cNvCxnSpPr/>
          <p:nvPr/>
        </p:nvCxnSpPr>
        <p:spPr>
          <a:xfrm>
            <a:off x="8382000" y="1828800"/>
            <a:ext cx="635000" cy="53340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</p:cxnSp>
      <p:sp xmlns:a="http://schemas.openxmlformats.org/drawingml/2006/main">
        <p:nvSpPr>
          <p:cNvPr id="18" name="Ветка_36"/>
          <p:cNvSpPr/>
          <p:nvPr/>
        </p:nvSpPr>
        <p:spPr>
          <a:xfrm>
            <a:off x="457200" y="2438400"/>
            <a:ext cx="5486400" cy="2260600"/>
          </a:xfrm>
          <a:prstGeom prst="roundRect">
            <a:avLst>
              <a:gd name="adj" fmla="val 5617"/>
            </a:avLst>
          </a:prstGeom>
          <a:solidFill>
            <a:srgbClr val="EA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19" name="Ситуация_36"/>
          <p:cNvSpPr txBox="1"/>
          <p:nvPr/>
        </p:nvSpPr>
        <p:spPr>
          <a:xfrm>
            <a:off x="736600" y="2667000"/>
            <a:ext cx="4927600" cy="711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2E7D4F"/>
                </a:solidFill>
                <a:latin typeface="Calibri"/>
                <a:cs typeface="Calibri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20" name="Решение_36"/>
          <p:cNvSpPr txBox="1"/>
          <p:nvPr/>
        </p:nvSpPr>
        <p:spPr>
          <a:xfrm>
            <a:off x="736600" y="3378200"/>
            <a:ext cx="49276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наличии показаний врач может добавить финеренон к текущей терапии.</a:t>
            </a:r>
          </a:p>
        </p:txBody>
      </p:sp>
      <p:sp xmlns:a="http://schemas.openxmlformats.org/drawingml/2006/main">
        <p:nvSpPr>
          <p:cNvPr id="21" name="Ветка_492"/>
          <p:cNvSpPr/>
          <p:nvPr/>
        </p:nvSpPr>
        <p:spPr>
          <a:xfrm>
            <a:off x="6248400" y="2438400"/>
            <a:ext cx="5486400" cy="2260600"/>
          </a:xfrm>
          <a:prstGeom prst="roundRect">
            <a:avLst>
              <a:gd name="adj" fmla="val 5617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2" name="Ситуация_492"/>
          <p:cNvSpPr txBox="1"/>
          <p:nvPr/>
        </p:nvSpPr>
        <p:spPr>
          <a:xfrm>
            <a:off x="6527800" y="2667000"/>
            <a:ext cx="4927600" cy="711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A76A10"/>
                </a:solidFill>
                <a:latin typeface="Calibri"/>
                <a:cs typeface="Calibri"/>
              </a:rPr>
              <a:t>Ингибитор НГЛТ2 не переносится или не может применяться</a:t>
            </a:r>
          </a:p>
        </p:txBody>
      </p:sp>
      <p:sp xmlns:a="http://schemas.openxmlformats.org/drawingml/2006/main">
        <p:nvSpPr>
          <p:cNvPr id="23" name="Решение_492"/>
          <p:cNvSpPr txBox="1"/>
          <p:nvPr/>
        </p:nvSpPr>
        <p:spPr>
          <a:xfrm>
            <a:off x="6527800" y="3378200"/>
            <a:ext cx="49276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Врач может рассмотреть финеренон по его собственным показаниям на фоне ингибитора АПФ или БРА после проверки условий назначения.</a:t>
            </a:r>
          </a:p>
        </p:txBody>
      </p:sp>
      <p:sp xmlns:a="http://schemas.openxmlformats.org/drawingml/2006/main">
        <p:nvSpPr>
          <p:cNvPr id="24" name="Решение_врача"/>
          <p:cNvSpPr txBox="1"/>
          <p:nvPr/>
        </p:nvSpPr>
        <p:spPr>
          <a:xfrm>
            <a:off x="457200" y="49276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Решение о терапии принимает врач.</a:t>
            </a:r>
          </a:p>
        </p:txBody>
      </p:sp>
      <p:sp xmlns:a="http://schemas.openxmlformats.org/drawingml/2006/main">
        <p:nvSpPr>
          <p:cNvPr id="25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НГЛТ2 — натрий-глюкозный котранспортёр 2 типа; АПФ — ангиотензинпревращающий фермент; БРА — блокатор рецепторов ангиотензина II. Применение препарата сверяют с действующей местной инструкцией.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Финеренон и спиронолактон: общая мишень,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но разные показания и доказательства</a:t>
            </a:r>
          </a:p>
        </p:txBody>
      </p:sp>
      <p:pic>
        <p:nvPicPr>
          <p:cNvPr id="5" name="Picture 4" descr="S08_01_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431" y="1536192"/>
            <a:ext cx="1083176" cy="1645920"/>
          </a:xfrm>
          <a:prstGeom prst="rect">
            <a:avLst/>
          </a:prstGeom>
        </p:spPr>
      </p:pic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3171" y="1536192"/>
            <a:ext cx="1255417" cy="1645920"/>
          </a:xfrm>
          <a:prstGeom prst="rect">
            <a:avLst/>
          </a:prstGeom>
        </p:spPr>
      </p:pic>
      <p:sp>
        <p:nvSpPr>
          <p:cNvPr id="7" name="Text_6"/>
          <p:cNvSpPr txBox="1"/>
          <p:nvPr/>
        </p:nvSpPr>
        <p:spPr>
          <a:xfrm>
            <a:off x="2121408" y="1498092"/>
            <a:ext cx="3813048" cy="47548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Финеренон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2121408" y="2156460"/>
            <a:ext cx="3803904" cy="14630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Нестероидный селективный антагонист.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Почечные и сердечно-сосудистые исходы изучены при болезни почек и диабете 2 типа.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909560" y="1498092"/>
            <a:ext cx="3703320" cy="47548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800" b="1" u="none">
                <a:solidFill>
                  <a:srgbClr val="79529F"/>
                </a:solidFill>
                <a:latin typeface="Arial"/>
              </a:defRPr>
            </a:pPr>
            <a:r>
              <a:rPr lang="ru-RU" sz="1800" b="1" u="none">
                <a:solidFill>
                  <a:srgbClr val="79529F"/>
                </a:solidFill>
                <a:latin typeface="Calibri"/>
                <a:cs typeface="Calibri"/>
              </a:rPr>
              <a:t>Спиронолактон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909560" y="2156460"/>
            <a:ext cx="3703320" cy="1691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Стероидный антагонист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При тяжёлой сердечной недостаточности со сниженной фракцией выброса уменьшал смертность.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933450" y="4086225"/>
            <a:ext cx="1042035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Препарат выбирают по заболеванию и доказанной пользе в соответствующей группе пациентов. Оба препарата требуют контроля калия.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933450" y="5048250"/>
            <a:ext cx="1042035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Совместное применение финеренона и спиронолактона не рекомендуется. Крупных прямых сравнительных исследований с клиническими исходами нет.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472184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2359152"/>
          <a:ext cx="6419088" cy="26883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457200" y="5276850"/>
            <a:ext cx="6686550" cy="1095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Финеренон повышает риск гиперкалиемии по сравнению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с плацебо. Калий и функцию почек контролируют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при применении обоих препаратов.</a:t>
            </a:r>
          </a:p>
        </p:txBody>
      </p:sp>
      <p:sp>
        <p:nvSpPr>
          <p:cNvPr id="7" name="Текст: II фаза, часть B"/>
          <p:cNvSpPr txBox="1"/>
          <p:nvPr/>
        </p:nvSpPr>
        <p:spPr>
          <a:xfrm>
            <a:off x="7580375" y="14264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II фаза, часть B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580375" y="1874519"/>
            <a:ext cx="4105656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392 пациента в анализе безопасности.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Сердечная недостаточность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со сниженной фракцией выброса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и умеренное нарушение функции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Лечение 4 недели.</a:t>
            </a:r>
          </a:p>
        </p:txBody>
      </p:sp>
      <p:sp>
        <p:nvSpPr>
          <p:cNvPr id="9" name="Текст: Изученные дозы"/>
          <p:cNvSpPr txBox="1"/>
          <p:nvPr/>
        </p:nvSpPr>
        <p:spPr>
          <a:xfrm>
            <a:off x="7580375" y="3538728"/>
            <a:ext cx="4105656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Изученные дозы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580375" y="3877056"/>
            <a:ext cx="4105656" cy="12252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Финеренон: 2,5; 5 или 10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один раз в сутки либо 5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Спиронолактон: 25–50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581900" y="5286375"/>
            <a:ext cx="4105275" cy="1047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Группы доз финеренона объединены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в дополнительном анализе. Спиронолактон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применяли открыто. Результат относится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к изученным дозам и 4 неделям лечения.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ARTS, часть B: дополнительный анализ безопасности.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Pitt B, et al. Eur Heart J. 2013;34:2453–2463. Agarwal R, et al. Eur Heart J. 2022;43:474–484.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Calibri"/>
                <a:cs typeface="Calibri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 —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 —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Calibri"/>
                <a:cs typeface="Calibri"/>
              </a:rPr>
              <a:t>Работа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 —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01952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Calibri"/>
                <a:cs typeface="Calibri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Calibri"/>
                <a:cs typeface="Calibri"/>
              </a:rPr>
              <a:t>Рецептор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739896"/>
            <a:ext cx="95097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Calibri"/>
                <a:cs typeface="Calibri"/>
              </a:rPr>
              <a:t>Натрий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Calibri"/>
                <a:cs typeface="Calibri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Calibri"/>
                <a:cs typeface="Calibri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Calibri"/>
                <a:cs typeface="Calibri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Calibri"/>
                <a:cs typeface="Calibri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Calibri"/>
                <a:cs typeface="Calibri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001768"/>
            <a:ext cx="1143000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Calibri"/>
                <a:cs typeface="Calibri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 — слабее электрическая движущая сила для секреции калия."/>
          <p:cNvSpPr txBox="1"/>
          <p:nvPr/>
        </p:nvSpPr>
        <p:spPr>
          <a:xfrm>
            <a:off x="502920" y="5687568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Меньше натрия всасывается через канал — слабее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772400" y="1333500"/>
            <a:ext cx="3819525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Риск выше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772400" y="186690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Более высокий исходный калий</a:t>
            </a:r>
          </a:p>
        </p:txBody>
      </p:sp>
      <p:sp>
        <p:nvSpPr>
          <p:cNvPr id="260" name="Сниженная функция почек"/>
          <p:cNvSpPr txBox="1"/>
          <p:nvPr/>
        </p:nvSpPr>
        <p:spPr>
          <a:xfrm>
            <a:off x="7772400" y="2409825"/>
            <a:ext cx="381952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Сниженная функция почек</a:t>
            </a:r>
          </a:p>
        </p:txBody>
      </p:sp>
      <p:sp>
        <p:nvSpPr>
          <p:cNvPr id="261" name="Гиперкалиемия в прошлом"/>
          <p:cNvSpPr txBox="1"/>
          <p:nvPr/>
        </p:nvSpPr>
        <p:spPr>
          <a:xfrm>
            <a:off x="7772400" y="295275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Женский пол, приём β-адреноблокаторов</a:t>
            </a:r>
          </a:p>
        </p:txBody>
      </p:sp>
      <p:sp>
        <p:nvSpPr>
          <p:cNvPr id="262" name="Более высокая альбуминурия"/>
          <p:cNvSpPr txBox="1"/>
          <p:nvPr/>
        </p:nvSpPr>
        <p:spPr>
          <a:xfrm>
            <a:off x="7772400" y="3495675"/>
            <a:ext cx="3819525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Более высокая альбуминурия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772400" y="3857625"/>
            <a:ext cx="3819525" cy="257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Связь выявлена в FIDELIO-DKD; диуретики и ингибиторы НГЛТ2 риск снижали.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772400" y="4410075"/>
            <a:ext cx="3819525" cy="8858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Острое заболевание, обезвоживание</a:t>
            </a: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 или лекарства, повышающие калий</a:t>
            </a:r>
            <a:r>
              <a:rPr sz="1700" b="0">
                <a:solidFill>
                  <a:srgbClr val="000000"/>
                </a:solidFill>
                <a:latin typeface="Calibri"/>
                <a:cs typeface="Calibri"/>
              </a:rPr>
              <a:t> либо концентрацию финеренона</a:t>
            </a:r>
          </a:p>
        </p:txBody>
      </p:sp>
      <p:sp>
        <p:nvSpPr>
          <p:cNvPr id="265" name="Калий выше нормы —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772400" y="5638800"/>
            <a:ext cx="3819525" cy="638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Калий выше нормы — гиперкалиемия.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Нужен контроль калия и функции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Calibri"/>
                <a:cs typeface="Calibri"/>
              </a:rPr>
              <a:t>до начала и во время лечения.</a:t>
            </a:r>
          </a:p>
        </p:txBody>
      </p:sp>
      <p:sp>
        <p:nvSpPr>
          <p:cNvPr id="266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Agarwal R, et al. J Am Soc Nephrol. 2022;33:225–237. Sørensen MV, et al. JCI Insight. 2019;4:e126910. Czogalla J, et al. Pflügers Arch. 2016;468:849–858. Kerendia (finerenone). Summary of Product Characteristics. EMA.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Карточка_не_рекомендуется"/>
          <p:cNvSpPr/>
          <p:nvPr/>
        </p:nvSpPr>
        <p:spPr>
          <a:xfrm>
            <a:off x="762000" y="1422400"/>
            <a:ext cx="5016500" cy="4241800"/>
          </a:xfrm>
          <a:prstGeom prst="roundRect">
            <a:avLst>
              <a:gd name="adj" fmla="val 2395"/>
            </a:avLst>
          </a:prstGeom>
          <a:solidFill>
            <a:srgbClr val="FBEA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Карточка_контроль"/>
          <p:cNvSpPr/>
          <p:nvPr/>
        </p:nvSpPr>
        <p:spPr>
          <a:xfrm>
            <a:off x="6261100" y="1422400"/>
            <a:ext cx="5270500" cy="4241800"/>
          </a:xfrm>
          <a:prstGeom prst="roundRect">
            <a:avLst>
              <a:gd name="adj" fmla="val 2395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Финеренон: какие сочетания не рекомендуются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и когда нужен контроль калия</a:t>
            </a:r>
          </a:p>
        </p:txBody>
      </p:sp>
      <p:sp>
        <p:nvSpPr>
          <p:cNvPr id="3" name="Категория_не_рекомендуется"/>
          <p:cNvSpPr txBox="1"/>
          <p:nvPr/>
        </p:nvSpPr>
        <p:spPr>
          <a:xfrm>
            <a:off x="933450" y="1533525"/>
            <a:ext cx="4667250" cy="638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AD3D3F"/>
                </a:solidFill>
                <a:latin typeface="Calibri"/>
                <a:cs typeface="Calibri"/>
              </a:rPr>
              <a:t>Не рекомендуется</a:t>
            </a:r>
            <a:r>
              <a:rPr sz="1800" b="1" lang="ru-RU">
                <a:solidFill>
                  <a:srgbClr val="AD3D3F"/>
                </a:solidFill>
                <a:latin typeface="Calibri"/>
                <a:cs typeface="Calibri"/>
              </a:rPr>
              <a:t> совместное применение</a:t>
            </a:r>
          </a:p>
        </p:txBody>
      </p:sp>
      <p:sp>
        <p:nvSpPr>
          <p:cNvPr id="4" name="Категория_контроль"/>
          <p:cNvSpPr txBox="1"/>
          <p:nvPr/>
        </p:nvSpPr>
        <p:spPr>
          <a:xfrm>
            <a:off x="6438900" y="1533525"/>
            <a:ext cx="4914900" cy="638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A76A10"/>
                </a:solidFill>
                <a:latin typeface="Calibri"/>
                <a:cs typeface="Calibri"/>
              </a:rPr>
              <a:t>Осторожность</a:t>
            </a:r>
            <a:r>
              <a:rPr sz="1800" b="1" lang="ru-RU">
                <a:solidFill>
                  <a:srgbClr val="A76A10"/>
                </a:solidFill>
                <a:latin typeface="Calibri"/>
                <a:cs typeface="Calibri"/>
              </a:rPr>
              <a:t> и дополнительный контроль</a:t>
            </a:r>
          </a:p>
        </p:txBody>
      </p:sp>
      <p:sp>
        <p:nvSpPr>
          <p:cNvPr id="5" name="Класс_антагонисты"/>
          <p:cNvSpPr txBox="1"/>
          <p:nvPr/>
        </p:nvSpPr>
        <p:spPr>
          <a:xfrm>
            <a:off x="933450" y="2352675"/>
            <a:ext cx="4667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Другие антагонисты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минералокортикоидного рецептора</a:t>
            </a:r>
          </a:p>
        </p:txBody>
      </p:sp>
      <p:sp>
        <p:nvSpPr>
          <p:cNvPr id="6" name="Названия_антагонисты"/>
          <p:cNvSpPr txBox="1"/>
          <p:nvPr/>
        </p:nvSpPr>
        <p:spPr>
          <a:xfrm>
            <a:off x="933450" y="29051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Спиронолактон, эплеренон</a:t>
            </a:r>
          </a:p>
        </p:txBody>
      </p:sp>
      <p:sp>
        <p:nvSpPr>
          <p:cNvPr id="7" name="Класс_мочегонные"/>
          <p:cNvSpPr txBox="1"/>
          <p:nvPr/>
        </p:nvSpPr>
        <p:spPr>
          <a:xfrm>
            <a:off x="933450" y="3571875"/>
            <a:ext cx="4667250" cy="3524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Калийсберегающие диуретики</a:t>
            </a:r>
          </a:p>
        </p:txBody>
      </p:sp>
      <p:sp>
        <p:nvSpPr>
          <p:cNvPr id="8" name="Названия_мочегонные"/>
          <p:cNvSpPr txBox="1"/>
          <p:nvPr/>
        </p:nvSpPr>
        <p:spPr>
          <a:xfrm>
            <a:off x="933450" y="39719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Амилорид, триамтерен</a:t>
            </a:r>
          </a:p>
        </p:txBody>
      </p:sp>
      <p:sp>
        <p:nvSpPr>
          <p:cNvPr id="9" name="Причина_ограничения"/>
          <p:cNvSpPr txBox="1"/>
          <p:nvPr/>
        </p:nvSpPr>
        <p:spPr>
          <a:xfrm>
            <a:off x="933450" y="4676775"/>
            <a:ext cx="4667250" cy="542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Совместное применение может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увеличивать риск гиперкалиемии.</a:t>
            </a:r>
          </a:p>
        </p:txBody>
      </p:sp>
      <p:sp>
        <p:nvSpPr>
          <p:cNvPr id="10" name="Калий_препараты"/>
          <p:cNvSpPr txBox="1"/>
          <p:nvPr/>
        </p:nvSpPr>
        <p:spPr>
          <a:xfrm>
            <a:off x="6438900" y="2333625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Препараты калия и калийсодержащие</a:t>
            </a: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 заменители соли</a:t>
            </a:r>
          </a:p>
        </p:txBody>
      </p:sp>
      <p:sp>
        <p:nvSpPr>
          <p:cNvPr id="11" name="Калий_действие"/>
          <p:cNvSpPr txBox="1"/>
          <p:nvPr/>
        </p:nvSpPr>
        <p:spPr>
          <a:xfrm>
            <a:off x="6438900" y="2857500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Оценивают необходимость применения и контролируют калий.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2" name="Триметоприм"/>
          <p:cNvSpPr txBox="1"/>
          <p:nvPr/>
        </p:nvSpPr>
        <p:spPr>
          <a:xfrm>
            <a:off x="6438900" y="3524250"/>
            <a:ext cx="49149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Триметоприм, в том числе</a:t>
            </a: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 в составе ко-тримоксазола</a:t>
            </a:r>
          </a:p>
        </p:txBody>
      </p:sp>
      <p:sp>
        <p:nvSpPr>
          <p:cNvPr id="13" name="Триметоприм_действие"/>
          <p:cNvSpPr txBox="1"/>
          <p:nvPr/>
        </p:nvSpPr>
        <p:spPr>
          <a:xfrm>
            <a:off x="6438900" y="4029075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Контроль калия. Врач может временно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приостановить финеренон.</a:t>
            </a:r>
          </a:p>
        </p:txBody>
      </p:sp>
      <p:sp>
        <p:nvSpPr>
          <p:cNvPr id="14" name="Противовоспалительные"/>
          <p:cNvSpPr txBox="1"/>
          <p:nvPr/>
        </p:nvSpPr>
        <p:spPr>
          <a:xfrm>
            <a:off x="6438900" y="4638675"/>
            <a:ext cx="4914900" cy="4857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Нестероидные противовоспалительные</a:t>
            </a: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 препараты: ибупрофен, диклофенак</a:t>
            </a:r>
          </a:p>
        </p:txBody>
      </p:sp>
      <p:sp>
        <p:nvSpPr>
          <p:cNvPr id="15" name="Противовоспалительные_действие"/>
          <p:cNvSpPr txBox="1"/>
          <p:nvPr/>
        </p:nvSpPr>
        <p:spPr>
          <a:xfrm>
            <a:off x="6438900" y="5162550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Оценивают необходимость применения, контролируют функцию почек и калий.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6" name="Фоновая_терапия"/>
          <p:cNvSpPr txBox="1"/>
          <p:nvPr/>
        </p:nvSpPr>
        <p:spPr>
          <a:xfrm>
            <a:off x="933450" y="5765800"/>
            <a:ext cx="1042035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Согласно KDIGO, при наличии показаний финеренон добавляют к ингибитору АПФ или БРА в максимально переносимой дозе.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/>
            </a:r>
          </a:p>
          <a:p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Калий и функцию почек продолжают контролировать.</a:t>
            </a:r>
          </a:p>
        </p:txBody>
      </p:sp>
      <p:sp>
        <p:nvSpPr>
          <p:cNvPr id="19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АПФ — ангиотензинпревращающий фермент; БРА —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Kerendia (finerenone). Summary of Product Characteristics. EMA. Bakris GL, et al. N Engl J Med. 2020;383:2219–2229.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а индукторы снижают её</a:t>
            </a:r>
          </a:p>
        </p:txBody>
      </p:sp>
      <p:sp>
        <p:nvSpPr>
          <p:cNvPr id="2" name="CYP3A4_enzyme_symbol"/>
          <p:cNvSpPr/>
          <p:nvPr/>
        </p:nvSpPr>
        <p:spPr>
          <a:xfrm>
            <a:off x="4742115" y="1250241"/>
            <a:ext cx="2723835" cy="1084387"/>
          </a:xfrm>
          <a:custGeom>
            <a:avLst/>
            <a:gdLst/>
            <a:ahLst/>
            <a:cxnLst/>
            <a:rect l="l" t="t" r="r" b="b"/>
            <a:pathLst>
              <a:path w="2723835" h="1084387">
                <a:moveTo>
                  <a:pt x="2719023" y="560271"/>
                </a:moveTo>
                <a:lnTo>
                  <a:pt x="2723835" y="595012"/>
                </a:lnTo>
                <a:lnTo>
                  <a:pt x="2720309" y="629853"/>
                </a:lnTo>
                <a:lnTo>
                  <a:pt x="2708543" y="664446"/>
                </a:lnTo>
                <a:lnTo>
                  <a:pt x="2688946" y="698481"/>
                </a:lnTo>
                <a:lnTo>
                  <a:pt x="2662165" y="731705"/>
                </a:lnTo>
                <a:lnTo>
                  <a:pt x="2628994" y="763934"/>
                </a:lnTo>
                <a:lnTo>
                  <a:pt x="2590274" y="795064"/>
                </a:lnTo>
                <a:lnTo>
                  <a:pt x="2546797" y="825048"/>
                </a:lnTo>
                <a:lnTo>
                  <a:pt x="2499226" y="853886"/>
                </a:lnTo>
                <a:lnTo>
                  <a:pt x="2448044" y="881592"/>
                </a:lnTo>
                <a:lnTo>
                  <a:pt x="2393537" y="908164"/>
                </a:lnTo>
                <a:lnTo>
                  <a:pt x="2335809" y="933565"/>
                </a:lnTo>
                <a:lnTo>
                  <a:pt x="2274828" y="957697"/>
                </a:lnTo>
                <a:lnTo>
                  <a:pt x="2210492" y="980399"/>
                </a:lnTo>
                <a:lnTo>
                  <a:pt x="2142705" y="1001453"/>
                </a:lnTo>
                <a:lnTo>
                  <a:pt x="2071448" y="1020595"/>
                </a:lnTo>
                <a:lnTo>
                  <a:pt x="1996839" y="1037553"/>
                </a:lnTo>
                <a:lnTo>
                  <a:pt x="1919165" y="1052071"/>
                </a:lnTo>
                <a:lnTo>
                  <a:pt x="1838884" y="1063947"/>
                </a:lnTo>
                <a:lnTo>
                  <a:pt x="1756601" y="1073068"/>
                </a:lnTo>
                <a:lnTo>
                  <a:pt x="1673014" y="1079424"/>
                </a:lnTo>
                <a:lnTo>
                  <a:pt x="1588839" y="1083125"/>
                </a:lnTo>
                <a:lnTo>
                  <a:pt x="1504734" y="1084387"/>
                </a:lnTo>
                <a:lnTo>
                  <a:pt x="1421223" y="1083518"/>
                </a:lnTo>
                <a:lnTo>
                  <a:pt x="1338645" y="1080884"/>
                </a:lnTo>
                <a:lnTo>
                  <a:pt x="1257116" y="1076863"/>
                </a:lnTo>
                <a:lnTo>
                  <a:pt x="1176543" y="1071802"/>
                </a:lnTo>
                <a:lnTo>
                  <a:pt x="1096656" y="1065975"/>
                </a:lnTo>
                <a:lnTo>
                  <a:pt x="1017078" y="1059546"/>
                </a:lnTo>
                <a:lnTo>
                  <a:pt x="937415" y="1052544"/>
                </a:lnTo>
                <a:lnTo>
                  <a:pt x="857357" y="1044865"/>
                </a:lnTo>
                <a:lnTo>
                  <a:pt x="776771" y="1036274"/>
                </a:lnTo>
                <a:lnTo>
                  <a:pt x="695779" y="1026438"/>
                </a:lnTo>
                <a:lnTo>
                  <a:pt x="614804" y="1014965"/>
                </a:lnTo>
                <a:lnTo>
                  <a:pt x="534584" y="1001453"/>
                </a:lnTo>
                <a:lnTo>
                  <a:pt x="456134" y="985537"/>
                </a:lnTo>
                <a:lnTo>
                  <a:pt x="380680" y="966943"/>
                </a:lnTo>
                <a:lnTo>
                  <a:pt x="309556" y="945516"/>
                </a:lnTo>
                <a:lnTo>
                  <a:pt x="244084" y="921247"/>
                </a:lnTo>
                <a:lnTo>
                  <a:pt x="185451" y="894276"/>
                </a:lnTo>
                <a:lnTo>
                  <a:pt x="134594" y="864883"/>
                </a:lnTo>
                <a:lnTo>
                  <a:pt x="92114" y="833459"/>
                </a:lnTo>
                <a:lnTo>
                  <a:pt x="58225" y="800464"/>
                </a:lnTo>
                <a:lnTo>
                  <a:pt x="32742" y="766389"/>
                </a:lnTo>
                <a:lnTo>
                  <a:pt x="15124" y="731705"/>
                </a:lnTo>
                <a:lnTo>
                  <a:pt x="4545" y="696823"/>
                </a:lnTo>
                <a:lnTo>
                  <a:pt x="0" y="662069"/>
                </a:lnTo>
                <a:lnTo>
                  <a:pt x="429" y="627664"/>
                </a:lnTo>
                <a:lnTo>
                  <a:pt x="4836" y="593724"/>
                </a:lnTo>
                <a:lnTo>
                  <a:pt x="12399" y="560271"/>
                </a:lnTo>
                <a:lnTo>
                  <a:pt x="22552" y="527262"/>
                </a:lnTo>
                <a:lnTo>
                  <a:pt x="35027" y="494619"/>
                </a:lnTo>
                <a:lnTo>
                  <a:pt x="49861" y="462263"/>
                </a:lnTo>
                <a:lnTo>
                  <a:pt x="67356" y="430147"/>
                </a:lnTo>
                <a:lnTo>
                  <a:pt x="88013" y="398278"/>
                </a:lnTo>
                <a:lnTo>
                  <a:pt x="112439" y="366731"/>
                </a:lnTo>
                <a:lnTo>
                  <a:pt x="141248" y="335651"/>
                </a:lnTo>
                <a:lnTo>
                  <a:pt x="174965" y="305240"/>
                </a:lnTo>
                <a:lnTo>
                  <a:pt x="213948" y="275733"/>
                </a:lnTo>
                <a:lnTo>
                  <a:pt x="258339" y="247376"/>
                </a:lnTo>
                <a:lnTo>
                  <a:pt x="308047" y="220389"/>
                </a:lnTo>
                <a:lnTo>
                  <a:pt x="362765" y="194944"/>
                </a:lnTo>
                <a:lnTo>
                  <a:pt x="422016" y="171146"/>
                </a:lnTo>
                <a:lnTo>
                  <a:pt x="485225" y="149022"/>
                </a:lnTo>
                <a:lnTo>
                  <a:pt x="551791" y="128530"/>
                </a:lnTo>
                <a:lnTo>
                  <a:pt x="621166" y="109572"/>
                </a:lnTo>
                <a:lnTo>
                  <a:pt x="692913" y="92025"/>
                </a:lnTo>
                <a:lnTo>
                  <a:pt x="766740" y="75769"/>
                </a:lnTo>
                <a:lnTo>
                  <a:pt x="842509" y="60726"/>
                </a:lnTo>
                <a:lnTo>
                  <a:pt x="920209" y="46886"/>
                </a:lnTo>
                <a:lnTo>
                  <a:pt x="999904" y="34331"/>
                </a:lnTo>
                <a:lnTo>
                  <a:pt x="1081668" y="23245"/>
                </a:lnTo>
                <a:lnTo>
                  <a:pt x="1165504" y="13903"/>
                </a:lnTo>
                <a:lnTo>
                  <a:pt x="1251273" y="6655"/>
                </a:lnTo>
                <a:lnTo>
                  <a:pt x="1338645" y="1892"/>
                </a:lnTo>
                <a:lnTo>
                  <a:pt x="1427066" y="0"/>
                </a:lnTo>
                <a:lnTo>
                  <a:pt x="1515773" y="1319"/>
                </a:lnTo>
                <a:lnTo>
                  <a:pt x="1603827" y="6095"/>
                </a:lnTo>
                <a:lnTo>
                  <a:pt x="1690188" y="14452"/>
                </a:lnTo>
                <a:lnTo>
                  <a:pt x="1773808" y="26362"/>
                </a:lnTo>
                <a:lnTo>
                  <a:pt x="1853732" y="41643"/>
                </a:lnTo>
                <a:lnTo>
                  <a:pt x="1929195" y="59973"/>
                </a:lnTo>
                <a:lnTo>
                  <a:pt x="1999705" y="80910"/>
                </a:lnTo>
                <a:lnTo>
                  <a:pt x="2065086" y="103942"/>
                </a:lnTo>
                <a:lnTo>
                  <a:pt x="2125498" y="128530"/>
                </a:lnTo>
                <a:lnTo>
                  <a:pt x="2181401" y="154160"/>
                </a:lnTo>
                <a:lnTo>
                  <a:pt x="2233492" y="180392"/>
                </a:lnTo>
                <a:lnTo>
                  <a:pt x="2282600" y="206895"/>
                </a:lnTo>
                <a:lnTo>
                  <a:pt x="2329573" y="233471"/>
                </a:lnTo>
                <a:lnTo>
                  <a:pt x="2375156" y="260060"/>
                </a:lnTo>
                <a:lnTo>
                  <a:pt x="2419872" y="286731"/>
                </a:lnTo>
                <a:lnTo>
                  <a:pt x="2463947" y="313650"/>
                </a:lnTo>
                <a:lnTo>
                  <a:pt x="2507251" y="341052"/>
                </a:lnTo>
                <a:lnTo>
                  <a:pt x="2549297" y="369186"/>
                </a:lnTo>
                <a:lnTo>
                  <a:pt x="2589276" y="398278"/>
                </a:lnTo>
                <a:lnTo>
                  <a:pt x="2626135" y="428489"/>
                </a:lnTo>
                <a:lnTo>
                  <a:pt x="2658683" y="459886"/>
                </a:lnTo>
                <a:lnTo>
                  <a:pt x="2685711" y="492431"/>
                </a:lnTo>
                <a:lnTo>
                  <a:pt x="2706119" y="525973"/>
                </a:lnTo>
                <a:close/>
              </a:path>
            </a:pathLst>
          </a:custGeom>
          <a:solidFill>
            <a:srgbClr val="F0EAF6"/>
          </a:solidFill>
          <a:ln w="16510">
            <a:solidFill>
              <a:srgbClr val="92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7" name="Enzyme_label"/>
          <p:cNvSpPr txBox="1"/>
          <p:nvPr/>
        </p:nvSpPr>
        <p:spPr>
          <a:xfrm>
            <a:off x="4873752" y="14721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Calibri"/>
                <a:cs typeface="Calibri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8470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4356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Calibri"/>
                <a:cs typeface="Calibri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664208"/>
            <a:ext cx="1801368" cy="0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508760"/>
            <a:ext cx="0" cy="310896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929384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340864"/>
            <a:ext cx="210312" cy="329184"/>
          </a:xfrm>
          <a:prstGeom prst="upArrow">
            <a:avLst/>
          </a:prstGeom>
          <a:solidFill>
            <a:srgbClr val="B8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3500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Calibri"/>
                <a:cs typeface="Calibri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7797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4356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Calibri"/>
                <a:cs typeface="Calibri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664208"/>
            <a:ext cx="822961" cy="0"/>
          </a:xfrm>
          <a:prstGeom prst="line">
            <a:avLst/>
          </a:prstGeom>
          <a:ln w="27305">
            <a:solidFill>
              <a:srgbClr val="226C8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929384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340864"/>
            <a:ext cx="210312" cy="329184"/>
          </a:xfrm>
          <a:prstGeom prst="downArrow">
            <a:avLst/>
          </a:prstGeom>
          <a:solidFill>
            <a:srgbClr val="226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3500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Calibri"/>
                <a:cs typeface="Calibri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7797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8163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359152"/>
            <a:ext cx="0" cy="539496"/>
          </a:xfrm>
          <a:prstGeom prst="line">
            <a:avLst/>
          </a:prstGeom>
          <a:ln w="17780">
            <a:solidFill>
              <a:srgbClr val="7952A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953512"/>
            <a:ext cx="1106424" cy="0"/>
          </a:xfrm>
          <a:prstGeom prst="line">
            <a:avLst/>
          </a:prstGeom>
          <a:ln w="25400">
            <a:solidFill>
              <a:srgbClr val="7952A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6609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3284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Основной путь: печень и стенка кишечника</a:t>
            </a:r>
          </a:p>
        </p:txBody>
      </p:sp>
      <p:sp>
        <p:nvSpPr>
          <p:cNvPr id="47" name="Strong_heading"/>
          <p:cNvSpPr txBox="1"/>
          <p:nvPr/>
        </p:nvSpPr>
        <p:spPr>
          <a:xfrm>
            <a:off x="594360" y="3794760"/>
            <a:ext cx="340156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Calibri"/>
                <a:cs typeface="Calibri"/>
              </a:rPr>
              <a:t>Сильные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Calibri"/>
                <a:cs typeface="Calibri"/>
              </a:rPr>
              <a:t>ингибиторы</a:t>
            </a:r>
          </a:p>
        </p:txBody>
      </p:sp>
      <p:sp>
        <p:nvSpPr>
          <p:cNvPr id="48" name="Moderate_weak_heading"/>
          <p:cNvSpPr txBox="1"/>
          <p:nvPr/>
        </p:nvSpPr>
        <p:spPr>
          <a:xfrm>
            <a:off x="4407408" y="3794760"/>
            <a:ext cx="335584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Calibri"/>
                <a:cs typeface="Calibri"/>
              </a:rPr>
              <a:t>Умеренные и слабые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Calibri"/>
                <a:cs typeface="Calibri"/>
              </a:rPr>
              <a:t>ингибиторы</a:t>
            </a:r>
          </a:p>
        </p:txBody>
      </p:sp>
      <p:sp>
        <p:nvSpPr>
          <p:cNvPr id="49" name="Inducer_heading"/>
          <p:cNvSpPr txBox="1"/>
          <p:nvPr/>
        </p:nvSpPr>
        <p:spPr>
          <a:xfrm>
            <a:off x="8229600" y="3794760"/>
            <a:ext cx="3429000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Calibri"/>
                <a:cs typeface="Calibri"/>
              </a:rPr>
              <a:t>Сильные и умеренные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Calibri"/>
                <a:cs typeface="Calibri"/>
              </a:rPr>
              <a:t>индукторы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594360" y="4544568"/>
            <a:ext cx="3401568" cy="60350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07408" y="4544568"/>
            <a:ext cx="3355848" cy="65836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Эритромицин, верапамил —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умеренные. Флувоксамин — слабый.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544568"/>
            <a:ext cx="3429000" cy="7223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препараты зверобоя — сильные.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Эфавиренз — умеренный.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594360" y="5276088"/>
            <a:ext cx="3401568" cy="5760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Calibri"/>
                <a:cs typeface="Calibri"/>
              </a:rPr>
              <a:t>Совместный приём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Calibri"/>
                <a:cs typeface="Calibri"/>
              </a:rPr>
              <a:t>противопоказан.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07408" y="5312664"/>
            <a:ext cx="3355848" cy="31089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848C"/>
                </a:solidFill>
                <a:latin typeface="Calibri"/>
                <a:cs typeface="Calibri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07408" y="5641848"/>
            <a:ext cx="3355848" cy="8229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При начале приёма или изменении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дозы финеренона либо ингибитора.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При необходимости врач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349240"/>
            <a:ext cx="3429000" cy="62179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Calibri"/>
                <a:cs typeface="Calibri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Calibri"/>
                <a:cs typeface="Calibri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594360" y="6000750"/>
            <a:ext cx="3524250" cy="466725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Грейпфрут и грейпфрутовый сок во время лечения исключают: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Calibri"/>
                <a:cs typeface="Calibri"/>
              </a:rPr>
              <a:t>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Полоса_калий_норма"/>
          <p:cNvSpPr/>
          <p:nvPr/>
        </p:nvSpPr>
        <p:spPr>
          <a:xfrm>
            <a:off x="787400" y="2832100"/>
            <a:ext cx="5105400" cy="965200"/>
          </a:xfrm>
          <a:prstGeom prst="roundRect">
            <a:avLst>
              <a:gd name="adj" fmla="val 7894"/>
            </a:avLst>
          </a:prstGeom>
          <a:solidFill>
            <a:srgbClr val="EA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Полоса_калий_контроль"/>
          <p:cNvSpPr/>
          <p:nvPr/>
        </p:nvSpPr>
        <p:spPr>
          <a:xfrm>
            <a:off x="787400" y="3848100"/>
            <a:ext cx="5105400" cy="1092200"/>
          </a:xfrm>
          <a:prstGeom prst="roundRect">
            <a:avLst>
              <a:gd name="adj" fmla="val 6976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Полоса_калий_высокий"/>
          <p:cNvSpPr/>
          <p:nvPr/>
        </p:nvSpPr>
        <p:spPr>
          <a:xfrm>
            <a:off x="787400" y="4991100"/>
            <a:ext cx="5105400" cy="558800"/>
          </a:xfrm>
          <a:prstGeom prst="roundRect">
            <a:avLst>
              <a:gd name="adj" fmla="val 13636"/>
            </a:avLst>
          </a:prstGeom>
          <a:solidFill>
            <a:srgbClr val="FBEA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Полоса_рскф_60"/>
          <p:cNvSpPr/>
          <p:nvPr/>
        </p:nvSpPr>
        <p:spPr>
          <a:xfrm>
            <a:off x="6375400" y="2832100"/>
            <a:ext cx="5105400" cy="965200"/>
          </a:xfrm>
          <a:prstGeom prst="roundRect">
            <a:avLst>
              <a:gd name="adj" fmla="val 7894"/>
            </a:avLst>
          </a:prstGeom>
          <a:solidFill>
            <a:srgbClr val="EA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Полоса_рскф_25_60"/>
          <p:cNvSpPr/>
          <p:nvPr/>
        </p:nvSpPr>
        <p:spPr>
          <a:xfrm>
            <a:off x="6375400" y="3848100"/>
            <a:ext cx="5105400" cy="1092200"/>
          </a:xfrm>
          <a:prstGeom prst="roundRect">
            <a:avLst>
              <a:gd name="adj" fmla="val 697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Полоса_рскф_25"/>
          <p:cNvSpPr/>
          <p:nvPr/>
        </p:nvSpPr>
        <p:spPr>
          <a:xfrm>
            <a:off x="6375400" y="4991100"/>
            <a:ext cx="5105400" cy="558800"/>
          </a:xfrm>
          <a:prstGeom prst="roundRect">
            <a:avLst>
              <a:gd name="adj" fmla="val 13636"/>
            </a:avLst>
          </a:prstGeom>
          <a:solidFill>
            <a:srgbClr val="FBEA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933450" y="1323975"/>
            <a:ext cx="1042035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У взрослых с хронической болезнью почек, связанной с сахарным диабетом 2 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933450" y="1876425"/>
            <a:ext cx="485775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Calibri"/>
                <a:cs typeface="Calibri"/>
              </a:rPr>
              <a:t>Калий сыворотки крови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933450" y="2286000"/>
            <a:ext cx="48577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515100" y="1876425"/>
            <a:ext cx="48387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Calibri"/>
                <a:cs typeface="Calibri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515100" y="2286000"/>
            <a:ext cx="4838700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(рСКФ), мл/мин/1,73 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933450" y="2905125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2E7D4F"/>
                </a:solidFill>
                <a:latin typeface="Calibri"/>
                <a:cs typeface="Calibri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876550" y="2905125"/>
            <a:ext cx="2952750" cy="9048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Лечение можно начать при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допустимой функции почек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933450" y="3886200"/>
            <a:ext cx="18097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A76A10"/>
                </a:solidFill>
                <a:latin typeface="Calibri"/>
                <a:cs typeface="Calibri"/>
              </a:rPr>
              <a:t>&gt;4,8 и 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876550" y="3886200"/>
            <a:ext cx="2952750" cy="10191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Начало лечения можно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рассмотреть с дополнительным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контролем калия в первые</a:t>
            </a: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 4 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933450" y="4991100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B5323C"/>
                </a:solidFill>
                <a:latin typeface="Calibri"/>
                <a:cs typeface="Calibri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876550" y="5029200"/>
            <a:ext cx="295275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Calibri"/>
                <a:cs typeface="Calibri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5100" y="2905125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2E7D4F"/>
                </a:solidFill>
                <a:latin typeface="Calibri"/>
                <a:cs typeface="Calibri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639175" y="2952750"/>
            <a:ext cx="2714625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Calibri"/>
                <a:cs typeface="Calibri"/>
              </a:rPr>
              <a:t>20 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5100" y="3886200"/>
            <a:ext cx="195262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000000"/>
                </a:solidFill>
                <a:latin typeface="Calibri"/>
                <a:cs typeface="Calibri"/>
              </a:rPr>
              <a:t>≥25 и 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639175" y="3943350"/>
            <a:ext cx="2714625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Calibri"/>
                <a:cs typeface="Calibri"/>
              </a:rPr>
              <a:t>10 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5100" y="4991100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B5323C"/>
                </a:solidFill>
                <a:latin typeface="Calibri"/>
                <a:cs typeface="Calibri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639175" y="5010150"/>
            <a:ext cx="2714625" cy="4953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Calibri"/>
                <a:cs typeface="Calibri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Calibri"/>
                <a:cs typeface="Calibri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933450" y="5581650"/>
            <a:ext cx="10420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Целевая доза при данном показании — 20 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933450" y="5876925"/>
            <a:ext cx="1042035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Перед назначением проверяют противопоказания: гиперчувствительность к компонентам препарата,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болезнь Аддисона и одновременный приём сильных ингибиторов CYP3A4.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до начала и во время лечения финереноном</a:t>
            </a:r>
          </a:p>
        </p:txBody>
      </p:sp>
      <p:cxnSp>
        <p:nvCxnSpPr>
          <p:cNvPr id="3" name="Линия_времени"/>
          <p:cNvCxnSpPr/>
          <p:nvPr/>
        </p:nvCxnSpPr>
        <p:spPr>
          <a:xfrm>
            <a:off x="2159000" y="1422400"/>
            <a:ext cx="7874000" cy="0"/>
          </a:xfrm>
          <a:prstGeom prst="line">
            <a:avLst/>
          </a:prstGeom>
          <a:ln w="25400">
            <a:solidFill>
              <a:srgbClr val="BFBFBF"/>
            </a:solidFill>
          </a:ln>
        </p:spPr>
      </p:cxnSp>
      <p:sp>
        <p:nvSpPr>
          <p:cNvPr id="4" name="Этап_1_круг"/>
          <p:cNvSpPr/>
          <p:nvPr/>
        </p:nvSpPr>
        <p:spPr>
          <a:xfrm>
            <a:off x="1930400" y="1193800"/>
            <a:ext cx="457200" cy="4572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5" name="Этап_1"/>
          <p:cNvSpPr txBox="1"/>
          <p:nvPr/>
        </p:nvSpPr>
        <p:spPr>
          <a:xfrm>
            <a:off x="381000" y="1778000"/>
            <a:ext cx="3556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До первой дозы</a:t>
            </a:r>
          </a:p>
        </p:txBody>
      </p:sp>
      <p:sp>
        <p:nvSpPr>
          <p:cNvPr id="6" name="Этап_1_текст"/>
          <p:cNvSpPr txBox="1"/>
          <p:nvPr/>
        </p:nvSpPr>
        <p:spPr>
          <a:xfrm>
            <a:off x="508000" y="2159000"/>
            <a:ext cx="33020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Калий сыворотки крови, рСКФ, текущие лекарства и противопоказания.</a:t>
            </a:r>
          </a:p>
        </p:txBody>
      </p:sp>
      <p:sp>
        <p:nvSpPr>
          <p:cNvPr id="7" name="Этап_2_круг"/>
          <p:cNvSpPr/>
          <p:nvPr/>
        </p:nvSpPr>
        <p:spPr>
          <a:xfrm>
            <a:off x="5867400" y="1193800"/>
            <a:ext cx="457200" cy="4572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Этап_2"/>
          <p:cNvSpPr txBox="1"/>
          <p:nvPr/>
        </p:nvSpPr>
        <p:spPr>
          <a:xfrm>
            <a:off x="4318000" y="1778000"/>
            <a:ext cx="3556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Через 4 недели</a:t>
            </a:r>
          </a:p>
        </p:txBody>
      </p:sp>
      <p:sp>
        <p:nvSpPr>
          <p:cNvPr id="9" name="Этап_2_текст"/>
          <p:cNvSpPr txBox="1"/>
          <p:nvPr/>
        </p:nvSpPr>
        <p:spPr>
          <a:xfrm>
            <a:off x="4445000" y="2159000"/>
            <a:ext cx="33020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Повторно определяют калий и рСКФ после начала или возобновления лечения и после повышения дозы.</a:t>
            </a:r>
          </a:p>
        </p:txBody>
      </p:sp>
      <p:sp>
        <p:nvSpPr>
          <p:cNvPr id="10" name="Этап_3_круг"/>
          <p:cNvSpPr/>
          <p:nvPr/>
        </p:nvSpPr>
        <p:spPr>
          <a:xfrm>
            <a:off x="9804400" y="1193800"/>
            <a:ext cx="457200" cy="4572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1" name="Этап_3"/>
          <p:cNvSpPr txBox="1"/>
          <p:nvPr/>
        </p:nvSpPr>
        <p:spPr>
          <a:xfrm>
            <a:off x="8255000" y="1778000"/>
            <a:ext cx="3556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Далее регулярно</a:t>
            </a:r>
          </a:p>
        </p:txBody>
      </p:sp>
      <p:sp>
        <p:nvSpPr>
          <p:cNvPr id="12" name="Этап_3_текст"/>
          <p:cNvSpPr txBox="1"/>
          <p:nvPr/>
        </p:nvSpPr>
        <p:spPr>
          <a:xfrm>
            <a:off x="8382000" y="2159000"/>
            <a:ext cx="33020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стабильном лечении калий и функцию почек проверяют каждые 4 месяца¹. При повышенном риске — чаще.</a:t>
            </a:r>
          </a:p>
        </p:txBody>
      </p:sp>
      <p:sp>
        <p:nvSpPr>
          <p:cNvPr id="13" name="Внеплановый_фон"/>
          <p:cNvSpPr/>
          <p:nvPr/>
        </p:nvSpPr>
        <p:spPr>
          <a:xfrm>
            <a:off x="457200" y="3581400"/>
            <a:ext cx="11277600" cy="1905000"/>
          </a:xfrm>
          <a:prstGeom prst="roundRect">
            <a:avLst>
              <a:gd name="adj" fmla="val 6666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Внеплановый_контроль_название"/>
          <p:cNvSpPr txBox="1"/>
          <p:nvPr/>
        </p:nvSpPr>
        <p:spPr>
          <a:xfrm>
            <a:off x="736600" y="3759200"/>
            <a:ext cx="107188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A76A10"/>
                </a:solidFill>
                <a:latin typeface="Calibri"/>
                <a:cs typeface="Calibri"/>
              </a:rPr>
              <a:t>Когда анализы нужны раньше</a:t>
            </a:r>
          </a:p>
        </p:txBody>
      </p:sp>
      <p:sp>
        <p:nvSpPr>
          <p:cNvPr id="15" name="Внеплановый_контроль"/>
          <p:cNvSpPr txBox="1"/>
          <p:nvPr/>
        </p:nvSpPr>
        <p:spPr>
          <a:xfrm>
            <a:off x="736600" y="4165600"/>
            <a:ext cx="107188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исходном калии &gt;4,8 и ≤5,0 ммоль/л дополнительно проверяют калий в первые 4 недели.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16" name="Контроль_при_комбинации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При сочетании с ингибитором НГЛТ2 контроль калия сохраняется.</a:t>
            </a:r>
          </a:p>
        </p:txBody>
      </p:sp>
      <p:sp>
        <p:nvSpPr>
          <p:cNvPr id="17" name="Источники"/>
          <p:cNvSpPr txBox="1"/>
          <p:nvPr/>
        </p:nvSpPr>
        <p:spPr>
          <a:xfrm>
            <a:off x="457200" y="6258560"/>
            <a:ext cx="112776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¹ По KDIGO 2024: креатинин и рСКФ определяют одновременно с калием. НГЛТ2 —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Колонка_до_4_8"/>
          <p:cNvSpPr/>
          <p:nvPr/>
        </p:nvSpPr>
        <p:spPr>
          <a:xfrm>
            <a:off x="812800" y="1320800"/>
            <a:ext cx="3403600" cy="1803400"/>
          </a:xfrm>
          <a:prstGeom prst="roundRect">
            <a:avLst>
              <a:gd name="adj" fmla="val 5633"/>
            </a:avLst>
          </a:prstGeom>
          <a:solidFill>
            <a:srgbClr val="EA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олонка_4_8_5_5"/>
          <p:cNvSpPr/>
          <p:nvPr/>
        </p:nvSpPr>
        <p:spPr>
          <a:xfrm>
            <a:off x="4356100" y="1320800"/>
            <a:ext cx="3403600" cy="1803400"/>
          </a:xfrm>
          <a:prstGeom prst="roundRect">
            <a:avLst>
              <a:gd name="adj" fmla="val 5633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Колонка_выше_5_5"/>
          <p:cNvSpPr/>
          <p:nvPr/>
        </p:nvSpPr>
        <p:spPr>
          <a:xfrm>
            <a:off x="8089900" y="1320800"/>
            <a:ext cx="3403600" cy="1803400"/>
          </a:xfrm>
          <a:prstGeom prst="roundRect">
            <a:avLst>
              <a:gd name="adj" fmla="val 5633"/>
            </a:avLst>
          </a:prstGeom>
          <a:solidFill>
            <a:srgbClr val="FBEA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933450" y="1066800"/>
            <a:ext cx="1042035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Калий сыворотки крови,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933450" y="1450975"/>
            <a:ext cx="3143250" cy="476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2E7D4F"/>
                </a:solidFill>
                <a:latin typeface="Calibri"/>
                <a:cs typeface="Calibri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76750" y="1450975"/>
            <a:ext cx="3143250" cy="476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A76A10"/>
                </a:solidFill>
                <a:latin typeface="Calibri"/>
                <a:cs typeface="Calibri"/>
              </a:rPr>
              <a:t>&gt;4,8 и 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10550" y="1450975"/>
            <a:ext cx="3143250" cy="4762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B5323C"/>
                </a:solidFill>
                <a:latin typeface="Calibri"/>
                <a:cs typeface="Calibri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933450" y="2041525"/>
            <a:ext cx="314325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Дозу 10 мг можно увеличить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до 20 мг один раз в сутки*.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Если пациент получает 20 мг,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дозу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76750" y="2041525"/>
            <a:ext cx="314325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10 или 20 мг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10550" y="2041525"/>
            <a:ext cx="314325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Временно прекращают приём.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Calibri"/>
                <a:cs typeface="Calibri"/>
              </a:rPr>
              <a:t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933450" y="3162300"/>
            <a:ext cx="1042035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* Дозу 10 мг не повышают, если расчётная скорость клубочковой фильтрации снизилась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более чем на 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933450" y="3708400"/>
            <a:ext cx="1042035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После временной отмены: при калии ≤5,0 ммоль/л в повторном анализе</a:t>
            </a:r>
            <a:r>
              <a:rPr sz="1800" b="1" lang="ru-RU">
                <a:solidFill>
                  <a:srgbClr val="000000"/>
                </a:solidFill>
                <a:latin typeface="Calibri"/>
                <a:cs typeface="Calibri"/>
              </a:rPr>
              <a:t> врач может возобновить финеренон 10 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933450" y="4375150"/>
            <a:ext cx="1042035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Калий и функцию почек проверяют через 4 недели после возобновления или повышения дозы.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При повышенном риске контроль проводят раньше.</a:t>
            </a:r>
          </a:p>
        </p:txBody>
      </p:sp>
      <p:sp>
        <p:nvSpPr>
          <p:cNvPr id="16" name="Срочность_помощи"/>
          <p:cNvSpPr txBox="1"/>
          <p:nvPr/>
        </p:nvSpPr>
        <p:spPr>
          <a:xfrm>
            <a:off x="933450" y="5022850"/>
            <a:ext cx="10420350" cy="2952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lang="ru-RU">
                <a:solidFill>
                  <a:srgbClr val="000000"/>
                </a:solidFill>
                <a:latin typeface="Calibri"/>
                <a:cs typeface="Calibri"/>
              </a:rPr>
              <a:t>Срочность помощи при гиперкалиемии</a:t>
            </a:r>
          </a:p>
        </p:txBody>
      </p:sp>
      <p:sp>
        <p:nvSpPr>
          <p:cNvPr id="17" name="Калий_6_0_6_4"/>
          <p:cNvSpPr txBox="1"/>
          <p:nvPr/>
        </p:nvSpPr>
        <p:spPr>
          <a:xfrm>
            <a:off x="933450" y="5413375"/>
            <a:ext cx="6753225" cy="838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7363D"/>
                </a:solidFill>
                <a:latin typeface="Calibri"/>
                <a:cs typeface="Calibri"/>
              </a:rPr>
              <a:t>6,0–6,4 ммоль/л. </a:t>
            </a:r>
            <a:r>
              <a:rPr sz="1600">
                <a:solidFill>
                  <a:srgbClr val="000000"/>
                </a:solidFill>
                <a:latin typeface="Calibri"/>
                <a:cs typeface="Calibri"/>
              </a:rPr>
              <a:t>При неожиданном повышении у стабильного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амбулаторного пациента анализ повторяют в течение 24 часов.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При остром повреждении почек или ухудшении состояния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нужны обследование и лечение в стационаре.</a:t>
            </a:r>
          </a:p>
        </p:txBody>
      </p:sp>
      <p:sp>
        <p:nvSpPr>
          <p:cNvPr id="18" name="Калий_6_5"/>
          <p:cNvSpPr txBox="1"/>
          <p:nvPr/>
        </p:nvSpPr>
        <p:spPr>
          <a:xfrm>
            <a:off x="8134350" y="5413375"/>
            <a:ext cx="3219450" cy="838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B7363D"/>
                </a:solidFill>
                <a:latin typeface="Calibri"/>
                <a:cs typeface="Calibri"/>
              </a:rPr>
              <a:t>≥6,5 ммоль/л.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Немедленные обследование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и лечение в стационаре.</a:t>
            </a:r>
            <a:r>
              <a:rPr sz="1600" b="0" lang="ru-RU">
                <a:solidFill>
                  <a:srgbClr val="000000"/>
                </a:solidFill>
                <a:latin typeface="Calibri"/>
                <a:cs typeface="Calibri"/>
              </a:rPr>
              <a:t> Планового анализа не ждут.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"/>
                <a:cs typeface="Arial"/>
              </a:rPr>
              <a:t>Два клинических случая: можно ли начать лечение финереноном?</a:t>
            </a:r>
          </a:p>
        </p:txBody>
      </p:sp>
      <p:sp>
        <p:nvSpPr>
          <p:cNvPr id="3" name="Условные_случаи"/>
          <p:cNvSpPr txBox="1"/>
          <p:nvPr/>
        </p:nvSpPr>
        <p:spPr>
          <a:xfrm>
            <a:off x="457200" y="7620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595959"/>
                </a:solidFill>
                <a:latin typeface="Calibri"/>
                <a:cs typeface="Calibri"/>
              </a:rPr>
              <a:t>Два условных случая при сахарном диабете 2 типа.</a:t>
            </a:r>
          </a:p>
        </p:txBody>
      </p:sp>
      <p:sp>
        <p:nvSpPr>
          <p:cNvPr id="4" name="Карточка_36"/>
          <p:cNvSpPr/>
          <p:nvPr/>
        </p:nvSpPr>
        <p:spPr>
          <a:xfrm>
            <a:off x="457200" y="1092200"/>
            <a:ext cx="5486400" cy="508000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ациент_36"/>
          <p:cNvSpPr txBox="1"/>
          <p:nvPr/>
        </p:nvSpPr>
        <p:spPr>
          <a:xfrm>
            <a:off x="711200" y="1244600"/>
            <a:ext cx="49784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Пациент 1 · 62 года</a:t>
            </a:r>
          </a:p>
        </p:txBody>
      </p:sp>
      <p:sp>
        <p:nvSpPr>
          <p:cNvPr id="6" name="Метка_рСКФ_36"/>
          <p:cNvSpPr txBox="1"/>
          <p:nvPr/>
        </p:nvSpPr>
        <p:spPr>
          <a:xfrm>
            <a:off x="711200" y="16764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рСКФ</a:t>
            </a:r>
          </a:p>
        </p:txBody>
      </p:sp>
      <p:sp>
        <p:nvSpPr>
          <p:cNvPr id="7" name="Значение_рСКФ_36"/>
          <p:cNvSpPr txBox="1"/>
          <p:nvPr/>
        </p:nvSpPr>
        <p:spPr>
          <a:xfrm>
            <a:off x="1778000" y="16764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48 мл/мин/1,73 м², стабильна</a:t>
            </a:r>
          </a:p>
        </p:txBody>
      </p:sp>
      <p:sp>
        <p:nvSpPr>
          <p:cNvPr id="8" name="Метка_АКО_36"/>
          <p:cNvSpPr txBox="1"/>
          <p:nvPr/>
        </p:nvSpPr>
        <p:spPr>
          <a:xfrm>
            <a:off x="711200" y="21082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АКО</a:t>
            </a:r>
          </a:p>
        </p:txBody>
      </p:sp>
      <p:sp>
        <p:nvSpPr>
          <p:cNvPr id="9" name="Значение_АКО_36"/>
          <p:cNvSpPr txBox="1"/>
          <p:nvPr/>
        </p:nvSpPr>
        <p:spPr>
          <a:xfrm>
            <a:off x="1778000" y="21082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320 и 360 мг/г с интервалом 4 месяца</a:t>
            </a:r>
          </a:p>
        </p:txBody>
      </p:sp>
      <p:sp>
        <p:nvSpPr>
          <p:cNvPr id="10" name="Метка_Калий_36"/>
          <p:cNvSpPr txBox="1"/>
          <p:nvPr/>
        </p:nvSpPr>
        <p:spPr>
          <a:xfrm>
            <a:off x="711200" y="25400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Калий</a:t>
            </a:r>
          </a:p>
        </p:txBody>
      </p:sp>
      <p:sp>
        <p:nvSpPr>
          <p:cNvPr id="11" name="Значение_Калий_36"/>
          <p:cNvSpPr txBox="1"/>
          <p:nvPr/>
        </p:nvSpPr>
        <p:spPr>
          <a:xfrm>
            <a:off x="1778000" y="25400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4,6 ммоль/л</a:t>
            </a:r>
          </a:p>
        </p:txBody>
      </p:sp>
      <p:sp>
        <p:nvSpPr>
          <p:cNvPr id="12" name="Метка_Терапия_36"/>
          <p:cNvSpPr txBox="1"/>
          <p:nvPr/>
        </p:nvSpPr>
        <p:spPr>
          <a:xfrm>
            <a:off x="711200" y="29718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Терапия</a:t>
            </a:r>
          </a:p>
        </p:txBody>
      </p:sp>
      <p:sp>
        <p:nvSpPr>
          <p:cNvPr id="13" name="Значение_Терапия_36"/>
          <p:cNvSpPr txBox="1"/>
          <p:nvPr/>
        </p:nvSpPr>
        <p:spPr>
          <a:xfrm>
            <a:off x="1778000" y="29718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Лозартан 100 мг/сут (максимально переносимая доза), эмпаглифлозин 10 мг/сут</a:t>
            </a:r>
          </a:p>
        </p:txBody>
      </p:sp>
      <p:sp>
        <p:nvSpPr>
          <p:cNvPr id="14" name="Вывод_36"/>
          <p:cNvSpPr/>
          <p:nvPr/>
        </p:nvSpPr>
        <p:spPr>
          <a:xfrm>
            <a:off x="711200" y="4089400"/>
            <a:ext cx="4978400" cy="381000"/>
          </a:xfrm>
          <a:prstGeom prst="roundRect">
            <a:avLst>
              <a:gd name="adj" fmla="val 50000"/>
            </a:avLst>
          </a:prstGeom>
          <a:solidFill>
            <a:srgbClr val="007F8D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Можно обсудить начало лечения</a:t>
            </a:r>
          </a:p>
        </p:txBody>
      </p:sp>
      <p:sp>
        <p:nvSpPr>
          <p:cNvPr id="15" name="Действие_36"/>
          <p:cNvSpPr txBox="1"/>
          <p:nvPr/>
        </p:nvSpPr>
        <p:spPr>
          <a:xfrm>
            <a:off x="711200" y="4572000"/>
            <a:ext cx="4978400" cy="149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После проверки противопоказаний и взаимодействий врач может начать финеренон 10 мг один раз в сутки. Калий и функцию почек проверяют через 4 недели.</a:t>
            </a:r>
          </a:p>
        </p:txBody>
      </p:sp>
      <p:sp>
        <p:nvSpPr>
          <p:cNvPr id="16" name="Карточка_492"/>
          <p:cNvSpPr/>
          <p:nvPr/>
        </p:nvSpPr>
        <p:spPr>
          <a:xfrm>
            <a:off x="6248400" y="1092200"/>
            <a:ext cx="5486400" cy="508000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Пациент_492"/>
          <p:cNvSpPr txBox="1"/>
          <p:nvPr/>
        </p:nvSpPr>
        <p:spPr>
          <a:xfrm>
            <a:off x="6502400" y="1244600"/>
            <a:ext cx="49784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Пациент 2 · 58 лет</a:t>
            </a:r>
          </a:p>
        </p:txBody>
      </p:sp>
      <p:sp>
        <p:nvSpPr>
          <p:cNvPr id="18" name="Метка_рСКФ_492"/>
          <p:cNvSpPr txBox="1"/>
          <p:nvPr/>
        </p:nvSpPr>
        <p:spPr>
          <a:xfrm>
            <a:off x="6502400" y="16764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рСКФ</a:t>
            </a:r>
          </a:p>
        </p:txBody>
      </p:sp>
      <p:sp>
        <p:nvSpPr>
          <p:cNvPr id="19" name="Значение_рСКФ_492"/>
          <p:cNvSpPr txBox="1"/>
          <p:nvPr/>
        </p:nvSpPr>
        <p:spPr>
          <a:xfrm>
            <a:off x="7569200" y="16764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78 мл/мин/1,73 м²</a:t>
            </a:r>
          </a:p>
        </p:txBody>
      </p:sp>
      <p:sp>
        <p:nvSpPr>
          <p:cNvPr id="20" name="Метка_АКО_492"/>
          <p:cNvSpPr txBox="1"/>
          <p:nvPr/>
        </p:nvSpPr>
        <p:spPr>
          <a:xfrm>
            <a:off x="6502400" y="21082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АКО</a:t>
            </a:r>
          </a:p>
        </p:txBody>
      </p:sp>
      <p:sp>
        <p:nvSpPr>
          <p:cNvPr id="21" name="Значение_АКО_492"/>
          <p:cNvSpPr txBox="1"/>
          <p:nvPr/>
        </p:nvSpPr>
        <p:spPr>
          <a:xfrm>
            <a:off x="7569200" y="21082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110 мг/г однократно, во время инфекции мочевых путей</a:t>
            </a:r>
          </a:p>
        </p:txBody>
      </p:sp>
      <p:sp>
        <p:nvSpPr>
          <p:cNvPr id="22" name="Метка_Калий_492"/>
          <p:cNvSpPr txBox="1"/>
          <p:nvPr/>
        </p:nvSpPr>
        <p:spPr>
          <a:xfrm>
            <a:off x="6502400" y="26924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Калий</a:t>
            </a:r>
          </a:p>
        </p:txBody>
      </p:sp>
      <p:sp>
        <p:nvSpPr>
          <p:cNvPr id="23" name="Значение_Калий_492"/>
          <p:cNvSpPr txBox="1"/>
          <p:nvPr/>
        </p:nvSpPr>
        <p:spPr>
          <a:xfrm>
            <a:off x="7569200" y="26924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Актуального результата нет</a:t>
            </a:r>
          </a:p>
        </p:txBody>
      </p:sp>
      <p:sp>
        <p:nvSpPr>
          <p:cNvPr id="24" name="Метка_Терапия_492"/>
          <p:cNvSpPr txBox="1"/>
          <p:nvPr/>
        </p:nvSpPr>
        <p:spPr>
          <a:xfrm>
            <a:off x="6502400" y="3124200"/>
            <a:ext cx="101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Терапия</a:t>
            </a:r>
          </a:p>
        </p:txBody>
      </p:sp>
      <p:sp>
        <p:nvSpPr>
          <p:cNvPr id="25" name="Значение_Терапия_492"/>
          <p:cNvSpPr txBox="1"/>
          <p:nvPr/>
        </p:nvSpPr>
        <p:spPr>
          <a:xfrm>
            <a:off x="7569200" y="3124200"/>
            <a:ext cx="391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Полный список лекарств не уточнён</a:t>
            </a:r>
          </a:p>
        </p:txBody>
      </p:sp>
      <p:sp>
        <p:nvSpPr>
          <p:cNvPr id="26" name="Вывод_492"/>
          <p:cNvSpPr/>
          <p:nvPr/>
        </p:nvSpPr>
        <p:spPr>
          <a:xfrm>
            <a:off x="6502400" y="4089400"/>
            <a:ext cx="4978400" cy="381000"/>
          </a:xfrm>
          <a:prstGeom prst="roundRect">
            <a:avLst>
              <a:gd name="adj" fmla="val 50000"/>
            </a:avLst>
          </a:prstGeom>
          <a:solidFill>
            <a:srgbClr val="A76A1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Данных пока недостаточно</a:t>
            </a:r>
          </a:p>
        </p:txBody>
      </p:sp>
      <p:sp>
        <p:nvSpPr>
          <p:cNvPr id="27" name="Действие_492"/>
          <p:cNvSpPr txBox="1"/>
          <p:nvPr/>
        </p:nvSpPr>
        <p:spPr>
          <a:xfrm>
            <a:off x="6502400" y="4572000"/>
            <a:ext cx="4978400" cy="149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После разрешения инфекции повторно оценивают альбуминурию, подтверждают хронический характер изменений (не менее 3 месяцев), определяют калий и уточняют полный список лекарств.</a:t>
            </a:r>
          </a:p>
        </p:txBody>
      </p:sp>
      <p:sp>
        <p:nvSpPr>
          <p:cNvPr id="28" name="Сохранная_фильтрация"/>
          <p:cNvSpPr txBox="1"/>
          <p:nvPr/>
        </p:nvSpPr>
        <p:spPr>
          <a:xfrm>
            <a:off x="6502400" y="3708400"/>
            <a:ext cx="49784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595959"/>
                </a:solidFill>
                <a:latin typeface="Calibri"/>
                <a:cs typeface="Calibri"/>
              </a:rPr>
              <a:t>Сохранная рСКФ не исключает болезнь почек.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фильтрации; АКО —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Kerendia (finerenone). Summary of Product Characteristics. EMA.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"/>
                <a:cs typeface="Arial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Случай_фон"/>
          <p:cNvSpPr/>
          <p:nvPr/>
        </p:nvSpPr>
        <p:spPr>
          <a:xfrm>
            <a:off x="457200" y="1092200"/>
            <a:ext cx="3302000" cy="3810000"/>
          </a:xfrm>
          <a:prstGeom prst="roundRect">
            <a:avLst>
              <a:gd name="adj" fmla="val 384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Случай"/>
          <p:cNvSpPr txBox="1"/>
          <p:nvPr/>
        </p:nvSpPr>
        <p:spPr>
          <a:xfrm>
            <a:off x="685800" y="1270000"/>
            <a:ext cx="2870200" cy="355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Условный случай</a:t>
            </a:r>
          </a:p>
          <a:p>
            <a:pPr algn="l">
              <a:spcAft>
                <a:spcPts val="2200"/>
              </a:spcAft>
            </a:pP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Взрослый с хронической болезнью почек при сахарном диабете 2 типа. Состояние стабильное.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00000"/>
                </a:solidFill>
                <a:latin typeface="Calibri"/>
                <a:cs typeface="Calibri"/>
              </a:rPr>
              <a:t>Срочность оценки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Зависит от калия и состояния пациента. При ухудшении состояния планового контроля не ждут.</a:t>
            </a:r>
          </a:p>
        </p:txBody>
      </p:sp>
      <p:cxnSp>
        <p:nvCxnSpPr>
          <p:cNvPr id="5" name="Линия_случая"/>
          <p:cNvCxnSpPr/>
          <p:nvPr/>
        </p:nvCxnSpPr>
        <p:spPr>
          <a:xfrm>
            <a:off x="4305300" y="1320800"/>
            <a:ext cx="0" cy="4419600"/>
          </a:xfrm>
          <a:prstGeom prst="line">
            <a:avLst/>
          </a:prstGeom>
          <a:ln w="25400">
            <a:solidFill>
              <a:srgbClr val="BFBFBF"/>
            </a:solidFill>
          </a:ln>
        </p:spPr>
      </p:cxnSp>
      <p:sp>
        <p:nvSpPr>
          <p:cNvPr id="6" name="Метка_96"/>
          <p:cNvSpPr/>
          <p:nvPr/>
        </p:nvSpPr>
        <p:spPr>
          <a:xfrm>
            <a:off x="4191000" y="1257300"/>
            <a:ext cx="228600" cy="228600"/>
          </a:xfrm>
          <a:prstGeom prst="ellipse">
            <a:avLst/>
          </a:prstGeom>
          <a:solidFill>
            <a:srgbClr val="2E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Этап_96"/>
          <p:cNvSpPr txBox="1"/>
          <p:nvPr/>
        </p:nvSpPr>
        <p:spPr>
          <a:xfrm>
            <a:off x="4622800" y="1219200"/>
            <a:ext cx="7112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2E7D4F"/>
                </a:solidFill>
                <a:latin typeface="Calibri"/>
                <a:cs typeface="Calibri"/>
              </a:rPr>
              <a:t>До начала: калий 4,5 ммоль/л</a:t>
            </a:r>
          </a:p>
        </p:txBody>
      </p:sp>
      <p:sp>
        <p:nvSpPr>
          <p:cNvPr id="8" name="Этап_96_текст"/>
          <p:cNvSpPr txBox="1"/>
          <p:nvPr/>
        </p:nvSpPr>
        <p:spPr>
          <a:xfrm>
            <a:off x="4622800" y="1574800"/>
            <a:ext cx="7112000" cy="88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рСКФ 65. Назначены </a:t>
            </a: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20 мг один раз в сутки</a:t>
            </a: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 после проверки условий.</a:t>
            </a:r>
          </a:p>
        </p:txBody>
      </p:sp>
      <p:sp>
        <p:nvSpPr>
          <p:cNvPr id="9" name="Метка_190"/>
          <p:cNvSpPr/>
          <p:nvPr/>
        </p:nvSpPr>
        <p:spPr>
          <a:xfrm>
            <a:off x="4191000" y="2451100"/>
            <a:ext cx="228600" cy="228600"/>
          </a:xfrm>
          <a:prstGeom prst="ellipse">
            <a:avLst/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Этап_190"/>
          <p:cNvSpPr txBox="1"/>
          <p:nvPr/>
        </p:nvSpPr>
        <p:spPr>
          <a:xfrm>
            <a:off x="4622800" y="2413000"/>
            <a:ext cx="7112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B5323C"/>
                </a:solidFill>
                <a:latin typeface="Calibri"/>
                <a:cs typeface="Calibri"/>
              </a:rPr>
              <a:t>Через 4 недели: калий 5,7 ммоль/л</a:t>
            </a:r>
          </a:p>
        </p:txBody>
      </p:sp>
      <p:sp>
        <p:nvSpPr>
          <p:cNvPr id="11" name="Этап_190_текст"/>
          <p:cNvSpPr txBox="1"/>
          <p:nvPr/>
        </p:nvSpPr>
        <p:spPr>
          <a:xfrm>
            <a:off x="4622800" y="2768600"/>
            <a:ext cx="7112000" cy="88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рСКФ 61. Недавно добавлен ко-тримоксазол. </a:t>
            </a:r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Финеренон временно приостанавливают. </a:t>
            </a: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Оценивают причины и повторно определяют калий.</a:t>
            </a:r>
          </a:p>
        </p:txBody>
      </p:sp>
      <p:sp>
        <p:nvSpPr>
          <p:cNvPr id="12" name="Метка_304"/>
          <p:cNvSpPr/>
          <p:nvPr/>
        </p:nvSpPr>
        <p:spPr>
          <a:xfrm>
            <a:off x="4191000" y="3898900"/>
            <a:ext cx="228600" cy="228600"/>
          </a:xfrm>
          <a:prstGeom prst="ellipse">
            <a:avLst/>
          </a:prstGeom>
          <a:solidFill>
            <a:srgbClr val="A76A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Этап_304"/>
          <p:cNvSpPr txBox="1"/>
          <p:nvPr/>
        </p:nvSpPr>
        <p:spPr>
          <a:xfrm>
            <a:off x="4622800" y="3860800"/>
            <a:ext cx="7112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A76A10"/>
                </a:solidFill>
                <a:latin typeface="Calibri"/>
                <a:cs typeface="Calibri"/>
              </a:rPr>
              <a:t>Повторный анализ: калий 4,9 ммоль/л</a:t>
            </a:r>
          </a:p>
        </p:txBody>
      </p:sp>
      <p:sp>
        <p:nvSpPr>
          <p:cNvPr id="14" name="Этап_304_текст"/>
          <p:cNvSpPr txBox="1"/>
          <p:nvPr/>
        </p:nvSpPr>
        <p:spPr>
          <a:xfrm>
            <a:off x="4622800" y="4216400"/>
            <a:ext cx="7112000" cy="88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После оценки причин врач может возобновить 10 мг один раз в сутки. Прежнюю дозу 20 мг автоматически не возобновляют.</a:t>
            </a:r>
          </a:p>
        </p:txBody>
      </p:sp>
      <p:sp>
        <p:nvSpPr>
          <p:cNvPr id="15" name="Метка_404"/>
          <p:cNvSpPr/>
          <p:nvPr/>
        </p:nvSpPr>
        <p:spPr>
          <a:xfrm>
            <a:off x="4191000" y="5168900"/>
            <a:ext cx="228600" cy="2286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Этап_404"/>
          <p:cNvSpPr txBox="1"/>
          <p:nvPr/>
        </p:nvSpPr>
        <p:spPr>
          <a:xfrm>
            <a:off x="4622800" y="5130800"/>
            <a:ext cx="71120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Через 4 недели после возобновления</a:t>
            </a:r>
          </a:p>
        </p:txBody>
      </p:sp>
      <p:sp>
        <p:nvSpPr>
          <p:cNvPr id="17" name="Этап_404_текст"/>
          <p:cNvSpPr txBox="1"/>
          <p:nvPr/>
        </p:nvSpPr>
        <p:spPr>
          <a:xfrm>
            <a:off x="4622800" y="5486400"/>
            <a:ext cx="7112000" cy="88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Калий и рСКФ, затем контроль по плану врача.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фильтрации, мл/мин/1,73 м².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Levin_G_header_446">
            <a:extLst>
              <a:ext uri="{FF2B5EF4-FFF2-40B4-BE49-F238E27FC236}">
                <a16:creationId xmlns:a16="http://schemas.microsoft.com/office/drawing/2014/main" id="{B8219F07-CB66-4999-AAC4-93050E2685DC}"/>
              </a:ext>
            </a:extLst>
          </p:cNvPr>
          <p:cNvSpPr>
            <a:spLocks noGrp="1"/>
          </p:cNvSpPr>
          <p:nvPr/>
        </p:nvSpPr>
        <p:spPr>
          <a:xfrm>
            <a:off x="4648200" y="4248150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4EA72E"/>
          </a:solidFill>
          <a:ln w="19050">
            <a:solidFill>
              <a:srgbClr val="FFFFFF"/>
            </a:solidFill>
          </a:ln>
        </p:spPr>
      </p:sp>
      <p:sp>
        <p:nvSpPr>
          <p:cNvPr id="40" name="Levin_G_header_241">
            <a:extLst>
              <a:ext uri="{FF2B5EF4-FFF2-40B4-BE49-F238E27FC236}">
                <a16:creationId xmlns:a16="http://schemas.microsoft.com/office/drawing/2014/main" id="{6E2683CA-CB97-4FB8-B92B-ADDB4CE70E77}"/>
              </a:ext>
            </a:extLst>
          </p:cNvPr>
          <p:cNvSpPr>
            <a:spLocks noGrp="1"/>
          </p:cNvSpPr>
          <p:nvPr/>
        </p:nvSpPr>
        <p:spPr>
          <a:xfrm>
            <a:off x="4648200" y="22955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2C71A4"/>
          </a:solidFill>
          <a:ln w="19050">
            <a:solidFill>
              <a:srgbClr val="FFFFFF"/>
            </a:solidFill>
          </a:ln>
        </p:spPr>
      </p:sp>
      <p:sp>
        <p:nvSpPr>
          <p:cNvPr id="39" name="Levin_G_header_45">
            <a:extLst>
              <a:ext uri="{FF2B5EF4-FFF2-40B4-BE49-F238E27FC236}">
                <a16:creationId xmlns:a16="http://schemas.microsoft.com/office/drawing/2014/main" id="{9DC41EBB-D3BC-457F-8844-C09BC549B63B}"/>
              </a:ext>
            </a:extLst>
          </p:cNvPr>
          <p:cNvSpPr>
            <a:spLocks noGrp="1"/>
          </p:cNvSpPr>
          <p:nvPr/>
        </p:nvSpPr>
        <p:spPr>
          <a:xfrm>
            <a:off x="4648200" y="4286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A02B93"/>
          </a:solidFill>
          <a:ln w="19050">
            <a:solidFill>
              <a:srgbClr val="FFFFFF"/>
            </a:solidFill>
          </a:ln>
        </p:spPr>
      </p:sp>
      <p:sp>
        <p:nvSpPr>
          <p:cNvPr id="2" name="Main_title"/>
          <p:cNvSpPr txBox="1"/>
          <p:nvPr/>
        </p:nvSpPr>
        <p:spPr>
          <a:xfrm>
            <a:off x="723900" y="2124075"/>
            <a:ext cx="3190875" cy="2114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Что нужно уметь объяснить врачу после обучения</a:t>
            </a:r>
          </a:p>
        </p:txBody>
      </p:sp>
      <p:pic>
        <p:nvPicPr>
          <p:cNvPr id="5" name="Picture 4" descr="S08_01_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700" y="1123950"/>
            <a:ext cx="626850" cy="952500"/>
          </a:xfrm>
          <a:prstGeom prst="rect">
            <a:avLst/>
          </a:prstGeom>
        </p:spPr>
      </p:pic>
      <p:sp>
        <p:nvSpPr>
          <p:cNvPr id="6" name="Text_5"/>
          <p:cNvSpPr txBox="1"/>
          <p:nvPr/>
        </p:nvSpPr>
        <p:spPr>
          <a:xfrm>
            <a:off x="4800600" y="4857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Знать показание и профиль пациента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5848350" y="11049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Диабет 2 типа, подтверждённая болезнь почек и альбуминурия.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Знать фильтрацию, калий и текущую терапию.</a:t>
            </a:r>
          </a:p>
        </p:txBody>
      </p:sp>
      <p:pic>
        <p:nvPicPr>
          <p:cNvPr id="8" name="Picture 7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1550" y="2990850"/>
            <a:ext cx="726498" cy="952500"/>
          </a:xfrm>
          <a:prstGeom prst="rect">
            <a:avLst/>
          </a:prstGeom>
        </p:spPr>
      </p:pic>
      <p:sp>
        <p:nvSpPr>
          <p:cNvPr id="9" name="Text_8"/>
          <p:cNvSpPr txBox="1"/>
          <p:nvPr/>
        </p:nvSpPr>
        <p:spPr>
          <a:xfrm>
            <a:off x="4800600" y="23526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Объяснить</a:t>
            </a: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 результаты</a:t>
            </a: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 исследований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5848350" y="29718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Отличать почечные и сердечно-сосудистые исходы от изменения альбуминурии.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Объяснять ожидаемую пользу и ограничения исследований.</a:t>
            </a:r>
          </a:p>
        </p:txBody>
      </p:sp>
      <p:grpSp>
        <p:nvGrpSpPr>
          <p:cNvPr id="11" name="Исходный_визуал_S13_1"/>
          <p:cNvGrpSpPr/>
          <p:nvPr/>
        </p:nvGrpSpPr>
        <p:grpSpPr>
          <a:xfrm>
            <a:off x="4762500" y="4953000"/>
            <a:ext cx="834134" cy="952500"/>
            <a:chOff x="749808" y="1399032"/>
            <a:chExt cx="1536192" cy="1754184"/>
          </a:xfrm>
        </p:grpSpPr>
        <p:grpSp>
          <p:nvGrpSpPr>
            <p:cNvPr id="12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13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4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5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6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7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8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19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0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1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2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3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26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16324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7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8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9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0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1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2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3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4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  <p:cxnSp>
            <p:nvCxnSpPr>
              <p:cNvPr id="35" name="Blood_to_result"/>
              <p:cNvCxnSpPr/>
              <p:nvPr/>
            </p:nvCxnSpPr>
            <p:spPr>
              <a:xfrm>
                <a:off x="1764792" y="2414016"/>
                <a:ext cx="521208" cy="0"/>
              </a:xfrm>
              <a:prstGeom prst="line">
                <a:avLst/>
              </a:prstGeom>
              <a:ln w="21590">
                <a:solidFill>
                  <a:srgbClr val="0E5A8A"/>
                </a:solidFill>
                <a:tailEnd type="triangle" w="sm" len="sm"/>
              </a:ln>
              <a:effectLst/>
            </p:spPr>
          </p:cxnSp>
        </p:grpSp>
      </p:grpSp>
      <p:sp>
        <p:nvSpPr>
          <p:cNvPr id="36" name="Text_11"/>
          <p:cNvSpPr txBox="1"/>
          <p:nvPr/>
        </p:nvSpPr>
        <p:spPr>
          <a:xfrm>
            <a:off x="4800600" y="4305300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Объяснить</a:t>
            </a: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 контроль</a:t>
            </a:r>
            <a:r>
              <a:rPr lang="ru-RU" sz="1800" b="1" u="none">
                <a:solidFill>
                  <a:srgbClr val="FFFFFF"/>
                </a:solidFill>
                <a:latin typeface="Calibri"/>
                <a:cs typeface="Calibri"/>
              </a:rPr>
              <a:t> калия</a:t>
            </a:r>
          </a:p>
        </p:txBody>
      </p:sp>
      <p:sp>
        <p:nvSpPr>
          <p:cNvPr id="37" name="Text_12"/>
          <p:cNvSpPr txBox="1"/>
          <p:nvPr/>
        </p:nvSpPr>
        <p:spPr>
          <a:xfrm>
            <a:off x="5848350" y="4924425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Проверить взаимодействия.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Знать сроки контроля, основания для паузы и условия возврата к лечению.</a:t>
            </a:r>
          </a:p>
        </p:txBody>
      </p:sp>
      <p:sp>
        <p:nvSpPr>
          <p:cNvPr id="38" name="Text_13"/>
          <p:cNvSpPr txBox="1"/>
          <p:nvPr/>
        </p:nvSpPr>
        <p:spPr>
          <a:xfrm>
            <a:off x="457200" y="6045200"/>
            <a:ext cx="11277600" cy="3302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Представитель объясняет доказательства. Диагноз, назначение и изменение лечения остаются решением врача.</a:t>
            </a:r>
          </a:p>
        </p:txBody>
      </p:sp>
      <p:sp>
        <p:nvSpPr>
          <p:cNvPr id="4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рСКФ 25–&lt;90 мл/мин/1,73 м², АКО 200–3500 мг/г. Финеренон сравнивали с плацебо.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Фоновая терапия по протоколу: ингибитор АПФ или блокатор рецепторов ангиотензина II в максимально переносимой дозе.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590675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Среднее изменение рСКФ от исходного уровня, мл/мин/1,73 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867015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184494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501977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2819467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13693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45441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377190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326409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Calibri"/>
                <a:ea typeface="Calibri"/>
                <a:cs typeface="Calibri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208603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571750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6F99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15277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3943350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3943350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219575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Месяцы</a:t>
            </a:r>
          </a:p>
        </p:txBody>
      </p:sp>
      <p:sp>
        <p:nvSpPr>
          <p:cNvPr id="147" name="n_heading">
            <a:extLst>
              <a:ext uri="{FF2B5EF4-FFF2-40B4-BE49-F238E27FC236}">
                <a16:creationId xmlns:a16="http://schemas.microsoft.com/office/drawing/2014/main" id="{A4B466BC-6D60-40FD-A12A-05164B755A52}"/>
              </a:ext>
            </a:extLst>
          </p:cNvPr>
          <p:cNvSpPr>
            <a:spLocks noGrp="1"/>
          </p:cNvSpPr>
          <p:nvPr/>
        </p:nvSpPr>
        <p:spPr>
          <a:xfrm>
            <a:off x="457200" y="449580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Число пациентов</a:t>
            </a:r>
          </a:p>
        </p:txBody>
      </p:sp>
      <p:graphicFrame>
        <p:nvGraphicFramePr>
          <p:cNvPr id="304" name="Таблица 303"/>
          <p:cNvGraphicFramePr/>
          <p:nvPr/>
        </p:nvGraphicFramePr>
        <p:xfrm>
          <a:off x="1590729" y="4733925"/>
          <a:ext cx="7089991" cy="552450"/>
        </p:xfrm>
        <a:graphic>
          <a:graphicData uri="http://schemas.openxmlformats.org/drawingml/2006/table">
            <a:tbl>
              <a:tblPr/>
              <a:tblGrid>
                <a:gridCol w="32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3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14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22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19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198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453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3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2673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721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2659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639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497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791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775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762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760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754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744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733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702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699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497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328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175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594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593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793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780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768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762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751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742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722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711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528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361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193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637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608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9" name="n_placebo">
            <a:extLst>
              <a:ext uri="{FF2B5EF4-FFF2-40B4-BE49-F238E27FC236}">
                <a16:creationId xmlns:a16="http://schemas.microsoft.com/office/drawing/2014/main" id="{7CB116B5-24FE-4F59-AACE-3FBDE3BE1ADB}"/>
              </a:ext>
            </a:extLst>
          </p:cNvPr>
          <p:cNvSpPr>
            <a:spLocks noGrp="1"/>
          </p:cNvSpPr>
          <p:nvPr/>
        </p:nvSpPr>
        <p:spPr>
          <a:xfrm>
            <a:off x="457200" y="4733925"/>
            <a:ext cx="1133475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150" name="n_finerenone">
            <a:extLst>
              <a:ext uri="{FF2B5EF4-FFF2-40B4-BE49-F238E27FC236}">
                <a16:creationId xmlns:a16="http://schemas.microsoft.com/office/drawing/2014/main" id="{EE51F799-B66A-4C29-B6DF-5576646A0351}"/>
              </a:ext>
            </a:extLst>
          </p:cNvPr>
          <p:cNvSpPr>
            <a:spLocks noGrp="1"/>
          </p:cNvSpPr>
          <p:nvPr/>
        </p:nvSpPr>
        <p:spPr>
          <a:xfrm>
            <a:off x="457200" y="5010150"/>
            <a:ext cx="1133475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Среднее изменение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рСКФ за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Calibri"/>
                <a:ea typeface="Calibri"/>
                <a:cs typeface="Calibri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6F99"/>
                </a:solidFill>
                <a:latin typeface="Calibri"/>
                <a:ea typeface="Calibri"/>
                <a:cs typeface="Calibri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мл/мин/1,73 м² в год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95% ДИ 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до 32-го месяца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3054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Комбинированный исход: 13,9% против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Отношение рисков 0,77 (95% ДИ 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7721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Устойчивое снижение рСКФ на ≥57%, 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госпитализация по поводу сердечной недостаточности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4197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Гиперкалиемия: 17,0% против 13,3%.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Окончательная отмена из-за неё: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1,5% против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6019800"/>
            <a:ext cx="42100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ХБП без диабета: показания нет в США и ЕС.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В инструкции Финеренон-Орвилле его нет.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фильтрации; АКО — отношение альбумина к креатинину мочи; АПФ — ангиотензинпревращающий фермент; ДИ — доверительный интервал. На графике — 95% ДИ; «после отмены» — примерно через 4 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Heerspink HJL, et al. N Engl J Med. 2026;395:533–545.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FINE-ONE: при диабете 1 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242 взрослых. Расчётная скорость клубочковой фильтрации 25–&lt;90 мл/мин/1,73 м².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Отношение альбумина к креатинину мочи 200–&lt;5000 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Фоновая терапия: инсулин и ингибитор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258568"/>
            <a:ext cx="6263640" cy="48463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Снижение альбуминурии от исходного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Среднее по визитам 3 и 6 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258568"/>
            <a:ext cx="4251960" cy="59436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Calibri"/>
                <a:cs typeface="Calibri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944368"/>
            <a:ext cx="4251960" cy="151790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Calibri"/>
                <a:cs typeface="Calibri"/>
              </a:rPr>
              <a:t>Относительно плацебо.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Calibri"/>
                <a:cs typeface="Calibri"/>
              </a:rPr>
              <a:t>По первичной конечной точке.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Calibri"/>
                <a:cs typeface="Calibri"/>
              </a:rPr>
              <a:t>Отношение геометрических средних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Calibri"/>
                <a:cs typeface="Calibri"/>
              </a:rPr>
              <a:t>0,75 (95% доверительный интервал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Calibri"/>
                <a:cs typeface="Calibri"/>
              </a:rPr>
              <a:t>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594360" y="5385816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Суррогатная конечная точка: изменение альбуминурии. Влияние на диализ и другие клинические исходы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Calibri"/>
                <a:cs typeface="Calibri"/>
              </a:rPr>
              <a:t>в FINE-ONE не оценивали. Гиперкалиемия: 10,1% против 3,3%.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6029325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С 16 сентября 2026 года Керендия одобрена в США при хронической болезни почек и диабете 1 типа.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Calibri"/>
                <a:cs typeface="Calibri"/>
              </a:rPr>
              <a:t>В опубликованной инструкции Финеренон-Орвилле это показание не указано.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АПФ — ангиотензинпревращающий фермент; БРА —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Heerspink HJL, et al. N Engl J Med. 2026;394:947–957. FDA. Supplement Approval Letter, NDA 215341/S-011. Kerendia (finerenone). US Prescribing Information.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США: финеренон одобрен при хронической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болезни почек и диабете 1 типа</a:t>
            </a:r>
          </a:p>
        </p:txBody>
      </p:sp>
      <p:sp>
        <p:nvSpPr>
          <p:cNvPr id="3" name="Дата_решения">
            <a:extLst xmlns:a="http://schemas.openxmlformats.org/drawingml/2006/main">
              <a:ext uri="{FF2B5EF4-FFF2-40B4-BE49-F238E27FC236}">
                <a16:creationId xmlns:a16="http://schemas.microsoft.com/office/drawing/2014/main" id="{0BEBF87A-C208-493D-957F-AD1ABAB8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38275"/>
            <a:ext cx="4476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Arial"/>
                <a:cs typeface="Calibri"/>
              </a:rPr>
              <a:t>16 сентября 2026</a:t>
            </a:r>
          </a:p>
        </p:txBody>
      </p:sp>
      <p:sp>
        <p:nvSpPr>
          <p:cNvPr id="4" name="Регулятор">
            <a:extLst xmlns:a="http://schemas.openxmlformats.org/drawingml/2006/main">
              <a:ext uri="{FF2B5EF4-FFF2-40B4-BE49-F238E27FC236}">
                <a16:creationId xmlns:a16="http://schemas.microsoft.com/office/drawing/2014/main" id="{338FBB66-391E-4A04-AC81-7C8F7B4C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24075"/>
            <a:ext cx="485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9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Управление по контролю качества</a:t>
            </a:r>
            <a:r>
              <a:rPr sz="18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пищевых продуктов и лекарственных</a:t>
            </a:r>
            <a:r>
              <a:rPr sz="18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средств США (FDA)</a:t>
            </a:r>
          </a:p>
        </p:txBody>
      </p:sp>
      <p:sp>
        <p:nvSpPr>
          <p:cNvPr id="5" name="Препарат">
            <a:extLst xmlns:a="http://schemas.openxmlformats.org/drawingml/2006/main">
              <a:ext uri="{FF2B5EF4-FFF2-40B4-BE49-F238E27FC236}">
                <a16:creationId xmlns:a16="http://schemas.microsoft.com/office/drawing/2014/main" id="{B1C4CB34-DE44-42E1-BDB0-6DAE7250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876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Керендия (финеренон). NDA 215341, дополнение S-011</a:t>
            </a: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/>
            </a:r>
          </a:p>
        </p:txBody>
      </p:sp>
      <p:sp>
        <p:nvSpPr>
          <p:cNvPr id="6" name="Дата_релиза">
            <a:extLst xmlns:a="http://schemas.openxmlformats.org/drawingml/2006/main">
              <a:ext uri="{FF2B5EF4-FFF2-40B4-BE49-F238E27FC236}">
                <a16:creationId xmlns:a16="http://schemas.microsoft.com/office/drawing/2014/main" id="{3A6363D5-1C7D-4CD0-B342-CB86AA92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876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17 сентября 2026 года: пресс-релиз компании Bayer.</a:t>
            </a: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 xml:space="preserve"> Дата одобрения в реестре FDA: 16 сентября.</a:t>
            </a:r>
          </a:p>
        </p:txBody>
      </p:sp>
      <p:sp>
        <p:nvSpPr>
          <p:cNvPr id="7" name="Что_одобрено">
            <a:extLst xmlns:a="http://schemas.openxmlformats.org/drawingml/2006/main">
              <a:ext uri="{FF2B5EF4-FFF2-40B4-BE49-F238E27FC236}">
                <a16:creationId xmlns:a16="http://schemas.microsoft.com/office/drawing/2014/main" id="{AB9857FD-1ADD-4C4A-BF27-A866DE08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33725"/>
            <a:ext cx="1042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Arial"/>
                <a:cs typeface="Calibri"/>
              </a:rPr>
              <a:t>Формулировка показания</a:t>
            </a:r>
          </a:p>
        </p:txBody>
      </p:sp>
      <p:sp>
        <p:nvSpPr>
          <p:cNvPr id="8" name="Показание">
            <a:extLst xmlns:a="http://schemas.openxmlformats.org/drawingml/2006/main">
              <a:ext uri="{FF2B5EF4-FFF2-40B4-BE49-F238E27FC236}">
                <a16:creationId xmlns:a16="http://schemas.microsoft.com/office/drawing/2014/main" id="{4FCAB704-308B-4D5F-8321-54220D07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8140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Снижение отношения альбумина к креатинину</a:t>
            </a: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мочи у взрослых с хронической болезнью</a:t>
            </a: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почек, связанной с диабетом 1 типа.</a:t>
            </a:r>
          </a:p>
        </p:txBody>
      </p:sp>
      <p:sp>
        <p:nvSpPr>
          <p:cNvPr id="9" name="Ожидаемая_польза">
            <a:extLst xmlns:a="http://schemas.openxmlformats.org/drawingml/2006/main">
              <a:ext uri="{FF2B5EF4-FFF2-40B4-BE49-F238E27FC236}">
                <a16:creationId xmlns:a16="http://schemas.microsoft.com/office/drawing/2014/main" id="{8BC6E9C2-269F-4551-8586-1349B91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Ожидаемый эффект — меньший риск устойчивого снижения рСКФ и терминальной почечной недостаточности.</a:t>
            </a:r>
            <a:r>
              <a:rPr sz="17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/>
            </a:r>
          </a:p>
        </p:txBody>
      </p:sp>
      <p:sp>
        <p:nvSpPr>
          <p:cNvPr id="10" name="Основание">
            <a:extLst xmlns:a="http://schemas.openxmlformats.org/drawingml/2006/main">
              <a:ext uri="{FF2B5EF4-FFF2-40B4-BE49-F238E27FC236}">
                <a16:creationId xmlns:a16="http://schemas.microsoft.com/office/drawing/2014/main" id="{420C5027-BDB9-4376-A56F-9520C418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72050"/>
            <a:ext cx="104203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Основание: FINE-ONE и данные исследований</a:t>
            </a:r>
            <a:r>
              <a:rPr sz="15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у пациентов с диабетом 2 типа.</a:t>
            </a:r>
          </a:p>
        </p:txBody>
      </p:sp>
      <p:sp>
        <p:nvSpPr>
          <p:cNvPr id="11" name="Разделитель">
            <a:extLst xmlns:a="http://schemas.openxmlformats.org/drawingml/2006/main">
              <a:ext uri="{FF2B5EF4-FFF2-40B4-BE49-F238E27FC236}">
                <a16:creationId xmlns:a16="http://schemas.microsoft.com/office/drawing/2014/main" id="{7EB9D22F-BE7B-4719-B21D-9241B2B3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00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4"/>
          </a:solidFill>
          <a:ln xmlns:a="http://schemas.openxmlformats.org/drawingml/2006/main" w="0">
            <a:noFill/>
          </a:ln>
        </p:spPr>
      </p:sp>
      <p:sp>
        <p:nvSpPr>
          <p:cNvPr id="12" name="Сроки_заголовок">
            <a:extLst xmlns:a="http://schemas.openxmlformats.org/drawingml/2006/main">
              <a:ext uri="{FF2B5EF4-FFF2-40B4-BE49-F238E27FC236}">
                <a16:creationId xmlns:a16="http://schemas.microsoft.com/office/drawing/2014/main" id="{91ABBFF8-0721-45E2-BE8D-16BFB44D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72125"/>
            <a:ext cx="10420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9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Arial"/>
                <a:cs typeface="Calibri"/>
              </a:rPr>
              <a:t>Срок действия решения и длительность лечения</a:t>
            </a:r>
          </a:p>
        </p:txBody>
      </p:sp>
      <p:sp>
        <p:nvSpPr>
          <p:cNvPr id="13" name="Сроки">
            <a:extLst xmlns:a="http://schemas.openxmlformats.org/drawingml/2006/main">
              <a:ext uri="{FF2B5EF4-FFF2-40B4-BE49-F238E27FC236}">
                <a16:creationId xmlns:a16="http://schemas.microsoft.com/office/drawing/2014/main" id="{6DCBF62B-46AA-42B8-9B3E-57E84ECF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010275"/>
            <a:ext cx="1042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Решение действует с 16 сентября 2026 года. В письме FDA срок окончания не указан.</a:t>
            </a:r>
            <a:r>
              <a:rPr sz="15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Максимальная длительность курса в инструкции не установлена.</a:t>
            </a:r>
            <a:r>
              <a:rPr sz="15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Шесть месяцев — длительность FINE-ONE, а не ограничение курса лечения.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FDA. Supplement Approval Letter, NDA 215341/S-011. Kerendia (finerenone). US Prescribing Information.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0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B79586DD-7077-4161-BC4D-ECEDCD3A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Условия применения при диабете 1 типа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"/>
                <a:ea typeface="Arial"/>
                <a:cs typeface="Arial"/>
              </a:rPr>
              <a:t>по американской инструкции Керендии</a:t>
            </a:r>
          </a:p>
        </p:txBody>
      </p:sp>
      <p:sp>
        <p:nvSpPr>
          <p:cNvPr id="3" name="Популяция">
            <a:extLst xmlns:a="http://schemas.openxmlformats.org/drawingml/2006/main">
              <a:ext uri="{FF2B5EF4-FFF2-40B4-BE49-F238E27FC236}">
                <a16:creationId xmlns:a16="http://schemas.microsoft.com/office/drawing/2014/main" id="{BC5B6B75-4EF1-487E-A4D5-D889BD1F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79525"/>
            <a:ext cx="1042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Для взрослых с хронической болезнью почек, связанной с диабетом 1 типа.</a:t>
            </a: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Эффективность и безопасность у детей не установлены.</a:t>
            </a:r>
          </a:p>
        </p:txBody>
      </p:sp>
      <p:sp>
        <p:nvSpPr>
          <p:cNvPr id="4" name="Старт_заголовок">
            <a:extLst xmlns:a="http://schemas.openxmlformats.org/drawingml/2006/main">
              <a:ext uri="{FF2B5EF4-FFF2-40B4-BE49-F238E27FC236}">
                <a16:creationId xmlns:a16="http://schemas.microsoft.com/office/drawing/2014/main" id="{EBE57001-B645-4B7D-AF5A-04EF0434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41525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Arial"/>
                <a:cs typeface="Calibri"/>
              </a:rPr>
              <a:t>Перед началом лечения</a:t>
            </a:r>
          </a:p>
        </p:txBody>
      </p:sp>
      <p:sp>
        <p:nvSpPr>
          <p:cNvPr id="5" name="Анализы">
            <a:extLst xmlns:a="http://schemas.openxmlformats.org/drawingml/2006/main">
              <a:ext uri="{FF2B5EF4-FFF2-40B4-BE49-F238E27FC236}">
                <a16:creationId xmlns:a16="http://schemas.microsoft.com/office/drawing/2014/main" id="{49F2F98C-3877-498E-BECF-B50567B9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65400"/>
            <a:ext cx="457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Определяют калий и креатинин</a:t>
            </a: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с расчётом скорости клубочковой фильтрации.</a:t>
            </a:r>
          </a:p>
        </p:txBody>
      </p:sp>
      <p:sp>
        <p:nvSpPr>
          <p:cNvPr id="6" name="Калий_выше5">
            <a:extLst xmlns:a="http://schemas.openxmlformats.org/drawingml/2006/main">
              <a:ext uri="{FF2B5EF4-FFF2-40B4-BE49-F238E27FC236}">
                <a16:creationId xmlns:a16="http://schemas.microsoft.com/office/drawing/2014/main" id="{77C9E29D-A04B-421C-BF5B-3DB40CB2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2650"/>
            <a:ext cx="4572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Calibri"/>
                <a:ea typeface="Arial"/>
                <a:cs typeface="Calibri"/>
              </a:rPr>
              <a:t>Калий &gt;5,0 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Calibri"/>
                <a:ea typeface="Arial"/>
                <a:cs typeface="Calibri"/>
              </a:rPr>
              <a:t>Лечение не начинают.</a:t>
            </a:r>
          </a:p>
        </p:txBody>
      </p:sp>
      <p:sp>
        <p:nvSpPr>
          <p:cNvPr id="7" name="Калий_пограничный">
            <a:extLst xmlns:a="http://schemas.openxmlformats.org/drawingml/2006/main">
              <a:ext uri="{FF2B5EF4-FFF2-40B4-BE49-F238E27FC236}">
                <a16:creationId xmlns:a16="http://schemas.microsoft.com/office/drawing/2014/main" id="{749B3694-F31F-4A3B-9917-0C783680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7525"/>
            <a:ext cx="4572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Калий &gt;4,8 и ≤5,0 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Начало можно рассмотреть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с дополнительным контролем калия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в первые 4 недели.</a:t>
            </a:r>
          </a:p>
        </p:txBody>
      </p:sp>
      <p:sp>
        <p:nvSpPr>
          <p:cNvPr id="8" name="Дозы_заголовок">
            <a:extLst xmlns:a="http://schemas.openxmlformats.org/drawingml/2006/main">
              <a:ext uri="{FF2B5EF4-FFF2-40B4-BE49-F238E27FC236}">
                <a16:creationId xmlns:a16="http://schemas.microsoft.com/office/drawing/2014/main" id="{1559815D-E7DF-44E3-9B91-32116E7C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1525"/>
            <a:ext cx="541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Calibri"/>
                <a:ea typeface="Arial"/>
                <a:cs typeface="Calibri"/>
              </a:rPr>
              <a:t>Начальная доза один раз в сутки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19800" y="2584450"/>
          <a:ext xmlns:a="http://schemas.openxmlformats.org/drawingml/2006/main" cx="5410200" cy="2076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552700"/>
              </a:tblGrid>
              <a:tr h="58102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Arial"/>
                          <a:cs typeface="Calibri"/>
                        </a:rPr>
                        <a:t>Фильтрация,</a:t>
                      </a:r>
                    </a:p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Arial"/>
                          <a:cs typeface="Calibri"/>
                        </a:rPr>
                        <a:t>мл/мин/1,73 м²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Arial"/>
                          <a:cs typeface="Calibri"/>
                        </a:rPr>
                        <a:t>Доза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  <a:ea typeface="Arial"/>
                          <a:cs typeface="Calibri"/>
                        </a:rPr>
                        <a:t>≥60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  <a:ea typeface="Arial"/>
                          <a:cs typeface="Calibri"/>
                        </a:rPr>
                        <a:t>20 мг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  <a:ea typeface="Arial"/>
                          <a:cs typeface="Calibri"/>
                        </a:rPr>
                        <a:t>≥25–&lt;60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  <a:ea typeface="Arial"/>
                          <a:cs typeface="Calibri"/>
                        </a:rPr>
                        <a:t>10 мг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  <a:ea typeface="Arial"/>
                          <a:cs typeface="Calibri"/>
                        </a:rPr>
                        <a:t>&lt;25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Calibri"/>
                          <a:ea typeface="Arial"/>
                          <a:cs typeface="Calibri"/>
                        </a:rPr>
                        <a:t>Начало не рекомендуется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Целевая_доза">
            <a:extLst xmlns:a="http://schemas.openxmlformats.org/drawingml/2006/main">
              <a:ext uri="{FF2B5EF4-FFF2-40B4-BE49-F238E27FC236}">
                <a16:creationId xmlns:a16="http://schemas.microsoft.com/office/drawing/2014/main" id="{2937C412-EFAD-4223-BCAA-BFE114DE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092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Целевая доза при этом показании: 20 мг/сут.</a:t>
            </a:r>
          </a:p>
        </p:txBody>
      </p:sp>
      <p:sp>
        <p:nvSpPr>
          <p:cNvPr id="11" name="Контроль">
            <a:extLst xmlns:a="http://schemas.openxmlformats.org/drawingml/2006/main">
              <a:ext uri="{FF2B5EF4-FFF2-40B4-BE49-F238E27FC236}">
                <a16:creationId xmlns:a16="http://schemas.microsoft.com/office/drawing/2014/main" id="{3293348D-9D94-4822-9ED4-3256379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46725"/>
            <a:ext cx="10420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Калий проверяют через 4 недели после начала лечения и изменения дозы</a:t>
            </a:r>
            <a:r>
              <a:rPr sz="16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, затем периодически.</a:t>
            </a:r>
          </a:p>
        </p:txBody>
      </p:sp>
      <p:sp>
        <p:nvSpPr>
          <p:cNvPr id="12" name="Разделитель">
            <a:extLst xmlns:a="http://schemas.openxmlformats.org/drawingml/2006/main">
              <a:ext uri="{FF2B5EF4-FFF2-40B4-BE49-F238E27FC236}">
                <a16:creationId xmlns:a16="http://schemas.microsoft.com/office/drawing/2014/main" id="{9FC5586E-2222-4C62-98DB-4205E971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705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4"/>
          </a:solidFill>
          <a:ln xmlns:a="http://schemas.openxmlformats.org/drawingml/2006/main" w="0">
            <a:noFill/>
          </a:ln>
        </p:spPr>
      </p:sp>
      <p:sp>
        <p:nvSpPr>
          <p:cNvPr id="13" name="Местная_инструкция">
            <a:extLst xmlns:a="http://schemas.openxmlformats.org/drawingml/2006/main">
              <a:ext uri="{FF2B5EF4-FFF2-40B4-BE49-F238E27FC236}">
                <a16:creationId xmlns:a16="http://schemas.microsoft.com/office/drawing/2014/main" id="{81E66F49-27F4-46FF-AA59-C34C80F9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75350"/>
            <a:ext cx="104203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В опубликованной инструкции Финеренон-Орвилле показание при диабете 1 типа не указано.</a:t>
            </a:r>
            <a:r>
              <a:rPr sz="1400" b="1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 Одобрение в США не расширяет местные показания препарата.</a:t>
            </a:r>
          </a:p>
        </p:txBody>
      </p:sp>
      <p:sp xmlns:a="http://schemas.openxmlformats.org/drawingml/2006/main">
        <p:nvSpPr>
          <p:cNvPr id="24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  <p:extLst>
      <p:ext uri="{BB962C8B-B14F-4D97-AF65-F5344CB8AC3E}">
        <p14:creationId xmlns:p14="http://schemas.microsoft.com/office/powerpoint/2010/main" val="1702678588"/>
      </p:ext>
    </p:extLst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FINEARTS-HF: меньше первых и повторных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"/>
                <a:cs typeface="Arial"/>
              </a:rPr>
              <a:t>ухудшений сердечной недостаточности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027176"/>
            <a:ext cx="10972800" cy="75895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6001 участник анализа с симптомной сердечной недостаточностью и фракцией выброса левого желудочка ≥40%. С диабетом или без него. Медиана наблюдения 32 месяца.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0878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Общее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Calibri"/>
                <a:cs typeface="Calibri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663952"/>
          <a:ext cx="6080760" cy="2532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115312"/>
            <a:ext cx="4279392" cy="630936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Calibri"/>
                <a:cs typeface="Calibri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837688"/>
            <a:ext cx="4251960" cy="914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Отношение частот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95% доверительный интервал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0,74–0,95; p=0,007.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315200" y="4029075"/>
            <a:ext cx="4248150" cy="1057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Снижение сердечно-сосудистой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смерти отдельно не подтверждено.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Отношение рисков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0,93 (0,78–1,11).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523875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Первичный исход: первые и повторные госпитализации или срочные визиты из-за сердечной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недостаточности и сердечно-сосудистая смерть. Показаны события, а не пациенты.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594360" y="569595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Керендия: показание при этой форме сердечной недостаточности независимо от диабета.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США: FDA, 11.07.2025. Европейский союз: Европейская комиссия, 26.03.2026.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Calibri"/>
                <a:ea typeface="Arial"/>
                <a:cs typeface="Calibri"/>
              </a:rPr>
              <a:t>В опубликованной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FDA —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Solomon SD, et al. N Engl J Med. 2024;391:1475–1485. FDA. Supplement Approval Letter, NDA 215341/S-009. European Commission Implementing Decision C(2026)2188.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3" name="Urine_to_ratio"/>
              <p:cNvCxnSpPr/>
              <p:nvPr/>
            </p:nvCxnSpPr>
            <p:spPr>
              <a:xfrm>
                <a:off x="1764792" y="5404104"/>
                <a:ext cx="521208" cy="0"/>
              </a:xfrm>
              <a:prstGeom prst="line">
                <a:avLst/>
              </a:prstGeom>
              <a:ln w="21590">
                <a:solidFill>
                  <a:srgbClr val="C8104E"/>
                </a:solidFill>
                <a:tailEnd type="triangle" w="sm" len="sm"/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Глюкоза крови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контролируются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16324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  <p:cxnSp>
            <p:nvCxnSpPr>
              <p:cNvPr id="60" name="Blood_to_result"/>
              <p:cNvCxnSpPr/>
              <p:nvPr/>
            </p:nvCxnSpPr>
            <p:spPr>
              <a:xfrm>
                <a:off x="1764792" y="2414016"/>
                <a:ext cx="521208" cy="0"/>
              </a:xfrm>
              <a:prstGeom prst="line">
                <a:avLst/>
              </a:prstGeom>
              <a:ln w="21590">
                <a:solidFill>
                  <a:srgbClr val="0E5A8A"/>
                </a:solidFill>
                <a:tailEnd type="triangle" w="sm" len="sm"/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Calibri"/>
                <a:cs typeface="Calibri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Calibri"/>
                <a:cs typeface="Calibri"/>
              </a:rPr>
              <a:t>Когда возможен возврат к лечению?</a:t>
            </a:r>
          </a:p>
        </p:txBody>
      </p:sp>
      <p:sp>
        <p:nvSpPr>
          <p:cNvPr id="63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Контрольные вопросы: вернёмся к двум вопросам из начала</a:t>
            </a:r>
          </a:p>
        </p:txBody>
      </p:sp>
      <p:sp>
        <p:nvSpPr>
          <p:cNvPr id="64" name="Инструкция_тренеру"/>
          <p:cNvSpPr txBox="1"/>
          <p:nvPr/>
        </p:nvSpPr>
        <p:spPr>
          <a:xfrm>
            <a:off x="457200" y="59690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595959"/>
                </a:solidFill>
                <a:latin typeface="Calibri"/>
                <a:cs typeface="Calibri"/>
              </a:rPr>
              <a:t>Сначала ответы участников, затем разбор на следующих двух слайдах.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Вопрос 1. Альбуминурия сохраняется: какие данные нужны для обсуждения финеренона</a:t>
            </a:r>
          </a:p>
        </p:txBody>
      </p:sp>
      <p:sp>
        <p:nvSpPr>
          <p:cNvPr id="3" name="Вопрос_фон"/>
          <p:cNvSpPr/>
          <p:nvPr/>
        </p:nvSpPr>
        <p:spPr>
          <a:xfrm>
            <a:off x="457200" y="1016000"/>
            <a:ext cx="11277600" cy="508000"/>
          </a:xfrm>
          <a:prstGeom prst="roundRect">
            <a:avLst>
              <a:gd name="adj" fmla="val 20000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Вопрос"/>
          <p:cNvSpPr txBox="1"/>
          <p:nvPr/>
        </p:nvSpPr>
        <p:spPr>
          <a:xfrm>
            <a:off x="685800" y="1016000"/>
            <a:ext cx="10820400" cy="508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Calibri"/>
                <a:cs typeface="Calibri"/>
              </a:rPr>
              <a:t>Глюкоза крови и давление контролируются, но альбуминурия сохраняется.</a:t>
            </a:r>
          </a:p>
        </p:txBody>
      </p:sp>
      <p:sp>
        <p:nvSpPr>
          <p:cNvPr id="5" name="Номер_1"/>
          <p:cNvSpPr/>
          <p:nvPr/>
        </p:nvSpPr>
        <p:spPr>
          <a:xfrm>
            <a:off x="457200" y="1727200"/>
            <a:ext cx="355600" cy="3556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6" name="Пункт_1"/>
          <p:cNvSpPr txBox="1"/>
          <p:nvPr/>
        </p:nvSpPr>
        <p:spPr>
          <a:xfrm>
            <a:off x="965200" y="1752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Альбуминурия подтверждена</a:t>
            </a:r>
          </a:p>
        </p:txBody>
      </p:sp>
      <p:sp>
        <p:nvSpPr>
          <p:cNvPr id="7" name="Пункт_1_текст"/>
          <p:cNvSpPr txBox="1"/>
          <p:nvPr/>
        </p:nvSpPr>
        <p:spPr>
          <a:xfrm>
            <a:off x="3886200" y="1752600"/>
            <a:ext cx="7848600" cy="63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АКО ≥30 мг/г в повторных анализах, изменения сохраняются не менее 3 месяцев, временные причины (например, инфекция) исключены.</a:t>
            </a:r>
          </a:p>
        </p:txBody>
      </p:sp>
      <p:sp>
        <p:nvSpPr>
          <p:cNvPr id="8" name="Номер_2"/>
          <p:cNvSpPr/>
          <p:nvPr/>
        </p:nvSpPr>
        <p:spPr>
          <a:xfrm>
            <a:off x="457200" y="2489200"/>
            <a:ext cx="355600" cy="3556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9" name="Пункт_2"/>
          <p:cNvSpPr txBox="1"/>
          <p:nvPr/>
        </p:nvSpPr>
        <p:spPr>
          <a:xfrm>
            <a:off x="965200" y="2514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Функция почек</a:t>
            </a:r>
          </a:p>
        </p:txBody>
      </p:sp>
      <p:sp>
        <p:nvSpPr>
          <p:cNvPr id="10" name="Пункт_2_текст"/>
          <p:cNvSpPr txBox="1"/>
          <p:nvPr/>
        </p:nvSpPr>
        <p:spPr>
          <a:xfrm>
            <a:off x="3886200" y="2514600"/>
            <a:ext cx="7848600" cy="63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рСКФ ≥25 мл/мин/1,73 м². Начальная доза: 20 мг при рСКФ ≥60, 10 мг при рСКФ 25–&lt;60.</a:t>
            </a:r>
          </a:p>
        </p:txBody>
      </p:sp>
      <p:sp>
        <p:nvSpPr>
          <p:cNvPr id="11" name="Номер_3"/>
          <p:cNvSpPr/>
          <p:nvPr/>
        </p:nvSpPr>
        <p:spPr>
          <a:xfrm>
            <a:off x="457200" y="3251200"/>
            <a:ext cx="355600" cy="3556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2" name="Пункт_3"/>
          <p:cNvSpPr txBox="1"/>
          <p:nvPr/>
        </p:nvSpPr>
        <p:spPr>
          <a:xfrm>
            <a:off x="965200" y="3276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Калий сыворотки</a:t>
            </a:r>
          </a:p>
        </p:txBody>
      </p:sp>
      <p:sp>
        <p:nvSpPr>
          <p:cNvPr id="13" name="Пункт_3_текст"/>
          <p:cNvSpPr txBox="1"/>
          <p:nvPr/>
        </p:nvSpPr>
        <p:spPr>
          <a:xfrm>
            <a:off x="3886200" y="3276600"/>
            <a:ext cx="7848600" cy="63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≤4,8 ммоль/л — можно начать; &gt;4,8–5,0 — с дополнительным контролем в первые 4 недели; &gt;5,0 — лечение не начинают.</a:t>
            </a:r>
          </a:p>
        </p:txBody>
      </p:sp>
      <p:sp>
        <p:nvSpPr>
          <p:cNvPr id="14" name="Номер_4"/>
          <p:cNvSpPr/>
          <p:nvPr/>
        </p:nvSpPr>
        <p:spPr>
          <a:xfrm>
            <a:off x="457200" y="4013200"/>
            <a:ext cx="355600" cy="3556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5" name="Пункт_4"/>
          <p:cNvSpPr txBox="1"/>
          <p:nvPr/>
        </p:nvSpPr>
        <p:spPr>
          <a:xfrm>
            <a:off x="965200" y="4038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Текущая терапия</a:t>
            </a:r>
          </a:p>
        </p:txBody>
      </p:sp>
      <p:sp>
        <p:nvSpPr>
          <p:cNvPr id="16" name="Пункт_4_текст"/>
          <p:cNvSpPr txBox="1"/>
          <p:nvPr/>
        </p:nvSpPr>
        <p:spPr>
          <a:xfrm>
            <a:off x="3886200" y="4038600"/>
            <a:ext cx="7848600" cy="63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Ингибитор АПФ или БРА в максимально переносимой дозе, ингибитор НГЛТ2; полный список лекарств для проверки взаимодействий и противопоказаний.</a:t>
            </a:r>
          </a:p>
        </p:txBody>
      </p:sp>
      <p:sp>
        <p:nvSpPr>
          <p:cNvPr id="17" name="Номер_5"/>
          <p:cNvSpPr/>
          <p:nvPr/>
        </p:nvSpPr>
        <p:spPr>
          <a:xfrm>
            <a:off x="457200" y="4775200"/>
            <a:ext cx="355600" cy="3556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18" name="Пункт_5"/>
          <p:cNvSpPr txBox="1"/>
          <p:nvPr/>
        </p:nvSpPr>
        <p:spPr>
          <a:xfrm>
            <a:off x="965200" y="4800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Доказательная база</a:t>
            </a:r>
          </a:p>
        </p:txBody>
      </p:sp>
      <p:sp>
        <p:nvSpPr>
          <p:cNvPr id="19" name="Пункт_5_текст"/>
          <p:cNvSpPr txBox="1"/>
          <p:nvPr/>
        </p:nvSpPr>
        <p:spPr>
          <a:xfrm>
            <a:off x="3886200" y="4800600"/>
            <a:ext cx="7848600" cy="63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FIDELIO-DKD: риск почечного исхода ниже на 18%. FIGARO-DKD: риск сердечно-сосудистого исхода ниже на 13%. FIDELITY: на 23% и 14%.</a:t>
            </a:r>
          </a:p>
        </p:txBody>
      </p:sp>
      <p:sp>
        <p:nvSpPr>
          <p:cNvPr id="20" name="Итог"/>
          <p:cNvSpPr txBox="1"/>
          <p:nvPr/>
        </p:nvSpPr>
        <p:spPr>
          <a:xfrm>
            <a:off x="457200" y="55626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Решение о лечении принимает врач. </a:t>
            </a:r>
            <a:r>
              <a:rPr sz="1400" b="0">
                <a:solidFill>
                  <a:srgbClr val="595959"/>
                </a:solidFill>
                <a:latin typeface="Calibri"/>
                <a:cs typeface="Calibri"/>
              </a:rPr>
              <a:t>Где разобрано: анализы крови и мочи, критерии и прогноз ХБП, FIDELIO-DKD, FIGARO-DKD, FIDELITY, «Перед началом лечения», «Два клинических случая».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134100"/>
            <a:ext cx="112776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АКО — отношение альбумина к креатинину мочи; рСКФ — расчётная скорость клубочковой фильтрации; АПФ — ангиотензинпревращающий фермент; БРА — блокатор рецепторов ангиотензина II; НГЛТ2 —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Вопрос 2. Калий повысился: окончательная отмена нужна не всегда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Решение по калию сыворотки крови, ммоль/л, при плановом контроле:</a:t>
            </a:r>
          </a:p>
        </p:txBody>
      </p:sp>
      <p:sp>
        <p:nvSpPr>
          <p:cNvPr id="4" name="Порог_≤4,8_фон"/>
          <p:cNvSpPr/>
          <p:nvPr/>
        </p:nvSpPr>
        <p:spPr>
          <a:xfrm>
            <a:off x="457200" y="1320800"/>
            <a:ext cx="3657600" cy="1397000"/>
          </a:xfrm>
          <a:prstGeom prst="roundRect">
            <a:avLst>
              <a:gd name="adj" fmla="val 9090"/>
            </a:avLst>
          </a:prstGeom>
          <a:solidFill>
            <a:srgbClr val="EA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орог_≤4,8"/>
          <p:cNvSpPr txBox="1"/>
          <p:nvPr/>
        </p:nvSpPr>
        <p:spPr>
          <a:xfrm>
            <a:off x="685800" y="1447800"/>
            <a:ext cx="32004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1">
                <a:solidFill>
                  <a:srgbClr val="2E7D4F"/>
                </a:solidFill>
                <a:latin typeface="Calibri"/>
                <a:cs typeface="Calibri"/>
              </a:rPr>
              <a:t>≤4,8</a:t>
            </a:r>
          </a:p>
        </p:txBody>
      </p:sp>
      <p:sp>
        <p:nvSpPr>
          <p:cNvPr id="6" name="Порог_≤4,8_текст"/>
          <p:cNvSpPr txBox="1"/>
          <p:nvPr/>
        </p:nvSpPr>
        <p:spPr>
          <a:xfrm>
            <a:off x="685800" y="1930400"/>
            <a:ext cx="32004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Дозу 10 мг можно увеличить до 20 мг; при 20 мг дозу сохраняют.</a:t>
            </a:r>
          </a:p>
        </p:txBody>
      </p:sp>
      <p:sp>
        <p:nvSpPr>
          <p:cNvPr id="7" name="Порог_&gt;4,8 и ≤5,5_фон"/>
          <p:cNvSpPr/>
          <p:nvPr/>
        </p:nvSpPr>
        <p:spPr>
          <a:xfrm>
            <a:off x="4267200" y="1320800"/>
            <a:ext cx="3657600" cy="1397000"/>
          </a:xfrm>
          <a:prstGeom prst="roundRect">
            <a:avLst>
              <a:gd name="adj" fmla="val 9090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орог_&gt;4,8 и ≤5,5"/>
          <p:cNvSpPr txBox="1"/>
          <p:nvPr/>
        </p:nvSpPr>
        <p:spPr>
          <a:xfrm>
            <a:off x="4495800" y="1447800"/>
            <a:ext cx="32004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1">
                <a:solidFill>
                  <a:srgbClr val="A76A10"/>
                </a:solidFill>
                <a:latin typeface="Calibri"/>
                <a:cs typeface="Calibri"/>
              </a:rPr>
              <a:t>&gt;4,8 и ≤5,5</a:t>
            </a:r>
          </a:p>
        </p:txBody>
      </p:sp>
      <p:sp>
        <p:nvSpPr>
          <p:cNvPr id="9" name="Порог_&gt;4,8 и ≤5,5_текст"/>
          <p:cNvSpPr txBox="1"/>
          <p:nvPr/>
        </p:nvSpPr>
        <p:spPr>
          <a:xfrm>
            <a:off x="4495800" y="1930400"/>
            <a:ext cx="32004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Текущую дозу сохраняют.</a:t>
            </a:r>
          </a:p>
        </p:txBody>
      </p:sp>
      <p:sp>
        <p:nvSpPr>
          <p:cNvPr id="10" name="Порог_&gt;5,5_фон"/>
          <p:cNvSpPr/>
          <p:nvPr/>
        </p:nvSpPr>
        <p:spPr>
          <a:xfrm>
            <a:off x="8077200" y="1320800"/>
            <a:ext cx="3657600" cy="1397000"/>
          </a:xfrm>
          <a:prstGeom prst="roundRect">
            <a:avLst>
              <a:gd name="adj" fmla="val 9090"/>
            </a:avLst>
          </a:prstGeom>
          <a:solidFill>
            <a:srgbClr val="FBEA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орог_&gt;5,5"/>
          <p:cNvSpPr txBox="1"/>
          <p:nvPr/>
        </p:nvSpPr>
        <p:spPr>
          <a:xfrm>
            <a:off x="8305800" y="1447800"/>
            <a:ext cx="32004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800" b="1">
                <a:solidFill>
                  <a:srgbClr val="B5323C"/>
                </a:solidFill>
                <a:latin typeface="Calibri"/>
                <a:cs typeface="Calibri"/>
              </a:rPr>
              <a:t>&gt;5,5</a:t>
            </a:r>
          </a:p>
        </p:txBody>
      </p:sp>
      <p:sp>
        <p:nvSpPr>
          <p:cNvPr id="12" name="Порог_&gt;5,5_текст"/>
          <p:cNvSpPr txBox="1"/>
          <p:nvPr/>
        </p:nvSpPr>
        <p:spPr>
          <a:xfrm>
            <a:off x="8305800" y="1930400"/>
            <a:ext cx="3200400" cy="762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Приём временно прекращают, уточняют причину и повторяют анализ.</a:t>
            </a:r>
          </a:p>
        </p:txBody>
      </p:sp>
      <p:sp>
        <p:nvSpPr>
          <p:cNvPr id="13" name="Возврат_фон"/>
          <p:cNvSpPr/>
          <p:nvPr/>
        </p:nvSpPr>
        <p:spPr>
          <a:xfrm>
            <a:off x="457200" y="2844800"/>
            <a:ext cx="11277600" cy="838200"/>
          </a:xfrm>
          <a:prstGeom prst="roundRect">
            <a:avLst>
              <a:gd name="adj" fmla="val 15151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Возврат"/>
          <p:cNvSpPr txBox="1"/>
          <p:nvPr/>
        </p:nvSpPr>
        <p:spPr>
          <a:xfrm>
            <a:off x="711200" y="2844800"/>
            <a:ext cx="10769600" cy="838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Возобновление лечения: </a:t>
            </a:r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при калии ≤5,0 ммоль/л в повторном анализе врач может возобновить 10 мг один раз в сутки. Через 4 недели — калий и рСКФ; при калии ≤4,8 ммоль/л и снижении рСКФ не более чем на 30% дозу можно повысить до 20 мг.</a:t>
            </a:r>
          </a:p>
        </p:txBody>
      </p:sp>
      <p:sp>
        <p:nvSpPr>
          <p:cNvPr id="15" name="Отмена_заголовок"/>
          <p:cNvSpPr txBox="1"/>
          <p:nvPr/>
        </p:nvSpPr>
        <p:spPr>
          <a:xfrm>
            <a:off x="457200" y="38100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Окончательная отмена из-за гиперкалиемии в исследованиях</a:t>
            </a:r>
          </a:p>
        </p:txBody>
      </p:sp>
      <p:sp>
        <p:nvSpPr>
          <p:cNvPr id="16" name="Отмена_FIDELIO-DKD_фон"/>
          <p:cNvSpPr/>
          <p:nvPr/>
        </p:nvSpPr>
        <p:spPr>
          <a:xfrm>
            <a:off x="457200" y="4165600"/>
            <a:ext cx="22606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Отмена_FIDELIO-DKD"/>
          <p:cNvSpPr txBox="1"/>
          <p:nvPr/>
        </p:nvSpPr>
        <p:spPr>
          <a:xfrm>
            <a:off x="635000" y="42672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FIDELIO-DKD</a:t>
            </a:r>
          </a:p>
        </p:txBody>
      </p:sp>
      <p:sp>
        <p:nvSpPr>
          <p:cNvPr id="18" name="Отмена_FIDELIO-DKD_данные"/>
          <p:cNvSpPr txBox="1"/>
          <p:nvPr/>
        </p:nvSpPr>
        <p:spPr>
          <a:xfrm>
            <a:off x="635000" y="4546600"/>
            <a:ext cx="1905000" cy="736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2,3%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 финеренон</a:t>
            </a:r>
          </a:p>
          <a:p>
            <a:pPr algn="l"/>
            <a:r>
              <a:rPr sz="1800" b="1">
                <a:solidFill>
                  <a:srgbClr val="595959"/>
                </a:solidFill>
                <a:latin typeface="Calibri"/>
                <a:cs typeface="Calibri"/>
              </a:rPr>
              <a:t>0,9%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 плацебо</a:t>
            </a:r>
          </a:p>
        </p:txBody>
      </p:sp>
      <p:sp>
        <p:nvSpPr>
          <p:cNvPr id="19" name="Отмена_FIGARO-DKD_фон"/>
          <p:cNvSpPr/>
          <p:nvPr/>
        </p:nvSpPr>
        <p:spPr>
          <a:xfrm>
            <a:off x="2870200" y="4165600"/>
            <a:ext cx="22606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Отмена_FIGARO-DKD"/>
          <p:cNvSpPr txBox="1"/>
          <p:nvPr/>
        </p:nvSpPr>
        <p:spPr>
          <a:xfrm>
            <a:off x="3048000" y="42672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FIGARO-DKD</a:t>
            </a:r>
          </a:p>
        </p:txBody>
      </p:sp>
      <p:sp>
        <p:nvSpPr>
          <p:cNvPr id="21" name="Отмена_FIGARO-DKD_данные"/>
          <p:cNvSpPr txBox="1"/>
          <p:nvPr/>
        </p:nvSpPr>
        <p:spPr>
          <a:xfrm>
            <a:off x="3048000" y="4546600"/>
            <a:ext cx="1905000" cy="736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1,2%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 финеренон</a:t>
            </a:r>
          </a:p>
          <a:p>
            <a:pPr algn="l"/>
            <a:r>
              <a:rPr sz="1800" b="1">
                <a:solidFill>
                  <a:srgbClr val="595959"/>
                </a:solidFill>
                <a:latin typeface="Calibri"/>
                <a:cs typeface="Calibri"/>
              </a:rPr>
              <a:t>0,4%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 плацебо</a:t>
            </a:r>
          </a:p>
        </p:txBody>
      </p:sp>
      <p:sp>
        <p:nvSpPr>
          <p:cNvPr id="22" name="Отмена_FIDELITY_фон"/>
          <p:cNvSpPr/>
          <p:nvPr/>
        </p:nvSpPr>
        <p:spPr>
          <a:xfrm>
            <a:off x="5283200" y="4165600"/>
            <a:ext cx="22606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Отмена_FIDELITY"/>
          <p:cNvSpPr txBox="1"/>
          <p:nvPr/>
        </p:nvSpPr>
        <p:spPr>
          <a:xfrm>
            <a:off x="5461000" y="42672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  <a:cs typeface="Calibri"/>
              </a:rPr>
              <a:t>FIDELITY</a:t>
            </a:r>
          </a:p>
        </p:txBody>
      </p:sp>
      <p:sp>
        <p:nvSpPr>
          <p:cNvPr id="24" name="Отмена_FIDELITY_данные"/>
          <p:cNvSpPr txBox="1"/>
          <p:nvPr/>
        </p:nvSpPr>
        <p:spPr>
          <a:xfrm>
            <a:off x="5461000" y="4546600"/>
            <a:ext cx="1905000" cy="736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Calibri"/>
                <a:cs typeface="Calibri"/>
              </a:rPr>
              <a:t>1,7%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 финеренон</a:t>
            </a:r>
          </a:p>
          <a:p>
            <a:pPr algn="l"/>
            <a:r>
              <a:rPr sz="1800" b="1">
                <a:solidFill>
                  <a:srgbClr val="595959"/>
                </a:solidFill>
                <a:latin typeface="Calibri"/>
                <a:cs typeface="Calibri"/>
              </a:rPr>
              <a:t>0,6%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 плацебо</a:t>
            </a:r>
          </a:p>
        </p:txBody>
      </p:sp>
      <p:sp>
        <p:nvSpPr>
          <p:cNvPr id="25" name="Срочно_фон"/>
          <p:cNvSpPr/>
          <p:nvPr/>
        </p:nvSpPr>
        <p:spPr>
          <a:xfrm>
            <a:off x="7950200" y="3810000"/>
            <a:ext cx="3784600" cy="1524000"/>
          </a:xfrm>
          <a:prstGeom prst="roundRect">
            <a:avLst>
              <a:gd name="adj" fmla="val 8333"/>
            </a:avLst>
          </a:prstGeom>
          <a:solidFill>
            <a:srgbClr val="FBEA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Срочно"/>
          <p:cNvSpPr txBox="1"/>
          <p:nvPr/>
        </p:nvSpPr>
        <p:spPr>
          <a:xfrm>
            <a:off x="8153400" y="3911600"/>
            <a:ext cx="3429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B5323C"/>
                </a:solidFill>
                <a:latin typeface="Calibri"/>
                <a:cs typeface="Calibri"/>
              </a:rPr>
              <a:t>Срочно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B5323C"/>
                </a:solidFill>
                <a:latin typeface="Calibri"/>
                <a:cs typeface="Calibri"/>
              </a:rPr>
              <a:t>≥6,5 ммоль/л: 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немедленная помощь в стационаре.</a:t>
            </a:r>
          </a:p>
          <a:p>
            <a:pPr algn="l"/>
            <a:r>
              <a:rPr sz="1400" b="1">
                <a:solidFill>
                  <a:srgbClr val="B5323C"/>
                </a:solidFill>
                <a:latin typeface="Calibri"/>
                <a:cs typeface="Calibri"/>
              </a:rPr>
              <a:t>6,0–6,4 ммоль/л: </a:t>
            </a:r>
            <a:r>
              <a:rPr sz="1400" b="0">
                <a:solidFill>
                  <a:srgbClr val="000000"/>
                </a:solidFill>
                <a:latin typeface="Calibri"/>
                <a:cs typeface="Calibri"/>
              </a:rPr>
              <a:t>повторить анализ в течение 24 часов; при остром повреждении почек или ухудшении — стационар.</a:t>
            </a:r>
          </a:p>
        </p:txBody>
      </p:sp>
      <p:sp>
        <p:nvSpPr>
          <p:cNvPr id="27" name="Итог"/>
          <p:cNvSpPr txBox="1"/>
          <p:nvPr/>
        </p:nvSpPr>
        <p:spPr>
          <a:xfrm>
            <a:off x="457200" y="5486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  <a:cs typeface="Calibri"/>
              </a:rPr>
              <a:t>Решение о паузе и возобновлении принимает врач. </a:t>
            </a:r>
            <a:r>
              <a:rPr sz="1400" b="0">
                <a:solidFill>
                  <a:srgbClr val="595959"/>
                </a:solidFill>
                <a:latin typeface="Calibri"/>
                <a:cs typeface="Calibri"/>
              </a:rPr>
              <a:t>Где разобрано: механизм повышения калия, контроль калия, коррекция дозы, случай «временная отмена и возобновление».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258560"/>
            <a:ext cx="112776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рСКФ —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Calibri"/>
                <a:cs typeface="Calibri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Контрольные вопросы для медицинских представителей</a:t>
            </a:r>
          </a:p>
        </p:txBody>
      </p:sp>
      <p:sp>
        <p:nvSpPr>
          <p:cNvPr id="3" name="Вопрос_1_фон"/>
          <p:cNvSpPr/>
          <p:nvPr/>
        </p:nvSpPr>
        <p:spPr>
          <a:xfrm>
            <a:off x="457200" y="101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Вопрос_1_номер"/>
          <p:cNvSpPr/>
          <p:nvPr/>
        </p:nvSpPr>
        <p:spPr>
          <a:xfrm>
            <a:off x="660400" y="134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5" name="Вопрос_1"/>
          <p:cNvSpPr txBox="1"/>
          <p:nvPr/>
        </p:nvSpPr>
        <p:spPr>
          <a:xfrm>
            <a:off x="1270000" y="111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Почему сохранная рСКФ не исключает болезнь почек?</a:t>
            </a:r>
          </a:p>
        </p:txBody>
      </p:sp>
      <p:sp>
        <p:nvSpPr>
          <p:cNvPr id="6" name="Вопрос_2_фон"/>
          <p:cNvSpPr/>
          <p:nvPr/>
        </p:nvSpPr>
        <p:spPr>
          <a:xfrm>
            <a:off x="6248400" y="101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Вопрос_2_номер"/>
          <p:cNvSpPr/>
          <p:nvPr/>
        </p:nvSpPr>
        <p:spPr>
          <a:xfrm>
            <a:off x="6451600" y="134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Вопрос_2"/>
          <p:cNvSpPr txBox="1"/>
          <p:nvPr/>
        </p:nvSpPr>
        <p:spPr>
          <a:xfrm>
            <a:off x="7061200" y="111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Какая начальная доза финеренона при рСКФ 48 и при рСКФ 72?</a:t>
            </a:r>
          </a:p>
        </p:txBody>
      </p:sp>
      <p:sp>
        <p:nvSpPr>
          <p:cNvPr id="9" name="Вопрос_3_фон"/>
          <p:cNvSpPr/>
          <p:nvPr/>
        </p:nvSpPr>
        <p:spPr>
          <a:xfrm>
            <a:off x="457200" y="228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Вопрос_3_номер"/>
          <p:cNvSpPr/>
          <p:nvPr/>
        </p:nvSpPr>
        <p:spPr>
          <a:xfrm>
            <a:off x="660400" y="261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1" name="Вопрос_3"/>
          <p:cNvSpPr txBox="1"/>
          <p:nvPr/>
        </p:nvSpPr>
        <p:spPr>
          <a:xfrm>
            <a:off x="1270000" y="238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Когда дозу 10 мг не повышают до 20 мг, даже если калий ≤4,8 ммоль/л?</a:t>
            </a:r>
          </a:p>
        </p:txBody>
      </p:sp>
      <p:sp>
        <p:nvSpPr>
          <p:cNvPr id="12" name="Вопрос_4_фон"/>
          <p:cNvSpPr/>
          <p:nvPr/>
        </p:nvSpPr>
        <p:spPr>
          <a:xfrm>
            <a:off x="6248400" y="228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Вопрос_4_номер"/>
          <p:cNvSpPr/>
          <p:nvPr/>
        </p:nvSpPr>
        <p:spPr>
          <a:xfrm>
            <a:off x="6451600" y="261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4" name="Вопрос_4"/>
          <p:cNvSpPr txBox="1"/>
          <p:nvPr/>
        </p:nvSpPr>
        <p:spPr>
          <a:xfrm>
            <a:off x="7061200" y="238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Какой первичный исход был в FIDELIO-DKD и какой — в FIGARO-DKD?</a:t>
            </a:r>
          </a:p>
        </p:txBody>
      </p:sp>
      <p:sp>
        <p:nvSpPr>
          <p:cNvPr id="15" name="Вопрос_5_фон"/>
          <p:cNvSpPr/>
          <p:nvPr/>
        </p:nvSpPr>
        <p:spPr>
          <a:xfrm>
            <a:off x="457200" y="355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Вопрос_5_номер"/>
          <p:cNvSpPr/>
          <p:nvPr/>
        </p:nvSpPr>
        <p:spPr>
          <a:xfrm>
            <a:off x="660400" y="388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17" name="Вопрос_5"/>
          <p:cNvSpPr txBox="1"/>
          <p:nvPr/>
        </p:nvSpPr>
        <p:spPr>
          <a:xfrm>
            <a:off x="1270000" y="365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Можно ли по снижению АКО обещать конкретному пациенту меньший риск диализа?</a:t>
            </a:r>
          </a:p>
        </p:txBody>
      </p:sp>
      <p:sp>
        <p:nvSpPr>
          <p:cNvPr id="18" name="Вопрос_6_фон"/>
          <p:cNvSpPr/>
          <p:nvPr/>
        </p:nvSpPr>
        <p:spPr>
          <a:xfrm>
            <a:off x="6248400" y="355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Вопрос_6_номер"/>
          <p:cNvSpPr/>
          <p:nvPr/>
        </p:nvSpPr>
        <p:spPr>
          <a:xfrm>
            <a:off x="6451600" y="388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20" name="Вопрос_6"/>
          <p:cNvSpPr txBox="1"/>
          <p:nvPr/>
        </p:nvSpPr>
        <p:spPr>
          <a:xfrm>
            <a:off x="7061200" y="365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Можно ли заменить ингибитор НГЛТ2 финереноном?</a:t>
            </a:r>
          </a:p>
        </p:txBody>
      </p:sp>
      <p:sp>
        <p:nvSpPr>
          <p:cNvPr id="21" name="Вопрос_7_фон"/>
          <p:cNvSpPr/>
          <p:nvPr/>
        </p:nvSpPr>
        <p:spPr>
          <a:xfrm>
            <a:off x="457200" y="482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Вопрос_7_номер"/>
          <p:cNvSpPr/>
          <p:nvPr/>
        </p:nvSpPr>
        <p:spPr>
          <a:xfrm>
            <a:off x="660400" y="515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7</a:t>
            </a:r>
          </a:p>
        </p:txBody>
      </p:sp>
      <p:sp>
        <p:nvSpPr>
          <p:cNvPr id="23" name="Вопрос_7"/>
          <p:cNvSpPr txBox="1"/>
          <p:nvPr/>
        </p:nvSpPr>
        <p:spPr>
          <a:xfrm>
            <a:off x="1270000" y="492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С какими препаратами финеренон не сочетают, а с какими нужен контроль калия?</a:t>
            </a:r>
          </a:p>
        </p:txBody>
      </p:sp>
      <p:sp>
        <p:nvSpPr>
          <p:cNvPr id="24" name="Вопрос_8_фон"/>
          <p:cNvSpPr/>
          <p:nvPr/>
        </p:nvSpPr>
        <p:spPr>
          <a:xfrm>
            <a:off x="6248400" y="4826000"/>
            <a:ext cx="5486400" cy="1117600"/>
          </a:xfrm>
          <a:prstGeom prst="roundRect">
            <a:avLst>
              <a:gd name="adj" fmla="val 1136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Вопрос_8_номер"/>
          <p:cNvSpPr/>
          <p:nvPr/>
        </p:nvSpPr>
        <p:spPr>
          <a:xfrm>
            <a:off x="6451600" y="5156200"/>
            <a:ext cx="431800" cy="43180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cs typeface="Calibri"/>
              </a:rPr>
              <a:t>8</a:t>
            </a:r>
          </a:p>
        </p:txBody>
      </p:sp>
      <p:sp>
        <p:nvSpPr>
          <p:cNvPr id="26" name="Вопрос_8"/>
          <p:cNvSpPr txBox="1"/>
          <p:nvPr/>
        </p:nvSpPr>
        <p:spPr>
          <a:xfrm>
            <a:off x="7061200" y="4927600"/>
            <a:ext cx="447040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Врач спрашивает о финереноне при сердечной недостаточности или диабете 1 типа. Что делает представитель?</a:t>
            </a:r>
          </a:p>
        </p:txBody>
      </p:sp>
      <p:sp>
        <p:nvSpPr>
          <p:cNvPr id="27" name="Подсказка"/>
          <p:cNvSpPr txBox="1"/>
          <p:nvPr/>
        </p:nvSpPr>
        <p:spPr>
          <a:xfrm>
            <a:off x="457200" y="6172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595959"/>
                </a:solidFill>
                <a:latin typeface="Calibri"/>
                <a:cs typeface="Calibri"/>
              </a:rPr>
              <a:t>Ответы и номера слайдов для разбора — в заметках к слайду.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"/>
                <a:cs typeface="Arial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143000"/>
            <a:ext cx="112776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Сравнение со спиронолактоном по безопасности (ARTS, II фаза, сердечная недостаточность)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Хроническая болезнь почек без диабета (FIND-CKD)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Диабет 1 типа (FINE-ONE, решение FDA)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Calibri"/>
                <a:cs typeface="Calibri"/>
              </a:rPr>
              <a:t>Сердечная недостаточность с фракцией выброса ≥40% (FINEARTS-HF)</a:t>
            </a:r>
          </a:p>
        </p:txBody>
      </p:sp>
      <p:sp>
        <p:nvSpPr>
          <p:cNvPr id="4" name="Комплаенс_фон"/>
          <p:cNvSpPr/>
          <p:nvPr/>
        </p:nvSpPr>
        <p:spPr>
          <a:xfrm>
            <a:off x="457200" y="2997200"/>
            <a:ext cx="11277600" cy="1905000"/>
          </a:xfrm>
          <a:prstGeom prst="roundRect">
            <a:avLst>
              <a:gd name="adj" fmla="val 8000"/>
            </a:avLst>
          </a:prstGeom>
          <a:solidFill>
            <a:srgbClr val="FBF1E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Комплаенс"/>
          <p:cNvSpPr txBox="1"/>
          <p:nvPr/>
        </p:nvSpPr>
        <p:spPr>
          <a:xfrm>
            <a:off x="762000" y="2997200"/>
            <a:ext cx="10668000" cy="190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A76A10"/>
                </a:solidFill>
                <a:latin typeface="Calibri"/>
                <a:cs typeface="Calibri"/>
              </a:rPr>
              <a:t>Только для справки и медицинского отдела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Calibri"/>
                <a:cs typeface="Calibri"/>
              </a:rPr>
              <a:t>В местной инструкции Финеренон-Орвилле эти показания не указаны. Сравнение со спиронолактоном — короткое исследование II фазы, его результат описательный. Представитель не обсуждает эти данные по своей инициативе; вопросы врача передаёт в медицинский отдел.</a:t>
            </a:r>
          </a:p>
        </p:txBody>
      </p:sp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39.xml"/></Relationships>
</file>

<file path=ppt/t1d_approval/notesSlides/_rels/notesSlide2.xml.rels><?xml version='1.0' encoding='UTF-8' standalone='yes'?>
<Relationships xmlns="http://schemas.openxmlformats.org/package/2006/relationships"><Relationship Id="R092bf2a803f24dac" Type="http://schemas.openxmlformats.org/officeDocument/2006/relationships/slide" Target="../../slides/slide40.xml"/><Relationship Id="Rd7406f6931ad4e8a" Type="http://schemas.openxmlformats.org/officeDocument/2006/relationships/notesMaster" Target="../../notesMasters/notesMaster1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https://www.accessdata.fda.gov/drugsatfda_docs/appletter/2026/215341Orig1s011ltr.pdf</a:t>
            </a:r>
          </a:p>
          <a:p xmlns:a="http://schemas.openxmlformats.org/drawingml/2006/main">
            <a:r>
              <a:t>https://www.accessdata.fda.gov/drugsatfda_docs/label/2026/215341s011lbl.pdf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https://www.accessdata.fda.gov/drugsatfda_docs/label/2026/215341s011lbl.pdf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