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 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Снижение на 18% относительное: событие было у 17,8% пациентов в группе финеренона и у 21,1% в группе плацебо.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 ≥40% не менее 4 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  <a:p>
            <a: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</a:t>
            </a:r>
          </a:p>
          <a:p>
            <a:r>
              <a:t>Гиперкалиемия по сообщениям исследователей (как в FIDELIO-DKD на слайде 21).</a:t>
            </a:r>
          </a:p>
          <a:p>
            <a:r>
              <a:t>Абсолютную разницу 2,2% и 1,7% считали по накопленной частоте к 3 годам, поэтому она не совпадает с разностью долей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Ветка планового контроля при калии ≤4,8 ммоль/л на схеме не показана: дозу 10 мг можно повысить до 20 мг, если рСКФ снизилась не более чем на 30%.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24.09.2026.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 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2,62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 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 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(финеренон 18,3%, плацебо 9,0%).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(финеренон 2,3%, плацебо 0,9%).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типа; диапазон функции почек шире, чем в FIDELIO-DKD.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 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 ДИ 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(финеренон 10,8%, плацебо 5,3%);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(финеренон 1,2%, плацебо 0,4%).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Объединённый анализ индивидуальных данных, запланированный заранее.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 финеренон 12,7%, 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 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 финеренон 5,5%, 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 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за 3 года: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(финеренон 14,0%, плацебо 6,9%), окончательная отмена из-за неё (финеренон 1,7%, плацебо 0,6%).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снижение АКО по сравнению с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 0,66–0,70).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(дополнительный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в анализ эффективности вошли 800 пациентов с хронической болезнью почек и сахарным диабетом 2 типа; исследование II фазы.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мг/г; фоновая терапия ингибитором АПФ или БРА по протоколу.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при комбинации было ниже, чем при монотерапии финереноном (на 29%) и эмпаглифлозином (на 32%); в обоих случаях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читать графики: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день 0: исходный уровень; день 180: препараты отменили; день 210: 30 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(комбинация 15,1%, финеренон 18,8%, эмпаглифлозин 9,7%); комбинация и финеренон статистически значимо не различались (p=0,85).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(изменение альбуминурии за 180 дней); почечную недостаточность и сердечно-сосудистые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Гиперкалиемия: калий &gt;5,5 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ADA рекомендует финеренон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Условия: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м², нормальный калий, максимально переносимая доза ингибитора АПФ или БРА.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и ингибитор НГЛТ2 можно начать одновременно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030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0500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270500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00700"/>
            <a:ext cx="3355848" cy="9144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27050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457200" y="3810000"/>
            <a:ext cx="112776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57200" y="4445000"/>
            <a:ext cx="112776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457200" y="5181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нужно: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повторить АКО, подтвердить стойкость изменений (не менее 3 месяцев), определить калий, уточнить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и рСКФ. При калии ≤4,8 ммоль/л и снижении рСКФ не более чем на 30%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 это важно: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возобновление,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ARTS, II фаза: сравнение со спиронолактоном по частоте повышения калия при сердечной недостаточности (слайд 44)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FIND-CKD: хроническая болезнь почек без диабета (слайд 45)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FINE-ONE: диабет 1 типа и регуляторный статус в США (слайды 46 и 47)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FINEARTS-HF: сердечная недостаточность с фракцией выброса ≥40% (слайд 48)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20320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203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Зачем: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чтобы представитель узнавал вопросы вне показаний и правильно их передавал.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6060340" y="25400"/>
            <a:ext cx="5674459" cy="2032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2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повышает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Финеренон: 2,5; 5 или 10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Спиронолактон: 25–50 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группы доз объединены в дополнительном анализе,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6060340" y="25400"/>
            <a:ext cx="5674459" cy="2032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2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 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6060340" y="25400"/>
            <a:ext cx="5674459" cy="2032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2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 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финеренон 10,1%, плацебо 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6060340" y="25400"/>
            <a:ext cx="5674459" cy="2032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2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215341/S-011.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657600" cy="309378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574800"/>
            <a:ext cx="3302000" cy="2941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26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267200" y="1498600"/>
            <a:ext cx="3657600" cy="309378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445000" y="1574800"/>
            <a:ext cx="3302000" cy="2941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8077200" y="10668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8077200" y="1498600"/>
            <a:ext cx="3657600" cy="309378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8255000" y="1574800"/>
            <a:ext cx="3302000" cy="29413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6060340" y="25400"/>
            <a:ext cx="5674459" cy="2032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2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915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частот: относительное снижение суммарного числа событий на 16%. 95% ДИ 0,74–0,95,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 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054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11.07.2025)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6060340" y="25400"/>
            <a:ext cx="5674459" cy="2032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2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35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6172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6172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6350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457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457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5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6172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6172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6350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Засчитывают первое по времени событие из нескольких. Разница между группами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FIGARO-DKD, в основном госпитализации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Кривые на слайде 21: к концу они выше, чем доли пациентов с событием за всё исследование.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Диапазон значений эффекта, совместимых с данными. Если весь интервал ниже 1, снижение риска статистически значимо.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весь интервал ниже 1, снижение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нужно лечить указанный срок, чтобы предотвратить одно событие. Без срока это число не приводят.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46 пациентов за 3 года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</a:t>
            </a:r>
          </a:p>
          <a:p xmlns:a="http://schemas.openxmlformats.org/drawingml/2006/main">
            <a:r>
              <a:t>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