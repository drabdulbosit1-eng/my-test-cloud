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303" r:id="rId89"/>
    <p:sldId id="265" r:id="rIdReviewed10"/>
    <p:sldId id="266" r:id="rIdReviewed11"/>
    <p:sldId id="267" r:id="rIdReviewed12"/>
    <p:sldId id="268" r:id="rIdReviewed13"/>
    <p:sldId id="269" r:id="rIdReviewed14"/>
    <p:sldId id="263" r:id="rIdReviewed8"/>
    <p:sldId id="264" r:id="rIdReviewed9"/>
    <p:sldId id="260" r:id="rIdReviewed5"/>
    <p:sldId id="261" r:id="rIdReviewed6"/>
    <p:sldId id="262" r:id="rIdReviewed7"/>
    <p:sldId id="304" r:id="rId90"/>
    <p:sldId id="259" r:id="rIdReviewed4"/>
    <p:sldId id="258" r:id="rIdReviewed3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302" r:id="rId88"/>
    <p:sldId id="289" r:id="rIdReviewed34"/>
    <p:sldId id="290" r:id="rIdReviewed35"/>
    <p:sldId id="297" r:id="rId83"/>
    <p:sldId id="298" r:id="rId84"/>
    <p:sldId id="299" r:id="rId85"/>
    <p:sldId id="300" r:id="rId86"/>
    <p:sldId id="291" r:id="rIdReviewed36"/>
    <p:sldId id="301" r:id="rId87"/>
    <p:sldId id="282" r:id="rIdReviewed27"/>
    <p:sldId id="292" r:id="rIdReviewed37"/>
    <p:sldId id="293" r:id="rIdReviewed38"/>
    <p:sldId id="295" r:id="rIdT1D1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3.xml"/><Relationship Id="rIdReviewed11" Type="http://schemas.openxmlformats.org/officeDocument/2006/relationships/slide" Target="slides/slide4.xml"/><Relationship Id="rIdReviewed12" Type="http://schemas.openxmlformats.org/officeDocument/2006/relationships/slide" Target="slides/slide5.xml"/><Relationship Id="rIdReviewed13" Type="http://schemas.openxmlformats.org/officeDocument/2006/relationships/slide" Target="slides/slide6.xml"/><Relationship Id="rIdReviewed14" Type="http://schemas.openxmlformats.org/officeDocument/2006/relationships/slide" Target="slides/slide7.xml"/><Relationship Id="rIdReviewed15" Type="http://schemas.openxmlformats.org/officeDocument/2006/relationships/slide" Target="slides/slide15.xml"/><Relationship Id="rIdReviewed16" Type="http://schemas.openxmlformats.org/officeDocument/2006/relationships/slide" Target="slides/slide16.xml"/><Relationship Id="rIdReviewed17" Type="http://schemas.openxmlformats.org/officeDocument/2006/relationships/slide" Target="slides/slide17.xml"/><Relationship Id="rIdReviewed18" Type="http://schemas.openxmlformats.org/officeDocument/2006/relationships/slide" Target="slides/slide18.xml"/><Relationship Id="rIdReviewed19" Type="http://schemas.openxmlformats.org/officeDocument/2006/relationships/slide" Target="slides/slide19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0.xml"/><Relationship Id="rIdReviewed21" Type="http://schemas.openxmlformats.org/officeDocument/2006/relationships/slide" Target="slides/slide21.xml"/><Relationship Id="rIdReviewed22" Type="http://schemas.openxmlformats.org/officeDocument/2006/relationships/slide" Target="slides/slide22.xml"/><Relationship Id="rIdReviewed23" Type="http://schemas.openxmlformats.org/officeDocument/2006/relationships/slide" Target="slides/slide23.xml"/><Relationship Id="rIdReviewed24" Type="http://schemas.openxmlformats.org/officeDocument/2006/relationships/slide" Target="slides/slide24.xml"/><Relationship Id="rIdReviewed25" Type="http://schemas.openxmlformats.org/officeDocument/2006/relationships/slide" Target="slides/slide25.xml"/><Relationship Id="rIdReviewed26" Type="http://schemas.openxmlformats.org/officeDocument/2006/relationships/slide" Target="slides/slide26.xml"/><Relationship Id="rIdReviewed27" Type="http://schemas.openxmlformats.org/officeDocument/2006/relationships/slide" Target="slides/slide42.xml"/><Relationship Id="rIdReviewed28" Type="http://schemas.openxmlformats.org/officeDocument/2006/relationships/slide" Target="slides/slide27.xml"/><Relationship Id="rIdReviewed29" Type="http://schemas.openxmlformats.org/officeDocument/2006/relationships/slide" Target="slides/slide28.xml"/><Relationship Id="rIdReviewed3" Type="http://schemas.openxmlformats.org/officeDocument/2006/relationships/slide" Target="slides/slide14.xml"/><Relationship Id="rIdReviewed30" Type="http://schemas.openxmlformats.org/officeDocument/2006/relationships/slide" Target="slides/slide29.xml"/><Relationship Id="rIdReviewed31" Type="http://schemas.openxmlformats.org/officeDocument/2006/relationships/slide" Target="slides/slide30.xml"/><Relationship Id="rIdReviewed32" Type="http://schemas.openxmlformats.org/officeDocument/2006/relationships/slide" Target="slides/slide31.xml"/><Relationship Id="rIdReviewed33" Type="http://schemas.openxmlformats.org/officeDocument/2006/relationships/slide" Target="slides/slide32.xml"/><Relationship Id="rIdReviewed34" Type="http://schemas.openxmlformats.org/officeDocument/2006/relationships/slide" Target="slides/slide34.xml"/><Relationship Id="rIdReviewed35" Type="http://schemas.openxmlformats.org/officeDocument/2006/relationships/slide" Target="slides/slide35.xml"/><Relationship Id="rIdReviewed36" Type="http://schemas.openxmlformats.org/officeDocument/2006/relationships/slide" Target="slides/slide36.xml"/><Relationship Id="rIdReviewed37" Type="http://schemas.openxmlformats.org/officeDocument/2006/relationships/slide" Target="slides/slide43.xml"/><Relationship Id="rIdReviewed38" Type="http://schemas.openxmlformats.org/officeDocument/2006/relationships/slide" Target="slides/slide44.xml"/><Relationship Id="rIdReviewed39" Type="http://schemas.openxmlformats.org/officeDocument/2006/relationships/slide" Target="slides/slide47.xml"/><Relationship Id="rIdReviewed4" Type="http://schemas.openxmlformats.org/officeDocument/2006/relationships/slide" Target="slides/slide13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8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9.xml"/><Relationship Id="rIdReviewed7" Type="http://schemas.openxmlformats.org/officeDocument/2006/relationships/slide" Target="slides/slide10.xml"/><Relationship Id="rIdReviewed8" Type="http://schemas.openxmlformats.org/officeDocument/2006/relationships/slide" Target="slides/slide11.xml"/><Relationship Id="rIdReviewed9" Type="http://schemas.openxmlformats.org/officeDocument/2006/relationships/slide" Target="slides/slide12.xml"/><Relationship Id="rIdT1D1" Type="http://schemas.openxmlformats.org/officeDocument/2006/relationships/slide" Target="slides/slide45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37.xml"/><Relationship Id="rId84" Type="http://schemas.openxmlformats.org/officeDocument/2006/relationships/slide" Target="slides/slide38.xml"/><Relationship Id="rId85" Type="http://schemas.openxmlformats.org/officeDocument/2006/relationships/slide" Target="slides/slide39.xml"/><Relationship Id="rId86" Type="http://schemas.openxmlformats.org/officeDocument/2006/relationships/slide" Target="slides/slide40.xml"/><Relationship Id="rId87" Type="http://schemas.openxmlformats.org/officeDocument/2006/relationships/slide" Target="slides/slide41.xml"/><Relationship Id="rId88" Type="http://schemas.openxmlformats.org/officeDocument/2006/relationships/slide" Target="slides/slide33.xml"/><Relationship Id="rId89" Type="http://schemas.openxmlformats.org/officeDocument/2006/relationships/slide" Target="slides/slide48.xml"/><Relationship Id="rId90" Type="http://schemas.openxmlformats.org/officeDocument/2006/relationships/slide" Target="slides/slide4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0F9ED5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7F7F7F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0F9ED5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Пациенты со снижением АКО на ≥30%
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7030A0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7030A0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7F7F7F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030A0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F7F7F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7030A0"/>
              </a:solidFill>
            </a:ln>
          </c:spPr>
          <c:marker>
            <c:symbol val="circle"/>
            <c:size val="10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dLbls>
            <c:dLbl>
              <c:idx val="2"/>
              <c:spPr/>
              <c:txPr>
                <a:bodyPr/>
                <a:lstStyle/>
                <a:p>
                  <a:pPr>
                    <a:defRPr sz="1600" b="1">
                      <a:solidFill>
                        <a:srgbClr val="7030A0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" sourceLinked="0"/>
            <c:txPr>
              <a:bodyPr/>
              <a:lstStyle/>
              <a:p>
                <a:pPr>
                  <a:defRPr sz="1600" b="1">
                    <a:solidFill>
                      <a:srgbClr val="7030A0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B5323C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4EA72E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0"/>
          <c:min val="4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dLbl>
              <c:idx val="0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dLbl>
              <c:idx val="0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Финеренон</c:v>
                </c:pt>
              </c:strCache>
            </c:strRef>
          </c:tx>
          <c:spPr>
            <a:solidFill>
              <a:srgbClr val="7030A0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0.023</c:v>
                </c:pt>
                <c:pt idx="1">
                  <c:v>0.012</c:v>
                </c:pt>
                <c:pt idx="2">
                  <c:v>0.017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Плацебо</c:v>
                </c:pt>
              </c:strCache>
            </c:strRef>
          </c:tx>
          <c:spPr>
            <a:solidFill>
              <a:srgbClr val="7F7F7F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0.009</c:v>
                </c:pt>
                <c:pt idx="1">
                  <c:v>0.004</c:v>
                </c:pt>
                <c:pt idx="2">
                  <c:v>0.006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Показаны два основных критерия; существуют и другие маркеры повреждения почек.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1. Слайды: 11–13 (анализы и прогноз), 15 (остаточный риск), 21–23 (FIDELIO-DKD, FIGARO-DKD, FIDELITY), 32 (перед началом), 36 (два пациента).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Попросите 2–3 представителей ответить своими словами до показа разбора. Вопрос 1 разбирают на слайде 39, вопрос 2 на слайде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понимания срочности. Представитель не консультирует по лечению гиперкалиемии: тактику определяет врач по действующим клиническим рекомендациям.</a:t>
            </a:r>
          </a:p>
          <a:p>
            <a:r>
              <a:t>Сроки по UK Kidney Association (2023): калий 6,0–6,4 ммоль/л при неожиданном повышении у стабильного пациента: повторный анализ в течение 24 часов; калий 6,5 ммоль/л и выше или изменения на ЭКГ: неотложная помощь.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Дополнительные исходы FIDELITY: смерть и госпитализация по любой причине, изменение АКО к 4-му месяцу.</a:t>
            </a:r>
          </a:p>
          <a:p>
            <a:r>
              <a:t>Устойчивое снижение рСКФ подтверждали не ранее чем через 4 недели.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Снижение на 18% относительное: событие было у 17,8% пациентов в группе финеренона и у 21,1% в группе плацебо.</a:t>
            </a:r>
          </a:p>
          <a:p>
            <a:r>
              <a:t>Ключевой вторичный (сердечно-сосудистый) исход: финеренон 13,0%, плацебо 14,8%; отношение рисков 0,86 (95% ДИ 0,75–0,99), p=0,03. Ингибиторы НГЛТ2 исходно получали 4,6%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Почечный исход (почечная недостаточность, устойчивое снижение рСКФ на ≥40% не менее 4 недель или смерть от почечных причин): финеренон 9,5%, плацебо 10,8%; отношение рисков 0,87 (95% ДИ 0,76–1,01), статистически значимых различий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Ингибиторы НГЛТ2 исходно получали 6,7% пациентов.</a:t>
            </a:r>
          </a:p>
          <a:p>
            <a:r>
              <a:t>Проценты: доля пациентов с событием за всё время наблюдения. Снижение риска относительное. Значения p без поправки на множественные сравнения.</a:t>
            </a:r>
          </a:p>
          <a:p>
            <a:r>
              <a:t>Гиперкалиемия по сообщениям исследователей (как в FIDELIO-DKD на слайде 21).</a:t>
            </a:r>
          </a:p>
          <a:p>
            <a:r>
              <a:t>Абсолютную разницу 2,2% и 1,7% считали по накопленной частоте к 3 годам, поэтому она не совпадает с разностью долей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График слева: отношение АКО к исходному уровню (1,0 = исходный). К 180-му дню 0,48 при комбинации, 0,68 при финереноне и 0,71 при эмпаглифлозине, то есть снижение на 52%, 32% и 29%. При комбинации снижение было на 29% больше, чем при финереноне, и на 32% больше, чем при эмпаглифлозине: это относительные различия между группами (0,48 к 0,68 и к 0,71), а не снижение от исходного уровня.</a:t>
            </a:r>
          </a:p>
          <a:p>
            <a:r>
              <a:t>График справа: среднее изменение калия сыворотки по группе. На 14-й день +0,27 ммоль/л при комбинации и +0,19 при финереноне; при эмпаглифлозине калий почти не менялся; через 30 дней после отмены калий вернулся почти к исходному. Авторы основной статьи называют повышение калия при комбинации и финереноне сходным; во вторичном анализе различие статистически незначимо (p=0,91).</a:t>
            </a:r>
          </a:p>
          <a:p>
            <a:r>
              <a:t>Строка «Безопасность» показывает другое: долю пациентов, у которых калий хотя бы раз превысил 5,5 ммоль/л. Среднее по группе и доля пациентов выше порога измеряют разное, поэтому противоречия между графиком и строкой нет. Ни по одному из показателей комбинация и финеренон статистически значимо не различались.</a:t>
            </a:r>
          </a:p>
          <a:p>
            <a:r>
              <a:t>Неверны оба вывода: «комбинация опаснее по калию» и «эмпаглифлозин защищает от гиперкалиемии». По выводу вторичного анализа комбинация статистически значимо не снижала риск гиперкалиемии. Калий &gt;6,0 ммоль/л: 4,6% при комбинации и при финереноне. Из-за гиперкалиемии лечение прекратили трое, по одному в каждой группе.</a:t>
            </a:r>
          </a:p>
          <a:p>
            <a:r>
              <a:t>В основной статье те же случаи дают 15,3%, 18,6% и 9,7% (другой знаменатель). Гиперкалиемию по сообщениям исследователей (9,3%, 11,4% и 3,8%) считали иначе. Пациентов с калием &gt;4,8 ммоль/л в исследование не включали.</a:t>
            </a:r>
          </a:p>
          <a:p>
            <a:r>
              <a:t>Вопросы о конкретных пациентах представитель передаёт в медицинский отдел; калий контролируют по инструкции.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Альбумин в моче может быть повышен уже при сохранной фильтрации; при диабете возможна гиперфильтрация. Слайды 6, 11, 12.</a:t>
            </a:r>
          </a:p>
          <a:p>
            <a:r>
              <a:t>2. FIDELIO-DKD: комбинированный почечный исход (отношение рисков 0,82). FIGARO-DKD: комбинированный сердечно-сосудистый исход (отношение рисков 0,87), разница в основном за счёт госпитализаций по поводу сердечной недостаточности. Слайды 20–22.</a:t>
            </a:r>
          </a:p>
          <a:p>
            <a:r>
              <a:t>3. Представитель не оценивает прогноз конкретного пациента. В FIDELITY на уровне групп раннее снижение АКО было связано с меньшим риском почечных исходов, но по нему нельзя рассчитать риск у отдельного пациента. Прогноз оценивает врач; при необходимости вопрос передают в медицинский отдел. Слайды 21, 23, 24.</a:t>
            </a:r>
          </a:p>
          <a:p>
            <a:r>
              <a:t>4. Нет. У препаратов разные мишени, они не заменяют друг друга; назначение финеренона не требует отмены ингибитора НГЛТ2. Решение о терапии принимает врач. Слайды 16, 27.</a:t>
            </a:r>
          </a:p>
          <a:p>
            <a:r>
              <a:t>5. Финеренон блокирует МКР в главной клетке собирательной трубочки: через натриевый канал всасывается меньше натрия, слабее электрическая движущая сила для секреции калия, и меньше калия выходит в просвет. Слайды 17, 29.</a:t>
            </a:r>
          </a:p>
          <a:p>
            <a:r>
              <a:t>6. Начальная доза 10 мг при рСКФ 48 и 20 мг при рСКФ 72, один раз в сутки. При рСКФ &lt;25 начинать лечение не рекомендуется. Слайды 32, 36.</a:t>
            </a:r>
          </a:p>
          <a:p>
            <a:r>
              <a:t>7. Если рСКФ снизилась более чем на 30% от предыдущего измерения. Слайд 34.</a:t>
            </a:r>
          </a:p>
          <a:p>
            <a:r>
              <a:t>8. Противопоказаны сильные ингибиторы CYP3A4. Не рекомендуются другие антагонисты МКР, калийсберегающие диуретики, сильные и умеренные индукторы CYP3A4, грейпфрут. Слайды 30, 31.</a:t>
            </a:r>
          </a:p>
          <a:p>
            <a:r>
              <a:t>9. Препараты калия и калийсодержащие заменители соли, триметоприм (в том числе в составе ко-тримоксазола), НПВП, умеренные и слабые ингибиторы CYP3A4. Слайды 30, 31.</a:t>
            </a:r>
          </a:p>
          <a:p>
            <a:r>
              <a:t>10. Не даёт советов по лечению. Сообщает о нежелательном явлении в отдел фармаконадзора в течение 24 часов по процедуре компании. Слайд 35.</a:t>
            </a:r>
          </a:p>
          <a:p>
            <a:r>
              <a:t>11. Этих показаний нет в местной инструкции. Представитель не обсуждает эти данные ни по своей инициативе, ни в ответ на вопрос, не показывает слайды приложения и передаёт вопрос врача в медицинский отдел по процедуре компании. Слайды 9, 43.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Статус показаний проверен 24.09.2026. Отдельного показания при ХБП без диабета нет в проверенных действующих инструкциях США и ЕС. Публикация FIND-CKD не означает регистрацию показания.</a:t>
            </a:r>
          </a:p>
          <a:p>
            <a:r>
              <a:t>https://labeling.bayerhealthcare.com/html/products/pi/Kerendia_PI.pdf</a:t>
            </a:r>
          </a:p>
          <a:p>
            <a:r>
              <a:t>https://www.ema.europa.eu/en/documents/product-information/kerendia-epar-product-information_en.pdf</a:t>
            </a:r>
          </a:p>
          <a:p>
            <a:r>
              <a:t>https://orvilleservices.com/instructions/Finerenon_Instruction_ru.pdf</a:t>
            </a:r>
          </a:p>
          <a:p>
            <a:r>
              <a:t>https://doi.org/10.1056/NEJMoa2604625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2. Слайды: 29 (механизм), 33 (контроль), 34 (коррекция дозы), 37 (случай), 21–23 (частота окончательной отмены).</a:t>
            </a:r>
          </a:p>
          <a:p>
            <a:r>
              <a:t>Алгоритм повторяет правила слайда 34. Ветка планового контроля при калии ≤4,8 ммоль/л на схеме не показана: дозу 10 мг можно повысить до 20 мг, если рСКФ снизилась не более чем на 30%.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Вопросы пока не разбирают, к ним возвращаются в конце. Ответ на вопрос 1 собирается на слайдах 32 и 36, ответ на вопрос 2 на слайдах 34 и 37. Полный разбор на слайдах 39 и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врач описывает такой случай у реального пациента, это нежелательное явление: представитель сообщает о нём в отдел фармаконадзора в течение 24 часов по процедуре компании и не даёт советов по лечению.</a:t>
            </a:r>
          </a:p>
          <a:p>
            <a:r>
              <a:t>Вывод: при калии &gt;5,5 ммоль/л инструкция предусматривает временную отмену и повторный анализ; при калии ≤5,0 ммоль/л врач может возобновить лечение в дозе 10 мг. Решение принимает врач.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Одобрение при сердечной недостаточности не требует наличия сахарного диабета. США: FDA, июль 2025 (в сообщениях Bayer и изданий 14.07.2025), NDA 215341/S-009, снижение риска сердечно-сосудистой смерти, госпитализации или срочных визитов по поводу сердечной недостаточности у взрослых с фракцией выброса левого желудочка ≥40%. ЕС: решение Европейской комиссии от 26.03.2026 (номер решения не подтверждён), симптомная хроническая сердечная недостаточность с фракцией выброса левого желудочка ≥40% у взрослых. Пресс-релиз вышел позже, 30.03.2026. В опубликованной инструкции Финеренон-Орвилле это показание не указано. Дата проверки 25.09.2026.</a:t>
            </a:r>
          </a:p>
          <a:p xmlns:a="http://schemas.openxmlformats.org/drawingml/2006/main">
            <a:r>
              <a:t>Максимальная доза в FINEARTS-HF 20 или 40 мг один раз в сутки; целевая доза при ХБП и диабете 2 типа 20 мг (слайд 32).</a:t>
            </a:r>
          </a:p>
          <a:p xmlns:a="http://schemas.openxmlformats.org/drawingml/2006/main">
            <a:r>
              <a:t>https://www.accessdata.fda.gov/drugsatfda_docs/appletter/2025/215341Orig1s009ltr.pdf</a:t>
            </a:r>
          </a:p>
          <a:p xmlns:a="http://schemas.openxmlformats.org/drawingml/2006/main">
            <a:r>
              <a:t>https://labeling.bayerhealthcare.com/html/products/pi/Kerendia_PI.pdf</a:t>
            </a:r>
          </a:p>
          <a:p xmlns:a="http://schemas.openxmlformats.org/drawingml/2006/main">
            <a:r>
              <a:t>https://ec.europa.eu/health/documents/community-register/2026/20260326168988/dec_168988_en.pdf</a:t>
            </a:r>
          </a:p>
          <a:p xmlns:a="http://schemas.openxmlformats.org/drawingml/2006/main">
            <a:r>
              <a:t>https://ec.europa.eu/health/documents/community-register/2026/20260326168988/anx_168988_en.pdf</a:t>
            </a:r>
          </a:p>
          <a:p xmlns:a="http://schemas.openxmlformats.org/drawingml/2006/main">
            <a:r>
              <a:t>https://www.ema.europa.eu/en/medicines/human/EPAR/kerendia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https://doi.org/10.1056/NEJMoa2407107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4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7030A0"/>
              </a:solidFill>
              <a:ln>
                <a:noFill/>
              </a:ln>
            </c:spPr>
          </c:dPt>
          <c:dPt>
            <c:idx val="1"/>
            <c:spPr>
              <a:solidFill>
                <a:srgbClr val="0F9ED5"/>
              </a:solidFill>
              <a:ln>
                <a:noFill/>
              </a:ln>
            </c:spPr>
          </c:dPt>
          <c:dLbls>
            <c:dLbl>
              <c:idx val="0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7030A0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0F9ED5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%" sourceLinked="0"/>
            <c:txPr>
              <a:bodyPr/>
              <a:lstStyle/>
              <a:p>
                <a:pPr>
                  <a:defRPr sz="1800" b="1" lang="ru-RU">
                    <a:solidFill>
                      <a:srgbClr val="000000"/>
                    </a:solidFill>
                    <a:latin typeface="Arial Narrow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000000"/>
                  </a:solidFill>
                  <a:latin typeface="Arial Narrow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5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000000"/>
                </a:solidFill>
                <a:latin typeface="Arial Narrow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>
          <a:latin typeface="Arial Narrow"/>
        </a:defRPr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image" Target="../media/image21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notesSlide" Target="../notesSlides/notesSlide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Relationship Id="rId2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Relationship Id="rId7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4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Relationship Id="rId6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Relationship Id="rId5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Relationship Id="rId10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Relationship Id="rId4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Relationship Id="rId6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Relationship Id="rId4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Relationship Id="rId6" Type="http://schemas.openxmlformats.org/officeDocument/2006/relationships/chart" Target="../charts/chart3.xml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Relationship Id="rId5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45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Relationship Id="rId6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болезнью почек, связанной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 сахарным диабетом 2 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270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Цели обучения: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1. Кому показан препарат и как он действует.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2. Какая польза подтверждена исследованиями.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3. Как контролировать калий и функцию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4. Как сообщать о нежелательных явлениях.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 (МКР)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PubChem. Finerenone.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98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99" name="Маркировка"/>
          <p:cNvSpPr txBox="1"/>
          <p:nvPr/>
        </p:nvSpPr>
        <p:spPr>
          <a:xfrm>
            <a:off x="838200" y="5816600"/>
            <a:ext cx="609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Только для внутреннего обучения медицинских представителей. Не для показа и передачи специалистам здравоохранения.</a:t>
            </a:r>
          </a:p>
        </p:txBody>
      </p:sp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(повышенная потеря альбумина с мочой)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4978400" y="4000500"/>
            <a:ext cx="127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Клубочек: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Кровь проходит через капилляры.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Часть воды и мелких растворённых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Эта 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Это обратное всасывание, или реабсорбция.</a:t>
            </a:r>
          </a:p>
        </p:txBody>
      </p: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3A5BA8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NIDDK. Your Kidneys &amp; How They Work. T. Kebert, Jmarchn, CC BY-SA 4.0, modified.</a:t>
            </a:r>
          </a:p>
        </p:txBody>
      </p:sp>
      <p:pic>
        <p:nvPicPr>
          <p:cNvPr id="46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7" name="Связь_с_финереноном"/>
          <p:cNvSpPr txBox="1"/>
          <p:nvPr/>
        </p:nvSpPr>
        <p:spPr>
          <a:xfrm>
            <a:off x="6223000" y="5880100"/>
            <a:ext cx="53721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его мишень, минералокортикоидный рецептор, есть в клетках собирательной трубочки (слайд 17).</a:t>
            </a:r>
          </a:p>
        </p:txBody>
      </p:sp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20202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Восходящее колено петли Генле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прилежит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985000" y="1276350"/>
            <a:ext cx="4699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группа клеток канальца,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которая реагирует на содержание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(NaCl) в канальцевой жидкости.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поступает больше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Соли поступает меньше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308600" y="1905000"/>
            <a:ext cx="1270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</a:t>
            </a:r>
          </a:p>
        </p:txBody>
      </p:sp>
      <p:pic>
        <p:nvPicPr>
          <p:cNvPr id="60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1" name="Связь_с_финереноном"/>
          <p:cNvSpPr txBox="1"/>
          <p:nvPr/>
        </p:nvSpPr>
        <p:spPr>
          <a:xfrm>
            <a:off x="6985000" y="5892800"/>
            <a:ext cx="4635500" cy="584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лечении контролируют фильтрацию, от неё зависят начальная доза и повышение дозы (слайды 32, 34).</a:t>
            </a:r>
          </a:p>
        </p:txBody>
      </p:sp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Приносящая артериола расширяется, давление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в клубочке растёт: развивается гиперфильтрация.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Длительная перегрузка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повреждает фильтрационный барьер.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повреждение почек возможно и при сохранной рСКФ.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на этот механизм действуют ингибиторы НГЛТ2; у финеренона другая мишень, он их не заменяет (слайд 27).</a:t>
            </a:r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 Alicic RZ, et al. Clin J Am Soc Nephrol. 2017;12:2032–2045. Retnakaran R, et al. Diabetes. 2006;55:1832–1839. T. Kebert, Jmarchn, CC BY-SA 4.0, modified.</a:t>
            </a:r>
          </a:p>
        </p:txBody>
      </p:sp>
      <p:pic>
        <p:nvPicPr>
          <p:cNvPr id="50" name="Логотип Орвилле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диабетической болезни почек расширяется мезангий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 может развиваться узелковый гломерулосклероз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7178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&#10;склероза"/>
          <p:cNvSpPr txBox="1"/>
          <p:nvPr/>
        </p:nvSpPr>
        <p:spPr>
          <a:xfrm>
            <a:off x="8331200" y="35204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Киммелстила–Уилсона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формируются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округлые узелки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 межклеточного матрикса.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596900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Образцы разных пациентов. Гистологический класс не то же самое, что стадия ХБП по рСКФ.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его назначении врач ориентируется на рСКФ, альбуминурию и калий (слайды 12, 32).</a:t>
            </a:r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8194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3048000"/>
            <a:ext cx="736600" cy="279400"/>
          </a:xfrm>
          <a:prstGeom prst="line">
            <a:avLst/>
          </a:prstGeom>
          <a:ln w="15875">
            <a:solidFill>
              <a:srgbClr val="087A9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Bai Y, et al. Front Endocrinol. 2022;13:984452 (CC BY 4.0). Cohen Tervaert TW, et al. J Am Soc Nephrol. 2010;21:556–563.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Диабетическая болезнь почек затрагивает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: тк"/>
          <p:cNvSpPr txBox="1"/>
          <p:nvPr/>
        </p:nvSpPr>
        <p:spPr>
          <a:xfrm>
            <a:off x="5029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Между канальцами лежит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интерстиций, в нём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8000" y="5816600"/>
            <a:ext cx="10795000" cy="6462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Воспаление и фиброз могут сочетаться и не обязательно сменяют друг друга.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он блокирует минералокортикоидный рецептор, избыточная активация которого поддерживает воспаление и фиброз (слайды 18, 19). Влияние финеренона на эти процессы показано только в доклинических исследованиях.</a:t>
            </a:r>
          </a:p>
        </p:txBody>
      </p: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087A92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  <p:pic>
        <p:nvPicPr>
          <p:cNvPr id="728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 типа рСКФ и АКО проверяют не реже раза в год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625600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 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насколько хорошо почки фильтруют?</a:t>
            </a:r>
          </a:p>
        </p:txBody>
      </p:sp>
      <p:cxnSp>
        <p:nvCxnSpPr>
          <p:cNvPr id="32" name="Separate_tests"/>
          <p:cNvCxnSpPr/>
          <p:nvPr/>
        </p:nvCxnSpPr>
        <p:spPr>
          <a:xfrm>
            <a:off x="548640" y="4014215"/>
            <a:ext cx="6702552" cy="0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нет ли повышенной потери альбумина?</a:t>
            </a:r>
          </a:p>
        </p:txBody>
      </p:sp>
      <p:cxnSp>
        <p:nvCxnSpPr>
          <p:cNvPr id="64" name="Interpretation_separator"/>
          <p:cNvCxnSpPr/>
          <p:nvPr/>
        </p:nvCxnSpPr>
        <p:spPr>
          <a:xfrm>
            <a:off x="7635240" y="1225296"/>
            <a:ext cx="0" cy="4946904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65" name="Clinical_question"/>
          <p:cNvSpPr txBox="1"/>
          <p:nvPr/>
        </p:nvSpPr>
        <p:spPr>
          <a:xfrm>
            <a:off x="7972425" y="1295400"/>
            <a:ext cx="3524250" cy="73342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Фильтрация сохранна: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значит, 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2425" y="2247900"/>
            <a:ext cx="3524250" cy="83820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Ответ: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2425" y="3314700"/>
            <a:ext cx="3524250" cy="109537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хронической болезни почек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частоту контроля определяют по стадии.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2425" y="4629150"/>
            <a:ext cx="3524250" cy="85725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тест-полоска на общий белок не заменяет определение АКО.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American Diabetes Association Professional Practice Committee. Standards of Care in Diabetes-2026. Diabetes Care. 2026;49(Suppl 1):S246–S260.</a:t>
            </a:r>
          </a:p>
        </p:txBody>
      </p:sp>
      <p:pic>
        <p:nvPicPr>
          <p:cNvPr id="7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Карточка_функция"/>
          <p:cNvSpPr/>
          <p:nvPr/>
        </p:nvSpPr>
        <p:spPr>
          <a:xfrm>
            <a:off x="755650" y="1203325"/>
            <a:ext cx="48323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вреждение"/>
          <p:cNvSpPr/>
          <p:nvPr/>
        </p:nvSpPr>
        <p:spPr>
          <a:xfrm>
            <a:off x="6356350" y="1203325"/>
            <a:ext cx="51752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Критерии ХБП: рСКФ &lt;60 мл/мин/1,73 м² или АКО ≥30 мг/г не менее 3 месяцев</a:t>
            </a:r>
          </a:p>
        </p:txBody>
      </p:sp>
      <p:sp>
        <p:nvSpPr>
          <p:cNvPr id="3" name="function-label">
            <a:extLst>
              <a:ext uri="{FF2B5EF4-FFF2-40B4-BE49-F238E27FC236}">
                <a16:creationId xmlns:a16="http://schemas.microsoft.com/office/drawing/2014/main" id="{4608A116-DE20-40FC-8A31-6DB58E3786A8}"/>
              </a:ext>
            </a:extLst>
          </p:cNvPr>
          <p:cNvSpPr>
            <a:spLocks noGrp="1"/>
          </p:cNvSpPr>
          <p:nvPr/>
        </p:nvSpPr>
        <p:spPr>
          <a:xfrm>
            <a:off x="933450" y="1381125"/>
            <a:ext cx="4476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Функция почек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933450" y="1847850"/>
            <a:ext cx="44767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расчётная скорость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клубочковой 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933450" y="2619375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Критерий ХБП: &lt;60 мл/мин/1,73 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933450" y="3181350"/>
            <a:ext cx="4476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7" name="damage-label">
            <a:extLst>
              <a:ext uri="{FF2B5EF4-FFF2-40B4-BE49-F238E27FC236}">
                <a16:creationId xmlns:a16="http://schemas.microsoft.com/office/drawing/2014/main" id="{A590F3DC-E69C-4E4B-A335-43D00E1B6C20}"/>
              </a:ext>
            </a:extLst>
          </p:cNvPr>
          <p:cNvSpPr>
            <a:spLocks noGrp="1"/>
          </p:cNvSpPr>
          <p:nvPr/>
        </p:nvSpPr>
        <p:spPr>
          <a:xfrm>
            <a:off x="6534150" y="1381125"/>
            <a:ext cx="48196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B5323C"/>
                </a:solidFill>
                <a:latin typeface="Arial Narrow"/>
                <a:ea typeface="Calibri"/>
                <a:cs typeface="Arial Narrow"/>
              </a:rPr>
              <a:t>Повреждение почек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534150" y="1847850"/>
            <a:ext cx="48196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 (АКО)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534150" y="2619375"/>
            <a:ext cx="4819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B5323C"/>
                </a:solidFill>
                <a:latin typeface="Arial Narrow"/>
                <a:ea typeface="Calibri"/>
                <a:cs typeface="Arial Narrow"/>
              </a:rPr>
              <a:t>Критерий ХБП: ≥30 мг/г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534150" y="3181350"/>
            <a:ext cx="48196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1" name="rule">
            <a:extLst>
              <a:ext uri="{FF2B5EF4-FFF2-40B4-BE49-F238E27FC236}">
                <a16:creationId xmlns:a16="http://schemas.microsoft.com/office/drawing/2014/main" id="{DA6982E4-441A-440A-9212-C17C0B0B9387}"/>
              </a:ext>
            </a:extLst>
          </p:cNvPr>
          <p:cNvSpPr>
            <a:spLocks noGrp="1"/>
          </p:cNvSpPr>
          <p:nvPr/>
        </p:nvSpPr>
        <p:spPr>
          <a:xfrm>
            <a:off x="933450" y="3971925"/>
            <a:ext cx="10420350" cy="9525"/>
          </a:xfrm>
          <a:prstGeom prst="rect">
            <a:avLst/>
          </a:prstGeom>
          <a:solidFill>
            <a:srgbClr val="D7E0E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104203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менее 3 месяцев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Достаточно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одного критерия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 сниженной рСКФ или маркера повреждения почек.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933450" y="5114925"/>
            <a:ext cx="104203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Сохранная рСКФ не исключает болезнь почек. Повышенную альбуминурию подтверждают повторным анализом и исключают временные причины, например инфекцию.</a:t>
            </a: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72150" y="2619375"/>
            <a:ext cx="552450" cy="304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При одинаковой фильтрации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3143250" y="1590675"/>
            <a:ext cx="180975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мл/мин/1,73 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4767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151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535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3143250" y="235267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6750" y="2352675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316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5150" y="2352675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700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53550" y="2352675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4084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3143250" y="2864739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6750" y="2864739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316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5150" y="2864739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700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53550" y="2864739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4084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3143250" y="3376803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6750" y="3376803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316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5150" y="3376803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700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53550" y="3376803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4084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3143250" y="3888867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76750" y="3888867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316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151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700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535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4084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3143250" y="4400931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767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316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51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700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535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4084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3143250" y="491299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767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316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151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700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535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4084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457200" y="2571750"/>
            <a:ext cx="2305050" cy="2524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Пример: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рСКФ 65 (G2).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15 мг/г (A1):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низкий.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350 мг/г (A3):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высокий.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5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сердечная недостаточность ухудшает функцию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кардиоренальный синдром, тип 2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2 типа и артериальной гипертензии оба органа могут повреждаться одновременно.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Поэтому определить, какое заболевание возникло первым, удаётся не всегда.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17700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17700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163836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163836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587772"/>
            <a:ext cx="5687568" cy="9337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Повторные воздействия на почки: острая декомпенсация сердечной недостаточности; изменения гемодинамики при лечении диуретиками и ингибиторами АПФ; гиповолемия и гипотензия, вызванные лекарствами.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587772"/>
            <a:ext cx="0" cy="895644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054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054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3699316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Ускоренное развитие атеросклероза. Изменения мелких и крупных сосудов.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3699316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3945453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3945453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369389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Нейрогуморальная активация. Сосудосуживающие медиаторы: катехоламины, эндотелин, ангиотензин II и альдостерон.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369389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4615525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4615525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039461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039461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285597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285597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163836"/>
            <a:ext cx="0" cy="3121761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163836"/>
            <a:ext cx="0" cy="3121761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Некроз и апоптоз клеток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Фиброз и склероз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5734933"/>
            <a:ext cx="10795000" cy="439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его изучали у пациентов с хронической болезнью почек и диабетом 2 типа и оценивали почечные и сердечно-сосудистые исходы (слайд 20). В местной инструкции нет показания при сердечной недостаточности.</a:t>
            </a:r>
          </a:p>
        </p:txBody>
      </p:sp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хроническая болезнь почек ухудшает работу сердца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ренокардиальный синдром, тип 4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Сердечно-сосудистые заболевания, хроническую болезнь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 метаболические нарушения рассматривают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альдостерона.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1623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801100" y="1943100"/>
            <a:ext cx="2159000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1100" y="3048000"/>
            <a:ext cx="2819400" cy="9083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465320"/>
            <a:ext cx="110642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Arial Narrow"/>
                <a:cs typeface="Arial Narrow"/>
              </a:rPr>
              <a:t>Общие для обоих органов процессы: окислительный стресс и воспаление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15084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_0.57"/>
          <p:cNvSpPr txBox="1"/>
          <p:nvPr/>
        </p:nvSpPr>
        <p:spPr>
          <a:xfrm>
            <a:off x="521207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Усиленное образование цитокинов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2287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hared_3.75"/>
          <p:cNvSpPr txBox="1"/>
          <p:nvPr/>
        </p:nvSpPr>
        <p:spPr>
          <a:xfrm>
            <a:off x="3429000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баланса оксида азота и активных форм кислорода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323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hared_6.93"/>
          <p:cNvSpPr txBox="1"/>
          <p:nvPr/>
        </p:nvSpPr>
        <p:spPr>
          <a:xfrm>
            <a:off x="6336792" y="5251704"/>
            <a:ext cx="2532888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функции митохондрий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78440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hared_10.05"/>
          <p:cNvSpPr txBox="1"/>
          <p:nvPr/>
        </p:nvSpPr>
        <p:spPr>
          <a:xfrm>
            <a:off x="9189720" y="5251704"/>
            <a:ext cx="2377440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Дисфункция эндотелия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15084" y="4968240"/>
            <a:ext cx="8563356" cy="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80760" y="4785360"/>
            <a:ext cx="0" cy="18288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317" y="2834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3600" y="1905000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 Ndumele CE, et al. Circulation. 2026;154:e50–e158.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6045200"/>
            <a:ext cx="10795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избыток альдостерона действует через минералокортикоидный рецептор, мишень финеренона (слайд 17). В местной инструкции нет показания при сердечной недостаточности.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70800" y="2641600"/>
            <a:ext cx="3810000" cy="30480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CREDENCE: остаточный риск сохраняется и на фоне канаглифлозина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457200" y="1028700"/>
            <a:ext cx="10896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Остаточным называют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457200" y="1485900"/>
            <a:ext cx="108966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4401 пациент с диабетом 2 типа, хронической болезнью почек и выраженной альбуминурией.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канаглифлозин или плацебо; все получали ингибитор АПФ или БРА.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терминальная почечная недостаточность, удвоение креатинина или смерть от почечных или сердечно-сосудистых причин.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768600"/>
            <a:ext cx="35052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124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доверительный интервал 0,59–0,82.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Риск ниже на 30%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(относительное снижение).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3886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2,62 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Доли рассчитаны за весь период исследования.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4648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Остаточный риск: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первичный исход был у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11,1%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пациентов в группе канаглифлозина.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457200" y="5740400"/>
            <a:ext cx="108966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в CREDENCE не изучался. В объединённом анализе FIDELITY ингибиторы НГЛТ2 исходно получали 6,7% пациентов; в этой подгруппе эффект финеренона был сходным с общим, но это анализ подгруппы, и отдельного исследования исходов для комбинации нет. Результаты разных исследований напрямую не сравнивают.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Perkovic V, et al. N Engl J Med. 2019;380:2295–2306. Agarwal R, et al. Eur Heart J. 2022;43:474–484.</a:t>
            </a:r>
          </a:p>
        </p:txBody>
      </p:sp>
      <p:pic>
        <p:nvPicPr>
          <p:cNvPr id="1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3022600" y="45593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0F9ED5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8" name="Рамка_группа_3"/>
          <p:cNvSpPr/>
          <p:nvPr/>
        </p:nvSpPr>
        <p:spPr>
          <a:xfrm>
            <a:off x="3022600" y="32766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7" name="Рамка_группа_2"/>
          <p:cNvSpPr/>
          <p:nvPr/>
        </p:nvSpPr>
        <p:spPr>
          <a:xfrm>
            <a:off x="3022600" y="19939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96B24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6" name="Рамка_группа_1"/>
          <p:cNvSpPr/>
          <p:nvPr/>
        </p:nvSpPr>
        <p:spPr>
          <a:xfrm>
            <a:off x="3022600" y="7112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5608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Четыре группы препаратов для защиты почек при сахарном диабете 2 типа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7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579326" y="793619"/>
            <a:ext cx="8155474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  <a:r>
              <a:rPr sz="1600" b="1" u="none" dirty="0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3111500" y="10287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АПФ или рецептор ангиотензина II типа 1.</a:t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расширяют выносящую артериолу и снижают давление в клубочке.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7112000" y="10287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3111500" y="16841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RENAAL (лозартан), IDNT (ирбесартан).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517900" y="20320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Ингибиторы натрий-глюкозного котранспортёра 2 типа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3111500" y="23114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НГЛТ2 проксимального канальца.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снижают возврат 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7112000" y="23114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3111500" y="29668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 (канаглифлозин), DAPA-CKD (дапаглифлозин), EMPA-KIDNEY (эмпаглифлозин).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517900" y="33147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Нестероидный антагонист минералокортикоидного рецептора (МКР):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3111500" y="35941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МКР в почках, сердце и сосудах.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препятствует активации МКР (слайд 19).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7112000" y="35941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3111500" y="42495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FIDELIO-DKD, FIGARO-DKD и их объединённый анализ FIDELITY, все на фоне ингибитора АПФ или БРА.</a:t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517900" y="45974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3111500" y="4876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рецептор ГПП-1.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улучшают контроль глюкозы 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7112000" y="48768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семаглутид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3111500" y="55322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FLOW (семаглутид).</a:t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4318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разных</a:t>
            </a: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тканях</a:t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58674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Общее правило:</a:t>
            </a:r>
            <a:r>
              <a:rPr sz="16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давление и гликемию контролируют у всех пациентов; препараты врач выбирает по рСКФ, альбуминурии и калию.</a:t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3810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096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11430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9177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4318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4546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4800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4318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4546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4800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5226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5454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5708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5226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5454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5708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6134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6362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6616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6134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6362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6616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7042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7270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7524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7042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7270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7524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7950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8178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8432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7950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8178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8432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8858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9086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9340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8858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9086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9340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9766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9994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10248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9766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9994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10248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10674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10902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11156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10674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10902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11156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11582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1811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2065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11582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2065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2490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2719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2973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2490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2719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2973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3398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3627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3881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3398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3627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3881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4306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4535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4789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4306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4535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4789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5214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5443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5697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5214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5443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5697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6122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6351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6605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6122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6351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6605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7030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7259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7513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7030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7259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7513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821746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6477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8542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6350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79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4384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Раннее снижение рСКФ после начала приёма ингибитора НГЛТ2 обычно обратимо; выраженное снижение требует оценки врача. † FLOW: почечная недостаточность, устойчивое снижение рСКФ на ≥50%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Ozempic (semaglutide). US Prescribing Information. Perkovic V, et al. N Engl J Med. 2024;391:109–121. Servier Medical Art, CC BY 4.0.</a:t>
            </a:r>
          </a:p>
        </p:txBody>
      </p:sp>
      <p:pic>
        <p:nvPicPr>
          <p:cNvPr id="353" name="Логотип Орвилле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реабсорбцию натрия и секрецию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: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: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: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Минералокортикоидный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рецептор (МКР)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: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: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: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: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797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Arial Narrow"/>
                <a:cs typeface="Arial Narrow"/>
              </a:rPr>
              <a:t>Натриевый канал ENaC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797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Arial Narrow"/>
                <a:cs typeface="Arial Narrow"/>
              </a:rPr>
              <a:t>Калиевый канал ROMK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75488" y="6199632"/>
            <a:ext cx="10488168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Реабсорбция натрия создаёт электрическую движущую силу для секреции калия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аденозинтрифосфата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254000" cy="50800"/>
          </a:xfrm>
          <a:prstGeom prst="line">
            <a:avLst/>
          </a:prstGeom>
          <a:ln w="15875">
            <a:solidFill>
              <a:srgbClr val="0E8DAC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254000" cy="63500"/>
          </a:xfrm>
          <a:prstGeom prst="line">
            <a:avLst/>
          </a:prstGeom>
          <a:ln w="15875">
            <a:solidFill>
              <a:srgbClr val="C2752A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ENaC: эпителиальный натриевый канал; ROMK: калиевый канал наружного мозгового вещества почки.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  <p:pic>
        <p:nvPicPr>
          <p:cNvPr id="35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Избыточная активация минералокортикоидного рецептора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поддерживает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9972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8000" y="5461000"/>
            <a:ext cx="5588000" cy="4668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и повреждении тканей сигнал МКР может усиливаться. Ответ зависит от типа клетки и состояния ткани.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870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20202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31242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Grune J, et al. Hypertension. 2018;71:599–608. Droebner K, et al. Am J Nephrol. 2021;52:588–601. Kerendia (finerenone). Summary of Product Characteristics. EMA. Servier Medical Art, CC BY 4.0.</a:t>
            </a:r>
          </a:p>
        </p:txBody>
      </p:sp>
      <p:pic>
        <p:nvPicPr>
          <p:cNvPr id="82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3" name="Связь_с_финереноном"/>
          <p:cNvSpPr txBox="1"/>
          <p:nvPr/>
        </p:nvSpPr>
        <p:spPr>
          <a:xfrm>
            <a:off x="508000" y="6045200"/>
            <a:ext cx="11277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он препятствует активации МКР (слайд 19). Влияние на воспаление и фиброз показано только в доклинических исследованиях.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Карточка_польза"/>
          <p:cNvSpPr/>
          <p:nvPr/>
        </p:nvSpPr>
        <p:spPr>
          <a:xfrm>
            <a:off x="6299200" y="2032000"/>
            <a:ext cx="5422900" cy="1854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Карточка_калий"/>
          <p:cNvSpPr/>
          <p:nvPr/>
        </p:nvSpPr>
        <p:spPr>
          <a:xfrm>
            <a:off x="6299200" y="4495800"/>
            <a:ext cx="54229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0087A5"/>
          </a:solidFill>
          <a:ln w="5080">
            <a:solidFill>
              <a:srgbClr val="006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7A5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0087A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0087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8900" y="4241800"/>
            <a:ext cx="36449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Сигналы воспаления и фиброза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ослабляются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(</a:t>
            </a: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доклинические данные</a:t>
            </a: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)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193792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Связывается с МКР внутри клетки.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21082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при хронической болезни почек с альбуминурией и диабете 2 типа финеренон по сравнению с плацебо снижал риск почечных и сердечно-сосудистых событий на фоне стандартной терапии.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3479800"/>
            <a:ext cx="5080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Исследования: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FIDELIO-DKD, FIGARO-DKD, FIDELITY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5720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блокада МКР может уменьшать 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сыворотки и функцию почек до начала и во время лечения.</a:t>
            </a:r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5748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Клиническая польза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40386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Почему контролируют калий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Agarwal R, et al. Eur Heart J. 2022;43:474–484. Kerendia (finerenone). Summary of Product Characteristics. EMA. Servier Medical Art, CC BY 4.0.</a:t>
            </a:r>
          </a:p>
        </p:txBody>
      </p:sp>
      <p:pic>
        <p:nvPicPr>
          <p:cNvPr id="32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Финеренон: два исследования III фазы и объединённый анализ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457200" y="1092200"/>
            <a:ext cx="35052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пациенты с хронической болезнью почек, сахарным диабетом 2 типа и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стандартной терапии, включая ингибитор АПФ или БРА в максимально переносимой дозе.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920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2C71A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920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EA7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EA72E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1301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 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1301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 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1616075"/>
            <a:ext cx="3619500" cy="95"/>
          </a:xfrm>
          <a:prstGeom prst="line">
            <a:avLst/>
          </a:prstGeom>
          <a:noFill/>
          <a:ln w="17145">
            <a:solidFill>
              <a:srgbClr val="2C71A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1616075"/>
            <a:ext cx="3619500" cy="95"/>
          </a:xfrm>
          <a:prstGeom prst="line">
            <a:avLst/>
          </a:prstGeom>
          <a:noFill/>
          <a:ln w="17145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797050"/>
            <a:ext cx="626837" cy="9525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787660"/>
            <a:ext cx="726514" cy="952500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2187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2054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9146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≥40%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9146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41814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41814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7148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7148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8387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8672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 пациентов в анализе из 13 171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51625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объединённый анализ индивидуальных данных.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сердечно-сосудистый, как в FIGARO-DKD, и почечный, как в FIDELIO-DKD, но с устойчивым снижением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31" name="safety_outcome">
            <a:extLst>
              <a:ext uri="{FF2B5EF4-FFF2-40B4-BE49-F238E27FC236}">
                <a16:creationId xmlns:a16="http://schemas.microsoft.com/office/drawing/2014/main" id="{12C2A5CE-F011-47AF-88AE-1A5F5184FE05}"/>
              </a:ext>
            </a:extLst>
          </p:cNvPr>
          <p:cNvSpPr>
            <a:spLocks noGrp="1"/>
          </p:cNvSpPr>
          <p:nvPr/>
        </p:nvSpPr>
        <p:spPr>
          <a:xfrm>
            <a:off x="4267200" y="589280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(повышение калия сыворотки).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Servier Medical Art, CC BY 4.0.</a:t>
            </a:r>
          </a:p>
        </p:txBody>
      </p:sp>
      <p:pic>
        <p:nvPicPr>
          <p:cNvPr id="4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FIDELIO-DKD: относительное снижение риска комбинированного почечного исхода на 18%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5674 пациента в анализе (5734 рандомизированы). Хроническая болезнь почек и сахарный диабет 2 типа; преимущественно 3–4-я стадия болезни почек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почечная недостаточность, снижение рСКФ на ≥40%, 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8445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4077714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310916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544117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5611311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286125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0,82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 ДИ 0,73–0,93),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p=0,001; риск ниже на 18% (относительное снижение).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195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29 пациентов (95% ДИ 16–166).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368800"/>
            <a:ext cx="4124325" cy="1041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18,3%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9,0%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2,3%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Гиперкалиемии со смертельным исходом не было.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</a:t>
            </a:r>
          </a:p>
        </p:txBody>
      </p:sp>
      <p:pic>
        <p:nvPicPr>
          <p:cNvPr id="1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FIGARO-DKD: относительное снижение риска комбинированного сердечно-сосудистого исхода на 13%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7352 пациента в анализе (7437 рандомизированы). Хроническая болезнь почек и сахарный диабет 2 типа; диапазон функции почек шире, чем в FIDELIO-DKD.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3,4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282700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282700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282700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282700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282700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251200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0,87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 ДИ 0,76–0,98),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p=0,03; риск ниже на 13% (относительное снижение).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784600"/>
            <a:ext cx="4124325" cy="44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 событие за 3,5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47 пациентов (95% ДИ 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18000"/>
            <a:ext cx="4124325" cy="1244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в основном за счёт госпитализаций по поводу сердечной недостаточности: отношение рисков 0,71 (95% ДИ 0,56–0,90).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снижение других компонентов не доказано. В местной инструкции нет показания при сердечной недостаточности.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588000"/>
            <a:ext cx="4124325" cy="660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10,8%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5,3%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1,2%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N Engl J Med. 2021;385:2252–2263.</a:t>
            </a:r>
          </a:p>
        </p:txBody>
      </p:sp>
      <p:pic>
        <p:nvPicPr>
          <p:cNvPr id="12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относительное снижение риска сердечно-сосудистого исхода на 14% и почечного на 23%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635000"/>
            <a:ext cx="11277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 из FIDELIO-DKD и FIGARO-DKD.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3,0 года. Объединённый анализ индивидуальных данных, запланированный заранее.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 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 или госпитализация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4572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7240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3716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7716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7240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3716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7716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7240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3716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7716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7240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3716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7716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7240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3716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7716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7240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3716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7716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771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571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7716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4572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12,7%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14,4%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4572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0,86 (95% ДИ 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4572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46 пациентов (95% ДИ 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 снижение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5,5%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7,1%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 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60 пациентов (95% ДИ 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7815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457200" y="5994400"/>
            <a:ext cx="11506200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Абсолютная разница за 3 года: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2,2% (сердечно-сосудистый исход) и 1,7% (почечный); относительное снижение риска 14% и 23%.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14,0%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6,9%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окончательная отмена из-за неё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0,6%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 (CC BY-NC 4.0).</a:t>
            </a:r>
          </a:p>
        </p:txBody>
      </p:sp>
      <p:pic>
        <p:nvPicPr>
          <p:cNvPr id="24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к 4-му месяцу АКО в группе финеренона на 32% ниже, чем в группе плацебо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457200" y="781050"/>
            <a:ext cx="10896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457200" y="1038225"/>
            <a:ext cx="10896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АКО: отношение альбумина к креатинину мочи, показатель потери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457200" y="19050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снижение АКО по сравнению с плацебо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 4-му месяцу: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457200" y="24384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457200" y="2997200"/>
            <a:ext cx="4381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 поправкой на исходный уровень АКО.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457200" y="3327400"/>
            <a:ext cx="4381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изменений 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0,68 (95% ДИ 0,66–0,70).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пациентов, у которых АКО снизилось на ≥30%: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53,2%, плацебо 27,0% (дополнительный анализ, 12 512 пациентов).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457200" y="5095875"/>
            <a:ext cx="10896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АКО: ранний маркер эффекта лечения на уровне групп пациентов.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457200" y="5476875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 величине снижения АКО нельзя рассчитать, на сколько процентов снизится риск почечных и сердечно-сосудистых исходов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457200" y="6096000"/>
            <a:ext cx="10896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Функцию почек и калий продолжают контролировать.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Agarwal R, et al. Ann Intern Med. 2023;176:1606–1616. KDIGO 2024 Clinical Practice Guideline for CKD. Kidney Int. 2024;105(4S):S117–S314.</a:t>
            </a:r>
          </a:p>
        </p:txBody>
      </p:sp>
      <p:pic>
        <p:nvPicPr>
          <p:cNvPr id="3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CONFIDENCE: комбинация с эмпаглифлозином снижала альбуминурию сильнее монотерапии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800 пациентов с хронической болезнью почек и сахарным диабетом 2 типа; двойное слепое исследование II фазы, 180 дней.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30–90 мл/мин/1,73 м², АКО 100–5000 мг/г, калий ≤4,8 ммоль/л; ингибитор АПФ или БРА в максимальной переносимой дозе.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 180-му дню АКО снизилось на 52% (комбинация), 32% (финеренон) и 29% (эмпаглифлозин); комбинация против каждой: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АКО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АКО к исходному уровню (1,0 = исходный), среднее МНК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95" cy="2167648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725678"/>
            <a:ext cx="95" cy="149814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603706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664692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93895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83550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44181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33836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94468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84122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444757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43441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 сыворотки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калия сыворотки от исходного уровня,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95" cy="2439434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70713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60367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97817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8747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324922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314576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5202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41681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79130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68785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406235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95890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433341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422996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604468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450101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Как читать графики: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справа среднее изменение калия по группе (комбинация и финеренон не различались, p=0,91); день 180: отмена, день 210: +30 дней.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калий &gt;5,5 ммоль/л хотя бы раз: финеренон 18,8%, комбинация 15,1% (различие статистически незначимо, p=0,85), эмпаглифлозин 9,7%.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суррогатная конечная точка (АКО); 180 дней мало, чтобы оценить различия по почечным и сердечно-сосудистым исходам.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МНК: метод наименьших квадратов (оценка по статистической модели). Доли пациентов с калием &gt;5,5 ммоль/л и значения p для калия: вторичный анализ CONFIDENCE, 2026.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N Engl J Med. 2025;393:533–543. Agarwal R, et al. J Am Coll Cardiol. 2026;87:772–784. ClinicalTrials.gov NCT05254002.</a:t>
            </a:r>
          </a:p>
        </p:txBody>
      </p:sp>
      <p:pic>
        <p:nvPicPr>
          <p:cNvPr id="543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ADA 2026: рекомендации по финеренону при диабете 2 типа и ХБП</a:t>
            </a:r>
          </a:p>
        </p:txBody>
      </p:sp>
      <p:sp xmlns:a="http://schemas.openxmlformats.org/drawingml/2006/main">
        <p:nvSpPr>
          <p:cNvPr id="17" name="Контекст"/>
          <p:cNvSpPr txBox="1"/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Американская диабетическая ассоциация, 2026. Сахарный диабет 2 типа, ХБП и альбуминурия.</a:t>
            </a:r>
          </a:p>
        </p:txBody>
      </p:sp>
      <p:sp xmlns:a="http://schemas.openxmlformats.org/drawingml/2006/main">
        <p:nvSpPr>
          <p:cNvPr id="18" name="Полоса_36"/>
          <p:cNvSpPr/>
          <p:nvPr/>
        </p:nvSpPr>
        <p:spPr>
          <a:xfrm>
            <a:off x="4572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11.8, уровень доказательств A</a:t>
            </a:r>
          </a:p>
        </p:txBody>
      </p:sp>
      <p:sp xmlns:a="http://schemas.openxmlformats.org/drawingml/2006/main">
        <p:nvSpPr>
          <p:cNvPr id="19" name="Карточка_36"/>
          <p:cNvSpPr/>
          <p:nvPr/>
        </p:nvSpPr>
        <p:spPr>
          <a:xfrm>
            <a:off x="4572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Текст_36"/>
          <p:cNvSpPr txBox="1"/>
          <p:nvPr/>
        </p:nvSpPr>
        <p:spPr>
          <a:xfrm>
            <a:off x="6858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ХБП с альбуминурией ADA рекомендует нестероидный антагонист минералокортикоидного рецептора с доказанной в исследованиях эффективностью (финеренон) для снижения риска прогрессирования ХБП и сердечно-сосудистых событий.</a:t>
            </a:r>
          </a:p>
        </p:txBody>
      </p:sp>
      <p:cxnSp xmlns:a="http://schemas.openxmlformats.org/drawingml/2006/main">
        <p:nvCxnSpPr>
          <p:cNvPr id="21" name="Разделитель_36"/>
          <p:cNvCxnSpPr/>
          <p:nvPr/>
        </p:nvCxnSpPr>
        <p:spPr>
          <a:xfrm>
            <a:off x="6858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2" name="Условие_36"/>
          <p:cNvSpPr txBox="1"/>
          <p:nvPr/>
        </p:nvSpPr>
        <p:spPr>
          <a:xfrm>
            <a:off x="6858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Условие: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рСКФ ≥25 мл/мин/1,73 м²; после начала лечения контролируют калий.</a:t>
            </a:r>
          </a:p>
        </p:txBody>
      </p:sp>
      <p:sp xmlns:a="http://schemas.openxmlformats.org/drawingml/2006/main">
        <p:nvSpPr>
          <p:cNvPr id="23" name="Полоса_492"/>
          <p:cNvSpPr/>
          <p:nvPr/>
        </p:nvSpPr>
        <p:spPr>
          <a:xfrm>
            <a:off x="62484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11.9, уровень доказательств B</a:t>
            </a:r>
          </a:p>
        </p:txBody>
      </p:sp>
      <p:sp xmlns:a="http://schemas.openxmlformats.org/drawingml/2006/main">
        <p:nvSpPr>
          <p:cNvPr id="24" name="Карточка_492"/>
          <p:cNvSpPr/>
          <p:nvPr/>
        </p:nvSpPr>
        <p:spPr>
          <a:xfrm>
            <a:off x="62484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5" name="Текст_492"/>
          <p:cNvSpPr txBox="1"/>
          <p:nvPr/>
        </p:nvSpPr>
        <p:spPr>
          <a:xfrm>
            <a:off x="64770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Одновременное начало финеренона и ингибитора НГЛТ2 можно рассмотреть у взрослых с диабетом 2 типа при АКО ≥100 мг/г и рСКФ 30–90 мл/мин/1,73 м² на фоне ингибитора АПФ или БРА.</a:t>
            </a:r>
          </a:p>
        </p:txBody>
      </p:sp>
      <p:cxnSp xmlns:a="http://schemas.openxmlformats.org/drawingml/2006/main">
        <p:nvCxnSpPr>
          <p:cNvPr id="26" name="Разделитель_492"/>
          <p:cNvCxnSpPr/>
          <p:nvPr/>
        </p:nvCxnSpPr>
        <p:spPr>
          <a:xfrm>
            <a:off x="64770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7" name="Условие_492"/>
          <p:cNvSpPr txBox="1"/>
          <p:nvPr/>
        </p:nvSpPr>
        <p:spPr>
          <a:xfrm>
            <a:off x="64770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Основание: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снижение альбуминурии в исследовании CONFIDENCE.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28" name="Местная_инструкция_фон"/>
          <p:cNvSpPr/>
          <p:nvPr/>
        </p:nvSpPr>
        <p:spPr>
          <a:xfrm>
            <a:off x="457200" y="4546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9" name="Местная_инструкция"/>
          <p:cNvSpPr txBox="1"/>
          <p:nvPr/>
        </p:nvSpPr>
        <p:spPr>
          <a:xfrm>
            <a:off x="685800" y="4546600"/>
            <a:ext cx="10820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 Зарубежные рекомендации не расширяют это показание. Пороги калия и рСКФ для начала лечения: слайд 32.</a:t>
            </a:r>
          </a:p>
        </p:txBody>
      </p:sp>
      <p:sp xmlns:a="http://schemas.openxmlformats.org/drawingml/2006/main">
        <p:nvSpPr>
          <p:cNvPr id="3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почек; ADA: Американская диабетическая ассоциация.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American Diabetes Association Professional Practice Committee. Standards of Care in Diabetes-2026.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Можно ли заменить ингибитор НГЛТ2 финереноном?</a:t>
            </a:r>
          </a:p>
        </p:txBody>
      </p:sp>
      <p:sp xmlns:a="http://schemas.openxmlformats.org/drawingml/2006/main">
        <p:nvSpPr>
          <p:cNvPr id="14" name="Прямой ответ"/>
          <p:cNvSpPr txBox="1"/>
          <p:nvPr/>
        </p:nvSpPr>
        <p:spPr>
          <a:xfrm>
            <a:off x="457200" y="9144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Нет.</a:t>
            </a:r>
            <a:r>
              <a:rPr sz="1800" b="0">
                <a:solidFill>
                  <a:srgbClr val="7030A0"/>
                </a:solidFill>
                <a:latin typeface="Arial Narrow"/>
                <a:cs typeface="Arial Narrow"/>
              </a:rPr>
              <a:t> У препаратов разные мишени, они не заменяют друг друга. Назначение финеренона не требует отмены ингибитора НГЛТ2.</a:t>
            </a:r>
          </a:p>
        </p:txBody>
      </p:sp>
      <p:sp xmlns:a="http://schemas.openxmlformats.org/drawingml/2006/main">
        <p:nvSpPr>
          <p:cNvPr id="15" name="Ветка_36"/>
          <p:cNvSpPr/>
          <p:nvPr/>
        </p:nvSpPr>
        <p:spPr>
          <a:xfrm>
            <a:off x="4572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16" name="Ветка_текст_фон_36"/>
          <p:cNvSpPr/>
          <p:nvPr/>
        </p:nvSpPr>
        <p:spPr>
          <a:xfrm>
            <a:off x="4572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7" name="Решение_36"/>
          <p:cNvSpPr txBox="1"/>
          <p:nvPr/>
        </p:nvSpPr>
        <p:spPr>
          <a:xfrm>
            <a:off x="6858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если есть показания, может добавить финеренон к текущей терапии.</a:t>
            </a:r>
          </a:p>
        </p:txBody>
      </p:sp>
      <p:sp xmlns:a="http://schemas.openxmlformats.org/drawingml/2006/main">
        <p:nvSpPr>
          <p:cNvPr id="18" name="Ветка_492"/>
          <p:cNvSpPr/>
          <p:nvPr/>
        </p:nvSpPr>
        <p:spPr>
          <a:xfrm>
            <a:off x="62484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 xmlns:a="http://schemas.openxmlformats.org/drawingml/2006/main">
        <p:nvSpPr>
          <p:cNvPr id="19" name="Ветка_текст_фон_492"/>
          <p:cNvSpPr/>
          <p:nvPr/>
        </p:nvSpPr>
        <p:spPr>
          <a:xfrm>
            <a:off x="62484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Решение_492"/>
          <p:cNvSpPr txBox="1"/>
          <p:nvPr/>
        </p:nvSpPr>
        <p:spPr>
          <a:xfrm>
            <a:off x="64770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может назначить финеренон на фоне ингибитора АПФ или БРА, проверив противопоказания, калий и рСКФ.</a:t>
            </a:r>
          </a:p>
        </p:txBody>
      </p:sp>
      <p:sp xmlns:a="http://schemas.openxmlformats.org/drawingml/2006/main">
        <p:nvSpPr>
          <p:cNvPr id="21" name="Схема_заголовок"/>
          <p:cNvSpPr txBox="1"/>
          <p:nvPr/>
        </p:nvSpPr>
        <p:spPr>
          <a:xfrm>
            <a:off x="457200" y="3175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KDIGO: препараты для защиты почек добавляют к базовой терапии</a:t>
            </a:r>
          </a:p>
        </p:txBody>
      </p:sp>
      <p:sp xmlns:a="http://schemas.openxmlformats.org/drawingml/2006/main">
        <p:nvSpPr>
          <p:cNvPr id="22" name="Слой_284"/>
          <p:cNvSpPr/>
          <p:nvPr/>
        </p:nvSpPr>
        <p:spPr>
          <a:xfrm>
            <a:off x="1905000" y="3606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при диабете 2 типа, АКО ≥30 мг/г, рСКФ ≥25 мл/мин/1,73 м² и нормальном калии</a:t>
            </a:r>
          </a:p>
        </p:txBody>
      </p:sp>
      <p:sp xmlns:a="http://schemas.openxmlformats.org/drawingml/2006/main">
        <p:nvSpPr>
          <p:cNvPr id="23" name="Слой_328"/>
          <p:cNvSpPr/>
          <p:nvPr/>
        </p:nvSpPr>
        <p:spPr>
          <a:xfrm>
            <a:off x="1905000" y="41656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 ≥20 мл/мин/1,73 м²</a:t>
            </a:r>
          </a:p>
        </p:txBody>
      </p:sp>
      <p:sp xmlns:a="http://schemas.openxmlformats.org/drawingml/2006/main">
        <p:nvSpPr>
          <p:cNvPr id="24" name="Слой_372"/>
          <p:cNvSpPr/>
          <p:nvPr/>
        </p:nvSpPr>
        <p:spPr>
          <a:xfrm>
            <a:off x="1905000" y="47244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 xmlns:a="http://schemas.openxmlformats.org/drawingml/2006/main">
        <p:nvSpPr>
          <p:cNvPr id="25" name="Стрелка_добавление"/>
          <p:cNvSpPr/>
          <p:nvPr/>
        </p:nvSpPr>
        <p:spPr>
          <a:xfrm>
            <a:off x="1219200" y="36068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6" name="Подпись_добавление"/>
          <p:cNvSpPr txBox="1"/>
          <p:nvPr/>
        </p:nvSpPr>
        <p:spPr>
          <a:xfrm>
            <a:off x="10541000" y="3606800"/>
            <a:ext cx="1193800" cy="160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Добавляют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по показаниям</a:t>
            </a:r>
          </a:p>
        </p:txBody>
      </p:sp>
      <p:sp xmlns:a="http://schemas.openxmlformats.org/drawingml/2006/main">
        <p:nvSpPr>
          <p:cNvPr id="27" name="Решение_врача"/>
          <p:cNvSpPr txBox="1"/>
          <p:nvPr/>
        </p:nvSpPr>
        <p:spPr>
          <a:xfrm>
            <a:off x="457200" y="56642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 xmlns:a="http://schemas.openxmlformats.org/drawingml/2006/main">
        <p:nvSpPr>
          <p:cNvPr id="28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мочи. Применение препарата сверяют с действующей местной инструкцией;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  <p:pic xmlns:a="http://schemas.openxmlformats.org/drawingml/2006/main" xmlns:r="http://schemas.openxmlformats.org/officeDocument/2006/relationships"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30" name="Местная_инструкция_25"/>
          <p:cNvSpPr txBox="1"/>
          <p:nvPr/>
        </p:nvSpPr>
        <p:spPr>
          <a:xfrm>
            <a:off x="457200" y="53086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</a:t>
            </a:r>
          </a:p>
        </p:txBody>
      </p:sp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финеренон"/>
          <p:cNvSpPr/>
          <p:nvPr/>
        </p:nvSpPr>
        <p:spPr>
          <a:xfrm>
            <a:off x="21209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6" name="Карточка_спиронолактон"/>
          <p:cNvSpPr/>
          <p:nvPr/>
        </p:nvSpPr>
        <p:spPr>
          <a:xfrm>
            <a:off x="75438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Финеренон и спиронолактон блокируют один рецептор, но изучены у разных пациентов</a:t>
            </a:r>
          </a:p>
        </p:txBody>
      </p:sp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500" y="1905000"/>
            <a:ext cx="850900" cy="1117600"/>
          </a:xfrm>
          <a:prstGeom prst="rect">
            <a:avLst/>
          </a:prstGeom>
        </p:spPr>
      </p:pic>
      <p:sp>
        <p:nvSpPr>
          <p:cNvPr id="8" name="Text_7"/>
          <p:cNvSpPr txBox="1"/>
          <p:nvPr/>
        </p:nvSpPr>
        <p:spPr>
          <a:xfrm>
            <a:off x="22733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риск почечных и сердечно-сосудистых событий у взрослых с ХБП и диабетом 2 типа.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6962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стероидный антагонист МКР с антиандрогенным действием.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смертность при тяжёлой сердечной недостаточности со сниженной фракцией выброса.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7200" y="4086225"/>
            <a:ext cx="1127760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Выбор препарата: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врач учитывает диагноз, инструкцию и данные исследований в этой группе пациентов. Разная селективность не означает доказанного преимущества по исходам. При лечении любым из двух препаратов контролируют калий.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7200" y="5048250"/>
            <a:ext cx="1127760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Сочетание: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совместное применение финеренона и спиронолактона не рекомендуется.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Прямое сравнение: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крупных исследований с клиническими исходами нет.</a:t>
            </a:r>
          </a:p>
        </p:txBody>
      </p:sp>
      <p:sp>
        <p:nvSpPr>
          <p:cNvPr id="13" name="Полоса_финеренон"/>
          <p:cNvSpPr/>
          <p:nvPr/>
        </p:nvSpPr>
        <p:spPr>
          <a:xfrm>
            <a:off x="21209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5438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</a:p>
        </p:txBody>
      </p:sp>
      <p:pic>
        <p:nvPicPr>
          <p:cNvPr id="17" name="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55" y="1905000"/>
            <a:ext cx="735489" cy="1117600"/>
          </a:xfrm>
          <a:prstGeom prst="rect">
            <a:avLst/>
          </a:prstGeom>
        </p:spPr>
      </p:pic>
      <p:pic>
        <p:nvPicPr>
          <p:cNvPr id="18" name="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25" y="1981200"/>
            <a:ext cx="774949" cy="1016000"/>
          </a:xfrm>
          <a:prstGeom prst="rect">
            <a:avLst/>
          </a:prstGeom>
        </p:spPr>
      </p:pic>
      <p:sp>
        <p:nvSpPr>
          <p:cNvPr id="1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Pitt B, et al. N Engl J Med. 1999;341:709–717.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0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: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81200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Arial Narrow"/>
                <a:cs typeface="Arial Narrow"/>
              </a:rPr>
              <a:t>МКР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276600"/>
            <a:ext cx="9144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088FA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05400"/>
            <a:ext cx="914400" cy="660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C7742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: слабее электрическая движущая сила для секреции калия."/>
          <p:cNvSpPr txBox="1"/>
          <p:nvPr/>
        </p:nvSpPr>
        <p:spPr>
          <a:xfrm>
            <a:off x="502920" y="5816600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канал всасывается меньше натрия, поэтому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слабее электрическая движущая сила для секреции калия.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696200" y="1320800"/>
            <a:ext cx="4038600" cy="2737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Факторы риска гиперкалиемии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696200" y="1645328"/>
            <a:ext cx="4038600" cy="1349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Женский пол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Приём β-адреноблокаторов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молодой возраст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696200" y="3096745"/>
            <a:ext cx="4038600" cy="13774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Факторы выявлены в FIDELIO-DKD. На фоне диуретиков и ингибиторов НГЛТ2 риск был ниже (наблюдение, не рандомизированное сравнение).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 CONFIDENCE добавление эмпаглифлозина статистически значимо не снизило риск гиперкалиемии (p=0,85): калий контролируют так же, как при монотерапии финереноном.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696200" y="457575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</a:defRPr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Также повышают риск: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острое заболевание, обезвоживание, лекарства, повышающие калий или концентрацию финеренона (слайды 30 и 31).</a:t>
            </a:r>
          </a:p>
        </p:txBody>
      </p:sp>
      <p:sp>
        <p:nvSpPr>
          <p:cNvPr id="265" name="Калий выше нормы: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696200" y="532357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выше нормы называют гиперкалиемией. Нужен контроль калия и функции почек до начала и во время лечения.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C79849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C79849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B5323C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J Am Soc Nephrol. 2022;33:225–237. Agarwal R, et al. N Engl J Med. 2025;393:533–543. Sørensen MV, et al. JCI Insight. 2019;4:e126910. Czogalla J, et al. Pflügers Arch. 2016;468:849–858. Kerendia (finerenone). Summary of Product Characteristics. EMA. Agarwal R, et al. J Am Coll Cardiol. 2026;87:772–784.</a:t>
            </a:r>
          </a:p>
        </p:txBody>
      </p:sp>
      <p:pic>
        <p:nvPicPr>
          <p:cNvPr id="27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Сочетания с финереноном: что противопоказано,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что не рекомендуется и когда нужен контроль калия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МКР: минералокортикоидный рецептор; НПВП: нестероидные противовоспалительные препараты.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Светофор_полоса_1"/>
          <p:cNvSpPr/>
          <p:nvPr/>
        </p:nvSpPr>
        <p:spPr>
          <a:xfrm>
            <a:off x="45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Противопоказано</a:t>
            </a:r>
          </a:p>
        </p:txBody>
      </p:sp>
      <p:sp>
        <p:nvSpPr>
          <p:cNvPr id="24" name="Светофор_фон_1"/>
          <p:cNvSpPr/>
          <p:nvPr/>
        </p:nvSpPr>
        <p:spPr>
          <a:xfrm>
            <a:off x="45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Светофор_текст_1"/>
          <p:cNvSpPr txBox="1"/>
          <p:nvPr/>
        </p:nvSpPr>
        <p:spPr>
          <a:xfrm>
            <a:off x="60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кларитромицин, кетоконазол, итраконазол, ритонавир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концентрация финеренона выше, риск гиперкалиемии повышается.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 назначает вместе с финереноном.</a:t>
            </a:r>
          </a:p>
        </p:txBody>
      </p:sp>
      <p:sp>
        <p:nvSpPr>
          <p:cNvPr id="26" name="Светофор_полоса_2"/>
          <p:cNvSpPr/>
          <p:nvPr/>
        </p:nvSpPr>
        <p:spPr>
          <a:xfrm>
            <a:off x="426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 рекомендуется</a:t>
            </a:r>
          </a:p>
        </p:txBody>
      </p:sp>
      <p:sp>
        <p:nvSpPr>
          <p:cNvPr id="27" name="Светофор_фон_2"/>
          <p:cNvSpPr/>
          <p:nvPr/>
        </p:nvSpPr>
        <p:spPr>
          <a:xfrm>
            <a:off x="426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Светофор_текст_2"/>
          <p:cNvSpPr txBox="1"/>
          <p:nvPr/>
        </p:nvSpPr>
        <p:spPr>
          <a:xfrm>
            <a:off x="441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Другие антагонисты МКР: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спиронолактон, эплеренон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Калийсберегающие диуретики: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амилорид, триамтерен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 умеренные индукторы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рифампицин, карбамазепин, зверобой, эфавиренз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исключают на время лечения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избегает этих сочетаний.</a:t>
            </a:r>
          </a:p>
        </p:txBody>
      </p:sp>
      <p:sp>
        <p:nvSpPr>
          <p:cNvPr id="29" name="Светофор_полоса_3"/>
          <p:cNvSpPr/>
          <p:nvPr/>
        </p:nvSpPr>
        <p:spPr>
          <a:xfrm>
            <a:off x="807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8860B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 контролем калия</a:t>
            </a:r>
          </a:p>
        </p:txBody>
      </p:sp>
      <p:sp>
        <p:nvSpPr>
          <p:cNvPr id="30" name="Светофор_фон_3"/>
          <p:cNvSpPr/>
          <p:nvPr/>
        </p:nvSpPr>
        <p:spPr>
          <a:xfrm>
            <a:off x="807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Светофор_текст_3"/>
          <p:cNvSpPr txBox="1"/>
          <p:nvPr/>
        </p:nvSpPr>
        <p:spPr>
          <a:xfrm>
            <a:off x="822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Препараты калия и калийсодержащие заменители соли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Триметоприм, в том числе в составе ко-тримоксазола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НПВП: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ибупрофен, диклофенак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Умеренные и слабые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эритромицин, верапамил, флувоксамин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оценивает необходимость сочетания, контролирует калий, а при приёме НПВП также функцию почек.</a:t>
            </a:r>
          </a:p>
        </p:txBody>
      </p:sp>
      <p:sp>
        <p:nvSpPr>
          <p:cNvPr id="32" name="Светофор_вывод"/>
          <p:cNvSpPr txBox="1"/>
          <p:nvPr/>
        </p:nvSpPr>
        <p:spPr>
          <a:xfrm>
            <a:off x="457200" y="4934833"/>
            <a:ext cx="11277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Фоновая терапия: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по KDIGO, если есть показания, финеренон добавляют к ингибитору АПФ или БРА в максимально переносимой дозе. Калий и функцию почек продолжают контролировать.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а индукторы снижают её</a:t>
            </a:r>
          </a:p>
        </p:txBody>
      </p:sp>
      <p:sp>
        <p:nvSpPr>
          <p:cNvPr id="2" name="CYP3A4_enzyme_symbol"/>
          <p:cNvSpPr/>
          <p:nvPr/>
        </p:nvSpPr>
        <p:spPr>
          <a:xfrm>
            <a:off x="4742115" y="1250241"/>
            <a:ext cx="2723835" cy="1084387"/>
          </a:xfrm>
          <a:custGeom>
            <a:avLst/>
            <a:gdLst/>
            <a:ahLst/>
            <a:cxnLst/>
            <a:rect l="l" t="t" r="r" b="b"/>
            <a:pathLst>
              <a:path w="2723835" h="1084387">
                <a:moveTo>
                  <a:pt x="2719023" y="560271"/>
                </a:moveTo>
                <a:lnTo>
                  <a:pt x="2723835" y="595012"/>
                </a:lnTo>
                <a:lnTo>
                  <a:pt x="2720309" y="629853"/>
                </a:lnTo>
                <a:lnTo>
                  <a:pt x="2708543" y="664446"/>
                </a:lnTo>
                <a:lnTo>
                  <a:pt x="2688946" y="698481"/>
                </a:lnTo>
                <a:lnTo>
                  <a:pt x="2662165" y="731705"/>
                </a:lnTo>
                <a:lnTo>
                  <a:pt x="2628994" y="763934"/>
                </a:lnTo>
                <a:lnTo>
                  <a:pt x="2590274" y="795064"/>
                </a:lnTo>
                <a:lnTo>
                  <a:pt x="2546797" y="825048"/>
                </a:lnTo>
                <a:lnTo>
                  <a:pt x="2499226" y="853886"/>
                </a:lnTo>
                <a:lnTo>
                  <a:pt x="2448044" y="881592"/>
                </a:lnTo>
                <a:lnTo>
                  <a:pt x="2393537" y="908164"/>
                </a:lnTo>
                <a:lnTo>
                  <a:pt x="2335809" y="933565"/>
                </a:lnTo>
                <a:lnTo>
                  <a:pt x="2274828" y="957697"/>
                </a:lnTo>
                <a:lnTo>
                  <a:pt x="2210492" y="980399"/>
                </a:lnTo>
                <a:lnTo>
                  <a:pt x="2142705" y="1001453"/>
                </a:lnTo>
                <a:lnTo>
                  <a:pt x="2071448" y="1020595"/>
                </a:lnTo>
                <a:lnTo>
                  <a:pt x="1996839" y="1037553"/>
                </a:lnTo>
                <a:lnTo>
                  <a:pt x="1919165" y="1052071"/>
                </a:lnTo>
                <a:lnTo>
                  <a:pt x="1838884" y="1063947"/>
                </a:lnTo>
                <a:lnTo>
                  <a:pt x="1756601" y="1073068"/>
                </a:lnTo>
                <a:lnTo>
                  <a:pt x="1673014" y="1079424"/>
                </a:lnTo>
                <a:lnTo>
                  <a:pt x="1588839" y="1083125"/>
                </a:lnTo>
                <a:lnTo>
                  <a:pt x="1504734" y="1084387"/>
                </a:lnTo>
                <a:lnTo>
                  <a:pt x="1421223" y="1083518"/>
                </a:lnTo>
                <a:lnTo>
                  <a:pt x="1338645" y="1080884"/>
                </a:lnTo>
                <a:lnTo>
                  <a:pt x="1257116" y="1076863"/>
                </a:lnTo>
                <a:lnTo>
                  <a:pt x="1176543" y="1071802"/>
                </a:lnTo>
                <a:lnTo>
                  <a:pt x="1096656" y="1065975"/>
                </a:lnTo>
                <a:lnTo>
                  <a:pt x="1017078" y="1059546"/>
                </a:lnTo>
                <a:lnTo>
                  <a:pt x="937415" y="1052544"/>
                </a:lnTo>
                <a:lnTo>
                  <a:pt x="857357" y="1044865"/>
                </a:lnTo>
                <a:lnTo>
                  <a:pt x="776771" y="1036274"/>
                </a:lnTo>
                <a:lnTo>
                  <a:pt x="695779" y="1026438"/>
                </a:lnTo>
                <a:lnTo>
                  <a:pt x="614804" y="1014965"/>
                </a:lnTo>
                <a:lnTo>
                  <a:pt x="534584" y="1001453"/>
                </a:lnTo>
                <a:lnTo>
                  <a:pt x="456134" y="985537"/>
                </a:lnTo>
                <a:lnTo>
                  <a:pt x="380680" y="966943"/>
                </a:lnTo>
                <a:lnTo>
                  <a:pt x="309556" y="945516"/>
                </a:lnTo>
                <a:lnTo>
                  <a:pt x="244084" y="921247"/>
                </a:lnTo>
                <a:lnTo>
                  <a:pt x="185451" y="894276"/>
                </a:lnTo>
                <a:lnTo>
                  <a:pt x="134594" y="864883"/>
                </a:lnTo>
                <a:lnTo>
                  <a:pt x="92114" y="833459"/>
                </a:lnTo>
                <a:lnTo>
                  <a:pt x="58225" y="800464"/>
                </a:lnTo>
                <a:lnTo>
                  <a:pt x="32742" y="766389"/>
                </a:lnTo>
                <a:lnTo>
                  <a:pt x="15124" y="731705"/>
                </a:lnTo>
                <a:lnTo>
                  <a:pt x="4545" y="696823"/>
                </a:lnTo>
                <a:lnTo>
                  <a:pt x="0" y="662069"/>
                </a:lnTo>
                <a:lnTo>
                  <a:pt x="429" y="627664"/>
                </a:lnTo>
                <a:lnTo>
                  <a:pt x="4836" y="593724"/>
                </a:lnTo>
                <a:lnTo>
                  <a:pt x="12399" y="560271"/>
                </a:lnTo>
                <a:lnTo>
                  <a:pt x="22552" y="527262"/>
                </a:lnTo>
                <a:lnTo>
                  <a:pt x="35027" y="494619"/>
                </a:lnTo>
                <a:lnTo>
                  <a:pt x="49861" y="462263"/>
                </a:lnTo>
                <a:lnTo>
                  <a:pt x="67356" y="430147"/>
                </a:lnTo>
                <a:lnTo>
                  <a:pt x="88013" y="398278"/>
                </a:lnTo>
                <a:lnTo>
                  <a:pt x="112439" y="366731"/>
                </a:lnTo>
                <a:lnTo>
                  <a:pt x="141248" y="335651"/>
                </a:lnTo>
                <a:lnTo>
                  <a:pt x="174965" y="305240"/>
                </a:lnTo>
                <a:lnTo>
                  <a:pt x="213948" y="275733"/>
                </a:lnTo>
                <a:lnTo>
                  <a:pt x="258339" y="247376"/>
                </a:lnTo>
                <a:lnTo>
                  <a:pt x="308047" y="220389"/>
                </a:lnTo>
                <a:lnTo>
                  <a:pt x="362765" y="194944"/>
                </a:lnTo>
                <a:lnTo>
                  <a:pt x="422016" y="171146"/>
                </a:lnTo>
                <a:lnTo>
                  <a:pt x="485225" y="149022"/>
                </a:lnTo>
                <a:lnTo>
                  <a:pt x="551791" y="128530"/>
                </a:lnTo>
                <a:lnTo>
                  <a:pt x="621166" y="109572"/>
                </a:lnTo>
                <a:lnTo>
                  <a:pt x="692913" y="92025"/>
                </a:lnTo>
                <a:lnTo>
                  <a:pt x="766740" y="75769"/>
                </a:lnTo>
                <a:lnTo>
                  <a:pt x="842509" y="60726"/>
                </a:lnTo>
                <a:lnTo>
                  <a:pt x="920209" y="46886"/>
                </a:lnTo>
                <a:lnTo>
                  <a:pt x="999904" y="34331"/>
                </a:lnTo>
                <a:lnTo>
                  <a:pt x="1081668" y="23245"/>
                </a:lnTo>
                <a:lnTo>
                  <a:pt x="1165504" y="13903"/>
                </a:lnTo>
                <a:lnTo>
                  <a:pt x="1251273" y="6655"/>
                </a:lnTo>
                <a:lnTo>
                  <a:pt x="1338645" y="1892"/>
                </a:lnTo>
                <a:lnTo>
                  <a:pt x="1427066" y="0"/>
                </a:lnTo>
                <a:lnTo>
                  <a:pt x="1515773" y="1319"/>
                </a:lnTo>
                <a:lnTo>
                  <a:pt x="1603827" y="6095"/>
                </a:lnTo>
                <a:lnTo>
                  <a:pt x="1690188" y="14452"/>
                </a:lnTo>
                <a:lnTo>
                  <a:pt x="1773808" y="26362"/>
                </a:lnTo>
                <a:lnTo>
                  <a:pt x="1853732" y="41643"/>
                </a:lnTo>
                <a:lnTo>
                  <a:pt x="1929195" y="59973"/>
                </a:lnTo>
                <a:lnTo>
                  <a:pt x="1999705" y="80910"/>
                </a:lnTo>
                <a:lnTo>
                  <a:pt x="2065086" y="103942"/>
                </a:lnTo>
                <a:lnTo>
                  <a:pt x="2125498" y="128530"/>
                </a:lnTo>
                <a:lnTo>
                  <a:pt x="2181401" y="154160"/>
                </a:lnTo>
                <a:lnTo>
                  <a:pt x="2233492" y="180392"/>
                </a:lnTo>
                <a:lnTo>
                  <a:pt x="2282600" y="206895"/>
                </a:lnTo>
                <a:lnTo>
                  <a:pt x="2329573" y="233471"/>
                </a:lnTo>
                <a:lnTo>
                  <a:pt x="2375156" y="260060"/>
                </a:lnTo>
                <a:lnTo>
                  <a:pt x="2419872" y="286731"/>
                </a:lnTo>
                <a:lnTo>
                  <a:pt x="2463947" y="313650"/>
                </a:lnTo>
                <a:lnTo>
                  <a:pt x="2507251" y="341052"/>
                </a:lnTo>
                <a:lnTo>
                  <a:pt x="2549297" y="369186"/>
                </a:lnTo>
                <a:lnTo>
                  <a:pt x="2589276" y="398278"/>
                </a:lnTo>
                <a:lnTo>
                  <a:pt x="2626135" y="428489"/>
                </a:lnTo>
                <a:lnTo>
                  <a:pt x="2658683" y="459886"/>
                </a:lnTo>
                <a:lnTo>
                  <a:pt x="2685711" y="492431"/>
                </a:lnTo>
                <a:lnTo>
                  <a:pt x="2706119" y="525973"/>
                </a:lnTo>
                <a:close/>
              </a:path>
            </a:pathLst>
          </a:custGeom>
          <a:solidFill>
            <a:srgbClr val="F2F2F2"/>
          </a:solidFill>
          <a:ln w="1651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7" name="Enzyme_label"/>
          <p:cNvSpPr txBox="1"/>
          <p:nvPr/>
        </p:nvSpPr>
        <p:spPr>
          <a:xfrm>
            <a:off x="4873752" y="1472184"/>
            <a:ext cx="2395728" cy="3657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404040"/>
                </a:solidFill>
                <a:latin typeface="Arial Narrow"/>
                <a:cs typeface="Arial Narrow"/>
              </a:rPr>
              <a:t>CYP3A4</a:t>
            </a:r>
          </a:p>
        </p:txBody>
      </p:sp>
      <p:sp>
        <p:nvSpPr>
          <p:cNvPr id="28" name="Enzyme_definition"/>
          <p:cNvSpPr txBox="1"/>
          <p:nvPr/>
        </p:nvSpPr>
        <p:spPr>
          <a:xfrm>
            <a:off x="4910328" y="1847088"/>
            <a:ext cx="2340864" cy="42062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Фермент системы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цитохрома P450</a:t>
            </a:r>
          </a:p>
        </p:txBody>
      </p:sp>
      <p:sp>
        <p:nvSpPr>
          <p:cNvPr id="29" name="Inhibition_label"/>
          <p:cNvSpPr txBox="1"/>
          <p:nvPr/>
        </p:nvSpPr>
        <p:spPr>
          <a:xfrm>
            <a:off x="594360" y="1435608"/>
            <a:ext cx="3054096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cxnSp>
        <p:nvCxnSpPr>
          <p:cNvPr id="30" name="Inhibition_link"/>
          <p:cNvCxnSpPr/>
          <p:nvPr/>
        </p:nvCxnSpPr>
        <p:spPr>
          <a:xfrm>
            <a:off x="2834640" y="1664208"/>
            <a:ext cx="1801368" cy="0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Inhibition_terminal"/>
          <p:cNvCxnSpPr/>
          <p:nvPr/>
        </p:nvCxnSpPr>
        <p:spPr>
          <a:xfrm>
            <a:off x="4636008" y="1508760"/>
            <a:ext cx="0" cy="310896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hibition_metabolism"/>
          <p:cNvSpPr txBox="1"/>
          <p:nvPr/>
        </p:nvSpPr>
        <p:spPr>
          <a:xfrm>
            <a:off x="594360" y="1929384"/>
            <a:ext cx="3611880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замедляется</a:t>
            </a:r>
          </a:p>
        </p:txBody>
      </p:sp>
      <p:sp>
        <p:nvSpPr>
          <p:cNvPr id="33" name="Concentration_increase"/>
          <p:cNvSpPr/>
          <p:nvPr/>
        </p:nvSpPr>
        <p:spPr>
          <a:xfrm>
            <a:off x="594360" y="2340864"/>
            <a:ext cx="210312" cy="329184"/>
          </a:xfrm>
          <a:prstGeom prst="upArrow">
            <a:avLst/>
          </a:prstGeom>
          <a:solidFill>
            <a:srgbClr val="B8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Inhibition_result"/>
          <p:cNvSpPr txBox="1"/>
          <p:nvPr/>
        </p:nvSpPr>
        <p:spPr>
          <a:xfrm>
            <a:off x="914400" y="2350008"/>
            <a:ext cx="2907792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Концентрация выше</a:t>
            </a:r>
          </a:p>
        </p:txBody>
      </p:sp>
      <p:sp>
        <p:nvSpPr>
          <p:cNvPr id="35" name="Inhibition_clinical_context"/>
          <p:cNvSpPr txBox="1"/>
          <p:nvPr/>
        </p:nvSpPr>
        <p:spPr>
          <a:xfrm>
            <a:off x="594360" y="2779776"/>
            <a:ext cx="321868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повышаться</a:t>
            </a:r>
          </a:p>
        </p:txBody>
      </p:sp>
      <p:sp>
        <p:nvSpPr>
          <p:cNvPr id="36" name="Induction_label"/>
          <p:cNvSpPr txBox="1"/>
          <p:nvPr/>
        </p:nvSpPr>
        <p:spPr>
          <a:xfrm>
            <a:off x="8503920" y="1435608"/>
            <a:ext cx="3154680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cxnSp>
        <p:nvCxnSpPr>
          <p:cNvPr id="37" name="Induction_link"/>
          <p:cNvCxnSpPr/>
          <p:nvPr/>
        </p:nvCxnSpPr>
        <p:spPr>
          <a:xfrm flipH="1">
            <a:off x="7498079" y="1664208"/>
            <a:ext cx="822961" cy="0"/>
          </a:xfrm>
          <a:prstGeom prst="line">
            <a:avLst/>
          </a:prstGeom>
          <a:ln w="27305">
            <a:solidFill>
              <a:srgbClr val="226C8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Induction_metabolism"/>
          <p:cNvSpPr txBox="1"/>
          <p:nvPr/>
        </p:nvSpPr>
        <p:spPr>
          <a:xfrm>
            <a:off x="8375904" y="1929384"/>
            <a:ext cx="3319272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ускоряется</a:t>
            </a:r>
          </a:p>
        </p:txBody>
      </p:sp>
      <p:sp>
        <p:nvSpPr>
          <p:cNvPr id="39" name="Concentration_decrease"/>
          <p:cNvSpPr/>
          <p:nvPr/>
        </p:nvSpPr>
        <p:spPr>
          <a:xfrm>
            <a:off x="8375904" y="2340864"/>
            <a:ext cx="210312" cy="329184"/>
          </a:xfrm>
          <a:prstGeom prst="downArrow">
            <a:avLst/>
          </a:prstGeom>
          <a:solidFill>
            <a:srgbClr val="226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Induction_result"/>
          <p:cNvSpPr txBox="1"/>
          <p:nvPr/>
        </p:nvSpPr>
        <p:spPr>
          <a:xfrm>
            <a:off x="8695944" y="2350008"/>
            <a:ext cx="2990088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Концентрация ниже</a:t>
            </a:r>
          </a:p>
        </p:txBody>
      </p:sp>
      <p:sp>
        <p:nvSpPr>
          <p:cNvPr id="41" name="Induction_clinical_context"/>
          <p:cNvSpPr txBox="1"/>
          <p:nvPr/>
        </p:nvSpPr>
        <p:spPr>
          <a:xfrm>
            <a:off x="8375904" y="2779776"/>
            <a:ext cx="326440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Лечебный эффект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ослабевать</a:t>
            </a:r>
          </a:p>
        </p:txBody>
      </p:sp>
      <p:sp>
        <p:nvSpPr>
          <p:cNvPr id="42" name="Substrate"/>
          <p:cNvSpPr txBox="1"/>
          <p:nvPr/>
        </p:nvSpPr>
        <p:spPr>
          <a:xfrm>
            <a:off x="3950208" y="2816352"/>
            <a:ext cx="1490472" cy="32918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43" name="Catalytic_link"/>
          <p:cNvCxnSpPr/>
          <p:nvPr/>
        </p:nvCxnSpPr>
        <p:spPr>
          <a:xfrm>
            <a:off x="6080760" y="2359152"/>
            <a:ext cx="0" cy="539496"/>
          </a:xfrm>
          <a:prstGeom prst="line">
            <a:avLst/>
          </a:prstGeom>
          <a:ln w="17780">
            <a:solidFill>
              <a:srgbClr val="7F7F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Metabolic_conversion"/>
          <p:cNvCxnSpPr/>
          <p:nvPr/>
        </p:nvCxnSpPr>
        <p:spPr>
          <a:xfrm>
            <a:off x="5504688" y="2953512"/>
            <a:ext cx="1106424" cy="0"/>
          </a:xfrm>
          <a:prstGeom prst="line">
            <a:avLst/>
          </a:prstGeom>
          <a:ln w="25400">
            <a:solidFill>
              <a:srgbClr val="7030A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nactive_metabolites"/>
          <p:cNvSpPr txBox="1"/>
          <p:nvPr/>
        </p:nvSpPr>
        <p:spPr>
          <a:xfrm>
            <a:off x="6766560" y="2660904"/>
            <a:ext cx="1536192" cy="5669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Неактивные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sp>
        <p:nvSpPr>
          <p:cNvPr id="46" name="Metabolism_location"/>
          <p:cNvSpPr txBox="1"/>
          <p:nvPr/>
        </p:nvSpPr>
        <p:spPr>
          <a:xfrm>
            <a:off x="4005072" y="332841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Метаболизируется в печени и стенке кишечника</a:t>
            </a:r>
          </a:p>
        </p:txBody>
      </p:sp>
      <p:sp>
        <p:nvSpPr>
          <p:cNvPr id="47" name="Strong_heading"/>
          <p:cNvSpPr txBox="1"/>
          <p:nvPr/>
        </p:nvSpPr>
        <p:spPr>
          <a:xfrm>
            <a:off x="594360" y="3794760"/>
            <a:ext cx="340156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Сильные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8" name="Moderate_weak_heading"/>
          <p:cNvSpPr txBox="1"/>
          <p:nvPr/>
        </p:nvSpPr>
        <p:spPr>
          <a:xfrm>
            <a:off x="4407408" y="3794760"/>
            <a:ext cx="335584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860B"/>
                </a:solidFill>
                <a:latin typeface="Arial Narrow"/>
                <a:cs typeface="Arial Narrow"/>
              </a:rPr>
              <a:t>Умеренные и слабые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860B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9" name="Inducer_heading"/>
          <p:cNvSpPr txBox="1"/>
          <p:nvPr/>
        </p:nvSpPr>
        <p:spPr>
          <a:xfrm>
            <a:off x="8229600" y="3794760"/>
            <a:ext cx="3429000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Сильные и умеренные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sp>
        <p:nvSpPr>
          <p:cNvPr id="50" name="Strong_examples"/>
          <p:cNvSpPr txBox="1"/>
          <p:nvPr/>
        </p:nvSpPr>
        <p:spPr>
          <a:xfrm>
            <a:off x="594360" y="4544568"/>
            <a:ext cx="3401568" cy="60350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Кларитромицин, кетоконазол,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итраконазол, ритонавир.</a:t>
            </a:r>
          </a:p>
        </p:txBody>
      </p:sp>
      <p:sp>
        <p:nvSpPr>
          <p:cNvPr id="51" name="Moderate_weak_examples"/>
          <p:cNvSpPr txBox="1"/>
          <p:nvPr/>
        </p:nvSpPr>
        <p:spPr>
          <a:xfrm>
            <a:off x="4407408" y="4544568"/>
            <a:ext cx="3355848" cy="65836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Умеренные: эритромицин, верапамил.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Слабый: флувоксамин.</a:t>
            </a:r>
          </a:p>
        </p:txBody>
      </p:sp>
      <p:sp>
        <p:nvSpPr>
          <p:cNvPr id="52" name="Inducer_examples"/>
          <p:cNvSpPr txBox="1"/>
          <p:nvPr/>
        </p:nvSpPr>
        <p:spPr>
          <a:xfrm>
            <a:off x="8229600" y="4544568"/>
            <a:ext cx="3429000" cy="72237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Сильные: рифампицин, карбамазепин,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зверобой.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Умеренный: эфавиренз.</a:t>
            </a:r>
          </a:p>
        </p:txBody>
      </p:sp>
      <p:sp>
        <p:nvSpPr>
          <p:cNvPr id="53" name="Strong_action"/>
          <p:cNvSpPr txBox="1"/>
          <p:nvPr/>
        </p:nvSpPr>
        <p:spPr>
          <a:xfrm>
            <a:off x="594360" y="5270500"/>
            <a:ext cx="3401568" cy="5760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противопоказано.</a:t>
            </a:r>
          </a:p>
        </p:txBody>
      </p:sp>
      <p:sp>
        <p:nvSpPr>
          <p:cNvPr id="54" name="Moderate_weak_action"/>
          <p:cNvSpPr txBox="1"/>
          <p:nvPr/>
        </p:nvSpPr>
        <p:spPr>
          <a:xfrm>
            <a:off x="4407408" y="5270500"/>
            <a:ext cx="3355848" cy="31089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860B"/>
                </a:solidFill>
                <a:latin typeface="Arial Narrow"/>
                <a:cs typeface="Arial Narrow"/>
              </a:rPr>
              <a:t>Контроль калия</a:t>
            </a:r>
          </a:p>
        </p:txBody>
      </p:sp>
      <p:sp>
        <p:nvSpPr>
          <p:cNvPr id="55" name="Moderate_weak_monitoring"/>
          <p:cNvSpPr txBox="1"/>
          <p:nvPr/>
        </p:nvSpPr>
        <p:spPr>
          <a:xfrm>
            <a:off x="4407408" y="5600700"/>
            <a:ext cx="3355848" cy="9144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ru-RU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при начале приёма или изменении дозы любого из препаратов, при необходимости корректирует дозу финеренона.</a:t>
            </a:r>
          </a:p>
        </p:txBody>
      </p:sp>
      <p:sp>
        <p:nvSpPr>
          <p:cNvPr id="56" name="Inducer_action"/>
          <p:cNvSpPr txBox="1"/>
          <p:nvPr/>
        </p:nvSpPr>
        <p:spPr>
          <a:xfrm>
            <a:off x="8229600" y="5270500"/>
            <a:ext cx="3429000" cy="62179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не рекомендуется.</a:t>
            </a:r>
          </a:p>
        </p:txBody>
      </p:sp>
      <p:sp>
        <p:nvSpPr>
          <p:cNvPr id="57" name="Grapefruit"/>
          <p:cNvSpPr txBox="1"/>
          <p:nvPr/>
        </p:nvSpPr>
        <p:spPr>
          <a:xfrm>
            <a:off x="594360" y="6000750"/>
            <a:ext cx="3524250" cy="466725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 исключают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на время лечения: они подавляют CYP3A4.</a:t>
            </a:r>
          </a:p>
        </p:txBody>
      </p:sp>
      <p:sp>
        <p:nvSpPr>
          <p:cNvPr id="5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Heinig R, et al. Eur J Drug Metab Pharmacokinet. 2018;43:715–727. Wendl T, et al. CPT Pharmacometrics Syst Pharmacol. 2022;11:199–211.</a:t>
            </a:r>
          </a:p>
        </p:txBody>
      </p:sp>
      <p:pic>
        <p:nvPicPr>
          <p:cNvPr id="59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Ячейка_калий_0"/>
          <p:cNvSpPr/>
          <p:nvPr/>
        </p:nvSpPr>
        <p:spPr>
          <a:xfrm>
            <a:off x="457200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Текст_калий_0"/>
          <p:cNvSpPr/>
          <p:nvPr/>
        </p:nvSpPr>
        <p:spPr>
          <a:xfrm>
            <a:off x="2519848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Ячейка_рскф_0"/>
          <p:cNvSpPr/>
          <p:nvPr/>
        </p:nvSpPr>
        <p:spPr>
          <a:xfrm>
            <a:off x="6350482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Текст_рскф_0"/>
          <p:cNvSpPr/>
          <p:nvPr/>
        </p:nvSpPr>
        <p:spPr>
          <a:xfrm>
            <a:off x="8413131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6" name="Ячейка_калий_1"/>
          <p:cNvSpPr/>
          <p:nvPr/>
        </p:nvSpPr>
        <p:spPr>
          <a:xfrm>
            <a:off x="457200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Текст_калий_1"/>
          <p:cNvSpPr/>
          <p:nvPr/>
        </p:nvSpPr>
        <p:spPr>
          <a:xfrm>
            <a:off x="2519848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Ячейка_рскф_1"/>
          <p:cNvSpPr/>
          <p:nvPr/>
        </p:nvSpPr>
        <p:spPr>
          <a:xfrm>
            <a:off x="6350482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Текст_рскф_1"/>
          <p:cNvSpPr/>
          <p:nvPr/>
        </p:nvSpPr>
        <p:spPr>
          <a:xfrm>
            <a:off x="8413131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Ячейка_калий_2"/>
          <p:cNvSpPr/>
          <p:nvPr/>
        </p:nvSpPr>
        <p:spPr>
          <a:xfrm>
            <a:off x="457200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Текст_калий_2"/>
          <p:cNvSpPr/>
          <p:nvPr/>
        </p:nvSpPr>
        <p:spPr>
          <a:xfrm>
            <a:off x="2519848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2" name="Ячейка_рскф_2"/>
          <p:cNvSpPr/>
          <p:nvPr/>
        </p:nvSpPr>
        <p:spPr>
          <a:xfrm>
            <a:off x="6350482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3" name="Текст_рскф_2"/>
          <p:cNvSpPr/>
          <p:nvPr/>
        </p:nvSpPr>
        <p:spPr>
          <a:xfrm>
            <a:off x="8413131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1117600"/>
            <a:ext cx="10989632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 болезнью почек, связанной с сахарным диабетом 2 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457200" y="1600200"/>
            <a:ext cx="512313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Калий сыворотки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457200" y="1981200"/>
            <a:ext cx="51231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350482" y="1600200"/>
            <a:ext cx="510304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350482" y="1981200"/>
            <a:ext cx="5504861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(рСКФ), мл/мин/1,73 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617925" y="2641600"/>
            <a:ext cx="190861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65378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 при рСКФ ≥25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617925" y="3581400"/>
            <a:ext cx="190861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65378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Начало лечения можно рассмотреть при дополнительном контроле калия в первые 4 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617925" y="4673600"/>
            <a:ext cx="19086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65378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11208" y="2641600"/>
            <a:ext cx="20593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57385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20 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11208" y="3581400"/>
            <a:ext cx="2059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≥25 и 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57385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10 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11208" y="4673600"/>
            <a:ext cx="2059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57385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457200" y="5562600"/>
            <a:ext cx="1098963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Целевая доза при этом показании: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20 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457200" y="5918200"/>
            <a:ext cx="1098963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ru-RU">
                <a:solidFill>
                  <a:srgbClr val="000000"/>
                </a:solidFill>
                <a:latin typeface="Arial Narrow"/>
                <a:cs typeface="Arial Narrow"/>
              </a:rPr>
              <a:t>Противопоказания: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гиперчувствительность к компонентам препарата, болезнь Аддисона,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3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6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 начала и во время лечения финереноном</a:t>
            </a:r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Этап_текст_180"/>
          <p:cNvSpPr txBox="1"/>
          <p:nvPr/>
        </p:nvSpPr>
        <p:spPr>
          <a:xfrm>
            <a:off x="68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Проверяют 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4 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 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3" name="Этап_текст_480"/>
          <p:cNvSpPr txBox="1"/>
          <p:nvPr/>
        </p:nvSpPr>
        <p:spPr>
          <a:xfrm>
            <a:off x="449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повторяют после начала или возобновления лечения и после повышения дозы.</a:t>
            </a:r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Каждые 4 месяца¹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Далее регулярно</a:t>
            </a:r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Этап_текст_780"/>
          <p:cNvSpPr txBox="1"/>
          <p:nvPr/>
        </p:nvSpPr>
        <p:spPr>
          <a:xfrm>
            <a:off x="830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Далее периодически: KDIGO 2024 предлагает каждые 4 месяца¹, при повышенном риске чаще.</a:t>
            </a:r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Внеплановый_контроль"/>
          <p:cNvSpPr txBox="1"/>
          <p:nvPr/>
        </p:nvSpPr>
        <p:spPr>
          <a:xfrm>
            <a:off x="736600" y="4267200"/>
            <a:ext cx="10718800" cy="1066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 ≤5,0 ммоль/л калий дополнительно определяют в первые 4 недели.</a:t>
            </a:r>
          </a:p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62600"/>
            <a:ext cx="11176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ингибитором НГЛТ2: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калий контролируют в том же режиме.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Интервал 4 месяца: KDIGO 2024. В европейской инструкции: далее периодически, с учётом уровня калия и особенностей пациента. Креатинин и рСКФ определяют вместе с калием.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4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Ячейка_Порог_3"/>
          <p:cNvSpPr/>
          <p:nvPr/>
        </p:nvSpPr>
        <p:spPr>
          <a:xfrm>
            <a:off x="807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Карточка_Порог_3"/>
          <p:cNvSpPr/>
          <p:nvPr/>
        </p:nvSpPr>
        <p:spPr>
          <a:xfrm>
            <a:off x="807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Ячейка_Порог_2"/>
          <p:cNvSpPr/>
          <p:nvPr/>
        </p:nvSpPr>
        <p:spPr>
          <a:xfrm>
            <a:off x="426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2" name="Карточка_Порог_2"/>
          <p:cNvSpPr/>
          <p:nvPr/>
        </p:nvSpPr>
        <p:spPr>
          <a:xfrm>
            <a:off x="426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9" name="Ячейка_Порог_1"/>
          <p:cNvSpPr/>
          <p:nvPr/>
        </p:nvSpPr>
        <p:spPr>
          <a:xfrm>
            <a:off x="45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рог_1"/>
          <p:cNvSpPr/>
          <p:nvPr/>
        </p:nvSpPr>
        <p:spPr>
          <a:xfrm>
            <a:off x="45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457200" y="1066800"/>
            <a:ext cx="1127760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сыворотки,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60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41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2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60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Дозу 10 мг можно повысить до 20 мг один раз в сутки. Дозу 20 мг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41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10 или 20 мг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2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457200" y="3200400"/>
            <a:ext cx="1127760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Исключение: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дозу 10 мг не повышают, если рСКФ снизилась более чем на 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457200" y="3810000"/>
            <a:ext cx="11277600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Возобновление: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если после временной отмены калий в повторном анализе ≤5,0 ммоль/л, врач может возобновить лечение в дозе 10 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457200" y="4445000"/>
            <a:ext cx="11277600" cy="5238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калий и функцию почек проверяют через 4 недели после возобновления лечения или повышения дозы, при повышенном риске раньше.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457200" y="51816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B5323C"/>
                </a:solidFill>
                <a:latin typeface="Arial Narrow"/>
                <a:cs typeface="Arial Narrow"/>
              </a:rPr>
              <a:t> 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8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Безопасность и особые группы пациентов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812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Взрослые с ХБП, связанной с сахарным диабетом 2 типа.</a:t>
            </a:r>
          </a:p>
        </p:txBody>
      </p:sp>
      <p:sp>
        <p:nvSpPr>
          <p:cNvPr id="4" name="Безопасность_1"/>
          <p:cNvSpPr/>
          <p:nvPr/>
        </p:nvSpPr>
        <p:spPr>
          <a:xfrm>
            <a:off x="4572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Нежелательные реакции</a:t>
            </a:r>
          </a:p>
        </p:txBody>
      </p:sp>
      <p:sp>
        <p:nvSpPr>
          <p:cNvPr id="5" name="Безопасность_фон_1"/>
          <p:cNvSpPr/>
          <p:nvPr/>
        </p:nvSpPr>
        <p:spPr>
          <a:xfrm>
            <a:off x="4572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Безопасность_текст_1"/>
          <p:cNvSpPr txBox="1"/>
          <p:nvPr/>
        </p:nvSpPr>
        <p:spPr>
          <a:xfrm>
            <a:off x="6096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Очень 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гипонатриемия, гиперурикемия, гипотензия, зуд, снижение рСКФ.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снижение гемоглобина.</a:t>
            </a:r>
          </a:p>
        </p:txBody>
      </p:sp>
      <p:sp>
        <p:nvSpPr>
          <p:cNvPr id="7" name="Безопасность_2"/>
          <p:cNvSpPr/>
          <p:nvPr/>
        </p:nvSpPr>
        <p:spPr>
          <a:xfrm>
            <a:off x="39370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FIDELITY: финеренон и плацебо</a:t>
            </a:r>
          </a:p>
        </p:txBody>
      </p:sp>
      <p:sp>
        <p:nvSpPr>
          <p:cNvPr id="8" name="Безопасность_фон_2"/>
          <p:cNvSpPr/>
          <p:nvPr/>
        </p:nvSpPr>
        <p:spPr>
          <a:xfrm>
            <a:off x="39370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9" name="Безопасность_текст_2"/>
          <p:cNvSpPr txBox="1"/>
          <p:nvPr/>
        </p:nvSpPr>
        <p:spPr>
          <a:xfrm>
            <a:off x="40894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(по сообщениям исследователей).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неё: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1,7%, плацебо 0,6%.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Острое повреждение почек: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3,4%, плацебо 3,6%.</a:t>
            </a:r>
          </a:p>
        </p:txBody>
      </p:sp>
      <p:sp>
        <p:nvSpPr>
          <p:cNvPr id="10" name="Безопасность_3"/>
          <p:cNvSpPr/>
          <p:nvPr/>
        </p:nvSpPr>
        <p:spPr>
          <a:xfrm>
            <a:off x="7416800" y="1193800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 и печени</a:t>
            </a:r>
          </a:p>
        </p:txBody>
      </p:sp>
      <p:sp>
        <p:nvSpPr>
          <p:cNvPr id="11" name="Безопасность_фон_3"/>
          <p:cNvSpPr/>
          <p:nvPr/>
        </p:nvSpPr>
        <p:spPr>
          <a:xfrm>
            <a:off x="7416800" y="1625600"/>
            <a:ext cx="43180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Безопасность_текст_3"/>
          <p:cNvSpPr txBox="1"/>
          <p:nvPr/>
        </p:nvSpPr>
        <p:spPr>
          <a:xfrm>
            <a:off x="7569200" y="1701800"/>
            <a:ext cx="40132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 не рекомендуется при рСКФ &lt;25 мл/мин/1,73 м². При рСКФ &lt;15 лечение прекращают.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печёночной недостаточности класса C по Чайлд–Пью лечение не начинают. При классе B начальную дозу не меняют, рассматривают дополнительный контроль калия.</a:t>
            </a:r>
          </a:p>
        </p:txBody>
      </p:sp>
      <p:sp>
        <p:nvSpPr>
          <p:cNvPr id="13" name="Безопасность_4"/>
          <p:cNvSpPr/>
          <p:nvPr/>
        </p:nvSpPr>
        <p:spPr>
          <a:xfrm>
            <a:off x="4572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Беременность и лактация</a:t>
            </a:r>
          </a:p>
        </p:txBody>
      </p:sp>
      <p:sp>
        <p:nvSpPr>
          <p:cNvPr id="14" name="Безопасность_фон_4"/>
          <p:cNvSpPr/>
          <p:nvPr/>
        </p:nvSpPr>
        <p:spPr>
          <a:xfrm>
            <a:off x="4572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5" name="Безопасность_текст_4"/>
          <p:cNvSpPr txBox="1"/>
          <p:nvPr/>
        </p:nvSpPr>
        <p:spPr>
          <a:xfrm>
            <a:off x="6096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беременности применяют только после тщательной оценки пользы и риска.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Женщинам детородного возраста нужна эффективная контрацепция.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Грудное вскармливание прекращают или отказываются от лечения.</a:t>
            </a:r>
          </a:p>
        </p:txBody>
      </p:sp>
      <p:sp>
        <p:nvSpPr>
          <p:cNvPr id="16" name="Безопасность_5"/>
          <p:cNvSpPr/>
          <p:nvPr/>
        </p:nvSpPr>
        <p:spPr>
          <a:xfrm>
            <a:off x="39370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Дети и пожилые</a:t>
            </a:r>
          </a:p>
        </p:txBody>
      </p:sp>
      <p:sp>
        <p:nvSpPr>
          <p:cNvPr id="17" name="Безопасность_фон_5"/>
          <p:cNvSpPr/>
          <p:nvPr/>
        </p:nvSpPr>
        <p:spPr>
          <a:xfrm>
            <a:off x="39370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Безопасность_текст_5"/>
          <p:cNvSpPr txBox="1"/>
          <p:nvPr/>
        </p:nvSpPr>
        <p:spPr>
          <a:xfrm>
            <a:off x="40894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 пациентов младше 18 лет эффективность и безопасность не установлены.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Пожилым коррекция дозы не требуется.</a:t>
            </a:r>
          </a:p>
        </p:txBody>
      </p:sp>
      <p:sp>
        <p:nvSpPr>
          <p:cNvPr id="19" name="Безопасность_6"/>
          <p:cNvSpPr/>
          <p:nvPr/>
        </p:nvSpPr>
        <p:spPr>
          <a:xfrm>
            <a:off x="7416800" y="3662627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Сообщение о нежелательном явлении</a:t>
            </a:r>
          </a:p>
        </p:txBody>
      </p:sp>
      <p:sp>
        <p:nvSpPr>
          <p:cNvPr id="20" name="Безопасность_фон_6"/>
          <p:cNvSpPr/>
          <p:nvPr/>
        </p:nvSpPr>
        <p:spPr>
          <a:xfrm>
            <a:off x="7416800" y="4094427"/>
            <a:ext cx="43180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Безопасность_текст_6"/>
          <p:cNvSpPr txBox="1"/>
          <p:nvPr/>
        </p:nvSpPr>
        <p:spPr>
          <a:xfrm>
            <a:off x="7569200" y="4170627"/>
            <a:ext cx="40132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представитель: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если узнал о нежелательном явлении на фоне препарата из любого источника, сообщает в отдел фармаконадзора в течение 24 часов по процедуре компании, даже если связь с препаратом не очевидна.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Также сообщает: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 беременности или кормлении грудью, передозировке, ошибке применения, применении вне показаний, отсутствии эффекта.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Связь не оценивает, советов по лечению не даёт.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Порядок сообщения о нежелательных явлениях определяет процедура компании.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Kerendia (finerenone). US Prescribing Information. Agarwal R, et al. Eur Heart J. 2022;43:474–484. Agarwal R, et al. J Am Soc Nephrol. 2022;33:225–237.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Два условных случая: какие данные врач проверяет перед началом лечения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</p:txBody>
      </p:sp>
      <p:pic>
        <p:nvPicPr>
          <p:cNvPr id="30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1" name="Чек_шапка_0"/>
          <p:cNvSpPr/>
          <p:nvPr/>
        </p:nvSpPr>
        <p:spPr>
          <a:xfrm>
            <a:off x="457200" y="914400"/>
            <a:ext cx="3810000" cy="355600"/>
          </a:xfrm>
          <a:prstGeom prst="roundRect">
            <a:avLst>
              <a:gd name="adj" fmla="val 25000"/>
            </a:avLst>
          </a:prstGeom>
          <a:solidFill>
            <a:srgbClr val="40404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Критерий</a:t>
            </a:r>
          </a:p>
        </p:txBody>
      </p:sp>
      <p:sp>
        <p:nvSpPr>
          <p:cNvPr id="32" name="Чек_шапка_1"/>
          <p:cNvSpPr/>
          <p:nvPr/>
        </p:nvSpPr>
        <p:spPr>
          <a:xfrm>
            <a:off x="42672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 года</a:t>
            </a:r>
          </a:p>
        </p:txBody>
      </p:sp>
      <p:sp>
        <p:nvSpPr>
          <p:cNvPr id="33" name="Чек_шапка_2"/>
          <p:cNvSpPr/>
          <p:nvPr/>
        </p:nvSpPr>
        <p:spPr>
          <a:xfrm>
            <a:off x="80010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 лет</a:t>
            </a:r>
          </a:p>
        </p:txBody>
      </p:sp>
      <p:sp>
        <p:nvSpPr>
          <p:cNvPr id="34" name="Чек_критерий_фон_0"/>
          <p:cNvSpPr/>
          <p:nvPr/>
        </p:nvSpPr>
        <p:spPr>
          <a:xfrm>
            <a:off x="457200" y="12954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5" name="Чек_критерий_0"/>
          <p:cNvSpPr txBox="1"/>
          <p:nvPr/>
        </p:nvSpPr>
        <p:spPr>
          <a:xfrm>
            <a:off x="5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Диагноз: сахарный диабет 2 типа</a:t>
            </a:r>
          </a:p>
        </p:txBody>
      </p:sp>
      <p:sp>
        <p:nvSpPr>
          <p:cNvPr id="36" name="Чек_ячейка_фон_0_0"/>
          <p:cNvSpPr/>
          <p:nvPr/>
        </p:nvSpPr>
        <p:spPr>
          <a:xfrm>
            <a:off x="42926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Чек_ячейка_0_0"/>
          <p:cNvSpPr txBox="1"/>
          <p:nvPr/>
        </p:nvSpPr>
        <p:spPr>
          <a:xfrm>
            <a:off x="43942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38" name="Чек_ячейка_фон_0_1"/>
          <p:cNvSpPr/>
          <p:nvPr/>
        </p:nvSpPr>
        <p:spPr>
          <a:xfrm>
            <a:off x="80264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9" name="Чек_ячейка_0_1"/>
          <p:cNvSpPr txBox="1"/>
          <p:nvPr/>
        </p:nvSpPr>
        <p:spPr>
          <a:xfrm>
            <a:off x="81280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40" name="Чек_критерий_фон_1"/>
          <p:cNvSpPr/>
          <p:nvPr/>
        </p:nvSpPr>
        <p:spPr>
          <a:xfrm>
            <a:off x="457200" y="17018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1" name="Чек_критерий_1"/>
          <p:cNvSpPr txBox="1"/>
          <p:nvPr/>
        </p:nvSpPr>
        <p:spPr>
          <a:xfrm>
            <a:off x="558800" y="17018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АКО ≥30 мг/г не менее 3 месяцев</a:t>
            </a:r>
          </a:p>
        </p:txBody>
      </p:sp>
      <p:sp>
        <p:nvSpPr>
          <p:cNvPr id="42" name="Чек_ячейка_фон_1_0"/>
          <p:cNvSpPr/>
          <p:nvPr/>
        </p:nvSpPr>
        <p:spPr>
          <a:xfrm>
            <a:off x="4292600" y="17018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Чек_ячейка_1_0"/>
          <p:cNvSpPr txBox="1"/>
          <p:nvPr/>
        </p:nvSpPr>
        <p:spPr>
          <a:xfrm>
            <a:off x="43942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(320 и 360 мг/г, интервал 4 месяца)</a:t>
            </a:r>
          </a:p>
        </p:txBody>
      </p:sp>
      <p:sp>
        <p:nvSpPr>
          <p:cNvPr id="44" name="Чек_ячейка_фон_1_1"/>
          <p:cNvSpPr/>
          <p:nvPr/>
        </p:nvSpPr>
        <p:spPr>
          <a:xfrm>
            <a:off x="8026400" y="17018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5" name="Чек_ячейка_1_1"/>
          <p:cNvSpPr txBox="1"/>
          <p:nvPr/>
        </p:nvSpPr>
        <p:spPr>
          <a:xfrm>
            <a:off x="81280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 подтверждено (110 мг/г однократно, при инфекции мочевых путей)</a:t>
            </a:r>
          </a:p>
        </p:txBody>
      </p:sp>
      <p:sp>
        <p:nvSpPr>
          <p:cNvPr id="46" name="Чек_критерий_фон_2"/>
          <p:cNvSpPr/>
          <p:nvPr/>
        </p:nvSpPr>
        <p:spPr>
          <a:xfrm>
            <a:off x="457200" y="22098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7" name="Чек_критерий_2"/>
          <p:cNvSpPr txBox="1"/>
          <p:nvPr/>
        </p:nvSpPr>
        <p:spPr>
          <a:xfrm>
            <a:off x="558800" y="22098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</a:t>
            </a:r>
          </a:p>
        </p:txBody>
      </p:sp>
      <p:sp>
        <p:nvSpPr>
          <p:cNvPr id="48" name="Чек_ячейка_фон_2_0"/>
          <p:cNvSpPr/>
          <p:nvPr/>
        </p:nvSpPr>
        <p:spPr>
          <a:xfrm>
            <a:off x="42926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Чек_ячейка_2_0"/>
          <p:cNvSpPr txBox="1"/>
          <p:nvPr/>
        </p:nvSpPr>
        <p:spPr>
          <a:xfrm>
            <a:off x="43942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(48, стабильна)</a:t>
            </a:r>
          </a:p>
        </p:txBody>
      </p:sp>
      <p:sp>
        <p:nvSpPr>
          <p:cNvPr id="50" name="Чек_ячейка_фон_2_1"/>
          <p:cNvSpPr/>
          <p:nvPr/>
        </p:nvSpPr>
        <p:spPr>
          <a:xfrm>
            <a:off x="80264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Чек_ячейка_2_1"/>
          <p:cNvSpPr txBox="1"/>
          <p:nvPr/>
        </p:nvSpPr>
        <p:spPr>
          <a:xfrm>
            <a:off x="81280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(78)</a:t>
            </a:r>
          </a:p>
        </p:txBody>
      </p:sp>
      <p:sp>
        <p:nvSpPr>
          <p:cNvPr id="52" name="Чек_критерий_фон_3"/>
          <p:cNvSpPr/>
          <p:nvPr/>
        </p:nvSpPr>
        <p:spPr>
          <a:xfrm>
            <a:off x="457200" y="26162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3" name="Чек_критерий_3"/>
          <p:cNvSpPr txBox="1"/>
          <p:nvPr/>
        </p:nvSpPr>
        <p:spPr>
          <a:xfrm>
            <a:off x="558800" y="26162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</a:t>
            </a:r>
          </a:p>
        </p:txBody>
      </p:sp>
      <p:sp>
        <p:nvSpPr>
          <p:cNvPr id="54" name="Чек_ячейка_фон_3_0"/>
          <p:cNvSpPr/>
          <p:nvPr/>
        </p:nvSpPr>
        <p:spPr>
          <a:xfrm>
            <a:off x="4292600" y="26162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Чек_ячейка_3_0"/>
          <p:cNvSpPr txBox="1"/>
          <p:nvPr/>
        </p:nvSpPr>
        <p:spPr>
          <a:xfrm>
            <a:off x="43942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(4,6)</a:t>
            </a:r>
          </a:p>
        </p:txBody>
      </p:sp>
      <p:sp>
        <p:nvSpPr>
          <p:cNvPr id="56" name="Чек_ячейка_фон_3_1"/>
          <p:cNvSpPr/>
          <p:nvPr/>
        </p:nvSpPr>
        <p:spPr>
          <a:xfrm>
            <a:off x="8026400" y="26162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7" name="Чек_ячейка_3_1"/>
          <p:cNvSpPr txBox="1"/>
          <p:nvPr/>
        </p:nvSpPr>
        <p:spPr>
          <a:xfrm>
            <a:off x="81280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(калий не определён)</a:t>
            </a:r>
          </a:p>
        </p:txBody>
      </p:sp>
      <p:sp>
        <p:nvSpPr>
          <p:cNvPr id="58" name="Чек_критерий_фон_4"/>
          <p:cNvSpPr/>
          <p:nvPr/>
        </p:nvSpPr>
        <p:spPr>
          <a:xfrm>
            <a:off x="457200" y="30226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9" name="Чек_критерий_4"/>
          <p:cNvSpPr txBox="1"/>
          <p:nvPr/>
        </p:nvSpPr>
        <p:spPr>
          <a:xfrm>
            <a:off x="558800" y="30226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</a:t>
            </a:r>
          </a:p>
        </p:txBody>
      </p:sp>
      <p:sp>
        <p:nvSpPr>
          <p:cNvPr id="60" name="Чек_ячейка_фон_4_0"/>
          <p:cNvSpPr/>
          <p:nvPr/>
        </p:nvSpPr>
        <p:spPr>
          <a:xfrm>
            <a:off x="4292600" y="30226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Чек_ячейка_4_0"/>
          <p:cNvSpPr txBox="1"/>
          <p:nvPr/>
        </p:nvSpPr>
        <p:spPr>
          <a:xfrm>
            <a:off x="43942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 100 мг/сут)</a:t>
            </a:r>
          </a:p>
        </p:txBody>
      </p:sp>
      <p:sp>
        <p:nvSpPr>
          <p:cNvPr id="62" name="Чек_ячейка_фон_4_1"/>
          <p:cNvSpPr/>
          <p:nvPr/>
        </p:nvSpPr>
        <p:spPr>
          <a:xfrm>
            <a:off x="8026400" y="30226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3" name="Чек_ячейка_4_1"/>
          <p:cNvSpPr txBox="1"/>
          <p:nvPr/>
        </p:nvSpPr>
        <p:spPr>
          <a:xfrm>
            <a:off x="81280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</a:t>
            </a:r>
          </a:p>
        </p:txBody>
      </p:sp>
      <p:sp>
        <p:nvSpPr>
          <p:cNvPr id="64" name="Чек_критерий_фон_5"/>
          <p:cNvSpPr/>
          <p:nvPr/>
        </p:nvSpPr>
        <p:spPr>
          <a:xfrm>
            <a:off x="457200" y="35306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5" name="Чек_критерий_5"/>
          <p:cNvSpPr txBox="1"/>
          <p:nvPr/>
        </p:nvSpPr>
        <p:spPr>
          <a:xfrm>
            <a:off x="558800" y="35306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</a:t>
            </a:r>
          </a:p>
        </p:txBody>
      </p:sp>
      <p:sp>
        <p:nvSpPr>
          <p:cNvPr id="66" name="Чек_ячейка_фон_5_0"/>
          <p:cNvSpPr/>
          <p:nvPr/>
        </p:nvSpPr>
        <p:spPr>
          <a:xfrm>
            <a:off x="4292600" y="35306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7" name="Чек_ячейка_5_0"/>
          <p:cNvSpPr txBox="1"/>
          <p:nvPr/>
        </p:nvSpPr>
        <p:spPr>
          <a:xfrm>
            <a:off x="43942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(лозартан, эмпаглифлозин 10 мг/сут)</a:t>
            </a:r>
          </a:p>
        </p:txBody>
      </p:sp>
      <p:sp>
        <p:nvSpPr>
          <p:cNvPr id="68" name="Чек_ячейка_фон_5_1"/>
          <p:cNvSpPr/>
          <p:nvPr/>
        </p:nvSpPr>
        <p:spPr>
          <a:xfrm>
            <a:off x="8026400" y="35306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9" name="Чек_ячейка_5_1"/>
          <p:cNvSpPr txBox="1"/>
          <p:nvPr/>
        </p:nvSpPr>
        <p:spPr>
          <a:xfrm>
            <a:off x="81280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(не уточнён)</a:t>
            </a:r>
          </a:p>
        </p:txBody>
      </p:sp>
      <p:sp>
        <p:nvSpPr>
          <p:cNvPr id="70" name="Чек_вывод_1"/>
          <p:cNvSpPr/>
          <p:nvPr/>
        </p:nvSpPr>
        <p:spPr>
          <a:xfrm>
            <a:off x="42926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Врач может рассмотреть начало лечения</a:t>
            </a:r>
          </a:p>
        </p:txBody>
      </p:sp>
      <p:sp>
        <p:nvSpPr>
          <p:cNvPr id="71" name="Чек_действие_фон_1"/>
          <p:cNvSpPr/>
          <p:nvPr/>
        </p:nvSpPr>
        <p:spPr>
          <a:xfrm>
            <a:off x="42926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2" name="Чек_действие_1"/>
          <p:cNvSpPr txBox="1"/>
          <p:nvPr/>
        </p:nvSpPr>
        <p:spPr>
          <a:xfrm>
            <a:off x="44196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проверяет противопоказания и взаимодействия, может начать лечение в дозе 10 мг один раз в сутки (рСКФ 48).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через 4 недели.</a:t>
            </a:r>
          </a:p>
        </p:txBody>
      </p:sp>
      <p:sp>
        <p:nvSpPr>
          <p:cNvPr id="73" name="Чек_вывод_2"/>
          <p:cNvSpPr/>
          <p:nvPr/>
        </p:nvSpPr>
        <p:spPr>
          <a:xfrm>
            <a:off x="80264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Данных для решения пока недостаточно</a:t>
            </a:r>
          </a:p>
        </p:txBody>
      </p:sp>
      <p:sp>
        <p:nvSpPr>
          <p:cNvPr id="74" name="Чек_действие_фон_2"/>
          <p:cNvSpPr/>
          <p:nvPr/>
        </p:nvSpPr>
        <p:spPr>
          <a:xfrm>
            <a:off x="80264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5" name="Чек_действие_2"/>
          <p:cNvSpPr txBox="1"/>
          <p:nvPr/>
        </p:nvSpPr>
        <p:spPr>
          <a:xfrm>
            <a:off x="81534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АКО определено однократно и во время инфекции; сохранная рСКФ не исключает ХБП.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нужно: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после лечения инфекции повторить АКО, подтвердить стойкость изменений (не менее 3 месяцев), определить калий, уточнить список лекарств.</a:t>
            </a:r>
          </a:p>
        </p:txBody>
      </p:sp>
      <p:sp>
        <p:nvSpPr>
          <p:cNvPr id="76" name="Чек_пометка"/>
          <p:cNvSpPr txBox="1"/>
          <p:nvPr/>
        </p:nvSpPr>
        <p:spPr>
          <a:xfrm>
            <a:off x="457200" y="4013200"/>
            <a:ext cx="3708400" cy="215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Условные случаи для обучения. Представитель не оценивает конкретных пациентов и не даёт рекомендаций по их лечению; такие вопросы врача передаёт в медицинский отдел по процедуре компании.</a:t>
            </a:r>
          </a:p>
        </p:txBody>
      </p:sp>
      <p:sp>
        <p:nvSpPr>
          <p:cNvPr id="77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 Narrow"/>
                <a:cs typeface="Arial Narrow"/>
              </a:rPr>
              <a:t>Гиперкалиемия на фоне финеренона: временная отмена и возобновление лечения</a:t>
            </a:r>
          </a:p>
        </p:txBody>
      </p:sp>
      <p:sp>
        <p:nvSpPr>
          <p:cNvPr id="3" name="Условный_случай"/>
          <p:cNvSpPr txBox="1"/>
          <p:nvPr/>
        </p:nvSpPr>
        <p:spPr>
          <a:xfrm>
            <a:off x="457200" y="838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Условный случай для обучения: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взрослый с ХБП, связанной с сахарным диабетом 2 типа, состояние стабильное.</a:t>
            </a:r>
          </a:p>
        </p:txBody>
      </p:sp>
      <p:graphicFrame>
        <p:nvGraphicFramePr>
          <p:cNvPr id="4" name="График_калия"/>
          <p:cNvGraphicFramePr>
            <a:graphicFrameLocks noGrp="1"/>
          </p:cNvGraphicFramePr>
          <p:nvPr/>
        </p:nvGraphicFramePr>
        <p:xfrm>
          <a:off x="381000" y="1219200"/>
          <a:ext cx="5588000" cy="45212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5" name="Шаг_96"/>
          <p:cNvSpPr txBox="1"/>
          <p:nvPr/>
        </p:nvSpPr>
        <p:spPr>
          <a:xfrm>
            <a:off x="6350000" y="1219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До начала лечения: калий 4,5 ммоль/л, рСКФ 65</a:t>
            </a:r>
          </a:p>
        </p:txBody>
      </p:sp>
      <p:sp>
        <p:nvSpPr>
          <p:cNvPr id="6" name="Шаг_текст_96"/>
          <p:cNvSpPr txBox="1"/>
          <p:nvPr/>
        </p:nvSpPr>
        <p:spPr>
          <a:xfrm>
            <a:off x="6350000" y="1549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назначает финеренон 20 мг один раз в сутки.</a:t>
            </a:r>
          </a:p>
        </p:txBody>
      </p:sp>
      <p:sp>
        <p:nvSpPr>
          <p:cNvPr id="7" name="Шаг_170"/>
          <p:cNvSpPr txBox="1"/>
          <p:nvPr/>
        </p:nvSpPr>
        <p:spPr>
          <a:xfrm>
            <a:off x="6350000" y="215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B5323C"/>
                </a:solidFill>
                <a:latin typeface="Arial Narrow"/>
                <a:cs typeface="Arial Narrow"/>
              </a:rPr>
              <a:t>Через 4 недели: калий 5,7 ммоль/л, рСКФ 61</a:t>
            </a:r>
          </a:p>
        </p:txBody>
      </p:sp>
      <p:sp>
        <p:nvSpPr>
          <p:cNvPr id="8" name="Шаг_текст_170"/>
          <p:cNvSpPr txBox="1"/>
          <p:nvPr/>
        </p:nvSpPr>
        <p:spPr>
          <a:xfrm>
            <a:off x="6350000" y="248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Возможная причина: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недавно начат короткий курс ко-тримоксазола.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временно отменяет финеренон, выясняет причину и повторяет анализ.</a:t>
            </a:r>
          </a:p>
        </p:txBody>
      </p:sp>
      <p:sp>
        <p:nvSpPr>
          <p:cNvPr id="9" name="Шаг_270"/>
          <p:cNvSpPr txBox="1"/>
          <p:nvPr/>
        </p:nvSpPr>
        <p:spPr>
          <a:xfrm>
            <a:off x="6350000" y="342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E97132"/>
                </a:solidFill>
                <a:latin typeface="Arial Narrow"/>
                <a:cs typeface="Arial Narrow"/>
              </a:rPr>
              <a:t>Повторный анализ после курса: калий 4,9 ммоль/л</a:t>
            </a:r>
          </a:p>
        </p:txBody>
      </p:sp>
      <p:sp>
        <p:nvSpPr>
          <p:cNvPr id="10" name="Шаг_текст_270"/>
          <p:cNvSpPr txBox="1"/>
          <p:nvPr/>
        </p:nvSpPr>
        <p:spPr>
          <a:xfrm>
            <a:off x="6350000" y="375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может возобновить лечение в дозе 10 мг один раз в сутки. Сразу к 20 мг не возвращаются.</a:t>
            </a:r>
          </a:p>
        </p:txBody>
      </p:sp>
      <p:sp>
        <p:nvSpPr>
          <p:cNvPr id="11" name="Шаг_356"/>
          <p:cNvSpPr txBox="1"/>
          <p:nvPr/>
        </p:nvSpPr>
        <p:spPr>
          <a:xfrm>
            <a:off x="6350000" y="4521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Через 4 недели после возобновления</a:t>
            </a:r>
          </a:p>
        </p:txBody>
      </p:sp>
      <p:sp>
        <p:nvSpPr>
          <p:cNvPr id="12" name="Шаг_текст_356"/>
          <p:cNvSpPr txBox="1"/>
          <p:nvPr/>
        </p:nvSpPr>
        <p:spPr>
          <a:xfrm>
            <a:off x="6350000" y="4851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Проверяют калий и рСКФ. При калии ≤4,8 ммоль/л и снижении рСКФ не более чем на 30% дозу можно повысить до 20 мг.</a:t>
            </a:r>
          </a:p>
        </p:txBody>
      </p:sp>
      <p:sp>
        <p:nvSpPr>
          <p:cNvPr id="13" name="Срочность"/>
          <p:cNvSpPr txBox="1"/>
          <p:nvPr/>
        </p:nvSpPr>
        <p:spPr>
          <a:xfrm>
            <a:off x="6350000" y="5461000"/>
            <a:ext cx="5384800" cy="533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калии ≥6,0 ммоль/л или ухудшении состояния планового контроля не ждут.</a:t>
            </a:r>
          </a:p>
        </p:txBody>
      </p:sp>
      <p:sp>
        <p:nvSpPr>
          <p:cNvPr id="1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фильтрации, мл/мин/1,73 м²;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6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Итоги: что представитель знает и может объяснить врачу</a:t>
            </a:r>
          </a:p>
        </p:txBody>
      </p:sp>
      <p:sp>
        <p:nvSpPr>
          <p:cNvPr id="4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рецептор; АКО: отношение альбумина к креатинину мочи;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KDIGO 2024 Clinical Practice Guideline for CKD. Kidney Int. 2024;105(4S):S117–S314.</a:t>
            </a:r>
          </a:p>
        </p:txBody>
      </p:sp>
      <p:pic>
        <p:nvPicPr>
          <p:cNvPr id="4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6" name="Итог_полоса_1"/>
          <p:cNvSpPr/>
          <p:nvPr/>
        </p:nvSpPr>
        <p:spPr>
          <a:xfrm>
            <a:off x="45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и механизм действия</a:t>
            </a:r>
          </a:p>
        </p:txBody>
      </p:sp>
      <p:sp>
        <p:nvSpPr>
          <p:cNvPr id="47" name="Итог_фон_1"/>
          <p:cNvSpPr/>
          <p:nvPr/>
        </p:nvSpPr>
        <p:spPr>
          <a:xfrm>
            <a:off x="45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8" name="Итог_текст_1"/>
          <p:cNvSpPr txBox="1"/>
          <p:nvPr/>
        </p:nvSpPr>
        <p:spPr>
          <a:xfrm>
            <a:off x="63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Показание по местной инструкции: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взрослые с ХБП, связанной с сахарным диабетом 2 типа. В исследованиях у всех была альбуминурия (АКО ≥30 мг/г).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Механизм: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блокирует МКР; калий может повышаться (слайды 19 и 29).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Перед началом: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калий, рСКФ, противопоказания, фоновая терапия (слайд 32).</a:t>
            </a:r>
          </a:p>
        </p:txBody>
      </p:sp>
      <p:sp>
        <p:nvSpPr>
          <p:cNvPr id="49" name="Итог_полоса_2"/>
          <p:cNvSpPr/>
          <p:nvPr/>
        </p:nvSpPr>
        <p:spPr>
          <a:xfrm>
            <a:off x="426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Польза в исследованиях</a:t>
            </a:r>
          </a:p>
        </p:txBody>
      </p:sp>
      <p:sp>
        <p:nvSpPr>
          <p:cNvPr id="50" name="Итог_фон_2"/>
          <p:cNvSpPr/>
          <p:nvPr/>
        </p:nvSpPr>
        <p:spPr>
          <a:xfrm>
            <a:off x="426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Итог_текст_2"/>
          <p:cNvSpPr txBox="1"/>
          <p:nvPr/>
        </p:nvSpPr>
        <p:spPr>
          <a:xfrm>
            <a:off x="444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Исходы: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относительное снижение риска почечного исхода на 18% (FIDELIO-DKD) и сердечно-сосудистого на 13% (FIGARO-DKD).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(FIDELITY).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Снижение АКО: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показатель на уровне групп; по нему нельзя предсказать исход у конкретного пациента.</a:t>
            </a:r>
          </a:p>
        </p:txBody>
      </p:sp>
      <p:sp>
        <p:nvSpPr>
          <p:cNvPr id="52" name="Итог_полоса_3"/>
          <p:cNvSpPr/>
          <p:nvPr/>
        </p:nvSpPr>
        <p:spPr>
          <a:xfrm>
            <a:off x="807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Контроль калия и функции почек</a:t>
            </a:r>
          </a:p>
        </p:txBody>
      </p:sp>
      <p:sp>
        <p:nvSpPr>
          <p:cNvPr id="53" name="Итог_фон_3"/>
          <p:cNvSpPr/>
          <p:nvPr/>
        </p:nvSpPr>
        <p:spPr>
          <a:xfrm>
            <a:off x="807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Итог_текст_3"/>
          <p:cNvSpPr txBox="1"/>
          <p:nvPr/>
        </p:nvSpPr>
        <p:spPr>
          <a:xfrm>
            <a:off x="825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Сочетания: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что противопоказано, не рекомендуется и когда нужен контроль калия (слайд 30).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до начала, через 4 недели, далее периодически (слайд 33).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Калий &gt;5,5 ммоль/л: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отмена; при калии ≤5,0 возобновление в дозе 10 мг (слайды 34 и 40).</a:t>
            </a:r>
          </a:p>
        </p:txBody>
      </p:sp>
      <p:sp>
        <p:nvSpPr>
          <p:cNvPr id="55" name="Итог_вывод"/>
          <p:cNvSpPr txBox="1"/>
          <p:nvPr/>
        </p:nvSpPr>
        <p:spPr>
          <a:xfrm>
            <a:off x="457200" y="4522953"/>
            <a:ext cx="11277600" cy="754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объясняет данные в рамках местной инструкции и не даёт рекомендаций по лечению конкретных пациентов. Диагноз и лечение определяет врач. Вопросы вне инструкции передают в медицинский отдел, о нежелательных явлениях сообщают в отдел фармаконадзора.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обучения: ваши ответы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1. Альбуминурия сохраняется: какие данные нужны, чтобы обсудить финеренон</a:t>
            </a:r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Взрослый с ХБП, связанной с сахарным диабетом 2 типа: гликемия и давление под контролем, альбуминурия сохраняется</a:t>
            </a:r>
          </a:p>
        </p:txBody>
      </p:sp>
      <p:sp>
        <p:nvSpPr>
          <p:cNvPr id="4" name="Пункт_фон_1"/>
          <p:cNvSpPr/>
          <p:nvPr/>
        </p:nvSpPr>
        <p:spPr>
          <a:xfrm>
            <a:off x="457200" y="19304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Пункт_1"/>
          <p:cNvSpPr txBox="1"/>
          <p:nvPr/>
        </p:nvSpPr>
        <p:spPr>
          <a:xfrm>
            <a:off x="660400" y="19304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1. 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9304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≥30 мг/г в повторных анализах, изменения сохраняются не менее 3 месяцев, временные причины (например, инфекция) исключены.</a:t>
            </a:r>
          </a:p>
        </p:txBody>
      </p:sp>
      <p:sp>
        <p:nvSpPr>
          <p:cNvPr id="7" name="Пункт_фон_2"/>
          <p:cNvSpPr/>
          <p:nvPr/>
        </p:nvSpPr>
        <p:spPr>
          <a:xfrm>
            <a:off x="457200" y="26162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Пункт_2"/>
          <p:cNvSpPr txBox="1"/>
          <p:nvPr/>
        </p:nvSpPr>
        <p:spPr>
          <a:xfrm>
            <a:off x="660400" y="26162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2. 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6162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м². Начальная доза 20 мг при рСКФ ≥60 и 10 мг при рСКФ ≥25 и &lt;60.</a:t>
            </a:r>
          </a:p>
        </p:txBody>
      </p:sp>
      <p:sp>
        <p:nvSpPr>
          <p:cNvPr id="10" name="Пункт_фон_3"/>
          <p:cNvSpPr/>
          <p:nvPr/>
        </p:nvSpPr>
        <p:spPr>
          <a:xfrm>
            <a:off x="457200" y="33020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1" name="Пункт_3"/>
          <p:cNvSpPr txBox="1"/>
          <p:nvPr/>
        </p:nvSpPr>
        <p:spPr>
          <a:xfrm>
            <a:off x="660400" y="33020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3. 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3020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ммоль/л: лечение можно начать; &gt;4,8 и ≤5,0: начало можно рассмотреть при дополнительном контроле калия в первые 4 недели; &gt;5,0: лечение не начинают.</a:t>
            </a:r>
          </a:p>
        </p:txBody>
      </p:sp>
      <p:sp>
        <p:nvSpPr>
          <p:cNvPr id="13" name="Пункт_фон_4"/>
          <p:cNvSpPr/>
          <p:nvPr/>
        </p:nvSpPr>
        <p:spPr>
          <a:xfrm>
            <a:off x="457200" y="39878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4" name="Пункт_4"/>
          <p:cNvSpPr txBox="1"/>
          <p:nvPr/>
        </p:nvSpPr>
        <p:spPr>
          <a:xfrm>
            <a:off x="660400" y="39878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4. 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9878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дозе; принимает ли пациент ингибитор НГЛТ2. Полный список лекарств для проверки взаимодействий и противопоказаний.</a:t>
            </a:r>
          </a:p>
        </p:txBody>
      </p:sp>
      <p:sp>
        <p:nvSpPr>
          <p:cNvPr id="16" name="Пункт_фон_5"/>
          <p:cNvSpPr/>
          <p:nvPr/>
        </p:nvSpPr>
        <p:spPr>
          <a:xfrm>
            <a:off x="457200" y="4673600"/>
            <a:ext cx="11277600" cy="9652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7" name="Пункт_5"/>
          <p:cNvSpPr txBox="1"/>
          <p:nvPr/>
        </p:nvSpPr>
        <p:spPr>
          <a:xfrm>
            <a:off x="660400" y="4673600"/>
            <a:ext cx="29972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5. Доказательная база</a:t>
            </a:r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673600"/>
            <a:ext cx="77978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FIDELIO-DKD: относительное снижение риска почечного исхода на 18%; FIGARO-DKD: сердечно-сосудистого на 13%.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6,9%; окончательная отмена: финеренон 1,7%, плацебо 0,6% (FIDELITY).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7150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Почему_обсуждать"/>
          <p:cNvSpPr txBox="1"/>
          <p:nvPr/>
        </p:nvSpPr>
        <p:spPr>
          <a:xfrm>
            <a:off x="660400" y="1371600"/>
            <a:ext cx="10896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Почему это важно: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альбуминурии риск почечных и сердечно-сосудистых осложнений выше (слайд 13).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2. Калий повысился: что предусматривает инструкция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9144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при плановом контроле: что делает врач</a:t>
            </a:r>
          </a:p>
        </p:txBody>
      </p:sp>
      <p:graphicFrame>
        <p:nvGraphicFramePr>
          <p:cNvPr id="15" name="График_отмены"/>
          <p:cNvGraphicFramePr>
            <a:graphicFrameLocks noGrp="1"/>
          </p:cNvGraphicFramePr>
          <p:nvPr/>
        </p:nvGraphicFramePr>
        <p:xfrm>
          <a:off x="381000" y="3886200"/>
          <a:ext cx="7112000" cy="175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Отмена_заголовок"/>
          <p:cNvSpPr txBox="1"/>
          <p:nvPr/>
        </p:nvSpPr>
        <p:spPr>
          <a:xfrm>
            <a:off x="457200" y="3606800"/>
            <a:ext cx="7112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 в исследованиях, % пациентов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8960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Источник алгоритма: инструкция по медицинскому применению. Решение о временной отмене и возобновлении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Алгоритм_1_рамка"/>
          <p:cNvSpPr/>
          <p:nvPr/>
        </p:nvSpPr>
        <p:spPr>
          <a:xfrm>
            <a:off x="457200" y="1244600"/>
            <a:ext cx="1651000" cy="20066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Алгоритм_1"/>
          <p:cNvSpPr txBox="1"/>
          <p:nvPr/>
        </p:nvSpPr>
        <p:spPr>
          <a:xfrm>
            <a:off x="533400" y="1282700"/>
            <a:ext cx="1498600" cy="1930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Плановый контроль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 сыворотки</a:t>
            </a:r>
          </a:p>
        </p:txBody>
      </p:sp>
      <p:sp>
        <p:nvSpPr>
          <p:cNvPr id="24" name="Алгоритм_0_рамка"/>
          <p:cNvSpPr/>
          <p:nvPr/>
        </p:nvSpPr>
        <p:spPr>
          <a:xfrm>
            <a:off x="2413000" y="12446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Алгоритм_0"/>
          <p:cNvSpPr txBox="1"/>
          <p:nvPr/>
        </p:nvSpPr>
        <p:spPr>
          <a:xfrm>
            <a:off x="2489200" y="12827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≤4,8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дозу 10 мг можно повысить до 20 мг, если рСКФ снизилась не более чем на 30%; дозу 20 мг сохраняют</a:t>
            </a:r>
          </a:p>
        </p:txBody>
      </p:sp>
      <p:sp>
        <p:nvSpPr>
          <p:cNvPr id="26" name="Алгоритм_2_рамка"/>
          <p:cNvSpPr/>
          <p:nvPr/>
        </p:nvSpPr>
        <p:spPr>
          <a:xfrm>
            <a:off x="2413000" y="17018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E9713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Алгоритм_2"/>
          <p:cNvSpPr txBox="1"/>
          <p:nvPr/>
        </p:nvSpPr>
        <p:spPr>
          <a:xfrm>
            <a:off x="2489200" y="17399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&gt;4,8 и ≤5,5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текущую дозу сохраняют</a:t>
            </a:r>
          </a:p>
        </p:txBody>
      </p:sp>
      <p:sp>
        <p:nvSpPr>
          <p:cNvPr id="28" name="Алгоритм_3_рамка"/>
          <p:cNvSpPr/>
          <p:nvPr/>
        </p:nvSpPr>
        <p:spPr>
          <a:xfrm>
            <a:off x="2413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Алгоритм_3"/>
          <p:cNvSpPr txBox="1"/>
          <p:nvPr/>
        </p:nvSpPr>
        <p:spPr>
          <a:xfrm>
            <a:off x="2489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отмена, врач выясняет причину</a:t>
            </a:r>
          </a:p>
        </p:txBody>
      </p:sp>
      <p:sp>
        <p:nvSpPr>
          <p:cNvPr id="30" name="Алгоритм_4_рамка"/>
          <p:cNvSpPr/>
          <p:nvPr/>
        </p:nvSpPr>
        <p:spPr>
          <a:xfrm>
            <a:off x="4762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Алгоритм_4"/>
          <p:cNvSpPr txBox="1"/>
          <p:nvPr/>
        </p:nvSpPr>
        <p:spPr>
          <a:xfrm>
            <a:off x="4838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Повторный анализ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</a:t>
            </a:r>
          </a:p>
        </p:txBody>
      </p:sp>
      <p:cxnSp>
        <p:nvCxnSpPr>
          <p:cNvPr id="32" name="Алгоритм_стрелка_4"/>
          <p:cNvCxnSpPr/>
          <p:nvPr/>
        </p:nvCxnSpPr>
        <p:spPr>
          <a:xfrm>
            <a:off x="4622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3" name="Алгоритм_5_рамка"/>
          <p:cNvSpPr/>
          <p:nvPr/>
        </p:nvSpPr>
        <p:spPr>
          <a:xfrm>
            <a:off x="7112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Алгоритм_5"/>
          <p:cNvSpPr txBox="1"/>
          <p:nvPr/>
        </p:nvSpPr>
        <p:spPr>
          <a:xfrm>
            <a:off x="7188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≤5,0: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возобновление, 10 мг один раз в сутки</a:t>
            </a:r>
          </a:p>
        </p:txBody>
      </p:sp>
      <p:cxnSp>
        <p:nvCxnSpPr>
          <p:cNvPr id="35" name="Алгоритм_стрелка_5"/>
          <p:cNvCxnSpPr/>
          <p:nvPr/>
        </p:nvCxnSpPr>
        <p:spPr>
          <a:xfrm>
            <a:off x="69723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6" name="Алгоритм_6_рамка"/>
          <p:cNvSpPr/>
          <p:nvPr/>
        </p:nvSpPr>
        <p:spPr>
          <a:xfrm>
            <a:off x="9461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Алгоритм_6"/>
          <p:cNvSpPr txBox="1"/>
          <p:nvPr/>
        </p:nvSpPr>
        <p:spPr>
          <a:xfrm>
            <a:off x="9537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Через 4 недели: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≤4,8 и снижение рСКФ не более чем на 30%: дозу можно повысить до 20 мг</a:t>
            </a:r>
          </a:p>
        </p:txBody>
      </p:sp>
      <p:cxnSp>
        <p:nvCxnSpPr>
          <p:cNvPr id="38" name="Алгоритм_стрелка_6"/>
          <p:cNvCxnSpPr/>
          <p:nvPr/>
        </p:nvCxnSpPr>
        <p:spPr>
          <a:xfrm>
            <a:off x="9321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39" name="Алгоритм_стрелка_0"/>
          <p:cNvCxnSpPr/>
          <p:nvPr/>
        </p:nvCxnSpPr>
        <p:spPr>
          <a:xfrm>
            <a:off x="2108200" y="143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0" name="Алгоритм_стрелка_1"/>
          <p:cNvCxnSpPr/>
          <p:nvPr/>
        </p:nvCxnSpPr>
        <p:spPr>
          <a:xfrm>
            <a:off x="2108200" y="18923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1" name="Алгоритм_стрелка_2"/>
          <p:cNvCxnSpPr/>
          <p:nvPr/>
        </p:nvCxnSpPr>
        <p:spPr>
          <a:xfrm>
            <a:off x="2108200" y="270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42" name="Срочно_рамка"/>
          <p:cNvSpPr/>
          <p:nvPr/>
        </p:nvSpPr>
        <p:spPr>
          <a:xfrm>
            <a:off x="7874000" y="3683000"/>
            <a:ext cx="3860800" cy="1905000"/>
          </a:xfrm>
          <a:prstGeom prst="roundRect">
            <a:avLst>
              <a:gd name="adj" fmla="val 4000"/>
            </a:avLst>
          </a:prstGeom>
          <a:solidFill>
            <a:srgbClr val="FBEAEA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Срочно"/>
          <p:cNvSpPr txBox="1"/>
          <p:nvPr/>
        </p:nvSpPr>
        <p:spPr>
          <a:xfrm>
            <a:off x="8077200" y="3759200"/>
            <a:ext cx="3454400" cy="175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Контрольные вопросы для медицинских представителей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НГЛТ2: натрий-глюкозный котранспортёр 2 типа.</a:t>
            </a:r>
          </a:p>
        </p:txBody>
      </p:sp>
      <p:pic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" name="Вопрос_1_фон"/>
          <p:cNvSpPr/>
          <p:nvPr/>
        </p:nvSpPr>
        <p:spPr>
          <a:xfrm>
            <a:off x="4572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Вопрос_1_номер"/>
          <p:cNvSpPr txBox="1"/>
          <p:nvPr/>
        </p:nvSpPr>
        <p:spPr>
          <a:xfrm>
            <a:off x="6096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1.</a:t>
            </a:r>
          </a:p>
        </p:txBody>
      </p:sp>
      <p:sp>
        <p:nvSpPr>
          <p:cNvPr id="32" name="Вопрос_1"/>
          <p:cNvSpPr txBox="1"/>
          <p:nvPr/>
        </p:nvSpPr>
        <p:spPr>
          <a:xfrm>
            <a:off x="10922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сохранная рСКФ не исключает болезнь почек?</a:t>
            </a:r>
          </a:p>
        </p:txBody>
      </p:sp>
      <p:sp>
        <p:nvSpPr>
          <p:cNvPr id="33" name="Вопрос_2_фон"/>
          <p:cNvSpPr/>
          <p:nvPr/>
        </p:nvSpPr>
        <p:spPr>
          <a:xfrm>
            <a:off x="62484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Вопрос_2_номер"/>
          <p:cNvSpPr txBox="1"/>
          <p:nvPr/>
        </p:nvSpPr>
        <p:spPr>
          <a:xfrm>
            <a:off x="64008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2.</a:t>
            </a:r>
          </a:p>
        </p:txBody>
      </p:sp>
      <p:sp>
        <p:nvSpPr>
          <p:cNvPr id="35" name="Вопрос_2"/>
          <p:cNvSpPr txBox="1"/>
          <p:nvPr/>
        </p:nvSpPr>
        <p:spPr>
          <a:xfrm>
            <a:off x="68834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первичные исходы были в FIDELIO-DKD и FIGARO-DKD?</a:t>
            </a:r>
          </a:p>
        </p:txBody>
      </p:sp>
      <p:sp>
        <p:nvSpPr>
          <p:cNvPr id="36" name="Вопрос_3_фон"/>
          <p:cNvSpPr/>
          <p:nvPr/>
        </p:nvSpPr>
        <p:spPr>
          <a:xfrm>
            <a:off x="4572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Вопрос_3_номер"/>
          <p:cNvSpPr txBox="1"/>
          <p:nvPr/>
        </p:nvSpPr>
        <p:spPr>
          <a:xfrm>
            <a:off x="6096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3.</a:t>
            </a:r>
          </a:p>
        </p:txBody>
      </p:sp>
      <p:sp>
        <p:nvSpPr>
          <p:cNvPr id="38" name="Вопрос_3"/>
          <p:cNvSpPr txBox="1"/>
          <p:nvPr/>
        </p:nvSpPr>
        <p:spPr>
          <a:xfrm>
            <a:off x="10922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спрашивает: АКО у пациента снизилось, значит ли это, что риск диализа стал ниже? Что ответить?</a:t>
            </a:r>
          </a:p>
        </p:txBody>
      </p:sp>
      <p:sp>
        <p:nvSpPr>
          <p:cNvPr id="39" name="Вопрос_4_фон"/>
          <p:cNvSpPr/>
          <p:nvPr/>
        </p:nvSpPr>
        <p:spPr>
          <a:xfrm>
            <a:off x="62484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0" name="Вопрос_4_номер"/>
          <p:cNvSpPr txBox="1"/>
          <p:nvPr/>
        </p:nvSpPr>
        <p:spPr>
          <a:xfrm>
            <a:off x="64008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4.</a:t>
            </a:r>
          </a:p>
        </p:txBody>
      </p:sp>
      <p:sp>
        <p:nvSpPr>
          <p:cNvPr id="41" name="Вопрос_4"/>
          <p:cNvSpPr txBox="1"/>
          <p:nvPr/>
        </p:nvSpPr>
        <p:spPr>
          <a:xfrm>
            <a:off x="68834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Можно ли заменить ингибитор НГЛТ2 финереноном?</a:t>
            </a:r>
          </a:p>
        </p:txBody>
      </p:sp>
      <p:sp>
        <p:nvSpPr>
          <p:cNvPr id="42" name="Вопрос_5_фон"/>
          <p:cNvSpPr/>
          <p:nvPr/>
        </p:nvSpPr>
        <p:spPr>
          <a:xfrm>
            <a:off x="4572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Вопрос_5_номер"/>
          <p:cNvSpPr txBox="1"/>
          <p:nvPr/>
        </p:nvSpPr>
        <p:spPr>
          <a:xfrm>
            <a:off x="6096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5.</a:t>
            </a:r>
          </a:p>
        </p:txBody>
      </p:sp>
      <p:sp>
        <p:nvSpPr>
          <p:cNvPr id="44" name="Вопрос_5"/>
          <p:cNvSpPr txBox="1"/>
          <p:nvPr/>
        </p:nvSpPr>
        <p:spPr>
          <a:xfrm>
            <a:off x="10922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финеренон может повышать калий?</a:t>
            </a:r>
          </a:p>
        </p:txBody>
      </p:sp>
      <p:sp>
        <p:nvSpPr>
          <p:cNvPr id="45" name="Вопрос_6_фон"/>
          <p:cNvSpPr/>
          <p:nvPr/>
        </p:nvSpPr>
        <p:spPr>
          <a:xfrm>
            <a:off x="62484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6" name="Вопрос_6_номер"/>
          <p:cNvSpPr txBox="1"/>
          <p:nvPr/>
        </p:nvSpPr>
        <p:spPr>
          <a:xfrm>
            <a:off x="64008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6.</a:t>
            </a:r>
          </a:p>
        </p:txBody>
      </p:sp>
      <p:sp>
        <p:nvSpPr>
          <p:cNvPr id="47" name="Вопрос_6"/>
          <p:cNvSpPr txBox="1"/>
          <p:nvPr/>
        </p:nvSpPr>
        <p:spPr>
          <a:xfrm>
            <a:off x="68834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Какая начальная доза финеренона при рСКФ 48 и при рСКФ 72?</a:t>
            </a:r>
          </a:p>
        </p:txBody>
      </p:sp>
      <p:sp>
        <p:nvSpPr>
          <p:cNvPr id="48" name="Вопрос_7_фон"/>
          <p:cNvSpPr/>
          <p:nvPr/>
        </p:nvSpPr>
        <p:spPr>
          <a:xfrm>
            <a:off x="4572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Вопрос_7_номер"/>
          <p:cNvSpPr txBox="1"/>
          <p:nvPr/>
        </p:nvSpPr>
        <p:spPr>
          <a:xfrm>
            <a:off x="6096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7.</a:t>
            </a:r>
          </a:p>
        </p:txBody>
      </p:sp>
      <p:sp>
        <p:nvSpPr>
          <p:cNvPr id="50" name="Вопрос_7"/>
          <p:cNvSpPr txBox="1"/>
          <p:nvPr/>
        </p:nvSpPr>
        <p:spPr>
          <a:xfrm>
            <a:off x="10922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Когда дозу 10 мг не повышают до 20 мг, даже если калий ≤4,8 ммоль/л?</a:t>
            </a:r>
          </a:p>
        </p:txBody>
      </p:sp>
      <p:sp>
        <p:nvSpPr>
          <p:cNvPr id="51" name="Вопрос_8_фон"/>
          <p:cNvSpPr/>
          <p:nvPr/>
        </p:nvSpPr>
        <p:spPr>
          <a:xfrm>
            <a:off x="62484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2" name="Вопрос_8_номер"/>
          <p:cNvSpPr txBox="1"/>
          <p:nvPr/>
        </p:nvSpPr>
        <p:spPr>
          <a:xfrm>
            <a:off x="64008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8.</a:t>
            </a:r>
          </a:p>
        </p:txBody>
      </p:sp>
      <p:sp>
        <p:nvSpPr>
          <p:cNvPr id="53" name="Вопрос_8"/>
          <p:cNvSpPr txBox="1"/>
          <p:nvPr/>
        </p:nvSpPr>
        <p:spPr>
          <a:xfrm>
            <a:off x="68834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сочетания с финереноном противопоказаны или не рекомендуются?</a:t>
            </a:r>
          </a:p>
        </p:txBody>
      </p:sp>
      <p:sp>
        <p:nvSpPr>
          <p:cNvPr id="54" name="Вопрос_9_фон"/>
          <p:cNvSpPr/>
          <p:nvPr/>
        </p:nvSpPr>
        <p:spPr>
          <a:xfrm>
            <a:off x="4572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Вопрос_9_номер"/>
          <p:cNvSpPr txBox="1"/>
          <p:nvPr/>
        </p:nvSpPr>
        <p:spPr>
          <a:xfrm>
            <a:off x="6096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9.</a:t>
            </a:r>
          </a:p>
        </p:txBody>
      </p:sp>
      <p:sp>
        <p:nvSpPr>
          <p:cNvPr id="56" name="Вопрос_9"/>
          <p:cNvSpPr txBox="1"/>
          <p:nvPr/>
        </p:nvSpPr>
        <p:spPr>
          <a:xfrm>
            <a:off x="10922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При каких сочетаниях нужен дополнительный контроль калия?</a:t>
            </a:r>
          </a:p>
        </p:txBody>
      </p:sp>
      <p:sp>
        <p:nvSpPr>
          <p:cNvPr id="57" name="Вопрос_10_фон"/>
          <p:cNvSpPr/>
          <p:nvPr/>
        </p:nvSpPr>
        <p:spPr>
          <a:xfrm>
            <a:off x="62484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8" name="Вопрос_10_номер"/>
          <p:cNvSpPr txBox="1"/>
          <p:nvPr/>
        </p:nvSpPr>
        <p:spPr>
          <a:xfrm>
            <a:off x="64008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10.</a:t>
            </a:r>
          </a:p>
        </p:txBody>
      </p:sp>
      <p:sp>
        <p:nvSpPr>
          <p:cNvPr id="59" name="Вопрос_10"/>
          <p:cNvSpPr txBox="1"/>
          <p:nvPr/>
        </p:nvSpPr>
        <p:spPr>
          <a:xfrm>
            <a:off x="68834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рассказывает, что у пациента на финереноне калий 6,2 ммоль/л. Что делает представитель?</a:t>
            </a:r>
          </a:p>
        </p:txBody>
      </p:sp>
      <p:sp>
        <p:nvSpPr>
          <p:cNvPr id="60" name="Вопрос_11_фон"/>
          <p:cNvSpPr/>
          <p:nvPr/>
        </p:nvSpPr>
        <p:spPr>
          <a:xfrm>
            <a:off x="457200" y="54525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Вопрос_11_номер"/>
          <p:cNvSpPr txBox="1"/>
          <p:nvPr/>
        </p:nvSpPr>
        <p:spPr>
          <a:xfrm>
            <a:off x="609600" y="54525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11.</a:t>
            </a:r>
          </a:p>
        </p:txBody>
      </p:sp>
      <p:sp>
        <p:nvSpPr>
          <p:cNvPr id="62" name="Вопрос_11"/>
          <p:cNvSpPr txBox="1"/>
          <p:nvPr/>
        </p:nvSpPr>
        <p:spPr>
          <a:xfrm>
            <a:off x="1092200" y="54906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финереноне при сердечной недостаточности или диабете 1 типа. Что делает представитель?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Приложение: данные вне показаний местной инструкции</a:t>
            </a:r>
          </a:p>
        </p:txBody>
      </p:sp>
      <p:sp>
        <p:nvSpPr>
          <p:cNvPr id="3" name="Содержание"/>
          <p:cNvSpPr txBox="1"/>
          <p:nvPr/>
        </p:nvSpPr>
        <p:spPr>
          <a:xfrm>
            <a:off x="457200" y="1066800"/>
            <a:ext cx="11277600" cy="1397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в приложении: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ARTS, II фаза: сравнение со спиронолактоном по частоте повышения калия при сердечной недостаточности (слайд 44)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FIND-CKD: хроническая болезнь почек без диабета (слайд 45)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FINE-ONE: диабет 1 типа и регуляторный статус в США (слайды 46 и 47)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FINEARTS-HF: сердечная недостаточность с фракцией выброса ≥40% (слайд 48)</a:t>
            </a:r>
          </a:p>
        </p:txBody>
      </p:sp>
      <p:sp>
        <p:nvSpPr>
          <p:cNvPr id="4" name="Комплаенс_полоса"/>
          <p:cNvSpPr/>
          <p:nvPr/>
        </p:nvSpPr>
        <p:spPr>
          <a:xfrm>
            <a:off x="457200" y="28194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Только для внутреннего обучения</a:t>
            </a:r>
          </a:p>
        </p:txBody>
      </p:sp>
      <p:sp>
        <p:nvSpPr>
          <p:cNvPr id="5" name="Комплаенс_фон"/>
          <p:cNvSpPr/>
          <p:nvPr/>
        </p:nvSpPr>
        <p:spPr>
          <a:xfrm>
            <a:off x="457200" y="3302000"/>
            <a:ext cx="11277600" cy="20320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Комплаенс"/>
          <p:cNvSpPr txBox="1"/>
          <p:nvPr/>
        </p:nvSpPr>
        <p:spPr>
          <a:xfrm>
            <a:off x="685800" y="3302000"/>
            <a:ext cx="10820400" cy="203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Зачем: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чтобы представитель узнавал вопросы вне показаний и правильно их передавал.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Правила: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слайды приложения врачам не показывают, не раздают и не пересылают. Представитель не обсуждает эти данные ни по своей инициативе, ни в ответ на вопрос врача; вопрос передаёт в медицинский отдел по процедуре компании.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этих показаний нет; одобрения в других странах местное показание не расширяют. Сравнение со спиронолактоном получено в коротком исследовании II фазы, результат описательный.</a:t>
            </a:r>
          </a:p>
        </p:txBody>
      </p:sp>
      <p:pic>
        <p:nvPicPr>
          <p:cNvPr id="7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ARTS (II фаза): частота повышения калия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финереноне и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472184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2359152"/>
          <a:ext cx="6419088" cy="268833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457200" y="5276850"/>
            <a:ext cx="6686550" cy="10953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долгосрочное преимущество по безопасности не установлено.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повышает риск гиперкалиемии по сравнению с плацебо. Калий и функцию почек контролируют при применении обоих препаратов.</a:t>
            </a:r>
          </a:p>
        </p:txBody>
      </p:sp>
      <p:sp>
        <p:nvSpPr>
          <p:cNvPr id="7" name="Текст: II фаза, часть B"/>
          <p:cNvSpPr txBox="1"/>
          <p:nvPr/>
        </p:nvSpPr>
        <p:spPr>
          <a:xfrm>
            <a:off x="7580375" y="14264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580375" y="1874519"/>
            <a:ext cx="4105656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392 пациента с сердечной недостаточностью со сниженной фракцией выброса и умеренным нарушением функции почек (анализ безопасности).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лечение 4 недели.</a:t>
            </a:r>
          </a:p>
        </p:txBody>
      </p:sp>
      <p:sp>
        <p:nvSpPr>
          <p:cNvPr id="9" name="Текст: Изученные дозы"/>
          <p:cNvSpPr txBox="1"/>
          <p:nvPr/>
        </p:nvSpPr>
        <p:spPr>
          <a:xfrm>
            <a:off x="7580375" y="3538728"/>
            <a:ext cx="4105656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580375" y="3877056"/>
            <a:ext cx="4105656" cy="12252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2,5; 5 или 10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 либо 5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F9ED5"/>
                </a:solidFill>
                <a:latin typeface="Arial Narrow"/>
                <a:cs typeface="Arial Narrow"/>
              </a:rPr>
              <a:t>Спиронолактон: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25–50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581900" y="5286375"/>
            <a:ext cx="4105275" cy="1047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группы доз объединены в дополнительном анализе, спиронолактон применяли открыто. Результат относится к дозам 2,5–10 мг и 4 неделям лечения; переносить его на ХБП и диабет 2 типа нельзя.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Eur Heart J. 2013;34:2453–2463. Agarwal R, et al. Eur Heart J. 2022;43:474–484.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FIND-CKD: при ХБП без диабета финеренон замедлял снижение рСКФ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≥25 и &lt;90 мл/мин/1,73 м², АКО 200–3500 мг/г.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 (по протоколу).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619697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рСКФ от исходного уровня, мл/мин/1,73 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953758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341166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72857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311600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50339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89080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427822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51434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+1,3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59085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−0,3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813721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522725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825552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рСКФ за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мл/мин/1,73 м²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ДИ 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 32-го месяца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203825"/>
            <a:ext cx="68580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исход: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13,9%, плацебо 16,9%.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 0,60–0,99), p=0,04.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670550"/>
            <a:ext cx="6858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входит: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устойчивое снижение рСКФ на ≥57%, почечная недостаточность, госпитализация по поводу сердечной недостаточности 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3181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гиперкалиемия: финеренон 17,0%, плацебо 13,3%; окончательная отмена из-за неё: финеренон 1,5%, плацебо 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5943600"/>
            <a:ext cx="42100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показания при ХБП без диабета нет в США, Евросоюзе и в инструкции Финеренон-Орвилле.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ДИ: доверительный интервал; ХБП: хроническая болезнь почек. На графике показан 95% ДИ; «после отмены»: примерно через 4 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2026;395:533–545.</a:t>
            </a:r>
          </a:p>
        </p:txBody>
      </p:sp>
      <p:pic>
        <p:nvPicPr>
          <p:cNvPr id="30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7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FINE-ONE: при диабете 1 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242 взрослых с хронической болезнью почек и диабетом 1 типа; рСКФ ≥25 и &lt;90 мл/мин/1,73 м², АКО ≥200 и &lt;5000 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Что сравнивали: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или плацебо на фоне инсулина и ингибитора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258568"/>
            <a:ext cx="6263640" cy="533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снижение альбуминурии от исходного уровня,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среднее по визитам 3 и 6 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816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258568"/>
            <a:ext cx="4251960" cy="59436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944368"/>
            <a:ext cx="4251960" cy="151790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Разница с плацебо по первичному исходу.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Как считали:</a:t>
            </a: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 0,66 / 0,88 = 0,75; столбики не вычитают.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Отношение геометрических средних 0,75 (95% ДИ 0,65–0,87), 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54660" y="5308600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суррогатная конечная точка; диализ и другие клинические исходы в FINE-ONE не оценивали.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гиперкалиемия: </a:t>
            </a:r>
            <a:r>
              <a:rPr lang="ru-RU"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 10,1%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, </a:t>
            </a:r>
            <a:r>
              <a:rPr lang="ru-RU" sz="1600" b="0">
                <a:solidFill>
                  <a:srgbClr val="7F7F7F"/>
                </a:solidFill>
                <a:latin typeface="Arial Narrow"/>
                <a:cs typeface="Arial Narrow"/>
              </a:rPr>
              <a:t>плацебо 3,3%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943600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США одобрено показание при ХБП и диабете 1 типа (16.09.2026).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этого показания нет.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ДИ: доверительный интервал;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2026;394:947–957. FDA. Supplement Approval Letter, NDA 215341, 16.09.2026. Kerendia (finerenone). US Prescribing Information.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Диабет 1 типа: регуляторный статус в США (вне показаний местной инструкции)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FDA. Supplement Approval Letter, NDA 215341, 16.09.2026.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16" name="США_полоса_1"/>
          <p:cNvSpPr/>
          <p:nvPr/>
        </p:nvSpPr>
        <p:spPr>
          <a:xfrm>
            <a:off x="45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Решение FDA</a:t>
            </a:r>
          </a:p>
        </p:txBody>
      </p:sp>
      <p:sp xmlns:a="http://schemas.openxmlformats.org/drawingml/2006/main">
        <p:nvSpPr>
          <p:cNvPr id="17" name="США_фон_1"/>
          <p:cNvSpPr/>
          <p:nvPr/>
        </p:nvSpPr>
        <p:spPr>
          <a:xfrm>
            <a:off x="457200" y="1498600"/>
            <a:ext cx="3657600" cy="4031914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8" name="США_текст_1"/>
          <p:cNvSpPr txBox="1"/>
          <p:nvPr/>
        </p:nvSpPr>
        <p:spPr>
          <a:xfrm>
            <a:off x="635000" y="1574800"/>
            <a:ext cx="3302000" cy="38795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Дата: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16.09.2026.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Регулятор: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Управление по контролю качества пищевых продуктов и лекарственных средств США (FDA).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Препарат: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Керендия (финеренон).</a:t>
            </a:r>
          </a:p>
        </p:txBody>
      </p:sp>
      <p:sp xmlns:a="http://schemas.openxmlformats.org/drawingml/2006/main">
        <p:nvSpPr>
          <p:cNvPr id="19" name="США_полоса_2"/>
          <p:cNvSpPr/>
          <p:nvPr/>
        </p:nvSpPr>
        <p:spPr>
          <a:xfrm>
            <a:off x="426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в США</a:t>
            </a:r>
          </a:p>
        </p:txBody>
      </p:sp>
      <p:sp xmlns:a="http://schemas.openxmlformats.org/drawingml/2006/main">
        <p:nvSpPr>
          <p:cNvPr id="20" name="США_фон_2"/>
          <p:cNvSpPr/>
          <p:nvPr/>
        </p:nvSpPr>
        <p:spPr>
          <a:xfrm>
            <a:off x="4267200" y="1498600"/>
            <a:ext cx="3657600" cy="4031914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1" name="США_текст_2"/>
          <p:cNvSpPr txBox="1"/>
          <p:nvPr/>
        </p:nvSpPr>
        <p:spPr>
          <a:xfrm>
            <a:off x="4445000" y="1574800"/>
            <a:ext cx="3302000" cy="38795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Снижение отношения альбумина к креатинину мочи, которое, как ожидается, уменьшит риск устойчивого снижения рСКФ и терминальной почечной недостаточности, у взрослых с хронической болезнью почек, связанной с диабетом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Основание одобрения: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снижение АКО (суррогатная конечная точка) в FINE-ONE и данные исследований при диабете 2 типа. Клинические исходы (устойчивое снижение рСКФ, терминальная почечная недостаточность) в FINE-ONE не оценивали.</a:t>
            </a:r>
          </a:p>
        </p:txBody>
      </p:sp>
      <p:sp xmlns:a="http://schemas.openxmlformats.org/drawingml/2006/main">
        <p:nvSpPr>
          <p:cNvPr id="22" name="США_полоса_3"/>
          <p:cNvSpPr/>
          <p:nvPr/>
        </p:nvSpPr>
        <p:spPr>
          <a:xfrm>
            <a:off x="807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Местная инструкция</a:t>
            </a:r>
          </a:p>
        </p:txBody>
      </p:sp>
      <p:sp xmlns:a="http://schemas.openxmlformats.org/drawingml/2006/main">
        <p:nvSpPr>
          <p:cNvPr id="23" name="США_фон_3"/>
          <p:cNvSpPr/>
          <p:nvPr/>
        </p:nvSpPr>
        <p:spPr>
          <a:xfrm>
            <a:off x="8077200" y="1498600"/>
            <a:ext cx="3657600" cy="4031914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4" name="США_текст_3"/>
          <p:cNvSpPr txBox="1"/>
          <p:nvPr/>
        </p:nvSpPr>
        <p:spPr>
          <a:xfrm>
            <a:off x="8255000" y="1574800"/>
            <a:ext cx="3302000" cy="38795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В инструкции Финеренон-Орвилле нет показания при диабете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не ссылается на зарубежные инструкции; вопросы о применении передаёт в медицинский отдел.</a:t>
            </a:r>
          </a:p>
        </p:txBody>
      </p:sp>
      <p:sp xmlns:a="http://schemas.openxmlformats.org/drawingml/2006/main">
        <p:nvSpPr>
          <p:cNvPr id="2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FINEARTS-HF: суммарное число событий первичного исхода ниже на 16% (относительное снижение)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027176"/>
            <a:ext cx="10972800" cy="838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6001 пациент с симптомной сердечной недостаточностью и фракцией выброса левого желудочка ≥40%, с диабетом или без него.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медиана 32 месяца. </a:t>
            </a: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20 или 40 мг один раз в сутки в зависимости от функции почек; целевая и максимальная доза по местной инструкции 20 мг.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1640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Суммарное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663952"/>
          <a:ext cx="6080760" cy="241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191512"/>
            <a:ext cx="4279392" cy="630936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837688"/>
            <a:ext cx="4251960" cy="914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Отношение частот: относительное снижение суммарного числа событий на 16%. 95% ДИ 0,74–0,95, p=0,007.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315200" y="4029075"/>
            <a:ext cx="4248150" cy="10572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Ограничение: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снижение риска сердечно-сосудистой смерти отдельно не подтверждено: отношение рисков 0,93 (95% ДИ 0,78–1,11).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10540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первые и повторные госпитализации или срочные визиты по поводу сердечной недостаточности и сердечно-сосудистая смерть. На графике число событий: у одного пациента их может быть несколько.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4660" y="563880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Керендия зарегистрирована при этой форме сердечной недостаточности независимо от диабета: в США (FDA, июль 2025) и в Евросоюзе (Европейская комиссия, 26.03.2026).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Местная инструкция: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в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Solomon SD, et al. N Engl J Med. 2024;391:1475–1485. FDA. Supplement Approval Letter, NDA 215341/S-009. European Commission Implementing Decision, 26.03.2026.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План обучения</a:t>
            </a:r>
          </a:p>
        </p:txBody>
      </p:sp>
      <p:sp>
        <p:nvSpPr>
          <p:cNvPr id="3" name="План_полоса_1"/>
          <p:cNvSpPr/>
          <p:nvPr/>
        </p:nvSpPr>
        <p:spPr>
          <a:xfrm>
            <a:off x="457200" y="9652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Почки при диабете: диагноз и прогноз</a:t>
            </a:r>
          </a:p>
        </p:txBody>
      </p:sp>
      <p:sp>
        <p:nvSpPr>
          <p:cNvPr id="4" name="План_фон_1"/>
          <p:cNvSpPr/>
          <p:nvPr/>
        </p:nvSpPr>
        <p:spPr>
          <a:xfrm>
            <a:off x="457200" y="13970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лан_текст_1"/>
          <p:cNvSpPr txBox="1"/>
          <p:nvPr/>
        </p:nvSpPr>
        <p:spPr>
          <a:xfrm>
            <a:off x="635000" y="14732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Два вопроса для обсуждения: слайд 2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работает почка и что меняет диабет: слайды 4–8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Связь болезней сердца и почек: слайды 9–10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Диагноз и прогноз хронической болезни почек: слайды 11–13</a:t>
            </a:r>
          </a:p>
        </p:txBody>
      </p:sp>
      <p:sp>
        <p:nvSpPr>
          <p:cNvPr id="6" name="План_полоса_2"/>
          <p:cNvSpPr/>
          <p:nvPr/>
        </p:nvSpPr>
        <p:spPr>
          <a:xfrm>
            <a:off x="6172200" y="9652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Финеренон: механизм и доказательства</a:t>
            </a:r>
          </a:p>
        </p:txBody>
      </p:sp>
      <p:sp>
        <p:nvSpPr>
          <p:cNvPr id="7" name="План_фон_2"/>
          <p:cNvSpPr/>
          <p:nvPr/>
        </p:nvSpPr>
        <p:spPr>
          <a:xfrm>
            <a:off x="6172200" y="13970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лан_текст_2"/>
          <p:cNvSpPr txBox="1"/>
          <p:nvPr/>
        </p:nvSpPr>
        <p:spPr>
          <a:xfrm>
            <a:off x="6350000" y="14732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читать результаты исследования: слайд 14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Остаточный риск и четыре группы препаратов: слайды 15–16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действует финеренон: слайды 17–19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Исследования и рекомендации: слайды 20–26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Место среди других препаратов: слайды 27–28</a:t>
            </a:r>
          </a:p>
        </p:txBody>
      </p:sp>
      <p:sp>
        <p:nvSpPr>
          <p:cNvPr id="9" name="План_полоса_3"/>
          <p:cNvSpPr/>
          <p:nvPr/>
        </p:nvSpPr>
        <p:spPr>
          <a:xfrm>
            <a:off x="457200" y="36703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Калий, безопасность, проверка знаний</a:t>
            </a:r>
          </a:p>
        </p:txBody>
      </p:sp>
      <p:sp>
        <p:nvSpPr>
          <p:cNvPr id="10" name="План_фон_3"/>
          <p:cNvSpPr/>
          <p:nvPr/>
        </p:nvSpPr>
        <p:spPr>
          <a:xfrm>
            <a:off x="457200" y="41021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лан_текст_3"/>
          <p:cNvSpPr txBox="1"/>
          <p:nvPr/>
        </p:nvSpPr>
        <p:spPr>
          <a:xfrm>
            <a:off x="635000" y="41783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и взаимодействия: слайды 29–31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Начало лечения, контроль и дозы: слайды 32–34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Безопасность и клинические случаи: слайды 35–37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Разбор двух вопросов и контрольные вопросы: слайды 38–41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Итоги: слайд 42</a:t>
            </a:r>
          </a:p>
        </p:txBody>
      </p:sp>
      <p:sp>
        <p:nvSpPr>
          <p:cNvPr id="12" name="План_полоса_4"/>
          <p:cNvSpPr/>
          <p:nvPr/>
        </p:nvSpPr>
        <p:spPr>
          <a:xfrm>
            <a:off x="6172200" y="36703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</a:t>
            </a:r>
          </a:p>
        </p:txBody>
      </p:sp>
      <p:sp>
        <p:nvSpPr>
          <p:cNvPr id="13" name="План_фон_4"/>
          <p:cNvSpPr/>
          <p:nvPr/>
        </p:nvSpPr>
        <p:spPr>
          <a:xfrm>
            <a:off x="6172200" y="41021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лан_текст_4"/>
          <p:cNvSpPr txBox="1"/>
          <p:nvPr/>
        </p:nvSpPr>
        <p:spPr>
          <a:xfrm>
            <a:off x="6350000" y="41783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Только для внутреннего обучения: слайды 43–48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читать результаты исследования</a:t>
            </a:r>
          </a:p>
        </p:txBody>
      </p:sp>
      <p:sp>
        <p:nvSpPr>
          <p:cNvPr id="3" name="Чтение_шапка_Термин"/>
          <p:cNvSpPr/>
          <p:nvPr/>
        </p:nvSpPr>
        <p:spPr>
          <a:xfrm>
            <a:off x="457200" y="812800"/>
            <a:ext cx="2032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Чтение_шапка_текст_Термин"/>
          <p:cNvSpPr txBox="1"/>
          <p:nvPr/>
        </p:nvSpPr>
        <p:spPr>
          <a:xfrm>
            <a:off x="558800" y="812800"/>
            <a:ext cx="1828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Термин</a:t>
            </a:r>
          </a:p>
        </p:txBody>
      </p:sp>
      <p:sp>
        <p:nvSpPr>
          <p:cNvPr id="5" name="Чтение_шапка_Что означает"/>
          <p:cNvSpPr/>
          <p:nvPr/>
        </p:nvSpPr>
        <p:spPr>
          <a:xfrm>
            <a:off x="2489200" y="812800"/>
            <a:ext cx="4953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Чтение_шапка_текст_Что означает"/>
          <p:cNvSpPr txBox="1"/>
          <p:nvPr/>
        </p:nvSpPr>
        <p:spPr>
          <a:xfrm>
            <a:off x="2590800" y="812800"/>
            <a:ext cx="4749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Что означает</a:t>
            </a:r>
          </a:p>
        </p:txBody>
      </p:sp>
      <p:sp>
        <p:nvSpPr>
          <p:cNvPr id="7" name="Чтение_шапка_Пример из обучения"/>
          <p:cNvSpPr/>
          <p:nvPr/>
        </p:nvSpPr>
        <p:spPr>
          <a:xfrm>
            <a:off x="7442200" y="812800"/>
            <a:ext cx="42926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Чтение_шапка_текст_Пример из обучения"/>
          <p:cNvSpPr txBox="1"/>
          <p:nvPr/>
        </p:nvSpPr>
        <p:spPr>
          <a:xfrm>
            <a:off x="7543800" y="812800"/>
            <a:ext cx="40894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Пример из обучения</a:t>
            </a:r>
          </a:p>
        </p:txBody>
      </p:sp>
      <p:sp>
        <p:nvSpPr>
          <p:cNvPr id="9" name="Чтение_фон_1_0"/>
          <p:cNvSpPr/>
          <p:nvPr/>
        </p:nvSpPr>
        <p:spPr>
          <a:xfrm>
            <a:off x="457200" y="113030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Чтение_фон_1_1"/>
          <p:cNvSpPr/>
          <p:nvPr/>
        </p:nvSpPr>
        <p:spPr>
          <a:xfrm>
            <a:off x="2489200" y="113030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Чтение_фон_1_2"/>
          <p:cNvSpPr/>
          <p:nvPr/>
        </p:nvSpPr>
        <p:spPr>
          <a:xfrm>
            <a:off x="7442200" y="113030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Чтение_термин_1"/>
          <p:cNvSpPr txBox="1"/>
          <p:nvPr/>
        </p:nvSpPr>
        <p:spPr>
          <a:xfrm>
            <a:off x="558800" y="113030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</a:t>
            </a:r>
          </a:p>
        </p:txBody>
      </p:sp>
      <p:sp>
        <p:nvSpPr>
          <p:cNvPr id="13" name="Чтение_смысл_1"/>
          <p:cNvSpPr txBox="1"/>
          <p:nvPr/>
        </p:nvSpPr>
        <p:spPr>
          <a:xfrm>
            <a:off x="2590800" y="113030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Главный показатель, выбранный до начала исследования. Вывод о пользе делают по нему; подгруппы дают только гипотезы.</a:t>
            </a:r>
          </a:p>
        </p:txBody>
      </p:sp>
      <p:sp>
        <p:nvSpPr>
          <p:cNvPr id="14" name="Чтение_пример_1"/>
          <p:cNvSpPr txBox="1"/>
          <p:nvPr/>
        </p:nvSpPr>
        <p:spPr>
          <a:xfrm>
            <a:off x="7543800" y="113030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почечный исход (слайд 20).</a:t>
            </a:r>
          </a:p>
        </p:txBody>
      </p:sp>
      <p:sp>
        <p:nvSpPr>
          <p:cNvPr id="15" name="Чтение_фон_2_0"/>
          <p:cNvSpPr/>
          <p:nvPr/>
        </p:nvSpPr>
        <p:spPr>
          <a:xfrm>
            <a:off x="457200" y="1681688"/>
            <a:ext cx="2006600" cy="706432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Чтение_фон_2_1"/>
          <p:cNvSpPr/>
          <p:nvPr/>
        </p:nvSpPr>
        <p:spPr>
          <a:xfrm>
            <a:off x="2489200" y="1681688"/>
            <a:ext cx="49276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Чтение_фон_2_2"/>
          <p:cNvSpPr/>
          <p:nvPr/>
        </p:nvSpPr>
        <p:spPr>
          <a:xfrm>
            <a:off x="7442200" y="1681688"/>
            <a:ext cx="42672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Чтение_термин_2"/>
          <p:cNvSpPr txBox="1"/>
          <p:nvPr/>
        </p:nvSpPr>
        <p:spPr>
          <a:xfrm>
            <a:off x="558800" y="1681688"/>
            <a:ext cx="1803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Комбинированный исход</a:t>
            </a:r>
          </a:p>
        </p:txBody>
      </p:sp>
      <p:sp>
        <p:nvSpPr>
          <p:cNvPr id="19" name="Чтение_смысл_2"/>
          <p:cNvSpPr txBox="1"/>
          <p:nvPr/>
        </p:nvSpPr>
        <p:spPr>
          <a:xfrm>
            <a:off x="2590800" y="1681688"/>
            <a:ext cx="4724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Засчитывают первое по времени событие из нескольких. Разница между группами может быть в основном за счёт одного компонента.</a:t>
            </a:r>
          </a:p>
        </p:txBody>
      </p:sp>
      <p:sp>
        <p:nvSpPr>
          <p:cNvPr id="20" name="Чтение_пример_2"/>
          <p:cNvSpPr txBox="1"/>
          <p:nvPr/>
        </p:nvSpPr>
        <p:spPr>
          <a:xfrm>
            <a:off x="7543800" y="1681688"/>
            <a:ext cx="40640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FIGARO-DKD, в основном госпитализации по поводу сердечной недостаточности (слайд 22).</a:t>
            </a:r>
          </a:p>
        </p:txBody>
      </p:sp>
      <p:sp>
        <p:nvSpPr>
          <p:cNvPr id="21" name="Чтение_фон_3_0"/>
          <p:cNvSpPr/>
          <p:nvPr/>
        </p:nvSpPr>
        <p:spPr>
          <a:xfrm>
            <a:off x="457200" y="242622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Чтение_фон_3_1"/>
          <p:cNvSpPr/>
          <p:nvPr/>
        </p:nvSpPr>
        <p:spPr>
          <a:xfrm>
            <a:off x="2489200" y="242622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Чтение_фон_3_2"/>
          <p:cNvSpPr/>
          <p:nvPr/>
        </p:nvSpPr>
        <p:spPr>
          <a:xfrm>
            <a:off x="7442200" y="242622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Чтение_термин_3"/>
          <p:cNvSpPr txBox="1"/>
          <p:nvPr/>
        </p:nvSpPr>
        <p:spPr>
          <a:xfrm>
            <a:off x="558800" y="242622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Накопленная частота</a:t>
            </a:r>
          </a:p>
        </p:txBody>
      </p:sp>
      <p:sp>
        <p:nvSpPr>
          <p:cNvPr id="25" name="Чтение_смысл_3"/>
          <p:cNvSpPr txBox="1"/>
          <p:nvPr/>
        </p:nvSpPr>
        <p:spPr>
          <a:xfrm>
            <a:off x="2590800" y="242622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Доля пациентов с событием к данному месяцу с учётом разного срока наблюдения. Кривая со временем не снижается.</a:t>
            </a:r>
          </a:p>
        </p:txBody>
      </p:sp>
      <p:sp>
        <p:nvSpPr>
          <p:cNvPr id="26" name="Чтение_пример_3"/>
          <p:cNvSpPr txBox="1"/>
          <p:nvPr/>
        </p:nvSpPr>
        <p:spPr>
          <a:xfrm>
            <a:off x="7543800" y="242622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Кривые на слайде 21: к концу они выше, чем доли пациентов с событием за всё исследование.</a:t>
            </a:r>
          </a:p>
        </p:txBody>
      </p:sp>
      <p:sp>
        <p:nvSpPr>
          <p:cNvPr id="27" name="Чтение_фон_4_0"/>
          <p:cNvSpPr/>
          <p:nvPr/>
        </p:nvSpPr>
        <p:spPr>
          <a:xfrm>
            <a:off x="457200" y="2977608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Чтение_фон_4_1"/>
          <p:cNvSpPr/>
          <p:nvPr/>
        </p:nvSpPr>
        <p:spPr>
          <a:xfrm>
            <a:off x="2489200" y="2977608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Чтение_фон_4_2"/>
          <p:cNvSpPr/>
          <p:nvPr/>
        </p:nvSpPr>
        <p:spPr>
          <a:xfrm>
            <a:off x="7442200" y="2977608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Чтение_термин_4"/>
          <p:cNvSpPr txBox="1"/>
          <p:nvPr/>
        </p:nvSpPr>
        <p:spPr>
          <a:xfrm>
            <a:off x="558800" y="2977608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Отношение рисков</a:t>
            </a:r>
          </a:p>
        </p:txBody>
      </p:sp>
      <p:sp>
        <p:nvSpPr>
          <p:cNvPr id="31" name="Чтение_смысл_4"/>
          <p:cNvSpPr txBox="1"/>
          <p:nvPr/>
        </p:nvSpPr>
        <p:spPr>
          <a:xfrm>
            <a:off x="2590800" y="2977608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Риск события в группе препарата относительно плацебо. Меньше 1: риск ниже. Разные исследования напрямую не сравнивают.</a:t>
            </a:r>
          </a:p>
        </p:txBody>
      </p:sp>
      <p:sp>
        <p:nvSpPr>
          <p:cNvPr id="32" name="Чтение_пример_4"/>
          <p:cNvSpPr txBox="1"/>
          <p:nvPr/>
        </p:nvSpPr>
        <p:spPr>
          <a:xfrm>
            <a:off x="7543800" y="2977608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0,82: риск ниже на 18%, это относительное снижение (слайд 21).</a:t>
            </a:r>
          </a:p>
        </p:txBody>
      </p:sp>
      <p:sp>
        <p:nvSpPr>
          <p:cNvPr id="33" name="Чтение_фон_5_0"/>
          <p:cNvSpPr/>
          <p:nvPr/>
        </p:nvSpPr>
        <p:spPr>
          <a:xfrm>
            <a:off x="457200" y="3528997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4" name="Чтение_фон_5_1"/>
          <p:cNvSpPr/>
          <p:nvPr/>
        </p:nvSpPr>
        <p:spPr>
          <a:xfrm>
            <a:off x="2489200" y="3528997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Чтение_фон_5_2"/>
          <p:cNvSpPr/>
          <p:nvPr/>
        </p:nvSpPr>
        <p:spPr>
          <a:xfrm>
            <a:off x="7442200" y="3528997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6" name="Чтение_термин_5"/>
          <p:cNvSpPr txBox="1"/>
          <p:nvPr/>
        </p:nvSpPr>
        <p:spPr>
          <a:xfrm>
            <a:off x="558800" y="3528997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95% доверительный интервал (ДИ)</a:t>
            </a:r>
          </a:p>
        </p:txBody>
      </p:sp>
      <p:sp>
        <p:nvSpPr>
          <p:cNvPr id="37" name="Чтение_смысл_5"/>
          <p:cNvSpPr txBox="1"/>
          <p:nvPr/>
        </p:nvSpPr>
        <p:spPr>
          <a:xfrm>
            <a:off x="2590800" y="3528997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Диапазон значений эффекта, совместимых с данными. Если весь интервал ниже 1, снижение риска статистически значимо.</a:t>
            </a:r>
          </a:p>
        </p:txBody>
      </p:sp>
      <p:sp>
        <p:nvSpPr>
          <p:cNvPr id="38" name="Чтение_пример_5"/>
          <p:cNvSpPr txBox="1"/>
          <p:nvPr/>
        </p:nvSpPr>
        <p:spPr>
          <a:xfrm>
            <a:off x="7543800" y="3528997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0,73–0,93: весь интервал ниже 1, снижение значимо (слайд 21).</a:t>
            </a:r>
          </a:p>
        </p:txBody>
      </p:sp>
      <p:sp>
        <p:nvSpPr>
          <p:cNvPr id="39" name="Чтение_фон_6_0"/>
          <p:cNvSpPr/>
          <p:nvPr/>
        </p:nvSpPr>
        <p:spPr>
          <a:xfrm>
            <a:off x="457200" y="4080385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0" name="Чтение_фон_6_1"/>
          <p:cNvSpPr/>
          <p:nvPr/>
        </p:nvSpPr>
        <p:spPr>
          <a:xfrm>
            <a:off x="2489200" y="4080385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Чтение_фон_6_2"/>
          <p:cNvSpPr/>
          <p:nvPr/>
        </p:nvSpPr>
        <p:spPr>
          <a:xfrm>
            <a:off x="7442200" y="4080385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Чтение_термин_6"/>
          <p:cNvSpPr txBox="1"/>
          <p:nvPr/>
        </p:nvSpPr>
        <p:spPr>
          <a:xfrm>
            <a:off x="558800" y="4080385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Число пациентов, которых нужно лечить</a:t>
            </a:r>
          </a:p>
        </p:txBody>
      </p:sp>
      <p:sp>
        <p:nvSpPr>
          <p:cNvPr id="43" name="Чтение_смысл_6"/>
          <p:cNvSpPr txBox="1"/>
          <p:nvPr/>
        </p:nvSpPr>
        <p:spPr>
          <a:xfrm>
            <a:off x="2590800" y="4080385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Сколько пациентов нужно лечить указанный срок, чтобы предотвратить одно событие. Без срока это число не приводят.</a:t>
            </a:r>
          </a:p>
        </p:txBody>
      </p:sp>
      <p:sp>
        <p:nvSpPr>
          <p:cNvPr id="44" name="Чтение_пример_6"/>
          <p:cNvSpPr txBox="1"/>
          <p:nvPr/>
        </p:nvSpPr>
        <p:spPr>
          <a:xfrm>
            <a:off x="7543800" y="4080385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FIDELITY, 46 пациентов за 3 года (слайд 23).</a:t>
            </a:r>
          </a:p>
        </p:txBody>
      </p:sp>
      <p:sp>
        <p:nvSpPr>
          <p:cNvPr id="45" name="Чтение_фон_7_0"/>
          <p:cNvSpPr/>
          <p:nvPr/>
        </p:nvSpPr>
        <p:spPr>
          <a:xfrm>
            <a:off x="457200" y="4631773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6" name="Чтение_фон_7_1"/>
          <p:cNvSpPr/>
          <p:nvPr/>
        </p:nvSpPr>
        <p:spPr>
          <a:xfrm>
            <a:off x="2489200" y="4631773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7" name="Чтение_фон_7_2"/>
          <p:cNvSpPr/>
          <p:nvPr/>
        </p:nvSpPr>
        <p:spPr>
          <a:xfrm>
            <a:off x="7442200" y="4631773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8" name="Чтение_термин_7"/>
          <p:cNvSpPr txBox="1"/>
          <p:nvPr/>
        </p:nvSpPr>
        <p:spPr>
          <a:xfrm>
            <a:off x="558800" y="4631773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Суррогатная конечная точка</a:t>
            </a:r>
          </a:p>
        </p:txBody>
      </p:sp>
      <p:sp>
        <p:nvSpPr>
          <p:cNvPr id="49" name="Чтение_смысл_7"/>
          <p:cNvSpPr txBox="1"/>
          <p:nvPr/>
        </p:nvSpPr>
        <p:spPr>
          <a:xfrm>
            <a:off x="2590800" y="4631773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Показатель, например альбуминурия: меняется раньше событий, но его улучшение не гарантирует снижения риска исходов.</a:t>
            </a:r>
          </a:p>
        </p:txBody>
      </p:sp>
      <p:sp>
        <p:nvSpPr>
          <p:cNvPr id="50" name="Чтение_пример_7"/>
          <p:cNvSpPr txBox="1"/>
          <p:nvPr/>
        </p:nvSpPr>
        <p:spPr>
          <a:xfrm>
            <a:off x="7543800" y="4631773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CONFIDENCE: оценивали альбуминурию, клинические исходы не оценивали (слайд 25).</a:t>
            </a:r>
          </a:p>
        </p:txBody>
      </p:sp>
      <p:sp>
        <p:nvSpPr>
          <p:cNvPr id="51" name="Чтение_фон_8_0"/>
          <p:cNvSpPr/>
          <p:nvPr/>
        </p:nvSpPr>
        <p:spPr>
          <a:xfrm>
            <a:off x="457200" y="5183162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2" name="Чтение_фон_8_1"/>
          <p:cNvSpPr/>
          <p:nvPr/>
        </p:nvSpPr>
        <p:spPr>
          <a:xfrm>
            <a:off x="2489200" y="5183162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3" name="Чтение_фон_8_2"/>
          <p:cNvSpPr/>
          <p:nvPr/>
        </p:nvSpPr>
        <p:spPr>
          <a:xfrm>
            <a:off x="7442200" y="5183162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4" name="Чтение_термин_8"/>
          <p:cNvSpPr txBox="1"/>
          <p:nvPr/>
        </p:nvSpPr>
        <p:spPr>
          <a:xfrm>
            <a:off x="558800" y="5183162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Рандомизированы и в анализе</a:t>
            </a:r>
          </a:p>
        </p:txBody>
      </p:sp>
      <p:sp>
        <p:nvSpPr>
          <p:cNvPr id="55" name="Чтение_смысл_8"/>
          <p:cNvSpPr txBox="1"/>
          <p:nvPr/>
        </p:nvSpPr>
        <p:spPr>
          <a:xfrm>
            <a:off x="2590800" y="5183162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Рандомизированы: сколько пациентов случайно распределили по группам. В анализе: сколько вошло в расчёт результата.</a:t>
            </a:r>
          </a:p>
        </p:txBody>
      </p:sp>
      <p:sp>
        <p:nvSpPr>
          <p:cNvPr id="56" name="Чтение_пример_8"/>
          <p:cNvSpPr txBox="1"/>
          <p:nvPr/>
        </p:nvSpPr>
        <p:spPr>
          <a:xfrm>
            <a:off x="7543800" y="5183162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5734 и 5674 (слайд 21).</a:t>
            </a:r>
          </a:p>
        </p:txBody>
      </p:sp>
      <p:sp>
        <p:nvSpPr>
          <p:cNvPr id="57" name="Чтение_фон_9_0"/>
          <p:cNvSpPr/>
          <p:nvPr/>
        </p:nvSpPr>
        <p:spPr>
          <a:xfrm>
            <a:off x="457200" y="573455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Чтение_фон_9_1"/>
          <p:cNvSpPr/>
          <p:nvPr/>
        </p:nvSpPr>
        <p:spPr>
          <a:xfrm>
            <a:off x="2489200" y="573455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Чтение_фон_9_2"/>
          <p:cNvSpPr/>
          <p:nvPr/>
        </p:nvSpPr>
        <p:spPr>
          <a:xfrm>
            <a:off x="7442200" y="573455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Чтение_термин_9"/>
          <p:cNvSpPr txBox="1"/>
          <p:nvPr/>
        </p:nvSpPr>
        <p:spPr>
          <a:xfrm>
            <a:off x="558800" y="573455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Медиана наблюдения</a:t>
            </a:r>
          </a:p>
        </p:txBody>
      </p:sp>
      <p:sp>
        <p:nvSpPr>
          <p:cNvPr id="61" name="Чтение_смысл_9"/>
          <p:cNvSpPr txBox="1"/>
          <p:nvPr/>
        </p:nvSpPr>
        <p:spPr>
          <a:xfrm>
            <a:off x="2590800" y="573455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Половина пациентов наблюдалась дольше этого срока, другая половина меньше.</a:t>
            </a:r>
          </a:p>
        </p:txBody>
      </p:sp>
      <p:sp>
        <p:nvSpPr>
          <p:cNvPr id="62" name="Чтение_пример_9"/>
          <p:cNvSpPr txBox="1"/>
          <p:nvPr/>
        </p:nvSpPr>
        <p:spPr>
          <a:xfrm>
            <a:off x="7543800" y="573455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 2,6 года, FIGARO-DKD 3,4 года (слайды 21, 22).</a:t>
            </a:r>
          </a:p>
        </p:txBody>
      </p:sp>
      <p:sp>
        <p:nvSpPr>
          <p:cNvPr id="6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Agarwal R, et al. N Engl J Med. 2025;393:533–543.</a:t>
            </a:r>
          </a:p>
        </p:txBody>
      </p:sp>
      <p:pic>
        <p:nvPicPr>
          <p:cNvPr id="6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45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письмо FDA об одобрении (NDA 215341, 16.09.2026) и инструкция США на accessdata.fda.gov; инструкция Финеренон-Орвилле: https://orvilleservices.com/instructions/Finerenon_Instruction_ru.pdf</a:t>
            </a:r>
          </a:p>
          <a:p xmlns:a="http://schemas.openxmlformats.org/drawingml/2006/main">
            <a:r>
              <a:t>Дата проверки: 25.09.2026. Дата одобрения и формулировка показания подтверждены по сообщениям Bayer и медицинских изданий; номер дополнения к заявке не подтверждён.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