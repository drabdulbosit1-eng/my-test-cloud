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3.xml"/><Relationship Id="rIdReviewed11" Type="http://schemas.openxmlformats.org/officeDocument/2006/relationships/slide" Target="slides/slide4.xml"/><Relationship Id="rIdReviewed12" Type="http://schemas.openxmlformats.org/officeDocument/2006/relationships/slide" Target="slides/slide5.xml"/><Relationship Id="rIdReviewed13" Type="http://schemas.openxmlformats.org/officeDocument/2006/relationships/slide" Target="slides/slide6.xml"/><Relationship Id="rIdReviewed14" Type="http://schemas.openxmlformats.org/officeDocument/2006/relationships/slide" Target="slides/slide7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42.xml"/><Relationship Id="rIdReviewed28" Type="http://schemas.openxmlformats.org/officeDocument/2006/relationships/slide" Target="slides/slide27.xml"/><Relationship Id="rIdReviewed29" Type="http://schemas.openxmlformats.org/officeDocument/2006/relationships/slide" Target="slides/slide28.xml"/><Relationship Id="rIdReviewed3" Type="http://schemas.openxmlformats.org/officeDocument/2006/relationships/slide" Target="slides/slide14.xml"/><Relationship Id="rIdReviewed30" Type="http://schemas.openxmlformats.org/officeDocument/2006/relationships/slide" Target="slides/slide29.xml"/><Relationship Id="rIdReviewed31" Type="http://schemas.openxmlformats.org/officeDocument/2006/relationships/slide" Target="slides/slide30.xml"/><Relationship Id="rIdReviewed32" Type="http://schemas.openxmlformats.org/officeDocument/2006/relationships/slide" Target="slides/slide31.xml"/><Relationship Id="rIdReviewed33" Type="http://schemas.openxmlformats.org/officeDocument/2006/relationships/slide" Target="slides/slide32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43.xml"/><Relationship Id="rIdReviewed38" Type="http://schemas.openxmlformats.org/officeDocument/2006/relationships/slide" Target="slides/slide44.xml"/><Relationship Id="rIdReviewed39" Type="http://schemas.openxmlformats.org/officeDocument/2006/relationships/slide" Target="slides/slide47.xml"/><Relationship Id="rIdReviewed4" Type="http://schemas.openxmlformats.org/officeDocument/2006/relationships/slide" Target="slides/slide13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8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9.xml"/><Relationship Id="rIdReviewed7" Type="http://schemas.openxmlformats.org/officeDocument/2006/relationships/slide" Target="slides/slide10.xml"/><Relationship Id="rIdReviewed8" Type="http://schemas.openxmlformats.org/officeDocument/2006/relationships/slide" Target="slides/slide11.xml"/><Relationship Id="rIdReviewed9" Type="http://schemas.openxmlformats.org/officeDocument/2006/relationships/slide" Target="slides/slide12.xml"/><Relationship Id="rIdT1D1" Type="http://schemas.openxmlformats.org/officeDocument/2006/relationships/slide" Target="slides/slide45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7.xml"/><Relationship Id="rId84" Type="http://schemas.openxmlformats.org/officeDocument/2006/relationships/slide" Target="slides/slide38.xml"/><Relationship Id="rId85" Type="http://schemas.openxmlformats.org/officeDocument/2006/relationships/slide" Target="slides/slide39.xml"/><Relationship Id="rId86" Type="http://schemas.openxmlformats.org/officeDocument/2006/relationships/slide" Target="slides/slide40.xml"/><Relationship Id="rId87" Type="http://schemas.openxmlformats.org/officeDocument/2006/relationships/slide" Target="slides/slide41.xml"/><Relationship Id="rId88" Type="http://schemas.openxmlformats.org/officeDocument/2006/relationships/slide" Target="slides/slide33.xml"/><Relationship Id="rId89" Type="http://schemas.openxmlformats.org/officeDocument/2006/relationships/slide" Target="slides/slide48.xml"/><Relationship Id="rId90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11–13 (анализы и прогноз), 15 (остаточный риск), 21–23 (FIDELIO-DKD, FIGARO-DKD, FIDELITY), 32 (перед началом), 36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Вопрос 1 разбирают на слайде 39, вопрос 2 на слайде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понимания срочности. Представитель не консультирует по лечению гиперкалиемии: тактику определяет врач по действующим клиническим рекомендациям.</a:t>
            </a:r>
          </a:p>
          <a:p>
            <a:r>
              <a:t>Сроки по UK Kidney Association (2023): калий 6,0–6,4 ммоль/л при неожиданном повышении у стабильного пациента: повторный анализ в течение 24 часов; калий 6,5 ммоль/л и выше или изменения на ЭКГ: неотложная помощь.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Другие заранее запланированные исходы FIDELITY: почечный исход со снижением рСКФ на ≥40%,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не ранее чем через 4 недели.</a:t>
            </a:r>
          </a:p>
          <a:p>
            <a:r>
              <a:t>Почечная недостаточность в этих исследованиях: хронический диализ (не менее 90 дней), трансплантация почки или устойчивое снижение рСКФ до &lt;15 мл/мин/1,73 м².</a:t>
            </a:r>
          </a:p>
          <a:p>
            <a:r>
              <a:t>Анализ FIDELITY поисковый: значения p без поправки на множественные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2,6 года, до 48-го месяца дошла меньшая часть пациентов, поэтому концы кривых выше 17,8% и 21,1%. Эффект показывают расхождение кривых и отношение рисков, а не концы кривых.</a:t>
            </a:r>
          </a:p>
          <a:p>
            <a:r>
              <a:t>Снижение на 18% относительное. Разность долей за всё исследование 21,1% − 17,8% = 3,3 процентного пункта. Число 29 пациентов относится к 3 годам лечения, поэтому из этих долей напрямую не получается.</a:t>
            </a:r>
          </a:p>
          <a:p>
            <a:r>
              <a:t>Ключевой вторичный (сердечно-сосудистый) исход: финеренон 13,0%, плацебо 14,8%;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3,4 года, до 54-го месяца дошла меньшая часть пациентов, поэтому концы кривых выше 12,4% и 14,2%.</a:t>
            </a:r>
          </a:p>
          <a:p>
            <a:r>
              <a:t>Число пациентов, которых нужно лечить (47), относится к сроку 3,5 года, а доли 12,4% и 14,2% посчитаны за всё исследование, поэтому 1 / (14,2% − 12,4%) с числом 47 не совпадает.</a:t>
            </a:r>
          </a:p>
          <a:p>
            <a:r>
              <a:t>Отношение рисков 0,71 получено для отдельного компонента исхода: это пояснение к результату, а не самостоятельное доказательство. Пациентов с симптомной хронической сердечной недостаточностью со сниженной фракцией выброса не включали, поэтому результат по госпитализациям на них не переносят.</a:t>
            </a:r>
          </a:p>
          <a:p>
            <a:r>
              <a:t>Почечный исход (почечная недостаточность, устойчивое снижение рСКФ на ≥40% не менее 4 недель или смерть от почечных причин): финеренон 9,5%, плацебо 10,8%; отношение рисков 0,87 (95% ДИ 0,76–1,01), статистически значимых различий нет.</a:t>
            </a:r>
          </a:p>
          <a:p>
            <a:r>
              <a:t>Ингибиторы НГЛТ2 исходно получали 8,4%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 (метод Аалена–Йохансена; смерть от причин, не входящих в исход, учтена как конкурирующее событие). Строки «Доля с событием за всё исследование» показывают долю пациентов с событием за всё время наблюдения.</a:t>
            </a:r>
          </a:p>
          <a:p>
            <a:r>
              <a:t>Абсолютную разницу 2,2% и 1,7% и число пациентов, которых нужно лечить (46 и 60), считали по накопленной частоте к 3 годам. Поэтому абсолютная разница не совпадает с разностью долей за всё исследование (1,7 и 1,6 процентного пункта). Не путайте: 1,7% в строке «Абсолютная разница» относится к почечному исходу, а разность долей 1,7 к сердечно-сосудистому; совпадение случайное.</a:t>
            </a:r>
          </a:p>
          <a:p>
            <a:r>
              <a:t>Снижение риска на 14% и 23% относительное. FIDELITY запланирован заранее, но это поисковый анализ, поэтому значения p без поправки на множественные сравнения.</a:t>
            </a:r>
          </a:p>
          <a:p>
            <a:r>
              <a:t>Ингибиторы НГЛТ2 исходно получали 6,7% пациентов.</a:t>
            </a:r>
          </a:p>
          <a:p>
            <a:r>
              <a:t>Гиперкалиемия по сообщениям исследователей (как в FIDELIO-DKD на слайде 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−32% слева: к 4-му месяцу АКО относительно исходного уровня в группе финеренона на 32% ниже, чем в группе плацебо (отношение изменений 0,68; 1 − 0,68 = 0,32). Это относительная разница между группами, а не снижение АКО от исходного уровня в группе финеренона.</a:t>
            </a:r>
          </a:p>
          <a:p>
            <a:r>
              <a:t>Столбики справа: доля пациентов, у которых АКО снизилось на ≥30% от исходного уровня. Это другой показатель из апостериорного анализа 12 512 пациентов.</a:t>
            </a:r>
          </a:p>
          <a:p>
            <a:r>
              <a:t>В том же анализе снижение АКО объясняло около 84% эффекта финеренона на почечный исход и около 37% на сердечно-сосудистый. Поэтому почечный эффект оно отражает лучше.</a:t>
            </a:r>
          </a:p>
          <a:p>
            <a:r>
              <a:t>Не путайте с CONFIDENCE (слайд 25): там 32% при финереноне означает снижение АКО от исходного уровня внутри группы, а не разницу с плацебо.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слева: отношение АКО к исходному уровню (1,0 = исходный). К 180-му дню 0,48 при комбинации, 0,68 при финереноне и 0,71 при эмпаглифлозине, то есть снижение на 52%, 32% и 29%. При комбинации АКО было на 29% ниже, чем при финереноне (0,48 / 0,68 ≈ 0,71), и на 32% ниже, чем при эмпаглифлозине (0,48 / 0,71 ≈ 0,68). Это относительные различия между группами, а не снижение от исходного уровня; проценты 52 и 32 не вычитают.</a:t>
            </a:r>
          </a:p>
          <a:p>
            <a:r>
              <a:t>График справа: среднее изменение калия сыворотки по группе. На 14-й день +0,27 ммоль/л при комбинации и +0,19 при финереноне; при эмпаглифлозине калий почти не менялся; через 30 дней после отмены калий вернулся почти к исходному. Авторы основной статьи называют повышение калия при комбинации и финереноне сходным; во вторичном анализе различие статистически незначимо (p=0,91).</a:t>
            </a:r>
          </a:p>
          <a:p>
            <a:r>
              <a:t>Строка «Безопасность» показывает другое: долю пациентов, у которых калий хотя бы раз превысил 5,5 ммоль/л. Среднее по группе и доля пациентов выше порога измеряют разное, поэтому противоречия между графиком и строкой нет. Ни по одному из показателей комбинация и финеренон статистически значимо не различались.</a:t>
            </a:r>
          </a:p>
          <a:p>
            <a:r>
              <a:t>Неверны оба вывода: «комбинация опаснее по калию» и «эмпаглифлозин защищает от гиперкалиемии». По выводу вторичного анализа комбинация статистически значимо не снижала риск гиперкалиемии. Калий &gt;6,0 ммоль/л: 4,6% при комбинации и при финереноне. Из-за гиперкалиемии лечение прекратили трое, по одному в каждой группе.</a:t>
            </a:r>
          </a:p>
          <a:p>
            <a:r>
              <a:t>В основной статье те же случаи дают 15,3%, 18,6% и 9,7% (другой знаменатель). Гиперкалиемию по сообщениям исследователей (9,3%, 11,4% и 3,8%) считали иначе. Пациентов с калием &gt;4,8 ммоль/л в исследование не включали.</a:t>
            </a:r>
          </a:p>
          <a:p>
            <a:r>
              <a:t>Вопросы о конкретных пациентах представитель передаёт в медицинский отдел; калий контролируют по инструкции.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комбинированный почечный исход (отношение рисков 0,82). FIGARO-DKD: комбинированный сердечно-сосудистый исход (отношение рисков 0,87), разница в основном за счёт госпитализаций по поводу сердечной недостаточности. Слайды 20–22.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16,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просвет. Слайды 17, 29.</a:t>
            </a:r>
          </a:p>
          <a:p>
            <a:r>
              <a:t>6. Начальная доза 10 мг при рСКФ 48 и 20 мг при рСКФ 72, один раз в сутки. При рСКФ &lt;25 начинать лечение не рекомендуется.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рекомендуются другие антагонисты МКР, калийсберегающие диуретики, сильные и умеренные индукторы CYP3A4, грейпфрут. Слайды 30, 31.</a:t>
            </a:r>
          </a:p>
          <a:p>
            <a:r>
              <a:t>9. Препараты калия и калийсодержащие заменители соли, триметоприм (в том числе в составе ко-тримоксазола), НПВП,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Слайды 9,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среднее изменение рСКФ от исходного уровня на каждом визите, отрезки: 95% ДИ. В первый месяц рСКФ при финереноне снижается сильнее, чем при плацебо (ожидаемое раннее снижение), затем медленнее, и позже кривые пересекаются. Вертикальный пунктир: 32-й месяц, конец периода первичного исхода.</a:t>
            </a:r>
          </a:p>
          <a:p>
            <a:r>
              <a:t>Первичный исход справа не точка на кривой, а среднегодовое изменение рСКФ от исходного уровня до 32-го месяца: −3,3 и −4,0 мл/мин/1,73 м² в год. Разницу 0,7 получили вычитанием, а не делением, поэтому её 95% ДИ 0,3–1,1 сравнивают с 0, а не с 1.</a:t>
            </a:r>
          </a:p>
          <a:p>
            <a:r>
              <a:t>Серая зона: последний визит на лечении и визит примерно через 4 недели после отмены; +1,3 (финеренон) и −0,3 (плацебо): изменение рСКФ между ними. После отмены финеренона часть раннего снижения рСКФ обратима; это не означает улучшения функции почек.</a:t>
            </a:r>
          </a:p>
          <a:p>
            <a:r>
              <a:t>Комбинированный исход вторичный, его проверяли по заранее заданной иерархии после первичного. По отдельности почечная часть (отношение рисков 0,78; 95% ДИ 0,60–1,01) и сердечно-сосудистая (0,60; 95% ДИ 0,27–1,33) статистически значимо не снижены.</a:t>
            </a:r>
          </a:p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29 (механизм), 33 (контроль), 34 (коррекция дозы), 37 (случай), 21–23 (частота окончательной отмены).</a:t>
            </a:r>
          </a:p>
          <a:p>
            <a:r>
              <a:t>Алгоритм повторяет правила слайда 34. Снижение рСКФ на 30% считают относительно предыдущего измерения.</a:t>
            </a:r>
          </a:p>
          <a:p>
            <a:r>
              <a:t>Столбики показывают долю пациентов, у которых за всё исследование лечение окончательно отменили из-за гиперкалиемии. FIDELITY: объединённые данные FIDELIO-DKD и FIGARO-DKD, а не третье исследование. В исследованиях разные пациенты и сроки наблюдения, поэтому сравнивают финеренон и плацебо внутри одного исследования, а не столбики разных исследований.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пока не разбирают, к ним возвращаются в конце. Ответ на вопрос 1 собирается на слайдах 32 и 36, ответ на вопрос 2 на слайдах 34 и 37. Полный разбор на слайдах 39 и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врач описывает такой случай у реального пациента, это нежелательное явление: представитель сообщает о нём в отдел фармаконадзора в течение 24 часов по процедуре компании и не даёт советов по лечению.</a:t>
            </a:r>
          </a:p>
          <a:p>
            <a:r>
              <a:t>Вывод: при калии &gt;5,5 ммоль/л инструкция предусматривает временную отмену и повторный анализ; при калии ≤5,0 ммоль/л врач может возобновить лечение в дозе 10 мг. Решение принимает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Отношение рисков сравнивает время до первого события: после первого события пациент в расчёт дальше не входит. Отношение частот (FINEARTS-HF, слайд 48) учитывает все события, включая повторные, на единицу времени наблюдения. Эти показатели не взаимозаменяемы.</a:t>
            </a:r>
          </a:p>
          <a:p>
            <a:r>
              <a:t>Накопленную частоту на графиках рассчитывают с учётом разного срока наблюдения (в FIDELITY методом Аалена–Йохансена; смерть от причин, не входящих в исход, учтена как конкурирующее событие). К концу графика под наблюдением остаётся мало пациентов, поэтому правый край кривой менее точен.</a:t>
            </a:r>
          </a:p>
          <a:p>
            <a:r>
              <a:t>Доверительный интервал отношения сравнивают с 1, интервал разности (например, разницы наклонов рСКФ в FIND-CKD, слайд 45) сравнивают с 0.</a:t>
            </a:r>
          </a:p>
          <a:p>
            <a:r>
              <a:t>В FIDELIO-DKD 60 из 5734 рандомизированных пациентов исключили из всех анализов из-за грубых нарушений правил надлежащей клинической практики; это не пациенты, выбывшие по ходу лечения.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Цвет клетки показывает прогноз по KDIGO на уровне групп пациентов: риск прогрессирования болезни почек, почечной недостаточности, сердечно-сосудистых событий и смерти. Это не расчёт для конкретного пациента.</a:t>
            </a:r>
          </a:p>
          <a:p>
            <a:r>
              <a:t>В одной строке категория рСКФ одинакова, поэтому разница цвета внутри строки показывает вклад альбуминурии.</a:t>
            </a:r>
          </a:p>
          <a:p>
            <a:r>
              <a:t>Категории G и A устанавливают по повторным анализам: изменения должны сохраняться не менее 3 месяцев. Однократно высокий АКО бывает после физической нагрузки, при инфекции мочевых путей или выраженной гипергликемии.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 части B авторы объединили в дополнительном анализе. Гиперкалиемия или повышение калия по сообщениям исследователей: финеренон (все дозы) 5,3%, плацебо 1,5% (p=0,32), спиронолактон 12,7% (p=0,048 для сравнения с финереноном). Значения p для вторичных показателей авторы считают описательными: уровень значимости заранее не задавали, поправки на множественные сравнения не было.</a:t>
            </a:r>
          </a:p>
          <a:p>
            <a:r>
              <a:t>Спиронолактон начинали с 25 мг и повышали до 50 мг на 15-й день, если калий оставался ≤4,8 ммоль/л; к концу средняя доза 37 мг в сутки. Дозы финеренона в ARTS (до 10 мг в сутки) ниже целевой дозы 20 мг при ХБП и диабете 2 типа.</a:t>
            </a:r>
          </a:p>
          <a:p>
            <a:r>
              <a:t>ARTS длилось 4 недели и не оценивало клинические исходы, поэтому вывод «финеренон безопаснее спиронолактона» из него сделать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Число 0,84 означает отношение частот: его считают по всем событиям, включая повторные, с учётом времени наблюдения. Это не отношение рисков и не отношение долей пациентов. Хотя бы одно событие было у 624 из 3003 пациентов (20,8%) в группе финеренона и у 719 из 2998 (24,0%) в группе плацебо. Сердечно-сосудистая смерть бывает один раз, поэтому для неё приведено отношение рисков.</a:t>
            </a:r>
          </a:p>
          <a:p xmlns:a="http://schemas.openxmlformats.org/drawingml/2006/main">
            <a:r>
              <a:t>Безопасность: калий &gt;5,5 ммоль/л при финереноне бывал чаще, чем при плацебо (отношение рисков 2,16; 95% ДИ 1,83–2,56), калий &lt;3,5 ммоль/л реже (0,46; 95% ДИ 0,38–0,56). Госпитализации из-за гиперкалиемии: финеренон 0,5%, плацебо 0,2%; смертей из-за гиперкалиемии не было. Источник: Vardeny O, et al. JAMA Cardiol. 2025;10:42–48.</a:t>
            </a:r>
          </a:p>
          <a:p xmlns:a="http://schemas.openxmlformats.org/drawingml/2006/main">
            <a:r>
              <a:t>Одобрение при сердечной недостаточности не требует наличия сахарного диабета. США: FDA, июль 2025 (в сообщениях Bayer и изданий 14.07.2025),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решение Европейской комиссии от 26.03.2026 (номер решения не подтверждён), симптомная хроническая сердечная недостаточность с фракцией выброса левого желудочка ≥40% у взрослых. Пресс-релиз вышел позже, 30.03.2026. В опубликованной инструкции Финеренон-Орвилле это показание не указано. Дата проверки 25.09.2026.</a:t>
            </a:r>
          </a:p>
          <a:p xmlns:a="http://schemas.openxmlformats.org/drawingml/2006/main">
            <a:r>
              <a:t>Максимальная доза в FINEARTS-HF 20 или 40 мг один раз в сутки; целевая доза при ХБП и диабете 2 типа 20 мг (слайд 32).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7030A0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0F9ED5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txPr>
              <a:bodyPr/>
              <a:lstStyle/>
              <a:p>
                <a:pPr>
                  <a:defRPr sz="1800" b="1" lang="ru-RU">
                    <a:solidFill>
                      <a:srgbClr val="000000"/>
                    </a:solidFill>
                    <a:latin typeface="Arial Narrow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 BY-SA 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635500" cy="584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лечении контролируют фильтрацию, от неё зависят начальная доза и повышение дозы (слайды 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 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Карточка_кровь"/>
          <p:cNvSpPr/>
          <p:nvPr/>
        </p:nvSpPr>
        <p:spPr>
          <a:xfrm>
            <a:off x="457200" y="1143000"/>
            <a:ext cx="6959600" cy="2844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6" name="Карточка_моча"/>
          <p:cNvSpPr/>
          <p:nvPr/>
        </p:nvSpPr>
        <p:spPr>
          <a:xfrm>
            <a:off x="457200" y="4140200"/>
            <a:ext cx="6959600" cy="2159000"/>
          </a:xfrm>
          <a:prstGeom prst="roundRect">
            <a:avLst>
              <a:gd name="adj" fmla="val 470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Карточка_ответ"/>
          <p:cNvSpPr/>
          <p:nvPr/>
        </p:nvSpPr>
        <p:spPr>
          <a:xfrm>
            <a:off x="7772400" y="1930400"/>
            <a:ext cx="3962400" cy="4368800"/>
          </a:xfrm>
          <a:prstGeom prst="roundRect">
            <a:avLst>
              <a:gd name="adj" fmla="val 256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7" name="Плашка_вопрос"/>
          <p:cNvSpPr/>
          <p:nvPr/>
        </p:nvSpPr>
        <p:spPr>
          <a:xfrm>
            <a:off x="7772400" y="1143000"/>
            <a:ext cx="3962400" cy="736600"/>
          </a:xfrm>
          <a:prstGeom prst="roundRect">
            <a:avLst>
              <a:gd name="adj" fmla="val 10344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sp>
        <p:nvSpPr>
          <p:cNvPr id="65" name="Clinical_question"/>
          <p:cNvSpPr txBox="1"/>
          <p:nvPr/>
        </p:nvSpPr>
        <p:spPr>
          <a:xfrm>
            <a:off x="7772400" y="1143000"/>
            <a:ext cx="3962400" cy="736600"/>
          </a:xfrm>
          <a:prstGeom prst="rect">
            <a:avLst/>
          </a:prstGeom>
          <a:noFill/>
          <a:effectLst/>
        </p:spPr>
        <p:txBody>
          <a:bodyPr wrap="square" lIns="17780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5600" y="2159000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5600" y="3853771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частоту 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5600" y="5548543"/>
            <a:ext cx="3581400" cy="522056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Карточка_хроническая"/>
          <p:cNvSpPr/>
          <p:nvPr/>
        </p:nvSpPr>
        <p:spPr>
          <a:xfrm>
            <a:off x="457200" y="4064000"/>
            <a:ext cx="11277600" cy="1441744"/>
          </a:xfrm>
          <a:prstGeom prst="roundRect">
            <a:avLst>
              <a:gd name="adj" fmla="val 704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функция"/>
          <p:cNvSpPr/>
          <p:nvPr/>
        </p:nvSpPr>
        <p:spPr>
          <a:xfrm>
            <a:off x="4572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4008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Круг_или"/>
          <p:cNvSpPr/>
          <p:nvPr/>
        </p:nvSpPr>
        <p:spPr>
          <a:xfrm>
            <a:off x="5816600" y="2438400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 &lt;60 мл/мин/1,73 м² или АКО ≥30 мг/г не менее 3 месяцев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660400" y="170180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660400" y="241300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Критерий ХБП: 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660400" y="2997200"/>
            <a:ext cx="4953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604000" y="170180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604000" y="241300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Критерий ХБП: 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604000" y="2997200"/>
            <a:ext cx="4953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660400" y="4241800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660400" y="4861072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65800" y="2540000"/>
            <a:ext cx="660400" cy="355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Плашка_функция"/>
          <p:cNvSpPr/>
          <p:nvPr/>
        </p:nvSpPr>
        <p:spPr>
          <a:xfrm>
            <a:off x="4572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</a:t>
            </a:r>
          </a:p>
        </p:txBody>
      </p:sp>
      <p:sp>
        <p:nvSpPr>
          <p:cNvPr id="24" name="Плашка_повреждение"/>
          <p:cNvSpPr/>
          <p:nvPr/>
        </p:nvSpPr>
        <p:spPr>
          <a:xfrm>
            <a:off x="64008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Повреждение почек</a:t>
            </a:r>
          </a:p>
        </p:txBody>
      </p: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Карточка_пример"/>
          <p:cNvSpPr/>
          <p:nvPr/>
        </p:nvSpPr>
        <p:spPr>
          <a:xfrm>
            <a:off x="457200" y="2362200"/>
            <a:ext cx="2387600" cy="1720784"/>
          </a:xfrm>
          <a:prstGeom prst="roundRect">
            <a:avLst>
              <a:gd name="adj" fmla="val 579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5" name="Шапка_рСКФ"/>
          <p:cNvSpPr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6" name="Шапка_A1"/>
          <p:cNvSpPr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7" name="Шапка_A2"/>
          <p:cNvSpPr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Шапка_A3"/>
          <p:cNvSpPr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Шапка_G1"/>
          <p:cNvSpPr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Шапка_G2"/>
          <p:cNvSpPr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1" name="Шапка_G3"/>
          <p:cNvSpPr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Шапка_G4"/>
          <p:cNvSpPr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3" name="Шапка_G5"/>
          <p:cNvSpPr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Шапка_G6"/>
          <p:cNvSpPr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рСКФ более высокая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558800" y="2514600"/>
            <a:ext cx="2260600" cy="1441384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низкий*.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5" name="Рамка_пример_A1"/>
          <p:cNvSpPr/>
          <p:nvPr/>
        </p:nvSpPr>
        <p:spPr>
          <a:xfrm>
            <a:off x="4495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6" name="Рамка_пример_A3"/>
          <p:cNvSpPr/>
          <p:nvPr/>
        </p:nvSpPr>
        <p:spPr>
          <a:xfrm>
            <a:off x="9321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АПФ;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819400" cy="9083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4653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2517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2517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49682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7853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избыток альдостерона действует через минералокортикоидный рецептор, мишень финеренона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0896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4401 пациент с диабетом 2 типа, хронической болезнью почек и выраженной альбуминурией.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канаглифлозин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терминальная почечная недостаточность, удвоение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 30%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графике доля пациентов с событием за всё исследование.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в CREDENCE не изучался. В объединённом анализе FIDELITY ингибиторы НГЛТ2 исходно получали 6,7% пациентов; в этой подгруппе эффект финеренона был сходным с общим, но это анализ подгруппы, и отдельного исследования исходов для комбинации нет.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НГЛТ2: натрий-глюкозный котранспортёр 2 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 Agarwal R, et al. Eur Heart J. 2022;43:474–484.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 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FIDELIO-DKD, FIGARO-DKD и их объединённый анализ FIDELITY,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давление и гликемию контролируют у всех пациентов; препараты врач выбирает по рСКФ, альбуминурии и калию.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 BY 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ENaC: эпителиальный натриевый канал; ROMK: калиевый канал наружного мозгового вещества почки.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588000" cy="466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 МКР может усиливаться. Ответ зависит 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 BY 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452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он препятствует активации МКР (слайд 19). Влияние на воспаление и фиброз показано только в доклинических исследованиях.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при хронической болезни почек с альбуминурией и диабете 2 типа финеренон по сравнению с плацебо снижал риск почечных и сердечно-сосудистых событий на фоне 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 BY 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 два исследования III фазы и объединённый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пациенты с хронической болезнью почек, сахарным диабетом 2 типа и альбуминурией; калий сыворотки при включении ≤4,8 ммоль/л.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стандартной терапии, включая ингибитор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≥40%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41814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41814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поисковый анализ объединённых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сердечно-сосудистый, как в FIGARO-DKD, и почечный, как в FIDELIO-DKD, но с устойчивым снижением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8928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сыворотки).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 BY 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относительное снижение риска комбинированного почечного исхода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5674 пациента в анализе (5734 рандомизированы). Хроническая болезнь почек и сахарный диабет 2 типа; преимущественно 3–4-я стадия болезни почек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 18%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 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68800"/>
            <a:ext cx="4124325" cy="104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18,3%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9,0%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2,3%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относительное снижение риска комбинированного сердечно-сосудистого исхода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7352 пациента в анализе (7437 рандомизированы). Хроническая болезнь почек и сахарный диабет 2 типа: 2–4-я стадия с умеренно повышенной альбуминурией или 1–2-я стадия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120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 13%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46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 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8000"/>
            <a:ext cx="4124325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 по поводу сердечной недостаточности: отношение рисков 0,71 (95% ДИ 0,56–0,90), анализ отдельного компонента.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снижение других компонентов не доказано.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588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10,8%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5,3%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1,2%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относительное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 из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 года. Заранее запланированный поисковый анализ объединённых индивидуальных данных.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 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 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 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9944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по накопленной частоте к 3 годам: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2,2% (сердечно-сосудистый исход) и 1,7%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14,0%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6,9%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окончательная отмена из-за неё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0,6%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 BY-NC 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Относительная разница с плацебо по АКО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457200" y="2997200"/>
            <a:ext cx="4381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 поправкой на исходный уровень АКО.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327400"/>
            <a:ext cx="43815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считали: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изменений АКО,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к плацебо: 0,68 (95% ДИ 0,66–0,70);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1 − 0,68 = 0,32.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пациентов, у которых АКО снизилось на ≥30%: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53,2%, плацебо 27,0% (апостериорный анализ, 12 512 пациентов).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5095875"/>
            <a:ext cx="10896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на уровне групп; отражает почечный эффект лучше, чем сердечно-сосудистый.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одновременное начало финеренона и эмпаглифлозина снижало АКО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800 пациентов с хронической болезнью почек и сахарным диабетом 2 типа; двойное слепое исследование II фазы, 180 дней.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мг/г, калий ≤4,8 ммоль/л; ингибитор АПФ или БРА в максимально переносимой дозе.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 180-му дню АКО снизилось на 52% (комбинация), 32% (финеренон) и 29% (эмпаглифлозин); комбинация против каждой: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АКО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АКО к исходному уровню (1,0 = исходный), среднее МНК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сыворотки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калия сыворотки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различие комбинации и финеренона статистически незначимо (p=0,91). На обоих графиках день 180: отмена, день 210: +30 дней.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калий &gt;5,5 ммоль/л хотя бы раз: финеренон 18,8%, комбинация 15,1% (различие статистически незначимо, p=0,85), эмпаглифлозин 9,7%.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суррогатная конечная точка (АКО); 180 дней мало, чтобы оценить различия по почечным и сердечно-сосудистым исходам.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МНК: метод наименьших квадратов (оценка по статистической модели). Доли пациентов с калием &gt;5,5 ммоль/л и значения p для калия: вторичный анализ CONFIDENCE, 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 ClinicalTrials.gov NCT05254002.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минералокортикоидного рецептора с доказанной в исследованиях эффективностью (финеренон)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м²; после начала лечения контролируют калий.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Одновременное начало финеренона и ингибитора НГЛТ2 можно рассмотреть у взрослых с диабетом 2 типа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> У препаратов разные мишени, они не заменяют друг друга.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блокируют один рецептор, но изучены у разных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риск почечных и сердечно-сосудистых событий у взрослых с ХБП и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стероидный антагонист МКР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смертность при тяжёлой сердечной недостаточности со сниженной фракцией выброса.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врач учитывает диагноз, инструкцию и данные исследований в этой группе пациентов. Разная селективность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совместное применение финеренона и спиронолактона не рекомендуется.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13774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CONFIDENCE добавление эмпаглифлозина статистически значимо не снизило риск гиперкалиемии (p=0,85): калий контролируют так же, как при монотерапии финереноном.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457575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532357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Сочетания с финереноном: что противопоказано,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что не рекомендуется и когда нужен контроль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НПВП: нестероидные противовоспалительные препараты.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НПВП: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ибупрофен, диклофенак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оценивает необходимость сочетания, контролирует калий, а при приёме НПВП также функцию почек.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" name="CYP3A4_фермент"/>
          <p:cNvSpPr/>
          <p:nvPr/>
        </p:nvSpPr>
        <p:spPr>
          <a:xfrm>
            <a:off x="4792915" y="1199441"/>
            <a:ext cx="2622235" cy="982787"/>
          </a:xfrm>
          <a:prstGeom prst="roundRect">
            <a:avLst>
              <a:gd name="adj" fmla="val 18091"/>
            </a:avLst>
          </a:prstGeom>
          <a:solidFill>
            <a:srgbClr val="E8E8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Карточка_Strong_heading"/>
          <p:cNvSpPr/>
          <p:nvPr/>
        </p:nvSpPr>
        <p:spPr>
          <a:xfrm>
            <a:off x="45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Карточка_Moderate_weak_heading"/>
          <p:cNvSpPr/>
          <p:nvPr/>
        </p:nvSpPr>
        <p:spPr>
          <a:xfrm>
            <a:off x="426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6" name="Карточка_Inducer_heading"/>
          <p:cNvSpPr/>
          <p:nvPr/>
        </p:nvSpPr>
        <p:spPr>
          <a:xfrm>
            <a:off x="8077200" y="4114800"/>
            <a:ext cx="3657600" cy="2088088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7" name="Enzyme_label"/>
          <p:cNvSpPr txBox="1"/>
          <p:nvPr/>
        </p:nvSpPr>
        <p:spPr>
          <a:xfrm>
            <a:off x="4873752" y="13705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404040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7454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3340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562608"/>
            <a:ext cx="1801368" cy="0"/>
          </a:xfrm>
          <a:prstGeom prst="line">
            <a:avLst/>
          </a:prstGeom>
          <a:ln w="27305">
            <a:solidFill>
              <a:srgbClr val="B532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407160"/>
            <a:ext cx="0" cy="310896"/>
          </a:xfrm>
          <a:prstGeom prst="line">
            <a:avLst/>
          </a:prstGeom>
          <a:ln w="27305">
            <a:solidFill>
              <a:srgbClr val="B532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827783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239264"/>
            <a:ext cx="210312" cy="329184"/>
          </a:xfrm>
          <a:prstGeom prst="upArrow">
            <a:avLst/>
          </a:prstGeom>
          <a:solidFill>
            <a:srgbClr val="B5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2484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6781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3340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562608"/>
            <a:ext cx="822961" cy="0"/>
          </a:xfrm>
          <a:prstGeom prst="line">
            <a:avLst/>
          </a:prstGeom>
          <a:ln w="27305">
            <a:solidFill>
              <a:srgbClr val="15608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827783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239264"/>
            <a:ext cx="210312" cy="329184"/>
          </a:xfrm>
          <a:prstGeom prst="downArrow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2484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6781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7147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257552"/>
            <a:ext cx="0" cy="539496"/>
          </a:xfrm>
          <a:prstGeom prst="line">
            <a:avLst/>
          </a:prstGeom>
          <a:ln w="17780">
            <a:solidFill>
              <a:srgbClr val="7F7F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851912"/>
            <a:ext cx="1106424" cy="0"/>
          </a:xfrm>
          <a:prstGeom prst="line">
            <a:avLst/>
          </a:prstGeom>
          <a:ln w="2540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5593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2268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609600" y="4241800"/>
            <a:ext cx="3352800" cy="4668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19600" y="4241800"/>
            <a:ext cx="3352800" cy="4668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241800"/>
            <a:ext cx="3352800" cy="687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609600" y="4902200"/>
            <a:ext cx="3352800" cy="52205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19600" y="4902200"/>
            <a:ext cx="3352800" cy="2737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E97132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19600" y="5232400"/>
            <a:ext cx="3352800" cy="7979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при начале приёма или изменении дозы любого из препаратов, при необходимости 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156200"/>
            <a:ext cx="3352800" cy="52205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609600" y="5638800"/>
            <a:ext cx="3352800" cy="41168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Плашка_Strong_heading"/>
          <p:cNvSpPr/>
          <p:nvPr/>
        </p:nvSpPr>
        <p:spPr>
          <a:xfrm>
            <a:off x="45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Сильные ингибиторы</a:t>
            </a:r>
          </a:p>
        </p:txBody>
      </p:sp>
      <p:sp>
        <p:nvSpPr>
          <p:cNvPr id="63" name="Плашка_Moderate_weak_heading"/>
          <p:cNvSpPr/>
          <p:nvPr/>
        </p:nvSpPr>
        <p:spPr>
          <a:xfrm>
            <a:off x="426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Умеренные и слабые ингибиторы</a:t>
            </a:r>
          </a:p>
        </p:txBody>
      </p:sp>
      <p:sp>
        <p:nvSpPr>
          <p:cNvPr id="65" name="Плашка_Inducer_heading"/>
          <p:cNvSpPr/>
          <p:nvPr/>
        </p:nvSpPr>
        <p:spPr>
          <a:xfrm>
            <a:off x="807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Сильные и умеренные индукторы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1117600"/>
            <a:ext cx="1098963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гиперчувствительность к компонентам препарата, болезнь Аддисона,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Далее периодически: KDIGO 2024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 месяца: KDIGO 2024.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457200" y="3810000"/>
            <a:ext cx="1127760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57200" y="4445000"/>
            <a:ext cx="1127760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457200" y="51816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> 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ХБП, связанной с сахарным диабетом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Очень 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гипонатриемия, гиперурикемия, гипотензия, зуд, снижение рСКФ.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3,4%, плацебо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 &lt;25 мл/мин/1,73 м². При рСКФ &lt;15 лечение прекращают.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печёночной недостаточности класса C по Чайлд–Пью лечение не начинают. При классе B начальную дозу не меняют, рассматривают дополнительный контроль калия.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применяют только после тщательной оценки пользы и риска.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если узнал о нежелательном явлении на фоне препарата из любого источника,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Также сообщает: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беременности или кормлении грудью, передозировке, ошибке применения, применении вне показаний, отсутствии эффекта.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условных случая: какие данные врач проверяет перед началом лечения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однократно, при инфекции мочевых путей)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проверяет противопоказания и взаимодействия, может начать лечение в дозе 10 мг один раз в сутки (рСКФ 48).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однократно и во время инфекции; сохранная рСКФ не исключает ХБП.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после лечения инфекции повторяет АКО, подтверждает стойкость изменений (не менее 3 месяцев), определяет калий, уточняет список лекарств.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взрослый с ХБП, связанной с сахарным диабетом 2 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ммоль/л, рСКФ 65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 (рСКФ ≥60, калий ≤4,8 ммоль/л).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ммоль/л, рСКФ 61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недавно начат короткий курс ко-тримоксазола.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 после курса: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 и снижение рСКФ не более чем на 30% от предыдущего измерения: дозу можно повысить до 20 мг.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53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калии ≥6,0 ммоль/л или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 знает и может объяснить врачу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взрослые с ХБП, связанной с сахарным диабетом 2 типа. В исследованиях у всех была альбуминурия (АКО ≥30 мг/г).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калий, рСКФ, противопоказания, фоновая терапия (слайд 32).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относительное снижение риска почечного исхода на 18% (FIDELIO-DKD) и сердечно-сосудистого на 13% (FIGARO-DKD).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что противопоказано, не рекомендуется и когда нужен контроль калия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&gt;5,5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отмена; при калии ≤5,0 возобновление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4522953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рамках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8" name="Карточка_вопрос_1"/>
          <p:cNvSpPr/>
          <p:nvPr/>
        </p:nvSpPr>
        <p:spPr>
          <a:xfrm>
            <a:off x="457200" y="11430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9" name="Карточка_вопрос_2"/>
          <p:cNvSpPr/>
          <p:nvPr/>
        </p:nvSpPr>
        <p:spPr>
          <a:xfrm>
            <a:off x="457200" y="37592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618261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8107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3187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405892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44269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9349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826739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61848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нужны, чтобы обсудить финеренон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гликемия и давление под контролем,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относительное снижение риска почечного исхода на 18%; FIGARO-DKD: сердечно-сосудистого на 13%.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отмена: финеренон 1,7%, плацебо 0,6% (FIDELITY).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Прогноз: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альбуминурии риск почечных и сердечно-сосудистых осложнений выше (слайд 13).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что предусматривает инструкция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Источник алгоритма: инструкция по медицинскому применению. 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дозу 10 мг можно повысить до 20 мг, если рСКФ снизилась не более чем на 30%; дозу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можно возобновить в дозе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≤4,8 и снижение рСКФ не более чем на 30%: дозу можно повысить до 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АКО у пациента снизилось, значит ли это, что риск диализа стал ниже?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 48 и при рСКФ 72?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ARTS, II фаза: сравнение со спиронолактоном по частоте повышения калия при сердечной недостаточности (слайд 44)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FIND-CKD: хроническая болезнь почек без диабета (слайд 45)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FINE-ONE: диабет 1 типа и регуляторный статус в США (слайды 46 и 47)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FINEARTS-HF: сердечная недостаточность с фракцией выброса ≥40% (слайд 48)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20320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203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научить представителя узнавать вопросы вне показаний и правильно их передавать.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Карточка_ARTS"/>
          <p:cNvSpPr/>
          <p:nvPr/>
        </p:nvSpPr>
        <p:spPr>
          <a:xfrm>
            <a:off x="7467600" y="1524000"/>
            <a:ext cx="4267200" cy="1426660"/>
          </a:xfrm>
          <a:prstGeom prst="roundRect">
            <a:avLst>
              <a:gd name="adj" fmla="val 7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Карточка_дозы"/>
          <p:cNvSpPr/>
          <p:nvPr/>
        </p:nvSpPr>
        <p:spPr>
          <a:xfrm>
            <a:off x="7467600" y="3509460"/>
            <a:ext cx="4267200" cy="916208"/>
          </a:xfrm>
          <a:prstGeom prst="roundRect">
            <a:avLst>
              <a:gd name="adj" fmla="val 1108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ограничение"/>
          <p:cNvSpPr/>
          <p:nvPr/>
        </p:nvSpPr>
        <p:spPr>
          <a:xfrm>
            <a:off x="7467600" y="4552669"/>
            <a:ext cx="4267200" cy="1263300"/>
          </a:xfrm>
          <a:prstGeom prst="roundRect">
            <a:avLst>
              <a:gd name="adj" fmla="val 80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вывод"/>
          <p:cNvSpPr/>
          <p:nvPr/>
        </p:nvSpPr>
        <p:spPr>
          <a:xfrm>
            <a:off x="457200" y="4679025"/>
            <a:ext cx="6858000" cy="1136944"/>
          </a:xfrm>
          <a:prstGeom prst="roundRect">
            <a:avLst>
              <a:gd name="adj" fmla="val 893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143000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1854200"/>
          <a:ext cx="6419088" cy="2672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635000" y="4780625"/>
            <a:ext cx="6502400" cy="933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ARTS при плацебо гиперкалиемия была у 1,5%; в FIDELITY финеренон повышал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645400" y="1625600"/>
            <a:ext cx="3937000" cy="1223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392 пациента с сердечной недостаточностью со сниженной фракцией выброса и умеренным нарушением функции почек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645400" y="3611060"/>
            <a:ext cx="3937000" cy="713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 либо 5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645400" y="4654269"/>
            <a:ext cx="3937000" cy="108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описательное сравнение объединённых групп доз,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15" name="Плашка_ARTS"/>
          <p:cNvSpPr/>
          <p:nvPr/>
        </p:nvSpPr>
        <p:spPr>
          <a:xfrm>
            <a:off x="7467600" y="109220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17" name="Плашка_дозы"/>
          <p:cNvSpPr/>
          <p:nvPr/>
        </p:nvSpPr>
        <p:spPr>
          <a:xfrm>
            <a:off x="7467600" y="307766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≥25 и &lt;90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в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 (пунктир)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Вторичный 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устойчивое снижение рСКФ на ≥57%,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гиперкалиемия: финеренон 17,0%, плацебо 13,3%; окончательная отмена из-за неё: финеренон 1,5%, плацебо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 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результат"/>
          <p:cNvSpPr/>
          <p:nvPr/>
        </p:nvSpPr>
        <p:spPr>
          <a:xfrm>
            <a:off x="7366000" y="2235200"/>
            <a:ext cx="4368800" cy="2895600"/>
          </a:xfrm>
          <a:prstGeom prst="roundRect">
            <a:avLst>
              <a:gd name="adj" fmla="val 350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242 взрослых с хронической болезнью почек и диабетом 1 типа; рСКФ ≥25 и &lt;90 мл/мин/1,73 м², 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258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альбуминурии от исходного уровня,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362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946400"/>
            <a:ext cx="3962400" cy="1638913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Относительная 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(1 − 0,34) / (1 − 0,12) = 0,66 / 0,88 = 0,75; столбики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 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суррогатная конечная точка;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гиперкалиемия: </a:t>
            </a:r>
            <a:r>
              <a:rPr lang="ru-RU"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 10,1%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, </a:t>
            </a:r>
            <a:r>
              <a:rPr lang="ru-RU" sz="1600" b="0">
                <a:solidFill>
                  <a:srgbClr val="7F7F7F"/>
                </a:solidFill>
                <a:latin typeface="Arial Narrow"/>
                <a:cs typeface="Arial Narrow"/>
              </a:rPr>
              <a:t>плацебо 3,3%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США одобрено показание при ХБП и диабете 1 типа (16.09.2026).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215341, 16.09.2026.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Диабет 1 типа: регуляторный статус в США (вне показаний местной инструкции)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215341, 16.09.2026.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810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8100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600200"/>
            <a:ext cx="34544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Керендия (финеренон).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419600" y="1066800"/>
            <a:ext cx="7315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419600" y="1498600"/>
            <a:ext cx="73152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597400" y="1600200"/>
            <a:ext cx="66548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457200" y="4018625"/>
            <a:ext cx="1127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457200" y="4450425"/>
            <a:ext cx="11277600" cy="852256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635000" y="4552025"/>
            <a:ext cx="10922000" cy="623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Карточка_результат"/>
          <p:cNvSpPr/>
          <p:nvPr/>
        </p:nvSpPr>
        <p:spPr>
          <a:xfrm>
            <a:off x="7366000" y="2108200"/>
            <a:ext cx="4368800" cy="2921000"/>
          </a:xfrm>
          <a:prstGeom prst="roundRect">
            <a:avLst>
              <a:gd name="adj" fmla="val 347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частота событий первичного исхода ниже на 16% (относительное снижение)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6001 пациент с симптомной сердечной недостаточностью и фракцией выброса левого желудочка ≥40%,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до 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235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819400"/>
            <a:ext cx="3962400" cy="8017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Результат:</a:t>
            </a: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 отношение частот 0,84 (95% ДИ 0,74–0,95), p=0,007; частота событий ниже на 16% (относительное снижение).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569200" y="3722740"/>
            <a:ext cx="3962400" cy="988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снижение риска сердечно-сосудистой смерти отдельно не подтверждено: отношение рисков 0,93 (95% ДИ 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308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первые и повторные незапланированные госпитализации или срочные визиты по поводу сердечной 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Керендия зарегистрирована при этой форме сердечной недостаточности независимо от диабета: в США (FDA, июль 2025) и в Евросоюзе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Decision, 26.03.2026.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35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6172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6172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6350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Остаточный риск и четыре группы препаратов: слайды 15–16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457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457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5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6172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6172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6350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читать результаты исследования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нему; подгруппы дают только гипотезы.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681688"/>
            <a:ext cx="2006600" cy="706432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681688"/>
            <a:ext cx="49276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681688"/>
            <a:ext cx="42672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681688"/>
            <a:ext cx="1803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681688"/>
            <a:ext cx="4724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Несколько событий в одном исходе; обычно засчитывают первое у пациента, в FINEARTS-HF и повторные (слайд 48). Разница может быть в основном за счёт одного компонента.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681688"/>
            <a:ext cx="40640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FIGARO-DKD: разница в основном за счёт госпитализаций по поводу сердечной недостаточности (слайд 22).</a:t>
            </a:r>
          </a:p>
        </p:txBody>
      </p:sp>
      <p:sp>
        <p:nvSpPr>
          <p:cNvPr id="21" name="Чтение_фон_3_0"/>
          <p:cNvSpPr/>
          <p:nvPr/>
        </p:nvSpPr>
        <p:spPr>
          <a:xfrm>
            <a:off x="457200" y="242622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Чтение_фон_3_1"/>
          <p:cNvSpPr/>
          <p:nvPr/>
        </p:nvSpPr>
        <p:spPr>
          <a:xfrm>
            <a:off x="2489200" y="242622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Чтение_фон_3_2"/>
          <p:cNvSpPr/>
          <p:nvPr/>
        </p:nvSpPr>
        <p:spPr>
          <a:xfrm>
            <a:off x="7442200" y="242622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Чтение_термин_3"/>
          <p:cNvSpPr txBox="1"/>
          <p:nvPr/>
        </p:nvSpPr>
        <p:spPr>
          <a:xfrm>
            <a:off x="558800" y="242622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Накопленная частота</a:t>
            </a:r>
          </a:p>
        </p:txBody>
      </p:sp>
      <p:sp>
        <p:nvSpPr>
          <p:cNvPr id="25" name="Чтение_смысл_3"/>
          <p:cNvSpPr txBox="1"/>
          <p:nvPr/>
        </p:nvSpPr>
        <p:spPr>
          <a:xfrm>
            <a:off x="2590800" y="242622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к данному месяцу с учётом разного срока наблюдения. Кривая со временем не снижается.</a:t>
            </a:r>
          </a:p>
        </p:txBody>
      </p:sp>
      <p:sp>
        <p:nvSpPr>
          <p:cNvPr id="26" name="Чтение_пример_3"/>
          <p:cNvSpPr txBox="1"/>
          <p:nvPr/>
        </p:nvSpPr>
        <p:spPr>
          <a:xfrm>
            <a:off x="7543800" y="242622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Слайд 21: к 48-му месяцу кривые выше долей за всё исследование (не всех наблюдали так долго).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977608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977608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977608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977608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977608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в группе препарата относительно плацебо. Меньше 1: риск ниже. Разные исследования напрямую не сравнивают.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977608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1 − 0,82 = 0,18; риск ниже на 18%, это относительное снижение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528997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528997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528997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528997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528997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Значения эффекта, совместимые с данными. Статистически значимо, если не включает 1 (отношение) или 0 (разность).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528997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0,73–0,93: не включает 1, снижение статистически значимо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080385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080385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080385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080385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080385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лечить указанный срок, чтобы предотвратить одно событие. Считают по абсолютному снижению риска.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080385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сердечно-сосудистый исход: 1 / 2,2% (абсолютная разница за 3 года) ≈ 46 (слайд 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4631773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4631773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4631773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4631773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4631773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Показатель, например альбуминурия: меняется раньше событий, но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4631773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оценивали альбуминурию, клинические исходы не оценивали (слайд 25).</a:t>
            </a:r>
          </a:p>
        </p:txBody>
      </p:sp>
      <p:sp>
        <p:nvSpPr>
          <p:cNvPr id="51" name="Чтение_фон_8_0"/>
          <p:cNvSpPr/>
          <p:nvPr/>
        </p:nvSpPr>
        <p:spPr>
          <a:xfrm>
            <a:off x="457200" y="5183162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Чтение_фон_8_1"/>
          <p:cNvSpPr/>
          <p:nvPr/>
        </p:nvSpPr>
        <p:spPr>
          <a:xfrm>
            <a:off x="2489200" y="5183162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Чтение_фон_8_2"/>
          <p:cNvSpPr/>
          <p:nvPr/>
        </p:nvSpPr>
        <p:spPr>
          <a:xfrm>
            <a:off x="7442200" y="5183162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Чтение_термин_8"/>
          <p:cNvSpPr txBox="1"/>
          <p:nvPr/>
        </p:nvSpPr>
        <p:spPr>
          <a:xfrm>
            <a:off x="558800" y="5183162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Рандомизированы и в анализе</a:t>
            </a:r>
          </a:p>
        </p:txBody>
      </p:sp>
      <p:sp>
        <p:nvSpPr>
          <p:cNvPr id="55" name="Чтение_смысл_8"/>
          <p:cNvSpPr txBox="1"/>
          <p:nvPr/>
        </p:nvSpPr>
        <p:spPr>
          <a:xfrm>
            <a:off x="2590800" y="5183162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Рандомизированы: сколько пациентов случайно распределили по группам. В анализе: сколько вошло в расчёт результата.</a:t>
            </a:r>
          </a:p>
        </p:txBody>
      </p:sp>
      <p:sp>
        <p:nvSpPr>
          <p:cNvPr id="56" name="Чтение_пример_8"/>
          <p:cNvSpPr txBox="1"/>
          <p:nvPr/>
        </p:nvSpPr>
        <p:spPr>
          <a:xfrm>
            <a:off x="7543800" y="5183162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5734 и 5674 (слайд 21).</a:t>
            </a:r>
          </a:p>
        </p:txBody>
      </p:sp>
      <p:sp>
        <p:nvSpPr>
          <p:cNvPr id="57" name="Чтение_фон_9_0"/>
          <p:cNvSpPr/>
          <p:nvPr/>
        </p:nvSpPr>
        <p:spPr>
          <a:xfrm>
            <a:off x="457200" y="573455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Чтение_фон_9_1"/>
          <p:cNvSpPr/>
          <p:nvPr/>
        </p:nvSpPr>
        <p:spPr>
          <a:xfrm>
            <a:off x="2489200" y="573455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Чтение_фон_9_2"/>
          <p:cNvSpPr/>
          <p:nvPr/>
        </p:nvSpPr>
        <p:spPr>
          <a:xfrm>
            <a:off x="7442200" y="573455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Чтение_термин_9"/>
          <p:cNvSpPr txBox="1"/>
          <p:nvPr/>
        </p:nvSpPr>
        <p:spPr>
          <a:xfrm>
            <a:off x="558800" y="573455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</a:t>
            </a:r>
          </a:p>
        </p:txBody>
      </p:sp>
      <p:sp>
        <p:nvSpPr>
          <p:cNvPr id="61" name="Чтение_смысл_9"/>
          <p:cNvSpPr txBox="1"/>
          <p:nvPr/>
        </p:nvSpPr>
        <p:spPr>
          <a:xfrm>
            <a:off x="2590800" y="573455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Половина пациентов наблюдалась дольше этого срока, другая половина меньше.</a:t>
            </a:r>
          </a:p>
        </p:txBody>
      </p:sp>
      <p:sp>
        <p:nvSpPr>
          <p:cNvPr id="62" name="Чтение_пример_9"/>
          <p:cNvSpPr txBox="1"/>
          <p:nvPr/>
        </p:nvSpPr>
        <p:spPr>
          <a:xfrm>
            <a:off x="7543800" y="573455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 2,6 года, FIGARO-DKD 3,4 года (слайды 21, 22).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5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письмо FDA об одобрении (NDA 215341, 16.09.2026) и инструкция США на accessdata.fda.gov; инструкция Финеренон-Орвилле: https://orvilleservices.com/instructions/Finerenon_Instruction_ru.pdf</a:t>
            </a:r>
          </a:p>
          <a:p xmlns:a="http://schemas.openxmlformats.org/drawingml/2006/main">
            <a:r>
              <a:t>Дата проверки: 25.09.2026. Дата одобрения и формулировка показания подтверждены по сообщениям Bayer и медицинских изданий; номер дополнения к заявке не подтверждён.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