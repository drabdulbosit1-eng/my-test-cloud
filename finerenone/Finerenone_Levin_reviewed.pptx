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notesSlides/notesSlide2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265" r:id="rIdReviewed10"/>
    <p:sldId id="266" r:id="rIdReviewed11"/>
    <p:sldId id="267" r:id="rIdReviewed12"/>
    <p:sldId id="268" r:id="rIdReviewed13"/>
    <p:sldId id="269" r:id="rIdReviewed14"/>
    <p:sldId id="260" r:id="rIdReviewed5"/>
    <p:sldId id="261" r:id="rIdReviewed6"/>
    <p:sldId id="262" r:id="rIdReviewed7"/>
    <p:sldId id="263" r:id="rIdReviewed8"/>
    <p:sldId id="264" r:id="rIdReviewed9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1" r:id="rIdReviewed36"/>
    <p:sldId id="297" r:id="rId83"/>
    <p:sldId id="298" r:id="rId84"/>
    <p:sldId id="299" r:id="rId85"/>
    <p:sldId id="300" r:id="rId86"/>
    <p:sldId id="301" r:id="rId87"/>
    <p:sldId id="282" r:id="rIdReviewed27"/>
    <p:sldId id="292" r:id="rIdReviewed37"/>
    <p:sldId id="293" r:id="rIdReviewed38"/>
    <p:sldId id="295" r:id="rIdT1D1"/>
    <p:sldId id="296" r:id="rIdT1D2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10.xml"/><Relationship Id="rIdReviewed11" Type="http://schemas.openxmlformats.org/officeDocument/2006/relationships/slide" Target="slides/slide11.xml"/><Relationship Id="rIdReviewed12" Type="http://schemas.openxmlformats.org/officeDocument/2006/relationships/slide" Target="slides/slide12.xml"/><Relationship Id="rIdReviewed13" Type="http://schemas.openxmlformats.org/officeDocument/2006/relationships/slide" Target="slides/slide13.xml"/><Relationship Id="rIdReviewed14" Type="http://schemas.openxmlformats.org/officeDocument/2006/relationships/slide" Target="slides/slide14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27.xml"/><Relationship Id="rIdReviewed28" Type="http://schemas.openxmlformats.org/officeDocument/2006/relationships/slide" Target="slides/slide28.xml"/><Relationship Id="rIdReviewed29" Type="http://schemas.openxmlformats.org/officeDocument/2006/relationships/slide" Target="slides/slide29.xml"/><Relationship Id="rIdReviewed3" Type="http://schemas.openxmlformats.org/officeDocument/2006/relationships/slide" Target="slides/slide3.xml"/><Relationship Id="rIdReviewed30" Type="http://schemas.openxmlformats.org/officeDocument/2006/relationships/slide" Target="slides/slide30.xml"/><Relationship Id="rIdReviewed31" Type="http://schemas.openxmlformats.org/officeDocument/2006/relationships/slide" Target="slides/slide31.xml"/><Relationship Id="rIdReviewed32" Type="http://schemas.openxmlformats.org/officeDocument/2006/relationships/slide" Target="slides/slide32.xml"/><Relationship Id="rIdReviewed33" Type="http://schemas.openxmlformats.org/officeDocument/2006/relationships/slide" Target="slides/slide33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37.xml"/><Relationship Id="rIdReviewed38" Type="http://schemas.openxmlformats.org/officeDocument/2006/relationships/slide" Target="slides/slide38.xml"/><Relationship Id="rIdReviewed39" Type="http://schemas.openxmlformats.org/officeDocument/2006/relationships/slide" Target="slides/slide41.xml"/><Relationship Id="rIdReviewed4" Type="http://schemas.openxmlformats.org/officeDocument/2006/relationships/slide" Target="slides/slide4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5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6.xml"/><Relationship Id="rIdReviewed7" Type="http://schemas.openxmlformats.org/officeDocument/2006/relationships/slide" Target="slides/slide7.xml"/><Relationship Id="rIdReviewed8" Type="http://schemas.openxmlformats.org/officeDocument/2006/relationships/slide" Target="slides/slide8.xml"/><Relationship Id="rIdReviewed9" Type="http://schemas.openxmlformats.org/officeDocument/2006/relationships/slide" Target="slides/slide9.xml"/><Relationship Id="rIdT1D1" Type="http://schemas.openxmlformats.org/officeDocument/2006/relationships/slide" Target="slides/slide39.xml"/><Relationship Id="rIdT1D2" Type="http://schemas.openxmlformats.org/officeDocument/2006/relationships/slide" Target="slides/slide40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4.xml"/><Relationship Id="rId86" Type="http://schemas.openxmlformats.org/officeDocument/2006/relationships/slide" Target="slides/slide45.xml"/><Relationship Id="rId87" Type="http://schemas.openxmlformats.org/officeDocument/2006/relationships/slide" Target="slides/slide46.xml"/><Relationship Id="rId88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1F4E79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A9C4C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5C87C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5C87C3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C7543B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5C87C3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C7543B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A6A6A6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8–10 (анализы и прогноз), 13 (остаточный риск), 19–21 (FIDELIO-DKD, FIGARO-DKD, FIDELITY), 30 (перед началом), 34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Разбор: на следующем слайде вопрос 1, затем вопрос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 по UK Kidney Association (2023): калий 6,0–6,4 ммоль/л при неожиданном повышении у стабильного амбулаторного пациента повторяют в течение 24 часов; при остром повреждении почек или ухудшении состояния нужны обследование и лечение в стационаре. Калий ≥6,5 ммоль/л: немедленная помощь в стационаре.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исходы FIDELITY: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через ≥4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Ключевой вторичный (сердечно-сосудистый) исход: 13,0% против 14,8%,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9,5% против 10,8%, отношение рисков 0,87 (95% ДИ 0,76–1,01), статистически значимых различий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Ингибиторы НГЛТ2 исходно получали 6,7% пациентов.</a:t>
            </a:r>
          </a:p>
          <a:p>
            <a:r>
              <a:t>Проценты: доля пациентов с событием за всё время наблюдения. Снижение риска относительное.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5, 8, 9.</a:t>
            </a:r>
          </a:p>
          <a:p>
            <a:r>
              <a:t>2. Начальная доза 10 мг при рСКФ 48 и 20 мг при рСКФ 72, один раз в сутки; при рСКФ &lt;25 начинать лечение не рекомендуется. Слайды 30, 34.</a:t>
            </a:r>
          </a:p>
          <a:p>
            <a:r>
              <a:t>3. Если рСКФ снизилась более чем на 30% от предыдущего измерения. Слайд 32.</a:t>
            </a:r>
          </a:p>
          <a:p>
            <a:r>
              <a:t>4. FIDELIO-DKD: комбинированный почечный исход (ОР 0,82); FIGARO-DKD: комбинированный сердечно-сосудистый исход (ОР 0,87, в основном за счёт госпитализаций по поводу сердечной недостаточности). Слайды 18–20.</a:t>
            </a:r>
          </a:p>
          <a:p>
            <a:r>
              <a:t>5. Нет. Снижение АКО: суррогатный маркер на уровне групп; влияние на исходы показано в FIDELIO-DKD и FIGARO-DKD. Слайды 22, 23.</a:t>
            </a:r>
          </a:p>
          <a:p>
            <a:r>
              <a:t>6. Нет: назначение финеренона не требует отмены ингибитора НГЛТ2. Слайд 25.</a:t>
            </a:r>
          </a:p>
          <a:p>
            <a:r>
              <a:t>7. Не рекомендуется: другие антагонисты МКР (спиронолактон, эплеренон), калийсберегающие диуретики (амилорид, триамтерен), сильные и умеренные индукторы CYP3A4; противопоказаны сильные ингибиторы CYP3A4. С контролем калия: препараты калия и заменители соли, триметоприм (ко-тримоксазол), НПВП, умеренные и слабые ингибиторы CYP3A4. Слайды 28, 29.</a:t>
            </a:r>
          </a:p>
          <a:p>
            <a:r>
              <a:t>8. Этих показаний нет в местной инструкции: представитель не обсуждает их по своей инициативе и передаёт вопрос врача в медицинский отдел.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27 (механизм), 31 (контроль), 32 (коррекция дозы), 35 (случай), 19–21 (частота окончательной отмены).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 11.07.2025,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Европейская комиссия, C(2026)2188 от 26.03.2026, симптомная хроническая сердечная недостаточность с фракцией выброса левого желудочка ≥40% у взрослых. Это дата решения, а не дата пресс-релиза 30.03.2026. В опубликованной инструкции Финеренон-Орвилле данное показание не указано. Дата проверки 24.09.2026.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5989BB"/>
              </a:solidFill>
              <a:ln>
                <a:noFill/>
              </a:ln>
            </c:spPr>
          </c:dPt>
          <c:dPt>
            <c:idx val="1"/>
            <c:spPr>
              <a:solidFill>
                <a:srgbClr val="7957A1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193951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273C4A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0032103bd1e44bb2" Type="http://schemas.openxmlformats.org/officeDocument/2006/relationships/notesSlide" Target="../t1d_approval/notesSlides/notesSlide2.xml"/><Relationship Id="R01545398bbe44f77" Type="http://schemas.openxmlformats.org/officeDocument/2006/relationships/hyperlink" Target="https://orvilleservices.com/instructions/Finerenon_Instruction_ru.pdf" TargetMode="External"/><Relationship Id="R290cfdcdb716453a" Type="http://schemas.openxmlformats.org/officeDocument/2006/relationships/image" Target="../t1d_approval/media/image2.png"/><Relationship Id="R985443ce4be24b2f" Type="http://schemas.openxmlformats.org/officeDocument/2006/relationships/slideLayout" Target="../t1d_approval/slideLayouts/slideLayout1.xml"/><Relationship Id="Rbcab1758281a4745" Type="http://schemas.openxmlformats.org/officeDocument/2006/relationships/hyperlink" Target="https://www.accessdata.fda.gov/drugsatfda_docs/label/2026/215341s011lbl.pdf" TargetMode="External"/><Relationship Id="rId6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04775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Кому подходит препарат и как он действует.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польза подтверждена исследованиями.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контролировать калий и функцию почек.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  <a:br/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2895600" y="46863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8" name="Рамка_группа_3"/>
          <p:cNvSpPr/>
          <p:nvPr/>
        </p:nvSpPr>
        <p:spPr>
          <a:xfrm>
            <a:off x="2895600" y="34290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7" name="Рамка_группа_2"/>
          <p:cNvSpPr/>
          <p:nvPr/>
        </p:nvSpPr>
        <p:spPr>
          <a:xfrm>
            <a:off x="2895600" y="21717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6" name="Рамка_группа_1"/>
          <p:cNvSpPr/>
          <p:nvPr/>
        </p:nvSpPr>
        <p:spPr>
          <a:xfrm>
            <a:off x="2895600" y="9144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452327" y="996820"/>
            <a:ext cx="8284546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2984500" y="12319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АПФ или рецептор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ангиотензина II типа 1. Расширяют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выносящую артериолу, давление в клубочке ниже.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6985000" y="12319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2984500" y="18873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390900" y="22098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2984500" y="24892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НГЛТ2 проксимального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канальца. Снижают возврат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6985000" y="24892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2984500" y="31446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390900" y="34671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МКР: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2984500" y="37465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минералокортикоидный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рецептор (МКР) в почках,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сердце и сосудах.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6985000" y="37465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2984500" y="44019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FIDELIO-DKD, FIGARO-DKD и их объединённый анализ FIDELITY.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390900" y="47244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2984500" y="5003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Улучшают контроль глюкозы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6985000" y="50038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2984500" y="56592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2540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Давление и гликемию контролируют у всех пациентов. Препараты выбирают по рСКФ, альбуминурии и калию.</a:t>
            </a:r>
            <a:r>
              <a:rPr sz="16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2032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4318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9652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7399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2540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2768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3022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2540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2768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3022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3448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3676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3930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3448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3676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3930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4356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4584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4838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4356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4584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4838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5264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5492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5746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5264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5492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5746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6172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6400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6654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6172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6400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6654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7080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7308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7562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7080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7308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7562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7988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8216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8470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7988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8216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8470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8896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9124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9378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8896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9124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9378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9804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0033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0287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9804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0033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0287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0712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0941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1195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0712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0941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1195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1620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1849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2103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1620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1849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2103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2528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2757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3011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2528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2757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3011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3436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3665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3919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3436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3665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3919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4344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4573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4827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4344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4573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4827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5252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5481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5735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5252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5481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5735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643947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4699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/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6764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4572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2606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 BY 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0515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838200" y="1562100"/>
            <a:ext cx="10515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CREDENCE: 4401 пациент с диабетом 2 типа, хронической болезнью почек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выраженной альбуминурией. Все получали ингибитор АПФ или БРА.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35052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257550"/>
            <a:ext cx="350520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доверительный интервал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0,59–0,82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4029075"/>
            <a:ext cx="35052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Медиана наблюдения 2,62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Доли рассчитаны за весь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5057775"/>
            <a:ext cx="3505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в этом исследовании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изучался.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838200" y="580072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 терминальная почечная недостаточность, удвоение креатинина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почечной либо сердечно-сосудистой причины.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104E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 при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Оба показателя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реже одного раза в год.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болезни почек частоту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Тест-полоска на общий белок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заменяет определение отношения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альбумина к креатинину мочи.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0E5A8A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C8104E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 &lt;60 или АКО ≥30 мг/г не менее 3 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Расчётная скорость клубочковой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/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не менее 3 месяцев.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Достаточно одного критерия: снижения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Пример: рСКФ 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2" name="Text_51"/>
          <p:cNvSpPr txBox="1"/>
          <p:nvPr/>
        </p:nvSpPr>
        <p:spPr>
          <a:xfrm>
            <a:off x="457200" y="5781675"/>
            <a:ext cx="11277600" cy="619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20240"/>
            <a:ext cx="5687568" cy="8229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20240"/>
            <a:ext cx="0" cy="77724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33172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33172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834640"/>
            <a:ext cx="5687568" cy="13258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ангиотензинпревращающего фермента;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834640"/>
            <a:ext cx="0" cy="128016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49758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49758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4251960"/>
            <a:ext cx="5687568" cy="5394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4251960"/>
            <a:ext cx="0" cy="493776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4521708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4521708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86460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86460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5152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5152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59612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59612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88416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88416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331720"/>
            <a:ext cx="0" cy="3552444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331720"/>
            <a:ext cx="0" cy="3552444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Wettersten N, Garimella PS.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2004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778240" y="1938528"/>
            <a:ext cx="2816352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5672" y="2670048"/>
            <a:ext cx="1901952" cy="170078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6177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4041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4041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51206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9377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66568" y="2670048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5095875" y="4000500"/>
            <a:ext cx="20320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 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 BY-SA 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838950" y="1276350"/>
            <a:ext cx="4857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Сдерживающий сигнал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5880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 со временем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Повреждение почек возможно и при сохранной рСКФ.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 BY-SA 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6172200"/>
            <a:ext cx="10817352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 BY 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AB3442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Интерстиций: ткань между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канальцами; в ней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2920" y="6126480"/>
            <a:ext cx="10442448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Внутриклеточный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 (АТФ)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443A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2920" y="5550408"/>
            <a:ext cx="5330952" cy="8046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рецептора может усиливаться. Ответ зависит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 BY 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3312" y="4356354"/>
            <a:ext cx="3648456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Сигналы воспаления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и фиброза ослабляются*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рецептором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 и диабете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2 типа финеренон снижал риск почечных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 сердечно-сосудистых событий на фоне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Блокада рецептора может уменьшать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Калий крови и функцию почек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до начала лечения и в динамике.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Противовоспалительное и антифибротическое действие показано в доклинических исследованиях.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 BY 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D08C356-B587-495A-A68B-38360B7F70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55165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838200" y="723900"/>
            <a:ext cx="3048000" cy="1847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два исследования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III фазы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и объединённый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838200" y="2714625"/>
            <a:ext cx="30480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хронической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болезнью почек,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сахарным диабетом 2 типа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альбуминурией.</a:t>
            </a:r>
          </a:p>
          <a:p>
            <a:pPr>
              <a:spcBef>
                <a:spcPts val="0"/>
              </a:spcBef>
              <a:spcAft>
                <a:spcPts val="0"/>
              </a:spcAft>
              <a:lnSpc>
                <a:spcPct val="90000"/>
              </a:lnSpc>
            </a:pPr>
            <a:endParaRPr sz="1600" b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фоне стандартной терапии,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включая ингибитор АПФ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БРА в максимально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285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007FB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B5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285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C7C3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C7C32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666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 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666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 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981075"/>
            <a:ext cx="3619500" cy="95"/>
          </a:xfrm>
          <a:prstGeom prst="line">
            <a:avLst/>
          </a:prstGeom>
          <a:noFill/>
          <a:ln w="17145">
            <a:solidFill>
              <a:srgbClr val="007FB5"/>
            </a:solidFill>
          </a:ln>
        </p:spPr>
        <p:txBody>
          <a:bodyPr/>
          <a:p/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981075"/>
            <a:ext cx="3619500" cy="95"/>
          </a:xfrm>
          <a:prstGeom prst="line">
            <a:avLst/>
          </a:prstGeom>
          <a:noFill/>
          <a:ln w="17145">
            <a:solidFill>
              <a:srgbClr val="4C7C32"/>
            </a:solidFill>
          </a:ln>
        </p:spPr>
        <p:txBody>
          <a:bodyPr/>
          <a:p/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162050"/>
            <a:ext cx="896378" cy="1362075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152660"/>
            <a:ext cx="1009650" cy="1323706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1552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1419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6860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 ≥40%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39528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4862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4862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6101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6386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 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49339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 сердечно-сосудистый, как в FIGARO-DKD, и почечный,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в FIDELIO-DKD, но с устойчивым снижением рСКФ на 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6642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в крови).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 BY 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риск комбинированного почечного исхода ниже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5674 пациента в анализе (5734 рандомизированы). Хроническая болезнь почек и сахарный диабет 2 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Преимущественно 3–4-я стадия болезни почек с выраженной альбуминурией. Медиана наблюдения 2,6 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(95% ДИ 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p=0,001. Относительное снижение риска 18%.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 года: 29 (95% ДИ 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445000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18,3% против 9,0%.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2,3% против 0,9%.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риск комбинированного сердечно-сосудистого исхода ниже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7352 пациента в анализе (7437 рандомизированы). Хроническая болезнь почек и сахарный диабет 2 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Более широкий диапазон функции почек, чем в FIDELIO-DKD. Медиана наблюдения 3,4 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755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(95% ДИ 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p=0,03. Относительное снижение риска 13%.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14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3,5 года: 47 (95% ДИ 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4825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0,71 (95% ДИ 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других компонентов не доказано.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334000"/>
            <a:ext cx="412432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1,2% против 0,4%.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 пациентов с хронической болезнью почек и сахарным диабетом 2 типа. Медиана наблюдения 3,0 года.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3429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3429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3429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6097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2573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6573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6097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2573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6573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6097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2573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6573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6097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2573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6573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6097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2573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6573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6097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2573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6573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657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457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6573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3429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12,7%.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14,4%.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3429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 ДИ 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3429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 года: 46 (95% ДИ 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 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5,5%.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7,1%.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 года: 60 (95% ДИ 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/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342900" y="6146800"/>
            <a:ext cx="115062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14,0% на финереноне и 6,9% на плацебо; окончательная отмена из-за неё: 1,7% и 0,6%.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 BY-NC 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на финереноне на 32% ниже, чем на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838200" y="781050"/>
            <a:ext cx="10515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838200" y="1038225"/>
            <a:ext cx="10515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Все пациенты получали ингибитор АПФ или БРА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838200" y="1952625"/>
            <a:ext cx="400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между группами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838200" y="2314575"/>
            <a:ext cx="40005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838200" y="3133725"/>
            <a:ext cx="40005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4-му месяцу АКО ниже,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чем на плацебо (с поправкой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исходный уровень).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4000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0,68 (95% ДИ 0,66–0,70).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 пациентов.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Дополнительный анализ, 12 512 пациентов.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838200" y="5095875"/>
            <a:ext cx="10515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838200" y="547687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его величине нельзя рассчитать, на сколько процентов снизится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838200" y="6096000"/>
            <a:ext cx="1051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 эмпаглифлозином снижала альбуминурию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 II фазы: 800 пациентов с хронической болезнью почек и сахарным диабетом 2 типа в анализе эффективности.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30–90 мл/мин/1,73 м². АКО 100–5000 мг/г. Фоновая терапия по протоколу: ингибитор АПФ или БРА.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180-му дню АКО при комбинации был ниже, чем при монотерапии финереноном (на 29%) и эмпаглифлозином (на 32%); оба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E9C31D"/>
            </a:solidFill>
          </a:ln>
        </p:spPr>
        <p:txBody>
          <a:bodyPr/>
          <a:p/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альбуминурии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отношение АКО к исходному уровню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в сыворотке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от исходного,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День 0: до лечения. Препараты отменили на 180-й день. День 210: через 30 дней после отмены.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15,1% при комбинации, 18,8% при финереноне, 9,7% при эмпаглифлозине; комбинация и финеренон достоверно не различались (p=0,85).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Суррогатная конечная точка: изменение альбуминурии за 180 дней; влияние на почечную недостаточность и сердечно-сосудистые события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II. Гиперкалиемия: калий &gt;5,5 ммоль/л.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рекомендован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Применяют при рСКФ ≥25 мл/мин/1,73 м², нормальном калии и максимально переносимой дозе ингибитора АПФ или БРА.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и ингибитор НГЛТ2 можно начать одновременно при АКО ≥100 мг/г и рСКФ 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Основание: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инструкции Финеренон-Орвилле препарат показан взрослым с ХБП, связанной с сахарным диабетом 2 типа. Зарубежные рекомендации не расширяют это показание.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наличии показаний врач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Врач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АКО ≥30 мг/г, рСКФ ≥25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 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 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3848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терапии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032000" y="1955800"/>
            <a:ext cx="40386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Карточка_спиронолактон"/>
          <p:cNvSpPr/>
          <p:nvPr/>
        </p:nvSpPr>
        <p:spPr>
          <a:xfrm>
            <a:off x="7823200" y="1955800"/>
            <a:ext cx="3810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спиронолактон: одна мишень, разные данные исследований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184400" y="2057400"/>
            <a:ext cx="3759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 минералокортикоидного рецептора.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Почечные и сердечно-сосудистые исходы изучены у взрослых с ХБП и сахарным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975600" y="2057400"/>
            <a:ext cx="35560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Стероидный антагонист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 тяжёлой сердечной недостаточности со сниженной фракцией выброса уменьшал смертность.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933450" y="4086225"/>
            <a:ext cx="1042035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Препарат выбирают по диагнозу и данным исследований в этой группе пациентов. При лечении любым из них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933450" y="5048250"/>
            <a:ext cx="1042035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Совместное применение финеренона и спиронолактона не рекомендуется. Крупных прямых сравнительных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032000" y="1498600"/>
            <a:ext cx="4038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823200" y="1498600"/>
            <a:ext cx="3810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Финеренон повышает риск гиперкалиемии по сравнению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плацебо. Калий и функцию почек контролируют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392 пациента в анализе безопасности.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со сниженной фракцией выброса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и умеренное нарушение функции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Лечение 4 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Финеренон: 2,5; 5 или 10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Спиронолактон: 25–50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Группы доз финеренона объединены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 дополнительном анализе. Спиронолактон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применяли открыто. Результат относится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 изученным дозам и 4 неделям лечения.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Рецептор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772400" y="1333500"/>
            <a:ext cx="3819525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772400" y="186690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</p:txBody>
      </p:sp>
      <p:sp>
        <p:nvSpPr>
          <p:cNvPr id="260" name="Сниженная функция почек"/>
          <p:cNvSpPr txBox="1"/>
          <p:nvPr/>
        </p:nvSpPr>
        <p:spPr>
          <a:xfrm>
            <a:off x="7772400" y="2409825"/>
            <a:ext cx="38195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</p:txBody>
      </p:sp>
      <p:sp>
        <p:nvSpPr>
          <p:cNvPr id="261" name="Гиперкалиемия в прошлом"/>
          <p:cNvSpPr txBox="1"/>
          <p:nvPr/>
        </p:nvSpPr>
        <p:spPr>
          <a:xfrm>
            <a:off x="7772400" y="295275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Женский пол, приём β-адреноблокаторов</a:t>
            </a:r>
          </a:p>
        </p:txBody>
      </p:sp>
      <p:sp>
        <p:nvSpPr>
          <p:cNvPr id="262" name="Более высокая альбуминурия"/>
          <p:cNvSpPr txBox="1"/>
          <p:nvPr/>
        </p:nvSpPr>
        <p:spPr>
          <a:xfrm>
            <a:off x="7772400" y="3495675"/>
            <a:ext cx="381952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772400" y="3857625"/>
            <a:ext cx="3819525" cy="257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772400" y="4410075"/>
            <a:ext cx="3819525" cy="8858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Острое заболевание, обезвоживание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или лекарства, повышающие калий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либо концентрацию финеренона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772400" y="5638800"/>
            <a:ext cx="3819525" cy="638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Нужен контроль калия и функции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Sørensen MV, et al. JCI Insight. 2019;4:e126910. Czogalla J, et al. Pflügers Arch. 2016;468:849–858. Kerendia (finerenone). Summary of Product Characteristics. EMA.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Карточка_не_рекомендуется"/>
          <p:cNvSpPr/>
          <p:nvPr/>
        </p:nvSpPr>
        <p:spPr>
          <a:xfrm>
            <a:off x="762000" y="1803400"/>
            <a:ext cx="50800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контроль"/>
          <p:cNvSpPr/>
          <p:nvPr/>
        </p:nvSpPr>
        <p:spPr>
          <a:xfrm>
            <a:off x="6261100" y="1803400"/>
            <a:ext cx="52705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Финеренон: какие сочетания не рекомендуются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 когда нужен контроль калия</a:t>
            </a:r>
          </a:p>
        </p:txBody>
      </p:sp>
      <p:sp>
        <p:nvSpPr>
          <p:cNvPr id="5" name="Класс_антагонисты"/>
          <p:cNvSpPr txBox="1"/>
          <p:nvPr/>
        </p:nvSpPr>
        <p:spPr>
          <a:xfrm>
            <a:off x="933450" y="2047875"/>
            <a:ext cx="4667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минералокортикоидного рецептора</a:t>
            </a:r>
          </a:p>
        </p:txBody>
      </p:sp>
      <p:sp>
        <p:nvSpPr>
          <p:cNvPr id="6" name="Названия_антагонисты"/>
          <p:cNvSpPr txBox="1"/>
          <p:nvPr/>
        </p:nvSpPr>
        <p:spPr>
          <a:xfrm>
            <a:off x="933450" y="26003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Спиронолактон, эплеренон</a:t>
            </a:r>
          </a:p>
        </p:txBody>
      </p:sp>
      <p:sp>
        <p:nvSpPr>
          <p:cNvPr id="7" name="Класс_мочегонные"/>
          <p:cNvSpPr txBox="1"/>
          <p:nvPr/>
        </p:nvSpPr>
        <p:spPr>
          <a:xfrm>
            <a:off x="933450" y="3267075"/>
            <a:ext cx="4667250" cy="3524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</a:t>
            </a:r>
          </a:p>
        </p:txBody>
      </p:sp>
      <p:sp>
        <p:nvSpPr>
          <p:cNvPr id="8" name="Названия_мочегонные"/>
          <p:cNvSpPr txBox="1"/>
          <p:nvPr/>
        </p:nvSpPr>
        <p:spPr>
          <a:xfrm>
            <a:off x="933450" y="36671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Амилорид, триамтерен</a:t>
            </a:r>
          </a:p>
        </p:txBody>
      </p:sp>
      <p:sp>
        <p:nvSpPr>
          <p:cNvPr id="9" name="Причина_ограничения"/>
          <p:cNvSpPr txBox="1"/>
          <p:nvPr/>
        </p:nvSpPr>
        <p:spPr>
          <a:xfrm>
            <a:off x="933450" y="4371975"/>
            <a:ext cx="4667250" cy="542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Совместное применение может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увеличивать риск гиперкалиемии.</a:t>
            </a:r>
          </a:p>
        </p:txBody>
      </p:sp>
      <p:sp>
        <p:nvSpPr>
          <p:cNvPr id="10" name="Калий_препараты"/>
          <p:cNvSpPr txBox="1"/>
          <p:nvPr/>
        </p:nvSpPr>
        <p:spPr>
          <a:xfrm>
            <a:off x="6438900" y="2028825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заменители соли</a:t>
            </a:r>
          </a:p>
        </p:txBody>
      </p:sp>
      <p:sp>
        <p:nvSpPr>
          <p:cNvPr id="11" name="Калий_действие"/>
          <p:cNvSpPr txBox="1"/>
          <p:nvPr/>
        </p:nvSpPr>
        <p:spPr>
          <a:xfrm>
            <a:off x="6438900" y="2552700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 и контролируют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2" name="Триметоприм"/>
          <p:cNvSpPr txBox="1"/>
          <p:nvPr/>
        </p:nvSpPr>
        <p:spPr>
          <a:xfrm>
            <a:off x="6438900" y="3219450"/>
            <a:ext cx="49149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в составе ко-тримоксазола</a:t>
            </a:r>
          </a:p>
        </p:txBody>
      </p:sp>
      <p:sp>
        <p:nvSpPr>
          <p:cNvPr id="13" name="Триметоприм_действие"/>
          <p:cNvSpPr txBox="1"/>
          <p:nvPr/>
        </p:nvSpPr>
        <p:spPr>
          <a:xfrm>
            <a:off x="6438900" y="3724275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Контролируют калий. Врач может временно отменить финеренон.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4" name="Противовоспалительные"/>
          <p:cNvSpPr txBox="1"/>
          <p:nvPr/>
        </p:nvSpPr>
        <p:spPr>
          <a:xfrm>
            <a:off x="6438900" y="4333875"/>
            <a:ext cx="4914900" cy="485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Нестероидные противовоспалительные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препараты: ибупрофен, диклофенак</a:t>
            </a:r>
          </a:p>
        </p:txBody>
      </p:sp>
      <p:sp>
        <p:nvSpPr>
          <p:cNvPr id="15" name="Противовоспалительные_действие"/>
          <p:cNvSpPr txBox="1"/>
          <p:nvPr/>
        </p:nvSpPr>
        <p:spPr>
          <a:xfrm>
            <a:off x="6438900" y="4857750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применения, контролируют функцию почек и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6" name="Фоновая_терапия"/>
          <p:cNvSpPr txBox="1"/>
          <p:nvPr/>
        </p:nvSpPr>
        <p:spPr>
          <a:xfrm>
            <a:off x="933450" y="5715000"/>
            <a:ext cx="1042035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По KDIGO при наличии показаний финеренон добавляют к ингибитору АПФ или БРА в максимально переносимой дозе.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  <a:p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продолжают контролировать.</a:t>
            </a:r>
          </a:p>
        </p:txBody>
      </p:sp>
      <p:sp>
        <p:nvSpPr>
          <p:cNvPr id="17" name="Полоса_не_рекомендуется"/>
          <p:cNvSpPr/>
          <p:nvPr/>
        </p:nvSpPr>
        <p:spPr>
          <a:xfrm>
            <a:off x="762000" y="1346200"/>
            <a:ext cx="50800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Совместное применение не рекомендуется</a:t>
            </a:r>
          </a:p>
        </p:txBody>
      </p:sp>
      <p:sp>
        <p:nvSpPr>
          <p:cNvPr id="18" name="Полоса_контроль"/>
          <p:cNvSpPr/>
          <p:nvPr/>
        </p:nvSpPr>
        <p:spPr>
          <a:xfrm>
            <a:off x="6261100" y="1346200"/>
            <a:ext cx="52705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Осторожность и дополнительный контроль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0EAF6"/>
          </a:solidFill>
          <a:ln w="16510">
            <a:solidFill>
              <a:srgbClr val="92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952A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952A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6088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312664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848C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41848"/>
            <a:ext cx="3355848" cy="8229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начале приёма или изменении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дозы финеренона либо ингибитора.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необходимости врач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34924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787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Текст_калий_0"/>
          <p:cNvSpPr/>
          <p:nvPr/>
        </p:nvSpPr>
        <p:spPr>
          <a:xfrm>
            <a:off x="2743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Ячейка_рскф_0"/>
          <p:cNvSpPr/>
          <p:nvPr/>
        </p:nvSpPr>
        <p:spPr>
          <a:xfrm>
            <a:off x="6375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Текст_рскф_0"/>
          <p:cNvSpPr/>
          <p:nvPr/>
        </p:nvSpPr>
        <p:spPr>
          <a:xfrm>
            <a:off x="8331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Ячейка_калий_1"/>
          <p:cNvSpPr/>
          <p:nvPr/>
        </p:nvSpPr>
        <p:spPr>
          <a:xfrm>
            <a:off x="787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Текст_калий_1"/>
          <p:cNvSpPr/>
          <p:nvPr/>
        </p:nvSpPr>
        <p:spPr>
          <a:xfrm>
            <a:off x="2743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Ячейка_рскф_1"/>
          <p:cNvSpPr/>
          <p:nvPr/>
        </p:nvSpPr>
        <p:spPr>
          <a:xfrm>
            <a:off x="6375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Текст_рскф_1"/>
          <p:cNvSpPr/>
          <p:nvPr/>
        </p:nvSpPr>
        <p:spPr>
          <a:xfrm>
            <a:off x="8331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Ячейка_калий_2"/>
          <p:cNvSpPr/>
          <p:nvPr/>
        </p:nvSpPr>
        <p:spPr>
          <a:xfrm>
            <a:off x="787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Текст_калий_2"/>
          <p:cNvSpPr/>
          <p:nvPr/>
        </p:nvSpPr>
        <p:spPr>
          <a:xfrm>
            <a:off x="2743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Ячейка_рскф_2"/>
          <p:cNvSpPr/>
          <p:nvPr/>
        </p:nvSpPr>
        <p:spPr>
          <a:xfrm>
            <a:off x="6375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Текст_рскф_2"/>
          <p:cNvSpPr/>
          <p:nvPr/>
        </p:nvSpPr>
        <p:spPr>
          <a:xfrm>
            <a:off x="8331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933450" y="1323975"/>
            <a:ext cx="1042035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933450" y="1876425"/>
            <a:ext cx="485775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 крови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933450" y="2286000"/>
            <a:ext cx="48577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515100" y="1876425"/>
            <a:ext cx="48387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515100" y="2286000"/>
            <a:ext cx="5219700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939800" y="29464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870200" y="2946400"/>
            <a:ext cx="2921000" cy="9048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допустимой функции почек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939800" y="3911600"/>
            <a:ext cx="18097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870200" y="3911600"/>
            <a:ext cx="2921000" cy="10191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рассмотреть с дополнительным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контролем калия в первые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939800" y="50800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870200" y="5080000"/>
            <a:ext cx="29210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27800" y="29464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483600" y="29464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27800" y="3911600"/>
            <a:ext cx="195262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483600" y="39116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27800" y="50800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483600" y="5080000"/>
            <a:ext cx="292100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933450" y="5664200"/>
            <a:ext cx="10420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933450" y="6019800"/>
            <a:ext cx="1042035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Перед назначением проверяют противопоказания: гиперчувствительность к компонентам препарата,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болезнь Аддисона и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стабильном лечении калий и рСКФ проверяют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сочетании с ингибитором НГЛТ2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 KDIGO 2024: креатинин и рСКФ определяют одновременно с калием.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899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Карточка_Порог_3"/>
          <p:cNvSpPr/>
          <p:nvPr/>
        </p:nvSpPr>
        <p:spPr>
          <a:xfrm>
            <a:off x="80899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Ячейка_Порог_2"/>
          <p:cNvSpPr/>
          <p:nvPr/>
        </p:nvSpPr>
        <p:spPr>
          <a:xfrm>
            <a:off x="43561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Карточка_Порог_2"/>
          <p:cNvSpPr/>
          <p:nvPr/>
        </p:nvSpPr>
        <p:spPr>
          <a:xfrm>
            <a:off x="43561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Ячейка_Порог_1"/>
          <p:cNvSpPr/>
          <p:nvPr/>
        </p:nvSpPr>
        <p:spPr>
          <a:xfrm>
            <a:off x="8128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рог_1"/>
          <p:cNvSpPr/>
          <p:nvPr/>
        </p:nvSpPr>
        <p:spPr>
          <a:xfrm>
            <a:off x="8128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933450" y="1066800"/>
            <a:ext cx="1042035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крови,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9652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5085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423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9652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увеличить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 20 мг один раз в сутки*.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пациент получает 20 мг,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5085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423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933450" y="3200400"/>
            <a:ext cx="1042035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* Дозу 10 мг не повышают, если рСКФ снизилась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933450" y="3810000"/>
            <a:ext cx="1042035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После временной отмены: при калии ≤5,0 ммоль/л в повторном анализе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врач может возобновить финеренон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933450" y="4445000"/>
            <a:ext cx="1042035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проверяют через 4 недели после возобновления или повышения дозы.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При повышенном риске контроль проводят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933450" y="5181600"/>
            <a:ext cx="1041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 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клинических случая: можно ли начать лечение финереноном?</a:t>
            </a:r>
          </a:p>
        </p:txBody>
      </p:sp>
      <p:sp>
        <p:nvSpPr>
          <p:cNvPr id="4" name="Пациент_36"/>
          <p:cNvSpPr/>
          <p:nvPr/>
        </p:nvSpPr>
        <p:spPr>
          <a:xfrm>
            <a:off x="4572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5" name="Карточка_36"/>
          <p:cNvSpPr/>
          <p:nvPr/>
        </p:nvSpPr>
        <p:spPr>
          <a:xfrm>
            <a:off x="4572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Метка_рСКФ_36"/>
          <p:cNvSpPr txBox="1"/>
          <p:nvPr/>
        </p:nvSpPr>
        <p:spPr>
          <a:xfrm>
            <a:off x="6858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7" name="Значение_рСКФ_36"/>
          <p:cNvSpPr txBox="1"/>
          <p:nvPr/>
        </p:nvSpPr>
        <p:spPr>
          <a:xfrm>
            <a:off x="17018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48 мл/мин/1,73 м², стабильна</a:t>
            </a:r>
          </a:p>
        </p:txBody>
      </p:sp>
      <p:sp>
        <p:nvSpPr>
          <p:cNvPr id="8" name="Метка_АКО_36"/>
          <p:cNvSpPr txBox="1"/>
          <p:nvPr/>
        </p:nvSpPr>
        <p:spPr>
          <a:xfrm>
            <a:off x="6858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9" name="Значение_АКО_36"/>
          <p:cNvSpPr txBox="1"/>
          <p:nvPr/>
        </p:nvSpPr>
        <p:spPr>
          <a:xfrm>
            <a:off x="17018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320 и 360 мг/г с интервалом 4 месяца</a:t>
            </a:r>
          </a:p>
        </p:txBody>
      </p:sp>
      <p:sp>
        <p:nvSpPr>
          <p:cNvPr id="10" name="Метка_Калий_36"/>
          <p:cNvSpPr txBox="1"/>
          <p:nvPr/>
        </p:nvSpPr>
        <p:spPr>
          <a:xfrm>
            <a:off x="685800" y="25400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11" name="Значение_Калий_36"/>
          <p:cNvSpPr txBox="1"/>
          <p:nvPr/>
        </p:nvSpPr>
        <p:spPr>
          <a:xfrm>
            <a:off x="1701800" y="25400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4,6 ммоль/л</a:t>
            </a:r>
          </a:p>
        </p:txBody>
      </p:sp>
      <p:sp>
        <p:nvSpPr>
          <p:cNvPr id="12" name="Метка_Терапия_36"/>
          <p:cNvSpPr txBox="1"/>
          <p:nvPr/>
        </p:nvSpPr>
        <p:spPr>
          <a:xfrm>
            <a:off x="685800" y="2946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13" name="Значение_Терапия_36"/>
          <p:cNvSpPr txBox="1"/>
          <p:nvPr/>
        </p:nvSpPr>
        <p:spPr>
          <a:xfrm>
            <a:off x="1701800" y="2946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Лозартан 100 мг/сут (максимально переносимая доза), эмпаглифлозин 10 мг/сут</a:t>
            </a:r>
          </a:p>
        </p:txBody>
      </p:sp>
      <p:sp>
        <p:nvSpPr>
          <p:cNvPr id="14" name="Вывод_36"/>
          <p:cNvSpPr txBox="1"/>
          <p:nvPr/>
        </p:nvSpPr>
        <p:spPr>
          <a:xfrm>
            <a:off x="6858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4EA72E"/>
                </a:solidFill>
                <a:latin typeface="Arial Narrow"/>
                <a:cs typeface="Arial Narrow"/>
              </a:rPr>
              <a:t>Можно обсудить начало лечения</a:t>
            </a:r>
          </a:p>
        </p:txBody>
      </p:sp>
      <p:sp>
        <p:nvSpPr>
          <p:cNvPr id="15" name="Действие_36"/>
          <p:cNvSpPr txBox="1"/>
          <p:nvPr/>
        </p:nvSpPr>
        <p:spPr>
          <a:xfrm>
            <a:off x="6858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проверки противопоказаний и взаимодействий врач может начать финеренон 10 мг один раз в сутки. Калий и рСКФ проверяют через 4 недели.</a:t>
            </a:r>
          </a:p>
        </p:txBody>
      </p:sp>
      <p:sp>
        <p:nvSpPr>
          <p:cNvPr id="16" name="Пациент_492"/>
          <p:cNvSpPr/>
          <p:nvPr/>
        </p:nvSpPr>
        <p:spPr>
          <a:xfrm>
            <a:off x="62484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17" name="Карточка_492"/>
          <p:cNvSpPr/>
          <p:nvPr/>
        </p:nvSpPr>
        <p:spPr>
          <a:xfrm>
            <a:off x="62484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Метка_рСКФ_492"/>
          <p:cNvSpPr txBox="1"/>
          <p:nvPr/>
        </p:nvSpPr>
        <p:spPr>
          <a:xfrm>
            <a:off x="64770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19" name="Значение_рСКФ_492"/>
          <p:cNvSpPr txBox="1"/>
          <p:nvPr/>
        </p:nvSpPr>
        <p:spPr>
          <a:xfrm>
            <a:off x="74930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78 мл/мин/1,73 м²</a:t>
            </a:r>
          </a:p>
        </p:txBody>
      </p:sp>
      <p:sp>
        <p:nvSpPr>
          <p:cNvPr id="20" name="Метка_АКО_492"/>
          <p:cNvSpPr txBox="1"/>
          <p:nvPr/>
        </p:nvSpPr>
        <p:spPr>
          <a:xfrm>
            <a:off x="64770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21" name="Значение_АКО_492"/>
          <p:cNvSpPr txBox="1"/>
          <p:nvPr/>
        </p:nvSpPr>
        <p:spPr>
          <a:xfrm>
            <a:off x="74930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110 мг/г однократно, во время инфекции мочевых путей</a:t>
            </a:r>
          </a:p>
        </p:txBody>
      </p:sp>
      <p:sp>
        <p:nvSpPr>
          <p:cNvPr id="22" name="Метка_Калий_492"/>
          <p:cNvSpPr txBox="1"/>
          <p:nvPr/>
        </p:nvSpPr>
        <p:spPr>
          <a:xfrm>
            <a:off x="6477000" y="2692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3" name="Значение_Калий_492"/>
          <p:cNvSpPr txBox="1"/>
          <p:nvPr/>
        </p:nvSpPr>
        <p:spPr>
          <a:xfrm>
            <a:off x="7493000" y="2692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Актуального результата нет</a:t>
            </a:r>
          </a:p>
        </p:txBody>
      </p:sp>
      <p:sp>
        <p:nvSpPr>
          <p:cNvPr id="24" name="Метка_Терапия_492"/>
          <p:cNvSpPr txBox="1"/>
          <p:nvPr/>
        </p:nvSpPr>
        <p:spPr>
          <a:xfrm>
            <a:off x="6477000" y="30988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25" name="Значение_Терапия_492"/>
          <p:cNvSpPr txBox="1"/>
          <p:nvPr/>
        </p:nvSpPr>
        <p:spPr>
          <a:xfrm>
            <a:off x="7493000" y="30988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 не уточнён</a:t>
            </a:r>
          </a:p>
        </p:txBody>
      </p:sp>
      <p:sp>
        <p:nvSpPr>
          <p:cNvPr id="26" name="Вывод_492"/>
          <p:cNvSpPr txBox="1"/>
          <p:nvPr/>
        </p:nvSpPr>
        <p:spPr>
          <a:xfrm>
            <a:off x="64770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E97132"/>
                </a:solidFill>
                <a:latin typeface="Arial Narrow"/>
                <a:cs typeface="Arial Narrow"/>
              </a:rPr>
              <a:t>Данных пока недостаточно</a:t>
            </a:r>
          </a:p>
        </p:txBody>
      </p:sp>
      <p:sp>
        <p:nvSpPr>
          <p:cNvPr id="27" name="Действие_492"/>
          <p:cNvSpPr txBox="1"/>
          <p:nvPr/>
        </p:nvSpPr>
        <p:spPr>
          <a:xfrm>
            <a:off x="64770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лечения инфекции повторно оценивают альбуминурию, подтверждают стойкость изменений (не менее 3 месяцев), определяют калий и уточняют список лекарств.</a:t>
            </a:r>
          </a:p>
        </p:txBody>
      </p:sp>
      <p:sp>
        <p:nvSpPr>
          <p:cNvPr id="28" name="Сохранная_фильтрация"/>
          <p:cNvSpPr txBox="1"/>
          <p:nvPr/>
        </p:nvSpPr>
        <p:spPr>
          <a:xfrm>
            <a:off x="6477000" y="3556000"/>
            <a:ext cx="50292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>
                <a:solidFill>
                  <a:srgbClr val="595959"/>
                </a:solidFill>
                <a:latin typeface="Arial Narrow"/>
                <a:cs typeface="Arial Narrow"/>
              </a:rPr>
              <a:t>Сохранная рСКФ не исключает ХБП.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Условный случай: взрослый с ХБП при сахарном диабете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65. Назначен финеренон 20 мг один раз в сутки.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61, недавно добавлен ко-тримоксазол. Финеренон временно отменяют, выясняют причину и повторяют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рСКФ, далее плановый контроль.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evin_G_header_446">
            <a:extLst>
              <a:ext uri="{FF2B5EF4-FFF2-40B4-BE49-F238E27FC236}">
                <a16:creationId xmlns:a16="http://schemas.microsoft.com/office/drawing/2014/main" id="{B8219F07-CB66-4999-AAC4-93050E2685DC}"/>
              </a:ext>
            </a:extLst>
          </p:cNvPr>
          <p:cNvSpPr>
            <a:spLocks noGrp="1"/>
          </p:cNvSpPr>
          <p:nvPr/>
        </p:nvSpPr>
        <p:spPr>
          <a:xfrm>
            <a:off x="4648200" y="4248150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4EA72E"/>
          </a:solidFill>
          <a:ln w="19050">
            <a:solidFill>
              <a:srgbClr val="FFFFFF"/>
            </a:solidFill>
          </a:ln>
        </p:spPr>
      </p:sp>
      <p:sp>
        <p:nvSpPr>
          <p:cNvPr id="40" name="Levin_G_header_241">
            <a:extLst>
              <a:ext uri="{FF2B5EF4-FFF2-40B4-BE49-F238E27FC236}">
                <a16:creationId xmlns:a16="http://schemas.microsoft.com/office/drawing/2014/main" id="{6E2683CA-CB97-4FB8-B92B-ADDB4CE70E77}"/>
              </a:ext>
            </a:extLst>
          </p:cNvPr>
          <p:cNvSpPr>
            <a:spLocks noGrp="1"/>
          </p:cNvSpPr>
          <p:nvPr/>
        </p:nvSpPr>
        <p:spPr>
          <a:xfrm>
            <a:off x="4648200" y="22955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</p:spPr>
      </p:sp>
      <p:sp>
        <p:nvSpPr>
          <p:cNvPr id="39" name="Levin_G_header_45">
            <a:extLst>
              <a:ext uri="{FF2B5EF4-FFF2-40B4-BE49-F238E27FC236}">
                <a16:creationId xmlns:a16="http://schemas.microsoft.com/office/drawing/2014/main" id="{9DC41EBB-D3BC-457F-8844-C09BC549B63B}"/>
              </a:ext>
            </a:extLst>
          </p:cNvPr>
          <p:cNvSpPr>
            <a:spLocks noGrp="1"/>
          </p:cNvSpPr>
          <p:nvPr/>
        </p:nvSpPr>
        <p:spPr>
          <a:xfrm>
            <a:off x="4648200" y="4286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A02B93"/>
          </a:solidFill>
          <a:ln w="19050">
            <a:solidFill>
              <a:srgbClr val="FFFFFF"/>
            </a:solidFill>
          </a:ln>
        </p:spPr>
      </p:sp>
      <p:sp>
        <p:nvSpPr>
          <p:cNvPr id="2" name="Main_title"/>
          <p:cNvSpPr txBox="1"/>
          <p:nvPr/>
        </p:nvSpPr>
        <p:spPr>
          <a:xfrm>
            <a:off x="723900" y="2124075"/>
            <a:ext cx="3190875" cy="2114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знает и может объяснить врачу</a:t>
            </a:r>
          </a:p>
        </p:txBody>
      </p:sp>
      <p:pic>
        <p:nvPicPr>
          <p:cNvPr id="5" name="Picture 4" descr="S08_01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700" y="1123950"/>
            <a:ext cx="626850" cy="952500"/>
          </a:xfrm>
          <a:prstGeom prst="rect">
            <a:avLst/>
          </a:prstGeom>
        </p:spPr>
      </p:pic>
      <p:sp>
        <p:nvSpPr>
          <p:cNvPr id="6" name="Text_5"/>
          <p:cNvSpPr txBox="1"/>
          <p:nvPr/>
        </p:nvSpPr>
        <p:spPr>
          <a:xfrm>
            <a:off x="4800600" y="4857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Знать показание и профиль пациента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5848350" y="11049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Диабет 2 типа, подтверждённая болезнь почек и альбуминурия.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пороги рСКФ и калия, требования к фоновой терапии.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800600" y="23526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результаты исследований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0" name="Text_9"/>
          <p:cNvSpPr txBox="1"/>
          <p:nvPr/>
        </p:nvSpPr>
        <p:spPr>
          <a:xfrm>
            <a:off x="5848350" y="29718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Отличать почечные и сердечно-сосудистые исходы от изменения альбуминурии.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Объяснять ожидаемую пользу и ограничения исследований.</a:t>
            </a:r>
          </a:p>
        </p:txBody>
      </p:sp>
      <p:grpSp>
        <p:nvGrpSpPr>
          <p:cNvPr id="11" name="Исходный_визуал_S13_1"/>
          <p:cNvGrpSpPr/>
          <p:nvPr/>
        </p:nvGrpSpPr>
        <p:grpSpPr>
          <a:xfrm>
            <a:off x="4762500" y="4953000"/>
            <a:ext cx="834134" cy="952500"/>
            <a:chOff x="749808" y="1399032"/>
            <a:chExt cx="1536192" cy="1754184"/>
          </a:xfrm>
        </p:grpSpPr>
        <p:grpSp>
          <p:nvGrpSpPr>
            <p:cNvPr id="12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13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4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5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6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7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8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19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0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1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2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3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26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7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8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9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0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1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2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3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4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36" name="Text_11"/>
          <p:cNvSpPr txBox="1"/>
          <p:nvPr/>
        </p:nvSpPr>
        <p:spPr>
          <a:xfrm>
            <a:off x="4800600" y="4305300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контроль калия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37" name="Text_12"/>
          <p:cNvSpPr txBox="1"/>
          <p:nvPr/>
        </p:nvSpPr>
        <p:spPr>
          <a:xfrm>
            <a:off x="5848350" y="4924425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Знать, с какими препаратами финеренон не сочетают.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сроки контроля, основания для временной отмены и условия возобновления.</a:t>
            </a:r>
          </a:p>
        </p:txBody>
      </p:sp>
      <p:sp>
        <p:nvSpPr>
          <p:cNvPr id="38" name="Text_13"/>
          <p:cNvSpPr txBox="1"/>
          <p:nvPr/>
        </p:nvSpPr>
        <p:spPr>
          <a:xfrm>
            <a:off x="457200" y="6045200"/>
            <a:ext cx="11277600" cy="3302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доказательства. Диагноз и лечение определяет врач.</a:t>
            </a:r>
          </a:p>
        </p:txBody>
      </p:sp>
      <p:pic>
        <p:nvPicPr>
          <p:cNvPr id="42" name="Почка_итог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3075037"/>
            <a:ext cx="482600" cy="733325"/>
          </a:xfrm>
          <a:prstGeom prst="rect">
            <a:avLst/>
          </a:prstGeom>
        </p:spPr>
      </p:pic>
      <p:pic>
        <p:nvPicPr>
          <p:cNvPr id="43" name="Сердце_итог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167" y="3098800"/>
            <a:ext cx="542464" cy="711200"/>
          </a:xfrm>
          <a:prstGeom prst="rect">
            <a:avLst/>
          </a:prstGeom>
        </p:spPr>
      </p:pic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≥25 и &lt;90 мл/мин/1,73 м², АКО 200–3500 мг/г. Финеренон сравнивали с плацебо.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Фоновая терапия по протоколу: ингибитор АПФ или БРА в максимально переносимой дозе.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/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/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/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/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 в год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ДИ 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исход: 13,9% против 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 на ≥57%, 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госпитализация по поводу сердечной недостаточности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17,0% против 13,3%.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неё: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1,5% против 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18200"/>
            <a:ext cx="42100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ХБП без диабета: показания нет в США и ЕС.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его нет.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ДИ: доверительный интервал; ХБП: хроническая болезнь почек; БРА: блокатор рецепторов ангиотензина II. На графике показан 95% 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242 взрослых. рСКФ ≥25 и &lt;90 мл/мин/1,73 м².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Фоновая терапия: инсулин и ингибитор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258568"/>
            <a:ext cx="6263640" cy="48463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Снижение альбуминурии от исходного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Относительно плацебо.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По первичной конечной точке.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0,75 (95% ДИ 0,65–0,87),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5943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точка: изменение альбуминурии. Влияние на диализ и другие клинические исходы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 FINE-ONE не оценивали. Гиперкалиемия: 10,1% против 3,3%.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С 16 сентября 2026 года Керендия одобрена в США при хронической болезни почек и диабете 1 типа.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это показание не указано.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215341/S-011.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США: финеренон одобрен при хронической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болезни почек и диабете 1 типа</a:t>
            </a:r>
          </a:p>
        </p:txBody>
      </p:sp>
      <p:sp>
        <p:nvSpPr>
          <p:cNvPr id="3" name="Дата_решения">
            <a:extLst xmlns:a="http://schemas.openxmlformats.org/drawingml/2006/main">
              <a:ext uri="{FF2B5EF4-FFF2-40B4-BE49-F238E27FC236}">
                <a16:creationId xmlns:a16="http://schemas.microsoft.com/office/drawing/2014/main" id="{0BEBF87A-C208-493D-957F-AD1ABAB8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46275"/>
            <a:ext cx="4476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16 сентября 2026</a:t>
            </a:r>
          </a:p>
        </p:txBody>
      </p:sp>
      <p:sp>
        <p:nvSpPr>
          <p:cNvPr id="4" name="Регулятор">
            <a:extLst xmlns:a="http://schemas.openxmlformats.org/drawingml/2006/main">
              <a:ext uri="{FF2B5EF4-FFF2-40B4-BE49-F238E27FC236}">
                <a16:creationId xmlns:a16="http://schemas.microsoft.com/office/drawing/2014/main" id="{338FBB66-391E-4A04-AC81-7C8F7B4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32075"/>
            <a:ext cx="485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Управление по контролю качества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пищевых продуктов и лекарственных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средств США (FDA)</a:t>
            </a:r>
          </a:p>
        </p:txBody>
      </p:sp>
      <p:sp>
        <p:nvSpPr>
          <p:cNvPr id="5" name="Препарат">
            <a:extLst xmlns:a="http://schemas.openxmlformats.org/drawingml/2006/main">
              <a:ext uri="{FF2B5EF4-FFF2-40B4-BE49-F238E27FC236}">
                <a16:creationId xmlns:a16="http://schemas.microsoft.com/office/drawing/2014/main" id="{B1C4CB34-DE44-42E1-BDB0-6DAE725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12950"/>
            <a:ext cx="4876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(финеренон)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7" name="Что_одобрено">
            <a:extLst xmlns:a="http://schemas.openxmlformats.org/drawingml/2006/main">
              <a:ext uri="{FF2B5EF4-FFF2-40B4-BE49-F238E27FC236}">
                <a16:creationId xmlns:a16="http://schemas.microsoft.com/office/drawing/2014/main" id="{AB9857FD-1ADD-4C4A-BF27-A866DE08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41725"/>
            <a:ext cx="1042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Показание в США</a:t>
            </a:r>
          </a:p>
        </p:txBody>
      </p:sp>
      <p:sp>
        <p:nvSpPr>
          <p:cNvPr id="8" name="Показание">
            <a:extLst xmlns:a="http://schemas.openxmlformats.org/drawingml/2006/main">
              <a:ext uri="{FF2B5EF4-FFF2-40B4-BE49-F238E27FC236}">
                <a16:creationId xmlns:a16="http://schemas.microsoft.com/office/drawing/2014/main" id="{4FCAB704-308B-4D5F-8321-54220D0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8940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отношения альбумина к креатинину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мочи у взрослых с хронической болезнью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почек, связанной с диабетом 1 типа.</a:t>
            </a:r>
          </a:p>
        </p:txBody>
      </p:sp>
      <p:sp>
        <p:nvSpPr>
          <p:cNvPr id="9" name="Ожидаемая_польза">
            <a:extLst xmlns:a="http://schemas.openxmlformats.org/drawingml/2006/main">
              <a:ext uri="{FF2B5EF4-FFF2-40B4-BE49-F238E27FC236}">
                <a16:creationId xmlns:a16="http://schemas.microsoft.com/office/drawing/2014/main" id="{8BC6E9C2-269F-4551-8586-1349B91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9425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Ожидаемый эффект: меньший риск устойчивого снижения рСКФ и терминальной почечной недостаточности.</a:t>
            </a: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10" name="Основание">
            <a:extLst xmlns:a="http://schemas.openxmlformats.org/drawingml/2006/main">
              <a:ext uri="{FF2B5EF4-FFF2-40B4-BE49-F238E27FC236}">
                <a16:creationId xmlns:a16="http://schemas.microsoft.com/office/drawing/2014/main" id="{420C5027-BDB9-4376-A56F-9520C418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80050"/>
            <a:ext cx="10420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Основание: FINE-ONE и данные исследований</a:t>
            </a: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у пациентов с диабетом 2 типа.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215341/S-011. Kerendia (finerenone). US Prescribing Information.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0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B79586DD-7077-4161-BC4D-ECEDCD3A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Условия применения при диабете 1 типа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 американской инструкции Керендии</a:t>
            </a:r>
          </a:p>
        </p:txBody>
      </p:sp>
      <p:sp>
        <p:nvSpPr>
          <p:cNvPr id="3" name="Популяция">
            <a:extLst xmlns:a="http://schemas.openxmlformats.org/drawingml/2006/main">
              <a:ext uri="{FF2B5EF4-FFF2-40B4-BE49-F238E27FC236}">
                <a16:creationId xmlns:a16="http://schemas.microsoft.com/office/drawing/2014/main" id="{BC5B6B75-4EF1-487E-A4D5-D889BD1F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79525"/>
            <a:ext cx="1042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Для взрослых с хронической болезнью почек, связанной с диабетом 1 типа.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Эффективность и безопасность у детей не установлены.</a:t>
            </a:r>
          </a:p>
        </p:txBody>
      </p:sp>
      <p:sp>
        <p:nvSpPr>
          <p:cNvPr id="4" name="Старт_заголовок">
            <a:extLst xmlns:a="http://schemas.openxmlformats.org/drawingml/2006/main">
              <a:ext uri="{FF2B5EF4-FFF2-40B4-BE49-F238E27FC236}">
                <a16:creationId xmlns:a16="http://schemas.microsoft.com/office/drawing/2014/main" id="{EBE57001-B645-4B7D-AF5A-04EF0434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41525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Перед началом лечения</a:t>
            </a:r>
          </a:p>
        </p:txBody>
      </p:sp>
      <p:sp>
        <p:nvSpPr>
          <p:cNvPr id="5" name="Анализы">
            <a:extLst xmlns:a="http://schemas.openxmlformats.org/drawingml/2006/main">
              <a:ext uri="{FF2B5EF4-FFF2-40B4-BE49-F238E27FC236}">
                <a16:creationId xmlns:a16="http://schemas.microsoft.com/office/drawing/2014/main" id="{49F2F98C-3877-498E-BECF-B50567B9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65400"/>
            <a:ext cx="457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Определяют калий, креатинин и рСКФ.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6" name="Калий_выше5">
            <a:extLst xmlns:a="http://schemas.openxmlformats.org/drawingml/2006/main">
              <a:ext uri="{FF2B5EF4-FFF2-40B4-BE49-F238E27FC236}">
                <a16:creationId xmlns:a16="http://schemas.microsoft.com/office/drawing/2014/main" id="{77C9E29D-A04B-421C-BF5B-3DB40CB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2650"/>
            <a:ext cx="4572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Калий &gt;5,0 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Лечение не начинают.</a:t>
            </a:r>
          </a:p>
        </p:txBody>
      </p:sp>
      <p:sp>
        <p:nvSpPr>
          <p:cNvPr id="7" name="Калий_пограничный">
            <a:extLst xmlns:a="http://schemas.openxmlformats.org/drawingml/2006/main">
              <a:ext uri="{FF2B5EF4-FFF2-40B4-BE49-F238E27FC236}">
                <a16:creationId xmlns:a16="http://schemas.microsoft.com/office/drawing/2014/main" id="{749B3694-F31F-4A3B-9917-0C783680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7525"/>
            <a:ext cx="4572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&gt;4,8 и ≤5,0 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Начало можно рассмотреть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 дополнительным контролем калия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первые 4 недели.</a:t>
            </a:r>
          </a:p>
        </p:txBody>
      </p:sp>
      <p:sp>
        <p:nvSpPr>
          <p:cNvPr id="8" name="Дозы_заголовок">
            <a:extLst xmlns:a="http://schemas.openxmlformats.org/drawingml/2006/main">
              <a:ext uri="{FF2B5EF4-FFF2-40B4-BE49-F238E27FC236}">
                <a16:creationId xmlns:a16="http://schemas.microsoft.com/office/drawing/2014/main" id="{1559815D-E7DF-44E3-9B91-32116E7C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1525"/>
            <a:ext cx="541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Начальная доза один раз в сутки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19800" y="2584450"/>
          <a:ext xmlns:a="http://schemas.openxmlformats.org/drawingml/2006/main" cx="54102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552700"/>
              </a:tblGrid>
              <a:tr h="58102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рСКФ, мл/мин/1,73 м²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Доза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≥60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20 мг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≥25 и &lt;60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10 мг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&lt;25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Начало не рекомендуется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Целевая_доза">
            <a:extLst xmlns:a="http://schemas.openxmlformats.org/drawingml/2006/main">
              <a:ext uri="{FF2B5EF4-FFF2-40B4-BE49-F238E27FC236}">
                <a16:creationId xmlns:a16="http://schemas.microsoft.com/office/drawing/2014/main" id="{2937C412-EFAD-4223-BCAA-BFE114DE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092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Целевая доза при этом показании: 20 мг/сут.</a:t>
            </a:r>
          </a:p>
        </p:txBody>
      </p:sp>
      <p:sp>
        <p:nvSpPr>
          <p:cNvPr id="11" name="Контроль">
            <a:extLst xmlns:a="http://schemas.openxmlformats.org/drawingml/2006/main">
              <a:ext uri="{FF2B5EF4-FFF2-40B4-BE49-F238E27FC236}">
                <a16:creationId xmlns:a16="http://schemas.microsoft.com/office/drawing/2014/main" id="{3293348D-9D94-4822-9ED4-3256379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6725"/>
            <a:ext cx="10420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проверяют через 4 недели после начала лечения и изменения дозы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, затем периодически.</a:t>
            </a:r>
          </a:p>
        </p:txBody>
      </p:sp>
      <p:sp>
        <p:nvSpPr>
          <p:cNvPr id="12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9FC5586E-2222-4C62-98DB-4205E971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70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Местная_инструкция">
            <a:extLst xmlns:a="http://schemas.openxmlformats.org/drawingml/2006/main">
              <a:ext uri="{FF2B5EF4-FFF2-40B4-BE49-F238E27FC236}">
                <a16:creationId xmlns:a16="http://schemas.microsoft.com/office/drawing/2014/main" id="{81E66F49-27F4-46FF-AA59-C34C80F9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75350"/>
            <a:ext cx="1042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показание при диабете 1 типа не указано.</a:t>
            </a: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Одобрение в США не расширяет местные показания препарата.</a:t>
            </a:r>
          </a:p>
        </p:txBody>
      </p:sp>
      <p:sp xmlns:a="http://schemas.openxmlformats.org/drawingml/2006/main">
        <p:nvSpPr>
          <p:cNvPr id="2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2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678588"/>
      </p:ext>
    </p:extLst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суммарное число событий первичного исхода ниже на 16%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027176"/>
            <a:ext cx="10972800" cy="75895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6001 пациент с симптомной сердечной недостаточностью и фракцией выброса левого желудочка ≥40%. С диабетом или без него. Медиана наблюдения 32 месяца.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0878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Общее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153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95% ДИ 0,74–0,95;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сердечно-сосудистой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смерти отдельно не подтверждено.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Отношение рисков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0,93 (95% ДИ 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51054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 первые и повторные госпитализации или срочные визиты из-за сердечной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5943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зарегистрирована при этой форме сердечной недостаточности независимо от диабета: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США (FDA, 11.07.2025) и в ЕС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 C(2026)2188.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 для обсуждения финеренона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Гликемия и артериальное давление под контролем, но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4224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ункт_1"/>
          <p:cNvSpPr txBox="1"/>
          <p:nvPr/>
        </p:nvSpPr>
        <p:spPr>
          <a:xfrm>
            <a:off x="660400" y="14224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4224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260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ункт_2"/>
          <p:cNvSpPr txBox="1"/>
          <p:nvPr/>
        </p:nvSpPr>
        <p:spPr>
          <a:xfrm>
            <a:off x="660400" y="22606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2606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≥25 мл/мин/1,73 м². Начальная доза 20 мг при рСКФ ≥60 и 10 мг при рСКФ 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0988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ункт_3"/>
          <p:cNvSpPr txBox="1"/>
          <p:nvPr/>
        </p:nvSpPr>
        <p:spPr>
          <a:xfrm>
            <a:off x="660400" y="30988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0988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≤4,8 ммоль/л лечение можно начать, при &gt;4,8 и ≤5,0 начало можно рассмотреть при дополнительном контроле в первые 4 недели, при &gt;5,0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370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ункт_4"/>
          <p:cNvSpPr txBox="1"/>
          <p:nvPr/>
        </p:nvSpPr>
        <p:spPr>
          <a:xfrm>
            <a:off x="660400" y="39370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370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получает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7752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Пункт_5"/>
          <p:cNvSpPr txBox="1"/>
          <p:nvPr/>
        </p:nvSpPr>
        <p:spPr>
          <a:xfrm>
            <a:off x="660400" y="47752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7752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риск почечного исхода ниже на 18%. FIGARO-DKD: риск сердечно-сосудистого исхода ниже на 13%. FIDELITY: почечного на 23%, сердечно-сосудистого на 14%.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64200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ХБП: хроническая болезнь почек; АПФ: ангиотензинпревращающий фермент; БРА: блокатор рецепторов ангиотензина II;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окончательная отмена нужна не всегда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889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контроле, ммоль/л</a:t>
            </a:r>
          </a:p>
        </p:txBody>
      </p:sp>
      <p:sp>
        <p:nvSpPr>
          <p:cNvPr id="4" name="Порог_≤4,8"/>
          <p:cNvSpPr/>
          <p:nvPr/>
        </p:nvSpPr>
        <p:spPr>
          <a:xfrm>
            <a:off x="45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5" name="Порог_фон_≤4,8"/>
          <p:cNvSpPr/>
          <p:nvPr/>
        </p:nvSpPr>
        <p:spPr>
          <a:xfrm>
            <a:off x="45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Порог_текст_≤4,8"/>
          <p:cNvSpPr txBox="1"/>
          <p:nvPr/>
        </p:nvSpPr>
        <p:spPr>
          <a:xfrm>
            <a:off x="63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мг; дозу 20 мг сохраняют.</a:t>
            </a:r>
          </a:p>
        </p:txBody>
      </p:sp>
      <p:sp>
        <p:nvSpPr>
          <p:cNvPr id="7" name="Порог_&gt;4,8 и ≤5,5"/>
          <p:cNvSpPr/>
          <p:nvPr/>
        </p:nvSpPr>
        <p:spPr>
          <a:xfrm>
            <a:off x="426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8" name="Порог_фон_&gt;4,8 и ≤5,5"/>
          <p:cNvSpPr/>
          <p:nvPr/>
        </p:nvSpPr>
        <p:spPr>
          <a:xfrm>
            <a:off x="426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Порог_текст_&gt;4,8 и ≤5,5"/>
          <p:cNvSpPr txBox="1"/>
          <p:nvPr/>
        </p:nvSpPr>
        <p:spPr>
          <a:xfrm>
            <a:off x="444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Текущую дозу сохраняют.</a:t>
            </a:r>
          </a:p>
        </p:txBody>
      </p:sp>
      <p:sp>
        <p:nvSpPr>
          <p:cNvPr id="10" name="Порог_&gt;5,5"/>
          <p:cNvSpPr/>
          <p:nvPr/>
        </p:nvSpPr>
        <p:spPr>
          <a:xfrm>
            <a:off x="807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1" name="Порог_фон_&gt;5,5"/>
          <p:cNvSpPr/>
          <p:nvPr/>
        </p:nvSpPr>
        <p:spPr>
          <a:xfrm>
            <a:off x="807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Порог_текст_&gt;5,5"/>
          <p:cNvSpPr txBox="1"/>
          <p:nvPr/>
        </p:nvSpPr>
        <p:spPr>
          <a:xfrm>
            <a:off x="825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отменяют, выясняют причину и повторяют анализ.</a:t>
            </a:r>
          </a:p>
        </p:txBody>
      </p:sp>
      <p:sp>
        <p:nvSpPr>
          <p:cNvPr id="13" name="Возврат_фон"/>
          <p:cNvSpPr/>
          <p:nvPr/>
        </p:nvSpPr>
        <p:spPr>
          <a:xfrm>
            <a:off x="457200" y="2692400"/>
            <a:ext cx="1127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Возврат"/>
          <p:cNvSpPr txBox="1"/>
          <p:nvPr/>
        </p:nvSpPr>
        <p:spPr>
          <a:xfrm>
            <a:off x="685800" y="2692400"/>
            <a:ext cx="10820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При калии ≤5,0 ммоль/л в повторном анализе врач может возобновить лечение в дозе 10 мг.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4 недели проверяют калий и рСКФ; при калии ≤4,8 ммоль/л и снижении рСКФ не более чем на 30% дозу можно повысить до 20 мг.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7" name="Срочно_фон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Срочно"/>
          <p:cNvSpPr txBox="1"/>
          <p:nvPr/>
        </p:nvSpPr>
        <p:spPr>
          <a:xfrm>
            <a:off x="8102600" y="3683000"/>
            <a:ext cx="3429000" cy="190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 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3" name="Вопрос_1_фон"/>
          <p:cNvSpPr/>
          <p:nvPr/>
        </p:nvSpPr>
        <p:spPr>
          <a:xfrm>
            <a:off x="4572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Вопрос_1_номер"/>
          <p:cNvSpPr txBox="1"/>
          <p:nvPr/>
        </p:nvSpPr>
        <p:spPr>
          <a:xfrm>
            <a:off x="6604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5" name="Вопрос_1"/>
          <p:cNvSpPr txBox="1"/>
          <p:nvPr/>
        </p:nvSpPr>
        <p:spPr>
          <a:xfrm>
            <a:off x="11684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6" name="Вопрос_2_фон"/>
          <p:cNvSpPr/>
          <p:nvPr/>
        </p:nvSpPr>
        <p:spPr>
          <a:xfrm>
            <a:off x="62484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Вопрос_2_номер"/>
          <p:cNvSpPr txBox="1"/>
          <p:nvPr/>
        </p:nvSpPr>
        <p:spPr>
          <a:xfrm>
            <a:off x="64516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8" name="Вопрос_2"/>
          <p:cNvSpPr txBox="1"/>
          <p:nvPr/>
        </p:nvSpPr>
        <p:spPr>
          <a:xfrm>
            <a:off x="69596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 48 и при рСКФ 72?</a:t>
            </a:r>
          </a:p>
        </p:txBody>
      </p:sp>
      <p:sp>
        <p:nvSpPr>
          <p:cNvPr id="9" name="Вопрос_3_фон"/>
          <p:cNvSpPr/>
          <p:nvPr/>
        </p:nvSpPr>
        <p:spPr>
          <a:xfrm>
            <a:off x="4572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Вопрос_3_номер"/>
          <p:cNvSpPr txBox="1"/>
          <p:nvPr/>
        </p:nvSpPr>
        <p:spPr>
          <a:xfrm>
            <a:off x="6604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11" name="Вопрос_3"/>
          <p:cNvSpPr txBox="1"/>
          <p:nvPr/>
        </p:nvSpPr>
        <p:spPr>
          <a:xfrm>
            <a:off x="11684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12" name="Вопрос_4_фон"/>
          <p:cNvSpPr/>
          <p:nvPr/>
        </p:nvSpPr>
        <p:spPr>
          <a:xfrm>
            <a:off x="62484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Вопрос_4_номер"/>
          <p:cNvSpPr txBox="1"/>
          <p:nvPr/>
        </p:nvSpPr>
        <p:spPr>
          <a:xfrm>
            <a:off x="64516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14" name="Вопрос_4"/>
          <p:cNvSpPr txBox="1"/>
          <p:nvPr/>
        </p:nvSpPr>
        <p:spPr>
          <a:xfrm>
            <a:off x="69596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Какой первичный исход был в FIDELIO-DKD, а какой в FIGARO-DKD?</a:t>
            </a:r>
          </a:p>
        </p:txBody>
      </p:sp>
      <p:sp>
        <p:nvSpPr>
          <p:cNvPr id="15" name="Вопрос_5_фон"/>
          <p:cNvSpPr/>
          <p:nvPr/>
        </p:nvSpPr>
        <p:spPr>
          <a:xfrm>
            <a:off x="4572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Вопрос_5_номер"/>
          <p:cNvSpPr txBox="1"/>
          <p:nvPr/>
        </p:nvSpPr>
        <p:spPr>
          <a:xfrm>
            <a:off x="6604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17" name="Вопрос_5"/>
          <p:cNvSpPr txBox="1"/>
          <p:nvPr/>
        </p:nvSpPr>
        <p:spPr>
          <a:xfrm>
            <a:off x="11684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по снижению АКО обещать конкретному пациенту меньший риск диализа?</a:t>
            </a:r>
          </a:p>
        </p:txBody>
      </p:sp>
      <p:sp>
        <p:nvSpPr>
          <p:cNvPr id="18" name="Вопрос_6_фон"/>
          <p:cNvSpPr/>
          <p:nvPr/>
        </p:nvSpPr>
        <p:spPr>
          <a:xfrm>
            <a:off x="62484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Вопрос_6_номер"/>
          <p:cNvSpPr txBox="1"/>
          <p:nvPr/>
        </p:nvSpPr>
        <p:spPr>
          <a:xfrm>
            <a:off x="64516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20" name="Вопрос_6"/>
          <p:cNvSpPr txBox="1"/>
          <p:nvPr/>
        </p:nvSpPr>
        <p:spPr>
          <a:xfrm>
            <a:off x="69596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21" name="Вопрос_7_фон"/>
          <p:cNvSpPr/>
          <p:nvPr/>
        </p:nvSpPr>
        <p:spPr>
          <a:xfrm>
            <a:off x="4572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Вопрос_7_номер"/>
          <p:cNvSpPr txBox="1"/>
          <p:nvPr/>
        </p:nvSpPr>
        <p:spPr>
          <a:xfrm>
            <a:off x="6604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23" name="Вопрос_7"/>
          <p:cNvSpPr txBox="1"/>
          <p:nvPr/>
        </p:nvSpPr>
        <p:spPr>
          <a:xfrm>
            <a:off x="11684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 какими препаратами финеренон не сочетают, а с какими нужен контроль калия?</a:t>
            </a:r>
          </a:p>
        </p:txBody>
      </p:sp>
      <p:sp>
        <p:nvSpPr>
          <p:cNvPr id="24" name="Вопрос_8_фон"/>
          <p:cNvSpPr/>
          <p:nvPr/>
        </p:nvSpPr>
        <p:spPr>
          <a:xfrm>
            <a:off x="62484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Вопрос_8_номер"/>
          <p:cNvSpPr txBox="1"/>
          <p:nvPr/>
        </p:nvSpPr>
        <p:spPr>
          <a:xfrm>
            <a:off x="64516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26" name="Вопрос_8"/>
          <p:cNvSpPr txBox="1"/>
          <p:nvPr/>
        </p:nvSpPr>
        <p:spPr>
          <a:xfrm>
            <a:off x="69596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безопасности (ARTS, II фаза, сердечная недостаточность)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(FIND-CKD)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Диабет 1 типа (FINE-ONE, одобрение в США)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фракцией выброса ≥40% (FINEARTS-HF)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справки и медицинского отдела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1219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местной инструкции Финеренон-Орвилле этих показаний нет. Сравнение со спиронолактоном получено в коротком исследовании II фазы, результат описательный. Представитель не обсуждает эти данные по своей инициативе и передаёт вопросы врача в медицинский отдел.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 при сахарном диабете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Безопасность_текст_1"/>
          <p:cNvSpPr txBox="1"/>
          <p:nvPr/>
        </p:nvSpPr>
        <p:spPr>
          <a:xfrm>
            <a:off x="63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Очень часто: гиперкалиемия.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Часто: гипонатриемия, гиперурикемия, гипотензия, зуд, снижение рСКФ.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Нечасто: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426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FIDELITY,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426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Безопасность_текст_2"/>
          <p:cNvSpPr txBox="1"/>
          <p:nvPr/>
        </p:nvSpPr>
        <p:spPr>
          <a:xfrm>
            <a:off x="444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 14,0% и 6,9%.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 1,7% и 0,6%.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 3,4% и 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807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807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Безопасность_текст_3"/>
          <p:cNvSpPr txBox="1"/>
          <p:nvPr/>
        </p:nvSpPr>
        <p:spPr>
          <a:xfrm>
            <a:off x="825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не рекомендуется при рСКФ &lt;25 мл/мин/1,73 м². При печёночной недостаточности класса C по Чайлд–Пью не начинают.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рСКФ &lt;15 препарат отменяют. При классе B калий контролируют чаще.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Безопасность_текст_4"/>
          <p:cNvSpPr txBox="1"/>
          <p:nvPr/>
        </p:nvSpPr>
        <p:spPr>
          <a:xfrm>
            <a:off x="63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только после тщательной оценки пользы и риска.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426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426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Безопасность_текст_5"/>
          <p:cNvSpPr txBox="1"/>
          <p:nvPr/>
        </p:nvSpPr>
        <p:spPr>
          <a:xfrm>
            <a:off x="444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 18 лет эффективность и безопасность не установлены.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807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807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Безопасность_текст_6"/>
          <p:cNvSpPr txBox="1"/>
          <p:nvPr/>
        </p:nvSpPr>
        <p:spPr>
          <a:xfrm>
            <a:off x="825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 любом нежелательном явлении, в том числе о беременности на фоне приёма, представитель сообщает в отдел фармаконадзора в течение 24 часов.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39.xml"/></Relationships>
</file>

<file path=ppt/t1d_approval/notesSlides/_rels/notesSlide2.xml.rels><?xml version='1.0' encoding='UTF-8' standalone='yes'?>
<Relationships xmlns="http://schemas.openxmlformats.org/package/2006/relationships"><Relationship Id="R092bf2a803f24dac" Type="http://schemas.openxmlformats.org/officeDocument/2006/relationships/slide" Target="../../slides/slide40.xml"/><Relationship Id="Rd7406f6931ad4e8a" Type="http://schemas.openxmlformats.org/officeDocument/2006/relationships/notesMaster" Target="../../notesMasters/notesMaster1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https://www.accessdata.fda.gov/drugsatfda_docs/appletter/2026/215341Orig1s011ltr.pdf</a:t>
            </a:r>
          </a:p>
          <a:p xmlns:a="http://schemas.openxmlformats.org/drawingml/2006/main">
            <a:r>
              <a:t>https://www.accessdata.fda.gov/drugsatfda_docs/label/2026/215341s011lbl.pdf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https://www.accessdata.fda.gov/drugsatfda_docs/label/2026/215341s011lbl.pdf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