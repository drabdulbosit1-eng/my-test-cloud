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inserted_0924/slideLayouts/slideLayout1.xml" ContentType="application/vnd.openxmlformats-officedocument.presentationml.slideLayout+xml"/>
  <Override PartName="/ppt/inserted_0924/slideMasters/slideMaster1.xml" ContentType="application/vnd.openxmlformats-officedocument.presentationml.slideMaster+xml"/>
  <Override PartName="/ppt/inserted_0924/slideMasters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elected/new/notesSlides/notesSlide1.xml" ContentType="application/vnd.openxmlformats-officedocument.presentationml.notesSlide+xml"/>
  <Override PartName="/ppt/selected/new/slideLayouts/slideLayout1.xml" ContentType="application/vnd.openxmlformats-officedocument.presentationml.slideLayout+xml"/>
  <Override PartName="/ppt/selected/new/slideMasters/slideMaster1.xml" ContentType="application/vnd.openxmlformats-officedocument.presentationml.slideMaster+xml"/>
  <Override PartName="/ppt/selected/new/slideMasters/theme/theme2.xml" ContentType="application/vnd.openxmlformats-officedocument.theme+xml"/>
  <Override PartName="/ppt/selected/src01/slideLayouts/slideLayout1.xml" ContentType="application/vnd.openxmlformats-officedocument.presentationml.slideLayout+xml"/>
  <Override PartName="/ppt/selected/src01/slideLayouts/slideLayout10.xml" ContentType="application/vnd.openxmlformats-officedocument.presentationml.slideLayout+xml"/>
  <Override PartName="/ppt/selected/src01/slideLayouts/slideLayout11.xml" ContentType="application/vnd.openxmlformats-officedocument.presentationml.slideLayout+xml"/>
  <Override PartName="/ppt/selected/src01/slideLayouts/slideLayout2.xml" ContentType="application/vnd.openxmlformats-officedocument.presentationml.slideLayout+xml"/>
  <Override PartName="/ppt/selected/src01/slideLayouts/slideLayout3.xml" ContentType="application/vnd.openxmlformats-officedocument.presentationml.slideLayout+xml"/>
  <Override PartName="/ppt/selected/src01/slideLayouts/slideLayout4.xml" ContentType="application/vnd.openxmlformats-officedocument.presentationml.slideLayout+xml"/>
  <Override PartName="/ppt/selected/src01/slideLayouts/slideLayout5.xml" ContentType="application/vnd.openxmlformats-officedocument.presentationml.slideLayout+xml"/>
  <Override PartName="/ppt/selected/src01/slideLayouts/slideLayout6.xml" ContentType="application/vnd.openxmlformats-officedocument.presentationml.slideLayout+xml"/>
  <Override PartName="/ppt/selected/src01/slideLayouts/slideLayout7.xml" ContentType="application/vnd.openxmlformats-officedocument.presentationml.slideLayout+xml"/>
  <Override PartName="/ppt/selected/src01/slideLayouts/slideLayout8.xml" ContentType="application/vnd.openxmlformats-officedocument.presentationml.slideLayout+xml"/>
  <Override PartName="/ppt/selected/src01/slideLayouts/slideLayout9.xml" ContentType="application/vnd.openxmlformats-officedocument.presentationml.slideLayout+xml"/>
  <Override PartName="/ppt/selected/src01/slideMasters/slideMaster1.xml" ContentType="application/vnd.openxmlformats-officedocument.presentationml.slideMaster+xml"/>
  <Override PartName="/ppt/selected/src01/theme/theme1.xml" ContentType="application/vnd.openxmlformats-officedocument.theme+xml"/>
  <Override PartName="/ppt/selected/src02/slideLayouts/slideLayout1.xml" ContentType="application/vnd.openxmlformats-officedocument.presentationml.slideLayout+xml"/>
  <Override PartName="/ppt/selected/src02/slideLayouts/slideLayout10.xml" ContentType="application/vnd.openxmlformats-officedocument.presentationml.slideLayout+xml"/>
  <Override PartName="/ppt/selected/src02/slideLayouts/slideLayout11.xml" ContentType="application/vnd.openxmlformats-officedocument.presentationml.slideLayout+xml"/>
  <Override PartName="/ppt/selected/src02/slideLayouts/slideLayout2.xml" ContentType="application/vnd.openxmlformats-officedocument.presentationml.slideLayout+xml"/>
  <Override PartName="/ppt/selected/src02/slideLayouts/slideLayout3.xml" ContentType="application/vnd.openxmlformats-officedocument.presentationml.slideLayout+xml"/>
  <Override PartName="/ppt/selected/src02/slideLayouts/slideLayout4.xml" ContentType="application/vnd.openxmlformats-officedocument.presentationml.slideLayout+xml"/>
  <Override PartName="/ppt/selected/src02/slideLayouts/slideLayout5.xml" ContentType="application/vnd.openxmlformats-officedocument.presentationml.slideLayout+xml"/>
  <Override PartName="/ppt/selected/src02/slideLayouts/slideLayout6.xml" ContentType="application/vnd.openxmlformats-officedocument.presentationml.slideLayout+xml"/>
  <Override PartName="/ppt/selected/src02/slideLayouts/slideLayout7.xml" ContentType="application/vnd.openxmlformats-officedocument.presentationml.slideLayout+xml"/>
  <Override PartName="/ppt/selected/src02/slideLayouts/slideLayout8.xml" ContentType="application/vnd.openxmlformats-officedocument.presentationml.slideLayout+xml"/>
  <Override PartName="/ppt/selected/src02/slideLayouts/slideLayout9.xml" ContentType="application/vnd.openxmlformats-officedocument.presentationml.slideLayout+xml"/>
  <Override PartName="/ppt/selected/src02/slideMasters/slideMaster1.xml" ContentType="application/vnd.openxmlformats-officedocument.presentationml.slideMaster+xml"/>
  <Override PartName="/ppt/selected/src02/theme/theme1.xml" ContentType="application/vnd.openxmlformats-officedocument.theme+xml"/>
  <Override PartName="/ppt/selected/src04/slideLayouts/slideLayout1.xml" ContentType="application/vnd.openxmlformats-officedocument.presentationml.slideLayout+xml"/>
  <Override PartName="/ppt/selected/src04/slideLayouts/slideLayout10.xml" ContentType="application/vnd.openxmlformats-officedocument.presentationml.slideLayout+xml"/>
  <Override PartName="/ppt/selected/src04/slideLayouts/slideLayout11.xml" ContentType="application/vnd.openxmlformats-officedocument.presentationml.slideLayout+xml"/>
  <Override PartName="/ppt/selected/src04/slideLayouts/slideLayout2.xml" ContentType="application/vnd.openxmlformats-officedocument.presentationml.slideLayout+xml"/>
  <Override PartName="/ppt/selected/src04/slideLayouts/slideLayout3.xml" ContentType="application/vnd.openxmlformats-officedocument.presentationml.slideLayout+xml"/>
  <Override PartName="/ppt/selected/src04/slideLayouts/slideLayout4.xml" ContentType="application/vnd.openxmlformats-officedocument.presentationml.slideLayout+xml"/>
  <Override PartName="/ppt/selected/src04/slideLayouts/slideLayout5.xml" ContentType="application/vnd.openxmlformats-officedocument.presentationml.slideLayout+xml"/>
  <Override PartName="/ppt/selected/src04/slideLayouts/slideLayout6.xml" ContentType="application/vnd.openxmlformats-officedocument.presentationml.slideLayout+xml"/>
  <Override PartName="/ppt/selected/src04/slideLayouts/slideLayout7.xml" ContentType="application/vnd.openxmlformats-officedocument.presentationml.slideLayout+xml"/>
  <Override PartName="/ppt/selected/src04/slideLayouts/slideLayout8.xml" ContentType="application/vnd.openxmlformats-officedocument.presentationml.slideLayout+xml"/>
  <Override PartName="/ppt/selected/src04/slideLayouts/slideLayout9.xml" ContentType="application/vnd.openxmlformats-officedocument.presentationml.slideLayout+xml"/>
  <Override PartName="/ppt/selected/src04/slideMasters/slideMaster1.xml" ContentType="application/vnd.openxmlformats-officedocument.presentationml.slideMaster+xml"/>
  <Override PartName="/ppt/selected/src04/theme/theme1.xml" ContentType="application/vnd.openxmlformats-officedocument.theme+xml"/>
  <Override PartName="/ppt/selected/src08/charts/chart1.xml" ContentType="application/vnd.openxmlformats-officedocument.drawingml.chart+xml"/>
  <Override PartName="/ppt/selected/src08/slideLayouts/slideLayout1.xml" ContentType="application/vnd.openxmlformats-officedocument.presentationml.slideLayout+xml"/>
  <Override PartName="/ppt/selected/src08/slideLayouts/slideLayout10.xml" ContentType="application/vnd.openxmlformats-officedocument.presentationml.slideLayout+xml"/>
  <Override PartName="/ppt/selected/src08/slideLayouts/slideLayout11.xml" ContentType="application/vnd.openxmlformats-officedocument.presentationml.slideLayout+xml"/>
  <Override PartName="/ppt/selected/src08/slideLayouts/slideLayout2.xml" ContentType="application/vnd.openxmlformats-officedocument.presentationml.slideLayout+xml"/>
  <Override PartName="/ppt/selected/src08/slideLayouts/slideLayout3.xml" ContentType="application/vnd.openxmlformats-officedocument.presentationml.slideLayout+xml"/>
  <Override PartName="/ppt/selected/src08/slideLayouts/slideLayout4.xml" ContentType="application/vnd.openxmlformats-officedocument.presentationml.slideLayout+xml"/>
  <Override PartName="/ppt/selected/src08/slideLayouts/slideLayout5.xml" ContentType="application/vnd.openxmlformats-officedocument.presentationml.slideLayout+xml"/>
  <Override PartName="/ppt/selected/src08/slideLayouts/slideLayout6.xml" ContentType="application/vnd.openxmlformats-officedocument.presentationml.slideLayout+xml"/>
  <Override PartName="/ppt/selected/src08/slideLayouts/slideLayout7.xml" ContentType="application/vnd.openxmlformats-officedocument.presentationml.slideLayout+xml"/>
  <Override PartName="/ppt/selected/src08/slideLayouts/slideLayout8.xml" ContentType="application/vnd.openxmlformats-officedocument.presentationml.slideLayout+xml"/>
  <Override PartName="/ppt/selected/src08/slideLayouts/slideLayout9.xml" ContentType="application/vnd.openxmlformats-officedocument.presentationml.slideLayout+xml"/>
  <Override PartName="/ppt/selected/src08/slideMasters/slideMaster1.xml" ContentType="application/vnd.openxmlformats-officedocument.presentationml.slideMaster+xml"/>
  <Override PartName="/ppt/selected/src08/theme/theme1.xml" ContentType="application/vnd.openxmlformats-officedocument.theme+xml"/>
  <Override PartName="/ppt/selected/src09/slideLayouts/slideLayout1.xml" ContentType="application/vnd.openxmlformats-officedocument.presentationml.slideLayout+xml"/>
  <Override PartName="/ppt/selected/src09/slideLayouts/slideLayout10.xml" ContentType="application/vnd.openxmlformats-officedocument.presentationml.slideLayout+xml"/>
  <Override PartName="/ppt/selected/src09/slideLayouts/slideLayout11.xml" ContentType="application/vnd.openxmlformats-officedocument.presentationml.slideLayout+xml"/>
  <Override PartName="/ppt/selected/src09/slideLayouts/slideLayout2.xml" ContentType="application/vnd.openxmlformats-officedocument.presentationml.slideLayout+xml"/>
  <Override PartName="/ppt/selected/src09/slideLayouts/slideLayout3.xml" ContentType="application/vnd.openxmlformats-officedocument.presentationml.slideLayout+xml"/>
  <Override PartName="/ppt/selected/src09/slideLayouts/slideLayout4.xml" ContentType="application/vnd.openxmlformats-officedocument.presentationml.slideLayout+xml"/>
  <Override PartName="/ppt/selected/src09/slideLayouts/slideLayout5.xml" ContentType="application/vnd.openxmlformats-officedocument.presentationml.slideLayout+xml"/>
  <Override PartName="/ppt/selected/src09/slideLayouts/slideLayout6.xml" ContentType="application/vnd.openxmlformats-officedocument.presentationml.slideLayout+xml"/>
  <Override PartName="/ppt/selected/src09/slideLayouts/slideLayout7.xml" ContentType="application/vnd.openxmlformats-officedocument.presentationml.slideLayout+xml"/>
  <Override PartName="/ppt/selected/src09/slideLayouts/slideLayout8.xml" ContentType="application/vnd.openxmlformats-officedocument.presentationml.slideLayout+xml"/>
  <Override PartName="/ppt/selected/src09/slideLayouts/slideLayout9.xml" ContentType="application/vnd.openxmlformats-officedocument.presentationml.slideLayout+xml"/>
  <Override PartName="/ppt/selected/src09/slideMasters/slideMaster1.xml" ContentType="application/vnd.openxmlformats-officedocument.presentationml.slideMaster+xml"/>
  <Override PartName="/ppt/selected/src09/theme/theme1.xml" ContentType="application/vnd.openxmlformats-officedocument.theme+xml"/>
  <Override PartName="/ppt/selected/src11/slideLayouts/slideLayout1.xml" ContentType="application/vnd.openxmlformats-officedocument.presentationml.slideLayout+xml"/>
  <Override PartName="/ppt/selected/src11/slideLayouts/slideLayout10.xml" ContentType="application/vnd.openxmlformats-officedocument.presentationml.slideLayout+xml"/>
  <Override PartName="/ppt/selected/src11/slideLayouts/slideLayout11.xml" ContentType="application/vnd.openxmlformats-officedocument.presentationml.slideLayout+xml"/>
  <Override PartName="/ppt/selected/src11/slideLayouts/slideLayout2.xml" ContentType="application/vnd.openxmlformats-officedocument.presentationml.slideLayout+xml"/>
  <Override PartName="/ppt/selected/src11/slideLayouts/slideLayout3.xml" ContentType="application/vnd.openxmlformats-officedocument.presentationml.slideLayout+xml"/>
  <Override PartName="/ppt/selected/src11/slideLayouts/slideLayout4.xml" ContentType="application/vnd.openxmlformats-officedocument.presentationml.slideLayout+xml"/>
  <Override PartName="/ppt/selected/src11/slideLayouts/slideLayout5.xml" ContentType="application/vnd.openxmlformats-officedocument.presentationml.slideLayout+xml"/>
  <Override PartName="/ppt/selected/src11/slideLayouts/slideLayout6.xml" ContentType="application/vnd.openxmlformats-officedocument.presentationml.slideLayout+xml"/>
  <Override PartName="/ppt/selected/src11/slideLayouts/slideLayout7.xml" ContentType="application/vnd.openxmlformats-officedocument.presentationml.slideLayout+xml"/>
  <Override PartName="/ppt/selected/src11/slideLayouts/slideLayout8.xml" ContentType="application/vnd.openxmlformats-officedocument.presentationml.slideLayout+xml"/>
  <Override PartName="/ppt/selected/src11/slideLayouts/slideLayout9.xml" ContentType="application/vnd.openxmlformats-officedocument.presentationml.slideLayout+xml"/>
  <Override PartName="/ppt/selected/src11/slideMasters/slideMaster1.xml" ContentType="application/vnd.openxmlformats-officedocument.presentationml.slideMaster+xml"/>
  <Override PartName="/ppt/selected/src11/theme/theme1.xml" ContentType="application/vnd.openxmlformats-officedocument.theme+xml"/>
  <Override PartName="/ppt/selected/src12/slideLayouts/slideLayout1.xml" ContentType="application/vnd.openxmlformats-officedocument.presentationml.slideLayout+xml"/>
  <Override PartName="/ppt/selected/src12/slideLayouts/slideLayout10.xml" ContentType="application/vnd.openxmlformats-officedocument.presentationml.slideLayout+xml"/>
  <Override PartName="/ppt/selected/src12/slideLayouts/slideLayout11.xml" ContentType="application/vnd.openxmlformats-officedocument.presentationml.slideLayout+xml"/>
  <Override PartName="/ppt/selected/src12/slideLayouts/slideLayout2.xml" ContentType="application/vnd.openxmlformats-officedocument.presentationml.slideLayout+xml"/>
  <Override PartName="/ppt/selected/src12/slideLayouts/slideLayout3.xml" ContentType="application/vnd.openxmlformats-officedocument.presentationml.slideLayout+xml"/>
  <Override PartName="/ppt/selected/src12/slideLayouts/slideLayout4.xml" ContentType="application/vnd.openxmlformats-officedocument.presentationml.slideLayout+xml"/>
  <Override PartName="/ppt/selected/src12/slideLayouts/slideLayout5.xml" ContentType="application/vnd.openxmlformats-officedocument.presentationml.slideLayout+xml"/>
  <Override PartName="/ppt/selected/src12/slideLayouts/slideLayout6.xml" ContentType="application/vnd.openxmlformats-officedocument.presentationml.slideLayout+xml"/>
  <Override PartName="/ppt/selected/src12/slideLayouts/slideLayout7.xml" ContentType="application/vnd.openxmlformats-officedocument.presentationml.slideLayout+xml"/>
  <Override PartName="/ppt/selected/src12/slideLayouts/slideLayout8.xml" ContentType="application/vnd.openxmlformats-officedocument.presentationml.slideLayout+xml"/>
  <Override PartName="/ppt/selected/src12/slideLayouts/slideLayout9.xml" ContentType="application/vnd.openxmlformats-officedocument.presentationml.slideLayout+xml"/>
  <Override PartName="/ppt/selected/src12/slideMasters/slideMaster1.xml" ContentType="application/vnd.openxmlformats-officedocument.presentationml.slideMaster+xml"/>
  <Override PartName="/ppt/selected/src12/theme/theme1.xml" ContentType="application/vnd.openxmlformats-officedocument.theme+xml"/>
  <Override PartName="/ppt/selected/src14/slideLayouts/slideLayout1.xml" ContentType="application/vnd.openxmlformats-officedocument.presentationml.slideLayout+xml"/>
  <Override PartName="/ppt/selected/src14/slideLayouts/slideLayout10.xml" ContentType="application/vnd.openxmlformats-officedocument.presentationml.slideLayout+xml"/>
  <Override PartName="/ppt/selected/src14/slideLayouts/slideLayout11.xml" ContentType="application/vnd.openxmlformats-officedocument.presentationml.slideLayout+xml"/>
  <Override PartName="/ppt/selected/src14/slideLayouts/slideLayout2.xml" ContentType="application/vnd.openxmlformats-officedocument.presentationml.slideLayout+xml"/>
  <Override PartName="/ppt/selected/src14/slideLayouts/slideLayout3.xml" ContentType="application/vnd.openxmlformats-officedocument.presentationml.slideLayout+xml"/>
  <Override PartName="/ppt/selected/src14/slideLayouts/slideLayout4.xml" ContentType="application/vnd.openxmlformats-officedocument.presentationml.slideLayout+xml"/>
  <Override PartName="/ppt/selected/src14/slideLayouts/slideLayout5.xml" ContentType="application/vnd.openxmlformats-officedocument.presentationml.slideLayout+xml"/>
  <Override PartName="/ppt/selected/src14/slideLayouts/slideLayout6.xml" ContentType="application/vnd.openxmlformats-officedocument.presentationml.slideLayout+xml"/>
  <Override PartName="/ppt/selected/src14/slideLayouts/slideLayout7.xml" ContentType="application/vnd.openxmlformats-officedocument.presentationml.slideLayout+xml"/>
  <Override PartName="/ppt/selected/src14/slideLayouts/slideLayout8.xml" ContentType="application/vnd.openxmlformats-officedocument.presentationml.slideLayout+xml"/>
  <Override PartName="/ppt/selected/src14/slideLayouts/slideLayout9.xml" ContentType="application/vnd.openxmlformats-officedocument.presentationml.slideLayout+xml"/>
  <Override PartName="/ppt/selected/src14/slideMasters/slideMaster1.xml" ContentType="application/vnd.openxmlformats-officedocument.presentationml.slideMaster+xml"/>
  <Override PartName="/ppt/selected/src14/theme/theme1.xml" ContentType="application/vnd.openxmlformats-officedocument.theme+xml"/>
  <Override PartName="/ppt/selected/src15/slideLayouts/slideLayout1.xml" ContentType="application/vnd.openxmlformats-officedocument.presentationml.slideLayout+xml"/>
  <Override PartName="/ppt/selected/src15/slideLayouts/slideLayout10.xml" ContentType="application/vnd.openxmlformats-officedocument.presentationml.slideLayout+xml"/>
  <Override PartName="/ppt/selected/src15/slideLayouts/slideLayout11.xml" ContentType="application/vnd.openxmlformats-officedocument.presentationml.slideLayout+xml"/>
  <Override PartName="/ppt/selected/src15/slideLayouts/slideLayout2.xml" ContentType="application/vnd.openxmlformats-officedocument.presentationml.slideLayout+xml"/>
  <Override PartName="/ppt/selected/src15/slideLayouts/slideLayout3.xml" ContentType="application/vnd.openxmlformats-officedocument.presentationml.slideLayout+xml"/>
  <Override PartName="/ppt/selected/src15/slideLayouts/slideLayout4.xml" ContentType="application/vnd.openxmlformats-officedocument.presentationml.slideLayout+xml"/>
  <Override PartName="/ppt/selected/src15/slideLayouts/slideLayout5.xml" ContentType="application/vnd.openxmlformats-officedocument.presentationml.slideLayout+xml"/>
  <Override PartName="/ppt/selected/src15/slideLayouts/slideLayout6.xml" ContentType="application/vnd.openxmlformats-officedocument.presentationml.slideLayout+xml"/>
  <Override PartName="/ppt/selected/src15/slideLayouts/slideLayout7.xml" ContentType="application/vnd.openxmlformats-officedocument.presentationml.slideLayout+xml"/>
  <Override PartName="/ppt/selected/src15/slideLayouts/slideLayout8.xml" ContentType="application/vnd.openxmlformats-officedocument.presentationml.slideLayout+xml"/>
  <Override PartName="/ppt/selected/src15/slideLayouts/slideLayout9.xml" ContentType="application/vnd.openxmlformats-officedocument.presentationml.slideLayout+xml"/>
  <Override PartName="/ppt/selected/src15/slideMasters/slideMaster1.xml" ContentType="application/vnd.openxmlformats-officedocument.presentationml.slideMaster+xml"/>
  <Override PartName="/ppt/selected/src15/theme/theme1.xml" ContentType="application/vnd.openxmlformats-officedocument.theme+xml"/>
  <Override PartName="/ppt/selected/src17/slideLayouts/slideLayout1.xml" ContentType="application/vnd.openxmlformats-officedocument.presentationml.slideLayout+xml"/>
  <Override PartName="/ppt/selected/src17/slideLayouts/slideLayout10.xml" ContentType="application/vnd.openxmlformats-officedocument.presentationml.slideLayout+xml"/>
  <Override PartName="/ppt/selected/src17/slideLayouts/slideLayout11.xml" ContentType="application/vnd.openxmlformats-officedocument.presentationml.slideLayout+xml"/>
  <Override PartName="/ppt/selected/src17/slideLayouts/slideLayout2.xml" ContentType="application/vnd.openxmlformats-officedocument.presentationml.slideLayout+xml"/>
  <Override PartName="/ppt/selected/src17/slideLayouts/slideLayout3.xml" ContentType="application/vnd.openxmlformats-officedocument.presentationml.slideLayout+xml"/>
  <Override PartName="/ppt/selected/src17/slideLayouts/slideLayout4.xml" ContentType="application/vnd.openxmlformats-officedocument.presentationml.slideLayout+xml"/>
  <Override PartName="/ppt/selected/src17/slideLayouts/slideLayout5.xml" ContentType="application/vnd.openxmlformats-officedocument.presentationml.slideLayout+xml"/>
  <Override PartName="/ppt/selected/src17/slideLayouts/slideLayout6.xml" ContentType="application/vnd.openxmlformats-officedocument.presentationml.slideLayout+xml"/>
  <Override PartName="/ppt/selected/src17/slideLayouts/slideLayout7.xml" ContentType="application/vnd.openxmlformats-officedocument.presentationml.slideLayout+xml"/>
  <Override PartName="/ppt/selected/src17/slideLayouts/slideLayout8.xml" ContentType="application/vnd.openxmlformats-officedocument.presentationml.slideLayout+xml"/>
  <Override PartName="/ppt/selected/src17/slideLayouts/slideLayout9.xml" ContentType="application/vnd.openxmlformats-officedocument.presentationml.slideLayout+xml"/>
  <Override PartName="/ppt/selected/src17/slideMasters/slideMaster1.xml" ContentType="application/vnd.openxmlformats-officedocument.presentationml.slideMaster+xml"/>
  <Override PartName="/ppt/selected/src17/theme/theme1.xml" ContentType="application/vnd.openxmlformats-officedocument.theme+xml"/>
  <Override PartName="/ppt/selected/src18/slideLayouts/slideLayout1.xml" ContentType="application/vnd.openxmlformats-officedocument.presentationml.slideLayout+xml"/>
  <Override PartName="/ppt/selected/src18/slideLayouts/slideLayout10.xml" ContentType="application/vnd.openxmlformats-officedocument.presentationml.slideLayout+xml"/>
  <Override PartName="/ppt/selected/src18/slideLayouts/slideLayout11.xml" ContentType="application/vnd.openxmlformats-officedocument.presentationml.slideLayout+xml"/>
  <Override PartName="/ppt/selected/src18/slideLayouts/slideLayout2.xml" ContentType="application/vnd.openxmlformats-officedocument.presentationml.slideLayout+xml"/>
  <Override PartName="/ppt/selected/src18/slideLayouts/slideLayout3.xml" ContentType="application/vnd.openxmlformats-officedocument.presentationml.slideLayout+xml"/>
  <Override PartName="/ppt/selected/src18/slideLayouts/slideLayout4.xml" ContentType="application/vnd.openxmlformats-officedocument.presentationml.slideLayout+xml"/>
  <Override PartName="/ppt/selected/src18/slideLayouts/slideLayout5.xml" ContentType="application/vnd.openxmlformats-officedocument.presentationml.slideLayout+xml"/>
  <Override PartName="/ppt/selected/src18/slideLayouts/slideLayout6.xml" ContentType="application/vnd.openxmlformats-officedocument.presentationml.slideLayout+xml"/>
  <Override PartName="/ppt/selected/src18/slideLayouts/slideLayout7.xml" ContentType="application/vnd.openxmlformats-officedocument.presentationml.slideLayout+xml"/>
  <Override PartName="/ppt/selected/src18/slideLayouts/slideLayout8.xml" ContentType="application/vnd.openxmlformats-officedocument.presentationml.slideLayout+xml"/>
  <Override PartName="/ppt/selected/src18/slideLayouts/slideLayout9.xml" ContentType="application/vnd.openxmlformats-officedocument.presentationml.slideLayout+xml"/>
  <Override PartName="/ppt/selected/src18/slideMasters/slideMaster1.xml" ContentType="application/vnd.openxmlformats-officedocument.presentationml.slideMaster+xml"/>
  <Override PartName="/ppt/selected/src18/theme/theme1.xml" ContentType="application/vnd.openxmlformats-officedocument.theme+xml"/>
  <Override PartName="/ppt/selected/src19/slideLayouts/slideLayout1.xml" ContentType="application/vnd.openxmlformats-officedocument.presentationml.slideLayout+xml"/>
  <Override PartName="/ppt/selected/src19/slideLayouts/slideLayout10.xml" ContentType="application/vnd.openxmlformats-officedocument.presentationml.slideLayout+xml"/>
  <Override PartName="/ppt/selected/src19/slideLayouts/slideLayout11.xml" ContentType="application/vnd.openxmlformats-officedocument.presentationml.slideLayout+xml"/>
  <Override PartName="/ppt/selected/src19/slideLayouts/slideLayout2.xml" ContentType="application/vnd.openxmlformats-officedocument.presentationml.slideLayout+xml"/>
  <Override PartName="/ppt/selected/src19/slideLayouts/slideLayout3.xml" ContentType="application/vnd.openxmlformats-officedocument.presentationml.slideLayout+xml"/>
  <Override PartName="/ppt/selected/src19/slideLayouts/slideLayout4.xml" ContentType="application/vnd.openxmlformats-officedocument.presentationml.slideLayout+xml"/>
  <Override PartName="/ppt/selected/src19/slideLayouts/slideLayout5.xml" ContentType="application/vnd.openxmlformats-officedocument.presentationml.slideLayout+xml"/>
  <Override PartName="/ppt/selected/src19/slideLayouts/slideLayout6.xml" ContentType="application/vnd.openxmlformats-officedocument.presentationml.slideLayout+xml"/>
  <Override PartName="/ppt/selected/src19/slideLayouts/slideLayout7.xml" ContentType="application/vnd.openxmlformats-officedocument.presentationml.slideLayout+xml"/>
  <Override PartName="/ppt/selected/src19/slideLayouts/slideLayout8.xml" ContentType="application/vnd.openxmlformats-officedocument.presentationml.slideLayout+xml"/>
  <Override PartName="/ppt/selected/src19/slideLayouts/slideLayout9.xml" ContentType="application/vnd.openxmlformats-officedocument.presentationml.slideLayout+xml"/>
  <Override PartName="/ppt/selected/src19/slideMasters/slideMaster1.xml" ContentType="application/vnd.openxmlformats-officedocument.presentationml.slideMaster+xml"/>
  <Override PartName="/ppt/selected/src19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1d_approval/notesSlides/notesSlide1.xml" ContentType="application/vnd.openxmlformats-officedocument.presentationml.notesSlide+xml"/>
  <Override PartName="/ppt/t1d_approval/slideLayouts/slideLayout1.xml" ContentType="application/vnd.openxmlformats-officedocument.presentationml.slideLayout+xml"/>
  <Override PartName="/ppt/t1d_approval/slideMasters/slideMaster1.xml" ContentType="application/vnd.openxmlformats-officedocument.presentationml.slideMaster+xml"/>
  <Override PartName="/ppt/t1d_approval/slideMasters/theme/theme2.xml" ContentType="application/vnd.openxmlformats-officedocument.them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3" r:id="rId3"/>
    <p:sldMasterId id="2147483675" r:id="rId4"/>
    <p:sldMasterId id="2147483677" r:id="rId5"/>
    <p:sldMasterId id="2147483689" r:id="rId6"/>
    <p:sldMasterId id="2147483693" r:id="rId7"/>
    <p:sldMasterId id="2147483696" r:id="rId8"/>
    <p:sldMasterId id="2147483698" r:id="rId9"/>
    <p:sldMasterId id="2147483700" r:id="rId10"/>
    <p:sldMasterId id="2147483702" r:id="rId11"/>
    <p:sldMasterId id="2147483704" r:id="rId12"/>
    <p:sldMasterId id="2147483716" r:id="rId13"/>
    <p:sldMasterId id="2147483719" r:id="rId14"/>
    <p:sldMasterId id="2147483722" r:id="rId15"/>
    <p:sldMasterId id="2147483725" r:id="rId16"/>
    <p:sldMasterId id="2147483728" r:id="rId17"/>
    <p:sldMasterId id="2147483731" r:id="rId18"/>
    <p:sldMasterId id="2147483734" r:id="rId19"/>
    <p:sldMasterId id="2147483737" r:id="rId20"/>
    <p:sldMasterId id="2147483740" r:id="rIdInsert2"/>
    <p:sldMasterId id="2147483742" r:id="rIdReviewed40"/>
    <p:sldMasterId id="2147483744" r:id="rIdReviewed41"/>
    <p:sldMasterId id="2147483756" r:id="rIdReviewed42"/>
    <p:sldMasterId id="2147483768" r:id="rIdReviewed43"/>
    <p:sldMasterId id="2147483780" r:id="rIdReviewed44"/>
    <p:sldMasterId id="2147483792" r:id="rIdReviewed45"/>
    <p:sldMasterId id="2147483804" r:id="rIdReviewed46"/>
    <p:sldMasterId id="2147483816" r:id="rIdReviewed47"/>
    <p:sldMasterId id="2147483828" r:id="rIdReviewed48"/>
    <p:sldMasterId id="2147483840" r:id="rIdReviewed49"/>
    <p:sldMasterId id="2147483852" r:id="rIdReviewed50"/>
    <p:sldMasterId id="2147483864" r:id="rIdReviewed51"/>
    <p:sldMasterId id="2147483876" r:id="rIdReviewed52"/>
    <p:sldMasterId id="2147483888" r:id="rIdT1D4"/>
  </p:sldMasterIdLst>
  <p:notesMasterIdLst>
    <p:notesMasterId r:id="rId58"/>
  </p:notesMasterIdLst>
  <p:sldIdLst>
    <p:sldId id="256" r:id="rIdReviewed1"/>
    <p:sldId id="257" r:id="rIdReviewed2"/>
    <p:sldId id="303" r:id="rId89"/>
    <p:sldId id="265" r:id="rIdReviewed10"/>
    <p:sldId id="266" r:id="rIdReviewed11"/>
    <p:sldId id="267" r:id="rIdReviewed12"/>
    <p:sldId id="268" r:id="rIdReviewed13"/>
    <p:sldId id="269" r:id="rIdReviewed14"/>
    <p:sldId id="263" r:id="rIdReviewed8"/>
    <p:sldId id="264" r:id="rIdReviewed9"/>
    <p:sldId id="260" r:id="rIdReviewed5"/>
    <p:sldId id="261" r:id="rIdReviewed6"/>
    <p:sldId id="262" r:id="rIdReviewed7"/>
    <p:sldId id="304" r:id="rId90"/>
    <p:sldId id="259" r:id="rIdReviewed4"/>
    <p:sldId id="258" r:id="rIdReviewed3"/>
    <p:sldId id="270" r:id="rIdReviewed15"/>
    <p:sldId id="271" r:id="rIdReviewed16"/>
    <p:sldId id="272" r:id="rIdReviewed17"/>
    <p:sldId id="273" r:id="rIdReviewed18"/>
    <p:sldId id="274" r:id="rIdReviewed19"/>
    <p:sldId id="275" r:id="rIdReviewed20"/>
    <p:sldId id="276" r:id="rIdReviewed21"/>
    <p:sldId id="277" r:id="rIdReviewed22"/>
    <p:sldId id="278" r:id="rIdReviewed23"/>
    <p:sldId id="279" r:id="rIdReviewed24"/>
    <p:sldId id="280" r:id="rIdReviewed25"/>
    <p:sldId id="281" r:id="rIdReviewed26"/>
    <p:sldId id="283" r:id="rIdReviewed28"/>
    <p:sldId id="284" r:id="rIdReviewed29"/>
    <p:sldId id="285" r:id="rIdReviewed30"/>
    <p:sldId id="286" r:id="rIdReviewed31"/>
    <p:sldId id="287" r:id="rIdReviewed32"/>
    <p:sldId id="288" r:id="rIdReviewed33"/>
    <p:sldId id="302" r:id="rId88"/>
    <p:sldId id="289" r:id="rIdReviewed34"/>
    <p:sldId id="290" r:id="rIdReviewed35"/>
    <p:sldId id="297" r:id="rId83"/>
    <p:sldId id="298" r:id="rId84"/>
    <p:sldId id="299" r:id="rId85"/>
    <p:sldId id="300" r:id="rId86"/>
    <p:sldId id="291" r:id="rIdReviewed36"/>
    <p:sldId id="301" r:id="rId87"/>
    <p:sldId id="282" r:id="rIdReviewed27"/>
    <p:sldId id="292" r:id="rIdReviewed37"/>
    <p:sldId id="293" r:id="rIdReviewed38"/>
    <p:sldId id="295" r:id="rIdT1D1"/>
    <p:sldId id="294" r:id="rIdReviewe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62" y="8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Insert2" Type="http://schemas.openxmlformats.org/officeDocument/2006/relationships/slideMaster" Target="inserted_0924/slideMasters/slideMaster1.xml"/><Relationship Id="rIdReviewed1" Type="http://schemas.openxmlformats.org/officeDocument/2006/relationships/slide" Target="slides/slide1.xml"/><Relationship Id="rIdReviewed10" Type="http://schemas.openxmlformats.org/officeDocument/2006/relationships/slide" Target="slides/slide3.xml"/><Relationship Id="rIdReviewed11" Type="http://schemas.openxmlformats.org/officeDocument/2006/relationships/slide" Target="slides/slide4.xml"/><Relationship Id="rIdReviewed12" Type="http://schemas.openxmlformats.org/officeDocument/2006/relationships/slide" Target="slides/slide5.xml"/><Relationship Id="rIdReviewed13" Type="http://schemas.openxmlformats.org/officeDocument/2006/relationships/slide" Target="slides/slide6.xml"/><Relationship Id="rIdReviewed14" Type="http://schemas.openxmlformats.org/officeDocument/2006/relationships/slide" Target="slides/slide7.xml"/><Relationship Id="rIdReviewed15" Type="http://schemas.openxmlformats.org/officeDocument/2006/relationships/slide" Target="slides/slide15.xml"/><Relationship Id="rIdReviewed16" Type="http://schemas.openxmlformats.org/officeDocument/2006/relationships/slide" Target="slides/slide16.xml"/><Relationship Id="rIdReviewed17" Type="http://schemas.openxmlformats.org/officeDocument/2006/relationships/slide" Target="slides/slide17.xml"/><Relationship Id="rIdReviewed18" Type="http://schemas.openxmlformats.org/officeDocument/2006/relationships/slide" Target="slides/slide18.xml"/><Relationship Id="rIdReviewed19" Type="http://schemas.openxmlformats.org/officeDocument/2006/relationships/slide" Target="slides/slide19.xml"/><Relationship Id="rIdReviewed2" Type="http://schemas.openxmlformats.org/officeDocument/2006/relationships/slide" Target="slides/slide2.xml"/><Relationship Id="rIdReviewed20" Type="http://schemas.openxmlformats.org/officeDocument/2006/relationships/slide" Target="slides/slide20.xml"/><Relationship Id="rIdReviewed21" Type="http://schemas.openxmlformats.org/officeDocument/2006/relationships/slide" Target="slides/slide21.xml"/><Relationship Id="rIdReviewed22" Type="http://schemas.openxmlformats.org/officeDocument/2006/relationships/slide" Target="slides/slide22.xml"/><Relationship Id="rIdReviewed23" Type="http://schemas.openxmlformats.org/officeDocument/2006/relationships/slide" Target="slides/slide23.xml"/><Relationship Id="rIdReviewed24" Type="http://schemas.openxmlformats.org/officeDocument/2006/relationships/slide" Target="slides/slide24.xml"/><Relationship Id="rIdReviewed25" Type="http://schemas.openxmlformats.org/officeDocument/2006/relationships/slide" Target="slides/slide25.xml"/><Relationship Id="rIdReviewed26" Type="http://schemas.openxmlformats.org/officeDocument/2006/relationships/slide" Target="slides/slide26.xml"/><Relationship Id="rIdReviewed27" Type="http://schemas.openxmlformats.org/officeDocument/2006/relationships/slide" Target="slides/slide42.xml"/><Relationship Id="rIdReviewed28" Type="http://schemas.openxmlformats.org/officeDocument/2006/relationships/slide" Target="slides/slide27.xml"/><Relationship Id="rIdReviewed29" Type="http://schemas.openxmlformats.org/officeDocument/2006/relationships/slide" Target="slides/slide28.xml"/><Relationship Id="rIdReviewed3" Type="http://schemas.openxmlformats.org/officeDocument/2006/relationships/slide" Target="slides/slide14.xml"/><Relationship Id="rIdReviewed30" Type="http://schemas.openxmlformats.org/officeDocument/2006/relationships/slide" Target="slides/slide29.xml"/><Relationship Id="rIdReviewed31" Type="http://schemas.openxmlformats.org/officeDocument/2006/relationships/slide" Target="slides/slide30.xml"/><Relationship Id="rIdReviewed32" Type="http://schemas.openxmlformats.org/officeDocument/2006/relationships/slide" Target="slides/slide31.xml"/><Relationship Id="rIdReviewed33" Type="http://schemas.openxmlformats.org/officeDocument/2006/relationships/slide" Target="slides/slide32.xml"/><Relationship Id="rIdReviewed34" Type="http://schemas.openxmlformats.org/officeDocument/2006/relationships/slide" Target="slides/slide34.xml"/><Relationship Id="rIdReviewed35" Type="http://schemas.openxmlformats.org/officeDocument/2006/relationships/slide" Target="slides/slide35.xml"/><Relationship Id="rIdReviewed36" Type="http://schemas.openxmlformats.org/officeDocument/2006/relationships/slide" Target="slides/slide36.xml"/><Relationship Id="rIdReviewed37" Type="http://schemas.openxmlformats.org/officeDocument/2006/relationships/slide" Target="slides/slide43.xml"/><Relationship Id="rIdReviewed38" Type="http://schemas.openxmlformats.org/officeDocument/2006/relationships/slide" Target="slides/slide44.xml"/><Relationship Id="rIdReviewed39" Type="http://schemas.openxmlformats.org/officeDocument/2006/relationships/slide" Target="slides/slide47.xml"/><Relationship Id="rIdReviewed4" Type="http://schemas.openxmlformats.org/officeDocument/2006/relationships/slide" Target="slides/slide13.xml"/><Relationship Id="rIdReviewed40" Type="http://schemas.openxmlformats.org/officeDocument/2006/relationships/slideMaster" Target="selected/new/slideMasters/slideMaster1.xml"/><Relationship Id="rIdReviewed41" Type="http://schemas.openxmlformats.org/officeDocument/2006/relationships/slideMaster" Target="selected/src01/slideMasters/slideMaster1.xml"/><Relationship Id="rIdReviewed42" Type="http://schemas.openxmlformats.org/officeDocument/2006/relationships/slideMaster" Target="selected/src02/slideMasters/slideMaster1.xml"/><Relationship Id="rIdReviewed43" Type="http://schemas.openxmlformats.org/officeDocument/2006/relationships/slideMaster" Target="selected/src04/slideMasters/slideMaster1.xml"/><Relationship Id="rIdReviewed44" Type="http://schemas.openxmlformats.org/officeDocument/2006/relationships/slideMaster" Target="selected/src08/slideMasters/slideMaster1.xml"/><Relationship Id="rIdReviewed45" Type="http://schemas.openxmlformats.org/officeDocument/2006/relationships/slideMaster" Target="selected/src09/slideMasters/slideMaster1.xml"/><Relationship Id="rIdReviewed46" Type="http://schemas.openxmlformats.org/officeDocument/2006/relationships/slideMaster" Target="selected/src11/slideMasters/slideMaster1.xml"/><Relationship Id="rIdReviewed47" Type="http://schemas.openxmlformats.org/officeDocument/2006/relationships/slideMaster" Target="selected/src12/slideMasters/slideMaster1.xml"/><Relationship Id="rIdReviewed48" Type="http://schemas.openxmlformats.org/officeDocument/2006/relationships/slideMaster" Target="selected/src14/slideMasters/slideMaster1.xml"/><Relationship Id="rIdReviewed49" Type="http://schemas.openxmlformats.org/officeDocument/2006/relationships/slideMaster" Target="selected/src15/slideMasters/slideMaster1.xml"/><Relationship Id="rIdReviewed5" Type="http://schemas.openxmlformats.org/officeDocument/2006/relationships/slide" Target="slides/slide8.xml"/><Relationship Id="rIdReviewed50" Type="http://schemas.openxmlformats.org/officeDocument/2006/relationships/slideMaster" Target="selected/src17/slideMasters/slideMaster1.xml"/><Relationship Id="rIdReviewed51" Type="http://schemas.openxmlformats.org/officeDocument/2006/relationships/slideMaster" Target="selected/src18/slideMasters/slideMaster1.xml"/><Relationship Id="rIdReviewed52" Type="http://schemas.openxmlformats.org/officeDocument/2006/relationships/slideMaster" Target="selected/src19/slideMasters/slideMaster1.xml"/><Relationship Id="rIdReviewed6" Type="http://schemas.openxmlformats.org/officeDocument/2006/relationships/slide" Target="slides/slide9.xml"/><Relationship Id="rIdReviewed7" Type="http://schemas.openxmlformats.org/officeDocument/2006/relationships/slide" Target="slides/slide10.xml"/><Relationship Id="rIdReviewed8" Type="http://schemas.openxmlformats.org/officeDocument/2006/relationships/slide" Target="slides/slide11.xml"/><Relationship Id="rIdReviewed9" Type="http://schemas.openxmlformats.org/officeDocument/2006/relationships/slide" Target="slides/slide12.xml"/><Relationship Id="rIdT1D1" Type="http://schemas.openxmlformats.org/officeDocument/2006/relationships/slide" Target="slides/slide45.xml"/><Relationship Id="rIdT1D4" Type="http://schemas.openxmlformats.org/officeDocument/2006/relationships/slideMaster" Target="t1d_approval/slideMasters/slideMaster1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83" Type="http://schemas.openxmlformats.org/officeDocument/2006/relationships/slide" Target="slides/slide37.xml"/><Relationship Id="rId84" Type="http://schemas.openxmlformats.org/officeDocument/2006/relationships/slide" Target="slides/slide38.xml"/><Relationship Id="rId85" Type="http://schemas.openxmlformats.org/officeDocument/2006/relationships/slide" Target="slides/slide39.xml"/><Relationship Id="rId86" Type="http://schemas.openxmlformats.org/officeDocument/2006/relationships/slide" Target="slides/slide40.xml"/><Relationship Id="rId87" Type="http://schemas.openxmlformats.org/officeDocument/2006/relationships/slide" Target="slides/slide41.xml"/><Relationship Id="rId88" Type="http://schemas.openxmlformats.org/officeDocument/2006/relationships/slide" Target="slides/slide33.xml"/><Relationship Id="rId89" Type="http://schemas.openxmlformats.org/officeDocument/2006/relationships/slide" Target="slides/slide48.xml"/><Relationship Id="rId90" Type="http://schemas.openxmlformats.org/officeDocument/2006/relationships/slide" Target="slides/slide4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4D8F16A5-C395-4B97-856B-73C4ABE23E7D}"/>
    <pc:docChg chg="undo custSel modSld delMainMaster">
      <pc:chgData name="Odina Siddikova" userId="c170bc8eab85294e" providerId="LiveId" clId="{4D8F16A5-C395-4B97-856B-73C4ABE23E7D}" dt="2026-09-23T21:06:43.152" v="44" actId="478"/>
      <pc:docMkLst>
        <pc:docMk/>
      </pc:docMkLst>
      <pc:sldChg chg="delSp modSp mod">
        <pc:chgData name="Odina Siddikova" userId="c170bc8eab85294e" providerId="LiveId" clId="{4D8F16A5-C395-4B97-856B-73C4ABE23E7D}" dt="2026-09-23T21:06:43.152" v="44" actId="478"/>
        <pc:sldMkLst>
          <pc:docMk/>
          <pc:sldMk cId="0" sldId="257"/>
        </pc:sldMkLst>
        <pc:spChg chg="mod">
          <ac:chgData name="Odina Siddikova" userId="c170bc8eab85294e" providerId="LiveId" clId="{4D8F16A5-C395-4B97-856B-73C4ABE23E7D}" dt="2026-09-22T19:45:57.634" v="15" actId="2057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Odina Siddikova" userId="c170bc8eab85294e" providerId="LiveId" clId="{4D8F16A5-C395-4B97-856B-73C4ABE23E7D}" dt="2026-09-23T21:06:43.152" v="44" actId="478"/>
          <ac:spMkLst>
            <pc:docMk/>
            <pc:sldMk cId="0" sldId="257"/>
            <ac:spMk id="63" creationId="{00000000-0000-0000-0000-000000000000}"/>
          </ac:spMkLst>
        </pc:spChg>
      </pc:sldChg>
      <pc:sldChg chg="modSp mod">
        <pc:chgData name="Odina Siddikova" userId="c170bc8eab85294e" providerId="LiveId" clId="{4D8F16A5-C395-4B97-856B-73C4ABE23E7D}" dt="2026-09-22T19:48:51.245" v="42" actId="1076"/>
        <pc:sldMkLst>
          <pc:docMk/>
          <pc:sldMk cId="2050947682" sldId="258"/>
        </pc:sldMkLst>
        <pc:spChg chg="mod">
          <ac:chgData name="Odina Siddikova" userId="c170bc8eab85294e" providerId="LiveId" clId="{4D8F16A5-C395-4B97-856B-73C4ABE23E7D}" dt="2026-09-22T19:48:43.857" v="41" actId="404"/>
          <ac:spMkLst>
            <pc:docMk/>
            <pc:sldMk cId="2050947682" sldId="258"/>
            <ac:spMk id="54" creationId="{0CB4D451-7524-4710-B3DE-ED06FD965172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1" creationId="{F8C5DAC4-FF87-40B3-8A25-2930EDA412E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5" creationId="{E49D762A-721D-4307-A2A9-036FDEAEFC8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6" creationId="{633BED7F-4D84-4F26-A4AC-0EE858E07F5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7" creationId="{07DFDA66-B455-49FE-AED7-4FD6F0B0BDEC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68" creationId="{E5CFBEB2-08A4-472C-AB0D-836CDF18BAD7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9" creationId="{824A82F7-2C8C-4281-BB36-E7417841A5C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3" creationId="{34D0F8E5-B506-4BC4-880C-9CB16B5FA7B1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4" creationId="{1D117A58-9EA5-4BDB-B625-678F9E6324A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5" creationId="{2A418DAE-824D-483E-895F-22EEA8FD1484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76" creationId="{9FF320DD-6697-4C5E-8220-4D067E877FC5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77" creationId="{BB261C56-8939-45EB-A10D-589ACCE7B089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1" creationId="{85EB4729-A953-4574-BFC6-4572A71D3E23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2" creationId="{A8A784EF-644A-437F-B455-E5A441B9B7AF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3" creationId="{7B776FCD-639F-4A1F-8C30-210E91079B42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84" creationId="{047F5A5E-96BA-4AB2-B358-49195BF47111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85" creationId="{270B826C-D44F-4E3F-AA9A-2AA22CB6620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9" creationId="{5191A00A-0F6D-4AF7-A740-07E221D3032E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0" creationId="{B5658C51-E9CC-4AF0-ACC4-65C7186A2E86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1" creationId="{1880318D-134E-4942-9155-7D7F9CD58B69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92" creationId="{FE5125EB-C9C0-4AD3-8124-B97CD8E92656}"/>
          </ac:spMkLst>
        </pc:spChg>
        <pc:spChg chg="mod">
          <ac:chgData name="Odina Siddikova" userId="c170bc8eab85294e" providerId="LiveId" clId="{4D8F16A5-C395-4B97-856B-73C4ABE23E7D}" dt="2026-09-22T19:46:41.207" v="18" actId="1035"/>
          <ac:spMkLst>
            <pc:docMk/>
            <pc:sldMk cId="2050947682" sldId="258"/>
            <ac:spMk id="95" creationId="{1EDCD5E3-ACB9-4F6B-846D-CD60E5C16130}"/>
          </ac:spMkLst>
        </pc:spChg>
        <pc:picChg chg="mod">
          <ac:chgData name="Odina Siddikova" userId="c170bc8eab85294e" providerId="LiveId" clId="{4D8F16A5-C395-4B97-856B-73C4ABE23E7D}" dt="2026-09-22T19:48:51.245" v="42" actId="1076"/>
          <ac:picMkLst>
            <pc:docMk/>
            <pc:sldMk cId="2050947682" sldId="258"/>
            <ac:picMk id="203" creationId="{00000000-0000-0000-0000-000000000000}"/>
          </ac:picMkLst>
        </pc:picChg>
      </pc:sldChg>
      <pc:sldMasterChg chg="del">
        <pc:chgData name="Odina Siddikova" userId="c170bc8eab85294e" providerId="LiveId" clId="{4D8F16A5-C395-4B97-856B-73C4ABE23E7D}" dt="2026-09-22T19:22:32.836" v="8" actId="2696"/>
        <pc:sldMasterMkLst>
          <pc:docMk/>
          <pc:sldMasterMk cId="0" sldId="2147483675"/>
        </pc:sldMasterMkLst>
      </pc:sldMasterChg>
      <pc:sldMasterChg chg="del">
        <pc:chgData name="Odina Siddikova" userId="c170bc8eab85294e" providerId="LiveId" clId="{4D8F16A5-C395-4B97-856B-73C4ABE23E7D}" dt="2026-09-22T19:22:32.837" v="10" actId="2696"/>
        <pc:sldMasterMkLst>
          <pc:docMk/>
          <pc:sldMasterMk cId="0" sldId="2147483678"/>
        </pc:sldMasterMkLst>
      </pc:sldMasterChg>
      <pc:sldMasterChg chg="del">
        <pc:chgData name="Odina Siddikova" userId="c170bc8eab85294e" providerId="LiveId" clId="{4D8F16A5-C395-4B97-856B-73C4ABE23E7D}" dt="2026-09-22T19:22:32.834" v="7" actId="2696"/>
        <pc:sldMasterMkLst>
          <pc:docMk/>
          <pc:sldMasterMk cId="0" sldId="2147483778"/>
        </pc:sldMasterMkLst>
      </pc:sldMasterChg>
      <pc:sldMasterChg chg="del">
        <pc:chgData name="Odina Siddikova" userId="c170bc8eab85294e" providerId="LiveId" clId="{4D8F16A5-C395-4B97-856B-73C4ABE23E7D}" dt="2026-09-22T19:22:32.837" v="9" actId="2696"/>
        <pc:sldMasterMkLst>
          <pc:docMk/>
          <pc:sldMasterMk cId="0" sldId="2147483781"/>
        </pc:sldMasterMkLst>
      </pc:sldMasterChg>
      <pc:sldMasterChg chg="del">
        <pc:chgData name="Odina Siddikova" userId="c170bc8eab85294e" providerId="LiveId" clId="{4D8F16A5-C395-4B97-856B-73C4ABE23E7D}" dt="2026-09-22T19:22:32.839" v="11" actId="2696"/>
        <pc:sldMasterMkLst>
          <pc:docMk/>
          <pc:sldMasterMk cId="0" sldId="2147483784"/>
        </pc:sldMasterMkLst>
      </pc:sldMasterChg>
      <pc:sldMasterChg chg="del">
        <pc:chgData name="Odina Siddikova" userId="c170bc8eab85294e" providerId="LiveId" clId="{4D8F16A5-C395-4B97-856B-73C4ABE23E7D}" dt="2026-09-22T19:22:32.821" v="0" actId="2696"/>
        <pc:sldMasterMkLst>
          <pc:docMk/>
          <pc:sldMasterMk cId="0" sldId="2147483802"/>
        </pc:sldMasterMkLst>
      </pc:sldMasterChg>
      <pc:sldMasterChg chg="del">
        <pc:chgData name="Odina Siddikova" userId="c170bc8eab85294e" providerId="LiveId" clId="{4D8F16A5-C395-4B97-856B-73C4ABE23E7D}" dt="2026-09-22T19:22:32.826" v="1" actId="2696"/>
        <pc:sldMasterMkLst>
          <pc:docMk/>
          <pc:sldMasterMk cId="0" sldId="2147483807"/>
        </pc:sldMasterMkLst>
      </pc:sldMasterChg>
      <pc:sldMasterChg chg="del">
        <pc:chgData name="Odina Siddikova" userId="c170bc8eab85294e" providerId="LiveId" clId="{4D8F16A5-C395-4B97-856B-73C4ABE23E7D}" dt="2026-09-22T19:22:32.828" v="2" actId="2696"/>
        <pc:sldMasterMkLst>
          <pc:docMk/>
          <pc:sldMasterMk cId="0" sldId="2147483811"/>
        </pc:sldMasterMkLst>
      </pc:sldMasterChg>
      <pc:sldMasterChg chg="del">
        <pc:chgData name="Odina Siddikova" userId="c170bc8eab85294e" providerId="LiveId" clId="{4D8F16A5-C395-4B97-856B-73C4ABE23E7D}" dt="2026-09-22T19:22:32.830" v="3" actId="2696"/>
        <pc:sldMasterMkLst>
          <pc:docMk/>
          <pc:sldMasterMk cId="0" sldId="2147483815"/>
        </pc:sldMasterMkLst>
      </pc:sldMasterChg>
      <pc:sldMasterChg chg="del">
        <pc:chgData name="Odina Siddikova" userId="c170bc8eab85294e" providerId="LiveId" clId="{4D8F16A5-C395-4B97-856B-73C4ABE23E7D}" dt="2026-09-22T19:22:32.830" v="4" actId="2696"/>
        <pc:sldMasterMkLst>
          <pc:docMk/>
          <pc:sldMasterMk cId="0" sldId="2147483819"/>
        </pc:sldMasterMkLst>
      </pc:sldMasterChg>
      <pc:sldMasterChg chg="del">
        <pc:chgData name="Odina Siddikova" userId="c170bc8eab85294e" providerId="LiveId" clId="{4D8F16A5-C395-4B97-856B-73C4ABE23E7D}" dt="2026-09-22T19:22:32.832" v="5" actId="2696"/>
        <pc:sldMasterMkLst>
          <pc:docMk/>
          <pc:sldMasterMk cId="0" sldId="2147483823"/>
        </pc:sldMasterMkLst>
      </pc:sldMasterChg>
      <pc:sldMasterChg chg="del">
        <pc:chgData name="Odina Siddikova" userId="c170bc8eab85294e" providerId="LiveId" clId="{4D8F16A5-C395-4B97-856B-73C4ABE23E7D}" dt="2026-09-22T19:22:32.834" v="6" actId="2696"/>
        <pc:sldMasterMkLst>
          <pc:docMk/>
          <pc:sldMasterMk cId="0" sldId="2147483827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Доля пациентов с первичным исходом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Первичный исход</c:v>
          </c:tx>
          <c:spPr>
            <a:solidFill>
              <a:srgbClr val="0F9ED5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7F7F7F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0F9ED5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Плацебо
340 из 2199</c:v>
                </c:pt>
                <c:pt idx="1">
                  <c:v>Канаглифлозин
245 из 2202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0.154615734425</c:v>
                </c:pt>
                <c:pt idx="1">
                  <c:v>0.111262488647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Пациенты со снижением АКО на ≥30%
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7030A0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7030A0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7F7F7F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030A0"/>
                        </a:solidFill>
                        <a:latin typeface="Arial Narrow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F7F7F"/>
                        </a:solidFill>
                        <a:latin typeface="Arial Narrow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Калий сыворотки, ммоль/л</c:v>
                </c:pt>
              </c:strCache>
            </c:strRef>
          </c:tx>
          <c:spPr>
            <a:ln w="34925">
              <a:solidFill>
                <a:srgbClr val="7030A0"/>
              </a:solidFill>
            </a:ln>
          </c:spPr>
          <c:marker>
            <c:symbol val="circle"/>
            <c:size val="10"/>
            <c:spPr>
              <a:solidFill>
                <a:srgbClr val="7030A0"/>
              </a:solidFill>
              <a:ln>
                <a:solidFill>
                  <a:srgbClr val="7030A0"/>
                </a:solidFill>
              </a:ln>
            </c:spPr>
          </c:marker>
          <c:dLbls>
            <c:dLbl>
              <c:idx val="2"/>
              <c:spPr/>
              <c:txPr>
                <a:bodyPr/>
                <a:lstStyle/>
                <a:p>
                  <a:pPr>
                    <a:defRPr sz="1600" b="1">
                      <a:solidFill>
                        <a:srgbClr val="7030A0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" sourceLinked="0"/>
            <c:txPr>
              <a:bodyPr/>
              <a:lstStyle/>
              <a:p>
                <a:pPr>
                  <a:defRPr sz="1600" b="1">
                    <a:solidFill>
                      <a:srgbClr val="7030A0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</c:v>
                </c:pt>
                <c:pt idx="1">
                  <c:v>5.7</c:v>
                </c:pt>
                <c:pt idx="2">
                  <c:v>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Временная отмена при калии &gt;5,5</c:v>
                </c:pt>
              </c:strCache>
            </c:strRef>
          </c:tx>
          <c:spPr>
            <a:ln w="22225">
              <a:solidFill>
                <a:srgbClr val="B5323C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5.5</c:v>
                </c:pt>
                <c:pt idx="1">
                  <c:v>5.5</c:v>
                </c:pt>
                <c:pt idx="2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Возобновление при калии ≤5,0</c:v>
                </c:pt>
              </c:strCache>
            </c:strRef>
          </c:tx>
          <c:spPr>
            <a:ln w="22225">
              <a:solidFill>
                <a:srgbClr val="4EA72E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0"/>
          <c:min val="4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[$-419]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dLbl>
              <c:idx val="0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dLbl>
              <c:idx val="0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Финеренон</c:v>
                </c:pt>
              </c:strCache>
            </c:strRef>
          </c:tx>
          <c:spPr>
            <a:solidFill>
              <a:srgbClr val="7030A0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0.023</c:v>
                </c:pt>
                <c:pt idx="1">
                  <c:v>0.012</c:v>
                </c:pt>
                <c:pt idx="2">
                  <c:v>0.017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Плацебо</c:v>
                </c:pt>
              </c:strCache>
            </c:strRef>
          </c:tx>
          <c:spPr>
            <a:solidFill>
              <a:srgbClr val="7F7F7F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0.009</c:v>
                </c:pt>
                <c:pt idx="1">
                  <c:v>0.004</c:v>
                </c:pt>
                <c:pt idx="2">
                  <c:v>0.006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3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inserted_0924/slideLayouts/_rels/slideLayout1.xml.rels><?xml version='1.0' encoding='UTF-8' standalone='yes'?>
<Relationships xmlns="http://schemas.openxmlformats.org/package/2006/relationships"><Relationship Id="R0577b990598842e9" Type="http://schemas.openxmlformats.org/officeDocument/2006/relationships/slideMaster" Target="../slideMasters/slideMaster1.xml"/></Relationships>
</file>

<file path=ppt/inserted_0924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inserted_0924/slideMasters/_rels/slideMaster1.xml.rels><?xml version='1.0' encoding='UTF-8' standalone='yes'?>
<Relationships xmlns="http://schemas.openxmlformats.org/package/2006/relationships"><Relationship Id="R10c42713665f4116" Type="http://schemas.openxmlformats.org/officeDocument/2006/relationships/theme" Target="theme/theme2.xml"/><Relationship Id="Rd91125cfc9ce49ce" Type="http://schemas.openxmlformats.org/officeDocument/2006/relationships/slideLayout" Target="../slideLayouts/slideLayout1.xml"/></Relationships>
</file>

<file path=ppt/inserted_0924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1" r:id="Rd91125cfc9ce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inserted_0924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0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Показаны два основных критерия; существуют и другие маркеры повреждения почек.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1. Слайды: 11–13 (анализы и прогноз), 15 (остаточный риск), 21–23 (FIDELIO-DKD, FIGARO-DKD, FIDELITY), 32 (перед началом), 36 (два пациента).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Попросите 2–3 представителей ответить своими словами до показа разбора. Вопрос 1 разбирают на слайде 39, вопрос 2 на слайде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понимания срочности. Представитель не консультирует по лечению гиперкалиемии: тактику определяет врач по действующим клиническим рекомендациям.</a:t>
            </a:r>
          </a:p>
          <a:p>
            <a:r>
              <a:t>Сроки по UK Kidney Association (2023): калий 6,0–6,4 ммоль/л при неожиданном повышении у стабильного пациента: повторный анализ в течение 24 часов; калий 6,5 ммоль/л и выше или изменения на ЭКГ: неотложная помощь.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Дополнительные исходы FIDELITY: смерть и госпитализация по любой причине, изменение АКО к 4-му месяцу.</a:t>
            </a:r>
          </a:p>
          <a:p>
            <a:r>
              <a:t>Устойчивое снижение рСКФ подтверждали не ранее чем через 4 недели.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Снижение на 18% относительное: событие было у 17,8% пациентов в группе финеренона и у 21,1% в группе плацебо.</a:t>
            </a:r>
          </a:p>
          <a:p>
            <a:r>
              <a:t>Ключевой вторичный (сердечно-сосудистый) исход: финеренон 13,0%, плацебо 14,8%; отношение рисков 0,86 (95% ДИ 0,75–0,99), p=0,03. Ингибиторы НГЛТ2 исходно получали 4,6%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Почечный исход (почечная недостаточность, устойчивое снижение рСКФ на ≥40% не менее 4 недель или смерть от почечных причин): финеренон 9,5%, плацебо 10,8%; отношение рисков 0,87 (95% ДИ 0,76–1,01), статистически значимых различий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Ингибиторы НГЛТ2 исходно получали 6,7% пациентов.</a:t>
            </a:r>
          </a:p>
          <a:p>
            <a:r>
              <a:t>Проценты: доля пациентов с событием за всё время наблюдения. Снижение риска относительное. Значения p без поправки на множественные сравнения.</a:t>
            </a:r>
          </a:p>
          <a:p>
            <a:r>
              <a:t>Гиперкалиемия по сообщениям исследователей (как в FIDELIO-DKD на слайде 21).</a:t>
            </a:r>
          </a:p>
          <a:p>
            <a:r>
              <a:t>Абсолютную разницу 2,2% и 1,7% считали по накопленной частоте к 3 годам, поэтому она не совпадает с разностью долей на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Альбумин в моче может быть повышен уже при сохранной фильтрации; при диабете возможна гиперфильтрация. Слайды 6, 11, 12.</a:t>
            </a:r>
          </a:p>
          <a:p>
            <a:r>
              <a:t>2. FIDELIO-DKD: комбинированный почечный исход (отношение рисков 0,82). FIGARO-DKD: комбинированный сердечно-сосудистый исход (отношение рисков 0,87), разница в основном за счёт госпитализаций по поводу сердечной недостаточности. Слайды 20–22.</a:t>
            </a:r>
          </a:p>
          <a:p>
            <a:r>
              <a:t>3. Представитель не оценивает прогноз конкретного пациента. В FIDELITY на уровне групп раннее снижение АКО было связано с меньшим риском почечных исходов, но по нему нельзя рассчитать риск у отдельного пациента. Прогноз оценивает врач; при необходимости вопрос передают в медицинский отдел. Слайды 21, 23, 24.</a:t>
            </a:r>
          </a:p>
          <a:p>
            <a:r>
              <a:t>4. Нет. У препаратов разные мишени, они не заменяют друг друга; назначение финеренона не требует отмены ингибитора НГЛТ2. Решение о терапии принимает врач. Слайды 16, 27.</a:t>
            </a:r>
          </a:p>
          <a:p>
            <a:r>
              <a:t>5. Финеренон блокирует МКР в главной клетке собирательной трубочки: через натриевый канал всасывается меньше натрия, слабее электрическая движущая сила для секреции калия, и меньше калия выходит в просвет. Слайды 17, 29.</a:t>
            </a:r>
          </a:p>
          <a:p>
            <a:r>
              <a:t>6. Начальная доза 10 мг при рСКФ 48 и 20 мг при рСКФ 72, один раз в сутки. При рСКФ &lt;25 начинать лечение не рекомендуется. Слайды 32, 36.</a:t>
            </a:r>
          </a:p>
          <a:p>
            <a:r>
              <a:t>7. Если рСКФ снизилась более чем на 30% от предыдущего измерения. Слайд 34.</a:t>
            </a:r>
          </a:p>
          <a:p>
            <a:r>
              <a:t>8. Противопоказаны сильные ингибиторы CYP3A4. Не рекомендуются другие антагонисты МКР, калийсберегающие диуретики, сильные и умеренные индукторы CYP3A4, грейпфрут. Слайды 30, 31.</a:t>
            </a:r>
          </a:p>
          <a:p>
            <a:r>
              <a:t>9. Препараты калия и калийсодержащие заменители соли, триметоприм (в том числе в составе ко-тримоксазола), НПВП, умеренные и слабые ингибиторы CYP3A4. Слайды 30, 31.</a:t>
            </a:r>
          </a:p>
          <a:p>
            <a:r>
              <a:t>10. Не даёт советов по лечению. Сообщает о нежелательном явлении в отдел фармаконадзора в течение 24 часов по процедуре компании. Слайд 35.</a:t>
            </a:r>
          </a:p>
          <a:p>
            <a:r>
              <a:t>11. Этих показаний нет в местной инструкции. Представитель не обсуждает эти данные ни по своей инициативе, ни в ответ на вопрос, не показывает слайды приложения и передаёт вопрос врача в медицинский отдел по процедуре компании. Слайды 9, 43.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Статус показаний проверен 24.09.2026. Отдельного показания при ХБП без диабета нет в проверенных действующих инструкциях США и ЕС. Публикация FIND-CKD не означает регистрацию показания.</a:t>
            </a:r>
          </a:p>
          <a:p>
            <a:r>
              <a:t>https://labeling.bayerhealthcare.com/html/products/pi/Kerendia_PI.pdf</a:t>
            </a:r>
          </a:p>
          <a:p>
            <a:r>
              <a:t>https://www.ema.europa.eu/en/documents/product-information/kerendia-epar-product-information_en.pdf</a:t>
            </a:r>
          </a:p>
          <a:p>
            <a:r>
              <a:t>https://orvilleservices.com/instructions/Finerenon_Instruction_ru.pdf</a:t>
            </a:r>
          </a:p>
          <a:p>
            <a:r>
              <a:t>https://doi.org/10.1056/NEJMoa2604625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2. Слайды: 29 (механизм), 33 (контроль), 34 (коррекция дозы), 37 (случай), 21–23 (частота окончательной отмены).</a:t>
            </a:r>
          </a:p>
          <a:p>
            <a:r>
              <a:t>Алгоритм повторяет правила слайда 34. Ветка планового контроля при калии ≤4,8 ммоль/л на схеме не показана: дозу 10 мг можно повысить до 20 мг, если рСКФ снизилась не более чем на 30%.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Вопросы пока не разбирают, к ним возвращаются в конце. Ответ на вопрос 1 собирается на слайдах 32 и 36, ответ на вопрос 2 на слайдах 34 и 37. Полный разбор на слайдах 39 и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врач описывает такой случай у реального пациента, это нежелательное явление: представитель сообщает о нём в отдел фармаконадзора в течение 24 часов по процедуре компании и не даёт советов по лечению.</a:t>
            </a:r>
          </a:p>
          <a:p>
            <a:r>
              <a:t>Вывод: при калии &gt;5,5 ммоль/л инструкция предусматривает временную отмену и повторный анализ; при калии ≤5,0 ммоль/л врач может возобновить лечение в дозе 10 мг. Решение принимает врач.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Одобрение при сердечной недостаточности не требует наличия сахарного диабета. США: FDA, июль 2025 (в сообщениях Bayer и изданий 14.07.2025), NDA 215341/S-009, снижение риска сердечно-сосудистой смерти, госпитализации или срочных визитов по поводу сердечной недостаточности у взрослых с фракцией выброса левого желудочка ≥40%. ЕС: решение Европейской комиссии от 26.03.2026 (номер решения не подтверждён), симптомная хроническая сердечная недостаточность с фракцией выброса левого желудочка ≥40% у взрослых. Пресс-релиз вышел позже, 30.03.2026. В опубликованной инструкции Финеренон-Орвилле это показание не указано. Дата проверки 25.09.2026.</a:t>
            </a:r>
          </a:p>
          <a:p xmlns:a="http://schemas.openxmlformats.org/drawingml/2006/main">
            <a:r>
              <a:t>Максимальная доза в FINEARTS-HF 20 или 40 мг один раз в сутки; целевая доза при ХБП и диабете 2 типа 20 мг (слайд 32).</a:t>
            </a:r>
          </a:p>
          <a:p xmlns:a="http://schemas.openxmlformats.org/drawingml/2006/main">
            <a:r>
              <a:t>https://www.accessdata.fda.gov/drugsatfda_docs/appletter/2025/215341Orig1s009ltr.pdf</a:t>
            </a:r>
          </a:p>
          <a:p xmlns:a="http://schemas.openxmlformats.org/drawingml/2006/main">
            <a:r>
              <a:t>https://labeling.bayerhealthcare.com/html/products/pi/Kerendia_PI.pdf</a:t>
            </a:r>
          </a:p>
          <a:p xmlns:a="http://schemas.openxmlformats.org/drawingml/2006/main">
            <a:r>
              <a:t>https://ec.europa.eu/health/documents/community-register/2026/20260326168988/dec_168988_en.pdf</a:t>
            </a:r>
          </a:p>
          <a:p xmlns:a="http://schemas.openxmlformats.org/drawingml/2006/main">
            <a:r>
              <a:t>https://ec.europa.eu/health/documents/community-register/2026/20260326168988/anx_168988_en.pdf</a:t>
            </a:r>
          </a:p>
          <a:p xmlns:a="http://schemas.openxmlformats.org/drawingml/2006/main">
            <a:r>
              <a:t>https://www.ema.europa.eu/en/medicines/human/EPAR/kerendia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https://doi.org/10.1056/NEJMoa2407107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notesSlides/_rels/notesSlide1.xml.rels><?xml version='1.0' encoding='UTF-8' standalone='yes'?>
<Relationships xmlns="http://schemas.openxmlformats.org/package/2006/relationships"><Relationship Id="R044e3bcb47af4110" Type="http://schemas.openxmlformats.org/officeDocument/2006/relationships/slide" Target="../../../slides/slide24.xml"/><Relationship Id="Rff10153a3c3c41ed" Type="http://schemas.openxmlformats.org/officeDocument/2006/relationships/notesMaster" Target="../../../notesMasters/notesMaster1.xml"/></Relationships>
</file>

<file path=ppt/selected/new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slideLayouts/_rels/slideLayout1.xml.rels><?xml version='1.0' encoding='UTF-8' standalone='yes'?>
<Relationships xmlns="http://schemas.openxmlformats.org/package/2006/relationships"><Relationship Id="Rf958545c3cf44bc5" Type="http://schemas.openxmlformats.org/officeDocument/2006/relationships/slideMaster" Target="../slideMasters/slideMaster1.xml"/></Relationships>
</file>

<file path=ppt/selected/new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elected/new/slideMasters/_rels/slideMaster1.xml.rels><?xml version='1.0' encoding='UTF-8' standalone='yes'?>
<Relationships xmlns="http://schemas.openxmlformats.org/package/2006/relationships"><Relationship Id="R496c1ad952514e1a" Type="http://schemas.openxmlformats.org/officeDocument/2006/relationships/theme" Target="theme/theme2.xml"/><Relationship Id="Re831c4c913bd441e" Type="http://schemas.openxmlformats.org/officeDocument/2006/relationships/slideLayout" Target="../slideLayouts/slideLayout1.xml"/></Relationships>
</file>

<file path=ppt/selected/new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3" r:id="Re831c4c913bd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elected/new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elected/src0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8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selected/src08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dPt>
            <c:idx val="0"/>
            <c:spPr>
              <a:solidFill>
                <a:srgbClr val="7030A0"/>
              </a:solidFill>
              <a:ln>
                <a:noFill/>
              </a:ln>
            </c:spPr>
          </c:dPt>
          <c:dPt>
            <c:idx val="1"/>
            <c:spPr>
              <a:solidFill>
                <a:srgbClr val="0F9ED5"/>
              </a:solidFill>
              <a:ln>
                <a:noFill/>
              </a:ln>
            </c:spPr>
          </c:dPt>
          <c:dLbls>
            <c:dLbl>
              <c:idx val="0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7030A0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0F9ED5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%" sourceLinked="0"/>
            <c:txPr>
              <a:bodyPr/>
              <a:lstStyle/>
              <a:p>
                <a:pPr>
                  <a:defRPr sz="1800" b="1" lang="ru-RU">
                    <a:solidFill>
                      <a:srgbClr val="000000"/>
                    </a:solidFill>
                    <a:latin typeface="Arial Narrow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Спиронолактон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0.053</c:v>
                </c:pt>
                <c:pt idx="1">
                  <c:v>0.127</c:v>
                </c:pt>
              </c:numCache>
            </c:numRef>
          </c:val>
        </c:ser>
        <c:dLbls>
          <c:dLbl>
            <c:idx val="0"/>
            <c:dLblPos val="outEnd"/>
            <c:showLegendKey val="0"/>
            <c:showCatName val="0"/>
            <c:showSerName val="0"/>
          </c:dLbl>
          <c:dLbl>
            <c:idx val="1"/>
            <c:dLblPos val="outEnd"/>
            <c:showLegendKey val="0"/>
            <c:showCatName val="0"/>
            <c:showSerName val="0"/>
          </c:dLbl>
          <c:numFmt formatCode="[$-419]0.0%" sourceLinked="0"/>
          <c:txPr>
            <a:bodyPr/>
            <a:lstStyle/>
            <a:p>
              <a:pPr>
                <a:defRPr sz="1800" b="1" lang="ru-RU">
                  <a:solidFill>
                    <a:srgbClr val="000000"/>
                  </a:solidFill>
                  <a:latin typeface="Arial Narrow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5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700" lang="ru-RU">
                <a:solidFill>
                  <a:srgbClr val="000000"/>
                </a:solidFill>
                <a:latin typeface="Arial Narrow"/>
              </a:defRPr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ax val="0.15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crossAx val="1000001"/>
        <c:crosses val="autoZero"/>
      </c:valAx>
    </c:plotArea>
    <c:dispBlanksAs val="gap"/>
  </c:chart>
  <c:txPr>
    <a:bodyPr/>
    <a:lstStyle/>
    <a:p>
      <a:pPr>
        <a:defRPr sz="1800" lang="ru-RU">
          <a:latin typeface="Arial Narrow"/>
        </a:defRPr>
      </a:pPr>
      <a:endParaRPr lang="ru-RU"/>
    </a:p>
  </c:txPr>
  <c:externalData r:id="rId1">
    <c:autoUpdate val="0"/>
  </c:externalData>
</c:chartSpace>
</file>

<file path=ppt/selected/src0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5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5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5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5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5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5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5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5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5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5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5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5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7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7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7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7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7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7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7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7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7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7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7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7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7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7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99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99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99" cy="112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199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99" cy="5454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79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5999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6"/>
            <a:ext cx="7998399" cy="80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99" cy="261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6"/>
            <a:ext cx="11360799" cy="17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theme" Target="../theme/theme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hyperlink" Target="https://dailymed.nlm.nih.gov/dailymed/drugInfo.cfm?setid=fc726765-5d5a-4d6e-b037-b847bda9fb7c" TargetMode="External"/><Relationship Id="rId4" Type="http://schemas.openxmlformats.org/officeDocument/2006/relationships/hyperlink" Target="https://pubchem.ncbi.nlm.nih.gov/compound/6015053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www.niddk.nih.gov/health-information/kidney-disease/kidneys-how-they-work" TargetMode="External"/><Relationship Id="rId5" Type="http://schemas.openxmlformats.org/officeDocument/2006/relationships/hyperlink" Target="https://commons.wikimedia.org/wiki/File:Nephron_simple.svg" TargetMode="External"/><Relationship Id="rId6" Type="http://schemas.openxmlformats.org/officeDocument/2006/relationships/hyperlink" Target="https://creativecommons.org/licenses/by-sa/4.0/" TargetMode="External"/><Relationship Id="rId7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hyperlink" Target="https://doi.org/10.2215/CJN.11491116" TargetMode="External"/><Relationship Id="rId6" Type="http://schemas.openxmlformats.org/officeDocument/2006/relationships/hyperlink" Target="https://pubmed.ncbi.nlm.nih.gov/16731850/" TargetMode="External"/><Relationship Id="rId7" Type="http://schemas.openxmlformats.org/officeDocument/2006/relationships/hyperlink" Target="https://commons.wikimedia.org/wiki/File:Nephron_simple.svg" TargetMode="External"/><Relationship Id="rId8" Type="http://schemas.openxmlformats.org/officeDocument/2006/relationships/hyperlink" Target="https://creativecommons.org/licenses/by-sa/4.0/" TargetMode="External"/><Relationship Id="rId9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9/slideLayouts/slideLayout7.xml"/><Relationship Id="rId2" Type="http://schemas.openxmlformats.org/officeDocument/2006/relationships/image" Target="../selected/src19/media/image1.png"/><Relationship Id="rId3" Type="http://schemas.openxmlformats.org/officeDocument/2006/relationships/image" Target="../selected/src19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hyperlink" Target="https://doi.org/10.1111/j.1440-1797.2006.00576.x" TargetMode="External"/><Relationship Id="rId4" Type="http://schemas.openxmlformats.org/officeDocument/2006/relationships/hyperlink" Target="https://doi.org/10.1681/ASN.2010010010" TargetMode="External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.png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doi.org/10.2337/dc26-S01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hyperlink" Target="https://kdigo.org/wp-content/uploads/2024/03/KDIGO-2024-CKD-Guideline.pdf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image" Target="../media/image21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hyperlink" Target="https://professional.heart.org/en/science-news/2026-guideline-for-the-prevention-detection-evaluation-and-management-of-ckm-syndrome" TargetMode="External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notesSlide" Target="../notesSlides/notesSlide2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hyperlink" Target="https://doi.org/10.1056/NEJMoa1811744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56/NEJMoa011161" TargetMode="External"/><Relationship Id="rId5" Type="http://schemas.openxmlformats.org/officeDocument/2006/relationships/hyperlink" Target="https://doi.org/10.1056/NEJMoa011303" TargetMode="External"/><Relationship Id="rId6" Type="http://schemas.openxmlformats.org/officeDocument/2006/relationships/hyperlink" Target="https://doi.org/10.1056/NEJMoa1811744" TargetMode="External"/><Relationship Id="rId7" Type="http://schemas.openxmlformats.org/officeDocument/2006/relationships/hyperlink" Target="https://doi.org/10.1056/NEJMoa2024816" TargetMode="External"/><Relationship Id="rId8" Type="http://schemas.openxmlformats.org/officeDocument/2006/relationships/hyperlink" Target="https://doi.org/10.1056/NEJMoa2204233" TargetMode="External"/><Relationship Id="rId9" Type="http://schemas.openxmlformats.org/officeDocument/2006/relationships/hyperlink" Target="https://doi.org/10.1056/NEJMoa2025845" TargetMode="External"/><Relationship Id="rId10" Type="http://schemas.openxmlformats.org/officeDocument/2006/relationships/hyperlink" Target="https://doi.org/10.1056/NEJMoa2110956" TargetMode="External"/><Relationship Id="rId11" Type="http://schemas.openxmlformats.org/officeDocument/2006/relationships/hyperlink" Target="https://doi.org/10.1093/eurheartj/ehab777" TargetMode="External"/><Relationship Id="rId12" Type="http://schemas.openxmlformats.org/officeDocument/2006/relationships/hyperlink" Target="https://doi.org/10.1056/NEJMoa2403347" TargetMode="External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Relationship Id="rId17" Type="http://schemas.openxmlformats.org/officeDocument/2006/relationships/hyperlink" Target="https://kdigo.org/wp-content/uploads/2024/03/KDIGO-2024-CKD-Guideline.pdf" TargetMode="External"/><Relationship Id="rId18" Type="http://schemas.openxmlformats.org/officeDocument/2006/relationships/hyperlink" Target="https://www.medicines.org.uk/emc/product/13438/smpc" TargetMode="External"/><Relationship Id="rId19" Type="http://schemas.openxmlformats.org/officeDocument/2006/relationships/hyperlink" Target="https://www.novo-pi.com/ozempic.pdf" TargetMode="External"/><Relationship Id="rId20" Type="http://schemas.openxmlformats.org/officeDocument/2006/relationships/hyperlink" Target="https://smart.servier.com/smart_image/smart-receptor/" TargetMode="External"/><Relationship Id="rId21" Type="http://schemas.openxmlformats.org/officeDocument/2006/relationships/hyperlink" Target="https://creativecommons.org/licenses/by/4.0/" TargetMode="External"/><Relationship Id="rId2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8/slideLayouts/slideLayout7.xml"/><Relationship Id="rId2" Type="http://schemas.openxmlformats.org/officeDocument/2006/relationships/image" Target="../selected/src18/media/image1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selected/src17/media/image4.png"/><Relationship Id="rId6" Type="http://schemas.openxmlformats.org/officeDocument/2006/relationships/image" Target="../selected/src17/media/image5.png"/><Relationship Id="rId7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Relationship Id="rId5" Type="http://schemas.openxmlformats.org/officeDocument/2006/relationships/hyperlink" Target="https://doi.org/10.1056/NEJMoa2110956" TargetMode="External"/><Relationship Id="rId6" Type="http://schemas.openxmlformats.org/officeDocument/2006/relationships/hyperlink" Target="https://doi.org/10.1093/eurheartj/ehab777" TargetMode="External"/><Relationship Id="rId7" Type="http://schemas.openxmlformats.org/officeDocument/2006/relationships/hyperlink" Target="https://smart.servier.com/" TargetMode="External"/><Relationship Id="rId8" Type="http://schemas.openxmlformats.org/officeDocument/2006/relationships/hyperlink" Target="https://creativecommons.org/licenses/by/4.0/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110956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93/eurheartj/ehab77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hyperlink" Target="https://doi.org/10.1093/eurheartj/ehab777" TargetMode="External"/><Relationship Id="rId6" Type="http://schemas.openxmlformats.org/officeDocument/2006/relationships/hyperlink" Target="https://doi.org/10.7326/M23-1023" TargetMode="External"/><Relationship Id="rId7" Type="http://schemas.openxmlformats.org/officeDocument/2006/relationships/hyperlink" Target="https://kdigo.org/wp-content/uploads/2024/03/KDIGO-2024-CKD-Guidelin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410659" TargetMode="External"/><Relationship Id="rId5" Type="http://schemas.openxmlformats.org/officeDocument/2006/relationships/hyperlink" Target="https://doi.org/10.1016/j.jacc.2025.10.049" TargetMode="External"/><Relationship Id="rId6" Type="http://schemas.openxmlformats.org/officeDocument/2006/relationships/hyperlink" Target="https://clinicaltrials.gov/study/NCT05254002" TargetMode="External"/></Relationships>
</file>

<file path=ppt/slides/_rels/slide24.xml.rels><?xml version='1.0' encoding='UTF-8' standalone='yes'?>
<Relationships xmlns="http://schemas.openxmlformats.org/package/2006/relationships"><Relationship Id="R04ad166d9e7340b3" Type="http://schemas.openxmlformats.org/officeDocument/2006/relationships/hyperlink" Target="https://orvilleservices.com/instructions/Finerenon_Instruction_ru.pdf" TargetMode="External"/><Relationship Id="R20dd51a7c16d46b4" Type="http://schemas.openxmlformats.org/officeDocument/2006/relationships/hyperlink" Target="https://doi.org/10.2337/dc26-S011" TargetMode="External"/><Relationship Id="R36043bc3330d4127" Type="http://schemas.openxmlformats.org/officeDocument/2006/relationships/image" Target="../selected/new/media/image.png"/><Relationship Id="R6e8386be7e0c4247" Type="http://schemas.openxmlformats.org/officeDocument/2006/relationships/notesSlide" Target="../selected/new/notesSlides/notesSlide1.xml"/><Relationship Id="R98c37c1e130545b6" Type="http://schemas.openxmlformats.org/officeDocument/2006/relationships/slideLayout" Target="../selected/new/slideLayouts/slideLayout1.xml"/><Relationship Id="rId6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6de928f471e34b6b" Type="http://schemas.openxmlformats.org/officeDocument/2006/relationships/image" Target="../inserted_0924/media/image.png"/><Relationship Id="R755e3bb590834af3" Type="http://schemas.openxmlformats.org/officeDocument/2006/relationships/hyperlink" Target="https://kdigo.org/wp-content/uploads/2022/10/KDIGO-2022-Clinical-Practice-Guideline-for-Diabetes-Management-in-CKD.pdf" TargetMode="External"/><Relationship Id="R7c5425c8a7854354" Type="http://schemas.openxmlformats.org/officeDocument/2006/relationships/hyperlink" Target="https://kdigo.org/wp-content/uploads/2024/03/KDIGO-2024-CKD-Guideline.pdf" TargetMode="External"/><Relationship Id="R8831bc225a334e61" Type="http://schemas.openxmlformats.org/officeDocument/2006/relationships/slideLayout" Target="../inserted_0924/slideLayouts/slideLayout1.xml"/><Relationship Id="rId5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1/slideLayouts/slideLayout7.xml"/><Relationship Id="rId2" Type="http://schemas.openxmlformats.org/officeDocument/2006/relationships/image" Target="../selected/src11/media/image1.png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kdigo.org/wp-content/uploads/2024/03/KDIGO-2024-CKD-Guideline.pdf" TargetMode="External"/><Relationship Id="rIdSource3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04/slideLayouts/slideLayout7.xml"/><Relationship Id="rId2" Type="http://schemas.openxmlformats.org/officeDocument/2006/relationships/hyperlink" Target="https://www.medicines.org.uk/emc/product/13438/smpc" TargetMode="External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www.dailymed.nlm.nih.gov/dailymed/drugInfo.cfm?setid=90a0539a-7227-4b91-8b22-25b6f23ef35f" TargetMode="External"/><Relationship Id="rId5" Type="http://schemas.openxmlformats.org/officeDocument/2006/relationships/hyperlink" Target="https://pubmed.ncbi.nlm.nih.gov/33264825/" TargetMode="External"/><Relationship Id="rId6" Type="http://schemas.openxmlformats.org/officeDocument/2006/relationships/image" Target="../selected/src04/media/image1.png"/><Relationship Id="rId10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5/slideLayouts/slideLayout7.xml"/><Relationship Id="rId2" Type="http://schemas.openxmlformats.org/officeDocument/2006/relationships/image" Target="../selected/src15/media/image1.png"/><Relationship Id="rId4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2/slideLayouts/slideLayout7.xml"/><Relationship Id="rId2" Type="http://schemas.openxmlformats.org/officeDocument/2006/relationships/image" Target="../selected/src12/media/image1.png"/><Relationship Id="rId3" Type="http://schemas.openxmlformats.org/officeDocument/2006/relationships/hyperlink" Target="https://www.fachinfo.de/fi/detail/023695/kerendia-r-10-mg-20-mg-filmtabletten" TargetMode="External"/><Relationship Id="rId6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1" Type="http://schemas.openxmlformats.org/officeDocument/2006/relationships/slideLayout" Target="../selected/src09/slideLayouts/slideLayout7.xml"/><Relationship Id="rId2" Type="http://schemas.openxmlformats.org/officeDocument/2006/relationships/image" Target="../selected/src09/media/image1.png"/><Relationship Id="rId4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4/slideLayouts/slideLayout7.xml"/><Relationship Id="rId2" Type="http://schemas.openxmlformats.org/officeDocument/2006/relationships/image" Target="../selected/src14/media/image1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2/slideLayouts/slideLayout7.xml"/><Relationship Id="rId2" Type="http://schemas.openxmlformats.org/officeDocument/2006/relationships/image" Target="../selected/src02/media/image1.png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Source3" Type="http://schemas.openxmlformats.org/officeDocument/2006/relationships/hyperlink" Target="https://kdigo.org/wp-content/uploads/2024/03/KDIGO-2024-CKD-Guideline.pdf" TargetMode="External"/><Relationship Id="rId1" Type="http://schemas.openxmlformats.org/officeDocument/2006/relationships/slideLayout" Target="../selected/src01/slideLayouts/slideLayout7.xml"/><Relationship Id="rId2" Type="http://schemas.openxmlformats.org/officeDocument/2006/relationships/image" Target="../selected/src01/media/image1.png"/><Relationship Id="rId6" Type="http://schemas.openxmlformats.org/officeDocument/2006/relationships/chart" Target="../charts/chart3.xml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chart" Target="../selected/src08/charts/chart1.xml"/><Relationship Id="rId4" Type="http://schemas.openxmlformats.org/officeDocument/2006/relationships/hyperlink" Target="https://doi.org/10.1093/eurheartj/eht187" TargetMode="External"/><Relationship Id="rId5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604625" TargetMode="External"/><Relationship Id="rId5" Type="http://schemas.openxmlformats.org/officeDocument/2006/relationships/hyperlink" Target="https://orvilleservices.com/instructions/Finerenon_Instruction_ru.pdf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45.xml.rels><?xml version='1.0' encoding='UTF-8' standalone='yes'?>
<Relationships xmlns="http://schemas.openxmlformats.org/package/2006/relationships"><Relationship Id="R45ad85b1381a4010" Type="http://schemas.openxmlformats.org/officeDocument/2006/relationships/notesSlide" Target="../t1d_approval/notesSlides/notesSlide1.xml"/><Relationship Id="R58f7939dc5e4465d" Type="http://schemas.openxmlformats.org/officeDocument/2006/relationships/hyperlink" Target="https://www.accessdata.fda.gov/drugsatfda_docs/label/2026/215341s011lbl.pdf" TargetMode="External"/><Relationship Id="Rce37ce33f5dc4394" Type="http://schemas.openxmlformats.org/officeDocument/2006/relationships/image" Target="../t1d_approval/media/image.png"/><Relationship Id="Rda1e99282c60478b" Type="http://schemas.openxmlformats.org/officeDocument/2006/relationships/hyperlink" Target="https://www.accessdata.fda.gov/drugsatfda_docs/appletter/2026/215341Orig1s011ltr.pdf" TargetMode="External"/><Relationship Id="Rf9884a6faac74bbd" Type="http://schemas.openxmlformats.org/officeDocument/2006/relationships/slideLayout" Target="../t1d_approval/slideLayouts/slideLayout1.xml"/><Relationship Id="rId6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01" Type="http://schemas.openxmlformats.org/officeDocument/2006/relationships/notesSlide" Target="../notesSlides/notesSlide40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false" extrusionOk="false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  <a:lnSpc>
                <a:spcPct val="90000"/>
              </a:lnSpc>
            </a:pPr>
            <a:r>
              <a:rPr lang="uz-Cyrl-UZ" sz="4000" b="0" spc="100">
                <a:solidFill>
                  <a:srgbClr val="7030A0"/>
                </a:solidFill>
                <a:latin typeface="Arial Narrow"/>
                <a:ea typeface="Arial"/>
                <a:cs typeface="Arial Narrow"/>
                <a:sym typeface="Arial" panose="020B0604020202020204" pitchFamily="34" charset="0"/>
              </a:rPr>
              <a:t>ФИНЕРЕНОН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3048000"/>
            <a:ext cx="4762500" cy="1066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болезнью почек, связанной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 сахарным диабетом 2 типа</a:t>
            </a:r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4476750"/>
            <a:ext cx="4762500" cy="12700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Цели обучения: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1. Кому показан препарат и как он действует.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2. Какая польза подтверждена исследованиями.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3. Как контролировать калий и функцию почек.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4. Как сообщать о нежелательных явлениях.</a:t>
            </a:r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антагонист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минералокортикоидного рецептора (МКР)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PubChem. Finerenone.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98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99" name="Маркировка"/>
          <p:cNvSpPr txBox="1"/>
          <p:nvPr/>
        </p:nvSpPr>
        <p:spPr>
          <a:xfrm>
            <a:off x="838200" y="5816600"/>
            <a:ext cx="609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Только для внутреннего обучения медицинских представителей. Не для показа и передачи специалистам здравоохранения.</a:t>
            </a:r>
          </a:p>
        </p:txBody>
      </p:sp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Альбуминурия и повышение калия: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два вопроса для обсуждения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(повышенная потеря альбумина с мочой)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Клубочек фильтрует кровь, канальцы возвращают нужные вещества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Артерия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AA3034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/>
          <p:nvPr/>
        </p:nvCxnSpPr>
        <p:spPr>
          <a:xfrm flipV="1">
            <a:off x="1819275" y="2819400"/>
            <a:ext cx="1266825" cy="495301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4978400" y="4000500"/>
            <a:ext cx="127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759200" y="2844800"/>
            <a:ext cx="1336675" cy="1293813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5" name="Клубочек подзаголовок">
            <a:extLst>
              <a:ext uri="{FF2B5EF4-FFF2-40B4-BE49-F238E27FC236}">
                <a16:creationId xmlns:a16="http://schemas.microsoft.com/office/drawing/2014/main" id="{67D58F7C-14E7-4731-A203-CFF9AF3005D6}"/>
              </a:ext>
            </a:extLst>
          </p:cNvPr>
          <p:cNvSpPr>
            <a:spLocks noGrp="1"/>
          </p:cNvSpPr>
          <p:nvPr/>
        </p:nvSpPr>
        <p:spPr>
          <a:xfrm>
            <a:off x="6229350" y="132397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Клубочек: сосудистый фильтр</a:t>
            </a:r>
          </a:p>
        </p:txBody>
      </p:sp>
      <p:sp>
        <p:nvSpPr>
          <p:cNvPr id="16" name="Фильтрация пояснение">
            <a:extLst>
              <a:ext uri="{FF2B5EF4-FFF2-40B4-BE49-F238E27FC236}">
                <a16:creationId xmlns:a16="http://schemas.microsoft.com/office/drawing/2014/main" id="{07DF7FC2-8A45-49A1-8853-0EB13B5926FD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53721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Кровь проходит через капилляры.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Часть воды и мелких растворённых веществ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переходит в капсулу Боумена.</a:t>
            </a:r>
          </a:p>
        </p:txBody>
      </p:sp>
      <p:sp>
        <p:nvSpPr>
          <p:cNvPr id="17" name="Первичная моча подзаголовок">
            <a:extLst>
              <a:ext uri="{FF2B5EF4-FFF2-40B4-BE49-F238E27FC236}">
                <a16:creationId xmlns:a16="http://schemas.microsoft.com/office/drawing/2014/main" id="{4DA0E0FB-2D54-4C7B-BD48-8D2987643522}"/>
              </a:ext>
            </a:extLst>
          </p:cNvPr>
          <p:cNvSpPr>
            <a:spLocks noGrp="1"/>
          </p:cNvSpPr>
          <p:nvPr/>
        </p:nvSpPr>
        <p:spPr>
          <a:xfrm>
            <a:off x="6229350" y="286702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Так образуется первичная моча</a:t>
            </a:r>
          </a:p>
        </p:txBody>
      </p:sp>
      <p:sp>
        <p:nvSpPr>
          <p:cNvPr id="18" name="Первичная моча пояснение">
            <a:extLst>
              <a:ext uri="{FF2B5EF4-FFF2-40B4-BE49-F238E27FC236}">
                <a16:creationId xmlns:a16="http://schemas.microsoft.com/office/drawing/2014/main" id="{B4D837E6-3C2F-42DB-B7B9-657E06010C3E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5334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Эта жидкость поступает в канальцы.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крови и большая часть белков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остаются в сосудах.</a:t>
            </a:r>
          </a:p>
        </p:txBody>
      </p:sp>
      <p:sp>
        <p:nvSpPr>
          <p:cNvPr id="19" name="Реабсорбция подзаголовок">
            <a:extLst>
              <a:ext uri="{FF2B5EF4-FFF2-40B4-BE49-F238E27FC236}">
                <a16:creationId xmlns:a16="http://schemas.microsoft.com/office/drawing/2014/main" id="{DA3EA924-47CC-47A8-8951-421F35D23679}"/>
              </a:ext>
            </a:extLst>
          </p:cNvPr>
          <p:cNvSpPr>
            <a:spLocks noGrp="1"/>
          </p:cNvSpPr>
          <p:nvPr/>
        </p:nvSpPr>
        <p:spPr>
          <a:xfrm>
            <a:off x="6229350" y="4410075"/>
            <a:ext cx="5372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Канальцы возвращают нужное в кровь</a:t>
            </a:r>
          </a:p>
        </p:txBody>
      </p:sp>
      <p:sp>
        <p:nvSpPr>
          <p:cNvPr id="20" name="Реабсорбция пояснение">
            <a:extLst>
              <a:ext uri="{FF2B5EF4-FFF2-40B4-BE49-F238E27FC236}">
                <a16:creationId xmlns:a16="http://schemas.microsoft.com/office/drawing/2014/main" id="{7183C990-3E1E-49EE-8A29-2DF596F28E8B}"/>
              </a:ext>
            </a:extLst>
          </p:cNvPr>
          <p:cNvSpPr>
            <a:spLocks noGrp="1"/>
          </p:cNvSpPr>
          <p:nvPr/>
        </p:nvSpPr>
        <p:spPr>
          <a:xfrm>
            <a:off x="6229350" y="4838700"/>
            <a:ext cx="53721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Большая часть воды, глюкоза и другие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нужные вещества возвращаются в кровь.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Это обратное всасывание, или реабсорбция.</a:t>
            </a:r>
          </a:p>
        </p:txBody>
      </p:sp>
      <p:sp>
        <p:nvSpPr>
          <p:cNvPr id="37" name="Метка_вена"/>
          <p:cNvSpPr txBox="1"/>
          <p:nvPr/>
        </p:nvSpPr>
        <p:spPr>
          <a:xfrm>
            <a:off x="4978400" y="1320800"/>
            <a:ext cx="762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3A5BA8"/>
                </a:solidFill>
                <a:latin typeface="Arial Narrow"/>
                <a:cs typeface="Arial Narrow"/>
              </a:rPr>
              <a:t>Вена</a:t>
            </a:r>
          </a:p>
        </p:txBody>
      </p:sp>
      <p:cxnSp>
        <p:nvCxnSpPr>
          <p:cNvPr id="38" name="Указатель_вена"/>
          <p:cNvCxnSpPr/>
          <p:nvPr/>
        </p:nvCxnSpPr>
        <p:spPr>
          <a:xfrm flipH="1">
            <a:off x="4813300" y="1549400"/>
            <a:ext cx="266700" cy="4826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39" name="Метка_приносящая"/>
          <p:cNvSpPr txBox="1"/>
          <p:nvPr/>
        </p:nvSpPr>
        <p:spPr>
          <a:xfrm>
            <a:off x="4978400" y="1905000"/>
            <a:ext cx="1219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0" name="Указатель_приносящая"/>
          <p:cNvCxnSpPr/>
          <p:nvPr/>
        </p:nvCxnSpPr>
        <p:spPr>
          <a:xfrm flipH="1">
            <a:off x="3810000" y="2120900"/>
            <a:ext cx="1168400" cy="1143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1" name="Метка_выносящая"/>
          <p:cNvSpPr txBox="1"/>
          <p:nvPr/>
        </p:nvSpPr>
        <p:spPr>
          <a:xfrm>
            <a:off x="457200" y="241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42" name="Указатель_выносящая"/>
          <p:cNvCxnSpPr/>
          <p:nvPr/>
        </p:nvCxnSpPr>
        <p:spPr>
          <a:xfrm flipV="1">
            <a:off x="1816100" y="2540000"/>
            <a:ext cx="10033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3" name="Метка_собирательная"/>
          <p:cNvSpPr txBox="1"/>
          <p:nvPr/>
        </p:nvSpPr>
        <p:spPr>
          <a:xfrm>
            <a:off x="457200" y="368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Собирательная трубочка</a:t>
            </a:r>
          </a:p>
        </p:txBody>
      </p:sp>
      <p:cxnSp>
        <p:nvCxnSpPr>
          <p:cNvPr id="44" name="Указатель_собирательная"/>
          <p:cNvCxnSpPr/>
          <p:nvPr/>
        </p:nvCxnSpPr>
        <p:spPr>
          <a:xfrm>
            <a:off x="1816100" y="3873500"/>
            <a:ext cx="152400" cy="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5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NIDDK. Your Kidneys &amp; How They Work. T. Kebert, Jmarchn, CC BY-SA 4.0, modified.</a:t>
            </a:r>
          </a:p>
        </p:txBody>
      </p:sp>
      <p:pic>
        <p:nvPicPr>
          <p:cNvPr id="46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7" name="Связь_с_финереноном"/>
          <p:cNvSpPr txBox="1"/>
          <p:nvPr/>
        </p:nvSpPr>
        <p:spPr>
          <a:xfrm>
            <a:off x="6223000" y="5880100"/>
            <a:ext cx="53721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его мишень, минералокортикоидный рецептор, есть в клетках собирательной трубочки (слайд 17).</a:t>
            </a:r>
          </a:p>
        </p:txBody>
      </p:sp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Плотное пятно регулирует фильтрацию в своём клубочке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1F4E79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9" name="Прямая со стрелкой 38"/>
          <p:cNvCxnSpPr/>
          <p:nvPr/>
        </p:nvCxnSpPr>
        <p:spPr>
          <a:xfrm flipV="1">
            <a:off x="1574800" y="3644900"/>
            <a:ext cx="762000" cy="342900"/>
          </a:xfrm>
          <a:prstGeom prst="straightConnector1">
            <a:avLst/>
          </a:prstGeom>
          <a:ln w="19050">
            <a:solidFill>
              <a:srgbClr val="202020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Восходящее колено петли Генле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прилежит к своему клубочку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43" name="Прямая со стрелкой 42"/>
          <p:cNvCxnSpPr/>
          <p:nvPr/>
        </p:nvCxnSpPr>
        <p:spPr>
          <a:xfrm flipH="1" flipV="1">
            <a:off x="2997200" y="5029200"/>
            <a:ext cx="88900" cy="711200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6" name="Плотное пятно пояснение">
            <a:extLst>
              <a:ext uri="{FF2B5EF4-FFF2-40B4-BE49-F238E27FC236}">
                <a16:creationId xmlns:a16="http://schemas.microsoft.com/office/drawing/2014/main" id="{2CD6CEDC-C6B6-4D61-AE2E-46658898AE1F}"/>
              </a:ext>
            </a:extLst>
          </p:cNvPr>
          <p:cNvSpPr>
            <a:spLocks noGrp="1"/>
          </p:cNvSpPr>
          <p:nvPr/>
        </p:nvSpPr>
        <p:spPr>
          <a:xfrm>
            <a:off x="6985000" y="1276350"/>
            <a:ext cx="4699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группа клеток канальца,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которая реагирует на содержание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(NaCl) в канальцевой жидкости.</a:t>
            </a:r>
          </a:p>
        </p:txBody>
      </p:sp>
      <p:sp>
        <p:nvSpPr>
          <p:cNvPr id="17" name="Соли больше">
            <a:extLst>
              <a:ext uri="{FF2B5EF4-FFF2-40B4-BE49-F238E27FC236}">
                <a16:creationId xmlns:a16="http://schemas.microsoft.com/office/drawing/2014/main" id="{231876AD-FDCA-4069-9366-8D7787149BAA}"/>
              </a:ext>
            </a:extLst>
          </p:cNvPr>
          <p:cNvSpPr>
            <a:spLocks noGrp="1"/>
          </p:cNvSpPr>
          <p:nvPr/>
        </p:nvSpPr>
        <p:spPr>
          <a:xfrm>
            <a:off x="6981825" y="2705100"/>
            <a:ext cx="457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поступает больше</a:t>
            </a:r>
          </a:p>
        </p:txBody>
      </p:sp>
      <p:sp>
        <p:nvSpPr>
          <p:cNvPr id="18" name="Артериола сужается">
            <a:extLst>
              <a:ext uri="{FF2B5EF4-FFF2-40B4-BE49-F238E27FC236}">
                <a16:creationId xmlns:a16="http://schemas.microsoft.com/office/drawing/2014/main" id="{3518B456-D1FA-442B-8276-9977156E16AB}"/>
              </a:ext>
            </a:extLst>
          </p:cNvPr>
          <p:cNvSpPr>
            <a:spLocks noGrp="1"/>
          </p:cNvSpPr>
          <p:nvPr/>
        </p:nvSpPr>
        <p:spPr>
          <a:xfrm>
            <a:off x="6981825" y="32575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 артериола сужается</a:t>
            </a:r>
          </a:p>
        </p:txBody>
      </p:sp>
      <p:cxnSp>
        <p:nvCxnSpPr>
          <p:cNvPr id="47" name="Прямая со стрелкой 46"/>
          <p:cNvCxnSpPr>
            <a:stCxn id="17" idx="2"/>
            <a:endCxn id="18" idx="0"/>
          </p:cNvCxnSpPr>
          <p:nvPr/>
        </p:nvCxnSpPr>
        <p:spPr>
          <a:xfrm>
            <a:off x="9267825" y="2990850"/>
            <a:ext cx="33338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0" name="Фильтрация уменьшается">
            <a:extLst>
              <a:ext uri="{FF2B5EF4-FFF2-40B4-BE49-F238E27FC236}">
                <a16:creationId xmlns:a16="http://schemas.microsoft.com/office/drawing/2014/main" id="{CFC91215-F8BB-4698-BA91-B4F90EB9CFE4}"/>
              </a:ext>
            </a:extLst>
          </p:cNvPr>
          <p:cNvSpPr>
            <a:spLocks noGrp="1"/>
          </p:cNvSpPr>
          <p:nvPr/>
        </p:nvSpPr>
        <p:spPr>
          <a:xfrm>
            <a:off x="6981825" y="38100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Фильтрация уменьшается</a:t>
            </a:r>
          </a:p>
        </p:txBody>
      </p:sp>
      <p:cxnSp>
        <p:nvCxnSpPr>
          <p:cNvPr id="49" name="Прямая со стрелкой 48"/>
          <p:cNvCxnSpPr>
            <a:stCxn id="18" idx="2"/>
            <a:endCxn id="20" idx="0"/>
          </p:cNvCxnSpPr>
          <p:nvPr/>
        </p:nvCxnSpPr>
        <p:spPr>
          <a:xfrm>
            <a:off x="9301163" y="3543300"/>
            <a:ext cx="0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2" name="Соли меньше">
            <a:extLst>
              <a:ext uri="{FF2B5EF4-FFF2-40B4-BE49-F238E27FC236}">
                <a16:creationId xmlns:a16="http://schemas.microsoft.com/office/drawing/2014/main" id="{F10F75E7-2945-4B5A-A86B-35245E2A400C}"/>
              </a:ext>
            </a:extLst>
          </p:cNvPr>
          <p:cNvSpPr>
            <a:spLocks noGrp="1"/>
          </p:cNvSpPr>
          <p:nvPr/>
        </p:nvSpPr>
        <p:spPr>
          <a:xfrm>
            <a:off x="6981825" y="45148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Соли поступает меньше</a:t>
            </a:r>
          </a:p>
        </p:txBody>
      </p:sp>
      <p:sp>
        <p:nvSpPr>
          <p:cNvPr id="23" name="Сигнал ослабевает">
            <a:extLst>
              <a:ext uri="{FF2B5EF4-FFF2-40B4-BE49-F238E27FC236}">
                <a16:creationId xmlns:a16="http://schemas.microsoft.com/office/drawing/2014/main" id="{F2626621-071B-42AA-AC51-7DE64DD423BC}"/>
              </a:ext>
            </a:extLst>
          </p:cNvPr>
          <p:cNvSpPr>
            <a:spLocks noGrp="1"/>
          </p:cNvSpPr>
          <p:nvPr/>
        </p:nvSpPr>
        <p:spPr>
          <a:xfrm>
            <a:off x="6981825" y="50673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 ослабевает</a:t>
            </a:r>
          </a:p>
        </p:txBody>
      </p:sp>
      <p:cxnSp>
        <p:nvCxnSpPr>
          <p:cNvPr id="52" name="Прямая со стрелкой 51"/>
          <p:cNvCxnSpPr>
            <a:stCxn id="22" idx="2"/>
            <a:endCxn id="23" idx="0"/>
          </p:cNvCxnSpPr>
          <p:nvPr/>
        </p:nvCxnSpPr>
        <p:spPr>
          <a:xfrm>
            <a:off x="9301163" y="480060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25" name="Фильтрация увеличивается">
            <a:extLst>
              <a:ext uri="{FF2B5EF4-FFF2-40B4-BE49-F238E27FC236}">
                <a16:creationId xmlns:a16="http://schemas.microsoft.com/office/drawing/2014/main" id="{34AA2E27-F1A0-4960-A55B-C3E015A50E00}"/>
              </a:ext>
            </a:extLst>
          </p:cNvPr>
          <p:cNvSpPr>
            <a:spLocks noGrp="1"/>
          </p:cNvSpPr>
          <p:nvPr/>
        </p:nvSpPr>
        <p:spPr>
          <a:xfrm>
            <a:off x="6981825" y="56197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Фильтрация может увеличиться</a:t>
            </a:r>
          </a:p>
        </p:txBody>
      </p:sp>
      <p:cxnSp>
        <p:nvCxnSpPr>
          <p:cNvPr id="54" name="Прямая со стрелкой 53"/>
          <p:cNvCxnSpPr>
            <a:stCxn id="23" idx="2"/>
            <a:endCxn id="25" idx="0"/>
          </p:cNvCxnSpPr>
          <p:nvPr/>
        </p:nvCxnSpPr>
        <p:spPr>
          <a:xfrm>
            <a:off x="9301163" y="535305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55" name="Метка_выносящая"/>
          <p:cNvSpPr txBox="1"/>
          <p:nvPr/>
        </p:nvSpPr>
        <p:spPr>
          <a:xfrm>
            <a:off x="457200" y="5080000"/>
            <a:ext cx="1651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56" name="Указатель_выносящая"/>
          <p:cNvCxnSpPr/>
          <p:nvPr/>
        </p:nvCxnSpPr>
        <p:spPr>
          <a:xfrm flipV="1">
            <a:off x="1524000" y="4826000"/>
            <a:ext cx="762000" cy="317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7" name="Метка_проксимальный"/>
          <p:cNvSpPr txBox="1"/>
          <p:nvPr/>
        </p:nvSpPr>
        <p:spPr>
          <a:xfrm>
            <a:off x="5308600" y="1905000"/>
            <a:ext cx="1270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Проксимальный каналец</a:t>
            </a:r>
          </a:p>
        </p:txBody>
      </p:sp>
      <p:cxnSp>
        <p:nvCxnSpPr>
          <p:cNvPr id="58" name="Указатель_проксимальный"/>
          <p:cNvCxnSpPr/>
          <p:nvPr/>
        </p:nvCxnSpPr>
        <p:spPr>
          <a:xfrm flipH="1">
            <a:off x="5918200" y="2336800"/>
            <a:ext cx="101600" cy="5588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9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</a:t>
            </a:r>
          </a:p>
        </p:txBody>
      </p:sp>
      <p:pic>
        <p:nvPicPr>
          <p:cNvPr id="60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1" name="Связь_с_финереноном"/>
          <p:cNvSpPr txBox="1"/>
          <p:nvPr/>
        </p:nvSpPr>
        <p:spPr>
          <a:xfrm>
            <a:off x="6985000" y="5892800"/>
            <a:ext cx="4635500" cy="584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лечении контролируют фильтрацию, от неё зависят начальная доза и повышение дозы (слайды 32, 34).</a:t>
            </a:r>
          </a:p>
        </p:txBody>
      </p:sp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При диабете фильтрация может стать избыточной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657600" y="2857500"/>
            <a:ext cx="1228725" cy="476251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глюкозу и натрий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через НГЛТ2</a:t>
            </a:r>
          </a:p>
        </p:txBody>
      </p:sp>
      <p:sp>
        <p:nvSpPr>
          <p:cNvPr id="13" name="Больше глюкозы">
            <a:extLst>
              <a:ext uri="{FF2B5EF4-FFF2-40B4-BE49-F238E27FC236}">
                <a16:creationId xmlns:a16="http://schemas.microsoft.com/office/drawing/2014/main" id="{4683CD03-651B-41D7-9280-91AAB8E9D5B4}"/>
              </a:ext>
            </a:extLst>
          </p:cNvPr>
          <p:cNvSpPr>
            <a:spLocks noGrp="1"/>
          </p:cNvSpPr>
          <p:nvPr/>
        </p:nvSpPr>
        <p:spPr>
          <a:xfrm>
            <a:off x="6572250" y="11715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первичной моче больше глюкозы</a:t>
            </a:r>
          </a:p>
        </p:txBody>
      </p:sp>
      <p:sp>
        <p:nvSpPr>
          <p:cNvPr id="14" name="Больше обратное всасывание">
            <a:extLst>
              <a:ext uri="{FF2B5EF4-FFF2-40B4-BE49-F238E27FC236}">
                <a16:creationId xmlns:a16="http://schemas.microsoft.com/office/drawing/2014/main" id="{85ADFC8C-3185-4A00-887C-00031563ADCD}"/>
              </a:ext>
            </a:extLst>
          </p:cNvPr>
          <p:cNvSpPr>
            <a:spLocks noGrp="1"/>
          </p:cNvSpPr>
          <p:nvPr/>
        </p:nvSpPr>
        <p:spPr>
          <a:xfrm>
            <a:off x="6572250" y="1771650"/>
            <a:ext cx="51625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Проксимальный каналец возвращает в кровь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больше глюкозы и натрия</a:t>
            </a:r>
          </a:p>
        </p:txBody>
      </p:sp>
      <p:sp>
        <p:nvSpPr>
          <p:cNvPr id="15" name="Меньше соли">
            <a:extLst>
              <a:ext uri="{FF2B5EF4-FFF2-40B4-BE49-F238E27FC236}">
                <a16:creationId xmlns:a16="http://schemas.microsoft.com/office/drawing/2014/main" id="{253B4D1A-F9E7-4772-AFA3-9061AF1F8A4D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16" name="Слабее обратный сигнал">
            <a:extLst>
              <a:ext uri="{FF2B5EF4-FFF2-40B4-BE49-F238E27FC236}">
                <a16:creationId xmlns:a16="http://schemas.microsoft.com/office/drawing/2014/main" id="{1CAEB525-7353-479A-A013-D4E2979E70EB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ослабевает</a:t>
            </a:r>
          </a:p>
        </p:txBody>
      </p:sp>
      <p:sp>
        <p:nvSpPr>
          <p:cNvPr id="17" name="Давление и гиперфильтрация">
            <a:extLst>
              <a:ext uri="{FF2B5EF4-FFF2-40B4-BE49-F238E27FC236}">
                <a16:creationId xmlns:a16="http://schemas.microsoft.com/office/drawing/2014/main" id="{2D8337B4-0816-4CBD-AFD0-75436EE61108}"/>
              </a:ext>
            </a:extLst>
          </p:cNvPr>
          <p:cNvSpPr>
            <a:spLocks noGrp="1"/>
          </p:cNvSpPr>
          <p:nvPr/>
        </p:nvSpPr>
        <p:spPr>
          <a:xfrm>
            <a:off x="6572250" y="4124325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Приносящая артериола расширяется, давление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в клубочке растёт: развивается гиперфильтрация.</a:t>
            </a:r>
          </a:p>
        </p:txBody>
      </p:sp>
      <p:cxnSp>
        <p:nvCxnSpPr>
          <p:cNvPr id="43" name="Прямая со стрелкой 42"/>
          <p:cNvCxnSpPr>
            <a:stCxn id="13" idx="2"/>
            <a:endCxn id="14" idx="0"/>
          </p:cNvCxnSpPr>
          <p:nvPr/>
        </p:nvCxnSpPr>
        <p:spPr>
          <a:xfrm>
            <a:off x="9153525" y="1466850"/>
            <a:ext cx="0" cy="304800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4" name="Прямая со стрелкой 43"/>
          <p:cNvCxnSpPr>
            <a:stCxn id="14" idx="2"/>
            <a:endCxn id="15" idx="0"/>
          </p:cNvCxnSpPr>
          <p:nvPr/>
        </p:nvCxnSpPr>
        <p:spPr>
          <a:xfrm>
            <a:off x="9153525" y="23336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5" name="Прямая со стрелкой 44"/>
          <p:cNvCxnSpPr>
            <a:stCxn id="15" idx="2"/>
            <a:endCxn id="16" idx="0"/>
          </p:cNvCxnSpPr>
          <p:nvPr/>
        </p:nvCxnSpPr>
        <p:spPr>
          <a:xfrm>
            <a:off x="9153525" y="29432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6" name="Прямая со стрелкой 45"/>
          <p:cNvCxnSpPr>
            <a:stCxn id="16" idx="2"/>
            <a:endCxn id="17" idx="0"/>
          </p:cNvCxnSpPr>
          <p:nvPr/>
        </p:nvCxnSpPr>
        <p:spPr>
          <a:xfrm>
            <a:off x="9153525" y="3810000"/>
            <a:ext cx="0" cy="314325"/>
          </a:xfrm>
          <a:prstGeom prst="straightConnector1">
            <a:avLst/>
          </a:prstGeom>
          <a:ln w="18098">
            <a:solidFill>
              <a:srgbClr val="AA3034"/>
            </a:solidFill>
            <a:prstDash val="solid"/>
            <a:tailEnd type="triangle" w="med" len="med"/>
          </a:ln>
        </p:spPr>
      </p:cxnSp>
      <p:sp>
        <p:nvSpPr>
          <p:cNvPr id="22" name="Повреждение барьера">
            <a:extLst>
              <a:ext uri="{FF2B5EF4-FFF2-40B4-BE49-F238E27FC236}">
                <a16:creationId xmlns:a16="http://schemas.microsoft.com/office/drawing/2014/main" id="{E7529765-7468-4393-BDB0-CF6B48AE7216}"/>
              </a:ext>
            </a:extLst>
          </p:cNvPr>
          <p:cNvSpPr>
            <a:spLocks noGrp="1"/>
          </p:cNvSpPr>
          <p:nvPr/>
        </p:nvSpPr>
        <p:spPr>
          <a:xfrm>
            <a:off x="6572250" y="5057775"/>
            <a:ext cx="51625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Длительная перегрузка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повреждает фильтрационный барьер.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повреждение почек возможно и при сохранной рСКФ.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на этот механизм действуют ингибиторы НГЛТ2; у финеренона другая мишень, он их не заменяет (слайд 27).</a:t>
            </a:r>
          </a:p>
        </p:txBody>
      </p:sp>
      <p:sp>
        <p:nvSpPr>
          <p:cNvPr id="47" name="Метка_приносящая"/>
          <p:cNvSpPr txBox="1"/>
          <p:nvPr/>
        </p:nvSpPr>
        <p:spPr>
          <a:xfrm>
            <a:off x="4724400" y="1905000"/>
            <a:ext cx="1651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8" name="Указатель_приносящая"/>
          <p:cNvCxnSpPr/>
          <p:nvPr/>
        </p:nvCxnSpPr>
        <p:spPr>
          <a:xfrm flipH="1">
            <a:off x="3606800" y="2120900"/>
            <a:ext cx="11176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 Alicic RZ, et al. Clin J Am Soc Nephrol. 2017;12:2032–2045. Retnakaran R, et al. Diabetes. 2006;55:1832–1839. T. Kebert, Jmarchn, CC BY-SA 4.0, modified.</a:t>
            </a:r>
          </a:p>
        </p:txBody>
      </p:sp>
      <p:pic>
        <p:nvPicPr>
          <p:cNvPr id="50" name="Логотип Орвилле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диабетической болезни почек расширяется мезангий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 может развиваться узелковый гломерулосклероз</a:t>
            </a:r>
          </a:p>
        </p:txBody>
      </p:sp>
      <p:sp>
        <p:nvSpPr>
          <p:cNvPr id="3" name="Сохранённая структура"/>
          <p:cNvSpPr txBox="1"/>
          <p:nvPr/>
        </p:nvSpPr>
        <p:spPr>
          <a:xfrm>
            <a:off x="5029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структура</a:t>
            </a:r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2"/>
          <a:srcRect l="3456" t="26663" r="74542" b="57729"/>
          <a:stretch>
            <a:fillRect/>
          </a:stretch>
        </p:blipFill>
        <p:spPr>
          <a:xfrm>
            <a:off x="502920" y="1856231"/>
            <a:ext cx="3236976" cy="3236976"/>
          </a:xfrm>
          <a:prstGeom prst="rect">
            <a:avLst/>
          </a:prstGeom>
        </p:spPr>
      </p:pic>
      <p:sp>
        <p:nvSpPr>
          <p:cNvPr id="6" name="Расширение мезангия"/>
          <p:cNvSpPr txBox="1"/>
          <p:nvPr/>
        </p:nvSpPr>
        <p:spPr>
          <a:xfrm>
            <a:off x="43891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Расширение мезангия</a:t>
            </a:r>
          </a:p>
        </p:txBody>
      </p:sp>
      <p:sp>
        <p:nvSpPr>
          <p:cNvPr id="7" name="Класс II"/>
          <p:cNvSpPr txBox="1"/>
          <p:nvPr/>
        </p:nvSpPr>
        <p:spPr>
          <a:xfrm>
            <a:off x="43891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2"/>
          <a:srcRect l="48307" t="26713" r="29690" b="57679"/>
          <a:stretch>
            <a:fillRect/>
          </a:stretch>
        </p:blipFill>
        <p:spPr>
          <a:xfrm>
            <a:off x="4389120" y="1856231"/>
            <a:ext cx="3236976" cy="3236976"/>
          </a:xfrm>
          <a:prstGeom prst="rect">
            <a:avLst/>
          </a:prstGeom>
        </p:spPr>
      </p:pic>
      <p:sp>
        <p:nvSpPr>
          <p:cNvPr id="9" name="Узловой склероз"/>
          <p:cNvSpPr txBox="1"/>
          <p:nvPr/>
        </p:nvSpPr>
        <p:spPr>
          <a:xfrm>
            <a:off x="82753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Узелковый склероз</a:t>
            </a:r>
          </a:p>
        </p:txBody>
      </p:sp>
      <p:sp>
        <p:nvSpPr>
          <p:cNvPr id="10" name="Класс III"/>
          <p:cNvSpPr txBox="1"/>
          <p:nvPr/>
        </p:nvSpPr>
        <p:spPr>
          <a:xfrm>
            <a:off x="82753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2"/>
          <a:srcRect l="70733" t="26663" r="7264" b="57729"/>
          <a:stretch>
            <a:fillRect/>
          </a:stretch>
        </p:blipFill>
        <p:spPr>
          <a:xfrm>
            <a:off x="8275320" y="18562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Матрикс"/>
          <p:cNvSpPr txBox="1"/>
          <p:nvPr/>
        </p:nvSpPr>
        <p:spPr>
          <a:xfrm>
            <a:off x="4470400" y="2717800"/>
            <a:ext cx="116840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Мезангиальный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Узел&#10;склероза"/>
          <p:cNvSpPr txBox="1"/>
          <p:nvPr/>
        </p:nvSpPr>
        <p:spPr>
          <a:xfrm>
            <a:off x="8331200" y="3520439"/>
            <a:ext cx="1778000" cy="482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Узелок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Киммелстила–Уилсона</a:t>
            </a:r>
          </a:p>
        </p:txBody>
      </p:sp>
      <p:sp>
        <p:nvSpPr>
          <p:cNvPr id="20" name="Мезангий поддерживает капилляры.&#10;Он состоит из клеток и матр"/>
          <p:cNvSpPr txBox="1"/>
          <p:nvPr/>
        </p:nvSpPr>
        <p:spPr>
          <a:xfrm>
            <a:off x="5029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Мезангий поддерживает капилляры.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Он состоит из клеток и матрикса,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 есть межклеточного вещества.</a:t>
            </a:r>
          </a:p>
        </p:txBody>
      </p:sp>
      <p:sp>
        <p:nvSpPr>
          <p:cNvPr id="21" name="Объём мезангиального матрикса&#10;увеличен. Узлового склероза&#10;в "/>
          <p:cNvSpPr txBox="1"/>
          <p:nvPr/>
        </p:nvSpPr>
        <p:spPr>
          <a:xfrm>
            <a:off x="43891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Объём мезангиального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увеличен. Узелкового склероза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этом классе нет.</a:t>
            </a:r>
          </a:p>
        </p:txBody>
      </p:sp>
      <p:sp>
        <p:nvSpPr>
          <p:cNvPr id="22" name="В мезангии формируются&#10;округлые узлы&#10;из межклеточного матрик"/>
          <p:cNvSpPr txBox="1"/>
          <p:nvPr/>
        </p:nvSpPr>
        <p:spPr>
          <a:xfrm>
            <a:off x="82753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мезангии формируются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округлые узелки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 межклеточного матрикса.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5969000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Образцы разных пациентов. Гистологический класс не то же самое, что стадия ХБП по рСКФ.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его назначении врач ориентируется на рСКФ, альбуминурию и калий (слайды 12, 32).</a:t>
            </a:r>
          </a:p>
        </p:txBody>
      </p:sp>
      <p:sp>
        <p:nvSpPr>
          <p:cNvPr id="24" name="Метка_мезангий"/>
          <p:cNvSpPr txBox="1"/>
          <p:nvPr/>
        </p:nvSpPr>
        <p:spPr>
          <a:xfrm>
            <a:off x="584200" y="2819400"/>
            <a:ext cx="889000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Мезангий</a:t>
            </a:r>
          </a:p>
        </p:txBody>
      </p:sp>
      <p:cxnSp>
        <p:nvCxnSpPr>
          <p:cNvPr id="25" name="Указатель_мезангий"/>
          <p:cNvCxnSpPr/>
          <p:nvPr/>
        </p:nvCxnSpPr>
        <p:spPr>
          <a:xfrm>
            <a:off x="1270000" y="3048000"/>
            <a:ext cx="736600" cy="279400"/>
          </a:xfrm>
          <a:prstGeom prst="line">
            <a:avLst/>
          </a:prstGeom>
          <a:ln w="15875">
            <a:solidFill>
              <a:srgbClr val="087A92"/>
            </a:solidFill>
            <a:tailEnd type="triangle" w="med" len="med"/>
          </a:ln>
        </p:spPr>
      </p:cxnSp>
      <p:sp>
        <p:nvSpPr>
          <p:cNvPr id="26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Bai Y, et al. Front Endocrinol. 2022;13:984452 (CC BY 4.0). Cohen Tervaert TW, et al. J Am Soc Nephrol. 2010;21:556–563.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Диабетическая болезнь почек затрагивает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канальцы и ткань между ними</a:t>
            </a:r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 rot="0"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58687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 flipH="1">
            <a:off x="10731500" y="2019300"/>
            <a:ext cx="0" cy="304800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16510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8" name="Текст: Сохранная ткань"/>
          <p:cNvSpPr txBox="1"/>
          <p:nvPr/>
        </p:nvSpPr>
        <p:spPr>
          <a:xfrm>
            <a:off x="5029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ткань</a:t>
            </a:r>
          </a:p>
        </p:txBody>
      </p:sp>
      <p:sp>
        <p:nvSpPr>
          <p:cNvPr id="719" name="Текст: Воспаление"/>
          <p:cNvSpPr txBox="1"/>
          <p:nvPr/>
        </p:nvSpPr>
        <p:spPr>
          <a:xfrm>
            <a:off x="43891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0" name="Текст: Фиброз и атрофия"/>
          <p:cNvSpPr txBox="1"/>
          <p:nvPr/>
        </p:nvSpPr>
        <p:spPr>
          <a:xfrm>
            <a:off x="82753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 и атрофия</a:t>
            </a:r>
          </a:p>
        </p:txBody>
      </p:sp>
      <p:sp>
        <p:nvSpPr>
          <p:cNvPr id="721" name="Текст: Эпителий образует один слой. Интерстиций: тк"/>
          <p:cNvSpPr txBox="1"/>
          <p:nvPr/>
        </p:nvSpPr>
        <p:spPr>
          <a:xfrm>
            <a:off x="5029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Эпителий образует один слой.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Между канальцами лежит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интерстиций, в нём проходят сосуды.</a:t>
            </a:r>
          </a:p>
        </p:txBody>
      </p:sp>
      <p:sp>
        <p:nvSpPr>
          <p:cNvPr id="722" name="Текст: Воспалительные клетки скапливаются в интерсти"/>
          <p:cNvSpPr txBox="1"/>
          <p:nvPr/>
        </p:nvSpPr>
        <p:spPr>
          <a:xfrm>
            <a:off x="43891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Воспалительные клетки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скапливаются в интерстиции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рядом с канальцами и сосудами.</a:t>
            </a:r>
          </a:p>
        </p:txBody>
      </p:sp>
      <p:sp>
        <p:nvSpPr>
          <p:cNvPr id="723" name="Текст: Фиброз: накопление матрикса. Атрофия канальце"/>
          <p:cNvSpPr txBox="1"/>
          <p:nvPr/>
        </p:nvSpPr>
        <p:spPr>
          <a:xfrm>
            <a:off x="82753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фиброзе накапливается матрикс.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атрофии уменьшается высота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эпителия канальцев.</a:t>
            </a:r>
          </a:p>
        </p:txBody>
      </p:sp>
      <p:sp>
        <p:nvSpPr>
          <p:cNvPr id="724" name="Текст: Воспаление и фиброз могут сочетаться. Показан"/>
          <p:cNvSpPr txBox="1"/>
          <p:nvPr/>
        </p:nvSpPr>
        <p:spPr>
          <a:xfrm>
            <a:off x="508000" y="5816600"/>
            <a:ext cx="10795000" cy="6462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Воспаление и фиброз могут сочетаться и не обязательно сменяют друг друга.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он блокирует минералокортикоидный рецептор, избыточная активация которого поддерживает воспаление и фиброз (слайды 18, 19). Влияние финеренона на эти процессы показано только в доклинических исследованиях.</a:t>
            </a:r>
          </a:p>
        </p:txBody>
      </p:sp>
      <p:sp>
        <p:nvSpPr>
          <p:cNvPr id="725" name="Метка_миофибробласты"/>
          <p:cNvSpPr txBox="1"/>
          <p:nvPr/>
        </p:nvSpPr>
        <p:spPr>
          <a:xfrm>
            <a:off x="10160000" y="47371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Миофибробласты</a:t>
            </a:r>
          </a:p>
        </p:txBody>
      </p:sp>
      <p:cxnSp>
        <p:nvCxnSpPr>
          <p:cNvPr id="726" name="Указатель_миофибробласты"/>
          <p:cNvCxnSpPr/>
          <p:nvPr/>
        </p:nvCxnSpPr>
        <p:spPr>
          <a:xfrm flipH="1" flipV="1">
            <a:off x="10629900" y="4483100"/>
            <a:ext cx="114300" cy="279400"/>
          </a:xfrm>
          <a:prstGeom prst="line">
            <a:avLst/>
          </a:prstGeom>
          <a:ln w="12700">
            <a:solidFill>
              <a:srgbClr val="087A92"/>
            </a:solidFill>
            <a:tailEnd type="triangle" w="med" len="med"/>
          </a:ln>
        </p:spPr>
      </p:cxnSp>
      <p:sp>
        <p:nvSpPr>
          <p:cNvPr id="72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Nguyen D, et al. Nephrology. 2006;11:226–231. Kuppe C, et al. Nature. 2021;589:281–286. Cohen Tervaert TW, et al. J Am Soc Nephrol. 2010;21:556–563.</a:t>
            </a:r>
          </a:p>
        </p:txBody>
      </p:sp>
      <p:pic>
        <p:nvPicPr>
          <p:cNvPr id="728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2 типа рСКФ и АКО проверяют не реже раза в год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625600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фильтрации, мл/мин/1,73 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насколько хорошо почки фильтруют?</a:t>
            </a:r>
          </a:p>
        </p:txBody>
      </p:sp>
      <p:cxnSp>
        <p:nvCxnSpPr>
          <p:cNvPr id="32" name="Separate_tests"/>
          <p:cNvCxnSpPr/>
          <p:nvPr/>
        </p:nvCxnSpPr>
        <p:spPr>
          <a:xfrm>
            <a:off x="548640" y="4014215"/>
            <a:ext cx="6702552" cy="0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Отношение альбумина к креатинину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мочи (АКО),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нет ли повышенной потери альбумина?</a:t>
            </a:r>
          </a:p>
        </p:txBody>
      </p:sp>
      <p:cxnSp>
        <p:nvCxnSpPr>
          <p:cNvPr id="64" name="Interpretation_separator"/>
          <p:cNvCxnSpPr/>
          <p:nvPr/>
        </p:nvCxnSpPr>
        <p:spPr>
          <a:xfrm>
            <a:off x="7635240" y="1225296"/>
            <a:ext cx="0" cy="4946904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65" name="Clinical_question"/>
          <p:cNvSpPr txBox="1"/>
          <p:nvPr/>
        </p:nvSpPr>
        <p:spPr>
          <a:xfrm>
            <a:off x="7972425" y="1295400"/>
            <a:ext cx="3524250" cy="73342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Фильтрация сохранна: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значит, 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2425" y="2247900"/>
            <a:ext cx="3524250" cy="83820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Ответ: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может быть повышен уже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сохранной фильтрации.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2425" y="3314700"/>
            <a:ext cx="3524250" cy="109537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хронической болезни почек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частоту контроля определяют по стадии.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2425" y="4629150"/>
            <a:ext cx="3524250" cy="85725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тест-полоска на общий белок не заменяет определение АКО.</a:t>
            </a:r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American Diabetes Association Professional Practice Committee. Standards of Care in Diabetes-2026. Diabetes Care. 2026;49(Suppl 1):S246–S260.</a:t>
            </a:r>
          </a:p>
        </p:txBody>
      </p:sp>
      <p:pic>
        <p:nvPicPr>
          <p:cNvPr id="7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Карточка_функция"/>
          <p:cNvSpPr/>
          <p:nvPr/>
        </p:nvSpPr>
        <p:spPr>
          <a:xfrm>
            <a:off x="755650" y="1203325"/>
            <a:ext cx="48323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вреждение"/>
          <p:cNvSpPr/>
          <p:nvPr/>
        </p:nvSpPr>
        <p:spPr>
          <a:xfrm>
            <a:off x="6356350" y="1203325"/>
            <a:ext cx="51752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Критерии ХБП: рСКФ &lt;60 мл/мин/1,73 м² или АКО ≥30 мг/г не менее 3 месяцев</a:t>
            </a:r>
          </a:p>
        </p:txBody>
      </p:sp>
      <p:sp>
        <p:nvSpPr>
          <p:cNvPr id="3" name="function-label">
            <a:extLst>
              <a:ext uri="{FF2B5EF4-FFF2-40B4-BE49-F238E27FC236}">
                <a16:creationId xmlns:a16="http://schemas.microsoft.com/office/drawing/2014/main" id="{4608A116-DE20-40FC-8A31-6DB58E3786A8}"/>
              </a:ext>
            </a:extLst>
          </p:cNvPr>
          <p:cNvSpPr>
            <a:spLocks noGrp="1"/>
          </p:cNvSpPr>
          <p:nvPr/>
        </p:nvSpPr>
        <p:spPr>
          <a:xfrm>
            <a:off x="933450" y="1381125"/>
            <a:ext cx="4476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Функция почек</a:t>
            </a:r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933450" y="1847850"/>
            <a:ext cx="44767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расчётная скорость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клубочковой 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933450" y="2619375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Критерий ХБП: &lt;60 мл/мин/1,73 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933450" y="3181350"/>
            <a:ext cx="4476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фильтрации относится к критериям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хронической болезни почек.</a:t>
            </a:r>
          </a:p>
        </p:txBody>
      </p:sp>
      <p:sp>
        <p:nvSpPr>
          <p:cNvPr id="7" name="damage-label">
            <a:extLst>
              <a:ext uri="{FF2B5EF4-FFF2-40B4-BE49-F238E27FC236}">
                <a16:creationId xmlns:a16="http://schemas.microsoft.com/office/drawing/2014/main" id="{A590F3DC-E69C-4E4B-A335-43D00E1B6C20}"/>
              </a:ext>
            </a:extLst>
          </p:cNvPr>
          <p:cNvSpPr>
            <a:spLocks noGrp="1"/>
          </p:cNvSpPr>
          <p:nvPr/>
        </p:nvSpPr>
        <p:spPr>
          <a:xfrm>
            <a:off x="6534150" y="1381125"/>
            <a:ext cx="48196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B5323C"/>
                </a:solidFill>
                <a:latin typeface="Arial Narrow"/>
                <a:ea typeface="Calibri"/>
                <a:cs typeface="Arial Narrow"/>
              </a:rPr>
              <a:t>Повреждение почек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534150" y="1847850"/>
            <a:ext cx="48196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креатинину мочи (АКО)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534150" y="2619375"/>
            <a:ext cx="4819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B5323C"/>
                </a:solidFill>
                <a:latin typeface="Arial Narrow"/>
                <a:ea typeface="Calibri"/>
                <a:cs typeface="Arial Narrow"/>
              </a:rPr>
              <a:t>Критерий ХБП: ≥30 мг/г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534150" y="3181350"/>
            <a:ext cx="48196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называется альбуминурией.</a:t>
            </a:r>
          </a:p>
        </p:txBody>
      </p:sp>
      <p:sp>
        <p:nvSpPr>
          <p:cNvPr id="11" name="rule">
            <a:extLst>
              <a:ext uri="{FF2B5EF4-FFF2-40B4-BE49-F238E27FC236}">
                <a16:creationId xmlns:a16="http://schemas.microsoft.com/office/drawing/2014/main" id="{DA6982E4-441A-440A-9212-C17C0B0B9387}"/>
              </a:ext>
            </a:extLst>
          </p:cNvPr>
          <p:cNvSpPr>
            <a:spLocks noGrp="1"/>
          </p:cNvSpPr>
          <p:nvPr/>
        </p:nvSpPr>
        <p:spPr>
          <a:xfrm>
            <a:off x="933450" y="3971925"/>
            <a:ext cx="10420350" cy="9525"/>
          </a:xfrm>
          <a:prstGeom prst="rect">
            <a:avLst/>
          </a:prstGeom>
          <a:solidFill>
            <a:srgbClr val="D7E0E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104203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 почек считают хронической, если изменения сохраняются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 менее 3 месяцев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Достаточно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одного критерия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: сниженной рСКФ или маркера повреждения почек.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933450" y="5114925"/>
            <a:ext cx="104203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Сохранная рСКФ не исключает болезнь почек. Повышенную альбуминурию подтверждают повторным анализом и исключают временные причины, например инфекцию.</a:t>
            </a: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72150" y="2619375"/>
            <a:ext cx="552450" cy="304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При одинаковой фильтрации альбуминурия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может означать более высокий риск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3143250" y="1590675"/>
            <a:ext cx="180975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мл/мин/1,73 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4767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&lt;30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151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30–300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535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&gt;300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3143250" y="235267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G1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76750" y="2352675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316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15150" y="2352675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700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53550" y="2352675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4084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3143250" y="2864739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G2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76750" y="2864739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316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5150" y="2864739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700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53550" y="2864739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4084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3143250" y="3376803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G3a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76750" y="3376803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316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5150" y="3376803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700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53550" y="3376803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4084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3143250" y="3888867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G3b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76750" y="3888867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316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151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700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535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4084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3143250" y="4400931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G4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767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316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51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700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535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4084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3143250" y="491299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G5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767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316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151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700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535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4084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457200" y="2571750"/>
            <a:ext cx="2305050" cy="2524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Пример: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рСКФ 65 (G2).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15 мг/г (A1):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низкий.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350 мг/г (A3):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высокий.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При G1–G2 без альбуминурии и других признаков повреждения диагноз болезни почек не устанавливают.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5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сердечная недостаточность ухудшает функцию почек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кардиоренальный синдром, тип 2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521207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2 типа и артериальной гипертензии оба органа могут повреждаться одновременно.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Поэтому определить, какое заболевание возникло первым, удаётся не всегда.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2743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3657600"/>
            <a:ext cx="301752" cy="0"/>
          </a:xfrm>
          <a:prstGeom prst="line">
            <a:avLst/>
          </a:prstGeom>
          <a:ln w="1778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2_1"/>
          <p:cNvSpPr txBox="1"/>
          <p:nvPr/>
        </p:nvSpPr>
        <p:spPr>
          <a:xfrm>
            <a:off x="2221992" y="1917700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сердечного выброса. Дисфункция эндотелия. Повышение центрального венозного давления и давления в правом предсердии.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1917700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56816" y="2163836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83296" y="2163836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way_2_2"/>
          <p:cNvSpPr txBox="1"/>
          <p:nvPr/>
        </p:nvSpPr>
        <p:spPr>
          <a:xfrm>
            <a:off x="2221992" y="2587772"/>
            <a:ext cx="5687568" cy="9337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Повторные воздействия на почки: острая декомпенсация сердечной недостаточности; изменения гемодинамики при лечении диуретиками и ингибиторами АПФ; гиповолемия и гипотензия, вызванные лекарствами.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587772"/>
            <a:ext cx="0" cy="895644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56816" y="305464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83296" y="305464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athway_2_3"/>
          <p:cNvSpPr txBox="1"/>
          <p:nvPr/>
        </p:nvSpPr>
        <p:spPr>
          <a:xfrm>
            <a:off x="2221992" y="3699316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Ускоренное развитие атеросклероза. Изменения мелких и крупных сосудов.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75688" y="3699316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56816" y="3945453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6" y="3945453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athway_2_4"/>
          <p:cNvSpPr txBox="1"/>
          <p:nvPr/>
        </p:nvSpPr>
        <p:spPr>
          <a:xfrm>
            <a:off x="2221992" y="4369389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Нейрогуморальная активация. Сосудосуживающие медиаторы: катехоламины, эндотелин, ангиотензин II и альдостерон.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75688" y="4369389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6816" y="4615525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83296" y="4615525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thway_2_5"/>
          <p:cNvSpPr txBox="1"/>
          <p:nvPr/>
        </p:nvSpPr>
        <p:spPr>
          <a:xfrm>
            <a:off x="2221992" y="5039461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Изменение чувствительности к сосудорасширяющим факторам: натрийуретическим пептидам и оксиду азота.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75688" y="5039461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56816" y="5285597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83296" y="5285597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56816" y="2163836"/>
            <a:ext cx="0" cy="3121761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0183" y="2163836"/>
            <a:ext cx="0" cy="3121761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0183" y="4023360"/>
            <a:ext cx="365761" cy="0"/>
          </a:xfrm>
          <a:prstGeom prst="line">
            <a:avLst/>
          </a:prstGeom>
          <a:ln w="1778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sp>
        <p:nvSpPr>
          <p:cNvPr id="39" name="kidney_changes"/>
          <p:cNvSpPr txBox="1"/>
          <p:nvPr/>
        </p:nvSpPr>
        <p:spPr>
          <a:xfrm>
            <a:off x="8796528" y="3867912"/>
            <a:ext cx="2825496" cy="218541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Недостаточное кровоснабжение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почечного кровотока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клубочковой фильтрации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Некроз и апоптоз клеток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Фиброз и склероз</a:t>
            </a:r>
          </a:p>
        </p:txBody>
      </p:sp>
      <p:pic>
        <p:nvPicPr>
          <p:cNvPr id="40" name="Сердц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84" y="2971800"/>
            <a:ext cx="1039047" cy="1362248"/>
          </a:xfrm>
          <a:prstGeom prst="rect">
            <a:avLst/>
          </a:prstGeom>
        </p:spPr>
      </p:pic>
      <p:pic>
        <p:nvPicPr>
          <p:cNvPr id="41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8089" y="2606040"/>
            <a:ext cx="739493" cy="1123683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5734933"/>
            <a:ext cx="10795000" cy="439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его изучали у пациентов с хронической болезнью почек и диабетом 2 типа и оценивали почечные и сердечно-сосудистые исходы (слайд 20). В местной инструкции нет показания при сердечной недостаточности.</a:t>
            </a:r>
          </a:p>
        </p:txBody>
      </p:sp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хроническая болезнь почек ухудшает работу сердца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ренокардиальный синдром, тип 4</a:t>
            </a:r>
          </a:p>
        </p:txBody>
      </p:sp>
      <p:sp>
        <p:nvSpPr>
          <p:cNvPr id="5" name="clinical_context_2"/>
          <p:cNvSpPr txBox="1"/>
          <p:nvPr/>
        </p:nvSpPr>
        <p:spPr>
          <a:xfrm>
            <a:off x="457200" y="1234440"/>
            <a:ext cx="11064240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Сердечно-сосудистые заболевания, хроническую болезнь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 метаболические нарушения рассматривают как взаимосвязанные состояния.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2057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09344" y="3337560"/>
            <a:ext cx="265175" cy="0"/>
          </a:xfrm>
          <a:prstGeom prst="line">
            <a:avLst/>
          </a:prstGeom>
          <a:ln w="1651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221992" y="1984248"/>
            <a:ext cx="5559552" cy="7040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ренин-ангиотензин-альдостероновой системы, избыток альдостерона. Задержка натрия и воды. Увеличение объёма жидкости.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1984248"/>
            <a:ext cx="0" cy="667512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1992" y="2743200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74519" y="2336291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55864" y="2336291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221992" y="2834640"/>
            <a:ext cx="5559552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симпатической нервной системы. Сужение сосудов. Повышение уровня катехоламинов, прежде всего норадреналина.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2834640"/>
            <a:ext cx="0" cy="649224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21992" y="3575304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74519" y="317754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5864" y="317754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221992" y="3666744"/>
            <a:ext cx="5559552" cy="53035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Уремия, электролитные нарушения и снижение pH крови (ацидемия).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75688" y="3666744"/>
            <a:ext cx="0" cy="493776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393192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55864" y="393192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2336291"/>
            <a:ext cx="0" cy="1595629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2336291"/>
            <a:ext cx="0" cy="1595629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3162300"/>
            <a:ext cx="384048" cy="0"/>
          </a:xfrm>
          <a:prstGeom prst="line">
            <a:avLst/>
          </a:prstGeom>
          <a:ln w="1778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801100" y="1943100"/>
            <a:ext cx="2159000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 сердечная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sp>
        <p:nvSpPr>
          <p:cNvPr id="28" name="heart_changes"/>
          <p:cNvSpPr txBox="1"/>
          <p:nvPr/>
        </p:nvSpPr>
        <p:spPr>
          <a:xfrm>
            <a:off x="8801100" y="3048000"/>
            <a:ext cx="2819400" cy="9083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Гипертрофия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Диастолическая дисфункция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Апоптоз и фиброз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465320"/>
            <a:ext cx="11064240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7B70"/>
                </a:solidFill>
                <a:latin typeface="Arial Narrow"/>
                <a:cs typeface="Arial Narrow"/>
              </a:rPr>
              <a:t>Общие для обоих органов процессы: окислительный стресс и воспаление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815084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red_0.57"/>
          <p:cNvSpPr txBox="1"/>
          <p:nvPr/>
        </p:nvSpPr>
        <p:spPr>
          <a:xfrm>
            <a:off x="521207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Усиленное образование цитокинов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72287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hared_3.75"/>
          <p:cNvSpPr txBox="1"/>
          <p:nvPr/>
        </p:nvSpPr>
        <p:spPr>
          <a:xfrm>
            <a:off x="3429000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баланса оксида азота и активных форм кислорода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0323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hared_6.93"/>
          <p:cNvSpPr txBox="1"/>
          <p:nvPr/>
        </p:nvSpPr>
        <p:spPr>
          <a:xfrm>
            <a:off x="6336792" y="5251704"/>
            <a:ext cx="2532888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функции митохондрий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78440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hared_10.05"/>
          <p:cNvSpPr txBox="1"/>
          <p:nvPr/>
        </p:nvSpPr>
        <p:spPr>
          <a:xfrm>
            <a:off x="9189720" y="5251704"/>
            <a:ext cx="2377440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Дисфункция эндотелия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815084" y="4968240"/>
            <a:ext cx="8563356" cy="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80760" y="4785360"/>
            <a:ext cx="0" cy="18288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317" y="2834640"/>
            <a:ext cx="688493" cy="1046187"/>
          </a:xfrm>
          <a:prstGeom prst="rect">
            <a:avLst/>
          </a:prstGeom>
        </p:spPr>
      </p:pic>
      <p:pic>
        <p:nvPicPr>
          <p:cNvPr id="41" name="Сердце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23600" y="1905000"/>
            <a:ext cx="677639" cy="888422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 Ndumele CE, et al. Circulation. 2026;154:e50–e158.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6045200"/>
            <a:ext cx="10795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избыток альдостерона действует через минералокортикоидный рецептор, мишень финеренона (слайд 17). В местной инструкции нет показания при сердечной недостаточности.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Карточка_результат"/>
          <p:cNvSpPr/>
          <p:nvPr/>
        </p:nvSpPr>
        <p:spPr>
          <a:xfrm>
            <a:off x="7670800" y="2641600"/>
            <a:ext cx="3810000" cy="304800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CREDENCE: остаточный риск сохраняется и на фоне канаглифлозина</a:t>
            </a:r>
          </a:p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457200" y="1028700"/>
            <a:ext cx="108966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Остаточным называют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457200" y="1485900"/>
            <a:ext cx="108966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4401 пациент с диабетом 2 типа, хронической болезнью почек и выраженной альбуминурией.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канаглифлозин или плацебо; все получали ингибитор АПФ или БРА.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терминальная почечная недостаточность, удвоение креатинина или смерть от почечных или сердечно-сосудистых причин.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457200" y="2533650"/>
          <a:ext cx="6896100" cy="2781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768600"/>
            <a:ext cx="35052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0,70</a:t>
            </a:r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3124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 доверительный интервал 0,59–0,82.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Риск ниже на 30%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(относительное снижение).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3886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2,62 года.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Доли рассчитаны за весь период исследования.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4648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Остаточный риск: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первичный исход был у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11,1%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пациентов в группе канаглифлозина.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457200" y="5740400"/>
            <a:ext cx="108966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в CREDENCE не изучался. В объединённом анализе FIDELITY ингибиторы НГЛТ2 исходно получали 6,7% пациентов; в этой подгруппе эффект финеренона был сходным с общим, но это анализ подгруппы, и отдельного исследования исходов для комбинации нет. Результаты разных исследований напрямую не сравнивают.</a:t>
            </a:r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Perkovic V, et al. N Engl J Med. 2019;380:2295–2306. Agarwal R, et al. Eur Heart J. 2022;43:474–484.</a:t>
            </a:r>
          </a:p>
        </p:txBody>
      </p:sp>
      <p:pic>
        <p:nvPicPr>
          <p:cNvPr id="1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Рамка_группа_4"/>
          <p:cNvSpPr/>
          <p:nvPr/>
        </p:nvSpPr>
        <p:spPr>
          <a:xfrm>
            <a:off x="3022600" y="45593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0F9ED5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8" name="Рамка_группа_3"/>
          <p:cNvSpPr/>
          <p:nvPr/>
        </p:nvSpPr>
        <p:spPr>
          <a:xfrm>
            <a:off x="3022600" y="32766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7" name="Рамка_группа_2"/>
          <p:cNvSpPr/>
          <p:nvPr/>
        </p:nvSpPr>
        <p:spPr>
          <a:xfrm>
            <a:off x="3022600" y="19939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96B24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6" name="Рамка_группа_1"/>
          <p:cNvSpPr/>
          <p:nvPr/>
        </p:nvSpPr>
        <p:spPr>
          <a:xfrm>
            <a:off x="3022600" y="7112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5608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Четыре группы препаратов для защиты почек при сахарном диабете 2 типа</a:t>
            </a:r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7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579326" y="793619"/>
            <a:ext cx="8155474" cy="21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>Ингибиторы АПФ или блокаторы рецепторов ангиотензина II (БРА)</a:t>
            </a:r>
            <a:r>
              <a:rPr sz="1600" b="1" u="none" dirty="0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3111500" y="10287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АПФ или рецептор ангиотензина II типа 1.</a:t>
            </a:r>
            <a:endParaRPr sz="1600" b="0" u="none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расширяют выносящую артериолу и снижают давление в клубочке.</a:t>
            </a:r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7112000" y="10287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 пациентов с альбуминурией.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3111500" y="16841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RENAAL (лозартан), IDNT (ирбесартан).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517900" y="20320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196B24"/>
                </a:solidFill>
                <a:latin typeface="Arial Narrow"/>
                <a:ea typeface="Calibri"/>
                <a:cs typeface="Arial Narrow"/>
              </a:rPr>
              <a:t>Ингибиторы натрий-глюкозного котранспортёра 2 типа (НГЛТ2)*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3111500" y="23114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НГЛТ2 проксимального канальца.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снижают возврат натрия и глюкозы в кровь.</a:t>
            </a: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7112000" y="23114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 и госпитализации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3111500" y="29668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 (канаглифлозин), DAPA-CKD (дапаглифлозин), EMPA-KIDNEY (эмпаглифлозин).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517900" y="33147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Нестероидный антагонист минералокортикоидного рецептора (МКР): финеренон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3111500" y="35941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МКР в почках, сердце и сосудах.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препятствует активации МКР (слайд 19).</a:t>
            </a:r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7112000" y="35941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сердечно-сосудистых событий.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3111500" y="42495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FIDELIO-DKD, FIGARO-DKD и их объединённый анализ FIDELITY, все на фоне ингибитора АПФ или БРА.</a:t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ellipse">
            <a:avLst/>
          </a:prstGeom>
          <a:solidFill>
            <a:srgbClr val="0F9ED5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517900" y="45974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0F9ED5"/>
                </a:solidFill>
                <a:latin typeface="Arial Narrow"/>
                <a:ea typeface="Calibri"/>
                <a:cs typeface="Arial Narrow"/>
              </a:rPr>
              <a:t>Агонисты рецептора глюкагоноподобного пептида-1 (ГПП-1)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3111500" y="48768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рецептор ГПП-1.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улучшают контроль глюкозы и снижают массу тела.</a:t>
            </a:r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7112000" y="48768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семаглутид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 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сердечно-сосудистой смерти†.</a:t>
            </a:r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3111500" y="55322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FLOW (семаглутид).</a:t>
            </a:r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4318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Клеточные</a:t>
            </a:r>
            <a:r>
              <a:rPr sz="1800" b="1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мишени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разных</a:t>
            </a: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тканях</a:t>
            </a:r>
            <a:endParaRPr sz="1800" b="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58674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Общее правило:</a:t>
            </a:r>
            <a:r>
              <a:rPr sz="16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давление и гликемию контролируют у всех пациентов; препараты врач выбирает по рСКФ, альбуминурии и калию.</a:t>
            </a:r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3810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096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11430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9177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4318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4546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4800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4318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4546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4800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5226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5454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5708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5226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5454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5708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6134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6362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6616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6134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6362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6616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7042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7270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7524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7042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7270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7524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7950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8178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8432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7950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8178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8432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8858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9086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9340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8858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9086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9340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9766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9994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10248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9766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9994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10248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10674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10902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11156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10674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10902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11156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11582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1811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2065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11582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2065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2490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2719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2973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2490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2719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2973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3398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3627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3881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3398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3627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3881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4306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4535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4789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4306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4535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4789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5214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5443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5697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5214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5443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5697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6122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6351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6605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6122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6351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6605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7030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7259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7513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7030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7259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7513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821746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ellipse">
            <a:avLst/>
          </a:prstGeom>
          <a:solidFill>
            <a:srgbClr val="0F9ED5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6477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8542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мембране</a:t>
            </a:r>
          </a:p>
        </p:txBody>
      </p:sp>
      <p:cxnSp>
        <p:nvCxnSpPr>
          <p:cNvPr id="350" name="Указатель_маркер_1"/>
          <p:cNvCxnSpPr/>
          <p:nvPr/>
        </p:nvCxnSpPr>
        <p:spPr>
          <a:xfrm flipV="1">
            <a:off x="635000" y="1155700"/>
            <a:ext cx="203200" cy="50800"/>
          </a:xfrm>
          <a:prstGeom prst="line">
            <a:avLst/>
          </a:prstGeom>
          <a:ln w="15875">
            <a:solidFill>
              <a:srgbClr val="156082"/>
            </a:solidFill>
          </a:ln>
        </p:spPr>
      </p:cxnSp>
      <p:sp>
        <p:nvSpPr>
          <p:cNvPr id="79" name="Маркер_3_собирательная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Маркер_3_собирательная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cxnSp>
        <p:nvCxnSpPr>
          <p:cNvPr id="351" name="Указатель_маркер_3"/>
          <p:cNvCxnSpPr/>
          <p:nvPr/>
        </p:nvCxnSpPr>
        <p:spPr>
          <a:xfrm flipH="1">
            <a:off x="2438400" y="2489200"/>
            <a:ext cx="101600" cy="50800"/>
          </a:xfrm>
          <a:prstGeom prst="line">
            <a:avLst/>
          </a:prstGeom>
          <a:ln w="15875">
            <a:solidFill>
              <a:srgbClr val="7030A0"/>
            </a:solidFill>
          </a:ln>
        </p:spPr>
      </p:cxnSp>
      <p:sp>
        <p:nvSpPr>
          <p:cNvPr id="352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Раннее снижение рСКФ после начала приёма ингибитора НГЛТ2 обычно обратимо; выраженное снижение требует оценки врача. † FLOW: почечная недостаточность, устойчивое снижение рСКФ на ≥50% либо смерть от почечных или сердечно-сосудистых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Ozempic (semaglutide). US Prescribing Information. Perkovic V, et al. N Engl J Med. 2024;391:109–121. Servier Medical Art, CC BY 4.0.</a:t>
            </a:r>
          </a:p>
        </p:txBody>
      </p:sp>
      <p:pic>
        <p:nvPicPr>
          <p:cNvPr id="353" name="Логотип Орвилле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Минералокортикоидный рецептор регулирует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реабсорбцию натрия и секрецию калия</a:t>
            </a:r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D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&#10;трубочки"/>
          <p:cNvSpPr txBox="1"/>
          <p:nvPr/>
        </p:nvSpPr>
        <p:spPr>
          <a:xfrm>
            <a:off x="521207" y="1252728"/>
            <a:ext cx="1682496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&#10;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со стороны крови</a:t>
            </a:r>
          </a:p>
        </p:txBody>
      </p:sp>
      <p:sp>
        <p:nvSpPr>
          <p:cNvPr id="8" name="Главная клетка: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: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: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C55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287C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&#10;рецептор"/>
          <p:cNvSpPr txBox="1"/>
          <p:nvPr/>
        </p:nvSpPr>
        <p:spPr>
          <a:xfrm>
            <a:off x="7031736" y="3182112"/>
            <a:ext cx="2048256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Минералокортикоидный</a:t>
            </a:r>
            <a:endParaRPr sz="1600" b="1" dirty="0">
              <a:solidFill>
                <a:srgbClr val="7851AD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рецептор (МКР)</a:t>
            </a:r>
            <a:endParaRPr sz="1600" b="1" dirty="0">
              <a:solidFill>
                <a:srgbClr val="7851AD"/>
              </a:solidFill>
              <a:latin typeface="Arial"/>
            </a:endParaRPr>
          </a:p>
        </p:txBody>
      </p:sp>
      <p:sp>
        <p:nvSpPr>
          <p:cNvPr id="245" name="Текст: Комплекс переходит&#10;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&#10;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Меняются синтез белков, число и активность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: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: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: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: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&#10;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2679700" y="4457700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E8DAC"/>
                </a:solidFill>
                <a:latin typeface="Arial Narrow"/>
                <a:cs typeface="Arial Narrow"/>
              </a:rPr>
              <a:t>Натриевый канал ENaC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2679700" y="5184648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C2752A"/>
                </a:solidFill>
                <a:latin typeface="Arial Narrow"/>
                <a:cs typeface="Arial Narrow"/>
              </a:rPr>
              <a:t>Калиевый канал ROMK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8DAC"/>
                </a:solidFill>
                <a:latin typeface="Arial Narrow"/>
                <a:cs typeface="Arial Narrow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370832"/>
            <a:ext cx="1271016" cy="4297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C2752A"/>
                </a:solidFill>
                <a:latin typeface="Arial Narrow"/>
                <a:cs typeface="Arial Narrow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752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341" name="Текст: Всасывание натрия создаёт условия для выделения "/>
          <p:cNvSpPr txBox="1"/>
          <p:nvPr/>
        </p:nvSpPr>
        <p:spPr>
          <a:xfrm>
            <a:off x="475488" y="6199632"/>
            <a:ext cx="10488168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Реабсорбция натрия создаёт электрическую движущую силу для секреции калия в просвет.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Энергозависимость натрий-калиевого насоса"/>
          <p:cNvSpPr txBox="1"/>
          <p:nvPr/>
        </p:nvSpPr>
        <p:spPr>
          <a:xfrm>
            <a:off x="6099048" y="5074920"/>
            <a:ext cx="2761488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Насос использует энергию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аденозинтрифосфата</a:t>
            </a:r>
          </a:p>
        </p:txBody>
      </p: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451100" y="4059936"/>
            <a:ext cx="1169924" cy="372364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Указатель_ENaC"/>
          <p:cNvCxnSpPr/>
          <p:nvPr/>
        </p:nvCxnSpPr>
        <p:spPr>
          <a:xfrm flipH="1">
            <a:off x="2413000" y="4584700"/>
            <a:ext cx="254000" cy="50800"/>
          </a:xfrm>
          <a:prstGeom prst="line">
            <a:avLst/>
          </a:prstGeom>
          <a:ln w="15875">
            <a:solidFill>
              <a:srgbClr val="0E8DAC"/>
            </a:solidFill>
          </a:ln>
        </p:spPr>
      </p:cxnSp>
      <p:cxnSp>
        <p:nvCxnSpPr>
          <p:cNvPr id="352" name="Указатель_ROMK"/>
          <p:cNvCxnSpPr/>
          <p:nvPr/>
        </p:nvCxnSpPr>
        <p:spPr>
          <a:xfrm flipH="1">
            <a:off x="2413000" y="5321300"/>
            <a:ext cx="254000" cy="63500"/>
          </a:xfrm>
          <a:prstGeom prst="line">
            <a:avLst/>
          </a:prstGeom>
          <a:ln w="15875">
            <a:solidFill>
              <a:srgbClr val="C2752A"/>
            </a:solidFill>
          </a:ln>
        </p:spPr>
      </p:cxnSp>
      <p:cxnSp>
        <p:nvCxnSpPr>
          <p:cNvPr id="353" name="Указатель_насос"/>
          <p:cNvCxnSpPr/>
          <p:nvPr/>
        </p:nvCxnSpPr>
        <p:spPr>
          <a:xfrm flipH="1">
            <a:off x="9499600" y="4267200"/>
            <a:ext cx="279400" cy="30480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35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ENaC: эпителиальный натриевый канал; ROMK: калиевый канал наружного мозгового вещества почки.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</a:p>
        </p:txBody>
      </p:sp>
      <p:pic>
        <p:nvPicPr>
          <p:cNvPr id="355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Избыточная активация минералокортикоидного рецептора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поддерживает воспаление и фиброз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2997200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244600" y="24597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31363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807208"/>
            <a:ext cx="219456" cy="301752"/>
          </a:xfrm>
          <a:prstGeom prst="line">
            <a:avLst/>
          </a:prstGeom>
          <a:ln w="13970">
            <a:solidFill>
              <a:srgbClr val="C79849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364992"/>
            <a:ext cx="640080" cy="0"/>
          </a:xfrm>
          <a:prstGeom prst="line">
            <a:avLst/>
          </a:prstGeom>
          <a:ln w="23495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7340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1488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6276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9202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32369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5295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2004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7673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7545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9492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3878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9986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4966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9675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4911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32607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7389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9575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4079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32104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5652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6603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9831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6813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5286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32634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6841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6018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33412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7792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5570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5734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7673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7837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8620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8620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43068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6451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Капилляр</a:t>
            </a:r>
          </a:p>
        </p:txBody>
      </p:sp>
      <p:sp>
        <p:nvSpPr>
          <p:cNvPr id="71" name="Воспаление"/>
          <p:cNvSpPr txBox="1"/>
          <p:nvPr/>
        </p:nvSpPr>
        <p:spPr>
          <a:xfrm>
            <a:off x="6455664" y="5047488"/>
            <a:ext cx="238658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" name="Приток и активация иммунных клеток."/>
          <p:cNvSpPr txBox="1"/>
          <p:nvPr/>
        </p:nvSpPr>
        <p:spPr>
          <a:xfrm>
            <a:off x="6455664" y="5477256"/>
            <a:ext cx="2514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Приток и активация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иммунных клеток.</a:t>
            </a:r>
          </a:p>
        </p:txBody>
      </p:sp>
      <p:sp>
        <p:nvSpPr>
          <p:cNvPr id="73" name="Фиброз"/>
          <p:cNvSpPr txBox="1"/>
          <p:nvPr/>
        </p:nvSpPr>
        <p:spPr>
          <a:xfrm>
            <a:off x="9180576" y="5047488"/>
            <a:ext cx="252374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</a:t>
            </a:r>
          </a:p>
        </p:txBody>
      </p:sp>
      <p:sp>
        <p:nvSpPr>
          <p:cNvPr id="74" name="Накопление матрикса между клетками."/>
          <p:cNvSpPr txBox="1"/>
          <p:nvPr/>
        </p:nvSpPr>
        <p:spPr>
          <a:xfrm>
            <a:off x="9180576" y="5477256"/>
            <a:ext cx="25603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Избыток матрикса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между клетками.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3563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воспаления и фиброза</a:t>
            </a:r>
          </a:p>
        </p:txBody>
      </p:sp>
      <p:cxnSp>
        <p:nvCxnSpPr>
          <p:cNvPr id="76" name="Связь клеточного сигнала с тканевым ответом"/>
          <p:cNvCxnSpPr/>
          <p:nvPr/>
        </p:nvCxnSpPr>
        <p:spPr>
          <a:xfrm>
            <a:off x="5724144" y="3273552"/>
            <a:ext cx="548640" cy="0"/>
          </a:xfrm>
          <a:prstGeom prst="line">
            <a:avLst/>
          </a:prstGeom>
          <a:ln w="21590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77" name="Тканевой ответ"/>
          <p:cNvSpPr txBox="1"/>
          <p:nvPr/>
        </p:nvSpPr>
        <p:spPr>
          <a:xfrm>
            <a:off x="5450840" y="2761488"/>
            <a:ext cx="1066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ответ</a:t>
            </a:r>
          </a:p>
        </p:txBody>
      </p:sp>
      <p:sp>
        <p:nvSpPr>
          <p:cNvPr id="78" name="При диабете и повреждении тканей сигнал рецептора может усиливаться. Ответ зависит от типа клетки и "/>
          <p:cNvSpPr txBox="1"/>
          <p:nvPr/>
        </p:nvSpPr>
        <p:spPr>
          <a:xfrm>
            <a:off x="508000" y="5461000"/>
            <a:ext cx="5588000" cy="4668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и повреждении тканей сигнал МКР может усиливаться. Ответ зависит от типа клетки и состояния ткани.</a:t>
            </a:r>
          </a:p>
        </p:txBody>
      </p:sp>
      <p:sp>
        <p:nvSpPr>
          <p:cNvPr id="79" name="Метка_фибробласты"/>
          <p:cNvSpPr txBox="1"/>
          <p:nvPr/>
        </p:nvSpPr>
        <p:spPr>
          <a:xfrm>
            <a:off x="10744200" y="2870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202020"/>
                </a:solidFill>
                <a:latin typeface="Arial Narrow"/>
                <a:cs typeface="Arial Narrow"/>
              </a:rPr>
              <a:t>Фибробласты</a:t>
            </a:r>
          </a:p>
        </p:txBody>
      </p:sp>
      <p:cxnSp>
        <p:nvCxnSpPr>
          <p:cNvPr id="80" name="Указатель_фибробласты"/>
          <p:cNvCxnSpPr/>
          <p:nvPr/>
        </p:nvCxnSpPr>
        <p:spPr>
          <a:xfrm flipH="1">
            <a:off x="10820400" y="3124200"/>
            <a:ext cx="254000" cy="5969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81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Grune J, et al. Hypertension. 2018;71:599–608. Droebner K, et al. Am J Nephrol. 2021;52:588–601. Kerendia (finerenone). Summary of Product Characteristics. EMA. Servier Medical Art, CC BY 4.0.</a:t>
            </a:r>
          </a:p>
        </p:txBody>
      </p:sp>
      <p:pic>
        <p:nvPicPr>
          <p:cNvPr id="82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3" name="Связь_с_финереноном"/>
          <p:cNvSpPr txBox="1"/>
          <p:nvPr/>
        </p:nvSpPr>
        <p:spPr>
          <a:xfrm>
            <a:off x="508000" y="6045200"/>
            <a:ext cx="11277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он препятствует активации МКР (слайд 19). Влияние на воспаление и фиброз показано только в доклинических исследованиях.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Карточка_польза"/>
          <p:cNvSpPr/>
          <p:nvPr/>
        </p:nvSpPr>
        <p:spPr>
          <a:xfrm>
            <a:off x="6299200" y="2032000"/>
            <a:ext cx="5422900" cy="185420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Карточка_калий"/>
          <p:cNvSpPr/>
          <p:nvPr/>
        </p:nvSpPr>
        <p:spPr>
          <a:xfrm>
            <a:off x="6299200" y="4495800"/>
            <a:ext cx="54229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препятствует активации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3136392"/>
            <a:ext cx="192024" cy="192024"/>
          </a:xfrm>
          <a:prstGeom prst="ellipse">
            <a:avLst/>
          </a:prstGeom>
          <a:solidFill>
            <a:srgbClr val="0087A5"/>
          </a:solidFill>
          <a:ln w="5080">
            <a:solidFill>
              <a:srgbClr val="006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4597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7A5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816352"/>
            <a:ext cx="219456" cy="292608"/>
          </a:xfrm>
          <a:prstGeom prst="line">
            <a:avLst/>
          </a:prstGeom>
          <a:ln w="16510">
            <a:solidFill>
              <a:srgbClr val="0087A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3649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3163824"/>
            <a:ext cx="0" cy="402336"/>
          </a:xfrm>
          <a:prstGeom prst="line">
            <a:avLst/>
          </a:prstGeom>
          <a:ln w="39370">
            <a:solidFill>
              <a:srgbClr val="0087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8900" y="4241800"/>
            <a:ext cx="3644900" cy="762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Сигналы воспаления и фиброза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ослабляются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(</a:t>
            </a: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доклинические данные</a:t>
            </a: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)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12064" y="5577840"/>
            <a:ext cx="5193792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Связывается с МКР внутри клетки.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477000" y="21082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при хронической болезни почек с альбуминурией и диабете 2 типа финеренон по сравнению с плацебо снижал риск почечных и сердечно-сосудистых событий на фоне стандартной терапии.</a:t>
            </a:r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477000" y="3479800"/>
            <a:ext cx="5080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Исследования: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FIDELIO-DKD, FIGARO-DKD, FIDELITY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477000" y="45720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блокада МКР может уменьшать секрецию калия в почечных канальцах.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сыворотки и функцию почек до начала и во время лечения.</a:t>
            </a:r>
          </a:p>
        </p:txBody>
      </p:sp>
      <p:sp>
        <p:nvSpPr>
          <p:cNvPr id="27" name="Полоса_польза"/>
          <p:cNvSpPr/>
          <p:nvPr/>
        </p:nvSpPr>
        <p:spPr>
          <a:xfrm>
            <a:off x="6299200" y="15748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Клиническая польза</a:t>
            </a:r>
          </a:p>
        </p:txBody>
      </p:sp>
      <p:sp>
        <p:nvSpPr>
          <p:cNvPr id="28" name="Полоса_калий"/>
          <p:cNvSpPr/>
          <p:nvPr/>
        </p:nvSpPr>
        <p:spPr>
          <a:xfrm>
            <a:off x="6299200" y="40386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Почему контролируют калий</a:t>
            </a:r>
          </a:p>
        </p:txBody>
      </p:sp>
      <p:sp>
        <p:nvSpPr>
          <p:cNvPr id="3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Agarwal R, et al. Eur Heart J. 2022;43:474–484. Kerendia (finerenone). Summary of Product Characteristics. EMA. Servier Medical Art, CC BY 4.0.</a:t>
            </a:r>
          </a:p>
        </p:txBody>
      </p:sp>
      <p:pic>
        <p:nvPicPr>
          <p:cNvPr id="32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Финеренон: два исследования III фазы и объединённый анализ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D3BDD7A-DCA9-4695-9FB4-DE30C4019C11}"/>
              </a:ext>
            </a:extLst>
          </p:cNvPr>
          <p:cNvSpPr>
            <a:spLocks noGrp="1"/>
          </p:cNvSpPr>
          <p:nvPr/>
        </p:nvSpPr>
        <p:spPr>
          <a:xfrm>
            <a:off x="457200" y="1092200"/>
            <a:ext cx="3505200" cy="2381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пациенты с хронической болезнью почек, сахарным диабетом 2 типа и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стандартной терапии, включая ингибитор АПФ или БРА в максимально переносимой дозе.</a:t>
            </a:r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920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2C71A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71A4"/>
                </a:solidFill>
                <a:latin typeface="Arial Narrow"/>
                <a:ea typeface="Arial"/>
                <a:cs typeface="Arial Narrow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920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EA7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EA72E"/>
                </a:solidFill>
                <a:latin typeface="Arial Narrow"/>
                <a:ea typeface="Arial"/>
                <a:cs typeface="Arial Narrow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1301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5734 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1301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7437 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1616075"/>
            <a:ext cx="3619500" cy="95"/>
          </a:xfrm>
          <a:prstGeom prst="line">
            <a:avLst/>
          </a:prstGeom>
          <a:noFill/>
          <a:ln w="17145">
            <a:solidFill>
              <a:srgbClr val="2C71A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1616075"/>
            <a:ext cx="3619500" cy="95"/>
          </a:xfrm>
          <a:prstGeom prst="line">
            <a:avLst/>
          </a:prstGeom>
          <a:noFill/>
          <a:ln w="17145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457186" y="1797050"/>
            <a:ext cx="626837" cy="9525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382000" y="1787660"/>
            <a:ext cx="726514" cy="952500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2187575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почечный исход</a:t>
            </a:r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2054225"/>
            <a:ext cx="228600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исход</a:t>
            </a:r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9146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≥40%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9146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сердечной недостаточности.</a:t>
            </a:r>
          </a:p>
        </p:txBody>
      </p:sp>
      <p:sp>
        <p:nvSpPr>
          <p:cNvPr id="21" name="fidelio_secondary">
            <a:extLst>
              <a:ext uri="{FF2B5EF4-FFF2-40B4-BE49-F238E27FC236}">
                <a16:creationId xmlns:a16="http://schemas.microsoft.com/office/drawing/2014/main" id="{AE5808A7-ADFC-45BC-92B0-53F19A8E073C}"/>
              </a:ext>
            </a:extLst>
          </p:cNvPr>
          <p:cNvSpPr>
            <a:spLocks noGrp="1"/>
          </p:cNvSpPr>
          <p:nvPr/>
        </p:nvSpPr>
        <p:spPr>
          <a:xfrm>
            <a:off x="4267200" y="4181475"/>
            <a:ext cx="3619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</p:txBody>
      </p:sp>
      <p:sp>
        <p:nvSpPr>
          <p:cNvPr id="22" name="figaro_secondary">
            <a:extLst>
              <a:ext uri="{FF2B5EF4-FFF2-40B4-BE49-F238E27FC236}">
                <a16:creationId xmlns:a16="http://schemas.microsoft.com/office/drawing/2014/main" id="{DD4720F7-D30A-4E03-B9EC-7D5EFE3ADD31}"/>
              </a:ext>
            </a:extLst>
          </p:cNvPr>
          <p:cNvSpPr>
            <a:spLocks noGrp="1"/>
          </p:cNvSpPr>
          <p:nvPr/>
        </p:nvSpPr>
        <p:spPr>
          <a:xfrm>
            <a:off x="8229600" y="4181475"/>
            <a:ext cx="3714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почечный, как в FIDELIO-DKD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7148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714875"/>
            <a:ext cx="95" cy="762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8387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8672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13 026 пациентов в анализе из 13 171 рандомизированного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51625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объединённый анализ индивидуальных данных.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Основные исходы: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сердечно-сосудистый, как в FIGARO-DKD, и почечный, как в FIDELIO-DKD, но с устойчивым снижением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31" name="safety_outcome">
            <a:extLst>
              <a:ext uri="{FF2B5EF4-FFF2-40B4-BE49-F238E27FC236}">
                <a16:creationId xmlns:a16="http://schemas.microsoft.com/office/drawing/2014/main" id="{12C2A5CE-F011-47AF-88AE-1A5F5184FE05}"/>
              </a:ext>
            </a:extLst>
          </p:cNvPr>
          <p:cNvSpPr>
            <a:spLocks noGrp="1"/>
          </p:cNvSpPr>
          <p:nvPr/>
        </p:nvSpPr>
        <p:spPr>
          <a:xfrm>
            <a:off x="4267200" y="589280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(повышение калия сыворотки).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Servier Medical Art, CC BY 4.0.</a:t>
            </a:r>
          </a:p>
        </p:txBody>
      </p:sp>
      <p:pic>
        <p:nvPicPr>
          <p:cNvPr id="4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FIDELIO-DKD: относительное снижение риска комбинированного почечного исхода на 18%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5674 пациента в анализе (5734 рандомизированы). Хроническая болезнь почек и сахарный диабет 2 типа; преимущественно 3–4-я стадия болезни почек с выраженной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почечная недостаточность, снижение рСКФ на ≥40%, 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1343025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1752600" y="4844513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1343025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1752600" y="4077714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1343025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1752600" y="3310916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1343025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1752600" y="2544117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1343025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1752600" y="5611311"/>
            <a:ext cx="51816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17526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15335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24003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21812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3048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2828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36957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34766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43434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41243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4991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4772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56388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54197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62865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60674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60" name="event_fractions_label">
            <a:extLst>
              <a:ext uri="{FF2B5EF4-FFF2-40B4-BE49-F238E27FC236}">
                <a16:creationId xmlns:a16="http://schemas.microsoft.com/office/drawing/2014/main" id="{B0CF027E-DF88-41D6-9148-D63E9C198859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событием за время исследования</a:t>
            </a:r>
          </a:p>
        </p:txBody>
      </p:sp>
      <p:sp>
        <p:nvSpPr>
          <p:cNvPr id="61" name="finerenone_event_rate">
            <a:extLst>
              <a:ext uri="{FF2B5EF4-FFF2-40B4-BE49-F238E27FC236}">
                <a16:creationId xmlns:a16="http://schemas.microsoft.com/office/drawing/2014/main" id="{F22F5369-D7E6-4375-8CE9-003BE0159F67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17,8%</a:t>
            </a:r>
          </a:p>
        </p:txBody>
      </p:sp>
      <p:sp>
        <p:nvSpPr>
          <p:cNvPr id="62" name="placebo_event_rate">
            <a:extLst>
              <a:ext uri="{FF2B5EF4-FFF2-40B4-BE49-F238E27FC236}">
                <a16:creationId xmlns:a16="http://schemas.microsoft.com/office/drawing/2014/main" id="{874EED97-88B7-4E02-9C74-5AEDE7378910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21,1%</a:t>
            </a:r>
          </a:p>
        </p:txBody>
      </p:sp>
      <p:sp>
        <p:nvSpPr>
          <p:cNvPr id="63" name="finerenone_group">
            <a:extLst>
              <a:ext uri="{FF2B5EF4-FFF2-40B4-BE49-F238E27FC236}">
                <a16:creationId xmlns:a16="http://schemas.microsoft.com/office/drawing/2014/main" id="{FA221C3A-5F9B-49FD-B3A8-56CFA84F975D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4" name="placebo_group">
            <a:extLst>
              <a:ext uri="{FF2B5EF4-FFF2-40B4-BE49-F238E27FC236}">
                <a16:creationId xmlns:a16="http://schemas.microsoft.com/office/drawing/2014/main" id="{8A258009-4B6D-4B47-B1A5-EB2EF3B1A78A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5" name="hazard_ratio">
            <a:extLst>
              <a:ext uri="{FF2B5EF4-FFF2-40B4-BE49-F238E27FC236}">
                <a16:creationId xmlns:a16="http://schemas.microsoft.com/office/drawing/2014/main" id="{CF8CD935-2662-4030-8038-D375C88EF467}"/>
              </a:ext>
            </a:extLst>
          </p:cNvPr>
          <p:cNvSpPr>
            <a:spLocks noGrp="1"/>
          </p:cNvSpPr>
          <p:nvPr/>
        </p:nvSpPr>
        <p:spPr>
          <a:xfrm>
            <a:off x="7600950" y="3286125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0,82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 ДИ 0,73–0,93),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p=0,001; риск ниже на 18% (относительное снижение).</a:t>
            </a:r>
          </a:p>
        </p:txBody>
      </p:sp>
      <p:sp>
        <p:nvSpPr>
          <p:cNvPr id="66" name="nnt">
            <a:extLst>
              <a:ext uri="{FF2B5EF4-FFF2-40B4-BE49-F238E27FC236}">
                <a16:creationId xmlns:a16="http://schemas.microsoft.com/office/drawing/2014/main" id="{7CBFB35D-2436-4060-A339-A64AF1516C1F}"/>
              </a:ext>
            </a:extLst>
          </p:cNvPr>
          <p:cNvSpPr>
            <a:spLocks noGrp="1"/>
          </p:cNvSpPr>
          <p:nvPr/>
        </p:nvSpPr>
        <p:spPr>
          <a:xfrm>
            <a:off x="7600950" y="38195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29 пациентов (95% ДИ 16–166).</a:t>
            </a:r>
          </a:p>
        </p:txBody>
      </p:sp>
      <p:sp>
        <p:nvSpPr>
          <p:cNvPr id="68" name="hyperkalemia">
            <a:extLst>
              <a:ext uri="{FF2B5EF4-FFF2-40B4-BE49-F238E27FC236}">
                <a16:creationId xmlns:a16="http://schemas.microsoft.com/office/drawing/2014/main" id="{B149BF01-B64E-4F46-AA83-1474DECB5580}"/>
              </a:ext>
            </a:extLst>
          </p:cNvPr>
          <p:cNvSpPr>
            <a:spLocks noGrp="1"/>
          </p:cNvSpPr>
          <p:nvPr/>
        </p:nvSpPr>
        <p:spPr>
          <a:xfrm>
            <a:off x="7600950" y="4368800"/>
            <a:ext cx="4124325" cy="1041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18,3%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9,0%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2,3%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Гиперкалиемии со смертельным исходом не было.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</a:t>
            </a:r>
          </a:p>
        </p:txBody>
      </p:sp>
      <p:pic>
        <p:nvPicPr>
          <p:cNvPr id="1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FIGARO-DKD: относительное снижение риска комбинированного сердечно-сосудистого исхода на 13%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7352 пациента в анализе (7437 рандомизированы). Хроническая болезнь почек и сахарный диабет 2 типа; диапазон функции почек шире, чем в FIDELIO-DKD.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3,4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1657350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1282700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1657350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1282700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1657350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1282700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1657350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1282700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1657350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1282700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5229225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17049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14859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2286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2066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28670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26479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34480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32289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40290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38100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4610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4391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51911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49720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57721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55530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63531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61341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62" name="event_fractions_label">
            <a:extLst>
              <a:ext uri="{FF2B5EF4-FFF2-40B4-BE49-F238E27FC236}">
                <a16:creationId xmlns:a16="http://schemas.microsoft.com/office/drawing/2014/main" id="{A7377125-048A-4CF1-AE56-9594E5E80A48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событием за время исследования</a:t>
            </a:r>
          </a:p>
        </p:txBody>
      </p:sp>
      <p:sp>
        <p:nvSpPr>
          <p:cNvPr id="63" name="finerenone_event_rate">
            <a:extLst>
              <a:ext uri="{FF2B5EF4-FFF2-40B4-BE49-F238E27FC236}">
                <a16:creationId xmlns:a16="http://schemas.microsoft.com/office/drawing/2014/main" id="{4C8B5220-FBDE-4E96-8A17-8634801F7E1C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12,4%</a:t>
            </a:r>
          </a:p>
        </p:txBody>
      </p:sp>
      <p:sp>
        <p:nvSpPr>
          <p:cNvPr id="64" name="placebo_event_rate">
            <a:extLst>
              <a:ext uri="{FF2B5EF4-FFF2-40B4-BE49-F238E27FC236}">
                <a16:creationId xmlns:a16="http://schemas.microsoft.com/office/drawing/2014/main" id="{8E1FDBA0-8026-4B4F-B718-84E467B52D13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14,2%</a:t>
            </a:r>
          </a:p>
        </p:txBody>
      </p:sp>
      <p:sp>
        <p:nvSpPr>
          <p:cNvPr id="65" name="finerenone_group">
            <a:extLst>
              <a:ext uri="{FF2B5EF4-FFF2-40B4-BE49-F238E27FC236}">
                <a16:creationId xmlns:a16="http://schemas.microsoft.com/office/drawing/2014/main" id="{D8572532-8C3D-4D72-AF63-345DFE4C5F02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6" name="placebo_group">
            <a:extLst>
              <a:ext uri="{FF2B5EF4-FFF2-40B4-BE49-F238E27FC236}">
                <a16:creationId xmlns:a16="http://schemas.microsoft.com/office/drawing/2014/main" id="{08340018-F9A7-4539-A722-18B4618BDDE2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7" name="hazard_ratio">
            <a:extLst>
              <a:ext uri="{FF2B5EF4-FFF2-40B4-BE49-F238E27FC236}">
                <a16:creationId xmlns:a16="http://schemas.microsoft.com/office/drawing/2014/main" id="{9EDC416F-AA55-4367-B233-F9559A7A0D4B}"/>
              </a:ext>
            </a:extLst>
          </p:cNvPr>
          <p:cNvSpPr>
            <a:spLocks noGrp="1"/>
          </p:cNvSpPr>
          <p:nvPr/>
        </p:nvSpPr>
        <p:spPr>
          <a:xfrm>
            <a:off x="7600950" y="3251200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0,87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 ДИ 0,76–0,98),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p=0,03; риск ниже на 13% (относительное снижение).</a:t>
            </a:r>
          </a:p>
        </p:txBody>
      </p:sp>
      <p:sp>
        <p:nvSpPr>
          <p:cNvPr id="68" name="nnt">
            <a:extLst>
              <a:ext uri="{FF2B5EF4-FFF2-40B4-BE49-F238E27FC236}">
                <a16:creationId xmlns:a16="http://schemas.microsoft.com/office/drawing/2014/main" id="{3C50FABC-966A-4988-8181-FB2DE8D37580}"/>
              </a:ext>
            </a:extLst>
          </p:cNvPr>
          <p:cNvSpPr>
            <a:spLocks noGrp="1"/>
          </p:cNvSpPr>
          <p:nvPr/>
        </p:nvSpPr>
        <p:spPr>
          <a:xfrm>
            <a:off x="7600950" y="3784600"/>
            <a:ext cx="4124325" cy="44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 событие за 3,5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47 пациентов (95% ДИ 26–226).</a:t>
            </a:r>
          </a:p>
        </p:txBody>
      </p:sp>
      <p:sp>
        <p:nvSpPr>
          <p:cNvPr id="69" name="heart_failure_result">
            <a:extLst>
              <a:ext uri="{FF2B5EF4-FFF2-40B4-BE49-F238E27FC236}">
                <a16:creationId xmlns:a16="http://schemas.microsoft.com/office/drawing/2014/main" id="{0C0B3ABD-4C7C-4E35-BF61-8953C2AD995E}"/>
              </a:ext>
            </a:extLst>
          </p:cNvPr>
          <p:cNvSpPr>
            <a:spLocks noGrp="1"/>
          </p:cNvSpPr>
          <p:nvPr/>
        </p:nvSpPr>
        <p:spPr>
          <a:xfrm>
            <a:off x="7600950" y="4318000"/>
            <a:ext cx="4124325" cy="1244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в основном за счёт госпитализаций по поводу сердечной недостаточности: отношение рисков 0,71 (95% ДИ 0,56–0,90).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снижение других компонентов не доказано. В местной инструкции нет показания при сердечной недостаточности.</a:t>
            </a:r>
          </a:p>
        </p:txBody>
      </p:sp>
      <p:sp>
        <p:nvSpPr>
          <p:cNvPr id="71" name="hyperkalemia">
            <a:extLst>
              <a:ext uri="{FF2B5EF4-FFF2-40B4-BE49-F238E27FC236}">
                <a16:creationId xmlns:a16="http://schemas.microsoft.com/office/drawing/2014/main" id="{99FC6011-1B92-4CF4-ACE5-7BFB9A003DD4}"/>
              </a:ext>
            </a:extLst>
          </p:cNvPr>
          <p:cNvSpPr>
            <a:spLocks noGrp="1"/>
          </p:cNvSpPr>
          <p:nvPr/>
        </p:nvSpPr>
        <p:spPr>
          <a:xfrm>
            <a:off x="7600950" y="5588000"/>
            <a:ext cx="4124325" cy="660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10,8%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5,3%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1,2%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N Engl J Med. 2021;385:2252–2263.</a:t>
            </a:r>
          </a:p>
        </p:txBody>
      </p:sp>
      <p:pic>
        <p:nvPicPr>
          <p:cNvPr id="12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относительное снижение риска сердечно-сосудистого исхода на 14% и почечного на 23%</a:t>
            </a:r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635000"/>
            <a:ext cx="11277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 из FIDELIO-DKD и FIGARO-DKD.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3,0 года. Объединённый анализ индивидуальных данных, запланированный заранее.</a:t>
            </a:r>
          </a:p>
        </p:txBody>
      </p:sp>
      <p:sp>
        <p:nvSpPr>
          <p:cNvPr id="24" name="cv_heading">
            <a:extLst>
              <a:ext uri="{FF2B5EF4-FFF2-40B4-BE49-F238E27FC236}">
                <a16:creationId xmlns:a16="http://schemas.microsoft.com/office/drawing/2014/main" id="{0ADCD665-9F89-4F32-80D1-2821F7779FEC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сердечно-сосудистый исход</a:t>
            </a:r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 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 или госпитализация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4572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17240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13716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17716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17240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13716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17716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17240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13716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17716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17240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13716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17716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17240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13716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17716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17240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13716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17716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1771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1571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2152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952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2647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2447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3143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943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638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3438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4133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933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629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429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5124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924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6197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4197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8097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21050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35814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8766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17716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75" name="cv_event_fractions">
            <a:extLst>
              <a:ext uri="{FF2B5EF4-FFF2-40B4-BE49-F238E27FC236}">
                <a16:creationId xmlns:a16="http://schemas.microsoft.com/office/drawing/2014/main" id="{168BC4AA-0A2F-45B9-8F22-8787BDBC6585}"/>
              </a:ext>
            </a:extLst>
          </p:cNvPr>
          <p:cNvSpPr>
            <a:spLocks noGrp="1"/>
          </p:cNvSpPr>
          <p:nvPr/>
        </p:nvSpPr>
        <p:spPr>
          <a:xfrm>
            <a:off x="4572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12,7%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14,4%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76" name="cv_hazard_ratio">
            <a:extLst>
              <a:ext uri="{FF2B5EF4-FFF2-40B4-BE49-F238E27FC236}">
                <a16:creationId xmlns:a16="http://schemas.microsoft.com/office/drawing/2014/main" id="{52124178-3DA0-4FC0-9E59-7760B978ABD0}"/>
              </a:ext>
            </a:extLst>
          </p:cNvPr>
          <p:cNvSpPr>
            <a:spLocks noGrp="1"/>
          </p:cNvSpPr>
          <p:nvPr/>
        </p:nvSpPr>
        <p:spPr>
          <a:xfrm>
            <a:off x="4572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0,86 (95% ДИ 0,78–0,95), p=0,0018.</a:t>
            </a:r>
          </a:p>
        </p:txBody>
      </p:sp>
      <p:sp>
        <p:nvSpPr>
          <p:cNvPr id="77" name="cv_nnt">
            <a:extLst>
              <a:ext uri="{FF2B5EF4-FFF2-40B4-BE49-F238E27FC236}">
                <a16:creationId xmlns:a16="http://schemas.microsoft.com/office/drawing/2014/main" id="{85C5D3CA-C4AC-4E68-A5DC-C86E7835FF0A}"/>
              </a:ext>
            </a:extLst>
          </p:cNvPr>
          <p:cNvSpPr>
            <a:spLocks noGrp="1"/>
          </p:cNvSpPr>
          <p:nvPr/>
        </p:nvSpPr>
        <p:spPr>
          <a:xfrm>
            <a:off x="4572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46 пациентов (95% ДИ 29–109).</a:t>
            </a:r>
          </a:p>
        </p:txBody>
      </p:sp>
      <p:sp>
        <p:nvSpPr>
          <p:cNvPr id="78" name="renal_heading">
            <a:extLst>
              <a:ext uri="{FF2B5EF4-FFF2-40B4-BE49-F238E27FC236}">
                <a16:creationId xmlns:a16="http://schemas.microsoft.com/office/drawing/2014/main" id="{689CEAD6-7766-44EB-A47E-AF844E60B13D}"/>
              </a:ext>
            </a:extLst>
          </p:cNvPr>
          <p:cNvSpPr>
            <a:spLocks noGrp="1"/>
          </p:cNvSpPr>
          <p:nvPr/>
        </p:nvSpPr>
        <p:spPr>
          <a:xfrm>
            <a:off x="63246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почечный исход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246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 снижение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246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75914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72390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76390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75914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72390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76390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75914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72390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76390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75914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72390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76390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75914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72390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76390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75914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72390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76390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76390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74390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81343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9343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8629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8429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9124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924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620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9420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10115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915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610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410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1106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906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601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401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77914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80867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95631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98583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76390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129" name="renal_event_fractions">
            <a:extLst>
              <a:ext uri="{FF2B5EF4-FFF2-40B4-BE49-F238E27FC236}">
                <a16:creationId xmlns:a16="http://schemas.microsoft.com/office/drawing/2014/main" id="{BAB6A7B4-6CC5-4673-A6AE-A88D1A0D2C22}"/>
              </a:ext>
            </a:extLst>
          </p:cNvPr>
          <p:cNvSpPr>
            <a:spLocks noGrp="1"/>
          </p:cNvSpPr>
          <p:nvPr/>
        </p:nvSpPr>
        <p:spPr>
          <a:xfrm>
            <a:off x="63246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5,5%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7,1%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130" name="renal_hazard_ratio">
            <a:extLst>
              <a:ext uri="{FF2B5EF4-FFF2-40B4-BE49-F238E27FC236}">
                <a16:creationId xmlns:a16="http://schemas.microsoft.com/office/drawing/2014/main" id="{0CADD6F6-8510-4B47-90ED-64BBF8C33176}"/>
              </a:ext>
            </a:extLst>
          </p:cNvPr>
          <p:cNvSpPr>
            <a:spLocks noGrp="1"/>
          </p:cNvSpPr>
          <p:nvPr/>
        </p:nvSpPr>
        <p:spPr>
          <a:xfrm>
            <a:off x="63246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 ДИ 0,67–0,88), p=0,0002.</a:t>
            </a:r>
          </a:p>
        </p:txBody>
      </p:sp>
      <p:sp>
        <p:nvSpPr>
          <p:cNvPr id="131" name="renal_nnt">
            <a:extLst>
              <a:ext uri="{FF2B5EF4-FFF2-40B4-BE49-F238E27FC236}">
                <a16:creationId xmlns:a16="http://schemas.microsoft.com/office/drawing/2014/main" id="{FD3BFCA1-62EF-43D1-BAA8-C42D1C2EC9E7}"/>
              </a:ext>
            </a:extLst>
          </p:cNvPr>
          <p:cNvSpPr>
            <a:spLocks noGrp="1"/>
          </p:cNvSpPr>
          <p:nvPr/>
        </p:nvSpPr>
        <p:spPr>
          <a:xfrm>
            <a:off x="63246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60 пациентов (95% ДИ 38–142).</a:t>
            </a:r>
          </a:p>
        </p:txBody>
      </p:sp>
      <p:sp>
        <p:nvSpPr>
          <p:cNvPr id="132" name="column_separator">
            <a:extLst>
              <a:ext uri="{FF2B5EF4-FFF2-40B4-BE49-F238E27FC236}">
                <a16:creationId xmlns:a16="http://schemas.microsoft.com/office/drawing/2014/main" id="{B90D2C8F-1C47-48B5-B6DD-8BF8C24ED20B}"/>
              </a:ext>
            </a:extLst>
          </p:cNvPr>
          <p:cNvSpPr>
            <a:spLocks noGrp="1"/>
          </p:cNvSpPr>
          <p:nvPr/>
        </p:nvSpPr>
        <p:spPr>
          <a:xfrm>
            <a:off x="6076950" y="1133475"/>
            <a:ext cx="95" cy="4781550"/>
          </a:xfrm>
          <a:prstGeom prst="line">
            <a:avLst/>
          </a:prstGeom>
          <a:noFill/>
          <a:ln w="9525">
            <a:solidFill>
              <a:srgbClr val="D9E0E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context_and_safety">
            <a:extLst>
              <a:ext uri="{FF2B5EF4-FFF2-40B4-BE49-F238E27FC236}">
                <a16:creationId xmlns:a16="http://schemas.microsoft.com/office/drawing/2014/main" id="{671FE087-2D5B-492C-911B-4190A75E25C6}"/>
              </a:ext>
            </a:extLst>
          </p:cNvPr>
          <p:cNvSpPr>
            <a:spLocks noGrp="1"/>
          </p:cNvSpPr>
          <p:nvPr/>
        </p:nvSpPr>
        <p:spPr>
          <a:xfrm>
            <a:off x="457200" y="5994400"/>
            <a:ext cx="11506200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Абсолютная разница за 3 года: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2,2% (сердечно-сосудистый исход) и 1,7% (почечный); относительное снижение риска 14% и 23%.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14,0%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6,9%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окончательная отмена из-за неё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0,6%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 (CC BY-NC 4.0).</a:t>
            </a:r>
          </a:p>
        </p:txBody>
      </p:sp>
      <p:pic>
        <p:nvPicPr>
          <p:cNvPr id="24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к 4-му месяцу АКО в группе финеренона на 32% ниже, чем в группе плацебо</a:t>
            </a:r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457200" y="781050"/>
            <a:ext cx="10896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типа.</a:t>
            </a:r>
          </a:p>
        </p:txBody>
      </p:sp>
      <p:sp>
        <p:nvSpPr>
          <p:cNvPr id="15" name="background_therapy">
            <a:extLst>
              <a:ext uri="{FF2B5EF4-FFF2-40B4-BE49-F238E27FC236}">
                <a16:creationId xmlns:a16="http://schemas.microsoft.com/office/drawing/2014/main" id="{F5E99050-2F4D-41FE-94AE-D2D405B4F13A}"/>
              </a:ext>
            </a:extLst>
          </p:cNvPr>
          <p:cNvSpPr>
            <a:spLocks noGrp="1"/>
          </p:cNvSpPr>
          <p:nvPr/>
        </p:nvSpPr>
        <p:spPr>
          <a:xfrm>
            <a:off x="457200" y="1038225"/>
            <a:ext cx="108966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6" name="marker_definition">
            <a:extLst>
              <a:ext uri="{FF2B5EF4-FFF2-40B4-BE49-F238E27FC236}">
                <a16:creationId xmlns:a16="http://schemas.microsoft.com/office/drawing/2014/main" id="{BB9A799A-FA2C-4300-8D68-009749A397E1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АКО: отношение альбумина к креатинину мочи, показатель потери альбумина с мочой.</a:t>
            </a:r>
          </a:p>
        </p:txBody>
      </p:sp>
      <p:sp>
        <p:nvSpPr>
          <p:cNvPr id="17" name="left_heading">
            <a:extLst>
              <a:ext uri="{FF2B5EF4-FFF2-40B4-BE49-F238E27FC236}">
                <a16:creationId xmlns:a16="http://schemas.microsoft.com/office/drawing/2014/main" id="{929E3DDB-26C0-492A-A72C-2B7416440FEC}"/>
              </a:ext>
            </a:extLst>
          </p:cNvPr>
          <p:cNvSpPr>
            <a:spLocks noGrp="1"/>
          </p:cNvSpPr>
          <p:nvPr/>
        </p:nvSpPr>
        <p:spPr>
          <a:xfrm>
            <a:off x="457200" y="19050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снижение АКО по сравнению с плацебо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 4-му месяцу:</a:t>
            </a:r>
          </a:p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457200" y="24384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−32%</a:t>
            </a:r>
          </a:p>
        </p:txBody>
      </p:sp>
      <p:sp>
        <p:nvSpPr>
          <p:cNvPr id="19" name="mean_change_explanation">
            <a:extLst>
              <a:ext uri="{FF2B5EF4-FFF2-40B4-BE49-F238E27FC236}">
                <a16:creationId xmlns:a16="http://schemas.microsoft.com/office/drawing/2014/main" id="{4CAB5978-13A9-4148-85A1-DAB8594BD3C6}"/>
              </a:ext>
            </a:extLst>
          </p:cNvPr>
          <p:cNvSpPr>
            <a:spLocks noGrp="1"/>
          </p:cNvSpPr>
          <p:nvPr/>
        </p:nvSpPr>
        <p:spPr>
          <a:xfrm>
            <a:off x="457200" y="2997200"/>
            <a:ext cx="4381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 поправкой на исходный уровень АКО.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457200" y="3327400"/>
            <a:ext cx="4381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изменений 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0,68 (95% ДИ 0,66–0,70).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857375"/>
          <a:ext cx="6819900" cy="2676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5425" y="4533900"/>
            <a:ext cx="6429375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пациентов, у которых АКО снизилось на ≥30%: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53,2%, плацебо 27,0% (дополнительный анализ, 12 512 пациентов).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457200" y="5095875"/>
            <a:ext cx="10896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АКО: ранний маркер эффекта лечения на уровне групп пациентов.</a:t>
            </a:r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457200" y="5476875"/>
            <a:ext cx="10896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 величине снижения АКО нельзя рассчитать, на сколько процентов снизится риск почечных и сердечно-сосудистых исходов у конкретного пациента.</a:t>
            </a:r>
          </a:p>
        </p:txBody>
      </p:sp>
      <p:sp>
        <p:nvSpPr>
          <p:cNvPr id="25" name="monitoring">
            <a:extLst>
              <a:ext uri="{FF2B5EF4-FFF2-40B4-BE49-F238E27FC236}">
                <a16:creationId xmlns:a16="http://schemas.microsoft.com/office/drawing/2014/main" id="{ADF8BE48-006B-4523-A1B5-116A24A19F99}"/>
              </a:ext>
            </a:extLst>
          </p:cNvPr>
          <p:cNvSpPr>
            <a:spLocks noGrp="1"/>
          </p:cNvSpPr>
          <p:nvPr/>
        </p:nvSpPr>
        <p:spPr>
          <a:xfrm>
            <a:off x="457200" y="6096000"/>
            <a:ext cx="10896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Функцию почек и калий продолжают контролировать.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Agarwal R, et al. Ann Intern Med. 2023;176:1606–1616. KDIGO 2024 Clinical Practice Guideline for CKD. Kidney Int. 2024;105(4S):S117–S314.</a:t>
            </a:r>
          </a:p>
        </p:txBody>
      </p:sp>
      <p:pic>
        <p:nvPicPr>
          <p:cNvPr id="3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CONFIDENCE: комбинация с эмпаглифлозином снижала альбуминурию сильнее монотерапии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F6583A90-277F-45E8-9290-F957410B2A23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в анализ эффективности вошли 800 пациентов с хронической болезнью почек и сахарным диабетом 2 типа; исследование II фазы.</a:t>
            </a:r>
          </a:p>
        </p:txBody>
      </p:sp>
      <p:sp>
        <p:nvSpPr>
          <p:cNvPr id="12" name="inclusion">
            <a:extLst>
              <a:ext uri="{FF2B5EF4-FFF2-40B4-BE49-F238E27FC236}">
                <a16:creationId xmlns:a16="http://schemas.microsoft.com/office/drawing/2014/main" id="{C8D3A62D-499F-45B9-B8FE-4D5E0D93A232}"/>
              </a:ext>
            </a:extLst>
          </p:cNvPr>
          <p:cNvSpPr>
            <a:spLocks noGrp="1"/>
          </p:cNvSpPr>
          <p:nvPr/>
        </p:nvSpPr>
        <p:spPr>
          <a:xfrm>
            <a:off x="457200" y="981075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30–90 мл/мин/1,73 м², АКО 100–5000 мг/г; фоновая терапия ингибитором АПФ или БРА по протоколу.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22D4A775-998D-47D3-AAD0-2DF0304EA94E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 180-му дню АКО при комбинации было ниже, чем при монотерапии финереноном (на 29%) и эмпаглифлозином (на 32%); в обоих случаях p&lt;0,001.</a:t>
            </a:r>
          </a:p>
        </p:txBody>
      </p:sp>
      <p:sp>
        <p:nvSpPr>
          <p:cNvPr id="14" name="legend_finerenone">
            <a:extLst>
              <a:ext uri="{FF2B5EF4-FFF2-40B4-BE49-F238E27FC236}">
                <a16:creationId xmlns:a16="http://schemas.microsoft.com/office/drawing/2014/main" id="{39E964D8-8A13-453D-8385-C98F1F4A2CF5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legend_label_finerenone">
            <a:extLst>
              <a:ext uri="{FF2B5EF4-FFF2-40B4-BE49-F238E27FC236}">
                <a16:creationId xmlns:a16="http://schemas.microsoft.com/office/drawing/2014/main" id="{4FC832A5-1337-4C4C-B5CB-2E4D9FD3AC65}"/>
              </a:ext>
            </a:extLst>
          </p:cNvPr>
          <p:cNvSpPr>
            <a:spLocks noGrp="1"/>
          </p:cNvSpPr>
          <p:nvPr/>
        </p:nvSpPr>
        <p:spPr>
          <a:xfrm>
            <a:off x="8667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6" name="legend_empagliflozin">
            <a:extLst>
              <a:ext uri="{FF2B5EF4-FFF2-40B4-BE49-F238E27FC236}">
                <a16:creationId xmlns:a16="http://schemas.microsoft.com/office/drawing/2014/main" id="{3C8F80B8-4222-484D-B05F-BA5B01089765}"/>
              </a:ext>
            </a:extLst>
          </p:cNvPr>
          <p:cNvSpPr>
            <a:spLocks noGrp="1"/>
          </p:cNvSpPr>
          <p:nvPr/>
        </p:nvSpPr>
        <p:spPr>
          <a:xfrm>
            <a:off x="321945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legend_label_empagliflozin">
            <a:extLst>
              <a:ext uri="{FF2B5EF4-FFF2-40B4-BE49-F238E27FC236}">
                <a16:creationId xmlns:a16="http://schemas.microsoft.com/office/drawing/2014/main" id="{0D56EE0B-C281-463C-B8BC-FBD1A7DA7B4C}"/>
              </a:ext>
            </a:extLst>
          </p:cNvPr>
          <p:cNvSpPr>
            <a:spLocks noGrp="1"/>
          </p:cNvSpPr>
          <p:nvPr/>
        </p:nvSpPr>
        <p:spPr>
          <a:xfrm>
            <a:off x="362902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</a:p>
        </p:txBody>
      </p:sp>
      <p:sp>
        <p:nvSpPr>
          <p:cNvPr id="18" name="legend_combination">
            <a:extLst>
              <a:ext uri="{FF2B5EF4-FFF2-40B4-BE49-F238E27FC236}">
                <a16:creationId xmlns:a16="http://schemas.microsoft.com/office/drawing/2014/main" id="{83CD1A72-75FA-4957-8307-007837C38EEC}"/>
              </a:ext>
            </a:extLst>
          </p:cNvPr>
          <p:cNvSpPr>
            <a:spLocks noGrp="1"/>
          </p:cNvSpPr>
          <p:nvPr/>
        </p:nvSpPr>
        <p:spPr>
          <a:xfrm>
            <a:off x="66675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legend_label_combination">
            <a:extLst>
              <a:ext uri="{FF2B5EF4-FFF2-40B4-BE49-F238E27FC236}">
                <a16:creationId xmlns:a16="http://schemas.microsoft.com/office/drawing/2014/main" id="{C7224C47-A1D0-466E-A51F-E322B533D223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+ эмпаглифлозин</a:t>
            </a:r>
          </a:p>
        </p:txBody>
      </p:sp>
      <p:sp>
        <p:nvSpPr>
          <p:cNvPr id="20" name="A_heading">
            <a:extLst>
              <a:ext uri="{FF2B5EF4-FFF2-40B4-BE49-F238E27FC236}">
                <a16:creationId xmlns:a16="http://schemas.microsoft.com/office/drawing/2014/main" id="{CAD48CD6-E69D-4CF0-AD97-A89B59F752D9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альбуминурии</a:t>
            </a:r>
          </a:p>
        </p:txBody>
      </p:sp>
      <p:sp>
        <p:nvSpPr>
          <p:cNvPr id="21" name="A_y_title">
            <a:extLst>
              <a:ext uri="{FF2B5EF4-FFF2-40B4-BE49-F238E27FC236}">
                <a16:creationId xmlns:a16="http://schemas.microsoft.com/office/drawing/2014/main" id="{37CFEB57-70BF-4C9C-81B1-8720CC011739}"/>
              </a:ext>
            </a:extLst>
          </p:cNvPr>
          <p:cNvSpPr>
            <a:spLocks noGrp="1"/>
          </p:cNvSpPr>
          <p:nvPr/>
        </p:nvSpPr>
        <p:spPr>
          <a:xfrm>
            <a:off x="45720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отношение АКО к исходному уровню</a:t>
            </a:r>
          </a:p>
        </p:txBody>
      </p:sp>
      <p:sp>
        <p:nvSpPr>
          <p:cNvPr id="22" name="A_y_axis_upper">
            <a:extLst>
              <a:ext uri="{FF2B5EF4-FFF2-40B4-BE49-F238E27FC236}">
                <a16:creationId xmlns:a16="http://schemas.microsoft.com/office/drawing/2014/main" id="{DA01B338-A01C-4E14-90CA-F9353BC04B6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95" cy="2167648"/>
          </a:xfrm>
          <a:custGeom>
            <a:avLst/>
            <a:gdLst/>
            <a:ahLst/>
            <a:cxnLst/>
            <a:rect l="0" t="0" r="0" b="0"/>
            <a:pathLst>
              <a:path w="95" h="1692757">
                <a:moveTo>
                  <a:pt x="0" y="0"/>
                </a:moveTo>
                <a:lnTo>
                  <a:pt x="0" y="1692757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_y_axis_lower">
            <a:extLst>
              <a:ext uri="{FF2B5EF4-FFF2-40B4-BE49-F238E27FC236}">
                <a16:creationId xmlns:a16="http://schemas.microsoft.com/office/drawing/2014/main" id="{8E208E84-647C-4946-8A56-54B764E35899}"/>
              </a:ext>
            </a:extLst>
          </p:cNvPr>
          <p:cNvSpPr>
            <a:spLocks noGrp="1"/>
          </p:cNvSpPr>
          <p:nvPr/>
        </p:nvSpPr>
        <p:spPr>
          <a:xfrm>
            <a:off x="1885950" y="4725678"/>
            <a:ext cx="95" cy="149814"/>
          </a:xfrm>
          <a:custGeom>
            <a:avLst/>
            <a:gdLst/>
            <a:ahLst/>
            <a:cxnLst/>
            <a:rect l="0" t="0" r="0" b="0"/>
            <a:pathLst>
              <a:path w="95" h="116993">
                <a:moveTo>
                  <a:pt x="0" y="0"/>
                </a:moveTo>
                <a:lnTo>
                  <a:pt x="0" y="116993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A_axis_break_1">
            <a:extLst>
              <a:ext uri="{FF2B5EF4-FFF2-40B4-BE49-F238E27FC236}">
                <a16:creationId xmlns:a16="http://schemas.microsoft.com/office/drawing/2014/main" id="{5CFF154A-E6C8-4914-861E-81606C43D318}"/>
              </a:ext>
            </a:extLst>
          </p:cNvPr>
          <p:cNvSpPr>
            <a:spLocks noGrp="1"/>
          </p:cNvSpPr>
          <p:nvPr/>
        </p:nvSpPr>
        <p:spPr>
          <a:xfrm>
            <a:off x="1828800" y="4603706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A_axis_break_2">
            <a:extLst>
              <a:ext uri="{FF2B5EF4-FFF2-40B4-BE49-F238E27FC236}">
                <a16:creationId xmlns:a16="http://schemas.microsoft.com/office/drawing/2014/main" id="{145BA233-9289-426D-9C7B-6F31A5FE94F4}"/>
              </a:ext>
            </a:extLst>
          </p:cNvPr>
          <p:cNvSpPr>
            <a:spLocks noGrp="1"/>
          </p:cNvSpPr>
          <p:nvPr/>
        </p:nvSpPr>
        <p:spPr>
          <a:xfrm>
            <a:off x="1828800" y="4664692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_x_axis">
            <a:extLst>
              <a:ext uri="{FF2B5EF4-FFF2-40B4-BE49-F238E27FC236}">
                <a16:creationId xmlns:a16="http://schemas.microsoft.com/office/drawing/2014/main" id="{73164EE2-3AEA-45D0-8C6A-C46B8C6C78DC}"/>
              </a:ext>
            </a:extLst>
          </p:cNvPr>
          <p:cNvSpPr>
            <a:spLocks noGrp="1"/>
          </p:cNvSpPr>
          <p:nvPr/>
        </p:nvSpPr>
        <p:spPr>
          <a:xfrm>
            <a:off x="188595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A_ytick_1.2">
            <a:extLst>
              <a:ext uri="{FF2B5EF4-FFF2-40B4-BE49-F238E27FC236}">
                <a16:creationId xmlns:a16="http://schemas.microsoft.com/office/drawing/2014/main" id="{B010960A-DD22-40AC-9956-2289AF1ADD91}"/>
              </a:ext>
            </a:extLst>
          </p:cNvPr>
          <p:cNvSpPr>
            <a:spLocks noGrp="1"/>
          </p:cNvSpPr>
          <p:nvPr/>
        </p:nvSpPr>
        <p:spPr>
          <a:xfrm>
            <a:off x="183832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A_ylabel_1.2">
            <a:extLst>
              <a:ext uri="{FF2B5EF4-FFF2-40B4-BE49-F238E27FC236}">
                <a16:creationId xmlns:a16="http://schemas.microsoft.com/office/drawing/2014/main" id="{63C6C5E4-91B5-4FED-8444-DF23C97A2C77}"/>
              </a:ext>
            </a:extLst>
          </p:cNvPr>
          <p:cNvSpPr>
            <a:spLocks noGrp="1"/>
          </p:cNvSpPr>
          <p:nvPr/>
        </p:nvSpPr>
        <p:spPr>
          <a:xfrm>
            <a:off x="136207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</a:t>
            </a:r>
          </a:p>
        </p:txBody>
      </p:sp>
      <p:sp>
        <p:nvSpPr>
          <p:cNvPr id="29" name="A_ytick_1">
            <a:extLst>
              <a:ext uri="{FF2B5EF4-FFF2-40B4-BE49-F238E27FC236}">
                <a16:creationId xmlns:a16="http://schemas.microsoft.com/office/drawing/2014/main" id="{3899488E-5B5E-4F57-BAE8-4E7CF84F0650}"/>
              </a:ext>
            </a:extLst>
          </p:cNvPr>
          <p:cNvSpPr>
            <a:spLocks noGrp="1"/>
          </p:cNvSpPr>
          <p:nvPr/>
        </p:nvSpPr>
        <p:spPr>
          <a:xfrm>
            <a:off x="1838325" y="293895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A_ylabel_1">
            <a:extLst>
              <a:ext uri="{FF2B5EF4-FFF2-40B4-BE49-F238E27FC236}">
                <a16:creationId xmlns:a16="http://schemas.microsoft.com/office/drawing/2014/main" id="{44F22C6A-7466-4D50-874C-103DC33B3064}"/>
              </a:ext>
            </a:extLst>
          </p:cNvPr>
          <p:cNvSpPr>
            <a:spLocks noGrp="1"/>
          </p:cNvSpPr>
          <p:nvPr/>
        </p:nvSpPr>
        <p:spPr>
          <a:xfrm>
            <a:off x="1362075" y="283550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1,0</a:t>
            </a:r>
          </a:p>
        </p:txBody>
      </p:sp>
      <p:sp>
        <p:nvSpPr>
          <p:cNvPr id="31" name="A_ytick_0.8">
            <a:extLst>
              <a:ext uri="{FF2B5EF4-FFF2-40B4-BE49-F238E27FC236}">
                <a16:creationId xmlns:a16="http://schemas.microsoft.com/office/drawing/2014/main" id="{DC127FC2-26CB-4BE0-BE1F-2DA99EA23E2B}"/>
              </a:ext>
            </a:extLst>
          </p:cNvPr>
          <p:cNvSpPr>
            <a:spLocks noGrp="1"/>
          </p:cNvSpPr>
          <p:nvPr/>
        </p:nvSpPr>
        <p:spPr>
          <a:xfrm>
            <a:off x="1838325" y="3441819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_ylabel_0.8">
            <a:extLst>
              <a:ext uri="{FF2B5EF4-FFF2-40B4-BE49-F238E27FC236}">
                <a16:creationId xmlns:a16="http://schemas.microsoft.com/office/drawing/2014/main" id="{55EF28D7-211A-462E-B7C5-4D9BCB3AABB6}"/>
              </a:ext>
            </a:extLst>
          </p:cNvPr>
          <p:cNvSpPr>
            <a:spLocks noGrp="1"/>
          </p:cNvSpPr>
          <p:nvPr/>
        </p:nvSpPr>
        <p:spPr>
          <a:xfrm>
            <a:off x="1362075" y="333836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</a:t>
            </a:r>
          </a:p>
        </p:txBody>
      </p:sp>
      <p:sp>
        <p:nvSpPr>
          <p:cNvPr id="33" name="A_ytick_0.6">
            <a:extLst>
              <a:ext uri="{FF2B5EF4-FFF2-40B4-BE49-F238E27FC236}">
                <a16:creationId xmlns:a16="http://schemas.microsoft.com/office/drawing/2014/main" id="{612204B1-9BDA-4831-A1F2-8534A377B8C5}"/>
              </a:ext>
            </a:extLst>
          </p:cNvPr>
          <p:cNvSpPr>
            <a:spLocks noGrp="1"/>
          </p:cNvSpPr>
          <p:nvPr/>
        </p:nvSpPr>
        <p:spPr>
          <a:xfrm>
            <a:off x="1838325" y="394468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A_ylabel_0.6">
            <a:extLst>
              <a:ext uri="{FF2B5EF4-FFF2-40B4-BE49-F238E27FC236}">
                <a16:creationId xmlns:a16="http://schemas.microsoft.com/office/drawing/2014/main" id="{16E66FDF-B8E4-43E6-9D94-E74A9EB8E5E7}"/>
              </a:ext>
            </a:extLst>
          </p:cNvPr>
          <p:cNvSpPr>
            <a:spLocks noGrp="1"/>
          </p:cNvSpPr>
          <p:nvPr/>
        </p:nvSpPr>
        <p:spPr>
          <a:xfrm>
            <a:off x="1362075" y="384122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</a:t>
            </a:r>
          </a:p>
        </p:txBody>
      </p:sp>
      <p:sp>
        <p:nvSpPr>
          <p:cNvPr id="35" name="A_ytick_0.4">
            <a:extLst>
              <a:ext uri="{FF2B5EF4-FFF2-40B4-BE49-F238E27FC236}">
                <a16:creationId xmlns:a16="http://schemas.microsoft.com/office/drawing/2014/main" id="{B4F7E8AD-6258-4F95-BCE3-B1F691D8DA35}"/>
              </a:ext>
            </a:extLst>
          </p:cNvPr>
          <p:cNvSpPr>
            <a:spLocks noGrp="1"/>
          </p:cNvSpPr>
          <p:nvPr/>
        </p:nvSpPr>
        <p:spPr>
          <a:xfrm>
            <a:off x="1838325" y="444757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A_ylabel_0.4">
            <a:extLst>
              <a:ext uri="{FF2B5EF4-FFF2-40B4-BE49-F238E27FC236}">
                <a16:creationId xmlns:a16="http://schemas.microsoft.com/office/drawing/2014/main" id="{00A62147-969D-418B-B106-367AFEA951D5}"/>
              </a:ext>
            </a:extLst>
          </p:cNvPr>
          <p:cNvSpPr>
            <a:spLocks noGrp="1"/>
          </p:cNvSpPr>
          <p:nvPr/>
        </p:nvSpPr>
        <p:spPr>
          <a:xfrm>
            <a:off x="1362075" y="434411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</a:t>
            </a:r>
          </a:p>
        </p:txBody>
      </p:sp>
      <p:sp>
        <p:nvSpPr>
          <p:cNvPr id="37" name="A_ytick_0">
            <a:extLst>
              <a:ext uri="{FF2B5EF4-FFF2-40B4-BE49-F238E27FC236}">
                <a16:creationId xmlns:a16="http://schemas.microsoft.com/office/drawing/2014/main" id="{5AEEF340-9264-43A2-B488-3151B7FE45A6}"/>
              </a:ext>
            </a:extLst>
          </p:cNvPr>
          <p:cNvSpPr>
            <a:spLocks noGrp="1"/>
          </p:cNvSpPr>
          <p:nvPr/>
        </p:nvSpPr>
        <p:spPr>
          <a:xfrm>
            <a:off x="183832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_ylabel_0">
            <a:extLst>
              <a:ext uri="{FF2B5EF4-FFF2-40B4-BE49-F238E27FC236}">
                <a16:creationId xmlns:a16="http://schemas.microsoft.com/office/drawing/2014/main" id="{53D4209A-1771-4D50-88DC-2CEA43D735BC}"/>
              </a:ext>
            </a:extLst>
          </p:cNvPr>
          <p:cNvSpPr>
            <a:spLocks noGrp="1"/>
          </p:cNvSpPr>
          <p:nvPr/>
        </p:nvSpPr>
        <p:spPr>
          <a:xfrm>
            <a:off x="136207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</a:t>
            </a:r>
          </a:p>
        </p:txBody>
      </p:sp>
      <p:sp>
        <p:nvSpPr>
          <p:cNvPr id="39" name="A_xtick_0">
            <a:extLst>
              <a:ext uri="{FF2B5EF4-FFF2-40B4-BE49-F238E27FC236}">
                <a16:creationId xmlns:a16="http://schemas.microsoft.com/office/drawing/2014/main" id="{0B1DB35F-BB64-414A-A464-E11A121AE5BA}"/>
              </a:ext>
            </a:extLst>
          </p:cNvPr>
          <p:cNvSpPr>
            <a:spLocks noGrp="1"/>
          </p:cNvSpPr>
          <p:nvPr/>
        </p:nvSpPr>
        <p:spPr>
          <a:xfrm>
            <a:off x="218315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A_day_0">
            <a:extLst>
              <a:ext uri="{FF2B5EF4-FFF2-40B4-BE49-F238E27FC236}">
                <a16:creationId xmlns:a16="http://schemas.microsoft.com/office/drawing/2014/main" id="{E39724F9-AAD3-4A69-9598-296A7DC71FCD}"/>
              </a:ext>
            </a:extLst>
          </p:cNvPr>
          <p:cNvSpPr>
            <a:spLocks noGrp="1"/>
          </p:cNvSpPr>
          <p:nvPr/>
        </p:nvSpPr>
        <p:spPr>
          <a:xfrm>
            <a:off x="198312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1" name="A_xtick_14">
            <a:extLst>
              <a:ext uri="{FF2B5EF4-FFF2-40B4-BE49-F238E27FC236}">
                <a16:creationId xmlns:a16="http://schemas.microsoft.com/office/drawing/2014/main" id="{1B54DEA8-6C9E-4B2E-B142-CC30DEB09864}"/>
              </a:ext>
            </a:extLst>
          </p:cNvPr>
          <p:cNvSpPr>
            <a:spLocks noGrp="1"/>
          </p:cNvSpPr>
          <p:nvPr/>
        </p:nvSpPr>
        <p:spPr>
          <a:xfrm>
            <a:off x="253921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A_day_14">
            <a:extLst>
              <a:ext uri="{FF2B5EF4-FFF2-40B4-BE49-F238E27FC236}">
                <a16:creationId xmlns:a16="http://schemas.microsoft.com/office/drawing/2014/main" id="{4DD327E6-7B0B-4A83-AA9A-B30045F7892B}"/>
              </a:ext>
            </a:extLst>
          </p:cNvPr>
          <p:cNvSpPr>
            <a:spLocks noGrp="1"/>
          </p:cNvSpPr>
          <p:nvPr/>
        </p:nvSpPr>
        <p:spPr>
          <a:xfrm>
            <a:off x="233918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43" name="A_xtick_30">
            <a:extLst>
              <a:ext uri="{FF2B5EF4-FFF2-40B4-BE49-F238E27FC236}">
                <a16:creationId xmlns:a16="http://schemas.microsoft.com/office/drawing/2014/main" id="{6A9FDA59-1F73-49A3-8500-0C712E046889}"/>
              </a:ext>
            </a:extLst>
          </p:cNvPr>
          <p:cNvSpPr>
            <a:spLocks noGrp="1"/>
          </p:cNvSpPr>
          <p:nvPr/>
        </p:nvSpPr>
        <p:spPr>
          <a:xfrm>
            <a:off x="300104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A_day_30">
            <a:extLst>
              <a:ext uri="{FF2B5EF4-FFF2-40B4-BE49-F238E27FC236}">
                <a16:creationId xmlns:a16="http://schemas.microsoft.com/office/drawing/2014/main" id="{F479CB77-B16F-45A9-A267-1B43EA9C6639}"/>
              </a:ext>
            </a:extLst>
          </p:cNvPr>
          <p:cNvSpPr>
            <a:spLocks noGrp="1"/>
          </p:cNvSpPr>
          <p:nvPr/>
        </p:nvSpPr>
        <p:spPr>
          <a:xfrm>
            <a:off x="280101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5" name="A_xtick_60">
            <a:extLst>
              <a:ext uri="{FF2B5EF4-FFF2-40B4-BE49-F238E27FC236}">
                <a16:creationId xmlns:a16="http://schemas.microsoft.com/office/drawing/2014/main" id="{7B107944-A5F2-4CF5-9E79-5675524ED2BD}"/>
              </a:ext>
            </a:extLst>
          </p:cNvPr>
          <p:cNvSpPr>
            <a:spLocks noGrp="1"/>
          </p:cNvSpPr>
          <p:nvPr/>
        </p:nvSpPr>
        <p:spPr>
          <a:xfrm>
            <a:off x="34629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A_day_60">
            <a:extLst>
              <a:ext uri="{FF2B5EF4-FFF2-40B4-BE49-F238E27FC236}">
                <a16:creationId xmlns:a16="http://schemas.microsoft.com/office/drawing/2014/main" id="{9F4F2FF8-05A6-439C-B9AB-9689408C1167}"/>
              </a:ext>
            </a:extLst>
          </p:cNvPr>
          <p:cNvSpPr>
            <a:spLocks noGrp="1"/>
          </p:cNvSpPr>
          <p:nvPr/>
        </p:nvSpPr>
        <p:spPr>
          <a:xfrm>
            <a:off x="32628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47" name="A_xtick_90">
            <a:extLst>
              <a:ext uri="{FF2B5EF4-FFF2-40B4-BE49-F238E27FC236}">
                <a16:creationId xmlns:a16="http://schemas.microsoft.com/office/drawing/2014/main" id="{F08F020B-5E02-4A26-8890-4F98E377E198}"/>
              </a:ext>
            </a:extLst>
          </p:cNvPr>
          <p:cNvSpPr>
            <a:spLocks noGrp="1"/>
          </p:cNvSpPr>
          <p:nvPr/>
        </p:nvSpPr>
        <p:spPr>
          <a:xfrm>
            <a:off x="39247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A_day_90">
            <a:extLst>
              <a:ext uri="{FF2B5EF4-FFF2-40B4-BE49-F238E27FC236}">
                <a16:creationId xmlns:a16="http://schemas.microsoft.com/office/drawing/2014/main" id="{77E0CBF4-B8EF-4D13-B9EA-EBFB9C5D8813}"/>
              </a:ext>
            </a:extLst>
          </p:cNvPr>
          <p:cNvSpPr>
            <a:spLocks noGrp="1"/>
          </p:cNvSpPr>
          <p:nvPr/>
        </p:nvSpPr>
        <p:spPr>
          <a:xfrm>
            <a:off x="37247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49" name="A_xtick_120">
            <a:extLst>
              <a:ext uri="{FF2B5EF4-FFF2-40B4-BE49-F238E27FC236}">
                <a16:creationId xmlns:a16="http://schemas.microsoft.com/office/drawing/2014/main" id="{A91BF059-B9C9-42B3-A414-9B3F0407EC62}"/>
              </a:ext>
            </a:extLst>
          </p:cNvPr>
          <p:cNvSpPr>
            <a:spLocks noGrp="1"/>
          </p:cNvSpPr>
          <p:nvPr/>
        </p:nvSpPr>
        <p:spPr>
          <a:xfrm>
            <a:off x="438659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A_day_120">
            <a:extLst>
              <a:ext uri="{FF2B5EF4-FFF2-40B4-BE49-F238E27FC236}">
                <a16:creationId xmlns:a16="http://schemas.microsoft.com/office/drawing/2014/main" id="{9427FC1A-9711-415A-9418-44E5052F66D6}"/>
              </a:ext>
            </a:extLst>
          </p:cNvPr>
          <p:cNvSpPr>
            <a:spLocks noGrp="1"/>
          </p:cNvSpPr>
          <p:nvPr/>
        </p:nvSpPr>
        <p:spPr>
          <a:xfrm>
            <a:off x="418657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51" name="A_xtick_150">
            <a:extLst>
              <a:ext uri="{FF2B5EF4-FFF2-40B4-BE49-F238E27FC236}">
                <a16:creationId xmlns:a16="http://schemas.microsoft.com/office/drawing/2014/main" id="{90337C07-7EDC-4A2F-B62C-098338C18BFD}"/>
              </a:ext>
            </a:extLst>
          </p:cNvPr>
          <p:cNvSpPr>
            <a:spLocks noGrp="1"/>
          </p:cNvSpPr>
          <p:nvPr/>
        </p:nvSpPr>
        <p:spPr>
          <a:xfrm>
            <a:off x="484844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A_day_150">
            <a:extLst>
              <a:ext uri="{FF2B5EF4-FFF2-40B4-BE49-F238E27FC236}">
                <a16:creationId xmlns:a16="http://schemas.microsoft.com/office/drawing/2014/main" id="{0227066A-6213-42FA-B658-D7F039C34A5D}"/>
              </a:ext>
            </a:extLst>
          </p:cNvPr>
          <p:cNvSpPr>
            <a:spLocks noGrp="1"/>
          </p:cNvSpPr>
          <p:nvPr/>
        </p:nvSpPr>
        <p:spPr>
          <a:xfrm>
            <a:off x="464842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53" name="A_xtick_180">
            <a:extLst>
              <a:ext uri="{FF2B5EF4-FFF2-40B4-BE49-F238E27FC236}">
                <a16:creationId xmlns:a16="http://schemas.microsoft.com/office/drawing/2014/main" id="{EE0E67EF-413A-4BBB-8610-D8078BB7C88F}"/>
              </a:ext>
            </a:extLst>
          </p:cNvPr>
          <p:cNvSpPr>
            <a:spLocks noGrp="1"/>
          </p:cNvSpPr>
          <p:nvPr/>
        </p:nvSpPr>
        <p:spPr>
          <a:xfrm>
            <a:off x="531028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A_day_180">
            <a:extLst>
              <a:ext uri="{FF2B5EF4-FFF2-40B4-BE49-F238E27FC236}">
                <a16:creationId xmlns:a16="http://schemas.microsoft.com/office/drawing/2014/main" id="{641DECAA-E2D3-4376-B77F-C39557946785}"/>
              </a:ext>
            </a:extLst>
          </p:cNvPr>
          <p:cNvSpPr>
            <a:spLocks noGrp="1"/>
          </p:cNvSpPr>
          <p:nvPr/>
        </p:nvSpPr>
        <p:spPr>
          <a:xfrm>
            <a:off x="511025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55" name="A_xtick_210">
            <a:extLst>
              <a:ext uri="{FF2B5EF4-FFF2-40B4-BE49-F238E27FC236}">
                <a16:creationId xmlns:a16="http://schemas.microsoft.com/office/drawing/2014/main" id="{94A4EA99-C3DD-4C04-8520-A537DDC3C097}"/>
              </a:ext>
            </a:extLst>
          </p:cNvPr>
          <p:cNvSpPr>
            <a:spLocks noGrp="1"/>
          </p:cNvSpPr>
          <p:nvPr/>
        </p:nvSpPr>
        <p:spPr>
          <a:xfrm>
            <a:off x="577215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A_day_210">
            <a:extLst>
              <a:ext uri="{FF2B5EF4-FFF2-40B4-BE49-F238E27FC236}">
                <a16:creationId xmlns:a16="http://schemas.microsoft.com/office/drawing/2014/main" id="{21EDABB5-2C01-4AD8-8D2D-3560CB752E63}"/>
              </a:ext>
            </a:extLst>
          </p:cNvPr>
          <p:cNvSpPr>
            <a:spLocks noGrp="1"/>
          </p:cNvSpPr>
          <p:nvPr/>
        </p:nvSpPr>
        <p:spPr>
          <a:xfrm>
            <a:off x="557212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58" name="A_days_title">
            <a:extLst>
              <a:ext uri="{FF2B5EF4-FFF2-40B4-BE49-F238E27FC236}">
                <a16:creationId xmlns:a16="http://schemas.microsoft.com/office/drawing/2014/main" id="{72193ACB-9E2C-4789-ACFE-8FEA818AC940}"/>
              </a:ext>
            </a:extLst>
          </p:cNvPr>
          <p:cNvSpPr>
            <a:spLocks noGrp="1"/>
          </p:cNvSpPr>
          <p:nvPr/>
        </p:nvSpPr>
        <p:spPr>
          <a:xfrm>
            <a:off x="369570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59" name="published_A_empagliflozin_marker_103">
            <a:extLst>
              <a:ext uri="{FF2B5EF4-FFF2-40B4-BE49-F238E27FC236}">
                <a16:creationId xmlns:a16="http://schemas.microsoft.com/office/drawing/2014/main" id="{20FDE606-C0A1-41E6-9634-09F5053F536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688770"/>
                </a:moveTo>
                <a:lnTo>
                  <a:pt x="692185" y="690836"/>
                </a:lnTo>
                <a:lnTo>
                  <a:pt x="691815" y="692857"/>
                </a:lnTo>
                <a:lnTo>
                  <a:pt x="691210" y="694825"/>
                </a:lnTo>
                <a:lnTo>
                  <a:pt x="690380" y="696734"/>
                </a:lnTo>
                <a:lnTo>
                  <a:pt x="689335" y="698577"/>
                </a:lnTo>
                <a:lnTo>
                  <a:pt x="688084" y="700349"/>
                </a:lnTo>
                <a:lnTo>
                  <a:pt x="686637" y="702042"/>
                </a:lnTo>
                <a:lnTo>
                  <a:pt x="685004" y="703650"/>
                </a:lnTo>
                <a:lnTo>
                  <a:pt x="683194" y="705167"/>
                </a:lnTo>
                <a:lnTo>
                  <a:pt x="681218" y="706585"/>
                </a:lnTo>
                <a:lnTo>
                  <a:pt x="679084" y="707900"/>
                </a:lnTo>
                <a:lnTo>
                  <a:pt x="676804" y="709103"/>
                </a:lnTo>
                <a:lnTo>
                  <a:pt x="674385" y="710190"/>
                </a:lnTo>
                <a:lnTo>
                  <a:pt x="671839" y="711152"/>
                </a:lnTo>
                <a:lnTo>
                  <a:pt x="669174" y="711984"/>
                </a:lnTo>
                <a:lnTo>
                  <a:pt x="666401" y="712679"/>
                </a:lnTo>
                <a:lnTo>
                  <a:pt x="663528" y="713231"/>
                </a:lnTo>
                <a:lnTo>
                  <a:pt x="660567" y="713634"/>
                </a:lnTo>
                <a:lnTo>
                  <a:pt x="657527" y="713880"/>
                </a:lnTo>
                <a:lnTo>
                  <a:pt x="654416" y="713964"/>
                </a:lnTo>
                <a:lnTo>
                  <a:pt x="651302" y="713880"/>
                </a:lnTo>
                <a:lnTo>
                  <a:pt x="648259" y="713634"/>
                </a:lnTo>
                <a:lnTo>
                  <a:pt x="645294" y="713231"/>
                </a:lnTo>
                <a:lnTo>
                  <a:pt x="642420" y="712679"/>
                </a:lnTo>
                <a:lnTo>
                  <a:pt x="639644" y="711984"/>
                </a:lnTo>
                <a:lnTo>
                  <a:pt x="636977" y="711152"/>
                </a:lnTo>
                <a:lnTo>
                  <a:pt x="634429" y="710190"/>
                </a:lnTo>
                <a:lnTo>
                  <a:pt x="632009" y="709103"/>
                </a:lnTo>
                <a:lnTo>
                  <a:pt x="629727" y="707900"/>
                </a:lnTo>
                <a:lnTo>
                  <a:pt x="627593" y="706585"/>
                </a:lnTo>
                <a:lnTo>
                  <a:pt x="625615" y="705167"/>
                </a:lnTo>
                <a:lnTo>
                  <a:pt x="623805" y="703650"/>
                </a:lnTo>
                <a:lnTo>
                  <a:pt x="622172" y="702042"/>
                </a:lnTo>
                <a:lnTo>
                  <a:pt x="620724" y="700349"/>
                </a:lnTo>
                <a:lnTo>
                  <a:pt x="619473" y="698577"/>
                </a:lnTo>
                <a:lnTo>
                  <a:pt x="618428" y="696734"/>
                </a:lnTo>
                <a:lnTo>
                  <a:pt x="617598" y="694825"/>
                </a:lnTo>
                <a:lnTo>
                  <a:pt x="616993" y="692857"/>
                </a:lnTo>
                <a:lnTo>
                  <a:pt x="616623" y="690836"/>
                </a:lnTo>
                <a:lnTo>
                  <a:pt x="616497" y="688770"/>
                </a:lnTo>
                <a:lnTo>
                  <a:pt x="616623" y="686703"/>
                </a:lnTo>
                <a:lnTo>
                  <a:pt x="616993" y="684683"/>
                </a:lnTo>
                <a:lnTo>
                  <a:pt x="617598" y="682715"/>
                </a:lnTo>
                <a:lnTo>
                  <a:pt x="618428" y="680806"/>
                </a:lnTo>
                <a:lnTo>
                  <a:pt x="619473" y="678962"/>
                </a:lnTo>
                <a:lnTo>
                  <a:pt x="620724" y="677191"/>
                </a:lnTo>
                <a:lnTo>
                  <a:pt x="622172" y="675498"/>
                </a:lnTo>
                <a:lnTo>
                  <a:pt x="623805" y="673889"/>
                </a:lnTo>
                <a:lnTo>
                  <a:pt x="625615" y="672373"/>
                </a:lnTo>
                <a:lnTo>
                  <a:pt x="627593" y="670954"/>
                </a:lnTo>
                <a:lnTo>
                  <a:pt x="629727" y="669640"/>
                </a:lnTo>
                <a:lnTo>
                  <a:pt x="632009" y="668436"/>
                </a:lnTo>
                <a:lnTo>
                  <a:pt x="634429" y="667350"/>
                </a:lnTo>
                <a:lnTo>
                  <a:pt x="636977" y="666388"/>
                </a:lnTo>
                <a:lnTo>
                  <a:pt x="639644" y="665555"/>
                </a:lnTo>
                <a:lnTo>
                  <a:pt x="642420" y="664860"/>
                </a:lnTo>
                <a:lnTo>
                  <a:pt x="645294" y="664308"/>
                </a:lnTo>
                <a:lnTo>
                  <a:pt x="648259" y="663906"/>
                </a:lnTo>
                <a:lnTo>
                  <a:pt x="651302" y="663659"/>
                </a:lnTo>
                <a:lnTo>
                  <a:pt x="654416" y="663576"/>
                </a:lnTo>
                <a:lnTo>
                  <a:pt x="657527" y="663659"/>
                </a:lnTo>
                <a:lnTo>
                  <a:pt x="660567" y="663906"/>
                </a:lnTo>
                <a:lnTo>
                  <a:pt x="663528" y="664308"/>
                </a:lnTo>
                <a:lnTo>
                  <a:pt x="666401" y="664860"/>
                </a:lnTo>
                <a:lnTo>
                  <a:pt x="669174" y="665555"/>
                </a:lnTo>
                <a:lnTo>
                  <a:pt x="671839" y="666388"/>
                </a:lnTo>
                <a:lnTo>
                  <a:pt x="674385" y="667350"/>
                </a:lnTo>
                <a:lnTo>
                  <a:pt x="676804" y="668436"/>
                </a:lnTo>
                <a:lnTo>
                  <a:pt x="679084" y="669640"/>
                </a:lnTo>
                <a:lnTo>
                  <a:pt x="681218" y="670954"/>
                </a:lnTo>
                <a:lnTo>
                  <a:pt x="683194" y="672373"/>
                </a:lnTo>
                <a:lnTo>
                  <a:pt x="685004" y="673889"/>
                </a:lnTo>
                <a:lnTo>
                  <a:pt x="686637" y="675498"/>
                </a:lnTo>
                <a:lnTo>
                  <a:pt x="688084" y="677191"/>
                </a:lnTo>
                <a:lnTo>
                  <a:pt x="689335" y="678962"/>
                </a:lnTo>
                <a:lnTo>
                  <a:pt x="690380" y="680806"/>
                </a:lnTo>
                <a:lnTo>
                  <a:pt x="691210" y="682715"/>
                </a:lnTo>
                <a:lnTo>
                  <a:pt x="691815" y="684683"/>
                </a:lnTo>
                <a:lnTo>
                  <a:pt x="692185" y="686703"/>
                </a:lnTo>
                <a:lnTo>
                  <a:pt x="692310" y="688770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published_A_empagliflozin_marker_104">
            <a:extLst>
              <a:ext uri="{FF2B5EF4-FFF2-40B4-BE49-F238E27FC236}">
                <a16:creationId xmlns:a16="http://schemas.microsoft.com/office/drawing/2014/main" id="{45C8163F-2342-4A6D-A54E-AEE574F5824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688771"/>
                </a:moveTo>
                <a:lnTo>
                  <a:pt x="1153619" y="690837"/>
                </a:lnTo>
                <a:lnTo>
                  <a:pt x="1153249" y="692858"/>
                </a:lnTo>
                <a:lnTo>
                  <a:pt x="1152644" y="694826"/>
                </a:lnTo>
                <a:lnTo>
                  <a:pt x="1151814" y="696735"/>
                </a:lnTo>
                <a:lnTo>
                  <a:pt x="1150769" y="698578"/>
                </a:lnTo>
                <a:lnTo>
                  <a:pt x="1149518" y="700350"/>
                </a:lnTo>
                <a:lnTo>
                  <a:pt x="1148071" y="702043"/>
                </a:lnTo>
                <a:lnTo>
                  <a:pt x="1146438" y="703651"/>
                </a:lnTo>
                <a:lnTo>
                  <a:pt x="1144629" y="705168"/>
                </a:lnTo>
                <a:lnTo>
                  <a:pt x="1142652" y="706586"/>
                </a:lnTo>
                <a:lnTo>
                  <a:pt x="1140519" y="707901"/>
                </a:lnTo>
                <a:lnTo>
                  <a:pt x="1138238" y="709104"/>
                </a:lnTo>
                <a:lnTo>
                  <a:pt x="1135819" y="710191"/>
                </a:lnTo>
                <a:lnTo>
                  <a:pt x="1133273" y="711153"/>
                </a:lnTo>
                <a:lnTo>
                  <a:pt x="1130608" y="711985"/>
                </a:lnTo>
                <a:lnTo>
                  <a:pt x="1127835" y="712680"/>
                </a:lnTo>
                <a:lnTo>
                  <a:pt x="1124963" y="713233"/>
                </a:lnTo>
                <a:lnTo>
                  <a:pt x="1122002" y="713635"/>
                </a:lnTo>
                <a:lnTo>
                  <a:pt x="1118961" y="713881"/>
                </a:lnTo>
                <a:lnTo>
                  <a:pt x="1115851" y="713965"/>
                </a:lnTo>
                <a:lnTo>
                  <a:pt x="1112737" y="713881"/>
                </a:lnTo>
                <a:lnTo>
                  <a:pt x="1109693" y="713635"/>
                </a:lnTo>
                <a:lnTo>
                  <a:pt x="1106729" y="713233"/>
                </a:lnTo>
                <a:lnTo>
                  <a:pt x="1103854" y="712680"/>
                </a:lnTo>
                <a:lnTo>
                  <a:pt x="1101079" y="711985"/>
                </a:lnTo>
                <a:lnTo>
                  <a:pt x="1098412" y="711153"/>
                </a:lnTo>
                <a:lnTo>
                  <a:pt x="1095864" y="710191"/>
                </a:lnTo>
                <a:lnTo>
                  <a:pt x="1093444" y="709104"/>
                </a:lnTo>
                <a:lnTo>
                  <a:pt x="1091162" y="707901"/>
                </a:lnTo>
                <a:lnTo>
                  <a:pt x="1089027" y="706586"/>
                </a:lnTo>
                <a:lnTo>
                  <a:pt x="1087050" y="705168"/>
                </a:lnTo>
                <a:lnTo>
                  <a:pt x="1085240" y="703651"/>
                </a:lnTo>
                <a:lnTo>
                  <a:pt x="1083606" y="702043"/>
                </a:lnTo>
                <a:lnTo>
                  <a:pt x="1082159" y="700350"/>
                </a:lnTo>
                <a:lnTo>
                  <a:pt x="1080908" y="698578"/>
                </a:lnTo>
                <a:lnTo>
                  <a:pt x="1079862" y="696735"/>
                </a:lnTo>
                <a:lnTo>
                  <a:pt x="1079032" y="694826"/>
                </a:lnTo>
                <a:lnTo>
                  <a:pt x="1078427" y="692858"/>
                </a:lnTo>
                <a:lnTo>
                  <a:pt x="1078057" y="690837"/>
                </a:lnTo>
                <a:lnTo>
                  <a:pt x="1077932" y="688771"/>
                </a:lnTo>
                <a:lnTo>
                  <a:pt x="1078057" y="686704"/>
                </a:lnTo>
                <a:lnTo>
                  <a:pt x="1078427" y="684684"/>
                </a:lnTo>
                <a:lnTo>
                  <a:pt x="1079032" y="682716"/>
                </a:lnTo>
                <a:lnTo>
                  <a:pt x="1079862" y="680807"/>
                </a:lnTo>
                <a:lnTo>
                  <a:pt x="1080908" y="678963"/>
                </a:lnTo>
                <a:lnTo>
                  <a:pt x="1082159" y="677192"/>
                </a:lnTo>
                <a:lnTo>
                  <a:pt x="1083606" y="675499"/>
                </a:lnTo>
                <a:lnTo>
                  <a:pt x="1085240" y="673891"/>
                </a:lnTo>
                <a:lnTo>
                  <a:pt x="1087050" y="672374"/>
                </a:lnTo>
                <a:lnTo>
                  <a:pt x="1089027" y="670955"/>
                </a:lnTo>
                <a:lnTo>
                  <a:pt x="1091162" y="669641"/>
                </a:lnTo>
                <a:lnTo>
                  <a:pt x="1093444" y="668437"/>
                </a:lnTo>
                <a:lnTo>
                  <a:pt x="1095864" y="667351"/>
                </a:lnTo>
                <a:lnTo>
                  <a:pt x="1098412" y="666389"/>
                </a:lnTo>
                <a:lnTo>
                  <a:pt x="1101079" y="665556"/>
                </a:lnTo>
                <a:lnTo>
                  <a:pt x="1103854" y="664861"/>
                </a:lnTo>
                <a:lnTo>
                  <a:pt x="1106729" y="664309"/>
                </a:lnTo>
                <a:lnTo>
                  <a:pt x="1109693" y="663907"/>
                </a:lnTo>
                <a:lnTo>
                  <a:pt x="1112737" y="663660"/>
                </a:lnTo>
                <a:lnTo>
                  <a:pt x="1115851" y="663577"/>
                </a:lnTo>
                <a:lnTo>
                  <a:pt x="1118961" y="663660"/>
                </a:lnTo>
                <a:lnTo>
                  <a:pt x="1122002" y="663907"/>
                </a:lnTo>
                <a:lnTo>
                  <a:pt x="1124963" y="664309"/>
                </a:lnTo>
                <a:lnTo>
                  <a:pt x="1127835" y="664861"/>
                </a:lnTo>
                <a:lnTo>
                  <a:pt x="1130608" y="665556"/>
                </a:lnTo>
                <a:lnTo>
                  <a:pt x="1133273" y="666389"/>
                </a:lnTo>
                <a:lnTo>
                  <a:pt x="1135819" y="667351"/>
                </a:lnTo>
                <a:lnTo>
                  <a:pt x="1138238" y="668437"/>
                </a:lnTo>
                <a:lnTo>
                  <a:pt x="1140519" y="669641"/>
                </a:lnTo>
                <a:lnTo>
                  <a:pt x="1142652" y="670955"/>
                </a:lnTo>
                <a:lnTo>
                  <a:pt x="1144629" y="672374"/>
                </a:lnTo>
                <a:lnTo>
                  <a:pt x="1146438" y="673891"/>
                </a:lnTo>
                <a:lnTo>
                  <a:pt x="1148071" y="675499"/>
                </a:lnTo>
                <a:lnTo>
                  <a:pt x="1149518" y="677192"/>
                </a:lnTo>
                <a:lnTo>
                  <a:pt x="1150769" y="678963"/>
                </a:lnTo>
                <a:lnTo>
                  <a:pt x="1151814" y="680807"/>
                </a:lnTo>
                <a:lnTo>
                  <a:pt x="1152644" y="682716"/>
                </a:lnTo>
                <a:lnTo>
                  <a:pt x="1153249" y="684684"/>
                </a:lnTo>
                <a:lnTo>
                  <a:pt x="1153619" y="686704"/>
                </a:lnTo>
                <a:lnTo>
                  <a:pt x="1153745" y="6887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published_A_empagliflozin_marker_105">
            <a:extLst>
              <a:ext uri="{FF2B5EF4-FFF2-40B4-BE49-F238E27FC236}">
                <a16:creationId xmlns:a16="http://schemas.microsoft.com/office/drawing/2014/main" id="{F3B964D0-CF0B-433C-A7D2-F5A831975FE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852294"/>
                </a:moveTo>
                <a:lnTo>
                  <a:pt x="2076571" y="854360"/>
                </a:lnTo>
                <a:lnTo>
                  <a:pt x="2076201" y="856380"/>
                </a:lnTo>
                <a:lnTo>
                  <a:pt x="2075596" y="858348"/>
                </a:lnTo>
                <a:lnTo>
                  <a:pt x="2074767" y="860256"/>
                </a:lnTo>
                <a:lnTo>
                  <a:pt x="2073721" y="862099"/>
                </a:lnTo>
                <a:lnTo>
                  <a:pt x="2072470" y="863869"/>
                </a:lnTo>
                <a:lnTo>
                  <a:pt x="2071024" y="865561"/>
                </a:lnTo>
                <a:lnTo>
                  <a:pt x="2069391" y="867168"/>
                </a:lnTo>
                <a:lnTo>
                  <a:pt x="2067581" y="868683"/>
                </a:lnTo>
                <a:lnTo>
                  <a:pt x="2065605" y="870101"/>
                </a:lnTo>
                <a:lnTo>
                  <a:pt x="2063471" y="871414"/>
                </a:lnTo>
                <a:lnTo>
                  <a:pt x="2061190" y="872616"/>
                </a:lnTo>
                <a:lnTo>
                  <a:pt x="2058772" y="873701"/>
                </a:lnTo>
                <a:lnTo>
                  <a:pt x="2056225" y="874663"/>
                </a:lnTo>
                <a:lnTo>
                  <a:pt x="2053560" y="875494"/>
                </a:lnTo>
                <a:lnTo>
                  <a:pt x="2050787" y="876188"/>
                </a:lnTo>
                <a:lnTo>
                  <a:pt x="2047915" y="876740"/>
                </a:lnTo>
                <a:lnTo>
                  <a:pt x="2044954" y="877142"/>
                </a:lnTo>
                <a:lnTo>
                  <a:pt x="2041913" y="877387"/>
                </a:lnTo>
                <a:lnTo>
                  <a:pt x="2038803" y="877471"/>
                </a:lnTo>
                <a:lnTo>
                  <a:pt x="2035689" y="877387"/>
                </a:lnTo>
                <a:lnTo>
                  <a:pt x="2032645" y="877142"/>
                </a:lnTo>
                <a:lnTo>
                  <a:pt x="2029681" y="876740"/>
                </a:lnTo>
                <a:lnTo>
                  <a:pt x="2026806" y="876188"/>
                </a:lnTo>
                <a:lnTo>
                  <a:pt x="2024031" y="875494"/>
                </a:lnTo>
                <a:lnTo>
                  <a:pt x="2021364" y="874663"/>
                </a:lnTo>
                <a:lnTo>
                  <a:pt x="2018816" y="873701"/>
                </a:lnTo>
                <a:lnTo>
                  <a:pt x="2016396" y="872616"/>
                </a:lnTo>
                <a:lnTo>
                  <a:pt x="2014114" y="871414"/>
                </a:lnTo>
                <a:lnTo>
                  <a:pt x="2011979" y="870101"/>
                </a:lnTo>
                <a:lnTo>
                  <a:pt x="2010002" y="868683"/>
                </a:lnTo>
                <a:lnTo>
                  <a:pt x="2008192" y="867168"/>
                </a:lnTo>
                <a:lnTo>
                  <a:pt x="2006558" y="865561"/>
                </a:lnTo>
                <a:lnTo>
                  <a:pt x="2005111" y="863869"/>
                </a:lnTo>
                <a:lnTo>
                  <a:pt x="2003860" y="862099"/>
                </a:lnTo>
                <a:lnTo>
                  <a:pt x="2002814" y="860256"/>
                </a:lnTo>
                <a:lnTo>
                  <a:pt x="2001984" y="858348"/>
                </a:lnTo>
                <a:lnTo>
                  <a:pt x="2001379" y="856380"/>
                </a:lnTo>
                <a:lnTo>
                  <a:pt x="2001009" y="854360"/>
                </a:lnTo>
                <a:lnTo>
                  <a:pt x="2000884" y="852294"/>
                </a:lnTo>
                <a:lnTo>
                  <a:pt x="2001009" y="850227"/>
                </a:lnTo>
                <a:lnTo>
                  <a:pt x="2001379" y="848207"/>
                </a:lnTo>
                <a:lnTo>
                  <a:pt x="2001984" y="846239"/>
                </a:lnTo>
                <a:lnTo>
                  <a:pt x="2002814" y="844330"/>
                </a:lnTo>
                <a:lnTo>
                  <a:pt x="2003860" y="842486"/>
                </a:lnTo>
                <a:lnTo>
                  <a:pt x="2005111" y="840715"/>
                </a:lnTo>
                <a:lnTo>
                  <a:pt x="2006558" y="839022"/>
                </a:lnTo>
                <a:lnTo>
                  <a:pt x="2008192" y="837413"/>
                </a:lnTo>
                <a:lnTo>
                  <a:pt x="2010002" y="835897"/>
                </a:lnTo>
                <a:lnTo>
                  <a:pt x="2011979" y="834478"/>
                </a:lnTo>
                <a:lnTo>
                  <a:pt x="2014114" y="833164"/>
                </a:lnTo>
                <a:lnTo>
                  <a:pt x="2016396" y="831960"/>
                </a:lnTo>
                <a:lnTo>
                  <a:pt x="2018816" y="830874"/>
                </a:lnTo>
                <a:lnTo>
                  <a:pt x="2021364" y="829911"/>
                </a:lnTo>
                <a:lnTo>
                  <a:pt x="2024031" y="829079"/>
                </a:lnTo>
                <a:lnTo>
                  <a:pt x="2026806" y="828384"/>
                </a:lnTo>
                <a:lnTo>
                  <a:pt x="2029681" y="827832"/>
                </a:lnTo>
                <a:lnTo>
                  <a:pt x="2032645" y="827430"/>
                </a:lnTo>
                <a:lnTo>
                  <a:pt x="2035689" y="827183"/>
                </a:lnTo>
                <a:lnTo>
                  <a:pt x="2038803" y="827100"/>
                </a:lnTo>
                <a:lnTo>
                  <a:pt x="2041913" y="827183"/>
                </a:lnTo>
                <a:lnTo>
                  <a:pt x="2044954" y="827430"/>
                </a:lnTo>
                <a:lnTo>
                  <a:pt x="2047915" y="827832"/>
                </a:lnTo>
                <a:lnTo>
                  <a:pt x="2050787" y="828384"/>
                </a:lnTo>
                <a:lnTo>
                  <a:pt x="2053560" y="829079"/>
                </a:lnTo>
                <a:lnTo>
                  <a:pt x="2056225" y="829911"/>
                </a:lnTo>
                <a:lnTo>
                  <a:pt x="2058772" y="830874"/>
                </a:lnTo>
                <a:lnTo>
                  <a:pt x="2061190" y="831960"/>
                </a:lnTo>
                <a:lnTo>
                  <a:pt x="2063471" y="833164"/>
                </a:lnTo>
                <a:lnTo>
                  <a:pt x="2065605" y="834478"/>
                </a:lnTo>
                <a:lnTo>
                  <a:pt x="2067581" y="835897"/>
                </a:lnTo>
                <a:lnTo>
                  <a:pt x="2069391" y="837413"/>
                </a:lnTo>
                <a:lnTo>
                  <a:pt x="2071024" y="839022"/>
                </a:lnTo>
                <a:lnTo>
                  <a:pt x="2072470" y="840715"/>
                </a:lnTo>
                <a:lnTo>
                  <a:pt x="2073721" y="842486"/>
                </a:lnTo>
                <a:lnTo>
                  <a:pt x="2074767" y="844330"/>
                </a:lnTo>
                <a:lnTo>
                  <a:pt x="2075596" y="846239"/>
                </a:lnTo>
                <a:lnTo>
                  <a:pt x="2076201" y="848207"/>
                </a:lnTo>
                <a:lnTo>
                  <a:pt x="2076571" y="850227"/>
                </a:lnTo>
                <a:lnTo>
                  <a:pt x="2076697" y="85229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published_A_empagliflozin_marker_106">
            <a:extLst>
              <a:ext uri="{FF2B5EF4-FFF2-40B4-BE49-F238E27FC236}">
                <a16:creationId xmlns:a16="http://schemas.microsoft.com/office/drawing/2014/main" id="{9F0A08A0-2447-432E-A176-49C8BC0DDC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960449"/>
                </a:moveTo>
                <a:lnTo>
                  <a:pt x="3462129" y="962516"/>
                </a:lnTo>
                <a:lnTo>
                  <a:pt x="3461759" y="964536"/>
                </a:lnTo>
                <a:lnTo>
                  <a:pt x="3461154" y="966504"/>
                </a:lnTo>
                <a:lnTo>
                  <a:pt x="3460325" y="968413"/>
                </a:lnTo>
                <a:lnTo>
                  <a:pt x="3459279" y="970257"/>
                </a:lnTo>
                <a:lnTo>
                  <a:pt x="3458028" y="972028"/>
                </a:lnTo>
                <a:lnTo>
                  <a:pt x="3456582" y="973721"/>
                </a:lnTo>
                <a:lnTo>
                  <a:pt x="3454948" y="975329"/>
                </a:lnTo>
                <a:lnTo>
                  <a:pt x="3453139" y="976846"/>
                </a:lnTo>
                <a:lnTo>
                  <a:pt x="3451162" y="978265"/>
                </a:lnTo>
                <a:lnTo>
                  <a:pt x="3449029" y="979579"/>
                </a:lnTo>
                <a:lnTo>
                  <a:pt x="3446748" y="980783"/>
                </a:lnTo>
                <a:lnTo>
                  <a:pt x="3444330" y="981869"/>
                </a:lnTo>
                <a:lnTo>
                  <a:pt x="3441783" y="982831"/>
                </a:lnTo>
                <a:lnTo>
                  <a:pt x="3439118" y="983663"/>
                </a:lnTo>
                <a:lnTo>
                  <a:pt x="3436345" y="984359"/>
                </a:lnTo>
                <a:lnTo>
                  <a:pt x="3433473" y="984911"/>
                </a:lnTo>
                <a:lnTo>
                  <a:pt x="3430512" y="985313"/>
                </a:lnTo>
                <a:lnTo>
                  <a:pt x="3427471" y="985559"/>
                </a:lnTo>
                <a:lnTo>
                  <a:pt x="3424361" y="985643"/>
                </a:lnTo>
                <a:lnTo>
                  <a:pt x="3421247" y="985559"/>
                </a:lnTo>
                <a:lnTo>
                  <a:pt x="3418203" y="985313"/>
                </a:lnTo>
                <a:lnTo>
                  <a:pt x="3415239" y="984911"/>
                </a:lnTo>
                <a:lnTo>
                  <a:pt x="3412364" y="984359"/>
                </a:lnTo>
                <a:lnTo>
                  <a:pt x="3409589" y="983663"/>
                </a:lnTo>
                <a:lnTo>
                  <a:pt x="3406922" y="982831"/>
                </a:lnTo>
                <a:lnTo>
                  <a:pt x="3404374" y="981869"/>
                </a:lnTo>
                <a:lnTo>
                  <a:pt x="3401954" y="980783"/>
                </a:lnTo>
                <a:lnTo>
                  <a:pt x="3399672" y="979579"/>
                </a:lnTo>
                <a:lnTo>
                  <a:pt x="3397537" y="978265"/>
                </a:lnTo>
                <a:lnTo>
                  <a:pt x="3395560" y="976846"/>
                </a:lnTo>
                <a:lnTo>
                  <a:pt x="3393749" y="975329"/>
                </a:lnTo>
                <a:lnTo>
                  <a:pt x="3392116" y="973721"/>
                </a:lnTo>
                <a:lnTo>
                  <a:pt x="3390669" y="972028"/>
                </a:lnTo>
                <a:lnTo>
                  <a:pt x="3389417" y="970257"/>
                </a:lnTo>
                <a:lnTo>
                  <a:pt x="3388372" y="968413"/>
                </a:lnTo>
                <a:lnTo>
                  <a:pt x="3387542" y="966504"/>
                </a:lnTo>
                <a:lnTo>
                  <a:pt x="3386937" y="964536"/>
                </a:lnTo>
                <a:lnTo>
                  <a:pt x="3386567" y="962516"/>
                </a:lnTo>
                <a:lnTo>
                  <a:pt x="3386442" y="960449"/>
                </a:lnTo>
                <a:lnTo>
                  <a:pt x="3386567" y="958382"/>
                </a:lnTo>
                <a:lnTo>
                  <a:pt x="3386937" y="956362"/>
                </a:lnTo>
                <a:lnTo>
                  <a:pt x="3387542" y="954394"/>
                </a:lnTo>
                <a:lnTo>
                  <a:pt x="3388372" y="952485"/>
                </a:lnTo>
                <a:lnTo>
                  <a:pt x="3389417" y="950641"/>
                </a:lnTo>
                <a:lnTo>
                  <a:pt x="3390669" y="948870"/>
                </a:lnTo>
                <a:lnTo>
                  <a:pt x="3392116" y="947177"/>
                </a:lnTo>
                <a:lnTo>
                  <a:pt x="3393749" y="945569"/>
                </a:lnTo>
                <a:lnTo>
                  <a:pt x="3395560" y="944052"/>
                </a:lnTo>
                <a:lnTo>
                  <a:pt x="3397537" y="942633"/>
                </a:lnTo>
                <a:lnTo>
                  <a:pt x="3399672" y="941319"/>
                </a:lnTo>
                <a:lnTo>
                  <a:pt x="3401954" y="940116"/>
                </a:lnTo>
                <a:lnTo>
                  <a:pt x="3404374" y="939029"/>
                </a:lnTo>
                <a:lnTo>
                  <a:pt x="3406922" y="938067"/>
                </a:lnTo>
                <a:lnTo>
                  <a:pt x="3409589" y="937235"/>
                </a:lnTo>
                <a:lnTo>
                  <a:pt x="3412364" y="936540"/>
                </a:lnTo>
                <a:lnTo>
                  <a:pt x="3415239" y="935987"/>
                </a:lnTo>
                <a:lnTo>
                  <a:pt x="3418203" y="935585"/>
                </a:lnTo>
                <a:lnTo>
                  <a:pt x="3421247" y="935339"/>
                </a:lnTo>
                <a:lnTo>
                  <a:pt x="3424361" y="935255"/>
                </a:lnTo>
                <a:lnTo>
                  <a:pt x="3427471" y="935339"/>
                </a:lnTo>
                <a:lnTo>
                  <a:pt x="3430512" y="935585"/>
                </a:lnTo>
                <a:lnTo>
                  <a:pt x="3433473" y="935987"/>
                </a:lnTo>
                <a:lnTo>
                  <a:pt x="3436345" y="936540"/>
                </a:lnTo>
                <a:lnTo>
                  <a:pt x="3439118" y="937235"/>
                </a:lnTo>
                <a:lnTo>
                  <a:pt x="3441783" y="938067"/>
                </a:lnTo>
                <a:lnTo>
                  <a:pt x="3444330" y="939029"/>
                </a:lnTo>
                <a:lnTo>
                  <a:pt x="3446748" y="940116"/>
                </a:lnTo>
                <a:lnTo>
                  <a:pt x="3449029" y="941319"/>
                </a:lnTo>
                <a:lnTo>
                  <a:pt x="3451162" y="942633"/>
                </a:lnTo>
                <a:lnTo>
                  <a:pt x="3453139" y="944052"/>
                </a:lnTo>
                <a:lnTo>
                  <a:pt x="3454948" y="945569"/>
                </a:lnTo>
                <a:lnTo>
                  <a:pt x="3456582" y="947177"/>
                </a:lnTo>
                <a:lnTo>
                  <a:pt x="3458028" y="948870"/>
                </a:lnTo>
                <a:lnTo>
                  <a:pt x="3459279" y="950641"/>
                </a:lnTo>
                <a:lnTo>
                  <a:pt x="3460325" y="952485"/>
                </a:lnTo>
                <a:lnTo>
                  <a:pt x="3461154" y="954394"/>
                </a:lnTo>
                <a:lnTo>
                  <a:pt x="3461759" y="956362"/>
                </a:lnTo>
                <a:lnTo>
                  <a:pt x="3462129" y="958382"/>
                </a:lnTo>
                <a:lnTo>
                  <a:pt x="3462255" y="960449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published_A_empagliflozin_marker_107">
            <a:extLst>
              <a:ext uri="{FF2B5EF4-FFF2-40B4-BE49-F238E27FC236}">
                <a16:creationId xmlns:a16="http://schemas.microsoft.com/office/drawing/2014/main" id="{6A7438D5-0CFF-44AF-B714-C8F817D533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06686"/>
                </a:moveTo>
                <a:lnTo>
                  <a:pt x="3923201" y="608753"/>
                </a:lnTo>
                <a:lnTo>
                  <a:pt x="3922831" y="610773"/>
                </a:lnTo>
                <a:lnTo>
                  <a:pt x="3922227" y="612741"/>
                </a:lnTo>
                <a:lnTo>
                  <a:pt x="3921397" y="614650"/>
                </a:lnTo>
                <a:lnTo>
                  <a:pt x="3920351" y="616494"/>
                </a:lnTo>
                <a:lnTo>
                  <a:pt x="3919100" y="618265"/>
                </a:lnTo>
                <a:lnTo>
                  <a:pt x="3917653" y="619958"/>
                </a:lnTo>
                <a:lnTo>
                  <a:pt x="3916019" y="621566"/>
                </a:lnTo>
                <a:lnTo>
                  <a:pt x="3914209" y="623083"/>
                </a:lnTo>
                <a:lnTo>
                  <a:pt x="3912232" y="624502"/>
                </a:lnTo>
                <a:lnTo>
                  <a:pt x="3910097" y="625816"/>
                </a:lnTo>
                <a:lnTo>
                  <a:pt x="3907815" y="627020"/>
                </a:lnTo>
                <a:lnTo>
                  <a:pt x="3905395" y="628106"/>
                </a:lnTo>
                <a:lnTo>
                  <a:pt x="3902847" y="629068"/>
                </a:lnTo>
                <a:lnTo>
                  <a:pt x="3900180" y="629900"/>
                </a:lnTo>
                <a:lnTo>
                  <a:pt x="3897404" y="630596"/>
                </a:lnTo>
                <a:lnTo>
                  <a:pt x="3894530" y="631148"/>
                </a:lnTo>
                <a:lnTo>
                  <a:pt x="3891566" y="631550"/>
                </a:lnTo>
                <a:lnTo>
                  <a:pt x="3888522" y="631796"/>
                </a:lnTo>
                <a:lnTo>
                  <a:pt x="3885408" y="631880"/>
                </a:lnTo>
                <a:lnTo>
                  <a:pt x="3882298" y="631796"/>
                </a:lnTo>
                <a:lnTo>
                  <a:pt x="3879257" y="631550"/>
                </a:lnTo>
                <a:lnTo>
                  <a:pt x="3876296" y="631148"/>
                </a:lnTo>
                <a:lnTo>
                  <a:pt x="3873424" y="630596"/>
                </a:lnTo>
                <a:lnTo>
                  <a:pt x="3870650" y="629900"/>
                </a:lnTo>
                <a:lnTo>
                  <a:pt x="3867986" y="629068"/>
                </a:lnTo>
                <a:lnTo>
                  <a:pt x="3865439" y="628106"/>
                </a:lnTo>
                <a:lnTo>
                  <a:pt x="3863021" y="627020"/>
                </a:lnTo>
                <a:lnTo>
                  <a:pt x="3860740" y="625816"/>
                </a:lnTo>
                <a:lnTo>
                  <a:pt x="3858606" y="624502"/>
                </a:lnTo>
                <a:lnTo>
                  <a:pt x="3856630" y="623083"/>
                </a:lnTo>
                <a:lnTo>
                  <a:pt x="3854820" y="621566"/>
                </a:lnTo>
                <a:lnTo>
                  <a:pt x="3853187" y="619958"/>
                </a:lnTo>
                <a:lnTo>
                  <a:pt x="3851740" y="618265"/>
                </a:lnTo>
                <a:lnTo>
                  <a:pt x="3850489" y="616494"/>
                </a:lnTo>
                <a:lnTo>
                  <a:pt x="3849444" y="614650"/>
                </a:lnTo>
                <a:lnTo>
                  <a:pt x="3848614" y="612741"/>
                </a:lnTo>
                <a:lnTo>
                  <a:pt x="3848009" y="610773"/>
                </a:lnTo>
                <a:lnTo>
                  <a:pt x="3847639" y="608753"/>
                </a:lnTo>
                <a:lnTo>
                  <a:pt x="3847514" y="606686"/>
                </a:lnTo>
                <a:lnTo>
                  <a:pt x="3847639" y="604619"/>
                </a:lnTo>
                <a:lnTo>
                  <a:pt x="3848009" y="602599"/>
                </a:lnTo>
                <a:lnTo>
                  <a:pt x="3848614" y="600631"/>
                </a:lnTo>
                <a:lnTo>
                  <a:pt x="3849444" y="598722"/>
                </a:lnTo>
                <a:lnTo>
                  <a:pt x="3850489" y="596878"/>
                </a:lnTo>
                <a:lnTo>
                  <a:pt x="3851740" y="595107"/>
                </a:lnTo>
                <a:lnTo>
                  <a:pt x="3853187" y="593414"/>
                </a:lnTo>
                <a:lnTo>
                  <a:pt x="3854820" y="591806"/>
                </a:lnTo>
                <a:lnTo>
                  <a:pt x="3856630" y="590289"/>
                </a:lnTo>
                <a:lnTo>
                  <a:pt x="3858606" y="588870"/>
                </a:lnTo>
                <a:lnTo>
                  <a:pt x="3860740" y="587556"/>
                </a:lnTo>
                <a:lnTo>
                  <a:pt x="3863021" y="586352"/>
                </a:lnTo>
                <a:lnTo>
                  <a:pt x="3865439" y="585266"/>
                </a:lnTo>
                <a:lnTo>
                  <a:pt x="3867986" y="584304"/>
                </a:lnTo>
                <a:lnTo>
                  <a:pt x="3870650" y="583472"/>
                </a:lnTo>
                <a:lnTo>
                  <a:pt x="3873424" y="582776"/>
                </a:lnTo>
                <a:lnTo>
                  <a:pt x="3876296" y="582224"/>
                </a:lnTo>
                <a:lnTo>
                  <a:pt x="3879257" y="581822"/>
                </a:lnTo>
                <a:lnTo>
                  <a:pt x="3882298" y="581576"/>
                </a:lnTo>
                <a:lnTo>
                  <a:pt x="3885408" y="581492"/>
                </a:lnTo>
                <a:lnTo>
                  <a:pt x="3888522" y="581576"/>
                </a:lnTo>
                <a:lnTo>
                  <a:pt x="3891566" y="581822"/>
                </a:lnTo>
                <a:lnTo>
                  <a:pt x="3894530" y="582224"/>
                </a:lnTo>
                <a:lnTo>
                  <a:pt x="3897404" y="582776"/>
                </a:lnTo>
                <a:lnTo>
                  <a:pt x="3900180" y="583472"/>
                </a:lnTo>
                <a:lnTo>
                  <a:pt x="3902847" y="584304"/>
                </a:lnTo>
                <a:lnTo>
                  <a:pt x="3905395" y="585266"/>
                </a:lnTo>
                <a:lnTo>
                  <a:pt x="3907815" y="586352"/>
                </a:lnTo>
                <a:lnTo>
                  <a:pt x="3910097" y="587556"/>
                </a:lnTo>
                <a:lnTo>
                  <a:pt x="3912232" y="588870"/>
                </a:lnTo>
                <a:lnTo>
                  <a:pt x="3914209" y="590289"/>
                </a:lnTo>
                <a:lnTo>
                  <a:pt x="3916019" y="591806"/>
                </a:lnTo>
                <a:lnTo>
                  <a:pt x="3917653" y="593414"/>
                </a:lnTo>
                <a:lnTo>
                  <a:pt x="3919100" y="595107"/>
                </a:lnTo>
                <a:lnTo>
                  <a:pt x="3920351" y="596878"/>
                </a:lnTo>
                <a:lnTo>
                  <a:pt x="3921397" y="598722"/>
                </a:lnTo>
                <a:lnTo>
                  <a:pt x="3922227" y="600631"/>
                </a:lnTo>
                <a:lnTo>
                  <a:pt x="3922831" y="602599"/>
                </a:lnTo>
                <a:lnTo>
                  <a:pt x="3923201" y="604619"/>
                </a:lnTo>
                <a:lnTo>
                  <a:pt x="3923327" y="606686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published_A_empagliflozin_curve_108">
            <a:extLst>
              <a:ext uri="{FF2B5EF4-FFF2-40B4-BE49-F238E27FC236}">
                <a16:creationId xmlns:a16="http://schemas.microsoft.com/office/drawing/2014/main" id="{C2CBDC56-2B17-4E2A-91EF-6901D677B30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3061" y="688766"/>
                </a:lnTo>
                <a:moveTo>
                  <a:pt x="653061" y="688766"/>
                </a:moveTo>
                <a:lnTo>
                  <a:pt x="1115833" y="688766"/>
                </a:lnTo>
                <a:moveTo>
                  <a:pt x="1115833" y="688766"/>
                </a:moveTo>
                <a:lnTo>
                  <a:pt x="2038763" y="852291"/>
                </a:lnTo>
                <a:moveTo>
                  <a:pt x="2038763" y="852291"/>
                </a:moveTo>
                <a:lnTo>
                  <a:pt x="3424338" y="960434"/>
                </a:lnTo>
                <a:moveTo>
                  <a:pt x="3424338" y="960434"/>
                </a:moveTo>
                <a:lnTo>
                  <a:pt x="3885426" y="606685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A_empagliflozin_error_bar_109">
            <a:extLst>
              <a:ext uri="{FF2B5EF4-FFF2-40B4-BE49-F238E27FC236}">
                <a16:creationId xmlns:a16="http://schemas.microsoft.com/office/drawing/2014/main" id="{475CA737-9C98-4DE7-A1E8-823ED04891B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863558"/>
                </a:moveTo>
                <a:lnTo>
                  <a:pt x="3936286" y="86355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published_A_empagliflozin_error_bar_110">
            <a:extLst>
              <a:ext uri="{FF2B5EF4-FFF2-40B4-BE49-F238E27FC236}">
                <a16:creationId xmlns:a16="http://schemas.microsoft.com/office/drawing/2014/main" id="{3E246F40-8782-4877-AFAC-B720B134B77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396809"/>
                </a:moveTo>
                <a:lnTo>
                  <a:pt x="3936286" y="39680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published_A_empagliflozin_error_bar_111">
            <a:extLst>
              <a:ext uri="{FF2B5EF4-FFF2-40B4-BE49-F238E27FC236}">
                <a16:creationId xmlns:a16="http://schemas.microsoft.com/office/drawing/2014/main" id="{CD776036-6953-4B0F-9242-B37AFB1986E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396809"/>
                </a:moveTo>
                <a:lnTo>
                  <a:pt x="3885730" y="86354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published_A_empagliflozin_error_bar_112">
            <a:extLst>
              <a:ext uri="{FF2B5EF4-FFF2-40B4-BE49-F238E27FC236}">
                <a16:creationId xmlns:a16="http://schemas.microsoft.com/office/drawing/2014/main" id="{F65F23B6-E756-42D8-81A7-59EB2B2531F7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09487"/>
                </a:moveTo>
                <a:lnTo>
                  <a:pt x="3474890" y="110948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published_A_empagliflozin_error_bar_113">
            <a:extLst>
              <a:ext uri="{FF2B5EF4-FFF2-40B4-BE49-F238E27FC236}">
                <a16:creationId xmlns:a16="http://schemas.microsoft.com/office/drawing/2014/main" id="{F409CCA1-968E-471C-8404-5AFFA2B1941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06261"/>
                </a:moveTo>
                <a:lnTo>
                  <a:pt x="3474890" y="8062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published_A_empagliflozin_error_bar_114">
            <a:extLst>
              <a:ext uri="{FF2B5EF4-FFF2-40B4-BE49-F238E27FC236}">
                <a16:creationId xmlns:a16="http://schemas.microsoft.com/office/drawing/2014/main" id="{CB689EA9-F674-42A2-ABBF-A9F64DB553C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06261"/>
                </a:moveTo>
                <a:lnTo>
                  <a:pt x="3424344" y="11094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1" name="published_A_empagliflozin_error_bar_115">
            <a:extLst>
              <a:ext uri="{FF2B5EF4-FFF2-40B4-BE49-F238E27FC236}">
                <a16:creationId xmlns:a16="http://schemas.microsoft.com/office/drawing/2014/main" id="{B04CB086-0DA6-4859-9DD5-373B002A3CD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03906"/>
                </a:moveTo>
                <a:lnTo>
                  <a:pt x="2089335" y="100390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published_A_empagliflozin_error_bar_116">
            <a:extLst>
              <a:ext uri="{FF2B5EF4-FFF2-40B4-BE49-F238E27FC236}">
                <a16:creationId xmlns:a16="http://schemas.microsoft.com/office/drawing/2014/main" id="{82E5FD72-BEB1-4F33-808D-206934B34CB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687804"/>
                </a:moveTo>
                <a:lnTo>
                  <a:pt x="2089335" y="68780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published_A_empagliflozin_error_bar_117">
            <a:extLst>
              <a:ext uri="{FF2B5EF4-FFF2-40B4-BE49-F238E27FC236}">
                <a16:creationId xmlns:a16="http://schemas.microsoft.com/office/drawing/2014/main" id="{07B144F5-150C-492C-A3E1-E1C471D460E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687804"/>
                </a:moveTo>
                <a:lnTo>
                  <a:pt x="2038782" y="100389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published_A_empagliflozin_error_bar_118">
            <a:extLst>
              <a:ext uri="{FF2B5EF4-FFF2-40B4-BE49-F238E27FC236}">
                <a16:creationId xmlns:a16="http://schemas.microsoft.com/office/drawing/2014/main" id="{D8F3D618-D445-4ADB-A610-78BA8E8B15C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63720"/>
                </a:moveTo>
                <a:lnTo>
                  <a:pt x="1165638" y="86372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published_A_empagliflozin_error_bar_119">
            <a:extLst>
              <a:ext uri="{FF2B5EF4-FFF2-40B4-BE49-F238E27FC236}">
                <a16:creationId xmlns:a16="http://schemas.microsoft.com/office/drawing/2014/main" id="{C7C91429-99BA-4379-8C14-CC707AD94AA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22672"/>
                </a:moveTo>
                <a:lnTo>
                  <a:pt x="1165638" y="5226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published_A_empagliflozin_error_bar_120">
            <a:extLst>
              <a:ext uri="{FF2B5EF4-FFF2-40B4-BE49-F238E27FC236}">
                <a16:creationId xmlns:a16="http://schemas.microsoft.com/office/drawing/2014/main" id="{BFF5B553-6CD6-4795-B7D7-D2B987F795B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22672"/>
                </a:moveTo>
                <a:lnTo>
                  <a:pt x="1115089" y="86372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published_A_empagliflozin_error_bar_121">
            <a:extLst>
              <a:ext uri="{FF2B5EF4-FFF2-40B4-BE49-F238E27FC236}">
                <a16:creationId xmlns:a16="http://schemas.microsoft.com/office/drawing/2014/main" id="{099534FD-877D-49C9-9048-CF8750494C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57764"/>
                </a:moveTo>
                <a:lnTo>
                  <a:pt x="703613" y="85776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published_A_empagliflozin_error_bar_122">
            <a:extLst>
              <a:ext uri="{FF2B5EF4-FFF2-40B4-BE49-F238E27FC236}">
                <a16:creationId xmlns:a16="http://schemas.microsoft.com/office/drawing/2014/main" id="{5D423250-141F-4CAC-A849-9255314D217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506898"/>
                </a:moveTo>
                <a:lnTo>
                  <a:pt x="703613" y="50689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published_A_empagliflozin_error_bar_123">
            <a:extLst>
              <a:ext uri="{FF2B5EF4-FFF2-40B4-BE49-F238E27FC236}">
                <a16:creationId xmlns:a16="http://schemas.microsoft.com/office/drawing/2014/main" id="{9F578057-8AE8-4C38-924A-9D252698E82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506898"/>
                </a:moveTo>
                <a:lnTo>
                  <a:pt x="653061" y="8577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published_A_finerenone_curve_124">
            <a:extLst>
              <a:ext uri="{FF2B5EF4-FFF2-40B4-BE49-F238E27FC236}">
                <a16:creationId xmlns:a16="http://schemas.microsoft.com/office/drawing/2014/main" id="{4A5A5F24-D9A3-4007-B47C-6283DEC76D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588341"/>
                </a:lnTo>
                <a:moveTo>
                  <a:pt x="654394" y="588341"/>
                </a:moveTo>
                <a:lnTo>
                  <a:pt x="1115833" y="726757"/>
                </a:lnTo>
                <a:moveTo>
                  <a:pt x="1115833" y="726757"/>
                </a:moveTo>
                <a:lnTo>
                  <a:pt x="2038763" y="913438"/>
                </a:lnTo>
                <a:moveTo>
                  <a:pt x="2038763" y="913438"/>
                </a:moveTo>
                <a:lnTo>
                  <a:pt x="3424338" y="1013879"/>
                </a:lnTo>
                <a:moveTo>
                  <a:pt x="3424338" y="1013879"/>
                </a:moveTo>
                <a:lnTo>
                  <a:pt x="3885426" y="683286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published_A_finerenone_error_bar_125">
            <a:extLst>
              <a:ext uri="{FF2B5EF4-FFF2-40B4-BE49-F238E27FC236}">
                <a16:creationId xmlns:a16="http://schemas.microsoft.com/office/drawing/2014/main" id="{C2CF0C7D-E5B0-425F-AF27-DC23B95822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486297"/>
                </a:moveTo>
                <a:lnTo>
                  <a:pt x="3936286" y="48629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published_A_finerenone_error_bar_126">
            <a:extLst>
              <a:ext uri="{FF2B5EF4-FFF2-40B4-BE49-F238E27FC236}">
                <a16:creationId xmlns:a16="http://schemas.microsoft.com/office/drawing/2014/main" id="{9189FDB4-BDD5-41CD-A511-C3E73DC3BAC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786303"/>
                </a:moveTo>
                <a:lnTo>
                  <a:pt x="3936286" y="78630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published_A_finerenone_error_bar_127">
            <a:extLst>
              <a:ext uri="{FF2B5EF4-FFF2-40B4-BE49-F238E27FC236}">
                <a16:creationId xmlns:a16="http://schemas.microsoft.com/office/drawing/2014/main" id="{B711A435-2193-40E4-B8D9-B21FC902C83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486297"/>
                </a:moveTo>
                <a:lnTo>
                  <a:pt x="3885730" y="78628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published_A_finerenone_error_bar_128">
            <a:extLst>
              <a:ext uri="{FF2B5EF4-FFF2-40B4-BE49-F238E27FC236}">
                <a16:creationId xmlns:a16="http://schemas.microsoft.com/office/drawing/2014/main" id="{2CA19FFA-AC9F-4BA9-9962-AB4423B23F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63880"/>
                </a:moveTo>
                <a:lnTo>
                  <a:pt x="3474890" y="86388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published_A_finerenone_error_bar_129">
            <a:extLst>
              <a:ext uri="{FF2B5EF4-FFF2-40B4-BE49-F238E27FC236}">
                <a16:creationId xmlns:a16="http://schemas.microsoft.com/office/drawing/2014/main" id="{B416C343-B38E-4F05-A66F-846A5E526B3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53264"/>
                </a:moveTo>
                <a:lnTo>
                  <a:pt x="3474890" y="115326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published_A_finerenone_error_bar_130">
            <a:extLst>
              <a:ext uri="{FF2B5EF4-FFF2-40B4-BE49-F238E27FC236}">
                <a16:creationId xmlns:a16="http://schemas.microsoft.com/office/drawing/2014/main" id="{57402997-112C-43DD-A76F-6358598947D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63880"/>
                </a:moveTo>
                <a:lnTo>
                  <a:pt x="3424344" y="115325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published_A_finerenone_error_bar_131">
            <a:extLst>
              <a:ext uri="{FF2B5EF4-FFF2-40B4-BE49-F238E27FC236}">
                <a16:creationId xmlns:a16="http://schemas.microsoft.com/office/drawing/2014/main" id="{911A0DA3-61ED-4CCC-8085-2535C6B9C32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752506"/>
                </a:moveTo>
                <a:lnTo>
                  <a:pt x="2089335" y="7525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published_A_finerenone_error_bar_132">
            <a:extLst>
              <a:ext uri="{FF2B5EF4-FFF2-40B4-BE49-F238E27FC236}">
                <a16:creationId xmlns:a16="http://schemas.microsoft.com/office/drawing/2014/main" id="{5E905D03-9FFE-4D61-9186-BEBEA4D9707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58143"/>
                </a:moveTo>
                <a:lnTo>
                  <a:pt x="2089335" y="105814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published_A_finerenone_error_bar_133">
            <a:extLst>
              <a:ext uri="{FF2B5EF4-FFF2-40B4-BE49-F238E27FC236}">
                <a16:creationId xmlns:a16="http://schemas.microsoft.com/office/drawing/2014/main" id="{AC87FEE5-9EEA-48FF-97B1-2BC62A6C6C4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752506"/>
                </a:moveTo>
                <a:lnTo>
                  <a:pt x="2038782" y="105813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published_A_finerenone_error_bar_134">
            <a:extLst>
              <a:ext uri="{FF2B5EF4-FFF2-40B4-BE49-F238E27FC236}">
                <a16:creationId xmlns:a16="http://schemas.microsoft.com/office/drawing/2014/main" id="{D6885A94-797A-40F8-A6B8-A49F5795210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46976"/>
                </a:moveTo>
                <a:lnTo>
                  <a:pt x="1165638" y="54697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published_A_finerenone_error_bar_135">
            <a:extLst>
              <a:ext uri="{FF2B5EF4-FFF2-40B4-BE49-F238E27FC236}">
                <a16:creationId xmlns:a16="http://schemas.microsoft.com/office/drawing/2014/main" id="{E9B39D35-65B8-4A19-8D29-CF0F7FA1C1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87702"/>
                </a:moveTo>
                <a:lnTo>
                  <a:pt x="1165638" y="88770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published_A_finerenone_error_bar_136">
            <a:extLst>
              <a:ext uri="{FF2B5EF4-FFF2-40B4-BE49-F238E27FC236}">
                <a16:creationId xmlns:a16="http://schemas.microsoft.com/office/drawing/2014/main" id="{A6B2500C-A90E-4370-9618-767DF47322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46976"/>
                </a:moveTo>
                <a:lnTo>
                  <a:pt x="1115089" y="88769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published_A_finerenone_error_bar_137">
            <a:extLst>
              <a:ext uri="{FF2B5EF4-FFF2-40B4-BE49-F238E27FC236}">
                <a16:creationId xmlns:a16="http://schemas.microsoft.com/office/drawing/2014/main" id="{9101961C-05C3-4629-9C17-0AF0DA37A7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398101"/>
                </a:moveTo>
                <a:lnTo>
                  <a:pt x="703613" y="39810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published_A_finerenone_error_bar_138">
            <a:extLst>
              <a:ext uri="{FF2B5EF4-FFF2-40B4-BE49-F238E27FC236}">
                <a16:creationId xmlns:a16="http://schemas.microsoft.com/office/drawing/2014/main" id="{032E6905-1323-47C8-BD3F-803E3417E28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768921"/>
                </a:moveTo>
                <a:lnTo>
                  <a:pt x="703613" y="76892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published_A_finerenone_error_bar_139">
            <a:extLst>
              <a:ext uri="{FF2B5EF4-FFF2-40B4-BE49-F238E27FC236}">
                <a16:creationId xmlns:a16="http://schemas.microsoft.com/office/drawing/2014/main" id="{8E82A52E-D724-4D02-9E70-F19B6443E0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398101"/>
                </a:moveTo>
                <a:lnTo>
                  <a:pt x="653061" y="76892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published_A_finerenone_marker_140">
            <a:extLst>
              <a:ext uri="{FF2B5EF4-FFF2-40B4-BE49-F238E27FC236}">
                <a16:creationId xmlns:a16="http://schemas.microsoft.com/office/drawing/2014/main" id="{4C62DB5F-D9C9-4289-96FE-00B19F1FB7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588339"/>
                </a:moveTo>
                <a:lnTo>
                  <a:pt x="692185" y="590405"/>
                </a:lnTo>
                <a:lnTo>
                  <a:pt x="691815" y="592425"/>
                </a:lnTo>
                <a:lnTo>
                  <a:pt x="691210" y="594393"/>
                </a:lnTo>
                <a:lnTo>
                  <a:pt x="690380" y="596301"/>
                </a:lnTo>
                <a:lnTo>
                  <a:pt x="689335" y="598144"/>
                </a:lnTo>
                <a:lnTo>
                  <a:pt x="688084" y="599914"/>
                </a:lnTo>
                <a:lnTo>
                  <a:pt x="686637" y="601606"/>
                </a:lnTo>
                <a:lnTo>
                  <a:pt x="685004" y="603213"/>
                </a:lnTo>
                <a:lnTo>
                  <a:pt x="683194" y="604728"/>
                </a:lnTo>
                <a:lnTo>
                  <a:pt x="681218" y="606146"/>
                </a:lnTo>
                <a:lnTo>
                  <a:pt x="679084" y="607459"/>
                </a:lnTo>
                <a:lnTo>
                  <a:pt x="676804" y="608661"/>
                </a:lnTo>
                <a:lnTo>
                  <a:pt x="674385" y="609746"/>
                </a:lnTo>
                <a:lnTo>
                  <a:pt x="671839" y="610708"/>
                </a:lnTo>
                <a:lnTo>
                  <a:pt x="669174" y="611539"/>
                </a:lnTo>
                <a:lnTo>
                  <a:pt x="666401" y="612233"/>
                </a:lnTo>
                <a:lnTo>
                  <a:pt x="663528" y="612785"/>
                </a:lnTo>
                <a:lnTo>
                  <a:pt x="660567" y="613187"/>
                </a:lnTo>
                <a:lnTo>
                  <a:pt x="657527" y="613432"/>
                </a:lnTo>
                <a:lnTo>
                  <a:pt x="654416" y="613516"/>
                </a:lnTo>
                <a:lnTo>
                  <a:pt x="651302" y="613432"/>
                </a:lnTo>
                <a:lnTo>
                  <a:pt x="648259" y="613187"/>
                </a:lnTo>
                <a:lnTo>
                  <a:pt x="645294" y="612785"/>
                </a:lnTo>
                <a:lnTo>
                  <a:pt x="642420" y="612233"/>
                </a:lnTo>
                <a:lnTo>
                  <a:pt x="639644" y="611539"/>
                </a:lnTo>
                <a:lnTo>
                  <a:pt x="636977" y="610708"/>
                </a:lnTo>
                <a:lnTo>
                  <a:pt x="634429" y="609746"/>
                </a:lnTo>
                <a:lnTo>
                  <a:pt x="632009" y="608661"/>
                </a:lnTo>
                <a:lnTo>
                  <a:pt x="629727" y="607459"/>
                </a:lnTo>
                <a:lnTo>
                  <a:pt x="627593" y="606146"/>
                </a:lnTo>
                <a:lnTo>
                  <a:pt x="625615" y="604728"/>
                </a:lnTo>
                <a:lnTo>
                  <a:pt x="623805" y="603213"/>
                </a:lnTo>
                <a:lnTo>
                  <a:pt x="622172" y="601606"/>
                </a:lnTo>
                <a:lnTo>
                  <a:pt x="620724" y="599914"/>
                </a:lnTo>
                <a:lnTo>
                  <a:pt x="619473" y="598144"/>
                </a:lnTo>
                <a:lnTo>
                  <a:pt x="618428" y="596301"/>
                </a:lnTo>
                <a:lnTo>
                  <a:pt x="617598" y="594393"/>
                </a:lnTo>
                <a:lnTo>
                  <a:pt x="616993" y="592425"/>
                </a:lnTo>
                <a:lnTo>
                  <a:pt x="616623" y="590405"/>
                </a:lnTo>
                <a:lnTo>
                  <a:pt x="616497" y="588339"/>
                </a:lnTo>
                <a:lnTo>
                  <a:pt x="616623" y="586272"/>
                </a:lnTo>
                <a:lnTo>
                  <a:pt x="616993" y="584251"/>
                </a:lnTo>
                <a:lnTo>
                  <a:pt x="617598" y="582283"/>
                </a:lnTo>
                <a:lnTo>
                  <a:pt x="618428" y="580374"/>
                </a:lnTo>
                <a:lnTo>
                  <a:pt x="619473" y="578531"/>
                </a:lnTo>
                <a:lnTo>
                  <a:pt x="620724" y="576759"/>
                </a:lnTo>
                <a:lnTo>
                  <a:pt x="622172" y="575066"/>
                </a:lnTo>
                <a:lnTo>
                  <a:pt x="623805" y="573458"/>
                </a:lnTo>
                <a:lnTo>
                  <a:pt x="625615" y="571942"/>
                </a:lnTo>
                <a:lnTo>
                  <a:pt x="627593" y="570523"/>
                </a:lnTo>
                <a:lnTo>
                  <a:pt x="629727" y="569209"/>
                </a:lnTo>
                <a:lnTo>
                  <a:pt x="632009" y="568005"/>
                </a:lnTo>
                <a:lnTo>
                  <a:pt x="634429" y="566919"/>
                </a:lnTo>
                <a:lnTo>
                  <a:pt x="636977" y="565956"/>
                </a:lnTo>
                <a:lnTo>
                  <a:pt x="639644" y="565124"/>
                </a:lnTo>
                <a:lnTo>
                  <a:pt x="642420" y="564429"/>
                </a:lnTo>
                <a:lnTo>
                  <a:pt x="645294" y="563877"/>
                </a:lnTo>
                <a:lnTo>
                  <a:pt x="648259" y="563474"/>
                </a:lnTo>
                <a:lnTo>
                  <a:pt x="651302" y="563228"/>
                </a:lnTo>
                <a:lnTo>
                  <a:pt x="654416" y="563145"/>
                </a:lnTo>
                <a:lnTo>
                  <a:pt x="657527" y="563228"/>
                </a:lnTo>
                <a:lnTo>
                  <a:pt x="660567" y="563474"/>
                </a:lnTo>
                <a:lnTo>
                  <a:pt x="663528" y="563877"/>
                </a:lnTo>
                <a:lnTo>
                  <a:pt x="666401" y="564429"/>
                </a:lnTo>
                <a:lnTo>
                  <a:pt x="669174" y="565124"/>
                </a:lnTo>
                <a:lnTo>
                  <a:pt x="671839" y="565956"/>
                </a:lnTo>
                <a:lnTo>
                  <a:pt x="674385" y="566919"/>
                </a:lnTo>
                <a:lnTo>
                  <a:pt x="676804" y="568005"/>
                </a:lnTo>
                <a:lnTo>
                  <a:pt x="679084" y="569209"/>
                </a:lnTo>
                <a:lnTo>
                  <a:pt x="681218" y="570523"/>
                </a:lnTo>
                <a:lnTo>
                  <a:pt x="683194" y="571942"/>
                </a:lnTo>
                <a:lnTo>
                  <a:pt x="685004" y="573458"/>
                </a:lnTo>
                <a:lnTo>
                  <a:pt x="686637" y="575066"/>
                </a:lnTo>
                <a:lnTo>
                  <a:pt x="688084" y="576759"/>
                </a:lnTo>
                <a:lnTo>
                  <a:pt x="689335" y="578531"/>
                </a:lnTo>
                <a:lnTo>
                  <a:pt x="690380" y="580374"/>
                </a:lnTo>
                <a:lnTo>
                  <a:pt x="691210" y="582283"/>
                </a:lnTo>
                <a:lnTo>
                  <a:pt x="691815" y="584251"/>
                </a:lnTo>
                <a:lnTo>
                  <a:pt x="692185" y="586272"/>
                </a:lnTo>
                <a:lnTo>
                  <a:pt x="692310" y="588339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published_A_finerenone_marker_141">
            <a:extLst>
              <a:ext uri="{FF2B5EF4-FFF2-40B4-BE49-F238E27FC236}">
                <a16:creationId xmlns:a16="http://schemas.microsoft.com/office/drawing/2014/main" id="{E5F89B99-F78D-4A86-8FAC-2614B891F96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726754"/>
                </a:moveTo>
                <a:lnTo>
                  <a:pt x="1153619" y="728820"/>
                </a:lnTo>
                <a:lnTo>
                  <a:pt x="1153249" y="730841"/>
                </a:lnTo>
                <a:lnTo>
                  <a:pt x="1152644" y="732809"/>
                </a:lnTo>
                <a:lnTo>
                  <a:pt x="1151814" y="734718"/>
                </a:lnTo>
                <a:lnTo>
                  <a:pt x="1150769" y="736561"/>
                </a:lnTo>
                <a:lnTo>
                  <a:pt x="1149518" y="738333"/>
                </a:lnTo>
                <a:lnTo>
                  <a:pt x="1148071" y="740026"/>
                </a:lnTo>
                <a:lnTo>
                  <a:pt x="1146438" y="741634"/>
                </a:lnTo>
                <a:lnTo>
                  <a:pt x="1144629" y="743150"/>
                </a:lnTo>
                <a:lnTo>
                  <a:pt x="1142652" y="744569"/>
                </a:lnTo>
                <a:lnTo>
                  <a:pt x="1140519" y="745884"/>
                </a:lnTo>
                <a:lnTo>
                  <a:pt x="1138238" y="747087"/>
                </a:lnTo>
                <a:lnTo>
                  <a:pt x="1135819" y="748173"/>
                </a:lnTo>
                <a:lnTo>
                  <a:pt x="1133273" y="749136"/>
                </a:lnTo>
                <a:lnTo>
                  <a:pt x="1130608" y="749968"/>
                </a:lnTo>
                <a:lnTo>
                  <a:pt x="1127835" y="750663"/>
                </a:lnTo>
                <a:lnTo>
                  <a:pt x="1124963" y="751215"/>
                </a:lnTo>
                <a:lnTo>
                  <a:pt x="1122002" y="751618"/>
                </a:lnTo>
                <a:lnTo>
                  <a:pt x="1118961" y="751864"/>
                </a:lnTo>
                <a:lnTo>
                  <a:pt x="1115851" y="751947"/>
                </a:lnTo>
                <a:lnTo>
                  <a:pt x="1112737" y="751864"/>
                </a:lnTo>
                <a:lnTo>
                  <a:pt x="1109693" y="751618"/>
                </a:lnTo>
                <a:lnTo>
                  <a:pt x="1106729" y="751215"/>
                </a:lnTo>
                <a:lnTo>
                  <a:pt x="1103854" y="750663"/>
                </a:lnTo>
                <a:lnTo>
                  <a:pt x="1101079" y="749968"/>
                </a:lnTo>
                <a:lnTo>
                  <a:pt x="1098412" y="749136"/>
                </a:lnTo>
                <a:lnTo>
                  <a:pt x="1095864" y="748173"/>
                </a:lnTo>
                <a:lnTo>
                  <a:pt x="1093444" y="747087"/>
                </a:lnTo>
                <a:lnTo>
                  <a:pt x="1091162" y="745884"/>
                </a:lnTo>
                <a:lnTo>
                  <a:pt x="1089027" y="744569"/>
                </a:lnTo>
                <a:lnTo>
                  <a:pt x="1087050" y="743150"/>
                </a:lnTo>
                <a:lnTo>
                  <a:pt x="1085240" y="741634"/>
                </a:lnTo>
                <a:lnTo>
                  <a:pt x="1083606" y="740026"/>
                </a:lnTo>
                <a:lnTo>
                  <a:pt x="1082159" y="738333"/>
                </a:lnTo>
                <a:lnTo>
                  <a:pt x="1080908" y="736561"/>
                </a:lnTo>
                <a:lnTo>
                  <a:pt x="1079862" y="734718"/>
                </a:lnTo>
                <a:lnTo>
                  <a:pt x="1079032" y="732809"/>
                </a:lnTo>
                <a:lnTo>
                  <a:pt x="1078427" y="730841"/>
                </a:lnTo>
                <a:lnTo>
                  <a:pt x="1078057" y="728820"/>
                </a:lnTo>
                <a:lnTo>
                  <a:pt x="1077932" y="726754"/>
                </a:lnTo>
                <a:lnTo>
                  <a:pt x="1078057" y="724687"/>
                </a:lnTo>
                <a:lnTo>
                  <a:pt x="1078427" y="722666"/>
                </a:lnTo>
                <a:lnTo>
                  <a:pt x="1079032" y="720698"/>
                </a:lnTo>
                <a:lnTo>
                  <a:pt x="1079862" y="718789"/>
                </a:lnTo>
                <a:lnTo>
                  <a:pt x="1080908" y="716946"/>
                </a:lnTo>
                <a:lnTo>
                  <a:pt x="1082159" y="715174"/>
                </a:lnTo>
                <a:lnTo>
                  <a:pt x="1083606" y="713481"/>
                </a:lnTo>
                <a:lnTo>
                  <a:pt x="1085240" y="711873"/>
                </a:lnTo>
                <a:lnTo>
                  <a:pt x="1087050" y="710357"/>
                </a:lnTo>
                <a:lnTo>
                  <a:pt x="1089027" y="708938"/>
                </a:lnTo>
                <a:lnTo>
                  <a:pt x="1091162" y="707623"/>
                </a:lnTo>
                <a:lnTo>
                  <a:pt x="1093444" y="706420"/>
                </a:lnTo>
                <a:lnTo>
                  <a:pt x="1095864" y="705334"/>
                </a:lnTo>
                <a:lnTo>
                  <a:pt x="1098412" y="704371"/>
                </a:lnTo>
                <a:lnTo>
                  <a:pt x="1101079" y="703539"/>
                </a:lnTo>
                <a:lnTo>
                  <a:pt x="1103854" y="702844"/>
                </a:lnTo>
                <a:lnTo>
                  <a:pt x="1106729" y="702292"/>
                </a:lnTo>
                <a:lnTo>
                  <a:pt x="1109693" y="701889"/>
                </a:lnTo>
                <a:lnTo>
                  <a:pt x="1112737" y="701643"/>
                </a:lnTo>
                <a:lnTo>
                  <a:pt x="1115851" y="701560"/>
                </a:lnTo>
                <a:lnTo>
                  <a:pt x="1118961" y="701643"/>
                </a:lnTo>
                <a:lnTo>
                  <a:pt x="1122002" y="701889"/>
                </a:lnTo>
                <a:lnTo>
                  <a:pt x="1124963" y="702292"/>
                </a:lnTo>
                <a:lnTo>
                  <a:pt x="1127835" y="702844"/>
                </a:lnTo>
                <a:lnTo>
                  <a:pt x="1130608" y="703539"/>
                </a:lnTo>
                <a:lnTo>
                  <a:pt x="1133273" y="704371"/>
                </a:lnTo>
                <a:lnTo>
                  <a:pt x="1135819" y="705334"/>
                </a:lnTo>
                <a:lnTo>
                  <a:pt x="1138238" y="706420"/>
                </a:lnTo>
                <a:lnTo>
                  <a:pt x="1140519" y="707623"/>
                </a:lnTo>
                <a:lnTo>
                  <a:pt x="1142652" y="708938"/>
                </a:lnTo>
                <a:lnTo>
                  <a:pt x="1144629" y="710357"/>
                </a:lnTo>
                <a:lnTo>
                  <a:pt x="1146438" y="711873"/>
                </a:lnTo>
                <a:lnTo>
                  <a:pt x="1148071" y="713481"/>
                </a:lnTo>
                <a:lnTo>
                  <a:pt x="1149518" y="715174"/>
                </a:lnTo>
                <a:lnTo>
                  <a:pt x="1150769" y="716946"/>
                </a:lnTo>
                <a:lnTo>
                  <a:pt x="1151814" y="718789"/>
                </a:lnTo>
                <a:lnTo>
                  <a:pt x="1152644" y="720698"/>
                </a:lnTo>
                <a:lnTo>
                  <a:pt x="1153249" y="722666"/>
                </a:lnTo>
                <a:lnTo>
                  <a:pt x="1153619" y="724687"/>
                </a:lnTo>
                <a:lnTo>
                  <a:pt x="1153745" y="7267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published_A_finerenone_marker_142">
            <a:extLst>
              <a:ext uri="{FF2B5EF4-FFF2-40B4-BE49-F238E27FC236}">
                <a16:creationId xmlns:a16="http://schemas.microsoft.com/office/drawing/2014/main" id="{C36D7552-60C0-4F32-A13C-6010B551F1F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913453"/>
                </a:moveTo>
                <a:lnTo>
                  <a:pt x="2076571" y="915520"/>
                </a:lnTo>
                <a:lnTo>
                  <a:pt x="2076201" y="917540"/>
                </a:lnTo>
                <a:lnTo>
                  <a:pt x="2075596" y="919507"/>
                </a:lnTo>
                <a:lnTo>
                  <a:pt x="2074767" y="921416"/>
                </a:lnTo>
                <a:lnTo>
                  <a:pt x="2073721" y="923258"/>
                </a:lnTo>
                <a:lnTo>
                  <a:pt x="2072470" y="925029"/>
                </a:lnTo>
                <a:lnTo>
                  <a:pt x="2071024" y="926721"/>
                </a:lnTo>
                <a:lnTo>
                  <a:pt x="2069391" y="928328"/>
                </a:lnTo>
                <a:lnTo>
                  <a:pt x="2067581" y="929843"/>
                </a:lnTo>
                <a:lnTo>
                  <a:pt x="2065605" y="931260"/>
                </a:lnTo>
                <a:lnTo>
                  <a:pt x="2063471" y="932574"/>
                </a:lnTo>
                <a:lnTo>
                  <a:pt x="2061190" y="933776"/>
                </a:lnTo>
                <a:lnTo>
                  <a:pt x="2058772" y="934861"/>
                </a:lnTo>
                <a:lnTo>
                  <a:pt x="2056225" y="935822"/>
                </a:lnTo>
                <a:lnTo>
                  <a:pt x="2053560" y="936653"/>
                </a:lnTo>
                <a:lnTo>
                  <a:pt x="2050787" y="937348"/>
                </a:lnTo>
                <a:lnTo>
                  <a:pt x="2047915" y="937899"/>
                </a:lnTo>
                <a:lnTo>
                  <a:pt x="2044954" y="938301"/>
                </a:lnTo>
                <a:lnTo>
                  <a:pt x="2041913" y="938547"/>
                </a:lnTo>
                <a:lnTo>
                  <a:pt x="2038803" y="938630"/>
                </a:lnTo>
                <a:lnTo>
                  <a:pt x="2035689" y="938547"/>
                </a:lnTo>
                <a:lnTo>
                  <a:pt x="2032645" y="938301"/>
                </a:lnTo>
                <a:lnTo>
                  <a:pt x="2029681" y="937899"/>
                </a:lnTo>
                <a:lnTo>
                  <a:pt x="2026806" y="937348"/>
                </a:lnTo>
                <a:lnTo>
                  <a:pt x="2024031" y="936653"/>
                </a:lnTo>
                <a:lnTo>
                  <a:pt x="2021364" y="935822"/>
                </a:lnTo>
                <a:lnTo>
                  <a:pt x="2018816" y="934861"/>
                </a:lnTo>
                <a:lnTo>
                  <a:pt x="2016396" y="933776"/>
                </a:lnTo>
                <a:lnTo>
                  <a:pt x="2014114" y="932574"/>
                </a:lnTo>
                <a:lnTo>
                  <a:pt x="2011979" y="931260"/>
                </a:lnTo>
                <a:lnTo>
                  <a:pt x="2010002" y="929843"/>
                </a:lnTo>
                <a:lnTo>
                  <a:pt x="2008192" y="928328"/>
                </a:lnTo>
                <a:lnTo>
                  <a:pt x="2006558" y="926721"/>
                </a:lnTo>
                <a:lnTo>
                  <a:pt x="2005111" y="925029"/>
                </a:lnTo>
                <a:lnTo>
                  <a:pt x="2003860" y="923258"/>
                </a:lnTo>
                <a:lnTo>
                  <a:pt x="2002814" y="921416"/>
                </a:lnTo>
                <a:lnTo>
                  <a:pt x="2001984" y="919507"/>
                </a:lnTo>
                <a:lnTo>
                  <a:pt x="2001379" y="917540"/>
                </a:lnTo>
                <a:lnTo>
                  <a:pt x="2001009" y="915520"/>
                </a:lnTo>
                <a:lnTo>
                  <a:pt x="2000884" y="913453"/>
                </a:lnTo>
                <a:lnTo>
                  <a:pt x="2001009" y="911387"/>
                </a:lnTo>
                <a:lnTo>
                  <a:pt x="2001379" y="909366"/>
                </a:lnTo>
                <a:lnTo>
                  <a:pt x="2001984" y="907398"/>
                </a:lnTo>
                <a:lnTo>
                  <a:pt x="2002814" y="905489"/>
                </a:lnTo>
                <a:lnTo>
                  <a:pt x="2003860" y="903646"/>
                </a:lnTo>
                <a:lnTo>
                  <a:pt x="2005111" y="901874"/>
                </a:lnTo>
                <a:lnTo>
                  <a:pt x="2006558" y="900181"/>
                </a:lnTo>
                <a:lnTo>
                  <a:pt x="2008192" y="898573"/>
                </a:lnTo>
                <a:lnTo>
                  <a:pt x="2010002" y="897056"/>
                </a:lnTo>
                <a:lnTo>
                  <a:pt x="2011979" y="895638"/>
                </a:lnTo>
                <a:lnTo>
                  <a:pt x="2014114" y="894323"/>
                </a:lnTo>
                <a:lnTo>
                  <a:pt x="2016396" y="893120"/>
                </a:lnTo>
                <a:lnTo>
                  <a:pt x="2018816" y="892033"/>
                </a:lnTo>
                <a:lnTo>
                  <a:pt x="2021364" y="891071"/>
                </a:lnTo>
                <a:lnTo>
                  <a:pt x="2024031" y="890239"/>
                </a:lnTo>
                <a:lnTo>
                  <a:pt x="2026806" y="889544"/>
                </a:lnTo>
                <a:lnTo>
                  <a:pt x="2029681" y="888992"/>
                </a:lnTo>
                <a:lnTo>
                  <a:pt x="2032645" y="888589"/>
                </a:lnTo>
                <a:lnTo>
                  <a:pt x="2035689" y="888343"/>
                </a:lnTo>
                <a:lnTo>
                  <a:pt x="2038803" y="888259"/>
                </a:lnTo>
                <a:lnTo>
                  <a:pt x="2041913" y="888343"/>
                </a:lnTo>
                <a:lnTo>
                  <a:pt x="2044954" y="888589"/>
                </a:lnTo>
                <a:lnTo>
                  <a:pt x="2047915" y="888992"/>
                </a:lnTo>
                <a:lnTo>
                  <a:pt x="2050787" y="889544"/>
                </a:lnTo>
                <a:lnTo>
                  <a:pt x="2053560" y="890239"/>
                </a:lnTo>
                <a:lnTo>
                  <a:pt x="2056225" y="891071"/>
                </a:lnTo>
                <a:lnTo>
                  <a:pt x="2058772" y="892033"/>
                </a:lnTo>
                <a:lnTo>
                  <a:pt x="2061190" y="893120"/>
                </a:lnTo>
                <a:lnTo>
                  <a:pt x="2063471" y="894323"/>
                </a:lnTo>
                <a:lnTo>
                  <a:pt x="2065605" y="895638"/>
                </a:lnTo>
                <a:lnTo>
                  <a:pt x="2067581" y="897056"/>
                </a:lnTo>
                <a:lnTo>
                  <a:pt x="2069391" y="898573"/>
                </a:lnTo>
                <a:lnTo>
                  <a:pt x="2071024" y="900181"/>
                </a:lnTo>
                <a:lnTo>
                  <a:pt x="2072470" y="901874"/>
                </a:lnTo>
                <a:lnTo>
                  <a:pt x="2073721" y="903646"/>
                </a:lnTo>
                <a:lnTo>
                  <a:pt x="2074767" y="905489"/>
                </a:lnTo>
                <a:lnTo>
                  <a:pt x="2075596" y="907398"/>
                </a:lnTo>
                <a:lnTo>
                  <a:pt x="2076201" y="909366"/>
                </a:lnTo>
                <a:lnTo>
                  <a:pt x="2076571" y="911387"/>
                </a:lnTo>
                <a:lnTo>
                  <a:pt x="2076697" y="913453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published_A_finerenone_marker_143">
            <a:extLst>
              <a:ext uri="{FF2B5EF4-FFF2-40B4-BE49-F238E27FC236}">
                <a16:creationId xmlns:a16="http://schemas.microsoft.com/office/drawing/2014/main" id="{A307673A-0B40-4165-AF68-37085F916B2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1013884"/>
                </a:moveTo>
                <a:lnTo>
                  <a:pt x="3462129" y="1015951"/>
                </a:lnTo>
                <a:lnTo>
                  <a:pt x="3461759" y="1017971"/>
                </a:lnTo>
                <a:lnTo>
                  <a:pt x="3461154" y="1019939"/>
                </a:lnTo>
                <a:lnTo>
                  <a:pt x="3460325" y="1021848"/>
                </a:lnTo>
                <a:lnTo>
                  <a:pt x="3459279" y="1023692"/>
                </a:lnTo>
                <a:lnTo>
                  <a:pt x="3458028" y="1025463"/>
                </a:lnTo>
                <a:lnTo>
                  <a:pt x="3456582" y="1027156"/>
                </a:lnTo>
                <a:lnTo>
                  <a:pt x="3454948" y="1028764"/>
                </a:lnTo>
                <a:lnTo>
                  <a:pt x="3453139" y="1030281"/>
                </a:lnTo>
                <a:lnTo>
                  <a:pt x="3451162" y="1031700"/>
                </a:lnTo>
                <a:lnTo>
                  <a:pt x="3449029" y="1033014"/>
                </a:lnTo>
                <a:lnTo>
                  <a:pt x="3446748" y="1034218"/>
                </a:lnTo>
                <a:lnTo>
                  <a:pt x="3444330" y="1035304"/>
                </a:lnTo>
                <a:lnTo>
                  <a:pt x="3441783" y="1036266"/>
                </a:lnTo>
                <a:lnTo>
                  <a:pt x="3439118" y="1037099"/>
                </a:lnTo>
                <a:lnTo>
                  <a:pt x="3436345" y="1037794"/>
                </a:lnTo>
                <a:lnTo>
                  <a:pt x="3433473" y="1038346"/>
                </a:lnTo>
                <a:lnTo>
                  <a:pt x="3430512" y="1038748"/>
                </a:lnTo>
                <a:lnTo>
                  <a:pt x="3427471" y="1038995"/>
                </a:lnTo>
                <a:lnTo>
                  <a:pt x="3424361" y="1039078"/>
                </a:lnTo>
                <a:lnTo>
                  <a:pt x="3421247" y="1038995"/>
                </a:lnTo>
                <a:lnTo>
                  <a:pt x="3418203" y="1038748"/>
                </a:lnTo>
                <a:lnTo>
                  <a:pt x="3415239" y="1038346"/>
                </a:lnTo>
                <a:lnTo>
                  <a:pt x="3412364" y="1037794"/>
                </a:lnTo>
                <a:lnTo>
                  <a:pt x="3409589" y="1037099"/>
                </a:lnTo>
                <a:lnTo>
                  <a:pt x="3406922" y="1036266"/>
                </a:lnTo>
                <a:lnTo>
                  <a:pt x="3404374" y="1035304"/>
                </a:lnTo>
                <a:lnTo>
                  <a:pt x="3401954" y="1034218"/>
                </a:lnTo>
                <a:lnTo>
                  <a:pt x="3399672" y="1033014"/>
                </a:lnTo>
                <a:lnTo>
                  <a:pt x="3397537" y="1031700"/>
                </a:lnTo>
                <a:lnTo>
                  <a:pt x="3395560" y="1030281"/>
                </a:lnTo>
                <a:lnTo>
                  <a:pt x="3393749" y="1028764"/>
                </a:lnTo>
                <a:lnTo>
                  <a:pt x="3392116" y="1027156"/>
                </a:lnTo>
                <a:lnTo>
                  <a:pt x="3390669" y="1025463"/>
                </a:lnTo>
                <a:lnTo>
                  <a:pt x="3389417" y="1023692"/>
                </a:lnTo>
                <a:lnTo>
                  <a:pt x="3388372" y="1021848"/>
                </a:lnTo>
                <a:lnTo>
                  <a:pt x="3387542" y="1019939"/>
                </a:lnTo>
                <a:lnTo>
                  <a:pt x="3386937" y="1017971"/>
                </a:lnTo>
                <a:lnTo>
                  <a:pt x="3386567" y="1015951"/>
                </a:lnTo>
                <a:lnTo>
                  <a:pt x="3386442" y="1013884"/>
                </a:lnTo>
                <a:lnTo>
                  <a:pt x="3386567" y="1011818"/>
                </a:lnTo>
                <a:lnTo>
                  <a:pt x="3386937" y="1009797"/>
                </a:lnTo>
                <a:lnTo>
                  <a:pt x="3387542" y="1007829"/>
                </a:lnTo>
                <a:lnTo>
                  <a:pt x="3388372" y="1005920"/>
                </a:lnTo>
                <a:lnTo>
                  <a:pt x="3389417" y="1004077"/>
                </a:lnTo>
                <a:lnTo>
                  <a:pt x="3390669" y="1002305"/>
                </a:lnTo>
                <a:lnTo>
                  <a:pt x="3392116" y="1000612"/>
                </a:lnTo>
                <a:lnTo>
                  <a:pt x="3393749" y="999004"/>
                </a:lnTo>
                <a:lnTo>
                  <a:pt x="3395560" y="997488"/>
                </a:lnTo>
                <a:lnTo>
                  <a:pt x="3397537" y="996069"/>
                </a:lnTo>
                <a:lnTo>
                  <a:pt x="3399672" y="994754"/>
                </a:lnTo>
                <a:lnTo>
                  <a:pt x="3401954" y="993551"/>
                </a:lnTo>
                <a:lnTo>
                  <a:pt x="3404374" y="992465"/>
                </a:lnTo>
                <a:lnTo>
                  <a:pt x="3406922" y="991502"/>
                </a:lnTo>
                <a:lnTo>
                  <a:pt x="3409589" y="990670"/>
                </a:lnTo>
                <a:lnTo>
                  <a:pt x="3412364" y="989975"/>
                </a:lnTo>
                <a:lnTo>
                  <a:pt x="3415239" y="989423"/>
                </a:lnTo>
                <a:lnTo>
                  <a:pt x="3418203" y="989020"/>
                </a:lnTo>
                <a:lnTo>
                  <a:pt x="3421247" y="988774"/>
                </a:lnTo>
                <a:lnTo>
                  <a:pt x="3424361" y="988691"/>
                </a:lnTo>
                <a:lnTo>
                  <a:pt x="3427471" y="988774"/>
                </a:lnTo>
                <a:lnTo>
                  <a:pt x="3430512" y="989020"/>
                </a:lnTo>
                <a:lnTo>
                  <a:pt x="3433473" y="989423"/>
                </a:lnTo>
                <a:lnTo>
                  <a:pt x="3436345" y="989975"/>
                </a:lnTo>
                <a:lnTo>
                  <a:pt x="3439118" y="990670"/>
                </a:lnTo>
                <a:lnTo>
                  <a:pt x="3441783" y="991502"/>
                </a:lnTo>
                <a:lnTo>
                  <a:pt x="3444330" y="992465"/>
                </a:lnTo>
                <a:lnTo>
                  <a:pt x="3446748" y="993551"/>
                </a:lnTo>
                <a:lnTo>
                  <a:pt x="3449029" y="994754"/>
                </a:lnTo>
                <a:lnTo>
                  <a:pt x="3451162" y="996069"/>
                </a:lnTo>
                <a:lnTo>
                  <a:pt x="3453139" y="997488"/>
                </a:lnTo>
                <a:lnTo>
                  <a:pt x="3454948" y="999004"/>
                </a:lnTo>
                <a:lnTo>
                  <a:pt x="3456582" y="1000612"/>
                </a:lnTo>
                <a:lnTo>
                  <a:pt x="3458028" y="1002305"/>
                </a:lnTo>
                <a:lnTo>
                  <a:pt x="3459279" y="1004077"/>
                </a:lnTo>
                <a:lnTo>
                  <a:pt x="3460325" y="1005920"/>
                </a:lnTo>
                <a:lnTo>
                  <a:pt x="3461154" y="1007829"/>
                </a:lnTo>
                <a:lnTo>
                  <a:pt x="3461759" y="1009797"/>
                </a:lnTo>
                <a:lnTo>
                  <a:pt x="3462129" y="1011818"/>
                </a:lnTo>
                <a:lnTo>
                  <a:pt x="3462255" y="101388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published_A_finerenone_marker_144">
            <a:extLst>
              <a:ext uri="{FF2B5EF4-FFF2-40B4-BE49-F238E27FC236}">
                <a16:creationId xmlns:a16="http://schemas.microsoft.com/office/drawing/2014/main" id="{333D2B5F-2599-4EA8-90CD-0C17B9EBBC0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83298"/>
                </a:moveTo>
                <a:lnTo>
                  <a:pt x="3923201" y="685365"/>
                </a:lnTo>
                <a:lnTo>
                  <a:pt x="3922831" y="687385"/>
                </a:lnTo>
                <a:lnTo>
                  <a:pt x="3922227" y="689352"/>
                </a:lnTo>
                <a:lnTo>
                  <a:pt x="3921397" y="691260"/>
                </a:lnTo>
                <a:lnTo>
                  <a:pt x="3920351" y="693103"/>
                </a:lnTo>
                <a:lnTo>
                  <a:pt x="3919100" y="694874"/>
                </a:lnTo>
                <a:lnTo>
                  <a:pt x="3917653" y="696565"/>
                </a:lnTo>
                <a:lnTo>
                  <a:pt x="3916019" y="698172"/>
                </a:lnTo>
                <a:lnTo>
                  <a:pt x="3914209" y="699688"/>
                </a:lnTo>
                <a:lnTo>
                  <a:pt x="3912232" y="701105"/>
                </a:lnTo>
                <a:lnTo>
                  <a:pt x="3910097" y="702419"/>
                </a:lnTo>
                <a:lnTo>
                  <a:pt x="3907815" y="703621"/>
                </a:lnTo>
                <a:lnTo>
                  <a:pt x="3905395" y="704706"/>
                </a:lnTo>
                <a:lnTo>
                  <a:pt x="3902847" y="705667"/>
                </a:lnTo>
                <a:lnTo>
                  <a:pt x="3900180" y="706498"/>
                </a:lnTo>
                <a:lnTo>
                  <a:pt x="3897404" y="707193"/>
                </a:lnTo>
                <a:lnTo>
                  <a:pt x="3894530" y="707744"/>
                </a:lnTo>
                <a:lnTo>
                  <a:pt x="3891566" y="708146"/>
                </a:lnTo>
                <a:lnTo>
                  <a:pt x="3888522" y="708392"/>
                </a:lnTo>
                <a:lnTo>
                  <a:pt x="3885408" y="708475"/>
                </a:lnTo>
                <a:lnTo>
                  <a:pt x="3882298" y="708392"/>
                </a:lnTo>
                <a:lnTo>
                  <a:pt x="3879257" y="708146"/>
                </a:lnTo>
                <a:lnTo>
                  <a:pt x="3876296" y="707744"/>
                </a:lnTo>
                <a:lnTo>
                  <a:pt x="3873424" y="707193"/>
                </a:lnTo>
                <a:lnTo>
                  <a:pt x="3870650" y="706498"/>
                </a:lnTo>
                <a:lnTo>
                  <a:pt x="3867986" y="705667"/>
                </a:lnTo>
                <a:lnTo>
                  <a:pt x="3865439" y="704706"/>
                </a:lnTo>
                <a:lnTo>
                  <a:pt x="3863021" y="703621"/>
                </a:lnTo>
                <a:lnTo>
                  <a:pt x="3860740" y="702419"/>
                </a:lnTo>
                <a:lnTo>
                  <a:pt x="3858606" y="701105"/>
                </a:lnTo>
                <a:lnTo>
                  <a:pt x="3856630" y="699688"/>
                </a:lnTo>
                <a:lnTo>
                  <a:pt x="3854820" y="698172"/>
                </a:lnTo>
                <a:lnTo>
                  <a:pt x="3853187" y="696565"/>
                </a:lnTo>
                <a:lnTo>
                  <a:pt x="3851740" y="694874"/>
                </a:lnTo>
                <a:lnTo>
                  <a:pt x="3850489" y="693103"/>
                </a:lnTo>
                <a:lnTo>
                  <a:pt x="3849444" y="691260"/>
                </a:lnTo>
                <a:lnTo>
                  <a:pt x="3848614" y="689352"/>
                </a:lnTo>
                <a:lnTo>
                  <a:pt x="3848009" y="687385"/>
                </a:lnTo>
                <a:lnTo>
                  <a:pt x="3847639" y="685365"/>
                </a:lnTo>
                <a:lnTo>
                  <a:pt x="3847514" y="683298"/>
                </a:lnTo>
                <a:lnTo>
                  <a:pt x="3847639" y="681231"/>
                </a:lnTo>
                <a:lnTo>
                  <a:pt x="3848009" y="679211"/>
                </a:lnTo>
                <a:lnTo>
                  <a:pt x="3848614" y="677243"/>
                </a:lnTo>
                <a:lnTo>
                  <a:pt x="3849444" y="675334"/>
                </a:lnTo>
                <a:lnTo>
                  <a:pt x="3850489" y="673490"/>
                </a:lnTo>
                <a:lnTo>
                  <a:pt x="3851740" y="671719"/>
                </a:lnTo>
                <a:lnTo>
                  <a:pt x="3853187" y="670026"/>
                </a:lnTo>
                <a:lnTo>
                  <a:pt x="3854820" y="668418"/>
                </a:lnTo>
                <a:lnTo>
                  <a:pt x="3856630" y="666901"/>
                </a:lnTo>
                <a:lnTo>
                  <a:pt x="3858606" y="665482"/>
                </a:lnTo>
                <a:lnTo>
                  <a:pt x="3860740" y="664168"/>
                </a:lnTo>
                <a:lnTo>
                  <a:pt x="3863021" y="662964"/>
                </a:lnTo>
                <a:lnTo>
                  <a:pt x="3865439" y="661878"/>
                </a:lnTo>
                <a:lnTo>
                  <a:pt x="3867986" y="660916"/>
                </a:lnTo>
                <a:lnTo>
                  <a:pt x="3870650" y="660084"/>
                </a:lnTo>
                <a:lnTo>
                  <a:pt x="3873424" y="659388"/>
                </a:lnTo>
                <a:lnTo>
                  <a:pt x="3876296" y="658836"/>
                </a:lnTo>
                <a:lnTo>
                  <a:pt x="3879257" y="658434"/>
                </a:lnTo>
                <a:lnTo>
                  <a:pt x="3882298" y="658188"/>
                </a:lnTo>
                <a:lnTo>
                  <a:pt x="3885408" y="658104"/>
                </a:lnTo>
                <a:lnTo>
                  <a:pt x="3888522" y="658188"/>
                </a:lnTo>
                <a:lnTo>
                  <a:pt x="3891566" y="658434"/>
                </a:lnTo>
                <a:lnTo>
                  <a:pt x="3894530" y="658836"/>
                </a:lnTo>
                <a:lnTo>
                  <a:pt x="3897404" y="659388"/>
                </a:lnTo>
                <a:lnTo>
                  <a:pt x="3900180" y="660084"/>
                </a:lnTo>
                <a:lnTo>
                  <a:pt x="3902847" y="660916"/>
                </a:lnTo>
                <a:lnTo>
                  <a:pt x="3905395" y="661878"/>
                </a:lnTo>
                <a:lnTo>
                  <a:pt x="3907815" y="662964"/>
                </a:lnTo>
                <a:lnTo>
                  <a:pt x="3910097" y="664168"/>
                </a:lnTo>
                <a:lnTo>
                  <a:pt x="3912232" y="665482"/>
                </a:lnTo>
                <a:lnTo>
                  <a:pt x="3914209" y="666901"/>
                </a:lnTo>
                <a:lnTo>
                  <a:pt x="3916019" y="668418"/>
                </a:lnTo>
                <a:lnTo>
                  <a:pt x="3917653" y="670026"/>
                </a:lnTo>
                <a:lnTo>
                  <a:pt x="3919100" y="671719"/>
                </a:lnTo>
                <a:lnTo>
                  <a:pt x="3920351" y="673490"/>
                </a:lnTo>
                <a:lnTo>
                  <a:pt x="3921397" y="675334"/>
                </a:lnTo>
                <a:lnTo>
                  <a:pt x="3922227" y="677243"/>
                </a:lnTo>
                <a:lnTo>
                  <a:pt x="3922831" y="679211"/>
                </a:lnTo>
                <a:lnTo>
                  <a:pt x="3923201" y="681231"/>
                </a:lnTo>
                <a:lnTo>
                  <a:pt x="3923327" y="68329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published_A_combination_error_bar_145">
            <a:extLst>
              <a:ext uri="{FF2B5EF4-FFF2-40B4-BE49-F238E27FC236}">
                <a16:creationId xmlns:a16="http://schemas.microsoft.com/office/drawing/2014/main" id="{99480314-E209-4A72-8545-1A77A0C6232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915060"/>
                </a:moveTo>
                <a:lnTo>
                  <a:pt x="3936286" y="91506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published_A_combination_error_bar_146">
            <a:extLst>
              <a:ext uri="{FF2B5EF4-FFF2-40B4-BE49-F238E27FC236}">
                <a16:creationId xmlns:a16="http://schemas.microsoft.com/office/drawing/2014/main" id="{1281CBE0-7CB5-4BDA-BADB-39FA0D41E25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571277"/>
                </a:moveTo>
                <a:lnTo>
                  <a:pt x="3936286" y="57127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published_A_combination_error_bar_147">
            <a:extLst>
              <a:ext uri="{FF2B5EF4-FFF2-40B4-BE49-F238E27FC236}">
                <a16:creationId xmlns:a16="http://schemas.microsoft.com/office/drawing/2014/main" id="{5E2BDA28-B873-426D-8BD0-71617FC5684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571277"/>
                </a:moveTo>
                <a:lnTo>
                  <a:pt x="3885730" y="9150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published_A_combination_error_bar_148">
            <a:extLst>
              <a:ext uri="{FF2B5EF4-FFF2-40B4-BE49-F238E27FC236}">
                <a16:creationId xmlns:a16="http://schemas.microsoft.com/office/drawing/2014/main" id="{A7320242-394E-49D6-B359-AD890DE1029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500590"/>
                </a:moveTo>
                <a:lnTo>
                  <a:pt x="3474890" y="1500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published_A_combination_error_bar_149">
            <a:extLst>
              <a:ext uri="{FF2B5EF4-FFF2-40B4-BE49-F238E27FC236}">
                <a16:creationId xmlns:a16="http://schemas.microsoft.com/office/drawing/2014/main" id="{F554A013-61D5-490F-A0AA-3CBCA3B7D2E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307131"/>
                </a:moveTo>
                <a:lnTo>
                  <a:pt x="3474890" y="130713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published_A_combination_error_bar_150">
            <a:extLst>
              <a:ext uri="{FF2B5EF4-FFF2-40B4-BE49-F238E27FC236}">
                <a16:creationId xmlns:a16="http://schemas.microsoft.com/office/drawing/2014/main" id="{C651A05C-55B9-4549-BFA2-BC5CDE211D4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1307131"/>
                </a:moveTo>
                <a:lnTo>
                  <a:pt x="3424344" y="15005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published_A_combination_error_bar_151">
            <a:extLst>
              <a:ext uri="{FF2B5EF4-FFF2-40B4-BE49-F238E27FC236}">
                <a16:creationId xmlns:a16="http://schemas.microsoft.com/office/drawing/2014/main" id="{DC683CB7-1CAE-4888-A8A1-4AA92ED70EF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460352"/>
                </a:moveTo>
                <a:lnTo>
                  <a:pt x="2089335" y="14603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published_A_combination_error_bar_152">
            <a:extLst>
              <a:ext uri="{FF2B5EF4-FFF2-40B4-BE49-F238E27FC236}">
                <a16:creationId xmlns:a16="http://schemas.microsoft.com/office/drawing/2014/main" id="{3E4F79D7-68DD-4D62-9D90-239566868B5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249190"/>
                </a:moveTo>
                <a:lnTo>
                  <a:pt x="2089335" y="12491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published_A_combination_error_bar_153">
            <a:extLst>
              <a:ext uri="{FF2B5EF4-FFF2-40B4-BE49-F238E27FC236}">
                <a16:creationId xmlns:a16="http://schemas.microsoft.com/office/drawing/2014/main" id="{A4A74616-E578-4CC5-90F8-79CBB4F4199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1249190"/>
                </a:moveTo>
                <a:lnTo>
                  <a:pt x="2038782" y="146034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published_A_combination_error_bar_154">
            <a:extLst>
              <a:ext uri="{FF2B5EF4-FFF2-40B4-BE49-F238E27FC236}">
                <a16:creationId xmlns:a16="http://schemas.microsoft.com/office/drawing/2014/main" id="{35E53E70-14F0-4464-9E85-C4FEB8F7B3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1202836"/>
                </a:moveTo>
                <a:lnTo>
                  <a:pt x="1165638" y="12028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published_A_combination_error_bar_155">
            <a:extLst>
              <a:ext uri="{FF2B5EF4-FFF2-40B4-BE49-F238E27FC236}">
                <a16:creationId xmlns:a16="http://schemas.microsoft.com/office/drawing/2014/main" id="{DD3F7BFB-B368-4A55-BB83-9B75280627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991672"/>
                </a:moveTo>
                <a:lnTo>
                  <a:pt x="1165638" y="9916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published_A_combination_error_bar_156">
            <a:extLst>
              <a:ext uri="{FF2B5EF4-FFF2-40B4-BE49-F238E27FC236}">
                <a16:creationId xmlns:a16="http://schemas.microsoft.com/office/drawing/2014/main" id="{48CCB0C3-CFA1-4A30-ADA9-2E90B55ABE1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991672"/>
                </a:moveTo>
                <a:lnTo>
                  <a:pt x="1115089" y="120282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published_A_combination_error_bar_157">
            <a:extLst>
              <a:ext uri="{FF2B5EF4-FFF2-40B4-BE49-F238E27FC236}">
                <a16:creationId xmlns:a16="http://schemas.microsoft.com/office/drawing/2014/main" id="{05697248-C9B7-43B0-A5CA-E2AE184D357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1114636"/>
                </a:moveTo>
                <a:lnTo>
                  <a:pt x="703613" y="11146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published_A_combination_error_bar_158">
            <a:extLst>
              <a:ext uri="{FF2B5EF4-FFF2-40B4-BE49-F238E27FC236}">
                <a16:creationId xmlns:a16="http://schemas.microsoft.com/office/drawing/2014/main" id="{F382A173-BAE7-48A5-AC3E-509A715CC1C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39095"/>
                </a:moveTo>
                <a:lnTo>
                  <a:pt x="703613" y="8390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published_A_combination_error_bar_159">
            <a:extLst>
              <a:ext uri="{FF2B5EF4-FFF2-40B4-BE49-F238E27FC236}">
                <a16:creationId xmlns:a16="http://schemas.microsoft.com/office/drawing/2014/main" id="{5A27CEC8-39DA-475A-AEBF-35ABFC94931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839095"/>
                </a:moveTo>
                <a:lnTo>
                  <a:pt x="653061" y="111463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published_A_combination_curve_160">
            <a:extLst>
              <a:ext uri="{FF2B5EF4-FFF2-40B4-BE49-F238E27FC236}">
                <a16:creationId xmlns:a16="http://schemas.microsoft.com/office/drawing/2014/main" id="{88C03A42-9C4C-4F7D-A1F0-37ADEDA9124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983306"/>
                </a:lnTo>
                <a:moveTo>
                  <a:pt x="654394" y="983306"/>
                </a:moveTo>
                <a:lnTo>
                  <a:pt x="1115833" y="1077281"/>
                </a:lnTo>
                <a:moveTo>
                  <a:pt x="1115833" y="1077281"/>
                </a:moveTo>
                <a:lnTo>
                  <a:pt x="2038763" y="1364420"/>
                </a:lnTo>
                <a:moveTo>
                  <a:pt x="2038763" y="1364420"/>
                </a:moveTo>
                <a:lnTo>
                  <a:pt x="3424338" y="1409478"/>
                </a:lnTo>
                <a:moveTo>
                  <a:pt x="3424338" y="1409478"/>
                </a:moveTo>
                <a:lnTo>
                  <a:pt x="3885426" y="755392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published_A_combination_marker_161">
            <a:extLst>
              <a:ext uri="{FF2B5EF4-FFF2-40B4-BE49-F238E27FC236}">
                <a16:creationId xmlns:a16="http://schemas.microsoft.com/office/drawing/2014/main" id="{D9FAB807-CD49-4B4D-9A7B-36A537275E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6674" y="394877"/>
                </a:moveTo>
                <a:lnTo>
                  <a:pt x="336549" y="396944"/>
                </a:lnTo>
                <a:lnTo>
                  <a:pt x="336179" y="398964"/>
                </a:lnTo>
                <a:lnTo>
                  <a:pt x="335574" y="400932"/>
                </a:lnTo>
                <a:lnTo>
                  <a:pt x="334744" y="402841"/>
                </a:lnTo>
                <a:lnTo>
                  <a:pt x="333698" y="404685"/>
                </a:lnTo>
                <a:lnTo>
                  <a:pt x="332447" y="406456"/>
                </a:lnTo>
                <a:lnTo>
                  <a:pt x="331000" y="408149"/>
                </a:lnTo>
                <a:lnTo>
                  <a:pt x="329366" y="409758"/>
                </a:lnTo>
                <a:lnTo>
                  <a:pt x="327556" y="411274"/>
                </a:lnTo>
                <a:lnTo>
                  <a:pt x="325579" y="412693"/>
                </a:lnTo>
                <a:lnTo>
                  <a:pt x="323444" y="414007"/>
                </a:lnTo>
                <a:lnTo>
                  <a:pt x="321162" y="415211"/>
                </a:lnTo>
                <a:lnTo>
                  <a:pt x="318742" y="416297"/>
                </a:lnTo>
                <a:lnTo>
                  <a:pt x="316194" y="417259"/>
                </a:lnTo>
                <a:lnTo>
                  <a:pt x="313527" y="418092"/>
                </a:lnTo>
                <a:lnTo>
                  <a:pt x="310752" y="418787"/>
                </a:lnTo>
                <a:lnTo>
                  <a:pt x="307877" y="419339"/>
                </a:lnTo>
                <a:lnTo>
                  <a:pt x="304913" y="419741"/>
                </a:lnTo>
                <a:lnTo>
                  <a:pt x="301869" y="419988"/>
                </a:lnTo>
                <a:lnTo>
                  <a:pt x="298755" y="420071"/>
                </a:lnTo>
                <a:lnTo>
                  <a:pt x="295645" y="419988"/>
                </a:lnTo>
                <a:lnTo>
                  <a:pt x="292604" y="419741"/>
                </a:lnTo>
                <a:lnTo>
                  <a:pt x="289643" y="419339"/>
                </a:lnTo>
                <a:lnTo>
                  <a:pt x="286771" y="418787"/>
                </a:lnTo>
                <a:lnTo>
                  <a:pt x="283998" y="418092"/>
                </a:lnTo>
                <a:lnTo>
                  <a:pt x="281333" y="417259"/>
                </a:lnTo>
                <a:lnTo>
                  <a:pt x="278787" y="416297"/>
                </a:lnTo>
                <a:lnTo>
                  <a:pt x="276368" y="415211"/>
                </a:lnTo>
                <a:lnTo>
                  <a:pt x="274087" y="414007"/>
                </a:lnTo>
                <a:lnTo>
                  <a:pt x="271954" y="412693"/>
                </a:lnTo>
                <a:lnTo>
                  <a:pt x="269977" y="411274"/>
                </a:lnTo>
                <a:lnTo>
                  <a:pt x="268168" y="409758"/>
                </a:lnTo>
                <a:lnTo>
                  <a:pt x="266535" y="408149"/>
                </a:lnTo>
                <a:lnTo>
                  <a:pt x="265088" y="406456"/>
                </a:lnTo>
                <a:lnTo>
                  <a:pt x="263837" y="404685"/>
                </a:lnTo>
                <a:lnTo>
                  <a:pt x="262792" y="402841"/>
                </a:lnTo>
                <a:lnTo>
                  <a:pt x="261962" y="400932"/>
                </a:lnTo>
                <a:lnTo>
                  <a:pt x="261357" y="398964"/>
                </a:lnTo>
                <a:lnTo>
                  <a:pt x="260987" y="396944"/>
                </a:lnTo>
                <a:lnTo>
                  <a:pt x="260861" y="394877"/>
                </a:lnTo>
                <a:lnTo>
                  <a:pt x="260987" y="392811"/>
                </a:lnTo>
                <a:lnTo>
                  <a:pt x="261357" y="390790"/>
                </a:lnTo>
                <a:lnTo>
                  <a:pt x="261962" y="388822"/>
                </a:lnTo>
                <a:lnTo>
                  <a:pt x="262792" y="386913"/>
                </a:lnTo>
                <a:lnTo>
                  <a:pt x="263837" y="385070"/>
                </a:lnTo>
                <a:lnTo>
                  <a:pt x="265088" y="383298"/>
                </a:lnTo>
                <a:lnTo>
                  <a:pt x="266535" y="381605"/>
                </a:lnTo>
                <a:lnTo>
                  <a:pt x="268168" y="379997"/>
                </a:lnTo>
                <a:lnTo>
                  <a:pt x="269977" y="378480"/>
                </a:lnTo>
                <a:lnTo>
                  <a:pt x="271954" y="377062"/>
                </a:lnTo>
                <a:lnTo>
                  <a:pt x="274087" y="375747"/>
                </a:lnTo>
                <a:lnTo>
                  <a:pt x="276368" y="374544"/>
                </a:lnTo>
                <a:lnTo>
                  <a:pt x="278787" y="373457"/>
                </a:lnTo>
                <a:lnTo>
                  <a:pt x="281333" y="372495"/>
                </a:lnTo>
                <a:lnTo>
                  <a:pt x="283998" y="371663"/>
                </a:lnTo>
                <a:lnTo>
                  <a:pt x="286771" y="370968"/>
                </a:lnTo>
                <a:lnTo>
                  <a:pt x="289643" y="370416"/>
                </a:lnTo>
                <a:lnTo>
                  <a:pt x="292604" y="370013"/>
                </a:lnTo>
                <a:lnTo>
                  <a:pt x="295645" y="369767"/>
                </a:lnTo>
                <a:lnTo>
                  <a:pt x="298755" y="369683"/>
                </a:lnTo>
                <a:lnTo>
                  <a:pt x="301869" y="369767"/>
                </a:lnTo>
                <a:lnTo>
                  <a:pt x="304913" y="370013"/>
                </a:lnTo>
                <a:lnTo>
                  <a:pt x="307877" y="370416"/>
                </a:lnTo>
                <a:lnTo>
                  <a:pt x="310752" y="370968"/>
                </a:lnTo>
                <a:lnTo>
                  <a:pt x="313527" y="371663"/>
                </a:lnTo>
                <a:lnTo>
                  <a:pt x="316194" y="372495"/>
                </a:lnTo>
                <a:lnTo>
                  <a:pt x="318742" y="373457"/>
                </a:lnTo>
                <a:lnTo>
                  <a:pt x="321162" y="374544"/>
                </a:lnTo>
                <a:lnTo>
                  <a:pt x="323444" y="375747"/>
                </a:lnTo>
                <a:lnTo>
                  <a:pt x="325579" y="377062"/>
                </a:lnTo>
                <a:lnTo>
                  <a:pt x="327556" y="378480"/>
                </a:lnTo>
                <a:lnTo>
                  <a:pt x="329366" y="379997"/>
                </a:lnTo>
                <a:lnTo>
                  <a:pt x="331000" y="381605"/>
                </a:lnTo>
                <a:lnTo>
                  <a:pt x="332447" y="383298"/>
                </a:lnTo>
                <a:lnTo>
                  <a:pt x="333698" y="385070"/>
                </a:lnTo>
                <a:lnTo>
                  <a:pt x="334744" y="386913"/>
                </a:lnTo>
                <a:lnTo>
                  <a:pt x="335574" y="388822"/>
                </a:lnTo>
                <a:lnTo>
                  <a:pt x="336179" y="390790"/>
                </a:lnTo>
                <a:lnTo>
                  <a:pt x="336549" y="392811"/>
                </a:lnTo>
                <a:lnTo>
                  <a:pt x="336674" y="39487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published_A_combination_marker_162">
            <a:extLst>
              <a:ext uri="{FF2B5EF4-FFF2-40B4-BE49-F238E27FC236}">
                <a16:creationId xmlns:a16="http://schemas.microsoft.com/office/drawing/2014/main" id="{E0A8F920-1FEA-48C9-A07B-FA94A02139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983305"/>
                </a:moveTo>
                <a:lnTo>
                  <a:pt x="692185" y="985371"/>
                </a:lnTo>
                <a:lnTo>
                  <a:pt x="691815" y="987391"/>
                </a:lnTo>
                <a:lnTo>
                  <a:pt x="691210" y="989359"/>
                </a:lnTo>
                <a:lnTo>
                  <a:pt x="690380" y="991267"/>
                </a:lnTo>
                <a:lnTo>
                  <a:pt x="689335" y="993110"/>
                </a:lnTo>
                <a:lnTo>
                  <a:pt x="688084" y="994880"/>
                </a:lnTo>
                <a:lnTo>
                  <a:pt x="686637" y="996572"/>
                </a:lnTo>
                <a:lnTo>
                  <a:pt x="685004" y="998179"/>
                </a:lnTo>
                <a:lnTo>
                  <a:pt x="683194" y="999694"/>
                </a:lnTo>
                <a:lnTo>
                  <a:pt x="681218" y="1001112"/>
                </a:lnTo>
                <a:lnTo>
                  <a:pt x="679084" y="1002425"/>
                </a:lnTo>
                <a:lnTo>
                  <a:pt x="676804" y="1003627"/>
                </a:lnTo>
                <a:lnTo>
                  <a:pt x="674385" y="1004712"/>
                </a:lnTo>
                <a:lnTo>
                  <a:pt x="671839" y="1005674"/>
                </a:lnTo>
                <a:lnTo>
                  <a:pt x="669174" y="1006505"/>
                </a:lnTo>
                <a:lnTo>
                  <a:pt x="666401" y="1007199"/>
                </a:lnTo>
                <a:lnTo>
                  <a:pt x="663528" y="1007751"/>
                </a:lnTo>
                <a:lnTo>
                  <a:pt x="660567" y="1008152"/>
                </a:lnTo>
                <a:lnTo>
                  <a:pt x="657527" y="1008398"/>
                </a:lnTo>
                <a:lnTo>
                  <a:pt x="654416" y="1008482"/>
                </a:lnTo>
                <a:lnTo>
                  <a:pt x="651302" y="1008398"/>
                </a:lnTo>
                <a:lnTo>
                  <a:pt x="648259" y="1008152"/>
                </a:lnTo>
                <a:lnTo>
                  <a:pt x="645294" y="1007751"/>
                </a:lnTo>
                <a:lnTo>
                  <a:pt x="642420" y="1007199"/>
                </a:lnTo>
                <a:lnTo>
                  <a:pt x="639644" y="1006505"/>
                </a:lnTo>
                <a:lnTo>
                  <a:pt x="636977" y="1005674"/>
                </a:lnTo>
                <a:lnTo>
                  <a:pt x="634429" y="1004712"/>
                </a:lnTo>
                <a:lnTo>
                  <a:pt x="632009" y="1003627"/>
                </a:lnTo>
                <a:lnTo>
                  <a:pt x="629727" y="1002425"/>
                </a:lnTo>
                <a:lnTo>
                  <a:pt x="627593" y="1001112"/>
                </a:lnTo>
                <a:lnTo>
                  <a:pt x="625615" y="999694"/>
                </a:lnTo>
                <a:lnTo>
                  <a:pt x="623805" y="998179"/>
                </a:lnTo>
                <a:lnTo>
                  <a:pt x="622172" y="996572"/>
                </a:lnTo>
                <a:lnTo>
                  <a:pt x="620724" y="994880"/>
                </a:lnTo>
                <a:lnTo>
                  <a:pt x="619473" y="993110"/>
                </a:lnTo>
                <a:lnTo>
                  <a:pt x="618428" y="991267"/>
                </a:lnTo>
                <a:lnTo>
                  <a:pt x="617598" y="989359"/>
                </a:lnTo>
                <a:lnTo>
                  <a:pt x="616993" y="987391"/>
                </a:lnTo>
                <a:lnTo>
                  <a:pt x="616623" y="985371"/>
                </a:lnTo>
                <a:lnTo>
                  <a:pt x="616497" y="983305"/>
                </a:lnTo>
                <a:lnTo>
                  <a:pt x="616623" y="981238"/>
                </a:lnTo>
                <a:lnTo>
                  <a:pt x="616993" y="979217"/>
                </a:lnTo>
                <a:lnTo>
                  <a:pt x="617598" y="977249"/>
                </a:lnTo>
                <a:lnTo>
                  <a:pt x="618428" y="975340"/>
                </a:lnTo>
                <a:lnTo>
                  <a:pt x="619473" y="973497"/>
                </a:lnTo>
                <a:lnTo>
                  <a:pt x="620724" y="971726"/>
                </a:lnTo>
                <a:lnTo>
                  <a:pt x="622172" y="970033"/>
                </a:lnTo>
                <a:lnTo>
                  <a:pt x="623805" y="968424"/>
                </a:lnTo>
                <a:lnTo>
                  <a:pt x="625615" y="966908"/>
                </a:lnTo>
                <a:lnTo>
                  <a:pt x="627593" y="965489"/>
                </a:lnTo>
                <a:lnTo>
                  <a:pt x="629727" y="964175"/>
                </a:lnTo>
                <a:lnTo>
                  <a:pt x="632009" y="962971"/>
                </a:lnTo>
                <a:lnTo>
                  <a:pt x="634429" y="961885"/>
                </a:lnTo>
                <a:lnTo>
                  <a:pt x="636977" y="960922"/>
                </a:lnTo>
                <a:lnTo>
                  <a:pt x="639644" y="960090"/>
                </a:lnTo>
                <a:lnTo>
                  <a:pt x="642420" y="959395"/>
                </a:lnTo>
                <a:lnTo>
                  <a:pt x="645294" y="958843"/>
                </a:lnTo>
                <a:lnTo>
                  <a:pt x="648259" y="958441"/>
                </a:lnTo>
                <a:lnTo>
                  <a:pt x="651302" y="958194"/>
                </a:lnTo>
                <a:lnTo>
                  <a:pt x="654416" y="958111"/>
                </a:lnTo>
                <a:lnTo>
                  <a:pt x="657527" y="958194"/>
                </a:lnTo>
                <a:lnTo>
                  <a:pt x="660567" y="958441"/>
                </a:lnTo>
                <a:lnTo>
                  <a:pt x="663528" y="958843"/>
                </a:lnTo>
                <a:lnTo>
                  <a:pt x="666401" y="959395"/>
                </a:lnTo>
                <a:lnTo>
                  <a:pt x="669174" y="960090"/>
                </a:lnTo>
                <a:lnTo>
                  <a:pt x="671839" y="960922"/>
                </a:lnTo>
                <a:lnTo>
                  <a:pt x="674385" y="961885"/>
                </a:lnTo>
                <a:lnTo>
                  <a:pt x="676804" y="962971"/>
                </a:lnTo>
                <a:lnTo>
                  <a:pt x="679084" y="964175"/>
                </a:lnTo>
                <a:lnTo>
                  <a:pt x="681218" y="965489"/>
                </a:lnTo>
                <a:lnTo>
                  <a:pt x="683194" y="966908"/>
                </a:lnTo>
                <a:lnTo>
                  <a:pt x="685004" y="968424"/>
                </a:lnTo>
                <a:lnTo>
                  <a:pt x="686637" y="970033"/>
                </a:lnTo>
                <a:lnTo>
                  <a:pt x="688084" y="971726"/>
                </a:lnTo>
                <a:lnTo>
                  <a:pt x="689335" y="973497"/>
                </a:lnTo>
                <a:lnTo>
                  <a:pt x="690380" y="975340"/>
                </a:lnTo>
                <a:lnTo>
                  <a:pt x="691210" y="977249"/>
                </a:lnTo>
                <a:lnTo>
                  <a:pt x="691815" y="979217"/>
                </a:lnTo>
                <a:lnTo>
                  <a:pt x="692185" y="981238"/>
                </a:lnTo>
                <a:lnTo>
                  <a:pt x="692310" y="983305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A_combination_marker_163">
            <a:extLst>
              <a:ext uri="{FF2B5EF4-FFF2-40B4-BE49-F238E27FC236}">
                <a16:creationId xmlns:a16="http://schemas.microsoft.com/office/drawing/2014/main" id="{A0262E9C-D2C0-4278-B25A-E3B6DE1E8A3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1077298"/>
                </a:moveTo>
                <a:lnTo>
                  <a:pt x="1153619" y="1079365"/>
                </a:lnTo>
                <a:lnTo>
                  <a:pt x="1153249" y="1081386"/>
                </a:lnTo>
                <a:lnTo>
                  <a:pt x="1152644" y="1083354"/>
                </a:lnTo>
                <a:lnTo>
                  <a:pt x="1151814" y="1085262"/>
                </a:lnTo>
                <a:lnTo>
                  <a:pt x="1150769" y="1087106"/>
                </a:lnTo>
                <a:lnTo>
                  <a:pt x="1149518" y="1088877"/>
                </a:lnTo>
                <a:lnTo>
                  <a:pt x="1148071" y="1090570"/>
                </a:lnTo>
                <a:lnTo>
                  <a:pt x="1146438" y="1092179"/>
                </a:lnTo>
                <a:lnTo>
                  <a:pt x="1144629" y="1093695"/>
                </a:lnTo>
                <a:lnTo>
                  <a:pt x="1142652" y="1095114"/>
                </a:lnTo>
                <a:lnTo>
                  <a:pt x="1140519" y="1096428"/>
                </a:lnTo>
                <a:lnTo>
                  <a:pt x="1138238" y="1097632"/>
                </a:lnTo>
                <a:lnTo>
                  <a:pt x="1135819" y="1098718"/>
                </a:lnTo>
                <a:lnTo>
                  <a:pt x="1133273" y="1099680"/>
                </a:lnTo>
                <a:lnTo>
                  <a:pt x="1130608" y="1100513"/>
                </a:lnTo>
                <a:lnTo>
                  <a:pt x="1127835" y="1101208"/>
                </a:lnTo>
                <a:lnTo>
                  <a:pt x="1124963" y="1101760"/>
                </a:lnTo>
                <a:lnTo>
                  <a:pt x="1122002" y="1102162"/>
                </a:lnTo>
                <a:lnTo>
                  <a:pt x="1118961" y="1102409"/>
                </a:lnTo>
                <a:lnTo>
                  <a:pt x="1115851" y="1102492"/>
                </a:lnTo>
                <a:lnTo>
                  <a:pt x="1112737" y="1102409"/>
                </a:lnTo>
                <a:lnTo>
                  <a:pt x="1109693" y="1102162"/>
                </a:lnTo>
                <a:lnTo>
                  <a:pt x="1106729" y="1101760"/>
                </a:lnTo>
                <a:lnTo>
                  <a:pt x="1103854" y="1101208"/>
                </a:lnTo>
                <a:lnTo>
                  <a:pt x="1101079" y="1100513"/>
                </a:lnTo>
                <a:lnTo>
                  <a:pt x="1098412" y="1099680"/>
                </a:lnTo>
                <a:lnTo>
                  <a:pt x="1095864" y="1098718"/>
                </a:lnTo>
                <a:lnTo>
                  <a:pt x="1093444" y="1097632"/>
                </a:lnTo>
                <a:lnTo>
                  <a:pt x="1091162" y="1096428"/>
                </a:lnTo>
                <a:lnTo>
                  <a:pt x="1089027" y="1095114"/>
                </a:lnTo>
                <a:lnTo>
                  <a:pt x="1087050" y="1093695"/>
                </a:lnTo>
                <a:lnTo>
                  <a:pt x="1085240" y="1092179"/>
                </a:lnTo>
                <a:lnTo>
                  <a:pt x="1083606" y="1090570"/>
                </a:lnTo>
                <a:lnTo>
                  <a:pt x="1082159" y="1088877"/>
                </a:lnTo>
                <a:lnTo>
                  <a:pt x="1080908" y="1087106"/>
                </a:lnTo>
                <a:lnTo>
                  <a:pt x="1079862" y="1085262"/>
                </a:lnTo>
                <a:lnTo>
                  <a:pt x="1079032" y="1083354"/>
                </a:lnTo>
                <a:lnTo>
                  <a:pt x="1078427" y="1081386"/>
                </a:lnTo>
                <a:lnTo>
                  <a:pt x="1078057" y="1079365"/>
                </a:lnTo>
                <a:lnTo>
                  <a:pt x="1077932" y="1077298"/>
                </a:lnTo>
                <a:lnTo>
                  <a:pt x="1078057" y="1075232"/>
                </a:lnTo>
                <a:lnTo>
                  <a:pt x="1078427" y="1073211"/>
                </a:lnTo>
                <a:lnTo>
                  <a:pt x="1079032" y="1071243"/>
                </a:lnTo>
                <a:lnTo>
                  <a:pt x="1079862" y="1069334"/>
                </a:lnTo>
                <a:lnTo>
                  <a:pt x="1080908" y="1067491"/>
                </a:lnTo>
                <a:lnTo>
                  <a:pt x="1082159" y="1065719"/>
                </a:lnTo>
                <a:lnTo>
                  <a:pt x="1083606" y="1064026"/>
                </a:lnTo>
                <a:lnTo>
                  <a:pt x="1085240" y="1062418"/>
                </a:lnTo>
                <a:lnTo>
                  <a:pt x="1087050" y="1060902"/>
                </a:lnTo>
                <a:lnTo>
                  <a:pt x="1089027" y="1059483"/>
                </a:lnTo>
                <a:lnTo>
                  <a:pt x="1091162" y="1058168"/>
                </a:lnTo>
                <a:lnTo>
                  <a:pt x="1093444" y="1056965"/>
                </a:lnTo>
                <a:lnTo>
                  <a:pt x="1095864" y="1055879"/>
                </a:lnTo>
                <a:lnTo>
                  <a:pt x="1098412" y="1054916"/>
                </a:lnTo>
                <a:lnTo>
                  <a:pt x="1101079" y="1054084"/>
                </a:lnTo>
                <a:lnTo>
                  <a:pt x="1103854" y="1053389"/>
                </a:lnTo>
                <a:lnTo>
                  <a:pt x="1106729" y="1052837"/>
                </a:lnTo>
                <a:lnTo>
                  <a:pt x="1109693" y="1052434"/>
                </a:lnTo>
                <a:lnTo>
                  <a:pt x="1112737" y="1052188"/>
                </a:lnTo>
                <a:lnTo>
                  <a:pt x="1115851" y="1052105"/>
                </a:lnTo>
                <a:lnTo>
                  <a:pt x="1118961" y="1052188"/>
                </a:lnTo>
                <a:lnTo>
                  <a:pt x="1122002" y="1052434"/>
                </a:lnTo>
                <a:lnTo>
                  <a:pt x="1124963" y="1052837"/>
                </a:lnTo>
                <a:lnTo>
                  <a:pt x="1127835" y="1053389"/>
                </a:lnTo>
                <a:lnTo>
                  <a:pt x="1130608" y="1054084"/>
                </a:lnTo>
                <a:lnTo>
                  <a:pt x="1133273" y="1054916"/>
                </a:lnTo>
                <a:lnTo>
                  <a:pt x="1135819" y="1055879"/>
                </a:lnTo>
                <a:lnTo>
                  <a:pt x="1138238" y="1056965"/>
                </a:lnTo>
                <a:lnTo>
                  <a:pt x="1140519" y="1058168"/>
                </a:lnTo>
                <a:lnTo>
                  <a:pt x="1142652" y="1059483"/>
                </a:lnTo>
                <a:lnTo>
                  <a:pt x="1144629" y="1060902"/>
                </a:lnTo>
                <a:lnTo>
                  <a:pt x="1146438" y="1062418"/>
                </a:lnTo>
                <a:lnTo>
                  <a:pt x="1148071" y="1064026"/>
                </a:lnTo>
                <a:lnTo>
                  <a:pt x="1149518" y="1065719"/>
                </a:lnTo>
                <a:lnTo>
                  <a:pt x="1150769" y="1067491"/>
                </a:lnTo>
                <a:lnTo>
                  <a:pt x="1151814" y="1069334"/>
                </a:lnTo>
                <a:lnTo>
                  <a:pt x="1152644" y="1071243"/>
                </a:lnTo>
                <a:lnTo>
                  <a:pt x="1153249" y="1073211"/>
                </a:lnTo>
                <a:lnTo>
                  <a:pt x="1153619" y="1075232"/>
                </a:lnTo>
                <a:lnTo>
                  <a:pt x="1153745" y="107729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published_A_combination_marker_164">
            <a:extLst>
              <a:ext uri="{FF2B5EF4-FFF2-40B4-BE49-F238E27FC236}">
                <a16:creationId xmlns:a16="http://schemas.microsoft.com/office/drawing/2014/main" id="{82373287-64FE-404F-8026-EC79420603F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8" y="1389616"/>
                </a:moveTo>
                <a:lnTo>
                  <a:pt x="2035677" y="1389532"/>
                </a:lnTo>
                <a:lnTo>
                  <a:pt x="2032636" y="1389287"/>
                </a:lnTo>
                <a:lnTo>
                  <a:pt x="2029674" y="1388885"/>
                </a:lnTo>
                <a:lnTo>
                  <a:pt x="2026801" y="1388333"/>
                </a:lnTo>
                <a:lnTo>
                  <a:pt x="2024027" y="1387639"/>
                </a:lnTo>
                <a:lnTo>
                  <a:pt x="2021360" y="1386807"/>
                </a:lnTo>
                <a:lnTo>
                  <a:pt x="2018812" y="1385846"/>
                </a:lnTo>
                <a:lnTo>
                  <a:pt x="2016392" y="1384760"/>
                </a:lnTo>
                <a:lnTo>
                  <a:pt x="2014109" y="1383558"/>
                </a:lnTo>
                <a:lnTo>
                  <a:pt x="2011974" y="1382244"/>
                </a:lnTo>
                <a:lnTo>
                  <a:pt x="2009995" y="1380826"/>
                </a:lnTo>
                <a:lnTo>
                  <a:pt x="2008184" y="1379309"/>
                </a:lnTo>
                <a:lnTo>
                  <a:pt x="2006549" y="1377702"/>
                </a:lnTo>
                <a:lnTo>
                  <a:pt x="2005101" y="1376009"/>
                </a:lnTo>
                <a:lnTo>
                  <a:pt x="2003848" y="1374237"/>
                </a:lnTo>
                <a:lnTo>
                  <a:pt x="2002802" y="1372393"/>
                </a:lnTo>
                <a:lnTo>
                  <a:pt x="2001971" y="1370483"/>
                </a:lnTo>
                <a:lnTo>
                  <a:pt x="2001365" y="1368513"/>
                </a:lnTo>
                <a:lnTo>
                  <a:pt x="2000995" y="1366491"/>
                </a:lnTo>
                <a:lnTo>
                  <a:pt x="2000869" y="1364422"/>
                </a:lnTo>
                <a:lnTo>
                  <a:pt x="2000995" y="1362356"/>
                </a:lnTo>
                <a:lnTo>
                  <a:pt x="2001365" y="1360335"/>
                </a:lnTo>
                <a:lnTo>
                  <a:pt x="2001971" y="1358368"/>
                </a:lnTo>
                <a:lnTo>
                  <a:pt x="2002802" y="1356460"/>
                </a:lnTo>
                <a:lnTo>
                  <a:pt x="2003848" y="1354617"/>
                </a:lnTo>
                <a:lnTo>
                  <a:pt x="2005101" y="1352846"/>
                </a:lnTo>
                <a:lnTo>
                  <a:pt x="2006549" y="1351155"/>
                </a:lnTo>
                <a:lnTo>
                  <a:pt x="2008184" y="1349548"/>
                </a:lnTo>
                <a:lnTo>
                  <a:pt x="2009995" y="1348032"/>
                </a:lnTo>
                <a:lnTo>
                  <a:pt x="2011974" y="1346615"/>
                </a:lnTo>
                <a:lnTo>
                  <a:pt x="2014109" y="1345302"/>
                </a:lnTo>
                <a:lnTo>
                  <a:pt x="2016392" y="1344099"/>
                </a:lnTo>
                <a:lnTo>
                  <a:pt x="2018812" y="1343014"/>
                </a:lnTo>
                <a:lnTo>
                  <a:pt x="2021360" y="1342053"/>
                </a:lnTo>
                <a:lnTo>
                  <a:pt x="2024027" y="1341222"/>
                </a:lnTo>
                <a:lnTo>
                  <a:pt x="2026801" y="1340527"/>
                </a:lnTo>
                <a:lnTo>
                  <a:pt x="2029674" y="1339976"/>
                </a:lnTo>
                <a:lnTo>
                  <a:pt x="2032636" y="1339574"/>
                </a:lnTo>
                <a:lnTo>
                  <a:pt x="2035677" y="1339328"/>
                </a:lnTo>
                <a:lnTo>
                  <a:pt x="2038788" y="1339245"/>
                </a:lnTo>
                <a:lnTo>
                  <a:pt x="2041898" y="1339328"/>
                </a:lnTo>
                <a:lnTo>
                  <a:pt x="2044939" y="1339574"/>
                </a:lnTo>
                <a:lnTo>
                  <a:pt x="2047900" y="1339976"/>
                </a:lnTo>
                <a:lnTo>
                  <a:pt x="2050772" y="1340527"/>
                </a:lnTo>
                <a:lnTo>
                  <a:pt x="2053545" y="1341222"/>
                </a:lnTo>
                <a:lnTo>
                  <a:pt x="2056210" y="1342053"/>
                </a:lnTo>
                <a:lnTo>
                  <a:pt x="2058757" y="1343014"/>
                </a:lnTo>
                <a:lnTo>
                  <a:pt x="2061175" y="1344099"/>
                </a:lnTo>
                <a:lnTo>
                  <a:pt x="2063456" y="1345302"/>
                </a:lnTo>
                <a:lnTo>
                  <a:pt x="2065589" y="1346615"/>
                </a:lnTo>
                <a:lnTo>
                  <a:pt x="2067566" y="1348032"/>
                </a:lnTo>
                <a:lnTo>
                  <a:pt x="2069375" y="1349548"/>
                </a:lnTo>
                <a:lnTo>
                  <a:pt x="2071009" y="1351155"/>
                </a:lnTo>
                <a:lnTo>
                  <a:pt x="2072455" y="1352846"/>
                </a:lnTo>
                <a:lnTo>
                  <a:pt x="2073706" y="1354617"/>
                </a:lnTo>
                <a:lnTo>
                  <a:pt x="2074752" y="1356460"/>
                </a:lnTo>
                <a:lnTo>
                  <a:pt x="2075581" y="1358368"/>
                </a:lnTo>
                <a:lnTo>
                  <a:pt x="2076186" y="1360335"/>
                </a:lnTo>
                <a:lnTo>
                  <a:pt x="2076556" y="1362356"/>
                </a:lnTo>
                <a:lnTo>
                  <a:pt x="2076682" y="1364422"/>
                </a:lnTo>
                <a:lnTo>
                  <a:pt x="2076556" y="1366491"/>
                </a:lnTo>
                <a:lnTo>
                  <a:pt x="2076186" y="1368513"/>
                </a:lnTo>
                <a:lnTo>
                  <a:pt x="2075581" y="1370483"/>
                </a:lnTo>
                <a:lnTo>
                  <a:pt x="2074752" y="1372393"/>
                </a:lnTo>
                <a:lnTo>
                  <a:pt x="2073706" y="1374237"/>
                </a:lnTo>
                <a:lnTo>
                  <a:pt x="2072455" y="1376009"/>
                </a:lnTo>
                <a:lnTo>
                  <a:pt x="2071009" y="1377702"/>
                </a:lnTo>
                <a:lnTo>
                  <a:pt x="2069375" y="1379309"/>
                </a:lnTo>
                <a:lnTo>
                  <a:pt x="2067566" y="1380826"/>
                </a:lnTo>
                <a:lnTo>
                  <a:pt x="2065589" y="1382244"/>
                </a:lnTo>
                <a:lnTo>
                  <a:pt x="2063456" y="1383558"/>
                </a:lnTo>
                <a:lnTo>
                  <a:pt x="2061175" y="1384760"/>
                </a:lnTo>
                <a:lnTo>
                  <a:pt x="2058757" y="1385846"/>
                </a:lnTo>
                <a:lnTo>
                  <a:pt x="2056210" y="1386807"/>
                </a:lnTo>
                <a:lnTo>
                  <a:pt x="2053545" y="1387639"/>
                </a:lnTo>
                <a:lnTo>
                  <a:pt x="2050772" y="1388333"/>
                </a:lnTo>
                <a:lnTo>
                  <a:pt x="2047900" y="1388885"/>
                </a:lnTo>
                <a:lnTo>
                  <a:pt x="2044939" y="1389287"/>
                </a:lnTo>
                <a:lnTo>
                  <a:pt x="2041898" y="1389532"/>
                </a:lnTo>
                <a:lnTo>
                  <a:pt x="2038788" y="13896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published_A_combination_marker_165">
            <a:extLst>
              <a:ext uri="{FF2B5EF4-FFF2-40B4-BE49-F238E27FC236}">
                <a16:creationId xmlns:a16="http://schemas.microsoft.com/office/drawing/2014/main" id="{754138BC-9AB4-4D75-A15B-8C6FEC0600A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6" y="1434678"/>
                </a:moveTo>
                <a:lnTo>
                  <a:pt x="3421235" y="1434595"/>
                </a:lnTo>
                <a:lnTo>
                  <a:pt x="3418194" y="1434349"/>
                </a:lnTo>
                <a:lnTo>
                  <a:pt x="3415232" y="1433947"/>
                </a:lnTo>
                <a:lnTo>
                  <a:pt x="3412359" y="1433396"/>
                </a:lnTo>
                <a:lnTo>
                  <a:pt x="3409584" y="1432701"/>
                </a:lnTo>
                <a:lnTo>
                  <a:pt x="3406918" y="1431870"/>
                </a:lnTo>
                <a:lnTo>
                  <a:pt x="3404370" y="1430909"/>
                </a:lnTo>
                <a:lnTo>
                  <a:pt x="3401950" y="1429824"/>
                </a:lnTo>
                <a:lnTo>
                  <a:pt x="3399667" y="1428622"/>
                </a:lnTo>
                <a:lnTo>
                  <a:pt x="3397532" y="1427309"/>
                </a:lnTo>
                <a:lnTo>
                  <a:pt x="3395553" y="1425891"/>
                </a:lnTo>
                <a:lnTo>
                  <a:pt x="3393742" y="1424376"/>
                </a:lnTo>
                <a:lnTo>
                  <a:pt x="3392107" y="1422769"/>
                </a:lnTo>
                <a:lnTo>
                  <a:pt x="3390659" y="1421077"/>
                </a:lnTo>
                <a:lnTo>
                  <a:pt x="3389406" y="1419306"/>
                </a:lnTo>
                <a:lnTo>
                  <a:pt x="3388360" y="1417464"/>
                </a:lnTo>
                <a:lnTo>
                  <a:pt x="3387529" y="1415555"/>
                </a:lnTo>
                <a:lnTo>
                  <a:pt x="3386923" y="1413588"/>
                </a:lnTo>
                <a:lnTo>
                  <a:pt x="3386553" y="1411568"/>
                </a:lnTo>
                <a:lnTo>
                  <a:pt x="3386427" y="1409501"/>
                </a:lnTo>
                <a:lnTo>
                  <a:pt x="3386553" y="1407432"/>
                </a:lnTo>
                <a:lnTo>
                  <a:pt x="3386923" y="1405410"/>
                </a:lnTo>
                <a:lnTo>
                  <a:pt x="3387529" y="1403441"/>
                </a:lnTo>
                <a:lnTo>
                  <a:pt x="3388360" y="1401531"/>
                </a:lnTo>
                <a:lnTo>
                  <a:pt x="3389406" y="1399686"/>
                </a:lnTo>
                <a:lnTo>
                  <a:pt x="3390659" y="1397915"/>
                </a:lnTo>
                <a:lnTo>
                  <a:pt x="3392107" y="1396222"/>
                </a:lnTo>
                <a:lnTo>
                  <a:pt x="3393742" y="1394614"/>
                </a:lnTo>
                <a:lnTo>
                  <a:pt x="3395553" y="1393097"/>
                </a:lnTo>
                <a:lnTo>
                  <a:pt x="3397532" y="1391679"/>
                </a:lnTo>
                <a:lnTo>
                  <a:pt x="3399667" y="1390366"/>
                </a:lnTo>
                <a:lnTo>
                  <a:pt x="3401950" y="1389163"/>
                </a:lnTo>
                <a:lnTo>
                  <a:pt x="3404370" y="1388077"/>
                </a:lnTo>
                <a:lnTo>
                  <a:pt x="3406918" y="1387116"/>
                </a:lnTo>
                <a:lnTo>
                  <a:pt x="3409584" y="1386285"/>
                </a:lnTo>
                <a:lnTo>
                  <a:pt x="3412359" y="1385590"/>
                </a:lnTo>
                <a:lnTo>
                  <a:pt x="3415232" y="1385039"/>
                </a:lnTo>
                <a:lnTo>
                  <a:pt x="3418194" y="1384637"/>
                </a:lnTo>
                <a:lnTo>
                  <a:pt x="3421235" y="1384391"/>
                </a:lnTo>
                <a:lnTo>
                  <a:pt x="3424346" y="1384307"/>
                </a:lnTo>
                <a:lnTo>
                  <a:pt x="3427456" y="1384391"/>
                </a:lnTo>
                <a:lnTo>
                  <a:pt x="3430497" y="1384637"/>
                </a:lnTo>
                <a:lnTo>
                  <a:pt x="3433459" y="1385039"/>
                </a:lnTo>
                <a:lnTo>
                  <a:pt x="3436333" y="1385590"/>
                </a:lnTo>
                <a:lnTo>
                  <a:pt x="3439107" y="1386285"/>
                </a:lnTo>
                <a:lnTo>
                  <a:pt x="3441774" y="1387116"/>
                </a:lnTo>
                <a:lnTo>
                  <a:pt x="3444322" y="1388077"/>
                </a:lnTo>
                <a:lnTo>
                  <a:pt x="3446742" y="1389163"/>
                </a:lnTo>
                <a:lnTo>
                  <a:pt x="3449025" y="1390366"/>
                </a:lnTo>
                <a:lnTo>
                  <a:pt x="3451160" y="1391679"/>
                </a:lnTo>
                <a:lnTo>
                  <a:pt x="3453138" y="1393097"/>
                </a:lnTo>
                <a:lnTo>
                  <a:pt x="3454950" y="1394614"/>
                </a:lnTo>
                <a:lnTo>
                  <a:pt x="3456585" y="1396222"/>
                </a:lnTo>
                <a:lnTo>
                  <a:pt x="3458033" y="1397915"/>
                </a:lnTo>
                <a:lnTo>
                  <a:pt x="3459285" y="1399686"/>
                </a:lnTo>
                <a:lnTo>
                  <a:pt x="3460332" y="1401531"/>
                </a:lnTo>
                <a:lnTo>
                  <a:pt x="3461163" y="1403441"/>
                </a:lnTo>
                <a:lnTo>
                  <a:pt x="3461768" y="1405410"/>
                </a:lnTo>
                <a:lnTo>
                  <a:pt x="3462139" y="1407432"/>
                </a:lnTo>
                <a:lnTo>
                  <a:pt x="3462265" y="1409501"/>
                </a:lnTo>
                <a:lnTo>
                  <a:pt x="3462139" y="1411568"/>
                </a:lnTo>
                <a:lnTo>
                  <a:pt x="3461768" y="1413588"/>
                </a:lnTo>
                <a:lnTo>
                  <a:pt x="3461163" y="1415555"/>
                </a:lnTo>
                <a:lnTo>
                  <a:pt x="3460332" y="1417464"/>
                </a:lnTo>
                <a:lnTo>
                  <a:pt x="3459285" y="1419306"/>
                </a:lnTo>
                <a:lnTo>
                  <a:pt x="3458033" y="1421077"/>
                </a:lnTo>
                <a:lnTo>
                  <a:pt x="3456585" y="1422769"/>
                </a:lnTo>
                <a:lnTo>
                  <a:pt x="3454950" y="1424376"/>
                </a:lnTo>
                <a:lnTo>
                  <a:pt x="3453138" y="1425891"/>
                </a:lnTo>
                <a:lnTo>
                  <a:pt x="3451160" y="1427309"/>
                </a:lnTo>
                <a:lnTo>
                  <a:pt x="3449025" y="1428622"/>
                </a:lnTo>
                <a:lnTo>
                  <a:pt x="3446742" y="1429824"/>
                </a:lnTo>
                <a:lnTo>
                  <a:pt x="3444322" y="1430909"/>
                </a:lnTo>
                <a:lnTo>
                  <a:pt x="3441774" y="1431870"/>
                </a:lnTo>
                <a:lnTo>
                  <a:pt x="3439107" y="1432701"/>
                </a:lnTo>
                <a:lnTo>
                  <a:pt x="3436333" y="1433396"/>
                </a:lnTo>
                <a:lnTo>
                  <a:pt x="3433459" y="1433947"/>
                </a:lnTo>
                <a:lnTo>
                  <a:pt x="3430497" y="1434349"/>
                </a:lnTo>
                <a:lnTo>
                  <a:pt x="3427456" y="1434595"/>
                </a:lnTo>
                <a:lnTo>
                  <a:pt x="3424346" y="143467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published_A_combination_marker_166">
            <a:extLst>
              <a:ext uri="{FF2B5EF4-FFF2-40B4-BE49-F238E27FC236}">
                <a16:creationId xmlns:a16="http://schemas.microsoft.com/office/drawing/2014/main" id="{0E6CA2A4-01A4-46A4-ABF8-9D99484897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418" y="780587"/>
                </a:moveTo>
                <a:lnTo>
                  <a:pt x="3882308" y="780504"/>
                </a:lnTo>
                <a:lnTo>
                  <a:pt x="3879266" y="780258"/>
                </a:lnTo>
                <a:lnTo>
                  <a:pt x="3876304" y="779856"/>
                </a:lnTo>
                <a:lnTo>
                  <a:pt x="3873431" y="779305"/>
                </a:lnTo>
                <a:lnTo>
                  <a:pt x="3870657" y="778610"/>
                </a:lnTo>
                <a:lnTo>
                  <a:pt x="3867990" y="777779"/>
                </a:lnTo>
                <a:lnTo>
                  <a:pt x="3865442" y="776817"/>
                </a:lnTo>
                <a:lnTo>
                  <a:pt x="3863022" y="775732"/>
                </a:lnTo>
                <a:lnTo>
                  <a:pt x="3860739" y="774529"/>
                </a:lnTo>
                <a:lnTo>
                  <a:pt x="3858604" y="773216"/>
                </a:lnTo>
                <a:lnTo>
                  <a:pt x="3856626" y="771797"/>
                </a:lnTo>
                <a:lnTo>
                  <a:pt x="3854814" y="770281"/>
                </a:lnTo>
                <a:lnTo>
                  <a:pt x="3853179" y="768673"/>
                </a:lnTo>
                <a:lnTo>
                  <a:pt x="3851731" y="766980"/>
                </a:lnTo>
                <a:lnTo>
                  <a:pt x="3850478" y="765208"/>
                </a:lnTo>
                <a:lnTo>
                  <a:pt x="3849432" y="763364"/>
                </a:lnTo>
                <a:lnTo>
                  <a:pt x="3848601" y="761454"/>
                </a:lnTo>
                <a:lnTo>
                  <a:pt x="3847995" y="759485"/>
                </a:lnTo>
                <a:lnTo>
                  <a:pt x="3847625" y="757463"/>
                </a:lnTo>
                <a:lnTo>
                  <a:pt x="3847499" y="755394"/>
                </a:lnTo>
                <a:lnTo>
                  <a:pt x="3847625" y="753327"/>
                </a:lnTo>
                <a:lnTo>
                  <a:pt x="3847995" y="751307"/>
                </a:lnTo>
                <a:lnTo>
                  <a:pt x="3848601" y="749339"/>
                </a:lnTo>
                <a:lnTo>
                  <a:pt x="3849432" y="747431"/>
                </a:lnTo>
                <a:lnTo>
                  <a:pt x="3850478" y="745589"/>
                </a:lnTo>
                <a:lnTo>
                  <a:pt x="3851731" y="743818"/>
                </a:lnTo>
                <a:lnTo>
                  <a:pt x="3853179" y="742126"/>
                </a:lnTo>
                <a:lnTo>
                  <a:pt x="3854814" y="740519"/>
                </a:lnTo>
                <a:lnTo>
                  <a:pt x="3856626" y="739004"/>
                </a:lnTo>
                <a:lnTo>
                  <a:pt x="3858604" y="737586"/>
                </a:lnTo>
                <a:lnTo>
                  <a:pt x="3860739" y="736273"/>
                </a:lnTo>
                <a:lnTo>
                  <a:pt x="3863022" y="735071"/>
                </a:lnTo>
                <a:lnTo>
                  <a:pt x="3865442" y="733986"/>
                </a:lnTo>
                <a:lnTo>
                  <a:pt x="3867990" y="733025"/>
                </a:lnTo>
                <a:lnTo>
                  <a:pt x="3870657" y="732194"/>
                </a:lnTo>
                <a:lnTo>
                  <a:pt x="3873431" y="731499"/>
                </a:lnTo>
                <a:lnTo>
                  <a:pt x="3876304" y="730948"/>
                </a:lnTo>
                <a:lnTo>
                  <a:pt x="3879266" y="730546"/>
                </a:lnTo>
                <a:lnTo>
                  <a:pt x="3882308" y="730300"/>
                </a:lnTo>
                <a:lnTo>
                  <a:pt x="3885418" y="730217"/>
                </a:lnTo>
                <a:lnTo>
                  <a:pt x="3888529" y="730300"/>
                </a:lnTo>
                <a:lnTo>
                  <a:pt x="3891570" y="730546"/>
                </a:lnTo>
                <a:lnTo>
                  <a:pt x="3894532" y="730948"/>
                </a:lnTo>
                <a:lnTo>
                  <a:pt x="3897405" y="731499"/>
                </a:lnTo>
                <a:lnTo>
                  <a:pt x="3900180" y="732194"/>
                </a:lnTo>
                <a:lnTo>
                  <a:pt x="3902846" y="733025"/>
                </a:lnTo>
                <a:lnTo>
                  <a:pt x="3905394" y="733986"/>
                </a:lnTo>
                <a:lnTo>
                  <a:pt x="3907814" y="735071"/>
                </a:lnTo>
                <a:lnTo>
                  <a:pt x="3910097" y="736273"/>
                </a:lnTo>
                <a:lnTo>
                  <a:pt x="3912232" y="737586"/>
                </a:lnTo>
                <a:lnTo>
                  <a:pt x="3914211" y="739004"/>
                </a:lnTo>
                <a:lnTo>
                  <a:pt x="3916022" y="740519"/>
                </a:lnTo>
                <a:lnTo>
                  <a:pt x="3917657" y="742126"/>
                </a:lnTo>
                <a:lnTo>
                  <a:pt x="3919105" y="743818"/>
                </a:lnTo>
                <a:lnTo>
                  <a:pt x="3920358" y="745589"/>
                </a:lnTo>
                <a:lnTo>
                  <a:pt x="3921404" y="747431"/>
                </a:lnTo>
                <a:lnTo>
                  <a:pt x="3922235" y="749339"/>
                </a:lnTo>
                <a:lnTo>
                  <a:pt x="3922841" y="751307"/>
                </a:lnTo>
                <a:lnTo>
                  <a:pt x="3923211" y="753327"/>
                </a:lnTo>
                <a:lnTo>
                  <a:pt x="3923337" y="755394"/>
                </a:lnTo>
                <a:lnTo>
                  <a:pt x="3923211" y="757463"/>
                </a:lnTo>
                <a:lnTo>
                  <a:pt x="3922841" y="759485"/>
                </a:lnTo>
                <a:lnTo>
                  <a:pt x="3922235" y="761454"/>
                </a:lnTo>
                <a:lnTo>
                  <a:pt x="3921404" y="763364"/>
                </a:lnTo>
                <a:lnTo>
                  <a:pt x="3920358" y="765208"/>
                </a:lnTo>
                <a:lnTo>
                  <a:pt x="3919105" y="766980"/>
                </a:lnTo>
                <a:lnTo>
                  <a:pt x="3917657" y="768673"/>
                </a:lnTo>
                <a:lnTo>
                  <a:pt x="3916022" y="770281"/>
                </a:lnTo>
                <a:lnTo>
                  <a:pt x="3914211" y="771797"/>
                </a:lnTo>
                <a:lnTo>
                  <a:pt x="3912232" y="773216"/>
                </a:lnTo>
                <a:lnTo>
                  <a:pt x="3910097" y="774529"/>
                </a:lnTo>
                <a:lnTo>
                  <a:pt x="3907814" y="775732"/>
                </a:lnTo>
                <a:lnTo>
                  <a:pt x="3905394" y="776817"/>
                </a:lnTo>
                <a:lnTo>
                  <a:pt x="3902846" y="777779"/>
                </a:lnTo>
                <a:lnTo>
                  <a:pt x="3900180" y="778610"/>
                </a:lnTo>
                <a:lnTo>
                  <a:pt x="3897405" y="779305"/>
                </a:lnTo>
                <a:lnTo>
                  <a:pt x="3894532" y="779856"/>
                </a:lnTo>
                <a:lnTo>
                  <a:pt x="3891570" y="780258"/>
                </a:lnTo>
                <a:lnTo>
                  <a:pt x="3888529" y="780504"/>
                </a:lnTo>
                <a:lnTo>
                  <a:pt x="3885418" y="78058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B_heading">
            <a:extLst>
              <a:ext uri="{FF2B5EF4-FFF2-40B4-BE49-F238E27FC236}">
                <a16:creationId xmlns:a16="http://schemas.microsoft.com/office/drawing/2014/main" id="{5EB8956D-8E5B-4F0E-A5CD-F5A51AC6C1ED}"/>
              </a:ext>
            </a:extLst>
          </p:cNvPr>
          <p:cNvSpPr>
            <a:spLocks noGrp="1"/>
          </p:cNvSpPr>
          <p:nvPr/>
        </p:nvSpPr>
        <p:spPr>
          <a:xfrm>
            <a:off x="626745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 в сыворотке</a:t>
            </a:r>
          </a:p>
        </p:txBody>
      </p:sp>
      <p:sp>
        <p:nvSpPr>
          <p:cNvPr id="128" name="B_y_title">
            <a:extLst>
              <a:ext uri="{FF2B5EF4-FFF2-40B4-BE49-F238E27FC236}">
                <a16:creationId xmlns:a16="http://schemas.microsoft.com/office/drawing/2014/main" id="{442F5F13-60B3-4411-8838-EDB9E0B6AE2D}"/>
              </a:ext>
            </a:extLst>
          </p:cNvPr>
          <p:cNvSpPr>
            <a:spLocks noGrp="1"/>
          </p:cNvSpPr>
          <p:nvPr/>
        </p:nvSpPr>
        <p:spPr>
          <a:xfrm>
            <a:off x="626745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от исходного уровня, ммоль/л</a:t>
            </a:r>
          </a:p>
        </p:txBody>
      </p:sp>
      <p:sp>
        <p:nvSpPr>
          <p:cNvPr id="129" name="B_y_axis">
            <a:extLst>
              <a:ext uri="{FF2B5EF4-FFF2-40B4-BE49-F238E27FC236}">
                <a16:creationId xmlns:a16="http://schemas.microsoft.com/office/drawing/2014/main" id="{B8B9A6C4-0CFB-42D1-8949-04DB10B3225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95" cy="2439434"/>
          </a:xfrm>
          <a:custGeom>
            <a:avLst/>
            <a:gdLst/>
            <a:ahLst/>
            <a:cxnLst/>
            <a:rect l="0" t="0" r="0" b="0"/>
            <a:pathLst>
              <a:path w="95" h="1905000">
                <a:moveTo>
                  <a:pt x="0" y="0"/>
                </a:moveTo>
                <a:lnTo>
                  <a:pt x="0" y="19050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B_zero_0">
            <a:extLst>
              <a:ext uri="{FF2B5EF4-FFF2-40B4-BE49-F238E27FC236}">
                <a16:creationId xmlns:a16="http://schemas.microsoft.com/office/drawing/2014/main" id="{07E95C39-C2CB-476F-AA56-CE75838AB229}"/>
              </a:ext>
            </a:extLst>
          </p:cNvPr>
          <p:cNvSpPr>
            <a:spLocks noGrp="1"/>
          </p:cNvSpPr>
          <p:nvPr/>
        </p:nvSpPr>
        <p:spPr>
          <a:xfrm>
            <a:off x="7696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B_zero_12">
            <a:extLst>
              <a:ext uri="{FF2B5EF4-FFF2-40B4-BE49-F238E27FC236}">
                <a16:creationId xmlns:a16="http://schemas.microsoft.com/office/drawing/2014/main" id="{AD63227C-70A5-4C57-8256-D1AE83DEC880}"/>
              </a:ext>
            </a:extLst>
          </p:cNvPr>
          <p:cNvSpPr>
            <a:spLocks noGrp="1"/>
          </p:cNvSpPr>
          <p:nvPr/>
        </p:nvSpPr>
        <p:spPr>
          <a:xfrm>
            <a:off x="7810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B_zero_24">
            <a:extLst>
              <a:ext uri="{FF2B5EF4-FFF2-40B4-BE49-F238E27FC236}">
                <a16:creationId xmlns:a16="http://schemas.microsoft.com/office/drawing/2014/main" id="{FBEB2437-9FD7-434B-9967-B97A71BF1D9D}"/>
              </a:ext>
            </a:extLst>
          </p:cNvPr>
          <p:cNvSpPr>
            <a:spLocks noGrp="1"/>
          </p:cNvSpPr>
          <p:nvPr/>
        </p:nvSpPr>
        <p:spPr>
          <a:xfrm>
            <a:off x="7924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B_zero_36">
            <a:extLst>
              <a:ext uri="{FF2B5EF4-FFF2-40B4-BE49-F238E27FC236}">
                <a16:creationId xmlns:a16="http://schemas.microsoft.com/office/drawing/2014/main" id="{60D0A417-9208-464A-AD1E-8F52047B4357}"/>
              </a:ext>
            </a:extLst>
          </p:cNvPr>
          <p:cNvSpPr>
            <a:spLocks noGrp="1"/>
          </p:cNvSpPr>
          <p:nvPr/>
        </p:nvSpPr>
        <p:spPr>
          <a:xfrm>
            <a:off x="8039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B_zero_48">
            <a:extLst>
              <a:ext uri="{FF2B5EF4-FFF2-40B4-BE49-F238E27FC236}">
                <a16:creationId xmlns:a16="http://schemas.microsoft.com/office/drawing/2014/main" id="{560F583D-ED87-49DE-8B31-3BC2C2C6DD2A}"/>
              </a:ext>
            </a:extLst>
          </p:cNvPr>
          <p:cNvSpPr>
            <a:spLocks noGrp="1"/>
          </p:cNvSpPr>
          <p:nvPr/>
        </p:nvSpPr>
        <p:spPr>
          <a:xfrm>
            <a:off x="8153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B_zero_60">
            <a:extLst>
              <a:ext uri="{FF2B5EF4-FFF2-40B4-BE49-F238E27FC236}">
                <a16:creationId xmlns:a16="http://schemas.microsoft.com/office/drawing/2014/main" id="{6AD92085-92DD-427F-9910-FC103CB29EDC}"/>
              </a:ext>
            </a:extLst>
          </p:cNvPr>
          <p:cNvSpPr>
            <a:spLocks noGrp="1"/>
          </p:cNvSpPr>
          <p:nvPr/>
        </p:nvSpPr>
        <p:spPr>
          <a:xfrm>
            <a:off x="8267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B_zero_72">
            <a:extLst>
              <a:ext uri="{FF2B5EF4-FFF2-40B4-BE49-F238E27FC236}">
                <a16:creationId xmlns:a16="http://schemas.microsoft.com/office/drawing/2014/main" id="{5BD374C7-4F8F-4D4F-AA86-0E00BCC7E9EE}"/>
              </a:ext>
            </a:extLst>
          </p:cNvPr>
          <p:cNvSpPr>
            <a:spLocks noGrp="1"/>
          </p:cNvSpPr>
          <p:nvPr/>
        </p:nvSpPr>
        <p:spPr>
          <a:xfrm>
            <a:off x="8382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B_zero_84">
            <a:extLst>
              <a:ext uri="{FF2B5EF4-FFF2-40B4-BE49-F238E27FC236}">
                <a16:creationId xmlns:a16="http://schemas.microsoft.com/office/drawing/2014/main" id="{577DEB49-1222-4E64-8509-855220F4BFB9}"/>
              </a:ext>
            </a:extLst>
          </p:cNvPr>
          <p:cNvSpPr>
            <a:spLocks noGrp="1"/>
          </p:cNvSpPr>
          <p:nvPr/>
        </p:nvSpPr>
        <p:spPr>
          <a:xfrm>
            <a:off x="8496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B_zero_96">
            <a:extLst>
              <a:ext uri="{FF2B5EF4-FFF2-40B4-BE49-F238E27FC236}">
                <a16:creationId xmlns:a16="http://schemas.microsoft.com/office/drawing/2014/main" id="{7B83B19D-65A0-425C-83D4-3DF30E455164}"/>
              </a:ext>
            </a:extLst>
          </p:cNvPr>
          <p:cNvSpPr>
            <a:spLocks noGrp="1"/>
          </p:cNvSpPr>
          <p:nvPr/>
        </p:nvSpPr>
        <p:spPr>
          <a:xfrm>
            <a:off x="8610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B_zero_108">
            <a:extLst>
              <a:ext uri="{FF2B5EF4-FFF2-40B4-BE49-F238E27FC236}">
                <a16:creationId xmlns:a16="http://schemas.microsoft.com/office/drawing/2014/main" id="{D8EE3870-6829-4A7D-8557-771742F07A93}"/>
              </a:ext>
            </a:extLst>
          </p:cNvPr>
          <p:cNvSpPr>
            <a:spLocks noGrp="1"/>
          </p:cNvSpPr>
          <p:nvPr/>
        </p:nvSpPr>
        <p:spPr>
          <a:xfrm>
            <a:off x="8724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B_zero_120">
            <a:extLst>
              <a:ext uri="{FF2B5EF4-FFF2-40B4-BE49-F238E27FC236}">
                <a16:creationId xmlns:a16="http://schemas.microsoft.com/office/drawing/2014/main" id="{7B1832DB-8A5B-4114-9448-33827445D61C}"/>
              </a:ext>
            </a:extLst>
          </p:cNvPr>
          <p:cNvSpPr>
            <a:spLocks noGrp="1"/>
          </p:cNvSpPr>
          <p:nvPr/>
        </p:nvSpPr>
        <p:spPr>
          <a:xfrm>
            <a:off x="8839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B_zero_132">
            <a:extLst>
              <a:ext uri="{FF2B5EF4-FFF2-40B4-BE49-F238E27FC236}">
                <a16:creationId xmlns:a16="http://schemas.microsoft.com/office/drawing/2014/main" id="{CD493F79-9F7B-492C-837E-C83F752EED71}"/>
              </a:ext>
            </a:extLst>
          </p:cNvPr>
          <p:cNvSpPr>
            <a:spLocks noGrp="1"/>
          </p:cNvSpPr>
          <p:nvPr/>
        </p:nvSpPr>
        <p:spPr>
          <a:xfrm>
            <a:off x="8953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B_zero_144">
            <a:extLst>
              <a:ext uri="{FF2B5EF4-FFF2-40B4-BE49-F238E27FC236}">
                <a16:creationId xmlns:a16="http://schemas.microsoft.com/office/drawing/2014/main" id="{01F282AA-B7E1-4501-935E-BB9F968ECB23}"/>
              </a:ext>
            </a:extLst>
          </p:cNvPr>
          <p:cNvSpPr>
            <a:spLocks noGrp="1"/>
          </p:cNvSpPr>
          <p:nvPr/>
        </p:nvSpPr>
        <p:spPr>
          <a:xfrm>
            <a:off x="9067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B_zero_156">
            <a:extLst>
              <a:ext uri="{FF2B5EF4-FFF2-40B4-BE49-F238E27FC236}">
                <a16:creationId xmlns:a16="http://schemas.microsoft.com/office/drawing/2014/main" id="{20DDDD5E-9726-43EF-9DB0-008ED9DD9981}"/>
              </a:ext>
            </a:extLst>
          </p:cNvPr>
          <p:cNvSpPr>
            <a:spLocks noGrp="1"/>
          </p:cNvSpPr>
          <p:nvPr/>
        </p:nvSpPr>
        <p:spPr>
          <a:xfrm>
            <a:off x="9182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B_zero_168">
            <a:extLst>
              <a:ext uri="{FF2B5EF4-FFF2-40B4-BE49-F238E27FC236}">
                <a16:creationId xmlns:a16="http://schemas.microsoft.com/office/drawing/2014/main" id="{0647DC05-C3DA-44C9-A4B7-6540018884F8}"/>
              </a:ext>
            </a:extLst>
          </p:cNvPr>
          <p:cNvSpPr>
            <a:spLocks noGrp="1"/>
          </p:cNvSpPr>
          <p:nvPr/>
        </p:nvSpPr>
        <p:spPr>
          <a:xfrm>
            <a:off x="9296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B_zero_180">
            <a:extLst>
              <a:ext uri="{FF2B5EF4-FFF2-40B4-BE49-F238E27FC236}">
                <a16:creationId xmlns:a16="http://schemas.microsoft.com/office/drawing/2014/main" id="{3EA2DFED-CCAC-43E9-AEDB-849229AFCCE4}"/>
              </a:ext>
            </a:extLst>
          </p:cNvPr>
          <p:cNvSpPr>
            <a:spLocks noGrp="1"/>
          </p:cNvSpPr>
          <p:nvPr/>
        </p:nvSpPr>
        <p:spPr>
          <a:xfrm>
            <a:off x="9410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B_zero_192">
            <a:extLst>
              <a:ext uri="{FF2B5EF4-FFF2-40B4-BE49-F238E27FC236}">
                <a16:creationId xmlns:a16="http://schemas.microsoft.com/office/drawing/2014/main" id="{A5EDFD34-D014-41DF-9F2A-480923DD3C0B}"/>
              </a:ext>
            </a:extLst>
          </p:cNvPr>
          <p:cNvSpPr>
            <a:spLocks noGrp="1"/>
          </p:cNvSpPr>
          <p:nvPr/>
        </p:nvSpPr>
        <p:spPr>
          <a:xfrm>
            <a:off x="9525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B_zero_204">
            <a:extLst>
              <a:ext uri="{FF2B5EF4-FFF2-40B4-BE49-F238E27FC236}">
                <a16:creationId xmlns:a16="http://schemas.microsoft.com/office/drawing/2014/main" id="{DB2FB82D-1D35-4EF7-9438-7E6542AA0FA5}"/>
              </a:ext>
            </a:extLst>
          </p:cNvPr>
          <p:cNvSpPr>
            <a:spLocks noGrp="1"/>
          </p:cNvSpPr>
          <p:nvPr/>
        </p:nvSpPr>
        <p:spPr>
          <a:xfrm>
            <a:off x="9639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B_zero_216">
            <a:extLst>
              <a:ext uri="{FF2B5EF4-FFF2-40B4-BE49-F238E27FC236}">
                <a16:creationId xmlns:a16="http://schemas.microsoft.com/office/drawing/2014/main" id="{C0B8DD0B-D994-4261-AAB6-8F7129A7218B}"/>
              </a:ext>
            </a:extLst>
          </p:cNvPr>
          <p:cNvSpPr>
            <a:spLocks noGrp="1"/>
          </p:cNvSpPr>
          <p:nvPr/>
        </p:nvSpPr>
        <p:spPr>
          <a:xfrm>
            <a:off x="9753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B_zero_228">
            <a:extLst>
              <a:ext uri="{FF2B5EF4-FFF2-40B4-BE49-F238E27FC236}">
                <a16:creationId xmlns:a16="http://schemas.microsoft.com/office/drawing/2014/main" id="{30A8A489-DC70-49B9-9BB2-B4735CA161D1}"/>
              </a:ext>
            </a:extLst>
          </p:cNvPr>
          <p:cNvSpPr>
            <a:spLocks noGrp="1"/>
          </p:cNvSpPr>
          <p:nvPr/>
        </p:nvSpPr>
        <p:spPr>
          <a:xfrm>
            <a:off x="9867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B_zero_240">
            <a:extLst>
              <a:ext uri="{FF2B5EF4-FFF2-40B4-BE49-F238E27FC236}">
                <a16:creationId xmlns:a16="http://schemas.microsoft.com/office/drawing/2014/main" id="{11687C7B-1A69-4367-B488-DE28EED81647}"/>
              </a:ext>
            </a:extLst>
          </p:cNvPr>
          <p:cNvSpPr>
            <a:spLocks noGrp="1"/>
          </p:cNvSpPr>
          <p:nvPr/>
        </p:nvSpPr>
        <p:spPr>
          <a:xfrm>
            <a:off x="9982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B_zero_252">
            <a:extLst>
              <a:ext uri="{FF2B5EF4-FFF2-40B4-BE49-F238E27FC236}">
                <a16:creationId xmlns:a16="http://schemas.microsoft.com/office/drawing/2014/main" id="{5EC07625-04D6-42F9-9C0A-4909CD7DBAC2}"/>
              </a:ext>
            </a:extLst>
          </p:cNvPr>
          <p:cNvSpPr>
            <a:spLocks noGrp="1"/>
          </p:cNvSpPr>
          <p:nvPr/>
        </p:nvSpPr>
        <p:spPr>
          <a:xfrm>
            <a:off x="10096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B_zero_264">
            <a:extLst>
              <a:ext uri="{FF2B5EF4-FFF2-40B4-BE49-F238E27FC236}">
                <a16:creationId xmlns:a16="http://schemas.microsoft.com/office/drawing/2014/main" id="{5076AEF3-555E-4266-9CA6-06135A4B82E1}"/>
              </a:ext>
            </a:extLst>
          </p:cNvPr>
          <p:cNvSpPr>
            <a:spLocks noGrp="1"/>
          </p:cNvSpPr>
          <p:nvPr/>
        </p:nvSpPr>
        <p:spPr>
          <a:xfrm>
            <a:off x="10210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B_zero_276">
            <a:extLst>
              <a:ext uri="{FF2B5EF4-FFF2-40B4-BE49-F238E27FC236}">
                <a16:creationId xmlns:a16="http://schemas.microsoft.com/office/drawing/2014/main" id="{2EE1FD5C-09BA-4EBC-84DD-FCF1F317D130}"/>
              </a:ext>
            </a:extLst>
          </p:cNvPr>
          <p:cNvSpPr>
            <a:spLocks noGrp="1"/>
          </p:cNvSpPr>
          <p:nvPr/>
        </p:nvSpPr>
        <p:spPr>
          <a:xfrm>
            <a:off x="10325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B_zero_288">
            <a:extLst>
              <a:ext uri="{FF2B5EF4-FFF2-40B4-BE49-F238E27FC236}">
                <a16:creationId xmlns:a16="http://schemas.microsoft.com/office/drawing/2014/main" id="{3B109997-A8DE-45B0-8C19-1ACE7233F241}"/>
              </a:ext>
            </a:extLst>
          </p:cNvPr>
          <p:cNvSpPr>
            <a:spLocks noGrp="1"/>
          </p:cNvSpPr>
          <p:nvPr/>
        </p:nvSpPr>
        <p:spPr>
          <a:xfrm>
            <a:off x="10439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B_zero_300">
            <a:extLst>
              <a:ext uri="{FF2B5EF4-FFF2-40B4-BE49-F238E27FC236}">
                <a16:creationId xmlns:a16="http://schemas.microsoft.com/office/drawing/2014/main" id="{D2C2F21E-0721-495C-94C3-A3F35ADDCBD7}"/>
              </a:ext>
            </a:extLst>
          </p:cNvPr>
          <p:cNvSpPr>
            <a:spLocks noGrp="1"/>
          </p:cNvSpPr>
          <p:nvPr/>
        </p:nvSpPr>
        <p:spPr>
          <a:xfrm>
            <a:off x="10553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B_zero_312">
            <a:extLst>
              <a:ext uri="{FF2B5EF4-FFF2-40B4-BE49-F238E27FC236}">
                <a16:creationId xmlns:a16="http://schemas.microsoft.com/office/drawing/2014/main" id="{98C87979-DBFD-4147-B242-C2BFC1D47AEB}"/>
              </a:ext>
            </a:extLst>
          </p:cNvPr>
          <p:cNvSpPr>
            <a:spLocks noGrp="1"/>
          </p:cNvSpPr>
          <p:nvPr/>
        </p:nvSpPr>
        <p:spPr>
          <a:xfrm>
            <a:off x="10668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B_zero_324">
            <a:extLst>
              <a:ext uri="{FF2B5EF4-FFF2-40B4-BE49-F238E27FC236}">
                <a16:creationId xmlns:a16="http://schemas.microsoft.com/office/drawing/2014/main" id="{F4B41532-0EA4-4834-96CE-DB55A2A225F0}"/>
              </a:ext>
            </a:extLst>
          </p:cNvPr>
          <p:cNvSpPr>
            <a:spLocks noGrp="1"/>
          </p:cNvSpPr>
          <p:nvPr/>
        </p:nvSpPr>
        <p:spPr>
          <a:xfrm>
            <a:off x="10782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B_zero_336">
            <a:extLst>
              <a:ext uri="{FF2B5EF4-FFF2-40B4-BE49-F238E27FC236}">
                <a16:creationId xmlns:a16="http://schemas.microsoft.com/office/drawing/2014/main" id="{774B147C-D464-471E-9374-08E6A078BFEC}"/>
              </a:ext>
            </a:extLst>
          </p:cNvPr>
          <p:cNvSpPr>
            <a:spLocks noGrp="1"/>
          </p:cNvSpPr>
          <p:nvPr/>
        </p:nvSpPr>
        <p:spPr>
          <a:xfrm>
            <a:off x="10896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B_zero_348">
            <a:extLst>
              <a:ext uri="{FF2B5EF4-FFF2-40B4-BE49-F238E27FC236}">
                <a16:creationId xmlns:a16="http://schemas.microsoft.com/office/drawing/2014/main" id="{9A97A7A0-3528-41F6-AE5B-A7405483FC78}"/>
              </a:ext>
            </a:extLst>
          </p:cNvPr>
          <p:cNvSpPr>
            <a:spLocks noGrp="1"/>
          </p:cNvSpPr>
          <p:nvPr/>
        </p:nvSpPr>
        <p:spPr>
          <a:xfrm>
            <a:off x="11010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B_zero_360">
            <a:extLst>
              <a:ext uri="{FF2B5EF4-FFF2-40B4-BE49-F238E27FC236}">
                <a16:creationId xmlns:a16="http://schemas.microsoft.com/office/drawing/2014/main" id="{121B6D16-4505-48CF-8145-3543DF1F839E}"/>
              </a:ext>
            </a:extLst>
          </p:cNvPr>
          <p:cNvSpPr>
            <a:spLocks noGrp="1"/>
          </p:cNvSpPr>
          <p:nvPr/>
        </p:nvSpPr>
        <p:spPr>
          <a:xfrm>
            <a:off x="11125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B_zero_372">
            <a:extLst>
              <a:ext uri="{FF2B5EF4-FFF2-40B4-BE49-F238E27FC236}">
                <a16:creationId xmlns:a16="http://schemas.microsoft.com/office/drawing/2014/main" id="{32917A53-5383-4CEF-B076-F8794702E63F}"/>
              </a:ext>
            </a:extLst>
          </p:cNvPr>
          <p:cNvSpPr>
            <a:spLocks noGrp="1"/>
          </p:cNvSpPr>
          <p:nvPr/>
        </p:nvSpPr>
        <p:spPr>
          <a:xfrm>
            <a:off x="11239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B_zero_384">
            <a:extLst>
              <a:ext uri="{FF2B5EF4-FFF2-40B4-BE49-F238E27FC236}">
                <a16:creationId xmlns:a16="http://schemas.microsoft.com/office/drawing/2014/main" id="{75E120FF-0BD2-4D0D-8DAF-D6F4303CEE3C}"/>
              </a:ext>
            </a:extLst>
          </p:cNvPr>
          <p:cNvSpPr>
            <a:spLocks noGrp="1"/>
          </p:cNvSpPr>
          <p:nvPr/>
        </p:nvSpPr>
        <p:spPr>
          <a:xfrm>
            <a:off x="11353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B_zero_396">
            <a:extLst>
              <a:ext uri="{FF2B5EF4-FFF2-40B4-BE49-F238E27FC236}">
                <a16:creationId xmlns:a16="http://schemas.microsoft.com/office/drawing/2014/main" id="{A9CED29E-45BA-42E2-A900-A1AE0C656B4B}"/>
              </a:ext>
            </a:extLst>
          </p:cNvPr>
          <p:cNvSpPr>
            <a:spLocks noGrp="1"/>
          </p:cNvSpPr>
          <p:nvPr/>
        </p:nvSpPr>
        <p:spPr>
          <a:xfrm>
            <a:off x="11468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B_x_axis">
            <a:extLst>
              <a:ext uri="{FF2B5EF4-FFF2-40B4-BE49-F238E27FC236}">
                <a16:creationId xmlns:a16="http://schemas.microsoft.com/office/drawing/2014/main" id="{729735B8-57BF-4C5B-950C-F912E8AA1838}"/>
              </a:ext>
            </a:extLst>
          </p:cNvPr>
          <p:cNvSpPr>
            <a:spLocks noGrp="1"/>
          </p:cNvSpPr>
          <p:nvPr/>
        </p:nvSpPr>
        <p:spPr>
          <a:xfrm>
            <a:off x="769620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B_ytick_0.4">
            <a:extLst>
              <a:ext uri="{FF2B5EF4-FFF2-40B4-BE49-F238E27FC236}">
                <a16:creationId xmlns:a16="http://schemas.microsoft.com/office/drawing/2014/main" id="{6BE594D7-B305-4C1B-9376-31809DE34250}"/>
              </a:ext>
            </a:extLst>
          </p:cNvPr>
          <p:cNvSpPr>
            <a:spLocks noGrp="1"/>
          </p:cNvSpPr>
          <p:nvPr/>
        </p:nvSpPr>
        <p:spPr>
          <a:xfrm>
            <a:off x="764857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B_ylabel_0.4">
            <a:extLst>
              <a:ext uri="{FF2B5EF4-FFF2-40B4-BE49-F238E27FC236}">
                <a16:creationId xmlns:a16="http://schemas.microsoft.com/office/drawing/2014/main" id="{1FC54EA5-099C-41BC-BF90-04B4473DB221}"/>
              </a:ext>
            </a:extLst>
          </p:cNvPr>
          <p:cNvSpPr>
            <a:spLocks noGrp="1"/>
          </p:cNvSpPr>
          <p:nvPr/>
        </p:nvSpPr>
        <p:spPr>
          <a:xfrm>
            <a:off x="717232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0,40</a:t>
            </a:r>
          </a:p>
        </p:txBody>
      </p:sp>
      <p:sp>
        <p:nvSpPr>
          <p:cNvPr id="167" name="B_ytick_0.35">
            <a:extLst>
              <a:ext uri="{FF2B5EF4-FFF2-40B4-BE49-F238E27FC236}">
                <a16:creationId xmlns:a16="http://schemas.microsoft.com/office/drawing/2014/main" id="{7D1AC402-3E39-4314-A0E5-511FEB73999E}"/>
              </a:ext>
            </a:extLst>
          </p:cNvPr>
          <p:cNvSpPr>
            <a:spLocks noGrp="1"/>
          </p:cNvSpPr>
          <p:nvPr/>
        </p:nvSpPr>
        <p:spPr>
          <a:xfrm>
            <a:off x="7648575" y="270713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B_ylabel_0.35">
            <a:extLst>
              <a:ext uri="{FF2B5EF4-FFF2-40B4-BE49-F238E27FC236}">
                <a16:creationId xmlns:a16="http://schemas.microsoft.com/office/drawing/2014/main" id="{39221637-946C-49AE-90A1-70EFCE57363E}"/>
              </a:ext>
            </a:extLst>
          </p:cNvPr>
          <p:cNvSpPr>
            <a:spLocks noGrp="1"/>
          </p:cNvSpPr>
          <p:nvPr/>
        </p:nvSpPr>
        <p:spPr>
          <a:xfrm>
            <a:off x="7172325" y="260367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0,35</a:t>
            </a:r>
          </a:p>
        </p:txBody>
      </p:sp>
      <p:sp>
        <p:nvSpPr>
          <p:cNvPr id="169" name="B_ytick_0.3">
            <a:extLst>
              <a:ext uri="{FF2B5EF4-FFF2-40B4-BE49-F238E27FC236}">
                <a16:creationId xmlns:a16="http://schemas.microsoft.com/office/drawing/2014/main" id="{57018649-F6A3-452D-A5B7-DED589F6CCBB}"/>
              </a:ext>
            </a:extLst>
          </p:cNvPr>
          <p:cNvSpPr>
            <a:spLocks noGrp="1"/>
          </p:cNvSpPr>
          <p:nvPr/>
        </p:nvSpPr>
        <p:spPr>
          <a:xfrm>
            <a:off x="7648575" y="297817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B_ylabel_0.3">
            <a:extLst>
              <a:ext uri="{FF2B5EF4-FFF2-40B4-BE49-F238E27FC236}">
                <a16:creationId xmlns:a16="http://schemas.microsoft.com/office/drawing/2014/main" id="{A3CD25D5-8D85-4389-BB97-B1B37EA9FC77}"/>
              </a:ext>
            </a:extLst>
          </p:cNvPr>
          <p:cNvSpPr>
            <a:spLocks noGrp="1"/>
          </p:cNvSpPr>
          <p:nvPr/>
        </p:nvSpPr>
        <p:spPr>
          <a:xfrm>
            <a:off x="7172325" y="287472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0,30</a:t>
            </a:r>
          </a:p>
        </p:txBody>
      </p:sp>
      <p:sp>
        <p:nvSpPr>
          <p:cNvPr id="171" name="B_ytick_0.25">
            <a:extLst>
              <a:ext uri="{FF2B5EF4-FFF2-40B4-BE49-F238E27FC236}">
                <a16:creationId xmlns:a16="http://schemas.microsoft.com/office/drawing/2014/main" id="{D504972A-914D-4511-B40E-88C594B7A399}"/>
              </a:ext>
            </a:extLst>
          </p:cNvPr>
          <p:cNvSpPr>
            <a:spLocks noGrp="1"/>
          </p:cNvSpPr>
          <p:nvPr/>
        </p:nvSpPr>
        <p:spPr>
          <a:xfrm>
            <a:off x="7648575" y="324922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B_ylabel_0.25">
            <a:extLst>
              <a:ext uri="{FF2B5EF4-FFF2-40B4-BE49-F238E27FC236}">
                <a16:creationId xmlns:a16="http://schemas.microsoft.com/office/drawing/2014/main" id="{1D870E04-CDD8-4698-BF86-C7A96E8E7B27}"/>
              </a:ext>
            </a:extLst>
          </p:cNvPr>
          <p:cNvSpPr>
            <a:spLocks noGrp="1"/>
          </p:cNvSpPr>
          <p:nvPr/>
        </p:nvSpPr>
        <p:spPr>
          <a:xfrm>
            <a:off x="7172325" y="314576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0,25</a:t>
            </a:r>
          </a:p>
        </p:txBody>
      </p:sp>
      <p:sp>
        <p:nvSpPr>
          <p:cNvPr id="173" name="B_ytick_0.2">
            <a:extLst>
              <a:ext uri="{FF2B5EF4-FFF2-40B4-BE49-F238E27FC236}">
                <a16:creationId xmlns:a16="http://schemas.microsoft.com/office/drawing/2014/main" id="{DE428CCE-B4CD-4C87-BEC7-088A07728A32}"/>
              </a:ext>
            </a:extLst>
          </p:cNvPr>
          <p:cNvSpPr>
            <a:spLocks noGrp="1"/>
          </p:cNvSpPr>
          <p:nvPr/>
        </p:nvSpPr>
        <p:spPr>
          <a:xfrm>
            <a:off x="7648575" y="352026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B_ylabel_0.2">
            <a:extLst>
              <a:ext uri="{FF2B5EF4-FFF2-40B4-BE49-F238E27FC236}">
                <a16:creationId xmlns:a16="http://schemas.microsoft.com/office/drawing/2014/main" id="{5B1D167A-D644-493B-B997-648BE700327B}"/>
              </a:ext>
            </a:extLst>
          </p:cNvPr>
          <p:cNvSpPr>
            <a:spLocks noGrp="1"/>
          </p:cNvSpPr>
          <p:nvPr/>
        </p:nvSpPr>
        <p:spPr>
          <a:xfrm>
            <a:off x="7172325" y="3416814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0,20</a:t>
            </a:r>
          </a:p>
        </p:txBody>
      </p:sp>
      <p:sp>
        <p:nvSpPr>
          <p:cNvPr id="175" name="B_ytick_0.15">
            <a:extLst>
              <a:ext uri="{FF2B5EF4-FFF2-40B4-BE49-F238E27FC236}">
                <a16:creationId xmlns:a16="http://schemas.microsoft.com/office/drawing/2014/main" id="{177F7E1B-76F9-4FD2-9EE3-63D39F2E4303}"/>
              </a:ext>
            </a:extLst>
          </p:cNvPr>
          <p:cNvSpPr>
            <a:spLocks noGrp="1"/>
          </p:cNvSpPr>
          <p:nvPr/>
        </p:nvSpPr>
        <p:spPr>
          <a:xfrm>
            <a:off x="7648575" y="379130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B_ylabel_0.15">
            <a:extLst>
              <a:ext uri="{FF2B5EF4-FFF2-40B4-BE49-F238E27FC236}">
                <a16:creationId xmlns:a16="http://schemas.microsoft.com/office/drawing/2014/main" id="{8DAAA288-DB39-4CD5-9C8C-8BD7B06A4F96}"/>
              </a:ext>
            </a:extLst>
          </p:cNvPr>
          <p:cNvSpPr>
            <a:spLocks noGrp="1"/>
          </p:cNvSpPr>
          <p:nvPr/>
        </p:nvSpPr>
        <p:spPr>
          <a:xfrm>
            <a:off x="7172325" y="368785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0,15</a:t>
            </a:r>
          </a:p>
        </p:txBody>
      </p:sp>
      <p:sp>
        <p:nvSpPr>
          <p:cNvPr id="177" name="B_ytick_0.1">
            <a:extLst>
              <a:ext uri="{FF2B5EF4-FFF2-40B4-BE49-F238E27FC236}">
                <a16:creationId xmlns:a16="http://schemas.microsoft.com/office/drawing/2014/main" id="{0C1DA47A-9401-48E4-A0B3-C31D6CE427B2}"/>
              </a:ext>
            </a:extLst>
          </p:cNvPr>
          <p:cNvSpPr>
            <a:spLocks noGrp="1"/>
          </p:cNvSpPr>
          <p:nvPr/>
        </p:nvSpPr>
        <p:spPr>
          <a:xfrm>
            <a:off x="7648575" y="406235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B_ylabel_0.1">
            <a:extLst>
              <a:ext uri="{FF2B5EF4-FFF2-40B4-BE49-F238E27FC236}">
                <a16:creationId xmlns:a16="http://schemas.microsoft.com/office/drawing/2014/main" id="{53F8310A-223C-4ACB-8F3E-A385057884D1}"/>
              </a:ext>
            </a:extLst>
          </p:cNvPr>
          <p:cNvSpPr>
            <a:spLocks noGrp="1"/>
          </p:cNvSpPr>
          <p:nvPr/>
        </p:nvSpPr>
        <p:spPr>
          <a:xfrm>
            <a:off x="7172325" y="395890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0,10</a:t>
            </a:r>
          </a:p>
        </p:txBody>
      </p:sp>
      <p:sp>
        <p:nvSpPr>
          <p:cNvPr id="179" name="B_ytick_0.05">
            <a:extLst>
              <a:ext uri="{FF2B5EF4-FFF2-40B4-BE49-F238E27FC236}">
                <a16:creationId xmlns:a16="http://schemas.microsoft.com/office/drawing/2014/main" id="{8289C5E9-727F-4519-9417-0D32E11CF7E1}"/>
              </a:ext>
            </a:extLst>
          </p:cNvPr>
          <p:cNvSpPr>
            <a:spLocks noGrp="1"/>
          </p:cNvSpPr>
          <p:nvPr/>
        </p:nvSpPr>
        <p:spPr>
          <a:xfrm>
            <a:off x="7648575" y="433341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B_ylabel_0.05">
            <a:extLst>
              <a:ext uri="{FF2B5EF4-FFF2-40B4-BE49-F238E27FC236}">
                <a16:creationId xmlns:a16="http://schemas.microsoft.com/office/drawing/2014/main" id="{4215E310-CF64-4AE5-88F0-EE2E2C4886A2}"/>
              </a:ext>
            </a:extLst>
          </p:cNvPr>
          <p:cNvSpPr>
            <a:spLocks noGrp="1"/>
          </p:cNvSpPr>
          <p:nvPr/>
        </p:nvSpPr>
        <p:spPr>
          <a:xfrm>
            <a:off x="7172325" y="422996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0,05</a:t>
            </a:r>
          </a:p>
        </p:txBody>
      </p:sp>
      <p:sp>
        <p:nvSpPr>
          <p:cNvPr id="181" name="B_ytick_0">
            <a:extLst>
              <a:ext uri="{FF2B5EF4-FFF2-40B4-BE49-F238E27FC236}">
                <a16:creationId xmlns:a16="http://schemas.microsoft.com/office/drawing/2014/main" id="{4827C46F-DB80-4B3E-82CF-0D66C3C648BA}"/>
              </a:ext>
            </a:extLst>
          </p:cNvPr>
          <p:cNvSpPr>
            <a:spLocks noGrp="1"/>
          </p:cNvSpPr>
          <p:nvPr/>
        </p:nvSpPr>
        <p:spPr>
          <a:xfrm>
            <a:off x="7648575" y="4604468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B_ylabel_0">
            <a:extLst>
              <a:ext uri="{FF2B5EF4-FFF2-40B4-BE49-F238E27FC236}">
                <a16:creationId xmlns:a16="http://schemas.microsoft.com/office/drawing/2014/main" id="{B43AE44B-3998-4AC0-B165-2C591B2DC379}"/>
              </a:ext>
            </a:extLst>
          </p:cNvPr>
          <p:cNvSpPr>
            <a:spLocks noGrp="1"/>
          </p:cNvSpPr>
          <p:nvPr/>
        </p:nvSpPr>
        <p:spPr>
          <a:xfrm>
            <a:off x="7172325" y="450101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0,00</a:t>
            </a:r>
          </a:p>
        </p:txBody>
      </p:sp>
      <p:sp>
        <p:nvSpPr>
          <p:cNvPr id="183" name="B_ytick_-0.05">
            <a:extLst>
              <a:ext uri="{FF2B5EF4-FFF2-40B4-BE49-F238E27FC236}">
                <a16:creationId xmlns:a16="http://schemas.microsoft.com/office/drawing/2014/main" id="{81870A68-5D93-4B9D-8E3C-01858395E259}"/>
              </a:ext>
            </a:extLst>
          </p:cNvPr>
          <p:cNvSpPr>
            <a:spLocks noGrp="1"/>
          </p:cNvSpPr>
          <p:nvPr/>
        </p:nvSpPr>
        <p:spPr>
          <a:xfrm>
            <a:off x="764857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B_ylabel_-0.05">
            <a:extLst>
              <a:ext uri="{FF2B5EF4-FFF2-40B4-BE49-F238E27FC236}">
                <a16:creationId xmlns:a16="http://schemas.microsoft.com/office/drawing/2014/main" id="{313BC9E5-1B92-42AA-A475-61E45D7AB9E7}"/>
              </a:ext>
            </a:extLst>
          </p:cNvPr>
          <p:cNvSpPr>
            <a:spLocks noGrp="1"/>
          </p:cNvSpPr>
          <p:nvPr/>
        </p:nvSpPr>
        <p:spPr>
          <a:xfrm>
            <a:off x="717232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−0,05</a:t>
            </a:r>
          </a:p>
        </p:txBody>
      </p:sp>
      <p:sp>
        <p:nvSpPr>
          <p:cNvPr id="185" name="B_xtick_0">
            <a:extLst>
              <a:ext uri="{FF2B5EF4-FFF2-40B4-BE49-F238E27FC236}">
                <a16:creationId xmlns:a16="http://schemas.microsoft.com/office/drawing/2014/main" id="{3C504914-A781-42ED-9156-25DADFD81318}"/>
              </a:ext>
            </a:extLst>
          </p:cNvPr>
          <p:cNvSpPr>
            <a:spLocks noGrp="1"/>
          </p:cNvSpPr>
          <p:nvPr/>
        </p:nvSpPr>
        <p:spPr>
          <a:xfrm>
            <a:off x="79934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B_day_0">
            <a:extLst>
              <a:ext uri="{FF2B5EF4-FFF2-40B4-BE49-F238E27FC236}">
                <a16:creationId xmlns:a16="http://schemas.microsoft.com/office/drawing/2014/main" id="{578571CB-4107-4C03-AB14-E70EFA56DF29}"/>
              </a:ext>
            </a:extLst>
          </p:cNvPr>
          <p:cNvSpPr>
            <a:spLocks noGrp="1"/>
          </p:cNvSpPr>
          <p:nvPr/>
        </p:nvSpPr>
        <p:spPr>
          <a:xfrm>
            <a:off x="77933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87" name="B_xtick_14">
            <a:extLst>
              <a:ext uri="{FF2B5EF4-FFF2-40B4-BE49-F238E27FC236}">
                <a16:creationId xmlns:a16="http://schemas.microsoft.com/office/drawing/2014/main" id="{0140553D-7AFA-4B28-9AFF-E635B079C668}"/>
              </a:ext>
            </a:extLst>
          </p:cNvPr>
          <p:cNvSpPr>
            <a:spLocks noGrp="1"/>
          </p:cNvSpPr>
          <p:nvPr/>
        </p:nvSpPr>
        <p:spPr>
          <a:xfrm>
            <a:off x="83494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B_day_14">
            <a:extLst>
              <a:ext uri="{FF2B5EF4-FFF2-40B4-BE49-F238E27FC236}">
                <a16:creationId xmlns:a16="http://schemas.microsoft.com/office/drawing/2014/main" id="{D62DFCF7-E1C1-4C5C-ACA1-1159D7BDA6E6}"/>
              </a:ext>
            </a:extLst>
          </p:cNvPr>
          <p:cNvSpPr>
            <a:spLocks noGrp="1"/>
          </p:cNvSpPr>
          <p:nvPr/>
        </p:nvSpPr>
        <p:spPr>
          <a:xfrm>
            <a:off x="81494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189" name="B_xtick_30">
            <a:extLst>
              <a:ext uri="{FF2B5EF4-FFF2-40B4-BE49-F238E27FC236}">
                <a16:creationId xmlns:a16="http://schemas.microsoft.com/office/drawing/2014/main" id="{C35C65DB-1A34-4927-ABAE-DFAEF55A3B75}"/>
              </a:ext>
            </a:extLst>
          </p:cNvPr>
          <p:cNvSpPr>
            <a:spLocks noGrp="1"/>
          </p:cNvSpPr>
          <p:nvPr/>
        </p:nvSpPr>
        <p:spPr>
          <a:xfrm>
            <a:off x="881129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B_day_30">
            <a:extLst>
              <a:ext uri="{FF2B5EF4-FFF2-40B4-BE49-F238E27FC236}">
                <a16:creationId xmlns:a16="http://schemas.microsoft.com/office/drawing/2014/main" id="{88DE141B-D4B8-4928-8F75-1AB74FC25F0D}"/>
              </a:ext>
            </a:extLst>
          </p:cNvPr>
          <p:cNvSpPr>
            <a:spLocks noGrp="1"/>
          </p:cNvSpPr>
          <p:nvPr/>
        </p:nvSpPr>
        <p:spPr>
          <a:xfrm>
            <a:off x="861126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91" name="B_xtick_60">
            <a:extLst>
              <a:ext uri="{FF2B5EF4-FFF2-40B4-BE49-F238E27FC236}">
                <a16:creationId xmlns:a16="http://schemas.microsoft.com/office/drawing/2014/main" id="{A8CECD97-6F53-4461-B367-6849712C8EB4}"/>
              </a:ext>
            </a:extLst>
          </p:cNvPr>
          <p:cNvSpPr>
            <a:spLocks noGrp="1"/>
          </p:cNvSpPr>
          <p:nvPr/>
        </p:nvSpPr>
        <p:spPr>
          <a:xfrm>
            <a:off x="927315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B_day_60">
            <a:extLst>
              <a:ext uri="{FF2B5EF4-FFF2-40B4-BE49-F238E27FC236}">
                <a16:creationId xmlns:a16="http://schemas.microsoft.com/office/drawing/2014/main" id="{3E77DAAE-ABE3-4A3D-A71A-AFADB17F9BC0}"/>
              </a:ext>
            </a:extLst>
          </p:cNvPr>
          <p:cNvSpPr>
            <a:spLocks noGrp="1"/>
          </p:cNvSpPr>
          <p:nvPr/>
        </p:nvSpPr>
        <p:spPr>
          <a:xfrm>
            <a:off x="907312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193" name="B_xtick_90">
            <a:extLst>
              <a:ext uri="{FF2B5EF4-FFF2-40B4-BE49-F238E27FC236}">
                <a16:creationId xmlns:a16="http://schemas.microsoft.com/office/drawing/2014/main" id="{F40C7997-6F0E-4F85-B360-C3B3E8C64F5D}"/>
              </a:ext>
            </a:extLst>
          </p:cNvPr>
          <p:cNvSpPr>
            <a:spLocks noGrp="1"/>
          </p:cNvSpPr>
          <p:nvPr/>
        </p:nvSpPr>
        <p:spPr>
          <a:xfrm>
            <a:off x="9735009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B_day_90">
            <a:extLst>
              <a:ext uri="{FF2B5EF4-FFF2-40B4-BE49-F238E27FC236}">
                <a16:creationId xmlns:a16="http://schemas.microsoft.com/office/drawing/2014/main" id="{4B3BDA42-BC54-4DBE-A8D8-25AE5820538D}"/>
              </a:ext>
            </a:extLst>
          </p:cNvPr>
          <p:cNvSpPr>
            <a:spLocks noGrp="1"/>
          </p:cNvSpPr>
          <p:nvPr/>
        </p:nvSpPr>
        <p:spPr>
          <a:xfrm>
            <a:off x="9534984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195" name="B_xtick_120">
            <a:extLst>
              <a:ext uri="{FF2B5EF4-FFF2-40B4-BE49-F238E27FC236}">
                <a16:creationId xmlns:a16="http://schemas.microsoft.com/office/drawing/2014/main" id="{A2AE06A1-75CE-4C0C-8525-A894E305495E}"/>
              </a:ext>
            </a:extLst>
          </p:cNvPr>
          <p:cNvSpPr>
            <a:spLocks noGrp="1"/>
          </p:cNvSpPr>
          <p:nvPr/>
        </p:nvSpPr>
        <p:spPr>
          <a:xfrm>
            <a:off x="10196846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6" name="B_day_120">
            <a:extLst>
              <a:ext uri="{FF2B5EF4-FFF2-40B4-BE49-F238E27FC236}">
                <a16:creationId xmlns:a16="http://schemas.microsoft.com/office/drawing/2014/main" id="{076E194C-0A6A-4DE8-9420-550C24CBFE0B}"/>
              </a:ext>
            </a:extLst>
          </p:cNvPr>
          <p:cNvSpPr>
            <a:spLocks noGrp="1"/>
          </p:cNvSpPr>
          <p:nvPr/>
        </p:nvSpPr>
        <p:spPr>
          <a:xfrm>
            <a:off x="9996821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197" name="B_xtick_150">
            <a:extLst>
              <a:ext uri="{FF2B5EF4-FFF2-40B4-BE49-F238E27FC236}">
                <a16:creationId xmlns:a16="http://schemas.microsoft.com/office/drawing/2014/main" id="{5D6723BF-B6B3-4713-9695-96F948C91A22}"/>
              </a:ext>
            </a:extLst>
          </p:cNvPr>
          <p:cNvSpPr>
            <a:spLocks noGrp="1"/>
          </p:cNvSpPr>
          <p:nvPr/>
        </p:nvSpPr>
        <p:spPr>
          <a:xfrm>
            <a:off x="1065869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B_day_150">
            <a:extLst>
              <a:ext uri="{FF2B5EF4-FFF2-40B4-BE49-F238E27FC236}">
                <a16:creationId xmlns:a16="http://schemas.microsoft.com/office/drawing/2014/main" id="{80A7C451-1784-4CD7-9397-4392F5745ACF}"/>
              </a:ext>
            </a:extLst>
          </p:cNvPr>
          <p:cNvSpPr>
            <a:spLocks noGrp="1"/>
          </p:cNvSpPr>
          <p:nvPr/>
        </p:nvSpPr>
        <p:spPr>
          <a:xfrm>
            <a:off x="1045867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199" name="B_xtick_180">
            <a:extLst>
              <a:ext uri="{FF2B5EF4-FFF2-40B4-BE49-F238E27FC236}">
                <a16:creationId xmlns:a16="http://schemas.microsoft.com/office/drawing/2014/main" id="{66E90455-69A7-404D-8605-DE0359D034D9}"/>
              </a:ext>
            </a:extLst>
          </p:cNvPr>
          <p:cNvSpPr>
            <a:spLocks noGrp="1"/>
          </p:cNvSpPr>
          <p:nvPr/>
        </p:nvSpPr>
        <p:spPr>
          <a:xfrm>
            <a:off x="11120533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B_day_180">
            <a:extLst>
              <a:ext uri="{FF2B5EF4-FFF2-40B4-BE49-F238E27FC236}">
                <a16:creationId xmlns:a16="http://schemas.microsoft.com/office/drawing/2014/main" id="{4DAC940D-D7CD-4907-ABF4-FBE5B1448951}"/>
              </a:ext>
            </a:extLst>
          </p:cNvPr>
          <p:cNvSpPr>
            <a:spLocks noGrp="1"/>
          </p:cNvSpPr>
          <p:nvPr/>
        </p:nvSpPr>
        <p:spPr>
          <a:xfrm>
            <a:off x="10920508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201" name="B_xtick_210">
            <a:extLst>
              <a:ext uri="{FF2B5EF4-FFF2-40B4-BE49-F238E27FC236}">
                <a16:creationId xmlns:a16="http://schemas.microsoft.com/office/drawing/2014/main" id="{3DEDFD26-48A7-4F8C-8830-AA4517972375}"/>
              </a:ext>
            </a:extLst>
          </p:cNvPr>
          <p:cNvSpPr>
            <a:spLocks noGrp="1"/>
          </p:cNvSpPr>
          <p:nvPr/>
        </p:nvSpPr>
        <p:spPr>
          <a:xfrm>
            <a:off x="1158240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2" name="B_day_210">
            <a:extLst>
              <a:ext uri="{FF2B5EF4-FFF2-40B4-BE49-F238E27FC236}">
                <a16:creationId xmlns:a16="http://schemas.microsoft.com/office/drawing/2014/main" id="{D6ED95C2-08C0-42A3-A450-9A69450D73CA}"/>
              </a:ext>
            </a:extLst>
          </p:cNvPr>
          <p:cNvSpPr>
            <a:spLocks noGrp="1"/>
          </p:cNvSpPr>
          <p:nvPr/>
        </p:nvSpPr>
        <p:spPr>
          <a:xfrm>
            <a:off x="1138237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204" name="B_days_title">
            <a:extLst>
              <a:ext uri="{FF2B5EF4-FFF2-40B4-BE49-F238E27FC236}">
                <a16:creationId xmlns:a16="http://schemas.microsoft.com/office/drawing/2014/main" id="{4F3F32A5-A871-4C39-BC6E-40CA3F753053}"/>
              </a:ext>
            </a:extLst>
          </p:cNvPr>
          <p:cNvSpPr>
            <a:spLocks noGrp="1"/>
          </p:cNvSpPr>
          <p:nvPr/>
        </p:nvSpPr>
        <p:spPr>
          <a:xfrm>
            <a:off x="950595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205" name="published_B_empagliflozin_marker_167">
            <a:extLst>
              <a:ext uri="{FF2B5EF4-FFF2-40B4-BE49-F238E27FC236}">
                <a16:creationId xmlns:a16="http://schemas.microsoft.com/office/drawing/2014/main" id="{DB93EEF5-9074-452B-87CB-BC7BC2FF26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6" name="published_B_empagliflozin_marker_168">
            <a:extLst>
              <a:ext uri="{FF2B5EF4-FFF2-40B4-BE49-F238E27FC236}">
                <a16:creationId xmlns:a16="http://schemas.microsoft.com/office/drawing/2014/main" id="{11D91611-44C5-4A6D-A32E-9A96B5992BD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1651777"/>
                </a:moveTo>
                <a:lnTo>
                  <a:pt x="691038" y="1653844"/>
                </a:lnTo>
                <a:lnTo>
                  <a:pt x="690668" y="1655864"/>
                </a:lnTo>
                <a:lnTo>
                  <a:pt x="690063" y="1657832"/>
                </a:lnTo>
                <a:lnTo>
                  <a:pt x="689233" y="1659741"/>
                </a:lnTo>
                <a:lnTo>
                  <a:pt x="688188" y="1661585"/>
                </a:lnTo>
                <a:lnTo>
                  <a:pt x="686937" y="1663356"/>
                </a:lnTo>
                <a:lnTo>
                  <a:pt x="685489" y="1665049"/>
                </a:lnTo>
                <a:lnTo>
                  <a:pt x="683856" y="1666657"/>
                </a:lnTo>
                <a:lnTo>
                  <a:pt x="682045" y="1668174"/>
                </a:lnTo>
                <a:lnTo>
                  <a:pt x="680068" y="1669593"/>
                </a:lnTo>
                <a:lnTo>
                  <a:pt x="677934" y="1670907"/>
                </a:lnTo>
                <a:lnTo>
                  <a:pt x="675651" y="1672111"/>
                </a:lnTo>
                <a:lnTo>
                  <a:pt x="673231" y="1673197"/>
                </a:lnTo>
                <a:lnTo>
                  <a:pt x="670683" y="1674159"/>
                </a:lnTo>
                <a:lnTo>
                  <a:pt x="668016" y="1674991"/>
                </a:lnTo>
                <a:lnTo>
                  <a:pt x="665241" y="1675687"/>
                </a:lnTo>
                <a:lnTo>
                  <a:pt x="662366" y="1676239"/>
                </a:lnTo>
                <a:lnTo>
                  <a:pt x="659402" y="1676641"/>
                </a:lnTo>
                <a:lnTo>
                  <a:pt x="656358" y="1676887"/>
                </a:lnTo>
                <a:lnTo>
                  <a:pt x="653245" y="1676971"/>
                </a:lnTo>
                <a:lnTo>
                  <a:pt x="650134" y="1676887"/>
                </a:lnTo>
                <a:lnTo>
                  <a:pt x="647094" y="1676641"/>
                </a:lnTo>
                <a:lnTo>
                  <a:pt x="644132" y="1676239"/>
                </a:lnTo>
                <a:lnTo>
                  <a:pt x="641260" y="1675687"/>
                </a:lnTo>
                <a:lnTo>
                  <a:pt x="638487" y="1674991"/>
                </a:lnTo>
                <a:lnTo>
                  <a:pt x="635822" y="1674159"/>
                </a:lnTo>
                <a:lnTo>
                  <a:pt x="633276" y="1673197"/>
                </a:lnTo>
                <a:lnTo>
                  <a:pt x="630857" y="1672111"/>
                </a:lnTo>
                <a:lnTo>
                  <a:pt x="628576" y="1670907"/>
                </a:lnTo>
                <a:lnTo>
                  <a:pt x="626443" y="1669593"/>
                </a:lnTo>
                <a:lnTo>
                  <a:pt x="624466" y="1668174"/>
                </a:lnTo>
                <a:lnTo>
                  <a:pt x="622657" y="1666657"/>
                </a:lnTo>
                <a:lnTo>
                  <a:pt x="621024" y="1665049"/>
                </a:lnTo>
                <a:lnTo>
                  <a:pt x="619577" y="1663356"/>
                </a:lnTo>
                <a:lnTo>
                  <a:pt x="618326" y="1661585"/>
                </a:lnTo>
                <a:lnTo>
                  <a:pt x="617280" y="1659741"/>
                </a:lnTo>
                <a:lnTo>
                  <a:pt x="616451" y="1657832"/>
                </a:lnTo>
                <a:lnTo>
                  <a:pt x="615846" y="1655864"/>
                </a:lnTo>
                <a:lnTo>
                  <a:pt x="615476" y="1653844"/>
                </a:lnTo>
                <a:lnTo>
                  <a:pt x="615350" y="1651777"/>
                </a:lnTo>
                <a:lnTo>
                  <a:pt x="615476" y="1649711"/>
                </a:lnTo>
                <a:lnTo>
                  <a:pt x="615846" y="1647691"/>
                </a:lnTo>
                <a:lnTo>
                  <a:pt x="616451" y="1645723"/>
                </a:lnTo>
                <a:lnTo>
                  <a:pt x="617280" y="1643815"/>
                </a:lnTo>
                <a:lnTo>
                  <a:pt x="618326" y="1641972"/>
                </a:lnTo>
                <a:lnTo>
                  <a:pt x="619577" y="1640202"/>
                </a:lnTo>
                <a:lnTo>
                  <a:pt x="621024" y="1638510"/>
                </a:lnTo>
                <a:lnTo>
                  <a:pt x="622657" y="1636903"/>
                </a:lnTo>
                <a:lnTo>
                  <a:pt x="624466" y="1635387"/>
                </a:lnTo>
                <a:lnTo>
                  <a:pt x="626443" y="1633970"/>
                </a:lnTo>
                <a:lnTo>
                  <a:pt x="628576" y="1632657"/>
                </a:lnTo>
                <a:lnTo>
                  <a:pt x="630857" y="1631454"/>
                </a:lnTo>
                <a:lnTo>
                  <a:pt x="633276" y="1630369"/>
                </a:lnTo>
                <a:lnTo>
                  <a:pt x="635822" y="1629408"/>
                </a:lnTo>
                <a:lnTo>
                  <a:pt x="638487" y="1628577"/>
                </a:lnTo>
                <a:lnTo>
                  <a:pt x="641260" y="1627883"/>
                </a:lnTo>
                <a:lnTo>
                  <a:pt x="644132" y="1627331"/>
                </a:lnTo>
                <a:lnTo>
                  <a:pt x="647094" y="1626929"/>
                </a:lnTo>
                <a:lnTo>
                  <a:pt x="650134" y="1626683"/>
                </a:lnTo>
                <a:lnTo>
                  <a:pt x="653245" y="1626600"/>
                </a:lnTo>
                <a:lnTo>
                  <a:pt x="656358" y="1626683"/>
                </a:lnTo>
                <a:lnTo>
                  <a:pt x="659402" y="1626929"/>
                </a:lnTo>
                <a:lnTo>
                  <a:pt x="662366" y="1627331"/>
                </a:lnTo>
                <a:lnTo>
                  <a:pt x="665241" y="1627883"/>
                </a:lnTo>
                <a:lnTo>
                  <a:pt x="668016" y="1628577"/>
                </a:lnTo>
                <a:lnTo>
                  <a:pt x="670683" y="1629408"/>
                </a:lnTo>
                <a:lnTo>
                  <a:pt x="673231" y="1630369"/>
                </a:lnTo>
                <a:lnTo>
                  <a:pt x="675651" y="1631454"/>
                </a:lnTo>
                <a:lnTo>
                  <a:pt x="677934" y="1632657"/>
                </a:lnTo>
                <a:lnTo>
                  <a:pt x="680068" y="1633970"/>
                </a:lnTo>
                <a:lnTo>
                  <a:pt x="682045" y="1635387"/>
                </a:lnTo>
                <a:lnTo>
                  <a:pt x="683856" y="1636903"/>
                </a:lnTo>
                <a:lnTo>
                  <a:pt x="685489" y="1638510"/>
                </a:lnTo>
                <a:lnTo>
                  <a:pt x="686937" y="1640202"/>
                </a:lnTo>
                <a:lnTo>
                  <a:pt x="688188" y="1641972"/>
                </a:lnTo>
                <a:lnTo>
                  <a:pt x="689233" y="1643815"/>
                </a:lnTo>
                <a:lnTo>
                  <a:pt x="690063" y="1645723"/>
                </a:lnTo>
                <a:lnTo>
                  <a:pt x="690668" y="1647691"/>
                </a:lnTo>
                <a:lnTo>
                  <a:pt x="691038" y="1649711"/>
                </a:lnTo>
                <a:lnTo>
                  <a:pt x="691164" y="16517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7" name="published_B_empagliflozin_marker_169">
            <a:extLst>
              <a:ext uri="{FF2B5EF4-FFF2-40B4-BE49-F238E27FC236}">
                <a16:creationId xmlns:a16="http://schemas.microsoft.com/office/drawing/2014/main" id="{E60C0A4D-4484-4F36-8297-64CA8CA0367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609371"/>
                </a:moveTo>
                <a:lnTo>
                  <a:pt x="1152880" y="1611438"/>
                </a:lnTo>
                <a:lnTo>
                  <a:pt x="1152510" y="1613458"/>
                </a:lnTo>
                <a:lnTo>
                  <a:pt x="1151906" y="1615426"/>
                </a:lnTo>
                <a:lnTo>
                  <a:pt x="1151076" y="1617335"/>
                </a:lnTo>
                <a:lnTo>
                  <a:pt x="1150030" y="1619179"/>
                </a:lnTo>
                <a:lnTo>
                  <a:pt x="1148780" y="1620950"/>
                </a:lnTo>
                <a:lnTo>
                  <a:pt x="1147333" y="1622643"/>
                </a:lnTo>
                <a:lnTo>
                  <a:pt x="1145700" y="1624251"/>
                </a:lnTo>
                <a:lnTo>
                  <a:pt x="1143890" y="1625768"/>
                </a:lnTo>
                <a:lnTo>
                  <a:pt x="1141914" y="1627187"/>
                </a:lnTo>
                <a:lnTo>
                  <a:pt x="1139780" y="1628501"/>
                </a:lnTo>
                <a:lnTo>
                  <a:pt x="1137499" y="1629704"/>
                </a:lnTo>
                <a:lnTo>
                  <a:pt x="1135081" y="1630791"/>
                </a:lnTo>
                <a:lnTo>
                  <a:pt x="1132534" y="1631753"/>
                </a:lnTo>
                <a:lnTo>
                  <a:pt x="1129869" y="1632585"/>
                </a:lnTo>
                <a:lnTo>
                  <a:pt x="1127096" y="1633281"/>
                </a:lnTo>
                <a:lnTo>
                  <a:pt x="1124224" y="1633833"/>
                </a:lnTo>
                <a:lnTo>
                  <a:pt x="1121263" y="1634235"/>
                </a:lnTo>
                <a:lnTo>
                  <a:pt x="1118222" y="1634481"/>
                </a:lnTo>
                <a:lnTo>
                  <a:pt x="1115112" y="1634565"/>
                </a:lnTo>
                <a:lnTo>
                  <a:pt x="1111998" y="1634481"/>
                </a:lnTo>
                <a:lnTo>
                  <a:pt x="1108954" y="1634235"/>
                </a:lnTo>
                <a:lnTo>
                  <a:pt x="1105990" y="1633833"/>
                </a:lnTo>
                <a:lnTo>
                  <a:pt x="1103116" y="1633281"/>
                </a:lnTo>
                <a:lnTo>
                  <a:pt x="1100340" y="1632585"/>
                </a:lnTo>
                <a:lnTo>
                  <a:pt x="1097673" y="1631753"/>
                </a:lnTo>
                <a:lnTo>
                  <a:pt x="1095125" y="1630791"/>
                </a:lnTo>
                <a:lnTo>
                  <a:pt x="1092705" y="1629704"/>
                </a:lnTo>
                <a:lnTo>
                  <a:pt x="1090423" y="1628501"/>
                </a:lnTo>
                <a:lnTo>
                  <a:pt x="1088288" y="1627187"/>
                </a:lnTo>
                <a:lnTo>
                  <a:pt x="1086311" y="1625768"/>
                </a:lnTo>
                <a:lnTo>
                  <a:pt x="1084501" y="1624251"/>
                </a:lnTo>
                <a:lnTo>
                  <a:pt x="1082867" y="1622643"/>
                </a:lnTo>
                <a:lnTo>
                  <a:pt x="1081420" y="1620950"/>
                </a:lnTo>
                <a:lnTo>
                  <a:pt x="1080168" y="1619179"/>
                </a:lnTo>
                <a:lnTo>
                  <a:pt x="1079123" y="1617335"/>
                </a:lnTo>
                <a:lnTo>
                  <a:pt x="1078293" y="1615426"/>
                </a:lnTo>
                <a:lnTo>
                  <a:pt x="1077688" y="1613458"/>
                </a:lnTo>
                <a:lnTo>
                  <a:pt x="1077318" y="1611438"/>
                </a:lnTo>
                <a:lnTo>
                  <a:pt x="1077193" y="1609371"/>
                </a:lnTo>
                <a:lnTo>
                  <a:pt x="1077318" y="1607305"/>
                </a:lnTo>
                <a:lnTo>
                  <a:pt x="1077688" y="1605284"/>
                </a:lnTo>
                <a:lnTo>
                  <a:pt x="1078293" y="1603317"/>
                </a:lnTo>
                <a:lnTo>
                  <a:pt x="1079123" y="1601409"/>
                </a:lnTo>
                <a:lnTo>
                  <a:pt x="1080168" y="1599566"/>
                </a:lnTo>
                <a:lnTo>
                  <a:pt x="1081420" y="1597796"/>
                </a:lnTo>
                <a:lnTo>
                  <a:pt x="1082867" y="1596104"/>
                </a:lnTo>
                <a:lnTo>
                  <a:pt x="1084501" y="1594497"/>
                </a:lnTo>
                <a:lnTo>
                  <a:pt x="1086311" y="1592981"/>
                </a:lnTo>
                <a:lnTo>
                  <a:pt x="1088288" y="1591564"/>
                </a:lnTo>
                <a:lnTo>
                  <a:pt x="1090423" y="1590251"/>
                </a:lnTo>
                <a:lnTo>
                  <a:pt x="1092705" y="1589048"/>
                </a:lnTo>
                <a:lnTo>
                  <a:pt x="1095125" y="1587963"/>
                </a:lnTo>
                <a:lnTo>
                  <a:pt x="1097673" y="1587002"/>
                </a:lnTo>
                <a:lnTo>
                  <a:pt x="1100340" y="1586171"/>
                </a:lnTo>
                <a:lnTo>
                  <a:pt x="1103116" y="1585476"/>
                </a:lnTo>
                <a:lnTo>
                  <a:pt x="1105990" y="1584925"/>
                </a:lnTo>
                <a:lnTo>
                  <a:pt x="1108954" y="1584523"/>
                </a:lnTo>
                <a:lnTo>
                  <a:pt x="1111998" y="1584277"/>
                </a:lnTo>
                <a:lnTo>
                  <a:pt x="1115112" y="1584194"/>
                </a:lnTo>
                <a:lnTo>
                  <a:pt x="1118222" y="1584277"/>
                </a:lnTo>
                <a:lnTo>
                  <a:pt x="1121263" y="1584523"/>
                </a:lnTo>
                <a:lnTo>
                  <a:pt x="1124224" y="1584925"/>
                </a:lnTo>
                <a:lnTo>
                  <a:pt x="1127096" y="1585476"/>
                </a:lnTo>
                <a:lnTo>
                  <a:pt x="1129869" y="1586171"/>
                </a:lnTo>
                <a:lnTo>
                  <a:pt x="1132534" y="1587002"/>
                </a:lnTo>
                <a:lnTo>
                  <a:pt x="1135081" y="1587963"/>
                </a:lnTo>
                <a:lnTo>
                  <a:pt x="1137499" y="1589048"/>
                </a:lnTo>
                <a:lnTo>
                  <a:pt x="1139780" y="1590251"/>
                </a:lnTo>
                <a:lnTo>
                  <a:pt x="1141914" y="1591564"/>
                </a:lnTo>
                <a:lnTo>
                  <a:pt x="1143890" y="1592981"/>
                </a:lnTo>
                <a:lnTo>
                  <a:pt x="1145700" y="1594497"/>
                </a:lnTo>
                <a:lnTo>
                  <a:pt x="1147333" y="1596104"/>
                </a:lnTo>
                <a:lnTo>
                  <a:pt x="1148780" y="1597796"/>
                </a:lnTo>
                <a:lnTo>
                  <a:pt x="1150030" y="1599566"/>
                </a:lnTo>
                <a:lnTo>
                  <a:pt x="1151076" y="1601409"/>
                </a:lnTo>
                <a:lnTo>
                  <a:pt x="1151906" y="1603317"/>
                </a:lnTo>
                <a:lnTo>
                  <a:pt x="1152510" y="1605284"/>
                </a:lnTo>
                <a:lnTo>
                  <a:pt x="1152880" y="1607305"/>
                </a:lnTo>
                <a:lnTo>
                  <a:pt x="1153006" y="16093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8" name="published_B_empagliflozin_marker_170">
            <a:extLst>
              <a:ext uri="{FF2B5EF4-FFF2-40B4-BE49-F238E27FC236}">
                <a16:creationId xmlns:a16="http://schemas.microsoft.com/office/drawing/2014/main" id="{FE7060F8-BFDB-4D81-9587-104FCF9F593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1525077"/>
                </a:moveTo>
                <a:lnTo>
                  <a:pt x="2076575" y="1527143"/>
                </a:lnTo>
                <a:lnTo>
                  <a:pt x="2076205" y="1529163"/>
                </a:lnTo>
                <a:lnTo>
                  <a:pt x="2075600" y="1531131"/>
                </a:lnTo>
                <a:lnTo>
                  <a:pt x="2074770" y="1533039"/>
                </a:lnTo>
                <a:lnTo>
                  <a:pt x="2073725" y="1534882"/>
                </a:lnTo>
                <a:lnTo>
                  <a:pt x="2072473" y="1536652"/>
                </a:lnTo>
                <a:lnTo>
                  <a:pt x="2071026" y="1538344"/>
                </a:lnTo>
                <a:lnTo>
                  <a:pt x="2069393" y="1539951"/>
                </a:lnTo>
                <a:lnTo>
                  <a:pt x="2067582" y="1541466"/>
                </a:lnTo>
                <a:lnTo>
                  <a:pt x="2065605" y="1542884"/>
                </a:lnTo>
                <a:lnTo>
                  <a:pt x="2063471" y="1544197"/>
                </a:lnTo>
                <a:lnTo>
                  <a:pt x="2061188" y="1545399"/>
                </a:lnTo>
                <a:lnTo>
                  <a:pt x="2058768" y="1546484"/>
                </a:lnTo>
                <a:lnTo>
                  <a:pt x="2056220" y="1547446"/>
                </a:lnTo>
                <a:lnTo>
                  <a:pt x="2053553" y="1548277"/>
                </a:lnTo>
                <a:lnTo>
                  <a:pt x="2050778" y="1548971"/>
                </a:lnTo>
                <a:lnTo>
                  <a:pt x="2047903" y="1549523"/>
                </a:lnTo>
                <a:lnTo>
                  <a:pt x="2044939" y="1549925"/>
                </a:lnTo>
                <a:lnTo>
                  <a:pt x="2041895" y="1550170"/>
                </a:lnTo>
                <a:lnTo>
                  <a:pt x="2038782" y="1550254"/>
                </a:lnTo>
                <a:lnTo>
                  <a:pt x="2035671" y="1550170"/>
                </a:lnTo>
                <a:lnTo>
                  <a:pt x="2032631" y="1549925"/>
                </a:lnTo>
                <a:lnTo>
                  <a:pt x="2029669" y="1549523"/>
                </a:lnTo>
                <a:lnTo>
                  <a:pt x="2026797" y="1548971"/>
                </a:lnTo>
                <a:lnTo>
                  <a:pt x="2024024" y="1548277"/>
                </a:lnTo>
                <a:lnTo>
                  <a:pt x="2021359" y="1547446"/>
                </a:lnTo>
                <a:lnTo>
                  <a:pt x="2018813" y="1546484"/>
                </a:lnTo>
                <a:lnTo>
                  <a:pt x="2016394" y="1545399"/>
                </a:lnTo>
                <a:lnTo>
                  <a:pt x="2014113" y="1544197"/>
                </a:lnTo>
                <a:lnTo>
                  <a:pt x="2011980" y="1542884"/>
                </a:lnTo>
                <a:lnTo>
                  <a:pt x="2010003" y="1541466"/>
                </a:lnTo>
                <a:lnTo>
                  <a:pt x="2008194" y="1539951"/>
                </a:lnTo>
                <a:lnTo>
                  <a:pt x="2006560" y="1538344"/>
                </a:lnTo>
                <a:lnTo>
                  <a:pt x="2005114" y="1536652"/>
                </a:lnTo>
                <a:lnTo>
                  <a:pt x="2003863" y="1534882"/>
                </a:lnTo>
                <a:lnTo>
                  <a:pt x="2002817" y="1533039"/>
                </a:lnTo>
                <a:lnTo>
                  <a:pt x="2001988" y="1531131"/>
                </a:lnTo>
                <a:lnTo>
                  <a:pt x="2001383" y="1529163"/>
                </a:lnTo>
                <a:lnTo>
                  <a:pt x="2001013" y="1527143"/>
                </a:lnTo>
                <a:lnTo>
                  <a:pt x="2000887" y="1525077"/>
                </a:lnTo>
                <a:lnTo>
                  <a:pt x="2001013" y="1523010"/>
                </a:lnTo>
                <a:lnTo>
                  <a:pt x="2001383" y="1520989"/>
                </a:lnTo>
                <a:lnTo>
                  <a:pt x="2001988" y="1519021"/>
                </a:lnTo>
                <a:lnTo>
                  <a:pt x="2002817" y="1517112"/>
                </a:lnTo>
                <a:lnTo>
                  <a:pt x="2003863" y="1515269"/>
                </a:lnTo>
                <a:lnTo>
                  <a:pt x="2005114" y="1513498"/>
                </a:lnTo>
                <a:lnTo>
                  <a:pt x="2006560" y="1511805"/>
                </a:lnTo>
                <a:lnTo>
                  <a:pt x="2008194" y="1510196"/>
                </a:lnTo>
                <a:lnTo>
                  <a:pt x="2010003" y="1508680"/>
                </a:lnTo>
                <a:lnTo>
                  <a:pt x="2011980" y="1507261"/>
                </a:lnTo>
                <a:lnTo>
                  <a:pt x="2014113" y="1505947"/>
                </a:lnTo>
                <a:lnTo>
                  <a:pt x="2016394" y="1504743"/>
                </a:lnTo>
                <a:lnTo>
                  <a:pt x="2018813" y="1503657"/>
                </a:lnTo>
                <a:lnTo>
                  <a:pt x="2021359" y="1502695"/>
                </a:lnTo>
                <a:lnTo>
                  <a:pt x="2024024" y="1501862"/>
                </a:lnTo>
                <a:lnTo>
                  <a:pt x="2026797" y="1501167"/>
                </a:lnTo>
                <a:lnTo>
                  <a:pt x="2029669" y="1500615"/>
                </a:lnTo>
                <a:lnTo>
                  <a:pt x="2032631" y="1500213"/>
                </a:lnTo>
                <a:lnTo>
                  <a:pt x="2035671" y="1499966"/>
                </a:lnTo>
                <a:lnTo>
                  <a:pt x="2038782" y="1499883"/>
                </a:lnTo>
                <a:lnTo>
                  <a:pt x="2041895" y="1499966"/>
                </a:lnTo>
                <a:lnTo>
                  <a:pt x="2044939" y="1500213"/>
                </a:lnTo>
                <a:lnTo>
                  <a:pt x="2047903" y="1500615"/>
                </a:lnTo>
                <a:lnTo>
                  <a:pt x="2050778" y="1501167"/>
                </a:lnTo>
                <a:lnTo>
                  <a:pt x="2053553" y="1501862"/>
                </a:lnTo>
                <a:lnTo>
                  <a:pt x="2056220" y="1502695"/>
                </a:lnTo>
                <a:lnTo>
                  <a:pt x="2058768" y="1503657"/>
                </a:lnTo>
                <a:lnTo>
                  <a:pt x="2061188" y="1504743"/>
                </a:lnTo>
                <a:lnTo>
                  <a:pt x="2063471" y="1505947"/>
                </a:lnTo>
                <a:lnTo>
                  <a:pt x="2065605" y="1507261"/>
                </a:lnTo>
                <a:lnTo>
                  <a:pt x="2067582" y="1508680"/>
                </a:lnTo>
                <a:lnTo>
                  <a:pt x="2069393" y="1510196"/>
                </a:lnTo>
                <a:lnTo>
                  <a:pt x="2071026" y="1511805"/>
                </a:lnTo>
                <a:lnTo>
                  <a:pt x="2072473" y="1513498"/>
                </a:lnTo>
                <a:lnTo>
                  <a:pt x="2073725" y="1515269"/>
                </a:lnTo>
                <a:lnTo>
                  <a:pt x="2074770" y="1517112"/>
                </a:lnTo>
                <a:lnTo>
                  <a:pt x="2075600" y="1519021"/>
                </a:lnTo>
                <a:lnTo>
                  <a:pt x="2076205" y="1520989"/>
                </a:lnTo>
                <a:lnTo>
                  <a:pt x="2076575" y="1523010"/>
                </a:lnTo>
                <a:lnTo>
                  <a:pt x="207670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9" name="published_B_empagliflozin_marker_171">
            <a:extLst>
              <a:ext uri="{FF2B5EF4-FFF2-40B4-BE49-F238E27FC236}">
                <a16:creationId xmlns:a16="http://schemas.microsoft.com/office/drawing/2014/main" id="{A0BAC9C5-62F7-4123-9FE2-7246AA7DC5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55650" y="1525077"/>
                </a:moveTo>
                <a:lnTo>
                  <a:pt x="3455546" y="1526784"/>
                </a:lnTo>
                <a:lnTo>
                  <a:pt x="3455239" y="1528453"/>
                </a:lnTo>
                <a:lnTo>
                  <a:pt x="3454739" y="1530078"/>
                </a:lnTo>
                <a:lnTo>
                  <a:pt x="3454052" y="1531655"/>
                </a:lnTo>
                <a:lnTo>
                  <a:pt x="3453187" y="1533178"/>
                </a:lnTo>
                <a:lnTo>
                  <a:pt x="3452152" y="1534642"/>
                </a:lnTo>
                <a:lnTo>
                  <a:pt x="3450954" y="1536041"/>
                </a:lnTo>
                <a:lnTo>
                  <a:pt x="3449603" y="1537370"/>
                </a:lnTo>
                <a:lnTo>
                  <a:pt x="3448106" y="1538623"/>
                </a:lnTo>
                <a:lnTo>
                  <a:pt x="3446471" y="1539795"/>
                </a:lnTo>
                <a:lnTo>
                  <a:pt x="3444707" y="1540881"/>
                </a:lnTo>
                <a:lnTo>
                  <a:pt x="3442820" y="1541876"/>
                </a:lnTo>
                <a:lnTo>
                  <a:pt x="3440821" y="1542774"/>
                </a:lnTo>
                <a:lnTo>
                  <a:pt x="3438715" y="1543569"/>
                </a:lnTo>
                <a:lnTo>
                  <a:pt x="3436512" y="1544257"/>
                </a:lnTo>
                <a:lnTo>
                  <a:pt x="3434220" y="1544832"/>
                </a:lnTo>
                <a:lnTo>
                  <a:pt x="3431846" y="1545288"/>
                </a:lnTo>
                <a:lnTo>
                  <a:pt x="3429400" y="1545621"/>
                </a:lnTo>
                <a:lnTo>
                  <a:pt x="3426888" y="1545824"/>
                </a:lnTo>
                <a:lnTo>
                  <a:pt x="3424319" y="1545893"/>
                </a:lnTo>
                <a:lnTo>
                  <a:pt x="3421746" y="1545824"/>
                </a:lnTo>
                <a:lnTo>
                  <a:pt x="3419232" y="1545621"/>
                </a:lnTo>
                <a:lnTo>
                  <a:pt x="3416784" y="1545288"/>
                </a:lnTo>
                <a:lnTo>
                  <a:pt x="3414410" y="1544832"/>
                </a:lnTo>
                <a:lnTo>
                  <a:pt x="3412118" y="1544257"/>
                </a:lnTo>
                <a:lnTo>
                  <a:pt x="3409916" y="1543569"/>
                </a:lnTo>
                <a:lnTo>
                  <a:pt x="3407812" y="1542774"/>
                </a:lnTo>
                <a:lnTo>
                  <a:pt x="3405815" y="1541876"/>
                </a:lnTo>
                <a:lnTo>
                  <a:pt x="3403931" y="1540881"/>
                </a:lnTo>
                <a:lnTo>
                  <a:pt x="3402169" y="1539795"/>
                </a:lnTo>
                <a:lnTo>
                  <a:pt x="3400537" y="1538623"/>
                </a:lnTo>
                <a:lnTo>
                  <a:pt x="3399043" y="1537370"/>
                </a:lnTo>
                <a:lnTo>
                  <a:pt x="3397695" y="1536041"/>
                </a:lnTo>
                <a:lnTo>
                  <a:pt x="3396500" y="1534642"/>
                </a:lnTo>
                <a:lnTo>
                  <a:pt x="3395468" y="1533178"/>
                </a:lnTo>
                <a:lnTo>
                  <a:pt x="3394605" y="1531655"/>
                </a:lnTo>
                <a:lnTo>
                  <a:pt x="3393921" y="1530078"/>
                </a:lnTo>
                <a:lnTo>
                  <a:pt x="3393422" y="1528453"/>
                </a:lnTo>
                <a:lnTo>
                  <a:pt x="3393116" y="1526784"/>
                </a:lnTo>
                <a:lnTo>
                  <a:pt x="3393013" y="1525077"/>
                </a:lnTo>
                <a:lnTo>
                  <a:pt x="3393116" y="1523370"/>
                </a:lnTo>
                <a:lnTo>
                  <a:pt x="3393422" y="1521701"/>
                </a:lnTo>
                <a:lnTo>
                  <a:pt x="3393921" y="1520075"/>
                </a:lnTo>
                <a:lnTo>
                  <a:pt x="3394605" y="1518498"/>
                </a:lnTo>
                <a:lnTo>
                  <a:pt x="3395468" y="1516975"/>
                </a:lnTo>
                <a:lnTo>
                  <a:pt x="3396500" y="1515511"/>
                </a:lnTo>
                <a:lnTo>
                  <a:pt x="3397695" y="1514112"/>
                </a:lnTo>
                <a:lnTo>
                  <a:pt x="3399043" y="1512784"/>
                </a:lnTo>
                <a:lnTo>
                  <a:pt x="3400537" y="1511530"/>
                </a:lnTo>
                <a:lnTo>
                  <a:pt x="3402169" y="1510358"/>
                </a:lnTo>
                <a:lnTo>
                  <a:pt x="3403931" y="1509272"/>
                </a:lnTo>
                <a:lnTo>
                  <a:pt x="3405815" y="1508277"/>
                </a:lnTo>
                <a:lnTo>
                  <a:pt x="3407812" y="1507379"/>
                </a:lnTo>
                <a:lnTo>
                  <a:pt x="3409916" y="1506584"/>
                </a:lnTo>
                <a:lnTo>
                  <a:pt x="3412118" y="1505896"/>
                </a:lnTo>
                <a:lnTo>
                  <a:pt x="3414410" y="1505321"/>
                </a:lnTo>
                <a:lnTo>
                  <a:pt x="3416784" y="1504865"/>
                </a:lnTo>
                <a:lnTo>
                  <a:pt x="3419232" y="1504532"/>
                </a:lnTo>
                <a:lnTo>
                  <a:pt x="3421746" y="1504329"/>
                </a:lnTo>
                <a:lnTo>
                  <a:pt x="3424319" y="1504260"/>
                </a:lnTo>
                <a:lnTo>
                  <a:pt x="3426888" y="1504329"/>
                </a:lnTo>
                <a:lnTo>
                  <a:pt x="3429400" y="1504532"/>
                </a:lnTo>
                <a:lnTo>
                  <a:pt x="3431846" y="1504865"/>
                </a:lnTo>
                <a:lnTo>
                  <a:pt x="3434220" y="1505321"/>
                </a:lnTo>
                <a:lnTo>
                  <a:pt x="3436512" y="1505896"/>
                </a:lnTo>
                <a:lnTo>
                  <a:pt x="3438715" y="1506584"/>
                </a:lnTo>
                <a:lnTo>
                  <a:pt x="3440821" y="1507379"/>
                </a:lnTo>
                <a:lnTo>
                  <a:pt x="3442820" y="1508277"/>
                </a:lnTo>
                <a:lnTo>
                  <a:pt x="3444707" y="1509272"/>
                </a:lnTo>
                <a:lnTo>
                  <a:pt x="3446471" y="1510358"/>
                </a:lnTo>
                <a:lnTo>
                  <a:pt x="3448106" y="1511530"/>
                </a:lnTo>
                <a:lnTo>
                  <a:pt x="3449603" y="1512784"/>
                </a:lnTo>
                <a:lnTo>
                  <a:pt x="3450954" y="1514112"/>
                </a:lnTo>
                <a:lnTo>
                  <a:pt x="3452152" y="1515511"/>
                </a:lnTo>
                <a:lnTo>
                  <a:pt x="3453187" y="1516975"/>
                </a:lnTo>
                <a:lnTo>
                  <a:pt x="3454052" y="1518498"/>
                </a:lnTo>
                <a:lnTo>
                  <a:pt x="3454739" y="1520075"/>
                </a:lnTo>
                <a:lnTo>
                  <a:pt x="3455239" y="1521701"/>
                </a:lnTo>
                <a:lnTo>
                  <a:pt x="3455546" y="1523370"/>
                </a:lnTo>
                <a:lnTo>
                  <a:pt x="345565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0" name="published_B_empagliflozin_marker_172">
            <a:extLst>
              <a:ext uri="{FF2B5EF4-FFF2-40B4-BE49-F238E27FC236}">
                <a16:creationId xmlns:a16="http://schemas.microsoft.com/office/drawing/2014/main" id="{D2803C2D-E11F-41B1-A3D6-2FE229E9539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56721"/>
                </a:moveTo>
                <a:lnTo>
                  <a:pt x="3917416" y="1658428"/>
                </a:lnTo>
                <a:lnTo>
                  <a:pt x="3917109" y="1660097"/>
                </a:lnTo>
                <a:lnTo>
                  <a:pt x="3916609" y="1661722"/>
                </a:lnTo>
                <a:lnTo>
                  <a:pt x="3915922" y="1663299"/>
                </a:lnTo>
                <a:lnTo>
                  <a:pt x="3915057" y="1664822"/>
                </a:lnTo>
                <a:lnTo>
                  <a:pt x="3914022" y="1666286"/>
                </a:lnTo>
                <a:lnTo>
                  <a:pt x="3912825" y="1667685"/>
                </a:lnTo>
                <a:lnTo>
                  <a:pt x="3911474" y="1669014"/>
                </a:lnTo>
                <a:lnTo>
                  <a:pt x="3909977" y="1670267"/>
                </a:lnTo>
                <a:lnTo>
                  <a:pt x="3908342" y="1671439"/>
                </a:lnTo>
                <a:lnTo>
                  <a:pt x="3906577" y="1672526"/>
                </a:lnTo>
                <a:lnTo>
                  <a:pt x="3904691" y="1673520"/>
                </a:lnTo>
                <a:lnTo>
                  <a:pt x="3902691" y="1674418"/>
                </a:lnTo>
                <a:lnTo>
                  <a:pt x="3900586" y="1675213"/>
                </a:lnTo>
                <a:lnTo>
                  <a:pt x="3898383" y="1675901"/>
                </a:lnTo>
                <a:lnTo>
                  <a:pt x="3896091" y="1676476"/>
                </a:lnTo>
                <a:lnTo>
                  <a:pt x="3893717" y="1676932"/>
                </a:lnTo>
                <a:lnTo>
                  <a:pt x="3891270" y="1677265"/>
                </a:lnTo>
                <a:lnTo>
                  <a:pt x="3888758" y="1677468"/>
                </a:lnTo>
                <a:lnTo>
                  <a:pt x="3886189" y="1677537"/>
                </a:lnTo>
                <a:lnTo>
                  <a:pt x="3883617" y="1677468"/>
                </a:lnTo>
                <a:lnTo>
                  <a:pt x="3881103" y="1677265"/>
                </a:lnTo>
                <a:lnTo>
                  <a:pt x="3878654" y="1676932"/>
                </a:lnTo>
                <a:lnTo>
                  <a:pt x="3876280" y="1676476"/>
                </a:lnTo>
                <a:lnTo>
                  <a:pt x="3873988" y="1675901"/>
                </a:lnTo>
                <a:lnTo>
                  <a:pt x="3871786" y="1675213"/>
                </a:lnTo>
                <a:lnTo>
                  <a:pt x="3869682" y="1674418"/>
                </a:lnTo>
                <a:lnTo>
                  <a:pt x="3867684" y="1673520"/>
                </a:lnTo>
                <a:lnTo>
                  <a:pt x="3865800" y="1672526"/>
                </a:lnTo>
                <a:lnTo>
                  <a:pt x="3864039" y="1671439"/>
                </a:lnTo>
                <a:lnTo>
                  <a:pt x="3862406" y="1670267"/>
                </a:lnTo>
                <a:lnTo>
                  <a:pt x="3860912" y="1669014"/>
                </a:lnTo>
                <a:lnTo>
                  <a:pt x="3859564" y="1667685"/>
                </a:lnTo>
                <a:lnTo>
                  <a:pt x="3858370" y="1666286"/>
                </a:lnTo>
                <a:lnTo>
                  <a:pt x="3857337" y="1664822"/>
                </a:lnTo>
                <a:lnTo>
                  <a:pt x="3856475" y="1663299"/>
                </a:lnTo>
                <a:lnTo>
                  <a:pt x="3855790" y="1661722"/>
                </a:lnTo>
                <a:lnTo>
                  <a:pt x="3855291" y="1660097"/>
                </a:lnTo>
                <a:lnTo>
                  <a:pt x="3854986" y="1658428"/>
                </a:lnTo>
                <a:lnTo>
                  <a:pt x="3854882" y="1656721"/>
                </a:lnTo>
                <a:lnTo>
                  <a:pt x="3854986" y="1655014"/>
                </a:lnTo>
                <a:lnTo>
                  <a:pt x="3855291" y="1653345"/>
                </a:lnTo>
                <a:lnTo>
                  <a:pt x="3855790" y="1651719"/>
                </a:lnTo>
                <a:lnTo>
                  <a:pt x="3856475" y="1650142"/>
                </a:lnTo>
                <a:lnTo>
                  <a:pt x="3857337" y="1648619"/>
                </a:lnTo>
                <a:lnTo>
                  <a:pt x="3858370" y="1647155"/>
                </a:lnTo>
                <a:lnTo>
                  <a:pt x="3859564" y="1645756"/>
                </a:lnTo>
                <a:lnTo>
                  <a:pt x="3860912" y="1644428"/>
                </a:lnTo>
                <a:lnTo>
                  <a:pt x="3862406" y="1643174"/>
                </a:lnTo>
                <a:lnTo>
                  <a:pt x="3864039" y="1642002"/>
                </a:lnTo>
                <a:lnTo>
                  <a:pt x="3865800" y="1640916"/>
                </a:lnTo>
                <a:lnTo>
                  <a:pt x="3867684" y="1639921"/>
                </a:lnTo>
                <a:lnTo>
                  <a:pt x="3869682" y="1639023"/>
                </a:lnTo>
                <a:lnTo>
                  <a:pt x="3871786" y="1638228"/>
                </a:lnTo>
                <a:lnTo>
                  <a:pt x="3873988" y="1637540"/>
                </a:lnTo>
                <a:lnTo>
                  <a:pt x="3876280" y="1636966"/>
                </a:lnTo>
                <a:lnTo>
                  <a:pt x="3878654" y="1636509"/>
                </a:lnTo>
                <a:lnTo>
                  <a:pt x="3881103" y="1636177"/>
                </a:lnTo>
                <a:lnTo>
                  <a:pt x="3883617" y="1635973"/>
                </a:lnTo>
                <a:lnTo>
                  <a:pt x="3886189" y="1635904"/>
                </a:lnTo>
                <a:lnTo>
                  <a:pt x="3888758" y="1635973"/>
                </a:lnTo>
                <a:lnTo>
                  <a:pt x="3891270" y="1636177"/>
                </a:lnTo>
                <a:lnTo>
                  <a:pt x="3893717" y="1636509"/>
                </a:lnTo>
                <a:lnTo>
                  <a:pt x="3896091" y="1636966"/>
                </a:lnTo>
                <a:lnTo>
                  <a:pt x="3898383" y="1637540"/>
                </a:lnTo>
                <a:lnTo>
                  <a:pt x="3900586" y="1638228"/>
                </a:lnTo>
                <a:lnTo>
                  <a:pt x="3902691" y="1639023"/>
                </a:lnTo>
                <a:lnTo>
                  <a:pt x="3904691" y="1639921"/>
                </a:lnTo>
                <a:lnTo>
                  <a:pt x="3906577" y="1640916"/>
                </a:lnTo>
                <a:lnTo>
                  <a:pt x="3908342" y="1642002"/>
                </a:lnTo>
                <a:lnTo>
                  <a:pt x="3909977" y="1643174"/>
                </a:lnTo>
                <a:lnTo>
                  <a:pt x="3911474" y="1644428"/>
                </a:lnTo>
                <a:lnTo>
                  <a:pt x="3912825" y="1645756"/>
                </a:lnTo>
                <a:lnTo>
                  <a:pt x="3914022" y="1647155"/>
                </a:lnTo>
                <a:lnTo>
                  <a:pt x="3915057" y="1648619"/>
                </a:lnTo>
                <a:lnTo>
                  <a:pt x="3915922" y="1650142"/>
                </a:lnTo>
                <a:lnTo>
                  <a:pt x="3916609" y="1651719"/>
                </a:lnTo>
                <a:lnTo>
                  <a:pt x="3917109" y="1653345"/>
                </a:lnTo>
                <a:lnTo>
                  <a:pt x="3917416" y="1655014"/>
                </a:lnTo>
                <a:lnTo>
                  <a:pt x="3917519" y="165672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1" name="published_B_empagliflozin_curve_173">
            <a:extLst>
              <a:ext uri="{FF2B5EF4-FFF2-40B4-BE49-F238E27FC236}">
                <a16:creationId xmlns:a16="http://schemas.microsoft.com/office/drawing/2014/main" id="{F92BFCE1-9529-425C-B960-CFE2ED4510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1651781"/>
                </a:lnTo>
                <a:moveTo>
                  <a:pt x="653230" y="1651781"/>
                </a:moveTo>
                <a:lnTo>
                  <a:pt x="1115097" y="1609379"/>
                </a:lnTo>
                <a:moveTo>
                  <a:pt x="1115097" y="1609379"/>
                </a:moveTo>
                <a:lnTo>
                  <a:pt x="2038782" y="1525595"/>
                </a:lnTo>
                <a:moveTo>
                  <a:pt x="2038782" y="1525595"/>
                </a:moveTo>
                <a:lnTo>
                  <a:pt x="3424333" y="1525077"/>
                </a:lnTo>
                <a:moveTo>
                  <a:pt x="3424333" y="1525077"/>
                </a:moveTo>
                <a:lnTo>
                  <a:pt x="3886175" y="1663993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2" name="published_B_empagliflozin_error_bar_174">
            <a:extLst>
              <a:ext uri="{FF2B5EF4-FFF2-40B4-BE49-F238E27FC236}">
                <a16:creationId xmlns:a16="http://schemas.microsoft.com/office/drawing/2014/main" id="{E2A6C839-EEC7-40F2-8D80-652E4C7F084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850289"/>
                </a:moveTo>
                <a:lnTo>
                  <a:pt x="703801" y="18502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3" name="published_B_empagliflozin_error_bar_175">
            <a:extLst>
              <a:ext uri="{FF2B5EF4-FFF2-40B4-BE49-F238E27FC236}">
                <a16:creationId xmlns:a16="http://schemas.microsoft.com/office/drawing/2014/main" id="{9E343952-A2A6-464D-9743-C840F759D36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455350"/>
                </a:moveTo>
                <a:lnTo>
                  <a:pt x="703801" y="145535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4" name="published_B_empagliflozin_error_bar_176">
            <a:extLst>
              <a:ext uri="{FF2B5EF4-FFF2-40B4-BE49-F238E27FC236}">
                <a16:creationId xmlns:a16="http://schemas.microsoft.com/office/drawing/2014/main" id="{C8E42805-828E-4456-BA8F-B5FB3842EE9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1455350"/>
                </a:moveTo>
                <a:lnTo>
                  <a:pt x="653248" y="185029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5" name="published_B_empagliflozin_error_bar_177">
            <a:extLst>
              <a:ext uri="{FF2B5EF4-FFF2-40B4-BE49-F238E27FC236}">
                <a16:creationId xmlns:a16="http://schemas.microsoft.com/office/drawing/2014/main" id="{056E02F9-9F86-4679-8F2B-3FEDDB86D48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838841"/>
                </a:moveTo>
                <a:lnTo>
                  <a:pt x="1165646" y="183884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6" name="published_B_empagliflozin_error_bar_178">
            <a:extLst>
              <a:ext uri="{FF2B5EF4-FFF2-40B4-BE49-F238E27FC236}">
                <a16:creationId xmlns:a16="http://schemas.microsoft.com/office/drawing/2014/main" id="{7E6B2956-0024-4A70-B993-904A03EDBA9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381461"/>
                </a:moveTo>
                <a:lnTo>
                  <a:pt x="1165646" y="13814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7" name="published_B_empagliflozin_error_bar_179">
            <a:extLst>
              <a:ext uri="{FF2B5EF4-FFF2-40B4-BE49-F238E27FC236}">
                <a16:creationId xmlns:a16="http://schemas.microsoft.com/office/drawing/2014/main" id="{66472CA9-9931-44CB-8DBB-CF88A0923DF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1381461"/>
                </a:moveTo>
                <a:lnTo>
                  <a:pt x="1115095" y="183884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8" name="published_B_empagliflozin_error_bar_180">
            <a:extLst>
              <a:ext uri="{FF2B5EF4-FFF2-40B4-BE49-F238E27FC236}">
                <a16:creationId xmlns:a16="http://schemas.microsoft.com/office/drawing/2014/main" id="{511E8ABE-A8CD-4C9B-93AA-3BE28A82983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772240"/>
                </a:moveTo>
                <a:lnTo>
                  <a:pt x="2089338" y="177224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9" name="published_B_empagliflozin_error_bar_181">
            <a:extLst>
              <a:ext uri="{FF2B5EF4-FFF2-40B4-BE49-F238E27FC236}">
                <a16:creationId xmlns:a16="http://schemas.microsoft.com/office/drawing/2014/main" id="{017A3364-DA23-4F36-B34A-74371F1A44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276872"/>
                </a:moveTo>
                <a:lnTo>
                  <a:pt x="2089338" y="12768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0" name="published_B_empagliflozin_error_bar_182">
            <a:extLst>
              <a:ext uri="{FF2B5EF4-FFF2-40B4-BE49-F238E27FC236}">
                <a16:creationId xmlns:a16="http://schemas.microsoft.com/office/drawing/2014/main" id="{28127443-1073-4E39-A015-0C94FEDDD7C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1276872"/>
                </a:moveTo>
                <a:lnTo>
                  <a:pt x="2038787" y="177224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1" name="published_B_empagliflozin_error_bar_183">
            <a:extLst>
              <a:ext uri="{FF2B5EF4-FFF2-40B4-BE49-F238E27FC236}">
                <a16:creationId xmlns:a16="http://schemas.microsoft.com/office/drawing/2014/main" id="{61D0C382-C656-4499-8E1E-A2A20A30EC2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767036"/>
                </a:moveTo>
                <a:lnTo>
                  <a:pt x="3474875" y="176703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2" name="published_B_empagliflozin_error_bar_184">
            <a:extLst>
              <a:ext uri="{FF2B5EF4-FFF2-40B4-BE49-F238E27FC236}">
                <a16:creationId xmlns:a16="http://schemas.microsoft.com/office/drawing/2014/main" id="{40FE5114-C470-432A-A3C3-A4B359F538A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84155"/>
                </a:moveTo>
                <a:lnTo>
                  <a:pt x="3474875" y="128415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3" name="published_B_empagliflozin_error_bar_185">
            <a:extLst>
              <a:ext uri="{FF2B5EF4-FFF2-40B4-BE49-F238E27FC236}">
                <a16:creationId xmlns:a16="http://schemas.microsoft.com/office/drawing/2014/main" id="{1ADEB894-8442-486B-87A8-55EF2C97E8B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1284155"/>
                </a:moveTo>
                <a:lnTo>
                  <a:pt x="3424321" y="176704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4" name="published_B_empagliflozin_error_bar_186">
            <a:extLst>
              <a:ext uri="{FF2B5EF4-FFF2-40B4-BE49-F238E27FC236}">
                <a16:creationId xmlns:a16="http://schemas.microsoft.com/office/drawing/2014/main" id="{AE3DE926-0840-4CDB-89BE-DB0290ABB0E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85676"/>
                </a:moveTo>
                <a:lnTo>
                  <a:pt x="3936744" y="188567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5" name="published_B_empagliflozin_error_bar_187">
            <a:extLst>
              <a:ext uri="{FF2B5EF4-FFF2-40B4-BE49-F238E27FC236}">
                <a16:creationId xmlns:a16="http://schemas.microsoft.com/office/drawing/2014/main" id="{182E0D0D-4FA0-4101-87D4-897B3D41FE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417366"/>
                </a:moveTo>
                <a:lnTo>
                  <a:pt x="3936744" y="141736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6" name="published_B_empagliflozin_error_bar_188">
            <a:extLst>
              <a:ext uri="{FF2B5EF4-FFF2-40B4-BE49-F238E27FC236}">
                <a16:creationId xmlns:a16="http://schemas.microsoft.com/office/drawing/2014/main" id="{CFD32A90-51A9-4AFA-9CFC-D56E531B02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417366"/>
                </a:moveTo>
                <a:lnTo>
                  <a:pt x="3886191" y="18856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7" name="published_B_finerenone_error_bar_189">
            <a:extLst>
              <a:ext uri="{FF2B5EF4-FFF2-40B4-BE49-F238E27FC236}">
                <a16:creationId xmlns:a16="http://schemas.microsoft.com/office/drawing/2014/main" id="{C0218E64-1F1D-4D5C-BF1F-579FD17730F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662867"/>
                </a:moveTo>
                <a:lnTo>
                  <a:pt x="703801" y="6628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8" name="published_B_finerenone_error_bar_190">
            <a:extLst>
              <a:ext uri="{FF2B5EF4-FFF2-40B4-BE49-F238E27FC236}">
                <a16:creationId xmlns:a16="http://schemas.microsoft.com/office/drawing/2014/main" id="{CF4DCF5C-A5EA-40FC-90F2-C042C887BD4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116606"/>
                </a:moveTo>
                <a:lnTo>
                  <a:pt x="703801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9" name="published_B_finerenone_error_bar_191">
            <a:extLst>
              <a:ext uri="{FF2B5EF4-FFF2-40B4-BE49-F238E27FC236}">
                <a16:creationId xmlns:a16="http://schemas.microsoft.com/office/drawing/2014/main" id="{DE0120EB-0370-4DDB-BD43-0523F411DFA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662867"/>
                </a:moveTo>
                <a:lnTo>
                  <a:pt x="653248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0" name="published_B_finerenone_error_bar_192">
            <a:extLst>
              <a:ext uri="{FF2B5EF4-FFF2-40B4-BE49-F238E27FC236}">
                <a16:creationId xmlns:a16="http://schemas.microsoft.com/office/drawing/2014/main" id="{4ACFA6EB-5EEC-42E9-88E8-05E63E28AE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754445"/>
                </a:moveTo>
                <a:lnTo>
                  <a:pt x="1165646" y="75444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1" name="published_B_finerenone_error_bar_193">
            <a:extLst>
              <a:ext uri="{FF2B5EF4-FFF2-40B4-BE49-F238E27FC236}">
                <a16:creationId xmlns:a16="http://schemas.microsoft.com/office/drawing/2014/main" id="{F74DF0F3-1E3B-4019-9736-4A4C144180EE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279992"/>
                </a:moveTo>
                <a:lnTo>
                  <a:pt x="1165646" y="127999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2" name="published_B_finerenone_error_bar_194">
            <a:extLst>
              <a:ext uri="{FF2B5EF4-FFF2-40B4-BE49-F238E27FC236}">
                <a16:creationId xmlns:a16="http://schemas.microsoft.com/office/drawing/2014/main" id="{B6E1EC96-303A-43A9-8A21-4647A12BF76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754445"/>
                </a:moveTo>
                <a:lnTo>
                  <a:pt x="1115095" y="12800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3" name="published_B_finerenone_error_bar_195">
            <a:extLst>
              <a:ext uri="{FF2B5EF4-FFF2-40B4-BE49-F238E27FC236}">
                <a16:creationId xmlns:a16="http://schemas.microsoft.com/office/drawing/2014/main" id="{D5138F7F-A2CF-486E-8488-C166F42FD2F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569204"/>
                </a:moveTo>
                <a:lnTo>
                  <a:pt x="2089338" y="56920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4" name="published_B_finerenone_error_bar_196">
            <a:extLst>
              <a:ext uri="{FF2B5EF4-FFF2-40B4-BE49-F238E27FC236}">
                <a16:creationId xmlns:a16="http://schemas.microsoft.com/office/drawing/2014/main" id="{35C83E20-F87E-418C-AF4B-C1B2949F202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128053"/>
                </a:moveTo>
                <a:lnTo>
                  <a:pt x="2089338" y="112805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5" name="published_B_finerenone_error_bar_197">
            <a:extLst>
              <a:ext uri="{FF2B5EF4-FFF2-40B4-BE49-F238E27FC236}">
                <a16:creationId xmlns:a16="http://schemas.microsoft.com/office/drawing/2014/main" id="{82F25CF8-4FAB-4FCB-9159-F820729DD75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569204"/>
                </a:moveTo>
                <a:lnTo>
                  <a:pt x="2038787" y="112804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6" name="published_B_finerenone_error_bar_198">
            <a:extLst>
              <a:ext uri="{FF2B5EF4-FFF2-40B4-BE49-F238E27FC236}">
                <a16:creationId xmlns:a16="http://schemas.microsoft.com/office/drawing/2014/main" id="{D4BB584E-711B-48A2-82C7-D75AE71D80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700330"/>
                </a:moveTo>
                <a:lnTo>
                  <a:pt x="3474875" y="70033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7" name="published_B_finerenone_error_bar_199">
            <a:extLst>
              <a:ext uri="{FF2B5EF4-FFF2-40B4-BE49-F238E27FC236}">
                <a16:creationId xmlns:a16="http://schemas.microsoft.com/office/drawing/2014/main" id="{BA953E30-5395-4F7F-AE80-8F1DDDD4CE2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48773"/>
                </a:moveTo>
                <a:lnTo>
                  <a:pt x="3474875" y="124877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8" name="published_B_finerenone_error_bar_200">
            <a:extLst>
              <a:ext uri="{FF2B5EF4-FFF2-40B4-BE49-F238E27FC236}">
                <a16:creationId xmlns:a16="http://schemas.microsoft.com/office/drawing/2014/main" id="{529E803D-E1F6-463D-9B30-6BC49CC1A3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700330"/>
                </a:moveTo>
                <a:lnTo>
                  <a:pt x="3424321" y="124877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9" name="published_B_finerenone_error_bar_201">
            <a:extLst>
              <a:ext uri="{FF2B5EF4-FFF2-40B4-BE49-F238E27FC236}">
                <a16:creationId xmlns:a16="http://schemas.microsoft.com/office/drawing/2014/main" id="{320382CB-2AC6-4C4A-BB33-074C189007E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370535"/>
                </a:moveTo>
                <a:lnTo>
                  <a:pt x="3936744" y="137053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0" name="published_B_finerenone_error_bar_202">
            <a:extLst>
              <a:ext uri="{FF2B5EF4-FFF2-40B4-BE49-F238E27FC236}">
                <a16:creationId xmlns:a16="http://schemas.microsoft.com/office/drawing/2014/main" id="{A42164D2-882A-457F-B33D-6DE46758A25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49250"/>
                </a:moveTo>
                <a:lnTo>
                  <a:pt x="3936744" y="184925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1" name="published_B_finerenone_error_bar_203">
            <a:extLst>
              <a:ext uri="{FF2B5EF4-FFF2-40B4-BE49-F238E27FC236}">
                <a16:creationId xmlns:a16="http://schemas.microsoft.com/office/drawing/2014/main" id="{0C6ED532-393A-4FFD-89AF-AE30FF1BBC1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370535"/>
                </a:moveTo>
                <a:lnTo>
                  <a:pt x="3886191" y="18492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2" name="published_B_finerenone_marker_204">
            <a:extLst>
              <a:ext uri="{FF2B5EF4-FFF2-40B4-BE49-F238E27FC236}">
                <a16:creationId xmlns:a16="http://schemas.microsoft.com/office/drawing/2014/main" id="{59D13792-D336-44C4-B616-FF277B14803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11715"/>
                </a:moveTo>
                <a:lnTo>
                  <a:pt x="3917416" y="1613422"/>
                </a:lnTo>
                <a:lnTo>
                  <a:pt x="3917109" y="1615091"/>
                </a:lnTo>
                <a:lnTo>
                  <a:pt x="3916609" y="1616717"/>
                </a:lnTo>
                <a:lnTo>
                  <a:pt x="3915922" y="1618294"/>
                </a:lnTo>
                <a:lnTo>
                  <a:pt x="3915057" y="1619817"/>
                </a:lnTo>
                <a:lnTo>
                  <a:pt x="3914022" y="1621281"/>
                </a:lnTo>
                <a:lnTo>
                  <a:pt x="3912825" y="1622680"/>
                </a:lnTo>
                <a:lnTo>
                  <a:pt x="3911474" y="1624008"/>
                </a:lnTo>
                <a:lnTo>
                  <a:pt x="3909977" y="1625262"/>
                </a:lnTo>
                <a:lnTo>
                  <a:pt x="3908342" y="1626434"/>
                </a:lnTo>
                <a:lnTo>
                  <a:pt x="3906577" y="1627520"/>
                </a:lnTo>
                <a:lnTo>
                  <a:pt x="3904691" y="1628515"/>
                </a:lnTo>
                <a:lnTo>
                  <a:pt x="3902691" y="1629413"/>
                </a:lnTo>
                <a:lnTo>
                  <a:pt x="3900586" y="1630208"/>
                </a:lnTo>
                <a:lnTo>
                  <a:pt x="3898383" y="1630896"/>
                </a:lnTo>
                <a:lnTo>
                  <a:pt x="3896091" y="1631470"/>
                </a:lnTo>
                <a:lnTo>
                  <a:pt x="3893717" y="1631927"/>
                </a:lnTo>
                <a:lnTo>
                  <a:pt x="3891270" y="1632259"/>
                </a:lnTo>
                <a:lnTo>
                  <a:pt x="3888758" y="1632463"/>
                </a:lnTo>
                <a:lnTo>
                  <a:pt x="3886189" y="1632532"/>
                </a:lnTo>
                <a:lnTo>
                  <a:pt x="3883617" y="1632463"/>
                </a:lnTo>
                <a:lnTo>
                  <a:pt x="3881103" y="1632259"/>
                </a:lnTo>
                <a:lnTo>
                  <a:pt x="3878654" y="1631927"/>
                </a:lnTo>
                <a:lnTo>
                  <a:pt x="3876280" y="1631470"/>
                </a:lnTo>
                <a:lnTo>
                  <a:pt x="3873988" y="1630896"/>
                </a:lnTo>
                <a:lnTo>
                  <a:pt x="3871786" y="1630208"/>
                </a:lnTo>
                <a:lnTo>
                  <a:pt x="3869682" y="1629413"/>
                </a:lnTo>
                <a:lnTo>
                  <a:pt x="3867684" y="1628515"/>
                </a:lnTo>
                <a:lnTo>
                  <a:pt x="3865800" y="1627520"/>
                </a:lnTo>
                <a:lnTo>
                  <a:pt x="3864039" y="1626434"/>
                </a:lnTo>
                <a:lnTo>
                  <a:pt x="3862406" y="1625262"/>
                </a:lnTo>
                <a:lnTo>
                  <a:pt x="3860912" y="1624008"/>
                </a:lnTo>
                <a:lnTo>
                  <a:pt x="3859564" y="1622680"/>
                </a:lnTo>
                <a:lnTo>
                  <a:pt x="3858370" y="1621281"/>
                </a:lnTo>
                <a:lnTo>
                  <a:pt x="3857337" y="1619817"/>
                </a:lnTo>
                <a:lnTo>
                  <a:pt x="3856475" y="1618294"/>
                </a:lnTo>
                <a:lnTo>
                  <a:pt x="3855790" y="1616717"/>
                </a:lnTo>
                <a:lnTo>
                  <a:pt x="3855291" y="1615091"/>
                </a:lnTo>
                <a:lnTo>
                  <a:pt x="3854986" y="1613422"/>
                </a:lnTo>
                <a:lnTo>
                  <a:pt x="3854882" y="1611715"/>
                </a:lnTo>
                <a:lnTo>
                  <a:pt x="3854986" y="1610008"/>
                </a:lnTo>
                <a:lnTo>
                  <a:pt x="3855291" y="1608339"/>
                </a:lnTo>
                <a:lnTo>
                  <a:pt x="3855790" y="1606714"/>
                </a:lnTo>
                <a:lnTo>
                  <a:pt x="3856475" y="1605137"/>
                </a:lnTo>
                <a:lnTo>
                  <a:pt x="3857337" y="1603614"/>
                </a:lnTo>
                <a:lnTo>
                  <a:pt x="3858370" y="1602150"/>
                </a:lnTo>
                <a:lnTo>
                  <a:pt x="3859564" y="1600751"/>
                </a:lnTo>
                <a:lnTo>
                  <a:pt x="3860912" y="1599422"/>
                </a:lnTo>
                <a:lnTo>
                  <a:pt x="3862406" y="1598169"/>
                </a:lnTo>
                <a:lnTo>
                  <a:pt x="3864039" y="1596997"/>
                </a:lnTo>
                <a:lnTo>
                  <a:pt x="3865800" y="1595910"/>
                </a:lnTo>
                <a:lnTo>
                  <a:pt x="3867684" y="1594916"/>
                </a:lnTo>
                <a:lnTo>
                  <a:pt x="3869682" y="1594018"/>
                </a:lnTo>
                <a:lnTo>
                  <a:pt x="3871786" y="1593223"/>
                </a:lnTo>
                <a:lnTo>
                  <a:pt x="3873988" y="1592535"/>
                </a:lnTo>
                <a:lnTo>
                  <a:pt x="3876280" y="1591960"/>
                </a:lnTo>
                <a:lnTo>
                  <a:pt x="3878654" y="1591504"/>
                </a:lnTo>
                <a:lnTo>
                  <a:pt x="3881103" y="1591171"/>
                </a:lnTo>
                <a:lnTo>
                  <a:pt x="3883617" y="1590968"/>
                </a:lnTo>
                <a:lnTo>
                  <a:pt x="3886189" y="1590899"/>
                </a:lnTo>
                <a:lnTo>
                  <a:pt x="3888758" y="1590968"/>
                </a:lnTo>
                <a:lnTo>
                  <a:pt x="3891270" y="1591171"/>
                </a:lnTo>
                <a:lnTo>
                  <a:pt x="3893717" y="1591504"/>
                </a:lnTo>
                <a:lnTo>
                  <a:pt x="3896091" y="1591960"/>
                </a:lnTo>
                <a:lnTo>
                  <a:pt x="3898383" y="1592535"/>
                </a:lnTo>
                <a:lnTo>
                  <a:pt x="3900586" y="1593223"/>
                </a:lnTo>
                <a:lnTo>
                  <a:pt x="3902691" y="1594018"/>
                </a:lnTo>
                <a:lnTo>
                  <a:pt x="3904691" y="1594916"/>
                </a:lnTo>
                <a:lnTo>
                  <a:pt x="3906577" y="1595910"/>
                </a:lnTo>
                <a:lnTo>
                  <a:pt x="3908342" y="1596997"/>
                </a:lnTo>
                <a:lnTo>
                  <a:pt x="3909977" y="1598169"/>
                </a:lnTo>
                <a:lnTo>
                  <a:pt x="3911474" y="1599422"/>
                </a:lnTo>
                <a:lnTo>
                  <a:pt x="3912825" y="1600751"/>
                </a:lnTo>
                <a:lnTo>
                  <a:pt x="3914022" y="1602150"/>
                </a:lnTo>
                <a:lnTo>
                  <a:pt x="3915057" y="1603614"/>
                </a:lnTo>
                <a:lnTo>
                  <a:pt x="3915922" y="1605137"/>
                </a:lnTo>
                <a:lnTo>
                  <a:pt x="3916609" y="1606714"/>
                </a:lnTo>
                <a:lnTo>
                  <a:pt x="3917109" y="1608339"/>
                </a:lnTo>
                <a:lnTo>
                  <a:pt x="3917416" y="1610008"/>
                </a:lnTo>
                <a:lnTo>
                  <a:pt x="3917519" y="1611715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3" name="published_B_finerenone_curve_205">
            <a:extLst>
              <a:ext uri="{FF2B5EF4-FFF2-40B4-BE49-F238E27FC236}">
                <a16:creationId xmlns:a16="http://schemas.microsoft.com/office/drawing/2014/main" id="{39AB58D2-314D-4307-AC6F-6E1A2F3F8D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889736"/>
                </a:lnTo>
                <a:moveTo>
                  <a:pt x="653230" y="889736"/>
                </a:moveTo>
                <a:lnTo>
                  <a:pt x="1115097" y="1016457"/>
                </a:lnTo>
                <a:moveTo>
                  <a:pt x="1115097" y="1016457"/>
                </a:moveTo>
                <a:lnTo>
                  <a:pt x="2038782" y="849155"/>
                </a:lnTo>
                <a:moveTo>
                  <a:pt x="2038782" y="849155"/>
                </a:moveTo>
                <a:lnTo>
                  <a:pt x="3424333" y="974038"/>
                </a:lnTo>
                <a:moveTo>
                  <a:pt x="3424333" y="974038"/>
                </a:moveTo>
                <a:lnTo>
                  <a:pt x="3886175" y="1611718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4" name="published_B_finerenone_marker_206">
            <a:extLst>
              <a:ext uri="{FF2B5EF4-FFF2-40B4-BE49-F238E27FC236}">
                <a16:creationId xmlns:a16="http://schemas.microsoft.com/office/drawing/2014/main" id="{1154E413-640C-4D27-B169-13B5258D78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889736"/>
                </a:moveTo>
                <a:lnTo>
                  <a:pt x="691038" y="891803"/>
                </a:lnTo>
                <a:lnTo>
                  <a:pt x="690668" y="893823"/>
                </a:lnTo>
                <a:lnTo>
                  <a:pt x="690063" y="895790"/>
                </a:lnTo>
                <a:lnTo>
                  <a:pt x="689233" y="897698"/>
                </a:lnTo>
                <a:lnTo>
                  <a:pt x="688188" y="899541"/>
                </a:lnTo>
                <a:lnTo>
                  <a:pt x="686937" y="901311"/>
                </a:lnTo>
                <a:lnTo>
                  <a:pt x="685489" y="903003"/>
                </a:lnTo>
                <a:lnTo>
                  <a:pt x="683856" y="904610"/>
                </a:lnTo>
                <a:lnTo>
                  <a:pt x="682045" y="906126"/>
                </a:lnTo>
                <a:lnTo>
                  <a:pt x="680068" y="907543"/>
                </a:lnTo>
                <a:lnTo>
                  <a:pt x="677934" y="908856"/>
                </a:lnTo>
                <a:lnTo>
                  <a:pt x="675651" y="910059"/>
                </a:lnTo>
                <a:lnTo>
                  <a:pt x="673231" y="911144"/>
                </a:lnTo>
                <a:lnTo>
                  <a:pt x="670683" y="912105"/>
                </a:lnTo>
                <a:lnTo>
                  <a:pt x="668016" y="912936"/>
                </a:lnTo>
                <a:lnTo>
                  <a:pt x="665241" y="913631"/>
                </a:lnTo>
                <a:lnTo>
                  <a:pt x="662366" y="914182"/>
                </a:lnTo>
                <a:lnTo>
                  <a:pt x="659402" y="914584"/>
                </a:lnTo>
                <a:lnTo>
                  <a:pt x="656358" y="914830"/>
                </a:lnTo>
                <a:lnTo>
                  <a:pt x="653245" y="914913"/>
                </a:lnTo>
                <a:lnTo>
                  <a:pt x="650134" y="914830"/>
                </a:lnTo>
                <a:lnTo>
                  <a:pt x="647094" y="914584"/>
                </a:lnTo>
                <a:lnTo>
                  <a:pt x="644132" y="914182"/>
                </a:lnTo>
                <a:lnTo>
                  <a:pt x="641260" y="913631"/>
                </a:lnTo>
                <a:lnTo>
                  <a:pt x="638487" y="912936"/>
                </a:lnTo>
                <a:lnTo>
                  <a:pt x="635822" y="912105"/>
                </a:lnTo>
                <a:lnTo>
                  <a:pt x="633276" y="911144"/>
                </a:lnTo>
                <a:lnTo>
                  <a:pt x="630857" y="910059"/>
                </a:lnTo>
                <a:lnTo>
                  <a:pt x="628576" y="908856"/>
                </a:lnTo>
                <a:lnTo>
                  <a:pt x="626443" y="907543"/>
                </a:lnTo>
                <a:lnTo>
                  <a:pt x="624466" y="906126"/>
                </a:lnTo>
                <a:lnTo>
                  <a:pt x="622657" y="904610"/>
                </a:lnTo>
                <a:lnTo>
                  <a:pt x="621024" y="903003"/>
                </a:lnTo>
                <a:lnTo>
                  <a:pt x="619577" y="901311"/>
                </a:lnTo>
                <a:lnTo>
                  <a:pt x="618326" y="899541"/>
                </a:lnTo>
                <a:lnTo>
                  <a:pt x="617280" y="897698"/>
                </a:lnTo>
                <a:lnTo>
                  <a:pt x="616451" y="895790"/>
                </a:lnTo>
                <a:lnTo>
                  <a:pt x="615846" y="893823"/>
                </a:lnTo>
                <a:lnTo>
                  <a:pt x="615476" y="891803"/>
                </a:lnTo>
                <a:lnTo>
                  <a:pt x="615350" y="889736"/>
                </a:lnTo>
                <a:lnTo>
                  <a:pt x="615476" y="887669"/>
                </a:lnTo>
                <a:lnTo>
                  <a:pt x="615846" y="885649"/>
                </a:lnTo>
                <a:lnTo>
                  <a:pt x="616451" y="883681"/>
                </a:lnTo>
                <a:lnTo>
                  <a:pt x="617280" y="881772"/>
                </a:lnTo>
                <a:lnTo>
                  <a:pt x="618326" y="879928"/>
                </a:lnTo>
                <a:lnTo>
                  <a:pt x="619577" y="878157"/>
                </a:lnTo>
                <a:lnTo>
                  <a:pt x="621024" y="876464"/>
                </a:lnTo>
                <a:lnTo>
                  <a:pt x="622657" y="874856"/>
                </a:lnTo>
                <a:lnTo>
                  <a:pt x="624466" y="873339"/>
                </a:lnTo>
                <a:lnTo>
                  <a:pt x="626443" y="871920"/>
                </a:lnTo>
                <a:lnTo>
                  <a:pt x="628576" y="870606"/>
                </a:lnTo>
                <a:lnTo>
                  <a:pt x="630857" y="869403"/>
                </a:lnTo>
                <a:lnTo>
                  <a:pt x="633276" y="868316"/>
                </a:lnTo>
                <a:lnTo>
                  <a:pt x="635822" y="867354"/>
                </a:lnTo>
                <a:lnTo>
                  <a:pt x="638487" y="866522"/>
                </a:lnTo>
                <a:lnTo>
                  <a:pt x="641260" y="865826"/>
                </a:lnTo>
                <a:lnTo>
                  <a:pt x="644132" y="865274"/>
                </a:lnTo>
                <a:lnTo>
                  <a:pt x="647094" y="864872"/>
                </a:lnTo>
                <a:lnTo>
                  <a:pt x="650134" y="864626"/>
                </a:lnTo>
                <a:lnTo>
                  <a:pt x="653245" y="864542"/>
                </a:lnTo>
                <a:lnTo>
                  <a:pt x="656358" y="864626"/>
                </a:lnTo>
                <a:lnTo>
                  <a:pt x="659402" y="864872"/>
                </a:lnTo>
                <a:lnTo>
                  <a:pt x="662366" y="865274"/>
                </a:lnTo>
                <a:lnTo>
                  <a:pt x="665241" y="865826"/>
                </a:lnTo>
                <a:lnTo>
                  <a:pt x="668016" y="866522"/>
                </a:lnTo>
                <a:lnTo>
                  <a:pt x="670683" y="867354"/>
                </a:lnTo>
                <a:lnTo>
                  <a:pt x="673231" y="868316"/>
                </a:lnTo>
                <a:lnTo>
                  <a:pt x="675651" y="869403"/>
                </a:lnTo>
                <a:lnTo>
                  <a:pt x="677934" y="870606"/>
                </a:lnTo>
                <a:lnTo>
                  <a:pt x="680068" y="871920"/>
                </a:lnTo>
                <a:lnTo>
                  <a:pt x="682045" y="873339"/>
                </a:lnTo>
                <a:lnTo>
                  <a:pt x="683856" y="874856"/>
                </a:lnTo>
                <a:lnTo>
                  <a:pt x="685489" y="876464"/>
                </a:lnTo>
                <a:lnTo>
                  <a:pt x="686937" y="878157"/>
                </a:lnTo>
                <a:lnTo>
                  <a:pt x="688188" y="879928"/>
                </a:lnTo>
                <a:lnTo>
                  <a:pt x="689233" y="881772"/>
                </a:lnTo>
                <a:lnTo>
                  <a:pt x="690063" y="883681"/>
                </a:lnTo>
                <a:lnTo>
                  <a:pt x="690668" y="885649"/>
                </a:lnTo>
                <a:lnTo>
                  <a:pt x="691038" y="887669"/>
                </a:lnTo>
                <a:lnTo>
                  <a:pt x="691164" y="889736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5" name="published_B_finerenone_marker_207">
            <a:extLst>
              <a:ext uri="{FF2B5EF4-FFF2-40B4-BE49-F238E27FC236}">
                <a16:creationId xmlns:a16="http://schemas.microsoft.com/office/drawing/2014/main" id="{31328314-BD7E-4475-BA00-E0E3CB848A6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016441"/>
                </a:moveTo>
                <a:lnTo>
                  <a:pt x="1152880" y="1018507"/>
                </a:lnTo>
                <a:lnTo>
                  <a:pt x="1152510" y="1020528"/>
                </a:lnTo>
                <a:lnTo>
                  <a:pt x="1151906" y="1022496"/>
                </a:lnTo>
                <a:lnTo>
                  <a:pt x="1151076" y="1024405"/>
                </a:lnTo>
                <a:lnTo>
                  <a:pt x="1150030" y="1026248"/>
                </a:lnTo>
                <a:lnTo>
                  <a:pt x="1148780" y="1028020"/>
                </a:lnTo>
                <a:lnTo>
                  <a:pt x="1147333" y="1029713"/>
                </a:lnTo>
                <a:lnTo>
                  <a:pt x="1145700" y="1031321"/>
                </a:lnTo>
                <a:lnTo>
                  <a:pt x="1143890" y="1032838"/>
                </a:lnTo>
                <a:lnTo>
                  <a:pt x="1141914" y="1034256"/>
                </a:lnTo>
                <a:lnTo>
                  <a:pt x="1139780" y="1035571"/>
                </a:lnTo>
                <a:lnTo>
                  <a:pt x="1137499" y="1036774"/>
                </a:lnTo>
                <a:lnTo>
                  <a:pt x="1135081" y="1037860"/>
                </a:lnTo>
                <a:lnTo>
                  <a:pt x="1132534" y="1038823"/>
                </a:lnTo>
                <a:lnTo>
                  <a:pt x="1129869" y="1039655"/>
                </a:lnTo>
                <a:lnTo>
                  <a:pt x="1127096" y="1040350"/>
                </a:lnTo>
                <a:lnTo>
                  <a:pt x="1124224" y="1040902"/>
                </a:lnTo>
                <a:lnTo>
                  <a:pt x="1121263" y="1041305"/>
                </a:lnTo>
                <a:lnTo>
                  <a:pt x="1118222" y="1041551"/>
                </a:lnTo>
                <a:lnTo>
                  <a:pt x="1115112" y="1041634"/>
                </a:lnTo>
                <a:lnTo>
                  <a:pt x="1111998" y="1041551"/>
                </a:lnTo>
                <a:lnTo>
                  <a:pt x="1108954" y="1041305"/>
                </a:lnTo>
                <a:lnTo>
                  <a:pt x="1105990" y="1040902"/>
                </a:lnTo>
                <a:lnTo>
                  <a:pt x="1103116" y="1040350"/>
                </a:lnTo>
                <a:lnTo>
                  <a:pt x="1100340" y="1039655"/>
                </a:lnTo>
                <a:lnTo>
                  <a:pt x="1097673" y="1038823"/>
                </a:lnTo>
                <a:lnTo>
                  <a:pt x="1095125" y="1037860"/>
                </a:lnTo>
                <a:lnTo>
                  <a:pt x="1092705" y="1036774"/>
                </a:lnTo>
                <a:lnTo>
                  <a:pt x="1090423" y="1035571"/>
                </a:lnTo>
                <a:lnTo>
                  <a:pt x="1088288" y="1034256"/>
                </a:lnTo>
                <a:lnTo>
                  <a:pt x="1086311" y="1032838"/>
                </a:lnTo>
                <a:lnTo>
                  <a:pt x="1084501" y="1031321"/>
                </a:lnTo>
                <a:lnTo>
                  <a:pt x="1082867" y="1029713"/>
                </a:lnTo>
                <a:lnTo>
                  <a:pt x="1081420" y="1028020"/>
                </a:lnTo>
                <a:lnTo>
                  <a:pt x="1080168" y="1026248"/>
                </a:lnTo>
                <a:lnTo>
                  <a:pt x="1079123" y="1024405"/>
                </a:lnTo>
                <a:lnTo>
                  <a:pt x="1078293" y="1022496"/>
                </a:lnTo>
                <a:lnTo>
                  <a:pt x="1077688" y="1020528"/>
                </a:lnTo>
                <a:lnTo>
                  <a:pt x="1077318" y="1018507"/>
                </a:lnTo>
                <a:lnTo>
                  <a:pt x="1077193" y="1016441"/>
                </a:lnTo>
                <a:lnTo>
                  <a:pt x="1077318" y="1014374"/>
                </a:lnTo>
                <a:lnTo>
                  <a:pt x="1077688" y="1012354"/>
                </a:lnTo>
                <a:lnTo>
                  <a:pt x="1078293" y="1010386"/>
                </a:lnTo>
                <a:lnTo>
                  <a:pt x="1079123" y="1008477"/>
                </a:lnTo>
                <a:lnTo>
                  <a:pt x="1080168" y="1006633"/>
                </a:lnTo>
                <a:lnTo>
                  <a:pt x="1081420" y="1004862"/>
                </a:lnTo>
                <a:lnTo>
                  <a:pt x="1082867" y="1003169"/>
                </a:lnTo>
                <a:lnTo>
                  <a:pt x="1084501" y="1001561"/>
                </a:lnTo>
                <a:lnTo>
                  <a:pt x="1086311" y="1000044"/>
                </a:lnTo>
                <a:lnTo>
                  <a:pt x="1088288" y="998625"/>
                </a:lnTo>
                <a:lnTo>
                  <a:pt x="1090423" y="997311"/>
                </a:lnTo>
                <a:lnTo>
                  <a:pt x="1092705" y="996107"/>
                </a:lnTo>
                <a:lnTo>
                  <a:pt x="1095125" y="995021"/>
                </a:lnTo>
                <a:lnTo>
                  <a:pt x="1097673" y="994059"/>
                </a:lnTo>
                <a:lnTo>
                  <a:pt x="1100340" y="993227"/>
                </a:lnTo>
                <a:lnTo>
                  <a:pt x="1103116" y="992531"/>
                </a:lnTo>
                <a:lnTo>
                  <a:pt x="1105990" y="991979"/>
                </a:lnTo>
                <a:lnTo>
                  <a:pt x="1108954" y="991577"/>
                </a:lnTo>
                <a:lnTo>
                  <a:pt x="1111998" y="991331"/>
                </a:lnTo>
                <a:lnTo>
                  <a:pt x="1115112" y="991247"/>
                </a:lnTo>
                <a:lnTo>
                  <a:pt x="1118222" y="991331"/>
                </a:lnTo>
                <a:lnTo>
                  <a:pt x="1121263" y="991577"/>
                </a:lnTo>
                <a:lnTo>
                  <a:pt x="1124224" y="991979"/>
                </a:lnTo>
                <a:lnTo>
                  <a:pt x="1127096" y="992531"/>
                </a:lnTo>
                <a:lnTo>
                  <a:pt x="1129869" y="993227"/>
                </a:lnTo>
                <a:lnTo>
                  <a:pt x="1132534" y="994059"/>
                </a:lnTo>
                <a:lnTo>
                  <a:pt x="1135081" y="995021"/>
                </a:lnTo>
                <a:lnTo>
                  <a:pt x="1137499" y="996107"/>
                </a:lnTo>
                <a:lnTo>
                  <a:pt x="1139780" y="997311"/>
                </a:lnTo>
                <a:lnTo>
                  <a:pt x="1141914" y="998625"/>
                </a:lnTo>
                <a:lnTo>
                  <a:pt x="1143890" y="1000044"/>
                </a:lnTo>
                <a:lnTo>
                  <a:pt x="1145700" y="1001561"/>
                </a:lnTo>
                <a:lnTo>
                  <a:pt x="1147333" y="1003169"/>
                </a:lnTo>
                <a:lnTo>
                  <a:pt x="1148780" y="1004862"/>
                </a:lnTo>
                <a:lnTo>
                  <a:pt x="1150030" y="1006633"/>
                </a:lnTo>
                <a:lnTo>
                  <a:pt x="1151076" y="1008477"/>
                </a:lnTo>
                <a:lnTo>
                  <a:pt x="1151906" y="1010386"/>
                </a:lnTo>
                <a:lnTo>
                  <a:pt x="1152510" y="1012354"/>
                </a:lnTo>
                <a:lnTo>
                  <a:pt x="1152880" y="1014374"/>
                </a:lnTo>
                <a:lnTo>
                  <a:pt x="1153006" y="101644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6" name="published_B_finerenone_marker_208">
            <a:extLst>
              <a:ext uri="{FF2B5EF4-FFF2-40B4-BE49-F238E27FC236}">
                <a16:creationId xmlns:a16="http://schemas.microsoft.com/office/drawing/2014/main" id="{21189844-965C-4D82-8F5D-E64BD53D11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847068"/>
                </a:moveTo>
                <a:lnTo>
                  <a:pt x="2076575" y="849134"/>
                </a:lnTo>
                <a:lnTo>
                  <a:pt x="2076205" y="851155"/>
                </a:lnTo>
                <a:lnTo>
                  <a:pt x="2075600" y="853123"/>
                </a:lnTo>
                <a:lnTo>
                  <a:pt x="2074770" y="855032"/>
                </a:lnTo>
                <a:lnTo>
                  <a:pt x="2073725" y="856875"/>
                </a:lnTo>
                <a:lnTo>
                  <a:pt x="2072473" y="858647"/>
                </a:lnTo>
                <a:lnTo>
                  <a:pt x="2071026" y="860340"/>
                </a:lnTo>
                <a:lnTo>
                  <a:pt x="2069393" y="861948"/>
                </a:lnTo>
                <a:lnTo>
                  <a:pt x="2067582" y="863465"/>
                </a:lnTo>
                <a:lnTo>
                  <a:pt x="2065605" y="864883"/>
                </a:lnTo>
                <a:lnTo>
                  <a:pt x="2063471" y="866198"/>
                </a:lnTo>
                <a:lnTo>
                  <a:pt x="2061188" y="867401"/>
                </a:lnTo>
                <a:lnTo>
                  <a:pt x="2058768" y="868487"/>
                </a:lnTo>
                <a:lnTo>
                  <a:pt x="2056220" y="869450"/>
                </a:lnTo>
                <a:lnTo>
                  <a:pt x="2053553" y="870282"/>
                </a:lnTo>
                <a:lnTo>
                  <a:pt x="2050778" y="870977"/>
                </a:lnTo>
                <a:lnTo>
                  <a:pt x="2047903" y="871529"/>
                </a:lnTo>
                <a:lnTo>
                  <a:pt x="2044939" y="871932"/>
                </a:lnTo>
                <a:lnTo>
                  <a:pt x="2041895" y="872178"/>
                </a:lnTo>
                <a:lnTo>
                  <a:pt x="2038782" y="872261"/>
                </a:lnTo>
                <a:lnTo>
                  <a:pt x="2035671" y="872178"/>
                </a:lnTo>
                <a:lnTo>
                  <a:pt x="2032631" y="871932"/>
                </a:lnTo>
                <a:lnTo>
                  <a:pt x="2029669" y="871529"/>
                </a:lnTo>
                <a:lnTo>
                  <a:pt x="2026797" y="870977"/>
                </a:lnTo>
                <a:lnTo>
                  <a:pt x="2024024" y="870282"/>
                </a:lnTo>
                <a:lnTo>
                  <a:pt x="2021359" y="869450"/>
                </a:lnTo>
                <a:lnTo>
                  <a:pt x="2018813" y="868487"/>
                </a:lnTo>
                <a:lnTo>
                  <a:pt x="2016394" y="867401"/>
                </a:lnTo>
                <a:lnTo>
                  <a:pt x="2014113" y="866198"/>
                </a:lnTo>
                <a:lnTo>
                  <a:pt x="2011980" y="864883"/>
                </a:lnTo>
                <a:lnTo>
                  <a:pt x="2010003" y="863465"/>
                </a:lnTo>
                <a:lnTo>
                  <a:pt x="2008194" y="861948"/>
                </a:lnTo>
                <a:lnTo>
                  <a:pt x="2006560" y="860340"/>
                </a:lnTo>
                <a:lnTo>
                  <a:pt x="2005114" y="858647"/>
                </a:lnTo>
                <a:lnTo>
                  <a:pt x="2003863" y="856875"/>
                </a:lnTo>
                <a:lnTo>
                  <a:pt x="2002817" y="855032"/>
                </a:lnTo>
                <a:lnTo>
                  <a:pt x="2001988" y="853123"/>
                </a:lnTo>
                <a:lnTo>
                  <a:pt x="2001383" y="851155"/>
                </a:lnTo>
                <a:lnTo>
                  <a:pt x="2001013" y="849134"/>
                </a:lnTo>
                <a:lnTo>
                  <a:pt x="2000887" y="847068"/>
                </a:lnTo>
                <a:lnTo>
                  <a:pt x="2001013" y="845001"/>
                </a:lnTo>
                <a:lnTo>
                  <a:pt x="2001383" y="842981"/>
                </a:lnTo>
                <a:lnTo>
                  <a:pt x="2001988" y="841013"/>
                </a:lnTo>
                <a:lnTo>
                  <a:pt x="2002817" y="839104"/>
                </a:lnTo>
                <a:lnTo>
                  <a:pt x="2003863" y="837260"/>
                </a:lnTo>
                <a:lnTo>
                  <a:pt x="2005114" y="835489"/>
                </a:lnTo>
                <a:lnTo>
                  <a:pt x="2006560" y="833796"/>
                </a:lnTo>
                <a:lnTo>
                  <a:pt x="2008194" y="832187"/>
                </a:lnTo>
                <a:lnTo>
                  <a:pt x="2010003" y="830671"/>
                </a:lnTo>
                <a:lnTo>
                  <a:pt x="2011980" y="829252"/>
                </a:lnTo>
                <a:lnTo>
                  <a:pt x="2014113" y="827938"/>
                </a:lnTo>
                <a:lnTo>
                  <a:pt x="2016394" y="826734"/>
                </a:lnTo>
                <a:lnTo>
                  <a:pt x="2018813" y="825648"/>
                </a:lnTo>
                <a:lnTo>
                  <a:pt x="2021359" y="824686"/>
                </a:lnTo>
                <a:lnTo>
                  <a:pt x="2024024" y="823853"/>
                </a:lnTo>
                <a:lnTo>
                  <a:pt x="2026797" y="823158"/>
                </a:lnTo>
                <a:lnTo>
                  <a:pt x="2029669" y="822606"/>
                </a:lnTo>
                <a:lnTo>
                  <a:pt x="2032631" y="822204"/>
                </a:lnTo>
                <a:lnTo>
                  <a:pt x="2035671" y="821957"/>
                </a:lnTo>
                <a:lnTo>
                  <a:pt x="2038782" y="821874"/>
                </a:lnTo>
                <a:lnTo>
                  <a:pt x="2041895" y="821957"/>
                </a:lnTo>
                <a:lnTo>
                  <a:pt x="2044939" y="822204"/>
                </a:lnTo>
                <a:lnTo>
                  <a:pt x="2047903" y="822606"/>
                </a:lnTo>
                <a:lnTo>
                  <a:pt x="2050778" y="823158"/>
                </a:lnTo>
                <a:lnTo>
                  <a:pt x="2053553" y="823853"/>
                </a:lnTo>
                <a:lnTo>
                  <a:pt x="2056220" y="824686"/>
                </a:lnTo>
                <a:lnTo>
                  <a:pt x="2058768" y="825648"/>
                </a:lnTo>
                <a:lnTo>
                  <a:pt x="2061188" y="826734"/>
                </a:lnTo>
                <a:lnTo>
                  <a:pt x="2063471" y="827938"/>
                </a:lnTo>
                <a:lnTo>
                  <a:pt x="2065605" y="829252"/>
                </a:lnTo>
                <a:lnTo>
                  <a:pt x="2067582" y="830671"/>
                </a:lnTo>
                <a:lnTo>
                  <a:pt x="2069393" y="832187"/>
                </a:lnTo>
                <a:lnTo>
                  <a:pt x="2071026" y="833796"/>
                </a:lnTo>
                <a:lnTo>
                  <a:pt x="2072473" y="835489"/>
                </a:lnTo>
                <a:lnTo>
                  <a:pt x="2073725" y="837260"/>
                </a:lnTo>
                <a:lnTo>
                  <a:pt x="2074770" y="839104"/>
                </a:lnTo>
                <a:lnTo>
                  <a:pt x="2075600" y="841013"/>
                </a:lnTo>
                <a:lnTo>
                  <a:pt x="2076205" y="842981"/>
                </a:lnTo>
                <a:lnTo>
                  <a:pt x="2076575" y="845001"/>
                </a:lnTo>
                <a:lnTo>
                  <a:pt x="2076700" y="84706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7" name="published_B_finerenone_marker_209">
            <a:extLst>
              <a:ext uri="{FF2B5EF4-FFF2-40B4-BE49-F238E27FC236}">
                <a16:creationId xmlns:a16="http://schemas.microsoft.com/office/drawing/2014/main" id="{ED2B5B83-6CAF-4716-9639-D32C2DA5F7A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974031"/>
                </a:moveTo>
                <a:lnTo>
                  <a:pt x="3462110" y="976098"/>
                </a:lnTo>
                <a:lnTo>
                  <a:pt x="3461740" y="978119"/>
                </a:lnTo>
                <a:lnTo>
                  <a:pt x="3461135" y="980087"/>
                </a:lnTo>
                <a:lnTo>
                  <a:pt x="3460305" y="981996"/>
                </a:lnTo>
                <a:lnTo>
                  <a:pt x="3459259" y="983839"/>
                </a:lnTo>
                <a:lnTo>
                  <a:pt x="3458008" y="985611"/>
                </a:lnTo>
                <a:lnTo>
                  <a:pt x="3456561" y="987304"/>
                </a:lnTo>
                <a:lnTo>
                  <a:pt x="3454927" y="988912"/>
                </a:lnTo>
                <a:lnTo>
                  <a:pt x="3453117" y="990428"/>
                </a:lnTo>
                <a:lnTo>
                  <a:pt x="3451140" y="991847"/>
                </a:lnTo>
                <a:lnTo>
                  <a:pt x="3449005" y="993161"/>
                </a:lnTo>
                <a:lnTo>
                  <a:pt x="3446723" y="994365"/>
                </a:lnTo>
                <a:lnTo>
                  <a:pt x="3444303" y="995451"/>
                </a:lnTo>
                <a:lnTo>
                  <a:pt x="3441755" y="996414"/>
                </a:lnTo>
                <a:lnTo>
                  <a:pt x="3439088" y="997246"/>
                </a:lnTo>
                <a:lnTo>
                  <a:pt x="3436313" y="997941"/>
                </a:lnTo>
                <a:lnTo>
                  <a:pt x="3433438" y="998493"/>
                </a:lnTo>
                <a:lnTo>
                  <a:pt x="3430474" y="998895"/>
                </a:lnTo>
                <a:lnTo>
                  <a:pt x="3427430" y="999142"/>
                </a:lnTo>
                <a:lnTo>
                  <a:pt x="3424316" y="999225"/>
                </a:lnTo>
                <a:lnTo>
                  <a:pt x="3421206" y="999142"/>
                </a:lnTo>
                <a:lnTo>
                  <a:pt x="3418165" y="998895"/>
                </a:lnTo>
                <a:lnTo>
                  <a:pt x="3415204" y="998493"/>
                </a:lnTo>
                <a:lnTo>
                  <a:pt x="3412332" y="997941"/>
                </a:lnTo>
                <a:lnTo>
                  <a:pt x="3409559" y="997246"/>
                </a:lnTo>
                <a:lnTo>
                  <a:pt x="3406894" y="996414"/>
                </a:lnTo>
                <a:lnTo>
                  <a:pt x="3404347" y="995451"/>
                </a:lnTo>
                <a:lnTo>
                  <a:pt x="3401929" y="994365"/>
                </a:lnTo>
                <a:lnTo>
                  <a:pt x="3399648" y="993161"/>
                </a:lnTo>
                <a:lnTo>
                  <a:pt x="3397514" y="991847"/>
                </a:lnTo>
                <a:lnTo>
                  <a:pt x="3395538" y="990428"/>
                </a:lnTo>
                <a:lnTo>
                  <a:pt x="3393728" y="988912"/>
                </a:lnTo>
                <a:lnTo>
                  <a:pt x="3392095" y="987304"/>
                </a:lnTo>
                <a:lnTo>
                  <a:pt x="3390648" y="985611"/>
                </a:lnTo>
                <a:lnTo>
                  <a:pt x="3389397" y="983839"/>
                </a:lnTo>
                <a:lnTo>
                  <a:pt x="3388352" y="981996"/>
                </a:lnTo>
                <a:lnTo>
                  <a:pt x="3387522" y="980087"/>
                </a:lnTo>
                <a:lnTo>
                  <a:pt x="3386917" y="978119"/>
                </a:lnTo>
                <a:lnTo>
                  <a:pt x="3386547" y="976098"/>
                </a:lnTo>
                <a:lnTo>
                  <a:pt x="3386422" y="974031"/>
                </a:lnTo>
                <a:lnTo>
                  <a:pt x="3386547" y="971965"/>
                </a:lnTo>
                <a:lnTo>
                  <a:pt x="3386917" y="969944"/>
                </a:lnTo>
                <a:lnTo>
                  <a:pt x="3387522" y="967976"/>
                </a:lnTo>
                <a:lnTo>
                  <a:pt x="3388352" y="966067"/>
                </a:lnTo>
                <a:lnTo>
                  <a:pt x="3389397" y="964224"/>
                </a:lnTo>
                <a:lnTo>
                  <a:pt x="3390648" y="962452"/>
                </a:lnTo>
                <a:lnTo>
                  <a:pt x="3392095" y="960759"/>
                </a:lnTo>
                <a:lnTo>
                  <a:pt x="3393728" y="959151"/>
                </a:lnTo>
                <a:lnTo>
                  <a:pt x="3395538" y="957635"/>
                </a:lnTo>
                <a:lnTo>
                  <a:pt x="3397514" y="956216"/>
                </a:lnTo>
                <a:lnTo>
                  <a:pt x="3399648" y="954901"/>
                </a:lnTo>
                <a:lnTo>
                  <a:pt x="3401929" y="953698"/>
                </a:lnTo>
                <a:lnTo>
                  <a:pt x="3404347" y="952612"/>
                </a:lnTo>
                <a:lnTo>
                  <a:pt x="3406894" y="951649"/>
                </a:lnTo>
                <a:lnTo>
                  <a:pt x="3409559" y="950817"/>
                </a:lnTo>
                <a:lnTo>
                  <a:pt x="3412332" y="950122"/>
                </a:lnTo>
                <a:lnTo>
                  <a:pt x="3415204" y="949570"/>
                </a:lnTo>
                <a:lnTo>
                  <a:pt x="3418165" y="949167"/>
                </a:lnTo>
                <a:lnTo>
                  <a:pt x="3421206" y="948921"/>
                </a:lnTo>
                <a:lnTo>
                  <a:pt x="3424316" y="948838"/>
                </a:lnTo>
                <a:lnTo>
                  <a:pt x="3427430" y="948921"/>
                </a:lnTo>
                <a:lnTo>
                  <a:pt x="3430474" y="949167"/>
                </a:lnTo>
                <a:lnTo>
                  <a:pt x="3433438" y="949570"/>
                </a:lnTo>
                <a:lnTo>
                  <a:pt x="3436313" y="950122"/>
                </a:lnTo>
                <a:lnTo>
                  <a:pt x="3439088" y="950817"/>
                </a:lnTo>
                <a:lnTo>
                  <a:pt x="3441755" y="951649"/>
                </a:lnTo>
                <a:lnTo>
                  <a:pt x="3444303" y="952612"/>
                </a:lnTo>
                <a:lnTo>
                  <a:pt x="3446723" y="953698"/>
                </a:lnTo>
                <a:lnTo>
                  <a:pt x="3449005" y="954901"/>
                </a:lnTo>
                <a:lnTo>
                  <a:pt x="3451140" y="956216"/>
                </a:lnTo>
                <a:lnTo>
                  <a:pt x="3453117" y="957635"/>
                </a:lnTo>
                <a:lnTo>
                  <a:pt x="3454927" y="959151"/>
                </a:lnTo>
                <a:lnTo>
                  <a:pt x="3456561" y="960759"/>
                </a:lnTo>
                <a:lnTo>
                  <a:pt x="3458008" y="962452"/>
                </a:lnTo>
                <a:lnTo>
                  <a:pt x="3459259" y="964224"/>
                </a:lnTo>
                <a:lnTo>
                  <a:pt x="3460305" y="966067"/>
                </a:lnTo>
                <a:lnTo>
                  <a:pt x="3461135" y="967976"/>
                </a:lnTo>
                <a:lnTo>
                  <a:pt x="3461740" y="969944"/>
                </a:lnTo>
                <a:lnTo>
                  <a:pt x="3462110" y="971965"/>
                </a:lnTo>
                <a:lnTo>
                  <a:pt x="3462235" y="97403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8" name="published_B_finerenone_marker_210">
            <a:extLst>
              <a:ext uri="{FF2B5EF4-FFF2-40B4-BE49-F238E27FC236}">
                <a16:creationId xmlns:a16="http://schemas.microsoft.com/office/drawing/2014/main" id="{E07E7374-E415-42DF-A338-9C24F69E338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9" name="published_B_combination_error_bar_211">
            <a:extLst>
              <a:ext uri="{FF2B5EF4-FFF2-40B4-BE49-F238E27FC236}">
                <a16:creationId xmlns:a16="http://schemas.microsoft.com/office/drawing/2014/main" id="{C2C5459A-B93B-4E6E-8464-50AECBCB19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767978"/>
                </a:moveTo>
                <a:lnTo>
                  <a:pt x="703801" y="76797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0" name="published_B_combination_error_bar_212">
            <a:extLst>
              <a:ext uri="{FF2B5EF4-FFF2-40B4-BE49-F238E27FC236}">
                <a16:creationId xmlns:a16="http://schemas.microsoft.com/office/drawing/2014/main" id="{F4E96A5F-6972-4F36-A7A6-FBF286DA930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336092"/>
                </a:moveTo>
                <a:lnTo>
                  <a:pt x="703801" y="3360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1" name="published_B_combination_error_bar_213">
            <a:extLst>
              <a:ext uri="{FF2B5EF4-FFF2-40B4-BE49-F238E27FC236}">
                <a16:creationId xmlns:a16="http://schemas.microsoft.com/office/drawing/2014/main" id="{D6C3F087-8A34-4B14-A8CA-3F77725DA2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336092"/>
                </a:moveTo>
                <a:lnTo>
                  <a:pt x="653248" y="767994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2" name="published_B_combination_error_bar_214">
            <a:extLst>
              <a:ext uri="{FF2B5EF4-FFF2-40B4-BE49-F238E27FC236}">
                <a16:creationId xmlns:a16="http://schemas.microsoft.com/office/drawing/2014/main" id="{97456B91-1F28-4D85-B96A-27274CA8A3E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900141"/>
                </a:moveTo>
                <a:lnTo>
                  <a:pt x="1165646" y="90014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3" name="published_B_combination_error_bar_215">
            <a:extLst>
              <a:ext uri="{FF2B5EF4-FFF2-40B4-BE49-F238E27FC236}">
                <a16:creationId xmlns:a16="http://schemas.microsoft.com/office/drawing/2014/main" id="{5560386F-8A64-4B43-8FD9-D77DBE07DB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454727"/>
                </a:moveTo>
                <a:lnTo>
                  <a:pt x="1165646" y="45472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4" name="published_B_combination_error_bar_216">
            <a:extLst>
              <a:ext uri="{FF2B5EF4-FFF2-40B4-BE49-F238E27FC236}">
                <a16:creationId xmlns:a16="http://schemas.microsoft.com/office/drawing/2014/main" id="{963726B5-2515-47C4-A8A2-451B1384F9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454727"/>
                </a:moveTo>
                <a:lnTo>
                  <a:pt x="1115095" y="90014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5" name="published_B_combination_error_bar_217">
            <a:extLst>
              <a:ext uri="{FF2B5EF4-FFF2-40B4-BE49-F238E27FC236}">
                <a16:creationId xmlns:a16="http://schemas.microsoft.com/office/drawing/2014/main" id="{455E8405-0213-4412-A45D-85A18D49C45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849149"/>
                </a:moveTo>
                <a:lnTo>
                  <a:pt x="2089338" y="84914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6" name="published_B_combination_error_bar_218">
            <a:extLst>
              <a:ext uri="{FF2B5EF4-FFF2-40B4-BE49-F238E27FC236}">
                <a16:creationId xmlns:a16="http://schemas.microsoft.com/office/drawing/2014/main" id="{66B88356-8DC2-4D89-954B-2ED96A64CD4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338172"/>
                </a:moveTo>
                <a:lnTo>
                  <a:pt x="2089338" y="3381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7" name="published_B_combination_error_bar_219">
            <a:extLst>
              <a:ext uri="{FF2B5EF4-FFF2-40B4-BE49-F238E27FC236}">
                <a16:creationId xmlns:a16="http://schemas.microsoft.com/office/drawing/2014/main" id="{810E9C2C-DF05-4C1C-A286-5B7639A07E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338172"/>
                </a:moveTo>
                <a:lnTo>
                  <a:pt x="2038787" y="84914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8" name="published_B_combination_error_bar_220">
            <a:extLst>
              <a:ext uri="{FF2B5EF4-FFF2-40B4-BE49-F238E27FC236}">
                <a16:creationId xmlns:a16="http://schemas.microsoft.com/office/drawing/2014/main" id="{F6E89F67-F122-4C60-B272-1A6FB5D7B13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883493"/>
                </a:moveTo>
                <a:lnTo>
                  <a:pt x="3474875" y="883493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9" name="published_B_combination_error_bar_221">
            <a:extLst>
              <a:ext uri="{FF2B5EF4-FFF2-40B4-BE49-F238E27FC236}">
                <a16:creationId xmlns:a16="http://schemas.microsoft.com/office/drawing/2014/main" id="{B4BD2FAC-E20A-4445-96A6-15C91705C7E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304871"/>
                </a:moveTo>
                <a:lnTo>
                  <a:pt x="3474875" y="30487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0" name="published_B_combination_error_bar_222">
            <a:extLst>
              <a:ext uri="{FF2B5EF4-FFF2-40B4-BE49-F238E27FC236}">
                <a16:creationId xmlns:a16="http://schemas.microsoft.com/office/drawing/2014/main" id="{DA28168C-C244-48E0-A418-B5DD583ADA2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304871"/>
                </a:moveTo>
                <a:lnTo>
                  <a:pt x="3424321" y="8834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1" name="published_B_combination_error_bar_223">
            <a:extLst>
              <a:ext uri="{FF2B5EF4-FFF2-40B4-BE49-F238E27FC236}">
                <a16:creationId xmlns:a16="http://schemas.microsoft.com/office/drawing/2014/main" id="{24BB0D5F-16C9-480E-93FD-E2903B9AD8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678579"/>
                </a:moveTo>
                <a:lnTo>
                  <a:pt x="3936744" y="167857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2" name="published_B_combination_error_bar_224">
            <a:extLst>
              <a:ext uri="{FF2B5EF4-FFF2-40B4-BE49-F238E27FC236}">
                <a16:creationId xmlns:a16="http://schemas.microsoft.com/office/drawing/2014/main" id="{C55D3EA8-2450-49CE-9FCF-9E17A25E6B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202982"/>
                </a:moveTo>
                <a:lnTo>
                  <a:pt x="3936744" y="120298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3" name="published_B_combination_error_bar_225">
            <a:extLst>
              <a:ext uri="{FF2B5EF4-FFF2-40B4-BE49-F238E27FC236}">
                <a16:creationId xmlns:a16="http://schemas.microsoft.com/office/drawing/2014/main" id="{888047AE-D11B-481D-96FB-82B8FDB9F5B2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202982"/>
                </a:moveTo>
                <a:lnTo>
                  <a:pt x="3886191" y="1678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4" name="published_B_combination_curve_226">
            <a:extLst>
              <a:ext uri="{FF2B5EF4-FFF2-40B4-BE49-F238E27FC236}">
                <a16:creationId xmlns:a16="http://schemas.microsoft.com/office/drawing/2014/main" id="{EE92954F-D4BD-4E13-AE0C-E7C7E4E87B3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551007"/>
                </a:lnTo>
                <a:moveTo>
                  <a:pt x="653230" y="551007"/>
                </a:moveTo>
                <a:lnTo>
                  <a:pt x="1115097" y="676909"/>
                </a:lnTo>
                <a:moveTo>
                  <a:pt x="1115097" y="676909"/>
                </a:moveTo>
                <a:lnTo>
                  <a:pt x="2038782" y="593659"/>
                </a:lnTo>
                <a:moveTo>
                  <a:pt x="2038782" y="593659"/>
                </a:moveTo>
                <a:lnTo>
                  <a:pt x="3424333" y="593659"/>
                </a:lnTo>
                <a:moveTo>
                  <a:pt x="3424333" y="593659"/>
                </a:moveTo>
                <a:lnTo>
                  <a:pt x="3886175" y="1440791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5" name="published_B_combination_marker_227">
            <a:extLst>
              <a:ext uri="{FF2B5EF4-FFF2-40B4-BE49-F238E27FC236}">
                <a16:creationId xmlns:a16="http://schemas.microsoft.com/office/drawing/2014/main" id="{8DAEFEA0-89FB-4FD8-B2D7-35F57E046A5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440780"/>
                </a:moveTo>
                <a:lnTo>
                  <a:pt x="3917416" y="1442487"/>
                </a:lnTo>
                <a:lnTo>
                  <a:pt x="3917109" y="1444156"/>
                </a:lnTo>
                <a:lnTo>
                  <a:pt x="3916609" y="1445782"/>
                </a:lnTo>
                <a:lnTo>
                  <a:pt x="3915922" y="1447359"/>
                </a:lnTo>
                <a:lnTo>
                  <a:pt x="3915057" y="1448882"/>
                </a:lnTo>
                <a:lnTo>
                  <a:pt x="3914022" y="1450346"/>
                </a:lnTo>
                <a:lnTo>
                  <a:pt x="3912825" y="1451744"/>
                </a:lnTo>
                <a:lnTo>
                  <a:pt x="3911474" y="1453073"/>
                </a:lnTo>
                <a:lnTo>
                  <a:pt x="3909977" y="1454326"/>
                </a:lnTo>
                <a:lnTo>
                  <a:pt x="3908342" y="1455499"/>
                </a:lnTo>
                <a:lnTo>
                  <a:pt x="3906577" y="1456585"/>
                </a:lnTo>
                <a:lnTo>
                  <a:pt x="3904691" y="1457580"/>
                </a:lnTo>
                <a:lnTo>
                  <a:pt x="3902691" y="1458477"/>
                </a:lnTo>
                <a:lnTo>
                  <a:pt x="3900586" y="1459273"/>
                </a:lnTo>
                <a:lnTo>
                  <a:pt x="3898383" y="1459961"/>
                </a:lnTo>
                <a:lnTo>
                  <a:pt x="3896091" y="1460535"/>
                </a:lnTo>
                <a:lnTo>
                  <a:pt x="3893717" y="1460992"/>
                </a:lnTo>
                <a:lnTo>
                  <a:pt x="3891270" y="1461324"/>
                </a:lnTo>
                <a:lnTo>
                  <a:pt x="3888758" y="1461528"/>
                </a:lnTo>
                <a:lnTo>
                  <a:pt x="3886189" y="1461597"/>
                </a:lnTo>
                <a:lnTo>
                  <a:pt x="3883617" y="1461528"/>
                </a:lnTo>
                <a:lnTo>
                  <a:pt x="3881103" y="1461324"/>
                </a:lnTo>
                <a:lnTo>
                  <a:pt x="3878654" y="1460992"/>
                </a:lnTo>
                <a:lnTo>
                  <a:pt x="3876280" y="1460535"/>
                </a:lnTo>
                <a:lnTo>
                  <a:pt x="3873988" y="1459961"/>
                </a:lnTo>
                <a:lnTo>
                  <a:pt x="3871786" y="1459273"/>
                </a:lnTo>
                <a:lnTo>
                  <a:pt x="3869682" y="1458477"/>
                </a:lnTo>
                <a:lnTo>
                  <a:pt x="3867684" y="1457580"/>
                </a:lnTo>
                <a:lnTo>
                  <a:pt x="3865800" y="1456585"/>
                </a:lnTo>
                <a:lnTo>
                  <a:pt x="3864039" y="1455499"/>
                </a:lnTo>
                <a:lnTo>
                  <a:pt x="3862406" y="1454326"/>
                </a:lnTo>
                <a:lnTo>
                  <a:pt x="3860912" y="1453073"/>
                </a:lnTo>
                <a:lnTo>
                  <a:pt x="3859564" y="1451744"/>
                </a:lnTo>
                <a:lnTo>
                  <a:pt x="3858370" y="1450346"/>
                </a:lnTo>
                <a:lnTo>
                  <a:pt x="3857337" y="1448882"/>
                </a:lnTo>
                <a:lnTo>
                  <a:pt x="3856475" y="1447359"/>
                </a:lnTo>
                <a:lnTo>
                  <a:pt x="3855790" y="1445782"/>
                </a:lnTo>
                <a:lnTo>
                  <a:pt x="3855291" y="1444156"/>
                </a:lnTo>
                <a:lnTo>
                  <a:pt x="3854986" y="1442487"/>
                </a:lnTo>
                <a:lnTo>
                  <a:pt x="3854882" y="1440780"/>
                </a:lnTo>
                <a:lnTo>
                  <a:pt x="3854986" y="1439073"/>
                </a:lnTo>
                <a:lnTo>
                  <a:pt x="3855291" y="1437404"/>
                </a:lnTo>
                <a:lnTo>
                  <a:pt x="3855790" y="1435778"/>
                </a:lnTo>
                <a:lnTo>
                  <a:pt x="3856475" y="1434201"/>
                </a:lnTo>
                <a:lnTo>
                  <a:pt x="3857337" y="1432678"/>
                </a:lnTo>
                <a:lnTo>
                  <a:pt x="3858370" y="1431215"/>
                </a:lnTo>
                <a:lnTo>
                  <a:pt x="3859564" y="1429816"/>
                </a:lnTo>
                <a:lnTo>
                  <a:pt x="3860912" y="1428487"/>
                </a:lnTo>
                <a:lnTo>
                  <a:pt x="3862406" y="1427234"/>
                </a:lnTo>
                <a:lnTo>
                  <a:pt x="3864039" y="1426061"/>
                </a:lnTo>
                <a:lnTo>
                  <a:pt x="3865800" y="1424975"/>
                </a:lnTo>
                <a:lnTo>
                  <a:pt x="3867684" y="1423981"/>
                </a:lnTo>
                <a:lnTo>
                  <a:pt x="3869682" y="1423083"/>
                </a:lnTo>
                <a:lnTo>
                  <a:pt x="3871786" y="1422287"/>
                </a:lnTo>
                <a:lnTo>
                  <a:pt x="3873988" y="1421600"/>
                </a:lnTo>
                <a:lnTo>
                  <a:pt x="3876280" y="1421025"/>
                </a:lnTo>
                <a:lnTo>
                  <a:pt x="3878654" y="1420569"/>
                </a:lnTo>
                <a:lnTo>
                  <a:pt x="3881103" y="1420236"/>
                </a:lnTo>
                <a:lnTo>
                  <a:pt x="3883617" y="1420033"/>
                </a:lnTo>
                <a:lnTo>
                  <a:pt x="3886189" y="1419964"/>
                </a:lnTo>
                <a:lnTo>
                  <a:pt x="3888758" y="1420033"/>
                </a:lnTo>
                <a:lnTo>
                  <a:pt x="3891270" y="1420236"/>
                </a:lnTo>
                <a:lnTo>
                  <a:pt x="3893717" y="1420569"/>
                </a:lnTo>
                <a:lnTo>
                  <a:pt x="3896091" y="1421025"/>
                </a:lnTo>
                <a:lnTo>
                  <a:pt x="3898383" y="1421600"/>
                </a:lnTo>
                <a:lnTo>
                  <a:pt x="3900586" y="1422287"/>
                </a:lnTo>
                <a:lnTo>
                  <a:pt x="3902691" y="1423083"/>
                </a:lnTo>
                <a:lnTo>
                  <a:pt x="3904691" y="1423981"/>
                </a:lnTo>
                <a:lnTo>
                  <a:pt x="3906577" y="1424975"/>
                </a:lnTo>
                <a:lnTo>
                  <a:pt x="3908342" y="1426061"/>
                </a:lnTo>
                <a:lnTo>
                  <a:pt x="3909977" y="1427234"/>
                </a:lnTo>
                <a:lnTo>
                  <a:pt x="3911474" y="1428487"/>
                </a:lnTo>
                <a:lnTo>
                  <a:pt x="3912825" y="1429816"/>
                </a:lnTo>
                <a:lnTo>
                  <a:pt x="3914022" y="1431215"/>
                </a:lnTo>
                <a:lnTo>
                  <a:pt x="3915057" y="1432678"/>
                </a:lnTo>
                <a:lnTo>
                  <a:pt x="3915922" y="1434201"/>
                </a:lnTo>
                <a:lnTo>
                  <a:pt x="3916609" y="1435778"/>
                </a:lnTo>
                <a:lnTo>
                  <a:pt x="3917109" y="1437404"/>
                </a:lnTo>
                <a:lnTo>
                  <a:pt x="3917416" y="1439073"/>
                </a:lnTo>
                <a:lnTo>
                  <a:pt x="3917519" y="1440780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6" name="published_B_combination_marker_228">
            <a:extLst>
              <a:ext uri="{FF2B5EF4-FFF2-40B4-BE49-F238E27FC236}">
                <a16:creationId xmlns:a16="http://schemas.microsoft.com/office/drawing/2014/main" id="{DAC76743-B3E2-45D7-ADB1-7372CCEF2AA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3370" y="1696354"/>
                </a:moveTo>
                <a:lnTo>
                  <a:pt x="323266" y="1698061"/>
                </a:lnTo>
                <a:lnTo>
                  <a:pt x="322960" y="1699730"/>
                </a:lnTo>
                <a:lnTo>
                  <a:pt x="322459" y="1701356"/>
                </a:lnTo>
                <a:lnTo>
                  <a:pt x="321773" y="1702933"/>
                </a:lnTo>
                <a:lnTo>
                  <a:pt x="320907" y="1704456"/>
                </a:lnTo>
                <a:lnTo>
                  <a:pt x="319872" y="1705920"/>
                </a:lnTo>
                <a:lnTo>
                  <a:pt x="318675" y="1707319"/>
                </a:lnTo>
                <a:lnTo>
                  <a:pt x="317324" y="1708647"/>
                </a:lnTo>
                <a:lnTo>
                  <a:pt x="315827" y="1709901"/>
                </a:lnTo>
                <a:lnTo>
                  <a:pt x="314192" y="1711073"/>
                </a:lnTo>
                <a:lnTo>
                  <a:pt x="312427" y="1712159"/>
                </a:lnTo>
                <a:lnTo>
                  <a:pt x="310541" y="1713154"/>
                </a:lnTo>
                <a:lnTo>
                  <a:pt x="308541" y="1714052"/>
                </a:lnTo>
                <a:lnTo>
                  <a:pt x="306436" y="1714847"/>
                </a:lnTo>
                <a:lnTo>
                  <a:pt x="304233" y="1715535"/>
                </a:lnTo>
                <a:lnTo>
                  <a:pt x="301941" y="1716110"/>
                </a:lnTo>
                <a:lnTo>
                  <a:pt x="299567" y="1716566"/>
                </a:lnTo>
                <a:lnTo>
                  <a:pt x="297120" y="1716898"/>
                </a:lnTo>
                <a:lnTo>
                  <a:pt x="294608" y="1717102"/>
                </a:lnTo>
                <a:lnTo>
                  <a:pt x="292039" y="1717171"/>
                </a:lnTo>
                <a:lnTo>
                  <a:pt x="289467" y="1717102"/>
                </a:lnTo>
                <a:lnTo>
                  <a:pt x="286953" y="1716898"/>
                </a:lnTo>
                <a:lnTo>
                  <a:pt x="284505" y="1716566"/>
                </a:lnTo>
                <a:lnTo>
                  <a:pt x="282131" y="1716110"/>
                </a:lnTo>
                <a:lnTo>
                  <a:pt x="279839" y="1715535"/>
                </a:lnTo>
                <a:lnTo>
                  <a:pt x="277637" y="1714847"/>
                </a:lnTo>
                <a:lnTo>
                  <a:pt x="275533" y="1714052"/>
                </a:lnTo>
                <a:lnTo>
                  <a:pt x="273535" y="1713154"/>
                </a:lnTo>
                <a:lnTo>
                  <a:pt x="271651" y="1712159"/>
                </a:lnTo>
                <a:lnTo>
                  <a:pt x="269890" y="1711073"/>
                </a:lnTo>
                <a:lnTo>
                  <a:pt x="268258" y="1709901"/>
                </a:lnTo>
                <a:lnTo>
                  <a:pt x="266764" y="1708647"/>
                </a:lnTo>
                <a:lnTo>
                  <a:pt x="265415" y="1707319"/>
                </a:lnTo>
                <a:lnTo>
                  <a:pt x="264221" y="1705920"/>
                </a:lnTo>
                <a:lnTo>
                  <a:pt x="263189" y="1704456"/>
                </a:lnTo>
                <a:lnTo>
                  <a:pt x="262326" y="1702933"/>
                </a:lnTo>
                <a:lnTo>
                  <a:pt x="261641" y="1701356"/>
                </a:lnTo>
                <a:lnTo>
                  <a:pt x="261142" y="1699730"/>
                </a:lnTo>
                <a:lnTo>
                  <a:pt x="260837" y="1698061"/>
                </a:lnTo>
                <a:lnTo>
                  <a:pt x="260734" y="1696354"/>
                </a:lnTo>
                <a:lnTo>
                  <a:pt x="260837" y="1694647"/>
                </a:lnTo>
                <a:lnTo>
                  <a:pt x="261142" y="1692978"/>
                </a:lnTo>
                <a:lnTo>
                  <a:pt x="261641" y="1691353"/>
                </a:lnTo>
                <a:lnTo>
                  <a:pt x="262326" y="1689776"/>
                </a:lnTo>
                <a:lnTo>
                  <a:pt x="263189" y="1688253"/>
                </a:lnTo>
                <a:lnTo>
                  <a:pt x="264221" y="1686789"/>
                </a:lnTo>
                <a:lnTo>
                  <a:pt x="265415" y="1685390"/>
                </a:lnTo>
                <a:lnTo>
                  <a:pt x="266764" y="1684061"/>
                </a:lnTo>
                <a:lnTo>
                  <a:pt x="268258" y="1682808"/>
                </a:lnTo>
                <a:lnTo>
                  <a:pt x="269890" y="1681636"/>
                </a:lnTo>
                <a:lnTo>
                  <a:pt x="271651" y="1680549"/>
                </a:lnTo>
                <a:lnTo>
                  <a:pt x="273535" y="1679555"/>
                </a:lnTo>
                <a:lnTo>
                  <a:pt x="275533" y="1678657"/>
                </a:lnTo>
                <a:lnTo>
                  <a:pt x="277637" y="1677862"/>
                </a:lnTo>
                <a:lnTo>
                  <a:pt x="279839" y="1677174"/>
                </a:lnTo>
                <a:lnTo>
                  <a:pt x="282131" y="1676599"/>
                </a:lnTo>
                <a:lnTo>
                  <a:pt x="284505" y="1676143"/>
                </a:lnTo>
                <a:lnTo>
                  <a:pt x="286953" y="1675810"/>
                </a:lnTo>
                <a:lnTo>
                  <a:pt x="289467" y="1675607"/>
                </a:lnTo>
                <a:lnTo>
                  <a:pt x="292039" y="1675538"/>
                </a:lnTo>
                <a:lnTo>
                  <a:pt x="294608" y="1675607"/>
                </a:lnTo>
                <a:lnTo>
                  <a:pt x="297120" y="1675810"/>
                </a:lnTo>
                <a:lnTo>
                  <a:pt x="299567" y="1676143"/>
                </a:lnTo>
                <a:lnTo>
                  <a:pt x="301941" y="1676599"/>
                </a:lnTo>
                <a:lnTo>
                  <a:pt x="304233" y="1677174"/>
                </a:lnTo>
                <a:lnTo>
                  <a:pt x="306436" y="1677862"/>
                </a:lnTo>
                <a:lnTo>
                  <a:pt x="308541" y="1678657"/>
                </a:lnTo>
                <a:lnTo>
                  <a:pt x="310541" y="1679555"/>
                </a:lnTo>
                <a:lnTo>
                  <a:pt x="312427" y="1680549"/>
                </a:lnTo>
                <a:lnTo>
                  <a:pt x="314192" y="1681636"/>
                </a:lnTo>
                <a:lnTo>
                  <a:pt x="315827" y="1682808"/>
                </a:lnTo>
                <a:lnTo>
                  <a:pt x="317324" y="1684061"/>
                </a:lnTo>
                <a:lnTo>
                  <a:pt x="318675" y="1685390"/>
                </a:lnTo>
                <a:lnTo>
                  <a:pt x="319872" y="1686789"/>
                </a:lnTo>
                <a:lnTo>
                  <a:pt x="320907" y="1688253"/>
                </a:lnTo>
                <a:lnTo>
                  <a:pt x="321773" y="1689776"/>
                </a:lnTo>
                <a:lnTo>
                  <a:pt x="322459" y="1691353"/>
                </a:lnTo>
                <a:lnTo>
                  <a:pt x="322960" y="1692978"/>
                </a:lnTo>
                <a:lnTo>
                  <a:pt x="323266" y="1694647"/>
                </a:lnTo>
                <a:lnTo>
                  <a:pt x="323370" y="169635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7" name="published_B_combination_marker_229">
            <a:extLst>
              <a:ext uri="{FF2B5EF4-FFF2-40B4-BE49-F238E27FC236}">
                <a16:creationId xmlns:a16="http://schemas.microsoft.com/office/drawing/2014/main" id="{0053F862-86A3-4D52-BE2B-7A2F45A881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550994"/>
                </a:moveTo>
                <a:lnTo>
                  <a:pt x="691038" y="553061"/>
                </a:lnTo>
                <a:lnTo>
                  <a:pt x="690668" y="555081"/>
                </a:lnTo>
                <a:lnTo>
                  <a:pt x="690063" y="557048"/>
                </a:lnTo>
                <a:lnTo>
                  <a:pt x="689233" y="558957"/>
                </a:lnTo>
                <a:lnTo>
                  <a:pt x="688188" y="560799"/>
                </a:lnTo>
                <a:lnTo>
                  <a:pt x="686937" y="562570"/>
                </a:lnTo>
                <a:lnTo>
                  <a:pt x="685489" y="564262"/>
                </a:lnTo>
                <a:lnTo>
                  <a:pt x="683856" y="565869"/>
                </a:lnTo>
                <a:lnTo>
                  <a:pt x="682045" y="567384"/>
                </a:lnTo>
                <a:lnTo>
                  <a:pt x="680068" y="568801"/>
                </a:lnTo>
                <a:lnTo>
                  <a:pt x="677934" y="570115"/>
                </a:lnTo>
                <a:lnTo>
                  <a:pt x="675651" y="571317"/>
                </a:lnTo>
                <a:lnTo>
                  <a:pt x="673231" y="572402"/>
                </a:lnTo>
                <a:lnTo>
                  <a:pt x="670683" y="573363"/>
                </a:lnTo>
                <a:lnTo>
                  <a:pt x="668016" y="574194"/>
                </a:lnTo>
                <a:lnTo>
                  <a:pt x="665241" y="574889"/>
                </a:lnTo>
                <a:lnTo>
                  <a:pt x="662366" y="575440"/>
                </a:lnTo>
                <a:lnTo>
                  <a:pt x="659402" y="575842"/>
                </a:lnTo>
                <a:lnTo>
                  <a:pt x="656358" y="576088"/>
                </a:lnTo>
                <a:lnTo>
                  <a:pt x="653245" y="576171"/>
                </a:lnTo>
                <a:lnTo>
                  <a:pt x="650134" y="576088"/>
                </a:lnTo>
                <a:lnTo>
                  <a:pt x="647094" y="575842"/>
                </a:lnTo>
                <a:lnTo>
                  <a:pt x="644132" y="575440"/>
                </a:lnTo>
                <a:lnTo>
                  <a:pt x="641260" y="574889"/>
                </a:lnTo>
                <a:lnTo>
                  <a:pt x="638487" y="574194"/>
                </a:lnTo>
                <a:lnTo>
                  <a:pt x="635822" y="573363"/>
                </a:lnTo>
                <a:lnTo>
                  <a:pt x="633276" y="572402"/>
                </a:lnTo>
                <a:lnTo>
                  <a:pt x="630857" y="571317"/>
                </a:lnTo>
                <a:lnTo>
                  <a:pt x="628576" y="570115"/>
                </a:lnTo>
                <a:lnTo>
                  <a:pt x="626443" y="568801"/>
                </a:lnTo>
                <a:lnTo>
                  <a:pt x="624466" y="567384"/>
                </a:lnTo>
                <a:lnTo>
                  <a:pt x="622657" y="565869"/>
                </a:lnTo>
                <a:lnTo>
                  <a:pt x="621024" y="564262"/>
                </a:lnTo>
                <a:lnTo>
                  <a:pt x="619577" y="562570"/>
                </a:lnTo>
                <a:lnTo>
                  <a:pt x="618326" y="560799"/>
                </a:lnTo>
                <a:lnTo>
                  <a:pt x="617280" y="558957"/>
                </a:lnTo>
                <a:lnTo>
                  <a:pt x="616451" y="557048"/>
                </a:lnTo>
                <a:lnTo>
                  <a:pt x="615846" y="555081"/>
                </a:lnTo>
                <a:lnTo>
                  <a:pt x="615476" y="553061"/>
                </a:lnTo>
                <a:lnTo>
                  <a:pt x="615350" y="550994"/>
                </a:lnTo>
                <a:lnTo>
                  <a:pt x="615476" y="548928"/>
                </a:lnTo>
                <a:lnTo>
                  <a:pt x="615846" y="546907"/>
                </a:lnTo>
                <a:lnTo>
                  <a:pt x="616451" y="544939"/>
                </a:lnTo>
                <a:lnTo>
                  <a:pt x="617280" y="543030"/>
                </a:lnTo>
                <a:lnTo>
                  <a:pt x="618326" y="541187"/>
                </a:lnTo>
                <a:lnTo>
                  <a:pt x="619577" y="539415"/>
                </a:lnTo>
                <a:lnTo>
                  <a:pt x="621024" y="537722"/>
                </a:lnTo>
                <a:lnTo>
                  <a:pt x="622657" y="536114"/>
                </a:lnTo>
                <a:lnTo>
                  <a:pt x="624466" y="534597"/>
                </a:lnTo>
                <a:lnTo>
                  <a:pt x="626443" y="533178"/>
                </a:lnTo>
                <a:lnTo>
                  <a:pt x="628576" y="531864"/>
                </a:lnTo>
                <a:lnTo>
                  <a:pt x="630857" y="530661"/>
                </a:lnTo>
                <a:lnTo>
                  <a:pt x="633276" y="529574"/>
                </a:lnTo>
                <a:lnTo>
                  <a:pt x="635822" y="528612"/>
                </a:lnTo>
                <a:lnTo>
                  <a:pt x="638487" y="527780"/>
                </a:lnTo>
                <a:lnTo>
                  <a:pt x="641260" y="527084"/>
                </a:lnTo>
                <a:lnTo>
                  <a:pt x="644132" y="526532"/>
                </a:lnTo>
                <a:lnTo>
                  <a:pt x="647094" y="526130"/>
                </a:lnTo>
                <a:lnTo>
                  <a:pt x="650134" y="525884"/>
                </a:lnTo>
                <a:lnTo>
                  <a:pt x="653245" y="525800"/>
                </a:lnTo>
                <a:lnTo>
                  <a:pt x="656358" y="525884"/>
                </a:lnTo>
                <a:lnTo>
                  <a:pt x="659402" y="526130"/>
                </a:lnTo>
                <a:lnTo>
                  <a:pt x="662366" y="526532"/>
                </a:lnTo>
                <a:lnTo>
                  <a:pt x="665241" y="527084"/>
                </a:lnTo>
                <a:lnTo>
                  <a:pt x="668016" y="527780"/>
                </a:lnTo>
                <a:lnTo>
                  <a:pt x="670683" y="528612"/>
                </a:lnTo>
                <a:lnTo>
                  <a:pt x="673231" y="529574"/>
                </a:lnTo>
                <a:lnTo>
                  <a:pt x="675651" y="530661"/>
                </a:lnTo>
                <a:lnTo>
                  <a:pt x="677934" y="531864"/>
                </a:lnTo>
                <a:lnTo>
                  <a:pt x="680068" y="533178"/>
                </a:lnTo>
                <a:lnTo>
                  <a:pt x="682045" y="534597"/>
                </a:lnTo>
                <a:lnTo>
                  <a:pt x="683856" y="536114"/>
                </a:lnTo>
                <a:lnTo>
                  <a:pt x="685489" y="537722"/>
                </a:lnTo>
                <a:lnTo>
                  <a:pt x="686937" y="539415"/>
                </a:lnTo>
                <a:lnTo>
                  <a:pt x="688188" y="541187"/>
                </a:lnTo>
                <a:lnTo>
                  <a:pt x="689233" y="543030"/>
                </a:lnTo>
                <a:lnTo>
                  <a:pt x="690063" y="544939"/>
                </a:lnTo>
                <a:lnTo>
                  <a:pt x="690668" y="546907"/>
                </a:lnTo>
                <a:lnTo>
                  <a:pt x="691038" y="548928"/>
                </a:lnTo>
                <a:lnTo>
                  <a:pt x="691164" y="55099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8" name="published_B_combination_marker_230">
            <a:extLst>
              <a:ext uri="{FF2B5EF4-FFF2-40B4-BE49-F238E27FC236}">
                <a16:creationId xmlns:a16="http://schemas.microsoft.com/office/drawing/2014/main" id="{7720268B-316D-497A-B455-BE54D513721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676916"/>
                </a:moveTo>
                <a:lnTo>
                  <a:pt x="1152880" y="678982"/>
                </a:lnTo>
                <a:lnTo>
                  <a:pt x="1152510" y="681003"/>
                </a:lnTo>
                <a:lnTo>
                  <a:pt x="1151906" y="682971"/>
                </a:lnTo>
                <a:lnTo>
                  <a:pt x="1151076" y="684880"/>
                </a:lnTo>
                <a:lnTo>
                  <a:pt x="1150030" y="686723"/>
                </a:lnTo>
                <a:lnTo>
                  <a:pt x="1148780" y="688495"/>
                </a:lnTo>
                <a:lnTo>
                  <a:pt x="1147333" y="690188"/>
                </a:lnTo>
                <a:lnTo>
                  <a:pt x="1145700" y="691796"/>
                </a:lnTo>
                <a:lnTo>
                  <a:pt x="1143890" y="693313"/>
                </a:lnTo>
                <a:lnTo>
                  <a:pt x="1141914" y="694731"/>
                </a:lnTo>
                <a:lnTo>
                  <a:pt x="1139780" y="696046"/>
                </a:lnTo>
                <a:lnTo>
                  <a:pt x="1137499" y="697249"/>
                </a:lnTo>
                <a:lnTo>
                  <a:pt x="1135081" y="698336"/>
                </a:lnTo>
                <a:lnTo>
                  <a:pt x="1132534" y="699298"/>
                </a:lnTo>
                <a:lnTo>
                  <a:pt x="1129869" y="700130"/>
                </a:lnTo>
                <a:lnTo>
                  <a:pt x="1127096" y="700825"/>
                </a:lnTo>
                <a:lnTo>
                  <a:pt x="1124224" y="701378"/>
                </a:lnTo>
                <a:lnTo>
                  <a:pt x="1121263" y="701780"/>
                </a:lnTo>
                <a:lnTo>
                  <a:pt x="1118222" y="702026"/>
                </a:lnTo>
                <a:lnTo>
                  <a:pt x="1115112" y="702110"/>
                </a:lnTo>
                <a:lnTo>
                  <a:pt x="1111998" y="702026"/>
                </a:lnTo>
                <a:lnTo>
                  <a:pt x="1108954" y="701780"/>
                </a:lnTo>
                <a:lnTo>
                  <a:pt x="1105990" y="701378"/>
                </a:lnTo>
                <a:lnTo>
                  <a:pt x="1103116" y="700825"/>
                </a:lnTo>
                <a:lnTo>
                  <a:pt x="1100340" y="700130"/>
                </a:lnTo>
                <a:lnTo>
                  <a:pt x="1097673" y="699298"/>
                </a:lnTo>
                <a:lnTo>
                  <a:pt x="1095125" y="698336"/>
                </a:lnTo>
                <a:lnTo>
                  <a:pt x="1092705" y="697249"/>
                </a:lnTo>
                <a:lnTo>
                  <a:pt x="1090423" y="696046"/>
                </a:lnTo>
                <a:lnTo>
                  <a:pt x="1088288" y="694731"/>
                </a:lnTo>
                <a:lnTo>
                  <a:pt x="1086311" y="693313"/>
                </a:lnTo>
                <a:lnTo>
                  <a:pt x="1084501" y="691796"/>
                </a:lnTo>
                <a:lnTo>
                  <a:pt x="1082867" y="690188"/>
                </a:lnTo>
                <a:lnTo>
                  <a:pt x="1081420" y="688495"/>
                </a:lnTo>
                <a:lnTo>
                  <a:pt x="1080168" y="686723"/>
                </a:lnTo>
                <a:lnTo>
                  <a:pt x="1079123" y="684880"/>
                </a:lnTo>
                <a:lnTo>
                  <a:pt x="1078293" y="682971"/>
                </a:lnTo>
                <a:lnTo>
                  <a:pt x="1077688" y="681003"/>
                </a:lnTo>
                <a:lnTo>
                  <a:pt x="1077318" y="678982"/>
                </a:lnTo>
                <a:lnTo>
                  <a:pt x="1077193" y="676916"/>
                </a:lnTo>
                <a:lnTo>
                  <a:pt x="1077318" y="674849"/>
                </a:lnTo>
                <a:lnTo>
                  <a:pt x="1077688" y="672829"/>
                </a:lnTo>
                <a:lnTo>
                  <a:pt x="1078293" y="670862"/>
                </a:lnTo>
                <a:lnTo>
                  <a:pt x="1079123" y="668953"/>
                </a:lnTo>
                <a:lnTo>
                  <a:pt x="1080168" y="667111"/>
                </a:lnTo>
                <a:lnTo>
                  <a:pt x="1081420" y="665340"/>
                </a:lnTo>
                <a:lnTo>
                  <a:pt x="1082867" y="663648"/>
                </a:lnTo>
                <a:lnTo>
                  <a:pt x="1084501" y="662041"/>
                </a:lnTo>
                <a:lnTo>
                  <a:pt x="1086311" y="660526"/>
                </a:lnTo>
                <a:lnTo>
                  <a:pt x="1088288" y="659108"/>
                </a:lnTo>
                <a:lnTo>
                  <a:pt x="1090423" y="657795"/>
                </a:lnTo>
                <a:lnTo>
                  <a:pt x="1092705" y="656593"/>
                </a:lnTo>
                <a:lnTo>
                  <a:pt x="1095125" y="655508"/>
                </a:lnTo>
                <a:lnTo>
                  <a:pt x="1097673" y="654547"/>
                </a:lnTo>
                <a:lnTo>
                  <a:pt x="1100340" y="653715"/>
                </a:lnTo>
                <a:lnTo>
                  <a:pt x="1103116" y="653021"/>
                </a:lnTo>
                <a:lnTo>
                  <a:pt x="1105990" y="652470"/>
                </a:lnTo>
                <a:lnTo>
                  <a:pt x="1108954" y="652068"/>
                </a:lnTo>
                <a:lnTo>
                  <a:pt x="1111998" y="651822"/>
                </a:lnTo>
                <a:lnTo>
                  <a:pt x="1115112" y="651739"/>
                </a:lnTo>
                <a:lnTo>
                  <a:pt x="1118222" y="651822"/>
                </a:lnTo>
                <a:lnTo>
                  <a:pt x="1121263" y="652068"/>
                </a:lnTo>
                <a:lnTo>
                  <a:pt x="1124224" y="652470"/>
                </a:lnTo>
                <a:lnTo>
                  <a:pt x="1127096" y="653021"/>
                </a:lnTo>
                <a:lnTo>
                  <a:pt x="1129869" y="653715"/>
                </a:lnTo>
                <a:lnTo>
                  <a:pt x="1132534" y="654547"/>
                </a:lnTo>
                <a:lnTo>
                  <a:pt x="1135081" y="655508"/>
                </a:lnTo>
                <a:lnTo>
                  <a:pt x="1137499" y="656593"/>
                </a:lnTo>
                <a:lnTo>
                  <a:pt x="1139780" y="657795"/>
                </a:lnTo>
                <a:lnTo>
                  <a:pt x="1141914" y="659108"/>
                </a:lnTo>
                <a:lnTo>
                  <a:pt x="1143890" y="660526"/>
                </a:lnTo>
                <a:lnTo>
                  <a:pt x="1145700" y="662041"/>
                </a:lnTo>
                <a:lnTo>
                  <a:pt x="1147333" y="663648"/>
                </a:lnTo>
                <a:lnTo>
                  <a:pt x="1148780" y="665340"/>
                </a:lnTo>
                <a:lnTo>
                  <a:pt x="1150030" y="667111"/>
                </a:lnTo>
                <a:lnTo>
                  <a:pt x="1151076" y="668953"/>
                </a:lnTo>
                <a:lnTo>
                  <a:pt x="1151906" y="670862"/>
                </a:lnTo>
                <a:lnTo>
                  <a:pt x="1152510" y="672829"/>
                </a:lnTo>
                <a:lnTo>
                  <a:pt x="1152880" y="674849"/>
                </a:lnTo>
                <a:lnTo>
                  <a:pt x="1153006" y="6769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9" name="published_B_combination_marker_231">
            <a:extLst>
              <a:ext uri="{FF2B5EF4-FFF2-40B4-BE49-F238E27FC236}">
                <a16:creationId xmlns:a16="http://schemas.microsoft.com/office/drawing/2014/main" id="{818B9244-4816-4D79-84CF-A66E14DD702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593661"/>
                </a:moveTo>
                <a:lnTo>
                  <a:pt x="3462110" y="595728"/>
                </a:lnTo>
                <a:lnTo>
                  <a:pt x="3461740" y="597749"/>
                </a:lnTo>
                <a:lnTo>
                  <a:pt x="3461135" y="599717"/>
                </a:lnTo>
                <a:lnTo>
                  <a:pt x="3460305" y="601626"/>
                </a:lnTo>
                <a:lnTo>
                  <a:pt x="3459259" y="603469"/>
                </a:lnTo>
                <a:lnTo>
                  <a:pt x="3458008" y="605241"/>
                </a:lnTo>
                <a:lnTo>
                  <a:pt x="3456561" y="606934"/>
                </a:lnTo>
                <a:lnTo>
                  <a:pt x="3454927" y="608542"/>
                </a:lnTo>
                <a:lnTo>
                  <a:pt x="3453117" y="610058"/>
                </a:lnTo>
                <a:lnTo>
                  <a:pt x="3451140" y="611477"/>
                </a:lnTo>
                <a:lnTo>
                  <a:pt x="3449005" y="612791"/>
                </a:lnTo>
                <a:lnTo>
                  <a:pt x="3446723" y="613995"/>
                </a:lnTo>
                <a:lnTo>
                  <a:pt x="3444303" y="615081"/>
                </a:lnTo>
                <a:lnTo>
                  <a:pt x="3441755" y="616044"/>
                </a:lnTo>
                <a:lnTo>
                  <a:pt x="3439088" y="616876"/>
                </a:lnTo>
                <a:lnTo>
                  <a:pt x="3436313" y="617571"/>
                </a:lnTo>
                <a:lnTo>
                  <a:pt x="3433438" y="618123"/>
                </a:lnTo>
                <a:lnTo>
                  <a:pt x="3430474" y="618526"/>
                </a:lnTo>
                <a:lnTo>
                  <a:pt x="3427430" y="618772"/>
                </a:lnTo>
                <a:lnTo>
                  <a:pt x="3424316" y="618855"/>
                </a:lnTo>
                <a:lnTo>
                  <a:pt x="3421206" y="618772"/>
                </a:lnTo>
                <a:lnTo>
                  <a:pt x="3418165" y="618526"/>
                </a:lnTo>
                <a:lnTo>
                  <a:pt x="3415204" y="618123"/>
                </a:lnTo>
                <a:lnTo>
                  <a:pt x="3412332" y="617571"/>
                </a:lnTo>
                <a:lnTo>
                  <a:pt x="3409559" y="616876"/>
                </a:lnTo>
                <a:lnTo>
                  <a:pt x="3406894" y="616044"/>
                </a:lnTo>
                <a:lnTo>
                  <a:pt x="3404347" y="615081"/>
                </a:lnTo>
                <a:lnTo>
                  <a:pt x="3401929" y="613995"/>
                </a:lnTo>
                <a:lnTo>
                  <a:pt x="3399648" y="612791"/>
                </a:lnTo>
                <a:lnTo>
                  <a:pt x="3397514" y="611477"/>
                </a:lnTo>
                <a:lnTo>
                  <a:pt x="3395538" y="610058"/>
                </a:lnTo>
                <a:lnTo>
                  <a:pt x="3393728" y="608542"/>
                </a:lnTo>
                <a:lnTo>
                  <a:pt x="3392095" y="606934"/>
                </a:lnTo>
                <a:lnTo>
                  <a:pt x="3390648" y="605241"/>
                </a:lnTo>
                <a:lnTo>
                  <a:pt x="3389397" y="603469"/>
                </a:lnTo>
                <a:lnTo>
                  <a:pt x="3388352" y="601626"/>
                </a:lnTo>
                <a:lnTo>
                  <a:pt x="3387522" y="599717"/>
                </a:lnTo>
                <a:lnTo>
                  <a:pt x="3386917" y="597749"/>
                </a:lnTo>
                <a:lnTo>
                  <a:pt x="3386547" y="595728"/>
                </a:lnTo>
                <a:lnTo>
                  <a:pt x="3386422" y="593661"/>
                </a:lnTo>
                <a:lnTo>
                  <a:pt x="3386547" y="591595"/>
                </a:lnTo>
                <a:lnTo>
                  <a:pt x="3386917" y="589574"/>
                </a:lnTo>
                <a:lnTo>
                  <a:pt x="3387522" y="587606"/>
                </a:lnTo>
                <a:lnTo>
                  <a:pt x="3388352" y="585697"/>
                </a:lnTo>
                <a:lnTo>
                  <a:pt x="3389397" y="583854"/>
                </a:lnTo>
                <a:lnTo>
                  <a:pt x="3390648" y="582082"/>
                </a:lnTo>
                <a:lnTo>
                  <a:pt x="3392095" y="580389"/>
                </a:lnTo>
                <a:lnTo>
                  <a:pt x="3393728" y="578781"/>
                </a:lnTo>
                <a:lnTo>
                  <a:pt x="3395538" y="577265"/>
                </a:lnTo>
                <a:lnTo>
                  <a:pt x="3397514" y="575846"/>
                </a:lnTo>
                <a:lnTo>
                  <a:pt x="3399648" y="574531"/>
                </a:lnTo>
                <a:lnTo>
                  <a:pt x="3401929" y="573328"/>
                </a:lnTo>
                <a:lnTo>
                  <a:pt x="3404347" y="572242"/>
                </a:lnTo>
                <a:lnTo>
                  <a:pt x="3406894" y="571279"/>
                </a:lnTo>
                <a:lnTo>
                  <a:pt x="3409559" y="570447"/>
                </a:lnTo>
                <a:lnTo>
                  <a:pt x="3412332" y="569752"/>
                </a:lnTo>
                <a:lnTo>
                  <a:pt x="3415204" y="569200"/>
                </a:lnTo>
                <a:lnTo>
                  <a:pt x="3418165" y="568797"/>
                </a:lnTo>
                <a:lnTo>
                  <a:pt x="3421206" y="568551"/>
                </a:lnTo>
                <a:lnTo>
                  <a:pt x="3424316" y="568468"/>
                </a:lnTo>
                <a:lnTo>
                  <a:pt x="3427430" y="568551"/>
                </a:lnTo>
                <a:lnTo>
                  <a:pt x="3430474" y="568797"/>
                </a:lnTo>
                <a:lnTo>
                  <a:pt x="3433438" y="569200"/>
                </a:lnTo>
                <a:lnTo>
                  <a:pt x="3436313" y="569752"/>
                </a:lnTo>
                <a:lnTo>
                  <a:pt x="3439088" y="570447"/>
                </a:lnTo>
                <a:lnTo>
                  <a:pt x="3441755" y="571279"/>
                </a:lnTo>
                <a:lnTo>
                  <a:pt x="3444303" y="572242"/>
                </a:lnTo>
                <a:lnTo>
                  <a:pt x="3446723" y="573328"/>
                </a:lnTo>
                <a:lnTo>
                  <a:pt x="3449005" y="574531"/>
                </a:lnTo>
                <a:lnTo>
                  <a:pt x="3451140" y="575846"/>
                </a:lnTo>
                <a:lnTo>
                  <a:pt x="3453117" y="577265"/>
                </a:lnTo>
                <a:lnTo>
                  <a:pt x="3454927" y="578781"/>
                </a:lnTo>
                <a:lnTo>
                  <a:pt x="3456561" y="580389"/>
                </a:lnTo>
                <a:lnTo>
                  <a:pt x="3458008" y="582082"/>
                </a:lnTo>
                <a:lnTo>
                  <a:pt x="3459259" y="583854"/>
                </a:lnTo>
                <a:lnTo>
                  <a:pt x="3460305" y="585697"/>
                </a:lnTo>
                <a:lnTo>
                  <a:pt x="3461135" y="587606"/>
                </a:lnTo>
                <a:lnTo>
                  <a:pt x="3461740" y="589574"/>
                </a:lnTo>
                <a:lnTo>
                  <a:pt x="3462110" y="591595"/>
                </a:lnTo>
                <a:lnTo>
                  <a:pt x="3462235" y="593661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0" name="published_B_combination_marker_232">
            <a:extLst>
              <a:ext uri="{FF2B5EF4-FFF2-40B4-BE49-F238E27FC236}">
                <a16:creationId xmlns:a16="http://schemas.microsoft.com/office/drawing/2014/main" id="{570DC5B6-F560-43C0-AEB1-F59FFB4F05D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594702"/>
                </a:moveTo>
                <a:lnTo>
                  <a:pt x="2076575" y="596768"/>
                </a:lnTo>
                <a:lnTo>
                  <a:pt x="2076205" y="598789"/>
                </a:lnTo>
                <a:lnTo>
                  <a:pt x="2075600" y="600757"/>
                </a:lnTo>
                <a:lnTo>
                  <a:pt x="2074770" y="602666"/>
                </a:lnTo>
                <a:lnTo>
                  <a:pt x="2073725" y="604509"/>
                </a:lnTo>
                <a:lnTo>
                  <a:pt x="2072473" y="606281"/>
                </a:lnTo>
                <a:lnTo>
                  <a:pt x="2071026" y="607974"/>
                </a:lnTo>
                <a:lnTo>
                  <a:pt x="2069393" y="609582"/>
                </a:lnTo>
                <a:lnTo>
                  <a:pt x="2067582" y="611098"/>
                </a:lnTo>
                <a:lnTo>
                  <a:pt x="2065605" y="612517"/>
                </a:lnTo>
                <a:lnTo>
                  <a:pt x="2063471" y="613832"/>
                </a:lnTo>
                <a:lnTo>
                  <a:pt x="2061188" y="615035"/>
                </a:lnTo>
                <a:lnTo>
                  <a:pt x="2058768" y="616121"/>
                </a:lnTo>
                <a:lnTo>
                  <a:pt x="2056220" y="617084"/>
                </a:lnTo>
                <a:lnTo>
                  <a:pt x="2053553" y="617916"/>
                </a:lnTo>
                <a:lnTo>
                  <a:pt x="2050778" y="618611"/>
                </a:lnTo>
                <a:lnTo>
                  <a:pt x="2047903" y="619163"/>
                </a:lnTo>
                <a:lnTo>
                  <a:pt x="2044939" y="619566"/>
                </a:lnTo>
                <a:lnTo>
                  <a:pt x="2041895" y="619812"/>
                </a:lnTo>
                <a:lnTo>
                  <a:pt x="2038782" y="619895"/>
                </a:lnTo>
                <a:lnTo>
                  <a:pt x="2035671" y="619812"/>
                </a:lnTo>
                <a:lnTo>
                  <a:pt x="2032631" y="619566"/>
                </a:lnTo>
                <a:lnTo>
                  <a:pt x="2029669" y="619163"/>
                </a:lnTo>
                <a:lnTo>
                  <a:pt x="2026797" y="618611"/>
                </a:lnTo>
                <a:lnTo>
                  <a:pt x="2024024" y="617916"/>
                </a:lnTo>
                <a:lnTo>
                  <a:pt x="2021359" y="617084"/>
                </a:lnTo>
                <a:lnTo>
                  <a:pt x="2018813" y="616121"/>
                </a:lnTo>
                <a:lnTo>
                  <a:pt x="2016394" y="615035"/>
                </a:lnTo>
                <a:lnTo>
                  <a:pt x="2014113" y="613832"/>
                </a:lnTo>
                <a:lnTo>
                  <a:pt x="2011980" y="612517"/>
                </a:lnTo>
                <a:lnTo>
                  <a:pt x="2010003" y="611098"/>
                </a:lnTo>
                <a:lnTo>
                  <a:pt x="2008194" y="609582"/>
                </a:lnTo>
                <a:lnTo>
                  <a:pt x="2006560" y="607974"/>
                </a:lnTo>
                <a:lnTo>
                  <a:pt x="2005114" y="606281"/>
                </a:lnTo>
                <a:lnTo>
                  <a:pt x="2003863" y="604509"/>
                </a:lnTo>
                <a:lnTo>
                  <a:pt x="2002817" y="602666"/>
                </a:lnTo>
                <a:lnTo>
                  <a:pt x="2001988" y="600757"/>
                </a:lnTo>
                <a:lnTo>
                  <a:pt x="2001383" y="598789"/>
                </a:lnTo>
                <a:lnTo>
                  <a:pt x="2001013" y="596768"/>
                </a:lnTo>
                <a:lnTo>
                  <a:pt x="2000887" y="594702"/>
                </a:lnTo>
                <a:lnTo>
                  <a:pt x="2001013" y="592635"/>
                </a:lnTo>
                <a:lnTo>
                  <a:pt x="2001383" y="590614"/>
                </a:lnTo>
                <a:lnTo>
                  <a:pt x="2001988" y="588646"/>
                </a:lnTo>
                <a:lnTo>
                  <a:pt x="2002817" y="586737"/>
                </a:lnTo>
                <a:lnTo>
                  <a:pt x="2003863" y="584894"/>
                </a:lnTo>
                <a:lnTo>
                  <a:pt x="2005114" y="583122"/>
                </a:lnTo>
                <a:lnTo>
                  <a:pt x="2006560" y="581429"/>
                </a:lnTo>
                <a:lnTo>
                  <a:pt x="2008194" y="579821"/>
                </a:lnTo>
                <a:lnTo>
                  <a:pt x="2010003" y="578305"/>
                </a:lnTo>
                <a:lnTo>
                  <a:pt x="2011980" y="576886"/>
                </a:lnTo>
                <a:lnTo>
                  <a:pt x="2014113" y="575571"/>
                </a:lnTo>
                <a:lnTo>
                  <a:pt x="2016394" y="574368"/>
                </a:lnTo>
                <a:lnTo>
                  <a:pt x="2018813" y="573282"/>
                </a:lnTo>
                <a:lnTo>
                  <a:pt x="2021359" y="572319"/>
                </a:lnTo>
                <a:lnTo>
                  <a:pt x="2024024" y="571487"/>
                </a:lnTo>
                <a:lnTo>
                  <a:pt x="2026797" y="570792"/>
                </a:lnTo>
                <a:lnTo>
                  <a:pt x="2029669" y="570240"/>
                </a:lnTo>
                <a:lnTo>
                  <a:pt x="2032631" y="569837"/>
                </a:lnTo>
                <a:lnTo>
                  <a:pt x="2035671" y="569591"/>
                </a:lnTo>
                <a:lnTo>
                  <a:pt x="2038782" y="569508"/>
                </a:lnTo>
                <a:lnTo>
                  <a:pt x="2041895" y="569591"/>
                </a:lnTo>
                <a:lnTo>
                  <a:pt x="2044939" y="569837"/>
                </a:lnTo>
                <a:lnTo>
                  <a:pt x="2047903" y="570240"/>
                </a:lnTo>
                <a:lnTo>
                  <a:pt x="2050778" y="570792"/>
                </a:lnTo>
                <a:lnTo>
                  <a:pt x="2053553" y="571487"/>
                </a:lnTo>
                <a:lnTo>
                  <a:pt x="2056220" y="572319"/>
                </a:lnTo>
                <a:lnTo>
                  <a:pt x="2058768" y="573282"/>
                </a:lnTo>
                <a:lnTo>
                  <a:pt x="2061188" y="574368"/>
                </a:lnTo>
                <a:lnTo>
                  <a:pt x="2063471" y="575571"/>
                </a:lnTo>
                <a:lnTo>
                  <a:pt x="2065605" y="576886"/>
                </a:lnTo>
                <a:lnTo>
                  <a:pt x="2067582" y="578305"/>
                </a:lnTo>
                <a:lnTo>
                  <a:pt x="2069393" y="579821"/>
                </a:lnTo>
                <a:lnTo>
                  <a:pt x="2071026" y="581429"/>
                </a:lnTo>
                <a:lnTo>
                  <a:pt x="2072473" y="583122"/>
                </a:lnTo>
                <a:lnTo>
                  <a:pt x="2073725" y="584894"/>
                </a:lnTo>
                <a:lnTo>
                  <a:pt x="2074770" y="586737"/>
                </a:lnTo>
                <a:lnTo>
                  <a:pt x="2075600" y="588646"/>
                </a:lnTo>
                <a:lnTo>
                  <a:pt x="2076205" y="590614"/>
                </a:lnTo>
                <a:lnTo>
                  <a:pt x="2076575" y="592635"/>
                </a:lnTo>
                <a:lnTo>
                  <a:pt x="2076700" y="594702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5" name="withdrawal">
            <a:extLst>
              <a:ext uri="{FF2B5EF4-FFF2-40B4-BE49-F238E27FC236}">
                <a16:creationId xmlns:a16="http://schemas.microsoft.com/office/drawing/2014/main" id="{5CD40ABB-CE95-438F-AD0D-BFC9FBF339A6}"/>
              </a:ext>
            </a:extLst>
          </p:cNvPr>
          <p:cNvSpPr>
            <a:spLocks noGrp="1"/>
          </p:cNvSpPr>
          <p:nvPr/>
        </p:nvSpPr>
        <p:spPr>
          <a:xfrm>
            <a:off x="457200" y="56134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Как читать графики: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день 0: исходный уровень; день 180: препараты отменили; день 210: 30 дней после отмены.</a:t>
            </a:r>
          </a:p>
        </p:txBody>
      </p:sp>
      <p:sp>
        <p:nvSpPr>
          <p:cNvPr id="276" name="safety">
            <a:extLst>
              <a:ext uri="{FF2B5EF4-FFF2-40B4-BE49-F238E27FC236}">
                <a16:creationId xmlns:a16="http://schemas.microsoft.com/office/drawing/2014/main" id="{1ECA04EE-3F19-4C2B-860A-E14C8D9CDC88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(комбинация 15,1%, финеренон 18,8%, эмпаглифлозин 9,7%); комбинация и финеренон статистически значимо не различались (p=0,85).</a:t>
            </a:r>
          </a:p>
        </p:txBody>
      </p:sp>
      <p:sp>
        <p:nvSpPr>
          <p:cNvPr id="277" name="surrogate">
            <a:extLst>
              <a:ext uri="{FF2B5EF4-FFF2-40B4-BE49-F238E27FC236}">
                <a16:creationId xmlns:a16="http://schemas.microsoft.com/office/drawing/2014/main" id="{2305A115-1DCC-441B-8E2B-F8689157C88E}"/>
              </a:ext>
            </a:extLst>
          </p:cNvPr>
          <p:cNvSpPr>
            <a:spLocks noGrp="1"/>
          </p:cNvSpPr>
          <p:nvPr/>
        </p:nvSpPr>
        <p:spPr>
          <a:xfrm>
            <a:off x="457200" y="6045200"/>
            <a:ext cx="11277600" cy="215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суррогатная конечная точка (изменение альбуминурии за 180 дней); почечную недостаточность и сердечно-сосудистые события не оценивали.</a:t>
            </a:r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II. Гиперкалиемия: калий &gt;5,5 ммоль/л.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N Engl J Med. 2025;393:533–543. Agarwal R, et al. J Am Coll Cardiol. 2026;87:772–784.</a:t>
            </a:r>
          </a:p>
        </p:txBody>
      </p:sp>
      <p:pic>
        <p:nvPicPr>
          <p:cNvPr id="543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ain_title">
            <a:extLst xmlns:a="http://schemas.openxmlformats.org/drawingml/2006/main"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ADA 2026: рекомендации по финеренону при диабете 2 типа и ХБП</a:t>
            </a:r>
          </a:p>
        </p:txBody>
      </p:sp>
      <p:sp xmlns:a="http://schemas.openxmlformats.org/drawingml/2006/main">
        <p:nvSpPr>
          <p:cNvPr id="17" name="Контекст"/>
          <p:cNvSpPr txBox="1"/>
          <p:nvPr/>
        </p:nvSpPr>
        <p:spPr>
          <a:xfrm>
            <a:off x="457200" y="965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Американская диабетическая ассоциация, 2026. Сахарный диабет 2 типа, ХБП и альбуминурия.</a:t>
            </a:r>
          </a:p>
        </p:txBody>
      </p:sp>
      <p:sp xmlns:a="http://schemas.openxmlformats.org/drawingml/2006/main">
        <p:nvSpPr>
          <p:cNvPr id="18" name="Полоса_36"/>
          <p:cNvSpPr/>
          <p:nvPr/>
        </p:nvSpPr>
        <p:spPr>
          <a:xfrm>
            <a:off x="4572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11.8, уровень доказательств A</a:t>
            </a:r>
          </a:p>
        </p:txBody>
      </p:sp>
      <p:sp xmlns:a="http://schemas.openxmlformats.org/drawingml/2006/main">
        <p:nvSpPr>
          <p:cNvPr id="19" name="Карточка_36"/>
          <p:cNvSpPr/>
          <p:nvPr/>
        </p:nvSpPr>
        <p:spPr>
          <a:xfrm>
            <a:off x="4572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Текст_36"/>
          <p:cNvSpPr txBox="1"/>
          <p:nvPr/>
        </p:nvSpPr>
        <p:spPr>
          <a:xfrm>
            <a:off x="6858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ХБП с альбуминурией ADA рекомендует нестероидный антагонист минералокортикоидного рецептора с доказанной в исследованиях эффективностью (финеренон) для снижения риска прогрессирования ХБП и сердечно-сосудистых событий.</a:t>
            </a:r>
          </a:p>
        </p:txBody>
      </p:sp>
      <p:cxnSp xmlns:a="http://schemas.openxmlformats.org/drawingml/2006/main">
        <p:nvCxnSpPr>
          <p:cNvPr id="21" name="Разделитель_36"/>
          <p:cNvCxnSpPr/>
          <p:nvPr/>
        </p:nvCxnSpPr>
        <p:spPr>
          <a:xfrm>
            <a:off x="6858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2" name="Условие_36"/>
          <p:cNvSpPr txBox="1"/>
          <p:nvPr/>
        </p:nvSpPr>
        <p:spPr>
          <a:xfrm>
            <a:off x="6858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Условие: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рСКФ ≥25 мл/мин/1,73 м²; после начала лечения контролируют калий.</a:t>
            </a:r>
          </a:p>
        </p:txBody>
      </p:sp>
      <p:sp xmlns:a="http://schemas.openxmlformats.org/drawingml/2006/main">
        <p:nvSpPr>
          <p:cNvPr id="23" name="Полоса_492"/>
          <p:cNvSpPr/>
          <p:nvPr/>
        </p:nvSpPr>
        <p:spPr>
          <a:xfrm>
            <a:off x="62484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11.9, уровень доказательств B</a:t>
            </a:r>
          </a:p>
        </p:txBody>
      </p:sp>
      <p:sp xmlns:a="http://schemas.openxmlformats.org/drawingml/2006/main">
        <p:nvSpPr>
          <p:cNvPr id="24" name="Карточка_492"/>
          <p:cNvSpPr/>
          <p:nvPr/>
        </p:nvSpPr>
        <p:spPr>
          <a:xfrm>
            <a:off x="62484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5" name="Текст_492"/>
          <p:cNvSpPr txBox="1"/>
          <p:nvPr/>
        </p:nvSpPr>
        <p:spPr>
          <a:xfrm>
            <a:off x="64770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Одновременное начало финеренона и ингибитора НГЛТ2 можно рассмотреть у взрослых с диабетом 2 типа при АКО ≥100 мг/г и рСКФ 30–90 мл/мин/1,73 м² на фоне ингибитора АПФ или БРА.</a:t>
            </a:r>
          </a:p>
        </p:txBody>
      </p:sp>
      <p:cxnSp xmlns:a="http://schemas.openxmlformats.org/drawingml/2006/main">
        <p:nvCxnSpPr>
          <p:cNvPr id="26" name="Разделитель_492"/>
          <p:cNvCxnSpPr/>
          <p:nvPr/>
        </p:nvCxnSpPr>
        <p:spPr>
          <a:xfrm>
            <a:off x="64770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7" name="Условие_492"/>
          <p:cNvSpPr txBox="1"/>
          <p:nvPr/>
        </p:nvSpPr>
        <p:spPr>
          <a:xfrm>
            <a:off x="64770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Основание: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снижение альбуминурии в исследовании CONFIDENCE. Влияние на клинические исходы не установлено.</a:t>
            </a:r>
          </a:p>
        </p:txBody>
      </p:sp>
      <p:sp xmlns:a="http://schemas.openxmlformats.org/drawingml/2006/main">
        <p:nvSpPr>
          <p:cNvPr id="28" name="Местная_инструкция_фон"/>
          <p:cNvSpPr/>
          <p:nvPr/>
        </p:nvSpPr>
        <p:spPr>
          <a:xfrm>
            <a:off x="457200" y="4546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9" name="Местная_инструкция"/>
          <p:cNvSpPr txBox="1"/>
          <p:nvPr/>
        </p:nvSpPr>
        <p:spPr>
          <a:xfrm>
            <a:off x="685800" y="4546600"/>
            <a:ext cx="108204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 Зарубежные рекомендации не расширяют это показание. Пороги калия и рСКФ для начала лечения: слайд 32.</a:t>
            </a:r>
          </a:p>
        </p:txBody>
      </p:sp>
      <p:sp xmlns:a="http://schemas.openxmlformats.org/drawingml/2006/main">
        <p:nvSpPr>
          <p:cNvPr id="3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ХБП: хроническая болезнь почек; ADA: Американская диабетическая ассоциация.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American Diabetes Association Professional Practice Committee. Standards of Care in Diabetes-2026. Diabetes Care. 2026;49(Suppl 1):S246–S260.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234705"/>
      </p:ext>
    </p:extLst>
  </p:cSld>
</p:sld>
</file>

<file path=ppt/slides/slide2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Title">
            <a:extLst xmlns:a="http://schemas.openxmlformats.org/drawingml/2006/main"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Можно ли заменить ингибитор НГЛТ2 финереноном?</a:t>
            </a:r>
          </a:p>
        </p:txBody>
      </p:sp>
      <p:sp xmlns:a="http://schemas.openxmlformats.org/drawingml/2006/main">
        <p:nvSpPr>
          <p:cNvPr id="14" name="Прямой ответ"/>
          <p:cNvSpPr txBox="1"/>
          <p:nvPr/>
        </p:nvSpPr>
        <p:spPr>
          <a:xfrm>
            <a:off x="457200" y="9144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Нет.</a:t>
            </a:r>
            <a:r>
              <a:rPr sz="1800" b="0">
                <a:solidFill>
                  <a:srgbClr val="7030A0"/>
                </a:solidFill>
                <a:latin typeface="Arial Narrow"/>
                <a:cs typeface="Arial Narrow"/>
              </a:rPr>
              <a:t> У препаратов разные мишени, они не заменяют друг друга. Назначение финеренона не требует отмены ингибитора НГЛТ2.</a:t>
            </a:r>
          </a:p>
        </p:txBody>
      </p:sp>
      <p:sp xmlns:a="http://schemas.openxmlformats.org/drawingml/2006/main">
        <p:nvSpPr>
          <p:cNvPr id="15" name="Ветка_36"/>
          <p:cNvSpPr/>
          <p:nvPr/>
        </p:nvSpPr>
        <p:spPr>
          <a:xfrm>
            <a:off x="4572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показан и переносится</a:t>
            </a:r>
          </a:p>
        </p:txBody>
      </p:sp>
      <p:sp xmlns:a="http://schemas.openxmlformats.org/drawingml/2006/main">
        <p:nvSpPr>
          <p:cNvPr id="16" name="Ветка_текст_фон_36"/>
          <p:cNvSpPr/>
          <p:nvPr/>
        </p:nvSpPr>
        <p:spPr>
          <a:xfrm>
            <a:off x="4572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7" name="Решение_36"/>
          <p:cNvSpPr txBox="1"/>
          <p:nvPr/>
        </p:nvSpPr>
        <p:spPr>
          <a:xfrm>
            <a:off x="6858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если есть показания, может добавить финеренон к текущей терапии.</a:t>
            </a:r>
          </a:p>
        </p:txBody>
      </p:sp>
      <p:sp xmlns:a="http://schemas.openxmlformats.org/drawingml/2006/main">
        <p:nvSpPr>
          <p:cNvPr id="18" name="Ветка_492"/>
          <p:cNvSpPr/>
          <p:nvPr/>
        </p:nvSpPr>
        <p:spPr>
          <a:xfrm>
            <a:off x="62484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не переносится или противопоказан</a:t>
            </a:r>
          </a:p>
        </p:txBody>
      </p:sp>
      <p:sp xmlns:a="http://schemas.openxmlformats.org/drawingml/2006/main">
        <p:nvSpPr>
          <p:cNvPr id="19" name="Ветка_текст_фон_492"/>
          <p:cNvSpPr/>
          <p:nvPr/>
        </p:nvSpPr>
        <p:spPr>
          <a:xfrm>
            <a:off x="62484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Решение_492"/>
          <p:cNvSpPr txBox="1"/>
          <p:nvPr/>
        </p:nvSpPr>
        <p:spPr>
          <a:xfrm>
            <a:off x="64770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может назначить финеренон на фоне ингибитора АПФ или БРА, проверив противопоказания, калий и рСКФ.</a:t>
            </a:r>
          </a:p>
        </p:txBody>
      </p:sp>
      <p:sp xmlns:a="http://schemas.openxmlformats.org/drawingml/2006/main">
        <p:nvSpPr>
          <p:cNvPr id="21" name="Схема_заголовок"/>
          <p:cNvSpPr txBox="1"/>
          <p:nvPr/>
        </p:nvSpPr>
        <p:spPr>
          <a:xfrm>
            <a:off x="457200" y="3175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KDIGO: препараты для защиты почек добавляют к базовой терапии</a:t>
            </a:r>
          </a:p>
        </p:txBody>
      </p:sp>
      <p:sp xmlns:a="http://schemas.openxmlformats.org/drawingml/2006/main">
        <p:nvSpPr>
          <p:cNvPr id="22" name="Слой_284"/>
          <p:cNvSpPr/>
          <p:nvPr/>
        </p:nvSpPr>
        <p:spPr>
          <a:xfrm>
            <a:off x="1905000" y="36068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Финеренон: при диабете 2 типа, АКО ≥30 мг/г, рСКФ ≥25 мл/мин/1,73 м² и нормальном калии</a:t>
            </a:r>
          </a:p>
        </p:txBody>
      </p:sp>
      <p:sp xmlns:a="http://schemas.openxmlformats.org/drawingml/2006/main">
        <p:nvSpPr>
          <p:cNvPr id="23" name="Слой_328"/>
          <p:cNvSpPr/>
          <p:nvPr/>
        </p:nvSpPr>
        <p:spPr>
          <a:xfrm>
            <a:off x="1905000" y="41656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НГЛТ2: при рСКФ ≥20 мл/мин/1,73 м²</a:t>
            </a:r>
          </a:p>
        </p:txBody>
      </p:sp>
      <p:sp xmlns:a="http://schemas.openxmlformats.org/drawingml/2006/main">
        <p:nvSpPr>
          <p:cNvPr id="24" name="Слой_372"/>
          <p:cNvSpPr/>
          <p:nvPr/>
        </p:nvSpPr>
        <p:spPr>
          <a:xfrm>
            <a:off x="1905000" y="47244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АПФ или БРА в максимально переносимой дозе при альбуминурии</a:t>
            </a:r>
          </a:p>
        </p:txBody>
      </p:sp>
      <p:sp xmlns:a="http://schemas.openxmlformats.org/drawingml/2006/main">
        <p:nvSpPr>
          <p:cNvPr id="25" name="Стрелка_добавление"/>
          <p:cNvSpPr/>
          <p:nvPr/>
        </p:nvSpPr>
        <p:spPr>
          <a:xfrm>
            <a:off x="1219200" y="3606800"/>
            <a:ext cx="431800" cy="1600200"/>
          </a:xfrm>
          <a:prstGeom prst="upArrow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6" name="Подпись_добавление"/>
          <p:cNvSpPr txBox="1"/>
          <p:nvPr/>
        </p:nvSpPr>
        <p:spPr>
          <a:xfrm>
            <a:off x="10541000" y="3606800"/>
            <a:ext cx="1193800" cy="160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Добавляют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по показаниям</a:t>
            </a:r>
          </a:p>
        </p:txBody>
      </p:sp>
      <p:sp xmlns:a="http://schemas.openxmlformats.org/drawingml/2006/main">
        <p:nvSpPr>
          <p:cNvPr id="27" name="Решение_врача"/>
          <p:cNvSpPr txBox="1"/>
          <p:nvPr/>
        </p:nvSpPr>
        <p:spPr>
          <a:xfrm>
            <a:off x="457200" y="56642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 xmlns:a="http://schemas.openxmlformats.org/drawingml/2006/main">
        <p:nvSpPr>
          <p:cNvPr id="28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мочи. Применение препарата сверяют с действующей местной инструкцией;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KDIGO 2022 Clinical Practice Guideline for Diabetes Management in CKD. Kidney Int. 2022;102(5S):S1–S127.</a:t>
            </a:r>
          </a:p>
        </p:txBody>
      </p:sp>
      <p:pic xmlns:a="http://schemas.openxmlformats.org/drawingml/2006/main" xmlns:r="http://schemas.openxmlformats.org/officeDocument/2006/relationships"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30" name="Местная_инструкция_25"/>
          <p:cNvSpPr txBox="1"/>
          <p:nvPr/>
        </p:nvSpPr>
        <p:spPr>
          <a:xfrm>
            <a:off x="457200" y="53086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</a:t>
            </a:r>
          </a:p>
        </p:txBody>
      </p:sp>
    </p:spTree>
    <p:extLst>
      <p:ext uri="{BB962C8B-B14F-4D97-AF65-F5344CB8AC3E}">
        <p14:creationId xmlns:p14="http://schemas.microsoft.com/office/powerpoint/2010/main" val="1785976172"/>
      </p:ext>
    </p:extLst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финеренон"/>
          <p:cNvSpPr/>
          <p:nvPr/>
        </p:nvSpPr>
        <p:spPr>
          <a:xfrm>
            <a:off x="21209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6" name="Карточка_спиронолактон"/>
          <p:cNvSpPr/>
          <p:nvPr/>
        </p:nvSpPr>
        <p:spPr>
          <a:xfrm>
            <a:off x="75438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Финеренон и спиронолактон блокируют один рецептор, но изучены у разных пациентов</a:t>
            </a:r>
          </a:p>
        </p:txBody>
      </p:sp>
      <p:pic>
        <p:nvPicPr>
          <p:cNvPr id="6" name="Picture 5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500" y="1905000"/>
            <a:ext cx="850900" cy="1117600"/>
          </a:xfrm>
          <a:prstGeom prst="rect">
            <a:avLst/>
          </a:prstGeom>
        </p:spPr>
      </p:pic>
      <p:sp>
        <p:nvSpPr>
          <p:cNvPr id="8" name="Text_7"/>
          <p:cNvSpPr txBox="1"/>
          <p:nvPr/>
        </p:nvSpPr>
        <p:spPr>
          <a:xfrm>
            <a:off x="22733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риск почечных и сердечно-сосудистых событий у взрослых с ХБП и диабетом 2 типа.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6962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стероидный антагонист МКР с антиандрогенным действием.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смертность при тяжёлой сердечной недостаточности со сниженной фракцией выброса.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7200" y="4086225"/>
            <a:ext cx="11277600" cy="7334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Выбор препарата: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врач учитывает диагноз, инструкцию и данные исследований в этой группе пациентов. Разная селективность не означает доказанного преимущества по исходам. При лечении любым из двух препаратов контролируют калий.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7200" y="5048250"/>
            <a:ext cx="11277600" cy="7429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Сочетание: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совместное применение финеренона и спиронолактона не рекомендуется.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Прямое сравнение: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крупных исследований с клиническими исходами нет.</a:t>
            </a:r>
          </a:p>
        </p:txBody>
      </p:sp>
      <p:sp>
        <p:nvSpPr>
          <p:cNvPr id="13" name="Полоса_финеренон"/>
          <p:cNvSpPr/>
          <p:nvPr/>
        </p:nvSpPr>
        <p:spPr>
          <a:xfrm>
            <a:off x="21209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14" name="Полоса_спиронолактон"/>
          <p:cNvSpPr/>
          <p:nvPr/>
        </p:nvSpPr>
        <p:spPr>
          <a:xfrm>
            <a:off x="75438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Спиронолактон</a:t>
            </a:r>
          </a:p>
        </p:txBody>
      </p:sp>
      <p:pic>
        <p:nvPicPr>
          <p:cNvPr id="17" name="Почка_финеренон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55" y="1905000"/>
            <a:ext cx="735489" cy="1117600"/>
          </a:xfrm>
          <a:prstGeom prst="rect">
            <a:avLst/>
          </a:prstGeom>
        </p:spPr>
      </p:pic>
      <p:pic>
        <p:nvPicPr>
          <p:cNvPr id="18" name="Сердце_финеренон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25" y="1981200"/>
            <a:ext cx="774949" cy="1016000"/>
          </a:xfrm>
          <a:prstGeom prst="rect">
            <a:avLst/>
          </a:prstGeom>
        </p:spPr>
      </p:pic>
      <p:sp>
        <p:nvSpPr>
          <p:cNvPr id="1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Pitt B, et al. N Engl J Med. 1999;341:709–717.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0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может повышать калий в крови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через блокаду минералокортикоидного рецептора</a:t>
            </a:r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Митохондрия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Кристы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950A5"/>
                </a:solidFill>
                <a:latin typeface="Arial"/>
              </a:defRPr>
            </a:pPr>
            <a:r>
              <a:rPr sz="1400" b="0">
                <a:solidFill>
                  <a:srgbClr val="7950A5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4" name="Финеренон, связанный с рецептором: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81200"/>
            <a:ext cx="15544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8793"/>
                </a:solidFill>
                <a:latin typeface="Arial"/>
              </a:defRPr>
            </a:pPr>
            <a:r>
              <a:rPr sz="1700" b="1">
                <a:solidFill>
                  <a:srgbClr val="008793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950A5"/>
                </a:solidFill>
                <a:latin typeface="Arial"/>
              </a:defRPr>
            </a:pPr>
            <a:r>
              <a:rPr sz="1400" b="1">
                <a:solidFill>
                  <a:srgbClr val="7950A5"/>
                </a:solidFill>
                <a:latin typeface="Arial Narrow"/>
                <a:cs typeface="Arial Narrow"/>
              </a:rPr>
              <a:t>МКР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7950A5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6" name="Натрий"/>
          <p:cNvSpPr txBox="1"/>
          <p:nvPr/>
        </p:nvSpPr>
        <p:spPr>
          <a:xfrm>
            <a:off x="512064" y="3276600"/>
            <a:ext cx="9144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натрия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15875">
            <a:solidFill>
              <a:srgbClr val="088FA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105400"/>
            <a:ext cx="914400" cy="660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15875">
            <a:solidFill>
              <a:srgbClr val="C7742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Натрий-калиевый насос</a:t>
            </a:r>
          </a:p>
        </p:txBody>
      </p:sp>
      <p:sp>
        <p:nvSpPr>
          <p:cNvPr id="257" name="Меньше натрия всасывается через канал: слабее электрическая движущая сила для секреции калия."/>
          <p:cNvSpPr txBox="1"/>
          <p:nvPr/>
        </p:nvSpPr>
        <p:spPr>
          <a:xfrm>
            <a:off x="502920" y="5816600"/>
            <a:ext cx="7013448" cy="52120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канал всасывается меньше натрия, поэтому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слабее электрическая движущая сила для секреции калия.</a:t>
            </a:r>
          </a:p>
        </p:txBody>
      </p:sp>
      <p:sp>
        <p:nvSpPr>
          <p:cNvPr id="258" name="Риск выше"/>
          <p:cNvSpPr txBox="1"/>
          <p:nvPr/>
        </p:nvSpPr>
        <p:spPr>
          <a:xfrm>
            <a:off x="7696200" y="1320800"/>
            <a:ext cx="4038600" cy="2737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7030A0"/>
                </a:solidFill>
                <a:latin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Факторы риска гиперкалиемии</a:t>
            </a:r>
          </a:p>
        </p:txBody>
      </p:sp>
      <p:sp>
        <p:nvSpPr>
          <p:cNvPr id="259" name="Более высокий исходный калий"/>
          <p:cNvSpPr txBox="1"/>
          <p:nvPr/>
        </p:nvSpPr>
        <p:spPr>
          <a:xfrm>
            <a:off x="7696200" y="1645328"/>
            <a:ext cx="4038600" cy="1349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высокий исходный калий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Сниженная функция почек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высокая альбуминурия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Женский пол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Приём β-адреноблокаторов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молодой возраст</a:t>
            </a:r>
          </a:p>
        </p:txBody>
      </p:sp>
      <p:sp>
        <p:nvSpPr>
          <p:cNvPr id="263" name="Связь выявлена в FIDELIO-DKD."/>
          <p:cNvSpPr txBox="1"/>
          <p:nvPr/>
        </p:nvSpPr>
        <p:spPr>
          <a:xfrm>
            <a:off x="7696200" y="3096745"/>
            <a:ext cx="4038600" cy="13774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Факторы выявлены в FIDELIO-DKD. На фоне диуретиков и ингибиторов НГЛТ2 риск был ниже (наблюдение, не рандомизированное сравнение).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 CONFIDENCE добавление эмпаглифлозина статистически значимо не снизило риск гиперкалиемии (p=0,85): калий контролируют так же, как при монотерапии финереноном.</a:t>
            </a:r>
          </a:p>
        </p:txBody>
      </p:sp>
      <p:sp>
        <p:nvSpPr>
          <p:cNvPr id="264" name="Острое заболевание, обезвоживание или лекарства, повышающие калий либо концентрацию финеренона"/>
          <p:cNvSpPr txBox="1"/>
          <p:nvPr/>
        </p:nvSpPr>
        <p:spPr>
          <a:xfrm>
            <a:off x="7696200" y="457575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</a:defRPr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Также повышают риск: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острое заболевание, обезвоживание, лекарства, повышающие калий или концентрацию финеренона (слайды 30 и 31).</a:t>
            </a:r>
          </a:p>
        </p:txBody>
      </p:sp>
      <p:sp>
        <p:nvSpPr>
          <p:cNvPr id="265" name="Калий выше нормы: гиперкалиемия. Нужен контроль калия и функции почек до начала и во время лечения."/>
          <p:cNvSpPr txBox="1"/>
          <p:nvPr/>
        </p:nvSpPr>
        <p:spPr>
          <a:xfrm>
            <a:off x="7696200" y="532357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выше нормы называют гиперкалиемией. Нужен контроль калия и функции почек до начала и во время лечения.</a:t>
            </a:r>
          </a:p>
        </p:txBody>
      </p:sp>
      <p:sp>
        <p:nvSpPr>
          <p:cNvPr id="266" name="Альдостерон_точка"/>
          <p:cNvSpPr/>
          <p:nvPr/>
        </p:nvSpPr>
        <p:spPr>
          <a:xfrm>
            <a:off x="6604000" y="2387600"/>
            <a:ext cx="127000" cy="127000"/>
          </a:xfrm>
          <a:prstGeom prst="ellipse">
            <a:avLst/>
          </a:prstGeom>
          <a:solidFill>
            <a:srgbClr val="C79849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67" name="Метка_альдостерон"/>
          <p:cNvSpPr txBox="1"/>
          <p:nvPr/>
        </p:nvSpPr>
        <p:spPr>
          <a:xfrm>
            <a:off x="6172200" y="21082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cxnSp>
        <p:nvCxnSpPr>
          <p:cNvPr id="268" name="Путь_альдостерона"/>
          <p:cNvCxnSpPr/>
          <p:nvPr/>
        </p:nvCxnSpPr>
        <p:spPr>
          <a:xfrm flipH="1">
            <a:off x="5549900" y="2451100"/>
            <a:ext cx="1028700" cy="25400"/>
          </a:xfrm>
          <a:prstGeom prst="line">
            <a:avLst/>
          </a:prstGeom>
          <a:ln w="15875">
            <a:solidFill>
              <a:srgbClr val="C79849"/>
            </a:solidFill>
          </a:ln>
        </p:spPr>
      </p:cxnSp>
      <p:cxnSp>
        <p:nvCxnSpPr>
          <p:cNvPr id="269" name="Блок_альдостерона"/>
          <p:cNvCxnSpPr/>
          <p:nvPr/>
        </p:nvCxnSpPr>
        <p:spPr>
          <a:xfrm>
            <a:off x="5549900" y="2362200"/>
            <a:ext cx="0" cy="228600"/>
          </a:xfrm>
          <a:prstGeom prst="line">
            <a:avLst/>
          </a:prstGeom>
          <a:ln w="31750">
            <a:solidFill>
              <a:srgbClr val="B5323C"/>
            </a:solidFill>
          </a:ln>
        </p:spPr>
      </p:cxnSp>
      <p:sp>
        <p:nvSpPr>
          <p:cNvPr id="270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J Am Soc Nephrol. 2022;33:225–237. Agarwal R, et al. N Engl J Med. 2025;393:533–543. Sørensen MV, et al. JCI Insight. 2019;4:e126910. Czogalla J, et al. Pflügers Arch. 2016;468:849–858. Kerendia (finerenone). Summary of Product Characteristics. EMA. Agarwal R, et al. J Am Coll Cardiol. 2026;87:772–784.</a:t>
            </a:r>
          </a:p>
        </p:txBody>
      </p:sp>
      <p:pic>
        <p:nvPicPr>
          <p:cNvPr id="27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Сочетания с финереноном: что противопоказано,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что не рекомендуется и когда нужен контроль калия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МКР: минералокортикоидный рецептор; НПВП: нестероидные противовоспалительные препараты.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3" name="Светофор_полоса_1"/>
          <p:cNvSpPr/>
          <p:nvPr/>
        </p:nvSpPr>
        <p:spPr>
          <a:xfrm>
            <a:off x="45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Противопоказано</a:t>
            </a:r>
          </a:p>
        </p:txBody>
      </p:sp>
      <p:sp>
        <p:nvSpPr>
          <p:cNvPr id="24" name="Светофор_фон_1"/>
          <p:cNvSpPr/>
          <p:nvPr/>
        </p:nvSpPr>
        <p:spPr>
          <a:xfrm>
            <a:off x="45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Светофор_текст_1"/>
          <p:cNvSpPr txBox="1"/>
          <p:nvPr/>
        </p:nvSpPr>
        <p:spPr>
          <a:xfrm>
            <a:off x="60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кларитромицин, кетоконазол, итраконазол, ритонавир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концентрация финеренона выше, риск гиперкалиемии повышается.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 назначает вместе с финереноном.</a:t>
            </a:r>
          </a:p>
        </p:txBody>
      </p:sp>
      <p:sp>
        <p:nvSpPr>
          <p:cNvPr id="26" name="Светофор_полоса_2"/>
          <p:cNvSpPr/>
          <p:nvPr/>
        </p:nvSpPr>
        <p:spPr>
          <a:xfrm>
            <a:off x="426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 рекомендуется</a:t>
            </a:r>
          </a:p>
        </p:txBody>
      </p:sp>
      <p:sp>
        <p:nvSpPr>
          <p:cNvPr id="27" name="Светофор_фон_2"/>
          <p:cNvSpPr/>
          <p:nvPr/>
        </p:nvSpPr>
        <p:spPr>
          <a:xfrm>
            <a:off x="426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Светофор_текст_2"/>
          <p:cNvSpPr txBox="1"/>
          <p:nvPr/>
        </p:nvSpPr>
        <p:spPr>
          <a:xfrm>
            <a:off x="441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Другие антагонисты МКР: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спиронолактон, эплеренон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Калийсберегающие диуретики: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амилорид, триамтерен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 умеренные индукторы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рифампицин, карбамазепин, зверобой, эфавиренз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исключают на время лечения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избегает этих сочетаний.</a:t>
            </a:r>
          </a:p>
        </p:txBody>
      </p:sp>
      <p:sp>
        <p:nvSpPr>
          <p:cNvPr id="29" name="Светофор_полоса_3"/>
          <p:cNvSpPr/>
          <p:nvPr/>
        </p:nvSpPr>
        <p:spPr>
          <a:xfrm>
            <a:off x="807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8860B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 контролем калия</a:t>
            </a:r>
          </a:p>
        </p:txBody>
      </p:sp>
      <p:sp>
        <p:nvSpPr>
          <p:cNvPr id="30" name="Светофор_фон_3"/>
          <p:cNvSpPr/>
          <p:nvPr/>
        </p:nvSpPr>
        <p:spPr>
          <a:xfrm>
            <a:off x="807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Светофор_текст_3"/>
          <p:cNvSpPr txBox="1"/>
          <p:nvPr/>
        </p:nvSpPr>
        <p:spPr>
          <a:xfrm>
            <a:off x="822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Препараты калия и калийсодержащие заменители соли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Триметоприм, в том числе в составе ко-тримоксазола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НПВП: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ибупрофен, диклофенак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Умеренные и слабые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эритромицин, верапамил, флувоксамин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оценивает необходимость сочетания, контролирует калий, а при приёме НПВП также функцию почек.</a:t>
            </a:r>
          </a:p>
        </p:txBody>
      </p:sp>
      <p:sp>
        <p:nvSpPr>
          <p:cNvPr id="32" name="Светофор_вывод"/>
          <p:cNvSpPr txBox="1"/>
          <p:nvPr/>
        </p:nvSpPr>
        <p:spPr>
          <a:xfrm>
            <a:off x="457200" y="4934833"/>
            <a:ext cx="11277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Фоновая терапия: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по KDIGO, если есть показания, финеренон добавляют к ингибитору АПФ или БРА в максимально переносимой дозе. Калий и функцию почек продолжают контролировать.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Ингибиторы CYP3A4 повышают концентрацию финеренона,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а индукторы снижают её</a:t>
            </a:r>
          </a:p>
        </p:txBody>
      </p:sp>
      <p:sp>
        <p:nvSpPr>
          <p:cNvPr id="2" name="CYP3A4_enzyme_symbol"/>
          <p:cNvSpPr/>
          <p:nvPr/>
        </p:nvSpPr>
        <p:spPr>
          <a:xfrm>
            <a:off x="4742115" y="1250241"/>
            <a:ext cx="2723835" cy="1084387"/>
          </a:xfrm>
          <a:custGeom>
            <a:avLst/>
            <a:gdLst/>
            <a:ahLst/>
            <a:cxnLst/>
            <a:rect l="l" t="t" r="r" b="b"/>
            <a:pathLst>
              <a:path w="2723835" h="1084387">
                <a:moveTo>
                  <a:pt x="2719023" y="560271"/>
                </a:moveTo>
                <a:lnTo>
                  <a:pt x="2723835" y="595012"/>
                </a:lnTo>
                <a:lnTo>
                  <a:pt x="2720309" y="629853"/>
                </a:lnTo>
                <a:lnTo>
                  <a:pt x="2708543" y="664446"/>
                </a:lnTo>
                <a:lnTo>
                  <a:pt x="2688946" y="698481"/>
                </a:lnTo>
                <a:lnTo>
                  <a:pt x="2662165" y="731705"/>
                </a:lnTo>
                <a:lnTo>
                  <a:pt x="2628994" y="763934"/>
                </a:lnTo>
                <a:lnTo>
                  <a:pt x="2590274" y="795064"/>
                </a:lnTo>
                <a:lnTo>
                  <a:pt x="2546797" y="825048"/>
                </a:lnTo>
                <a:lnTo>
                  <a:pt x="2499226" y="853886"/>
                </a:lnTo>
                <a:lnTo>
                  <a:pt x="2448044" y="881592"/>
                </a:lnTo>
                <a:lnTo>
                  <a:pt x="2393537" y="908164"/>
                </a:lnTo>
                <a:lnTo>
                  <a:pt x="2335809" y="933565"/>
                </a:lnTo>
                <a:lnTo>
                  <a:pt x="2274828" y="957697"/>
                </a:lnTo>
                <a:lnTo>
                  <a:pt x="2210492" y="980399"/>
                </a:lnTo>
                <a:lnTo>
                  <a:pt x="2142705" y="1001453"/>
                </a:lnTo>
                <a:lnTo>
                  <a:pt x="2071448" y="1020595"/>
                </a:lnTo>
                <a:lnTo>
                  <a:pt x="1996839" y="1037553"/>
                </a:lnTo>
                <a:lnTo>
                  <a:pt x="1919165" y="1052071"/>
                </a:lnTo>
                <a:lnTo>
                  <a:pt x="1838884" y="1063947"/>
                </a:lnTo>
                <a:lnTo>
                  <a:pt x="1756601" y="1073068"/>
                </a:lnTo>
                <a:lnTo>
                  <a:pt x="1673014" y="1079424"/>
                </a:lnTo>
                <a:lnTo>
                  <a:pt x="1588839" y="1083125"/>
                </a:lnTo>
                <a:lnTo>
                  <a:pt x="1504734" y="1084387"/>
                </a:lnTo>
                <a:lnTo>
                  <a:pt x="1421223" y="1083518"/>
                </a:lnTo>
                <a:lnTo>
                  <a:pt x="1338645" y="1080884"/>
                </a:lnTo>
                <a:lnTo>
                  <a:pt x="1257116" y="1076863"/>
                </a:lnTo>
                <a:lnTo>
                  <a:pt x="1176543" y="1071802"/>
                </a:lnTo>
                <a:lnTo>
                  <a:pt x="1096656" y="1065975"/>
                </a:lnTo>
                <a:lnTo>
                  <a:pt x="1017078" y="1059546"/>
                </a:lnTo>
                <a:lnTo>
                  <a:pt x="937415" y="1052544"/>
                </a:lnTo>
                <a:lnTo>
                  <a:pt x="857357" y="1044865"/>
                </a:lnTo>
                <a:lnTo>
                  <a:pt x="776771" y="1036274"/>
                </a:lnTo>
                <a:lnTo>
                  <a:pt x="695779" y="1026438"/>
                </a:lnTo>
                <a:lnTo>
                  <a:pt x="614804" y="1014965"/>
                </a:lnTo>
                <a:lnTo>
                  <a:pt x="534584" y="1001453"/>
                </a:lnTo>
                <a:lnTo>
                  <a:pt x="456134" y="985537"/>
                </a:lnTo>
                <a:lnTo>
                  <a:pt x="380680" y="966943"/>
                </a:lnTo>
                <a:lnTo>
                  <a:pt x="309556" y="945516"/>
                </a:lnTo>
                <a:lnTo>
                  <a:pt x="244084" y="921247"/>
                </a:lnTo>
                <a:lnTo>
                  <a:pt x="185451" y="894276"/>
                </a:lnTo>
                <a:lnTo>
                  <a:pt x="134594" y="864883"/>
                </a:lnTo>
                <a:lnTo>
                  <a:pt x="92114" y="833459"/>
                </a:lnTo>
                <a:lnTo>
                  <a:pt x="58225" y="800464"/>
                </a:lnTo>
                <a:lnTo>
                  <a:pt x="32742" y="766389"/>
                </a:lnTo>
                <a:lnTo>
                  <a:pt x="15124" y="731705"/>
                </a:lnTo>
                <a:lnTo>
                  <a:pt x="4545" y="696823"/>
                </a:lnTo>
                <a:lnTo>
                  <a:pt x="0" y="662069"/>
                </a:lnTo>
                <a:lnTo>
                  <a:pt x="429" y="627664"/>
                </a:lnTo>
                <a:lnTo>
                  <a:pt x="4836" y="593724"/>
                </a:lnTo>
                <a:lnTo>
                  <a:pt x="12399" y="560271"/>
                </a:lnTo>
                <a:lnTo>
                  <a:pt x="22552" y="527262"/>
                </a:lnTo>
                <a:lnTo>
                  <a:pt x="35027" y="494619"/>
                </a:lnTo>
                <a:lnTo>
                  <a:pt x="49861" y="462263"/>
                </a:lnTo>
                <a:lnTo>
                  <a:pt x="67356" y="430147"/>
                </a:lnTo>
                <a:lnTo>
                  <a:pt x="88013" y="398278"/>
                </a:lnTo>
                <a:lnTo>
                  <a:pt x="112439" y="366731"/>
                </a:lnTo>
                <a:lnTo>
                  <a:pt x="141248" y="335651"/>
                </a:lnTo>
                <a:lnTo>
                  <a:pt x="174965" y="305240"/>
                </a:lnTo>
                <a:lnTo>
                  <a:pt x="213948" y="275733"/>
                </a:lnTo>
                <a:lnTo>
                  <a:pt x="258339" y="247376"/>
                </a:lnTo>
                <a:lnTo>
                  <a:pt x="308047" y="220389"/>
                </a:lnTo>
                <a:lnTo>
                  <a:pt x="362765" y="194944"/>
                </a:lnTo>
                <a:lnTo>
                  <a:pt x="422016" y="171146"/>
                </a:lnTo>
                <a:lnTo>
                  <a:pt x="485225" y="149022"/>
                </a:lnTo>
                <a:lnTo>
                  <a:pt x="551791" y="128530"/>
                </a:lnTo>
                <a:lnTo>
                  <a:pt x="621166" y="109572"/>
                </a:lnTo>
                <a:lnTo>
                  <a:pt x="692913" y="92025"/>
                </a:lnTo>
                <a:lnTo>
                  <a:pt x="766740" y="75769"/>
                </a:lnTo>
                <a:lnTo>
                  <a:pt x="842509" y="60726"/>
                </a:lnTo>
                <a:lnTo>
                  <a:pt x="920209" y="46886"/>
                </a:lnTo>
                <a:lnTo>
                  <a:pt x="999904" y="34331"/>
                </a:lnTo>
                <a:lnTo>
                  <a:pt x="1081668" y="23245"/>
                </a:lnTo>
                <a:lnTo>
                  <a:pt x="1165504" y="13903"/>
                </a:lnTo>
                <a:lnTo>
                  <a:pt x="1251273" y="6655"/>
                </a:lnTo>
                <a:lnTo>
                  <a:pt x="1338645" y="1892"/>
                </a:lnTo>
                <a:lnTo>
                  <a:pt x="1427066" y="0"/>
                </a:lnTo>
                <a:lnTo>
                  <a:pt x="1515773" y="1319"/>
                </a:lnTo>
                <a:lnTo>
                  <a:pt x="1603827" y="6095"/>
                </a:lnTo>
                <a:lnTo>
                  <a:pt x="1690188" y="14452"/>
                </a:lnTo>
                <a:lnTo>
                  <a:pt x="1773808" y="26362"/>
                </a:lnTo>
                <a:lnTo>
                  <a:pt x="1853732" y="41643"/>
                </a:lnTo>
                <a:lnTo>
                  <a:pt x="1929195" y="59973"/>
                </a:lnTo>
                <a:lnTo>
                  <a:pt x="1999705" y="80910"/>
                </a:lnTo>
                <a:lnTo>
                  <a:pt x="2065086" y="103942"/>
                </a:lnTo>
                <a:lnTo>
                  <a:pt x="2125498" y="128530"/>
                </a:lnTo>
                <a:lnTo>
                  <a:pt x="2181401" y="154160"/>
                </a:lnTo>
                <a:lnTo>
                  <a:pt x="2233492" y="180392"/>
                </a:lnTo>
                <a:lnTo>
                  <a:pt x="2282600" y="206895"/>
                </a:lnTo>
                <a:lnTo>
                  <a:pt x="2329573" y="233471"/>
                </a:lnTo>
                <a:lnTo>
                  <a:pt x="2375156" y="260060"/>
                </a:lnTo>
                <a:lnTo>
                  <a:pt x="2419872" y="286731"/>
                </a:lnTo>
                <a:lnTo>
                  <a:pt x="2463947" y="313650"/>
                </a:lnTo>
                <a:lnTo>
                  <a:pt x="2507251" y="341052"/>
                </a:lnTo>
                <a:lnTo>
                  <a:pt x="2549297" y="369186"/>
                </a:lnTo>
                <a:lnTo>
                  <a:pt x="2589276" y="398278"/>
                </a:lnTo>
                <a:lnTo>
                  <a:pt x="2626135" y="428489"/>
                </a:lnTo>
                <a:lnTo>
                  <a:pt x="2658683" y="459886"/>
                </a:lnTo>
                <a:lnTo>
                  <a:pt x="2685711" y="492431"/>
                </a:lnTo>
                <a:lnTo>
                  <a:pt x="2706119" y="525973"/>
                </a:lnTo>
                <a:close/>
              </a:path>
            </a:pathLst>
          </a:custGeom>
          <a:solidFill>
            <a:srgbClr val="F2F2F2"/>
          </a:solidFill>
          <a:ln w="1651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7" name="Enzyme_label"/>
          <p:cNvSpPr txBox="1"/>
          <p:nvPr/>
        </p:nvSpPr>
        <p:spPr>
          <a:xfrm>
            <a:off x="4873752" y="1472184"/>
            <a:ext cx="2395728" cy="3657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404040"/>
                </a:solidFill>
                <a:latin typeface="Arial Narrow"/>
                <a:cs typeface="Arial Narrow"/>
              </a:rPr>
              <a:t>CYP3A4</a:t>
            </a:r>
          </a:p>
        </p:txBody>
      </p:sp>
      <p:sp>
        <p:nvSpPr>
          <p:cNvPr id="28" name="Enzyme_definition"/>
          <p:cNvSpPr txBox="1"/>
          <p:nvPr/>
        </p:nvSpPr>
        <p:spPr>
          <a:xfrm>
            <a:off x="4910328" y="1847088"/>
            <a:ext cx="2340864" cy="42062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Фермент системы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цитохрома P450</a:t>
            </a:r>
          </a:p>
        </p:txBody>
      </p:sp>
      <p:sp>
        <p:nvSpPr>
          <p:cNvPr id="29" name="Inhibition_label"/>
          <p:cNvSpPr txBox="1"/>
          <p:nvPr/>
        </p:nvSpPr>
        <p:spPr>
          <a:xfrm>
            <a:off x="594360" y="1435608"/>
            <a:ext cx="3054096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cxnSp>
        <p:nvCxnSpPr>
          <p:cNvPr id="30" name="Inhibition_link"/>
          <p:cNvCxnSpPr/>
          <p:nvPr/>
        </p:nvCxnSpPr>
        <p:spPr>
          <a:xfrm>
            <a:off x="2834640" y="1664208"/>
            <a:ext cx="1801368" cy="0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Inhibition_terminal"/>
          <p:cNvCxnSpPr/>
          <p:nvPr/>
        </p:nvCxnSpPr>
        <p:spPr>
          <a:xfrm>
            <a:off x="4636008" y="1508760"/>
            <a:ext cx="0" cy="310896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nhibition_metabolism"/>
          <p:cNvSpPr txBox="1"/>
          <p:nvPr/>
        </p:nvSpPr>
        <p:spPr>
          <a:xfrm>
            <a:off x="594360" y="1929384"/>
            <a:ext cx="3611880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замедляется</a:t>
            </a:r>
          </a:p>
        </p:txBody>
      </p:sp>
      <p:sp>
        <p:nvSpPr>
          <p:cNvPr id="33" name="Concentration_increase"/>
          <p:cNvSpPr/>
          <p:nvPr/>
        </p:nvSpPr>
        <p:spPr>
          <a:xfrm>
            <a:off x="594360" y="2340864"/>
            <a:ext cx="210312" cy="329184"/>
          </a:xfrm>
          <a:prstGeom prst="upArrow">
            <a:avLst/>
          </a:prstGeom>
          <a:solidFill>
            <a:srgbClr val="B8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Inhibition_result"/>
          <p:cNvSpPr txBox="1"/>
          <p:nvPr/>
        </p:nvSpPr>
        <p:spPr>
          <a:xfrm>
            <a:off x="914400" y="2350008"/>
            <a:ext cx="2907792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Концентрация выше</a:t>
            </a:r>
          </a:p>
        </p:txBody>
      </p:sp>
      <p:sp>
        <p:nvSpPr>
          <p:cNvPr id="35" name="Inhibition_clinical_context"/>
          <p:cNvSpPr txBox="1"/>
          <p:nvPr/>
        </p:nvSpPr>
        <p:spPr>
          <a:xfrm>
            <a:off x="594360" y="2779776"/>
            <a:ext cx="321868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повышаться</a:t>
            </a:r>
          </a:p>
        </p:txBody>
      </p:sp>
      <p:sp>
        <p:nvSpPr>
          <p:cNvPr id="36" name="Induction_label"/>
          <p:cNvSpPr txBox="1"/>
          <p:nvPr/>
        </p:nvSpPr>
        <p:spPr>
          <a:xfrm>
            <a:off x="8503920" y="1435608"/>
            <a:ext cx="3154680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cxnSp>
        <p:nvCxnSpPr>
          <p:cNvPr id="37" name="Induction_link"/>
          <p:cNvCxnSpPr/>
          <p:nvPr/>
        </p:nvCxnSpPr>
        <p:spPr>
          <a:xfrm flipH="1">
            <a:off x="7498079" y="1664208"/>
            <a:ext cx="822961" cy="0"/>
          </a:xfrm>
          <a:prstGeom prst="line">
            <a:avLst/>
          </a:prstGeom>
          <a:ln w="27305">
            <a:solidFill>
              <a:srgbClr val="226C8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Induction_metabolism"/>
          <p:cNvSpPr txBox="1"/>
          <p:nvPr/>
        </p:nvSpPr>
        <p:spPr>
          <a:xfrm>
            <a:off x="8375904" y="1929384"/>
            <a:ext cx="3319272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ускоряется</a:t>
            </a:r>
          </a:p>
        </p:txBody>
      </p:sp>
      <p:sp>
        <p:nvSpPr>
          <p:cNvPr id="39" name="Concentration_decrease"/>
          <p:cNvSpPr/>
          <p:nvPr/>
        </p:nvSpPr>
        <p:spPr>
          <a:xfrm>
            <a:off x="8375904" y="2340864"/>
            <a:ext cx="210312" cy="329184"/>
          </a:xfrm>
          <a:prstGeom prst="downArrow">
            <a:avLst/>
          </a:prstGeom>
          <a:solidFill>
            <a:srgbClr val="226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Induction_result"/>
          <p:cNvSpPr txBox="1"/>
          <p:nvPr/>
        </p:nvSpPr>
        <p:spPr>
          <a:xfrm>
            <a:off x="8695944" y="2350008"/>
            <a:ext cx="2990088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Концентрация ниже</a:t>
            </a:r>
          </a:p>
        </p:txBody>
      </p:sp>
      <p:sp>
        <p:nvSpPr>
          <p:cNvPr id="41" name="Induction_clinical_context"/>
          <p:cNvSpPr txBox="1"/>
          <p:nvPr/>
        </p:nvSpPr>
        <p:spPr>
          <a:xfrm>
            <a:off x="8375904" y="2779776"/>
            <a:ext cx="326440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Лечебный эффект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ослабевать</a:t>
            </a:r>
          </a:p>
        </p:txBody>
      </p:sp>
      <p:sp>
        <p:nvSpPr>
          <p:cNvPr id="42" name="Substrate"/>
          <p:cNvSpPr txBox="1"/>
          <p:nvPr/>
        </p:nvSpPr>
        <p:spPr>
          <a:xfrm>
            <a:off x="3950208" y="2816352"/>
            <a:ext cx="1490472" cy="32918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43" name="Catalytic_link"/>
          <p:cNvCxnSpPr/>
          <p:nvPr/>
        </p:nvCxnSpPr>
        <p:spPr>
          <a:xfrm>
            <a:off x="6080760" y="2359152"/>
            <a:ext cx="0" cy="539496"/>
          </a:xfrm>
          <a:prstGeom prst="line">
            <a:avLst/>
          </a:prstGeom>
          <a:ln w="17780">
            <a:solidFill>
              <a:srgbClr val="7F7F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Metabolic_conversion"/>
          <p:cNvCxnSpPr/>
          <p:nvPr/>
        </p:nvCxnSpPr>
        <p:spPr>
          <a:xfrm>
            <a:off x="5504688" y="2953512"/>
            <a:ext cx="1106424" cy="0"/>
          </a:xfrm>
          <a:prstGeom prst="line">
            <a:avLst/>
          </a:prstGeom>
          <a:ln w="25400">
            <a:solidFill>
              <a:srgbClr val="7030A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Inactive_metabolites"/>
          <p:cNvSpPr txBox="1"/>
          <p:nvPr/>
        </p:nvSpPr>
        <p:spPr>
          <a:xfrm>
            <a:off x="6766560" y="2660904"/>
            <a:ext cx="1536192" cy="5669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Неактивные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метаболиты</a:t>
            </a:r>
          </a:p>
        </p:txBody>
      </p:sp>
      <p:sp>
        <p:nvSpPr>
          <p:cNvPr id="46" name="Metabolism_location"/>
          <p:cNvSpPr txBox="1"/>
          <p:nvPr/>
        </p:nvSpPr>
        <p:spPr>
          <a:xfrm>
            <a:off x="4005072" y="3328416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Метаболизируется в печени и стенке кишечника</a:t>
            </a:r>
          </a:p>
        </p:txBody>
      </p:sp>
      <p:sp>
        <p:nvSpPr>
          <p:cNvPr id="47" name="Strong_heading"/>
          <p:cNvSpPr txBox="1"/>
          <p:nvPr/>
        </p:nvSpPr>
        <p:spPr>
          <a:xfrm>
            <a:off x="594360" y="3794760"/>
            <a:ext cx="340156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Сильные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8" name="Moderate_weak_heading"/>
          <p:cNvSpPr txBox="1"/>
          <p:nvPr/>
        </p:nvSpPr>
        <p:spPr>
          <a:xfrm>
            <a:off x="4407408" y="3794760"/>
            <a:ext cx="335584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860B"/>
                </a:solidFill>
                <a:latin typeface="Arial Narrow"/>
                <a:cs typeface="Arial Narrow"/>
              </a:rPr>
              <a:t>Умеренные и слабые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860B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9" name="Inducer_heading"/>
          <p:cNvSpPr txBox="1"/>
          <p:nvPr/>
        </p:nvSpPr>
        <p:spPr>
          <a:xfrm>
            <a:off x="8229600" y="3794760"/>
            <a:ext cx="3429000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Сильные и умеренные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sp>
        <p:nvSpPr>
          <p:cNvPr id="50" name="Strong_examples"/>
          <p:cNvSpPr txBox="1"/>
          <p:nvPr/>
        </p:nvSpPr>
        <p:spPr>
          <a:xfrm>
            <a:off x="594360" y="4544568"/>
            <a:ext cx="3401568" cy="60350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Кларитромицин, кетоконазол,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итраконазол, ритонавир.</a:t>
            </a:r>
          </a:p>
        </p:txBody>
      </p:sp>
      <p:sp>
        <p:nvSpPr>
          <p:cNvPr id="51" name="Moderate_weak_examples"/>
          <p:cNvSpPr txBox="1"/>
          <p:nvPr/>
        </p:nvSpPr>
        <p:spPr>
          <a:xfrm>
            <a:off x="4407408" y="4544568"/>
            <a:ext cx="3355848" cy="65836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Умеренные: эритромицин, верапамил.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Слабый: флувоксамин.</a:t>
            </a:r>
          </a:p>
        </p:txBody>
      </p:sp>
      <p:sp>
        <p:nvSpPr>
          <p:cNvPr id="52" name="Inducer_examples"/>
          <p:cNvSpPr txBox="1"/>
          <p:nvPr/>
        </p:nvSpPr>
        <p:spPr>
          <a:xfrm>
            <a:off x="8229600" y="4544568"/>
            <a:ext cx="3429000" cy="72237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Сильные: рифампицин, карбамазепин,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зверобой.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Умеренный: эфавиренз.</a:t>
            </a:r>
          </a:p>
        </p:txBody>
      </p:sp>
      <p:sp>
        <p:nvSpPr>
          <p:cNvPr id="53" name="Strong_action"/>
          <p:cNvSpPr txBox="1"/>
          <p:nvPr/>
        </p:nvSpPr>
        <p:spPr>
          <a:xfrm>
            <a:off x="594360" y="5270500"/>
            <a:ext cx="3401568" cy="5760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противопоказано.</a:t>
            </a:r>
          </a:p>
        </p:txBody>
      </p:sp>
      <p:sp>
        <p:nvSpPr>
          <p:cNvPr id="54" name="Moderate_weak_action"/>
          <p:cNvSpPr txBox="1"/>
          <p:nvPr/>
        </p:nvSpPr>
        <p:spPr>
          <a:xfrm>
            <a:off x="4407408" y="5270500"/>
            <a:ext cx="3355848" cy="31089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860B"/>
                </a:solidFill>
                <a:latin typeface="Arial Narrow"/>
                <a:cs typeface="Arial Narrow"/>
              </a:rPr>
              <a:t>Контроль калия</a:t>
            </a:r>
          </a:p>
        </p:txBody>
      </p:sp>
      <p:sp>
        <p:nvSpPr>
          <p:cNvPr id="55" name="Moderate_weak_monitoring"/>
          <p:cNvSpPr txBox="1"/>
          <p:nvPr/>
        </p:nvSpPr>
        <p:spPr>
          <a:xfrm>
            <a:off x="4407408" y="5600700"/>
            <a:ext cx="3355848" cy="9144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ru-RU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при начале приёма или изменении дозы любого из препаратов, при необходимости корректирует дозу финеренона.</a:t>
            </a:r>
          </a:p>
        </p:txBody>
      </p:sp>
      <p:sp>
        <p:nvSpPr>
          <p:cNvPr id="56" name="Inducer_action"/>
          <p:cNvSpPr txBox="1"/>
          <p:nvPr/>
        </p:nvSpPr>
        <p:spPr>
          <a:xfrm>
            <a:off x="8229600" y="5270500"/>
            <a:ext cx="3429000" cy="62179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не рекомендуется.</a:t>
            </a:r>
          </a:p>
        </p:txBody>
      </p:sp>
      <p:sp>
        <p:nvSpPr>
          <p:cNvPr id="57" name="Grapefruit"/>
          <p:cNvSpPr txBox="1"/>
          <p:nvPr/>
        </p:nvSpPr>
        <p:spPr>
          <a:xfrm>
            <a:off x="594360" y="6000750"/>
            <a:ext cx="3524250" cy="466725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 исключают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на время лечения: они подавляют CYP3A4.</a:t>
            </a:r>
          </a:p>
        </p:txBody>
      </p:sp>
      <p:sp>
        <p:nvSpPr>
          <p:cNvPr id="5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Heinig R, et al. Eur J Drug Metab Pharmacokinet. 2018;43:715–727. Wendl T, et al. CPT Pharmacometrics Syst Pharmacol. 2022;11:199–211.</a:t>
            </a:r>
          </a:p>
        </p:txBody>
      </p:sp>
      <p:pic>
        <p:nvPicPr>
          <p:cNvPr id="59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Ячейка_калий_0"/>
          <p:cNvSpPr/>
          <p:nvPr/>
        </p:nvSpPr>
        <p:spPr>
          <a:xfrm>
            <a:off x="457200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Текст_калий_0"/>
          <p:cNvSpPr/>
          <p:nvPr/>
        </p:nvSpPr>
        <p:spPr>
          <a:xfrm>
            <a:off x="2519848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Ячейка_рскф_0"/>
          <p:cNvSpPr/>
          <p:nvPr/>
        </p:nvSpPr>
        <p:spPr>
          <a:xfrm>
            <a:off x="6350482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Текст_рскф_0"/>
          <p:cNvSpPr/>
          <p:nvPr/>
        </p:nvSpPr>
        <p:spPr>
          <a:xfrm>
            <a:off x="8413131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6" name="Ячейка_калий_1"/>
          <p:cNvSpPr/>
          <p:nvPr/>
        </p:nvSpPr>
        <p:spPr>
          <a:xfrm>
            <a:off x="457200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Текст_калий_1"/>
          <p:cNvSpPr/>
          <p:nvPr/>
        </p:nvSpPr>
        <p:spPr>
          <a:xfrm>
            <a:off x="2519848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Ячейка_рскф_1"/>
          <p:cNvSpPr/>
          <p:nvPr/>
        </p:nvSpPr>
        <p:spPr>
          <a:xfrm>
            <a:off x="6350482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Текст_рскф_1"/>
          <p:cNvSpPr/>
          <p:nvPr/>
        </p:nvSpPr>
        <p:spPr>
          <a:xfrm>
            <a:off x="8413131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Ячейка_калий_2"/>
          <p:cNvSpPr/>
          <p:nvPr/>
        </p:nvSpPr>
        <p:spPr>
          <a:xfrm>
            <a:off x="457200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Текст_калий_2"/>
          <p:cNvSpPr/>
          <p:nvPr/>
        </p:nvSpPr>
        <p:spPr>
          <a:xfrm>
            <a:off x="2519848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2" name="Ячейка_рскф_2"/>
          <p:cNvSpPr/>
          <p:nvPr/>
        </p:nvSpPr>
        <p:spPr>
          <a:xfrm>
            <a:off x="6350482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3" name="Текст_рскф_2"/>
          <p:cNvSpPr/>
          <p:nvPr/>
        </p:nvSpPr>
        <p:spPr>
          <a:xfrm>
            <a:off x="8413131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Перед началом лечения финереноном оценивают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калий, рСКФ и противопоказания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1117600"/>
            <a:ext cx="10989632" cy="3333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 болезнью почек, связанной с сахарным диабетом 2 типа.</a:t>
            </a:r>
          </a:p>
        </p:txBody>
      </p:sp>
      <p:sp>
        <p:nvSpPr>
          <p:cNvPr id="4" name="Калий_название"/>
          <p:cNvSpPr txBox="1"/>
          <p:nvPr/>
        </p:nvSpPr>
        <p:spPr>
          <a:xfrm>
            <a:off x="457200" y="1600200"/>
            <a:ext cx="512313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Калий сыворотки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457200" y="1981200"/>
            <a:ext cx="51231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350482" y="1600200"/>
            <a:ext cx="510304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350482" y="1981200"/>
            <a:ext cx="5504861" cy="50482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 фильтрации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(рСКФ), мл/мин/1,73 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617925" y="2641600"/>
            <a:ext cx="190861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65378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можно начать при рСКФ ≥25 и отсутствии противопоказаний.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617925" y="3581400"/>
            <a:ext cx="190861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65378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Начало лечения можно рассмотреть при дополнительном контроле калия в первые 4 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617925" y="4673600"/>
            <a:ext cx="19086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65378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11208" y="2641600"/>
            <a:ext cx="20593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57385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20 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11208" y="3581400"/>
            <a:ext cx="20593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≥25 и &lt;60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57385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10 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11208" y="4673600"/>
            <a:ext cx="2059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57385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457200" y="5562600"/>
            <a:ext cx="1098963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Целевая доза при этом показании: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20 мг один раз в сутки.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457200" y="5918200"/>
            <a:ext cx="1098963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ru-RU">
                <a:solidFill>
                  <a:srgbClr val="000000"/>
                </a:solidFill>
                <a:latin typeface="Arial Narrow"/>
                <a:cs typeface="Arial Narrow"/>
              </a:rPr>
              <a:t>Противопоказания: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гиперчувствительность к компонентам препарата, болезнь Аддисона, одновременный приём сильных ингибиторов CYP3A4.</a:t>
            </a:r>
          </a:p>
        </p:txBody>
      </p:sp>
      <p:sp>
        <p:nvSpPr>
          <p:cNvPr id="3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3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6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tIns="0" bIns="0" lIns="0" r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 и функцию почек контролируют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 начала и во время лечения финереноном</a:t>
            </a:r>
          </a:p>
        </p:txBody>
      </p:sp>
      <p:cxnSp>
        <p:nvCxnSpPr>
          <p:cNvPr id="3" name="Ось_времени"/>
          <p:cNvCxnSpPr/>
          <p:nvPr/>
        </p:nvCxnSpPr>
        <p:spPr>
          <a:xfrm>
            <a:off x="635000" y="1625600"/>
            <a:ext cx="10947400" cy="0"/>
          </a:xfrm>
          <a:prstGeom prst="line">
            <a:avLst/>
          </a:prstGeom>
          <a:ln w="38100">
            <a:solidFill>
              <a:srgbClr val="A6A6A6"/>
            </a:solidFill>
            <a:tailEnd type="triangle" w="med" len="med"/>
          </a:ln>
        </p:spPr>
      </p:cxnSp>
      <p:cxnSp>
        <p:nvCxnSpPr>
          <p:cNvPr id="4" name="Отметка_180"/>
          <p:cNvCxnSpPr/>
          <p:nvPr/>
        </p:nvCxnSpPr>
        <p:spPr>
          <a:xfrm>
            <a:off x="228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5" name="Срок_180"/>
          <p:cNvSpPr txBox="1"/>
          <p:nvPr/>
        </p:nvSpPr>
        <p:spPr>
          <a:xfrm>
            <a:off x="76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Начало</a:t>
            </a:r>
          </a:p>
        </p:txBody>
      </p:sp>
      <p:sp>
        <p:nvSpPr>
          <p:cNvPr id="6" name="Этап_180"/>
          <p:cNvSpPr/>
          <p:nvPr/>
        </p:nvSpPr>
        <p:spPr>
          <a:xfrm>
            <a:off x="50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До первой дозы</a:t>
            </a:r>
          </a:p>
        </p:txBody>
      </p:sp>
      <p:sp>
        <p:nvSpPr>
          <p:cNvPr id="7" name="Этап_фон_180"/>
          <p:cNvSpPr/>
          <p:nvPr/>
        </p:nvSpPr>
        <p:spPr>
          <a:xfrm>
            <a:off x="50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Этап_текст_180"/>
          <p:cNvSpPr txBox="1"/>
          <p:nvPr/>
        </p:nvSpPr>
        <p:spPr>
          <a:xfrm>
            <a:off x="68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Проверяют калий сыворотки, рСКФ, текущие лекарства и противопоказания.</a:t>
            </a:r>
          </a:p>
        </p:txBody>
      </p:sp>
      <p:cxnSp>
        <p:nvCxnSpPr>
          <p:cNvPr id="9" name="Отметка_480"/>
          <p:cNvCxnSpPr/>
          <p:nvPr/>
        </p:nvCxnSpPr>
        <p:spPr>
          <a:xfrm>
            <a:off x="609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0" name="Срок_480"/>
          <p:cNvSpPr txBox="1"/>
          <p:nvPr/>
        </p:nvSpPr>
        <p:spPr>
          <a:xfrm>
            <a:off x="457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4 недели</a:t>
            </a:r>
          </a:p>
        </p:txBody>
      </p:sp>
      <p:sp>
        <p:nvSpPr>
          <p:cNvPr id="11" name="Этап_480"/>
          <p:cNvSpPr/>
          <p:nvPr/>
        </p:nvSpPr>
        <p:spPr>
          <a:xfrm>
            <a:off x="431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Через 4 недели</a:t>
            </a:r>
          </a:p>
        </p:txBody>
      </p:sp>
      <p:sp>
        <p:nvSpPr>
          <p:cNvPr id="12" name="Этап_фон_480"/>
          <p:cNvSpPr/>
          <p:nvPr/>
        </p:nvSpPr>
        <p:spPr>
          <a:xfrm>
            <a:off x="431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3" name="Этап_текст_480"/>
          <p:cNvSpPr txBox="1"/>
          <p:nvPr/>
        </p:nvSpPr>
        <p:spPr>
          <a:xfrm>
            <a:off x="449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 повторяют после начала или возобновления лечения и после повышения дозы.</a:t>
            </a:r>
          </a:p>
        </p:txBody>
      </p:sp>
      <p:cxnSp>
        <p:nvCxnSpPr>
          <p:cNvPr id="14" name="Отметка_780"/>
          <p:cNvCxnSpPr/>
          <p:nvPr/>
        </p:nvCxnSpPr>
        <p:spPr>
          <a:xfrm>
            <a:off x="990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5" name="Срок_780"/>
          <p:cNvSpPr txBox="1"/>
          <p:nvPr/>
        </p:nvSpPr>
        <p:spPr>
          <a:xfrm>
            <a:off x="838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Каждые 4 месяца¹</a:t>
            </a:r>
          </a:p>
        </p:txBody>
      </p:sp>
      <p:sp>
        <p:nvSpPr>
          <p:cNvPr id="16" name="Этап_780"/>
          <p:cNvSpPr/>
          <p:nvPr/>
        </p:nvSpPr>
        <p:spPr>
          <a:xfrm>
            <a:off x="812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Далее регулярно</a:t>
            </a:r>
          </a:p>
        </p:txBody>
      </p:sp>
      <p:sp>
        <p:nvSpPr>
          <p:cNvPr id="17" name="Этап_фон_780"/>
          <p:cNvSpPr/>
          <p:nvPr/>
        </p:nvSpPr>
        <p:spPr>
          <a:xfrm>
            <a:off x="812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Этап_текст_780"/>
          <p:cNvSpPr txBox="1"/>
          <p:nvPr/>
        </p:nvSpPr>
        <p:spPr>
          <a:xfrm>
            <a:off x="830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Далее периодически: KDIGO 2024 предлагает каждые 4 месяца¹, при повышенном риске чаще.</a:t>
            </a:r>
          </a:p>
        </p:txBody>
      </p:sp>
      <p:sp>
        <p:nvSpPr>
          <p:cNvPr id="19" name="Внеплановый_контроль_название"/>
          <p:cNvSpPr/>
          <p:nvPr/>
        </p:nvSpPr>
        <p:spPr>
          <a:xfrm>
            <a:off x="508000" y="3708400"/>
            <a:ext cx="111760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Когда анализы нужны раньше</a:t>
            </a:r>
          </a:p>
        </p:txBody>
      </p:sp>
      <p:sp>
        <p:nvSpPr>
          <p:cNvPr id="20" name="Внеплановый_фон"/>
          <p:cNvSpPr/>
          <p:nvPr/>
        </p:nvSpPr>
        <p:spPr>
          <a:xfrm>
            <a:off x="508000" y="4165600"/>
            <a:ext cx="111760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Внеплановый_контроль"/>
          <p:cNvSpPr txBox="1"/>
          <p:nvPr/>
        </p:nvSpPr>
        <p:spPr>
          <a:xfrm>
            <a:off x="736600" y="4267200"/>
            <a:ext cx="10718800" cy="1066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исходном калии &gt;4,8 и ≤5,0 ммоль/л калий дополнительно определяют в первые 4 недели.</a:t>
            </a:r>
          </a:p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 Срок определяет врач.</a:t>
            </a:r>
          </a:p>
        </p:txBody>
      </p:sp>
      <p:sp>
        <p:nvSpPr>
          <p:cNvPr id="22" name="Контроль_при_комбинации"/>
          <p:cNvSpPr txBox="1"/>
          <p:nvPr/>
        </p:nvSpPr>
        <p:spPr>
          <a:xfrm>
            <a:off x="508000" y="5562600"/>
            <a:ext cx="11176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 ингибитором НГЛТ2: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калий контролируют в том же режиме.</a:t>
            </a:r>
          </a:p>
        </p:txBody>
      </p:sp>
      <p:sp>
        <p:nvSpPr>
          <p:cNvPr id="23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Интервал 4 месяца: KDIGO 2024. В европейской инструкции: далее периодически, с учётом уровня калия и особенностей пациента. Креатинин и рСКФ определяют вместе с калием.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Agarwal R, et al. J Am Soc Nephrol. 2022;33:225–237. Agarwal R, et al. J Am Coll Cardiol. 2026;87:772–784.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4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Ячейка_Порог_3"/>
          <p:cNvSpPr/>
          <p:nvPr/>
        </p:nvSpPr>
        <p:spPr>
          <a:xfrm>
            <a:off x="807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Карточка_Порог_3"/>
          <p:cNvSpPr/>
          <p:nvPr/>
        </p:nvSpPr>
        <p:spPr>
          <a:xfrm>
            <a:off x="807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Ячейка_Порог_2"/>
          <p:cNvSpPr/>
          <p:nvPr/>
        </p:nvSpPr>
        <p:spPr>
          <a:xfrm>
            <a:off x="426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2" name="Карточка_Порог_2"/>
          <p:cNvSpPr/>
          <p:nvPr/>
        </p:nvSpPr>
        <p:spPr>
          <a:xfrm>
            <a:off x="426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9" name="Ячейка_Порог_1"/>
          <p:cNvSpPr/>
          <p:nvPr/>
        </p:nvSpPr>
        <p:spPr>
          <a:xfrm>
            <a:off x="45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рог_1"/>
          <p:cNvSpPr/>
          <p:nvPr/>
        </p:nvSpPr>
        <p:spPr>
          <a:xfrm>
            <a:off x="45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Дозу финеренона корректируют по уровню калия и рСКФ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457200" y="1066800"/>
            <a:ext cx="1127760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сыворотки,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60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41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2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60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Дозу 10 мг можно повысить до 20 мг один раз в сутки. Дозу 20 мг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41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Сохраняют текущую дозу: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10 или 20 мг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2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Повторно определяют калий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и уточняют причину повышения.</a:t>
            </a:r>
          </a:p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457200" y="3200400"/>
            <a:ext cx="11277600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Исключение: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дозу 10 мг не повышают, если рСКФ снизилась более чем на 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457200" y="3810000"/>
            <a:ext cx="11277600" cy="571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Возобновление: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если после временной отмены калий в повторном анализе ≤5,0 ммоль/л, врач может возобновить лечение в дозе 10 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457200" y="4445000"/>
            <a:ext cx="11277600" cy="5238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калий и функцию почек проверяют через 4 недели после возобновления лечения или повышения дозы, при повышенном риске раньше.</a:t>
            </a:r>
          </a:p>
        </p:txBody>
      </p:sp>
      <p:sp>
        <p:nvSpPr>
          <p:cNvPr id="25" name="Срочная_оценка"/>
          <p:cNvSpPr txBox="1"/>
          <p:nvPr/>
        </p:nvSpPr>
        <p:spPr>
          <a:xfrm>
            <a:off x="457200" y="51816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B5323C"/>
                </a:solidFill>
                <a:latin typeface="Arial Narrow"/>
                <a:cs typeface="Arial Narrow"/>
              </a:rPr>
              <a:t> 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8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Безопасность и особые группы пациентов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8128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Взрослые с ХБП, связанной с сахарным диабетом 2 типа.</a:t>
            </a:r>
          </a:p>
        </p:txBody>
      </p:sp>
      <p:sp>
        <p:nvSpPr>
          <p:cNvPr id="4" name="Безопасность_1"/>
          <p:cNvSpPr/>
          <p:nvPr/>
        </p:nvSpPr>
        <p:spPr>
          <a:xfrm>
            <a:off x="4572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Нежелательные реакции</a:t>
            </a:r>
          </a:p>
        </p:txBody>
      </p:sp>
      <p:sp>
        <p:nvSpPr>
          <p:cNvPr id="5" name="Безопасность_фон_1"/>
          <p:cNvSpPr/>
          <p:nvPr/>
        </p:nvSpPr>
        <p:spPr>
          <a:xfrm>
            <a:off x="4572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Безопасность_текст_1"/>
          <p:cNvSpPr txBox="1"/>
          <p:nvPr/>
        </p:nvSpPr>
        <p:spPr>
          <a:xfrm>
            <a:off x="6096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Очень 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гипонатриемия, гиперурикемия, гипотензия, зуд, снижение рСКФ.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Нечасто: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снижение гемоглобина.</a:t>
            </a:r>
          </a:p>
        </p:txBody>
      </p:sp>
      <p:sp>
        <p:nvSpPr>
          <p:cNvPr id="7" name="Безопасность_2"/>
          <p:cNvSpPr/>
          <p:nvPr/>
        </p:nvSpPr>
        <p:spPr>
          <a:xfrm>
            <a:off x="39370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FIDELITY: финеренон и плацебо</a:t>
            </a:r>
          </a:p>
        </p:txBody>
      </p:sp>
      <p:sp>
        <p:nvSpPr>
          <p:cNvPr id="8" name="Безопасность_фон_2"/>
          <p:cNvSpPr/>
          <p:nvPr/>
        </p:nvSpPr>
        <p:spPr>
          <a:xfrm>
            <a:off x="39370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9" name="Безопасность_текст_2"/>
          <p:cNvSpPr txBox="1"/>
          <p:nvPr/>
        </p:nvSpPr>
        <p:spPr>
          <a:xfrm>
            <a:off x="40894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(по сообщениям исследователей).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неё: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1,7%, плацебо 0,6%.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Острое повреждение почек: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3,4%, плацебо 3,6%.</a:t>
            </a:r>
          </a:p>
        </p:txBody>
      </p:sp>
      <p:sp>
        <p:nvSpPr>
          <p:cNvPr id="10" name="Безопасность_3"/>
          <p:cNvSpPr/>
          <p:nvPr/>
        </p:nvSpPr>
        <p:spPr>
          <a:xfrm>
            <a:off x="7416800" y="1193800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 и печени</a:t>
            </a:r>
          </a:p>
        </p:txBody>
      </p:sp>
      <p:sp>
        <p:nvSpPr>
          <p:cNvPr id="11" name="Безопасность_фон_3"/>
          <p:cNvSpPr/>
          <p:nvPr/>
        </p:nvSpPr>
        <p:spPr>
          <a:xfrm>
            <a:off x="7416800" y="1625600"/>
            <a:ext cx="43180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Безопасность_текст_3"/>
          <p:cNvSpPr txBox="1"/>
          <p:nvPr/>
        </p:nvSpPr>
        <p:spPr>
          <a:xfrm>
            <a:off x="7569200" y="1701800"/>
            <a:ext cx="40132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 не рекомендуется при рСКФ &lt;25 мл/мин/1,73 м². При рСКФ &lt;15 лечение прекращают.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печёночной недостаточности класса C по Чайлд–Пью лечение не начинают. При классе B начальную дозу не меняют, рассматривают дополнительный контроль калия.</a:t>
            </a:r>
          </a:p>
        </p:txBody>
      </p:sp>
      <p:sp>
        <p:nvSpPr>
          <p:cNvPr id="13" name="Безопасность_4"/>
          <p:cNvSpPr/>
          <p:nvPr/>
        </p:nvSpPr>
        <p:spPr>
          <a:xfrm>
            <a:off x="4572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Беременность и лактация</a:t>
            </a:r>
          </a:p>
        </p:txBody>
      </p:sp>
      <p:sp>
        <p:nvSpPr>
          <p:cNvPr id="14" name="Безопасность_фон_4"/>
          <p:cNvSpPr/>
          <p:nvPr/>
        </p:nvSpPr>
        <p:spPr>
          <a:xfrm>
            <a:off x="4572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5" name="Безопасность_текст_4"/>
          <p:cNvSpPr txBox="1"/>
          <p:nvPr/>
        </p:nvSpPr>
        <p:spPr>
          <a:xfrm>
            <a:off x="6096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беременности применяют только после тщательной оценки пользы и риска.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Женщинам детородного возраста нужна эффективная контрацепция.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Грудное вскармливание прекращают или отказываются от лечения.</a:t>
            </a:r>
          </a:p>
        </p:txBody>
      </p:sp>
      <p:sp>
        <p:nvSpPr>
          <p:cNvPr id="16" name="Безопасность_5"/>
          <p:cNvSpPr/>
          <p:nvPr/>
        </p:nvSpPr>
        <p:spPr>
          <a:xfrm>
            <a:off x="39370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Дети и пожилые</a:t>
            </a:r>
          </a:p>
        </p:txBody>
      </p:sp>
      <p:sp>
        <p:nvSpPr>
          <p:cNvPr id="17" name="Безопасность_фон_5"/>
          <p:cNvSpPr/>
          <p:nvPr/>
        </p:nvSpPr>
        <p:spPr>
          <a:xfrm>
            <a:off x="39370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Безопасность_текст_5"/>
          <p:cNvSpPr txBox="1"/>
          <p:nvPr/>
        </p:nvSpPr>
        <p:spPr>
          <a:xfrm>
            <a:off x="40894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 пациентов младше 18 лет эффективность и безопасность не установлены.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Пожилым коррекция дозы не требуется.</a:t>
            </a:r>
          </a:p>
        </p:txBody>
      </p:sp>
      <p:sp>
        <p:nvSpPr>
          <p:cNvPr id="19" name="Безопасность_6"/>
          <p:cNvSpPr/>
          <p:nvPr/>
        </p:nvSpPr>
        <p:spPr>
          <a:xfrm>
            <a:off x="7416800" y="3662627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Сообщение о нежелательном явлении</a:t>
            </a:r>
          </a:p>
        </p:txBody>
      </p:sp>
      <p:sp>
        <p:nvSpPr>
          <p:cNvPr id="20" name="Безопасность_фон_6"/>
          <p:cNvSpPr/>
          <p:nvPr/>
        </p:nvSpPr>
        <p:spPr>
          <a:xfrm>
            <a:off x="7416800" y="4094427"/>
            <a:ext cx="43180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Безопасность_текст_6"/>
          <p:cNvSpPr txBox="1"/>
          <p:nvPr/>
        </p:nvSpPr>
        <p:spPr>
          <a:xfrm>
            <a:off x="7569200" y="4170627"/>
            <a:ext cx="40132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представитель: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если узнал о нежелательном явлении на фоне препарата из любого источника, сообщает в отдел фармаконадзора в течение 24 часов по процедуре компании, даже если связь с препаратом не очевидна.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Также сообщает: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 беременности или кормлении грудью, передозировке, ошибке применения, применении вне показаний, отсутствии эффекта.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Связь не оценивает, советов по лечению не даёт.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 Порядок сообщения о нежелательных явлениях определяет процедура компании.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Kerendia (finerenone). US Prescribing Information. Agarwal R, et al. Eur Heart J. 2022;43:474–484. Agarwal R, et al. J Am Soc Nephrol. 2022;33:225–237.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  <a:buNone/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Два условных случая: какие данные врач проверяет перед началом лечения</a:t>
            </a:r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ХБП: хроническая болезнь почек;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</p:txBody>
      </p:sp>
      <p:pic>
        <p:nvPicPr>
          <p:cNvPr id="30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1" name="Чек_шапка_0"/>
          <p:cNvSpPr/>
          <p:nvPr/>
        </p:nvSpPr>
        <p:spPr>
          <a:xfrm>
            <a:off x="457200" y="914400"/>
            <a:ext cx="3810000" cy="355600"/>
          </a:xfrm>
          <a:prstGeom prst="roundRect">
            <a:avLst>
              <a:gd name="adj" fmla="val 25000"/>
            </a:avLst>
          </a:prstGeom>
          <a:solidFill>
            <a:srgbClr val="40404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Критерий</a:t>
            </a:r>
          </a:p>
        </p:txBody>
      </p:sp>
      <p:sp>
        <p:nvSpPr>
          <p:cNvPr id="32" name="Чек_шапка_1"/>
          <p:cNvSpPr/>
          <p:nvPr/>
        </p:nvSpPr>
        <p:spPr>
          <a:xfrm>
            <a:off x="42672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1, 62 года</a:t>
            </a:r>
          </a:p>
        </p:txBody>
      </p:sp>
      <p:sp>
        <p:nvSpPr>
          <p:cNvPr id="33" name="Чек_шапка_2"/>
          <p:cNvSpPr/>
          <p:nvPr/>
        </p:nvSpPr>
        <p:spPr>
          <a:xfrm>
            <a:off x="80010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2, 58 лет</a:t>
            </a:r>
          </a:p>
        </p:txBody>
      </p:sp>
      <p:sp>
        <p:nvSpPr>
          <p:cNvPr id="34" name="Чек_критерий_фон_0"/>
          <p:cNvSpPr/>
          <p:nvPr/>
        </p:nvSpPr>
        <p:spPr>
          <a:xfrm>
            <a:off x="457200" y="12954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5" name="Чек_критерий_0"/>
          <p:cNvSpPr txBox="1"/>
          <p:nvPr/>
        </p:nvSpPr>
        <p:spPr>
          <a:xfrm>
            <a:off x="5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Диагноз: сахарный диабет 2 типа</a:t>
            </a:r>
          </a:p>
        </p:txBody>
      </p:sp>
      <p:sp>
        <p:nvSpPr>
          <p:cNvPr id="36" name="Чек_ячейка_фон_0_0"/>
          <p:cNvSpPr/>
          <p:nvPr/>
        </p:nvSpPr>
        <p:spPr>
          <a:xfrm>
            <a:off x="42926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Чек_ячейка_0_0"/>
          <p:cNvSpPr txBox="1"/>
          <p:nvPr/>
        </p:nvSpPr>
        <p:spPr>
          <a:xfrm>
            <a:off x="43942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38" name="Чек_ячейка_фон_0_1"/>
          <p:cNvSpPr/>
          <p:nvPr/>
        </p:nvSpPr>
        <p:spPr>
          <a:xfrm>
            <a:off x="80264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9" name="Чек_ячейка_0_1"/>
          <p:cNvSpPr txBox="1"/>
          <p:nvPr/>
        </p:nvSpPr>
        <p:spPr>
          <a:xfrm>
            <a:off x="81280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40" name="Чек_критерий_фон_1"/>
          <p:cNvSpPr/>
          <p:nvPr/>
        </p:nvSpPr>
        <p:spPr>
          <a:xfrm>
            <a:off x="457200" y="17018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1" name="Чек_критерий_1"/>
          <p:cNvSpPr txBox="1"/>
          <p:nvPr/>
        </p:nvSpPr>
        <p:spPr>
          <a:xfrm>
            <a:off x="558800" y="17018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АКО ≥30 мг/г не менее 3 месяцев</a:t>
            </a:r>
          </a:p>
        </p:txBody>
      </p:sp>
      <p:sp>
        <p:nvSpPr>
          <p:cNvPr id="42" name="Чек_ячейка_фон_1_0"/>
          <p:cNvSpPr/>
          <p:nvPr/>
        </p:nvSpPr>
        <p:spPr>
          <a:xfrm>
            <a:off x="4292600" y="17018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Чек_ячейка_1_0"/>
          <p:cNvSpPr txBox="1"/>
          <p:nvPr/>
        </p:nvSpPr>
        <p:spPr>
          <a:xfrm>
            <a:off x="43942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(320 и 360 мг/г, интервал 4 месяца)</a:t>
            </a:r>
          </a:p>
        </p:txBody>
      </p:sp>
      <p:sp>
        <p:nvSpPr>
          <p:cNvPr id="44" name="Чек_ячейка_фон_1_1"/>
          <p:cNvSpPr/>
          <p:nvPr/>
        </p:nvSpPr>
        <p:spPr>
          <a:xfrm>
            <a:off x="8026400" y="17018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5" name="Чек_ячейка_1_1"/>
          <p:cNvSpPr txBox="1"/>
          <p:nvPr/>
        </p:nvSpPr>
        <p:spPr>
          <a:xfrm>
            <a:off x="81280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 подтверждено (110 мг/г однократно, при инфекции мочевых путей)</a:t>
            </a:r>
          </a:p>
        </p:txBody>
      </p:sp>
      <p:sp>
        <p:nvSpPr>
          <p:cNvPr id="46" name="Чек_критерий_фон_2"/>
          <p:cNvSpPr/>
          <p:nvPr/>
        </p:nvSpPr>
        <p:spPr>
          <a:xfrm>
            <a:off x="457200" y="22098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7" name="Чек_критерий_2"/>
          <p:cNvSpPr txBox="1"/>
          <p:nvPr/>
        </p:nvSpPr>
        <p:spPr>
          <a:xfrm>
            <a:off x="558800" y="22098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</a:t>
            </a:r>
          </a:p>
        </p:txBody>
      </p:sp>
      <p:sp>
        <p:nvSpPr>
          <p:cNvPr id="48" name="Чек_ячейка_фон_2_0"/>
          <p:cNvSpPr/>
          <p:nvPr/>
        </p:nvSpPr>
        <p:spPr>
          <a:xfrm>
            <a:off x="42926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Чек_ячейка_2_0"/>
          <p:cNvSpPr txBox="1"/>
          <p:nvPr/>
        </p:nvSpPr>
        <p:spPr>
          <a:xfrm>
            <a:off x="43942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(48, стабильна)</a:t>
            </a:r>
          </a:p>
        </p:txBody>
      </p:sp>
      <p:sp>
        <p:nvSpPr>
          <p:cNvPr id="50" name="Чек_ячейка_фон_2_1"/>
          <p:cNvSpPr/>
          <p:nvPr/>
        </p:nvSpPr>
        <p:spPr>
          <a:xfrm>
            <a:off x="80264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Чек_ячейка_2_1"/>
          <p:cNvSpPr txBox="1"/>
          <p:nvPr/>
        </p:nvSpPr>
        <p:spPr>
          <a:xfrm>
            <a:off x="81280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(78)</a:t>
            </a:r>
          </a:p>
        </p:txBody>
      </p:sp>
      <p:sp>
        <p:nvSpPr>
          <p:cNvPr id="52" name="Чек_критерий_фон_3"/>
          <p:cNvSpPr/>
          <p:nvPr/>
        </p:nvSpPr>
        <p:spPr>
          <a:xfrm>
            <a:off x="457200" y="26162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3" name="Чек_критерий_3"/>
          <p:cNvSpPr txBox="1"/>
          <p:nvPr/>
        </p:nvSpPr>
        <p:spPr>
          <a:xfrm>
            <a:off x="558800" y="26162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</a:t>
            </a:r>
          </a:p>
        </p:txBody>
      </p:sp>
      <p:sp>
        <p:nvSpPr>
          <p:cNvPr id="54" name="Чек_ячейка_фон_3_0"/>
          <p:cNvSpPr/>
          <p:nvPr/>
        </p:nvSpPr>
        <p:spPr>
          <a:xfrm>
            <a:off x="4292600" y="26162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Чек_ячейка_3_0"/>
          <p:cNvSpPr txBox="1"/>
          <p:nvPr/>
        </p:nvSpPr>
        <p:spPr>
          <a:xfrm>
            <a:off x="43942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(4,6)</a:t>
            </a:r>
          </a:p>
        </p:txBody>
      </p:sp>
      <p:sp>
        <p:nvSpPr>
          <p:cNvPr id="56" name="Чек_ячейка_фон_3_1"/>
          <p:cNvSpPr/>
          <p:nvPr/>
        </p:nvSpPr>
        <p:spPr>
          <a:xfrm>
            <a:off x="8026400" y="26162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7" name="Чек_ячейка_3_1"/>
          <p:cNvSpPr txBox="1"/>
          <p:nvPr/>
        </p:nvSpPr>
        <p:spPr>
          <a:xfrm>
            <a:off x="81280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(калий не определён)</a:t>
            </a:r>
          </a:p>
        </p:txBody>
      </p:sp>
      <p:sp>
        <p:nvSpPr>
          <p:cNvPr id="58" name="Чек_критерий_фон_4"/>
          <p:cNvSpPr/>
          <p:nvPr/>
        </p:nvSpPr>
        <p:spPr>
          <a:xfrm>
            <a:off x="457200" y="30226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9" name="Чек_критерий_4"/>
          <p:cNvSpPr txBox="1"/>
          <p:nvPr/>
        </p:nvSpPr>
        <p:spPr>
          <a:xfrm>
            <a:off x="558800" y="30226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</a:t>
            </a:r>
          </a:p>
        </p:txBody>
      </p:sp>
      <p:sp>
        <p:nvSpPr>
          <p:cNvPr id="60" name="Чек_ячейка_фон_4_0"/>
          <p:cNvSpPr/>
          <p:nvPr/>
        </p:nvSpPr>
        <p:spPr>
          <a:xfrm>
            <a:off x="4292600" y="30226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Чек_ячейка_4_0"/>
          <p:cNvSpPr txBox="1"/>
          <p:nvPr/>
        </p:nvSpPr>
        <p:spPr>
          <a:xfrm>
            <a:off x="43942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 100 мг/сут)</a:t>
            </a:r>
          </a:p>
        </p:txBody>
      </p:sp>
      <p:sp>
        <p:nvSpPr>
          <p:cNvPr id="62" name="Чек_ячейка_фон_4_1"/>
          <p:cNvSpPr/>
          <p:nvPr/>
        </p:nvSpPr>
        <p:spPr>
          <a:xfrm>
            <a:off x="8026400" y="30226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3" name="Чек_ячейка_4_1"/>
          <p:cNvSpPr txBox="1"/>
          <p:nvPr/>
        </p:nvSpPr>
        <p:spPr>
          <a:xfrm>
            <a:off x="81280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</a:t>
            </a:r>
          </a:p>
        </p:txBody>
      </p:sp>
      <p:sp>
        <p:nvSpPr>
          <p:cNvPr id="64" name="Чек_критерий_фон_5"/>
          <p:cNvSpPr/>
          <p:nvPr/>
        </p:nvSpPr>
        <p:spPr>
          <a:xfrm>
            <a:off x="457200" y="35306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5" name="Чек_критерий_5"/>
          <p:cNvSpPr txBox="1"/>
          <p:nvPr/>
        </p:nvSpPr>
        <p:spPr>
          <a:xfrm>
            <a:off x="558800" y="35306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Полный список лекарств</a:t>
            </a:r>
          </a:p>
        </p:txBody>
      </p:sp>
      <p:sp>
        <p:nvSpPr>
          <p:cNvPr id="66" name="Чек_ячейка_фон_5_0"/>
          <p:cNvSpPr/>
          <p:nvPr/>
        </p:nvSpPr>
        <p:spPr>
          <a:xfrm>
            <a:off x="4292600" y="35306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7" name="Чек_ячейка_5_0"/>
          <p:cNvSpPr txBox="1"/>
          <p:nvPr/>
        </p:nvSpPr>
        <p:spPr>
          <a:xfrm>
            <a:off x="43942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(лозартан, эмпаглифлозин 10 мг/сут)</a:t>
            </a:r>
          </a:p>
        </p:txBody>
      </p:sp>
      <p:sp>
        <p:nvSpPr>
          <p:cNvPr id="68" name="Чек_ячейка_фон_5_1"/>
          <p:cNvSpPr/>
          <p:nvPr/>
        </p:nvSpPr>
        <p:spPr>
          <a:xfrm>
            <a:off x="8026400" y="35306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9" name="Чек_ячейка_5_1"/>
          <p:cNvSpPr txBox="1"/>
          <p:nvPr/>
        </p:nvSpPr>
        <p:spPr>
          <a:xfrm>
            <a:off x="81280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(не уточнён)</a:t>
            </a:r>
          </a:p>
        </p:txBody>
      </p:sp>
      <p:sp>
        <p:nvSpPr>
          <p:cNvPr id="70" name="Чек_вывод_1"/>
          <p:cNvSpPr/>
          <p:nvPr/>
        </p:nvSpPr>
        <p:spPr>
          <a:xfrm>
            <a:off x="42926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Врач может рассмотреть начало лечения</a:t>
            </a:r>
          </a:p>
        </p:txBody>
      </p:sp>
      <p:sp>
        <p:nvSpPr>
          <p:cNvPr id="71" name="Чек_действие_фон_1"/>
          <p:cNvSpPr/>
          <p:nvPr/>
        </p:nvSpPr>
        <p:spPr>
          <a:xfrm>
            <a:off x="42926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2" name="Чек_действие_1"/>
          <p:cNvSpPr txBox="1"/>
          <p:nvPr/>
        </p:nvSpPr>
        <p:spPr>
          <a:xfrm>
            <a:off x="44196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проверяет противопоказания и взаимодействия, может начать лечение в дозе 10 мг один раз в сутки (рСКФ 48).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через 4 недели.</a:t>
            </a:r>
          </a:p>
        </p:txBody>
      </p:sp>
      <p:sp>
        <p:nvSpPr>
          <p:cNvPr id="73" name="Чек_вывод_2"/>
          <p:cNvSpPr/>
          <p:nvPr/>
        </p:nvSpPr>
        <p:spPr>
          <a:xfrm>
            <a:off x="80264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Данных для решения пока недостаточно</a:t>
            </a:r>
          </a:p>
        </p:txBody>
      </p:sp>
      <p:sp>
        <p:nvSpPr>
          <p:cNvPr id="74" name="Чек_действие_фон_2"/>
          <p:cNvSpPr/>
          <p:nvPr/>
        </p:nvSpPr>
        <p:spPr>
          <a:xfrm>
            <a:off x="80264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5" name="Чек_действие_2"/>
          <p:cNvSpPr txBox="1"/>
          <p:nvPr/>
        </p:nvSpPr>
        <p:spPr>
          <a:xfrm>
            <a:off x="81534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АКО определено однократно и во время инфекции; сохранная рСКФ не исключает ХБП.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нужно: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после лечения инфекции повторить АКО, подтвердить стойкость изменений (не менее 3 месяцев), определить калий, уточнить список лекарств.</a:t>
            </a:r>
          </a:p>
        </p:txBody>
      </p:sp>
      <p:sp>
        <p:nvSpPr>
          <p:cNvPr id="76" name="Чек_пометка"/>
          <p:cNvSpPr txBox="1"/>
          <p:nvPr/>
        </p:nvSpPr>
        <p:spPr>
          <a:xfrm>
            <a:off x="457200" y="4013200"/>
            <a:ext cx="3708400" cy="215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Условные случаи для обучения. Представитель не оценивает конкретных пациентов и не даёт рекомендаций по их лечению; такие вопросы врача передаёт в медицинский отдел по процедуре компании.</a:t>
            </a:r>
          </a:p>
        </p:txBody>
      </p:sp>
      <p:sp>
        <p:nvSpPr>
          <p:cNvPr id="77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u="none" lang="ru-RU">
                <a:solidFill>
                  <a:srgbClr val="7030A0"/>
                </a:solidFill>
                <a:latin typeface="Arial Narrow"/>
                <a:cs typeface="Arial Narrow"/>
              </a:rPr>
              <a:t>Гиперкалиемия на фоне финеренона: временная отмена и возобновление лечения</a:t>
            </a:r>
          </a:p>
        </p:txBody>
      </p:sp>
      <p:sp>
        <p:nvSpPr>
          <p:cNvPr id="3" name="Условный_случай"/>
          <p:cNvSpPr txBox="1"/>
          <p:nvPr/>
        </p:nvSpPr>
        <p:spPr>
          <a:xfrm>
            <a:off x="457200" y="838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Условный случай для обучения: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взрослый с ХБП, связанной с сахарным диабетом 2 типа, состояние стабильное.</a:t>
            </a:r>
          </a:p>
        </p:txBody>
      </p:sp>
      <p:graphicFrame>
        <p:nvGraphicFramePr>
          <p:cNvPr id="4" name="График_калия"/>
          <p:cNvGraphicFramePr>
            <a:graphicFrameLocks noGrp="1"/>
          </p:cNvGraphicFramePr>
          <p:nvPr/>
        </p:nvGraphicFramePr>
        <p:xfrm>
          <a:off x="381000" y="1219200"/>
          <a:ext cx="5588000" cy="45212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5" name="Шаг_96"/>
          <p:cNvSpPr txBox="1"/>
          <p:nvPr/>
        </p:nvSpPr>
        <p:spPr>
          <a:xfrm>
            <a:off x="6350000" y="1219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До начала лечения: калий 4,5 ммоль/л, рСКФ 65</a:t>
            </a:r>
          </a:p>
        </p:txBody>
      </p:sp>
      <p:sp>
        <p:nvSpPr>
          <p:cNvPr id="6" name="Шаг_текст_96"/>
          <p:cNvSpPr txBox="1"/>
          <p:nvPr/>
        </p:nvSpPr>
        <p:spPr>
          <a:xfrm>
            <a:off x="6350000" y="1549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назначает финеренон 20 мг один раз в сутки.</a:t>
            </a:r>
          </a:p>
        </p:txBody>
      </p:sp>
      <p:sp>
        <p:nvSpPr>
          <p:cNvPr id="7" name="Шаг_170"/>
          <p:cNvSpPr txBox="1"/>
          <p:nvPr/>
        </p:nvSpPr>
        <p:spPr>
          <a:xfrm>
            <a:off x="6350000" y="215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B5323C"/>
                </a:solidFill>
                <a:latin typeface="Arial Narrow"/>
                <a:cs typeface="Arial Narrow"/>
              </a:rPr>
              <a:t>Через 4 недели: калий 5,7 ммоль/л, рСКФ 61</a:t>
            </a:r>
          </a:p>
        </p:txBody>
      </p:sp>
      <p:sp>
        <p:nvSpPr>
          <p:cNvPr id="8" name="Шаг_текст_170"/>
          <p:cNvSpPr txBox="1"/>
          <p:nvPr/>
        </p:nvSpPr>
        <p:spPr>
          <a:xfrm>
            <a:off x="6350000" y="248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Возможная причина: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недавно начат короткий курс ко-тримоксазола.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временно отменяет финеренон, выясняет причину и повторяет анализ.</a:t>
            </a:r>
          </a:p>
        </p:txBody>
      </p:sp>
      <p:sp>
        <p:nvSpPr>
          <p:cNvPr id="9" name="Шаг_270"/>
          <p:cNvSpPr txBox="1"/>
          <p:nvPr/>
        </p:nvSpPr>
        <p:spPr>
          <a:xfrm>
            <a:off x="6350000" y="342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E97132"/>
                </a:solidFill>
                <a:latin typeface="Arial Narrow"/>
                <a:cs typeface="Arial Narrow"/>
              </a:rPr>
              <a:t>Повторный анализ после курса: калий 4,9 ммоль/л</a:t>
            </a:r>
          </a:p>
        </p:txBody>
      </p:sp>
      <p:sp>
        <p:nvSpPr>
          <p:cNvPr id="10" name="Шаг_текст_270"/>
          <p:cNvSpPr txBox="1"/>
          <p:nvPr/>
        </p:nvSpPr>
        <p:spPr>
          <a:xfrm>
            <a:off x="6350000" y="375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может возобновить лечение в дозе 10 мг один раз в сутки. Сразу к 20 мг не возвращаются.</a:t>
            </a:r>
          </a:p>
        </p:txBody>
      </p:sp>
      <p:sp>
        <p:nvSpPr>
          <p:cNvPr id="11" name="Шаг_356"/>
          <p:cNvSpPr txBox="1"/>
          <p:nvPr/>
        </p:nvSpPr>
        <p:spPr>
          <a:xfrm>
            <a:off x="6350000" y="4521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Через 4 недели после возобновления</a:t>
            </a:r>
          </a:p>
        </p:txBody>
      </p:sp>
      <p:sp>
        <p:nvSpPr>
          <p:cNvPr id="12" name="Шаг_текст_356"/>
          <p:cNvSpPr txBox="1"/>
          <p:nvPr/>
        </p:nvSpPr>
        <p:spPr>
          <a:xfrm>
            <a:off x="6350000" y="4851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Проверяют калий и рСКФ. При калии ≤4,8 ммоль/л и снижении рСКФ не более чем на 30% дозу можно повысить до 20 мг.</a:t>
            </a:r>
          </a:p>
        </p:txBody>
      </p:sp>
      <p:sp>
        <p:nvSpPr>
          <p:cNvPr id="13" name="Срочность"/>
          <p:cNvSpPr txBox="1"/>
          <p:nvPr/>
        </p:nvSpPr>
        <p:spPr>
          <a:xfrm>
            <a:off x="6350000" y="5461000"/>
            <a:ext cx="5384800" cy="533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калии ≥6,0 ммоль/л или ухудшении состояния планового контроля не ждут.</a:t>
            </a:r>
          </a:p>
        </p:txBody>
      </p:sp>
      <p:sp>
        <p:nvSpPr>
          <p:cNvPr id="1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фильтрации, мл/мин/1,73 м²;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6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Итоги: что представитель знает и может объяснить врачу</a:t>
            </a:r>
          </a:p>
        </p:txBody>
      </p:sp>
      <p:sp>
        <p:nvSpPr>
          <p:cNvPr id="4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рецептор; АКО: отношение альбумина к креатинину мочи;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KDIGO 2024 Clinical Practice Guideline for CKD. Kidney Int. 2024;105(4S):S117–S314.</a:t>
            </a:r>
          </a:p>
        </p:txBody>
      </p:sp>
      <p:pic>
        <p:nvPicPr>
          <p:cNvPr id="4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6" name="Итог_полоса_1"/>
          <p:cNvSpPr/>
          <p:nvPr/>
        </p:nvSpPr>
        <p:spPr>
          <a:xfrm>
            <a:off x="45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и механизм действия</a:t>
            </a:r>
          </a:p>
        </p:txBody>
      </p:sp>
      <p:sp>
        <p:nvSpPr>
          <p:cNvPr id="47" name="Итог_фон_1"/>
          <p:cNvSpPr/>
          <p:nvPr/>
        </p:nvSpPr>
        <p:spPr>
          <a:xfrm>
            <a:off x="45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8" name="Итог_текст_1"/>
          <p:cNvSpPr txBox="1"/>
          <p:nvPr/>
        </p:nvSpPr>
        <p:spPr>
          <a:xfrm>
            <a:off x="63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Показание по местной инструкции: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взрослые с ХБП, связанной с сахарным диабетом 2 типа. В исследованиях у всех была альбуминурия (АКО ≥30 мг/г).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Механизм: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блокирует МКР; калий может повышаться (слайды 19 и 29).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Перед началом: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калий, рСКФ, противопоказания, фоновая терапия (слайд 32).</a:t>
            </a:r>
          </a:p>
        </p:txBody>
      </p:sp>
      <p:sp>
        <p:nvSpPr>
          <p:cNvPr id="49" name="Итог_полоса_2"/>
          <p:cNvSpPr/>
          <p:nvPr/>
        </p:nvSpPr>
        <p:spPr>
          <a:xfrm>
            <a:off x="426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Польза в исследованиях</a:t>
            </a:r>
          </a:p>
        </p:txBody>
      </p:sp>
      <p:sp>
        <p:nvSpPr>
          <p:cNvPr id="50" name="Итог_фон_2"/>
          <p:cNvSpPr/>
          <p:nvPr/>
        </p:nvSpPr>
        <p:spPr>
          <a:xfrm>
            <a:off x="426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Итог_текст_2"/>
          <p:cNvSpPr txBox="1"/>
          <p:nvPr/>
        </p:nvSpPr>
        <p:spPr>
          <a:xfrm>
            <a:off x="444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Исходы: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относительное снижение риска почечного исхода на 18% (FIDELIO-DKD) и сердечно-сосудистого на 13% (FIGARO-DKD).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(FIDELITY).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Снижение АКО: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показатель на уровне групп; по нему нельзя предсказать исход у конкретного пациента.</a:t>
            </a:r>
          </a:p>
        </p:txBody>
      </p:sp>
      <p:sp>
        <p:nvSpPr>
          <p:cNvPr id="52" name="Итог_полоса_3"/>
          <p:cNvSpPr/>
          <p:nvPr/>
        </p:nvSpPr>
        <p:spPr>
          <a:xfrm>
            <a:off x="807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Контроль калия и функции почек</a:t>
            </a:r>
          </a:p>
        </p:txBody>
      </p:sp>
      <p:sp>
        <p:nvSpPr>
          <p:cNvPr id="53" name="Итог_фон_3"/>
          <p:cNvSpPr/>
          <p:nvPr/>
        </p:nvSpPr>
        <p:spPr>
          <a:xfrm>
            <a:off x="807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Итог_текст_3"/>
          <p:cNvSpPr txBox="1"/>
          <p:nvPr/>
        </p:nvSpPr>
        <p:spPr>
          <a:xfrm>
            <a:off x="825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Сочетания: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что противопоказано, не рекомендуется и когда нужен контроль калия (слайд 30).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до начала, через 4 недели, далее периодически (слайд 33).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Калий &gt;5,5 ммоль/л: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отмена; при калии ≤5,0 возобновление в дозе 10 мг (слайды 34 и 40).</a:t>
            </a:r>
          </a:p>
        </p:txBody>
      </p:sp>
      <p:sp>
        <p:nvSpPr>
          <p:cNvPr id="55" name="Итог_вывод"/>
          <p:cNvSpPr txBox="1"/>
          <p:nvPr/>
        </p:nvSpPr>
        <p:spPr>
          <a:xfrm>
            <a:off x="457200" y="4522953"/>
            <a:ext cx="11277600" cy="754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объясняет данные в рамках местной инструкции и не даёт рекомендаций по лечению конкретных пациентов. Диагноз и лечение определяет врач. Вопросы вне инструкции передают в медицинский отдел, о нежелательных явлениях сообщают в отдел фармаконадзора.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Два вопроса из начала обучения: ваши ответы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1. Альбуминурия сохраняется: какие данные нужны, чтобы обсудить финеренон</a:t>
            </a:r>
          </a:p>
        </p:txBody>
      </p:sp>
      <p:sp>
        <p:nvSpPr>
          <p:cNvPr id="3" name="Вопрос"/>
          <p:cNvSpPr/>
          <p:nvPr/>
        </p:nvSpPr>
        <p:spPr>
          <a:xfrm>
            <a:off x="457200" y="914400"/>
            <a:ext cx="1127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Взрослый с ХБП, связанной с сахарным диабетом 2 типа: гликемия и давление под контролем, альбуминурия сохраняется</a:t>
            </a:r>
          </a:p>
        </p:txBody>
      </p:sp>
      <p:sp>
        <p:nvSpPr>
          <p:cNvPr id="4" name="Пункт_фон_1"/>
          <p:cNvSpPr/>
          <p:nvPr/>
        </p:nvSpPr>
        <p:spPr>
          <a:xfrm>
            <a:off x="457200" y="19304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Пункт_1"/>
          <p:cNvSpPr txBox="1"/>
          <p:nvPr/>
        </p:nvSpPr>
        <p:spPr>
          <a:xfrm>
            <a:off x="660400" y="19304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1. Альбуминурия подтверждена</a:t>
            </a:r>
          </a:p>
        </p:txBody>
      </p:sp>
      <p:sp>
        <p:nvSpPr>
          <p:cNvPr id="6" name="Пункт_1_текст"/>
          <p:cNvSpPr txBox="1"/>
          <p:nvPr/>
        </p:nvSpPr>
        <p:spPr>
          <a:xfrm>
            <a:off x="3759200" y="19304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≥30 мг/г в повторных анализах, изменения сохраняются не менее 3 месяцев, временные причины (например, инфекция) исключены.</a:t>
            </a:r>
          </a:p>
        </p:txBody>
      </p:sp>
      <p:sp>
        <p:nvSpPr>
          <p:cNvPr id="7" name="Пункт_фон_2"/>
          <p:cNvSpPr/>
          <p:nvPr/>
        </p:nvSpPr>
        <p:spPr>
          <a:xfrm>
            <a:off x="457200" y="26162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Пункт_2"/>
          <p:cNvSpPr txBox="1"/>
          <p:nvPr/>
        </p:nvSpPr>
        <p:spPr>
          <a:xfrm>
            <a:off x="660400" y="26162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2. Функция почек</a:t>
            </a:r>
          </a:p>
        </p:txBody>
      </p:sp>
      <p:sp>
        <p:nvSpPr>
          <p:cNvPr id="9" name="Пункт_2_текст"/>
          <p:cNvSpPr txBox="1"/>
          <p:nvPr/>
        </p:nvSpPr>
        <p:spPr>
          <a:xfrm>
            <a:off x="3759200" y="26162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м². Начальная доза 20 мг при рСКФ ≥60 и 10 мг при рСКФ ≥25 и &lt;60.</a:t>
            </a:r>
          </a:p>
        </p:txBody>
      </p:sp>
      <p:sp>
        <p:nvSpPr>
          <p:cNvPr id="10" name="Пункт_фон_3"/>
          <p:cNvSpPr/>
          <p:nvPr/>
        </p:nvSpPr>
        <p:spPr>
          <a:xfrm>
            <a:off x="457200" y="33020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1" name="Пункт_3"/>
          <p:cNvSpPr txBox="1"/>
          <p:nvPr/>
        </p:nvSpPr>
        <p:spPr>
          <a:xfrm>
            <a:off x="660400" y="33020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3. Калий сыворотки</a:t>
            </a:r>
          </a:p>
        </p:txBody>
      </p:sp>
      <p:sp>
        <p:nvSpPr>
          <p:cNvPr id="12" name="Пункт_3_текст"/>
          <p:cNvSpPr txBox="1"/>
          <p:nvPr/>
        </p:nvSpPr>
        <p:spPr>
          <a:xfrm>
            <a:off x="3759200" y="33020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ммоль/л: лечение можно начать; &gt;4,8 и ≤5,0: начало можно рассмотреть при дополнительном контроле калия в первые 4 недели; &gt;5,0: лечение не начинают.</a:t>
            </a:r>
          </a:p>
        </p:txBody>
      </p:sp>
      <p:sp>
        <p:nvSpPr>
          <p:cNvPr id="13" name="Пункт_фон_4"/>
          <p:cNvSpPr/>
          <p:nvPr/>
        </p:nvSpPr>
        <p:spPr>
          <a:xfrm>
            <a:off x="457200" y="39878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4" name="Пункт_4"/>
          <p:cNvSpPr txBox="1"/>
          <p:nvPr/>
        </p:nvSpPr>
        <p:spPr>
          <a:xfrm>
            <a:off x="660400" y="39878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4. Текущая терапия</a:t>
            </a:r>
          </a:p>
        </p:txBody>
      </p:sp>
      <p:sp>
        <p:nvSpPr>
          <p:cNvPr id="15" name="Пункт_4_текст"/>
          <p:cNvSpPr txBox="1"/>
          <p:nvPr/>
        </p:nvSpPr>
        <p:spPr>
          <a:xfrm>
            <a:off x="3759200" y="39878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дозе; принимает ли пациент ингибитор НГЛТ2. Полный список лекарств для проверки взаимодействий и противопоказаний.</a:t>
            </a:r>
          </a:p>
        </p:txBody>
      </p:sp>
      <p:sp>
        <p:nvSpPr>
          <p:cNvPr id="16" name="Пункт_фон_5"/>
          <p:cNvSpPr/>
          <p:nvPr/>
        </p:nvSpPr>
        <p:spPr>
          <a:xfrm>
            <a:off x="457200" y="4673600"/>
            <a:ext cx="11277600" cy="9652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7" name="Пункт_5"/>
          <p:cNvSpPr txBox="1"/>
          <p:nvPr/>
        </p:nvSpPr>
        <p:spPr>
          <a:xfrm>
            <a:off x="660400" y="4673600"/>
            <a:ext cx="29972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5. Доказательная база</a:t>
            </a:r>
          </a:p>
        </p:txBody>
      </p:sp>
      <p:sp>
        <p:nvSpPr>
          <p:cNvPr id="18" name="Пункт_5_текст"/>
          <p:cNvSpPr txBox="1"/>
          <p:nvPr/>
        </p:nvSpPr>
        <p:spPr>
          <a:xfrm>
            <a:off x="3759200" y="4673600"/>
            <a:ext cx="77978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FIDELIO-DKD: относительное снижение риска почечного исхода на 18%; FIGARO-DKD: сердечно-сосудистого на 13%.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6,9%; окончательная отмена: финеренон 1,7%, плацебо 0,6% (FIDELITY).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7150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Почему_обсуждать"/>
          <p:cNvSpPr txBox="1"/>
          <p:nvPr/>
        </p:nvSpPr>
        <p:spPr>
          <a:xfrm>
            <a:off x="660400" y="1371600"/>
            <a:ext cx="10896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Почему это важно: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альбуминурии риск почечных и сердечно-сосудистых осложнений выше (слайд 13).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2. Калий повысился: что предусматривает инструкция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457200" y="9144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при плановом контроле: что делает врач</a:t>
            </a:r>
          </a:p>
        </p:txBody>
      </p:sp>
      <p:graphicFrame>
        <p:nvGraphicFramePr>
          <p:cNvPr id="15" name="График_отмены"/>
          <p:cNvGraphicFramePr>
            <a:graphicFrameLocks noGrp="1"/>
          </p:cNvGraphicFramePr>
          <p:nvPr/>
        </p:nvGraphicFramePr>
        <p:xfrm>
          <a:off x="381000" y="3886200"/>
          <a:ext cx="7112000" cy="175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Отмена_заголовок"/>
          <p:cNvSpPr txBox="1"/>
          <p:nvPr/>
        </p:nvSpPr>
        <p:spPr>
          <a:xfrm>
            <a:off x="457200" y="3606800"/>
            <a:ext cx="7112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гиперкалиемии в исследованиях, % пациентов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8960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Источник алгоритма: инструкция по медицинскому применению. Решение о временной отмене и возобновлении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Алгоритм_1_рамка"/>
          <p:cNvSpPr/>
          <p:nvPr/>
        </p:nvSpPr>
        <p:spPr>
          <a:xfrm>
            <a:off x="457200" y="1244600"/>
            <a:ext cx="1651000" cy="20066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Алгоритм_1"/>
          <p:cNvSpPr txBox="1"/>
          <p:nvPr/>
        </p:nvSpPr>
        <p:spPr>
          <a:xfrm>
            <a:off x="533400" y="1282700"/>
            <a:ext cx="1498600" cy="1930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Плановый контроль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 сыворотки</a:t>
            </a:r>
          </a:p>
        </p:txBody>
      </p:sp>
      <p:sp>
        <p:nvSpPr>
          <p:cNvPr id="24" name="Алгоритм_0_рамка"/>
          <p:cNvSpPr/>
          <p:nvPr/>
        </p:nvSpPr>
        <p:spPr>
          <a:xfrm>
            <a:off x="2413000" y="12446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Алгоритм_0"/>
          <p:cNvSpPr txBox="1"/>
          <p:nvPr/>
        </p:nvSpPr>
        <p:spPr>
          <a:xfrm>
            <a:off x="2489200" y="12827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≤4,8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дозу 10 мг можно повысить до 20 мг, если рСКФ снизилась не более чем на 30%; дозу 20 мг сохраняют</a:t>
            </a:r>
          </a:p>
        </p:txBody>
      </p:sp>
      <p:sp>
        <p:nvSpPr>
          <p:cNvPr id="26" name="Алгоритм_2_рамка"/>
          <p:cNvSpPr/>
          <p:nvPr/>
        </p:nvSpPr>
        <p:spPr>
          <a:xfrm>
            <a:off x="2413000" y="17018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E9713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Алгоритм_2"/>
          <p:cNvSpPr txBox="1"/>
          <p:nvPr/>
        </p:nvSpPr>
        <p:spPr>
          <a:xfrm>
            <a:off x="2489200" y="17399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&gt;4,8 и ≤5,5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текущую дозу сохраняют</a:t>
            </a:r>
          </a:p>
        </p:txBody>
      </p:sp>
      <p:sp>
        <p:nvSpPr>
          <p:cNvPr id="28" name="Алгоритм_3_рамка"/>
          <p:cNvSpPr/>
          <p:nvPr/>
        </p:nvSpPr>
        <p:spPr>
          <a:xfrm>
            <a:off x="2413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Алгоритм_3"/>
          <p:cNvSpPr txBox="1"/>
          <p:nvPr/>
        </p:nvSpPr>
        <p:spPr>
          <a:xfrm>
            <a:off x="2489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отмена, врач выясняет причину</a:t>
            </a:r>
          </a:p>
        </p:txBody>
      </p:sp>
      <p:sp>
        <p:nvSpPr>
          <p:cNvPr id="30" name="Алгоритм_4_рамка"/>
          <p:cNvSpPr/>
          <p:nvPr/>
        </p:nvSpPr>
        <p:spPr>
          <a:xfrm>
            <a:off x="4762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Алгоритм_4"/>
          <p:cNvSpPr txBox="1"/>
          <p:nvPr/>
        </p:nvSpPr>
        <p:spPr>
          <a:xfrm>
            <a:off x="4838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Повторный анализ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</a:t>
            </a:r>
          </a:p>
        </p:txBody>
      </p:sp>
      <p:cxnSp>
        <p:nvCxnSpPr>
          <p:cNvPr id="32" name="Алгоритм_стрелка_4"/>
          <p:cNvCxnSpPr/>
          <p:nvPr/>
        </p:nvCxnSpPr>
        <p:spPr>
          <a:xfrm>
            <a:off x="4622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3" name="Алгоритм_5_рамка"/>
          <p:cNvSpPr/>
          <p:nvPr/>
        </p:nvSpPr>
        <p:spPr>
          <a:xfrm>
            <a:off x="7112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Алгоритм_5"/>
          <p:cNvSpPr txBox="1"/>
          <p:nvPr/>
        </p:nvSpPr>
        <p:spPr>
          <a:xfrm>
            <a:off x="7188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≤5,0: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возобновление, 10 мг один раз в сутки</a:t>
            </a:r>
          </a:p>
        </p:txBody>
      </p:sp>
      <p:cxnSp>
        <p:nvCxnSpPr>
          <p:cNvPr id="35" name="Алгоритм_стрелка_5"/>
          <p:cNvCxnSpPr/>
          <p:nvPr/>
        </p:nvCxnSpPr>
        <p:spPr>
          <a:xfrm>
            <a:off x="69723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6" name="Алгоритм_6_рамка"/>
          <p:cNvSpPr/>
          <p:nvPr/>
        </p:nvSpPr>
        <p:spPr>
          <a:xfrm>
            <a:off x="9461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Алгоритм_6"/>
          <p:cNvSpPr txBox="1"/>
          <p:nvPr/>
        </p:nvSpPr>
        <p:spPr>
          <a:xfrm>
            <a:off x="9537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Через 4 недели: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≤4,8 и снижение рСКФ не более чем на 30%: дозу можно повысить до 20 мг</a:t>
            </a:r>
          </a:p>
        </p:txBody>
      </p:sp>
      <p:cxnSp>
        <p:nvCxnSpPr>
          <p:cNvPr id="38" name="Алгоритм_стрелка_6"/>
          <p:cNvCxnSpPr/>
          <p:nvPr/>
        </p:nvCxnSpPr>
        <p:spPr>
          <a:xfrm>
            <a:off x="9321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39" name="Алгоритм_стрелка_0"/>
          <p:cNvCxnSpPr/>
          <p:nvPr/>
        </p:nvCxnSpPr>
        <p:spPr>
          <a:xfrm>
            <a:off x="2108200" y="143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0" name="Алгоритм_стрелка_1"/>
          <p:cNvCxnSpPr/>
          <p:nvPr/>
        </p:nvCxnSpPr>
        <p:spPr>
          <a:xfrm>
            <a:off x="2108200" y="18923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1" name="Алгоритм_стрелка_2"/>
          <p:cNvCxnSpPr/>
          <p:nvPr/>
        </p:nvCxnSpPr>
        <p:spPr>
          <a:xfrm>
            <a:off x="2108200" y="270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42" name="Срочно_рамка"/>
          <p:cNvSpPr/>
          <p:nvPr/>
        </p:nvSpPr>
        <p:spPr>
          <a:xfrm>
            <a:off x="7874000" y="3683000"/>
            <a:ext cx="3860800" cy="1905000"/>
          </a:xfrm>
          <a:prstGeom prst="roundRect">
            <a:avLst>
              <a:gd name="adj" fmla="val 4000"/>
            </a:avLst>
          </a:prstGeom>
          <a:solidFill>
            <a:srgbClr val="FBEAEA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Срочно"/>
          <p:cNvSpPr txBox="1"/>
          <p:nvPr/>
        </p:nvSpPr>
        <p:spPr>
          <a:xfrm>
            <a:off x="8077200" y="3759200"/>
            <a:ext cx="3454400" cy="175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Контрольные вопросы для медицинских представителей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НГЛТ2: натрий-глюкозный котранспортёр 2 типа.</a:t>
            </a:r>
          </a:p>
        </p:txBody>
      </p:sp>
      <p:pic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" name="Вопрос_1_фон"/>
          <p:cNvSpPr/>
          <p:nvPr/>
        </p:nvSpPr>
        <p:spPr>
          <a:xfrm>
            <a:off x="4572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Вопрос_1_номер"/>
          <p:cNvSpPr txBox="1"/>
          <p:nvPr/>
        </p:nvSpPr>
        <p:spPr>
          <a:xfrm>
            <a:off x="6096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1.</a:t>
            </a:r>
          </a:p>
        </p:txBody>
      </p:sp>
      <p:sp>
        <p:nvSpPr>
          <p:cNvPr id="32" name="Вопрос_1"/>
          <p:cNvSpPr txBox="1"/>
          <p:nvPr/>
        </p:nvSpPr>
        <p:spPr>
          <a:xfrm>
            <a:off x="10922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сохранная рСКФ не исключает болезнь почек?</a:t>
            </a:r>
          </a:p>
        </p:txBody>
      </p:sp>
      <p:sp>
        <p:nvSpPr>
          <p:cNvPr id="33" name="Вопрос_2_фон"/>
          <p:cNvSpPr/>
          <p:nvPr/>
        </p:nvSpPr>
        <p:spPr>
          <a:xfrm>
            <a:off x="62484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Вопрос_2_номер"/>
          <p:cNvSpPr txBox="1"/>
          <p:nvPr/>
        </p:nvSpPr>
        <p:spPr>
          <a:xfrm>
            <a:off x="64008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2.</a:t>
            </a:r>
          </a:p>
        </p:txBody>
      </p:sp>
      <p:sp>
        <p:nvSpPr>
          <p:cNvPr id="35" name="Вопрос_2"/>
          <p:cNvSpPr txBox="1"/>
          <p:nvPr/>
        </p:nvSpPr>
        <p:spPr>
          <a:xfrm>
            <a:off x="68834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первичные исходы были в FIDELIO-DKD и FIGARO-DKD?</a:t>
            </a:r>
          </a:p>
        </p:txBody>
      </p:sp>
      <p:sp>
        <p:nvSpPr>
          <p:cNvPr id="36" name="Вопрос_3_фон"/>
          <p:cNvSpPr/>
          <p:nvPr/>
        </p:nvSpPr>
        <p:spPr>
          <a:xfrm>
            <a:off x="4572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Вопрос_3_номер"/>
          <p:cNvSpPr txBox="1"/>
          <p:nvPr/>
        </p:nvSpPr>
        <p:spPr>
          <a:xfrm>
            <a:off x="6096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3.</a:t>
            </a:r>
          </a:p>
        </p:txBody>
      </p:sp>
      <p:sp>
        <p:nvSpPr>
          <p:cNvPr id="38" name="Вопрос_3"/>
          <p:cNvSpPr txBox="1"/>
          <p:nvPr/>
        </p:nvSpPr>
        <p:spPr>
          <a:xfrm>
            <a:off x="10922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спрашивает: АКО у пациента снизилось, значит ли это, что риск диализа стал ниже? Что ответить?</a:t>
            </a:r>
          </a:p>
        </p:txBody>
      </p:sp>
      <p:sp>
        <p:nvSpPr>
          <p:cNvPr id="39" name="Вопрос_4_фон"/>
          <p:cNvSpPr/>
          <p:nvPr/>
        </p:nvSpPr>
        <p:spPr>
          <a:xfrm>
            <a:off x="62484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0" name="Вопрос_4_номер"/>
          <p:cNvSpPr txBox="1"/>
          <p:nvPr/>
        </p:nvSpPr>
        <p:spPr>
          <a:xfrm>
            <a:off x="64008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4.</a:t>
            </a:r>
          </a:p>
        </p:txBody>
      </p:sp>
      <p:sp>
        <p:nvSpPr>
          <p:cNvPr id="41" name="Вопрос_4"/>
          <p:cNvSpPr txBox="1"/>
          <p:nvPr/>
        </p:nvSpPr>
        <p:spPr>
          <a:xfrm>
            <a:off x="68834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Можно ли заменить ингибитор НГЛТ2 финереноном?</a:t>
            </a:r>
          </a:p>
        </p:txBody>
      </p:sp>
      <p:sp>
        <p:nvSpPr>
          <p:cNvPr id="42" name="Вопрос_5_фон"/>
          <p:cNvSpPr/>
          <p:nvPr/>
        </p:nvSpPr>
        <p:spPr>
          <a:xfrm>
            <a:off x="4572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Вопрос_5_номер"/>
          <p:cNvSpPr txBox="1"/>
          <p:nvPr/>
        </p:nvSpPr>
        <p:spPr>
          <a:xfrm>
            <a:off x="6096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5.</a:t>
            </a:r>
          </a:p>
        </p:txBody>
      </p:sp>
      <p:sp>
        <p:nvSpPr>
          <p:cNvPr id="44" name="Вопрос_5"/>
          <p:cNvSpPr txBox="1"/>
          <p:nvPr/>
        </p:nvSpPr>
        <p:spPr>
          <a:xfrm>
            <a:off x="10922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финеренон может повышать калий?</a:t>
            </a:r>
          </a:p>
        </p:txBody>
      </p:sp>
      <p:sp>
        <p:nvSpPr>
          <p:cNvPr id="45" name="Вопрос_6_фон"/>
          <p:cNvSpPr/>
          <p:nvPr/>
        </p:nvSpPr>
        <p:spPr>
          <a:xfrm>
            <a:off x="62484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6" name="Вопрос_6_номер"/>
          <p:cNvSpPr txBox="1"/>
          <p:nvPr/>
        </p:nvSpPr>
        <p:spPr>
          <a:xfrm>
            <a:off x="64008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6.</a:t>
            </a:r>
          </a:p>
        </p:txBody>
      </p:sp>
      <p:sp>
        <p:nvSpPr>
          <p:cNvPr id="47" name="Вопрос_6"/>
          <p:cNvSpPr txBox="1"/>
          <p:nvPr/>
        </p:nvSpPr>
        <p:spPr>
          <a:xfrm>
            <a:off x="68834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Какая начальная доза финеренона при рСКФ 48 и при рСКФ 72?</a:t>
            </a:r>
          </a:p>
        </p:txBody>
      </p:sp>
      <p:sp>
        <p:nvSpPr>
          <p:cNvPr id="48" name="Вопрос_7_фон"/>
          <p:cNvSpPr/>
          <p:nvPr/>
        </p:nvSpPr>
        <p:spPr>
          <a:xfrm>
            <a:off x="4572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Вопрос_7_номер"/>
          <p:cNvSpPr txBox="1"/>
          <p:nvPr/>
        </p:nvSpPr>
        <p:spPr>
          <a:xfrm>
            <a:off x="6096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7.</a:t>
            </a:r>
          </a:p>
        </p:txBody>
      </p:sp>
      <p:sp>
        <p:nvSpPr>
          <p:cNvPr id="50" name="Вопрос_7"/>
          <p:cNvSpPr txBox="1"/>
          <p:nvPr/>
        </p:nvSpPr>
        <p:spPr>
          <a:xfrm>
            <a:off x="10922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Когда дозу 10 мг не повышают до 20 мг, даже если калий ≤4,8 ммоль/л?</a:t>
            </a:r>
          </a:p>
        </p:txBody>
      </p:sp>
      <p:sp>
        <p:nvSpPr>
          <p:cNvPr id="51" name="Вопрос_8_фон"/>
          <p:cNvSpPr/>
          <p:nvPr/>
        </p:nvSpPr>
        <p:spPr>
          <a:xfrm>
            <a:off x="62484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2" name="Вопрос_8_номер"/>
          <p:cNvSpPr txBox="1"/>
          <p:nvPr/>
        </p:nvSpPr>
        <p:spPr>
          <a:xfrm>
            <a:off x="64008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8.</a:t>
            </a:r>
          </a:p>
        </p:txBody>
      </p:sp>
      <p:sp>
        <p:nvSpPr>
          <p:cNvPr id="53" name="Вопрос_8"/>
          <p:cNvSpPr txBox="1"/>
          <p:nvPr/>
        </p:nvSpPr>
        <p:spPr>
          <a:xfrm>
            <a:off x="68834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сочетания с финереноном противопоказаны или не рекомендуются?</a:t>
            </a:r>
          </a:p>
        </p:txBody>
      </p:sp>
      <p:sp>
        <p:nvSpPr>
          <p:cNvPr id="54" name="Вопрос_9_фон"/>
          <p:cNvSpPr/>
          <p:nvPr/>
        </p:nvSpPr>
        <p:spPr>
          <a:xfrm>
            <a:off x="4572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Вопрос_9_номер"/>
          <p:cNvSpPr txBox="1"/>
          <p:nvPr/>
        </p:nvSpPr>
        <p:spPr>
          <a:xfrm>
            <a:off x="6096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9.</a:t>
            </a:r>
          </a:p>
        </p:txBody>
      </p:sp>
      <p:sp>
        <p:nvSpPr>
          <p:cNvPr id="56" name="Вопрос_9"/>
          <p:cNvSpPr txBox="1"/>
          <p:nvPr/>
        </p:nvSpPr>
        <p:spPr>
          <a:xfrm>
            <a:off x="10922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При каких сочетаниях нужен дополнительный контроль калия?</a:t>
            </a:r>
          </a:p>
        </p:txBody>
      </p:sp>
      <p:sp>
        <p:nvSpPr>
          <p:cNvPr id="57" name="Вопрос_10_фон"/>
          <p:cNvSpPr/>
          <p:nvPr/>
        </p:nvSpPr>
        <p:spPr>
          <a:xfrm>
            <a:off x="62484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8" name="Вопрос_10_номер"/>
          <p:cNvSpPr txBox="1"/>
          <p:nvPr/>
        </p:nvSpPr>
        <p:spPr>
          <a:xfrm>
            <a:off x="64008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10.</a:t>
            </a:r>
          </a:p>
        </p:txBody>
      </p:sp>
      <p:sp>
        <p:nvSpPr>
          <p:cNvPr id="59" name="Вопрос_10"/>
          <p:cNvSpPr txBox="1"/>
          <p:nvPr/>
        </p:nvSpPr>
        <p:spPr>
          <a:xfrm>
            <a:off x="68834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рассказывает, что у пациента на финереноне калий 6,2 ммоль/л. Что делает представитель?</a:t>
            </a:r>
          </a:p>
        </p:txBody>
      </p:sp>
      <p:sp>
        <p:nvSpPr>
          <p:cNvPr id="60" name="Вопрос_11_фон"/>
          <p:cNvSpPr/>
          <p:nvPr/>
        </p:nvSpPr>
        <p:spPr>
          <a:xfrm>
            <a:off x="457200" y="54525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Вопрос_11_номер"/>
          <p:cNvSpPr txBox="1"/>
          <p:nvPr/>
        </p:nvSpPr>
        <p:spPr>
          <a:xfrm>
            <a:off x="609600" y="54525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11.</a:t>
            </a:r>
          </a:p>
        </p:txBody>
      </p:sp>
      <p:sp>
        <p:nvSpPr>
          <p:cNvPr id="62" name="Вопрос_11"/>
          <p:cNvSpPr txBox="1"/>
          <p:nvPr/>
        </p:nvSpPr>
        <p:spPr>
          <a:xfrm>
            <a:off x="1092200" y="54906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 о финереноне при сердечной недостаточности или диабете 1 типа. Что делает представитель?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Приложение: данные вне показаний местной инструкции</a:t>
            </a:r>
          </a:p>
        </p:txBody>
      </p:sp>
      <p:sp>
        <p:nvSpPr>
          <p:cNvPr id="3" name="Содержание"/>
          <p:cNvSpPr txBox="1"/>
          <p:nvPr/>
        </p:nvSpPr>
        <p:spPr>
          <a:xfrm>
            <a:off x="457200" y="1066800"/>
            <a:ext cx="11277600" cy="1397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в приложении: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ARTS, II фаза: сравнение со спиронолактоном по частоте повышения калия при сердечной недостаточности (слайд 44)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FIND-CKD: хроническая болезнь почек без диабета (слайд 45)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FINE-ONE: диабет 1 типа и регуляторный статус в США (слайды 46 и 47)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FINEARTS-HF: сердечная недостаточность с фракцией выброса ≥40% (слайд 48)</a:t>
            </a:r>
          </a:p>
        </p:txBody>
      </p:sp>
      <p:sp>
        <p:nvSpPr>
          <p:cNvPr id="4" name="Комплаенс_полоса"/>
          <p:cNvSpPr/>
          <p:nvPr/>
        </p:nvSpPr>
        <p:spPr>
          <a:xfrm>
            <a:off x="457200" y="2819400"/>
            <a:ext cx="11277600" cy="431800"/>
          </a:xfrm>
          <a:prstGeom prst="roundRect">
            <a:avLst>
              <a:gd name="adj" fmla="val 23529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Только для внутреннего обучения</a:t>
            </a:r>
          </a:p>
        </p:txBody>
      </p:sp>
      <p:sp>
        <p:nvSpPr>
          <p:cNvPr id="5" name="Комплаенс_фон"/>
          <p:cNvSpPr/>
          <p:nvPr/>
        </p:nvSpPr>
        <p:spPr>
          <a:xfrm>
            <a:off x="457200" y="3302000"/>
            <a:ext cx="11277600" cy="20320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Комплаенс"/>
          <p:cNvSpPr txBox="1"/>
          <p:nvPr/>
        </p:nvSpPr>
        <p:spPr>
          <a:xfrm>
            <a:off x="685800" y="3302000"/>
            <a:ext cx="10820400" cy="203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Зачем: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чтобы представитель узнавал вопросы вне показаний и правильно их передавал.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Правила: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слайды приложения врачам не показывают, не раздают и не пересылают. Представитель не обсуждает эти данные ни по своей инициативе, ни в ответ на вопрос врача; вопрос передаёт в медицинский отдел по процедуре компании.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этих показаний нет; одобрения в других странах местное показание не расширяют. Сравнение со спиронолактоном получено в коротком исследовании II фазы, результат описательный.</a:t>
            </a:r>
          </a:p>
        </p:txBody>
      </p:sp>
      <p:pic>
        <p:nvPicPr>
          <p:cNvPr id="7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ARTS (II фаза): частота повышения калия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финереноне и спиронолактоне</a:t>
            </a: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472184"/>
            <a:ext cx="6464808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" y="2359152"/>
          <a:ext cx="6419088" cy="268833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457200" y="5276850"/>
            <a:ext cx="6686550" cy="10953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долгосрочное преимущество по безопасности не установлено.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повышает риск гиперкалиемии по сравнению с плацебо. Калий и функцию почек контролируют при применении обоих препаратов.</a:t>
            </a:r>
          </a:p>
        </p:txBody>
      </p:sp>
      <p:sp>
        <p:nvSpPr>
          <p:cNvPr id="7" name="Текст: II фаза, часть B"/>
          <p:cNvSpPr txBox="1"/>
          <p:nvPr/>
        </p:nvSpPr>
        <p:spPr>
          <a:xfrm>
            <a:off x="7580375" y="14264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ARTS, часть B</a:t>
            </a:r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580375" y="1874519"/>
            <a:ext cx="4105656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392 пациента с сердечной недостаточностью со сниженной фракцией выброса и умеренным нарушением функции почек (анализ безопасности).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лечение 4 недели.</a:t>
            </a:r>
          </a:p>
        </p:txBody>
      </p:sp>
      <p:sp>
        <p:nvSpPr>
          <p:cNvPr id="9" name="Текст: Изученные дозы"/>
          <p:cNvSpPr txBox="1"/>
          <p:nvPr/>
        </p:nvSpPr>
        <p:spPr>
          <a:xfrm>
            <a:off x="7580375" y="3538728"/>
            <a:ext cx="4105656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Изученные дозы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580375" y="3877056"/>
            <a:ext cx="4105656" cy="12252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2,5; 5 или 10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 либо 5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F9ED5"/>
                </a:solidFill>
                <a:latin typeface="Arial Narrow"/>
                <a:cs typeface="Arial Narrow"/>
              </a:rPr>
              <a:t>Спиронолактон: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25–50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581900" y="5286375"/>
            <a:ext cx="4105275" cy="1047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группы доз объединены в дополнительном анализе, спиронолактон применяли открыто. Результат относится к дозам 2,5–10 мг и 4 неделям лечения; переносить его на ХБП и диабет 2 типа нельзя.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Eur Heart J. 2013;34:2453–2463. Agarwal R, et al. Eur Heart J. 2022;43:474–484.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FIND-CKD: при ХБП без диабета финеренон замедлял снижение рСКФ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ACEF5D14-7FCF-4AB6-884A-7113EE853242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1584 взрослых с хронической болезнью почек без диабета и с альбуминурией.</a:t>
            </a:r>
          </a:p>
        </p:txBody>
      </p:sp>
      <p:sp>
        <p:nvSpPr>
          <p:cNvPr id="12" name="eligibility">
            <a:extLst>
              <a:ext uri="{FF2B5EF4-FFF2-40B4-BE49-F238E27FC236}">
                <a16:creationId xmlns:a16="http://schemas.microsoft.com/office/drawing/2014/main" id="{442A69C6-83AB-4A31-9F74-4EBDF978025E}"/>
              </a:ext>
            </a:extLst>
          </p:cNvPr>
          <p:cNvSpPr>
            <a:spLocks noGrp="1"/>
          </p:cNvSpPr>
          <p:nvPr/>
        </p:nvSpPr>
        <p:spPr>
          <a:xfrm>
            <a:off x="457200" y="100965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≥25 и &lt;90 мл/мин/1,73 м², АКО 200–3500 мг/г.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71F9A861-AEC6-4581-92AE-19B471937C50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 (по протоколу).</a:t>
            </a:r>
          </a:p>
        </p:txBody>
      </p:sp>
      <p:sp>
        <p:nvSpPr>
          <p:cNvPr id="14" name="y_title">
            <a:extLst>
              <a:ext uri="{FF2B5EF4-FFF2-40B4-BE49-F238E27FC236}">
                <a16:creationId xmlns:a16="http://schemas.microsoft.com/office/drawing/2014/main" id="{6EBA6AFB-347A-4844-8BFE-9CE22024B2F0}"/>
              </a:ext>
            </a:extLst>
          </p:cNvPr>
          <p:cNvSpPr>
            <a:spLocks noGrp="1"/>
          </p:cNvSpPr>
          <p:nvPr/>
        </p:nvSpPr>
        <p:spPr>
          <a:xfrm>
            <a:off x="457200" y="1619697"/>
            <a:ext cx="8229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рСКФ от исходного уровня, мл/мин/1,73 м²</a:t>
            </a:r>
          </a:p>
        </p:txBody>
      </p:sp>
      <p:sp>
        <p:nvSpPr>
          <p:cNvPr id="15" name="source_inset_background_5">
            <a:extLst>
              <a:ext uri="{FF2B5EF4-FFF2-40B4-BE49-F238E27FC236}">
                <a16:creationId xmlns:a16="http://schemas.microsoft.com/office/drawing/2014/main" id="{6EBB4F0B-7A56-4FD4-8270-5045A93F5FC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75" y="-67530"/>
                </a:moveTo>
                <a:lnTo>
                  <a:pt x="7019934" y="-67530"/>
                </a:lnTo>
                <a:lnTo>
                  <a:pt x="7019934" y="1890488"/>
                </a:lnTo>
                <a:lnTo>
                  <a:pt x="5591175" y="1890488"/>
                </a:lnTo>
                <a:close/>
              </a:path>
            </a:pathLst>
          </a:custGeom>
          <a:solidFill>
            <a:srgbClr val="F2F2F3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" name="axis_x_axis_7">
            <a:extLst>
              <a:ext uri="{FF2B5EF4-FFF2-40B4-BE49-F238E27FC236}">
                <a16:creationId xmlns:a16="http://schemas.microsoft.com/office/drawing/2014/main" id="{19982CDE-5D80-41E6-BD68-91C88D74429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02133" y="1904950"/>
                </a:moveTo>
                <a:lnTo>
                  <a:pt x="716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axis_x_axis_8">
            <a:extLst>
              <a:ext uri="{FF2B5EF4-FFF2-40B4-BE49-F238E27FC236}">
                <a16:creationId xmlns:a16="http://schemas.microsoft.com/office/drawing/2014/main" id="{CEF385DC-ECF6-438C-B258-92C561B5B85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904950"/>
                </a:moveTo>
                <a:lnTo>
                  <a:pt x="5551963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axis_axis_break_9">
            <a:extLst>
              <a:ext uri="{FF2B5EF4-FFF2-40B4-BE49-F238E27FC236}">
                <a16:creationId xmlns:a16="http://schemas.microsoft.com/office/drawing/2014/main" id="{941FB659-18B1-4FE0-8E9C-A0A7B971E62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56314" y="1856398"/>
                </a:moveTo>
                <a:lnTo>
                  <a:pt x="5458054" y="195027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axis_axis_break_10">
            <a:extLst>
              <a:ext uri="{FF2B5EF4-FFF2-40B4-BE49-F238E27FC236}">
                <a16:creationId xmlns:a16="http://schemas.microsoft.com/office/drawing/2014/main" id="{A97A8409-92BE-40A1-BAF5-4A0E415596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63" y="1861532"/>
                </a:moveTo>
                <a:lnTo>
                  <a:pt x="5492904" y="195540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axis_y_axis_12">
            <a:extLst>
              <a:ext uri="{FF2B5EF4-FFF2-40B4-BE49-F238E27FC236}">
                <a16:creationId xmlns:a16="http://schemas.microsoft.com/office/drawing/2014/main" id="{2C969B75-F222-4C06-A831-89E0539EB7D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axis_y_zero_reference_11">
            <a:extLst>
              <a:ext uri="{FF2B5EF4-FFF2-40B4-BE49-F238E27FC236}">
                <a16:creationId xmlns:a16="http://schemas.microsoft.com/office/drawing/2014/main" id="{F40E94EC-BAE5-43AD-BFF7-8DAECA02216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58867"/>
                </a:moveTo>
                <a:lnTo>
                  <a:pt x="6962762" y="158867"/>
                </a:lnTo>
                <a:moveTo>
                  <a:pt x="6905599" y="158867"/>
                </a:moveTo>
                <a:lnTo>
                  <a:pt x="6848436" y="158867"/>
                </a:lnTo>
                <a:moveTo>
                  <a:pt x="6791274" y="158867"/>
                </a:moveTo>
                <a:lnTo>
                  <a:pt x="6734111" y="158867"/>
                </a:lnTo>
                <a:moveTo>
                  <a:pt x="6676948" y="158867"/>
                </a:moveTo>
                <a:lnTo>
                  <a:pt x="6619785" y="158867"/>
                </a:lnTo>
                <a:moveTo>
                  <a:pt x="6562622" y="158867"/>
                </a:moveTo>
                <a:lnTo>
                  <a:pt x="6505459" y="158867"/>
                </a:lnTo>
                <a:moveTo>
                  <a:pt x="6448296" y="158867"/>
                </a:moveTo>
                <a:lnTo>
                  <a:pt x="6391134" y="158867"/>
                </a:lnTo>
                <a:moveTo>
                  <a:pt x="6333971" y="158867"/>
                </a:moveTo>
                <a:lnTo>
                  <a:pt x="6276808" y="158867"/>
                </a:lnTo>
                <a:moveTo>
                  <a:pt x="6219645" y="158867"/>
                </a:moveTo>
                <a:lnTo>
                  <a:pt x="6162482" y="158867"/>
                </a:lnTo>
                <a:moveTo>
                  <a:pt x="6105319" y="158867"/>
                </a:moveTo>
                <a:lnTo>
                  <a:pt x="6048157" y="158867"/>
                </a:lnTo>
                <a:moveTo>
                  <a:pt x="5990994" y="158867"/>
                </a:moveTo>
                <a:lnTo>
                  <a:pt x="5933831" y="158867"/>
                </a:lnTo>
                <a:moveTo>
                  <a:pt x="5876668" y="158867"/>
                </a:moveTo>
                <a:lnTo>
                  <a:pt x="5819505" y="158867"/>
                </a:lnTo>
                <a:moveTo>
                  <a:pt x="5762342" y="158867"/>
                </a:moveTo>
                <a:lnTo>
                  <a:pt x="5705179" y="158867"/>
                </a:lnTo>
                <a:moveTo>
                  <a:pt x="5648017" y="158867"/>
                </a:moveTo>
                <a:lnTo>
                  <a:pt x="5590954" y="158867"/>
                </a:lnTo>
                <a:moveTo>
                  <a:pt x="5551650" y="158867"/>
                </a:moveTo>
                <a:lnTo>
                  <a:pt x="5512347" y="158867"/>
                </a:lnTo>
                <a:moveTo>
                  <a:pt x="5473043" y="158867"/>
                </a:moveTo>
                <a:lnTo>
                  <a:pt x="5433739" y="158867"/>
                </a:lnTo>
                <a:moveTo>
                  <a:pt x="5394435" y="158867"/>
                </a:moveTo>
                <a:lnTo>
                  <a:pt x="5355131" y="158867"/>
                </a:lnTo>
                <a:moveTo>
                  <a:pt x="5315827" y="158867"/>
                </a:moveTo>
                <a:lnTo>
                  <a:pt x="5276524" y="158867"/>
                </a:lnTo>
                <a:moveTo>
                  <a:pt x="5237220" y="158867"/>
                </a:moveTo>
                <a:lnTo>
                  <a:pt x="5197916" y="158867"/>
                </a:lnTo>
                <a:moveTo>
                  <a:pt x="5158612" y="158867"/>
                </a:moveTo>
                <a:lnTo>
                  <a:pt x="5119308" y="158867"/>
                </a:lnTo>
                <a:moveTo>
                  <a:pt x="5080005" y="158867"/>
                </a:moveTo>
                <a:lnTo>
                  <a:pt x="5040701" y="158867"/>
                </a:lnTo>
                <a:moveTo>
                  <a:pt x="5001397" y="158867"/>
                </a:moveTo>
                <a:lnTo>
                  <a:pt x="4962093" y="158867"/>
                </a:lnTo>
                <a:moveTo>
                  <a:pt x="4922789" y="158867"/>
                </a:moveTo>
                <a:lnTo>
                  <a:pt x="4883486" y="158867"/>
                </a:lnTo>
                <a:moveTo>
                  <a:pt x="4844182" y="158867"/>
                </a:moveTo>
                <a:lnTo>
                  <a:pt x="4804878" y="158867"/>
                </a:lnTo>
                <a:moveTo>
                  <a:pt x="4765574" y="158867"/>
                </a:moveTo>
                <a:lnTo>
                  <a:pt x="4726270" y="158867"/>
                </a:lnTo>
                <a:moveTo>
                  <a:pt x="4686967" y="158867"/>
                </a:moveTo>
                <a:lnTo>
                  <a:pt x="4647663" y="158867"/>
                </a:lnTo>
                <a:moveTo>
                  <a:pt x="4608359" y="158867"/>
                </a:moveTo>
                <a:lnTo>
                  <a:pt x="4569055" y="158867"/>
                </a:lnTo>
                <a:moveTo>
                  <a:pt x="4529751" y="158867"/>
                </a:moveTo>
                <a:lnTo>
                  <a:pt x="4490448" y="158867"/>
                </a:lnTo>
                <a:moveTo>
                  <a:pt x="4451144" y="158867"/>
                </a:moveTo>
                <a:lnTo>
                  <a:pt x="4411840" y="158867"/>
                </a:lnTo>
                <a:moveTo>
                  <a:pt x="4372536" y="158867"/>
                </a:moveTo>
                <a:lnTo>
                  <a:pt x="4333232" y="158867"/>
                </a:lnTo>
                <a:moveTo>
                  <a:pt x="4293929" y="158867"/>
                </a:moveTo>
                <a:lnTo>
                  <a:pt x="4254625" y="158867"/>
                </a:lnTo>
                <a:moveTo>
                  <a:pt x="4215321" y="158867"/>
                </a:moveTo>
                <a:lnTo>
                  <a:pt x="4176017" y="158867"/>
                </a:lnTo>
                <a:moveTo>
                  <a:pt x="4136713" y="158867"/>
                </a:moveTo>
                <a:lnTo>
                  <a:pt x="4097410" y="158867"/>
                </a:lnTo>
                <a:moveTo>
                  <a:pt x="4058106" y="158867"/>
                </a:moveTo>
                <a:lnTo>
                  <a:pt x="4018802" y="158867"/>
                </a:lnTo>
                <a:moveTo>
                  <a:pt x="3979498" y="158867"/>
                </a:moveTo>
                <a:lnTo>
                  <a:pt x="3940194" y="158867"/>
                </a:lnTo>
                <a:moveTo>
                  <a:pt x="3900891" y="158867"/>
                </a:moveTo>
                <a:lnTo>
                  <a:pt x="3861587" y="158867"/>
                </a:lnTo>
                <a:moveTo>
                  <a:pt x="3822283" y="158867"/>
                </a:moveTo>
                <a:lnTo>
                  <a:pt x="3782979" y="158867"/>
                </a:lnTo>
                <a:moveTo>
                  <a:pt x="3743675" y="158867"/>
                </a:moveTo>
                <a:lnTo>
                  <a:pt x="3704372" y="158867"/>
                </a:lnTo>
                <a:moveTo>
                  <a:pt x="3665068" y="158867"/>
                </a:moveTo>
                <a:lnTo>
                  <a:pt x="3625764" y="158867"/>
                </a:lnTo>
                <a:moveTo>
                  <a:pt x="3586460" y="158867"/>
                </a:moveTo>
                <a:lnTo>
                  <a:pt x="3547156" y="158867"/>
                </a:lnTo>
                <a:moveTo>
                  <a:pt x="3507853" y="158867"/>
                </a:moveTo>
                <a:lnTo>
                  <a:pt x="3468549" y="158867"/>
                </a:lnTo>
                <a:moveTo>
                  <a:pt x="3429245" y="158867"/>
                </a:moveTo>
                <a:lnTo>
                  <a:pt x="3389941" y="158867"/>
                </a:lnTo>
                <a:moveTo>
                  <a:pt x="3350637" y="158867"/>
                </a:moveTo>
                <a:lnTo>
                  <a:pt x="3311334" y="158867"/>
                </a:lnTo>
                <a:moveTo>
                  <a:pt x="3272030" y="158867"/>
                </a:moveTo>
                <a:lnTo>
                  <a:pt x="3232726" y="158867"/>
                </a:lnTo>
                <a:moveTo>
                  <a:pt x="3193422" y="158867"/>
                </a:moveTo>
                <a:lnTo>
                  <a:pt x="3154118" y="158867"/>
                </a:lnTo>
                <a:moveTo>
                  <a:pt x="3114815" y="158867"/>
                </a:moveTo>
                <a:lnTo>
                  <a:pt x="3075511" y="158867"/>
                </a:lnTo>
                <a:moveTo>
                  <a:pt x="3036207" y="158867"/>
                </a:moveTo>
                <a:lnTo>
                  <a:pt x="2996903" y="158867"/>
                </a:lnTo>
                <a:moveTo>
                  <a:pt x="2957599" y="158867"/>
                </a:moveTo>
                <a:lnTo>
                  <a:pt x="2918296" y="158867"/>
                </a:lnTo>
                <a:moveTo>
                  <a:pt x="2878992" y="158867"/>
                </a:moveTo>
                <a:lnTo>
                  <a:pt x="2839688" y="158867"/>
                </a:lnTo>
                <a:moveTo>
                  <a:pt x="2800384" y="158867"/>
                </a:moveTo>
                <a:lnTo>
                  <a:pt x="2761080" y="158867"/>
                </a:lnTo>
                <a:moveTo>
                  <a:pt x="2721777" y="158867"/>
                </a:moveTo>
                <a:lnTo>
                  <a:pt x="2682473" y="158867"/>
                </a:lnTo>
                <a:moveTo>
                  <a:pt x="2643169" y="158867"/>
                </a:moveTo>
                <a:lnTo>
                  <a:pt x="2603865" y="158867"/>
                </a:lnTo>
                <a:moveTo>
                  <a:pt x="2564561" y="158867"/>
                </a:moveTo>
                <a:lnTo>
                  <a:pt x="2525258" y="158867"/>
                </a:lnTo>
                <a:moveTo>
                  <a:pt x="2485954" y="158867"/>
                </a:moveTo>
                <a:lnTo>
                  <a:pt x="2446650" y="158867"/>
                </a:lnTo>
                <a:moveTo>
                  <a:pt x="2407346" y="158867"/>
                </a:moveTo>
                <a:lnTo>
                  <a:pt x="2368042" y="158867"/>
                </a:lnTo>
                <a:moveTo>
                  <a:pt x="2328739" y="158867"/>
                </a:moveTo>
                <a:lnTo>
                  <a:pt x="2289435" y="158867"/>
                </a:lnTo>
                <a:moveTo>
                  <a:pt x="2250131" y="158867"/>
                </a:moveTo>
                <a:lnTo>
                  <a:pt x="2210827" y="158867"/>
                </a:lnTo>
                <a:moveTo>
                  <a:pt x="2171523" y="158867"/>
                </a:moveTo>
                <a:lnTo>
                  <a:pt x="2132220" y="158867"/>
                </a:lnTo>
                <a:moveTo>
                  <a:pt x="2092916" y="158867"/>
                </a:moveTo>
                <a:lnTo>
                  <a:pt x="2053612" y="158867"/>
                </a:lnTo>
                <a:moveTo>
                  <a:pt x="2014308" y="158867"/>
                </a:moveTo>
                <a:lnTo>
                  <a:pt x="1975004" y="158867"/>
                </a:lnTo>
                <a:moveTo>
                  <a:pt x="1935701" y="158867"/>
                </a:moveTo>
                <a:lnTo>
                  <a:pt x="1896397" y="158867"/>
                </a:lnTo>
                <a:moveTo>
                  <a:pt x="1857093" y="158867"/>
                </a:moveTo>
                <a:lnTo>
                  <a:pt x="1817789" y="158867"/>
                </a:lnTo>
                <a:moveTo>
                  <a:pt x="1778485" y="158867"/>
                </a:moveTo>
                <a:lnTo>
                  <a:pt x="1739182" y="158867"/>
                </a:lnTo>
                <a:moveTo>
                  <a:pt x="1699878" y="158867"/>
                </a:moveTo>
                <a:lnTo>
                  <a:pt x="1660574" y="158867"/>
                </a:lnTo>
                <a:moveTo>
                  <a:pt x="1621270" y="158867"/>
                </a:moveTo>
                <a:lnTo>
                  <a:pt x="1581966" y="158867"/>
                </a:lnTo>
                <a:moveTo>
                  <a:pt x="1542663" y="158867"/>
                </a:moveTo>
                <a:lnTo>
                  <a:pt x="1503359" y="158867"/>
                </a:lnTo>
                <a:moveTo>
                  <a:pt x="1464055" y="158867"/>
                </a:moveTo>
                <a:lnTo>
                  <a:pt x="1424751" y="158867"/>
                </a:lnTo>
                <a:moveTo>
                  <a:pt x="1385447" y="158867"/>
                </a:moveTo>
                <a:lnTo>
                  <a:pt x="1346144" y="158867"/>
                </a:lnTo>
                <a:moveTo>
                  <a:pt x="1306840" y="158867"/>
                </a:moveTo>
                <a:lnTo>
                  <a:pt x="1267536" y="158867"/>
                </a:lnTo>
                <a:moveTo>
                  <a:pt x="1228232" y="158867"/>
                </a:moveTo>
                <a:lnTo>
                  <a:pt x="1188928" y="158867"/>
                </a:lnTo>
                <a:moveTo>
                  <a:pt x="1149625" y="158867"/>
                </a:moveTo>
                <a:lnTo>
                  <a:pt x="1110321" y="158867"/>
                </a:lnTo>
                <a:moveTo>
                  <a:pt x="1071017" y="158867"/>
                </a:moveTo>
                <a:lnTo>
                  <a:pt x="1031713" y="158867"/>
                </a:lnTo>
                <a:moveTo>
                  <a:pt x="992409" y="158867"/>
                </a:moveTo>
                <a:lnTo>
                  <a:pt x="953106" y="158867"/>
                </a:lnTo>
                <a:moveTo>
                  <a:pt x="913802" y="158867"/>
                </a:moveTo>
                <a:lnTo>
                  <a:pt x="874498" y="158867"/>
                </a:lnTo>
                <a:moveTo>
                  <a:pt x="835194" y="158867"/>
                </a:moveTo>
                <a:lnTo>
                  <a:pt x="795890" y="158867"/>
                </a:lnTo>
                <a:moveTo>
                  <a:pt x="756587" y="158867"/>
                </a:moveTo>
                <a:lnTo>
                  <a:pt x="717283" y="158867"/>
                </a:lnTo>
                <a:moveTo>
                  <a:pt x="677979" y="158867"/>
                </a:moveTo>
                <a:lnTo>
                  <a:pt x="638675" y="158867"/>
                </a:lnTo>
                <a:moveTo>
                  <a:pt x="599371" y="158867"/>
                </a:moveTo>
                <a:lnTo>
                  <a:pt x="560068" y="158867"/>
                </a:lnTo>
                <a:moveTo>
                  <a:pt x="520764" y="158867"/>
                </a:moveTo>
                <a:lnTo>
                  <a:pt x="481460" y="158867"/>
                </a:lnTo>
                <a:moveTo>
                  <a:pt x="442156" y="158867"/>
                </a:moveTo>
                <a:lnTo>
                  <a:pt x="402852" y="158867"/>
                </a:lnTo>
                <a:moveTo>
                  <a:pt x="363549" y="158867"/>
                </a:moveTo>
                <a:lnTo>
                  <a:pt x="324245" y="158867"/>
                </a:lnTo>
                <a:moveTo>
                  <a:pt x="284941" y="158867"/>
                </a:moveTo>
                <a:lnTo>
                  <a:pt x="245637" y="158867"/>
                </a:lnTo>
                <a:moveTo>
                  <a:pt x="206333" y="158867"/>
                </a:moveTo>
                <a:lnTo>
                  <a:pt x="167030" y="158867"/>
                </a:lnTo>
                <a:moveTo>
                  <a:pt x="127726" y="158867"/>
                </a:moveTo>
                <a:lnTo>
                  <a:pt x="88422" y="158867"/>
                </a:lnTo>
                <a:moveTo>
                  <a:pt x="49118" y="158867"/>
                </a:moveTo>
                <a:lnTo>
                  <a:pt x="9814" y="1588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" name="axis_month32_reference_41">
            <a:extLst>
              <a:ext uri="{FF2B5EF4-FFF2-40B4-BE49-F238E27FC236}">
                <a16:creationId xmlns:a16="http://schemas.microsoft.com/office/drawing/2014/main" id="{E5461827-9824-4784-B5B9-60BA71CB511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5" y="1905000"/>
                </a:moveTo>
                <a:lnTo>
                  <a:pt x="3890335" y="1867450"/>
                </a:lnTo>
                <a:moveTo>
                  <a:pt x="3890335" y="1829900"/>
                </a:moveTo>
                <a:lnTo>
                  <a:pt x="3890335" y="1792350"/>
                </a:lnTo>
                <a:moveTo>
                  <a:pt x="3890335" y="1754800"/>
                </a:moveTo>
                <a:lnTo>
                  <a:pt x="3890335" y="1717250"/>
                </a:lnTo>
                <a:moveTo>
                  <a:pt x="3890335" y="1679700"/>
                </a:moveTo>
                <a:lnTo>
                  <a:pt x="3890335" y="1642150"/>
                </a:lnTo>
                <a:moveTo>
                  <a:pt x="3890335" y="1604600"/>
                </a:moveTo>
                <a:lnTo>
                  <a:pt x="3890335" y="1567050"/>
                </a:lnTo>
                <a:moveTo>
                  <a:pt x="3890335" y="1529500"/>
                </a:moveTo>
                <a:lnTo>
                  <a:pt x="3890335" y="1491950"/>
                </a:lnTo>
                <a:moveTo>
                  <a:pt x="3890335" y="1454400"/>
                </a:moveTo>
                <a:lnTo>
                  <a:pt x="3890335" y="1416850"/>
                </a:lnTo>
                <a:moveTo>
                  <a:pt x="3890335" y="1379300"/>
                </a:moveTo>
                <a:lnTo>
                  <a:pt x="3890335" y="1341750"/>
                </a:lnTo>
                <a:moveTo>
                  <a:pt x="3890335" y="1304200"/>
                </a:moveTo>
                <a:lnTo>
                  <a:pt x="3890335" y="1266650"/>
                </a:lnTo>
                <a:moveTo>
                  <a:pt x="3890335" y="1229100"/>
                </a:moveTo>
                <a:lnTo>
                  <a:pt x="3890335" y="1191550"/>
                </a:lnTo>
                <a:moveTo>
                  <a:pt x="3890335" y="1154000"/>
                </a:moveTo>
                <a:lnTo>
                  <a:pt x="3890335" y="1116450"/>
                </a:lnTo>
                <a:moveTo>
                  <a:pt x="3890335" y="1078900"/>
                </a:moveTo>
                <a:lnTo>
                  <a:pt x="3890335" y="1041350"/>
                </a:lnTo>
                <a:moveTo>
                  <a:pt x="3890335" y="1003800"/>
                </a:moveTo>
                <a:lnTo>
                  <a:pt x="3890335" y="966250"/>
                </a:lnTo>
                <a:moveTo>
                  <a:pt x="3890335" y="928700"/>
                </a:moveTo>
                <a:lnTo>
                  <a:pt x="3890335" y="891150"/>
                </a:lnTo>
                <a:moveTo>
                  <a:pt x="3890335" y="853600"/>
                </a:moveTo>
                <a:lnTo>
                  <a:pt x="3890335" y="816050"/>
                </a:lnTo>
                <a:moveTo>
                  <a:pt x="3890335" y="778500"/>
                </a:moveTo>
                <a:lnTo>
                  <a:pt x="3890335" y="740950"/>
                </a:lnTo>
                <a:moveTo>
                  <a:pt x="3890335" y="703400"/>
                </a:moveTo>
                <a:lnTo>
                  <a:pt x="3890335" y="665850"/>
                </a:lnTo>
                <a:moveTo>
                  <a:pt x="3890335" y="628300"/>
                </a:moveTo>
                <a:lnTo>
                  <a:pt x="3890335" y="590750"/>
                </a:lnTo>
                <a:moveTo>
                  <a:pt x="3890335" y="553200"/>
                </a:moveTo>
                <a:lnTo>
                  <a:pt x="3890335" y="515649"/>
                </a:lnTo>
                <a:moveTo>
                  <a:pt x="3890335" y="478099"/>
                </a:moveTo>
                <a:lnTo>
                  <a:pt x="3890335" y="440549"/>
                </a:lnTo>
                <a:moveTo>
                  <a:pt x="3890335" y="402999"/>
                </a:moveTo>
                <a:lnTo>
                  <a:pt x="3890335" y="365449"/>
                </a:lnTo>
                <a:moveTo>
                  <a:pt x="3890335" y="327899"/>
                </a:moveTo>
                <a:lnTo>
                  <a:pt x="3890335" y="290349"/>
                </a:lnTo>
                <a:moveTo>
                  <a:pt x="3890335" y="252799"/>
                </a:moveTo>
                <a:lnTo>
                  <a:pt x="3890335" y="215249"/>
                </a:lnTo>
                <a:moveTo>
                  <a:pt x="3890335" y="177699"/>
                </a:moveTo>
                <a:lnTo>
                  <a:pt x="3890335" y="140149"/>
                </a:lnTo>
                <a:moveTo>
                  <a:pt x="3890335" y="102599"/>
                </a:moveTo>
                <a:lnTo>
                  <a:pt x="3890335" y="65049"/>
                </a:lnTo>
                <a:moveTo>
                  <a:pt x="3890335" y="27499"/>
                </a:moveTo>
                <a:lnTo>
                  <a:pt x="3890335" y="-10051"/>
                </a:lnTo>
                <a:moveTo>
                  <a:pt x="3890335" y="-47601"/>
                </a:moveTo>
                <a:lnTo>
                  <a:pt x="3890335" y="-55111"/>
                </a:lnTo>
              </a:path>
            </a:pathLst>
          </a:custGeom>
          <a:noFill/>
          <a:ln w="9870">
            <a:solidFill>
              <a:srgbClr val="6D6E71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xis_y_tick_14">
            <a:extLst>
              <a:ext uri="{FF2B5EF4-FFF2-40B4-BE49-F238E27FC236}">
                <a16:creationId xmlns:a16="http://schemas.microsoft.com/office/drawing/2014/main" id="{7546B24D-C547-4DAE-A98B-D6F0AFD6A4E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5"/>
                </a:moveTo>
                <a:lnTo>
                  <a:pt x="-63864" y="115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2">
            <a:extLst>
              <a:ext uri="{FF2B5EF4-FFF2-40B4-BE49-F238E27FC236}">
                <a16:creationId xmlns:a16="http://schemas.microsoft.com/office/drawing/2014/main" id="{C09EC7DF-7035-42DA-8F02-BD4F5824BF48}"/>
              </a:ext>
            </a:extLst>
          </p:cNvPr>
          <p:cNvSpPr>
            <a:spLocks noGrp="1"/>
          </p:cNvSpPr>
          <p:nvPr/>
        </p:nvSpPr>
        <p:spPr>
          <a:xfrm>
            <a:off x="1162050" y="1953758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2,0</a:t>
            </a:r>
          </a:p>
        </p:txBody>
      </p:sp>
      <p:sp>
        <p:nvSpPr>
          <p:cNvPr id="25" name="axis_y_tick_18">
            <a:extLst>
              <a:ext uri="{FF2B5EF4-FFF2-40B4-BE49-F238E27FC236}">
                <a16:creationId xmlns:a16="http://schemas.microsoft.com/office/drawing/2014/main" id="{7077CFCD-1D60-4E36-8228-70512DBDA87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857"/>
                </a:moveTo>
                <a:lnTo>
                  <a:pt x="-44212" y="15885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xis_y_tick_17">
            <a:extLst>
              <a:ext uri="{FF2B5EF4-FFF2-40B4-BE49-F238E27FC236}">
                <a16:creationId xmlns:a16="http://schemas.microsoft.com/office/drawing/2014/main" id="{BB4A8562-FE65-45DC-8504-D6CC1467BE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317594"/>
                </a:moveTo>
                <a:lnTo>
                  <a:pt x="-63864" y="31759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-2">
            <a:extLst>
              <a:ext uri="{FF2B5EF4-FFF2-40B4-BE49-F238E27FC236}">
                <a16:creationId xmlns:a16="http://schemas.microsoft.com/office/drawing/2014/main" id="{E7996176-DB6A-4B23-A7BA-93788E94436D}"/>
              </a:ext>
            </a:extLst>
          </p:cNvPr>
          <p:cNvSpPr>
            <a:spLocks noGrp="1"/>
          </p:cNvSpPr>
          <p:nvPr/>
        </p:nvSpPr>
        <p:spPr>
          <a:xfrm>
            <a:off x="1162050" y="2341166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−2,0</a:t>
            </a:r>
          </a:p>
        </p:txBody>
      </p:sp>
      <p:sp>
        <p:nvSpPr>
          <p:cNvPr id="28" name="axis_y_tick_16">
            <a:extLst>
              <a:ext uri="{FF2B5EF4-FFF2-40B4-BE49-F238E27FC236}">
                <a16:creationId xmlns:a16="http://schemas.microsoft.com/office/drawing/2014/main" id="{67D44A84-6D6A-49E4-ACBA-92D8A4AEA74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476338"/>
                </a:moveTo>
                <a:lnTo>
                  <a:pt x="-44212" y="47633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axis_y_tick_15">
            <a:extLst>
              <a:ext uri="{FF2B5EF4-FFF2-40B4-BE49-F238E27FC236}">
                <a16:creationId xmlns:a16="http://schemas.microsoft.com/office/drawing/2014/main" id="{C9EB138E-9538-49F5-BB03-1737A2918F2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635077"/>
                </a:moveTo>
                <a:lnTo>
                  <a:pt x="-63864" y="63507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y_-6">
            <a:extLst>
              <a:ext uri="{FF2B5EF4-FFF2-40B4-BE49-F238E27FC236}">
                <a16:creationId xmlns:a16="http://schemas.microsoft.com/office/drawing/2014/main" id="{8BF22921-1269-4CC3-94CB-73775353248C}"/>
              </a:ext>
            </a:extLst>
          </p:cNvPr>
          <p:cNvSpPr>
            <a:spLocks noGrp="1"/>
          </p:cNvSpPr>
          <p:nvPr/>
        </p:nvSpPr>
        <p:spPr>
          <a:xfrm>
            <a:off x="1162050" y="272857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−6,0</a:t>
            </a:r>
          </a:p>
        </p:txBody>
      </p:sp>
      <p:sp>
        <p:nvSpPr>
          <p:cNvPr id="31" name="axis_y_tick_20">
            <a:extLst>
              <a:ext uri="{FF2B5EF4-FFF2-40B4-BE49-F238E27FC236}">
                <a16:creationId xmlns:a16="http://schemas.microsoft.com/office/drawing/2014/main" id="{7EC2A3B5-2118-4CC7-A655-BBF7B545117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793820"/>
                </a:moveTo>
                <a:lnTo>
                  <a:pt x="-44212" y="79382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xis_y_tick_19">
            <a:extLst>
              <a:ext uri="{FF2B5EF4-FFF2-40B4-BE49-F238E27FC236}">
                <a16:creationId xmlns:a16="http://schemas.microsoft.com/office/drawing/2014/main" id="{1AF427F9-E3F3-4887-8F21-74F95B3433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952567"/>
                </a:moveTo>
                <a:lnTo>
                  <a:pt x="-63864" y="9525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y_-10">
            <a:extLst>
              <a:ext uri="{FF2B5EF4-FFF2-40B4-BE49-F238E27FC236}">
                <a16:creationId xmlns:a16="http://schemas.microsoft.com/office/drawing/2014/main" id="{FF921F66-1341-41AA-B2B4-6C39189E6C60}"/>
              </a:ext>
            </a:extLst>
          </p:cNvPr>
          <p:cNvSpPr>
            <a:spLocks noGrp="1"/>
          </p:cNvSpPr>
          <p:nvPr/>
        </p:nvSpPr>
        <p:spPr>
          <a:xfrm>
            <a:off x="1162050" y="311600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−10,0</a:t>
            </a:r>
          </a:p>
        </p:txBody>
      </p:sp>
      <p:sp>
        <p:nvSpPr>
          <p:cNvPr id="34" name="axis_y_tick_21">
            <a:extLst>
              <a:ext uri="{FF2B5EF4-FFF2-40B4-BE49-F238E27FC236}">
                <a16:creationId xmlns:a16="http://schemas.microsoft.com/office/drawing/2014/main" id="{12CE4B12-42C0-485C-9B52-FAF0E0CE9CB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11302"/>
                </a:moveTo>
                <a:lnTo>
                  <a:pt x="-44212" y="111130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axis_y_tick_22">
            <a:extLst>
              <a:ext uri="{FF2B5EF4-FFF2-40B4-BE49-F238E27FC236}">
                <a16:creationId xmlns:a16="http://schemas.microsoft.com/office/drawing/2014/main" id="{72F0E9C0-350A-456B-848A-415AEA0C13A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270030"/>
                </a:moveTo>
                <a:lnTo>
                  <a:pt x="-63864" y="127003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y_-14">
            <a:extLst>
              <a:ext uri="{FF2B5EF4-FFF2-40B4-BE49-F238E27FC236}">
                <a16:creationId xmlns:a16="http://schemas.microsoft.com/office/drawing/2014/main" id="{BFBA4927-470D-4B04-841C-2CE6F21F5B3C}"/>
              </a:ext>
            </a:extLst>
          </p:cNvPr>
          <p:cNvSpPr>
            <a:spLocks noGrp="1"/>
          </p:cNvSpPr>
          <p:nvPr/>
        </p:nvSpPr>
        <p:spPr>
          <a:xfrm>
            <a:off x="1162050" y="350339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−14,0</a:t>
            </a:r>
          </a:p>
        </p:txBody>
      </p:sp>
      <p:sp>
        <p:nvSpPr>
          <p:cNvPr id="37" name="axis_y_tick_23">
            <a:extLst>
              <a:ext uri="{FF2B5EF4-FFF2-40B4-BE49-F238E27FC236}">
                <a16:creationId xmlns:a16="http://schemas.microsoft.com/office/drawing/2014/main" id="{66E44641-3A8E-4E85-865C-3BBB5B7007F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428771"/>
                </a:moveTo>
                <a:lnTo>
                  <a:pt x="-44212" y="1428771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xis_y_tick_24">
            <a:extLst>
              <a:ext uri="{FF2B5EF4-FFF2-40B4-BE49-F238E27FC236}">
                <a16:creationId xmlns:a16="http://schemas.microsoft.com/office/drawing/2014/main" id="{65AE9AE9-1908-4447-972A-70D7DDE93E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7518"/>
                </a:moveTo>
                <a:lnTo>
                  <a:pt x="-63864" y="158751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y_-18">
            <a:extLst>
              <a:ext uri="{FF2B5EF4-FFF2-40B4-BE49-F238E27FC236}">
                <a16:creationId xmlns:a16="http://schemas.microsoft.com/office/drawing/2014/main" id="{7842EBAC-F25C-4C1C-80A6-6BFDB30203AF}"/>
              </a:ext>
            </a:extLst>
          </p:cNvPr>
          <p:cNvSpPr>
            <a:spLocks noGrp="1"/>
          </p:cNvSpPr>
          <p:nvPr/>
        </p:nvSpPr>
        <p:spPr>
          <a:xfrm>
            <a:off x="1162050" y="389080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−18,0</a:t>
            </a:r>
          </a:p>
        </p:txBody>
      </p:sp>
      <p:sp>
        <p:nvSpPr>
          <p:cNvPr id="40" name="axis_y_tick_25">
            <a:extLst>
              <a:ext uri="{FF2B5EF4-FFF2-40B4-BE49-F238E27FC236}">
                <a16:creationId xmlns:a16="http://schemas.microsoft.com/office/drawing/2014/main" id="{C0B2E596-41FA-4D47-AF8C-02B6061FD5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746259"/>
                </a:moveTo>
                <a:lnTo>
                  <a:pt x="-44212" y="1746259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axis_y_tick_26">
            <a:extLst>
              <a:ext uri="{FF2B5EF4-FFF2-40B4-BE49-F238E27FC236}">
                <a16:creationId xmlns:a16="http://schemas.microsoft.com/office/drawing/2014/main" id="{62758482-CEED-48A6-9734-08A7863D7C3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-63864" y="190500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y_-22">
            <a:extLst>
              <a:ext uri="{FF2B5EF4-FFF2-40B4-BE49-F238E27FC236}">
                <a16:creationId xmlns:a16="http://schemas.microsoft.com/office/drawing/2014/main" id="{4C367830-ADB2-495D-9CAA-5F435B27ABDF}"/>
              </a:ext>
            </a:extLst>
          </p:cNvPr>
          <p:cNvSpPr>
            <a:spLocks noGrp="1"/>
          </p:cNvSpPr>
          <p:nvPr/>
        </p:nvSpPr>
        <p:spPr>
          <a:xfrm>
            <a:off x="1162050" y="427822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−22,0</a:t>
            </a:r>
          </a:p>
        </p:txBody>
      </p:sp>
      <p:sp>
        <p:nvSpPr>
          <p:cNvPr id="43" name="axis_x_tick_27">
            <a:extLst>
              <a:ext uri="{FF2B5EF4-FFF2-40B4-BE49-F238E27FC236}">
                <a16:creationId xmlns:a16="http://schemas.microsoft.com/office/drawing/2014/main" id="{A132A228-2569-4F5F-BE21-78F073CB83D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month_0">
            <a:extLst>
              <a:ext uri="{FF2B5EF4-FFF2-40B4-BE49-F238E27FC236}">
                <a16:creationId xmlns:a16="http://schemas.microsoft.com/office/drawing/2014/main" id="{2BA766C4-77F7-4C53-9771-61A35686F0F6}"/>
              </a:ext>
            </a:extLst>
          </p:cNvPr>
          <p:cNvSpPr>
            <a:spLocks noGrp="1"/>
          </p:cNvSpPr>
          <p:nvPr/>
        </p:nvSpPr>
        <p:spPr>
          <a:xfrm>
            <a:off x="161925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5" name="axis_x_tick_28">
            <a:extLst>
              <a:ext uri="{FF2B5EF4-FFF2-40B4-BE49-F238E27FC236}">
                <a16:creationId xmlns:a16="http://schemas.microsoft.com/office/drawing/2014/main" id="{B563EB3A-346F-400E-AFBB-A79246C6045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18387" y="1905000"/>
                </a:moveTo>
                <a:lnTo>
                  <a:pt x="118387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month_1">
            <a:extLst>
              <a:ext uri="{FF2B5EF4-FFF2-40B4-BE49-F238E27FC236}">
                <a16:creationId xmlns:a16="http://schemas.microsoft.com/office/drawing/2014/main" id="{61C68885-D4BE-43C8-8060-982A5CEA77D8}"/>
              </a:ext>
            </a:extLst>
          </p:cNvPr>
          <p:cNvSpPr>
            <a:spLocks noGrp="1"/>
          </p:cNvSpPr>
          <p:nvPr/>
        </p:nvSpPr>
        <p:spPr>
          <a:xfrm>
            <a:off x="1737637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47" name="axis_x_tick_29">
            <a:extLst>
              <a:ext uri="{FF2B5EF4-FFF2-40B4-BE49-F238E27FC236}">
                <a16:creationId xmlns:a16="http://schemas.microsoft.com/office/drawing/2014/main" id="{75400890-5AE2-4D15-90C2-4DB82542BD7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61613" y="1905000"/>
                </a:moveTo>
                <a:lnTo>
                  <a:pt x="36161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month_3">
            <a:extLst>
              <a:ext uri="{FF2B5EF4-FFF2-40B4-BE49-F238E27FC236}">
                <a16:creationId xmlns:a16="http://schemas.microsoft.com/office/drawing/2014/main" id="{D2AD0475-34F1-4251-BA81-594C5CB0EE44}"/>
              </a:ext>
            </a:extLst>
          </p:cNvPr>
          <p:cNvSpPr>
            <a:spLocks noGrp="1"/>
          </p:cNvSpPr>
          <p:nvPr/>
        </p:nvSpPr>
        <p:spPr>
          <a:xfrm>
            <a:off x="198086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49" name="axis_x_tick_30">
            <a:extLst>
              <a:ext uri="{FF2B5EF4-FFF2-40B4-BE49-F238E27FC236}">
                <a16:creationId xmlns:a16="http://schemas.microsoft.com/office/drawing/2014/main" id="{F805ED28-99C1-4D25-9064-CC172388EB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25816" y="1905000"/>
                </a:moveTo>
                <a:lnTo>
                  <a:pt x="72581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month_6">
            <a:extLst>
              <a:ext uri="{FF2B5EF4-FFF2-40B4-BE49-F238E27FC236}">
                <a16:creationId xmlns:a16="http://schemas.microsoft.com/office/drawing/2014/main" id="{442DF5D4-D5B8-4BCF-9A39-5C1FC34B04FA}"/>
              </a:ext>
            </a:extLst>
          </p:cNvPr>
          <p:cNvSpPr>
            <a:spLocks noGrp="1"/>
          </p:cNvSpPr>
          <p:nvPr/>
        </p:nvSpPr>
        <p:spPr>
          <a:xfrm>
            <a:off x="234506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1" name="axis_x_tick_31">
            <a:extLst>
              <a:ext uri="{FF2B5EF4-FFF2-40B4-BE49-F238E27FC236}">
                <a16:creationId xmlns:a16="http://schemas.microsoft.com/office/drawing/2014/main" id="{BF4852C6-5C9A-469D-A1B5-B4C77BEB18D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1961" y="1905000"/>
                </a:moveTo>
                <a:lnTo>
                  <a:pt x="1091961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month_9">
            <a:extLst>
              <a:ext uri="{FF2B5EF4-FFF2-40B4-BE49-F238E27FC236}">
                <a16:creationId xmlns:a16="http://schemas.microsoft.com/office/drawing/2014/main" id="{125BFEFB-8222-4389-BBAC-3DEAF91813EF}"/>
              </a:ext>
            </a:extLst>
          </p:cNvPr>
          <p:cNvSpPr>
            <a:spLocks noGrp="1"/>
          </p:cNvSpPr>
          <p:nvPr/>
        </p:nvSpPr>
        <p:spPr>
          <a:xfrm>
            <a:off x="2711211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</a:t>
            </a:r>
          </a:p>
        </p:txBody>
      </p:sp>
      <p:sp>
        <p:nvSpPr>
          <p:cNvPr id="53" name="axis_x_tick_32">
            <a:extLst>
              <a:ext uri="{FF2B5EF4-FFF2-40B4-BE49-F238E27FC236}">
                <a16:creationId xmlns:a16="http://schemas.microsoft.com/office/drawing/2014/main" id="{24C5BA1D-ECA5-462D-AB7E-3A250B70A6A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59209" y="1905000"/>
                </a:moveTo>
                <a:lnTo>
                  <a:pt x="14592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month_12">
            <a:extLst>
              <a:ext uri="{FF2B5EF4-FFF2-40B4-BE49-F238E27FC236}">
                <a16:creationId xmlns:a16="http://schemas.microsoft.com/office/drawing/2014/main" id="{320EDCD7-ED53-434F-9F94-536ED2BE92E3}"/>
              </a:ext>
            </a:extLst>
          </p:cNvPr>
          <p:cNvSpPr>
            <a:spLocks noGrp="1"/>
          </p:cNvSpPr>
          <p:nvPr/>
        </p:nvSpPr>
        <p:spPr>
          <a:xfrm>
            <a:off x="30784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5" name="axis_x_tick_33">
            <a:extLst>
              <a:ext uri="{FF2B5EF4-FFF2-40B4-BE49-F238E27FC236}">
                <a16:creationId xmlns:a16="http://schemas.microsoft.com/office/drawing/2014/main" id="{DC0A97EB-3D57-41B1-B10E-0E37BABA978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46076" y="1905000"/>
                </a:moveTo>
                <a:lnTo>
                  <a:pt x="194607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month_16">
            <a:extLst>
              <a:ext uri="{FF2B5EF4-FFF2-40B4-BE49-F238E27FC236}">
                <a16:creationId xmlns:a16="http://schemas.microsoft.com/office/drawing/2014/main" id="{DE422055-D7A1-4F43-9C37-60DBE021CC0A}"/>
              </a:ext>
            </a:extLst>
          </p:cNvPr>
          <p:cNvSpPr>
            <a:spLocks noGrp="1"/>
          </p:cNvSpPr>
          <p:nvPr/>
        </p:nvSpPr>
        <p:spPr>
          <a:xfrm>
            <a:off x="356532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16</a:t>
            </a:r>
          </a:p>
        </p:txBody>
      </p:sp>
      <p:sp>
        <p:nvSpPr>
          <p:cNvPr id="57" name="axis_x_tick_34">
            <a:extLst>
              <a:ext uri="{FF2B5EF4-FFF2-40B4-BE49-F238E27FC236}">
                <a16:creationId xmlns:a16="http://schemas.microsoft.com/office/drawing/2014/main" id="{B245221A-76C2-432F-9EB0-B408C2B1C0C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33210" y="1905000"/>
                </a:moveTo>
                <a:lnTo>
                  <a:pt x="243321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8" name="month_20">
            <a:extLst>
              <a:ext uri="{FF2B5EF4-FFF2-40B4-BE49-F238E27FC236}">
                <a16:creationId xmlns:a16="http://schemas.microsoft.com/office/drawing/2014/main" id="{7D87C4A0-C236-4119-9734-75612839FA51}"/>
              </a:ext>
            </a:extLst>
          </p:cNvPr>
          <p:cNvSpPr>
            <a:spLocks noGrp="1"/>
          </p:cNvSpPr>
          <p:nvPr/>
        </p:nvSpPr>
        <p:spPr>
          <a:xfrm>
            <a:off x="405246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59" name="axis_x_tick_38">
            <a:extLst>
              <a:ext uri="{FF2B5EF4-FFF2-40B4-BE49-F238E27FC236}">
                <a16:creationId xmlns:a16="http://schemas.microsoft.com/office/drawing/2014/main" id="{427C35C2-E29C-4CA5-B137-D91C3E881C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20118" y="1905000"/>
                </a:moveTo>
                <a:lnTo>
                  <a:pt x="2920118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month_24">
            <a:extLst>
              <a:ext uri="{FF2B5EF4-FFF2-40B4-BE49-F238E27FC236}">
                <a16:creationId xmlns:a16="http://schemas.microsoft.com/office/drawing/2014/main" id="{ADFEB3B0-B257-4866-BB7B-E338107A5790}"/>
              </a:ext>
            </a:extLst>
          </p:cNvPr>
          <p:cNvSpPr>
            <a:spLocks noGrp="1"/>
          </p:cNvSpPr>
          <p:nvPr/>
        </p:nvSpPr>
        <p:spPr>
          <a:xfrm>
            <a:off x="4539368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61" name="axis_x_tick_36">
            <a:extLst>
              <a:ext uri="{FF2B5EF4-FFF2-40B4-BE49-F238E27FC236}">
                <a16:creationId xmlns:a16="http://schemas.microsoft.com/office/drawing/2014/main" id="{5D406430-708E-44CB-AE6F-791290C460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03483" y="1905000"/>
                </a:moveTo>
                <a:lnTo>
                  <a:pt x="340348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month_28">
            <a:extLst>
              <a:ext uri="{FF2B5EF4-FFF2-40B4-BE49-F238E27FC236}">
                <a16:creationId xmlns:a16="http://schemas.microsoft.com/office/drawing/2014/main" id="{7C0E9A8B-5119-4314-AFC5-D87A77E76886}"/>
              </a:ext>
            </a:extLst>
          </p:cNvPr>
          <p:cNvSpPr>
            <a:spLocks noGrp="1"/>
          </p:cNvSpPr>
          <p:nvPr/>
        </p:nvSpPr>
        <p:spPr>
          <a:xfrm>
            <a:off x="502273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28</a:t>
            </a:r>
          </a:p>
        </p:txBody>
      </p:sp>
      <p:sp>
        <p:nvSpPr>
          <p:cNvPr id="63" name="axis_x_tick_35">
            <a:extLst>
              <a:ext uri="{FF2B5EF4-FFF2-40B4-BE49-F238E27FC236}">
                <a16:creationId xmlns:a16="http://schemas.microsoft.com/office/drawing/2014/main" id="{ABEF74CD-3296-4EAE-BAAE-9AD810E382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3" y="1905000"/>
                </a:moveTo>
                <a:lnTo>
                  <a:pt x="389033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month_32">
            <a:extLst>
              <a:ext uri="{FF2B5EF4-FFF2-40B4-BE49-F238E27FC236}">
                <a16:creationId xmlns:a16="http://schemas.microsoft.com/office/drawing/2014/main" id="{749E47EC-003E-4F49-8508-427088C65320}"/>
              </a:ext>
            </a:extLst>
          </p:cNvPr>
          <p:cNvSpPr>
            <a:spLocks noGrp="1"/>
          </p:cNvSpPr>
          <p:nvPr/>
        </p:nvSpPr>
        <p:spPr>
          <a:xfrm>
            <a:off x="550958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32</a:t>
            </a:r>
          </a:p>
        </p:txBody>
      </p:sp>
      <p:sp>
        <p:nvSpPr>
          <p:cNvPr id="65" name="axis_x_tick_40">
            <a:extLst>
              <a:ext uri="{FF2B5EF4-FFF2-40B4-BE49-F238E27FC236}">
                <a16:creationId xmlns:a16="http://schemas.microsoft.com/office/drawing/2014/main" id="{CEEDE110-AFF7-4075-BD53-455F1AF835A1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77169" y="1905000"/>
                </a:moveTo>
                <a:lnTo>
                  <a:pt x="437716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month_36">
            <a:extLst>
              <a:ext uri="{FF2B5EF4-FFF2-40B4-BE49-F238E27FC236}">
                <a16:creationId xmlns:a16="http://schemas.microsoft.com/office/drawing/2014/main" id="{01A53EA3-AC4B-435D-99D0-9735D4B66EAA}"/>
              </a:ext>
            </a:extLst>
          </p:cNvPr>
          <p:cNvSpPr>
            <a:spLocks noGrp="1"/>
          </p:cNvSpPr>
          <p:nvPr/>
        </p:nvSpPr>
        <p:spPr>
          <a:xfrm>
            <a:off x="599641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7" name="axis_x_tick_39">
            <a:extLst>
              <a:ext uri="{FF2B5EF4-FFF2-40B4-BE49-F238E27FC236}">
                <a16:creationId xmlns:a16="http://schemas.microsoft.com/office/drawing/2014/main" id="{91A549C5-4E92-43D3-BB68-82875665DA4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64189" y="1905000"/>
                </a:moveTo>
                <a:lnTo>
                  <a:pt x="486418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month_40">
            <a:extLst>
              <a:ext uri="{FF2B5EF4-FFF2-40B4-BE49-F238E27FC236}">
                <a16:creationId xmlns:a16="http://schemas.microsoft.com/office/drawing/2014/main" id="{54A8E67B-BF7F-4977-BB07-2E9C7A5E53EA}"/>
              </a:ext>
            </a:extLst>
          </p:cNvPr>
          <p:cNvSpPr>
            <a:spLocks noGrp="1"/>
          </p:cNvSpPr>
          <p:nvPr/>
        </p:nvSpPr>
        <p:spPr>
          <a:xfrm>
            <a:off x="648343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69" name="axis_x_tick_37">
            <a:extLst>
              <a:ext uri="{FF2B5EF4-FFF2-40B4-BE49-F238E27FC236}">
                <a16:creationId xmlns:a16="http://schemas.microsoft.com/office/drawing/2014/main" id="{FFE6177B-5990-4EAD-982B-3C8547FA36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51009" y="1905000"/>
                </a:moveTo>
                <a:lnTo>
                  <a:pt x="53510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month_44">
            <a:extLst>
              <a:ext uri="{FF2B5EF4-FFF2-40B4-BE49-F238E27FC236}">
                <a16:creationId xmlns:a16="http://schemas.microsoft.com/office/drawing/2014/main" id="{009B799B-ECD1-453E-B4F4-102A303898BF}"/>
              </a:ext>
            </a:extLst>
          </p:cNvPr>
          <p:cNvSpPr>
            <a:spLocks noGrp="1"/>
          </p:cNvSpPr>
          <p:nvPr/>
        </p:nvSpPr>
        <p:spPr>
          <a:xfrm>
            <a:off x="69702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44</a:t>
            </a:r>
          </a:p>
        </p:txBody>
      </p:sp>
      <p:sp>
        <p:nvSpPr>
          <p:cNvPr id="71" name="source_finerenone_main_error_bar_49">
            <a:extLst>
              <a:ext uri="{FF2B5EF4-FFF2-40B4-BE49-F238E27FC236}">
                <a16:creationId xmlns:a16="http://schemas.microsoft.com/office/drawing/2014/main" id="{C287577C-67B2-42C5-8F73-AA6498AD8F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4325" y="272062"/>
                </a:moveTo>
                <a:lnTo>
                  <a:pt x="132972" y="272062"/>
                </a:lnTo>
                <a:moveTo>
                  <a:pt x="54325" y="331974"/>
                </a:moveTo>
                <a:lnTo>
                  <a:pt x="132972" y="331974"/>
                </a:lnTo>
                <a:moveTo>
                  <a:pt x="91850" y="303859"/>
                </a:moveTo>
                <a:lnTo>
                  <a:pt x="91850" y="274659"/>
                </a:lnTo>
                <a:moveTo>
                  <a:pt x="91850" y="303859"/>
                </a:moveTo>
                <a:lnTo>
                  <a:pt x="91850" y="330237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source_finerenone_main_error_bar_50">
            <a:extLst>
              <a:ext uri="{FF2B5EF4-FFF2-40B4-BE49-F238E27FC236}">
                <a16:creationId xmlns:a16="http://schemas.microsoft.com/office/drawing/2014/main" id="{86DC1254-0B50-4CA9-A798-71E8CB8DF4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7786" y="354870"/>
                </a:moveTo>
                <a:lnTo>
                  <a:pt x="372698" y="354870"/>
                </a:lnTo>
                <a:moveTo>
                  <a:pt x="297786" y="419190"/>
                </a:moveTo>
                <a:lnTo>
                  <a:pt x="372698" y="419190"/>
                </a:lnTo>
                <a:moveTo>
                  <a:pt x="335311" y="384910"/>
                </a:moveTo>
                <a:lnTo>
                  <a:pt x="335311" y="354870"/>
                </a:lnTo>
                <a:moveTo>
                  <a:pt x="335311" y="384910"/>
                </a:moveTo>
                <a:lnTo>
                  <a:pt x="335311" y="41919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source_finerenone_main_error_bar_51">
            <a:extLst>
              <a:ext uri="{FF2B5EF4-FFF2-40B4-BE49-F238E27FC236}">
                <a16:creationId xmlns:a16="http://schemas.microsoft.com/office/drawing/2014/main" id="{EC37C9BC-3EC8-4079-9FEC-43434766BA2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4" y="375131"/>
                </a:moveTo>
                <a:lnTo>
                  <a:pt x="739750" y="375131"/>
                </a:lnTo>
                <a:moveTo>
                  <a:pt x="661104" y="450044"/>
                </a:moveTo>
                <a:lnTo>
                  <a:pt x="739750" y="450044"/>
                </a:lnTo>
                <a:moveTo>
                  <a:pt x="702382" y="413932"/>
                </a:moveTo>
                <a:lnTo>
                  <a:pt x="702382" y="375131"/>
                </a:lnTo>
                <a:moveTo>
                  <a:pt x="702382" y="413932"/>
                </a:moveTo>
                <a:lnTo>
                  <a:pt x="702382" y="45004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source_finerenone_main_error_bar_52">
            <a:extLst>
              <a:ext uri="{FF2B5EF4-FFF2-40B4-BE49-F238E27FC236}">
                <a16:creationId xmlns:a16="http://schemas.microsoft.com/office/drawing/2014/main" id="{F0590CE0-C919-4D52-8F94-39C816D3E29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28164" y="394520"/>
                </a:moveTo>
                <a:lnTo>
                  <a:pt x="1103076" y="394520"/>
                </a:lnTo>
                <a:moveTo>
                  <a:pt x="1028164" y="472908"/>
                </a:moveTo>
                <a:lnTo>
                  <a:pt x="1103076" y="472908"/>
                </a:lnTo>
                <a:moveTo>
                  <a:pt x="1065728" y="435115"/>
                </a:moveTo>
                <a:lnTo>
                  <a:pt x="1065728" y="394520"/>
                </a:lnTo>
                <a:moveTo>
                  <a:pt x="1065728" y="435115"/>
                </a:moveTo>
                <a:lnTo>
                  <a:pt x="1065728" y="47290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source_finerenone_main_error_bar_53">
            <a:extLst>
              <a:ext uri="{FF2B5EF4-FFF2-40B4-BE49-F238E27FC236}">
                <a16:creationId xmlns:a16="http://schemas.microsoft.com/office/drawing/2014/main" id="{781523C8-174B-43A8-8E7C-37C7EDEC9C3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4642" y="454426"/>
                </a:moveTo>
                <a:lnTo>
                  <a:pt x="1473288" y="454426"/>
                </a:lnTo>
                <a:moveTo>
                  <a:pt x="1394642" y="539016"/>
                </a:moveTo>
                <a:lnTo>
                  <a:pt x="1473288" y="539016"/>
                </a:lnTo>
                <a:moveTo>
                  <a:pt x="1432205" y="496796"/>
                </a:moveTo>
                <a:lnTo>
                  <a:pt x="1432205" y="454426"/>
                </a:lnTo>
                <a:moveTo>
                  <a:pt x="1432205" y="496796"/>
                </a:moveTo>
                <a:lnTo>
                  <a:pt x="1432205" y="53901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source_finerenone_main_error_bar_54">
            <a:extLst>
              <a:ext uri="{FF2B5EF4-FFF2-40B4-BE49-F238E27FC236}">
                <a16:creationId xmlns:a16="http://schemas.microsoft.com/office/drawing/2014/main" id="{407CEAC5-FEA5-4DEA-A6CC-8DF5C06B7F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0509" y="543394"/>
                </a:moveTo>
                <a:lnTo>
                  <a:pt x="1959156" y="543394"/>
                </a:lnTo>
                <a:moveTo>
                  <a:pt x="1880509" y="640314"/>
                </a:moveTo>
                <a:lnTo>
                  <a:pt x="1959156" y="640314"/>
                </a:lnTo>
                <a:moveTo>
                  <a:pt x="1918092" y="589313"/>
                </a:moveTo>
                <a:lnTo>
                  <a:pt x="1918092" y="543394"/>
                </a:lnTo>
                <a:moveTo>
                  <a:pt x="1918092" y="589313"/>
                </a:moveTo>
                <a:lnTo>
                  <a:pt x="1918092" y="64031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source_finerenone_main_error_bar_55">
            <a:extLst>
              <a:ext uri="{FF2B5EF4-FFF2-40B4-BE49-F238E27FC236}">
                <a16:creationId xmlns:a16="http://schemas.microsoft.com/office/drawing/2014/main" id="{AA386060-6BAB-4B62-8D6E-2251D177134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67428" y="589205"/>
                </a:moveTo>
                <a:lnTo>
                  <a:pt x="2446075" y="589205"/>
                </a:lnTo>
                <a:moveTo>
                  <a:pt x="2367428" y="688778"/>
                </a:moveTo>
                <a:lnTo>
                  <a:pt x="2446075" y="688778"/>
                </a:lnTo>
                <a:moveTo>
                  <a:pt x="2405051" y="643793"/>
                </a:moveTo>
                <a:lnTo>
                  <a:pt x="2405051" y="589205"/>
                </a:lnTo>
                <a:moveTo>
                  <a:pt x="2405051" y="643793"/>
                </a:moveTo>
                <a:lnTo>
                  <a:pt x="2405051" y="68877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source_finerenone_main_error_bar_56">
            <a:extLst>
              <a:ext uri="{FF2B5EF4-FFF2-40B4-BE49-F238E27FC236}">
                <a16:creationId xmlns:a16="http://schemas.microsoft.com/office/drawing/2014/main" id="{E8870543-754F-4F5F-9A10-A2B98ABE029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3296" y="675526"/>
                </a:moveTo>
                <a:lnTo>
                  <a:pt x="2928208" y="675526"/>
                </a:lnTo>
                <a:moveTo>
                  <a:pt x="2853296" y="778593"/>
                </a:moveTo>
                <a:lnTo>
                  <a:pt x="2928208" y="778593"/>
                </a:lnTo>
                <a:moveTo>
                  <a:pt x="2890918" y="726714"/>
                </a:moveTo>
                <a:lnTo>
                  <a:pt x="2890918" y="675526"/>
                </a:lnTo>
                <a:moveTo>
                  <a:pt x="2890918" y="726714"/>
                </a:moveTo>
                <a:lnTo>
                  <a:pt x="2890918" y="778593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source_finerenone_main_error_bar_57">
            <a:extLst>
              <a:ext uri="{FF2B5EF4-FFF2-40B4-BE49-F238E27FC236}">
                <a16:creationId xmlns:a16="http://schemas.microsoft.com/office/drawing/2014/main" id="{8604A54F-D36E-42CF-ABFB-E26DB58E5B8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1269" y="768054"/>
                </a:moveTo>
                <a:lnTo>
                  <a:pt x="3416181" y="768054"/>
                </a:lnTo>
                <a:moveTo>
                  <a:pt x="3341269" y="877285"/>
                </a:moveTo>
                <a:lnTo>
                  <a:pt x="3416181" y="877285"/>
                </a:lnTo>
                <a:moveTo>
                  <a:pt x="3378891" y="822754"/>
                </a:moveTo>
                <a:lnTo>
                  <a:pt x="3378891" y="768054"/>
                </a:lnTo>
                <a:moveTo>
                  <a:pt x="3378891" y="822754"/>
                </a:moveTo>
                <a:lnTo>
                  <a:pt x="3378891" y="877285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source_finerenone_main_error_bar_58">
            <a:extLst>
              <a:ext uri="{FF2B5EF4-FFF2-40B4-BE49-F238E27FC236}">
                <a16:creationId xmlns:a16="http://schemas.microsoft.com/office/drawing/2014/main" id="{F94F88CE-B19F-46D9-9E27-E4268485ECF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27136" y="836720"/>
                </a:moveTo>
                <a:lnTo>
                  <a:pt x="3902048" y="836720"/>
                </a:lnTo>
                <a:moveTo>
                  <a:pt x="3827136" y="950360"/>
                </a:moveTo>
                <a:lnTo>
                  <a:pt x="3902048" y="950360"/>
                </a:lnTo>
                <a:moveTo>
                  <a:pt x="3864778" y="897529"/>
                </a:moveTo>
                <a:lnTo>
                  <a:pt x="3864778" y="836720"/>
                </a:lnTo>
                <a:moveTo>
                  <a:pt x="3864778" y="897529"/>
                </a:moveTo>
                <a:lnTo>
                  <a:pt x="3864778" y="95036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source_finerenone_main_error_bar_59">
            <a:extLst>
              <a:ext uri="{FF2B5EF4-FFF2-40B4-BE49-F238E27FC236}">
                <a16:creationId xmlns:a16="http://schemas.microsoft.com/office/drawing/2014/main" id="{CCFEC297-D679-4132-8B49-B82F8A34C8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0309" y="915151"/>
                </a:moveTo>
                <a:lnTo>
                  <a:pt x="4388956" y="915151"/>
                </a:lnTo>
                <a:moveTo>
                  <a:pt x="4310309" y="1040206"/>
                </a:moveTo>
                <a:lnTo>
                  <a:pt x="4388956" y="1040206"/>
                </a:lnTo>
                <a:moveTo>
                  <a:pt x="4351705" y="980331"/>
                </a:moveTo>
                <a:lnTo>
                  <a:pt x="4351705" y="915151"/>
                </a:lnTo>
                <a:moveTo>
                  <a:pt x="4351705" y="980331"/>
                </a:moveTo>
                <a:lnTo>
                  <a:pt x="4351705" y="104020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source_finerenone_main_error_bar_60">
            <a:extLst>
              <a:ext uri="{FF2B5EF4-FFF2-40B4-BE49-F238E27FC236}">
                <a16:creationId xmlns:a16="http://schemas.microsoft.com/office/drawing/2014/main" id="{E08694EB-9DF7-475F-B7B6-55EC90FAE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795125" y="1004119"/>
                </a:moveTo>
                <a:lnTo>
                  <a:pt x="4873771" y="1004119"/>
                </a:lnTo>
                <a:moveTo>
                  <a:pt x="4795125" y="1141541"/>
                </a:moveTo>
                <a:lnTo>
                  <a:pt x="4873771" y="1141541"/>
                </a:lnTo>
                <a:moveTo>
                  <a:pt x="4836560" y="1076379"/>
                </a:moveTo>
                <a:lnTo>
                  <a:pt x="4836560" y="1004119"/>
                </a:lnTo>
                <a:moveTo>
                  <a:pt x="4836560" y="1076379"/>
                </a:moveTo>
                <a:lnTo>
                  <a:pt x="4836560" y="114154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source_finerenone_main_error_bar_61">
            <a:extLst>
              <a:ext uri="{FF2B5EF4-FFF2-40B4-BE49-F238E27FC236}">
                <a16:creationId xmlns:a16="http://schemas.microsoft.com/office/drawing/2014/main" id="{F51D8234-36C2-4DD8-9E43-B0A56FE78F8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82042" y="994403"/>
                </a:moveTo>
                <a:lnTo>
                  <a:pt x="5360709" y="994403"/>
                </a:lnTo>
                <a:moveTo>
                  <a:pt x="5282042" y="1178548"/>
                </a:moveTo>
                <a:lnTo>
                  <a:pt x="5360709" y="1178548"/>
                </a:lnTo>
                <a:moveTo>
                  <a:pt x="5323477" y="1083496"/>
                </a:moveTo>
                <a:lnTo>
                  <a:pt x="5323477" y="994403"/>
                </a:lnTo>
                <a:moveTo>
                  <a:pt x="5323477" y="1083496"/>
                </a:moveTo>
                <a:lnTo>
                  <a:pt x="5323477" y="117854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source_finerenone_main_curve_62">
            <a:extLst>
              <a:ext uri="{FF2B5EF4-FFF2-40B4-BE49-F238E27FC236}">
                <a16:creationId xmlns:a16="http://schemas.microsoft.com/office/drawing/2014/main" id="{E1BFF758-2058-4EF2-8B22-96D51E31D32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1390" y="167986"/>
                </a:moveTo>
                <a:lnTo>
                  <a:pt x="91844" y="303839"/>
                </a:lnTo>
                <a:moveTo>
                  <a:pt x="91844" y="303839"/>
                </a:moveTo>
                <a:lnTo>
                  <a:pt x="335312" y="384917"/>
                </a:lnTo>
                <a:moveTo>
                  <a:pt x="335312" y="384917"/>
                </a:moveTo>
                <a:lnTo>
                  <a:pt x="702383" y="413948"/>
                </a:lnTo>
                <a:moveTo>
                  <a:pt x="702383" y="413948"/>
                </a:moveTo>
                <a:lnTo>
                  <a:pt x="1065718" y="435096"/>
                </a:lnTo>
                <a:moveTo>
                  <a:pt x="1065718" y="435096"/>
                </a:moveTo>
                <a:lnTo>
                  <a:pt x="1432202" y="496801"/>
                </a:lnTo>
                <a:moveTo>
                  <a:pt x="1432202" y="496801"/>
                </a:moveTo>
                <a:lnTo>
                  <a:pt x="1918082" y="589313"/>
                </a:lnTo>
                <a:moveTo>
                  <a:pt x="1918082" y="589313"/>
                </a:moveTo>
                <a:lnTo>
                  <a:pt x="2405039" y="643807"/>
                </a:lnTo>
                <a:moveTo>
                  <a:pt x="2405039" y="643807"/>
                </a:moveTo>
                <a:lnTo>
                  <a:pt x="2890900" y="726716"/>
                </a:lnTo>
                <a:moveTo>
                  <a:pt x="2890900" y="726716"/>
                </a:moveTo>
                <a:lnTo>
                  <a:pt x="3378874" y="822739"/>
                </a:lnTo>
                <a:moveTo>
                  <a:pt x="3378874" y="822739"/>
                </a:moveTo>
                <a:lnTo>
                  <a:pt x="3864794" y="897521"/>
                </a:lnTo>
                <a:moveTo>
                  <a:pt x="3864794" y="897521"/>
                </a:moveTo>
                <a:lnTo>
                  <a:pt x="4351711" y="980337"/>
                </a:lnTo>
                <a:moveTo>
                  <a:pt x="4351711" y="980337"/>
                </a:moveTo>
                <a:lnTo>
                  <a:pt x="4836555" y="1076379"/>
                </a:lnTo>
                <a:moveTo>
                  <a:pt x="4836555" y="1076379"/>
                </a:moveTo>
                <a:lnTo>
                  <a:pt x="5323473" y="1086075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source_finerenone_main_marker_63">
            <a:extLst>
              <a:ext uri="{FF2B5EF4-FFF2-40B4-BE49-F238E27FC236}">
                <a16:creationId xmlns:a16="http://schemas.microsoft.com/office/drawing/2014/main" id="{E7F70D62-7A38-4511-8D15-C84E24B927F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7266" y="134492"/>
                </a:moveTo>
                <a:lnTo>
                  <a:pt x="25776" y="134492"/>
                </a:lnTo>
                <a:lnTo>
                  <a:pt x="25776" y="186894"/>
                </a:lnTo>
                <a:lnTo>
                  <a:pt x="-37266" y="186894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source_finerenone_main_marker_64">
            <a:extLst>
              <a:ext uri="{FF2B5EF4-FFF2-40B4-BE49-F238E27FC236}">
                <a16:creationId xmlns:a16="http://schemas.microsoft.com/office/drawing/2014/main" id="{C942CD8D-FC14-494D-9885-51CAFE7695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2225" y="277164"/>
                </a:moveTo>
                <a:lnTo>
                  <a:pt x="125268" y="277164"/>
                </a:lnTo>
                <a:lnTo>
                  <a:pt x="125268" y="329566"/>
                </a:lnTo>
                <a:lnTo>
                  <a:pt x="62225" y="3295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source_finerenone_main_marker_65">
            <a:extLst>
              <a:ext uri="{FF2B5EF4-FFF2-40B4-BE49-F238E27FC236}">
                <a16:creationId xmlns:a16="http://schemas.microsoft.com/office/drawing/2014/main" id="{35B41E5E-847D-41A6-A6EB-D7529EEB83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04638" y="359139"/>
                </a:moveTo>
                <a:lnTo>
                  <a:pt x="367680" y="359139"/>
                </a:lnTo>
                <a:lnTo>
                  <a:pt x="367680" y="411540"/>
                </a:lnTo>
                <a:lnTo>
                  <a:pt x="304638" y="411540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source_finerenone_main_marker_66">
            <a:extLst>
              <a:ext uri="{FF2B5EF4-FFF2-40B4-BE49-F238E27FC236}">
                <a16:creationId xmlns:a16="http://schemas.microsoft.com/office/drawing/2014/main" id="{E1189E0A-F22C-4ED6-8DAC-9ED7FA2BD48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8990" y="385573"/>
                </a:moveTo>
                <a:lnTo>
                  <a:pt x="732032" y="385573"/>
                </a:lnTo>
                <a:lnTo>
                  <a:pt x="732032" y="437975"/>
                </a:lnTo>
                <a:lnTo>
                  <a:pt x="668990" y="43797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source_finerenone_main_marker_67">
            <a:extLst>
              <a:ext uri="{FF2B5EF4-FFF2-40B4-BE49-F238E27FC236}">
                <a16:creationId xmlns:a16="http://schemas.microsoft.com/office/drawing/2014/main" id="{3DE3A375-9431-4406-ADC9-D596C18A28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35024" y="407561"/>
                </a:moveTo>
                <a:lnTo>
                  <a:pt x="1098066" y="407561"/>
                </a:lnTo>
                <a:lnTo>
                  <a:pt x="1098066" y="459963"/>
                </a:lnTo>
                <a:lnTo>
                  <a:pt x="1035024" y="45996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source_finerenone_main_marker_68">
            <a:extLst>
              <a:ext uri="{FF2B5EF4-FFF2-40B4-BE49-F238E27FC236}">
                <a16:creationId xmlns:a16="http://schemas.microsoft.com/office/drawing/2014/main" id="{33915D08-F12B-41E3-96F5-71D710315C5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9376" y="470107"/>
                </a:moveTo>
                <a:lnTo>
                  <a:pt x="1462418" y="470107"/>
                </a:lnTo>
                <a:lnTo>
                  <a:pt x="1462418" y="522509"/>
                </a:lnTo>
                <a:lnTo>
                  <a:pt x="1399376" y="52250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source_finerenone_main_marker_69">
            <a:extLst>
              <a:ext uri="{FF2B5EF4-FFF2-40B4-BE49-F238E27FC236}">
                <a16:creationId xmlns:a16="http://schemas.microsoft.com/office/drawing/2014/main" id="{E9BEFF24-833D-4613-94BC-92B49DFC2F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6293" y="563515"/>
                </a:moveTo>
                <a:lnTo>
                  <a:pt x="1949336" y="563515"/>
                </a:lnTo>
                <a:lnTo>
                  <a:pt x="1949336" y="615917"/>
                </a:lnTo>
                <a:lnTo>
                  <a:pt x="1886293" y="615917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source_finerenone_main_marker_70">
            <a:extLst>
              <a:ext uri="{FF2B5EF4-FFF2-40B4-BE49-F238E27FC236}">
                <a16:creationId xmlns:a16="http://schemas.microsoft.com/office/drawing/2014/main" id="{9F54057B-52F5-4CCE-9A16-FB5A123783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72154" y="611097"/>
                </a:moveTo>
                <a:lnTo>
                  <a:pt x="2435197" y="611097"/>
                </a:lnTo>
                <a:lnTo>
                  <a:pt x="2435197" y="663499"/>
                </a:lnTo>
                <a:lnTo>
                  <a:pt x="2372154" y="66349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source_finerenone_main_marker_71">
            <a:extLst>
              <a:ext uri="{FF2B5EF4-FFF2-40B4-BE49-F238E27FC236}">
                <a16:creationId xmlns:a16="http://schemas.microsoft.com/office/drawing/2014/main" id="{A3B6FA63-C2BD-424F-9C2E-2DBBDEE374A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6960" y="699144"/>
                </a:moveTo>
                <a:lnTo>
                  <a:pt x="2920002" y="699144"/>
                </a:lnTo>
                <a:lnTo>
                  <a:pt x="2920002" y="751546"/>
                </a:lnTo>
                <a:lnTo>
                  <a:pt x="2856960" y="75154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source_finerenone_main_marker_72">
            <a:extLst>
              <a:ext uri="{FF2B5EF4-FFF2-40B4-BE49-F238E27FC236}">
                <a16:creationId xmlns:a16="http://schemas.microsoft.com/office/drawing/2014/main" id="{3FBB0F1C-7FF8-41B2-B771-A4959AE271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6459" y="796064"/>
                </a:moveTo>
                <a:lnTo>
                  <a:pt x="3409501" y="796064"/>
                </a:lnTo>
                <a:lnTo>
                  <a:pt x="3409501" y="848466"/>
                </a:lnTo>
                <a:lnTo>
                  <a:pt x="3346459" y="8484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source_finerenone_main_marker_73">
            <a:extLst>
              <a:ext uri="{FF2B5EF4-FFF2-40B4-BE49-F238E27FC236}">
                <a16:creationId xmlns:a16="http://schemas.microsoft.com/office/drawing/2014/main" id="{009EDF47-405A-4A3C-8B07-41F50B91397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32320" y="866550"/>
                </a:moveTo>
                <a:lnTo>
                  <a:pt x="3895363" y="866550"/>
                </a:lnTo>
                <a:lnTo>
                  <a:pt x="3895363" y="918952"/>
                </a:lnTo>
                <a:lnTo>
                  <a:pt x="3832320" y="91895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source_finerenone_main_marker_74">
            <a:extLst>
              <a:ext uri="{FF2B5EF4-FFF2-40B4-BE49-F238E27FC236}">
                <a16:creationId xmlns:a16="http://schemas.microsoft.com/office/drawing/2014/main" id="{629EB97F-0C59-45A5-A784-B8DDD2185EF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04063" y="1045333"/>
                </a:moveTo>
                <a:lnTo>
                  <a:pt x="4867105" y="1045333"/>
                </a:lnTo>
                <a:lnTo>
                  <a:pt x="4867105" y="1097735"/>
                </a:lnTo>
                <a:lnTo>
                  <a:pt x="4804063" y="109773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source_finerenone_main_marker_75">
            <a:extLst>
              <a:ext uri="{FF2B5EF4-FFF2-40B4-BE49-F238E27FC236}">
                <a16:creationId xmlns:a16="http://schemas.microsoft.com/office/drawing/2014/main" id="{0178369C-D879-4067-8D25-BA07809F02F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90960" y="1059438"/>
                </a:moveTo>
                <a:lnTo>
                  <a:pt x="5354003" y="1059438"/>
                </a:lnTo>
                <a:lnTo>
                  <a:pt x="5354003" y="1111839"/>
                </a:lnTo>
                <a:lnTo>
                  <a:pt x="5290960" y="111183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source_finerenone_main_marker_76">
            <a:extLst>
              <a:ext uri="{FF2B5EF4-FFF2-40B4-BE49-F238E27FC236}">
                <a16:creationId xmlns:a16="http://schemas.microsoft.com/office/drawing/2014/main" id="{C383F2CF-0CFD-4877-93CF-0249B2D438E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6011" y="943200"/>
                </a:moveTo>
                <a:lnTo>
                  <a:pt x="4379053" y="943200"/>
                </a:lnTo>
                <a:lnTo>
                  <a:pt x="4379053" y="995602"/>
                </a:lnTo>
                <a:lnTo>
                  <a:pt x="4316011" y="99560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source_finerenone_inset_error_bar_108">
            <a:extLst>
              <a:ext uri="{FF2B5EF4-FFF2-40B4-BE49-F238E27FC236}">
                <a16:creationId xmlns:a16="http://schemas.microsoft.com/office/drawing/2014/main" id="{E3C0FF52-CAAC-40EA-A1C5-91C91740BD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24161" y="858161"/>
                </a:moveTo>
                <a:lnTo>
                  <a:pt x="5938515" y="858161"/>
                </a:lnTo>
                <a:moveTo>
                  <a:pt x="5824161" y="980750"/>
                </a:moveTo>
                <a:lnTo>
                  <a:pt x="5938515" y="980750"/>
                </a:lnTo>
                <a:moveTo>
                  <a:pt x="5879020" y="935391"/>
                </a:moveTo>
                <a:lnTo>
                  <a:pt x="5879020" y="858161"/>
                </a:lnTo>
                <a:moveTo>
                  <a:pt x="5879020" y="935391"/>
                </a:moveTo>
                <a:lnTo>
                  <a:pt x="5879020" y="98075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source_finerenone_inset_error_bar_109">
            <a:extLst>
              <a:ext uri="{FF2B5EF4-FFF2-40B4-BE49-F238E27FC236}">
                <a16:creationId xmlns:a16="http://schemas.microsoft.com/office/drawing/2014/main" id="{2241A296-88E4-412E-B1A8-1725774EBC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31527" y="750350"/>
                </a:moveTo>
                <a:lnTo>
                  <a:pt x="6645881" y="750350"/>
                </a:lnTo>
                <a:moveTo>
                  <a:pt x="6531527" y="881681"/>
                </a:moveTo>
                <a:lnTo>
                  <a:pt x="6645881" y="881681"/>
                </a:lnTo>
                <a:moveTo>
                  <a:pt x="6586386" y="815903"/>
                </a:moveTo>
                <a:lnTo>
                  <a:pt x="6586386" y="750350"/>
                </a:lnTo>
                <a:moveTo>
                  <a:pt x="6586386" y="815903"/>
                </a:moveTo>
                <a:lnTo>
                  <a:pt x="6586386" y="88168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source_finerenone_inset_marker_110">
            <a:extLst>
              <a:ext uri="{FF2B5EF4-FFF2-40B4-BE49-F238E27FC236}">
                <a16:creationId xmlns:a16="http://schemas.microsoft.com/office/drawing/2014/main" id="{360F6635-D008-4308-BAC7-344E68AFD3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32226" y="891975"/>
                </a:moveTo>
                <a:lnTo>
                  <a:pt x="5923886" y="891975"/>
                </a:lnTo>
                <a:lnTo>
                  <a:pt x="5923886" y="944358"/>
                </a:lnTo>
                <a:lnTo>
                  <a:pt x="5832226" y="944358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source_finerenone_inset_marker_111">
            <a:extLst>
              <a:ext uri="{FF2B5EF4-FFF2-40B4-BE49-F238E27FC236}">
                <a16:creationId xmlns:a16="http://schemas.microsoft.com/office/drawing/2014/main" id="{C52236C6-2ADA-4495-A5C8-4BEE639BE6C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40078" y="789712"/>
                </a:moveTo>
                <a:lnTo>
                  <a:pt x="6631738" y="789712"/>
                </a:lnTo>
                <a:lnTo>
                  <a:pt x="6631738" y="842113"/>
                </a:lnTo>
                <a:lnTo>
                  <a:pt x="6540078" y="84211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source_finerenone_inset_curve_112">
            <a:extLst>
              <a:ext uri="{FF2B5EF4-FFF2-40B4-BE49-F238E27FC236}">
                <a16:creationId xmlns:a16="http://schemas.microsoft.com/office/drawing/2014/main" id="{B2B2D99D-C8EE-485D-91DC-3570C627093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76967" y="808217"/>
                </a:moveTo>
                <a:lnTo>
                  <a:pt x="6493602" y="821392"/>
                </a:lnTo>
                <a:moveTo>
                  <a:pt x="6410236" y="834568"/>
                </a:moveTo>
                <a:lnTo>
                  <a:pt x="6326871" y="847744"/>
                </a:lnTo>
                <a:moveTo>
                  <a:pt x="6243506" y="860919"/>
                </a:moveTo>
                <a:lnTo>
                  <a:pt x="6160140" y="874095"/>
                </a:lnTo>
                <a:moveTo>
                  <a:pt x="6076775" y="887271"/>
                </a:moveTo>
                <a:lnTo>
                  <a:pt x="5993410" y="900446"/>
                </a:lnTo>
                <a:moveTo>
                  <a:pt x="5910044" y="913622"/>
                </a:moveTo>
                <a:lnTo>
                  <a:pt x="5881344" y="918158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source_placebo_main_error_bar_77">
            <a:extLst>
              <a:ext uri="{FF2B5EF4-FFF2-40B4-BE49-F238E27FC236}">
                <a16:creationId xmlns:a16="http://schemas.microsoft.com/office/drawing/2014/main" id="{9260C4F4-658A-413F-8900-21BAB4F5F6E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0911" y="126699"/>
                </a:moveTo>
                <a:lnTo>
                  <a:pt x="179558" y="126699"/>
                </a:lnTo>
                <a:moveTo>
                  <a:pt x="100911" y="185751"/>
                </a:moveTo>
                <a:lnTo>
                  <a:pt x="179558" y="185751"/>
                </a:lnTo>
                <a:moveTo>
                  <a:pt x="138436" y="160213"/>
                </a:moveTo>
                <a:lnTo>
                  <a:pt x="138436" y="126699"/>
                </a:lnTo>
                <a:moveTo>
                  <a:pt x="138436" y="160213"/>
                </a:moveTo>
                <a:lnTo>
                  <a:pt x="138436" y="18575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source_placebo_main_error_bar_78">
            <a:extLst>
              <a:ext uri="{FF2B5EF4-FFF2-40B4-BE49-F238E27FC236}">
                <a16:creationId xmlns:a16="http://schemas.microsoft.com/office/drawing/2014/main" id="{91B66043-D610-445A-B48C-D5EC0A0441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8582" y="193676"/>
                </a:moveTo>
                <a:lnTo>
                  <a:pt x="423494" y="193676"/>
                </a:lnTo>
                <a:moveTo>
                  <a:pt x="348582" y="266758"/>
                </a:moveTo>
                <a:lnTo>
                  <a:pt x="423494" y="266758"/>
                </a:lnTo>
                <a:moveTo>
                  <a:pt x="386126" y="232422"/>
                </a:moveTo>
                <a:lnTo>
                  <a:pt x="386126" y="193676"/>
                </a:lnTo>
                <a:moveTo>
                  <a:pt x="386126" y="232422"/>
                </a:moveTo>
                <a:lnTo>
                  <a:pt x="386126" y="266758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source_placebo_main_error_bar_79">
            <a:extLst>
              <a:ext uri="{FF2B5EF4-FFF2-40B4-BE49-F238E27FC236}">
                <a16:creationId xmlns:a16="http://schemas.microsoft.com/office/drawing/2014/main" id="{D7194EC2-2428-4AA2-9327-7049784EEC6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8741" y="236837"/>
                </a:moveTo>
                <a:lnTo>
                  <a:pt x="787388" y="236837"/>
                </a:lnTo>
                <a:moveTo>
                  <a:pt x="708741" y="316084"/>
                </a:moveTo>
                <a:lnTo>
                  <a:pt x="787388" y="316084"/>
                </a:lnTo>
                <a:moveTo>
                  <a:pt x="750020" y="280010"/>
                </a:moveTo>
                <a:lnTo>
                  <a:pt x="750020" y="236837"/>
                </a:lnTo>
                <a:moveTo>
                  <a:pt x="750020" y="280010"/>
                </a:moveTo>
                <a:lnTo>
                  <a:pt x="750020" y="31608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source_placebo_main_error_bar_80">
            <a:extLst>
              <a:ext uri="{FF2B5EF4-FFF2-40B4-BE49-F238E27FC236}">
                <a16:creationId xmlns:a16="http://schemas.microsoft.com/office/drawing/2014/main" id="{E0FB5C19-F821-4722-8F9C-120274F32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77910" y="327587"/>
                </a:moveTo>
                <a:lnTo>
                  <a:pt x="1152822" y="327587"/>
                </a:lnTo>
                <a:moveTo>
                  <a:pt x="1077910" y="410403"/>
                </a:moveTo>
                <a:lnTo>
                  <a:pt x="1152822" y="410403"/>
                </a:lnTo>
                <a:moveTo>
                  <a:pt x="1115473" y="373376"/>
                </a:moveTo>
                <a:lnTo>
                  <a:pt x="1115473" y="327587"/>
                </a:lnTo>
                <a:moveTo>
                  <a:pt x="1115473" y="373376"/>
                </a:moveTo>
                <a:lnTo>
                  <a:pt x="1115473" y="41040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source_placebo_main_error_bar_81">
            <a:extLst>
              <a:ext uri="{FF2B5EF4-FFF2-40B4-BE49-F238E27FC236}">
                <a16:creationId xmlns:a16="http://schemas.microsoft.com/office/drawing/2014/main" id="{D89765B4-5C58-4102-BB46-BEF79ABE0D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3333" y="398901"/>
                </a:moveTo>
                <a:lnTo>
                  <a:pt x="1521980" y="398901"/>
                </a:lnTo>
                <a:moveTo>
                  <a:pt x="1443333" y="483473"/>
                </a:moveTo>
                <a:lnTo>
                  <a:pt x="1521980" y="483473"/>
                </a:lnTo>
                <a:moveTo>
                  <a:pt x="1480897" y="445586"/>
                </a:moveTo>
                <a:lnTo>
                  <a:pt x="1480897" y="398901"/>
                </a:lnTo>
                <a:moveTo>
                  <a:pt x="1480897" y="445586"/>
                </a:moveTo>
                <a:lnTo>
                  <a:pt x="1480897" y="48347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source_placebo_main_error_bar_82">
            <a:extLst>
              <a:ext uri="{FF2B5EF4-FFF2-40B4-BE49-F238E27FC236}">
                <a16:creationId xmlns:a16="http://schemas.microsoft.com/office/drawing/2014/main" id="{1147ADF5-84AC-48D4-A5CA-E5607A61322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29201" y="515197"/>
                </a:moveTo>
                <a:lnTo>
                  <a:pt x="2007848" y="515197"/>
                </a:lnTo>
                <a:moveTo>
                  <a:pt x="1929201" y="611239"/>
                </a:moveTo>
                <a:lnTo>
                  <a:pt x="2007848" y="611239"/>
                </a:lnTo>
                <a:moveTo>
                  <a:pt x="1966784" y="559398"/>
                </a:moveTo>
                <a:lnTo>
                  <a:pt x="1966784" y="515197"/>
                </a:lnTo>
                <a:moveTo>
                  <a:pt x="1966784" y="559398"/>
                </a:moveTo>
                <a:lnTo>
                  <a:pt x="1966784" y="61123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source_placebo_main_error_bar_83">
            <a:extLst>
              <a:ext uri="{FF2B5EF4-FFF2-40B4-BE49-F238E27FC236}">
                <a16:creationId xmlns:a16="http://schemas.microsoft.com/office/drawing/2014/main" id="{10E0E525-449F-49D1-BDC8-54BFB933FE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16120" y="614753"/>
                </a:moveTo>
                <a:lnTo>
                  <a:pt x="2494767" y="614753"/>
                </a:lnTo>
                <a:moveTo>
                  <a:pt x="2416120" y="716904"/>
                </a:moveTo>
                <a:lnTo>
                  <a:pt x="2494767" y="716904"/>
                </a:lnTo>
                <a:moveTo>
                  <a:pt x="2453743" y="669415"/>
                </a:moveTo>
                <a:lnTo>
                  <a:pt x="2453743" y="614753"/>
                </a:lnTo>
                <a:moveTo>
                  <a:pt x="2453743" y="669415"/>
                </a:moveTo>
                <a:lnTo>
                  <a:pt x="2453743" y="71690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source_placebo_main_error_bar_84">
            <a:extLst>
              <a:ext uri="{FF2B5EF4-FFF2-40B4-BE49-F238E27FC236}">
                <a16:creationId xmlns:a16="http://schemas.microsoft.com/office/drawing/2014/main" id="{6CD91FB7-1460-43CC-A1EA-3A3500B63DF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1987" y="729271"/>
                </a:moveTo>
                <a:lnTo>
                  <a:pt x="2976899" y="729271"/>
                </a:lnTo>
                <a:moveTo>
                  <a:pt x="2901987" y="839362"/>
                </a:moveTo>
                <a:lnTo>
                  <a:pt x="2976899" y="839362"/>
                </a:lnTo>
                <a:moveTo>
                  <a:pt x="2939610" y="786568"/>
                </a:moveTo>
                <a:lnTo>
                  <a:pt x="2939610" y="729271"/>
                </a:lnTo>
                <a:moveTo>
                  <a:pt x="2939610" y="786568"/>
                </a:moveTo>
                <a:lnTo>
                  <a:pt x="2939610" y="839362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source_placebo_main_error_bar_85">
            <a:extLst>
              <a:ext uri="{FF2B5EF4-FFF2-40B4-BE49-F238E27FC236}">
                <a16:creationId xmlns:a16="http://schemas.microsoft.com/office/drawing/2014/main" id="{010E92CD-B17E-4BBB-B381-0A6BC6FFFD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87854" y="849086"/>
                </a:moveTo>
                <a:lnTo>
                  <a:pt x="3462766" y="849086"/>
                </a:lnTo>
                <a:moveTo>
                  <a:pt x="3387854" y="962726"/>
                </a:moveTo>
                <a:lnTo>
                  <a:pt x="3462766" y="962726"/>
                </a:lnTo>
                <a:moveTo>
                  <a:pt x="3425496" y="909035"/>
                </a:moveTo>
                <a:lnTo>
                  <a:pt x="3425496" y="849086"/>
                </a:lnTo>
                <a:moveTo>
                  <a:pt x="3425496" y="909035"/>
                </a:moveTo>
                <a:lnTo>
                  <a:pt x="3425496" y="962726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source_placebo_main_error_bar_86">
            <a:extLst>
              <a:ext uri="{FF2B5EF4-FFF2-40B4-BE49-F238E27FC236}">
                <a16:creationId xmlns:a16="http://schemas.microsoft.com/office/drawing/2014/main" id="{6D89F6AA-DB43-4C36-9F4C-B95420EEAB5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3720" y="930982"/>
                </a:moveTo>
                <a:lnTo>
                  <a:pt x="3948632" y="930982"/>
                </a:lnTo>
                <a:moveTo>
                  <a:pt x="3873720" y="1048153"/>
                </a:moveTo>
                <a:lnTo>
                  <a:pt x="3948632" y="1048153"/>
                </a:lnTo>
                <a:moveTo>
                  <a:pt x="3911362" y="994444"/>
                </a:moveTo>
                <a:lnTo>
                  <a:pt x="3911362" y="930982"/>
                </a:lnTo>
                <a:moveTo>
                  <a:pt x="3911362" y="994444"/>
                </a:moveTo>
                <a:lnTo>
                  <a:pt x="3911362" y="104815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source_placebo_main_error_bar_87">
            <a:extLst>
              <a:ext uri="{FF2B5EF4-FFF2-40B4-BE49-F238E27FC236}">
                <a16:creationId xmlns:a16="http://schemas.microsoft.com/office/drawing/2014/main" id="{77259488-53D9-42EE-A303-FE3BEFD4BC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59001" y="1027892"/>
                </a:moveTo>
                <a:lnTo>
                  <a:pt x="4437648" y="1027892"/>
                </a:lnTo>
                <a:moveTo>
                  <a:pt x="4359001" y="1160027"/>
                </a:moveTo>
                <a:lnTo>
                  <a:pt x="4437648" y="1160027"/>
                </a:lnTo>
                <a:moveTo>
                  <a:pt x="4400397" y="1094903"/>
                </a:moveTo>
                <a:lnTo>
                  <a:pt x="4400397" y="1027892"/>
                </a:lnTo>
                <a:moveTo>
                  <a:pt x="4400397" y="1094903"/>
                </a:moveTo>
                <a:lnTo>
                  <a:pt x="4400397" y="1160027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source_placebo_main_error_bar_88">
            <a:extLst>
              <a:ext uri="{FF2B5EF4-FFF2-40B4-BE49-F238E27FC236}">
                <a16:creationId xmlns:a16="http://schemas.microsoft.com/office/drawing/2014/main" id="{76D0D2D1-1F5B-433D-A1CC-5FD7A93114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44868" y="1105407"/>
                </a:moveTo>
                <a:lnTo>
                  <a:pt x="4923515" y="1105407"/>
                </a:lnTo>
                <a:moveTo>
                  <a:pt x="4844868" y="1242829"/>
                </a:moveTo>
                <a:lnTo>
                  <a:pt x="4923515" y="1242829"/>
                </a:lnTo>
                <a:moveTo>
                  <a:pt x="4886303" y="1173352"/>
                </a:moveTo>
                <a:lnTo>
                  <a:pt x="4886303" y="1105407"/>
                </a:lnTo>
                <a:moveTo>
                  <a:pt x="4886303" y="1173352"/>
                </a:moveTo>
                <a:lnTo>
                  <a:pt x="4886303" y="124282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source_placebo_main_error_bar_89">
            <a:extLst>
              <a:ext uri="{FF2B5EF4-FFF2-40B4-BE49-F238E27FC236}">
                <a16:creationId xmlns:a16="http://schemas.microsoft.com/office/drawing/2014/main" id="{3B3D2780-7852-49BF-B68F-F2CB4197673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34948" y="1183838"/>
                </a:moveTo>
                <a:lnTo>
                  <a:pt x="5413594" y="1183838"/>
                </a:lnTo>
                <a:moveTo>
                  <a:pt x="5334948" y="1341511"/>
                </a:moveTo>
                <a:lnTo>
                  <a:pt x="5413594" y="1341511"/>
                </a:lnTo>
                <a:moveTo>
                  <a:pt x="5372629" y="1259723"/>
                </a:moveTo>
                <a:lnTo>
                  <a:pt x="5372629" y="1183838"/>
                </a:lnTo>
                <a:moveTo>
                  <a:pt x="5372629" y="1259723"/>
                </a:moveTo>
                <a:lnTo>
                  <a:pt x="5372629" y="134151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source_placebo_main_curve_91">
            <a:extLst>
              <a:ext uri="{FF2B5EF4-FFF2-40B4-BE49-F238E27FC236}">
                <a16:creationId xmlns:a16="http://schemas.microsoft.com/office/drawing/2014/main" id="{BE785201-1E48-4F04-A551-97F7D199796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4" y="161987"/>
                </a:moveTo>
                <a:lnTo>
                  <a:pt x="138426" y="160156"/>
                </a:lnTo>
                <a:moveTo>
                  <a:pt x="138426" y="160156"/>
                </a:moveTo>
                <a:lnTo>
                  <a:pt x="386098" y="232435"/>
                </a:lnTo>
                <a:moveTo>
                  <a:pt x="386098" y="232435"/>
                </a:moveTo>
                <a:lnTo>
                  <a:pt x="750020" y="280017"/>
                </a:lnTo>
                <a:moveTo>
                  <a:pt x="750020" y="280017"/>
                </a:moveTo>
                <a:lnTo>
                  <a:pt x="1115467" y="373369"/>
                </a:lnTo>
                <a:moveTo>
                  <a:pt x="1115467" y="373369"/>
                </a:moveTo>
                <a:lnTo>
                  <a:pt x="1480895" y="445611"/>
                </a:lnTo>
                <a:moveTo>
                  <a:pt x="1480895" y="445611"/>
                </a:moveTo>
                <a:lnTo>
                  <a:pt x="1966776" y="559400"/>
                </a:lnTo>
                <a:moveTo>
                  <a:pt x="1966776" y="559400"/>
                </a:moveTo>
                <a:lnTo>
                  <a:pt x="2453713" y="669397"/>
                </a:lnTo>
                <a:moveTo>
                  <a:pt x="2453713" y="669397"/>
                </a:moveTo>
                <a:lnTo>
                  <a:pt x="2939594" y="786568"/>
                </a:lnTo>
                <a:moveTo>
                  <a:pt x="2939594" y="786568"/>
                </a:moveTo>
                <a:lnTo>
                  <a:pt x="3425514" y="909026"/>
                </a:lnTo>
                <a:moveTo>
                  <a:pt x="3425514" y="909026"/>
                </a:moveTo>
                <a:lnTo>
                  <a:pt x="3911356" y="99443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source_placebo_main_curve_90">
            <a:extLst>
              <a:ext uri="{FF2B5EF4-FFF2-40B4-BE49-F238E27FC236}">
                <a16:creationId xmlns:a16="http://schemas.microsoft.com/office/drawing/2014/main" id="{DB367A3F-1F57-4CF2-8A42-72CEF09C313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76148" y="1259622"/>
                </a:moveTo>
                <a:lnTo>
                  <a:pt x="4886063" y="1173257"/>
                </a:lnTo>
                <a:moveTo>
                  <a:pt x="4886063" y="1173257"/>
                </a:moveTo>
                <a:lnTo>
                  <a:pt x="4400201" y="1094813"/>
                </a:lnTo>
                <a:moveTo>
                  <a:pt x="4400201" y="1094813"/>
                </a:moveTo>
                <a:lnTo>
                  <a:pt x="3911172" y="994343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source_placebo_main_marker_92">
            <a:extLst>
              <a:ext uri="{FF2B5EF4-FFF2-40B4-BE49-F238E27FC236}">
                <a16:creationId xmlns:a16="http://schemas.microsoft.com/office/drawing/2014/main" id="{F0269541-3889-4750-9B1E-7CA34F7E14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6210" y="132774"/>
                </a:moveTo>
                <a:lnTo>
                  <a:pt x="26832" y="132774"/>
                </a:lnTo>
                <a:lnTo>
                  <a:pt x="26832" y="185157"/>
                </a:lnTo>
                <a:lnTo>
                  <a:pt x="-36210" y="18515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source_placebo_main_marker_93">
            <a:extLst>
              <a:ext uri="{FF2B5EF4-FFF2-40B4-BE49-F238E27FC236}">
                <a16:creationId xmlns:a16="http://schemas.microsoft.com/office/drawing/2014/main" id="{CDD30F31-EA45-4AE7-A959-C3DA67B0375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879" y="133522"/>
                </a:moveTo>
                <a:lnTo>
                  <a:pt x="172902" y="133522"/>
                </a:lnTo>
                <a:lnTo>
                  <a:pt x="172902" y="185064"/>
                </a:lnTo>
                <a:lnTo>
                  <a:pt x="109879" y="185064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source_placebo_main_marker_94">
            <a:extLst>
              <a:ext uri="{FF2B5EF4-FFF2-40B4-BE49-F238E27FC236}">
                <a16:creationId xmlns:a16="http://schemas.microsoft.com/office/drawing/2014/main" id="{2EDC2506-813B-4406-99BD-600AA774742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53308" y="203204"/>
                </a:moveTo>
                <a:lnTo>
                  <a:pt x="416351" y="203204"/>
                </a:lnTo>
                <a:lnTo>
                  <a:pt x="416351" y="255605"/>
                </a:lnTo>
                <a:lnTo>
                  <a:pt x="353308" y="25560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source_placebo_main_marker_95">
            <a:extLst>
              <a:ext uri="{FF2B5EF4-FFF2-40B4-BE49-F238E27FC236}">
                <a16:creationId xmlns:a16="http://schemas.microsoft.com/office/drawing/2014/main" id="{B1AAC0D8-86CC-49EE-863D-7B0C224A3A0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17699" y="249010"/>
                </a:moveTo>
                <a:lnTo>
                  <a:pt x="780722" y="249010"/>
                </a:lnTo>
                <a:lnTo>
                  <a:pt x="780722" y="301412"/>
                </a:lnTo>
                <a:lnTo>
                  <a:pt x="717699" y="3014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source_placebo_main_marker_96">
            <a:extLst>
              <a:ext uri="{FF2B5EF4-FFF2-40B4-BE49-F238E27FC236}">
                <a16:creationId xmlns:a16="http://schemas.microsoft.com/office/drawing/2014/main" id="{5D17F695-53EB-4D93-ACCD-9156F8C0636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81582" y="341540"/>
                </a:moveTo>
                <a:lnTo>
                  <a:pt x="1144644" y="341540"/>
                </a:lnTo>
                <a:lnTo>
                  <a:pt x="1144644" y="393942"/>
                </a:lnTo>
                <a:lnTo>
                  <a:pt x="1081582" y="393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source_placebo_main_marker_97">
            <a:extLst>
              <a:ext uri="{FF2B5EF4-FFF2-40B4-BE49-F238E27FC236}">
                <a16:creationId xmlns:a16="http://schemas.microsoft.com/office/drawing/2014/main" id="{B37FBEC7-55B4-4833-97D8-C50849F88A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9121" y="414624"/>
                </a:moveTo>
                <a:lnTo>
                  <a:pt x="1512184" y="414624"/>
                </a:lnTo>
                <a:lnTo>
                  <a:pt x="1512184" y="467025"/>
                </a:lnTo>
                <a:lnTo>
                  <a:pt x="1449121" y="4670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source_placebo_main_marker_98">
            <a:extLst>
              <a:ext uri="{FF2B5EF4-FFF2-40B4-BE49-F238E27FC236}">
                <a16:creationId xmlns:a16="http://schemas.microsoft.com/office/drawing/2014/main" id="{B8FBC4ED-3E0A-49B2-8B3D-5D2541CCF4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33946" y="535325"/>
                </a:moveTo>
                <a:lnTo>
                  <a:pt x="1996989" y="535325"/>
                </a:lnTo>
                <a:lnTo>
                  <a:pt x="1996989" y="587727"/>
                </a:lnTo>
                <a:lnTo>
                  <a:pt x="1933946" y="58772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source_placebo_main_marker_99">
            <a:extLst>
              <a:ext uri="{FF2B5EF4-FFF2-40B4-BE49-F238E27FC236}">
                <a16:creationId xmlns:a16="http://schemas.microsoft.com/office/drawing/2014/main" id="{C75FC5AE-60D1-4D72-8351-4E641CAE8F0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20845" y="639250"/>
                </a:moveTo>
                <a:lnTo>
                  <a:pt x="2483867" y="639250"/>
                </a:lnTo>
                <a:lnTo>
                  <a:pt x="2483867" y="691633"/>
                </a:lnTo>
                <a:lnTo>
                  <a:pt x="2420845" y="69163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source_placebo_main_marker_100">
            <a:extLst>
              <a:ext uri="{FF2B5EF4-FFF2-40B4-BE49-F238E27FC236}">
                <a16:creationId xmlns:a16="http://schemas.microsoft.com/office/drawing/2014/main" id="{CB2E0583-25FA-4E77-9EC1-E9DEB0C9E3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6706" y="756459"/>
                </a:moveTo>
                <a:lnTo>
                  <a:pt x="2969748" y="756459"/>
                </a:lnTo>
                <a:lnTo>
                  <a:pt x="2969748" y="808843"/>
                </a:lnTo>
                <a:lnTo>
                  <a:pt x="2906706" y="80884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source_placebo_main_marker_101">
            <a:extLst>
              <a:ext uri="{FF2B5EF4-FFF2-40B4-BE49-F238E27FC236}">
                <a16:creationId xmlns:a16="http://schemas.microsoft.com/office/drawing/2014/main" id="{07413FC6-7C07-4A20-BC6D-4B860FD355D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94092" y="878021"/>
                </a:moveTo>
                <a:lnTo>
                  <a:pt x="3457135" y="878021"/>
                </a:lnTo>
                <a:lnTo>
                  <a:pt x="3457135" y="930385"/>
                </a:lnTo>
                <a:lnTo>
                  <a:pt x="3394092" y="93038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source_placebo_main_marker_102">
            <a:extLst>
              <a:ext uri="{FF2B5EF4-FFF2-40B4-BE49-F238E27FC236}">
                <a16:creationId xmlns:a16="http://schemas.microsoft.com/office/drawing/2014/main" id="{40BDDAF7-6575-446E-8B2D-197E30B4DB5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9954" y="962536"/>
                </a:moveTo>
                <a:lnTo>
                  <a:pt x="3943016" y="962536"/>
                </a:lnTo>
                <a:lnTo>
                  <a:pt x="3943016" y="1014919"/>
                </a:lnTo>
                <a:lnTo>
                  <a:pt x="3879954" y="101491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source_placebo_main_marker_103">
            <a:extLst>
              <a:ext uri="{FF2B5EF4-FFF2-40B4-BE49-F238E27FC236}">
                <a16:creationId xmlns:a16="http://schemas.microsoft.com/office/drawing/2014/main" id="{520B1B8E-25FA-440E-9FDA-42CB2AF7591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53789" y="1147558"/>
                </a:moveTo>
                <a:lnTo>
                  <a:pt x="4916831" y="1147558"/>
                </a:lnTo>
                <a:lnTo>
                  <a:pt x="4916831" y="1199942"/>
                </a:lnTo>
                <a:lnTo>
                  <a:pt x="4853789" y="1199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source_placebo_main_marker_104">
            <a:extLst>
              <a:ext uri="{FF2B5EF4-FFF2-40B4-BE49-F238E27FC236}">
                <a16:creationId xmlns:a16="http://schemas.microsoft.com/office/drawing/2014/main" id="{99B96461-B4AE-4CC0-90DD-E758D25310C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41782" y="1233923"/>
                </a:moveTo>
                <a:lnTo>
                  <a:pt x="5404824" y="1233923"/>
                </a:lnTo>
                <a:lnTo>
                  <a:pt x="5404824" y="1286325"/>
                </a:lnTo>
                <a:lnTo>
                  <a:pt x="5341782" y="12863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source_placebo_main_marker_105">
            <a:extLst>
              <a:ext uri="{FF2B5EF4-FFF2-40B4-BE49-F238E27FC236}">
                <a16:creationId xmlns:a16="http://schemas.microsoft.com/office/drawing/2014/main" id="{15BEE3ED-A004-44FD-ACC2-434134A7C80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67869" y="1063827"/>
                </a:moveTo>
                <a:lnTo>
                  <a:pt x="4430911" y="1063827"/>
                </a:lnTo>
                <a:lnTo>
                  <a:pt x="4430911" y="1116229"/>
                </a:lnTo>
                <a:lnTo>
                  <a:pt x="4367869" y="111622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source_placebo_inset_error_bar_113">
            <a:extLst>
              <a:ext uri="{FF2B5EF4-FFF2-40B4-BE49-F238E27FC236}">
                <a16:creationId xmlns:a16="http://schemas.microsoft.com/office/drawing/2014/main" id="{1196452B-D396-42FD-AB05-6DDADA3F89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95890" y="910711"/>
                </a:moveTo>
                <a:lnTo>
                  <a:pt x="6010244" y="910711"/>
                </a:lnTo>
                <a:moveTo>
                  <a:pt x="5895890" y="1033393"/>
                </a:moveTo>
                <a:lnTo>
                  <a:pt x="6010244" y="1033393"/>
                </a:lnTo>
                <a:moveTo>
                  <a:pt x="5950749" y="962254"/>
                </a:moveTo>
                <a:lnTo>
                  <a:pt x="5950749" y="910711"/>
                </a:lnTo>
                <a:moveTo>
                  <a:pt x="5950749" y="962254"/>
                </a:moveTo>
                <a:lnTo>
                  <a:pt x="5950749" y="103339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source_placebo_inset_error_bar_114">
            <a:extLst>
              <a:ext uri="{FF2B5EF4-FFF2-40B4-BE49-F238E27FC236}">
                <a16:creationId xmlns:a16="http://schemas.microsoft.com/office/drawing/2014/main" id="{A7A2FE2D-6C9F-4056-9555-F1C60B113A0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02992" y="931186"/>
                </a:moveTo>
                <a:lnTo>
                  <a:pt x="6717346" y="931186"/>
                </a:lnTo>
                <a:moveTo>
                  <a:pt x="6602992" y="1062555"/>
                </a:moveTo>
                <a:lnTo>
                  <a:pt x="6717346" y="1062555"/>
                </a:lnTo>
                <a:moveTo>
                  <a:pt x="6657851" y="995843"/>
                </a:moveTo>
                <a:lnTo>
                  <a:pt x="6657851" y="931186"/>
                </a:lnTo>
                <a:moveTo>
                  <a:pt x="6657851" y="995843"/>
                </a:moveTo>
                <a:lnTo>
                  <a:pt x="6657851" y="1062555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source_placebo_inset_marker_115">
            <a:extLst>
              <a:ext uri="{FF2B5EF4-FFF2-40B4-BE49-F238E27FC236}">
                <a16:creationId xmlns:a16="http://schemas.microsoft.com/office/drawing/2014/main" id="{FB2FDF43-5849-4D01-B48C-5636BBE27F9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18" y="944378"/>
                </a:moveTo>
                <a:lnTo>
                  <a:pt x="5993277" y="944378"/>
                </a:lnTo>
                <a:lnTo>
                  <a:pt x="5993277" y="996779"/>
                </a:lnTo>
                <a:lnTo>
                  <a:pt x="5901618" y="99677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source_placebo_inset_marker_116">
            <a:extLst>
              <a:ext uri="{FF2B5EF4-FFF2-40B4-BE49-F238E27FC236}">
                <a16:creationId xmlns:a16="http://schemas.microsoft.com/office/drawing/2014/main" id="{E7F6D0CF-56C8-40BA-8E69-FCA60CC186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62" y="971129"/>
                </a:moveTo>
                <a:lnTo>
                  <a:pt x="6702751" y="971129"/>
                </a:lnTo>
                <a:lnTo>
                  <a:pt x="6702751" y="1023512"/>
                </a:lnTo>
                <a:lnTo>
                  <a:pt x="6611062" y="10235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source_placebo_inset_curve_117">
            <a:extLst>
              <a:ext uri="{FF2B5EF4-FFF2-40B4-BE49-F238E27FC236}">
                <a16:creationId xmlns:a16="http://schemas.microsoft.com/office/drawing/2014/main" id="{E77321DE-2821-41A0-8354-50E4991803B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57831" y="997318"/>
                </a:moveTo>
                <a:lnTo>
                  <a:pt x="6572250" y="993840"/>
                </a:lnTo>
                <a:moveTo>
                  <a:pt x="6486669" y="990362"/>
                </a:moveTo>
                <a:lnTo>
                  <a:pt x="6401089" y="986884"/>
                </a:lnTo>
                <a:moveTo>
                  <a:pt x="6315508" y="983407"/>
                </a:moveTo>
                <a:lnTo>
                  <a:pt x="6229927" y="979929"/>
                </a:lnTo>
                <a:moveTo>
                  <a:pt x="6144347" y="976451"/>
                </a:moveTo>
                <a:lnTo>
                  <a:pt x="6058766" y="972973"/>
                </a:lnTo>
                <a:moveTo>
                  <a:pt x="5973185" y="969496"/>
                </a:moveTo>
                <a:lnTo>
                  <a:pt x="5953078" y="96867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source_placebo_change_bracket_106">
            <a:extLst>
              <a:ext uri="{FF2B5EF4-FFF2-40B4-BE49-F238E27FC236}">
                <a16:creationId xmlns:a16="http://schemas.microsoft.com/office/drawing/2014/main" id="{BDCD4FC8-4666-44A8-AFF8-74AEB616C5E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69184" y="1098764"/>
                </a:moveTo>
                <a:lnTo>
                  <a:pt x="6669184" y="1213637"/>
                </a:lnTo>
                <a:moveTo>
                  <a:pt x="6669184" y="1213637"/>
                </a:moveTo>
                <a:lnTo>
                  <a:pt x="5990340" y="1213637"/>
                </a:lnTo>
                <a:moveTo>
                  <a:pt x="5990340" y="1213637"/>
                </a:moveTo>
                <a:lnTo>
                  <a:pt x="5990340" y="1098764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source_finerenone_change_bracket_107">
            <a:extLst>
              <a:ext uri="{FF2B5EF4-FFF2-40B4-BE49-F238E27FC236}">
                <a16:creationId xmlns:a16="http://schemas.microsoft.com/office/drawing/2014/main" id="{D337A567-3A3F-4CA1-B411-5830C76D97E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97" y="732147"/>
                </a:moveTo>
                <a:lnTo>
                  <a:pt x="5901697" y="617274"/>
                </a:lnTo>
                <a:moveTo>
                  <a:pt x="5901697" y="617274"/>
                </a:moveTo>
                <a:lnTo>
                  <a:pt x="6574057" y="617274"/>
                </a:lnTo>
                <a:moveTo>
                  <a:pt x="6574057" y="617274"/>
                </a:moveTo>
                <a:lnTo>
                  <a:pt x="6574057" y="732147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post_treatment_change_0">
            <a:extLst>
              <a:ext uri="{FF2B5EF4-FFF2-40B4-BE49-F238E27FC236}">
                <a16:creationId xmlns:a16="http://schemas.microsoft.com/office/drawing/2014/main" id="{8EF0CDCE-DF1B-4C13-9C76-56D240210699}"/>
              </a:ext>
            </a:extLst>
          </p:cNvPr>
          <p:cNvSpPr>
            <a:spLocks noGrp="1"/>
          </p:cNvSpPr>
          <p:nvPr/>
        </p:nvSpPr>
        <p:spPr>
          <a:xfrm>
            <a:off x="7657099" y="251434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+1,3</a:t>
            </a:r>
          </a:p>
        </p:txBody>
      </p:sp>
      <p:sp>
        <p:nvSpPr>
          <p:cNvPr id="141" name="post_treatment_change_1">
            <a:extLst>
              <a:ext uri="{FF2B5EF4-FFF2-40B4-BE49-F238E27FC236}">
                <a16:creationId xmlns:a16="http://schemas.microsoft.com/office/drawing/2014/main" id="{64351649-010E-462E-A5C5-71263D2804C4}"/>
              </a:ext>
            </a:extLst>
          </p:cNvPr>
          <p:cNvSpPr>
            <a:spLocks noGrp="1"/>
          </p:cNvSpPr>
          <p:nvPr/>
        </p:nvSpPr>
        <p:spPr>
          <a:xfrm>
            <a:off x="7748984" y="359085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−0,3</a:t>
            </a:r>
          </a:p>
        </p:txBody>
      </p:sp>
      <p:sp>
        <p:nvSpPr>
          <p:cNvPr id="142" name="line_finerenone">
            <a:extLst>
              <a:ext uri="{FF2B5EF4-FFF2-40B4-BE49-F238E27FC236}">
                <a16:creationId xmlns:a16="http://schemas.microsoft.com/office/drawing/2014/main" id="{0ACA7398-2ADA-4E66-A74C-2E9B8556C134}"/>
              </a:ext>
            </a:extLst>
          </p:cNvPr>
          <p:cNvSpPr>
            <a:spLocks noGrp="1"/>
          </p:cNvSpPr>
          <p:nvPr/>
        </p:nvSpPr>
        <p:spPr>
          <a:xfrm>
            <a:off x="5743575" y="2813721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43" name="line_placebo">
            <a:extLst>
              <a:ext uri="{FF2B5EF4-FFF2-40B4-BE49-F238E27FC236}">
                <a16:creationId xmlns:a16="http://schemas.microsoft.com/office/drawing/2014/main" id="{30A6DC14-35B8-42F2-A5B1-C1B6EFAF7276}"/>
              </a:ext>
            </a:extLst>
          </p:cNvPr>
          <p:cNvSpPr>
            <a:spLocks noGrp="1"/>
          </p:cNvSpPr>
          <p:nvPr/>
        </p:nvSpPr>
        <p:spPr>
          <a:xfrm>
            <a:off x="5781675" y="3522725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44" name="post_treatment_visit_0">
            <a:extLst>
              <a:ext uri="{FF2B5EF4-FFF2-40B4-BE49-F238E27FC236}">
                <a16:creationId xmlns:a16="http://schemas.microsoft.com/office/drawing/2014/main" id="{01304899-FF9E-4E33-89A4-B280348571A1}"/>
              </a:ext>
            </a:extLst>
          </p:cNvPr>
          <p:cNvSpPr>
            <a:spLocks noGrp="1"/>
          </p:cNvSpPr>
          <p:nvPr/>
        </p:nvSpPr>
        <p:spPr>
          <a:xfrm>
            <a:off x="7212597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Конец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лечения</a:t>
            </a:r>
          </a:p>
        </p:txBody>
      </p:sp>
      <p:sp>
        <p:nvSpPr>
          <p:cNvPr id="145" name="post_treatment_visit_1">
            <a:extLst>
              <a:ext uri="{FF2B5EF4-FFF2-40B4-BE49-F238E27FC236}">
                <a16:creationId xmlns:a16="http://schemas.microsoft.com/office/drawing/2014/main" id="{084138DB-F44C-4743-A0C0-97FADAFAA4E1}"/>
              </a:ext>
            </a:extLst>
          </p:cNvPr>
          <p:cNvSpPr>
            <a:spLocks noGrp="1"/>
          </p:cNvSpPr>
          <p:nvPr/>
        </p:nvSpPr>
        <p:spPr>
          <a:xfrm>
            <a:off x="8047689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После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отмены</a:t>
            </a:r>
          </a:p>
        </p:txBody>
      </p:sp>
      <p:sp>
        <p:nvSpPr>
          <p:cNvPr id="146" name="month_title">
            <a:extLst>
              <a:ext uri="{FF2B5EF4-FFF2-40B4-BE49-F238E27FC236}">
                <a16:creationId xmlns:a16="http://schemas.microsoft.com/office/drawing/2014/main" id="{9E35FFFB-20FC-4CA9-83E1-5B7B3BE00C12}"/>
              </a:ext>
            </a:extLst>
          </p:cNvPr>
          <p:cNvSpPr>
            <a:spLocks noGrp="1"/>
          </p:cNvSpPr>
          <p:nvPr/>
        </p:nvSpPr>
        <p:spPr>
          <a:xfrm>
            <a:off x="4124325" y="4825552"/>
            <a:ext cx="11430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</a:t>
            </a:r>
          </a:p>
        </p:txBody>
      </p:sp>
      <p:sp>
        <p:nvSpPr>
          <p:cNvPr id="151" name="annual_heading">
            <a:extLst>
              <a:ext uri="{FF2B5EF4-FFF2-40B4-BE49-F238E27FC236}">
                <a16:creationId xmlns:a16="http://schemas.microsoft.com/office/drawing/2014/main" id="{7412C7BD-2159-4826-BF4B-04E7E52E24E1}"/>
              </a:ext>
            </a:extLst>
          </p:cNvPr>
          <p:cNvSpPr>
            <a:spLocks noGrp="1"/>
          </p:cNvSpPr>
          <p:nvPr/>
        </p:nvSpPr>
        <p:spPr>
          <a:xfrm>
            <a:off x="9086850" y="15811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рСКФ за год</a:t>
            </a:r>
          </a:p>
        </p:txBody>
      </p:sp>
      <p:sp>
        <p:nvSpPr>
          <p:cNvPr id="152" name="annual_fin_label">
            <a:extLst>
              <a:ext uri="{FF2B5EF4-FFF2-40B4-BE49-F238E27FC236}">
                <a16:creationId xmlns:a16="http://schemas.microsoft.com/office/drawing/2014/main" id="{F97C8F70-0591-4D55-B630-4E5ADD42516E}"/>
              </a:ext>
            </a:extLst>
          </p:cNvPr>
          <p:cNvSpPr>
            <a:spLocks noGrp="1"/>
          </p:cNvSpPr>
          <p:nvPr/>
        </p:nvSpPr>
        <p:spPr>
          <a:xfrm>
            <a:off x="9086850" y="2133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53" name="annual_fin_value">
            <a:extLst>
              <a:ext uri="{FF2B5EF4-FFF2-40B4-BE49-F238E27FC236}">
                <a16:creationId xmlns:a16="http://schemas.microsoft.com/office/drawing/2014/main" id="{0697F8B1-BBF4-4E3C-92BA-F7A4D7ACEA46}"/>
              </a:ext>
            </a:extLst>
          </p:cNvPr>
          <p:cNvSpPr>
            <a:spLocks noGrp="1"/>
          </p:cNvSpPr>
          <p:nvPr/>
        </p:nvSpPr>
        <p:spPr>
          <a:xfrm>
            <a:off x="9086850" y="2352675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−3,3</a:t>
            </a:r>
          </a:p>
        </p:txBody>
      </p:sp>
      <p:sp>
        <p:nvSpPr>
          <p:cNvPr id="154" name="annual_placebo_label">
            <a:extLst>
              <a:ext uri="{FF2B5EF4-FFF2-40B4-BE49-F238E27FC236}">
                <a16:creationId xmlns:a16="http://schemas.microsoft.com/office/drawing/2014/main" id="{FBCEAF48-13AC-481A-A290-1654DAD5506E}"/>
              </a:ext>
            </a:extLst>
          </p:cNvPr>
          <p:cNvSpPr>
            <a:spLocks noGrp="1"/>
          </p:cNvSpPr>
          <p:nvPr/>
        </p:nvSpPr>
        <p:spPr>
          <a:xfrm>
            <a:off x="9086850" y="2924175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55" name="annual_placebo_value">
            <a:extLst>
              <a:ext uri="{FF2B5EF4-FFF2-40B4-BE49-F238E27FC236}">
                <a16:creationId xmlns:a16="http://schemas.microsoft.com/office/drawing/2014/main" id="{6F331584-5657-4DE9-9EB1-160833617003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−4,0</a:t>
            </a:r>
          </a:p>
        </p:txBody>
      </p:sp>
      <p:sp>
        <p:nvSpPr>
          <p:cNvPr id="156" name="annual_unit">
            <a:extLst>
              <a:ext uri="{FF2B5EF4-FFF2-40B4-BE49-F238E27FC236}">
                <a16:creationId xmlns:a16="http://schemas.microsoft.com/office/drawing/2014/main" id="{725F8AB4-AA9E-41CE-A5BE-9DD7C17AF13C}"/>
              </a:ext>
            </a:extLst>
          </p:cNvPr>
          <p:cNvSpPr>
            <a:spLocks noGrp="1"/>
          </p:cNvSpPr>
          <p:nvPr/>
        </p:nvSpPr>
        <p:spPr>
          <a:xfrm>
            <a:off x="9086850" y="3657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мл/мин/1,73 м²</a:t>
            </a:r>
          </a:p>
        </p:txBody>
      </p:sp>
      <p:sp>
        <p:nvSpPr>
          <p:cNvPr id="157" name="difference">
            <a:extLst>
              <a:ext uri="{FF2B5EF4-FFF2-40B4-BE49-F238E27FC236}">
                <a16:creationId xmlns:a16="http://schemas.microsoft.com/office/drawing/2014/main" id="{2F807BC4-0D8F-4AC6-B8C2-AD8463F38162}"/>
              </a:ext>
            </a:extLst>
          </p:cNvPr>
          <p:cNvSpPr>
            <a:spLocks noGrp="1"/>
          </p:cNvSpPr>
          <p:nvPr/>
        </p:nvSpPr>
        <p:spPr>
          <a:xfrm>
            <a:off x="9086850" y="4019550"/>
            <a:ext cx="26479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0,7</a:t>
            </a:r>
          </a:p>
        </p:txBody>
      </p:sp>
      <p:sp>
        <p:nvSpPr>
          <p:cNvPr id="158" name="difference_ci">
            <a:extLst>
              <a:ext uri="{FF2B5EF4-FFF2-40B4-BE49-F238E27FC236}">
                <a16:creationId xmlns:a16="http://schemas.microsoft.com/office/drawing/2014/main" id="{3A69B51E-74D7-4C09-BDA2-12343E69BB99}"/>
              </a:ext>
            </a:extLst>
          </p:cNvPr>
          <p:cNvSpPr>
            <a:spLocks noGrp="1"/>
          </p:cNvSpPr>
          <p:nvPr/>
        </p:nvSpPr>
        <p:spPr>
          <a:xfrm>
            <a:off x="9086850" y="42957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 ДИ 0,3–1,1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p&lt;0,001</a:t>
            </a:r>
          </a:p>
        </p:txBody>
      </p:sp>
      <p:sp>
        <p:nvSpPr>
          <p:cNvPr id="159" name="primary_period">
            <a:extLst>
              <a:ext uri="{FF2B5EF4-FFF2-40B4-BE49-F238E27FC236}">
                <a16:creationId xmlns:a16="http://schemas.microsoft.com/office/drawing/2014/main" id="{0142854D-7EBC-44DA-B84D-2631278F16F1}"/>
              </a:ext>
            </a:extLst>
          </p:cNvPr>
          <p:cNvSpPr>
            <a:spLocks noGrp="1"/>
          </p:cNvSpPr>
          <p:nvPr/>
        </p:nvSpPr>
        <p:spPr>
          <a:xfrm>
            <a:off x="9086850" y="48291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 32-го месяца</a:t>
            </a:r>
          </a:p>
        </p:txBody>
      </p:sp>
      <p:sp>
        <p:nvSpPr>
          <p:cNvPr id="160" name="clinical_result">
            <a:extLst>
              <a:ext uri="{FF2B5EF4-FFF2-40B4-BE49-F238E27FC236}">
                <a16:creationId xmlns:a16="http://schemas.microsoft.com/office/drawing/2014/main" id="{AB5A8EA3-3191-48A6-B4B6-46394015B1A6}"/>
              </a:ext>
            </a:extLst>
          </p:cNvPr>
          <p:cNvSpPr>
            <a:spLocks noGrp="1"/>
          </p:cNvSpPr>
          <p:nvPr/>
        </p:nvSpPr>
        <p:spPr>
          <a:xfrm>
            <a:off x="457200" y="5203825"/>
            <a:ext cx="68580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исход: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13,9%, плацебо 16,9%.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 ДИ 0,60–0,99), p=0,04.</a:t>
            </a:r>
          </a:p>
        </p:txBody>
      </p:sp>
      <p:sp>
        <p:nvSpPr>
          <p:cNvPr id="161" name="clinical_definition">
            <a:extLst>
              <a:ext uri="{FF2B5EF4-FFF2-40B4-BE49-F238E27FC236}">
                <a16:creationId xmlns:a16="http://schemas.microsoft.com/office/drawing/2014/main" id="{BDB3CECC-1FD4-4984-999F-3C5EEB39CE66}"/>
              </a:ext>
            </a:extLst>
          </p:cNvPr>
          <p:cNvSpPr>
            <a:spLocks noGrp="1"/>
          </p:cNvSpPr>
          <p:nvPr/>
        </p:nvSpPr>
        <p:spPr>
          <a:xfrm>
            <a:off x="457200" y="5670550"/>
            <a:ext cx="68580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входит: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устойчивое снижение рСКФ на ≥57%, почечная недостаточность, госпитализация по поводу сердечной недостаточности или сердечно-сосудистая смерть.</a:t>
            </a:r>
          </a:p>
        </p:txBody>
      </p:sp>
      <p:sp>
        <p:nvSpPr>
          <p:cNvPr id="162" name="hyperkalemia">
            <a:extLst>
              <a:ext uri="{FF2B5EF4-FFF2-40B4-BE49-F238E27FC236}">
                <a16:creationId xmlns:a16="http://schemas.microsoft.com/office/drawing/2014/main" id="{CB18B2EE-A830-40B1-81F2-BE73EA86FCFC}"/>
              </a:ext>
            </a:extLst>
          </p:cNvPr>
          <p:cNvSpPr>
            <a:spLocks noGrp="1"/>
          </p:cNvSpPr>
          <p:nvPr/>
        </p:nvSpPr>
        <p:spPr>
          <a:xfrm>
            <a:off x="7524750" y="5318125"/>
            <a:ext cx="42100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гиперкалиемия: финеренон 17,0%, плацебо 13,3%; окончательная отмена из-за неё: финеренон 1,5%, плацебо 0,1%.</a:t>
            </a:r>
          </a:p>
        </p:txBody>
      </p:sp>
      <p:sp>
        <p:nvSpPr>
          <p:cNvPr id="163" name="indication">
            <a:extLst>
              <a:ext uri="{FF2B5EF4-FFF2-40B4-BE49-F238E27FC236}">
                <a16:creationId xmlns:a16="http://schemas.microsoft.com/office/drawing/2014/main" id="{F524920F-EDEA-4A8A-A9DD-113F096B16AA}"/>
              </a:ext>
            </a:extLst>
          </p:cNvPr>
          <p:cNvSpPr>
            <a:spLocks noGrp="1"/>
          </p:cNvSpPr>
          <p:nvPr/>
        </p:nvSpPr>
        <p:spPr>
          <a:xfrm>
            <a:off x="7524750" y="5943600"/>
            <a:ext cx="42100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показания при ХБП без диабета нет в США, Евросоюзе и в инструкции Финеренон-Орвилле.</a:t>
            </a: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АПФ: ангиотензинпревращающий фермент; БРА: блокатор рецепторов ангиотензина II; ДИ: доверительный интервал; ХБП: хроническая болезнь почек. На графике показан 95% ДИ; «после отмены»: примерно через 4 недели после окончания лечения.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2026;395:533–545.</a:t>
            </a:r>
          </a:p>
        </p:txBody>
      </p:sp>
      <p:pic>
        <p:nvPicPr>
          <p:cNvPr id="30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7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FINE-ONE: при диабете 1 типа финеренон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снижал альбуминурию сильнее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170432"/>
            <a:ext cx="10945368" cy="78638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242 взрослых с хронической болезнью почек и диабетом 1 типа; рСКФ ≥25 и &lt;90 мл/мин/1,73 м², АКО ≥200 и &lt;5000 мг/г.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Что сравнивали: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или плацебо на фоне инсулина и ингибитора АПФ или БРА.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258568"/>
            <a:ext cx="6263640" cy="533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снижение альбуминурии от исходного уровня,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среднее по визитам 3 и 6 месяцев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816352"/>
          <a:ext cx="6080760" cy="2459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258568"/>
            <a:ext cx="4251960" cy="59436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−25%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944368"/>
            <a:ext cx="4251960" cy="151790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Разница с плацебо по первичному исходу.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Как считали:</a:t>
            </a: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 0,66 / 0,88 = 0,75; столбики не вычитают.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Отношение геометрических средних 0,75 (95% ДИ 0,65–0,87), p&lt;0,001.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54660" y="5308600"/>
            <a:ext cx="10972800" cy="65836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суррогатная конечная точка; диализ и другие клинические исходы в FINE-ONE не оценивали.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гиперкалиемия: </a:t>
            </a:r>
            <a:r>
              <a:rPr lang="ru-RU"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 10,1%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, </a:t>
            </a:r>
            <a:r>
              <a:rPr lang="ru-RU" sz="1600" b="0">
                <a:solidFill>
                  <a:srgbClr val="7F7F7F"/>
                </a:solidFill>
                <a:latin typeface="Arial Narrow"/>
                <a:cs typeface="Arial Narrow"/>
              </a:rPr>
              <a:t>плацебо 3,3%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943600"/>
            <a:ext cx="10789920" cy="4191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США одобрено показание при ХБП и диабете 1 типа (16.09.2026).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этого показания нет.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мочи; ДИ: доверительный интервал;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2026;394:947–957. FDA. Supplement Approval Letter, NDA 215341, 16.09.2026. Kerendia (finerenone). US Prescribing Information.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Диабет 1 типа: регуляторный статус в США (вне показаний местной инструкции)</a:t>
            </a:r>
          </a:p>
        </p:txBody>
      </p:sp>
      <p:sp xmlns:a="http://schemas.openxmlformats.org/drawingml/2006/main">
        <p:nvSpPr>
          <p:cNvPr id="1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FDA. Supplement Approval Letter, NDA 215341, 16.09.2026.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16" name="США_полоса_1"/>
          <p:cNvSpPr/>
          <p:nvPr/>
        </p:nvSpPr>
        <p:spPr>
          <a:xfrm>
            <a:off x="457200" y="10668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Решение FDA</a:t>
            </a:r>
          </a:p>
        </p:txBody>
      </p:sp>
      <p:sp xmlns:a="http://schemas.openxmlformats.org/drawingml/2006/main">
        <p:nvSpPr>
          <p:cNvPr id="17" name="США_фон_1"/>
          <p:cNvSpPr/>
          <p:nvPr/>
        </p:nvSpPr>
        <p:spPr>
          <a:xfrm>
            <a:off x="457200" y="1498600"/>
            <a:ext cx="3657600" cy="4031914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8" name="США_текст_1"/>
          <p:cNvSpPr txBox="1"/>
          <p:nvPr/>
        </p:nvSpPr>
        <p:spPr>
          <a:xfrm>
            <a:off x="635000" y="1574800"/>
            <a:ext cx="3302000" cy="38795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Дата: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16.09.2026.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Регулятор: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Управление по контролю качества пищевых продуктов и лекарственных средств США (FDA).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Препарат: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Керендия (финеренон).</a:t>
            </a:r>
          </a:p>
        </p:txBody>
      </p:sp>
      <p:sp xmlns:a="http://schemas.openxmlformats.org/drawingml/2006/main">
        <p:nvSpPr>
          <p:cNvPr id="19" name="США_полоса_2"/>
          <p:cNvSpPr/>
          <p:nvPr/>
        </p:nvSpPr>
        <p:spPr>
          <a:xfrm>
            <a:off x="4267200" y="10668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в США</a:t>
            </a:r>
          </a:p>
        </p:txBody>
      </p:sp>
      <p:sp xmlns:a="http://schemas.openxmlformats.org/drawingml/2006/main">
        <p:nvSpPr>
          <p:cNvPr id="20" name="США_фон_2"/>
          <p:cNvSpPr/>
          <p:nvPr/>
        </p:nvSpPr>
        <p:spPr>
          <a:xfrm>
            <a:off x="4267200" y="1498600"/>
            <a:ext cx="3657600" cy="4031914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1" name="США_текст_2"/>
          <p:cNvSpPr txBox="1"/>
          <p:nvPr/>
        </p:nvSpPr>
        <p:spPr>
          <a:xfrm>
            <a:off x="4445000" y="1574800"/>
            <a:ext cx="3302000" cy="38795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Снижение отношения альбумина к креатинину мочи, которое, как ожидается, уменьшит риск устойчивого снижения рСКФ и терминальной почечной недостаточности, у взрослых с хронической болезнью почек, связанной с диабетом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Основание одобрения: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снижение АКО (суррогатная конечная точка) в FINE-ONE и данные исследований при диабете 2 типа. Клинические исходы (устойчивое снижение рСКФ, терминальная почечная недостаточность) в FINE-ONE не оценивали.</a:t>
            </a:r>
          </a:p>
        </p:txBody>
      </p:sp>
      <p:sp xmlns:a="http://schemas.openxmlformats.org/drawingml/2006/main">
        <p:nvSpPr>
          <p:cNvPr id="22" name="США_полоса_3"/>
          <p:cNvSpPr/>
          <p:nvPr/>
        </p:nvSpPr>
        <p:spPr>
          <a:xfrm>
            <a:off x="8077200" y="10668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Местная инструкция</a:t>
            </a:r>
          </a:p>
        </p:txBody>
      </p:sp>
      <p:sp xmlns:a="http://schemas.openxmlformats.org/drawingml/2006/main">
        <p:nvSpPr>
          <p:cNvPr id="23" name="США_фон_3"/>
          <p:cNvSpPr/>
          <p:nvPr/>
        </p:nvSpPr>
        <p:spPr>
          <a:xfrm>
            <a:off x="8077200" y="1498600"/>
            <a:ext cx="3657600" cy="4031914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4" name="США_текст_3"/>
          <p:cNvSpPr txBox="1"/>
          <p:nvPr/>
        </p:nvSpPr>
        <p:spPr>
          <a:xfrm>
            <a:off x="8255000" y="1574800"/>
            <a:ext cx="3302000" cy="38795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В инструкции Финеренон-Орвилле нет показания при диабете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не ссылается на зарубежные инструкции; вопросы о применении передаёт в медицинский отдел.</a:t>
            </a:r>
          </a:p>
        </p:txBody>
      </p:sp>
      <p:sp xmlns:a="http://schemas.openxmlformats.org/drawingml/2006/main">
        <p:nvSpPr>
          <p:cNvPr id="2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1596464909"/>
      </p:ext>
    </p:extLst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FINEARTS-HF: суммарное число событий первичного исхода ниже на 16% (относительное снижение)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027176"/>
            <a:ext cx="10972800" cy="838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6001 пациент с симптомной сердечной недостаточностью и фракцией выброса левого желудочка ≥40%, с диабетом или без него.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медиана 32 месяца. </a:t>
            </a: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20 или 40 мг один раз в сутки в зависимости от функции почек; целевая и максимальная доза по местной инструкции 20 мг.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164080"/>
            <a:ext cx="6309360" cy="548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Суммарное число событий первичного исхода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663952"/>
          <a:ext cx="6080760" cy="241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191512"/>
            <a:ext cx="4279392" cy="630936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4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0,84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837688"/>
            <a:ext cx="4251960" cy="914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Отношение частот: относительное снижение суммарного числа событий на 16%. 95% ДИ 0,74–0,95, p=0,007.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315200" y="4029075"/>
            <a:ext cx="4248150" cy="10572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Ограничение: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снижение риска сердечно-сосудистой смерти отдельно не подтверждено: отношение рисков 0,93 (95% ДИ 0,78–1,11).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105400"/>
            <a:ext cx="10858500" cy="523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первые и повторные госпитализации или срочные визиты по поводу сердечной недостаточности и сердечно-сосудистая смерть. На графике число событий: у одного пациента их может быть несколько.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4660" y="5638800"/>
            <a:ext cx="10382250" cy="5810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Керендия зарегистрирована при этой форме сердечной недостаточности независимо от диабета: в США (FDA, июль 2025) и в Евросоюзе (Европейская комиссия, 26.03.2026).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Местная инструкция: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в инструкции Финеренон-Орвилле это показание не указано.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Solomon SD, et al. N Engl J Med. 2024;391:1475–1485. FDA. Supplement Approval Letter, NDA 215341/S-009. European Commission Implementing Decision, 26.03.2026.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План обучения</a:t>
            </a:r>
          </a:p>
        </p:txBody>
      </p:sp>
      <p:sp>
        <p:nvSpPr>
          <p:cNvPr id="3" name="План_полоса_1"/>
          <p:cNvSpPr/>
          <p:nvPr/>
        </p:nvSpPr>
        <p:spPr>
          <a:xfrm>
            <a:off x="457200" y="9652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Почки при диабете: диагноз и прогноз</a:t>
            </a:r>
          </a:p>
        </p:txBody>
      </p:sp>
      <p:sp>
        <p:nvSpPr>
          <p:cNvPr id="4" name="План_фон_1"/>
          <p:cNvSpPr/>
          <p:nvPr/>
        </p:nvSpPr>
        <p:spPr>
          <a:xfrm>
            <a:off x="457200" y="13970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лан_текст_1"/>
          <p:cNvSpPr txBox="1"/>
          <p:nvPr/>
        </p:nvSpPr>
        <p:spPr>
          <a:xfrm>
            <a:off x="635000" y="14732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Два вопроса для обсуждения: слайд 2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работает почка и что меняет диабет: слайды 4–8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Связь болезней сердца и почек: слайды 9–10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Диагноз и прогноз хронической болезни почек: слайды 11–13</a:t>
            </a:r>
          </a:p>
        </p:txBody>
      </p:sp>
      <p:sp>
        <p:nvSpPr>
          <p:cNvPr id="6" name="План_полоса_2"/>
          <p:cNvSpPr/>
          <p:nvPr/>
        </p:nvSpPr>
        <p:spPr>
          <a:xfrm>
            <a:off x="6172200" y="9652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Финеренон: механизм и доказательства</a:t>
            </a:r>
          </a:p>
        </p:txBody>
      </p:sp>
      <p:sp>
        <p:nvSpPr>
          <p:cNvPr id="7" name="План_фон_2"/>
          <p:cNvSpPr/>
          <p:nvPr/>
        </p:nvSpPr>
        <p:spPr>
          <a:xfrm>
            <a:off x="6172200" y="13970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План_текст_2"/>
          <p:cNvSpPr txBox="1"/>
          <p:nvPr/>
        </p:nvSpPr>
        <p:spPr>
          <a:xfrm>
            <a:off x="6350000" y="14732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читать результаты исследования: слайд 14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Остаточный риск и четыре группы препаратов: слайды 15–16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действует финеренон: слайды 17–19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Исследования и рекомендации: слайды 20–26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Место среди других препаратов: слайды 27–28</a:t>
            </a:r>
          </a:p>
        </p:txBody>
      </p:sp>
      <p:sp>
        <p:nvSpPr>
          <p:cNvPr id="9" name="План_полоса_3"/>
          <p:cNvSpPr/>
          <p:nvPr/>
        </p:nvSpPr>
        <p:spPr>
          <a:xfrm>
            <a:off x="457200" y="36703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Калий, безопасность, проверка знаний</a:t>
            </a:r>
          </a:p>
        </p:txBody>
      </p:sp>
      <p:sp>
        <p:nvSpPr>
          <p:cNvPr id="10" name="План_фон_3"/>
          <p:cNvSpPr/>
          <p:nvPr/>
        </p:nvSpPr>
        <p:spPr>
          <a:xfrm>
            <a:off x="457200" y="41021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План_текст_3"/>
          <p:cNvSpPr txBox="1"/>
          <p:nvPr/>
        </p:nvSpPr>
        <p:spPr>
          <a:xfrm>
            <a:off x="635000" y="41783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и взаимодействия: слайды 29–31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Начало лечения, контроль и дозы: слайды 32–34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Безопасность и клинические случаи: слайды 35–37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Разбор двух вопросов и контрольные вопросы: слайды 38–41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Итоги: слайд 42</a:t>
            </a:r>
          </a:p>
        </p:txBody>
      </p:sp>
      <p:sp>
        <p:nvSpPr>
          <p:cNvPr id="12" name="План_полоса_4"/>
          <p:cNvSpPr/>
          <p:nvPr/>
        </p:nvSpPr>
        <p:spPr>
          <a:xfrm>
            <a:off x="6172200" y="36703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</a:t>
            </a:r>
          </a:p>
        </p:txBody>
      </p:sp>
      <p:sp>
        <p:nvSpPr>
          <p:cNvPr id="13" name="План_фон_4"/>
          <p:cNvSpPr/>
          <p:nvPr/>
        </p:nvSpPr>
        <p:spPr>
          <a:xfrm>
            <a:off x="6172200" y="41021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лан_текст_4"/>
          <p:cNvSpPr txBox="1"/>
          <p:nvPr/>
        </p:nvSpPr>
        <p:spPr>
          <a:xfrm>
            <a:off x="6350000" y="41783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Только для внутреннего обучения: слайды 43–48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читать результаты исследования</a:t>
            </a:r>
          </a:p>
        </p:txBody>
      </p:sp>
      <p:sp>
        <p:nvSpPr>
          <p:cNvPr id="3" name="Чтение_шапка_Термин"/>
          <p:cNvSpPr/>
          <p:nvPr/>
        </p:nvSpPr>
        <p:spPr>
          <a:xfrm>
            <a:off x="457200" y="812800"/>
            <a:ext cx="2032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Чтение_шапка_текст_Термин"/>
          <p:cNvSpPr txBox="1"/>
          <p:nvPr/>
        </p:nvSpPr>
        <p:spPr>
          <a:xfrm>
            <a:off x="558800" y="812800"/>
            <a:ext cx="1828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Термин</a:t>
            </a:r>
          </a:p>
        </p:txBody>
      </p:sp>
      <p:sp>
        <p:nvSpPr>
          <p:cNvPr id="5" name="Чтение_шапка_Что означает"/>
          <p:cNvSpPr/>
          <p:nvPr/>
        </p:nvSpPr>
        <p:spPr>
          <a:xfrm>
            <a:off x="2489200" y="812800"/>
            <a:ext cx="4953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Чтение_шапка_текст_Что означает"/>
          <p:cNvSpPr txBox="1"/>
          <p:nvPr/>
        </p:nvSpPr>
        <p:spPr>
          <a:xfrm>
            <a:off x="2590800" y="812800"/>
            <a:ext cx="4749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Что означает</a:t>
            </a:r>
          </a:p>
        </p:txBody>
      </p:sp>
      <p:sp>
        <p:nvSpPr>
          <p:cNvPr id="7" name="Чтение_шапка_Пример из обучения"/>
          <p:cNvSpPr/>
          <p:nvPr/>
        </p:nvSpPr>
        <p:spPr>
          <a:xfrm>
            <a:off x="7442200" y="812800"/>
            <a:ext cx="42926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Чтение_шапка_текст_Пример из обучения"/>
          <p:cNvSpPr txBox="1"/>
          <p:nvPr/>
        </p:nvSpPr>
        <p:spPr>
          <a:xfrm>
            <a:off x="7543800" y="812800"/>
            <a:ext cx="40894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Пример из обучения</a:t>
            </a:r>
          </a:p>
        </p:txBody>
      </p:sp>
      <p:sp>
        <p:nvSpPr>
          <p:cNvPr id="9" name="Чтение_фон_1_0"/>
          <p:cNvSpPr/>
          <p:nvPr/>
        </p:nvSpPr>
        <p:spPr>
          <a:xfrm>
            <a:off x="457200" y="113030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Чтение_фон_1_1"/>
          <p:cNvSpPr/>
          <p:nvPr/>
        </p:nvSpPr>
        <p:spPr>
          <a:xfrm>
            <a:off x="2489200" y="113030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Чтение_фон_1_2"/>
          <p:cNvSpPr/>
          <p:nvPr/>
        </p:nvSpPr>
        <p:spPr>
          <a:xfrm>
            <a:off x="7442200" y="113030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Чтение_термин_1"/>
          <p:cNvSpPr txBox="1"/>
          <p:nvPr/>
        </p:nvSpPr>
        <p:spPr>
          <a:xfrm>
            <a:off x="558800" y="113030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</a:t>
            </a:r>
          </a:p>
        </p:txBody>
      </p:sp>
      <p:sp>
        <p:nvSpPr>
          <p:cNvPr id="13" name="Чтение_смысл_1"/>
          <p:cNvSpPr txBox="1"/>
          <p:nvPr/>
        </p:nvSpPr>
        <p:spPr>
          <a:xfrm>
            <a:off x="2590800" y="113030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Главный показатель, выбранный до начала исследования. Вывод о пользе делают по нему; подгруппы дают только гипотезы.</a:t>
            </a:r>
          </a:p>
        </p:txBody>
      </p:sp>
      <p:sp>
        <p:nvSpPr>
          <p:cNvPr id="14" name="Чтение_пример_1"/>
          <p:cNvSpPr txBox="1"/>
          <p:nvPr/>
        </p:nvSpPr>
        <p:spPr>
          <a:xfrm>
            <a:off x="7543800" y="113030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почечный исход (слайд 20).</a:t>
            </a:r>
          </a:p>
        </p:txBody>
      </p:sp>
      <p:sp>
        <p:nvSpPr>
          <p:cNvPr id="15" name="Чтение_фон_2_0"/>
          <p:cNvSpPr/>
          <p:nvPr/>
        </p:nvSpPr>
        <p:spPr>
          <a:xfrm>
            <a:off x="457200" y="1681688"/>
            <a:ext cx="2006600" cy="706432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Чтение_фон_2_1"/>
          <p:cNvSpPr/>
          <p:nvPr/>
        </p:nvSpPr>
        <p:spPr>
          <a:xfrm>
            <a:off x="2489200" y="1681688"/>
            <a:ext cx="49276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Чтение_фон_2_2"/>
          <p:cNvSpPr/>
          <p:nvPr/>
        </p:nvSpPr>
        <p:spPr>
          <a:xfrm>
            <a:off x="7442200" y="1681688"/>
            <a:ext cx="42672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Чтение_термин_2"/>
          <p:cNvSpPr txBox="1"/>
          <p:nvPr/>
        </p:nvSpPr>
        <p:spPr>
          <a:xfrm>
            <a:off x="558800" y="1681688"/>
            <a:ext cx="1803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Комбинированный исход</a:t>
            </a:r>
          </a:p>
        </p:txBody>
      </p:sp>
      <p:sp>
        <p:nvSpPr>
          <p:cNvPr id="19" name="Чтение_смысл_2"/>
          <p:cNvSpPr txBox="1"/>
          <p:nvPr/>
        </p:nvSpPr>
        <p:spPr>
          <a:xfrm>
            <a:off x="2590800" y="1681688"/>
            <a:ext cx="4724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Засчитывают первое по времени событие из нескольких. Разница между группами может быть в основном за счёт одного компонента.</a:t>
            </a:r>
          </a:p>
        </p:txBody>
      </p:sp>
      <p:sp>
        <p:nvSpPr>
          <p:cNvPr id="20" name="Чтение_пример_2"/>
          <p:cNvSpPr txBox="1"/>
          <p:nvPr/>
        </p:nvSpPr>
        <p:spPr>
          <a:xfrm>
            <a:off x="7543800" y="1681688"/>
            <a:ext cx="40640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FIGARO-DKD, в основном госпитализации по поводу сердечной недостаточности (слайд 22).</a:t>
            </a:r>
          </a:p>
        </p:txBody>
      </p:sp>
      <p:sp>
        <p:nvSpPr>
          <p:cNvPr id="21" name="Чтение_фон_3_0"/>
          <p:cNvSpPr/>
          <p:nvPr/>
        </p:nvSpPr>
        <p:spPr>
          <a:xfrm>
            <a:off x="457200" y="242622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Чтение_фон_3_1"/>
          <p:cNvSpPr/>
          <p:nvPr/>
        </p:nvSpPr>
        <p:spPr>
          <a:xfrm>
            <a:off x="2489200" y="242622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Чтение_фон_3_2"/>
          <p:cNvSpPr/>
          <p:nvPr/>
        </p:nvSpPr>
        <p:spPr>
          <a:xfrm>
            <a:off x="7442200" y="242622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Чтение_термин_3"/>
          <p:cNvSpPr txBox="1"/>
          <p:nvPr/>
        </p:nvSpPr>
        <p:spPr>
          <a:xfrm>
            <a:off x="558800" y="242622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Накопленная частота</a:t>
            </a:r>
          </a:p>
        </p:txBody>
      </p:sp>
      <p:sp>
        <p:nvSpPr>
          <p:cNvPr id="25" name="Чтение_смысл_3"/>
          <p:cNvSpPr txBox="1"/>
          <p:nvPr/>
        </p:nvSpPr>
        <p:spPr>
          <a:xfrm>
            <a:off x="2590800" y="242622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Доля пациентов с событием к данному месяцу с учётом разного срока наблюдения. Кривая со временем не снижается.</a:t>
            </a:r>
          </a:p>
        </p:txBody>
      </p:sp>
      <p:sp>
        <p:nvSpPr>
          <p:cNvPr id="26" name="Чтение_пример_3"/>
          <p:cNvSpPr txBox="1"/>
          <p:nvPr/>
        </p:nvSpPr>
        <p:spPr>
          <a:xfrm>
            <a:off x="7543800" y="242622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Кривые на слайде 21: к концу они выше, чем доли пациентов с событием за всё исследование.</a:t>
            </a:r>
          </a:p>
        </p:txBody>
      </p:sp>
      <p:sp>
        <p:nvSpPr>
          <p:cNvPr id="27" name="Чтение_фон_4_0"/>
          <p:cNvSpPr/>
          <p:nvPr/>
        </p:nvSpPr>
        <p:spPr>
          <a:xfrm>
            <a:off x="457200" y="2977608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Чтение_фон_4_1"/>
          <p:cNvSpPr/>
          <p:nvPr/>
        </p:nvSpPr>
        <p:spPr>
          <a:xfrm>
            <a:off x="2489200" y="2977608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Чтение_фон_4_2"/>
          <p:cNvSpPr/>
          <p:nvPr/>
        </p:nvSpPr>
        <p:spPr>
          <a:xfrm>
            <a:off x="7442200" y="2977608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Чтение_термин_4"/>
          <p:cNvSpPr txBox="1"/>
          <p:nvPr/>
        </p:nvSpPr>
        <p:spPr>
          <a:xfrm>
            <a:off x="558800" y="2977608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Отношение рисков</a:t>
            </a:r>
          </a:p>
        </p:txBody>
      </p:sp>
      <p:sp>
        <p:nvSpPr>
          <p:cNvPr id="31" name="Чтение_смысл_4"/>
          <p:cNvSpPr txBox="1"/>
          <p:nvPr/>
        </p:nvSpPr>
        <p:spPr>
          <a:xfrm>
            <a:off x="2590800" y="2977608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Риск события в группе препарата относительно плацебо. Меньше 1: риск ниже. Разные исследования напрямую не сравнивают.</a:t>
            </a:r>
          </a:p>
        </p:txBody>
      </p:sp>
      <p:sp>
        <p:nvSpPr>
          <p:cNvPr id="32" name="Чтение_пример_4"/>
          <p:cNvSpPr txBox="1"/>
          <p:nvPr/>
        </p:nvSpPr>
        <p:spPr>
          <a:xfrm>
            <a:off x="7543800" y="2977608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0,82: риск ниже на 18%, это относительное снижение (слайд 21).</a:t>
            </a:r>
          </a:p>
        </p:txBody>
      </p:sp>
      <p:sp>
        <p:nvSpPr>
          <p:cNvPr id="33" name="Чтение_фон_5_0"/>
          <p:cNvSpPr/>
          <p:nvPr/>
        </p:nvSpPr>
        <p:spPr>
          <a:xfrm>
            <a:off x="457200" y="3528997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4" name="Чтение_фон_5_1"/>
          <p:cNvSpPr/>
          <p:nvPr/>
        </p:nvSpPr>
        <p:spPr>
          <a:xfrm>
            <a:off x="2489200" y="3528997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5" name="Чтение_фон_5_2"/>
          <p:cNvSpPr/>
          <p:nvPr/>
        </p:nvSpPr>
        <p:spPr>
          <a:xfrm>
            <a:off x="7442200" y="3528997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6" name="Чтение_термин_5"/>
          <p:cNvSpPr txBox="1"/>
          <p:nvPr/>
        </p:nvSpPr>
        <p:spPr>
          <a:xfrm>
            <a:off x="558800" y="3528997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95% доверительный интервал (ДИ)</a:t>
            </a:r>
          </a:p>
        </p:txBody>
      </p:sp>
      <p:sp>
        <p:nvSpPr>
          <p:cNvPr id="37" name="Чтение_смысл_5"/>
          <p:cNvSpPr txBox="1"/>
          <p:nvPr/>
        </p:nvSpPr>
        <p:spPr>
          <a:xfrm>
            <a:off x="2590800" y="3528997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Диапазон значений эффекта, совместимых с данными. Если весь интервал ниже 1, снижение риска статистически значимо.</a:t>
            </a:r>
          </a:p>
        </p:txBody>
      </p:sp>
      <p:sp>
        <p:nvSpPr>
          <p:cNvPr id="38" name="Чтение_пример_5"/>
          <p:cNvSpPr txBox="1"/>
          <p:nvPr/>
        </p:nvSpPr>
        <p:spPr>
          <a:xfrm>
            <a:off x="7543800" y="3528997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0,73–0,93: весь интервал ниже 1, снижение значимо (слайд 21).</a:t>
            </a:r>
          </a:p>
        </p:txBody>
      </p:sp>
      <p:sp>
        <p:nvSpPr>
          <p:cNvPr id="39" name="Чтение_фон_6_0"/>
          <p:cNvSpPr/>
          <p:nvPr/>
        </p:nvSpPr>
        <p:spPr>
          <a:xfrm>
            <a:off x="457200" y="4080385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0" name="Чтение_фон_6_1"/>
          <p:cNvSpPr/>
          <p:nvPr/>
        </p:nvSpPr>
        <p:spPr>
          <a:xfrm>
            <a:off x="2489200" y="4080385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1" name="Чтение_фон_6_2"/>
          <p:cNvSpPr/>
          <p:nvPr/>
        </p:nvSpPr>
        <p:spPr>
          <a:xfrm>
            <a:off x="7442200" y="4080385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Чтение_термин_6"/>
          <p:cNvSpPr txBox="1"/>
          <p:nvPr/>
        </p:nvSpPr>
        <p:spPr>
          <a:xfrm>
            <a:off x="558800" y="4080385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Число пациентов, которых нужно лечить</a:t>
            </a:r>
          </a:p>
        </p:txBody>
      </p:sp>
      <p:sp>
        <p:nvSpPr>
          <p:cNvPr id="43" name="Чтение_смысл_6"/>
          <p:cNvSpPr txBox="1"/>
          <p:nvPr/>
        </p:nvSpPr>
        <p:spPr>
          <a:xfrm>
            <a:off x="2590800" y="4080385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Сколько пациентов нужно лечить указанный срок, чтобы предотвратить одно событие. Без срока это число не приводят.</a:t>
            </a:r>
          </a:p>
        </p:txBody>
      </p:sp>
      <p:sp>
        <p:nvSpPr>
          <p:cNvPr id="44" name="Чтение_пример_6"/>
          <p:cNvSpPr txBox="1"/>
          <p:nvPr/>
        </p:nvSpPr>
        <p:spPr>
          <a:xfrm>
            <a:off x="7543800" y="4080385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FIDELITY, 46 пациентов за 3 года (слайд 23).</a:t>
            </a:r>
          </a:p>
        </p:txBody>
      </p:sp>
      <p:sp>
        <p:nvSpPr>
          <p:cNvPr id="45" name="Чтение_фон_7_0"/>
          <p:cNvSpPr/>
          <p:nvPr/>
        </p:nvSpPr>
        <p:spPr>
          <a:xfrm>
            <a:off x="457200" y="4631773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6" name="Чтение_фон_7_1"/>
          <p:cNvSpPr/>
          <p:nvPr/>
        </p:nvSpPr>
        <p:spPr>
          <a:xfrm>
            <a:off x="2489200" y="4631773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7" name="Чтение_фон_7_2"/>
          <p:cNvSpPr/>
          <p:nvPr/>
        </p:nvSpPr>
        <p:spPr>
          <a:xfrm>
            <a:off x="7442200" y="4631773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8" name="Чтение_термин_7"/>
          <p:cNvSpPr txBox="1"/>
          <p:nvPr/>
        </p:nvSpPr>
        <p:spPr>
          <a:xfrm>
            <a:off x="558800" y="4631773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Суррогатная конечная точка</a:t>
            </a:r>
          </a:p>
        </p:txBody>
      </p:sp>
      <p:sp>
        <p:nvSpPr>
          <p:cNvPr id="49" name="Чтение_смысл_7"/>
          <p:cNvSpPr txBox="1"/>
          <p:nvPr/>
        </p:nvSpPr>
        <p:spPr>
          <a:xfrm>
            <a:off x="2590800" y="4631773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Показатель, например альбуминурия: меняется раньше событий, но его улучшение не гарантирует снижения риска исходов.</a:t>
            </a:r>
          </a:p>
        </p:txBody>
      </p:sp>
      <p:sp>
        <p:nvSpPr>
          <p:cNvPr id="50" name="Чтение_пример_7"/>
          <p:cNvSpPr txBox="1"/>
          <p:nvPr/>
        </p:nvSpPr>
        <p:spPr>
          <a:xfrm>
            <a:off x="7543800" y="4631773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CONFIDENCE: оценивали альбуминурию, клинические исходы не оценивали (слайд 25).</a:t>
            </a:r>
          </a:p>
        </p:txBody>
      </p:sp>
      <p:sp>
        <p:nvSpPr>
          <p:cNvPr id="51" name="Чтение_фон_8_0"/>
          <p:cNvSpPr/>
          <p:nvPr/>
        </p:nvSpPr>
        <p:spPr>
          <a:xfrm>
            <a:off x="457200" y="5183162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2" name="Чтение_фон_8_1"/>
          <p:cNvSpPr/>
          <p:nvPr/>
        </p:nvSpPr>
        <p:spPr>
          <a:xfrm>
            <a:off x="2489200" y="5183162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3" name="Чтение_фон_8_2"/>
          <p:cNvSpPr/>
          <p:nvPr/>
        </p:nvSpPr>
        <p:spPr>
          <a:xfrm>
            <a:off x="7442200" y="5183162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4" name="Чтение_термин_8"/>
          <p:cNvSpPr txBox="1"/>
          <p:nvPr/>
        </p:nvSpPr>
        <p:spPr>
          <a:xfrm>
            <a:off x="558800" y="5183162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Рандомизированы и в анализе</a:t>
            </a:r>
          </a:p>
        </p:txBody>
      </p:sp>
      <p:sp>
        <p:nvSpPr>
          <p:cNvPr id="55" name="Чтение_смысл_8"/>
          <p:cNvSpPr txBox="1"/>
          <p:nvPr/>
        </p:nvSpPr>
        <p:spPr>
          <a:xfrm>
            <a:off x="2590800" y="5183162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Рандомизированы: сколько пациентов случайно распределили по группам. В анализе: сколько вошло в расчёт результата.</a:t>
            </a:r>
          </a:p>
        </p:txBody>
      </p:sp>
      <p:sp>
        <p:nvSpPr>
          <p:cNvPr id="56" name="Чтение_пример_8"/>
          <p:cNvSpPr txBox="1"/>
          <p:nvPr/>
        </p:nvSpPr>
        <p:spPr>
          <a:xfrm>
            <a:off x="7543800" y="5183162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5734 и 5674 (слайд 21).</a:t>
            </a:r>
          </a:p>
        </p:txBody>
      </p:sp>
      <p:sp>
        <p:nvSpPr>
          <p:cNvPr id="57" name="Чтение_фон_9_0"/>
          <p:cNvSpPr/>
          <p:nvPr/>
        </p:nvSpPr>
        <p:spPr>
          <a:xfrm>
            <a:off x="457200" y="573455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8" name="Чтение_фон_9_1"/>
          <p:cNvSpPr/>
          <p:nvPr/>
        </p:nvSpPr>
        <p:spPr>
          <a:xfrm>
            <a:off x="2489200" y="573455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Чтение_фон_9_2"/>
          <p:cNvSpPr/>
          <p:nvPr/>
        </p:nvSpPr>
        <p:spPr>
          <a:xfrm>
            <a:off x="7442200" y="573455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0" name="Чтение_термин_9"/>
          <p:cNvSpPr txBox="1"/>
          <p:nvPr/>
        </p:nvSpPr>
        <p:spPr>
          <a:xfrm>
            <a:off x="558800" y="573455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Медиана наблюдения</a:t>
            </a:r>
          </a:p>
        </p:txBody>
      </p:sp>
      <p:sp>
        <p:nvSpPr>
          <p:cNvPr id="61" name="Чтение_смысл_9"/>
          <p:cNvSpPr txBox="1"/>
          <p:nvPr/>
        </p:nvSpPr>
        <p:spPr>
          <a:xfrm>
            <a:off x="2590800" y="573455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Половина пациентов наблюдалась дольше этого срока, другая половина меньше.</a:t>
            </a:r>
          </a:p>
        </p:txBody>
      </p:sp>
      <p:sp>
        <p:nvSpPr>
          <p:cNvPr id="62" name="Чтение_пример_9"/>
          <p:cNvSpPr txBox="1"/>
          <p:nvPr/>
        </p:nvSpPr>
        <p:spPr>
          <a:xfrm>
            <a:off x="7543800" y="573455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 2,6 года, FIGARO-DKD 3,4 года (слайды 21, 22).</a:t>
            </a:r>
          </a:p>
        </p:txBody>
      </p:sp>
      <p:sp>
        <p:nvSpPr>
          <p:cNvPr id="6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Agarwal R, et al. N Engl J Med. 2025;393:533–543.</a:t>
            </a:r>
          </a:p>
        </p:txBody>
      </p:sp>
      <p:pic>
        <p:nvPicPr>
          <p:cNvPr id="6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t1d_approval/notesSlides/_rels/notesSlide1.xml.rels><?xml version='1.0' encoding='UTF-8' standalone='yes'?>
<Relationships xmlns="http://schemas.openxmlformats.org/package/2006/relationships"><Relationship Id="R6adbcbe590e74de3" Type="http://schemas.openxmlformats.org/officeDocument/2006/relationships/notesMaster" Target="../../notesMasters/notesMaster1.xml"/><Relationship Id="Raf86d4098dbb4e06" Type="http://schemas.openxmlformats.org/officeDocument/2006/relationships/slide" Target="../../slides/slide45.xml"/></Relationships>
</file>

<file path=ppt/t1d_approval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письмо FDA об одобрении (NDA 215341, 16.09.2026) и инструкция США на accessdata.fda.gov; инструкция Финеренон-Орвилле: https://orvilleservices.com/instructions/Finerenon_Instruction_ru.pdf</a:t>
            </a:r>
          </a:p>
          <a:p xmlns:a="http://schemas.openxmlformats.org/drawingml/2006/main">
            <a:r>
              <a:t>Дата проверки: 25.09.2026. Дата одобрения и формулировка показания подтверждены по сообщениям Bayer и медицинских изданий; номер дополнения к заявке не подтверждён.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slideLayouts/_rels/slideLayout1.xml.rels><?xml version='1.0' encoding='UTF-8' standalone='yes'?>
<Relationships xmlns="http://schemas.openxmlformats.org/package/2006/relationships"><Relationship Id="R2aa8c6a556ae438b" Type="http://schemas.openxmlformats.org/officeDocument/2006/relationships/slideMaster" Target="../slideMasters/slideMaster1.xml"/></Relationships>
</file>

<file path=ppt/t1d_approval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t1d_approval/slideMasters/_rels/slideMaster1.xml.rels><?xml version='1.0' encoding='UTF-8' standalone='yes'?>
<Relationships xmlns="http://schemas.openxmlformats.org/package/2006/relationships"><Relationship Id="R0228dc5fb3fc4633" Type="http://schemas.openxmlformats.org/officeDocument/2006/relationships/slideLayout" Target="../slideLayouts/slideLayout1.xml"/><Relationship Id="Rd46454f1779b4ac7" Type="http://schemas.openxmlformats.org/officeDocument/2006/relationships/theme" Target="theme/theme2.xml"/></Relationships>
</file>

<file path=ppt/t1d_approval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889" r:id="R0228dc5fb3fc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t1d_approval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1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3867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3333" dist="26667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6407</Words>
  <Application>Microsoft Office PowerPoint</Application>
  <PresentationFormat>Широкоэкранный</PresentationFormat>
  <Paragraphs>1124</Paragraphs>
  <Slides>41</Slides>
  <Notes>18</Notes>
  <HiddenSlides>0</HiddenSlides>
  <MMClips>0</MMClips>
  <ScaleCrop>false</ScaleCrop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Финеренон. Тренинг с восстановленными отдельными слайдами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</cp:revision>
  <dcterms:created xsi:type="dcterms:W3CDTF">2013-01-27T09:14:16Z</dcterms:created>
  <dcterms:modified xsi:type="dcterms:W3CDTF">2026-09-23T21:06:45Z</dcterms:modified>
  <cp:category/>
</cp:coreProperties>
</file>