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8" r:id="rIdReviewed3"/>
    <p:sldId id="259" r:id="rIdReviewed4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4.xml"/><Relationship Id="rIdReviewed11" Type="http://schemas.openxmlformats.org/officeDocument/2006/relationships/slide" Target="slides/slide5.xml"/><Relationship Id="rIdReviewed12" Type="http://schemas.openxmlformats.org/officeDocument/2006/relationships/slide" Target="slides/slide6.xml"/><Relationship Id="rIdReviewed13" Type="http://schemas.openxmlformats.org/officeDocument/2006/relationships/slide" Target="slides/slide7.xml"/><Relationship Id="rIdReviewed14" Type="http://schemas.openxmlformats.org/officeDocument/2006/relationships/slide" Target="slides/slide8.xml"/><Relationship Id="rIdReviewed15" Type="http://schemas.openxmlformats.org/officeDocument/2006/relationships/slide" Target="slides/slide17.xml"/><Relationship Id="rIdReviewed16" Type="http://schemas.openxmlformats.org/officeDocument/2006/relationships/slide" Target="slides/slide18.xml"/><Relationship Id="rIdReviewed17" Type="http://schemas.openxmlformats.org/officeDocument/2006/relationships/slide" Target="slides/slide19.xml"/><Relationship Id="rIdReviewed18" Type="http://schemas.openxmlformats.org/officeDocument/2006/relationships/slide" Target="slides/slide20.xml"/><Relationship Id="rIdReviewed19" Type="http://schemas.openxmlformats.org/officeDocument/2006/relationships/slide" Target="slides/slide21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2.xml"/><Relationship Id="rIdReviewed21" Type="http://schemas.openxmlformats.org/officeDocument/2006/relationships/slide" Target="slides/slide23.xml"/><Relationship Id="rIdReviewed22" Type="http://schemas.openxmlformats.org/officeDocument/2006/relationships/slide" Target="slides/slide24.xml"/><Relationship Id="rIdReviewed23" Type="http://schemas.openxmlformats.org/officeDocument/2006/relationships/slide" Target="slides/slide25.xml"/><Relationship Id="rIdReviewed24" Type="http://schemas.openxmlformats.org/officeDocument/2006/relationships/slide" Target="slides/slide26.xml"/><Relationship Id="rIdReviewed25" Type="http://schemas.openxmlformats.org/officeDocument/2006/relationships/slide" Target="slides/slide27.xml"/><Relationship Id="rIdReviewed26" Type="http://schemas.openxmlformats.org/officeDocument/2006/relationships/slide" Target="slides/slide28.xml"/><Relationship Id="rIdReviewed27" Type="http://schemas.openxmlformats.org/officeDocument/2006/relationships/slide" Target="slides/slide44.xml"/><Relationship Id="rIdReviewed28" Type="http://schemas.openxmlformats.org/officeDocument/2006/relationships/slide" Target="slides/slide29.xml"/><Relationship Id="rIdReviewed29" Type="http://schemas.openxmlformats.org/officeDocument/2006/relationships/slide" Target="slides/slide30.xml"/><Relationship Id="rIdReviewed3" Type="http://schemas.openxmlformats.org/officeDocument/2006/relationships/slide" Target="slides/slide16.xml"/><Relationship Id="rIdReviewed30" Type="http://schemas.openxmlformats.org/officeDocument/2006/relationships/slide" Target="slides/slide31.xml"/><Relationship Id="rIdReviewed31" Type="http://schemas.openxmlformats.org/officeDocument/2006/relationships/slide" Target="slides/slide32.xml"/><Relationship Id="rIdReviewed32" Type="http://schemas.openxmlformats.org/officeDocument/2006/relationships/slide" Target="slides/slide33.xml"/><Relationship Id="rIdReviewed33" Type="http://schemas.openxmlformats.org/officeDocument/2006/relationships/slide" Target="slides/slide34.xml"/><Relationship Id="rIdReviewed34" Type="http://schemas.openxmlformats.org/officeDocument/2006/relationships/slide" Target="slides/slide36.xml"/><Relationship Id="rIdReviewed35" Type="http://schemas.openxmlformats.org/officeDocument/2006/relationships/slide" Target="slides/slide37.xml"/><Relationship Id="rIdReviewed36" Type="http://schemas.openxmlformats.org/officeDocument/2006/relationships/slide" Target="slides/slide42.xml"/><Relationship Id="rIdReviewed37" Type="http://schemas.openxmlformats.org/officeDocument/2006/relationships/slide" Target="slides/slide45.xml"/><Relationship Id="rIdReviewed38" Type="http://schemas.openxmlformats.org/officeDocument/2006/relationships/slide" Target="slides/slide46.xml"/><Relationship Id="rIdReviewed39" Type="http://schemas.openxmlformats.org/officeDocument/2006/relationships/slide" Target="slides/slide48.xml"/><Relationship Id="rIdReviewed4" Type="http://schemas.openxmlformats.org/officeDocument/2006/relationships/slide" Target="slides/slide15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11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12.xml"/><Relationship Id="rIdReviewed7" Type="http://schemas.openxmlformats.org/officeDocument/2006/relationships/slide" Target="slides/slide13.xml"/><Relationship Id="rIdReviewed8" Type="http://schemas.openxmlformats.org/officeDocument/2006/relationships/slide" Target="slides/slide9.xml"/><Relationship Id="rIdReviewed9" Type="http://schemas.openxmlformats.org/officeDocument/2006/relationships/slide" Target="slides/slide10.xml"/><Relationship Id="rIdT1D1" Type="http://schemas.openxmlformats.org/officeDocument/2006/relationships/slide" Target="slides/slide47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8.xml"/><Relationship Id="rId84" Type="http://schemas.openxmlformats.org/officeDocument/2006/relationships/slide" Target="slides/slide39.xml"/><Relationship Id="rId85" Type="http://schemas.openxmlformats.org/officeDocument/2006/relationships/slide" Target="slides/slide40.xml"/><Relationship Id="rId86" Type="http://schemas.openxmlformats.org/officeDocument/2006/relationships/slide" Target="slides/slide41.xml"/><Relationship Id="rId87" Type="http://schemas.openxmlformats.org/officeDocument/2006/relationships/slide" Target="slides/slide43.xml"/><Relationship Id="rId88" Type="http://schemas.openxmlformats.org/officeDocument/2006/relationships/slide" Target="slides/slide35.xml"/><Relationship Id="rId89" Type="http://schemas.openxmlformats.org/officeDocument/2006/relationships/slide" Target="slides/slide3.xml"/><Relationship Id="rId90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Другой показатель: пациенты со снижением АКО</a:t>
            </a:r>
            <a:b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</a:br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на 30% и больше 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 (оба исследования вместе)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 (оба исследования вместе)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прошлом слайде мы разобрали, как читать результаты исследований; здесь четыре группы препаратов, которые сегодня защищают почки при диабете 2 типа. На следующем слайде посмотрим, какой риск остаётся на фоне лечения. Главная мысль: при диабете 2 типа и ХБП есть четыре группы препаратов с доказанным снижением риска; их выбирает врач по рСКФ, альбуминурии, калию и переносимости. Объяснение: ингибиторы АПФ или БРА снижают давление в клубочке (исследования БРА: RENAAL, IDNT); ингибиторы НГЛТ2 (CREDENCE: риск исходов ниже на 30% по сравнению с плацебо, отношение рисков 0,70); финеренон препятствует активации МКР (FIDELIO-DKD и FIGARO-DKD, все на фоне ингибитора АПФ или БРА); семаглутид (FLOW). Граница: исследования разные по пациентам и исходам, напрямую их не сравнивают; показание финеренона только по местной инструкции. Вопрос группе: на фоне какой терапии изучали финеренон? Ответ: на фоне ингибитора АПФ или БРА в максимально переносимой дозе.</a:t>
            </a:r>
          </a:p>
          <a:p>
            <a:r>
              <a:t>Пояснение: для ингибиторов АПФ отдельные исследования исходов на слайде не приведены, поэтому доказанная польза указана для БРА (RENAAL: лозартан; IDNT: ирбесартан). Нестероидный означает, что по строению препарат не похож на стероидные гормоны, в отличие от спиронолактона. Порядок добавления препаратов показан на слайде 27.</a:t>
            </a:r>
          </a:p>
          <a:p>
            <a:r>
              <a:t>Фраза для визита: в разговоре с врачом используется только строка о финереноне. Согласно местной инструкции, Финеренон-Орвилле показан взрослым с хронической болезнью почек (с альбуминурией), связанной с сахарным диабетом 2 типа; данные исследований FIDELIO-DKD и FIGARO-DKD приведены на слайдах 20–22. Сравнения с другими группами препаратов не проводят.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четыре группы препаратов перечислены на слайде 15; здесь вопрос, что остаётся после лечения. Главная мысль: даже на фоне защитной терапии риск осложнений сохраняется (остаточный риск). Объяснение: в CREDENCE участвовали пациенты с диабетом 2 типа, хронической болезнью почек и АКО выше 300 мг/г, все получали ингибитор АПФ или БРА. Первичный исход был у 11,1% на канаглифлозине и у 15,5% на плацебо за медиану 2,6 года; риск ниже на 30% по сравнению с плацебо (отношение рисков 0,70; 95% ДИ 0,59–0,82). Граница: финеренон в CREDENCE не изучался; результаты разных исследований напрямую не сравнивают. Вопрос группе: что означает 11,1% в группе канаглифлозина? Ответ: у 11 из 100 пациентов за 2,6 года первичный исход всё равно возник.</a:t>
            </a:r>
          </a:p>
          <a:p>
            <a:r>
              <a:t>Пояснение: в объединённом анализе FIDELITY (слайд 20) ингибиторы НГЛТ2 исходно получали 6,7% пациентов (877); в этой подгруппе эффект финеренона был сходным с общим, но это анализ подгруппы, и отдельного исследования исходов для комбинации нет. Вопрос о замене ингибитора НГЛТ2 финереноном разобран на слайде 27.</a:t>
            </a:r>
          </a:p>
          <a:p>
            <a:r>
              <a:t>Для понимания. В разговоре с врачом не используется: данные препарата другой компании, согласовать с комплаенсом.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слайд 11 показал, чем измеряют функцию и повреждение почек; здесь критерии диагноза. Главная мысль: ХБП диагностируют при сниженной рСКФ или при повреждении почек, если это сохраняется не менее 3 месяцев. Объяснение: критерий по функции: рСКФ ниже 60 мл/мин/1,73 м²; критерий по повреждению: АКО 30 мг/г и выше, то есть 3 мг/ммоль и выше (KDIGO 2024). Достаточно одного критерия: у части пациентов рСКФ сохранена, а альбуминурия уже есть. Граница: показаны два основных критерия, существуют и другие признаки повреждения почек; диагноз ставит врач. Вопрос группе: АКО 45 мг/г при рСКФ 80 мл/мин/1,73 м², повторные анализы за 3 месяца подтвердили. Критерий ХБП выполнен? Ответ: по критериям KDIGO да, по АКО.</a:t>
            </a:r>
          </a:p>
          <a:p>
            <a:r>
              <a:t>Фраза для визита: По KDIGO, ХБП определяют по рСКФ ниже 60 или АКО 30 мг/г и выше, если это сохраняется не менее 3 месяцев.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сначала вспомним, как работает почка: дальше все слайды о повреждении опираются на эту схему. Главная мысль: клубочек фильтрует кровь, а канальцы возвращают нужные вещества. Объяснение: кровь приходит в клубочек, клубок капилляров, по приносящей артериоле (мелкой артерии) и уходит по выносящей. Часть воды и мелких веществ переходит в капсулу Боумена: так образуется первичная моча. Клетки крови и большая часть белков остаются в сосудах. В канальцах, прежде всего в проксимальном, в кровь возвращаются большая часть воды, глюкоза и другие нужные вещества: это называют реабсорбцией. Мишень финеренона, минералокортикоидный рецептор (МКР), есть в клетках собирательной трубочки; подробнее на слайде 17. Граница: схема упрощена, названы только структуры, нужные дальше. Вопрос группе: где из крови образуется первичная моча? (Ответ: в клубочке, в капсуле Боумена.)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прошлом слайде клубочек фильтровал кровь, а канальцы возвращали нужное. Теперь о том, как каналец сообщает клубочку, сколько соли до него дошло. Главная мысль: плотное пятно регулирует фильтрацию в своём клубочке. Объяснение: плотное пятно (группа клеток стенки канальца рядом со своим клубочком) измеряет содержание соли в канальцевой жидкости. Если соли много, плотное пятно подаёт сигнал, приносящая артериола сужается и фильтрация уменьшается. Если соли мало, сигнал ослабевает и фильтрация может увеличиться. Такую саморегуляцию называют тубулогломерулярной обратной связью. Граница: слайд описывает физиологию; про препарат только последняя строка: рСКФ определяют перед лечением и во время него, от неё зависят начальная доза и повышение дозы по инструкции (слайды 32, 34). При диабете эта регуляция сбивается, это на слайде 6. Вопрос группе: что происходит с фильтрацией, если к плотному пятну поступает мало соли? (Ответ: она может увеличиться.)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на слайде 5 плотное пятно поддерживало фильтрацию в норме. Теперь посмотрим, что меняется при диабете. Главная мысль: при диабете фильтрация в части клубочков может стать избыточной. Объяснение: при высокой глюкозе в первичной моче больше глюкозы. Проксимальный каналец возвращает в кровь больше глюкозы и натрия через НГЛТ2 (натрий-глюкозный котранспортёр 2 типа), к плотному пятну доходит меньше соли, сигнал ослабевает, приносящая артериола расширяется, давление в клубочке растёт: клубочек фильтрует больше нормы, это гиперфильтрация. Граница: гиперфильтрация бывает не у всех: по обзору Tonneijck 2017 у 6–73% пациентов с диабетом 2 типа. Что она сама повреждает почку, остаётся предположением. Ингибиторы НГЛТ2 действуют на этот механизм, у финеренона другая мишень. Вопрос группе: почему рСКФ (расчётная скорость клубочковой фильтрации) может быть нормальной при начавшемся повреждении? (Ответ: перегруженные клубочки фильтруют больше, а альбуминурию проверяют отдельно.)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32–37 дали данные по отдельности, здесь они собраны в ответ на вопрос 1. Главная мысль: чтобы врач мог обсудить финеренон, нужны пять групп данных. Первые три проверяют перед стартом: подтверждённая альбуминурия, рСКФ 25 и выше, калий; при рСКФ 60 и выше начальная доза 20 мг, при 25–59 доза 10 мг. Пункт 4 (ИАПФ или БРА в максимально переносимой дозе) взят из KDIGO и критериев исследований. По сравнению с плацебо комбинированный почечный исход в FIDELIO-DKD реже: 17,8% против 21,1% за 2,6 года, относительное снижение риска 18%; комбинированный сердечно-сосудистый в FIGARO-DKD 12,4% против 14,2% за 3,4 года, 13%. Гиперкалиемия по сообщениям исследователей в FIDELITY 14,0% против 6,9%. Граница: решение о лечении принимает врач. Вопрос группе: сколько должна держаться альбуминурия, чтобы считать её подтверждённой? (Не менее 3 месяцев, в повторных анализах.)</a:t>
            </a:r>
          </a:p>
          <a:p>
            <a:r>
              <a:t>Пояснение: где смотреть подробности: слайды 11–13 (анализы и прогноз), 16 (остаточный риск), 21–23 (FIDELIO-DKD, FIGARO-DKD, FIDELITY), 32 (перед началом), 36 (два пациента).</a:t>
            </a:r>
          </a:p>
          <a:p>
            <a:r>
              <a:t>Фраза для визита: Финеренон-Орвилле показан взрослым с ХБП (с альбуминурией), связанной с сахарным диабетом 2 типа; перед началом по инструкции определяют калий и рСКФ. Могу передать вам пороги и данные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 начале обучения (слайд 2) мы задали два вопроса, а ответы собирались на слайдах 32 и 36 (вопрос 1) и на слайдах 34 и 37 (вопрос 2). Главная мысль: теперь представители отвечают сами. Попросите 2–3 человек ответить своими словами до показа разбора. Ответ на вопрос 1: нужны подтверждённая альбуминурия (АКО 30 мг/г и выше не менее 3 месяцев), рСКФ 25 и выше, калий 4,8 и ниже (до 5,0 при дополнительном контроле), ИАПФ или БРА в максимально переносимой дозе и полный список лекарств. Ответ на вопрос 2: нет, при калии выше 5,5 ммоль/л лечение временно отменяют, а при калии 5,0 и ниже врач может возобновить его с дозы 10 мг. Граница: решение принимает врач. Разбор вопроса 1 на слайде 39, вопроса 2 на слайде 40. Вопрос группе: какие два анализа нужны до первой дозы? (Калий и рСКФ.)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33 показал, когда проверяют калий, здесь видно, что врач делает с результатом. Главная мысль: дозу определяет калий. При калии 4,8 и ниже дозу 10 мг можно повысить до 20 мг, если рСКФ снизилась не более чем на 30% от предыдущего измерения; дозу 20 мг сохраняют. При калии выше 4,8 и до 5,5 текущую дозу сохраняют. При калии выше 5,5 финеренон временно отменяют, а после повторного анализа с калием 5,0 и ниже врач может возобновить лечение в дозе 10 мг. Красная плашка не из инструкции: порог 6,0 ммоль/л взят из руководства UK Kidney Association (2023); по нему при калии 6,0–6,4 у пациента без острого состояния анализ повторяют в течение суток, при 6,5 и выше или изменениях на ЭКГ нужна неотложная помощь. Граница: МП не консультирует по лечению гиперкалиемии, вопросы передаёт в медицинский отдел. Вопрос группе: при каком калии финеренон временно отменяют? (Выше 5,5.)</a:t>
            </a:r>
          </a:p>
          <a:p>
            <a:r>
              <a:t>Фраза для визита: По инструкции при калии выше 5,5 ммоль/л финеренон временно отменяют, а при калии 5,0 и ниже врач может возобновить лечение в дозе 10 мг.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19 мы увидели, что финеренон блокирует МКР. Теперь на каких исследованиях основаны данные о пользе. Главная мысль: финеренон изучали в двух исследованиях III фазы, а FIDELITY объединяет их данные. В FIDELIO-DKD рандомизированы 5734 пациента, главный исход почечный. В FIGARO-DKD рандомизированы 7437 пациентов, главный исход сердечно-сосудистый. Все получали финеренон или плацебо на фоне ингибитора АПФ или БРА в максимально переносимой дозе. Почечная недостаточность: диализ не менее 90 дней, трансплантация почки или устойчивое снижение рСКФ ниже 15. В FIDELITY вошли 13 026 пациентов из 13 171 рандомизированного. Почечный исход в нём строже: снижение рСКФ на 57% и больше вместо 40% и больше. Поисковый анализ: результаты предварительные, значения p без поправки. Граница: калий до 4,8 ммоль/л относится к включению в исследования; порог начала лечения по инструкции на слайдах 32–34. Вопрос группе: чем почечный исход FIDELITY отличается от FIDELIO-DKD? (Ответ: снижением рСКФ на 57% и больше вместо 40% и больше.)</a:t>
            </a:r>
          </a:p>
          <a:p>
            <a:r>
              <a:t>Пояснение: вторичные исходы: в FIDELIO-DKD сердечно-сосудистый, в FIGARO-DKD почечный, как в FIDELIO-DKD. Безопасность в исследованиях оценивали по гиперкалиемии (повышение калия сыворотки выше нормы). Другие заранее запланированные исходы FIDELITY: почечный исход со снижением рСКФ на 40% и больше, смерть и госпитализация по любой причине, изменение отношения альбумина к креатинину мочи (АКО) к 4-му месяцу. Устойчивое снижение рСКФ подтверждали не ранее чем через 4 недели. В анализ FIDELITY не вошли 145 пациентов (60 и 85), исключённые из-за нарушений правил клинической практики в исследовательских центрах.</a:t>
            </a:r>
          </a:p>
          <a:p>
            <a:r>
              <a:t>Фраза для визита: «Финеренон изучали в двух исследованиях III фазы, FIDELIO-DKD и FIGARO-DKD, у пациентов с хронической болезнью почек и сахарным диабетом 2 типа с альбуминурией на фоне ингибитора АПФ или БРА; их данные объединили в анализе FIDELITY.»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20 мы разобрали дизайн исследований. Теперь результат FIDELIO-DKD. Главная мысль: у пациентов с ХБП при диабете 2 типа на фоне ингибитора АПФ или БРА риск почечного исхода на финереноне на 18% ниже, чем на плацебо (относительное снижение). За медиану наблюдения 2,6 года событие случилось у 17,8% на финереноне и у 21,1% на плацебо; отношение рисков 0,82 (95% ДИ 0,73–0,93). Разность долей 3,3 процентного пункта. Чтобы предотвратить 1 событие за 3 года, нужно лечить 29 пациентов. Концы кривых выше 17,8% и 21,1%, потому что до 48-го месяца дошли немногие. Эффект видно по расхождению кривых и отношению рисков. Граница: ингибиторы НГЛТ2 исходно получали 4,6% пациентов, поэтому о сочетании с ними исследование говорит мало. Гиперкалиемия встречалась чаще: 18,3% на финереноне и 9,0% на плацебо. Вопрос группе: у какой доли пациентов на плацебо было почечное событие? (Ответ: у 21,1%.)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 с учётом разного срока наблюдения; числа справа показывают долю за всё исследование. Число 29 пациентов относится к 3 годам лечения, поэтому из разности долей напрямую не получается. Вторичный сердечно-сосудистый исход: финеренон 13,0%, плацебо 14,8%; отношение рисков 0,86 (95% ДИ 0,75–0,99), p=0,03. Гиперкалиемии со смертельным исходом не было.</a:t>
            </a:r>
          </a:p>
          <a:p>
            <a:r>
              <a:t>Фраза для визита: «В исследовании FIDELIO-DKD у пациентов с хронической болезнью почек при диабете 2 типа на фоне ингибитора АПФ или БРА риск комбинированного почечного исхода на финереноне был на 18% ниже, чем на плацебо (17,8% и 21,1% за медиану 2,6 года).»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21 был почечный результат. Теперь FIGARO-DKD: сердечно-сосудистый. Главная мысль: у пациентов с ХБП при диабете 2 типа на фоне ингибитора АПФ или БРА риск сердечно-сосудистого исхода на финереноне на 13% ниже, чем на плацебо (относительное снижение). За медиану наблюдения 3,4 года событие было у 12,4% на финереноне и у 14,2% на плацебо; отношение рисков 0,87 (95% ДИ 0,76–0,98). Чтобы предотвратить 1 событие за 3,5 года, нужно лечить 47 пациентов. Разница в основном за счёт госпитализаций по поводу сердечной недостаточности: отношение рисков 0,71. Снижение других компонентов не доказано. Граница: почечный исход 9,5% и 10,8%, отношение рисков 0,87 (95% ДИ 0,76–1,01): различие статистически незначимо, эффект на почечный исход в FIGARO-DKD не доказан. Вопрос группе: подтвердил ли FIGARO-DKD снижение почечного исхода? (Ответ: нет, различие статистически незначимо.)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 с учётом разного срока наблюдения; числа справа показывают долю за всё исследование. До 54-го месяца дошла меньшая часть пациентов, поэтому концы кривых выше 12,4% и 14,2%. 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 Отношение рисков 0,71 получено для отдельного компонента исхода и служит пояснением к результату.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 Почечный исход: почечная недостаточность, устойчивое снижение рСКФ на 40% и больше не менее 4 недель или смерть от почечных причин. Ингибиторы НГЛТ2 исходно получали 8,4% пациентов, поэтому выводы об эффекте комбинации ограничены.</a:t>
            </a:r>
          </a:p>
          <a:p>
            <a:r>
              <a:t>Фраза для визита: «В исследовании FIGARO-DKD у пациентов с хронической болезнью почек при диабете 2 типа на фоне ингибитора АПФ или БРА риск комбинированного сердечно-сосудистого исхода на финереноне был на 13% ниже, чем на плацебо (12,4% и 14,2% за медиану 3,4 года), в основном за счёт госпитализаций по поводу сердечной недостаточности.»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слайдах 21 и 22 два исследования шли по отдельности. Теперь FIDELITY: их объединённый анализ, 13 026 пациентов. Главная мысль: в объединённых данных риск сердечно-сосудистого исхода на финереноне на 14% ниже, чем на плацебо, а почечного на 23% ниже. Доли: сердечно-сосудистый исход 12,7% и 14,4%, отношение рисков 0,86 (95% ДИ 0,78–0,95); почечный 5,5% и 7,1%, отношение рисков 0,77 (95% ДИ 0,67–0,88). К 3 годам абсолютная разница 2,2 и 1,7 процентного пункта; чтобы предотвратить 1 событие, нужно лечить 46 и 60 пациентов. Граница: анализ поисковый, значения p без поправки на множественные сравнения; почечный исход здесь строже, чем в FIDELIO-DKD. Вопрос группе: почему нельзя сравнивать 23% с 18% из FIDELIO-DKD? (Ответ: разные определения почечного исхода: снижение рСКФ на 57% и больше против 40% и больше.)</a:t>
            </a:r>
          </a:p>
          <a:p>
            <a:r>
              <a:t>Пояснение: кривые показывают накопленную частоту, то есть долю пациентов с событием к каждому месяцу; строки «Доля с событием за всё исследование» показывают долю за всё время наблюдения. Абсолютная разница к 3 годам (2,2 и 1,7 процентного пункта) не совпадает с разностью долей за всё исследование (1,7 и 1,6 процентного пункта). Совпадение 1,7 случайное: в строке «Абсолютная разница» 1,7 относится к почечному исходу, а разность долей 1,7 к сердечно-сосудистому. Ингибиторы НГЛТ2 исходно получали 6,7% пациентов. Гиперкалиемия по сообщениям исследователей, как в FIDELIO-DKD (слайд 21).</a:t>
            </a:r>
          </a:p>
          <a:p>
            <a:r>
              <a:t>Фраза для визита: «В объединённом анализе FIDELITY у пациентов с хронической болезнью почек при диабете 2 типа риск сердечно-сосудистого исхода на финереноне был на 14% ниже, чем на плацебо, а почечного на 23% ниже; анализ поисковый.»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слайде 23 были клинические исходы. Теперь ранний лабораторный показатель, АКО. Главная мысль: к 4-му месяцу АКО на финереноне на 32% ниже, чем на плацебо. Отношение изменений АКО 0,68 (95% ДИ 0,66–0,70), 1 − 0,68 = 0,32; так считают разницу между группами. АКО снизилось на 30% и больше у 53,2% на финереноне и у 27,0% на плацебо (апостериорный анализ 12 512 пациентов). В апостериорном анализе изменение АКО как непрерывная величина было связано примерно с 84% эффекта на почечный исход и 37% на сердечно-сосудистый; для снижения АКО на 30% и больше: 64% и 26%. Переносить эти доли на другие препараты нельзя. АКО: суррогатная конечная точка, она меняется раньше событий и не заменяет их. Граница: по снижению АКО нельзя рассчитать риск у конкретного пациента. Вопрос группе: 32% здесь и 32% в CONFIDENCE (слайд 25) означают одно и то же? (Ответ: нет; здесь разница с плацебо, там снижение от исходного уровня на финереноне.)</a:t>
            </a:r>
          </a:p>
          <a:p>
            <a:r>
              <a:t>Фраза для визита (после согласования с регистрационным отделом): «В FIDELITY у пациентов с хронической болезнью почек при диабете 2 типа к 4-му месяцу АКО на финереноне было на 32% ниже, чем на плацебо; это показатель на уровне групп, по нему нельзя прогнозировать исход у отдельного пациента.»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после FIDELITY (слайд 24) врач спрашивает, что будет при старте сразу с двух препаратов. Главная мысль: в CONFIDENCE финеренон и эмпаглифлозин, начатые одновременно, снижали АКО сильнее, чем каждый препарат отдельно. Числа: к 180-му дню АКО снизилось от исходного на 52% при сочетании, на 32% при финереноне и на 29% при эмпаглифлозине; плацебо не было. Сочетание против финеренона: АКО ниже на 29% (отношение 0,71; ДИ 0,61–0,82); против эмпаглифлозина: ниже на 32% (0,68; 0,59–0,79); оба p&lt;0,001. Калий выше 5,5 ммоль/л хотя бы раз: 18,8% на финереноне, 15,1% при сочетании (различие незначимо, p=0,85), 9,7% на эмпаглифлозине. Граница: II фаза, 180 дней, оценивали только АКО; схема одновременного старта в местной инструкции не описана, порядок назначения представитель не обсуждает. Вопрос группе: число 32% есть на слайдах 24 и 25, это одно и то же? Ответ: нет. На слайде 24 сравнение с плацебо через 4 месяца, здесь снижение от исходного уровня без плацебо.</a:t>
            </a:r>
          </a:p>
          <a:p>
            <a:r>
              <a:t>Пояснение: на графике слева отношение АКО к исходному уровню к 180-му дню: 0,48 при сочетании, 0,68 при финереноне, 0,71 при эмпаглифлозине; проценты 52 и 32 между собой не вычитают. На графике справа среднее изменение калия сыворотки: на 14-й день +0,27 ммоль/л при сочетании и +0,19 при финереноне, при эмпаглифлозине калий почти не менялся; через 30 дней после отмены калий вернулся почти к исходному; различие сочетания и финеренона по среднему калию незначимо (p=0,91). Среднее изменение калия и доля пациентов с калием выше 5,5 ммоль/л измеряют разное, противоречия между графиком и строкой «Безопасность» нет. Калий выше 6,0 ммоль/л: 4,6% при сочетании и при финереноне; из-за гиперкалиемии лечение прекратили трое, по одному в каждой группе. В основной статье те же случаи дают 15,3%, 18,6% и 9,7% (другой знаменатель). Пациентов с калием выше 4,8 ммоль/л в исследование не включали.</a:t>
            </a:r>
          </a:p>
          <a:p>
            <a:r>
              <a:t>Для понимания. В разговоре с врачом не используется: схема одновременного старта с ингибитором НГЛТ2 в местной инструкции не описана.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4–40 пройдены, теперь проверка. Главная мысль: представитель отвечает по инструкции и слайдам, а по конкретному пациенту передаёт вопрос врачу или в медицинский отдел. Порядок: прочитайте вопрос, дайте группе 30 секунд, затем откройте ответ ниже. Вопросы 3, 10 и 11 разберите в ролях: один играет врача, другой представителя. Граница: ответы 6–9 проверяют знание инструкции; дозу пациенту представитель не подбирает, пороги сверить с местной инструкцией. Вопрос группе: какой из одиннадцати ответов вам труднее всего дать без подсказки? Ответ: найдите его по номеру слайда, который указан в конце каждого ответа.</a:t>
            </a:r>
          </a:p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почечная недостаточность, снижение рСКФ на 40% и более не менее 4 недель или смерть от почечных причин; по сравнению с плацебо отношение рисков 0,82 (95% ДИ 0,73–0,93). FIGARO-DKD: сердечно-сосудистая смерть, нефатальные инфаркт или инсульт, госпитализация по поводу сердечной недостаточности; отношение рисков 0,87 (95% ДИ 0,76–0,98). Разница в основном за счёт госпитализаций по поводу сердечной недостаточности (отношение рисков 0,71, анализ отдельного компонента, другие компоненты не доказаны). Слайды 21, 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15,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мочу. Слайды 17, 29.</a:t>
            </a:r>
          </a:p>
          <a:p>
            <a:r>
              <a:t>6. По инструкции: при рСКФ 48 начальная доза 10 мг, при рСКФ 72 начальная доза 20 мг, один раз в сутки (порог рСКФ 60). При рСКФ ниже 25 начинать лечение не рекомендуется. Дозу выбирает врач.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Если врач рассказывает о применении у пациента вне показаний, представитель сообщает об этом в отдел фармаконадзора (слайд 35). Слайды 22, 35,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Связка: слайды 44–48 показывают данные вне показания; здесь ХБП без диабета. Главная мысль: за 32 месяца рСКФ на финереноне снижалась на 3,3, на плацебо на 4,0 мл/мин/1,73 м² в год; разница 0,7 (95% ДИ 0,3–1,1). Разницу получили вычитанием, её ДИ сравнивают с 0; ДИ отношения, как 0,77, сравнивают с 1. В первые месяцы рСКФ на финереноне ниже: раннее снижение, небольшое падение рСКФ в первые недели, после отмены оно частично обратимо. После отмены на финереноне рСКФ выросла (+1,2), на плацебо снизилась (−0,5), улучшением функции почек это не считают. Комбинированный исход вторичный: 13,9% и 16,9%, отношение рисков 0,77 (0,60–0,99); почечная (0,78; 0,60–1,01) и сердечно-сосудистая (0,60; 0,27–1,33) части отдельно статистически значимо не снижены. Вопрос группе: значит ли рост рСКФ после отмены, что почки улучшились? Ответ: нет; вопрос по этим данным идёт в медицинский отдел.</a:t>
            </a:r>
          </a:p>
          <a:p>
            <a:r>
              <a:t>Пояснение: кривые показывают среднее изменение рСКФ от исходного уровня на каждом визите, отрезки: 95% ДИ. В первый месяц рСКФ при финереноне снижается сильнее, чем при плацебо, затем медленнее; позже кривые пересекаются. Вертикальный пунктир: 32-й месяц, конец периода первичного исхода. Серая зона: последний визит на лечении и визит примерно через 4 недели после отмены. Комбинированный исход вторичный, его проверяли по заранее заданной иерархии после первичного. Статус показаний проверен 25.09.2026: отдельного показания при ХБП без диабета нет в проверенных действующих инструкциях США и ЕС; публикация FIND-CKD не означает регистрацию показания.</a:t>
            </a:r>
          </a:p>
          <a:p>
            <a:r>
              <a:t>Источники заметок: https://labeling.bayerhealthcare.com/html/products/pi/Kerendia_PI.pdf; https://www.ema.europa.eu/en/documents/product-information/kerendia-epar-product-information_en.pdf; https://orvilleservices.com/instructions/Finerenon_Instruction_ru.pdf; https://doi.org/10.1056/NEJMoa2604625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33 и 34 показали контроль и правила по дозе, здесь они собраны в ответ на вопрос 2 (слайд 37 разбирает условный случай). Главная мысль: при калии выше 5,5 ммоль/л финеренон временно отменяют; если повторный анализ показал 5,0 и ниже, врач может возобновить лечение с 10 мг, и через 4 недели при калии 4,8 и ниже и падении рСКФ не более чем на 30% от предыдущего измерения дозу можно повысить до 20 мг. Столбики показывают долю пациентов, которых из-за гиперкалиемии окончательно перестали лечить за всё время исследования: 2,3% и 0,9% в FIDELIO-DKD, 1,2% и 0,4% в FIGARO-DKD, 1,7% и 0,6% в FIDELITY. FIDELITY складывает данные первых двух исследований. Сроки наблюдения разные, поэтому финеренон и плацебо сравнивают внутри одного исследования. Граница: красная плашка (6,0 ммоль/л) взята из руководства UK Kidney Association, не из инструкции; решение принимает врач. Вопрос группе: при каком калии лечение временно отменяют? (Выше 5,5.)</a:t>
            </a:r>
          </a:p>
          <a:p>
            <a:r>
              <a:t>Пояснение: где смотреть подробности: слайды 29 (механизм), 33 (контроль), 34 (коррекция дозы), 37 (случай), 21–23 (частота окончательной отмены). Алгоритм повторяет правила слайда 34.</a:t>
            </a:r>
          </a:p>
          <a:p>
            <a:r>
              <a:t>Фраза для визита: По инструкции при калии выше 5,5 ммоль/л финеренон временно отменяют; когда калий 5,0 и ниже, врач может возобновить лечение в дозе 10 мг.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курс открывается двумя вопросами. Пока их не разбирают, к ним возвращаются в конце курса. Главная мысль: за вопросами стоят два практических момента, альбуминурия и калий. Объяснение: в вопросе 1 у взрослого с ХБП, связанной с сахарным диабетом 2 типа, гликемия и давление в целевом диапазоне, но альбуминурия (повышенная потеря альбумина с мочой) сохраняется. Её оценивают по АКО: отношению альбумина к креатинину в разовой порции мочи. В вопросе 2 после начала финеренона повысился калий крови. Числа здесь не приводим: ответ на вопрос 1 собирается на слайдах 32 и 36, на вопрос 2 на слайдах 34 и 37, полный разбор на слайдах 39 и 40. Граница: представитель пересказывает инструкцию и не подбирает лечение конкретному пациенту; вопрос по случаю передаёт в медицинский отдел. Вопрос группе: какие анализы нарисованы под вопросами? (Ответ: моча на альбумин и креатинин, кровь на калий и креатинин.)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4–8 разобрали, как диабет повреждает почку; теперь смотрим на связь почек и сердца. Главная мысль: сердечная недостаточность может ухудшать работу почек. Такое сочетание называют кардиоренальным синдромом: болезнь одного органа ухудшает работу другого. Объяснение: сердце выбрасывает меньше крови, давление в венах растёт, почки хуже кровоснабжаются и «застаиваются»; к этому добавляются гормоны, сужающие сосуды. У части пациентов с диабетом и гипертензией оба органа повреждаются одновременно, поэтому порядок событий определить не всегда удаётся (Kumar, 2019). Граница: слайд объясняет механизм, чисел исходов на нём нет; показания при сердечной недостаточности в местной инструкции нет, вопросы о лечении передают в медицинский отдел. Вопрос группе: почему не всегда можно сказать, что возникло первым, болезнь сердца или почек? Ответ: при диабете и гипертензии повреждаются оба органа сразу.</a:t>
            </a:r>
          </a:p>
          <a:p>
            <a:r>
              <a:t>Пояснение: на схеме сокращены подробности. Среди причин повторного повреждения почек названы обострения сердечной недостаточности и падение давления, в том числе из-за лекарств. В развитии участвуют также дисфункция эндотелия, изменения мелких и крупных сосудов, гибель клеток (некроз и апоптоз) и рубцевание ткани (фиброз, склероз).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9 показывал путь от сердца к почкам; здесь обратное направление. Главная мысль: хроническая болезнь почек ухудшает работу сердца (ренокардиальный синдром). Объяснение: при болезни почек активируются гормоны, задерживающие натрий и воду (среди них альдостерон), и симпатическая нервная система; накапливаются токсичные вещества, кровь закисляется. Сердце перегружается жидкостью, стенка левого желудочка утолщается. В обоих органах действуют воспаление и избыток активных форм кислорода. Граница: слайд объясняет механизм, чисел исходов на нём нет; показания при сердечной недостаточности в местной инструкции нет. Вопрос группе: какое вещество с этого слайда связано с мишенью финеренона? Ответ: альдостерон, он действует через минералокортикоидный рецептор (слайд 17).</a:t>
            </a:r>
          </a:p>
          <a:p>
            <a:r>
              <a:t>Пояснение: на схеме сокращены общие для обоих органов процессы: усиленное образование цитокинов (воспалительных веществ), нарушение баланса оксида азота и активных форм кислорода, нарушение работы митохондрий (структур клетки, вырабатывающих энергию), дисфункция эндотелия. Уремия: накопление в крови токсичных веществ при почечной недостаточности; ацидемия: закисление крови; диастолическая дисфункция: хуже расслабление и наполнение сердца.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34 дал правила по калию, здесь они на условном случае. Главная мысль: повышение калия выше 5,5 ммоль/л не означает окончательную отмену. Через 4 недели калий 5,7 (было 4,5): по инструкции финеренон временно отменяют. Повторный анализ показал 4,9, то есть 5,0 и ниже: врач может возобновить лечение в дозе 10 мг, а ещё через 4 недели при калии 4,8 и ниже и падении рСКФ не более чем на 30% дозу можно повысить до 20 мг. В FIDELITY из-за гиперкалиемии лечение окончательно отменили 1,7% пациентов на финереноне и 0,6% на плацебо. Граница: случай условный, ко-тримоксазол лишь пример причины; если врач описывает такой случай у реального пациента, это нежелательное явление: сообщите в отдел фармаконадзора в течение 24 часов, советов по лечению не давайте. Вопрос группе: с какой дозы возобновляют лечение после временной отмены? (С 10 мг.)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дальше идут данные исследований; здесь правила чтения чисел. Главная мысль: число из исследования читают вместе с группой сравнения, доверительным интервалом и сроком наблюдения. Объяснение: в FIDELIO-DKD отношение рисков 0,82 (95% ДИ 0,73–0,93) означает, что риск ниже на 18% по сравнению с плацебо; интервал не включает 1, поэтому снижение статистически значимо. Доли за 2,6 года: 17,8% на финереноне и 21,1% на плацебо. Граница: результаты разных исследований напрямую не сравнивают (разные пациенты, исходы, сроки). Вопрос группе: почему 18% из FIDELIO-DKD и 30% из CREDENCE нельзя сравнивать? Ответ: разные группы пациентов, исходы и сроки, прямого сравнения не было.</a:t>
            </a:r>
          </a:p>
          <a:p>
            <a:r>
              <a:t>Пояснение: отношение рисков сравнивает время до первого события; после первого события пациент в расчёт дальше не входит. Если в исследовании считают и повторные события, используют отношение частот событий на единицу времени наблюдения; эти показатели не взаимозаменяемы. Относительное снижение 18% получено как 1 − 0,82; разница долей 21,1% и 17,8% равна 3,3 процентного пункта. Доверительный интервал отношения сравнивают с 1, интервал разности с 0. Накопленная частота: доля пациентов с событием к данному месяцу с учётом разного срока наблюдения; на слайде 21 к 48-му месяцу кривые выше итоговых 17,8% и 21,1%, потому что не всех наблюдали так долго. В FIDELITY кривые построены методом Аалена–Йохансена, смерть от причин, не входящих в исход, учтена как конкурирующее событие; к концу графика под наблюдением остаётся мало пациентов, поэтому правый край кривой менее точен. Число, которое нужно лечить: 1 / 0,022 ≈ 45,5; в статье 46 получено по неокруглённой разнице рисков (округление вверх, как принято для этого показателя). В FIDELIO-DKD рандомизированы 5734 пациента, в анализе 5674: 60 пациентов исключили из всех анализов из-за грубых нарушений правил надлежащей клинической практики, они не выбывали по ходу лечения. Медиана наблюдения: FIDELIO-DKD 2,6 года, FIGARO-DKD 3,4 года (слайды 21, 22).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12 дал критерии ХБП; теперь прогноз по KDIGO для групп пациентов. Главная мысль: при одинаковой рСКФ более высокая альбуминурия соответствует более высокому риску. Объяснение: цвет клетки показывает риск прогрессирования болезни почек, почечной недостаточности, сердечно-сосудистых событий и смерти в группе пациентов. Пример: рСКФ 65 (G2), АКО 15 мг/г (A1): риск низкий, при АКО 350 мг/г (A3) риск высокий. Граница: карта показывает риск в группах, а прогноз конкретного человека по ней не рассчитывают; категории устанавливают по повторным анализам не менее 3 месяцев (разовый высокий АКО бывает после нагрузки, при инфекции, при выраженной гипергликемии). Вопрос группе: что меняет цвет клетки в одной строке? Ответ: только категория АКО, рСКФ в строке одинакова.</a:t>
            </a:r>
          </a:p>
          <a:p>
            <a:r>
              <a:t>Фраза для визита: По KDIGO, при одинаковой рСКФ риск выше при более высоком АКО, поэтому при диабете 2 типа смотрят на оба показателя.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слайде 28 сказано, что крупных сравнений финеренона и спиронолактона по клиническим исходам нет; ARTS короткое исследование II фазы. Главная мысль: за 4 недели повышение калия по сообщениям исследователей было у 5,3% на финереноне (все дозы вместе) и у 12,7% на спиронолактоне; на плацебо у 1,5% (p=0,32 для сравнения финеренона с плацебо). Граница: сравнение описательное, поправки на множественные сравнения не было, спиронолактон применяли открыто; дозы финеренона до 10 мг ниже 20 мг; пациенты с сердечной недостаточностью и ФВ ЛЖ 40% и ниже. Вывод «финеренон безопаснее спиронолактона» сделать нельзя. Вопрос группе: можно ли сказать врачу, что финеренон реже повышает калий? Ответ: нет, данные вне показания; вопрос уходит в медицинский отдел.</a:t>
            </a:r>
          </a:p>
          <a:p>
            <a:r>
              <a:t>Пояснение: значение p=0,048 относится к сравнению спиронолактона с финереноном; значения p для вторичных показателей авторы считают описательными, уровень значимости заранее не задавали. Спиронолактон начинали с 25 мг и повышали до 50 мг на 15-й день, если калий оставался 4,8 ммоль/л и ниже; к концу средняя доза 37 мг в сутки.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курс только начинается, поэтому сначала рамки. Главная мысль: курс о препарате Финеренон-Орвилле у взрослых с хронической болезнью почек (с альбуминурией), связанной с сахарным диабетом 2 типа; показание по местной инструкции, формулировку брать дословно. Объяснение: финеренон блокирует минералокортикоидный рецептор (МКР): белок внутри клетки, который включается гормоном альдостероном. Нестероидный означает, что по строению препарат не похож на стероидные гормоны, в отличие от спиронолактона. Четыре цели курса: показание и механизм, польза по исследованиям, контроль калия и функции почек по инструкции, сообщение о нежелательных явлениях. Граница: материал только для внутреннего обучения, врачам его не показывают и не передают. Вопрос группе: для какого диагноза препарат показан по инструкции? (Ответ: ХБП с альбуминурией, связанная с сахарным диабетом 2 типа, у взрослых.)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после двух вопросов посмотрим, как построен курс. Главная мысль: четыре раздела ведут от вопроса «что происходит в почке при диабете» к вопросу «как применять препарат по инструкции». Объяснение: раздел 1, слайды 2–13: два вопроса, как работает почка и что меняет диабет, связь болезней сердца и почек, как ставят диагноз ХБП и оценивают риск. Раздел 2, слайды 14–28: как читать результаты исследований, остаточный риск и группы препаратов, механизм действия финеренона, исследования и рекомендации, место среди других препаратов. Раздел 3, слайды 29–42: калий, взаимодействия, дозы, безопасность, разбор двух вопросов, итоги. Раздел 4, слайды 43–48: приложение с данными вне показания местной инструкции. Граница: приложение только для внутреннего обучения, в разговоре с врачом его данные не используют. Вопрос группе: где искать пороги калия и дозы? (Ответ: в разделе 3, слайды 29–37.)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5 и 6 мы видели, как перегрузка может повредить фильтр. Теперь посмотрим клубочек под микроскопом. Главная мысль: при диабете в клубочке расширяется мезангий и могут появиться узелки. Объяснение: мезангий, опорная ткань между петлями капилляров, состоит из клеток и матрикса, то есть межклеточного вещества. На левом снимке структура сохранна. В классе II объём мезангиального матрикса увеличен. В классе III в мезангии формируются округлые узелки из матрикса, их называют узелками Киммелстила–Уилсона, по фамилиям описавших их патологов. Классы предложило Общество почечных патологов (Tervaert 2010). Граница: снимки взяты у разных людей, это не динамика одной почки; гистологический класс не равен стадии ХБП по рСКФ. Данных о влиянии финеренона на строение почки у людей в курсе нет, утверждать обратное нельзя. Вопрос группе: чем класс II отличается от класса III? (Ответ: во II мезангий расширен, узелков нет; в III есть узелки.)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7 показал клубочек, теперь ткань вокруг канальцев. Главная мысль: при диабете воспаление и фиброз поражают канальцы и интерстиций, ткань между ними. Объяснение: слева сохранная ткань, эпителий канальцев образует один слой. В середине воспаление: у 20 пациентов с диабетической нефропатией макрофагов в интерстиции было 296,9 на мм² против 19,0 в норме (Nguyen 2006). Справа фиброз, накопление матрикса, и атрофия: эпителий канальцев уплощается. Миофибробласты, клетки, которые образуют матрикс, происходят из перицитов и фибробластов (Kuppe 2021). Граница: воспаление и фиброз могут сочетаться. Влияние финеренона на эти процессы показано только в эксперименте; данных на людях в курсе нет. Вопрос группе: что такое интерстиций? (Ответ: ткань между канальцами, в ней проходят сосуды.)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4–8 разобрали, как почка фильтрует и как её повреждает диабет; теперь два анализа, которые показывают состояние почек. Главная мысль: при диабете 2 типа рСКФ и АКО проверяют не реже раза в год (KDIGO 2024, ADA 2026). Объяснение: рСКФ рассчитывают по креатинину крови, возрасту и полу, она показывает, как почки фильтруют. АКО измеряют в одной порции мочи, он показывает потерю альбумина. Альбумин в моче бывает повышен при сохранной рСКФ, поэтому одного анализа крови мало. Граница: слайд о диагностике, данных исследований нет; тест-полоска не заменяет АКО; решение принимает врач. Вопрос группе: рСКФ в норме, значит, почки не повреждены? Ответ: не обязательно, нужно посмотреть АКО. В лаборатории АКО может быть в мг/ммоль: 30 мг/г примерно 3 мг/ммоль.</a:t>
            </a:r>
          </a:p>
          <a:p>
            <a:r>
              <a:t>Фраза для визита: По руководствам KDIGO и ADA, при диабете 2 типа рСКФ и АКО проверяют не реже раза в год; сохранная рСКФ не исключает повышенной потери альбумина.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слайдах 4–8 мы разобрали, как работает почка и что меняет диабет. Теперь мишень финеренона: минералокортикоидный рецептор (МКР) в клетках почечных канальцев. Главная мысль: МКР включается альдостероном и управляет тем, сколько натрия почка возвращает в кровь и сколько калия выделяет с мочой. Рецептор: белок в клетке, который принимает сигнал гормона. Альдостерон: гормон коры надпочечников. Просвет: полость трубочки, по которой течёт моча. Секреция: выделение вещества из клетки. На схеме альдостерон связывается с МКР, комплекс идёт в ядро и включает гены, и в клетке становится больше натриевых каналов и насосов. Натрий уходит в кровь, калий выделяется в просвет. Граница: МКР есть также в сердце и сосудах, схема показывает только клетку почечной трубочки. Вопрос группе: какой гормон включает МКР? (Ответ: альдостерон.)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17 мы разобрали работу МКР в норме. Теперь что происходит, когда рецептор работает слишком сильно. Главная мысль: в экспериментах избыточная активация МКР усиливает воспаление и фиброз. Избыточная активация: рецептор работает сильнее нормы. Фиброз: замещение рабочей ткани рубцовой. Матрикс: вещество между клетками. Фибробласты: клетки, которые образуют матрикс. Слева альдостерон связывается с МКР, рецептор включает гены воспаления и фиброза. Справа результат в ткани почки: приходят иммунные клетки (воспаление), фибробласты откладывают лишний матрикс между клетками (фиброз). Граница: связь избыточной активации МКР с воспалением и фиброзом показана в опытах на животных и клетках. Мы не говорим, что финеренон уменьшает воспаление и фиброз у пациентов: это не изучалось. Вопрос группе: где показано влияние финеренона на воспаление и фиброз? (Ответ: только в доклинических исследованиях.) 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18 мы увидели, к чему ведёт избыточная активация МКР. Теперь что делает финеренон. Главная мысль: финеренон связывается с МКР внутри клетки и препятствует его активации. Нестероидный: по строению не похож на гормоны надпочечников. Антагонист: вещество, которое блокирует рецептор. Избирательный: действует главным образом на МКР и почти не связывается с другими рецепторами (формулировку сверить с местной инструкцией). В FIDELIO-DKD и FIGARO-DKD у пациентов с ХБП при диабете 2 типа на фоне ингибитора АПФ или БРА в максимально переносимой дозе финеренон по сравнению с плацебо снижал риск почечного исхода (FIDELIO-DKD) и сердечно-сосудистого исхода (FIGARO-DKD); цифры на слайдах 21–23. Блокада МКР может уменьшать секрецию калия, поэтому калий и функцию почек проверяют до начала и во время лечения. Граница: ослабление воспаления и фиброза показано только в эксперименте. Вопрос группе: почему при лечении финереноном проверяют калий? (Ответ: блокада МКР может уменьшать секрецию калия в почечных канальцах.)</a:t>
            </a:r>
          </a:p>
          <a:p>
            <a:r>
              <a:t>Фраза для визита (после согласования с регистрационным отделом): «Финеренон блокирует минералокортикоидный рецептор; в исследованиях FIDELIO-DKD и FIGARO-DKD у пациентов с хронической болезнью почек при диабете 2 типа на фоне ингибитора АПФ или БРА он по сравнению с плацебо снижал риск почечного исхода (FIDELIO-DKD) и сердечно-сосудистого исхода (FIGARO-DKD), поэтому по инструкции калий и функцию почек проверяют до начала и во время лечения.»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26 показал рекомендацию об одновременном начале двух препаратов. Теперь частый вопрос врача: можно ли вместо ингибитора НГЛТ2 назначить финеренон. Главная мысль: по KDIGO финеренон добавляют к фоновой терапии, заменять им ингибитор НГЛТ2 не предлагается. Объяснение: ингибитор НГЛТ2 действует на переносчик глюкозы и натрия в канальцах, финеренон блокирует минералокортикоидный рецептор. В FIDELITY ингибиторы НГЛТ2 в начале получали 6,7% участников, поэтому данных о совместном применении немного. Порядок по KDIGO: ингибитор АПФ или БРА в максимальной дозе, ингибитор НГЛТ2 при рСКФ 20 и выше, финеренон при рСКФ 25 и выше и нормальном калии. Граница: решение о лечении принимает врач; показание Финеренон-Орвилле определяет инструкция. Вопрос группе: ингибитор НГЛТ2 не переносится, можно ли назначить финеренон? Ответ: по KDIGO да, на фоне ингибитора АПФ или БРА, после проверки противопоказаний, калия и рСКФ (слайд 32).</a:t>
            </a:r>
          </a:p>
          <a:p>
            <a:r>
              <a:t>Для понимания. В разговоре с врачом не используется: слайд основан на рекомендациях KDIGO, порядок назначения в инструкции не описан.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врачи знают спиронолактон и спрашивают, чем финеренон отличается. Главная мысль: оба препарата блокируют минералокортикоидный рецептор, доказательства получены в разных группах пациентов. Объяснение: финеренон изучали при ХБП и диабете 2 типа: в FIDELITY почечный исход был реже на 23% и сердечно-сосудистый на 14% по сравнению с плацебо (слайд 23). Спиронолактон изучали при тяжёлой сердечной недостаточности с ФВ ЛЖ 35% и ниже (RALES, 1663 пациента): умерли 35% на спиронолактоне и 46% на плацебо. Граница: прямого сравнения по исходам нет, преимущество финеренона по исходам утверждать нельзя. Совместное применение не рекомендуется; при любом из двух препаратов контролируют калий. Вопрос группе: врач спрашивает, безопаснее ли финеренон спиронолактона по калию. Ответ: прямого сравнения по исходам и по риску гиперкалиемии в нашем материале нет; калий контролируют при обоих; вопрос передаём в медицинский отдел.</a:t>
            </a:r>
          </a:p>
          <a:p>
            <a:r>
              <a:t>Для понимания. В разговоре с врачом не используется: слайд сравнивает препарат с другим препаратом.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28 напомнил, что при антагонистах МКР контролируют калий. Здесь механизм. Главная мысль: финеренон блокирует МКР в главных клетках собирательной трубочки, поэтому почки хуже выводят калий и калий в крови может повышаться. Объяснение: альдостерон через МКР усиливает вход натрия из просвета в клетку, и это помогает калию выходить в мочу; при блокаде рецептора натрия входит меньше и калия уходит меньше. В FIDELIO-DKD калий выше 5,5 ммоль/л был у 21,4% на финереноне и у 9,2% на плацебо за медиану 2,6 года. Риск выше при исходно высоком калии, сниженной рСКФ и высокой альбуминурии. Граница: факторы риска найдены наблюдением внутри исследования, рандомизированным сравнением они не проверялись. В CONFIDENCE эмпаглифлозин значимо не снизил риск гиперкалиемии при добавлении к финеренону (p=0,85). Вопрос группе: какой калий считают гиперкалиемией? Ответ: калий выше нормы; в исследованиях выше 5,5 ммоль/л; по инструкции при калии выше 5,0 лечение не начинают.</a:t>
            </a:r>
          </a:p>
          <a:p>
            <a:r>
              <a:t>Фраза для визита: «По инструкции калий определяют до начала лечения и контролируют во время лечения финереноном, при факторах риска гиперкалиемии контроль чаще.»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29 объяснил, почему растёт калий. Теперь какие препараты и продукты повышают калий или концентрацию финеренона. Главная мысль: по инструкции противопоказаны только сильные ингибиторы CYP3A4, остальные сочетания избегают или сопровождают контролем калия. Три группы. Противопоказано: кларитромицин, кетоконазол, итраконазол, ритонавир. По расчётным моделям сильные ингибиторы повышают воздействие финеренона в 5–6 раз по сравнению с приёмом без них (итраконазол 6,31; кларитромицин 5,28; слайд 31). Не рекомендуется: спиронолактон, эплеренон, амилорид, триамтерен, сильные и умеренные индукторы, грейпфрут. С контролем калия: препараты калия, триметоприм, умеренные и слабые ингибиторы CYP3A4. Граница: список неполный, полный перечень в инструкции; подбор для конкретного пациента представитель не даёт. Вопрос группе: пациент пьёт грейпфрутовый сок, это противопоказание? Ответ: нет, сок исключают на время лечения; противопоказаны только сильные ингибиторы CYP3A4.</a:t>
            </a:r>
          </a:p>
          <a:p>
            <a:r>
              <a:t>Фраза для визита: «По инструкции сильные ингибиторы CYP3A4, например кларитромицин и итраконазол, с финереноном противопоказаны, а грейпфрут и грейпфрутовый сок исключают на время лечения.»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30 показал, какие сочетания опасны; здесь причина. Главная мысль: финеренон расщепляет фермент CYP3A4, ингибиторы фермента повышают концентрацию финеренона, индукторы снижают. Объяснение: по инструкции около 90% финеренона перерабатывает CYP3A4 в печени и стенке кишечника. Сильные ингибиторы по расчётным моделям повышают воздействие в 5–6 раз (итраконазол 6,31; кларитромицин 5,28), умеренные по измеренным данным в 2,7–3,5 раза (верапамил 2,70; эритромицин 3,48), всё по сравнению с финереноном без ингибитора. Индукторы ускоряют расщепление, эффект ослабевает. Граница: рост воздействия не равен росту риска гиперкалиемии, числа нельзя переносить на другие препараты. Триметоприм повышает калий другим путём (без участия CYP3A4). Вопрос группе: почему грейпфрут исключают? Ответ: он подавляет CYP3A4 и может повысить концентрацию финеренона; это не противопоказание.</a:t>
            </a:r>
          </a:p>
          <a:p>
            <a:r>
              <a:t>Пояснение: классификацию ингибиторов и числа воздействия дают Heinig R, et al. Eur J Drug Metab Pharmacokinet. 2018;43:715–727 и Wendl T, et al. CPT Pharmacometrics Syst Pharmacol. 2022;11:199–211. Классификация по этим работам и по FDA; в инструкции EMA дан общий класс умеренных и слабых ингибиторов.</a:t>
            </a:r>
          </a:p>
          <a:p>
            <a:r>
              <a:t>Фраза для визита: «Финеренон расщепляется ферментом CYP3A4, поэтому по инструкции сильные ингибиторы фермента противопоказаны, а сильные и умеренные индукторы не рекомендуются.»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слайды 29–31 объяснили, почему растёт калий и что меняет концентрацию финеренона. Теперь ответ на вопрос 1 со слайда 2: какие данные нужны до начала лечения. Главная мысль: перед началом лечения врач смотрит калий, рСКФ и противопоказания. Числа по инструкции: калий до 4,8 ммоль/л, лечение можно начать; выше 4,8 и до 5,0, начало можно рассмотреть с дополнительным контролем калия в первые 4 недели; выше 5,0, лечение не начинают. рСКФ 60 и выше: 20 мг один раз в сутки; 25–59: 10 мг; ниже 25: начинать не рекомендуется. Целевая доза 20 мг. Граница: пороги взяты по инструкции, сверить с местной; слайд не подбирает дозу конкретному пациенту, решает врач. Вопрос группе: калий 5,1 ммоль/л, рСКФ 45, начинают ли лечение? Ответ: нет, при калии выше 5,0 лечение не начинают; дальнейшие шаги решает врач.</a:t>
            </a:r>
          </a:p>
          <a:p>
            <a:r>
              <a:t>Фраза для визита: «По инструкции перед началом лечения определяют калий и рСКФ: при калии выше 5,0 ммоль/л лечение не начинают, при рСКФ ниже 25 начинать не рекомендуется.»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слайде 32 разобрали условия старта, теперь смотрим, как калий и функцию почек проверяют во времени. Главная мысль: калий и рСКФ определяют до первой дозы, через 4 недели после начала, после возобновления и после повышения дозы, дальше периодически. Объяснение: финеренон блокирует минералокортикоидный рецептор, калий выводится хуже, поэтому гиперкалиемия встречается чаще, чем при плацебо: в FIDELITY 14,0% против 6,9% (по сообщениям исследователей). Интервал каждые 4 месяца предлагает KDIGO, в европейской инструкции написано «периодически». Если исходный калий выше 4,8 и до 5,0, его дополнительно определяют в первые 4 недели. Граница: сроки внепланового контроля определяет врач, МП их не назначает. Вопрос группе: когда впервые повторяют калий после старта? (Через 4 недели.)</a:t>
            </a:r>
          </a:p>
          <a:p>
            <a:r>
              <a:t>Пояснение: с ингибитором НГЛТ2 режим контроля калия тот же. В CONFIDENCE за 180 дней калий выше 5,5 ммоль/л хотя бы раз был у 15,1% пациентов при комбинации и у 18,8% при финереноне, при эмпаглифлозине у 9,7%; комбинация значимо не снижала эту долю по сравнению с финереноном (p=0,85).</a:t>
            </a:r>
          </a:p>
          <a:p>
            <a:r>
              <a:t>Фраза для визита: По инструкции калий и рСКФ определяют до начала лечения, через 4 недели после начала или повышения дозы и далее периодически; это помогает вовремя заметить повышение калия.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на слайдах 29 и 33 объяснили, почему растёт калий и как его контролируют, здесь общая картина безопасности. Главная мысль: единственная очень частая нежелательная реакция финеренона по инструкции гиперкалиемия. В FIDELITY (13 026 пациентов, медиана наблюдения 3,0 года) гиперкалиемия по сообщениям исследователей развилась у 14,0% на финереноне и у 6,9% на плацебо; окончательно лечение из-за неё отменили 1,7% и 0,6%. Острое повреждение почек 3,4% и 3,6%. Термины: гипонатриемия: низкий натрий в крови; гиперурикемия: высокая мочевая кислота; гипотензия: низкое давление. Граница: о нежелательном явлении МП сообщает в течение 24 часов по процедуре компании, связь с препаратом не оценивает и советов по лечению не даёт. Вопрос группе: о чём МП сообщает в фармаконадзор, кроме нежелательных явлений? (О беременности или кормлении грудью, передозировке, ошибке применения, применении вне показаний, отсутствии эффекта.)</a:t>
            </a:r>
          </a:p>
          <a:p>
            <a:r>
              <a:t>Фраза для визита: Единственная очень частая нежелательная реакция финеренона: гиперкалиемия, поэтому по инструкции калий определяют до начала лечения, через 4 недели и далее периодически.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слайд 32 назвал условия старта, здесь их проверяют на двух условных случаях. Главная мысль: перед началом врач сверяет пять данных: диагноз, АКО, рСКФ, калий и лекарства. У пациента 1 всё есть: АКО 320 и 360 мг/г с интервалом 4 месяца, рСКФ 48, калий 4,6, лозартан 100 мг; по инструкции при рСКФ 25–59 начальная доза 10 мг. У пациента 2 АКО определили один раз во время инфекции, калия и списка лекарств нет, поэтому данных недостаточно. Строки про АКО за 3 месяца и про ИАПФ или БРА взяты из KDIGO, остальные из инструкции. Граница: случаи условные, МП не оценивает реальных пациентов и не советует по лечению, вопрос врача о конкретном пациенте передаёт в медицинский отдел. Вопрос группе: почему у пациента 2 критерий по АКО нельзя считать выполненным? (Одно измерение при инфекции; нужно повторить и подтвердить не менее 3 месяцев.)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вы прошли механизм, доказательства, дозы и контроль калия; слайд собирает их. Главная мысль: показание берут из местной инструкции, пользу и риск называют по данным исследований в сравнении с плацебо, калий контролируют. Числа: в FIDELIO-DKD почечный исход у 17,8% на финереноне и у 21,1% на плацебо (относительное снижение 18%); в FIGARO-DKD сердечно-сосудистый исход у 12,4% и у 14,2% (13%); гиперкалиемия в FIDELITY у 14,0% и у 6,9% пациентов. Граница: снижение АКО не позволяет предсказать исход у конкретного пациента; дозу и тактику определяет врач. Вопрос группе: что проверяют до первой дозы? Ответ: калий, рСКФ, противопоказания и текущие лекарства (слайды 32 и 33).</a:t>
            </a:r>
          </a:p>
          <a:p>
            <a:r>
              <a:t>Фраза для визита: Финеренон-Орвилле показан взрослым с хронической болезнью почек (с альбуминурией), связанной с сахарным диабетом 2 типа. В исследованиях по сравнению с плацебо почечный исход возникал реже (FIDELIO-DKD: 17,8% против 21,1%), а гиперкалиемия по сообщениям исследователей чаще (FIDELITY: 14,0% против 6,9%), поэтому калий контролируют.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основная часть закончена, дальше материал вне показания местной инструкции. Главная мысль: приложение учит узнавать вопросы вне инструкции и передавать их. Внутри четыре темы: ARTS (калий при финереноне и спиронолактоне), FIND-CKD (ХБП без диабета), FINE-ONE и решение FDA (диабет 1 типа), FINEARTS-HF (сердечная недостаточность, ФВ ЛЖ 40% и выше). Граница: слайды приложения врачам не показывают, не раздают и не пересылают; одобрение в другой стране местное показание не расширяет. Вопрос группе: врач спрашивает о финереноне при диабете 1 типа, что делает представитель? Ответ: не обсуждает, передаёт вопрос в медицинский отдел по процедуре компании.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Связка: после FIND-CKD второе исследование вне показания, диабет 1 типа. Главная мысль: за 6 месяцев АКО снизилось на 34% на финереноне и на 12% на плацебо; относительная разница 25% (отношение 0,75; 95% ДИ 0,65–0,87). Расчёт: 0,66 делим на 0,88. Гиперкалиемия у 10,1% на финереноне и у 3,3% на плацебо; рСКФ к 6-му месяцу снизилась на 5,6 и на 2,7 мл/мин/1,73 м² и после отмены приблизилась к исходной. Граница: 242 пациента, 6 месяцев, суррогатная точка (показатель вместо клинического исхода); диализ и другие события не изучали. В США одобрено снижение АКО у взрослых с ХБП и диабетом 1 типа (слайд 47); в местной инструкции этого показания нет. Вопрос группе: чем 34% отличаются от 25%? Ответ: 34% снижение внутри группы финеренона, 25% разница с плацебо.</a:t>
            </a:r>
          </a:p>
          <a:p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последняя тема приложения, сердечная недостаточность независимо от диабета. Главная мысль: в FINEARTS-HF (6001 пациент, ФВ ЛЖ 40% и выше, медиана 32 месяца) событий первичного исхода было 1083 на финереноне и 1283 на плацебо; отношение частот 0,84 (95% ДИ 0,74–0,95). Его считают по всем событиям, включая повторные, на единицу времени наблюдения. Хотя бы одно событие: 624 из 3003 (20,8%) и 719 из 2998 (24,0%). Граница: сердечно-сосудистая смерть 8,1% и 8,7%, отношение рисков 0,93 (0,78–1,11), различие статистически незначимо; калий выше 5,5 ммоль/л чаще на финереноне (2,16; 1,83–2,56); доза до 20 или 40 мг, по местной инструкции максимум 20 мг. Вопрос группе: 16% означает, что у 16% пациентов меньше событий? Ответ: нет. Показатель 16% описывает частоту всех событий; доли пациентов хотя бы с одним событием 20,8% и 24,0%.</a:t>
            </a:r>
          </a:p>
          <a:p xmlns:a="http://schemas.openxmlformats.org/drawingml/2006/main">
            <a:r>
              <a:t>Пояснение: калий ниже 3,5 ммоль/л был реже (0,46; 95% ДИ 0,38–0,56); госпитализации из-за гиперкалиемии: финеренон 0,5%, плацебо 0,2%, смертей из-за гиперкалиемии не было (Vardeny O, et al. JAMA Cardiol. 2025;10:42–48). Сердечно-сосудистая смерть бывает один раз, поэтому для неё приведено отношение рисков. Регистрация при сердечной недостаточности не требует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ФВ ЛЖ 40% и выше. ЕС: решение Европейской комиссии от 26.03.2026 (номер решения не подтверждён), симптомная хроническая сердечная недостаточность с ФВ ЛЖ 40% и выше у взрослых; пресс-релиз вышел позже, 30.03.2026. Великобритания: MHRA, апрель 2026 (точная дата не подтверждена).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Источники заметок: https://www.accessdata.fda.gov/drugsatfda_docs/appletter/2025/215341Orig1s009ltr.pdf; https://labeling.bayerhealthcare.com/html/products/pi/Kerendia_PI.pdf; https://ec.europa.eu/health/documents/community-register/2026/20260326168988/dec_168988_en.pdf; https://ec.europa.eu/health/documents/community-register/2026/20260326168988/anx_168988_en.pdf; https://www.ema.europa.eu/en/medicines/human/EPAR/kerendia; https://orvilleservices.com/instructions/Finerenon_Instruction_ru.pdf; https://doi.org/10.1056/NEJMoa2407107</a:t>
            </a:r>
          </a:p>
          <a:p xmlns:a="http://schemas.openxmlformats.org/drawingml/2006/main"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6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слайды 20–25 дали данные исследований, теперь видно, как их читают в рекомендациях. Главная мысль: ADA 2026 рекомендует нестероидный антагонист МКР, то есть финеренон, при диабете 2 типа и ХБП с альбуминурией. Термин: нестероидный означает, что по строению препарат не похож на стероидные гормоны и избирательно блокирует МКР. Рекомендация 11.8: рСКФ 25 и выше, после начала лечения контролируют калий. Рекомендация 11.9: одновременное начало с ингибитором НГЛТ2 можно рассмотреть при АКО 100 мг/г и выше и рСКФ 30–90; основа только снижение АКО в CONFIDENCE, влияние на исходы не установлено. Граница: рекомендацию пишет профессиональное общество, показание устанавливает регулятор и записывает в инструкции. Пороги калия и рСКФ для начала лечения берём из инструкции (слайд 32). Вопрос группе: чем рекомендация ADA отличается от показания? Ответ: рекомендация даёт совет врачам, показание определяет, для кого разрешён препарат.</a:t>
            </a:r>
          </a:p>
          <a:p xmlns:a="http://schemas.openxmlformats.org/drawingml/2006/main">
            <a:r>
              <a:t>Для понимания. Рекомендации зарубежных обществ представитель врачу не цитирует; если врач спросит, отвечает по инструкции и передаёт вопрос в медицинский отдел.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Relationship Id="rId5" Type="http://schemas.openxmlformats.org/officeDocument/2006/relationships/notesSlide" Target="../notesSlides/notesSlide2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Relationship Id="rId5" Type="http://schemas.openxmlformats.org/officeDocument/2006/relationships/notesSlide" Target="../notesSlides/notesSlide3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6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Relationship Id="rId11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4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4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Финеренон-Орвилле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 (с альбуминурией), связанной 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рецептор, белок внутри клетки, который включается гормоном альдостероном.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  <p:sp>
        <p:nvSpPr>
          <p:cNvPr id="100" name="Название курса"/>
          <p:cNvSpPr txBox="1"/>
          <p:nvPr/>
        </p:nvSpPr>
        <p:spPr>
          <a:xfrm>
            <a:off x="838200" y="1676400"/>
            <a:ext cx="5334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Учебный курс для медицинских представителей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 xml:space="preserve"> Взрослый с ХБП, связанной с сахарным диабетом 2 типа: сахар крови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1016000"/>
            <a:ext cx="2705100" cy="762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09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3314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3314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3467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Четыре группы препаратов и остаточный риск: слайды 15–16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61722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6172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24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9029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9029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9182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приходит по приносящей артериоле (мелкой артерии)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уходит по выносящей. Часть воды и мелких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 капилляров 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Обратное всасывание называют реабсорбцией.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Рисунок адаптирован: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Участок канальца прилежит к своему клубочку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(восходящее колено петли Генле)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1320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 которая измеряет соль (хлорид натрия) в канальцевой жидкости и подаёт артериоле сигнал: сузиться, если соли много, и расшириться, если мало.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больше соли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507480"/>
            <a:ext cx="6350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3815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перед лечением и во время него определяют рСКФ; от неё зависят начальная доза и повышение дозы по инструкции (слайды 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у части пациентов клубочек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фильтрует больше нормы (гиперфильтрация).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перегрузка, как считают,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 клубочка.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 Рисунок адаптирован: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в клубочке расширяется мезангий и могут появиться узелки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 округлые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узелки из межклеточного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(склероз: рубцовое уплотнение).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Рисунок адаптирован: панели вырезаны, подписи на русском.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воспаление и фиброз поражают 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Миофибробласты: клетки, которые образуют матрикс.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Сердечная недостаточность снижает кровоток в почках и вызывает застой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Кардиоренальный синдром: болезнь сердца ухудшает работу почек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Схема показывает путь от сердца к почкам.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Иногда оба органа повреждаются одновременно, например при диабете и гипертензии, и порядок событий определить не удаётся.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Сердце выбрасывает меньше крови, давление в венах растёт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Обострения сердечной недостаточности и падение давления повторно повреждают почки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Быстрее развивается атеросклероз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Усиливаются гормоны, сужающие сосуды: катехоламины, эндотелин, ангиотензин II, альдостерон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действуют вещества, расширяющие сосуды: натрийуретические пептиды, оксид азота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Меньше кровоток и фильтрация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Гибель клеток и рубцевание (фиброз)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хронической болезни почек сердце страдает от избытка жидкости и гормонов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Ренокардиальный синдром: болезнь почек ухудшает работу сердца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Американское руководство 2026 года рассматривает сердечно-сосудистые заболевания, хроническую болезнь почек и нарушения обмена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Накопление токсичных веществ, сдвиги электролитов и закисление крови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921000" cy="14605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Утолщение стенки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Хуже расслабление и наполнение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Гибель клеток и рубцевание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978400"/>
            <a:ext cx="11064240" cy="279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Общее для обоих органов: воспаление, окислительный стресс, нарушение работы клеток сосудистой стенки (дисфункция эндотелия)</a:t>
            </a:r>
          </a:p>
        </p:txBody>
      </p: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альдостерон действует через минералокортикоидный рецептор; на этот рецептор действует финеренон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40894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частоту контроля определяют по карте KDIGO (слайд 13): чем выше риск, тем чаще.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KDIGO: международная организация по улучшению глобальных исходов при болезнях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79" name="Единицы_АКО"/>
          <p:cNvSpPr txBox="1"/>
          <p:nvPr/>
        </p:nvSpPr>
        <p:spPr>
          <a:xfrm>
            <a:off x="7975600" y="3048000"/>
            <a:ext cx="3581400" cy="86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Единицы: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в мг/г (мг альбумина на г креатинина). В лаборатории может быть в мг/ммоль: 30 мг/г примерно 3 мг/ммоль.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ХБП: рСКФ ниже 60 или АКО 30 мг/г и выше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ниже 60 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558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30 мг/г и выше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(3 мг/ммоль и выше)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признака повреждения почек, например альбуминурии.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категории G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категория 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G1–G5: категории рСКФ; A1–A3: категории АКО (альбуминурии). АКО в мг/ммоль: A1 менее 3, A2 3–30, A3 более 30.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8" name="Что_показывает_цвет"/>
          <p:cNvSpPr txBox="1"/>
          <p:nvPr/>
        </p:nvSpPr>
        <p:spPr>
          <a:xfrm>
            <a:off x="508000" y="1168400"/>
            <a:ext cx="23368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Цвет клетки: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прогрессирования болезни почек, сердечно-сосудистых событий и смерти в группе пациентов.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Результат исследования читают по исходу, отношению рисков и доверительному интервалу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 (первичная конечная точка)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9939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9939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9939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9939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9939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показателе; разница может быть за счёт одного из них.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9939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в основном госпитализации из-за сердечной недостаточности (слайд 22).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8575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8575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8575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8575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8575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на препарате относительно плацебо; меньше 1: риск ниже.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8575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 18% по сравнению с плацебо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7211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7211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7211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7211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7211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Диапазон, где вероятно лежит истинный эффект; если 1 в него не входит, различие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7211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5847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5847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5847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5847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5847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5847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46 за 3 года, 95% ДИ 29–109 (слайд 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5448300"/>
            <a:ext cx="2006600" cy="812800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5448300"/>
            <a:ext cx="49276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5448300"/>
            <a:ext cx="4267200" cy="812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5448300"/>
            <a:ext cx="1803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5448300"/>
            <a:ext cx="47244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Суррогатный показатель (например, альбуминурия) меняется раньше событий;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5448300"/>
            <a:ext cx="4064000" cy="812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клинические исходы не оценивали (слайд 25).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1277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4401 пациент с сахарным диабетом 2 типа, хронической болезнью почек и АКО выше 300 мг/г.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канаглифлозин (ингибитор НГЛТ2)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терминальная почечная недостаточность, удвоение уровня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 30% по сравнению с плацебо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в CREDENCE не изучался.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Почки при диабете 2 типа защищают четыре группы препаратов с разным действием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Доказанная польза (БРА):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Исследования БРА: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FIDELIO-DKD, FIGARO-DKD и их анализ FIDELITY (слайды 20–23),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(арГПП-1)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групп 3 и 4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5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давление и сахар крови контролируют у всех; препараты врач выбирает по рСКФ, альбуминурии, калию и переносимости (слайд 27).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 50% и более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МКР: минералокортикоидный рецептор; ГПП-1: глюкагоноподобный пептид-1; арГПП-1: агонисты рецептора ГПП-1. Доказанная польза: снижение риска клинических исходов в рандомизированных исследованиях. Мишень: структура в организме, на которую действует препарат.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Perkovic V, et al. N Engl J Med. 2024;391:109–121. Адаптировано по: Servier Medical Art, CC BY 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обратное всасывание натрия и выделение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2159000" cy="508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 трубочки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(по нему течёт моча)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000000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Включаются гены: в клетке становится больше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69900" y="6121400"/>
            <a:ext cx="10795000" cy="2159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Натрий уходит из просвета в клетку и уносит положительный заряд, поэтому в просвете возникает отрицательный заряд и калию легче выйти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56" name="Термины"/>
          <p:cNvSpPr txBox="1"/>
          <p:nvPr/>
        </p:nvSpPr>
        <p:spPr>
          <a:xfrm>
            <a:off x="457200" y="952500"/>
            <a:ext cx="11277600" cy="254000"/>
          </a:xfrm>
          <a:prstGeom prst="rect">
            <a:avLst/>
          </a:prstGeom>
          <a:solidFill>
            <a:srgbClr val="F2F2F2"/>
          </a:solidFill>
        </p:spPr>
        <p:txBody>
          <a:bodyPr wrap="square" lIns="76200" rIns="76200" tIns="0" bIns="0" anchor="ctr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Рецептор: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белок в клетке, который принимает сигнал гормона.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Секреция: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выделение вещества из клетки в мочу.</a:t>
            </a:r>
          </a:p>
        </p:txBody>
      </p:sp>
      <p:sp>
        <p:nvSpPr>
          <p:cNvPr id="357" name="Связь_с_финереноном"/>
          <p:cNvSpPr txBox="1"/>
          <p:nvPr/>
        </p:nvSpPr>
        <p:spPr>
          <a:xfrm>
            <a:off x="469900" y="6337300"/>
            <a:ext cx="10795000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финеренон блокирует МКР, поэтому блокада может уменьшать секрецию калия (слайд 19).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 экспериментах избыточная активация МКР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усиливает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84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опытах на животных при повреждении ткани сигнал МКР усиливается.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Адаптировано по: Servier Medical Art (CC BY 4.0).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198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он препятствует активации МКР (слайд 19). Влияние финеренона на воспаление и фиброз показано только в доклинических исследованиях (на животных и в клеточных моделях); у пациентов прямо не измеряли.</a:t>
            </a:r>
          </a:p>
        </p:txBody>
      </p:sp>
      <p:sp>
        <p:nvSpPr>
          <p:cNvPr id="84" name="Термины"/>
          <p:cNvSpPr txBox="1"/>
          <p:nvPr/>
        </p:nvSpPr>
        <p:spPr>
          <a:xfrm>
            <a:off x="457200" y="1092200"/>
            <a:ext cx="11277600" cy="254000"/>
          </a:xfrm>
          <a:prstGeom prst="rect">
            <a:avLst/>
          </a:prstGeom>
          <a:solidFill>
            <a:srgbClr val="F2F2F2"/>
          </a:solidFill>
        </p:spPr>
        <p:txBody>
          <a:bodyPr wrap="square" lIns="76200" rIns="76200" tIns="0" bIns="0" anchor="ctr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Избыточная активация: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рецептор работает сильнее нормы.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Фиброз: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замещение рабочей ткани рубцовой.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7030A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7030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588000" cy="812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нестероидный антагонист МКР, действует на рецептор избирательно.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219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на фоне ингибитора АПФ или БРА в максимально переносимой дозе финеренон снижал риск почечного исхода (FIDELIO-DKD) и сердечно-сосудистого исхода (FIGARO-DKD).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352800"/>
            <a:ext cx="5080000" cy="482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FIDELIO-DKD, FIGARO-DKD и их объединённый анализ FIDELITY (слайды 20–24)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Адаптировано по: Servier Medical Art (CC BY 4.0).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 изучали в двух исследованиях III фазы и в их объединённом анализе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пациенты с ХБП, сахарным диабетом 2 типа и альбуминурией; калий сыворотки при включении до 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40% и больше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 пациента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данных каждого пациента из двух исследований.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сердечно-сосудистый, как в FIGARO-DKD, и почечный, как в FIDELIO-DKD, но с устойчивым снижением рСКФ на 57% и больше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 Поисковый анализ: результаты предварительные, их нужно подтвердить; значения p без поправки на множественные сравнения.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В анализ не вошли 145 пациентов (60 и 85), исключённые из-за нарушений правил клинической практики в исследовательских центрах.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Адаптировано по: Servier Medical Art (CC BY 4.0).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почечного исхода ниже на 18% по сравнению с плацебо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5674 пациента в анализе (5734 рандомизированы), ХБП и сахарный диабет 2 типа, преимущественно с выраженной альбуминурией (АКО 300 мг/г и больше).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 40% и больше,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175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 18% по сравнению с плацебо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73500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81500"/>
            <a:ext cx="4124325" cy="889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интервал; ХБП: хроническая болезнь почек; АКО: отношение альбумина к креатинину мочи; p: вероятность получить такое различие случайно, если эффекта нет; меньше 0,05 считают значимым.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По данным: 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23" name="curve_ends_note"/>
          <p:cNvSpPr txBox="1"/>
          <p:nvPr/>
        </p:nvSpPr>
        <p:spPr>
          <a:xfrm>
            <a:off x="7594600" y="5334000"/>
            <a:ext cx="41275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График: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 48-му месяцу наблюдали меньшую часть пациентов, поэтому концы кривых выше 17,8% и 21,1%.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сердечно-сосудистого исхода ниже на 13% по сравнению с плацебо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7352 пациента в анализе (7437 рандомизированы). ХБП и сахарный диабет 2 типа: АКО 30–299 мг/г при рСКФ 25–90 или АКО 300–5000 мг/г при рСКФ 60 и выше.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1623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 13% по сравнению с плацебо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8481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30700"/>
            <a:ext cx="4124325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Разницу в основном дали госпитализации по поводу сердечной недостаточности (отношение рисков 0,71; 95% ДИ 0,56–0,90); снижение других компонентов не доказано.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4737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интервал; ХБП: хроническая болезнь почек; АКО: отношение альбумина к креатинину мочи; НГЛТ2: натрий-глюкозный котранспортёр 2 типа; p: вероятность получить такое различие случайно, если эффекта нет; меньше 0,05 считают значимым.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риск сердечно-сосудистых исходов ниже на 14%, почечных на 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09600"/>
            <a:ext cx="11277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 пациентов с хронической болезнью почек и сахарным диабетом 2 типа из FIDELIO-DKD и FIGARO-DKD.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 Заранее запланированный поисковый анализ.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Состав исхода: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слайд 20.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19324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0066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38941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678231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67823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565771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3498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3498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2373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0214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0214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29089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6930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6930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5805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3646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3646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2521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0066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5235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3978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5235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3978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4749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48418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0609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2895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57% и больше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 недель, 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19324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0066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38941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678231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67823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565771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3498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3498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2373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0214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0214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29089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6930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6930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5805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3646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3646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2521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0066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015909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159016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3646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5235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3978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5235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3978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4749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48418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0609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2895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5656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7785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с плацебо к 3 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2,2 процентного пункта (сердечно-сосудистый исход) и 1,7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 Гиперкалиемия по сообщениям исследователей. Поисковый анализ: результаты предварительные, их нужно подтвердить; значения p без поправки на множественные сравнения. p: вероятность получить такое различие случайно, если эффекта нет; меньше 0,05 считают значимым.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Agarwal R, et al. Eur Heart J. 2022;43:474–484 (CC BY-NC 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022600"/>
            <a:ext cx="4381500" cy="863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отношение изменений АКО с поправкой на исходный уровень,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(апостериорный анализ, 12 512 пациентов)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4851400"/>
            <a:ext cx="108966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суррогатная конечная точка на уровне групп (слайд 14);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 не отменяет контроль калия и рСКФ (слайды 32–34).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интервал; рСКФ: расчётная скорость клубочковой фильтрации. Апостериорный анализ: анализ, не запланированный заранее; выводы предварительные.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снижала АКО сильнее, чем финеренон или эмпаглифлозин отдельно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 180-му дню АКО ниже исходного на 52% (комбинация), 32% (финеренон), 29% (эмпаглифлозин); без плацебо; комбинация против каждого: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оценка по модели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Калий: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комбинация и финеренон повышали калий сходно (p=0,91). День 180: отмена, день 210: через 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калий выше 5,5 ммоль/л по анализам хотя бы раз: финеренон 18,8%, комбинация 15,1% (различие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АКО лабораторный показатель, он меняется раньше событий (диализ, инфаркт, смерть); за 180 дней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По данным: Agarwal R, et al. N Engl J Med. 2025;393:533–543, рис. 1.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6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Рекомендации ADA 2026: финеренон при ХБП с альбуминурией и диабете 2 типа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МКР (блокатор минералокортикоидного рецептора)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Финеренон-Орвилле показан взрослым с ХБП (с альбуминурией), связанной с сахарным диабетом 2 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ассоциация; МКР: минералокортикоидный рецептор. Уровень доказательств ADA: A: данные качественных рандомизированных исследований; B: менее строгие данные.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7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 не заменяет ингибитор НГЛТ2: препараты действуют по-разному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Разные структуры: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 xml:space="preserve"> ингибитор НГЛТ2 действует на переносчик глюкозы и натрия в канальцах, финеренон на минералокортикоидный рецептор. По KDIGO препараты добавляют друг к другу, данных о замене одного другим нет.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фоновой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 Пороги калия и рСКФ для начала лечения по инструкции: слайд 32.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ХБП: хроническая болезнь почек; KDIGO: Kidney Disease: Improving Global Outcomes, международные рекомендации по болезням почек.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Финеренон-Орвилле показан взрослым с ХБП (с альбуминурией), связанной с сахарным диабетом 2 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изучены у разных групп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нестероидный антагонист МКР: по строению не похож на гормоны, действует избирательно.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показано в исследованиях: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ниже риск почечных и сердечно-сосудистых событий по сравнению с плацебо у взрослых с ХБП и диабетом 2 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стероидный антагонист МКР: блокирует также рецепторы мужских половых гормонов.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показано в исследованиях: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ниже смертность по сравнению с плацебо при тяжёлой сердечной недостаточности с ФВ ЛЖ 35% и ниже (в показание финеренона не входит).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врач учитывает диагноз, инструкцию и данные исследований в этой группе пациентов. Разная избирательность действия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0F9ED5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ФВ ЛЖ: фракция выброса левого желудочка (доля крови, которую желудочек выталкивает за одно сокращение).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 Servier Medical Art, CC BY 4.0.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 заряд внутри просвета менее отрицательный и калий хуже выходит в мочу.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3911600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4673600"/>
            <a:ext cx="4038600" cy="1219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Гиперкалиемия: калий выше нормы. В исследованиях её считали при калии выше 5,5 ммоль/л; лечение не начинают при калии выше 5,0 (слайд 32).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 Финеренон-Орвилле. Инструкция по медицинскому применению.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Часть сочетаний с финереноном противопоказана, часть требует контроля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препараты; KDIGO: Kidney Disease: Improving Global Outcomes, международные рекомендации по болезням почек; CYP3A4: фермент печени, который перерабатывает финеренон (слайд 31).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76200" bIns="0" wrap="none"/>
          <a:lstStyle/>
          <a:p>
            <a:pPr algn="ctr"/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!</a:t>
            </a:r>
          </a:p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B8860B"/>
                </a:solidFill>
                <a:latin typeface="Arial Narrow"/>
                <a:cs typeface="Arial Narrow"/>
              </a:rPr>
              <a:t>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CYP3A4_фермент"/>
          <p:cNvSpPr/>
          <p:nvPr/>
        </p:nvSpPr>
        <p:spPr>
          <a:xfrm>
            <a:off x="4792915" y="1199441"/>
            <a:ext cx="2622235" cy="982787"/>
          </a:xfrm>
          <a:prstGeom prst="roundRect">
            <a:avLst>
              <a:gd name="adj" fmla="val 18091"/>
            </a:avLst>
          </a:prstGeom>
          <a:solidFill>
            <a:srgbClr val="E8E8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Карточка_Strong_heading"/>
          <p:cNvSpPr/>
          <p:nvPr/>
        </p:nvSpPr>
        <p:spPr>
          <a:xfrm>
            <a:off x="45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Карточка_Moderate_weak_heading"/>
          <p:cNvSpPr/>
          <p:nvPr/>
        </p:nvSpPr>
        <p:spPr>
          <a:xfrm>
            <a:off x="426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6" name="Карточка_Inducer_heading"/>
          <p:cNvSpPr/>
          <p:nvPr/>
        </p:nvSpPr>
        <p:spPr>
          <a:xfrm>
            <a:off x="807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7" name="Enzyme_label"/>
          <p:cNvSpPr txBox="1"/>
          <p:nvPr/>
        </p:nvSpPr>
        <p:spPr>
          <a:xfrm>
            <a:off x="4873752" y="13705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7454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Фермент, который расщепляет финеренон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3340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562608"/>
            <a:ext cx="1801368" cy="0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407160"/>
            <a:ext cx="0" cy="310896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827783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расщепляется медленнее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239264"/>
            <a:ext cx="210312" cy="329184"/>
          </a:xfrm>
          <a:prstGeom prst="upArrow">
            <a:avLst/>
          </a:prstGeom>
          <a:solidFill>
            <a:srgbClr val="B5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2484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6781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3340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562608"/>
            <a:ext cx="822961" cy="0"/>
          </a:xfrm>
          <a:prstGeom prst="line">
            <a:avLst/>
          </a:prstGeom>
          <a:ln w="2730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827783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расщепляется быстрее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239264"/>
            <a:ext cx="210312" cy="329184"/>
          </a:xfrm>
          <a:prstGeom prst="down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2484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6781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7147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2575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8519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5593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2268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Расщепляется в печени и стенке кишечника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60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1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241800"/>
            <a:ext cx="3352800" cy="687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609600" y="4902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19600" y="4902200"/>
            <a:ext cx="3352800" cy="2737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E9713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19600" y="5232400"/>
            <a:ext cx="3352800" cy="7979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при необходимости дополнительно контролирует калий (по инструкции).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156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457200" y="6248400"/>
            <a:ext cx="10795000" cy="2286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 на время лечения (не противопоказание):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502400"/>
            <a:ext cx="10795000" cy="2794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Плашка_Strong_heading"/>
          <p:cNvSpPr/>
          <p:nvPr/>
        </p:nvSpPr>
        <p:spPr>
          <a:xfrm>
            <a:off x="45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</p:txBody>
      </p:sp>
      <p:sp>
        <p:nvSpPr>
          <p:cNvPr id="63" name="Плашка_Moderate_weak_heading"/>
          <p:cNvSpPr/>
          <p:nvPr/>
        </p:nvSpPr>
        <p:spPr>
          <a:xfrm>
            <a:off x="426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</p:txBody>
      </p:sp>
      <p:sp>
        <p:nvSpPr>
          <p:cNvPr id="65" name="Плашка_Inducer_heading"/>
          <p:cNvSpPr/>
          <p:nvPr/>
        </p:nvSpPr>
        <p:spPr>
          <a:xfrm>
            <a:off x="807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 взрослые с хронической болезнью почек (с альбуминурией),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25–59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аллергия на компоненты препарата (гиперчувствительность), болезнь Аддисона (недостаточность надпочечников),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Далее периодически¹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периодически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Инструкция: периодически, с учётом калия и особенностей пациента. KDIGO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режим контроля калия тот же. В CONFIDENCE за 180 дней комбинация значимо не снижала долю пациентов с калием выше 5,5 ммоль/л (15,1% при комбинации, 18,8% при финереноне).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 месяца: KDIGO 2022 (рекомендации по диабету при хронической болезни почек).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Шаг_36"/>
          <p:cNvSpPr/>
          <p:nvPr/>
        </p:nvSpPr>
        <p:spPr>
          <a:xfrm>
            <a:off x="45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Шаг_336"/>
          <p:cNvSpPr/>
          <p:nvPr/>
        </p:nvSpPr>
        <p:spPr>
          <a:xfrm>
            <a:off x="426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Срочно_рамка"/>
          <p:cNvSpPr/>
          <p:nvPr/>
        </p:nvSpPr>
        <p:spPr>
          <a:xfrm>
            <a:off x="8077200" y="40386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FFFFF"/>
          </a:solidFill>
          <a:ln w="19050">
            <a:solidFill>
              <a:srgbClr val="B5323C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на лечении,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165600"/>
            <a:ext cx="3352800" cy="1129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 xml:space="preserve"> при калии 6,0 ммоль/л и выше¹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9370"/>
            <a:ext cx="10795000" cy="39243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32" name="Стрелка_шаг"/>
          <p:cNvSpPr/>
          <p:nvPr/>
        </p:nvSpPr>
        <p:spPr>
          <a:xfrm>
            <a:off x="3987800" y="45523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Самая частая нежелательная реакция финеренона: гиперкалиемия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(с альбуминурией), связанной с сахарным диабетом 2 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13 026 пациентов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3,0 года.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Класс C по Чайлд–Пью: лечение не начинают. Класс B: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Кормить грудью не рекомендуют: врач решает, прекратить кормление или лечение.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любом нежелательном явлении на фоне препарата, о беременности или кормлении грудью, передозировке, ошибке применения, применении вне показаний и отсутствии эффекта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У первого условного пациента данных для начала лечения достаточно, у второго нет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20180"/>
            <a:ext cx="10795000" cy="2616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 (KDIGO)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один раз, при инфекции)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 ≥25 мл/мин/1,73 м² (инструкция)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(инструкция)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 (KDIGO)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рСКФ 48 начальная доза по инструкции 10 мг один раз в сутки.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один раз, во время инфекции.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повторяет АКО после лечения инфекции, определяет калий, уточняет лекарства.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При калии выше 5,5 ммоль/л финеренон временно отменяют и возобновляют с 10 мг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взрослый с ХБП (с альбуминурией), связанной с сахарным диабетом 2 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при калии 6,0 ммоль/л и выше¹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663700"/>
            <a:ext cx="8382000" cy="609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 xml:space="preserve"> Взрослый с ХБП, связанной с сахарным диабетом 2 типа: сахар крови и давление в 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400300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Для обсуждения финеренона врач проверяет альбуминурию, рСКФ, калий и текущую терапию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сахар крови и давление в целевом диапазоне,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30 мг/г и выше в повторных анализах не менее 3 месяцев, временные причины (инфекция)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 (KDIGO 2024);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сравнению с плацебо риск комбинированного почечного исхода ниже на 18% (FIDELIO-DKD, слайд 21), сердечно-сосудистого на 13% (FIGARO-DKD, слайд 22).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(по сообщениям исследователей):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 из-за неё: 1,7% и 0,6% (FIDELITY, медиана наблюдения 3,0 года).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почек; KDIGO: Kidney Disease: Improving Global Outcomes, международные рекомендации по болезням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при альбуминурии риск осложнений выше, чем без неё при той же рСКФ (слайд 13).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калии выше 5,5 ммоль/л инструкция предусматривает временную отмену финеренона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378200"/>
            <a:ext cx="7112000" cy="48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гиперкалиемии, % пациентов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наблюдения: FIDELIO-DKD 2,6 года, FIGARO-DKD 3,4 года, FIDELITY 3,0 года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388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 нет, сначала временная отмена. Окончательно отменили 1,7% на финереноне и 0,6% на плацебо (FIDELITY).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Алгоритм по инструкции; порог 6,0 ммоль/л по UK Kidney Association, 2023. Решение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27750"/>
            <a:ext cx="10795000" cy="6540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Порог 6,0 ммоль/л: UK Kidney Association, 2023 (не из инструкции).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10 мг можно повысить до 20 мг, если рСКФ снизилась не более чем на 30% от предыдущей;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 ≤4,8, рСКФ снизилась не более чем на 30% от предыдущей: можно повысить до 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6,0 ммоль/л и выше¹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«АКО у пациента снизилось. Значит, риск диализа ниже?»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по инструкции при рСКФ 48 и при рСКФ 72 мл/мин/1,73 м²?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4,8 ммоль/л и ниже?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Представитель объясняет врачу данные инструкции, остальные вопросы передаёт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фильтрации; EMA: Европейское агентство по лекарственным средствам.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взрослые с ХБП (с альбуминурией), связанной с сахарным диабетом 2 типа. В исследованиях у всех была альбуминурия (АКО 30 мг/г и выше).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калий, рСКФ, противопоказания (слайд 32), текущие лекарства (слайд 33).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риск почечного исхода ниже на 18% (17,8% против 21,1%, FIDELIO-DKD), сердечно-сосудистого ниже на 13% (12,4% против 14,2%, FIGARO-DKD); относительное снижение.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сообщениям исследователей у 14,0% пациентов на финереноне и у 6,9% на плацебо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3327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317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сильные ингибиторы CYP3A4 противопоказаны; другие антагонисты МКР, калийсберегающие диуретики, сильные и умеренные индукторы CYP3A4 и грейпфрут не рекомендуются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выше 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временная отмена; при калии 5,0 и ниже врач может возобновить лечение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5029200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пределах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Плитка_1"/>
          <p:cNvSpPr/>
          <p:nvPr/>
        </p:nvSpPr>
        <p:spPr>
          <a:xfrm>
            <a:off x="457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итка_2"/>
          <p:cNvSpPr/>
          <p:nvPr/>
        </p:nvSpPr>
        <p:spPr>
          <a:xfrm>
            <a:off x="3314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литка_3"/>
          <p:cNvSpPr/>
          <p:nvPr/>
        </p:nvSpPr>
        <p:spPr>
          <a:xfrm>
            <a:off x="6172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Плитка_4"/>
          <p:cNvSpPr/>
          <p:nvPr/>
        </p:nvSpPr>
        <p:spPr>
          <a:xfrm>
            <a:off x="9029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38862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4368800"/>
            <a:ext cx="11277600" cy="140848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4495800"/>
            <a:ext cx="10820400" cy="1154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9" name="Содержание_заголовок"/>
          <p:cNvSpPr txBox="1"/>
          <p:nvPr/>
        </p:nvSpPr>
        <p:spPr>
          <a:xfrm>
            <a:off x="457200" y="1016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</p:txBody>
      </p:sp>
      <p:pic>
        <p:nvPicPr>
          <p:cNvPr id="11" name="Плитка_рисунок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4800"/>
            <a:ext cx="561838" cy="736600"/>
          </a:xfrm>
          <a:prstGeom prst="rect">
            <a:avLst/>
          </a:prstGeom>
        </p:spPr>
      </p:pic>
      <p:sp>
        <p:nvSpPr>
          <p:cNvPr id="12" name="Плитка_название_1"/>
          <p:cNvSpPr txBox="1"/>
          <p:nvPr/>
        </p:nvSpPr>
        <p:spPr>
          <a:xfrm>
            <a:off x="12984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II фаза</a:t>
            </a:r>
          </a:p>
        </p:txBody>
      </p:sp>
      <p:sp>
        <p:nvSpPr>
          <p:cNvPr id="13" name="Плитка_текст_1"/>
          <p:cNvSpPr txBox="1"/>
          <p:nvPr/>
        </p:nvSpPr>
        <p:spPr>
          <a:xfrm>
            <a:off x="609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частоте повышения калия при сердечной недостаточности (слайд 44)</a:t>
            </a:r>
          </a:p>
        </p:txBody>
      </p:sp>
      <p:pic>
        <p:nvPicPr>
          <p:cNvPr id="15" name="Плитка_рисунок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100" y="1574800"/>
            <a:ext cx="484755" cy="736600"/>
          </a:xfrm>
          <a:prstGeom prst="rect">
            <a:avLst/>
          </a:prstGeom>
        </p:spPr>
      </p:pic>
      <p:sp>
        <p:nvSpPr>
          <p:cNvPr id="16" name="Плитка_название_2"/>
          <p:cNvSpPr txBox="1"/>
          <p:nvPr/>
        </p:nvSpPr>
        <p:spPr>
          <a:xfrm>
            <a:off x="4078854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17" name="Плитка_текст_2"/>
          <p:cNvSpPr txBox="1"/>
          <p:nvPr/>
        </p:nvSpPr>
        <p:spPr>
          <a:xfrm>
            <a:off x="3467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(слайд 45)</a:t>
            </a:r>
          </a:p>
        </p:txBody>
      </p:sp>
      <p:pic>
        <p:nvPicPr>
          <p:cNvPr id="19" name="Плитка_рисунок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74800"/>
            <a:ext cx="484755" cy="736600"/>
          </a:xfrm>
          <a:prstGeom prst="rect">
            <a:avLst/>
          </a:prstGeom>
        </p:spPr>
      </p:pic>
      <p:sp>
        <p:nvSpPr>
          <p:cNvPr id="20" name="Плитка_название_3"/>
          <p:cNvSpPr txBox="1"/>
          <p:nvPr/>
        </p:nvSpPr>
        <p:spPr>
          <a:xfrm>
            <a:off x="6936355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21" name="Плитка_текст_3"/>
          <p:cNvSpPr txBox="1"/>
          <p:nvPr/>
        </p:nvSpPr>
        <p:spPr>
          <a:xfrm>
            <a:off x="6324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типа: что одобрено в США (слайды 46 и 47)</a:t>
            </a:r>
          </a:p>
        </p:txBody>
      </p:sp>
      <p:pic>
        <p:nvPicPr>
          <p:cNvPr id="23" name="Плитка_рисунок_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1574800"/>
            <a:ext cx="561838" cy="736600"/>
          </a:xfrm>
          <a:prstGeom prst="rect">
            <a:avLst/>
          </a:prstGeom>
        </p:spPr>
      </p:pic>
      <p:sp>
        <p:nvSpPr>
          <p:cNvPr id="24" name="Плитка_название_4"/>
          <p:cNvSpPr txBox="1"/>
          <p:nvPr/>
        </p:nvSpPr>
        <p:spPr>
          <a:xfrm>
            <a:off x="98709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25" name="Плитка_текст_4"/>
          <p:cNvSpPr txBox="1"/>
          <p:nvPr/>
        </p:nvSpPr>
        <p:spPr>
          <a:xfrm>
            <a:off x="9182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ФВ ЛЖ 40% и выше (слайд 48)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ФВ ЛЖ: фракция выброса левого желудочка.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Адаптировано по: Servier Medical Art, CC BY 4.0.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394200"/>
            <a:ext cx="6858000" cy="1409700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ARTS: за 4 недели повышение калия у 5,3% на финереноне и у 12,7% на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470400"/>
            <a:ext cx="6502400" cy="1270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за 4 недели повышение калия на финереноне отмечали реже, чем на спиронолактоне; долгосрочную безопасность и клинические исходы ARTS не оценивал.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 ARTS на плацебо гиперкалиемия была у 1,5% (на финереноне 5,3%; различие статистически незначимо, p=0,32);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 392 пациента с сердечной недостаточностью и ФВ ЛЖ 40% и ниже, рСКФ 30–60 мл/мин/1,73 м²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ФВ ЛЖ: фракция выброса левого желудочка;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рСКФ на финереноне снижалась медленнее, чем на плацебо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рСКФ 25–89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+1,2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−0,5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92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16,9%; отношение рисков 0,77 (95% ДИ 0,60–0,99), p=0,04. Отдельно почечные события: отношение рисков 0,78 (95% ДИ 0,60–1,01); сердечно-сосудистые: 0,60 (95% ДИ 0,27–1,33); различия статистически незначимы.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69215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устойчивое снижение рСКФ на 57% и более,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гиперкалиемия у 17,0% на финереноне и у 13,3% на плацебо; окончательная отмена из-за неё у 1,5% и у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cxnSp>
        <p:nvCxnSpPr>
          <p:cNvPr id="308" name="early_dip_pointer"/>
          <p:cNvCxnSpPr/>
          <p:nvPr/>
        </p:nvCxnSpPr>
        <p:spPr>
          <a:xfrm flipV="1">
            <a:off x="2095500" y="2641600"/>
            <a:ext cx="0" cy="736600"/>
          </a:xfrm>
          <a:prstGeom prst="line">
            <a:avLst/>
          </a:prstGeom>
          <a:ln w="9525">
            <a:solidFill>
              <a:srgbClr val="7030A0"/>
            </a:solidFill>
            <a:tailEnd type="triangle" w="med" len="med"/>
          </a:ln>
        </p:spPr>
      </p:cxnSp>
      <p:sp>
        <p:nvSpPr>
          <p:cNvPr id="309" name="early_dip_caption"/>
          <p:cNvSpPr txBox="1"/>
          <p:nvPr/>
        </p:nvSpPr>
        <p:spPr>
          <a:xfrm>
            <a:off x="1803400" y="34036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Первые месяцы: небольшое снижение рСКФ на финереноне (раннее снижение); после отмены оно частично обратимо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1981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242 взрослых с хронической болезнью почек и диабетом 1 типа; рСКФ 25–89 мл/мин/1,73 м², АКО от 200 до менее 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004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снижение альбуминурии от исходного уровня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за 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562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108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692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(1 − 0,34) / (1 − 0,12) = 0,66 / 0,88 = 0,75; 34% и 12% друг из друга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054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суррогатная конечная точка (показатель, который меняется раньше клинических событий, но сам не событие для пациента);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 у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10,1% на финереноне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и у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3,3% на плацебо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; окончательная отмена из-за неё у 1,7% и у 0%.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8420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16.09.2026 в США одобрено снижение АКО у взрослых с ХБП и диабетом 1 типа (слайд 47).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 Дата одобрения в США: по сообщению Bayer и изданий, 16.09.2026.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В США одобрено показание при диабете 1 типа; в местной инструкции его нет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 Дата одобрения в США: по сообщению Bayer и изданий, 16.09.2026.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финеренон (оригинальный препарат, США).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 16% по сравнению с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6001 пациент с сердечной недостаточностью с симптомами и ФВ ЛЖ 40% и выше,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762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по сравнению с плацебо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84600"/>
            <a:ext cx="39624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сердечно-сосудистая смерть отдельно: 8,1% на финереноне и 8,7% на плацебо, отношение рисков 0,93 (95% ДИ 0,78–1,11); различие статистически незначимо, эффект не доказан.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первые и повторные незапланированные госпитализации или срочные визиты по поводу сердечной недостаточности и сердечно-сосудистая смерть. Отношение частот считают по всем событиям, включая повторные, на единицу времени наблюдения.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оригинальный препарат финеренона зарегистрирован при этой форме сердечной недостаточности независимо от диабета: в США (FDA, июль 2025), в Евросоюзе (Европейская комиссия, 26.03.2026) и в Великобритании (MHRA, апрель 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ФВ ЛЖ: фракция выброса левого желудочка; FDA: Управление по контролю качества пищевых продуктов и лекарственных средств США; MHRA: Агентство по регулированию лекарственных средств и медицинских изделий Великобритании.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7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Связка: слайд 46 дал данные FINE-ONE, здесь решение регулятора США. Главная мысль: 16.09.2026 FDA одобрило финеренон для снижения АКО у взрослых с ХБП и диабетом 1 типа; ожидается, что это снизит риск устойчивого снижения рСКФ и терминальной почечной недостаточности (нужны диализ или пересадка почки). Основание: FINE-ONE (АКО ниже на 25% по сравнению с плацебо) и данные исследований при диабете 2 типа. Граница: клинические исходы в FINE-ONE не оценивали; решение другой страны местное показание не расширяет; на зарубежные инструкции представитель не ссылается. Вопрос группе: врач говорит, что финеренон одобрен при диабете 1 типа, можно ли обсудить? Ответ: нет, вопрос уходит в медицинский отдел. Дата проверки 25.09.2026; письмо FDA сверить вручную.</a:t>
            </a:r>
          </a:p>
          <a:p xmlns:a="http://schemas.openxmlformats.org/drawingml/2006/main">
            <a:r>
              <a:t>Пояснение: терминальная почечная недостаточность: стадия, когда нужны диализ или пересадка почки. Суррогатная конечная точка: показатель, который меняется раньше клинических событий, но сам не событие для пациента. Дата одобрения и формулировка показания подтверждены по сообщениям Bayer и медицинских изданий; номер дополнения к заявке (NDA 215341) не подтверждён.</a:t>
            </a:r>
          </a:p>
          <a:p xmlns:a="http://schemas.openxmlformats.org/drawingml/2006/main">
            <a:r>
              <a:t>Источники заметок: письмо FDA об одобрении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Для понимания. В разговоре с врачом не используется.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