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notesSlides/notesSlide2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265" r:id="rIdReviewed10"/>
    <p:sldId id="266" r:id="rIdReviewed11"/>
    <p:sldId id="267" r:id="rIdReviewed12"/>
    <p:sldId id="268" r:id="rIdReviewed13"/>
    <p:sldId id="269" r:id="rIdReviewed14"/>
    <p:sldId id="260" r:id="rIdReviewed5"/>
    <p:sldId id="261" r:id="rIdReviewed6"/>
    <p:sldId id="262" r:id="rIdReviewed7"/>
    <p:sldId id="263" r:id="rIdReviewed8"/>
    <p:sldId id="264" r:id="rIdReviewed9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1" r:id="rIdReviewed36"/>
    <p:sldId id="297" r:id="rId83"/>
    <p:sldId id="298" r:id="rId84"/>
    <p:sldId id="299" r:id="rId85"/>
    <p:sldId id="300" r:id="rId86"/>
    <p:sldId id="301" r:id="rId87"/>
    <p:sldId id="282" r:id="rIdReviewed27"/>
    <p:sldId id="292" r:id="rIdReviewed37"/>
    <p:sldId id="293" r:id="rIdReviewed38"/>
    <p:sldId id="295" r:id="rIdT1D1"/>
    <p:sldId id="296" r:id="rIdT1D2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10.xml"/><Relationship Id="rIdReviewed11" Type="http://schemas.openxmlformats.org/officeDocument/2006/relationships/slide" Target="slides/slide11.xml"/><Relationship Id="rIdReviewed12" Type="http://schemas.openxmlformats.org/officeDocument/2006/relationships/slide" Target="slides/slide12.xml"/><Relationship Id="rIdReviewed13" Type="http://schemas.openxmlformats.org/officeDocument/2006/relationships/slide" Target="slides/slide13.xml"/><Relationship Id="rIdReviewed14" Type="http://schemas.openxmlformats.org/officeDocument/2006/relationships/slide" Target="slides/slide14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27.xml"/><Relationship Id="rIdReviewed28" Type="http://schemas.openxmlformats.org/officeDocument/2006/relationships/slide" Target="slides/slide28.xml"/><Relationship Id="rIdReviewed29" Type="http://schemas.openxmlformats.org/officeDocument/2006/relationships/slide" Target="slides/slide29.xml"/><Relationship Id="rIdReviewed3" Type="http://schemas.openxmlformats.org/officeDocument/2006/relationships/slide" Target="slides/slide3.xml"/><Relationship Id="rIdReviewed30" Type="http://schemas.openxmlformats.org/officeDocument/2006/relationships/slide" Target="slides/slide30.xml"/><Relationship Id="rIdReviewed31" Type="http://schemas.openxmlformats.org/officeDocument/2006/relationships/slide" Target="slides/slide31.xml"/><Relationship Id="rIdReviewed32" Type="http://schemas.openxmlformats.org/officeDocument/2006/relationships/slide" Target="slides/slide32.xml"/><Relationship Id="rIdReviewed33" Type="http://schemas.openxmlformats.org/officeDocument/2006/relationships/slide" Target="slides/slide33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37.xml"/><Relationship Id="rIdReviewed38" Type="http://schemas.openxmlformats.org/officeDocument/2006/relationships/slide" Target="slides/slide38.xml"/><Relationship Id="rIdReviewed39" Type="http://schemas.openxmlformats.org/officeDocument/2006/relationships/slide" Target="slides/slide41.xml"/><Relationship Id="rIdReviewed4" Type="http://schemas.openxmlformats.org/officeDocument/2006/relationships/slide" Target="slides/slide4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5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6.xml"/><Relationship Id="rIdReviewed7" Type="http://schemas.openxmlformats.org/officeDocument/2006/relationships/slide" Target="slides/slide7.xml"/><Relationship Id="rIdReviewed8" Type="http://schemas.openxmlformats.org/officeDocument/2006/relationships/slide" Target="slides/slide8.xml"/><Relationship Id="rIdReviewed9" Type="http://schemas.openxmlformats.org/officeDocument/2006/relationships/slide" Target="slides/slide9.xml"/><Relationship Id="rIdT1D1" Type="http://schemas.openxmlformats.org/officeDocument/2006/relationships/slide" Target="slides/slide39.xml"/><Relationship Id="rIdT1D2" Type="http://schemas.openxmlformats.org/officeDocument/2006/relationships/slide" Target="slides/slide40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42.xml"/><Relationship Id="rId84" Type="http://schemas.openxmlformats.org/officeDocument/2006/relationships/slide" Target="slides/slide43.xml"/><Relationship Id="rId85" Type="http://schemas.openxmlformats.org/officeDocument/2006/relationships/slide" Target="slides/slide44.xml"/><Relationship Id="rId86" Type="http://schemas.openxmlformats.org/officeDocument/2006/relationships/slide" Target="slides/slide45.xml"/><Relationship Id="rId87" Type="http://schemas.openxmlformats.org/officeDocument/2006/relationships/slide" Target="slides/slide46.xml"/><Relationship Id="rId88" Type="http://schemas.openxmlformats.org/officeDocument/2006/relationships/slide" Target="slides/slide4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1F4E79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A9C4CC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1F4E79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16324F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16324F"/>
                </a:solidFill>
                <a:latin typeface="Arial Narrow"/>
                <a:ea typeface="Calibri"/>
                <a:cs typeface="Calibri"/>
              </a:rPr>
              <a:t>Пациенты со снижением АКО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5C87C3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5C87C3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C7543B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5C87C3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C7543B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598BC5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CE573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18355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A6A6A6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8–10 (анализы и прогноз), 13 (остаточный риск), 19–21 (FIDELIO-DKD, FIGARO-DKD, FIDELITY), 30 (перед началом), 34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Разбор: на следующем слайде вопрос 1, затем вопрос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Сроки по UK Kidney Association (2023): калий 6,0–6,4 ммоль/л при неожиданном повышении у стабильного амбулаторного пациента повторяют в течение 24 часов; при остром повреждении почек или ухудшении состояния нужны обследование и лечение в стационаре. Калий ≥6,5 ммоль/л: немедленная помощь в стационаре.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Дополнительные исходы FIDELITY: смерть и госпитализация по любой причине, изменение АКО к 4-му месяцу.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Ключевой вторичный (сердечно-сосудистый) исход: 13,0% против 14,8%,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9,5% против 10,8%, отношение рисков 0,87 (95% ДИ 0,76–1,01), статистически значимых различий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Ингибиторы НГЛТ2 исходно получали 6,7% пациентов.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5, 8, 9.</a:t>
            </a:r>
          </a:p>
          <a:p>
            <a:r>
              <a:t>2. При рСКФ 48 начальная доза 10 мг, при рСКФ 72 20 мг один раз в сутки; при рСКФ &lt;25 лечение не начинают. Слайды 30, 34.</a:t>
            </a:r>
          </a:p>
          <a:p>
            <a:r>
              <a:t>3. Если рСКФ снизилась более чем на 30% от предыдущего измерения. Слайд 32.</a:t>
            </a:r>
          </a:p>
          <a:p>
            <a:r>
              <a:t>4. FIDELIO-DKD: комбинированный почечный исход (ОР 0,82); FIGARO-DKD: комбинированный сердечно-сосудистый исход (ОР 0,87, в основном за счёт госпитализаций по поводу сердечной недостаточности). Слайды 18–20.</a:t>
            </a:r>
          </a:p>
          <a:p>
            <a:r>
              <a:t>5. Нет. Снижение АКО: суррогатный маркер на уровне групп; влияние на исходы показано в FIDELIO-DKD и FIGARO-DKD. Слайды 22, 23.</a:t>
            </a:r>
          </a:p>
          <a:p>
            <a:r>
              <a:t>6. Автоматически заменять нельзя: назначение финеренона само по себе не требует отмены ингибитора НГЛТ2. Слайд 25.</a:t>
            </a:r>
          </a:p>
          <a:p>
            <a:r>
              <a:t>7. Не рекомендуется: другие антагонисты МКР (спиронолактон, эплеренон), калийсберегающие диуретики (амилорид, триамтерен), сильные и умеренные индукторы CYP3A4; противопоказаны сильные ингибиторы CYP3A4. С контролем калия: препараты калия и заменители соли, триметоприм (ко-тримоксазол), НПВП, умеренные и слабые ингибиторы CYP3A4. Слайды 28, 29.</a:t>
            </a:r>
          </a:p>
          <a:p>
            <a:r>
              <a:t>8. Эти показания не указаны в местной инструкции: представитель их не обсуждает и передаёт вопрос в медицинский отдел. Приложение.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27 (механизм), 31 (контроль), 32 (коррекция дозы), 35 (случай), 19–21 (частота окончательной отмены).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Одобрение при сердечной недостаточности не требует наличия сахарного диабета. США: FDA 11.07.2025,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Европейская комиссия, C(2026)2188 от 26.03.2026, симптомная хроническая сердечная недостаточность с фракцией выброса левого желудочка ≥40% у взрослых. Это дата решения, а не дата пресс-релиза 30.03.2026. В опубликованной инструкции Финеренон-Орвилле данное показание не указано. Дата проверки 24.09.2026.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5989BB"/>
              </a:solidFill>
              <a:ln>
                <a:noFill/>
              </a:ln>
            </c:spPr>
          </c:dPt>
          <c:dPt>
            <c:idx val="1"/>
            <c:spPr>
              <a:solidFill>
                <a:srgbClr val="7957A1"/>
              </a:solidFill>
              <a:ln>
                <a:noFill/>
              </a:ln>
            </c:spPr>
          </c:dPt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193951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115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273C4A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/Relationships>
</file>

<file path=ppt/slides/_rels/slide33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39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/Relationships>
</file>

<file path=ppt/slides/_rels/slide40.xml.rels><?xml version='1.0' encoding='UTF-8' standalone='yes'?>
<Relationships xmlns="http://schemas.openxmlformats.org/package/2006/relationships"><Relationship Id="R0032103bd1e44bb2" Type="http://schemas.openxmlformats.org/officeDocument/2006/relationships/notesSlide" Target="../t1d_approval/notesSlides/notesSlide2.xml"/><Relationship Id="R01545398bbe44f77" Type="http://schemas.openxmlformats.org/officeDocument/2006/relationships/hyperlink" Target="https://orvilleservices.com/instructions/Finerenon_Instruction_ru.pdf" TargetMode="External"/><Relationship Id="R290cfdcdb716453a" Type="http://schemas.openxmlformats.org/officeDocument/2006/relationships/image" Target="../t1d_approval/media/image2.png"/><Relationship Id="R985443ce4be24b2f" Type="http://schemas.openxmlformats.org/officeDocument/2006/relationships/slideLayout" Target="../t1d_approval/slideLayouts/slideLayout1.xml"/><Relationship Id="Rbcab1758281a4745" Type="http://schemas.openxmlformats.org/officeDocument/2006/relationships/hyperlink" Target="https://www.accessdata.fda.gov/drugsatfda_docs/label/2026/215341s011lbl.pdf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 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04775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Кому подходит препарат и как он действует.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польза подтверждена исследованиями.</a:t>
            </a:r>
            <a:br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контролировать калий и функцию почек.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  <a:br/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Finerenone, CID 60150535.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2895600" y="46863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8" name="Рамка_группа_3"/>
          <p:cNvSpPr/>
          <p:nvPr/>
        </p:nvSpPr>
        <p:spPr>
          <a:xfrm>
            <a:off x="2895600" y="34290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7" name="Рамка_группа_2"/>
          <p:cNvSpPr/>
          <p:nvPr/>
        </p:nvSpPr>
        <p:spPr>
          <a:xfrm>
            <a:off x="2895600" y="21717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346" name="Рамка_группа_1"/>
          <p:cNvSpPr/>
          <p:nvPr/>
        </p:nvSpPr>
        <p:spPr>
          <a:xfrm>
            <a:off x="2895600" y="914400"/>
            <a:ext cx="89408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при сахарном диабете 2 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969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1778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1176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2971800" y="9525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452327" y="996820"/>
            <a:ext cx="8284546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2984500" y="12319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Подавляют АПФ или блокируют рецептор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ангиотензина II типа 1. Расширяют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выносящую артериолу, давление в клубочке ниже.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6985000" y="12319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2984500" y="18873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лозартан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IDNT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ирбесартан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2971800" y="2209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390900" y="22098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 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2984500" y="24892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Блокируют НГЛТ2 проксимального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канальца. Снижают возврат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6985000" y="24892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Снижают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2984500" y="31446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DAPA-CKD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EMPA-KIDNEY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  <a:r>
              <a:rPr sz="14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971800" y="34671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390900" y="34671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МКР: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2984500" y="37465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Блокирует минералокортикоидный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рецептор (МКР) в почках,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сердце и сосудах.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6985000" y="37465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2984500" y="44019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FIDELIO-DKD, FIGARO-DKD и их объединённый анализ FIDELITY. На фоне ингибитора АПФ или БРА.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2971800" y="4724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390900" y="4724400"/>
            <a:ext cx="84074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2984500" y="5003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Активируют рецептор ГПП-1.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Улучшают контроль глюкозы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6985000" y="5003800"/>
            <a:ext cx="48514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2984500" y="5659222"/>
            <a:ext cx="8839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(семаглутид). Первичный комбинированный исход†.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2540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60198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Давление и гликемию контролируют у всех пациентов. Препараты выбирают по рСКФ, альбуминурии и калию.</a:t>
            </a:r>
            <a:r>
              <a:rPr sz="16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2032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4318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0795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9652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7399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2540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2768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30226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2540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2768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30226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3448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3676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3930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3448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3676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3930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4356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4584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4838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4356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4584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4838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5264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5492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5746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5264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5492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5746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6172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6400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6654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6172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6400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6654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7080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7308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7562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7080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7308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7562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7988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8216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8470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7988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8216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8470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8896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9124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9378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8896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9124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9378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9804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0033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0287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9804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0033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0287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0712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0941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1195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0712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0941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1195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1620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1849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2103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1620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1849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2103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2528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2757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3011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2528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2757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3011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3436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3665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3919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3436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3665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3919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4344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4573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4827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4344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4573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4827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5252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5481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5735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5252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/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5481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5735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/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643947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/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2286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4699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/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6764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4572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3622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2606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ингибитора НГЛТ2 обычно обратимо; выраженное снижение требует оценки врача. † FLOW: почечная недостаточность, устойчивое снижение рСКФ на 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838200" y="1028700"/>
            <a:ext cx="10515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838200" y="1562100"/>
            <a:ext cx="10515600" cy="781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CREDENCE: 4401 пациент с диабетом 2 типа, хронической болезнью почек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выраженной альбуминурией. Все получали ингибитор АПФ или БРА.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800350"/>
            <a:ext cx="35052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257550"/>
            <a:ext cx="3505200" cy="6000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доверительный интервал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0,59–0,82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4029075"/>
            <a:ext cx="3505200" cy="819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Медиана наблюдения 2,62 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Доли рассчитаны за весь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период исследования.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5057775"/>
            <a:ext cx="35052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в этом исследовании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изучался.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838200" y="580072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 терминальная почечная недостаточность, удвоение креатинина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почечной либо сердечно-сосудистой причины.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Доли рассчитаны по опубликованному числу участников с событием.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</a:t>
            </a:r>
          </a:p>
        </p:txBody>
      </p:sp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 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746504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 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Насколько хорошо почки фильтруют?</a:t>
            </a:r>
          </a:p>
        </p:txBody>
      </p:sp>
      <p:cxnSp>
        <p:nvCxnSpPr>
          <p:cNvPr id="32" name="Separate_tests"/>
          <p:cNvCxnSpPr/>
          <p:nvPr/>
        </p:nvCxnSpPr>
        <p:spPr>
          <a:xfrm>
            <a:off x="548640" y="4014215"/>
            <a:ext cx="6702552" cy="0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8104E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C8104E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Нет ли повышенной потери альбумина?</a:t>
            </a:r>
          </a:p>
        </p:txBody>
      </p:sp>
      <p:cxnSp>
        <p:nvCxnSpPr>
          <p:cNvPr id="64" name="Interpretation_separator"/>
          <p:cNvCxnSpPr/>
          <p:nvPr/>
        </p:nvCxnSpPr>
        <p:spPr>
          <a:xfrm>
            <a:off x="7635240" y="1225296"/>
            <a:ext cx="0" cy="4946904"/>
          </a:xfrm>
          <a:prstGeom prst="line">
            <a:avLst/>
          </a:prstGeom>
          <a:ln w="10160">
            <a:solidFill>
              <a:srgbClr val="D7E0E5"/>
            </a:solidFill>
          </a:ln>
          <a:effectLst/>
        </p:spPr>
      </p:cxnSp>
      <p:sp>
        <p:nvSpPr>
          <p:cNvPr id="65" name="Clinical_question"/>
          <p:cNvSpPr txBox="1"/>
          <p:nvPr/>
        </p:nvSpPr>
        <p:spPr>
          <a:xfrm>
            <a:off x="7972425" y="1295400"/>
            <a:ext cx="3524250" cy="73342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Фильтрация сохранна.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2425" y="2247900"/>
            <a:ext cx="3524250" cy="83820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 при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2425" y="3314700"/>
            <a:ext cx="3524250" cy="1095375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Оба показателя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реже одного раза в год.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болезни почек частоту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2425" y="4629150"/>
            <a:ext cx="3524250" cy="857250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Тест-полоска на общий белок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заменяет определение отношения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альбумина к креатинину мочи.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0E5A8A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C8104E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Карточка_функция"/>
          <p:cNvSpPr/>
          <p:nvPr/>
        </p:nvSpPr>
        <p:spPr>
          <a:xfrm>
            <a:off x="755650" y="1203325"/>
            <a:ext cx="48323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вреждение"/>
          <p:cNvSpPr/>
          <p:nvPr/>
        </p:nvSpPr>
        <p:spPr>
          <a:xfrm>
            <a:off x="6356350" y="1203325"/>
            <a:ext cx="5175250" cy="272415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 &lt;60 или АКО ≥30 мг/г не менее 3 месяцев</a:t>
            </a:r>
          </a:p>
        </p:txBody>
      </p:sp>
      <p:sp>
        <p:nvSpPr>
          <p:cNvPr id="3" name="function-label">
            <a:extLst>
              <a:ext uri="{FF2B5EF4-FFF2-40B4-BE49-F238E27FC236}">
                <a16:creationId xmlns:a16="http://schemas.microsoft.com/office/drawing/2014/main" id="{4608A116-DE20-40FC-8A31-6DB58E3786A8}"/>
              </a:ext>
            </a:extLst>
          </p:cNvPr>
          <p:cNvSpPr>
            <a:spLocks noGrp="1"/>
          </p:cNvSpPr>
          <p:nvPr/>
        </p:nvSpPr>
        <p:spPr>
          <a:xfrm>
            <a:off x="933450" y="1381125"/>
            <a:ext cx="4476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Функция почек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933450" y="1847850"/>
            <a:ext cx="44767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Расчётная скорость клубочковой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933450" y="2619375"/>
            <a:ext cx="44767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&lt;60 мл/мин/1,73 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933450" y="3181350"/>
            <a:ext cx="44767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7" name="damage-label">
            <a:extLst>
              <a:ext uri="{FF2B5EF4-FFF2-40B4-BE49-F238E27FC236}">
                <a16:creationId xmlns:a16="http://schemas.microsoft.com/office/drawing/2014/main" id="{A590F3DC-E69C-4E4B-A335-43D00E1B6C20}"/>
              </a:ext>
            </a:extLst>
          </p:cNvPr>
          <p:cNvSpPr>
            <a:spLocks noGrp="1"/>
          </p:cNvSpPr>
          <p:nvPr/>
        </p:nvSpPr>
        <p:spPr>
          <a:xfrm>
            <a:off x="6534150" y="1381125"/>
            <a:ext cx="48196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Повреждение почек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534150" y="1847850"/>
            <a:ext cx="48196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534150" y="2619375"/>
            <a:ext cx="48196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≥30 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534150" y="3181350"/>
            <a:ext cx="481965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1" name="rule">
            <a:extLst>
              <a:ext uri="{FF2B5EF4-FFF2-40B4-BE49-F238E27FC236}">
                <a16:creationId xmlns:a16="http://schemas.microsoft.com/office/drawing/2014/main" id="{DA6982E4-441A-440A-9212-C17C0B0B9387}"/>
              </a:ext>
            </a:extLst>
          </p:cNvPr>
          <p:cNvSpPr>
            <a:spLocks noGrp="1"/>
          </p:cNvSpPr>
          <p:nvPr/>
        </p:nvSpPr>
        <p:spPr>
          <a:xfrm>
            <a:off x="933450" y="3971925"/>
            <a:ext cx="10420350" cy="9525"/>
          </a:xfrm>
          <a:prstGeom prst="rect">
            <a:avLst/>
          </a:prstGeom>
          <a:solidFill>
            <a:srgbClr val="D7E0E5"/>
          </a:solidFill>
          <a:ln w="0">
            <a:noFill/>
          </a:ln>
        </p:spPr>
        <p:txBody>
          <a:bodyPr/>
          <a:p/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933450" y="4162425"/>
            <a:ext cx="104203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не менее 3 месяцев.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Достаточно одного критерия: снижения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933450" y="5114925"/>
            <a:ext cx="104203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5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72150" y="2619375"/>
            <a:ext cx="552450" cy="3048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Показаны два основных критерия; существуют и другие маркеры повреждения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фильтрации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3143250" y="1590675"/>
            <a:ext cx="180975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мл/мин/1,73 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4767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151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53550" y="1590675"/>
            <a:ext cx="2400300" cy="6858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 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3143250" y="235267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76750" y="2352675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316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15150" y="2352675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700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53550" y="2352675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408414" y="237553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3143250" y="2864739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76750" y="2864739"/>
            <a:ext cx="2400300" cy="438912"/>
          </a:xfrm>
          <a:prstGeom prst="rect">
            <a:avLst/>
          </a:prstGeom>
          <a:solidFill>
            <a:srgbClr val="DCEB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316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15150" y="2864739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700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53550" y="2864739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408414" y="2887599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3143250" y="3376803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76750" y="3376803"/>
            <a:ext cx="2400300" cy="438912"/>
          </a:xfrm>
          <a:prstGeom prst="rect">
            <a:avLst/>
          </a:prstGeom>
          <a:solidFill>
            <a:srgbClr val="FCF0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316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5150" y="3376803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700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53550" y="3376803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408414" y="3399663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3143250" y="3888867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76750" y="3888867"/>
            <a:ext cx="2400300" cy="438912"/>
          </a:xfrm>
          <a:prstGeom prst="rect">
            <a:avLst/>
          </a:prstGeom>
          <a:solidFill>
            <a:srgbClr val="F4D6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316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151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700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53550" y="3888867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408414" y="3911727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3143250" y="4400931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767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316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51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700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53550" y="4400931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408414" y="4423791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3143250" y="4912995"/>
            <a:ext cx="1238250" cy="457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4767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316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151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700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53550" y="4912995"/>
            <a:ext cx="2400300" cy="438912"/>
          </a:xfrm>
          <a:prstGeom prst="rect">
            <a:avLst/>
          </a:prstGeom>
          <a:solidFill>
            <a:srgbClr val="E8BD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408414" y="4935855"/>
            <a:ext cx="2290572" cy="41148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457200" y="2571750"/>
            <a:ext cx="2305050" cy="2524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Пример: рСКФ 65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мл/мин/1,73 м²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 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 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2" name="Text_51"/>
          <p:cNvSpPr txBox="1"/>
          <p:nvPr/>
        </p:nvSpPr>
        <p:spPr>
          <a:xfrm>
            <a:off x="457200" y="5781675"/>
            <a:ext cx="11277600" cy="619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0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 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20240"/>
            <a:ext cx="5687568" cy="8229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20240"/>
            <a:ext cx="0" cy="77724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33172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33172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834640"/>
            <a:ext cx="5687568" cy="13258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ангиотензинпревращающего фермента;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834640"/>
            <a:ext cx="0" cy="1280160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497580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497580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4251960"/>
            <a:ext cx="5687568" cy="5394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4251960"/>
            <a:ext cx="0" cy="493776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4521708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4521708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86460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86460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5152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5152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596128"/>
            <a:ext cx="5687568" cy="5760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596128"/>
            <a:ext cx="0" cy="53035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88416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88416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331720"/>
            <a:ext cx="0" cy="3552444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331720"/>
            <a:ext cx="0" cy="3552444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Wettersten N, Garimella PS. Cardiol Clin. 2019;37:251–265.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2004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778240" y="1938528"/>
            <a:ext cx="2816352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5672" y="2670048"/>
            <a:ext cx="1901952" cy="170078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6177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4041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4041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51206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4041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51206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9377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766568" y="2670048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5095875" y="4000500"/>
            <a:ext cx="2032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 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Nephron simple.svg (T. Kebert, Jmarchn), CC BY-SA 4.0, modified.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838950" y="1276350"/>
            <a:ext cx="485775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Сдерживающий сигнал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5880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/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 со временем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Повреждение почек возможно и при сохранной рСКФ.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Nephron simple.svg (T. Kebert, Jmarchn), CC BY-SA 4.0, modified.</a:t>
            </a:r>
          </a:p>
        </p:txBody>
      </p:sp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Киммелстила-Уилсона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6076950"/>
            <a:ext cx="10817352" cy="40005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ШИК-реакция. Масштабный отрезок 20 мкм.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 BY 4.0). Cohen Tervaert TW, et al. J Am Soc Nephrol. 2010;21:556–563.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AB3442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 — тк"/>
          <p:cNvSpPr txBox="1"/>
          <p:nvPr/>
        </p:nvSpPr>
        <p:spPr>
          <a:xfrm>
            <a:off x="5029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Интерстиций: ткань между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канальцами; в ней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239512"/>
            <a:ext cx="3547872" cy="8046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2920" y="6126480"/>
            <a:ext cx="10442448" cy="3200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сочетаться. Показаны состояния ткани, а не обязательная последовательность стадий.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Учебная схема, не микрофотография.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 —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 —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 —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Внутриклеточный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 —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 —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 —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 —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035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035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 (АТФ)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1905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1905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B8443A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2920" y="5550408"/>
            <a:ext cx="5330952" cy="8046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рецептора может усиливаться. Ответ зависит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работы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Рецептор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3312" y="4356354"/>
            <a:ext cx="3648456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Сигналы воспаления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87A5"/>
                </a:solidFill>
                <a:latin typeface="Arial Narrow"/>
                <a:cs typeface="Arial Narrow"/>
              </a:rPr>
              <a:t>и фиброза ослабляются*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рецептором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 и диабете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2 типа финеренон снижал риск почечных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 сердечно-сосудистых событий на фоне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Блокада рецептора может уменьшать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Калий крови и функцию почек проверяют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до начала лечения и в динамике.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Противовоспалительное и антифибротическое действие показано в доклинических исследованиях.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 BY 4.0.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>
            <a:extLst>
              <a:ext uri="{FF2B5EF4-FFF2-40B4-BE49-F238E27FC236}">
                <a16:creationId xmlns:a16="http://schemas.microsoft.com/office/drawing/2014/main" id="{CD08C356-B587-495A-A68B-38360B7F705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4055165" cy="685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/>
          <a:lstStyle/>
          <a:p>
            <a:pPr>
              <a:lnSpc>
                <a:spcPct val="90000"/>
              </a:lnSpc>
            </a:pPr>
            <a:endParaRPr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838200" y="723900"/>
            <a:ext cx="3048000" cy="18478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два исследования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III фазы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и объединённый</a:t>
            </a: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838200" y="2714625"/>
            <a:ext cx="30480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хронической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болезнью почек,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сахарным диабетом 2 типа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альбуминурией.</a:t>
            </a:r>
          </a:p>
          <a:p>
            <a:pPr>
              <a:spcBef>
                <a:spcPts val="0"/>
              </a:spcBef>
              <a:spcAft>
                <a:spcPts val="0"/>
              </a:spcAft>
              <a:lnSpc>
                <a:spcPct val="90000"/>
              </a:lnSpc>
            </a:pPr>
            <a:endParaRPr sz="1600" b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фоне стандартной терапии,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включая ингибитор АПФ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БРА в максимально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285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007FB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7FB5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285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C7C32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C7C32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666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 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666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 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981075"/>
            <a:ext cx="3619500" cy="95"/>
          </a:xfrm>
          <a:prstGeom prst="line">
            <a:avLst/>
          </a:prstGeom>
          <a:noFill/>
          <a:ln w="17145">
            <a:solidFill>
              <a:srgbClr val="007FB5"/>
            </a:solidFill>
          </a:ln>
        </p:spPr>
        <p:txBody>
          <a:bodyPr/>
          <a:p/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981075"/>
            <a:ext cx="3619500" cy="95"/>
          </a:xfrm>
          <a:prstGeom prst="line">
            <a:avLst/>
          </a:prstGeom>
          <a:noFill/>
          <a:ln w="17145">
            <a:solidFill>
              <a:srgbClr val="4C7C32"/>
            </a:solidFill>
          </a:ln>
        </p:spPr>
        <p:txBody>
          <a:bodyPr/>
          <a:p/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162050"/>
            <a:ext cx="896378" cy="1362075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152660"/>
            <a:ext cx="1009650" cy="1323706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1552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7FB5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7FB5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1419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C7C32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C7C32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6860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≥40%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6860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39528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39528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3624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4862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4862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/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6101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6386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в анализе из 13 171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49339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 сердечно-сосудистый, как в FIGARO-DKD, и почечный,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в FIDELIO-DKD, но с устойчивым снижением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6642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в крови).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Устойчивое снижение рСКФ подтверждали через ≥4 недели.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 BY 4.0.</a:t>
            </a:r>
          </a:p>
        </p:txBody>
      </p:sp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риск комбинированного почечного исхода ниже на 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5674 пациента в анализе (5734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Преимущественно 3–4-я стадия болезни почек с выраженной альбуминурией. Медиана наблюдения 2,6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 ≥40%, 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300538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3686175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0718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457450"/>
            <a:ext cx="5181600" cy="2457450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55" name="risk_table_heading">
            <a:extLst>
              <a:ext uri="{FF2B5EF4-FFF2-40B4-BE49-F238E27FC236}">
                <a16:creationId xmlns:a16="http://schemas.microsoft.com/office/drawing/2014/main" id="{8D6CED5F-45E1-4A5B-85F3-6A39FCFF5C9F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под риском</a:t>
            </a:r>
          </a:p>
        </p:txBody>
      </p:sp>
      <p:graphicFrame>
        <p:nvGraphicFramePr>
          <p:cNvPr id="120" name="Таблица 119"/>
          <p:cNvGraphicFramePr/>
          <p:nvPr/>
        </p:nvGraphicFramePr>
        <p:xfrm>
          <a:off x="1428750" y="5772150"/>
          <a:ext cx="5829300" cy="552450"/>
        </p:xfrm>
        <a:graphic>
          <a:graphicData uri="http://schemas.openxmlformats.org/drawingml/2006/table">
            <a:tbl>
              <a:tblPr/>
              <a:tblGrid>
                <a:gridCol w="6477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6477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2841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2724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1758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1248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453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2833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2705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2397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1808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1274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441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83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7" name="risk_placebo">
            <a:extLst>
              <a:ext uri="{FF2B5EF4-FFF2-40B4-BE49-F238E27FC236}">
                <a16:creationId xmlns:a16="http://schemas.microsoft.com/office/drawing/2014/main" id="{24C7ABC9-0B84-450C-810A-95444A24FECB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8" name="risk_finerenone">
            <a:extLst>
              <a:ext uri="{FF2B5EF4-FFF2-40B4-BE49-F238E27FC236}">
                <a16:creationId xmlns:a16="http://schemas.microsoft.com/office/drawing/2014/main" id="{3471643B-259E-4A00-9A0D-912E8AD1F4F6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0,73–0,93)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p=0,001. Относительное снижение риска 18%.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29 (95% ДИ 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445000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18,3% против 9,0%.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2,3% против 0,9%.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 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риск комбинированного сердечно-сосудистого исхода ниже на 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838200" y="752475"/>
            <a:ext cx="10515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7352 пациента в анализе (7437 рандомизированы). Хроническая болезнь почек и сахарный диабет 2 типа.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Более широкий диапазон функции почек, чем в FIDELIO-DKD. Медиана наблюдения 3,4 года.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05025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491490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343025" y="480060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300538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300538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343025" y="418623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3686175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368617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343025" y="357187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0718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0718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343025" y="2957513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457450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343025" y="2343150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95" cy="245745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4914900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000625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457450"/>
            <a:ext cx="5229225" cy="2457450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667000"/>
            <a:ext cx="266700" cy="95"/>
          </a:xfrm>
          <a:prstGeom prst="line">
            <a:avLst/>
          </a:pr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543175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667000"/>
            <a:ext cx="266700" cy="95"/>
          </a:xfrm>
          <a:prstGeom prst="line">
            <a:avLst/>
          </a:prstGeom>
          <a:noFill/>
          <a:ln w="2381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543175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200650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57" name="risk_table_heading">
            <a:extLst>
              <a:ext uri="{FF2B5EF4-FFF2-40B4-BE49-F238E27FC236}">
                <a16:creationId xmlns:a16="http://schemas.microsoft.com/office/drawing/2014/main" id="{F7EDE4ED-93DD-4873-8701-83C0411A40A4}"/>
              </a:ext>
            </a:extLst>
          </p:cNvPr>
          <p:cNvSpPr>
            <a:spLocks noGrp="1"/>
          </p:cNvSpPr>
          <p:nvPr/>
        </p:nvSpPr>
        <p:spPr>
          <a:xfrm>
            <a:off x="457200" y="5495925"/>
            <a:ext cx="65722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под риском</a:t>
            </a:r>
          </a:p>
        </p:txBody>
      </p:sp>
      <p:graphicFrame>
        <p:nvGraphicFramePr>
          <p:cNvPr id="122" name="Таблица 121"/>
          <p:cNvGraphicFramePr/>
          <p:nvPr/>
        </p:nvGraphicFramePr>
        <p:xfrm>
          <a:off x="1414463" y="5772150"/>
          <a:ext cx="5810250" cy="552450"/>
        </p:xfrm>
        <a:graphic>
          <a:graphicData uri="http://schemas.openxmlformats.org/drawingml/2006/table">
            <a:tbl>
              <a:tblPr/>
              <a:tblGrid>
                <a:gridCol w="5810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581025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3666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3577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3479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3389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3267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2730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1657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1076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585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3686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3600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3517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3427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3320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2781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1712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1093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9" name="risk_placebo">
            <a:extLst>
              <a:ext uri="{FF2B5EF4-FFF2-40B4-BE49-F238E27FC236}">
                <a16:creationId xmlns:a16="http://schemas.microsoft.com/office/drawing/2014/main" id="{D05B455B-198B-43B5-B31A-11DDEFA6229F}"/>
              </a:ext>
            </a:extLst>
          </p:cNvPr>
          <p:cNvSpPr>
            <a:spLocks noGrp="1"/>
          </p:cNvSpPr>
          <p:nvPr/>
        </p:nvSpPr>
        <p:spPr>
          <a:xfrm>
            <a:off x="342900" y="5781675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0" name="risk_finerenone">
            <a:extLst>
              <a:ext uri="{FF2B5EF4-FFF2-40B4-BE49-F238E27FC236}">
                <a16:creationId xmlns:a16="http://schemas.microsoft.com/office/drawing/2014/main" id="{0EBB5F32-67DC-4E28-9FBC-BA59601C4271}"/>
              </a:ext>
            </a:extLst>
          </p:cNvPr>
          <p:cNvSpPr>
            <a:spLocks noGrp="1"/>
          </p:cNvSpPr>
          <p:nvPr/>
        </p:nvSpPr>
        <p:spPr>
          <a:xfrm>
            <a:off x="342900" y="6057900"/>
            <a:ext cx="10953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событием за время исследования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91465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91465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755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 ДИ 0,76–0,98)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p=0,03. Относительное снижение риска 13%.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14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3,5 года: 47 (95% ДИ 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4825"/>
            <a:ext cx="4124325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0,71 (95% ДИ 0,56–0,90).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других компонентов не доказано.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334000"/>
            <a:ext cx="4124325" cy="409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1,2% против 0,4%.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Почечный исход: почечная недостаточность, снижение рСКФ на ≥40%, сохраняющееся не менее 4 недель, или смерть от почечных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снижение риска почечного исхода на 23% и сердечно-сосудистого на 14%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74295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объединённый анализ индивидуальных данных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13 026 пациентов с хронической болезнью почек и сахарным диабетом 2 типа. Медиана наблюдения 3,0 года.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3429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3429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3429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6097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2573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6573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6097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2573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6573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6097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2573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6573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6097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2573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6573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6097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2573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6097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2573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657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457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6573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6573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71" name="cv_risk_heading">
            <a:extLst>
              <a:ext uri="{FF2B5EF4-FFF2-40B4-BE49-F238E27FC236}">
                <a16:creationId xmlns:a16="http://schemas.microsoft.com/office/drawing/2014/main" id="{B7540D23-90C8-4DFE-9BD8-8592D3C3ECC7}"/>
              </a:ext>
            </a:extLst>
          </p:cNvPr>
          <p:cNvSpPr>
            <a:spLocks noGrp="1"/>
          </p:cNvSpPr>
          <p:nvPr/>
        </p:nvSpPr>
        <p:spPr>
          <a:xfrm>
            <a:off x="3429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под риском</a:t>
            </a:r>
          </a:p>
        </p:txBody>
      </p:sp>
      <p:graphicFrame>
        <p:nvGraphicFramePr>
          <p:cNvPr id="186" name="Таблица 185"/>
          <p:cNvGraphicFramePr/>
          <p:nvPr/>
        </p:nvGraphicFramePr>
        <p:xfrm>
          <a:off x="14097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6330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6125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5938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5184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4147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2969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2135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1082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6360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6202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6009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5273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4207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3065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2187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1087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3" name="cv_risk_placebo">
            <a:extLst>
              <a:ext uri="{FF2B5EF4-FFF2-40B4-BE49-F238E27FC236}">
                <a16:creationId xmlns:a16="http://schemas.microsoft.com/office/drawing/2014/main" id="{2EF0BFDD-ABB7-449D-BD01-7287CB1FBBEB}"/>
              </a:ext>
            </a:extLst>
          </p:cNvPr>
          <p:cNvSpPr>
            <a:spLocks noGrp="1"/>
          </p:cNvSpPr>
          <p:nvPr/>
        </p:nvSpPr>
        <p:spPr>
          <a:xfrm>
            <a:off x="3429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4" name="cv_risk_finerenone">
            <a:extLst>
              <a:ext uri="{FF2B5EF4-FFF2-40B4-BE49-F238E27FC236}">
                <a16:creationId xmlns:a16="http://schemas.microsoft.com/office/drawing/2014/main" id="{F78AC2A7-C54C-47E3-A3AA-7AC2CA06183B}"/>
              </a:ext>
            </a:extLst>
          </p:cNvPr>
          <p:cNvSpPr>
            <a:spLocks noGrp="1"/>
          </p:cNvSpPr>
          <p:nvPr/>
        </p:nvSpPr>
        <p:spPr>
          <a:xfrm>
            <a:off x="3429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3429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12,7%.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14,4%.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3429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 ДИ 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3429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46 (95% ДИ 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≥57%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 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05025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36290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35147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39280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39280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27850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15658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15658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04228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292036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292036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28060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68414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68414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56984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/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4479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33362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95" cy="1181100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3629025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3705225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447925"/>
            <a:ext cx="3962400" cy="1181100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562225"/>
            <a:ext cx="228600" cy="95"/>
          </a:xfrm>
          <a:prstGeom prst="line">
            <a:avLst/>
          </a:prstGeom>
          <a:noFill/>
          <a:ln w="21908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438400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562225"/>
            <a:ext cx="228600" cy="95"/>
          </a:xfrm>
          <a:prstGeom prst="line">
            <a:avLst/>
          </a:prstGeom>
          <a:noFill/>
          <a:ln w="21908">
            <a:solidFill>
              <a:srgbClr val="C7543B"/>
            </a:solidFill>
          </a:ln>
        </p:spPr>
        <p:txBody>
          <a:bodyPr/>
          <a:p/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438400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3933825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до первого события</a:t>
            </a:r>
          </a:p>
        </p:txBody>
      </p:sp>
      <p:sp>
        <p:nvSpPr>
          <p:cNvPr id="125" name="renal_risk_heading">
            <a:extLst>
              <a:ext uri="{FF2B5EF4-FFF2-40B4-BE49-F238E27FC236}">
                <a16:creationId xmlns:a16="http://schemas.microsoft.com/office/drawing/2014/main" id="{B8C846A1-9E10-475F-B126-E46A766892A5}"/>
              </a:ext>
            </a:extLst>
          </p:cNvPr>
          <p:cNvSpPr>
            <a:spLocks noGrp="1"/>
          </p:cNvSpPr>
          <p:nvPr/>
        </p:nvSpPr>
        <p:spPr>
          <a:xfrm>
            <a:off x="6324600" y="4171950"/>
            <a:ext cx="55245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под риском</a:t>
            </a:r>
          </a:p>
        </p:txBody>
      </p:sp>
      <p:graphicFrame>
        <p:nvGraphicFramePr>
          <p:cNvPr id="240" name="Таблица 239"/>
          <p:cNvGraphicFramePr/>
          <p:nvPr/>
        </p:nvGraphicFramePr>
        <p:xfrm>
          <a:off x="7391400" y="4429125"/>
          <a:ext cx="4457700" cy="552450"/>
        </p:xfrm>
        <a:graphic>
          <a:graphicData uri="http://schemas.openxmlformats.org/drawingml/2006/table">
            <a:tbl>
              <a:tblPr/>
              <a:tblGrid>
                <a:gridCol w="4953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495300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6507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6292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6071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4949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3932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2798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1988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962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6519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6291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6107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5848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5027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3973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2815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2024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959</a:t>
                      </a:r>
                    </a:p>
                  </a:txBody>
                  <a:tcPr marL="0" marR="0" marT="0" marB="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27" name="renal_risk_placebo">
            <a:extLst>
              <a:ext uri="{FF2B5EF4-FFF2-40B4-BE49-F238E27FC236}">
                <a16:creationId xmlns:a16="http://schemas.microsoft.com/office/drawing/2014/main" id="{A05205C2-5F6D-4D91-BCD9-5305915BB47F}"/>
              </a:ext>
            </a:extLst>
          </p:cNvPr>
          <p:cNvSpPr>
            <a:spLocks noGrp="1"/>
          </p:cNvSpPr>
          <p:nvPr/>
        </p:nvSpPr>
        <p:spPr>
          <a:xfrm>
            <a:off x="6324600" y="4438650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C7543B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8" name="renal_risk_finerenone">
            <a:extLst>
              <a:ext uri="{FF2B5EF4-FFF2-40B4-BE49-F238E27FC236}">
                <a16:creationId xmlns:a16="http://schemas.microsoft.com/office/drawing/2014/main" id="{4D8480C7-C79A-46E2-8C93-ABA260AB399E}"/>
              </a:ext>
            </a:extLst>
          </p:cNvPr>
          <p:cNvSpPr>
            <a:spLocks noGrp="1"/>
          </p:cNvSpPr>
          <p:nvPr/>
        </p:nvSpPr>
        <p:spPr>
          <a:xfrm>
            <a:off x="6324600" y="4714875"/>
            <a:ext cx="10668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5C87C3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5C87C3"/>
                </a:solidFill>
                <a:latin typeface="Arial Narrow"/>
                <a:ea typeface="Calibri"/>
                <a:cs typeface="Arial Narrow"/>
              </a:rPr>
              <a:t>Финеренон 5,5%.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1">
                <a:solidFill>
                  <a:srgbClr val="C7543B"/>
                </a:solidFill>
                <a:latin typeface="Arial Narrow"/>
                <a:ea typeface="Calibri"/>
                <a:cs typeface="Arial Narrow"/>
              </a:rPr>
              <a:t>Плацебо 7,1%.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 для предотвращения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события за 3 года: 60 (95% ДИ 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/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342900" y="6146800"/>
            <a:ext cx="1150620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14,0% на финереноне и 6,9% на плацебо; окончательная отмена из-за неё: 1,7% и 0,6%.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Проценты: доля пациентов с событием за всё время наблюдения. Снижение риска относительное. Значения p без поправки на множественные сравнения. рСКФ: расчётная скорость клубочковой фильтрации; НГЛТ2: натрий-глюкозный котранспортёр 2 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 BY-NC 4.0).</a:t>
            </a:r>
          </a:p>
        </p:txBody>
      </p:sp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 4-му месяцу АКО на финереноне на 32% ниже, чем на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838200" y="781050"/>
            <a:ext cx="10515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FIDELITY. Пациенты с хронической болезнью почек и сахарным диабетом 2 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838200" y="1038225"/>
            <a:ext cx="10515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Все пациенты получали ингибитор АПФ или БРА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838200" y="1552575"/>
            <a:ext cx="10515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838200" y="1952625"/>
            <a:ext cx="4000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между группами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838200" y="2314575"/>
            <a:ext cx="4000500" cy="7715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838200" y="3133725"/>
            <a:ext cx="400050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4-му месяцу АКО ниже,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чем на плацебо (с поправкой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исходный уровень).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838200" y="4057650"/>
            <a:ext cx="4000500" cy="647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изменений 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0,68 (95% ДИ 0,66–0,70).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FIDELITY, 13 026 пациентов.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Дополнительный анализ FIDELITY, 12 512 пациентов.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838200" y="5095875"/>
            <a:ext cx="10515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эффекта лечения на уровне групп пациентов.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838200" y="5476875"/>
            <a:ext cx="10515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его величине нельзя рассчитать, на сколько процентов снизится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838200" y="6096000"/>
            <a:ext cx="10515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комбинация с эмпаглифлозином снижала альбуминурию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 II фазы: 800 пациентов с хронической болезнью почек и сахарным диабетом 2 типа в анализе эффективности.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30–90 мл/мин/1,73 м². АКО 100–5000 мг/г. Фоновая терапия по протоколу: ингибитор АПФ или БРА.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180-му дню АКО при комбинации был ниже, чем при монотерапии финереноном (на 29%) и эмпаглифлозином (на 32%); оба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E9C31D"/>
            </a:solidFill>
          </a:ln>
        </p:spPr>
        <p:txBody>
          <a:bodyPr/>
          <a:p/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5C87C3"/>
            </a:solidFill>
          </a:ln>
        </p:spPr>
        <p:txBody>
          <a:bodyPr/>
          <a:p/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альбуминурии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отношение АКО к исходному уровню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95" cy="1692757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121632"/>
            <a:ext cx="95" cy="116993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026382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074007"/>
            <a:ext cx="114300" cy="95250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72633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62156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11903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01425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51172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40695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3904442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3799667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7" name="A_n_heading">
            <a:extLst>
              <a:ext uri="{FF2B5EF4-FFF2-40B4-BE49-F238E27FC236}">
                <a16:creationId xmlns:a16="http://schemas.microsoft.com/office/drawing/2014/main" id="{B907C940-4B43-401D-89B2-735B64847436}"/>
              </a:ext>
            </a:extLst>
          </p:cNvPr>
          <p:cNvSpPr>
            <a:spLocks noGrp="1"/>
          </p:cNvSpPr>
          <p:nvPr/>
        </p:nvSpPr>
        <p:spPr>
          <a:xfrm>
            <a:off x="45720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измерением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graphicFrame>
        <p:nvGraphicFramePr>
          <p:cNvPr id="393" name="Таблица 392"/>
          <p:cNvGraphicFramePr/>
          <p:nvPr/>
        </p:nvGraphicFramePr>
        <p:xfrm>
          <a:off x="2030751" y="4781550"/>
          <a:ext cx="3999615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7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30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32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258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227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246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265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24" name="A_n_label_finerenone">
            <a:extLst>
              <a:ext uri="{FF2B5EF4-FFF2-40B4-BE49-F238E27FC236}">
                <a16:creationId xmlns:a16="http://schemas.microsoft.com/office/drawing/2014/main" id="{06233C9A-A8B1-4263-B9EA-0C4E24851D35}"/>
              </a:ext>
            </a:extLst>
          </p:cNvPr>
          <p:cNvSpPr>
            <a:spLocks noGrp="1"/>
          </p:cNvSpPr>
          <p:nvPr/>
        </p:nvSpPr>
        <p:spPr>
          <a:xfrm>
            <a:off x="45720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5" name="A_n_label_empagliflozin">
            <a:extLst>
              <a:ext uri="{FF2B5EF4-FFF2-40B4-BE49-F238E27FC236}">
                <a16:creationId xmlns:a16="http://schemas.microsoft.com/office/drawing/2014/main" id="{4A00A8A9-E18B-4E40-8737-AD25F4E7E21A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26" name="A_n_label_combination">
            <a:extLst>
              <a:ext uri="{FF2B5EF4-FFF2-40B4-BE49-F238E27FC236}">
                <a16:creationId xmlns:a16="http://schemas.microsoft.com/office/drawing/2014/main" id="{CD74CF4E-E57F-410D-8A12-276165CAF3C3}"/>
              </a:ext>
            </a:extLst>
          </p:cNvPr>
          <p:cNvSpPr>
            <a:spLocks noGrp="1"/>
          </p:cNvSpPr>
          <p:nvPr/>
        </p:nvSpPr>
        <p:spPr>
          <a:xfrm>
            <a:off x="45720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Комбинация</a:t>
            </a: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в сыворотке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1971675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от исходного,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95" cy="1905000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026967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/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23862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333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228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54530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4405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7569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65219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296862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286385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18029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0755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39195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28717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360362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49884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381529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371052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02696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392219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23862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133850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238625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/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286250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3" name="B_n_heading">
            <a:extLst>
              <a:ext uri="{FF2B5EF4-FFF2-40B4-BE49-F238E27FC236}">
                <a16:creationId xmlns:a16="http://schemas.microsoft.com/office/drawing/2014/main" id="{8F0EECCC-5A03-47F7-83A6-1090416D40CC}"/>
              </a:ext>
            </a:extLst>
          </p:cNvPr>
          <p:cNvSpPr>
            <a:spLocks noGrp="1"/>
          </p:cNvSpPr>
          <p:nvPr/>
        </p:nvSpPr>
        <p:spPr>
          <a:xfrm>
            <a:off x="6267450" y="4533900"/>
            <a:ext cx="23431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Пациенты с измерением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4533900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5C87C3"/>
          </a:solidFill>
          <a:ln w="0">
            <a:noFill/>
          </a:ln>
        </p:spPr>
        <p:txBody>
          <a:bodyPr/>
          <a:p/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5C87C3"/>
            </a:solidFill>
          </a:ln>
        </p:spPr>
        <p:txBody>
          <a:bodyPr/>
          <a:p/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E9C31D"/>
            </a:solidFill>
          </a:ln>
        </p:spPr>
        <p:txBody>
          <a:bodyPr/>
          <a:p/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E9C31D"/>
          </a:solidFill>
          <a:ln w="0">
            <a:noFill/>
          </a:ln>
        </p:spPr>
        <p:txBody>
          <a:bodyPr/>
          <a:p/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9EC66D"/>
            </a:solidFill>
          </a:ln>
        </p:spPr>
        <p:txBody>
          <a:bodyPr/>
          <a:p/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333625"/>
            <a:ext cx="3886200" cy="1905000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9EC66D"/>
          </a:solidFill>
          <a:ln w="0">
            <a:noFill/>
          </a:ln>
        </p:spPr>
        <p:txBody>
          <a:bodyPr/>
          <a:p/>
        </p:txBody>
      </p:sp>
      <p:graphicFrame>
        <p:nvGraphicFramePr>
          <p:cNvPr id="541" name="Таблица 540"/>
          <p:cNvGraphicFramePr/>
          <p:nvPr/>
        </p:nvGraphicFramePr>
        <p:xfrm>
          <a:off x="7841001" y="4781550"/>
          <a:ext cx="3999621" cy="828675"/>
        </p:xfrm>
        <a:graphic>
          <a:graphicData uri="http://schemas.openxmlformats.org/drawingml/2006/table">
            <a:tbl>
              <a:tblPr/>
              <a:tblGrid>
                <a:gridCol w="30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73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63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73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51635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40732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16381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40728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51644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264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235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266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267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253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72" name="B_n_label_finerenone">
            <a:extLst>
              <a:ext uri="{FF2B5EF4-FFF2-40B4-BE49-F238E27FC236}">
                <a16:creationId xmlns:a16="http://schemas.microsoft.com/office/drawing/2014/main" id="{2B9D1AA1-CA55-4F6D-99E6-69D3EBE822FE}"/>
              </a:ext>
            </a:extLst>
          </p:cNvPr>
          <p:cNvSpPr>
            <a:spLocks noGrp="1"/>
          </p:cNvSpPr>
          <p:nvPr/>
        </p:nvSpPr>
        <p:spPr>
          <a:xfrm>
            <a:off x="6267450" y="478155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273" name="B_n_label_empagliflozin">
            <a:extLst>
              <a:ext uri="{FF2B5EF4-FFF2-40B4-BE49-F238E27FC236}">
                <a16:creationId xmlns:a16="http://schemas.microsoft.com/office/drawing/2014/main" id="{C4941DDA-101D-4A40-BBB2-2DBC9A3FB971}"/>
              </a:ext>
            </a:extLst>
          </p:cNvPr>
          <p:cNvSpPr>
            <a:spLocks noGrp="1"/>
          </p:cNvSpPr>
          <p:nvPr/>
        </p:nvSpPr>
        <p:spPr>
          <a:xfrm>
            <a:off x="6267450" y="5057775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274" name="B_n_label_combination">
            <a:extLst>
              <a:ext uri="{FF2B5EF4-FFF2-40B4-BE49-F238E27FC236}">
                <a16:creationId xmlns:a16="http://schemas.microsoft.com/office/drawing/2014/main" id="{D716AC23-468D-4671-91CF-A9E0E02299E7}"/>
              </a:ext>
            </a:extLst>
          </p:cNvPr>
          <p:cNvSpPr>
            <a:spLocks noGrp="1"/>
          </p:cNvSpPr>
          <p:nvPr/>
        </p:nvSpPr>
        <p:spPr>
          <a:xfrm>
            <a:off x="6267450" y="5334000"/>
            <a:ext cx="1438275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Комбинация</a:t>
            </a: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День 0: до лечения. Препараты отменили на 180-й день. День 210: через 30 дней после отмены.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15,1% при комбинации, 18,8% при финереноне, 9,7% при эмпаглифлозине; комбинация и финеренон достоверно не различались (p=0,85).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Суррогатная конечная точка: изменение альбуминурии за 180 дней; влияние на почечную недостаточность и сердечно-сосудистые события не оценивали.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II. Для АКО приведено среднее методом наименьших квадратов. Гиперкалиемия: калий &gt;5,5 ммоль/л.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ClinicalTrials.gov: NCT05254002.</a:t>
            </a:r>
          </a:p>
        </p:txBody>
      </p:sp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 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 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рекомендован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Применяют при рСКФ ≥25 мл/мин/1,73 м², нормальном калии и максимально переносимой дозе ингибитора АПФ или БРА.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066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Финеренон и ингибитор НГЛТ2 можно начать одновременно при АКО ≥100 мг/г и рСКФ 30–90 мл/мин/1,73 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1750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2766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Основание: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инструкции Финеренон-Орвилле препарат показан взрослым с ХБП, связанной с сахарным диабетом 2 типа. Зарубежные рекомендации не расширяют это показание.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наличии показаний врач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3462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1803400"/>
            <a:ext cx="54864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1905000"/>
            <a:ext cx="50292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Врач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АКО ≥30 мг/г, рСКФ ≥25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 ≥20 мл/мин/1,73 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 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3848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терапии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032000" y="1955800"/>
            <a:ext cx="40386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Карточка_спиронолактон"/>
          <p:cNvSpPr/>
          <p:nvPr/>
        </p:nvSpPr>
        <p:spPr>
          <a:xfrm>
            <a:off x="7823200" y="1955800"/>
            <a:ext cx="3810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спиронолактон: одна мишень, разные данные исследований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310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184400" y="2057400"/>
            <a:ext cx="3759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селективный антагонист минералокортикоидного рецептора.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Почечные и сердечно-сосудистые исходы изучены у взрослых с ХБП и сахарным диабетом 2 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975600" y="2057400"/>
            <a:ext cx="35560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Стероидный антагонист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При тяжёлой сердечной недостаточности со сниженной фракцией выброса уменьшал смертность.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933450" y="4086225"/>
            <a:ext cx="1042035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Препарат выбирают по диагнозу и данным исследований в этой группе пациентов. При лечении любым из них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933450" y="5048250"/>
            <a:ext cx="1042035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Совместное применение финеренона и спиронолактона не рекомендуется. Крупных прямых сравнительных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032000" y="1498600"/>
            <a:ext cx="4038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823200" y="1498600"/>
            <a:ext cx="3810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472184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2359152"/>
          <a:ext cx="6419088" cy="268833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457200" y="5276850"/>
            <a:ext cx="6686550" cy="10953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Финеренон повышает риск гиперкалиемии по сравнению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плацебо. Калий и функцию почек контролируют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применении обоих препаратов.</a:t>
            </a:r>
          </a:p>
        </p:txBody>
      </p:sp>
      <p:sp>
        <p:nvSpPr>
          <p:cNvPr id="7" name="Текст: II фаза, часть B"/>
          <p:cNvSpPr txBox="1"/>
          <p:nvPr/>
        </p:nvSpPr>
        <p:spPr>
          <a:xfrm>
            <a:off x="7580375" y="14264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580375" y="1874519"/>
            <a:ext cx="4105656" cy="1417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392 пациента в анализе безопасности.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со сниженной фракцией выброса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и умеренное нарушение функции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Лечение 4 недели.</a:t>
            </a:r>
          </a:p>
        </p:txBody>
      </p:sp>
      <p:sp>
        <p:nvSpPr>
          <p:cNvPr id="9" name="Текст: Изученные дозы"/>
          <p:cNvSpPr txBox="1"/>
          <p:nvPr/>
        </p:nvSpPr>
        <p:spPr>
          <a:xfrm>
            <a:off x="7580375" y="3538728"/>
            <a:ext cx="4105656" cy="3017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580375" y="3877056"/>
            <a:ext cx="4105656" cy="122529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Финеренон: 2,5; 5 или 10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 либо 5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Спиронолактон: 25–50 мг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581900" y="5286375"/>
            <a:ext cx="4105275" cy="104775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Группы доз финеренона объединены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 дополнительном анализе. Спиронолактон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применяли открыто. Результат относится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 изученным дозам и 4 неделям лечения.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ARTS, часть B: дополнительный анализ безопасности.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 —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 —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01952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Рецептор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454400"/>
            <a:ext cx="139700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 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43500"/>
            <a:ext cx="1397000" cy="482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 — слабее электрическая движущая сила для секреции калия."/>
          <p:cNvSpPr txBox="1"/>
          <p:nvPr/>
        </p:nvSpPr>
        <p:spPr>
          <a:xfrm>
            <a:off x="502920" y="5687568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772400" y="1333500"/>
            <a:ext cx="3819525" cy="3333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772400" y="186690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</p:txBody>
      </p:sp>
      <p:sp>
        <p:nvSpPr>
          <p:cNvPr id="260" name="Сниженная функция почек"/>
          <p:cNvSpPr txBox="1"/>
          <p:nvPr/>
        </p:nvSpPr>
        <p:spPr>
          <a:xfrm>
            <a:off x="7772400" y="2409825"/>
            <a:ext cx="3819525" cy="3524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</p:txBody>
      </p:sp>
      <p:sp>
        <p:nvSpPr>
          <p:cNvPr id="261" name="Гиперкалиемия в прошлом"/>
          <p:cNvSpPr txBox="1"/>
          <p:nvPr/>
        </p:nvSpPr>
        <p:spPr>
          <a:xfrm>
            <a:off x="7772400" y="2952750"/>
            <a:ext cx="3819525" cy="3714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Женский пол, приём β-адреноблокаторов</a:t>
            </a:r>
          </a:p>
        </p:txBody>
      </p:sp>
      <p:sp>
        <p:nvSpPr>
          <p:cNvPr id="262" name="Более высокая альбуминурия"/>
          <p:cNvSpPr txBox="1"/>
          <p:nvPr/>
        </p:nvSpPr>
        <p:spPr>
          <a:xfrm>
            <a:off x="7772400" y="3495675"/>
            <a:ext cx="3819525" cy="3238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772400" y="3857625"/>
            <a:ext cx="3819525" cy="257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772400" y="4410075"/>
            <a:ext cx="3819525" cy="8858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Острое заболевание, обезвоживание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или лекарства, повышающие калий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либо концентрацию финеренона</a:t>
            </a:r>
          </a:p>
        </p:txBody>
      </p:sp>
      <p:sp>
        <p:nvSpPr>
          <p:cNvPr id="265" name="Калий выше нормы —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772400" y="5638800"/>
            <a:ext cx="3819525" cy="6381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Нужен контроль калия и функции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Sørensen MV, et al. JCI Insight. 2019;4:e126910. Czogalla J, et al. Pflügers Arch. 2016;468:849–858. Kerendia (finerenone). Summary of Product Characteristics. EMA.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Карточка_не_рекомендуется"/>
          <p:cNvSpPr/>
          <p:nvPr/>
        </p:nvSpPr>
        <p:spPr>
          <a:xfrm>
            <a:off x="762000" y="1803400"/>
            <a:ext cx="50800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контроль"/>
          <p:cNvSpPr/>
          <p:nvPr/>
        </p:nvSpPr>
        <p:spPr>
          <a:xfrm>
            <a:off x="6261100" y="1803400"/>
            <a:ext cx="5270500" cy="3759200"/>
          </a:xfrm>
          <a:prstGeom prst="roundRect">
            <a:avLst>
              <a:gd name="adj" fmla="val 270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Финеренон: какие сочетания не рекомендуются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 когда нужен контроль калия</a:t>
            </a:r>
          </a:p>
        </p:txBody>
      </p:sp>
      <p:sp>
        <p:nvSpPr>
          <p:cNvPr id="5" name="Класс_антагонисты"/>
          <p:cNvSpPr txBox="1"/>
          <p:nvPr/>
        </p:nvSpPr>
        <p:spPr>
          <a:xfrm>
            <a:off x="933450" y="2047875"/>
            <a:ext cx="4667250" cy="4762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минералокортикоидного рецептора</a:t>
            </a:r>
          </a:p>
        </p:txBody>
      </p:sp>
      <p:sp>
        <p:nvSpPr>
          <p:cNvPr id="6" name="Названия_антагонисты"/>
          <p:cNvSpPr txBox="1"/>
          <p:nvPr/>
        </p:nvSpPr>
        <p:spPr>
          <a:xfrm>
            <a:off x="933450" y="26003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Спиронолактон, эплеренон</a:t>
            </a:r>
          </a:p>
        </p:txBody>
      </p:sp>
      <p:sp>
        <p:nvSpPr>
          <p:cNvPr id="7" name="Класс_мочегонные"/>
          <p:cNvSpPr txBox="1"/>
          <p:nvPr/>
        </p:nvSpPr>
        <p:spPr>
          <a:xfrm>
            <a:off x="933450" y="3267075"/>
            <a:ext cx="4667250" cy="3524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</a:t>
            </a:r>
          </a:p>
        </p:txBody>
      </p:sp>
      <p:sp>
        <p:nvSpPr>
          <p:cNvPr id="8" name="Названия_мочегонные"/>
          <p:cNvSpPr txBox="1"/>
          <p:nvPr/>
        </p:nvSpPr>
        <p:spPr>
          <a:xfrm>
            <a:off x="933450" y="3667125"/>
            <a:ext cx="466725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Амилорид, триамтерен</a:t>
            </a:r>
          </a:p>
        </p:txBody>
      </p:sp>
      <p:sp>
        <p:nvSpPr>
          <p:cNvPr id="9" name="Причина_ограничения"/>
          <p:cNvSpPr txBox="1"/>
          <p:nvPr/>
        </p:nvSpPr>
        <p:spPr>
          <a:xfrm>
            <a:off x="933450" y="4371975"/>
            <a:ext cx="4667250" cy="5429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Совместное применение может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увеличивать риск гиперкалиемии.</a:t>
            </a:r>
          </a:p>
        </p:txBody>
      </p:sp>
      <p:sp>
        <p:nvSpPr>
          <p:cNvPr id="10" name="Калий_препараты"/>
          <p:cNvSpPr txBox="1"/>
          <p:nvPr/>
        </p:nvSpPr>
        <p:spPr>
          <a:xfrm>
            <a:off x="6438900" y="2028825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заменители соли</a:t>
            </a:r>
          </a:p>
        </p:txBody>
      </p:sp>
      <p:sp>
        <p:nvSpPr>
          <p:cNvPr id="11" name="Калий_действие"/>
          <p:cNvSpPr txBox="1"/>
          <p:nvPr/>
        </p:nvSpPr>
        <p:spPr>
          <a:xfrm>
            <a:off x="6438900" y="2552700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 и контролируют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2" name="Триметоприм"/>
          <p:cNvSpPr txBox="1"/>
          <p:nvPr/>
        </p:nvSpPr>
        <p:spPr>
          <a:xfrm>
            <a:off x="6438900" y="3219450"/>
            <a:ext cx="4914900" cy="457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/ в составе ко-тримоксазола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3" name="Триметоприм_действие"/>
          <p:cNvSpPr txBox="1"/>
          <p:nvPr/>
        </p:nvSpPr>
        <p:spPr>
          <a:xfrm>
            <a:off x="6438900" y="3724275"/>
            <a:ext cx="4914900" cy="4476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Контролируют калий. Врач может временно отменить финеренон.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4" name="Противовоспалительные"/>
          <p:cNvSpPr txBox="1"/>
          <p:nvPr/>
        </p:nvSpPr>
        <p:spPr>
          <a:xfrm>
            <a:off x="6438900" y="4333875"/>
            <a:ext cx="49149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Нестероидные противовоспалительные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препараты: ибупрофен, диклофенак</a:t>
            </a:r>
          </a:p>
        </p:txBody>
      </p:sp>
      <p:sp>
        <p:nvSpPr>
          <p:cNvPr id="15" name="Противовоспалительные_действие"/>
          <p:cNvSpPr txBox="1"/>
          <p:nvPr/>
        </p:nvSpPr>
        <p:spPr>
          <a:xfrm>
            <a:off x="6438900" y="4857750"/>
            <a:ext cx="4914900" cy="46672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Оценивают необходимость применения, контролируют функцию почек и калий.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6" name="Фоновая_терапия"/>
          <p:cNvSpPr txBox="1"/>
          <p:nvPr/>
        </p:nvSpPr>
        <p:spPr>
          <a:xfrm>
            <a:off x="933450" y="5715000"/>
            <a:ext cx="10420350" cy="5842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По KDIGO при наличии показаний финеренон добавляют к ингибитору АПФ или БРА в максимально переносимой дозе.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/>
            </a:r>
          </a:p>
          <a:p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продолжают контролировать.</a:t>
            </a:r>
          </a:p>
        </p:txBody>
      </p:sp>
      <p:sp>
        <p:nvSpPr>
          <p:cNvPr id="17" name="Полоса_не_рекомендуется"/>
          <p:cNvSpPr/>
          <p:nvPr/>
        </p:nvSpPr>
        <p:spPr>
          <a:xfrm>
            <a:off x="762000" y="1346200"/>
            <a:ext cx="50800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Совместное применение не рекомендуется</a:t>
            </a:r>
          </a:p>
        </p:txBody>
      </p:sp>
      <p:sp>
        <p:nvSpPr>
          <p:cNvPr id="18" name="Полоса_контроль"/>
          <p:cNvSpPr/>
          <p:nvPr/>
        </p:nvSpPr>
        <p:spPr>
          <a:xfrm>
            <a:off x="6261100" y="1346200"/>
            <a:ext cx="52705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Осторожность и дополнительный контроль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sp>
        <p:nvSpPr>
          <p:cNvPr id="2" name="CYP3A4_enzyme_symbol"/>
          <p:cNvSpPr/>
          <p:nvPr/>
        </p:nvSpPr>
        <p:spPr>
          <a:xfrm>
            <a:off x="4742115" y="1250241"/>
            <a:ext cx="2723835" cy="1084387"/>
          </a:xfrm>
          <a:custGeom>
            <a:avLst/>
            <a:gdLst/>
            <a:ahLst/>
            <a:cxnLst/>
            <a:rect l="l" t="t" r="r" b="b"/>
            <a:pathLst>
              <a:path w="2723835" h="1084387">
                <a:moveTo>
                  <a:pt x="2719023" y="560271"/>
                </a:moveTo>
                <a:lnTo>
                  <a:pt x="2723835" y="595012"/>
                </a:lnTo>
                <a:lnTo>
                  <a:pt x="2720309" y="629853"/>
                </a:lnTo>
                <a:lnTo>
                  <a:pt x="2708543" y="664446"/>
                </a:lnTo>
                <a:lnTo>
                  <a:pt x="2688946" y="698481"/>
                </a:lnTo>
                <a:lnTo>
                  <a:pt x="2662165" y="731705"/>
                </a:lnTo>
                <a:lnTo>
                  <a:pt x="2628994" y="763934"/>
                </a:lnTo>
                <a:lnTo>
                  <a:pt x="2590274" y="795064"/>
                </a:lnTo>
                <a:lnTo>
                  <a:pt x="2546797" y="825048"/>
                </a:lnTo>
                <a:lnTo>
                  <a:pt x="2499226" y="853886"/>
                </a:lnTo>
                <a:lnTo>
                  <a:pt x="2448044" y="881592"/>
                </a:lnTo>
                <a:lnTo>
                  <a:pt x="2393537" y="908164"/>
                </a:lnTo>
                <a:lnTo>
                  <a:pt x="2335809" y="933565"/>
                </a:lnTo>
                <a:lnTo>
                  <a:pt x="2274828" y="957697"/>
                </a:lnTo>
                <a:lnTo>
                  <a:pt x="2210492" y="980399"/>
                </a:lnTo>
                <a:lnTo>
                  <a:pt x="2142705" y="1001453"/>
                </a:lnTo>
                <a:lnTo>
                  <a:pt x="2071448" y="1020595"/>
                </a:lnTo>
                <a:lnTo>
                  <a:pt x="1996839" y="1037553"/>
                </a:lnTo>
                <a:lnTo>
                  <a:pt x="1919165" y="1052071"/>
                </a:lnTo>
                <a:lnTo>
                  <a:pt x="1838884" y="1063947"/>
                </a:lnTo>
                <a:lnTo>
                  <a:pt x="1756601" y="1073068"/>
                </a:lnTo>
                <a:lnTo>
                  <a:pt x="1673014" y="1079424"/>
                </a:lnTo>
                <a:lnTo>
                  <a:pt x="1588839" y="1083125"/>
                </a:lnTo>
                <a:lnTo>
                  <a:pt x="1504734" y="1084387"/>
                </a:lnTo>
                <a:lnTo>
                  <a:pt x="1421223" y="1083518"/>
                </a:lnTo>
                <a:lnTo>
                  <a:pt x="1338645" y="1080884"/>
                </a:lnTo>
                <a:lnTo>
                  <a:pt x="1257116" y="1076863"/>
                </a:lnTo>
                <a:lnTo>
                  <a:pt x="1176543" y="1071802"/>
                </a:lnTo>
                <a:lnTo>
                  <a:pt x="1096656" y="1065975"/>
                </a:lnTo>
                <a:lnTo>
                  <a:pt x="1017078" y="1059546"/>
                </a:lnTo>
                <a:lnTo>
                  <a:pt x="937415" y="1052544"/>
                </a:lnTo>
                <a:lnTo>
                  <a:pt x="857357" y="1044865"/>
                </a:lnTo>
                <a:lnTo>
                  <a:pt x="776771" y="1036274"/>
                </a:lnTo>
                <a:lnTo>
                  <a:pt x="695779" y="1026438"/>
                </a:lnTo>
                <a:lnTo>
                  <a:pt x="614804" y="1014965"/>
                </a:lnTo>
                <a:lnTo>
                  <a:pt x="534584" y="1001453"/>
                </a:lnTo>
                <a:lnTo>
                  <a:pt x="456134" y="985537"/>
                </a:lnTo>
                <a:lnTo>
                  <a:pt x="380680" y="966943"/>
                </a:lnTo>
                <a:lnTo>
                  <a:pt x="309556" y="945516"/>
                </a:lnTo>
                <a:lnTo>
                  <a:pt x="244084" y="921247"/>
                </a:lnTo>
                <a:lnTo>
                  <a:pt x="185451" y="894276"/>
                </a:lnTo>
                <a:lnTo>
                  <a:pt x="134594" y="864883"/>
                </a:lnTo>
                <a:lnTo>
                  <a:pt x="92114" y="833459"/>
                </a:lnTo>
                <a:lnTo>
                  <a:pt x="58225" y="800464"/>
                </a:lnTo>
                <a:lnTo>
                  <a:pt x="32742" y="766389"/>
                </a:lnTo>
                <a:lnTo>
                  <a:pt x="15124" y="731705"/>
                </a:lnTo>
                <a:lnTo>
                  <a:pt x="4545" y="696823"/>
                </a:lnTo>
                <a:lnTo>
                  <a:pt x="0" y="662069"/>
                </a:lnTo>
                <a:lnTo>
                  <a:pt x="429" y="627664"/>
                </a:lnTo>
                <a:lnTo>
                  <a:pt x="4836" y="593724"/>
                </a:lnTo>
                <a:lnTo>
                  <a:pt x="12399" y="560271"/>
                </a:lnTo>
                <a:lnTo>
                  <a:pt x="22552" y="527262"/>
                </a:lnTo>
                <a:lnTo>
                  <a:pt x="35027" y="494619"/>
                </a:lnTo>
                <a:lnTo>
                  <a:pt x="49861" y="462263"/>
                </a:lnTo>
                <a:lnTo>
                  <a:pt x="67356" y="430147"/>
                </a:lnTo>
                <a:lnTo>
                  <a:pt x="88013" y="398278"/>
                </a:lnTo>
                <a:lnTo>
                  <a:pt x="112439" y="366731"/>
                </a:lnTo>
                <a:lnTo>
                  <a:pt x="141248" y="335651"/>
                </a:lnTo>
                <a:lnTo>
                  <a:pt x="174965" y="305240"/>
                </a:lnTo>
                <a:lnTo>
                  <a:pt x="213948" y="275733"/>
                </a:lnTo>
                <a:lnTo>
                  <a:pt x="258339" y="247376"/>
                </a:lnTo>
                <a:lnTo>
                  <a:pt x="308047" y="220389"/>
                </a:lnTo>
                <a:lnTo>
                  <a:pt x="362765" y="194944"/>
                </a:lnTo>
                <a:lnTo>
                  <a:pt x="422016" y="171146"/>
                </a:lnTo>
                <a:lnTo>
                  <a:pt x="485225" y="149022"/>
                </a:lnTo>
                <a:lnTo>
                  <a:pt x="551791" y="128530"/>
                </a:lnTo>
                <a:lnTo>
                  <a:pt x="621166" y="109572"/>
                </a:lnTo>
                <a:lnTo>
                  <a:pt x="692913" y="92025"/>
                </a:lnTo>
                <a:lnTo>
                  <a:pt x="766740" y="75769"/>
                </a:lnTo>
                <a:lnTo>
                  <a:pt x="842509" y="60726"/>
                </a:lnTo>
                <a:lnTo>
                  <a:pt x="920209" y="46886"/>
                </a:lnTo>
                <a:lnTo>
                  <a:pt x="999904" y="34331"/>
                </a:lnTo>
                <a:lnTo>
                  <a:pt x="1081668" y="23245"/>
                </a:lnTo>
                <a:lnTo>
                  <a:pt x="1165504" y="13903"/>
                </a:lnTo>
                <a:lnTo>
                  <a:pt x="1251273" y="6655"/>
                </a:lnTo>
                <a:lnTo>
                  <a:pt x="1338645" y="1892"/>
                </a:lnTo>
                <a:lnTo>
                  <a:pt x="1427066" y="0"/>
                </a:lnTo>
                <a:lnTo>
                  <a:pt x="1515773" y="1319"/>
                </a:lnTo>
                <a:lnTo>
                  <a:pt x="1603827" y="6095"/>
                </a:lnTo>
                <a:lnTo>
                  <a:pt x="1690188" y="14452"/>
                </a:lnTo>
                <a:lnTo>
                  <a:pt x="1773808" y="26362"/>
                </a:lnTo>
                <a:lnTo>
                  <a:pt x="1853732" y="41643"/>
                </a:lnTo>
                <a:lnTo>
                  <a:pt x="1929195" y="59973"/>
                </a:lnTo>
                <a:lnTo>
                  <a:pt x="1999705" y="80910"/>
                </a:lnTo>
                <a:lnTo>
                  <a:pt x="2065086" y="103942"/>
                </a:lnTo>
                <a:lnTo>
                  <a:pt x="2125498" y="128530"/>
                </a:lnTo>
                <a:lnTo>
                  <a:pt x="2181401" y="154160"/>
                </a:lnTo>
                <a:lnTo>
                  <a:pt x="2233492" y="180392"/>
                </a:lnTo>
                <a:lnTo>
                  <a:pt x="2282600" y="206895"/>
                </a:lnTo>
                <a:lnTo>
                  <a:pt x="2329573" y="233471"/>
                </a:lnTo>
                <a:lnTo>
                  <a:pt x="2375156" y="260060"/>
                </a:lnTo>
                <a:lnTo>
                  <a:pt x="2419872" y="286731"/>
                </a:lnTo>
                <a:lnTo>
                  <a:pt x="2463947" y="313650"/>
                </a:lnTo>
                <a:lnTo>
                  <a:pt x="2507251" y="341052"/>
                </a:lnTo>
                <a:lnTo>
                  <a:pt x="2549297" y="369186"/>
                </a:lnTo>
                <a:lnTo>
                  <a:pt x="2589276" y="398278"/>
                </a:lnTo>
                <a:lnTo>
                  <a:pt x="2626135" y="428489"/>
                </a:lnTo>
                <a:lnTo>
                  <a:pt x="2658683" y="459886"/>
                </a:lnTo>
                <a:lnTo>
                  <a:pt x="2685711" y="492431"/>
                </a:lnTo>
                <a:lnTo>
                  <a:pt x="2706119" y="525973"/>
                </a:lnTo>
                <a:close/>
              </a:path>
            </a:pathLst>
          </a:custGeom>
          <a:solidFill>
            <a:srgbClr val="F0EAF6"/>
          </a:solidFill>
          <a:ln w="16510">
            <a:solidFill>
              <a:srgbClr val="9272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7" name="Enzyme_label"/>
          <p:cNvSpPr txBox="1"/>
          <p:nvPr/>
        </p:nvSpPr>
        <p:spPr>
          <a:xfrm>
            <a:off x="4873752" y="1472184"/>
            <a:ext cx="2395728" cy="3657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CYP3A4</a:t>
            </a:r>
          </a:p>
        </p:txBody>
      </p:sp>
      <p:sp>
        <p:nvSpPr>
          <p:cNvPr id="28" name="Enzyme_definition"/>
          <p:cNvSpPr txBox="1"/>
          <p:nvPr/>
        </p:nvSpPr>
        <p:spPr>
          <a:xfrm>
            <a:off x="4910328" y="1847088"/>
            <a:ext cx="2340864" cy="42062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Фермент системы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цитохрома P450</a:t>
            </a:r>
          </a:p>
        </p:txBody>
      </p:sp>
      <p:sp>
        <p:nvSpPr>
          <p:cNvPr id="29" name="Inhibition_label"/>
          <p:cNvSpPr txBox="1"/>
          <p:nvPr/>
        </p:nvSpPr>
        <p:spPr>
          <a:xfrm>
            <a:off x="594360" y="1435608"/>
            <a:ext cx="3054096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cxnSp>
        <p:nvCxnSpPr>
          <p:cNvPr id="30" name="Inhibition_link"/>
          <p:cNvCxnSpPr/>
          <p:nvPr/>
        </p:nvCxnSpPr>
        <p:spPr>
          <a:xfrm>
            <a:off x="2834640" y="1664208"/>
            <a:ext cx="1801368" cy="0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Inhibition_terminal"/>
          <p:cNvCxnSpPr/>
          <p:nvPr/>
        </p:nvCxnSpPr>
        <p:spPr>
          <a:xfrm>
            <a:off x="4636008" y="1508760"/>
            <a:ext cx="0" cy="310896"/>
          </a:xfrm>
          <a:prstGeom prst="line">
            <a:avLst/>
          </a:prstGeom>
          <a:ln w="27305">
            <a:solidFill>
              <a:srgbClr val="B8374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Inhibition_metabolism"/>
          <p:cNvSpPr txBox="1"/>
          <p:nvPr/>
        </p:nvSpPr>
        <p:spPr>
          <a:xfrm>
            <a:off x="594360" y="1929384"/>
            <a:ext cx="3611880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замедляется</a:t>
            </a:r>
          </a:p>
        </p:txBody>
      </p:sp>
      <p:sp>
        <p:nvSpPr>
          <p:cNvPr id="33" name="Concentration_increase"/>
          <p:cNvSpPr/>
          <p:nvPr/>
        </p:nvSpPr>
        <p:spPr>
          <a:xfrm>
            <a:off x="594360" y="2340864"/>
            <a:ext cx="210312" cy="329184"/>
          </a:xfrm>
          <a:prstGeom prst="upArrow">
            <a:avLst/>
          </a:prstGeom>
          <a:solidFill>
            <a:srgbClr val="B837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Inhibition_result"/>
          <p:cNvSpPr txBox="1"/>
          <p:nvPr/>
        </p:nvSpPr>
        <p:spPr>
          <a:xfrm>
            <a:off x="914400" y="2350008"/>
            <a:ext cx="2907792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Концентрация выше</a:t>
            </a:r>
          </a:p>
        </p:txBody>
      </p:sp>
      <p:sp>
        <p:nvSpPr>
          <p:cNvPr id="35" name="Inhibition_clinical_context"/>
          <p:cNvSpPr txBox="1"/>
          <p:nvPr/>
        </p:nvSpPr>
        <p:spPr>
          <a:xfrm>
            <a:off x="594360" y="2779776"/>
            <a:ext cx="321868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повышаться</a:t>
            </a:r>
          </a:p>
        </p:txBody>
      </p:sp>
      <p:sp>
        <p:nvSpPr>
          <p:cNvPr id="36" name="Induction_label"/>
          <p:cNvSpPr txBox="1"/>
          <p:nvPr/>
        </p:nvSpPr>
        <p:spPr>
          <a:xfrm>
            <a:off x="8503920" y="1435608"/>
            <a:ext cx="3154680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cxnSp>
        <p:nvCxnSpPr>
          <p:cNvPr id="37" name="Induction_link"/>
          <p:cNvCxnSpPr/>
          <p:nvPr/>
        </p:nvCxnSpPr>
        <p:spPr>
          <a:xfrm flipH="1">
            <a:off x="7498079" y="1664208"/>
            <a:ext cx="822961" cy="0"/>
          </a:xfrm>
          <a:prstGeom prst="line">
            <a:avLst/>
          </a:prstGeom>
          <a:ln w="27305">
            <a:solidFill>
              <a:srgbClr val="226C8E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Induction_metabolism"/>
          <p:cNvSpPr txBox="1"/>
          <p:nvPr/>
        </p:nvSpPr>
        <p:spPr>
          <a:xfrm>
            <a:off x="8375904" y="1929384"/>
            <a:ext cx="3319272" cy="29260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Метаболизм ускоряется</a:t>
            </a:r>
          </a:p>
        </p:txBody>
      </p:sp>
      <p:sp>
        <p:nvSpPr>
          <p:cNvPr id="39" name="Concentration_decrease"/>
          <p:cNvSpPr/>
          <p:nvPr/>
        </p:nvSpPr>
        <p:spPr>
          <a:xfrm>
            <a:off x="8375904" y="2340864"/>
            <a:ext cx="210312" cy="329184"/>
          </a:xfrm>
          <a:prstGeom prst="downArrow">
            <a:avLst/>
          </a:prstGeom>
          <a:solidFill>
            <a:srgbClr val="226C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Induction_result"/>
          <p:cNvSpPr txBox="1"/>
          <p:nvPr/>
        </p:nvSpPr>
        <p:spPr>
          <a:xfrm>
            <a:off x="8695944" y="2350008"/>
            <a:ext cx="2990088" cy="3383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Концентрация ниже</a:t>
            </a:r>
          </a:p>
        </p:txBody>
      </p:sp>
      <p:sp>
        <p:nvSpPr>
          <p:cNvPr id="41" name="Induction_clinical_context"/>
          <p:cNvSpPr txBox="1"/>
          <p:nvPr/>
        </p:nvSpPr>
        <p:spPr>
          <a:xfrm>
            <a:off x="8375904" y="2779776"/>
            <a:ext cx="3264408" cy="53035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Лечебный эффект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может ослабевать</a:t>
            </a:r>
          </a:p>
        </p:txBody>
      </p:sp>
      <p:sp>
        <p:nvSpPr>
          <p:cNvPr id="42" name="Substrate"/>
          <p:cNvSpPr txBox="1"/>
          <p:nvPr/>
        </p:nvSpPr>
        <p:spPr>
          <a:xfrm>
            <a:off x="3950208" y="2816352"/>
            <a:ext cx="1490472" cy="32918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43" name="Catalytic_link"/>
          <p:cNvCxnSpPr/>
          <p:nvPr/>
        </p:nvCxnSpPr>
        <p:spPr>
          <a:xfrm>
            <a:off x="6080760" y="2359152"/>
            <a:ext cx="0" cy="539496"/>
          </a:xfrm>
          <a:prstGeom prst="line">
            <a:avLst/>
          </a:prstGeom>
          <a:ln w="17780">
            <a:solidFill>
              <a:srgbClr val="7952A1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Metabolic_conversion"/>
          <p:cNvCxnSpPr/>
          <p:nvPr/>
        </p:nvCxnSpPr>
        <p:spPr>
          <a:xfrm>
            <a:off x="5504688" y="2953512"/>
            <a:ext cx="1106424" cy="0"/>
          </a:xfrm>
          <a:prstGeom prst="line">
            <a:avLst/>
          </a:prstGeom>
          <a:ln w="25400">
            <a:solidFill>
              <a:srgbClr val="7952A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Inactive_metabolites"/>
          <p:cNvSpPr txBox="1"/>
          <p:nvPr/>
        </p:nvSpPr>
        <p:spPr>
          <a:xfrm>
            <a:off x="6766560" y="2660904"/>
            <a:ext cx="1536192" cy="56692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Неактивные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метаболиты</a:t>
            </a:r>
          </a:p>
        </p:txBody>
      </p:sp>
      <p:sp>
        <p:nvSpPr>
          <p:cNvPr id="46" name="Metabolism_location"/>
          <p:cNvSpPr txBox="1"/>
          <p:nvPr/>
        </p:nvSpPr>
        <p:spPr>
          <a:xfrm>
            <a:off x="4005072" y="3328416"/>
            <a:ext cx="4160520" cy="27432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Метаболизируется в печени и стенке кишечника</a:t>
            </a:r>
          </a:p>
        </p:txBody>
      </p:sp>
      <p:sp>
        <p:nvSpPr>
          <p:cNvPr id="47" name="Strong_heading"/>
          <p:cNvSpPr txBox="1"/>
          <p:nvPr/>
        </p:nvSpPr>
        <p:spPr>
          <a:xfrm>
            <a:off x="594360" y="3794760"/>
            <a:ext cx="340156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Сильные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8" name="Moderate_weak_heading"/>
          <p:cNvSpPr txBox="1"/>
          <p:nvPr/>
        </p:nvSpPr>
        <p:spPr>
          <a:xfrm>
            <a:off x="4407408" y="3794760"/>
            <a:ext cx="3355848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Умеренные и слабые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952A1"/>
                </a:solidFill>
                <a:latin typeface="Arial Narrow"/>
                <a:cs typeface="Arial Narrow"/>
              </a:rPr>
              <a:t>ингибиторы</a:t>
            </a:r>
          </a:p>
        </p:txBody>
      </p:sp>
      <p:sp>
        <p:nvSpPr>
          <p:cNvPr id="49" name="Inducer_heading"/>
          <p:cNvSpPr txBox="1"/>
          <p:nvPr/>
        </p:nvSpPr>
        <p:spPr>
          <a:xfrm>
            <a:off x="8229600" y="3794760"/>
            <a:ext cx="3429000" cy="54864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Сильные и умеренные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индукторы</a:t>
            </a:r>
          </a:p>
        </p:txBody>
      </p:sp>
      <p:sp>
        <p:nvSpPr>
          <p:cNvPr id="50" name="Strong_examples"/>
          <p:cNvSpPr txBox="1"/>
          <p:nvPr/>
        </p:nvSpPr>
        <p:spPr>
          <a:xfrm>
            <a:off x="594360" y="4544568"/>
            <a:ext cx="3401568" cy="603504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Кларитромицин, кетоконазол,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итраконазол, ритонавир.</a:t>
            </a:r>
          </a:p>
        </p:txBody>
      </p:sp>
      <p:sp>
        <p:nvSpPr>
          <p:cNvPr id="51" name="Moderate_weak_examples"/>
          <p:cNvSpPr txBox="1"/>
          <p:nvPr/>
        </p:nvSpPr>
        <p:spPr>
          <a:xfrm>
            <a:off x="4407408" y="4544568"/>
            <a:ext cx="3355848" cy="658368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Умеренные: эритромицин, верапамил.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Слабый: флувоксамин.</a:t>
            </a:r>
          </a:p>
        </p:txBody>
      </p:sp>
      <p:sp>
        <p:nvSpPr>
          <p:cNvPr id="52" name="Inducer_examples"/>
          <p:cNvSpPr txBox="1"/>
          <p:nvPr/>
        </p:nvSpPr>
        <p:spPr>
          <a:xfrm>
            <a:off x="8229600" y="4544568"/>
            <a:ext cx="3429000" cy="72237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Сильные: рифампицин, карбамазепин,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зверобой.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Умеренный: эфавиренз.</a:t>
            </a:r>
          </a:p>
        </p:txBody>
      </p:sp>
      <p:sp>
        <p:nvSpPr>
          <p:cNvPr id="53" name="Strong_action"/>
          <p:cNvSpPr txBox="1"/>
          <p:nvPr/>
        </p:nvSpPr>
        <p:spPr>
          <a:xfrm>
            <a:off x="594360" y="5276088"/>
            <a:ext cx="3401568" cy="57607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B83742"/>
                </a:solidFill>
                <a:latin typeface="Arial Narrow"/>
                <a:cs typeface="Arial Narrow"/>
              </a:rPr>
              <a:t>противопоказано.</a:t>
            </a:r>
          </a:p>
        </p:txBody>
      </p:sp>
      <p:sp>
        <p:nvSpPr>
          <p:cNvPr id="54" name="Moderate_weak_action"/>
          <p:cNvSpPr txBox="1"/>
          <p:nvPr/>
        </p:nvSpPr>
        <p:spPr>
          <a:xfrm>
            <a:off x="4407408" y="5312664"/>
            <a:ext cx="3355848" cy="310896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848C"/>
                </a:solidFill>
                <a:latin typeface="Arial Narrow"/>
                <a:cs typeface="Arial Narrow"/>
              </a:rPr>
              <a:t>Контроль калия</a:t>
            </a:r>
          </a:p>
        </p:txBody>
      </p:sp>
      <p:sp>
        <p:nvSpPr>
          <p:cNvPr id="55" name="Moderate_weak_monitoring"/>
          <p:cNvSpPr txBox="1"/>
          <p:nvPr/>
        </p:nvSpPr>
        <p:spPr>
          <a:xfrm>
            <a:off x="4407408" y="5641848"/>
            <a:ext cx="3355848" cy="82296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начале приёма или изменении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дозы финеренона либо ингибитора.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При необходимости врач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корректирует дозу финеренона.</a:t>
            </a:r>
          </a:p>
        </p:txBody>
      </p:sp>
      <p:sp>
        <p:nvSpPr>
          <p:cNvPr id="56" name="Inducer_action"/>
          <p:cNvSpPr txBox="1"/>
          <p:nvPr/>
        </p:nvSpPr>
        <p:spPr>
          <a:xfrm>
            <a:off x="8229600" y="5349240"/>
            <a:ext cx="3429000" cy="621792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Совместное применение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226C8E"/>
                </a:solidFill>
                <a:latin typeface="Arial Narrow"/>
                <a:cs typeface="Arial Narrow"/>
              </a:rPr>
              <a:t>не рекомендуется.</a:t>
            </a:r>
          </a:p>
        </p:txBody>
      </p:sp>
      <p:sp>
        <p:nvSpPr>
          <p:cNvPr id="57" name="Grapefruit"/>
          <p:cNvSpPr txBox="1"/>
          <p:nvPr/>
        </p:nvSpPr>
        <p:spPr>
          <a:xfrm>
            <a:off x="594360" y="6000750"/>
            <a:ext cx="3524250" cy="466725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 исключают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lang="ru-RU">
                <a:solidFill>
                  <a:srgbClr val="000000"/>
                </a:solidFill>
                <a:latin typeface="Arial Narrow"/>
                <a:cs typeface="Arial Narrow"/>
              </a:rPr>
              <a:t>на время лечения: они подавляют CYP3A4.</a:t>
            </a:r>
          </a:p>
        </p:txBody>
      </p:sp>
      <p:sp>
        <p:nvSpPr>
          <p:cNvPr id="5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Heinig R, et al. Eur J Drug Metab Pharmacokinet. 2018;43:715–727. Wendl T, et al. CPT Pharmacometrics Syst Pharmacol. 2022;11:199–211.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787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Текст_калий_0"/>
          <p:cNvSpPr/>
          <p:nvPr/>
        </p:nvSpPr>
        <p:spPr>
          <a:xfrm>
            <a:off x="2743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Ячейка_рскф_0"/>
          <p:cNvSpPr/>
          <p:nvPr/>
        </p:nvSpPr>
        <p:spPr>
          <a:xfrm>
            <a:off x="6375400" y="2844800"/>
            <a:ext cx="1905000" cy="9144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Текст_рскф_0"/>
          <p:cNvSpPr/>
          <p:nvPr/>
        </p:nvSpPr>
        <p:spPr>
          <a:xfrm>
            <a:off x="8331200" y="2844800"/>
            <a:ext cx="3149600" cy="9144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6" name="Ячейка_калий_1"/>
          <p:cNvSpPr/>
          <p:nvPr/>
        </p:nvSpPr>
        <p:spPr>
          <a:xfrm>
            <a:off x="787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7" name="Текст_калий_1"/>
          <p:cNvSpPr/>
          <p:nvPr/>
        </p:nvSpPr>
        <p:spPr>
          <a:xfrm>
            <a:off x="2743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Ячейка_рскф_1"/>
          <p:cNvSpPr/>
          <p:nvPr/>
        </p:nvSpPr>
        <p:spPr>
          <a:xfrm>
            <a:off x="6375400" y="3810000"/>
            <a:ext cx="1905000" cy="11176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Текст_рскф_1"/>
          <p:cNvSpPr/>
          <p:nvPr/>
        </p:nvSpPr>
        <p:spPr>
          <a:xfrm>
            <a:off x="8331200" y="3810000"/>
            <a:ext cx="31496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Ячейка_калий_2"/>
          <p:cNvSpPr/>
          <p:nvPr/>
        </p:nvSpPr>
        <p:spPr>
          <a:xfrm>
            <a:off x="787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Текст_калий_2"/>
          <p:cNvSpPr/>
          <p:nvPr/>
        </p:nvSpPr>
        <p:spPr>
          <a:xfrm>
            <a:off x="2743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2" name="Ячейка_рскф_2"/>
          <p:cNvSpPr/>
          <p:nvPr/>
        </p:nvSpPr>
        <p:spPr>
          <a:xfrm>
            <a:off x="6375400" y="4978400"/>
            <a:ext cx="1905000" cy="6350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3" name="Текст_рскф_2"/>
          <p:cNvSpPr/>
          <p:nvPr/>
        </p:nvSpPr>
        <p:spPr>
          <a:xfrm>
            <a:off x="8331200" y="4978400"/>
            <a:ext cx="3149600" cy="6350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933450" y="1323975"/>
            <a:ext cx="10420350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 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933450" y="1876425"/>
            <a:ext cx="485775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 крови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933450" y="2286000"/>
            <a:ext cx="4857750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515100" y="1876425"/>
            <a:ext cx="48387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515100" y="2286000"/>
            <a:ext cx="5219700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 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939800" y="29464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870200" y="2946400"/>
            <a:ext cx="2921000" cy="9048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допустимой функции почек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939800" y="3911600"/>
            <a:ext cx="180975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870200" y="3911600"/>
            <a:ext cx="2921000" cy="10191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рассмотреть с дополнительным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контролем калия в первые</a:t>
            </a: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 4 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939800" y="5080000"/>
            <a:ext cx="1809750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870200" y="5080000"/>
            <a:ext cx="2921000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27800" y="29464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483600" y="29464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 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27800" y="3911600"/>
            <a:ext cx="1952625" cy="4572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 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483600" y="3911600"/>
            <a:ext cx="292100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 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27800" y="5080000"/>
            <a:ext cx="1952625" cy="4476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483600" y="5080000"/>
            <a:ext cx="2921000" cy="4953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933450" y="5715000"/>
            <a:ext cx="10420350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 20 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933450" y="5994400"/>
            <a:ext cx="10420350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Перед назначением проверяют противопоказания: гиперчувствительность к компонентам препарата,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болезнь Аддисона и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 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 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 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ctr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стабильном лечении калий и рСКФ проверяют каждые 4 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 ≤5,0 ммоль/л калий дополнительно определяют в первые 4 недели.</a:t>
            </a:r>
          </a:p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сочетании с ингибитором НГЛТ2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По KDIGO 2024: креатинин и рСКФ определяют одновременно с калием.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Ячейка_Порог_3"/>
          <p:cNvSpPr/>
          <p:nvPr/>
        </p:nvSpPr>
        <p:spPr>
          <a:xfrm>
            <a:off x="80899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Карточка_Порог_3"/>
          <p:cNvSpPr/>
          <p:nvPr/>
        </p:nvSpPr>
        <p:spPr>
          <a:xfrm>
            <a:off x="80899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Ячейка_Порог_2"/>
          <p:cNvSpPr/>
          <p:nvPr/>
        </p:nvSpPr>
        <p:spPr>
          <a:xfrm>
            <a:off x="43561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Карточка_Порог_2"/>
          <p:cNvSpPr/>
          <p:nvPr/>
        </p:nvSpPr>
        <p:spPr>
          <a:xfrm>
            <a:off x="43561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Ячейка_Порог_1"/>
          <p:cNvSpPr/>
          <p:nvPr/>
        </p:nvSpPr>
        <p:spPr>
          <a:xfrm>
            <a:off x="812800" y="1346200"/>
            <a:ext cx="3403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Порог_1"/>
          <p:cNvSpPr/>
          <p:nvPr/>
        </p:nvSpPr>
        <p:spPr>
          <a:xfrm>
            <a:off x="812800" y="1905000"/>
            <a:ext cx="3403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933450" y="1066800"/>
            <a:ext cx="1042035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крови,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9652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5085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42300" y="1346200"/>
            <a:ext cx="3098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9652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 мг можно увеличить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 20 мг один раз в сутки*.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пациент получает 20 мг,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5085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 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42300" y="2006600"/>
            <a:ext cx="3098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933450" y="3200400"/>
            <a:ext cx="1042035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* Дозу 10 мг не повышают, если рСКФ снизилась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более чем на 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933450" y="3810000"/>
            <a:ext cx="10420350" cy="5715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После временной отмены: при калии ≤5,0 ммоль/л в повторном анализе</a:t>
            </a: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 врач может возобновить финеренон 10 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933450" y="4445000"/>
            <a:ext cx="10420350" cy="52387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и функцию почек проверяют через 4 недели после возобновления или повышения дозы.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При повышенном риске контроль проводят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933450" y="5181600"/>
            <a:ext cx="104140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клинических случая: можно ли начать лечение финереноном?</a:t>
            </a:r>
          </a:p>
        </p:txBody>
      </p:sp>
      <p:sp>
        <p:nvSpPr>
          <p:cNvPr id="3" name="Условные_случаи"/>
          <p:cNvSpPr txBox="1"/>
          <p:nvPr/>
        </p:nvSpPr>
        <p:spPr>
          <a:xfrm>
            <a:off x="457200" y="838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Два условных случая при сахарном диабете 2 типа.</a:t>
            </a:r>
          </a:p>
        </p:txBody>
      </p:sp>
      <p:sp>
        <p:nvSpPr>
          <p:cNvPr id="4" name="Пациент_36"/>
          <p:cNvSpPr/>
          <p:nvPr/>
        </p:nvSpPr>
        <p:spPr>
          <a:xfrm>
            <a:off x="4572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 года</a:t>
            </a:r>
          </a:p>
        </p:txBody>
      </p:sp>
      <p:sp>
        <p:nvSpPr>
          <p:cNvPr id="5" name="Карточка_36"/>
          <p:cNvSpPr/>
          <p:nvPr/>
        </p:nvSpPr>
        <p:spPr>
          <a:xfrm>
            <a:off x="4572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Метка_рСКФ_36"/>
          <p:cNvSpPr txBox="1"/>
          <p:nvPr/>
        </p:nvSpPr>
        <p:spPr>
          <a:xfrm>
            <a:off x="6858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7" name="Значение_рСКФ_36"/>
          <p:cNvSpPr txBox="1"/>
          <p:nvPr/>
        </p:nvSpPr>
        <p:spPr>
          <a:xfrm>
            <a:off x="17018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48 мл/мин/1,73 м², стабильна</a:t>
            </a:r>
          </a:p>
        </p:txBody>
      </p:sp>
      <p:sp>
        <p:nvSpPr>
          <p:cNvPr id="8" name="Метка_АКО_36"/>
          <p:cNvSpPr txBox="1"/>
          <p:nvPr/>
        </p:nvSpPr>
        <p:spPr>
          <a:xfrm>
            <a:off x="6858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9" name="Значение_АКО_36"/>
          <p:cNvSpPr txBox="1"/>
          <p:nvPr/>
        </p:nvSpPr>
        <p:spPr>
          <a:xfrm>
            <a:off x="17018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320 и 360 мг/г с интервалом 4 месяца</a:t>
            </a:r>
          </a:p>
        </p:txBody>
      </p:sp>
      <p:sp>
        <p:nvSpPr>
          <p:cNvPr id="10" name="Метка_Калий_36"/>
          <p:cNvSpPr txBox="1"/>
          <p:nvPr/>
        </p:nvSpPr>
        <p:spPr>
          <a:xfrm>
            <a:off x="685800" y="25400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11" name="Значение_Калий_36"/>
          <p:cNvSpPr txBox="1"/>
          <p:nvPr/>
        </p:nvSpPr>
        <p:spPr>
          <a:xfrm>
            <a:off x="1701800" y="25400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4,6 ммоль/л</a:t>
            </a:r>
          </a:p>
        </p:txBody>
      </p:sp>
      <p:sp>
        <p:nvSpPr>
          <p:cNvPr id="12" name="Метка_Терапия_36"/>
          <p:cNvSpPr txBox="1"/>
          <p:nvPr/>
        </p:nvSpPr>
        <p:spPr>
          <a:xfrm>
            <a:off x="685800" y="2946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13" name="Значение_Терапия_36"/>
          <p:cNvSpPr txBox="1"/>
          <p:nvPr/>
        </p:nvSpPr>
        <p:spPr>
          <a:xfrm>
            <a:off x="1701800" y="2946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Лозартан 100 мг/сут (максимально переносимая доза), эмпаглифлозин 10 мг/сут</a:t>
            </a:r>
          </a:p>
        </p:txBody>
      </p:sp>
      <p:sp>
        <p:nvSpPr>
          <p:cNvPr id="14" name="Вывод_36"/>
          <p:cNvSpPr txBox="1"/>
          <p:nvPr/>
        </p:nvSpPr>
        <p:spPr>
          <a:xfrm>
            <a:off x="6858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4EA72E"/>
                </a:solidFill>
                <a:latin typeface="Arial Narrow"/>
                <a:cs typeface="Arial Narrow"/>
              </a:rPr>
              <a:t>Можно обсудить начало лечения</a:t>
            </a:r>
          </a:p>
        </p:txBody>
      </p:sp>
      <p:sp>
        <p:nvSpPr>
          <p:cNvPr id="15" name="Действие_36"/>
          <p:cNvSpPr txBox="1"/>
          <p:nvPr/>
        </p:nvSpPr>
        <p:spPr>
          <a:xfrm>
            <a:off x="6858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проверки противопоказаний и взаимодействий врач может начать финеренон 10 мг один раз в сутки. Калий и рСКФ проверяют через 4 недели.</a:t>
            </a:r>
          </a:p>
        </p:txBody>
      </p:sp>
      <p:sp>
        <p:nvSpPr>
          <p:cNvPr id="16" name="Пациент_492"/>
          <p:cNvSpPr/>
          <p:nvPr/>
        </p:nvSpPr>
        <p:spPr>
          <a:xfrm>
            <a:off x="6248400" y="11430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 лет</a:t>
            </a:r>
          </a:p>
        </p:txBody>
      </p:sp>
      <p:sp>
        <p:nvSpPr>
          <p:cNvPr id="17" name="Карточка_492"/>
          <p:cNvSpPr/>
          <p:nvPr/>
        </p:nvSpPr>
        <p:spPr>
          <a:xfrm>
            <a:off x="6248400" y="1600200"/>
            <a:ext cx="5486400" cy="4572000"/>
          </a:xfrm>
          <a:prstGeom prst="roundRect">
            <a:avLst>
              <a:gd name="adj" fmla="val 222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Метка_рСКФ_492"/>
          <p:cNvSpPr txBox="1"/>
          <p:nvPr/>
        </p:nvSpPr>
        <p:spPr>
          <a:xfrm>
            <a:off x="6477000" y="17272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19" name="Значение_рСКФ_492"/>
          <p:cNvSpPr txBox="1"/>
          <p:nvPr/>
        </p:nvSpPr>
        <p:spPr>
          <a:xfrm>
            <a:off x="7493000" y="17272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78 мл/мин/1,73 м²</a:t>
            </a:r>
          </a:p>
        </p:txBody>
      </p:sp>
      <p:sp>
        <p:nvSpPr>
          <p:cNvPr id="20" name="Метка_АКО_492"/>
          <p:cNvSpPr txBox="1"/>
          <p:nvPr/>
        </p:nvSpPr>
        <p:spPr>
          <a:xfrm>
            <a:off x="6477000" y="21336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АКО</a:t>
            </a:r>
          </a:p>
        </p:txBody>
      </p:sp>
      <p:sp>
        <p:nvSpPr>
          <p:cNvPr id="21" name="Значение_АКО_492"/>
          <p:cNvSpPr txBox="1"/>
          <p:nvPr/>
        </p:nvSpPr>
        <p:spPr>
          <a:xfrm>
            <a:off x="7493000" y="21336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110 мг/г однократно, во время инфекции мочевых путей</a:t>
            </a:r>
          </a:p>
        </p:txBody>
      </p:sp>
      <p:sp>
        <p:nvSpPr>
          <p:cNvPr id="22" name="Метка_Калий_492"/>
          <p:cNvSpPr txBox="1"/>
          <p:nvPr/>
        </p:nvSpPr>
        <p:spPr>
          <a:xfrm>
            <a:off x="6477000" y="26924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3" name="Значение_Калий_492"/>
          <p:cNvSpPr txBox="1"/>
          <p:nvPr/>
        </p:nvSpPr>
        <p:spPr>
          <a:xfrm>
            <a:off x="7493000" y="26924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Актуального результата нет</a:t>
            </a:r>
          </a:p>
        </p:txBody>
      </p:sp>
      <p:sp>
        <p:nvSpPr>
          <p:cNvPr id="24" name="Метка_Терапия_492"/>
          <p:cNvSpPr txBox="1"/>
          <p:nvPr/>
        </p:nvSpPr>
        <p:spPr>
          <a:xfrm>
            <a:off x="6477000" y="3098800"/>
            <a:ext cx="9652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1">
                <a:solidFill>
                  <a:srgbClr val="404040"/>
                </a:solidFill>
                <a:latin typeface="Arial Narrow"/>
                <a:cs typeface="Arial Narrow"/>
              </a:rPr>
              <a:t>Терапия</a:t>
            </a:r>
          </a:p>
        </p:txBody>
      </p:sp>
      <p:sp>
        <p:nvSpPr>
          <p:cNvPr id="25" name="Значение_Терапия_492"/>
          <p:cNvSpPr txBox="1"/>
          <p:nvPr/>
        </p:nvSpPr>
        <p:spPr>
          <a:xfrm>
            <a:off x="7493000" y="3098800"/>
            <a:ext cx="40132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 не уточнён</a:t>
            </a:r>
          </a:p>
        </p:txBody>
      </p:sp>
      <p:sp>
        <p:nvSpPr>
          <p:cNvPr id="26" name="Вывод_492"/>
          <p:cNvSpPr txBox="1"/>
          <p:nvPr/>
        </p:nvSpPr>
        <p:spPr>
          <a:xfrm>
            <a:off x="6477000" y="3962400"/>
            <a:ext cx="50292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E97132"/>
                </a:solidFill>
                <a:latin typeface="Arial Narrow"/>
                <a:cs typeface="Arial Narrow"/>
              </a:rPr>
              <a:t>Данных пока недостаточно</a:t>
            </a:r>
          </a:p>
        </p:txBody>
      </p:sp>
      <p:sp>
        <p:nvSpPr>
          <p:cNvPr id="27" name="Действие_492"/>
          <p:cNvSpPr txBox="1"/>
          <p:nvPr/>
        </p:nvSpPr>
        <p:spPr>
          <a:xfrm>
            <a:off x="6477000" y="4343400"/>
            <a:ext cx="5029200" cy="172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лечения инфекции повторно оценивают альбуминурию, подтверждают стойкость изменений (не менее 3 месяцев), определяют калий и уточняют список лекарств.</a:t>
            </a:r>
          </a:p>
        </p:txBody>
      </p:sp>
      <p:sp>
        <p:nvSpPr>
          <p:cNvPr id="28" name="Сохранная_фильтрация"/>
          <p:cNvSpPr txBox="1"/>
          <p:nvPr/>
        </p:nvSpPr>
        <p:spPr>
          <a:xfrm>
            <a:off x="6477000" y="3556000"/>
            <a:ext cx="50292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500" b="0">
                <a:solidFill>
                  <a:srgbClr val="595959"/>
                </a:solidFill>
                <a:latin typeface="Arial Narrow"/>
                <a:cs typeface="Arial Narrow"/>
              </a:rPr>
              <a:t>Сохранная рСКФ не исключает ХБП.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sp>
        <p:nvSpPr>
          <p:cNvPr id="3" name="Условный_случай"/>
          <p:cNvSpPr txBox="1"/>
          <p:nvPr/>
        </p:nvSpPr>
        <p:spPr>
          <a:xfrm>
            <a:off x="457200" y="838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Условный случай: взрослый с ХБП при сахарном диабете 2 типа, состояние стабильное.</a:t>
            </a:r>
          </a:p>
        </p:txBody>
      </p:sp>
      <p:graphicFrame>
        <p:nvGraphicFramePr>
          <p:cNvPr id="4" name="График_калия"/>
          <p:cNvGraphicFramePr>
            <a:graphicFrameLocks noGrp="1"/>
          </p:cNvGraphicFramePr>
          <p:nvPr/>
        </p:nvGraphicFramePr>
        <p:xfrm>
          <a:off x="381000" y="1219200"/>
          <a:ext cx="5588000" cy="45212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5" name="Шаг_96"/>
          <p:cNvSpPr txBox="1"/>
          <p:nvPr/>
        </p:nvSpPr>
        <p:spPr>
          <a:xfrm>
            <a:off x="6350000" y="1219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До начала лечения: калий 4,5 ммоль/л</a:t>
            </a:r>
          </a:p>
        </p:txBody>
      </p:sp>
      <p:sp>
        <p:nvSpPr>
          <p:cNvPr id="6" name="Шаг_текст_96"/>
          <p:cNvSpPr txBox="1"/>
          <p:nvPr/>
        </p:nvSpPr>
        <p:spPr>
          <a:xfrm>
            <a:off x="6350000" y="1549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65. Назначен финеренон 20 мг один раз в сутки.</a:t>
            </a:r>
          </a:p>
        </p:txBody>
      </p:sp>
      <p:sp>
        <p:nvSpPr>
          <p:cNvPr id="7" name="Шаг_170"/>
          <p:cNvSpPr txBox="1"/>
          <p:nvPr/>
        </p:nvSpPr>
        <p:spPr>
          <a:xfrm>
            <a:off x="6350000" y="215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B5323C"/>
                </a:solidFill>
                <a:latin typeface="Arial Narrow"/>
                <a:cs typeface="Arial Narrow"/>
              </a:rPr>
              <a:t>Через 4 недели: калий 5,7 ммоль/л</a:t>
            </a:r>
          </a:p>
        </p:txBody>
      </p:sp>
      <p:sp>
        <p:nvSpPr>
          <p:cNvPr id="8" name="Шаг_текст_170"/>
          <p:cNvSpPr txBox="1"/>
          <p:nvPr/>
        </p:nvSpPr>
        <p:spPr>
          <a:xfrm>
            <a:off x="6350000" y="248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61, недавно добавлен ко-тримоксазол. Финеренон временно отменяют, выясняют причину и повторяют анализ.</a:t>
            </a:r>
          </a:p>
        </p:txBody>
      </p:sp>
      <p:sp>
        <p:nvSpPr>
          <p:cNvPr id="9" name="Шаг_270"/>
          <p:cNvSpPr txBox="1"/>
          <p:nvPr/>
        </p:nvSpPr>
        <p:spPr>
          <a:xfrm>
            <a:off x="6350000" y="3429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E97132"/>
                </a:solidFill>
                <a:latin typeface="Arial Narrow"/>
                <a:cs typeface="Arial Narrow"/>
              </a:rPr>
              <a:t>Повторный анализ: калий 4,9 ммоль/л</a:t>
            </a:r>
          </a:p>
        </p:txBody>
      </p:sp>
      <p:sp>
        <p:nvSpPr>
          <p:cNvPr id="10" name="Шаг_текст_270"/>
          <p:cNvSpPr txBox="1"/>
          <p:nvPr/>
        </p:nvSpPr>
        <p:spPr>
          <a:xfrm>
            <a:off x="6350000" y="37592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может возобновить лечение в дозе 10 мг один раз в сутки. Сразу к 20 мг не возвращаются.</a:t>
            </a:r>
          </a:p>
        </p:txBody>
      </p:sp>
      <p:sp>
        <p:nvSpPr>
          <p:cNvPr id="11" name="Шаг_356"/>
          <p:cNvSpPr txBox="1"/>
          <p:nvPr/>
        </p:nvSpPr>
        <p:spPr>
          <a:xfrm>
            <a:off x="6350000" y="45212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700" b="1">
                <a:solidFill>
                  <a:srgbClr val="7030A0"/>
                </a:solidFill>
                <a:latin typeface="Arial Narrow"/>
                <a:cs typeface="Arial Narrow"/>
              </a:rPr>
              <a:t>Через 4 недели после возобновления</a:t>
            </a:r>
          </a:p>
        </p:txBody>
      </p:sp>
      <p:sp>
        <p:nvSpPr>
          <p:cNvPr id="12" name="Шаг_текст_356"/>
          <p:cNvSpPr txBox="1"/>
          <p:nvPr/>
        </p:nvSpPr>
        <p:spPr>
          <a:xfrm>
            <a:off x="6350000" y="4851400"/>
            <a:ext cx="5384800" cy="812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рСКФ, далее плановый контроль.</a:t>
            </a:r>
          </a:p>
        </p:txBody>
      </p:sp>
      <p:sp>
        <p:nvSpPr>
          <p:cNvPr id="13" name="Срочность"/>
          <p:cNvSpPr txBox="1"/>
          <p:nvPr/>
        </p:nvSpPr>
        <p:spPr>
          <a:xfrm>
            <a:off x="6350000" y="5461000"/>
            <a:ext cx="53848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При ухудшении состояния планового контроля не ждут.</a:t>
            </a:r>
          </a:p>
        </p:txBody>
      </p:sp>
      <p:sp>
        <p:nvSpPr>
          <p:cNvPr id="1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 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Levin_G_header_446">
            <a:extLst>
              <a:ext uri="{FF2B5EF4-FFF2-40B4-BE49-F238E27FC236}">
                <a16:creationId xmlns:a16="http://schemas.microsoft.com/office/drawing/2014/main" id="{B8219F07-CB66-4999-AAC4-93050E2685DC}"/>
              </a:ext>
            </a:extLst>
          </p:cNvPr>
          <p:cNvSpPr>
            <a:spLocks noGrp="1"/>
          </p:cNvSpPr>
          <p:nvPr/>
        </p:nvSpPr>
        <p:spPr>
          <a:xfrm>
            <a:off x="4648200" y="4248150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4EA72E"/>
          </a:solidFill>
          <a:ln w="19050">
            <a:solidFill>
              <a:srgbClr val="FFFFFF"/>
            </a:solidFill>
          </a:ln>
        </p:spPr>
      </p:sp>
      <p:sp>
        <p:nvSpPr>
          <p:cNvPr id="40" name="Levin_G_header_241">
            <a:extLst>
              <a:ext uri="{FF2B5EF4-FFF2-40B4-BE49-F238E27FC236}">
                <a16:creationId xmlns:a16="http://schemas.microsoft.com/office/drawing/2014/main" id="{6E2683CA-CB97-4FB8-B92B-ADDB4CE70E77}"/>
              </a:ext>
            </a:extLst>
          </p:cNvPr>
          <p:cNvSpPr>
            <a:spLocks noGrp="1"/>
          </p:cNvSpPr>
          <p:nvPr/>
        </p:nvSpPr>
        <p:spPr>
          <a:xfrm>
            <a:off x="4648200" y="22955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2C71A4"/>
          </a:solidFill>
          <a:ln w="19050">
            <a:solidFill>
              <a:srgbClr val="FFFFFF"/>
            </a:solidFill>
          </a:ln>
        </p:spPr>
      </p:sp>
      <p:sp>
        <p:nvSpPr>
          <p:cNvPr id="39" name="Levin_G_header_45">
            <a:extLst>
              <a:ext uri="{FF2B5EF4-FFF2-40B4-BE49-F238E27FC236}">
                <a16:creationId xmlns:a16="http://schemas.microsoft.com/office/drawing/2014/main" id="{9DC41EBB-D3BC-457F-8844-C09BC549B63B}"/>
              </a:ext>
            </a:extLst>
          </p:cNvPr>
          <p:cNvSpPr>
            <a:spLocks noGrp="1"/>
          </p:cNvSpPr>
          <p:nvPr/>
        </p:nvSpPr>
        <p:spPr>
          <a:xfrm>
            <a:off x="4648200" y="428625"/>
            <a:ext cx="6896100" cy="571500"/>
          </a:xfrm>
          <a:prstGeom prst="roundRect">
            <a:avLst>
              <a:gd name="adj" fmla="val 13333"/>
            </a:avLst>
          </a:prstGeom>
          <a:solidFill>
            <a:srgbClr val="A02B93"/>
          </a:solidFill>
          <a:ln w="19050">
            <a:solidFill>
              <a:srgbClr val="FFFFFF"/>
            </a:solidFill>
          </a:ln>
        </p:spPr>
      </p:sp>
      <p:sp>
        <p:nvSpPr>
          <p:cNvPr id="2" name="Main_title"/>
          <p:cNvSpPr txBox="1"/>
          <p:nvPr/>
        </p:nvSpPr>
        <p:spPr>
          <a:xfrm>
            <a:off x="723900" y="2124075"/>
            <a:ext cx="3190875" cy="21145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знает и может объяснить врачу</a:t>
            </a:r>
          </a:p>
        </p:txBody>
      </p:sp>
      <p:pic>
        <p:nvPicPr>
          <p:cNvPr id="5" name="Picture 4" descr="S08_01_4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38700" y="1123950"/>
            <a:ext cx="626850" cy="952500"/>
          </a:xfrm>
          <a:prstGeom prst="rect">
            <a:avLst/>
          </a:prstGeom>
        </p:spPr>
      </p:pic>
      <p:sp>
        <p:nvSpPr>
          <p:cNvPr id="6" name="Text_5"/>
          <p:cNvSpPr txBox="1"/>
          <p:nvPr/>
        </p:nvSpPr>
        <p:spPr>
          <a:xfrm>
            <a:off x="4800600" y="4857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Знать показание и профиль пациента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5848350" y="11049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Диабет 2 типа, подтверждённая болезнь почек и альбуминурия.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пороги рСКФ и калия, требования к фоновой терапии.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4800600" y="2352675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результаты исследований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10" name="Text_9"/>
          <p:cNvSpPr txBox="1"/>
          <p:nvPr/>
        </p:nvSpPr>
        <p:spPr>
          <a:xfrm>
            <a:off x="5848350" y="2971800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Отличать почечные и сердечно-сосудистые исходы от изменения альбуминурии.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Объяснять ожидаемую пользу и ограничения исследований.</a:t>
            </a:r>
          </a:p>
        </p:txBody>
      </p:sp>
      <p:grpSp>
        <p:nvGrpSpPr>
          <p:cNvPr id="11" name="Исходный_визуал_S13_1"/>
          <p:cNvGrpSpPr/>
          <p:nvPr/>
        </p:nvGrpSpPr>
        <p:grpSpPr>
          <a:xfrm>
            <a:off x="4762500" y="4953000"/>
            <a:ext cx="834134" cy="952500"/>
            <a:chOff x="749808" y="1399032"/>
            <a:chExt cx="1536192" cy="1754184"/>
          </a:xfrm>
        </p:grpSpPr>
        <p:grpSp>
          <p:nvGrpSpPr>
            <p:cNvPr id="12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13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4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5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6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7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8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19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0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1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2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3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26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7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8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29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0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1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2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3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34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36" name="Text_11"/>
          <p:cNvSpPr txBox="1"/>
          <p:nvPr/>
        </p:nvSpPr>
        <p:spPr>
          <a:xfrm>
            <a:off x="4800600" y="4305300"/>
            <a:ext cx="6591300" cy="457200"/>
          </a:xfrm>
          <a:prstGeom prst="rect">
            <a:avLst/>
          </a:prstGeom>
          <a:noFill/>
        </p:spPr>
        <p:txBody>
          <a:bodyPr wrap="square" lIns="0" tIns="10972" rIns="0" bIns="10972" anchor="ctr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300" b="1" u="none">
                <a:solidFill>
                  <a:srgbClr val="FFFFFF"/>
                </a:solidFill>
                <a:latin typeface="Arial"/>
              </a:defRPr>
            </a:pP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>Объяснять контроль калия</a:t>
            </a:r>
            <a:r>
              <a:rPr lang="ru-RU" sz="1800" b="1" u="none">
                <a:solidFill>
                  <a:srgbClr val="FFFFFF"/>
                </a:solidFill>
                <a:latin typeface="Arial Narrow"/>
                <a:cs typeface="Arial Narrow"/>
              </a:rPr>
              <a:t/>
            </a:r>
          </a:p>
        </p:txBody>
      </p:sp>
      <p:sp>
        <p:nvSpPr>
          <p:cNvPr id="37" name="Text_12"/>
          <p:cNvSpPr txBox="1"/>
          <p:nvPr/>
        </p:nvSpPr>
        <p:spPr>
          <a:xfrm>
            <a:off x="5848350" y="4924425"/>
            <a:ext cx="5695950" cy="11906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Знать, с какими препаратами финеренон не сочетают.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Знать сроки контроля, основания для временной отмены и условия возобновления.</a:t>
            </a:r>
          </a:p>
        </p:txBody>
      </p:sp>
      <p:sp>
        <p:nvSpPr>
          <p:cNvPr id="38" name="Text_13"/>
          <p:cNvSpPr txBox="1"/>
          <p:nvPr/>
        </p:nvSpPr>
        <p:spPr>
          <a:xfrm>
            <a:off x="457200" y="6045200"/>
            <a:ext cx="11277600" cy="3302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доказательства. Диагноз и лечение определяет врач.</a:t>
            </a:r>
          </a:p>
        </p:txBody>
      </p:sp>
      <p:pic>
        <p:nvPicPr>
          <p:cNvPr id="42" name="Почка_итог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400" y="3075037"/>
            <a:ext cx="482600" cy="733325"/>
          </a:xfrm>
          <a:prstGeom prst="rect">
            <a:avLst/>
          </a:prstGeom>
        </p:spPr>
      </p:pic>
      <p:pic>
        <p:nvPicPr>
          <p:cNvPr id="43" name="Сердце_итог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15167" y="3098800"/>
            <a:ext cx="542464" cy="711200"/>
          </a:xfrm>
          <a:prstGeom prst="rect">
            <a:avLst/>
          </a:prstGeom>
        </p:spPr>
      </p:pic>
      <p:sp>
        <p:nvSpPr>
          <p:cNvPr id="44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≥25 и &lt;90 мл/мин/1,73 м², АКО 200–3500 мг/г. Финеренон сравнивали с плацебо.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Фоновая терапия по протоколу: ингибитор АПФ или БРА в максимально переносимой дозе.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590675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 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867015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184494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50197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2819467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13693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45441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377190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3943350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006F99"/>
            </a:solidFill>
          </a:ln>
        </p:spPr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006F99"/>
          </a:solidFill>
          <a:ln w="0">
            <a:noFill/>
          </a:ln>
        </p:spPr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006F99"/>
            </a:solidFill>
          </a:ln>
        </p:spPr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1971675"/>
            <a:ext cx="7019925" cy="1905000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326409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208603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571750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15277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3943350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219575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47" name="n_heading">
            <a:extLst>
              <a:ext uri="{FF2B5EF4-FFF2-40B4-BE49-F238E27FC236}">
                <a16:creationId xmlns:a16="http://schemas.microsoft.com/office/drawing/2014/main" id="{A4B466BC-6D60-40FD-A12A-05164B755A52}"/>
              </a:ext>
            </a:extLst>
          </p:cNvPr>
          <p:cNvSpPr>
            <a:spLocks noGrp="1"/>
          </p:cNvSpPr>
          <p:nvPr/>
        </p:nvSpPr>
        <p:spPr>
          <a:xfrm>
            <a:off x="457200" y="4495800"/>
            <a:ext cx="2571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Число пациентов</a:t>
            </a:r>
          </a:p>
        </p:txBody>
      </p:sp>
      <p:graphicFrame>
        <p:nvGraphicFramePr>
          <p:cNvPr id="304" name="Таблица 303"/>
          <p:cNvGraphicFramePr/>
          <p:nvPr/>
        </p:nvGraphicFramePr>
        <p:xfrm>
          <a:off x="1590729" y="4733925"/>
          <a:ext cx="7089991" cy="552450"/>
        </p:xfrm>
        <a:graphic>
          <a:graphicData uri="http://schemas.openxmlformats.org/drawingml/2006/table">
            <a:tbl>
              <a:tblPr/>
              <a:tblGrid>
                <a:gridCol w="3238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99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921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031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3141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22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33196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198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324536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64803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326736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647212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326599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863944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549750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</a:tblGrid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791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760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754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744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733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702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699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497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175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594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>
                      <a:solidFill>
                        <a:srgbClr val="FFFFFF"/>
                      </a:solidFill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6225"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793</a:t>
                      </a:r>
                    </a:p>
                  </a:txBody>
                  <a:tcPr marL="0" marR="0" marT="0" marB="0" anchor="ctr">
                    <a:lnL w="9525">
                      <a:solidFill>
                        <a:srgbClr val="FFFFFF"/>
                      </a:solidFill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780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768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762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751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742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732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722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711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528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361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193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637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>
                          <a:solidFill>
                            <a:srgbClr val="000000"/>
                          </a:solidFill>
                          <a:latin typeface="Arial Narrow"/>
                          <a:ea typeface="Calibri"/>
                          <a:cs typeface="Arial Narrow"/>
                        </a:rPr>
                        <a:t>608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>
                      <a:solidFill>
                        <a:srgbClr val="FFFFFF"/>
                      </a:solidFill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>
                      <a:solidFill>
                        <a:srgbClr val="FFFFFF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9" name="n_placebo">
            <a:extLst>
              <a:ext uri="{FF2B5EF4-FFF2-40B4-BE49-F238E27FC236}">
                <a16:creationId xmlns:a16="http://schemas.microsoft.com/office/drawing/2014/main" id="{7CB116B5-24FE-4F59-AACE-3FBDE3BE1ADB}"/>
              </a:ext>
            </a:extLst>
          </p:cNvPr>
          <p:cNvSpPr>
            <a:spLocks noGrp="1"/>
          </p:cNvSpPr>
          <p:nvPr/>
        </p:nvSpPr>
        <p:spPr>
          <a:xfrm>
            <a:off x="457200" y="4733925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0" name="n_finerenone">
            <a:extLst>
              <a:ext uri="{FF2B5EF4-FFF2-40B4-BE49-F238E27FC236}">
                <a16:creationId xmlns:a16="http://schemas.microsoft.com/office/drawing/2014/main" id="{EE51F799-B66A-4C29-B6DF-5576646A0351}"/>
              </a:ext>
            </a:extLst>
          </p:cNvPr>
          <p:cNvSpPr>
            <a:spLocks noGrp="1"/>
          </p:cNvSpPr>
          <p:nvPr/>
        </p:nvSpPr>
        <p:spPr>
          <a:xfrm>
            <a:off x="457200" y="5010150"/>
            <a:ext cx="1133475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рСКФ за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6F99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6F99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 м² в год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 ДИ 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 32-го месяца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3054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исход: 13,9% против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 ДИ 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7721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 на ≥57%, 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госпитализация по поводу сердечной недостаточности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4197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Гиперкалиемия: 17,0% против 13,3%.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неё: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1,5% против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6019800"/>
            <a:ext cx="4210050" cy="3714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ХБП без диабета: показания нет в США и ЕС.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инструкции Финеренон-Орвилле его нет.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ДИ: доверительный интервал; ХБП: хроническая болезнь почек; БРА: блокатор рецепторов ангиотензина II. На графике показан 95% ДИ; «после отмены»: примерно через 4 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 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242 взрослых. рСКФ ≥25 и &lt;90 мл/мин/1,73 м².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АКО ≥200 и &lt;5000 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Фоновая терапия: инсулин и ингибитор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258568"/>
            <a:ext cx="6263640" cy="48463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Снижение альбуминурии от исходного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 6 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258568"/>
            <a:ext cx="4251960" cy="59436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944368"/>
            <a:ext cx="4251960" cy="151790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Относительно плацебо.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По первичной конечной точке.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0,75 (95% ДИ 0,65–0,87),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594360" y="5385816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точка: изменение альбуминурии. Влияние на диализ и другие клинические исходы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 FINE-ONE не оценивали. Гиперкалиемия: 10,1% против 3,3%.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6029325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С 16 сентября 2026 года Керендия одобрена в США при хронической болезни почек и диабете 1 типа.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215341/S-011. Kerendia (finerenone). US Prescribing Information.</a:t>
            </a:r>
          </a:p>
        </p:txBody>
      </p:sp>
    </p:spTree>
  </p:cSld>
  <p:clrMapOvr>
    <a:masterClrMapping/>
  </p:clrMapOvr>
</p:sld>
</file>

<file path=ppt/slides/slide39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США: финеренон одобрен при хронической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болезни почек и диабете 1 типа</a:t>
            </a:r>
          </a:p>
        </p:txBody>
      </p:sp>
      <p:sp>
        <p:nvSpPr>
          <p:cNvPr id="3" name="Дата_решения">
            <a:extLst xmlns:a="http://schemas.openxmlformats.org/drawingml/2006/main">
              <a:ext uri="{FF2B5EF4-FFF2-40B4-BE49-F238E27FC236}">
                <a16:creationId xmlns:a16="http://schemas.microsoft.com/office/drawing/2014/main" id="{0BEBF87A-C208-493D-957F-AD1ABAB88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438275"/>
            <a:ext cx="447675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2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16 сентября 2026</a:t>
            </a:r>
          </a:p>
        </p:txBody>
      </p:sp>
      <p:sp>
        <p:nvSpPr>
          <p:cNvPr id="4" name="Регулятор">
            <a:extLst xmlns:a="http://schemas.openxmlformats.org/drawingml/2006/main">
              <a:ext uri="{FF2B5EF4-FFF2-40B4-BE49-F238E27FC236}">
                <a16:creationId xmlns:a16="http://schemas.microsoft.com/office/drawing/2014/main" id="{338FBB66-391E-4A04-AC81-7C8F7B4C3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124075"/>
            <a:ext cx="48577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Управление по контролю качества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пищевых продуктов и лекарственных</a:t>
            </a: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средств США (FDA)</a:t>
            </a:r>
          </a:p>
        </p:txBody>
      </p:sp>
      <p:sp>
        <p:nvSpPr>
          <p:cNvPr id="5" name="Препарат">
            <a:extLst xmlns:a="http://schemas.openxmlformats.org/drawingml/2006/main">
              <a:ext uri="{FF2B5EF4-FFF2-40B4-BE49-F238E27FC236}">
                <a16:creationId xmlns:a16="http://schemas.microsoft.com/office/drawing/2014/main" id="{B1C4CB34-DE44-42E1-BDB0-6DAE72502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504950"/>
            <a:ext cx="48768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(финеренон). NDA 215341, дополнение S-011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Дата_релиза">
            <a:extLst xmlns:a="http://schemas.openxmlformats.org/drawingml/2006/main">
              <a:ext uri="{FF2B5EF4-FFF2-40B4-BE49-F238E27FC236}">
                <a16:creationId xmlns:a16="http://schemas.microsoft.com/office/drawing/2014/main" id="{3A6363D5-1C7D-4CD0-B342-CB86AA920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81250"/>
            <a:ext cx="4876800" cy="504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17 сентября 2026 года: пресс-релиз компании Bayer.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Дата одобрения в реестре FDA: 16 сентября.</a:t>
            </a:r>
          </a:p>
        </p:txBody>
      </p:sp>
      <p:sp>
        <p:nvSpPr>
          <p:cNvPr id="7" name="Что_одобрено">
            <a:extLst xmlns:a="http://schemas.openxmlformats.org/drawingml/2006/main">
              <a:ext uri="{FF2B5EF4-FFF2-40B4-BE49-F238E27FC236}">
                <a16:creationId xmlns:a16="http://schemas.microsoft.com/office/drawing/2014/main" id="{AB9857FD-1ADD-4C4A-BF27-A866DE08D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33725"/>
            <a:ext cx="104203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Показание в США</a:t>
            </a:r>
          </a:p>
        </p:txBody>
      </p:sp>
      <p:sp>
        <p:nvSpPr>
          <p:cNvPr id="8" name="Показание">
            <a:extLst xmlns:a="http://schemas.openxmlformats.org/drawingml/2006/main">
              <a:ext uri="{FF2B5EF4-FFF2-40B4-BE49-F238E27FC236}">
                <a16:creationId xmlns:a16="http://schemas.microsoft.com/office/drawing/2014/main" id="{4FCAB704-308B-4D5F-8321-54220D079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8140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отношения альбумина к креатинину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мочи у взрослых с хронической болезнью</a:t>
            </a: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почек, связанной с диабетом 1 типа.</a:t>
            </a:r>
          </a:p>
        </p:txBody>
      </p:sp>
      <p:sp>
        <p:nvSpPr>
          <p:cNvPr id="9" name="Ожидаемая_польза">
            <a:extLst xmlns:a="http://schemas.openxmlformats.org/drawingml/2006/main">
              <a:ext uri="{FF2B5EF4-FFF2-40B4-BE49-F238E27FC236}">
                <a16:creationId xmlns:a16="http://schemas.microsoft.com/office/drawing/2014/main" id="{8BC6E9C2-269F-4551-8586-1349B9183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286250"/>
            <a:ext cx="1042035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Ожидаемый эффект: меньший риск устойчивого снижения рСКФ и терминальной почечной недостаточности.</a:t>
            </a: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10" name="Основание">
            <a:extLst xmlns:a="http://schemas.openxmlformats.org/drawingml/2006/main">
              <a:ext uri="{FF2B5EF4-FFF2-40B4-BE49-F238E27FC236}">
                <a16:creationId xmlns:a16="http://schemas.microsoft.com/office/drawing/2014/main" id="{420C5027-BDB9-4376-A56F-9520C4187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972050"/>
            <a:ext cx="104203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Основание: FINE-ONE и данные исследований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у пациентов с диабетом 2 типа.</a:t>
            </a:r>
          </a:p>
        </p:txBody>
      </p:sp>
      <p:sp>
        <p:nvSpPr>
          <p:cNvPr id="11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7EB9D22F-BE7B-4719-B21D-9241B2B36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200650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</p:sp>
      <p:sp>
        <p:nvSpPr>
          <p:cNvPr id="12" name="Сроки_заголовок">
            <a:extLst xmlns:a="http://schemas.openxmlformats.org/drawingml/2006/main">
              <a:ext uri="{FF2B5EF4-FFF2-40B4-BE49-F238E27FC236}">
                <a16:creationId xmlns:a16="http://schemas.microsoft.com/office/drawing/2014/main" id="{91ABBFF8-0721-45E2-BE8D-16BFB44D6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72125"/>
            <a:ext cx="10420350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9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Срок действия решения и длительность лечения</a:t>
            </a:r>
          </a:p>
        </p:txBody>
      </p:sp>
      <p:sp>
        <p:nvSpPr>
          <p:cNvPr id="13" name="Сроки">
            <a:extLst xmlns:a="http://schemas.openxmlformats.org/drawingml/2006/main">
              <a:ext uri="{FF2B5EF4-FFF2-40B4-BE49-F238E27FC236}">
                <a16:creationId xmlns:a16="http://schemas.microsoft.com/office/drawing/2014/main" id="{6DCBF62B-46AA-42B8-9B3E-57E84ECFC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6010275"/>
            <a:ext cx="10420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Решение действует с 16 сентября 2026 года. В письме FDA срок окончания не указан.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Максимальная длительность курса в инструкции не установлена.</a:t>
            </a:r>
            <a:r>
              <a:rPr sz="15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 xml:space="preserve"> FINE-ONE длилось 6 месяцев; курс лечения этим сроком не ограничен.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215341/S-011. Kerendia (finerenone). US Prescribing Information.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0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B79586DD-7077-4161-BC4D-ECEDCD3A0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Условия применения при диабете 1 типа</a:t>
            </a:r>
          </a:p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по американской инструкции Керендии</a:t>
            </a:r>
          </a:p>
        </p:txBody>
      </p:sp>
      <p:sp>
        <p:nvSpPr>
          <p:cNvPr id="3" name="Популяция">
            <a:extLst xmlns:a="http://schemas.openxmlformats.org/drawingml/2006/main">
              <a:ext uri="{FF2B5EF4-FFF2-40B4-BE49-F238E27FC236}">
                <a16:creationId xmlns:a16="http://schemas.microsoft.com/office/drawing/2014/main" id="{BC5B6B75-4EF1-487E-A4D5-D889BD1F2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279525"/>
            <a:ext cx="104203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Для взрослых с хронической болезнью почек, связанной с диабетом 1 типа.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Эффективность и безопасность у детей не установлены.</a:t>
            </a:r>
          </a:p>
        </p:txBody>
      </p:sp>
      <p:sp>
        <p:nvSpPr>
          <p:cNvPr id="4" name="Старт_заголовок">
            <a:extLst xmlns:a="http://schemas.openxmlformats.org/drawingml/2006/main">
              <a:ext uri="{FF2B5EF4-FFF2-40B4-BE49-F238E27FC236}">
                <a16:creationId xmlns:a16="http://schemas.microsoft.com/office/drawing/2014/main" id="{EBE57001-B645-4B7D-AF5A-04EF04342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041525"/>
            <a:ext cx="457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1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Перед началом лечения</a:t>
            </a:r>
          </a:p>
        </p:txBody>
      </p:sp>
      <p:sp>
        <p:nvSpPr>
          <p:cNvPr id="5" name="Анализы">
            <a:extLst xmlns:a="http://schemas.openxmlformats.org/drawingml/2006/main">
              <a:ext uri="{FF2B5EF4-FFF2-40B4-BE49-F238E27FC236}">
                <a16:creationId xmlns:a16="http://schemas.microsoft.com/office/drawing/2014/main" id="{49F2F98C-3877-498E-BECF-B50567B9A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565400"/>
            <a:ext cx="4572000" cy="581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Определяют калий, креатинин и рСКФ.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/>
            </a:r>
          </a:p>
        </p:txBody>
      </p:sp>
      <p:sp>
        <p:nvSpPr>
          <p:cNvPr id="6" name="Калий_выше5">
            <a:extLst xmlns:a="http://schemas.openxmlformats.org/drawingml/2006/main">
              <a:ext uri="{FF2B5EF4-FFF2-40B4-BE49-F238E27FC236}">
                <a16:creationId xmlns:a16="http://schemas.microsoft.com/office/drawing/2014/main" id="{77C9E29D-A04B-421C-BF5B-3DB40CB26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2650"/>
            <a:ext cx="4572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Калий &gt;5,0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B5323C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Arial"/>
                <a:cs typeface="Arial Narrow"/>
              </a:rPr>
              <a:t>Лечение не начинают.</a:t>
            </a:r>
          </a:p>
        </p:txBody>
      </p:sp>
      <p:sp>
        <p:nvSpPr>
          <p:cNvPr id="7" name="Калий_пограничный">
            <a:extLst xmlns:a="http://schemas.openxmlformats.org/drawingml/2006/main">
              <a:ext uri="{FF2B5EF4-FFF2-40B4-BE49-F238E27FC236}">
                <a16:creationId xmlns:a16="http://schemas.microsoft.com/office/drawing/2014/main" id="{749B3694-F31F-4A3B-9917-0C7836801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4327525"/>
            <a:ext cx="4572000" cy="942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&gt;4,8 и ≤5,0 ммоль/л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Начало можно рассмотреть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 дополнительным контролем калия</a:t>
            </a:r>
          </a:p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первые 4 недели.</a:t>
            </a:r>
          </a:p>
        </p:txBody>
      </p:sp>
      <p:sp>
        <p:nvSpPr>
          <p:cNvPr id="8" name="Дозы_заголовок">
            <a:extLst xmlns:a="http://schemas.openxmlformats.org/drawingml/2006/main">
              <a:ext uri="{FF2B5EF4-FFF2-40B4-BE49-F238E27FC236}">
                <a16:creationId xmlns:a16="http://schemas.microsoft.com/office/drawing/2014/main" id="{1559815D-E7DF-44E3-9B91-32116E7CA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41525"/>
            <a:ext cx="541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Начальная доза один раз в сутки</a:t>
            </a:r>
          </a:p>
        </p:txBody>
      </p:sp>
      <p:graphicFrame>
        <p:nvGraphicFramePr>
          <p:cNvPr id="23" name=""/>
          <p:cNvGraphicFramePr/>
          <p:nvPr/>
        </p:nvGraphicFramePr>
        <p:xfrm>
          <a:off xmlns:a="http://schemas.openxmlformats.org/drawingml/2006/main" x="6019800" y="2584450"/>
          <a:ext xmlns:a="http://schemas.openxmlformats.org/drawingml/2006/main" cx="5410200" cy="20764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857500"/>
                <a:gridCol w="2552700"/>
              </a:tblGrid>
              <a:tr h="58102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рСКФ,</a:t>
                      </a:r>
                    </a:p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мл/мин/1,73 м²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500" b="1">
                          <a:solidFill>
                            <a:srgbClr val="FFFFFF"/>
                          </a:solidFill>
                          <a:latin typeface="Arial Narrow"/>
                          <a:ea typeface="Arial"/>
                          <a:cs typeface="Arial Narrow"/>
                        </a:rPr>
                        <a:t>Доза</a:t>
                      </a:r>
                    </a:p>
                  </a:txBody>
                  <a:tcPr marL="91440" marR="91440" marT="45720" marB="45720" anchor="ctr">
                    <a:solidFill>
                      <a:srgbClr val="183550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≥60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20 мг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  <a:tr h="4095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≥25 и &lt;60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10 мг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676275"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&lt;25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  <a:tc>
                  <a:txBody>
                    <a:bodyPr wrap="square" lIns="123825" tIns="66675" rIns="104775" bIns="57150">
                      <a:noAutofit/>
                    </a:bodyPr>
                    <a:lstStyle/>
                    <a:p>
                      <a:pPr algn="l">
                        <a:lnSpc>
                          <a:spcPct val="90000"/>
                        </a:lnSpc>
                        <a:buNone/>
                      </a:pPr>
                      <a:r>
                        <a:rPr sz="1700" b="0">
                          <a:solidFill>
                            <a:srgbClr val="000000"/>
                          </a:solidFill>
                          <a:latin typeface="Arial Narrow"/>
                          <a:ea typeface="Arial"/>
                          <a:cs typeface="Arial Narrow"/>
                        </a:rPr>
                        <a:t>Начало не рекомендуется</a:t>
                      </a:r>
                    </a:p>
                  </a:txBody>
                  <a:tcPr marL="91440" marR="91440" marT="45720" marB="45720" anchor="ctr">
                    <a:solidFill>
                      <a:srgbClr val="F3F6F8"/>
                    </a:solidFill>
                  </a:tcPr>
                </a:tc>
              </a:tr>
            </a:tbl>
          </a:graphicData>
        </a:graphic>
      </p:graphicFrame>
      <p:sp>
        <p:nvSpPr>
          <p:cNvPr id="10" name="Целевая_доза">
            <a:extLst xmlns:a="http://schemas.openxmlformats.org/drawingml/2006/main">
              <a:ext uri="{FF2B5EF4-FFF2-40B4-BE49-F238E27FC236}">
                <a16:creationId xmlns:a16="http://schemas.microsoft.com/office/drawing/2014/main" id="{2937C412-EFAD-4223-BCAA-BFE114DE2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4860925"/>
            <a:ext cx="5410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Целевая доза при этом показании: 20 мг/сут.</a:t>
            </a:r>
          </a:p>
        </p:txBody>
      </p:sp>
      <p:sp>
        <p:nvSpPr>
          <p:cNvPr id="11" name="Контроль">
            <a:extLst xmlns:a="http://schemas.openxmlformats.org/drawingml/2006/main">
              <a:ext uri="{FF2B5EF4-FFF2-40B4-BE49-F238E27FC236}">
                <a16:creationId xmlns:a16="http://schemas.microsoft.com/office/drawing/2014/main" id="{3293348D-9D94-4822-9ED4-32563795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46725"/>
            <a:ext cx="104203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Калий проверяют через 4 недели после начала лечения и изменения дозы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, затем периодически.</a:t>
            </a:r>
          </a:p>
        </p:txBody>
      </p:sp>
      <p:sp>
        <p:nvSpPr>
          <p:cNvPr id="12" name="Разделитель">
            <a:extLst xmlns:a="http://schemas.openxmlformats.org/drawingml/2006/main">
              <a:ext uri="{FF2B5EF4-FFF2-40B4-BE49-F238E27FC236}">
                <a16:creationId xmlns:a16="http://schemas.microsoft.com/office/drawing/2014/main" id="{9FC5586E-2222-4C62-98DB-4205E9716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5870575"/>
            <a:ext cx="112776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4"/>
          </a:solidFill>
          <a:ln xmlns:a="http://schemas.openxmlformats.org/drawingml/2006/main" w="0">
            <a:noFill/>
          </a:ln>
        </p:spPr>
        <p:txBody xmlns:a="http://schemas.openxmlformats.org/drawingml/2006/main">
          <a:bodyPr/>
          <a:p/>
        </p:txBody>
      </p:sp>
      <p:sp>
        <p:nvSpPr>
          <p:cNvPr id="13" name="Местная_инструкция">
            <a:extLst xmlns:a="http://schemas.openxmlformats.org/drawingml/2006/main">
              <a:ext uri="{FF2B5EF4-FFF2-40B4-BE49-F238E27FC236}">
                <a16:creationId xmlns:a16="http://schemas.microsoft.com/office/drawing/2014/main" id="{81E66F49-27F4-46FF-AA59-C34C80F93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975350"/>
            <a:ext cx="10420350" cy="3905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опубликованной инструкции Финеренон-Орвилле показание при диабете 1 типа не указано.</a:t>
            </a: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Одобрение в США не расширяет местные показания препарата.</a:t>
            </a:r>
          </a:p>
        </p:txBody>
      </p:sp>
      <p:sp xmlns:a="http://schemas.openxmlformats.org/drawingml/2006/main">
        <p:nvSpPr>
          <p:cNvPr id="24" name="Источники"/>
          <p:cNvSpPr txBox="1"/>
          <p:nvPr/>
        </p:nvSpPr>
        <p:spPr>
          <a:xfrm>
            <a:off x="457200" y="6507480"/>
            <a:ext cx="112776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  <p:extLst>
      <p:ext uri="{BB962C8B-B14F-4D97-AF65-F5344CB8AC3E}">
        <p14:creationId xmlns:p14="http://schemas.microsoft.com/office/powerpoint/2010/main" val="1702678588"/>
      </p:ext>
    </p:extLst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суммарное число событий первичного исхода ниже на 16%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594360" y="1027176"/>
            <a:ext cx="10972800" cy="758952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6001 пациент с симптомной сердечной недостаточностью и фракцией выброса левого желудочка ≥40%. С диабетом или без него. Медиана наблюдения 32 месяца.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594360" y="20878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Общее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21792" y="2663952"/>
          <a:ext cx="6080760" cy="253288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315200" y="2115312"/>
            <a:ext cx="4279392" cy="630936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315200" y="2837688"/>
            <a:ext cx="4251960" cy="914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частот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95% ДИ 0,74–0,95; p=0,007.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315200" y="4029075"/>
            <a:ext cx="4248150" cy="10572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Снижение сердечно-сосудистой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смерти отдельно не подтверждено.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Отношение рисков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0,93 (95% ДИ 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594360" y="523875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 первые и повторные госпитализации или срочные визиты из-за сердечной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594360" y="569595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Керендия зарегистрирована при этой форме сердечной недостаточности независимо от диабета: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США (FDA, 11.07.2025) и в ЕС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В опубликованной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 C(2026)2188.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Гликемия и давление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 для обсуждения дополнительного лечения?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После начала финеренона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/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sp>
        <p:nvSpPr>
          <p:cNvPr id="66" name="Инструкция_тренеру"/>
          <p:cNvSpPr txBox="1"/>
          <p:nvPr/>
        </p:nvSpPr>
        <p:spPr>
          <a:xfrm>
            <a:off x="457200" y="596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595959"/>
                </a:solidFill>
                <a:latin typeface="Arial Narrow"/>
                <a:cs typeface="Arial Narrow"/>
              </a:rPr>
              <a:t>Сначала ответы участников, затем разбор на следующих двух слайдах.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 для обсуждения финеренона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Гликемия и артериальное давление под контролем, но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4224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ункт_1"/>
          <p:cNvSpPr txBox="1"/>
          <p:nvPr/>
        </p:nvSpPr>
        <p:spPr>
          <a:xfrm>
            <a:off x="660400" y="14224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4224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 мг/г в повторных анализах, изменения сохраняются не менее 3 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260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ункт_2"/>
          <p:cNvSpPr txBox="1"/>
          <p:nvPr/>
        </p:nvSpPr>
        <p:spPr>
          <a:xfrm>
            <a:off x="660400" y="22606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2606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 ≥25 мл/мин/1,73 м². Начальная доза 20 мг при рСКФ ≥60 и 10 мг при рСКФ ≥25 и 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0988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ункт_3"/>
          <p:cNvSpPr txBox="1"/>
          <p:nvPr/>
        </p:nvSpPr>
        <p:spPr>
          <a:xfrm>
            <a:off x="660400" y="30988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0988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≤4,8 ммоль/л лечение можно начать, при &gt;4,8 и ≤5,0 начинают с дополнительным контролем в первые 4 недели, при &gt;5,0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370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ункт_4"/>
          <p:cNvSpPr txBox="1"/>
          <p:nvPr/>
        </p:nvSpPr>
        <p:spPr>
          <a:xfrm>
            <a:off x="660400" y="39370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370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получает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7752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Пункт_5"/>
          <p:cNvSpPr txBox="1"/>
          <p:nvPr/>
        </p:nvSpPr>
        <p:spPr>
          <a:xfrm>
            <a:off x="660400" y="4775200"/>
            <a:ext cx="29972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775200"/>
            <a:ext cx="77978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риск почечного исхода ниже на 18%. FIGARO-DKD: риск сердечно-сосудистого исхода ниже на 13%. FIDELITY: почечного на 23%, сердечно-сосудистого на 14%.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64200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 </a:t>
            </a: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Где разобрано: анализы крови и мочи, критерии и прогноз ХБП, FIDELIO-DKD, FIGARO-DKD, FIDELITY, «Перед началом лечения», «Два клинических случая».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12776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ХБП: хроническая болезнь почек; АПФ: ангиотензинпревращающий фермент; БРА: блокатор рецепторов ангиотензина II; НГЛТ2: натрий-глюкозный котранспортёр 2 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окончательная отмена нужна не всегда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8890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контроле, ммоль/л</a:t>
            </a:r>
          </a:p>
        </p:txBody>
      </p:sp>
      <p:sp>
        <p:nvSpPr>
          <p:cNvPr id="4" name="Порог_≤4,8"/>
          <p:cNvSpPr/>
          <p:nvPr/>
        </p:nvSpPr>
        <p:spPr>
          <a:xfrm>
            <a:off x="45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5" name="Порог_фон_≤4,8"/>
          <p:cNvSpPr/>
          <p:nvPr/>
        </p:nvSpPr>
        <p:spPr>
          <a:xfrm>
            <a:off x="45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Порог_текст_≤4,8"/>
          <p:cNvSpPr txBox="1"/>
          <p:nvPr/>
        </p:nvSpPr>
        <p:spPr>
          <a:xfrm>
            <a:off x="63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Дозу 10 мг можно повысить до 20 мг; дозу 20 мг сохраняют.</a:t>
            </a:r>
          </a:p>
        </p:txBody>
      </p:sp>
      <p:sp>
        <p:nvSpPr>
          <p:cNvPr id="7" name="Порог_&gt;4,8 и ≤5,5"/>
          <p:cNvSpPr/>
          <p:nvPr/>
        </p:nvSpPr>
        <p:spPr>
          <a:xfrm>
            <a:off x="426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&gt;4,8 и ≤5,5</a:t>
            </a:r>
          </a:p>
        </p:txBody>
      </p:sp>
      <p:sp>
        <p:nvSpPr>
          <p:cNvPr id="8" name="Порог_фон_&gt;4,8 и ≤5,5"/>
          <p:cNvSpPr/>
          <p:nvPr/>
        </p:nvSpPr>
        <p:spPr>
          <a:xfrm>
            <a:off x="426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Порог_текст_&gt;4,8 и ≤5,5"/>
          <p:cNvSpPr txBox="1"/>
          <p:nvPr/>
        </p:nvSpPr>
        <p:spPr>
          <a:xfrm>
            <a:off x="444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Текущую дозу сохраняют.</a:t>
            </a:r>
          </a:p>
        </p:txBody>
      </p:sp>
      <p:sp>
        <p:nvSpPr>
          <p:cNvPr id="10" name="Порог_&gt;5,5"/>
          <p:cNvSpPr/>
          <p:nvPr/>
        </p:nvSpPr>
        <p:spPr>
          <a:xfrm>
            <a:off x="8077200" y="1219200"/>
            <a:ext cx="3657600" cy="508000"/>
          </a:xfrm>
          <a:prstGeom prst="roundRect">
            <a:avLst>
              <a:gd name="adj" fmla="val 20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2400" b="0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1" name="Порог_фон_&gt;5,5"/>
          <p:cNvSpPr/>
          <p:nvPr/>
        </p:nvSpPr>
        <p:spPr>
          <a:xfrm>
            <a:off x="8077200" y="1778000"/>
            <a:ext cx="365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Порог_текст_&gt;5,5"/>
          <p:cNvSpPr txBox="1"/>
          <p:nvPr/>
        </p:nvSpPr>
        <p:spPr>
          <a:xfrm>
            <a:off x="8255000" y="1778000"/>
            <a:ext cx="3327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отменяют, выясняют причину и повторяют анализ.</a:t>
            </a:r>
          </a:p>
        </p:txBody>
      </p:sp>
      <p:sp>
        <p:nvSpPr>
          <p:cNvPr id="13" name="Возврат_фон"/>
          <p:cNvSpPr/>
          <p:nvPr/>
        </p:nvSpPr>
        <p:spPr>
          <a:xfrm>
            <a:off x="457200" y="2692400"/>
            <a:ext cx="11277600" cy="787400"/>
          </a:xfrm>
          <a:prstGeom prst="roundRect">
            <a:avLst>
              <a:gd name="adj" fmla="val 1290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Возврат"/>
          <p:cNvSpPr txBox="1"/>
          <p:nvPr/>
        </p:nvSpPr>
        <p:spPr>
          <a:xfrm>
            <a:off x="685800" y="2692400"/>
            <a:ext cx="10820400" cy="787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При калии ≤5,0 ммоль/л в повторном анализе врач может возобновить лечение в дозе 10 мг.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4 недели проверяют калий и рСКФ; при калии ≤4,8 ммоль/л и снижении рСКФ не более чем на 30% дозу можно повысить до 20 мг.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7" name="Срочно_фон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Срочно"/>
          <p:cNvSpPr txBox="1"/>
          <p:nvPr/>
        </p:nvSpPr>
        <p:spPr>
          <a:xfrm>
            <a:off x="8102600" y="3683000"/>
            <a:ext cx="3429000" cy="190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При калии ≥6,0 ммоль/л или ухудшении состояния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нужна срочная оценка врачом, при необходимости в стационаре.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временной отмене и возобновлении принимает врач. </a:t>
            </a: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Где разобрано: механизм повышения калия, контроль калия, коррекция дозы, случай «временная отмена и возобновление».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12776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3" name="Вопрос_1_фон"/>
          <p:cNvSpPr/>
          <p:nvPr/>
        </p:nvSpPr>
        <p:spPr>
          <a:xfrm>
            <a:off x="4572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Вопрос_1_номер"/>
          <p:cNvSpPr txBox="1"/>
          <p:nvPr/>
        </p:nvSpPr>
        <p:spPr>
          <a:xfrm>
            <a:off x="6604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5" name="Вопрос_1"/>
          <p:cNvSpPr txBox="1"/>
          <p:nvPr/>
        </p:nvSpPr>
        <p:spPr>
          <a:xfrm>
            <a:off x="11684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6" name="Вопрос_2_фон"/>
          <p:cNvSpPr/>
          <p:nvPr/>
        </p:nvSpPr>
        <p:spPr>
          <a:xfrm>
            <a:off x="6248400" y="99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" name="Вопрос_2_номер"/>
          <p:cNvSpPr txBox="1"/>
          <p:nvPr/>
        </p:nvSpPr>
        <p:spPr>
          <a:xfrm>
            <a:off x="6451600" y="99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8" name="Вопрос_2"/>
          <p:cNvSpPr txBox="1"/>
          <p:nvPr/>
        </p:nvSpPr>
        <p:spPr>
          <a:xfrm>
            <a:off x="6959600" y="106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 48 и при рСКФ 72?</a:t>
            </a:r>
          </a:p>
        </p:txBody>
      </p:sp>
      <p:sp>
        <p:nvSpPr>
          <p:cNvPr id="9" name="Вопрос_3_фон"/>
          <p:cNvSpPr/>
          <p:nvPr/>
        </p:nvSpPr>
        <p:spPr>
          <a:xfrm>
            <a:off x="4572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Вопрос_3_номер"/>
          <p:cNvSpPr txBox="1"/>
          <p:nvPr/>
        </p:nvSpPr>
        <p:spPr>
          <a:xfrm>
            <a:off x="6604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11" name="Вопрос_3"/>
          <p:cNvSpPr txBox="1"/>
          <p:nvPr/>
        </p:nvSpPr>
        <p:spPr>
          <a:xfrm>
            <a:off x="11684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Когда дозу 10 мг не повышают до 20 мг, даже если калий ≤4,8 ммоль/л?</a:t>
            </a:r>
          </a:p>
        </p:txBody>
      </p:sp>
      <p:sp>
        <p:nvSpPr>
          <p:cNvPr id="12" name="Вопрос_4_фон"/>
          <p:cNvSpPr/>
          <p:nvPr/>
        </p:nvSpPr>
        <p:spPr>
          <a:xfrm>
            <a:off x="6248400" y="226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3" name="Вопрос_4_номер"/>
          <p:cNvSpPr txBox="1"/>
          <p:nvPr/>
        </p:nvSpPr>
        <p:spPr>
          <a:xfrm>
            <a:off x="6451600" y="226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14" name="Вопрос_4"/>
          <p:cNvSpPr txBox="1"/>
          <p:nvPr/>
        </p:nvSpPr>
        <p:spPr>
          <a:xfrm>
            <a:off x="6959600" y="233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Какой первичный исход был в FIDELIO-DKD, а какой в FIGARO-DKD?</a:t>
            </a:r>
          </a:p>
        </p:txBody>
      </p:sp>
      <p:sp>
        <p:nvSpPr>
          <p:cNvPr id="15" name="Вопрос_5_фон"/>
          <p:cNvSpPr/>
          <p:nvPr/>
        </p:nvSpPr>
        <p:spPr>
          <a:xfrm>
            <a:off x="4572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Вопрос_5_номер"/>
          <p:cNvSpPr txBox="1"/>
          <p:nvPr/>
        </p:nvSpPr>
        <p:spPr>
          <a:xfrm>
            <a:off x="6604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17" name="Вопрос_5"/>
          <p:cNvSpPr txBox="1"/>
          <p:nvPr/>
        </p:nvSpPr>
        <p:spPr>
          <a:xfrm>
            <a:off x="11684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по снижению АКО обещать конкретному пациенту меньший риск диализа?</a:t>
            </a:r>
          </a:p>
        </p:txBody>
      </p:sp>
      <p:sp>
        <p:nvSpPr>
          <p:cNvPr id="18" name="Вопрос_6_фон"/>
          <p:cNvSpPr/>
          <p:nvPr/>
        </p:nvSpPr>
        <p:spPr>
          <a:xfrm>
            <a:off x="6248400" y="353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Вопрос_6_номер"/>
          <p:cNvSpPr txBox="1"/>
          <p:nvPr/>
        </p:nvSpPr>
        <p:spPr>
          <a:xfrm>
            <a:off x="6451600" y="353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20" name="Вопрос_6"/>
          <p:cNvSpPr txBox="1"/>
          <p:nvPr/>
        </p:nvSpPr>
        <p:spPr>
          <a:xfrm>
            <a:off x="6959600" y="360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21" name="Вопрос_7_фон"/>
          <p:cNvSpPr/>
          <p:nvPr/>
        </p:nvSpPr>
        <p:spPr>
          <a:xfrm>
            <a:off x="4572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Вопрос_7_номер"/>
          <p:cNvSpPr txBox="1"/>
          <p:nvPr/>
        </p:nvSpPr>
        <p:spPr>
          <a:xfrm>
            <a:off x="6604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23" name="Вопрос_7"/>
          <p:cNvSpPr txBox="1"/>
          <p:nvPr/>
        </p:nvSpPr>
        <p:spPr>
          <a:xfrm>
            <a:off x="11684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 какими препаратами финеренон не сочетают, а с какими нужен контроль калия?</a:t>
            </a:r>
          </a:p>
        </p:txBody>
      </p:sp>
      <p:sp>
        <p:nvSpPr>
          <p:cNvPr id="24" name="Вопрос_8_фон"/>
          <p:cNvSpPr/>
          <p:nvPr/>
        </p:nvSpPr>
        <p:spPr>
          <a:xfrm>
            <a:off x="6248400" y="4800600"/>
            <a:ext cx="5486400" cy="11176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5" name="Вопрос_8_номер"/>
          <p:cNvSpPr txBox="1"/>
          <p:nvPr/>
        </p:nvSpPr>
        <p:spPr>
          <a:xfrm>
            <a:off x="6451600" y="4800600"/>
            <a:ext cx="508000" cy="1117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22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26" name="Вопрос_8"/>
          <p:cNvSpPr txBox="1"/>
          <p:nvPr/>
        </p:nvSpPr>
        <p:spPr>
          <a:xfrm>
            <a:off x="6959600" y="4876800"/>
            <a:ext cx="45974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 типа. Что делает представитель?</a:t>
            </a:r>
          </a:p>
        </p:txBody>
      </p:sp>
      <p:sp>
        <p:nvSpPr>
          <p:cNvPr id="27" name="Подсказка"/>
          <p:cNvSpPr txBox="1"/>
          <p:nvPr/>
        </p:nvSpPr>
        <p:spPr>
          <a:xfrm>
            <a:off x="457200" y="6146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Ответы и номера слайдов для разбора в заметках к слайду.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12776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 типа.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3" name="Содержание"/>
          <p:cNvSpPr txBox="1"/>
          <p:nvPr/>
        </p:nvSpPr>
        <p:spPr>
          <a:xfrm>
            <a:off x="457200" y="1066800"/>
            <a:ext cx="11277600" cy="1397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безопасности (ARTS, II фаза, сердечная недостаточность)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(FIND-CKD)</a:t>
            </a:r>
          </a:p>
          <a:p>
            <a:pPr algn="l">
              <a:spcAft>
                <a:spcPts val="4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Диабет 1 типа (FINE-ONE, одобрение в США)</a:t>
            </a:r>
          </a:p>
          <a:p>
            <a:pPr algn="l"/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(FINEARTS-HF)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28194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справки и медицинского отдела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3302000"/>
            <a:ext cx="1127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Комплаенс"/>
          <p:cNvSpPr txBox="1"/>
          <p:nvPr/>
        </p:nvSpPr>
        <p:spPr>
          <a:xfrm>
            <a:off x="685800" y="3302000"/>
            <a:ext cx="10820400" cy="1219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местной инструкции Финеренон-Орвилле этих показаний нет. Сравнение со спиронолактоном получено в коротком исследовании II фазы, результат описательный. Представитель не обсуждает эти данные по своей инициативе и передаёт вопросы врача в медицинский отдел.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 при сахарном диабете 2 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Безопасность_текст_1"/>
          <p:cNvSpPr txBox="1"/>
          <p:nvPr/>
        </p:nvSpPr>
        <p:spPr>
          <a:xfrm>
            <a:off x="63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Очень часто: гиперкалиемия.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Часто: гипонатриемия, гиперурикемия, гипотензия, зуд, снижение рСКФ.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Нечасто: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426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FIDELITY,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426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" name="Безопасность_текст_2"/>
          <p:cNvSpPr txBox="1"/>
          <p:nvPr/>
        </p:nvSpPr>
        <p:spPr>
          <a:xfrm>
            <a:off x="444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Гиперкалиемия 14,0% и 6,9%.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 1,7% и 0,6%.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 3,4% и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8077200" y="11938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8077200" y="16510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Безопасность_текст_3"/>
          <p:cNvSpPr txBox="1"/>
          <p:nvPr/>
        </p:nvSpPr>
        <p:spPr>
          <a:xfrm>
            <a:off x="8255000" y="17526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 начинают при рСКФ &lt;25 мл/мин/1,73 м² и при печёночной недостаточности класса C по Чайлд-Пью.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рСКФ &lt;15 препарат отменяют. При классе B калий контролируют чаще.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5" name="Безопасность_текст_4"/>
          <p:cNvSpPr txBox="1"/>
          <p:nvPr/>
        </p:nvSpPr>
        <p:spPr>
          <a:xfrm>
            <a:off x="63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только после тщательной оценки пользы и риска.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426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426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Безопасность_текст_5"/>
          <p:cNvSpPr txBox="1"/>
          <p:nvPr/>
        </p:nvSpPr>
        <p:spPr>
          <a:xfrm>
            <a:off x="444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До 18 лет эффективность и безопасность не установлены.</a:t>
            </a:r>
          </a:p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8077200" y="37846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8077200" y="4241800"/>
            <a:ext cx="36576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1" name="Безопасность_текст_6"/>
          <p:cNvSpPr txBox="1"/>
          <p:nvPr/>
        </p:nvSpPr>
        <p:spPr>
          <a:xfrm>
            <a:off x="8255000" y="4343400"/>
            <a:ext cx="3327400" cy="1879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 любом нежелательном явлении, в том числе о беременности на фоне приёма, представитель сообщает в отдел фармаконадзора в течение 24 часов.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383020"/>
            <a:ext cx="112776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39.xml"/></Relationships>
</file>

<file path=ppt/t1d_approval/notesSlides/_rels/notesSlide2.xml.rels><?xml version='1.0' encoding='UTF-8' standalone='yes'?>
<Relationships xmlns="http://schemas.openxmlformats.org/package/2006/relationships"><Relationship Id="R092bf2a803f24dac" Type="http://schemas.openxmlformats.org/officeDocument/2006/relationships/slide" Target="../../slides/slide40.xml"/><Relationship Id="Rd7406f6931ad4e8a" Type="http://schemas.openxmlformats.org/officeDocument/2006/relationships/notesMaster" Target="../../notesMasters/notesMaster1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https://www.accessdata.fda.gov/drugsatfda_docs/appletter/2026/215341Orig1s011ltr.pdf</a:t>
            </a:r>
          </a:p>
          <a:p xmlns:a="http://schemas.openxmlformats.org/drawingml/2006/main">
            <a:r>
              <a:t>https://www.accessdata.fda.gov/drugsatfda_docs/label/2026/215341s011lbl.pdf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https://www.accessdata.fda.gov/drugsatfda_docs/label/2026/215341s011lbl.pdf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Дата проверки: 24.09.2026.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