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Другие заранее запланированные исходы FIDELITY: почечный исход со снижением рСКФ на ≥40%,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 недели.</a:t>
            </a:r>
          </a:p>
          <a:p>
            <a:r>
              <a:t>Почечная недостаточность в этих исследованиях: хронический диализ (не менее 90 дней), трансплантация почки или устойчивое снижение рСКФ до &lt;15 мл/мин/1,73 м².</a:t>
            </a:r>
          </a:p>
          <a:p>
            <a:r>
              <a:t>Анализ FIDELITY поисковый: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2,6 года, до 48-го месяца дошла меньшая часть пациентов, поэтому концы кривых выше 17,8% и 21,1%. Эффект показывают расхождение кривых и отношение рисков, а не концы кривых.</a:t>
            </a:r>
          </a:p>
          <a:p>
            <a:r>
              <a:t>Снижение на 18% относительное. Разность долей за всё исследование 21,1% − 17,8% = 3,3 процентного пункта. Число 29 пациентов относится к 3 годам лечения, поэтому из этих долей напрямую не получается.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3,4 года, до 54-го месяца дошла меньшая часть пациентов, поэтому концы кривых выше 12,4% и 14,2%.</a:t>
            </a:r>
          </a:p>
          <a:p>
            <a:r>
              <a:t>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</a:t>
            </a:r>
          </a:p>
          <a:p>
            <a:r>
              <a:t>Отношение рисков 0,71 получено для отдельного компонента исхода: это пояснение к результату, а не самостоятельное доказательство.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</a:t>
            </a:r>
          </a:p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  <a:p>
            <a:r>
              <a:t>Ингибиторы НГЛТ2 исходно получали 8,4%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 (метод Аалена–Йохансена; смерть от причин, не входящих в исход, учтена как конкурирующее событие). Строки «Доля с событием за всё исследование» показывают долю пациентов с событием за всё время наблюдения.</a:t>
            </a:r>
          </a:p>
          <a:p>
            <a:r>
              <a:t>Абсолютную разницу 2,2% и 1,7% и число пациентов, которых нужно лечить (46 и 60), считали по накопленной частоте к 3 годам. Поэтому абсолютная разница не совпадает с разностью долей за всё исследование (1,7 и 1,6 процентного пункта). Не путайте: 1,7% в строке «Абсолютная разница» относится к почечному исходу, а разность долей 1,7 к сердечно-сосудистому; совпадение случайное.</a:t>
            </a:r>
          </a:p>
          <a:p>
            <a:r>
              <a:t>Снижение риска на 14% и 23% относительное. FIDELITY запланирован заранее, но это поисковый анализ, поэтому значения p без поправки на множественные сравнения.</a:t>
            </a:r>
          </a:p>
          <a:p>
            <a:r>
              <a:t>Ингибиторы НГЛТ2 исходно получали 6,7% пациентов.</a:t>
            </a:r>
          </a:p>
          <a:p>
            <a:r>
              <a:t>Гиперкалиемия по сообщениям исследователей (как в FIDELIO-DKD на слайде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−32% слева: к 4-му месяцу АКО относительно исходного уровня в группе финеренона на 32% ниже, чем в группе плацебо (отношение изменений 0,68; 1 − 0,68 = 0,32). Это относительная разница между группами, а не снижение АКО от исходного уровня в группе финеренона.</a:t>
            </a:r>
          </a:p>
          <a:p>
            <a:r>
              <a:t>Столбики справа: доля пациентов, у которых АКО снизилось на ≥30% от исходного уровня. Это другой показатель из апостериорного анализа 12 512 пациентов.</a:t>
            </a:r>
          </a:p>
          <a:p>
            <a:r>
              <a:t>В том же анализе снижение АКО объясняло около 84% эффекта финеренона на почечный исход и около 37% на сердечно-сосудистый. Поэтому почечный эффект оно отражает лучше.</a:t>
            </a:r>
          </a:p>
          <a:p>
            <a:r>
              <a:t>Не путайте с CONFIDENCE (слайд 25): там 32% при финереноне означает снижение АКО от исходного уровня внутри группы, а не разницу с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АКО было на 29% ниже, чем при финереноне (0,48 / 0,68 ≈ 0,71), и на 32% ниже, чем при эмпаглифлозине (0,48 / 0,71 ≈ 0,68). Это относительные различия между группами, а не снижение от исходного уровня; проценты 52 и 32 не вычитают.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среднее изменение рСКФ от исходного уровня на каждом визите, отрезки: 95% ДИ. В первый месяц рСКФ при финереноне снижается сильнее, чем при плацебо (ожидаемое раннее снижение), затем медленнее, и позже кривые пересекаются. Вертикальный пунктир: 32-й месяц, конец периода первичного исхода.</a:t>
            </a:r>
          </a:p>
          <a:p>
            <a:r>
              <a:t>Первичный исход справа не точка на кривой, а среднегодовое изменение рСКФ от исходного уровня до 32-го месяца: −3,3 и −4,0 мл/мин/1,73 м² в год. Разницу 0,7 получили вычитанием, а не делением, поэтому её 95% ДИ 0,3–1,1 сравнивают с 0, а не с 1.</a:t>
            </a:r>
          </a:p>
          <a:p>
            <a:r>
              <a:t>Серая зона: последний визит на лечении и визит примерно через 4 недели после отмены; +1,3 (финеренон) и −0,3 (плацебо): изменение рСКФ между ними. После отмены финеренона часть раннего снижения рСКФ обратима; это не означает улучшения функции почек.</a:t>
            </a:r>
          </a:p>
          <a:p>
            <a:r>
              <a:t>Комбинированный исход вторичный, его проверяли по заранее заданной иерархии после первичного. По отдельности почечная часть (отношение рисков 0,78; 95% ДИ 0,60–1,01) и сердечно-сосудистая (0,60; 95% ДИ 0,27–1,33) статистически значимо не снижены.</a:t>
            </a:r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Снижение рСКФ на 30% считают относительно предыдущего измерения.</a:t>
            </a:r>
          </a:p>
          <a:p>
            <a:r>
              <a:t>Столбики показывают долю пациентов, у которых за всё исследование лечение окончательно отменили из-за гиперкалиемии. FIDELITY: объединённые данные FIDELIO-DKD и FIGARO-DKD, а не третье исследование. В исследованиях разные пациенты и сроки наблюдения, поэтому сравнивают финеренон и плацебо внутри одного исследования, а не столбики разных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Отношение рисков сравнивает время до первого события: после первого события пациент в расчёт дальше не входит. Отношение частот (FINEARTS-HF, слайд 48) учитывает все события, включая повторные, на единицу времени наблюдения. Эти показатели не взаимозаменяемы.</a:t>
            </a:r>
          </a:p>
          <a:p>
            <a:r>
              <a:t>Накопленную частоту на графиках рассчитывают с учётом разного срока наблюдения (в FIDELITY методом Аалена–Йохансена; смерть от причин, не входящих в исход, учтена как конкурирующее событие). К концу графика под наблюдением остаётся мало пациентов, поэтому правый край кривой менее точен.</a:t>
            </a:r>
          </a:p>
          <a:p>
            <a:r>
              <a:t>Доверительный интервал отношения сравнивают с 1, интервал разности (например, разницы наклонов рСКФ в FIND-CKD, слайд 45) сравнивают с 0.</a:t>
            </a:r>
          </a:p>
          <a:p>
            <a:r>
              <a:t>В FIDELIO-DKD 60 из 5734 рандомизированных пациентов исключили из всех анализов из-за грубых нарушений правил надлежащей клинической практики; это не пациенты, выбывшие по ходу лечения.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 клетки показывает прогноз по KDIGO на уровне групп пациентов: риск прогрессирования болезни почек, почечной недостаточности, сердечно-сосудистых событий и смерти. Это не расчёт для конкретного пациента.</a:t>
            </a:r>
          </a:p>
          <a:p>
            <a:r>
              <a:t>В одной строке категория рСКФ одинакова, поэтому разница цвета внутри строки показывает вклад альбуминурии.</a:t>
            </a:r>
          </a:p>
          <a:p>
            <a:r>
              <a:t>Категории G и A устанавливают по повторным анализам: изменения должны сохраняться не менее 3 месяцев. Однократно высокий АКО бывает после физической нагрузки, при инфекции мочевых путей или выраженной гипергликемии.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части B авторы объединили в дополнительном анализе. Гиперкалиемия или повышение калия по сообщениям исследователей: финеренон (все дозы) 5,3%, плацебо 1,5% (p=0,32), спиронолактон 12,7% (p=0,048 для сравнения с финереноном). Значения p для вторичных показателей авторы считают описательными: уровень значимости заранее не задавали, поправки на множественные сравнения не было.</a:t>
            </a:r>
          </a:p>
          <a:p>
            <a:r>
              <a:t>Спиронолактон начинали с 25 мг и повышали до 50 мг на 15-й день, если калий оставался ≤4,8 ммоль/л; к концу средняя доза 37 мг в сутки. Дозы финеренона в ARTS (до 10 мг в сутки) ниже целевой дозы 20 мг при ХБП и диабете 2 типа.</a:t>
            </a:r>
          </a:p>
          <a:p>
            <a:r>
              <a:t>ARTS длилось 4 недели и не оценивало клинические исходы, поэтому вывод «финеренон безопаснее спиронолактона» из него сделать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Число 0,84 означает отношение частот: его считают по всем событиям, включая повторные, с учётом времени наблюдения. Это не отношение рисков и не отношение долей пациентов. Хотя бы одно событие было у 624 из 3003 пациентов (20,8%) в группе финеренона и у 719 из 2998 (24,0%) в группе плацебо. Сердечно-сосудистая смерть бывает один раз, поэтому для неё приведено отношение рисков.</a:t>
            </a:r>
          </a:p>
          <a:p xmlns:a="http://schemas.openxmlformats.org/drawingml/2006/main">
            <a:r>
              <a:t>Безопасность: калий &gt;5,5 ммоль/л при финереноне бывал чаще, чем при плацебо (отношение рисков 2,16; 95% ДИ 1,83–2,56), калий &lt;3,5 ммоль/л реже (0,46; 95% ДИ 0,38–0,56). Госпитализации из-за гиперкалиемии: финеренон 0,5%, плацебо 0,2%; смертей из-за гиперкалиемии не было. Источник: Vardeny O, et al. JAMA Cardiol. 2025;10:42–48.</a:t>
            </a:r>
          </a:p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590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ответ"/>
          <p:cNvSpPr/>
          <p:nvPr/>
        </p:nvSpPr>
        <p:spPr>
          <a:xfrm>
            <a:off x="7772400" y="1930400"/>
            <a:ext cx="3962400" cy="4368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1590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3853771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548543"/>
            <a:ext cx="3581400" cy="522056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441744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953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95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953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362200"/>
            <a:ext cx="2387600" cy="1720784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Шапка_рСКФ"/>
          <p:cNvSpPr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Шапка_A1"/>
          <p:cNvSpPr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пка_A2"/>
          <p:cNvSpPr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Шапка_A3"/>
          <p:cNvSpPr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Шапка_G1"/>
          <p:cNvSpPr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Шапка_G2"/>
          <p:cNvSpPr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Шапка_G3"/>
          <p:cNvSpPr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пка_G4"/>
          <p:cNvSpPr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3" name="Шапка_G5"/>
          <p:cNvSpPr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Шапка_G6"/>
          <p:cNvSpPr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514600"/>
            <a:ext cx="2260600" cy="1441384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6" name="Рамка_пример_A3"/>
          <p:cNvSpPr/>
          <p:nvPr/>
        </p:nvSpPr>
        <p:spPr>
          <a:xfrm>
            <a:off x="9321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альбуминурией; калий сыворотки при включении ≤4,8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объединённых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типа: 2–4-я стадия с умеренно повышенной альбуминурией или 1–2-я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 ДИ 0,56–0,90), анализ отдельного компонента.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Заранее запланированный поисковый анализ объединённых индивидуальных данных.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по накопленной частоте к 3 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изменений АКО,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(апостериорный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на уровне групп; 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одновременное начало финеренона и эмпаглифлозина снижало АКО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различие комбинации и финеренона статистически незначимо (p=0,91). На обоих графиках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" name="CYP3A4_фермент"/>
          <p:cNvSpPr/>
          <p:nvPr/>
        </p:nvSpPr>
        <p:spPr>
          <a:xfrm>
            <a:off x="4792915" y="1199441"/>
            <a:ext cx="2622235" cy="982787"/>
          </a:xfrm>
          <a:prstGeom prst="roundRect">
            <a:avLst>
              <a:gd name="adj" fmla="val 18091"/>
            </a:avLst>
          </a:prstGeom>
          <a:solidFill>
            <a:srgbClr val="F2F2F2"/>
          </a:solidFill>
          <a:ln w="12700">
            <a:solidFill>
              <a:srgbClr val="A6A6A6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2" name="Карточка_Strong_heading"/>
          <p:cNvSpPr/>
          <p:nvPr/>
        </p:nvSpPr>
        <p:spPr>
          <a:xfrm>
            <a:off x="457200" y="4114800"/>
            <a:ext cx="3657600" cy="2184400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Карточка_Moderate_weak_heading"/>
          <p:cNvSpPr/>
          <p:nvPr/>
        </p:nvSpPr>
        <p:spPr>
          <a:xfrm>
            <a:off x="4267200" y="4114800"/>
            <a:ext cx="3657600" cy="2184400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6" name="Карточка_Inducer_heading"/>
          <p:cNvSpPr/>
          <p:nvPr/>
        </p:nvSpPr>
        <p:spPr>
          <a:xfrm>
            <a:off x="8077200" y="4114800"/>
            <a:ext cx="3657600" cy="2184400"/>
          </a:xfrm>
          <a:prstGeom prst="roundRect">
            <a:avLst>
              <a:gd name="adj" fmla="val 465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7" name="Enzyme_label"/>
          <p:cNvSpPr txBox="1"/>
          <p:nvPr/>
        </p:nvSpPr>
        <p:spPr>
          <a:xfrm>
            <a:off x="4873752" y="13705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404040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7454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3340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562608"/>
            <a:ext cx="1801368" cy="0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407160"/>
            <a:ext cx="0" cy="310896"/>
          </a:xfrm>
          <a:prstGeom prst="line">
            <a:avLst/>
          </a:prstGeom>
          <a:ln w="27305">
            <a:solidFill>
              <a:srgbClr val="B532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827783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239264"/>
            <a:ext cx="210312" cy="329184"/>
          </a:xfrm>
          <a:prstGeom prst="upArrow">
            <a:avLst/>
          </a:prstGeom>
          <a:solidFill>
            <a:srgbClr val="B5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2484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6781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3340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562608"/>
            <a:ext cx="822961" cy="0"/>
          </a:xfrm>
          <a:prstGeom prst="line">
            <a:avLst/>
          </a:prstGeom>
          <a:ln w="27305">
            <a:solidFill>
              <a:srgbClr val="15608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827783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239264"/>
            <a:ext cx="210312" cy="329184"/>
          </a:xfrm>
          <a:prstGeom prst="downArrow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2484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6781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7147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257552"/>
            <a:ext cx="0" cy="539496"/>
          </a:xfrm>
          <a:prstGeom prst="line">
            <a:avLst/>
          </a:prstGeom>
          <a:ln w="17780">
            <a:solidFill>
              <a:srgbClr val="7F7F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851912"/>
            <a:ext cx="1106424" cy="0"/>
          </a:xfrm>
          <a:prstGeom prst="line">
            <a:avLst/>
          </a:prstGeom>
          <a:ln w="25400">
            <a:solidFill>
              <a:srgbClr val="7030A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5593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2268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60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19600" y="4241800"/>
            <a:ext cx="3352800" cy="4668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241800"/>
            <a:ext cx="3352800" cy="687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609600" y="4902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5323C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19600" y="4902200"/>
            <a:ext cx="3352800" cy="2737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E97132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19600" y="5232400"/>
            <a:ext cx="3352800" cy="7979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ru-RU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при начале приёма или изменении дозы любого из препаратов, при необходимости 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156200"/>
            <a:ext cx="3352800" cy="52205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156082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609600" y="5638800"/>
            <a:ext cx="3352800" cy="41168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Плашка_Strong_heading"/>
          <p:cNvSpPr/>
          <p:nvPr/>
        </p:nvSpPr>
        <p:spPr>
          <a:xfrm>
            <a:off x="45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ингибиторы</a:t>
            </a:r>
          </a:p>
        </p:txBody>
      </p:sp>
      <p:sp>
        <p:nvSpPr>
          <p:cNvPr id="63" name="Плашка_Moderate_weak_heading"/>
          <p:cNvSpPr/>
          <p:nvPr/>
        </p:nvSpPr>
        <p:spPr>
          <a:xfrm>
            <a:off x="426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Умеренные и слабые ингибиторы</a:t>
            </a:r>
          </a:p>
        </p:txBody>
      </p:sp>
      <p:sp>
        <p:nvSpPr>
          <p:cNvPr id="65" name="Плашка_Inducer_heading"/>
          <p:cNvSpPr/>
          <p:nvPr/>
        </p:nvSpPr>
        <p:spPr>
          <a:xfrm>
            <a:off x="8077200" y="3683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Сильные и умеренные индукторы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457200" y="3810000"/>
            <a:ext cx="1127760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57200" y="4445000"/>
            <a:ext cx="1127760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457200" y="5181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повторяет АКО, подтверждает стойкость изменений (не менее 3 месяцев), определяет калий, уточняет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 ммоль/л, рСКФ 65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 недели: калий 5,7 ммоль/л, рСКФ 61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недавно начат короткий курс ко-тримоксазола.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 после курса: калий 4,9 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 Сразу к 20 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 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 и снижение рСКФ не более чем на 30% от предыдущего измерения: дозу можно повысить до 20 мг.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53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8107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3187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ARTS, II фаза: сравнение со спиронолактоном по частоте повышения калия при сердечной недостаточности (слайд 44)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FIND-CKD: хроническая болезнь почек без диабета (слайд 45)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FINE-ONE: диабет 1 типа и регуляторный статус в США (слайды 46 и 47)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FINEARTS-HF: сердечная недостаточность с фракцией выброса ≥40% (слайд 48)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20320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203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Карточка_ARTS"/>
          <p:cNvSpPr/>
          <p:nvPr/>
        </p:nvSpPr>
        <p:spPr>
          <a:xfrm>
            <a:off x="7467600" y="1524000"/>
            <a:ext cx="4267200" cy="142666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дозы"/>
          <p:cNvSpPr/>
          <p:nvPr/>
        </p:nvSpPr>
        <p:spPr>
          <a:xfrm>
            <a:off x="7467600" y="3509460"/>
            <a:ext cx="4267200" cy="916208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ограничение"/>
          <p:cNvSpPr/>
          <p:nvPr/>
        </p:nvSpPr>
        <p:spPr>
          <a:xfrm>
            <a:off x="7467600" y="4552669"/>
            <a:ext cx="4267200" cy="12633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вывод"/>
          <p:cNvSpPr/>
          <p:nvPr/>
        </p:nvSpPr>
        <p:spPr>
          <a:xfrm>
            <a:off x="457200" y="4679025"/>
            <a:ext cx="6858000" cy="1136944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1854200"/>
          <a:ext cx="6419088" cy="2672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35000" y="4780625"/>
            <a:ext cx="6502400" cy="933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ARTS при плацебо гиперкалиемия была у 1,5%;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25600"/>
            <a:ext cx="3937000" cy="1223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11060"/>
            <a:ext cx="3937000" cy="713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 либо 5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654269"/>
            <a:ext cx="3937000" cy="108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07766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2235200"/>
            <a:ext cx="4368800" cy="28956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362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946400"/>
            <a:ext cx="3962400" cy="1638913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(1 − 0,34) / (1 − 0,12) =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810000" cy="2231857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600200"/>
            <a:ext cx="3454400" cy="20032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419600" y="1498600"/>
            <a:ext cx="7315200" cy="2231857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597400" y="1600200"/>
            <a:ext cx="6959600" cy="20032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457200" y="3908257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457200" y="4340057"/>
            <a:ext cx="11277600" cy="824664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635000" y="4441657"/>
            <a:ext cx="10922000" cy="596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результат"/>
          <p:cNvSpPr/>
          <p:nvPr/>
        </p:nvSpPr>
        <p:spPr>
          <a:xfrm>
            <a:off x="7366000" y="2108200"/>
            <a:ext cx="4368800" cy="2921000"/>
          </a:xfrm>
          <a:prstGeom prst="roundRect">
            <a:avLst>
              <a:gd name="adj" fmla="val 347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35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819400"/>
            <a:ext cx="3962400" cy="8017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569200" y="3722740"/>
            <a:ext cx="3962400" cy="988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 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308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незапланированные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35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6172200" y="9652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6172200" y="13970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6350000" y="14732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457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457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5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6172200" y="3670300"/>
            <a:ext cx="5562600" cy="3810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6172200" y="4102100"/>
            <a:ext cx="5562600" cy="2120900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6350000" y="4178300"/>
            <a:ext cx="5207000" cy="1968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исходе; обычно засчитывают первое у пациента, в FINEARTS-HF и повторные (слайд 48). Разница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разница в основном за счёт госпитализаций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Слайд 21: к 48-му месяцу кривые выше долей за всё исследование (не всех наблюдали так долго).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1 − 0,82 = 0,18;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Значения эффекта, совместимые с данными. Статистически значимо, если не включает 1 (отношение) или 0 (разность).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не включает 1, снижение статистически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 Считают по абсолютному снижению риска.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1 / 2,2% (абсолютная разница за 3 года) ≈ 46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