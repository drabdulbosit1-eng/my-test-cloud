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inserted_0924/slideLayouts/slideLayout1.xml" ContentType="application/vnd.openxmlformats-officedocument.presentationml.slideLayout+xml"/>
  <Override PartName="/ppt/inserted_0924/slideMasters/slideMaster1.xml" ContentType="application/vnd.openxmlformats-officedocument.presentationml.slideMaster+xml"/>
  <Override PartName="/ppt/inserted_0924/slideMasters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elected/new/notesSlides/notesSlide1.xml" ContentType="application/vnd.openxmlformats-officedocument.presentationml.notesSlide+xml"/>
  <Override PartName="/ppt/selected/new/slideLayouts/slideLayout1.xml" ContentType="application/vnd.openxmlformats-officedocument.presentationml.slideLayout+xml"/>
  <Override PartName="/ppt/selected/new/slideMasters/slideMaster1.xml" ContentType="application/vnd.openxmlformats-officedocument.presentationml.slideMaster+xml"/>
  <Override PartName="/ppt/selected/new/slideMasters/theme/theme2.xml" ContentType="application/vnd.openxmlformats-officedocument.theme+xml"/>
  <Override PartName="/ppt/selected/src01/slideLayouts/slideLayout1.xml" ContentType="application/vnd.openxmlformats-officedocument.presentationml.slideLayout+xml"/>
  <Override PartName="/ppt/selected/src01/slideLayouts/slideLayout10.xml" ContentType="application/vnd.openxmlformats-officedocument.presentationml.slideLayout+xml"/>
  <Override PartName="/ppt/selected/src01/slideLayouts/slideLayout11.xml" ContentType="application/vnd.openxmlformats-officedocument.presentationml.slideLayout+xml"/>
  <Override PartName="/ppt/selected/src01/slideLayouts/slideLayout2.xml" ContentType="application/vnd.openxmlformats-officedocument.presentationml.slideLayout+xml"/>
  <Override PartName="/ppt/selected/src01/slideLayouts/slideLayout3.xml" ContentType="application/vnd.openxmlformats-officedocument.presentationml.slideLayout+xml"/>
  <Override PartName="/ppt/selected/src01/slideLayouts/slideLayout4.xml" ContentType="application/vnd.openxmlformats-officedocument.presentationml.slideLayout+xml"/>
  <Override PartName="/ppt/selected/src01/slideLayouts/slideLayout5.xml" ContentType="application/vnd.openxmlformats-officedocument.presentationml.slideLayout+xml"/>
  <Override PartName="/ppt/selected/src01/slideLayouts/slideLayout6.xml" ContentType="application/vnd.openxmlformats-officedocument.presentationml.slideLayout+xml"/>
  <Override PartName="/ppt/selected/src01/slideLayouts/slideLayout7.xml" ContentType="application/vnd.openxmlformats-officedocument.presentationml.slideLayout+xml"/>
  <Override PartName="/ppt/selected/src01/slideLayouts/slideLayout8.xml" ContentType="application/vnd.openxmlformats-officedocument.presentationml.slideLayout+xml"/>
  <Override PartName="/ppt/selected/src01/slideLayouts/slideLayout9.xml" ContentType="application/vnd.openxmlformats-officedocument.presentationml.slideLayout+xml"/>
  <Override PartName="/ppt/selected/src01/slideMasters/slideMaster1.xml" ContentType="application/vnd.openxmlformats-officedocument.presentationml.slideMaster+xml"/>
  <Override PartName="/ppt/selected/src01/theme/theme1.xml" ContentType="application/vnd.openxmlformats-officedocument.theme+xml"/>
  <Override PartName="/ppt/selected/src02/slideLayouts/slideLayout1.xml" ContentType="application/vnd.openxmlformats-officedocument.presentationml.slideLayout+xml"/>
  <Override PartName="/ppt/selected/src02/slideLayouts/slideLayout10.xml" ContentType="application/vnd.openxmlformats-officedocument.presentationml.slideLayout+xml"/>
  <Override PartName="/ppt/selected/src02/slideLayouts/slideLayout11.xml" ContentType="application/vnd.openxmlformats-officedocument.presentationml.slideLayout+xml"/>
  <Override PartName="/ppt/selected/src02/slideLayouts/slideLayout2.xml" ContentType="application/vnd.openxmlformats-officedocument.presentationml.slideLayout+xml"/>
  <Override PartName="/ppt/selected/src02/slideLayouts/slideLayout3.xml" ContentType="application/vnd.openxmlformats-officedocument.presentationml.slideLayout+xml"/>
  <Override PartName="/ppt/selected/src02/slideLayouts/slideLayout4.xml" ContentType="application/vnd.openxmlformats-officedocument.presentationml.slideLayout+xml"/>
  <Override PartName="/ppt/selected/src02/slideLayouts/slideLayout5.xml" ContentType="application/vnd.openxmlformats-officedocument.presentationml.slideLayout+xml"/>
  <Override PartName="/ppt/selected/src02/slideLayouts/slideLayout6.xml" ContentType="application/vnd.openxmlformats-officedocument.presentationml.slideLayout+xml"/>
  <Override PartName="/ppt/selected/src02/slideLayouts/slideLayout7.xml" ContentType="application/vnd.openxmlformats-officedocument.presentationml.slideLayout+xml"/>
  <Override PartName="/ppt/selected/src02/slideLayouts/slideLayout8.xml" ContentType="application/vnd.openxmlformats-officedocument.presentationml.slideLayout+xml"/>
  <Override PartName="/ppt/selected/src02/slideLayouts/slideLayout9.xml" ContentType="application/vnd.openxmlformats-officedocument.presentationml.slideLayout+xml"/>
  <Override PartName="/ppt/selected/src02/slideMasters/slideMaster1.xml" ContentType="application/vnd.openxmlformats-officedocument.presentationml.slideMaster+xml"/>
  <Override PartName="/ppt/selected/src02/theme/theme1.xml" ContentType="application/vnd.openxmlformats-officedocument.theme+xml"/>
  <Override PartName="/ppt/selected/src04/slideLayouts/slideLayout1.xml" ContentType="application/vnd.openxmlformats-officedocument.presentationml.slideLayout+xml"/>
  <Override PartName="/ppt/selected/src04/slideLayouts/slideLayout10.xml" ContentType="application/vnd.openxmlformats-officedocument.presentationml.slideLayout+xml"/>
  <Override PartName="/ppt/selected/src04/slideLayouts/slideLayout11.xml" ContentType="application/vnd.openxmlformats-officedocument.presentationml.slideLayout+xml"/>
  <Override PartName="/ppt/selected/src04/slideLayouts/slideLayout2.xml" ContentType="application/vnd.openxmlformats-officedocument.presentationml.slideLayout+xml"/>
  <Override PartName="/ppt/selected/src04/slideLayouts/slideLayout3.xml" ContentType="application/vnd.openxmlformats-officedocument.presentationml.slideLayout+xml"/>
  <Override PartName="/ppt/selected/src04/slideLayouts/slideLayout4.xml" ContentType="application/vnd.openxmlformats-officedocument.presentationml.slideLayout+xml"/>
  <Override PartName="/ppt/selected/src04/slideLayouts/slideLayout5.xml" ContentType="application/vnd.openxmlformats-officedocument.presentationml.slideLayout+xml"/>
  <Override PartName="/ppt/selected/src04/slideLayouts/slideLayout6.xml" ContentType="application/vnd.openxmlformats-officedocument.presentationml.slideLayout+xml"/>
  <Override PartName="/ppt/selected/src04/slideLayouts/slideLayout7.xml" ContentType="application/vnd.openxmlformats-officedocument.presentationml.slideLayout+xml"/>
  <Override PartName="/ppt/selected/src04/slideLayouts/slideLayout8.xml" ContentType="application/vnd.openxmlformats-officedocument.presentationml.slideLayout+xml"/>
  <Override PartName="/ppt/selected/src04/slideLayouts/slideLayout9.xml" ContentType="application/vnd.openxmlformats-officedocument.presentationml.slideLayout+xml"/>
  <Override PartName="/ppt/selected/src04/slideMasters/slideMaster1.xml" ContentType="application/vnd.openxmlformats-officedocument.presentationml.slideMaster+xml"/>
  <Override PartName="/ppt/selected/src04/theme/theme1.xml" ContentType="application/vnd.openxmlformats-officedocument.theme+xml"/>
  <Override PartName="/ppt/selected/src08/charts/chart1.xml" ContentType="application/vnd.openxmlformats-officedocument.drawingml.chart+xml"/>
  <Override PartName="/ppt/selected/src08/slideLayouts/slideLayout1.xml" ContentType="application/vnd.openxmlformats-officedocument.presentationml.slideLayout+xml"/>
  <Override PartName="/ppt/selected/src08/slideLayouts/slideLayout10.xml" ContentType="application/vnd.openxmlformats-officedocument.presentationml.slideLayout+xml"/>
  <Override PartName="/ppt/selected/src08/slideLayouts/slideLayout11.xml" ContentType="application/vnd.openxmlformats-officedocument.presentationml.slideLayout+xml"/>
  <Override PartName="/ppt/selected/src08/slideLayouts/slideLayout2.xml" ContentType="application/vnd.openxmlformats-officedocument.presentationml.slideLayout+xml"/>
  <Override PartName="/ppt/selected/src08/slideLayouts/slideLayout3.xml" ContentType="application/vnd.openxmlformats-officedocument.presentationml.slideLayout+xml"/>
  <Override PartName="/ppt/selected/src08/slideLayouts/slideLayout4.xml" ContentType="application/vnd.openxmlformats-officedocument.presentationml.slideLayout+xml"/>
  <Override PartName="/ppt/selected/src08/slideLayouts/slideLayout5.xml" ContentType="application/vnd.openxmlformats-officedocument.presentationml.slideLayout+xml"/>
  <Override PartName="/ppt/selected/src08/slideLayouts/slideLayout6.xml" ContentType="application/vnd.openxmlformats-officedocument.presentationml.slideLayout+xml"/>
  <Override PartName="/ppt/selected/src08/slideLayouts/slideLayout7.xml" ContentType="application/vnd.openxmlformats-officedocument.presentationml.slideLayout+xml"/>
  <Override PartName="/ppt/selected/src08/slideLayouts/slideLayout8.xml" ContentType="application/vnd.openxmlformats-officedocument.presentationml.slideLayout+xml"/>
  <Override PartName="/ppt/selected/src08/slideLayouts/slideLayout9.xml" ContentType="application/vnd.openxmlformats-officedocument.presentationml.slideLayout+xml"/>
  <Override PartName="/ppt/selected/src08/slideMasters/slideMaster1.xml" ContentType="application/vnd.openxmlformats-officedocument.presentationml.slideMaster+xml"/>
  <Override PartName="/ppt/selected/src08/theme/theme1.xml" ContentType="application/vnd.openxmlformats-officedocument.theme+xml"/>
  <Override PartName="/ppt/selected/src09/slideLayouts/slideLayout1.xml" ContentType="application/vnd.openxmlformats-officedocument.presentationml.slideLayout+xml"/>
  <Override PartName="/ppt/selected/src09/slideLayouts/slideLayout10.xml" ContentType="application/vnd.openxmlformats-officedocument.presentationml.slideLayout+xml"/>
  <Override PartName="/ppt/selected/src09/slideLayouts/slideLayout11.xml" ContentType="application/vnd.openxmlformats-officedocument.presentationml.slideLayout+xml"/>
  <Override PartName="/ppt/selected/src09/slideLayouts/slideLayout2.xml" ContentType="application/vnd.openxmlformats-officedocument.presentationml.slideLayout+xml"/>
  <Override PartName="/ppt/selected/src09/slideLayouts/slideLayout3.xml" ContentType="application/vnd.openxmlformats-officedocument.presentationml.slideLayout+xml"/>
  <Override PartName="/ppt/selected/src09/slideLayouts/slideLayout4.xml" ContentType="application/vnd.openxmlformats-officedocument.presentationml.slideLayout+xml"/>
  <Override PartName="/ppt/selected/src09/slideLayouts/slideLayout5.xml" ContentType="application/vnd.openxmlformats-officedocument.presentationml.slideLayout+xml"/>
  <Override PartName="/ppt/selected/src09/slideLayouts/slideLayout6.xml" ContentType="application/vnd.openxmlformats-officedocument.presentationml.slideLayout+xml"/>
  <Override PartName="/ppt/selected/src09/slideLayouts/slideLayout7.xml" ContentType="application/vnd.openxmlformats-officedocument.presentationml.slideLayout+xml"/>
  <Override PartName="/ppt/selected/src09/slideLayouts/slideLayout8.xml" ContentType="application/vnd.openxmlformats-officedocument.presentationml.slideLayout+xml"/>
  <Override PartName="/ppt/selected/src09/slideLayouts/slideLayout9.xml" ContentType="application/vnd.openxmlformats-officedocument.presentationml.slideLayout+xml"/>
  <Override PartName="/ppt/selected/src09/slideMasters/slideMaster1.xml" ContentType="application/vnd.openxmlformats-officedocument.presentationml.slideMaster+xml"/>
  <Override PartName="/ppt/selected/src09/theme/theme1.xml" ContentType="application/vnd.openxmlformats-officedocument.theme+xml"/>
  <Override PartName="/ppt/selected/src11/slideLayouts/slideLayout1.xml" ContentType="application/vnd.openxmlformats-officedocument.presentationml.slideLayout+xml"/>
  <Override PartName="/ppt/selected/src11/slideLayouts/slideLayout10.xml" ContentType="application/vnd.openxmlformats-officedocument.presentationml.slideLayout+xml"/>
  <Override PartName="/ppt/selected/src11/slideLayouts/slideLayout11.xml" ContentType="application/vnd.openxmlformats-officedocument.presentationml.slideLayout+xml"/>
  <Override PartName="/ppt/selected/src11/slideLayouts/slideLayout2.xml" ContentType="application/vnd.openxmlformats-officedocument.presentationml.slideLayout+xml"/>
  <Override PartName="/ppt/selected/src11/slideLayouts/slideLayout3.xml" ContentType="application/vnd.openxmlformats-officedocument.presentationml.slideLayout+xml"/>
  <Override PartName="/ppt/selected/src11/slideLayouts/slideLayout4.xml" ContentType="application/vnd.openxmlformats-officedocument.presentationml.slideLayout+xml"/>
  <Override PartName="/ppt/selected/src11/slideLayouts/slideLayout5.xml" ContentType="application/vnd.openxmlformats-officedocument.presentationml.slideLayout+xml"/>
  <Override PartName="/ppt/selected/src11/slideLayouts/slideLayout6.xml" ContentType="application/vnd.openxmlformats-officedocument.presentationml.slideLayout+xml"/>
  <Override PartName="/ppt/selected/src11/slideLayouts/slideLayout7.xml" ContentType="application/vnd.openxmlformats-officedocument.presentationml.slideLayout+xml"/>
  <Override PartName="/ppt/selected/src11/slideLayouts/slideLayout8.xml" ContentType="application/vnd.openxmlformats-officedocument.presentationml.slideLayout+xml"/>
  <Override PartName="/ppt/selected/src11/slideLayouts/slideLayout9.xml" ContentType="application/vnd.openxmlformats-officedocument.presentationml.slideLayout+xml"/>
  <Override PartName="/ppt/selected/src11/slideMasters/slideMaster1.xml" ContentType="application/vnd.openxmlformats-officedocument.presentationml.slideMaster+xml"/>
  <Override PartName="/ppt/selected/src11/theme/theme1.xml" ContentType="application/vnd.openxmlformats-officedocument.theme+xml"/>
  <Override PartName="/ppt/selected/src12/slideLayouts/slideLayout1.xml" ContentType="application/vnd.openxmlformats-officedocument.presentationml.slideLayout+xml"/>
  <Override PartName="/ppt/selected/src12/slideLayouts/slideLayout10.xml" ContentType="application/vnd.openxmlformats-officedocument.presentationml.slideLayout+xml"/>
  <Override PartName="/ppt/selected/src12/slideLayouts/slideLayout11.xml" ContentType="application/vnd.openxmlformats-officedocument.presentationml.slideLayout+xml"/>
  <Override PartName="/ppt/selected/src12/slideLayouts/slideLayout2.xml" ContentType="application/vnd.openxmlformats-officedocument.presentationml.slideLayout+xml"/>
  <Override PartName="/ppt/selected/src12/slideLayouts/slideLayout3.xml" ContentType="application/vnd.openxmlformats-officedocument.presentationml.slideLayout+xml"/>
  <Override PartName="/ppt/selected/src12/slideLayouts/slideLayout4.xml" ContentType="application/vnd.openxmlformats-officedocument.presentationml.slideLayout+xml"/>
  <Override PartName="/ppt/selected/src12/slideLayouts/slideLayout5.xml" ContentType="application/vnd.openxmlformats-officedocument.presentationml.slideLayout+xml"/>
  <Override PartName="/ppt/selected/src12/slideLayouts/slideLayout6.xml" ContentType="application/vnd.openxmlformats-officedocument.presentationml.slideLayout+xml"/>
  <Override PartName="/ppt/selected/src12/slideLayouts/slideLayout7.xml" ContentType="application/vnd.openxmlformats-officedocument.presentationml.slideLayout+xml"/>
  <Override PartName="/ppt/selected/src12/slideLayouts/slideLayout8.xml" ContentType="application/vnd.openxmlformats-officedocument.presentationml.slideLayout+xml"/>
  <Override PartName="/ppt/selected/src12/slideLayouts/slideLayout9.xml" ContentType="application/vnd.openxmlformats-officedocument.presentationml.slideLayout+xml"/>
  <Override PartName="/ppt/selected/src12/slideMasters/slideMaster1.xml" ContentType="application/vnd.openxmlformats-officedocument.presentationml.slideMaster+xml"/>
  <Override PartName="/ppt/selected/src12/theme/theme1.xml" ContentType="application/vnd.openxmlformats-officedocument.theme+xml"/>
  <Override PartName="/ppt/selected/src14/slideLayouts/slideLayout1.xml" ContentType="application/vnd.openxmlformats-officedocument.presentationml.slideLayout+xml"/>
  <Override PartName="/ppt/selected/src14/slideLayouts/slideLayout10.xml" ContentType="application/vnd.openxmlformats-officedocument.presentationml.slideLayout+xml"/>
  <Override PartName="/ppt/selected/src14/slideLayouts/slideLayout11.xml" ContentType="application/vnd.openxmlformats-officedocument.presentationml.slideLayout+xml"/>
  <Override PartName="/ppt/selected/src14/slideLayouts/slideLayout2.xml" ContentType="application/vnd.openxmlformats-officedocument.presentationml.slideLayout+xml"/>
  <Override PartName="/ppt/selected/src14/slideLayouts/slideLayout3.xml" ContentType="application/vnd.openxmlformats-officedocument.presentationml.slideLayout+xml"/>
  <Override PartName="/ppt/selected/src14/slideLayouts/slideLayout4.xml" ContentType="application/vnd.openxmlformats-officedocument.presentationml.slideLayout+xml"/>
  <Override PartName="/ppt/selected/src14/slideLayouts/slideLayout5.xml" ContentType="application/vnd.openxmlformats-officedocument.presentationml.slideLayout+xml"/>
  <Override PartName="/ppt/selected/src14/slideLayouts/slideLayout6.xml" ContentType="application/vnd.openxmlformats-officedocument.presentationml.slideLayout+xml"/>
  <Override PartName="/ppt/selected/src14/slideLayouts/slideLayout7.xml" ContentType="application/vnd.openxmlformats-officedocument.presentationml.slideLayout+xml"/>
  <Override PartName="/ppt/selected/src14/slideLayouts/slideLayout8.xml" ContentType="application/vnd.openxmlformats-officedocument.presentationml.slideLayout+xml"/>
  <Override PartName="/ppt/selected/src14/slideLayouts/slideLayout9.xml" ContentType="application/vnd.openxmlformats-officedocument.presentationml.slideLayout+xml"/>
  <Override PartName="/ppt/selected/src14/slideMasters/slideMaster1.xml" ContentType="application/vnd.openxmlformats-officedocument.presentationml.slideMaster+xml"/>
  <Override PartName="/ppt/selected/src14/theme/theme1.xml" ContentType="application/vnd.openxmlformats-officedocument.theme+xml"/>
  <Override PartName="/ppt/selected/src15/slideLayouts/slideLayout1.xml" ContentType="application/vnd.openxmlformats-officedocument.presentationml.slideLayout+xml"/>
  <Override PartName="/ppt/selected/src15/slideLayouts/slideLayout10.xml" ContentType="application/vnd.openxmlformats-officedocument.presentationml.slideLayout+xml"/>
  <Override PartName="/ppt/selected/src15/slideLayouts/slideLayout11.xml" ContentType="application/vnd.openxmlformats-officedocument.presentationml.slideLayout+xml"/>
  <Override PartName="/ppt/selected/src15/slideLayouts/slideLayout2.xml" ContentType="application/vnd.openxmlformats-officedocument.presentationml.slideLayout+xml"/>
  <Override PartName="/ppt/selected/src15/slideLayouts/slideLayout3.xml" ContentType="application/vnd.openxmlformats-officedocument.presentationml.slideLayout+xml"/>
  <Override PartName="/ppt/selected/src15/slideLayouts/slideLayout4.xml" ContentType="application/vnd.openxmlformats-officedocument.presentationml.slideLayout+xml"/>
  <Override PartName="/ppt/selected/src15/slideLayouts/slideLayout5.xml" ContentType="application/vnd.openxmlformats-officedocument.presentationml.slideLayout+xml"/>
  <Override PartName="/ppt/selected/src15/slideLayouts/slideLayout6.xml" ContentType="application/vnd.openxmlformats-officedocument.presentationml.slideLayout+xml"/>
  <Override PartName="/ppt/selected/src15/slideLayouts/slideLayout7.xml" ContentType="application/vnd.openxmlformats-officedocument.presentationml.slideLayout+xml"/>
  <Override PartName="/ppt/selected/src15/slideLayouts/slideLayout8.xml" ContentType="application/vnd.openxmlformats-officedocument.presentationml.slideLayout+xml"/>
  <Override PartName="/ppt/selected/src15/slideLayouts/slideLayout9.xml" ContentType="application/vnd.openxmlformats-officedocument.presentationml.slideLayout+xml"/>
  <Override PartName="/ppt/selected/src15/slideMasters/slideMaster1.xml" ContentType="application/vnd.openxmlformats-officedocument.presentationml.slideMaster+xml"/>
  <Override PartName="/ppt/selected/src15/theme/theme1.xml" ContentType="application/vnd.openxmlformats-officedocument.theme+xml"/>
  <Override PartName="/ppt/selected/src17/slideLayouts/slideLayout1.xml" ContentType="application/vnd.openxmlformats-officedocument.presentationml.slideLayout+xml"/>
  <Override PartName="/ppt/selected/src17/slideLayouts/slideLayout10.xml" ContentType="application/vnd.openxmlformats-officedocument.presentationml.slideLayout+xml"/>
  <Override PartName="/ppt/selected/src17/slideLayouts/slideLayout11.xml" ContentType="application/vnd.openxmlformats-officedocument.presentationml.slideLayout+xml"/>
  <Override PartName="/ppt/selected/src17/slideLayouts/slideLayout2.xml" ContentType="application/vnd.openxmlformats-officedocument.presentationml.slideLayout+xml"/>
  <Override PartName="/ppt/selected/src17/slideLayouts/slideLayout3.xml" ContentType="application/vnd.openxmlformats-officedocument.presentationml.slideLayout+xml"/>
  <Override PartName="/ppt/selected/src17/slideLayouts/slideLayout4.xml" ContentType="application/vnd.openxmlformats-officedocument.presentationml.slideLayout+xml"/>
  <Override PartName="/ppt/selected/src17/slideLayouts/slideLayout5.xml" ContentType="application/vnd.openxmlformats-officedocument.presentationml.slideLayout+xml"/>
  <Override PartName="/ppt/selected/src17/slideLayouts/slideLayout6.xml" ContentType="application/vnd.openxmlformats-officedocument.presentationml.slideLayout+xml"/>
  <Override PartName="/ppt/selected/src17/slideLayouts/slideLayout7.xml" ContentType="application/vnd.openxmlformats-officedocument.presentationml.slideLayout+xml"/>
  <Override PartName="/ppt/selected/src17/slideLayouts/slideLayout8.xml" ContentType="application/vnd.openxmlformats-officedocument.presentationml.slideLayout+xml"/>
  <Override PartName="/ppt/selected/src17/slideLayouts/slideLayout9.xml" ContentType="application/vnd.openxmlformats-officedocument.presentationml.slideLayout+xml"/>
  <Override PartName="/ppt/selected/src17/slideMasters/slideMaster1.xml" ContentType="application/vnd.openxmlformats-officedocument.presentationml.slideMaster+xml"/>
  <Override PartName="/ppt/selected/src17/theme/theme1.xml" ContentType="application/vnd.openxmlformats-officedocument.theme+xml"/>
  <Override PartName="/ppt/selected/src18/slideLayouts/slideLayout1.xml" ContentType="application/vnd.openxmlformats-officedocument.presentationml.slideLayout+xml"/>
  <Override PartName="/ppt/selected/src18/slideLayouts/slideLayout10.xml" ContentType="application/vnd.openxmlformats-officedocument.presentationml.slideLayout+xml"/>
  <Override PartName="/ppt/selected/src18/slideLayouts/slideLayout11.xml" ContentType="application/vnd.openxmlformats-officedocument.presentationml.slideLayout+xml"/>
  <Override PartName="/ppt/selected/src18/slideLayouts/slideLayout2.xml" ContentType="application/vnd.openxmlformats-officedocument.presentationml.slideLayout+xml"/>
  <Override PartName="/ppt/selected/src18/slideLayouts/slideLayout3.xml" ContentType="application/vnd.openxmlformats-officedocument.presentationml.slideLayout+xml"/>
  <Override PartName="/ppt/selected/src18/slideLayouts/slideLayout4.xml" ContentType="application/vnd.openxmlformats-officedocument.presentationml.slideLayout+xml"/>
  <Override PartName="/ppt/selected/src18/slideLayouts/slideLayout5.xml" ContentType="application/vnd.openxmlformats-officedocument.presentationml.slideLayout+xml"/>
  <Override PartName="/ppt/selected/src18/slideLayouts/slideLayout6.xml" ContentType="application/vnd.openxmlformats-officedocument.presentationml.slideLayout+xml"/>
  <Override PartName="/ppt/selected/src18/slideLayouts/slideLayout7.xml" ContentType="application/vnd.openxmlformats-officedocument.presentationml.slideLayout+xml"/>
  <Override PartName="/ppt/selected/src18/slideLayouts/slideLayout8.xml" ContentType="application/vnd.openxmlformats-officedocument.presentationml.slideLayout+xml"/>
  <Override PartName="/ppt/selected/src18/slideLayouts/slideLayout9.xml" ContentType="application/vnd.openxmlformats-officedocument.presentationml.slideLayout+xml"/>
  <Override PartName="/ppt/selected/src18/slideMasters/slideMaster1.xml" ContentType="application/vnd.openxmlformats-officedocument.presentationml.slideMaster+xml"/>
  <Override PartName="/ppt/selected/src18/theme/theme1.xml" ContentType="application/vnd.openxmlformats-officedocument.theme+xml"/>
  <Override PartName="/ppt/selected/src19/slideLayouts/slideLayout1.xml" ContentType="application/vnd.openxmlformats-officedocument.presentationml.slideLayout+xml"/>
  <Override PartName="/ppt/selected/src19/slideLayouts/slideLayout10.xml" ContentType="application/vnd.openxmlformats-officedocument.presentationml.slideLayout+xml"/>
  <Override PartName="/ppt/selected/src19/slideLayouts/slideLayout11.xml" ContentType="application/vnd.openxmlformats-officedocument.presentationml.slideLayout+xml"/>
  <Override PartName="/ppt/selected/src19/slideLayouts/slideLayout2.xml" ContentType="application/vnd.openxmlformats-officedocument.presentationml.slideLayout+xml"/>
  <Override PartName="/ppt/selected/src19/slideLayouts/slideLayout3.xml" ContentType="application/vnd.openxmlformats-officedocument.presentationml.slideLayout+xml"/>
  <Override PartName="/ppt/selected/src19/slideLayouts/slideLayout4.xml" ContentType="application/vnd.openxmlformats-officedocument.presentationml.slideLayout+xml"/>
  <Override PartName="/ppt/selected/src19/slideLayouts/slideLayout5.xml" ContentType="application/vnd.openxmlformats-officedocument.presentationml.slideLayout+xml"/>
  <Override PartName="/ppt/selected/src19/slideLayouts/slideLayout6.xml" ContentType="application/vnd.openxmlformats-officedocument.presentationml.slideLayout+xml"/>
  <Override PartName="/ppt/selected/src19/slideLayouts/slideLayout7.xml" ContentType="application/vnd.openxmlformats-officedocument.presentationml.slideLayout+xml"/>
  <Override PartName="/ppt/selected/src19/slideLayouts/slideLayout8.xml" ContentType="application/vnd.openxmlformats-officedocument.presentationml.slideLayout+xml"/>
  <Override PartName="/ppt/selected/src19/slideLayouts/slideLayout9.xml" ContentType="application/vnd.openxmlformats-officedocument.presentationml.slideLayout+xml"/>
  <Override PartName="/ppt/selected/src19/slideMasters/slideMaster1.xml" ContentType="application/vnd.openxmlformats-officedocument.presentationml.slideMaster+xml"/>
  <Override PartName="/ppt/selected/src19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1d_approval/notesSlides/notesSlide1.xml" ContentType="application/vnd.openxmlformats-officedocument.presentationml.notesSlide+xml"/>
  <Override PartName="/ppt/t1d_approval/slideLayouts/slideLayout1.xml" ContentType="application/vnd.openxmlformats-officedocument.presentationml.slideLayout+xml"/>
  <Override PartName="/ppt/t1d_approval/slideMasters/slideMaster1.xml" ContentType="application/vnd.openxmlformats-officedocument.presentationml.slideMaster+xml"/>
  <Override PartName="/ppt/t1d_approval/slideMasters/theme/theme2.xml" ContentType="application/vnd.openxmlformats-officedocument.them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3" r:id="rId3"/>
    <p:sldMasterId id="2147483675" r:id="rId4"/>
    <p:sldMasterId id="2147483677" r:id="rId5"/>
    <p:sldMasterId id="2147483689" r:id="rId6"/>
    <p:sldMasterId id="2147483693" r:id="rId7"/>
    <p:sldMasterId id="2147483696" r:id="rId8"/>
    <p:sldMasterId id="2147483698" r:id="rId9"/>
    <p:sldMasterId id="2147483700" r:id="rId10"/>
    <p:sldMasterId id="2147483702" r:id="rId11"/>
    <p:sldMasterId id="2147483704" r:id="rId12"/>
    <p:sldMasterId id="2147483716" r:id="rId13"/>
    <p:sldMasterId id="2147483719" r:id="rId14"/>
    <p:sldMasterId id="2147483722" r:id="rId15"/>
    <p:sldMasterId id="2147483725" r:id="rId16"/>
    <p:sldMasterId id="2147483728" r:id="rId17"/>
    <p:sldMasterId id="2147483731" r:id="rId18"/>
    <p:sldMasterId id="2147483734" r:id="rId19"/>
    <p:sldMasterId id="2147483737" r:id="rId20"/>
    <p:sldMasterId id="2147483740" r:id="rIdInsert2"/>
    <p:sldMasterId id="2147483742" r:id="rIdReviewed40"/>
    <p:sldMasterId id="2147483744" r:id="rIdReviewed41"/>
    <p:sldMasterId id="2147483756" r:id="rIdReviewed42"/>
    <p:sldMasterId id="2147483768" r:id="rIdReviewed43"/>
    <p:sldMasterId id="2147483780" r:id="rIdReviewed44"/>
    <p:sldMasterId id="2147483792" r:id="rIdReviewed45"/>
    <p:sldMasterId id="2147483804" r:id="rIdReviewed46"/>
    <p:sldMasterId id="2147483816" r:id="rIdReviewed47"/>
    <p:sldMasterId id="2147483828" r:id="rIdReviewed48"/>
    <p:sldMasterId id="2147483840" r:id="rIdReviewed49"/>
    <p:sldMasterId id="2147483852" r:id="rIdReviewed50"/>
    <p:sldMasterId id="2147483864" r:id="rIdReviewed51"/>
    <p:sldMasterId id="2147483876" r:id="rIdReviewed52"/>
    <p:sldMasterId id="2147483888" r:id="rIdT1D4"/>
  </p:sldMasterIdLst>
  <p:notesMasterIdLst>
    <p:notesMasterId r:id="rId58"/>
  </p:notesMasterIdLst>
  <p:sldIdLst>
    <p:sldId id="256" r:id="rIdReviewed1"/>
    <p:sldId id="257" r:id="rIdReviewed2"/>
    <p:sldId id="303" r:id="rId89"/>
    <p:sldId id="265" r:id="rIdReviewed10"/>
    <p:sldId id="266" r:id="rIdReviewed11"/>
    <p:sldId id="267" r:id="rIdReviewed12"/>
    <p:sldId id="268" r:id="rIdReviewed13"/>
    <p:sldId id="269" r:id="rIdReviewed14"/>
    <p:sldId id="263" r:id="rIdReviewed8"/>
    <p:sldId id="264" r:id="rIdReviewed9"/>
    <p:sldId id="260" r:id="rIdReviewed5"/>
    <p:sldId id="261" r:id="rIdReviewed6"/>
    <p:sldId id="262" r:id="rIdReviewed7"/>
    <p:sldId id="304" r:id="rId90"/>
    <p:sldId id="259" r:id="rIdReviewed4"/>
    <p:sldId id="258" r:id="rIdReviewed3"/>
    <p:sldId id="270" r:id="rIdReviewed15"/>
    <p:sldId id="271" r:id="rIdReviewed16"/>
    <p:sldId id="272" r:id="rIdReviewed17"/>
    <p:sldId id="273" r:id="rIdReviewed18"/>
    <p:sldId id="274" r:id="rIdReviewed19"/>
    <p:sldId id="275" r:id="rIdReviewed20"/>
    <p:sldId id="276" r:id="rIdReviewed21"/>
    <p:sldId id="277" r:id="rIdReviewed22"/>
    <p:sldId id="278" r:id="rIdReviewed23"/>
    <p:sldId id="279" r:id="rIdReviewed24"/>
    <p:sldId id="280" r:id="rIdReviewed25"/>
    <p:sldId id="281" r:id="rIdReviewed26"/>
    <p:sldId id="283" r:id="rIdReviewed28"/>
    <p:sldId id="284" r:id="rIdReviewed29"/>
    <p:sldId id="285" r:id="rIdReviewed30"/>
    <p:sldId id="286" r:id="rIdReviewed31"/>
    <p:sldId id="287" r:id="rIdReviewed32"/>
    <p:sldId id="288" r:id="rIdReviewed33"/>
    <p:sldId id="302" r:id="rId88"/>
    <p:sldId id="289" r:id="rIdReviewed34"/>
    <p:sldId id="290" r:id="rIdReviewed35"/>
    <p:sldId id="297" r:id="rId83"/>
    <p:sldId id="298" r:id="rId84"/>
    <p:sldId id="299" r:id="rId85"/>
    <p:sldId id="300" r:id="rId86"/>
    <p:sldId id="291" r:id="rIdReviewed36"/>
    <p:sldId id="301" r:id="rId87"/>
    <p:sldId id="282" r:id="rIdReviewed27"/>
    <p:sldId id="292" r:id="rIdReviewed37"/>
    <p:sldId id="293" r:id="rIdReviewed38"/>
    <p:sldId id="295" r:id="rIdT1D1"/>
    <p:sldId id="294" r:id="rIdReviewe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41" d="100"/>
          <a:sy n="41" d="100"/>
        </p:scale>
        <p:origin x="62" y="82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Insert2" Type="http://schemas.openxmlformats.org/officeDocument/2006/relationships/slideMaster" Target="inserted_0924/slideMasters/slideMaster1.xml"/><Relationship Id="rIdReviewed1" Type="http://schemas.openxmlformats.org/officeDocument/2006/relationships/slide" Target="slides/slide1.xml"/><Relationship Id="rIdReviewed10" Type="http://schemas.openxmlformats.org/officeDocument/2006/relationships/slide" Target="slides/slide3.xml"/><Relationship Id="rIdReviewed11" Type="http://schemas.openxmlformats.org/officeDocument/2006/relationships/slide" Target="slides/slide4.xml"/><Relationship Id="rIdReviewed12" Type="http://schemas.openxmlformats.org/officeDocument/2006/relationships/slide" Target="slides/slide5.xml"/><Relationship Id="rIdReviewed13" Type="http://schemas.openxmlformats.org/officeDocument/2006/relationships/slide" Target="slides/slide6.xml"/><Relationship Id="rIdReviewed14" Type="http://schemas.openxmlformats.org/officeDocument/2006/relationships/slide" Target="slides/slide7.xml"/><Relationship Id="rIdReviewed15" Type="http://schemas.openxmlformats.org/officeDocument/2006/relationships/slide" Target="slides/slide15.xml"/><Relationship Id="rIdReviewed16" Type="http://schemas.openxmlformats.org/officeDocument/2006/relationships/slide" Target="slides/slide16.xml"/><Relationship Id="rIdReviewed17" Type="http://schemas.openxmlformats.org/officeDocument/2006/relationships/slide" Target="slides/slide17.xml"/><Relationship Id="rIdReviewed18" Type="http://schemas.openxmlformats.org/officeDocument/2006/relationships/slide" Target="slides/slide18.xml"/><Relationship Id="rIdReviewed19" Type="http://schemas.openxmlformats.org/officeDocument/2006/relationships/slide" Target="slides/slide19.xml"/><Relationship Id="rIdReviewed2" Type="http://schemas.openxmlformats.org/officeDocument/2006/relationships/slide" Target="slides/slide2.xml"/><Relationship Id="rIdReviewed20" Type="http://schemas.openxmlformats.org/officeDocument/2006/relationships/slide" Target="slides/slide20.xml"/><Relationship Id="rIdReviewed21" Type="http://schemas.openxmlformats.org/officeDocument/2006/relationships/slide" Target="slides/slide21.xml"/><Relationship Id="rIdReviewed22" Type="http://schemas.openxmlformats.org/officeDocument/2006/relationships/slide" Target="slides/slide22.xml"/><Relationship Id="rIdReviewed23" Type="http://schemas.openxmlformats.org/officeDocument/2006/relationships/slide" Target="slides/slide23.xml"/><Relationship Id="rIdReviewed24" Type="http://schemas.openxmlformats.org/officeDocument/2006/relationships/slide" Target="slides/slide24.xml"/><Relationship Id="rIdReviewed25" Type="http://schemas.openxmlformats.org/officeDocument/2006/relationships/slide" Target="slides/slide25.xml"/><Relationship Id="rIdReviewed26" Type="http://schemas.openxmlformats.org/officeDocument/2006/relationships/slide" Target="slides/slide26.xml"/><Relationship Id="rIdReviewed27" Type="http://schemas.openxmlformats.org/officeDocument/2006/relationships/slide" Target="slides/slide42.xml"/><Relationship Id="rIdReviewed28" Type="http://schemas.openxmlformats.org/officeDocument/2006/relationships/slide" Target="slides/slide27.xml"/><Relationship Id="rIdReviewed29" Type="http://schemas.openxmlformats.org/officeDocument/2006/relationships/slide" Target="slides/slide28.xml"/><Relationship Id="rIdReviewed3" Type="http://schemas.openxmlformats.org/officeDocument/2006/relationships/slide" Target="slides/slide14.xml"/><Relationship Id="rIdReviewed30" Type="http://schemas.openxmlformats.org/officeDocument/2006/relationships/slide" Target="slides/slide29.xml"/><Relationship Id="rIdReviewed31" Type="http://schemas.openxmlformats.org/officeDocument/2006/relationships/slide" Target="slides/slide30.xml"/><Relationship Id="rIdReviewed32" Type="http://schemas.openxmlformats.org/officeDocument/2006/relationships/slide" Target="slides/slide31.xml"/><Relationship Id="rIdReviewed33" Type="http://schemas.openxmlformats.org/officeDocument/2006/relationships/slide" Target="slides/slide32.xml"/><Relationship Id="rIdReviewed34" Type="http://schemas.openxmlformats.org/officeDocument/2006/relationships/slide" Target="slides/slide34.xml"/><Relationship Id="rIdReviewed35" Type="http://schemas.openxmlformats.org/officeDocument/2006/relationships/slide" Target="slides/slide35.xml"/><Relationship Id="rIdReviewed36" Type="http://schemas.openxmlformats.org/officeDocument/2006/relationships/slide" Target="slides/slide36.xml"/><Relationship Id="rIdReviewed37" Type="http://schemas.openxmlformats.org/officeDocument/2006/relationships/slide" Target="slides/slide43.xml"/><Relationship Id="rIdReviewed38" Type="http://schemas.openxmlformats.org/officeDocument/2006/relationships/slide" Target="slides/slide44.xml"/><Relationship Id="rIdReviewed39" Type="http://schemas.openxmlformats.org/officeDocument/2006/relationships/slide" Target="slides/slide47.xml"/><Relationship Id="rIdReviewed4" Type="http://schemas.openxmlformats.org/officeDocument/2006/relationships/slide" Target="slides/slide13.xml"/><Relationship Id="rIdReviewed40" Type="http://schemas.openxmlformats.org/officeDocument/2006/relationships/slideMaster" Target="selected/new/slideMasters/slideMaster1.xml"/><Relationship Id="rIdReviewed41" Type="http://schemas.openxmlformats.org/officeDocument/2006/relationships/slideMaster" Target="selected/src01/slideMasters/slideMaster1.xml"/><Relationship Id="rIdReviewed42" Type="http://schemas.openxmlformats.org/officeDocument/2006/relationships/slideMaster" Target="selected/src02/slideMasters/slideMaster1.xml"/><Relationship Id="rIdReviewed43" Type="http://schemas.openxmlformats.org/officeDocument/2006/relationships/slideMaster" Target="selected/src04/slideMasters/slideMaster1.xml"/><Relationship Id="rIdReviewed44" Type="http://schemas.openxmlformats.org/officeDocument/2006/relationships/slideMaster" Target="selected/src08/slideMasters/slideMaster1.xml"/><Relationship Id="rIdReviewed45" Type="http://schemas.openxmlformats.org/officeDocument/2006/relationships/slideMaster" Target="selected/src09/slideMasters/slideMaster1.xml"/><Relationship Id="rIdReviewed46" Type="http://schemas.openxmlformats.org/officeDocument/2006/relationships/slideMaster" Target="selected/src11/slideMasters/slideMaster1.xml"/><Relationship Id="rIdReviewed47" Type="http://schemas.openxmlformats.org/officeDocument/2006/relationships/slideMaster" Target="selected/src12/slideMasters/slideMaster1.xml"/><Relationship Id="rIdReviewed48" Type="http://schemas.openxmlformats.org/officeDocument/2006/relationships/slideMaster" Target="selected/src14/slideMasters/slideMaster1.xml"/><Relationship Id="rIdReviewed49" Type="http://schemas.openxmlformats.org/officeDocument/2006/relationships/slideMaster" Target="selected/src15/slideMasters/slideMaster1.xml"/><Relationship Id="rIdReviewed5" Type="http://schemas.openxmlformats.org/officeDocument/2006/relationships/slide" Target="slides/slide8.xml"/><Relationship Id="rIdReviewed50" Type="http://schemas.openxmlformats.org/officeDocument/2006/relationships/slideMaster" Target="selected/src17/slideMasters/slideMaster1.xml"/><Relationship Id="rIdReviewed51" Type="http://schemas.openxmlformats.org/officeDocument/2006/relationships/slideMaster" Target="selected/src18/slideMasters/slideMaster1.xml"/><Relationship Id="rIdReviewed52" Type="http://schemas.openxmlformats.org/officeDocument/2006/relationships/slideMaster" Target="selected/src19/slideMasters/slideMaster1.xml"/><Relationship Id="rIdReviewed6" Type="http://schemas.openxmlformats.org/officeDocument/2006/relationships/slide" Target="slides/slide9.xml"/><Relationship Id="rIdReviewed7" Type="http://schemas.openxmlformats.org/officeDocument/2006/relationships/slide" Target="slides/slide10.xml"/><Relationship Id="rIdReviewed8" Type="http://schemas.openxmlformats.org/officeDocument/2006/relationships/slide" Target="slides/slide11.xml"/><Relationship Id="rIdReviewed9" Type="http://schemas.openxmlformats.org/officeDocument/2006/relationships/slide" Target="slides/slide12.xml"/><Relationship Id="rIdT1D1" Type="http://schemas.openxmlformats.org/officeDocument/2006/relationships/slide" Target="slides/slide45.xml"/><Relationship Id="rIdT1D4" Type="http://schemas.openxmlformats.org/officeDocument/2006/relationships/slideMaster" Target="t1d_approval/slideMasters/slideMaster1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Master" Target="slideMasters/slideMaster19.xml"/><Relationship Id="rId20" Type="http://schemas.openxmlformats.org/officeDocument/2006/relationships/slideMaster" Target="slideMasters/slideMaster20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Relationship Id="rId63" Type="http://schemas.microsoft.com/office/2016/11/relationships/changesInfo" Target="changesInfos/changesInfo1.xml"/><Relationship Id="rId83" Type="http://schemas.openxmlformats.org/officeDocument/2006/relationships/slide" Target="slides/slide37.xml"/><Relationship Id="rId84" Type="http://schemas.openxmlformats.org/officeDocument/2006/relationships/slide" Target="slides/slide38.xml"/><Relationship Id="rId85" Type="http://schemas.openxmlformats.org/officeDocument/2006/relationships/slide" Target="slides/slide39.xml"/><Relationship Id="rId86" Type="http://schemas.openxmlformats.org/officeDocument/2006/relationships/slide" Target="slides/slide40.xml"/><Relationship Id="rId87" Type="http://schemas.openxmlformats.org/officeDocument/2006/relationships/slide" Target="slides/slide41.xml"/><Relationship Id="rId88" Type="http://schemas.openxmlformats.org/officeDocument/2006/relationships/slide" Target="slides/slide33.xml"/><Relationship Id="rId89" Type="http://schemas.openxmlformats.org/officeDocument/2006/relationships/slide" Target="slides/slide48.xml"/><Relationship Id="rId90" Type="http://schemas.openxmlformats.org/officeDocument/2006/relationships/slide" Target="slides/slide4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dina Siddikova" userId="c170bc8eab85294e" providerId="LiveId" clId="{4D8F16A5-C395-4B97-856B-73C4ABE23E7D}"/>
    <pc:docChg chg="undo custSel modSld delMainMaster">
      <pc:chgData name="Odina Siddikova" userId="c170bc8eab85294e" providerId="LiveId" clId="{4D8F16A5-C395-4B97-856B-73C4ABE23E7D}" dt="2026-09-23T21:06:43.152" v="44" actId="478"/>
      <pc:docMkLst>
        <pc:docMk/>
      </pc:docMkLst>
      <pc:sldChg chg="delSp modSp mod">
        <pc:chgData name="Odina Siddikova" userId="c170bc8eab85294e" providerId="LiveId" clId="{4D8F16A5-C395-4B97-856B-73C4ABE23E7D}" dt="2026-09-23T21:06:43.152" v="44" actId="478"/>
        <pc:sldMkLst>
          <pc:docMk/>
          <pc:sldMk cId="0" sldId="257"/>
        </pc:sldMkLst>
        <pc:spChg chg="mod">
          <ac:chgData name="Odina Siddikova" userId="c170bc8eab85294e" providerId="LiveId" clId="{4D8F16A5-C395-4B97-856B-73C4ABE23E7D}" dt="2026-09-22T19:45:57.634" v="15" actId="20577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Odina Siddikova" userId="c170bc8eab85294e" providerId="LiveId" clId="{4D8F16A5-C395-4B97-856B-73C4ABE23E7D}" dt="2026-09-23T21:06:43.152" v="44" actId="478"/>
          <ac:spMkLst>
            <pc:docMk/>
            <pc:sldMk cId="0" sldId="257"/>
            <ac:spMk id="63" creationId="{00000000-0000-0000-0000-000000000000}"/>
          </ac:spMkLst>
        </pc:spChg>
      </pc:sldChg>
      <pc:sldChg chg="modSp mod">
        <pc:chgData name="Odina Siddikova" userId="c170bc8eab85294e" providerId="LiveId" clId="{4D8F16A5-C395-4B97-856B-73C4ABE23E7D}" dt="2026-09-22T19:48:51.245" v="42" actId="1076"/>
        <pc:sldMkLst>
          <pc:docMk/>
          <pc:sldMk cId="2050947682" sldId="258"/>
        </pc:sldMkLst>
        <pc:spChg chg="mod">
          <ac:chgData name="Odina Siddikova" userId="c170bc8eab85294e" providerId="LiveId" clId="{4D8F16A5-C395-4B97-856B-73C4ABE23E7D}" dt="2026-09-22T19:48:43.857" v="41" actId="404"/>
          <ac:spMkLst>
            <pc:docMk/>
            <pc:sldMk cId="2050947682" sldId="258"/>
            <ac:spMk id="54" creationId="{0CB4D451-7524-4710-B3DE-ED06FD965172}"/>
          </ac:spMkLst>
        </pc:spChg>
        <pc:spChg chg="mod">
          <ac:chgData name="Odina Siddikova" userId="c170bc8eab85294e" providerId="LiveId" clId="{4D8F16A5-C395-4B97-856B-73C4ABE23E7D}" dt="2026-09-22T19:48:28.218" v="39" actId="14100"/>
          <ac:spMkLst>
            <pc:docMk/>
            <pc:sldMk cId="2050947682" sldId="258"/>
            <ac:spMk id="61" creationId="{F8C5DAC4-FF87-40B3-8A25-2930EDA412E0}"/>
          </ac:spMkLst>
        </pc:spChg>
        <pc:spChg chg="mod">
          <ac:chgData name="Odina Siddikova" userId="c170bc8eab85294e" providerId="LiveId" clId="{4D8F16A5-C395-4B97-856B-73C4ABE23E7D}" dt="2026-09-22T19:47:30.761" v="20" actId="255"/>
          <ac:spMkLst>
            <pc:docMk/>
            <pc:sldMk cId="2050947682" sldId="258"/>
            <ac:spMk id="65" creationId="{E49D762A-721D-4307-A2A9-036FDEAEFC80}"/>
          </ac:spMkLst>
        </pc:spChg>
        <pc:spChg chg="mod">
          <ac:chgData name="Odina Siddikova" userId="c170bc8eab85294e" providerId="LiveId" clId="{4D8F16A5-C395-4B97-856B-73C4ABE23E7D}" dt="2026-09-22T19:47:30.761" v="20" actId="255"/>
          <ac:spMkLst>
            <pc:docMk/>
            <pc:sldMk cId="2050947682" sldId="258"/>
            <ac:spMk id="66" creationId="{633BED7F-4D84-4F26-A4AC-0EE858E07F58}"/>
          </ac:spMkLst>
        </pc:spChg>
        <pc:spChg chg="mod">
          <ac:chgData name="Odina Siddikova" userId="c170bc8eab85294e" providerId="LiveId" clId="{4D8F16A5-C395-4B97-856B-73C4ABE23E7D}" dt="2026-09-22T19:47:30.761" v="20" actId="255"/>
          <ac:spMkLst>
            <pc:docMk/>
            <pc:sldMk cId="2050947682" sldId="258"/>
            <ac:spMk id="67" creationId="{07DFDA66-B455-49FE-AED7-4FD6F0B0BDEC}"/>
          </ac:spMkLst>
        </pc:spChg>
        <pc:spChg chg="mod">
          <ac:chgData name="Odina Siddikova" userId="c170bc8eab85294e" providerId="LiveId" clId="{4D8F16A5-C395-4B97-856B-73C4ABE23E7D}" dt="2026-09-22T19:48:03.111" v="36" actId="1036"/>
          <ac:spMkLst>
            <pc:docMk/>
            <pc:sldMk cId="2050947682" sldId="258"/>
            <ac:spMk id="68" creationId="{E5CFBEB2-08A4-472C-AB0D-836CDF18BAD7}"/>
          </ac:spMkLst>
        </pc:spChg>
        <pc:spChg chg="mod">
          <ac:chgData name="Odina Siddikova" userId="c170bc8eab85294e" providerId="LiveId" clId="{4D8F16A5-C395-4B97-856B-73C4ABE23E7D}" dt="2026-09-22T19:48:28.218" v="39" actId="14100"/>
          <ac:spMkLst>
            <pc:docMk/>
            <pc:sldMk cId="2050947682" sldId="258"/>
            <ac:spMk id="69" creationId="{824A82F7-2C8C-4281-BB36-E7417841A5C8}"/>
          </ac:spMkLst>
        </pc:spChg>
        <pc:spChg chg="mod">
          <ac:chgData name="Odina Siddikova" userId="c170bc8eab85294e" providerId="LiveId" clId="{4D8F16A5-C395-4B97-856B-73C4ABE23E7D}" dt="2026-09-22T19:47:30.761" v="20" actId="255"/>
          <ac:spMkLst>
            <pc:docMk/>
            <pc:sldMk cId="2050947682" sldId="258"/>
            <ac:spMk id="73" creationId="{34D0F8E5-B506-4BC4-880C-9CB16B5FA7B1}"/>
          </ac:spMkLst>
        </pc:spChg>
        <pc:spChg chg="mod">
          <ac:chgData name="Odina Siddikova" userId="c170bc8eab85294e" providerId="LiveId" clId="{4D8F16A5-C395-4B97-856B-73C4ABE23E7D}" dt="2026-09-22T19:47:30.761" v="20" actId="255"/>
          <ac:spMkLst>
            <pc:docMk/>
            <pc:sldMk cId="2050947682" sldId="258"/>
            <ac:spMk id="74" creationId="{1D117A58-9EA5-4BDB-B625-678F9E6324A7}"/>
          </ac:spMkLst>
        </pc:spChg>
        <pc:spChg chg="mod">
          <ac:chgData name="Odina Siddikova" userId="c170bc8eab85294e" providerId="LiveId" clId="{4D8F16A5-C395-4B97-856B-73C4ABE23E7D}" dt="2026-09-22T19:47:30.761" v="20" actId="255"/>
          <ac:spMkLst>
            <pc:docMk/>
            <pc:sldMk cId="2050947682" sldId="258"/>
            <ac:spMk id="75" creationId="{2A418DAE-824D-483E-895F-22EEA8FD1484}"/>
          </ac:spMkLst>
        </pc:spChg>
        <pc:spChg chg="mod">
          <ac:chgData name="Odina Siddikova" userId="c170bc8eab85294e" providerId="LiveId" clId="{4D8F16A5-C395-4B97-856B-73C4ABE23E7D}" dt="2026-09-22T19:48:03.111" v="36" actId="1036"/>
          <ac:spMkLst>
            <pc:docMk/>
            <pc:sldMk cId="2050947682" sldId="258"/>
            <ac:spMk id="76" creationId="{9FF320DD-6697-4C5E-8220-4D067E877FC5}"/>
          </ac:spMkLst>
        </pc:spChg>
        <pc:spChg chg="mod">
          <ac:chgData name="Odina Siddikova" userId="c170bc8eab85294e" providerId="LiveId" clId="{4D8F16A5-C395-4B97-856B-73C4ABE23E7D}" dt="2026-09-22T19:48:28.218" v="39" actId="14100"/>
          <ac:spMkLst>
            <pc:docMk/>
            <pc:sldMk cId="2050947682" sldId="258"/>
            <ac:spMk id="77" creationId="{BB261C56-8939-45EB-A10D-589ACCE7B089}"/>
          </ac:spMkLst>
        </pc:spChg>
        <pc:spChg chg="mod">
          <ac:chgData name="Odina Siddikova" userId="c170bc8eab85294e" providerId="LiveId" clId="{4D8F16A5-C395-4B97-856B-73C4ABE23E7D}" dt="2026-09-22T19:47:30.761" v="20" actId="255"/>
          <ac:spMkLst>
            <pc:docMk/>
            <pc:sldMk cId="2050947682" sldId="258"/>
            <ac:spMk id="81" creationId="{85EB4729-A953-4574-BFC6-4572A71D3E23}"/>
          </ac:spMkLst>
        </pc:spChg>
        <pc:spChg chg="mod">
          <ac:chgData name="Odina Siddikova" userId="c170bc8eab85294e" providerId="LiveId" clId="{4D8F16A5-C395-4B97-856B-73C4ABE23E7D}" dt="2026-09-22T19:47:30.761" v="20" actId="255"/>
          <ac:spMkLst>
            <pc:docMk/>
            <pc:sldMk cId="2050947682" sldId="258"/>
            <ac:spMk id="82" creationId="{A8A784EF-644A-437F-B455-E5A441B9B7AF}"/>
          </ac:spMkLst>
        </pc:spChg>
        <pc:spChg chg="mod">
          <ac:chgData name="Odina Siddikova" userId="c170bc8eab85294e" providerId="LiveId" clId="{4D8F16A5-C395-4B97-856B-73C4ABE23E7D}" dt="2026-09-22T19:47:30.761" v="20" actId="255"/>
          <ac:spMkLst>
            <pc:docMk/>
            <pc:sldMk cId="2050947682" sldId="258"/>
            <ac:spMk id="83" creationId="{7B776FCD-639F-4A1F-8C30-210E91079B42}"/>
          </ac:spMkLst>
        </pc:spChg>
        <pc:spChg chg="mod">
          <ac:chgData name="Odina Siddikova" userId="c170bc8eab85294e" providerId="LiveId" clId="{4D8F16A5-C395-4B97-856B-73C4ABE23E7D}" dt="2026-09-22T19:48:03.111" v="36" actId="1036"/>
          <ac:spMkLst>
            <pc:docMk/>
            <pc:sldMk cId="2050947682" sldId="258"/>
            <ac:spMk id="84" creationId="{047F5A5E-96BA-4AB2-B358-49195BF47111}"/>
          </ac:spMkLst>
        </pc:spChg>
        <pc:spChg chg="mod">
          <ac:chgData name="Odina Siddikova" userId="c170bc8eab85294e" providerId="LiveId" clId="{4D8F16A5-C395-4B97-856B-73C4ABE23E7D}" dt="2026-09-22T19:48:28.218" v="39" actId="14100"/>
          <ac:spMkLst>
            <pc:docMk/>
            <pc:sldMk cId="2050947682" sldId="258"/>
            <ac:spMk id="85" creationId="{270B826C-D44F-4E3F-AA9A-2AA22CB66207}"/>
          </ac:spMkLst>
        </pc:spChg>
        <pc:spChg chg="mod">
          <ac:chgData name="Odina Siddikova" userId="c170bc8eab85294e" providerId="LiveId" clId="{4D8F16A5-C395-4B97-856B-73C4ABE23E7D}" dt="2026-09-22T19:47:30.761" v="20" actId="255"/>
          <ac:spMkLst>
            <pc:docMk/>
            <pc:sldMk cId="2050947682" sldId="258"/>
            <ac:spMk id="89" creationId="{5191A00A-0F6D-4AF7-A740-07E221D3032E}"/>
          </ac:spMkLst>
        </pc:spChg>
        <pc:spChg chg="mod">
          <ac:chgData name="Odina Siddikova" userId="c170bc8eab85294e" providerId="LiveId" clId="{4D8F16A5-C395-4B97-856B-73C4ABE23E7D}" dt="2026-09-22T19:47:30.761" v="20" actId="255"/>
          <ac:spMkLst>
            <pc:docMk/>
            <pc:sldMk cId="2050947682" sldId="258"/>
            <ac:spMk id="90" creationId="{B5658C51-E9CC-4AF0-ACC4-65C7186A2E86}"/>
          </ac:spMkLst>
        </pc:spChg>
        <pc:spChg chg="mod">
          <ac:chgData name="Odina Siddikova" userId="c170bc8eab85294e" providerId="LiveId" clId="{4D8F16A5-C395-4B97-856B-73C4ABE23E7D}" dt="2026-09-22T19:47:30.761" v="20" actId="255"/>
          <ac:spMkLst>
            <pc:docMk/>
            <pc:sldMk cId="2050947682" sldId="258"/>
            <ac:spMk id="91" creationId="{1880318D-134E-4942-9155-7D7F9CD58B69}"/>
          </ac:spMkLst>
        </pc:spChg>
        <pc:spChg chg="mod">
          <ac:chgData name="Odina Siddikova" userId="c170bc8eab85294e" providerId="LiveId" clId="{4D8F16A5-C395-4B97-856B-73C4ABE23E7D}" dt="2026-09-22T19:48:03.111" v="36" actId="1036"/>
          <ac:spMkLst>
            <pc:docMk/>
            <pc:sldMk cId="2050947682" sldId="258"/>
            <ac:spMk id="92" creationId="{FE5125EB-C9C0-4AD3-8124-B97CD8E92656}"/>
          </ac:spMkLst>
        </pc:spChg>
        <pc:spChg chg="mod">
          <ac:chgData name="Odina Siddikova" userId="c170bc8eab85294e" providerId="LiveId" clId="{4D8F16A5-C395-4B97-856B-73C4ABE23E7D}" dt="2026-09-22T19:46:41.207" v="18" actId="1035"/>
          <ac:spMkLst>
            <pc:docMk/>
            <pc:sldMk cId="2050947682" sldId="258"/>
            <ac:spMk id="95" creationId="{1EDCD5E3-ACB9-4F6B-846D-CD60E5C16130}"/>
          </ac:spMkLst>
        </pc:spChg>
        <pc:picChg chg="mod">
          <ac:chgData name="Odina Siddikova" userId="c170bc8eab85294e" providerId="LiveId" clId="{4D8F16A5-C395-4B97-856B-73C4ABE23E7D}" dt="2026-09-22T19:48:51.245" v="42" actId="1076"/>
          <ac:picMkLst>
            <pc:docMk/>
            <pc:sldMk cId="2050947682" sldId="258"/>
            <ac:picMk id="203" creationId="{00000000-0000-0000-0000-000000000000}"/>
          </ac:picMkLst>
        </pc:picChg>
      </pc:sldChg>
      <pc:sldMasterChg chg="del">
        <pc:chgData name="Odina Siddikova" userId="c170bc8eab85294e" providerId="LiveId" clId="{4D8F16A5-C395-4B97-856B-73C4ABE23E7D}" dt="2026-09-22T19:22:32.836" v="8" actId="2696"/>
        <pc:sldMasterMkLst>
          <pc:docMk/>
          <pc:sldMasterMk cId="0" sldId="2147483675"/>
        </pc:sldMasterMkLst>
      </pc:sldMasterChg>
      <pc:sldMasterChg chg="del">
        <pc:chgData name="Odina Siddikova" userId="c170bc8eab85294e" providerId="LiveId" clId="{4D8F16A5-C395-4B97-856B-73C4ABE23E7D}" dt="2026-09-22T19:22:32.837" v="10" actId="2696"/>
        <pc:sldMasterMkLst>
          <pc:docMk/>
          <pc:sldMasterMk cId="0" sldId="2147483678"/>
        </pc:sldMasterMkLst>
      </pc:sldMasterChg>
      <pc:sldMasterChg chg="del">
        <pc:chgData name="Odina Siddikova" userId="c170bc8eab85294e" providerId="LiveId" clId="{4D8F16A5-C395-4B97-856B-73C4ABE23E7D}" dt="2026-09-22T19:22:32.834" v="7" actId="2696"/>
        <pc:sldMasterMkLst>
          <pc:docMk/>
          <pc:sldMasterMk cId="0" sldId="2147483778"/>
        </pc:sldMasterMkLst>
      </pc:sldMasterChg>
      <pc:sldMasterChg chg="del">
        <pc:chgData name="Odina Siddikova" userId="c170bc8eab85294e" providerId="LiveId" clId="{4D8F16A5-C395-4B97-856B-73C4ABE23E7D}" dt="2026-09-22T19:22:32.837" v="9" actId="2696"/>
        <pc:sldMasterMkLst>
          <pc:docMk/>
          <pc:sldMasterMk cId="0" sldId="2147483781"/>
        </pc:sldMasterMkLst>
      </pc:sldMasterChg>
      <pc:sldMasterChg chg="del">
        <pc:chgData name="Odina Siddikova" userId="c170bc8eab85294e" providerId="LiveId" clId="{4D8F16A5-C395-4B97-856B-73C4ABE23E7D}" dt="2026-09-22T19:22:32.839" v="11" actId="2696"/>
        <pc:sldMasterMkLst>
          <pc:docMk/>
          <pc:sldMasterMk cId="0" sldId="2147483784"/>
        </pc:sldMasterMkLst>
      </pc:sldMasterChg>
      <pc:sldMasterChg chg="del">
        <pc:chgData name="Odina Siddikova" userId="c170bc8eab85294e" providerId="LiveId" clId="{4D8F16A5-C395-4B97-856B-73C4ABE23E7D}" dt="2026-09-22T19:22:32.821" v="0" actId="2696"/>
        <pc:sldMasterMkLst>
          <pc:docMk/>
          <pc:sldMasterMk cId="0" sldId="2147483802"/>
        </pc:sldMasterMkLst>
      </pc:sldMasterChg>
      <pc:sldMasterChg chg="del">
        <pc:chgData name="Odina Siddikova" userId="c170bc8eab85294e" providerId="LiveId" clId="{4D8F16A5-C395-4B97-856B-73C4ABE23E7D}" dt="2026-09-22T19:22:32.826" v="1" actId="2696"/>
        <pc:sldMasterMkLst>
          <pc:docMk/>
          <pc:sldMasterMk cId="0" sldId="2147483807"/>
        </pc:sldMasterMkLst>
      </pc:sldMasterChg>
      <pc:sldMasterChg chg="del">
        <pc:chgData name="Odina Siddikova" userId="c170bc8eab85294e" providerId="LiveId" clId="{4D8F16A5-C395-4B97-856B-73C4ABE23E7D}" dt="2026-09-22T19:22:32.828" v="2" actId="2696"/>
        <pc:sldMasterMkLst>
          <pc:docMk/>
          <pc:sldMasterMk cId="0" sldId="2147483811"/>
        </pc:sldMasterMkLst>
      </pc:sldMasterChg>
      <pc:sldMasterChg chg="del">
        <pc:chgData name="Odina Siddikova" userId="c170bc8eab85294e" providerId="LiveId" clId="{4D8F16A5-C395-4B97-856B-73C4ABE23E7D}" dt="2026-09-22T19:22:32.830" v="3" actId="2696"/>
        <pc:sldMasterMkLst>
          <pc:docMk/>
          <pc:sldMasterMk cId="0" sldId="2147483815"/>
        </pc:sldMasterMkLst>
      </pc:sldMasterChg>
      <pc:sldMasterChg chg="del">
        <pc:chgData name="Odina Siddikova" userId="c170bc8eab85294e" providerId="LiveId" clId="{4D8F16A5-C395-4B97-856B-73C4ABE23E7D}" dt="2026-09-22T19:22:32.830" v="4" actId="2696"/>
        <pc:sldMasterMkLst>
          <pc:docMk/>
          <pc:sldMasterMk cId="0" sldId="2147483819"/>
        </pc:sldMasterMkLst>
      </pc:sldMasterChg>
      <pc:sldMasterChg chg="del">
        <pc:chgData name="Odina Siddikova" userId="c170bc8eab85294e" providerId="LiveId" clId="{4D8F16A5-C395-4B97-856B-73C4ABE23E7D}" dt="2026-09-22T19:22:32.832" v="5" actId="2696"/>
        <pc:sldMasterMkLst>
          <pc:docMk/>
          <pc:sldMasterMk cId="0" sldId="2147483823"/>
        </pc:sldMasterMkLst>
      </pc:sldMasterChg>
      <pc:sldMasterChg chg="del">
        <pc:chgData name="Odina Siddikova" userId="c170bc8eab85294e" providerId="LiveId" clId="{4D8F16A5-C395-4B97-856B-73C4ABE23E7D}" dt="2026-09-22T19:22:32.834" v="6" actId="2696"/>
        <pc:sldMasterMkLst>
          <pc:docMk/>
          <pc:sldMasterMk cId="0" sldId="2147483827"/>
        </pc:sldMasterMkLst>
      </pc:sldMaster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title>
      <c:tx>
        <c:rich>
          <a:bodyPr/>
          <a:lstStyle/>
          <a:p>
            <a:r>
              <a:rPr lang="ru-RU" sz="1600">
                <a:solidFill>
                  <a:srgbClr val="000000"/>
                </a:solidFill>
                <a:latin typeface="Arial Narrow"/>
                <a:ea typeface="Calibri"/>
                <a:cs typeface="Calibri"/>
              </a:rPr>
              <a:t>Доля пациентов с первичным исходом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Первичный исход</c:v>
          </c:tx>
          <c:spPr>
            <a:solidFill>
              <a:srgbClr val="0F9ED5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7F7F7F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4EBF-42D9-9591-CDE6B4EB1403}"/>
              </c:ext>
            </c:extLst>
          </c:dPt>
          <c:dPt>
            <c:idx val="1"/>
            <c:invertIfNegative val="0"/>
            <c:bubble3D val="0"/>
            <c:spPr>
              <a:solidFill>
                <a:srgbClr val="0F9ED5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3-4EBF-42D9-9591-CDE6B4EB140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000000"/>
                        </a:solidFill>
                        <a:latin typeface="Arial Narrow"/>
                        <a:ea typeface="Calibri"/>
                        <a:cs typeface="Calibri"/>
                      </a:rPr>
                      <a:t>15,5%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EBF-42D9-9591-CDE6B4EB140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000000"/>
                        </a:solidFill>
                        <a:latin typeface="Arial Narrow"/>
                        <a:ea typeface="Calibri"/>
                        <a:cs typeface="Calibri"/>
                      </a:rPr>
                      <a:t>11,1%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EBF-42D9-9591-CDE6B4EB140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Плацебо
340 из 2199</c:v>
                </c:pt>
                <c:pt idx="1">
                  <c:v>Канаглифлозин
245 из 2202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0.154615734425</c:v>
                </c:pt>
                <c:pt idx="1">
                  <c:v>0.111262488647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4EBF-42D9-9591-CDE6B4EB14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E0E4"/>
            </a:solidFill>
          </a:ln>
        </c:spPr>
        <c:txPr>
          <a:bodyPr anchorCtr="1"/>
          <a:lstStyle/>
          <a:p>
            <a:pPr>
              <a:defRPr sz="1600">
                <a:solidFill>
                  <a:srgbClr val="292F33"/>
                </a:solidFill>
                <a:latin typeface="Arial Narrow"/>
                <a:ea typeface="Calibri"/>
                <a:cs typeface="Calibri"/>
              </a:defRPr>
            </a:pPr>
            <a:endParaRPr lang="uz-Latn-U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2"/>
          <c:min val="0"/>
        </c:scaling>
        <c:delete val="0"/>
        <c:axPos val="l"/>
        <c:majorGridlines>
          <c:spPr>
            <a:ln w="5715">
              <a:solidFill>
                <a:srgbClr val="D9E0E4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400">
                <a:solidFill>
                  <a:srgbClr val="7E898E"/>
                </a:solidFill>
                <a:latin typeface="Arial Narrow"/>
                <a:ea typeface="Calibri"/>
                <a:cs typeface="Calibri"/>
              </a:defRPr>
            </a:pPr>
            <a:endParaRPr lang="uz-Latn-UZ"/>
          </a:p>
        </c:txPr>
        <c:crossAx val="48650112"/>
        <c:crosses val="autoZero"/>
        <c:crossBetween val="between"/>
        <c:majorUnit val="0.0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txPr>
    <a:bodyPr/>
    <a:lstStyle/>
    <a:p>
      <a:pPr>
        <a:defRPr>
          <a:latin typeface="Arial Narrow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title>
      <c:tx>
        <c:rich>
          <a:bodyPr/>
          <a:lstStyle/>
          <a:p>
            <a:r>
              <a:rPr lang="ru-RU" sz="1600" b="1">
                <a:solidFill>
                  <a:srgbClr val="000000"/>
                </a:solidFill>
                <a:latin typeface="Arial Narrow"/>
                <a:ea typeface="Calibri"/>
                <a:cs typeface="Calibri"/>
              </a:rPr>
              <a:t>Пациенты со снижением АКО на ≥30%
от исходного уровня к 4-му месяцу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Доля пациентов</c:v>
          </c:tx>
          <c:spPr>
            <a:solidFill>
              <a:srgbClr val="7030A0"/>
            </a:solidFill>
            <a:ln w="0"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7030A0"/>
              </a:solidFill>
            </c:spPr>
            <c:extLst>
              <c:ext xmlns:c16="http://schemas.microsoft.com/office/drawing/2014/chart" uri="{C3380CC4-5D6E-409C-BE32-E72D297353CC}">
                <c16:uniqueId val="{00000001-2F6E-45DA-9CD4-01A5868CC783}"/>
              </c:ext>
            </c:extLst>
          </c:dPt>
          <c:dPt>
            <c:idx val="1"/>
            <c:invertIfNegative val="0"/>
            <c:bubble3D val="0"/>
            <c:spPr>
              <a:solidFill>
                <a:srgbClr val="7F7F7F"/>
              </a:solidFill>
            </c:spPr>
            <c:extLst>
              <c:ext xmlns:c16="http://schemas.microsoft.com/office/drawing/2014/chart" uri="{C3380CC4-5D6E-409C-BE32-E72D297353CC}">
                <c16:uniqueId val="{00000003-2F6E-45DA-9CD4-01A5868CC78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7030A0"/>
                        </a:solidFill>
                        <a:latin typeface="Arial Narrow"/>
                        <a:ea typeface="Calibri"/>
                        <a:cs typeface="Calibri"/>
                      </a:rPr>
                      <a:t>53,2%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F6E-45DA-9CD4-01A5868CC78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7F7F7F"/>
                        </a:solidFill>
                        <a:latin typeface="Arial Narrow"/>
                        <a:ea typeface="Calibri"/>
                        <a:cs typeface="Calibri"/>
                      </a:rPr>
                      <a:t>27,0%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F6E-45DA-9CD4-01A5868CC78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Финеренон</c:v>
                </c:pt>
                <c:pt idx="1">
                  <c:v>Плацебо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0.532</c:v>
                </c:pt>
                <c:pt idx="1">
                  <c:v>0.27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F6E-45DA-9CD4-01A5868CC78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2BCC5"/>
            </a:solidFill>
          </a:ln>
        </c:spPr>
        <c:txPr>
          <a:bodyPr anchorCtr="1"/>
          <a:lstStyle/>
          <a:p>
            <a:pPr>
              <a:defRPr sz="1600">
                <a:solidFill>
                  <a:srgbClr val="293A49"/>
                </a:solidFill>
                <a:latin typeface="Arial Narrow"/>
                <a:ea typeface="Calibri"/>
                <a:cs typeface="Calibri"/>
              </a:defRPr>
            </a:pPr>
            <a:endParaRPr lang="uz-Latn-U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6191">
              <a:solidFill>
                <a:srgbClr val="E2E7EB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400">
                <a:solidFill>
                  <a:srgbClr val="53606B"/>
                </a:solidFill>
                <a:latin typeface="Arial Narrow"/>
                <a:ea typeface="Calibri"/>
                <a:cs typeface="Calibri"/>
              </a:defRPr>
            </a:pPr>
            <a:endParaRPr lang="uz-Latn-UZ"/>
          </a:p>
        </c:txPr>
        <c:crossAx val="48650112"/>
        <c:crosses val="autoZero"/>
        <c:crossBetween val="between"/>
        <c:majorUnit val="0.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txPr>
    <a:bodyPr/>
    <a:lstStyle/>
    <a:p>
      <a:pPr>
        <a:defRPr>
          <a:latin typeface="Arial Narrow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Калий сыворотки, ммоль/л</c:v>
                </c:pt>
              </c:strCache>
            </c:strRef>
          </c:tx>
          <c:spPr>
            <a:ln w="34925">
              <a:solidFill>
                <a:srgbClr val="7030A0"/>
              </a:solidFill>
            </a:ln>
          </c:spPr>
          <c:marker>
            <c:symbol val="circle"/>
            <c:size val="10"/>
            <c:spPr>
              <a:solidFill>
                <a:srgbClr val="7030A0"/>
              </a:solidFill>
              <a:ln>
                <a:solidFill>
                  <a:srgbClr val="7030A0"/>
                </a:solidFill>
              </a:ln>
            </c:spPr>
          </c:marker>
          <c:dLbls>
            <c:dLbl>
              <c:idx val="2"/>
              <c:spPr/>
              <c:txPr>
                <a:bodyPr/>
                <a:lstStyle/>
                <a:p>
                  <a:pPr>
                    <a:defRPr sz="1600" b="1">
                      <a:solidFill>
                        <a:srgbClr val="7030A0"/>
                      </a:solidFill>
                    </a:defRPr>
                  </a:pPr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19]0.0" sourceLinked="0"/>
            <c:txPr>
              <a:bodyPr/>
              <a:lstStyle/>
              <a:p>
                <a:pPr>
                  <a:defRPr sz="1600" b="1">
                    <a:solidFill>
                      <a:srgbClr val="7030A0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До начала</c:v>
                </c:pt>
                <c:pt idx="1">
                  <c:v>Через 4 недели</c:v>
                </c:pt>
                <c:pt idx="2">
                  <c:v>Повторный анализ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4.5</c:v>
                </c:pt>
                <c:pt idx="1">
                  <c:v>5.7</c:v>
                </c:pt>
                <c:pt idx="2">
                  <c:v>4.9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Временная отмена при калии &gt;5,5</c:v>
                </c:pt>
              </c:strCache>
            </c:strRef>
          </c:tx>
          <c:spPr>
            <a:ln w="22225">
              <a:solidFill>
                <a:srgbClr val="B5323C"/>
              </a:solidFill>
              <a:prstDash val="dash"/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До начала</c:v>
                </c:pt>
                <c:pt idx="1">
                  <c:v>Через 4 недели</c:v>
                </c:pt>
                <c:pt idx="2">
                  <c:v>Повторный анализ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5.5</c:v>
                </c:pt>
                <c:pt idx="1">
                  <c:v>5.5</c:v>
                </c:pt>
                <c:pt idx="2">
                  <c:v>5.5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Возобновление при калии ≤5,0</c:v>
                </c:pt>
              </c:strCache>
            </c:strRef>
          </c:tx>
          <c:spPr>
            <a:ln w="22225">
              <a:solidFill>
                <a:srgbClr val="4EA72E"/>
              </a:solidFill>
              <a:prstDash val="dash"/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До начала</c:v>
                </c:pt>
                <c:pt idx="1">
                  <c:v>Через 4 недели</c:v>
                </c:pt>
                <c:pt idx="2">
                  <c:v>Повторный анализ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5.0</c:v>
                </c:pt>
                <c:pt idx="1">
                  <c:v>5.0</c:v>
                </c:pt>
                <c:pt idx="2">
                  <c:v>5.0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.0"/>
          <c:min val="4.0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numFmt formatCode="[$-419]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/>
            </a:pPr>
          </a:p>
        </c:txPr>
        <c:crossAx val="2118791784"/>
        <c:crosses val="autoZero"/>
        <c:majorUnit val="0.5"/>
      </c:valAx>
    </c:plotArea>
    <c:legend>
      <c:legendPos val="b"/>
      <c:layout/>
      <c:overlay val="0"/>
      <c:txPr>
        <a:bodyPr/>
        <a:lstStyle/>
        <a:p>
          <a:pPr>
            <a:defRPr sz="1400"/>
          </a:pPr>
        </a:p>
      </c:txPr>
    </c:legend>
    <c:plotVisOnly val="1"/>
    <c:dispBlanksAs val="gap"/>
    <c:showDLblsOverMax val="0"/>
  </c:chart>
  <c:txPr>
    <a:bodyPr/>
    <a:lstStyle/>
    <a:p>
      <a:pPr>
        <a:defRPr sz="1800">
          <a:latin typeface="Arial Narrow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10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Результат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030A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B90-49B0-AD33-250788ABE345}"/>
              </c:ext>
            </c:extLst>
          </c:dPt>
          <c:dPt>
            <c:idx val="1"/>
            <c:invertIfNegative val="1"/>
            <c:bubble3D val="0"/>
            <c:spPr>
              <a:solidFill>
                <a:srgbClr val="7F7F7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B90-49B0-AD33-250788ABE345}"/>
              </c:ext>
            </c:extLst>
          </c:dPt>
          <c:dLbls>
            <c:dLbl>
              <c:idx val="0"/>
              <c:numFmt formatCode="[$-419]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800" b="1">
                      <a:solidFill>
                        <a:srgbClr val="7030A0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[$-419]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800" b="1">
                      <a:solidFill>
                        <a:srgbClr val="7F7F7F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19]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>
                    <a:solidFill>
                      <a:srgbClr val="000000"/>
                    </a:solidFill>
                    <a:latin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Финеренон</c:v>
                </c:pt>
                <c:pt idx="1">
                  <c:v>Плацебо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0.34</c:v>
                </c:pt>
                <c:pt idx="1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B90-49B0-AD33-250788ABE3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1000001"/>
        <c:axId val="1000002"/>
      </c:barChart>
      <c:catAx>
        <c:axId val="10000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latin typeface="Arial Narrow"/>
              </a:defRPr>
            </a:pPr>
            <a:endParaRPr lang="uz-Latn-UZ"/>
          </a:p>
        </c:txPr>
        <c:crossAx val="1000002"/>
        <c:crosses val="autoZero"/>
        <c:auto val="1"/>
        <c:lblAlgn val="ctr"/>
        <c:lblOffset val="100"/>
        <c:noMultiLvlLbl val="0"/>
      </c:catAx>
      <c:valAx>
        <c:axId val="1000002"/>
        <c:scaling>
          <c:orientation val="minMax"/>
          <c:max val="0.4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00001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latin typeface="Arial Narrow"/>
        </a:defRPr>
      </a:pPr>
      <a:endParaRPr lang="uz-Latn-UZ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10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Результат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030A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430-4ADD-83D7-16C1092450CA}"/>
              </c:ext>
            </c:extLst>
          </c:dPt>
          <c:dPt>
            <c:idx val="1"/>
            <c:invertIfNegative val="1"/>
            <c:bubble3D val="0"/>
            <c:spPr>
              <a:solidFill>
                <a:srgbClr val="7F7F7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430-4ADD-83D7-16C1092450CA}"/>
              </c:ext>
            </c:extLst>
          </c:dPt>
          <c:dLbls>
            <c:dLbl>
              <c:idx val="0"/>
              <c:numFmt formatCode="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800" b="1">
                      <a:solidFill>
                        <a:srgbClr val="7030A0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800" b="1">
                      <a:solidFill>
                        <a:srgbClr val="7F7F7F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>
                    <a:solidFill>
                      <a:srgbClr val="000000"/>
                    </a:solidFill>
                    <a:latin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Финеренон</c:v>
                </c:pt>
                <c:pt idx="1">
                  <c:v>Плацебо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1083</c:v>
                </c:pt>
                <c:pt idx="1">
                  <c:v>1283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430-4ADD-83D7-16C1092450C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1000001"/>
        <c:axId val="1000002"/>
      </c:barChart>
      <c:catAx>
        <c:axId val="10000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latin typeface="Arial Narrow"/>
              </a:defRPr>
            </a:pPr>
            <a:endParaRPr lang="uz-Latn-UZ"/>
          </a:p>
        </c:txPr>
        <c:crossAx val="1000002"/>
        <c:crosses val="autoZero"/>
        <c:auto val="1"/>
        <c:lblAlgn val="ctr"/>
        <c:lblOffset val="100"/>
        <c:noMultiLvlLbl val="0"/>
      </c:catAx>
      <c:valAx>
        <c:axId val="1000002"/>
        <c:scaling>
          <c:orientation val="minMax"/>
          <c:max val="165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00001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latin typeface="Arial Narrow"/>
        </a:defRPr>
      </a:pPr>
      <a:endParaRPr lang="uz-Latn-UZ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Финеренон</c:v>
                </c:pt>
              </c:strCache>
            </c:strRef>
          </c:tx>
          <c:spPr>
            <a:solidFill>
              <a:srgbClr val="7030A0"/>
            </a:solidFill>
          </c:spPr>
          <c:dLbls>
            <c:numFmt formatCode="[$-419]0.0%" sourceLinked="0"/>
            <c:txPr>
              <a:bodyPr/>
              <a:lstStyle/>
              <a:p>
                <a:pPr>
                  <a:defRPr sz="14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FIDELIO-DKD</c:v>
                </c:pt>
                <c:pt idx="1">
                  <c:v>FIGARO-DKD</c:v>
                </c:pt>
                <c:pt idx="2">
                  <c:v>FIDELITY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0.023</c:v>
                </c:pt>
                <c:pt idx="1">
                  <c:v>0.012</c:v>
                </c:pt>
                <c:pt idx="2">
                  <c:v>0.017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Плацебо</c:v>
                </c:pt>
              </c:strCache>
            </c:strRef>
          </c:tx>
          <c:spPr>
            <a:solidFill>
              <a:srgbClr val="7F7F7F"/>
            </a:solidFill>
          </c:spPr>
          <c:dLbls>
            <c:numFmt formatCode="[$-419]0.0%" sourceLinked="0"/>
            <c:txPr>
              <a:bodyPr/>
              <a:lstStyle/>
              <a:p>
                <a:pPr>
                  <a:defRPr sz="14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FIDELIO-DKD</c:v>
                </c:pt>
                <c:pt idx="1">
                  <c:v>FIGARO-DKD</c:v>
                </c:pt>
                <c:pt idx="2">
                  <c:v>FIDELITY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0.009</c:v>
                </c:pt>
                <c:pt idx="1">
                  <c:v>0.004</c:v>
                </c:pt>
                <c:pt idx="2">
                  <c:v>0.006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F7F7F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800">
          <a:latin typeface="Arial Narrow"/>
        </a:defRPr>
      </a:pPr>
      <a:endParaRPr lang="en-US"/>
    </a:p>
  </c:txPr>
  <c:externalData r:id="rId1">
    <c:autoUpdate val="0"/>
  </c:externalData>
</c:chartSpace>
</file>

<file path=ppt/inserted_0924/slideLayouts/_rels/slideLayout1.xml.rels><?xml version='1.0' encoding='UTF-8' standalone='yes'?>
<Relationships xmlns="http://schemas.openxmlformats.org/package/2006/relationships"><Relationship Id="R0577b990598842e9" Type="http://schemas.openxmlformats.org/officeDocument/2006/relationships/slideMaster" Target="../slideMasters/slideMaster1.xml"/></Relationships>
</file>

<file path=ppt/inserted_0924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inserted_0924/slideMasters/_rels/slideMaster1.xml.rels><?xml version='1.0' encoding='UTF-8' standalone='yes'?>
<Relationships xmlns="http://schemas.openxmlformats.org/package/2006/relationships"><Relationship Id="R10c42713665f4116" Type="http://schemas.openxmlformats.org/officeDocument/2006/relationships/theme" Target="theme/theme2.xml"/><Relationship Id="Rd91125cfc9ce49ce" Type="http://schemas.openxmlformats.org/officeDocument/2006/relationships/slideLayout" Target="../slideLayouts/slideLayout1.xml"/></Relationships>
</file>

<file path=ppt/inserted_0924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41" r:id="Rd91125cfc9ce49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inserted_0924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0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Показаны два основных критерия; существуют и другие маркеры повреждения почек.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Разбор вопроса 1. Слайды: 11–13 (анализы и прогноз), 15 (остаточный риск), 21–23 (FIDELIO-DKD, FIGARO-DKD, FIDELITY), 32 (перед началом), 36 (два пациента).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Попросите 2–3 представителей ответить своими словами до показа разбора. Вопрос 1 разбирают на слайде 39, вопрос 2 на слайде 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понимания срочности. Представитель не консультирует по лечению гиперкалиемии: тактику определяет врач по действующим клиническим рекомендациям.</a:t>
            </a:r>
          </a:p>
          <a:p>
            <a:r>
              <a:t>Сроки по UK Kidney Association (2023): калий 6,0–6,4 ммоль/л при неожиданном повышении у стабильного пациента: повторный анализ в течение 24 часов; калий 6,5 ммоль/л и выше или изменения на ЭКГ: неотложная помощь.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Другие заранее запланированные исходы FIDELITY: почечный исход со снижением рСКФ на ≥40%, смерть и госпитализация по любой причине, изменение АКО к 4-му месяцу.</a:t>
            </a:r>
          </a:p>
          <a:p>
            <a:r>
              <a:t>Устойчивое снижение рСКФ подтверждали не ранее чем через 4 недели.</a:t>
            </a:r>
          </a:p>
          <a:p>
            <a:r>
              <a:t>Почечная недостаточность в этих исследованиях: хронический диализ (не менее 90 дней), трансплантация почки или устойчивое снижение рСКФ до &lt;15 мл/мин/1,73 м².</a:t>
            </a:r>
          </a:p>
          <a:p>
            <a:r>
              <a:t>Анализ FIDELITY поисковый: значения p без поправки на множественные сравнения.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Кривые показывают накопленную частоту, то есть долю пациентов с событием к каждому месяцу с учётом разного срока наблюдения. Числа справа: доля пациентов с событием за всё исследование. Медиана наблюдения 2,6 года, до 48-го месяца дошла меньшая часть пациентов, поэтому концы кривых выше 17,8% и 21,1%. Эффект показывают расхождение кривых и отношение рисков, а не концы кривых.</a:t>
            </a:r>
          </a:p>
          <a:p>
            <a:r>
              <a:t>Снижение на 18% относительное. Разность долей за всё исследование 21,1% − 17,8% = 3,3 процентного пункта. Число 29 пациентов относится к 3 годам лечения, поэтому из этих долей напрямую не получается.</a:t>
            </a:r>
          </a:p>
          <a:p>
            <a:r>
              <a:t>Ключевой вторичный (сердечно-сосудистый) исход: финеренон 13,0%, плацебо 14,8%; отношение рисков 0,86 (95% ДИ 0,75–0,99), p=0,03. Ингибиторы НГЛТ2 исходно получали 4,6% пациентов, поэтому выводы об эффекте комбинации ограничены.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Кривые показывают накопленную частоту, то есть долю пациентов с событием к каждому месяцу с учётом разного срока наблюдения. Числа справа: доля пациентов с событием за всё исследование. Медиана наблюдения 3,4 года, до 54-го месяца дошла меньшая часть пациентов, поэтому концы кривых выше 12,4% и 14,2%.</a:t>
            </a:r>
          </a:p>
          <a:p>
            <a:r>
              <a:t>Число пациентов, которых нужно лечить (47), относится к сроку 3,5 года, а доли 12,4% и 14,2% посчитаны за всё исследование, поэтому 1 / (14,2% − 12,4%) с числом 47 не совпадает.</a:t>
            </a:r>
          </a:p>
          <a:p>
            <a:r>
              <a:t>Отношение рисков 0,71 получено для отдельного компонента исхода: это пояснение к результату, а не самостоятельное доказательство. Пациентов с симптомной хронической сердечной недостаточностью со сниженной фракцией выброса не включали, поэтому результат по госпитализациям на них не переносят.</a:t>
            </a:r>
          </a:p>
          <a:p>
            <a:r>
              <a:t>Почечный исход (почечная недостаточность, устойчивое снижение рСКФ на ≥40% не менее 4 недель или смерть от почечных причин): финеренон 9,5%, плацебо 10,8%; отношение рисков 0,87 (95% ДИ 0,76–1,01), статистически значимых различий нет.</a:t>
            </a:r>
          </a:p>
          <a:p>
            <a:r>
              <a:t>Ингибиторы НГЛТ2 исходно получали 8,4% пациентов, поэтому выводы об эффекте комбинации ограничены.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Кривые показывают накопленную частоту (метод Аалена–Йохансена; смерть от причин, не входящих в исход, учтена как конкурирующее событие). Строки «Доля с событием за всё исследование» показывают долю пациентов с событием за всё время наблюдения.</a:t>
            </a:r>
          </a:p>
          <a:p>
            <a:r>
              <a:t>Абсолютную разницу 2,2% и 1,7% и число пациентов, которых нужно лечить (46 и 60), считали по накопленной частоте к 3 годам. Поэтому абсолютная разница не совпадает с разностью долей за всё исследование (1,7 и 1,6 процентного пункта). Не путайте: 1,7% в строке «Абсолютная разница» относится к почечному исходу, а разность долей 1,7 к сердечно-сосудистому; совпадение случайное.</a:t>
            </a:r>
          </a:p>
          <a:p>
            <a:r>
              <a:t>Снижение риска на 14% и 23% относительное. FIDELITY запланирован заранее, но это поисковый анализ, поэтому значения p без поправки на множественные сравнения.</a:t>
            </a:r>
          </a:p>
          <a:p>
            <a:r>
              <a:t>Ингибиторы НГЛТ2 исходно получали 6,7% пациентов.</a:t>
            </a:r>
          </a:p>
          <a:p>
            <a:r>
              <a:t>Гиперкалиемия по сообщениям исследователей (как в FIDELIO-DKD на слайде 21).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−32% слева: к 4-му месяцу АКО относительно исходного уровня в группе финеренона на 32% ниже, чем в группе плацебо (отношение изменений 0,68; 1 − 0,68 = 0,32). Это относительная разница между группами, а не снижение АКО от исходного уровня в группе финеренона.</a:t>
            </a:r>
          </a:p>
          <a:p>
            <a:r>
              <a:t>Столбики справа: доля пациентов, у которых АКО снизилось на ≥30% от исходного уровня. Это другой показатель из апостериорного анализа 12 512 пациентов.</a:t>
            </a:r>
          </a:p>
          <a:p>
            <a:r>
              <a:t>В том же анализе снижение АКО объясняло около 84% эффекта финеренона на почечный исход и около 37% на сердечно-сосудистый. Поэтому почечный эффект оно отражает лучше.</a:t>
            </a:r>
          </a:p>
          <a:p>
            <a:r>
              <a:t>Не путайте с CONFIDENCE (слайд 25): там 32% при финереноне означает снижение АКО от исходного уровня внутри группы, а не разницу с плацебо.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График слева: отношение АКО к исходному уровню (1,0 = исходный). К 180-му дню 0,48 при комбинации, 0,68 при финереноне и 0,71 при эмпаглифлозине, то есть снижение на 52%, 32% и 29%. При комбинации АКО было на 29% ниже, чем при финереноне (0,48 / 0,68 ≈ 0,71), и на 32% ниже, чем при эмпаглифлозине (0,48 / 0,71 ≈ 0,68). Это относительные различия между группами, а не снижение от исходного уровня; проценты 52 и 32 не вычитают.</a:t>
            </a:r>
          </a:p>
          <a:p>
            <a:r>
              <a:t>График справа: среднее изменение калия сыворотки по группе. На 14-й день +0,27 ммоль/л при комбинации и +0,19 при финереноне; при эмпаглифлозине калий почти не менялся; через 30 дней после отмены калий вернулся почти к исходному. Авторы основной статьи называют повышение калия при комбинации и финереноне сходным; во вторичном анализе различие статистически незначимо (p=0,91).</a:t>
            </a:r>
          </a:p>
          <a:p>
            <a:r>
              <a:t>Строка «Безопасность» показывает другое: долю пациентов, у которых калий хотя бы раз превысил 5,5 ммоль/л. Среднее по группе и доля пациентов выше порога измеряют разное, поэтому противоречия между графиком и строкой нет. Ни по одному из показателей комбинация и финеренон статистически значимо не различались.</a:t>
            </a:r>
          </a:p>
          <a:p>
            <a:r>
              <a:t>Неверны оба вывода: «комбинация опаснее по калию» и «эмпаглифлозин защищает от гиперкалиемии». По выводу вторичного анализа комбинация статистически значимо не снижала риск гиперкалиемии. Калий &gt;6,0 ммоль/л: 4,6% при комбинации и при финереноне. Из-за гиперкалиемии лечение прекратили трое, по одному в каждой группе.</a:t>
            </a:r>
          </a:p>
          <a:p>
            <a:r>
              <a:t>В основной статье те же случаи дают 15,3%, 18,6% и 9,7% (другой знаменатель). Гиперкалиемию по сообщениям исследователей (9,3%, 11,4% и 3,8%) считали иначе. Пациентов с калием &gt;4,8 ммоль/л в исследование не включали.</a:t>
            </a:r>
          </a:p>
          <a:p>
            <a:r>
              <a:t>Вопросы о конкретных пациентах представитель передаёт в медицинский отдел; калий контролируют по инструкции.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Альбумин в моче может быть повышен уже при сохранной фильтрации; при диабете возможна гиперфильтрация. Слайды 6, 11, 12.</a:t>
            </a:r>
          </a:p>
          <a:p>
            <a:r>
              <a:t>2. FIDELIO-DKD: комбинированный почечный исход (отношение рисков 0,82). FIGARO-DKD: комбинированный сердечно-сосудистый исход (отношение рисков 0,87), разница в основном за счёт госпитализаций по поводу сердечной недостаточности. Слайды 20–22.</a:t>
            </a:r>
          </a:p>
          <a:p>
            <a:r>
              <a:t>3. Представитель не оценивает прогноз конкретного пациента. В FIDELITY на уровне групп раннее снижение АКО было связано с меньшим риском почечных исходов, но по нему нельзя рассчитать риск у отдельного пациента. Прогноз оценивает врач; при необходимости вопрос передают в медицинский отдел. Слайды 21, 23, 24.</a:t>
            </a:r>
          </a:p>
          <a:p>
            <a:r>
              <a:t>4. Нет. У препаратов разные мишени, они не заменяют друг друга; назначение финеренона не требует отмены ингибитора НГЛТ2. Решение о терапии принимает врач. Слайды 16, 27.</a:t>
            </a:r>
          </a:p>
          <a:p>
            <a:r>
              <a:t>5. Финеренон блокирует МКР в главной клетке собирательной трубочки: через натриевый канал всасывается меньше натрия, слабее электрическая движущая сила для секреции калия, и меньше калия выходит в просвет. Слайды 17, 29.</a:t>
            </a:r>
          </a:p>
          <a:p>
            <a:r>
              <a:t>6. Начальная доза 10 мг при рСКФ 48 и 20 мг при рСКФ 72, один раз в сутки. При рСКФ &lt;25 начинать лечение не рекомендуется. Слайды 32, 36.</a:t>
            </a:r>
          </a:p>
          <a:p>
            <a:r>
              <a:t>7. Если рСКФ снизилась более чем на 30% от предыдущего измерения. Слайд 34.</a:t>
            </a:r>
          </a:p>
          <a:p>
            <a:r>
              <a:t>8. Противопоказаны сильные ингибиторы CYP3A4. Не рекомендуются другие антагонисты МКР, калийсберегающие диуретики, сильные и умеренные индукторы CYP3A4, грейпфрут. Слайды 30, 31.</a:t>
            </a:r>
          </a:p>
          <a:p>
            <a:r>
              <a:t>9. Препараты калия и калийсодержащие заменители соли, триметоприм (в том числе в составе ко-тримоксазола), НПВП, умеренные и слабые ингибиторы CYP3A4. Слайды 30, 31.</a:t>
            </a:r>
          </a:p>
          <a:p>
            <a:r>
              <a:t>10. Не даёт советов по лечению. Сообщает о нежелательном явлении в отдел фармаконадзора в течение 24 часов по процедуре компании. Слайд 35.</a:t>
            </a:r>
          </a:p>
          <a:p>
            <a:r>
              <a:t>11. Этих показаний нет в местной инструкции. Представитель не обсуждает эти данные ни по своей инициативе, ни в ответ на вопрос, не показывает слайды приложения и передаёт вопрос врача в медицинский отдел по процедуре компании. Слайды 9, 43.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Кривые показывают среднее изменение рСКФ от исходного уровня на каждом визите, отрезки: 95% ДИ. В первый месяц рСКФ при финереноне снижается сильнее, чем при плацебо (ожидаемое раннее снижение), затем медленнее, и позже кривые пересекаются. Вертикальный пунктир: 32-й месяц, конец периода первичного исхода.</a:t>
            </a:r>
          </a:p>
          <a:p>
            <a:r>
              <a:t>Первичный исход справа не точка на кривой, а среднегодовое изменение рСКФ от исходного уровня до 32-го месяца: −3,3 и −4,0 мл/мин/1,73 м² в год. Разницу 0,7 получили вычитанием, а не делением, поэтому её 95% ДИ 0,3–1,1 сравнивают с 0, а не с 1.</a:t>
            </a:r>
          </a:p>
          <a:p>
            <a:r>
              <a:t>Серая зона: последний визит на лечении и визит примерно через 4 недели после отмены; +1,3 (финеренон) и −0,3 (плацебо): изменение рСКФ между ними. После отмены финеренона часть раннего снижения рСКФ обратима; это не означает улучшения функции почек.</a:t>
            </a:r>
          </a:p>
          <a:p>
            <a:r>
              <a:t>Комбинированный исход вторичный, его проверяли по заранее заданной иерархии после первичного. По отдельности почечная часть (отношение рисков 0,78; 95% ДИ 0,60–1,01) и сердечно-сосудистая (0,60; 95% ДИ 0,27–1,33) статистически значимо не снижены.</a:t>
            </a:r>
          </a:p>
          <a:p>
            <a:r>
              <a:t>Статус показаний проверен 24.09.2026. Отдельного показания при ХБП без диабета нет в проверенных действующих инструкциях США и ЕС. Публикация FIND-CKD не означает регистрацию показания.</a:t>
            </a:r>
          </a:p>
          <a:p>
            <a:r>
              <a:t>https://labeling.bayerhealthcare.com/html/products/pi/Kerendia_PI.pdf</a:t>
            </a:r>
          </a:p>
          <a:p>
            <a:r>
              <a:t>https://www.ema.europa.eu/en/documents/product-information/kerendia-epar-product-information_en.pdf</a:t>
            </a:r>
          </a:p>
          <a:p>
            <a:r>
              <a:t>https://orvilleservices.com/instructions/Finerenon_Instruction_ru.pdf</a:t>
            </a:r>
          </a:p>
          <a:p>
            <a:r>
              <a:t>https://doi.org/10.1056/NEJMoa2604625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Разбор вопроса 2. Слайды: 29 (механизм), 33 (контроль), 34 (коррекция дозы), 37 (случай), 21–23 (частота окончательной отмены).</a:t>
            </a:r>
          </a:p>
          <a:p>
            <a:r>
              <a:t>Алгоритм повторяет правила слайда 34. Снижение рСКФ на 30% считают относительно предыдущего измерения.</a:t>
            </a:r>
          </a:p>
          <a:p>
            <a:r>
              <a:t>Столбики показывают долю пациентов, у которых за всё исследование лечение окончательно отменили из-за гиперкалиемии. FIDELITY: объединённые данные FIDELIO-DKD и FIGARO-DKD, а не третье исследование. В исследованиях разные пациенты и сроки наблюдения, поэтому сравнивают финеренон и плацебо внутри одного исследования, а не столбики разных исследований.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Вопросы пока не разбирают, к ним возвращаются в конце. Ответ на вопрос 1 собирается на слайдах 32 и 36, ответ на вопрос 2 на слайдах 34 и 37. Полный разбор на слайдах 39 и 40.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Слайды объясняют связь болезней сердца и почек. Показания при сердечной недостаточности в инструкции Финеренон-Орвилле нет; вопросы о лечении сердечной недостаточности передают в медицинский отдел.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Слайды объясняют связь болезней сердца и почек. Показания при сердечной недостаточности в инструкции Финеренон-Орвилле нет; вопросы о лечении сердечной недостаточности передают в медицинский отдел.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врач описывает такой случай у реального пациента, это нежелательное явление: представитель сообщает о нём в отдел фармаконадзора в течение 24 часов по процедуре компании и не даёт советов по лечению.</a:t>
            </a:r>
          </a:p>
          <a:p>
            <a:r>
              <a:t>Вывод: при калии &gt;5,5 ммоль/л инструкция предусматривает временную отмену и повторный анализ; при калии ≤5,0 ммоль/л врач может возобновить лечение в дозе 10 мг. Решение принимает врач.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Отношение рисков сравнивает время до первого события: после первого события пациент в расчёт дальше не входит. Отношение частот (FINEARTS-HF, слайд 48) учитывает все события, включая повторные, на единицу времени наблюдения. Эти показатели не взаимозаменяемы.</a:t>
            </a:r>
          </a:p>
          <a:p>
            <a:r>
              <a:t>Накопленную частоту на графиках рассчитывают с учётом разного срока наблюдения (в FIDELITY методом Аалена–Йохансена; смерть от причин, не входящих в исход, учтена как конкурирующее событие). К концу графика под наблюдением остаётся мало пациентов, поэтому правый край кривой менее точен.</a:t>
            </a:r>
          </a:p>
          <a:p>
            <a:r>
              <a:t>Доверительный интервал отношения сравнивают с 1, интервал разности (например, разницы наклонов рСКФ в FIND-CKD, слайд 45) сравнивают с 0.</a:t>
            </a:r>
          </a:p>
          <a:p>
            <a:r>
              <a:t>В FIDELIO-DKD 60 из 5734 рандомизированных пациентов исключили из всех анализов из-за грубых нарушений правил надлежащей клинической практики; это не пациенты, выбывшие по ходу лечения.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Цвет клетки показывает прогноз по KDIGO на уровне групп пациентов: риск прогрессирования болезни почек, почечной недостаточности, сердечно-сосудистых событий и смерти. Это не расчёт для конкретного пациента.</a:t>
            </a:r>
          </a:p>
          <a:p>
            <a:r>
              <a:t>В одной строке категория рСКФ одинакова, поэтому разница цвета внутри строки показывает вклад альбуминурии.</a:t>
            </a:r>
          </a:p>
          <a:p>
            <a:r>
              <a:t>Категории G и A устанавливают по повторным анализам: изменения должны сохраняться не менее 3 месяцев. Однократно высокий АКО бывает после физической нагрузки, при инфекции мочевых путей или выраженной гипергликемии.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Данные части B авторы объединили в дополнительном анализе. Гиперкалиемия или повышение калия по сообщениям исследователей: финеренон (все дозы) 5,3%, плацебо 1,5% (p=0,32), спиронолактон 12,7% (p=0,048 для сравнения с финереноном). Значения p для вторичных показателей авторы считают описательными: уровень значимости заранее не задавали, поправки на множественные сравнения не было.</a:t>
            </a:r>
          </a:p>
          <a:p>
            <a:r>
              <a:t>Спиронолактон начинали с 25 мг и повышали до 50 мг на 15-й день, если калий оставался ≤4,8 ммоль/л; к концу средняя доза 37 мг в сутки. Дозы финеренона в ARTS (до 10 мг в сутки) ниже целевой дозы 20 мг при ХБП и диабете 2 типа.</a:t>
            </a:r>
          </a:p>
          <a:p>
            <a:r>
              <a:t>ARTS длилось 4 недели и не оценивало клинические исходы, поэтому вывод «финеренон безопаснее спиронолактона» из него сделать нельзя.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Число 0,84 означает отношение частот: его считают по всем событиям, включая повторные, с учётом времени наблюдения. Это не отношение рисков и не отношение долей пациентов. Хотя бы одно событие было у 624 из 3003 пациентов (20,8%) в группе финеренона и у 719 из 2998 (24,0%) в группе плацебо. Сердечно-сосудистая смерть бывает один раз, поэтому для неё приведено отношение рисков.</a:t>
            </a:r>
          </a:p>
          <a:p xmlns:a="http://schemas.openxmlformats.org/drawingml/2006/main">
            <a:r>
              <a:t>Безопасность: калий &gt;5,5 ммоль/л при финереноне бывал чаще, чем при плацебо (отношение рисков 2,16; 95% ДИ 1,83–2,56), калий &lt;3,5 ммоль/л реже (0,46; 95% ДИ 0,38–0,56). Госпитализации из-за гиперкалиемии: финеренон 0,5%, плацебо 0,2%; смертей из-за гиперкалиемии не было. Источник: Vardeny O, et al. JAMA Cardiol. 2025;10:42–48.</a:t>
            </a:r>
          </a:p>
          <a:p xmlns:a="http://schemas.openxmlformats.org/drawingml/2006/main">
            <a:r>
              <a:t>Одобрение при сердечной недостаточности не требует наличия сахарного диабета. США: FDA, июль 2025 (в сообщениях Bayer и изданий 14.07.2025), NDA 215341/S-009, снижение риска сердечно-сосудистой смерти, госпитализации или срочных визитов по поводу сердечной недостаточности у взрослых с фракцией выброса левого желудочка ≥40%. ЕС: решение Европейской комиссии от 26.03.2026 (номер решения не подтверждён), симптомная хроническая сердечная недостаточность с фракцией выброса левого желудочка ≥40% у взрослых. Пресс-релиз вышел позже, 30.03.2026. В опубликованной инструкции Финеренон-Орвилле это показание не указано. Дата проверки 25.09.2026.</a:t>
            </a:r>
          </a:p>
          <a:p xmlns:a="http://schemas.openxmlformats.org/drawingml/2006/main">
            <a:r>
              <a:t>Максимальная доза в FINEARTS-HF 20 или 40 мг один раз в сутки; целевая доза при ХБП и диабете 2 типа 20 мг (слайд 32).</a:t>
            </a:r>
          </a:p>
          <a:p xmlns:a="http://schemas.openxmlformats.org/drawingml/2006/main">
            <a:r>
              <a:t>https://www.accessdata.fda.gov/drugsatfda_docs/appletter/2025/215341Orig1s009ltr.pdf</a:t>
            </a:r>
          </a:p>
          <a:p xmlns:a="http://schemas.openxmlformats.org/drawingml/2006/main">
            <a:r>
              <a:t>https://labeling.bayerhealthcare.com/html/products/pi/Kerendia_PI.pdf</a:t>
            </a:r>
          </a:p>
          <a:p xmlns:a="http://schemas.openxmlformats.org/drawingml/2006/main">
            <a:r>
              <a:t>https://ec.europa.eu/health/documents/community-register/2026/20260326168988/dec_168988_en.pdf</a:t>
            </a:r>
          </a:p>
          <a:p xmlns:a="http://schemas.openxmlformats.org/drawingml/2006/main">
            <a:r>
              <a:t>https://ec.europa.eu/health/documents/community-register/2026/20260326168988/anx_168988_en.pdf</a:t>
            </a:r>
          </a:p>
          <a:p xmlns:a="http://schemas.openxmlformats.org/drawingml/2006/main">
            <a:r>
              <a:t>https://www.ema.europa.eu/en/medicines/human/EPAR/kerendia</a:t>
            </a:r>
          </a:p>
          <a:p xmlns:a="http://schemas.openxmlformats.org/drawingml/2006/main">
            <a:r>
              <a:t>https://orvilleservices.com/instructions/Finerenon_Instruction_ru.pdf</a:t>
            </a:r>
          </a:p>
          <a:p xmlns:a="http://schemas.openxmlformats.org/drawingml/2006/main">
            <a:r>
              <a:t>https://doi.org/10.1056/NEJMoa2407107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elected/new/notesSlides/_rels/notesSlide1.xml.rels><?xml version='1.0' encoding='UTF-8' standalone='yes'?>
<Relationships xmlns="http://schemas.openxmlformats.org/package/2006/relationships"><Relationship Id="R044e3bcb47af4110" Type="http://schemas.openxmlformats.org/officeDocument/2006/relationships/slide" Target="../../../slides/slide24.xml"/><Relationship Id="Rff10153a3c3c41ed" Type="http://schemas.openxmlformats.org/officeDocument/2006/relationships/notesMaster" Target="../../../notesMasters/notesMaster1.xml"/></Relationships>
</file>

<file path=ppt/selected/new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elected/new/slideLayouts/_rels/slideLayout1.xml.rels><?xml version='1.0' encoding='UTF-8' standalone='yes'?>
<Relationships xmlns="http://schemas.openxmlformats.org/package/2006/relationships"><Relationship Id="Rf958545c3cf44bc5" Type="http://schemas.openxmlformats.org/officeDocument/2006/relationships/slideMaster" Target="../slideMasters/slideMaster1.xml"/></Relationships>
</file>

<file path=ppt/selected/new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elected/new/slideMasters/_rels/slideMaster1.xml.rels><?xml version='1.0' encoding='UTF-8' standalone='yes'?>
<Relationships xmlns="http://schemas.openxmlformats.org/package/2006/relationships"><Relationship Id="R496c1ad952514e1a" Type="http://schemas.openxmlformats.org/officeDocument/2006/relationships/theme" Target="theme/theme2.xml"/><Relationship Id="Re831c4c913bd441e" Type="http://schemas.openxmlformats.org/officeDocument/2006/relationships/slideLayout" Target="../slideLayouts/slideLayout1.xml"/></Relationships>
</file>

<file path=ppt/selected/new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43" r:id="Re831c4c913bd44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elected/new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elected/src01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1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1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1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1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1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1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1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1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1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1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1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elected/src01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elected/src01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elected/src01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elected/src01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elected/src01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elected/src01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elected/src01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elected/src01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elected/src01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elected/src01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elected/src01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elected/src01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elected/src01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selected/src02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2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2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2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2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2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2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2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2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2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2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2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elected/src02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elected/src02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elected/src02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elected/src02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elected/src02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elected/src02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elected/src02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elected/src02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elected/src02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elected/src02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elected/src02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elected/src02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elected/src02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selected/src04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4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4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4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4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4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4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4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4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4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4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4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elected/src04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elected/src04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elected/src04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elected/src04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elected/src04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elected/src04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elected/src04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elected/src04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elected/src04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elected/src04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elected/src04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elected/src04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elected/src04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selected/src08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selected/src08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style val="2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Пациенты</c:v>
                </c:pt>
              </c:strCache>
            </c:strRef>
          </c:tx>
          <c:dPt>
            <c:idx val="0"/>
            <c:spPr>
              <a:solidFill>
                <a:srgbClr val="7030A0"/>
              </a:solidFill>
              <a:ln>
                <a:noFill/>
              </a:ln>
            </c:spPr>
          </c:dPt>
          <c:dPt>
            <c:idx val="1"/>
            <c:spPr>
              <a:solidFill>
                <a:srgbClr val="0F9ED5"/>
              </a:solidFill>
              <a:ln>
                <a:noFill/>
              </a:ln>
            </c:spPr>
          </c:dPt>
          <c:dLbls>
            <c:dLbl>
              <c:idx val="0"/>
              <c:numFmt formatCode="[$-419]0.0%" sourceLinked="0"/>
              <c:txPr>
                <a:bodyPr/>
                <a:lstStyle/>
                <a:p>
                  <a:pPr>
                    <a:defRPr sz="1800" b="1" lang="ru-RU">
                      <a:solidFill>
                        <a:srgbClr val="7030A0"/>
                      </a:solidFill>
                      <a:latin typeface="Arial Narrow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[$-419]0.0%" sourceLinked="0"/>
              <c:txPr>
                <a:bodyPr/>
                <a:lstStyle/>
                <a:p>
                  <a:pPr>
                    <a:defRPr sz="1800" b="1" lang="ru-RU">
                      <a:solidFill>
                        <a:srgbClr val="0F9ED5"/>
                      </a:solidFill>
                      <a:latin typeface="Arial Narrow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19]0.0%" sourceLinked="0"/>
            <c:txPr>
              <a:bodyPr/>
              <a:lstStyle/>
              <a:p>
                <a:pPr>
                  <a:defRPr sz="1800" b="1" lang="ru-RU">
                    <a:solidFill>
                      <a:srgbClr val="000000"/>
                    </a:solidFill>
                    <a:latin typeface="Arial Narrow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Финеренон</c:v>
                </c:pt>
                <c:pt idx="1">
                  <c:v>Спиронолактон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0.053</c:v>
                </c:pt>
                <c:pt idx="1">
                  <c:v>0.127</c:v>
                </c:pt>
              </c:numCache>
            </c:numRef>
          </c:val>
        </c:ser>
        <c:dLbls>
          <c:dLbl>
            <c:idx val="0"/>
            <c:dLblPos val="outEnd"/>
            <c:showLegendKey val="0"/>
            <c:showCatName val="0"/>
            <c:showSerName val="0"/>
          </c:dLbl>
          <c:dLbl>
            <c:idx val="1"/>
            <c:dLblPos val="outEnd"/>
            <c:showLegendKey val="0"/>
            <c:showCatName val="0"/>
            <c:showSerName val="0"/>
          </c:dLbl>
          <c:numFmt formatCode="[$-419]0.0%" sourceLinked="0"/>
          <c:txPr>
            <a:bodyPr/>
            <a:lstStyle/>
            <a:p>
              <a:pPr>
                <a:defRPr sz="1800" b="1" lang="ru-RU">
                  <a:solidFill>
                    <a:srgbClr val="000000"/>
                  </a:solidFill>
                  <a:latin typeface="Arial Narro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1000001"/>
        <c:axId val="1000002"/>
      </c:barChart>
      <c:catAx>
        <c:axId val="1000001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700" lang="ru-RU">
                <a:solidFill>
                  <a:srgbClr val="000000"/>
                </a:solidFill>
                <a:latin typeface="Arial Narrow"/>
              </a:defRPr>
            </a:pPr>
          </a:p>
        </c:txPr>
        <c:crossAx val="1000002"/>
        <c:crosses val="autoZero"/>
        <c:auto val="1"/>
        <c:lblAlgn val="ctr"/>
        <c:lblOffset val="100"/>
        <c:noMultiLvlLbl val="0"/>
      </c:catAx>
      <c:valAx>
        <c:axId val="1000002"/>
        <c:scaling>
          <c:max val="0.15"/>
          <c:min val="0.0"/>
        </c:scaling>
        <c:delete/>
        <c:axPos val="b"/>
        <c:majorTickMark val="out"/>
        <c:minorTickMark val="none"/>
        <c:tickLblPos val="nextTo"/>
        <c:spPr>
          <a:ln>
            <a:noFill/>
          </a:ln>
        </c:spPr>
        <c:crossAx val="1000001"/>
        <c:crosses val="autoZero"/>
      </c:valAx>
    </c:plotArea>
    <c:dispBlanksAs val="gap"/>
  </c:chart>
  <c:txPr>
    <a:bodyPr/>
    <a:lstStyle/>
    <a:p>
      <a:pPr>
        <a:defRPr sz="1800" lang="ru-RU">
          <a:latin typeface="Arial Narrow"/>
        </a:defRPr>
      </a:pPr>
      <a:endParaRPr lang="ru-RU"/>
    </a:p>
  </c:txPr>
  <c:externalData r:id="rId1">
    <c:autoUpdate val="0"/>
  </c:externalData>
</c:chartSpace>
</file>

<file path=ppt/selected/src08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8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8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8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8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8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8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8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8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8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8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8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elected/src08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elected/src08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elected/src08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elected/src08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elected/src08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elected/src08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elected/src08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elected/src08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elected/src08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elected/src08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elected/src08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elected/src08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elected/src08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selected/src09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9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9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9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9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9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9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9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9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9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9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09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elected/src09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elected/src09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elected/src09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elected/src09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elected/src09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elected/src09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elected/src09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elected/src09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elected/src09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elected/src09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elected/src09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elected/src09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elected/src09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selected/src11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1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1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1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1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1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1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1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1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1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1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1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elected/src11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elected/src11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elected/src11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elected/src11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elected/src11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elected/src11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elected/src11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elected/src11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elected/src11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elected/src11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elected/src11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elected/src11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elected/src11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selected/src12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2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2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2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2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2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2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2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2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2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2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2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elected/src12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elected/src12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elected/src12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elected/src12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elected/src12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elected/src12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elected/src12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elected/src12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elected/src12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elected/src12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elected/src12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elected/src12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elected/src12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selected/src14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4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4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4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4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4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4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4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4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4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4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4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elected/src14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elected/src14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elected/src14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elected/src14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elected/src14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elected/src14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elected/src14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elected/src14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elected/src14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elected/src14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elected/src14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elected/src14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elected/src14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selected/src15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5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5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5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5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5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5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5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5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5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5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5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elected/src15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elected/src15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elected/src15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elected/src15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elected/src15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elected/src15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elected/src15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elected/src15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elected/src15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elected/src15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elected/src15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elected/src15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elected/src15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selected/src17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7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7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7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7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7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7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7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7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7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7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7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elected/src17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elected/src17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elected/src17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elected/src17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elected/src17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elected/src17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elected/src17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elected/src17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elected/src17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elected/src17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elected/src17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elected/src17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elected/src17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selected/src18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8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8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8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8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8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8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8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8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8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8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8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elected/src18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elected/src18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elected/src18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elected/src18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elected/src18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elected/src18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elected/src18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elected/src18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elected/src18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elected/src18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elected/src18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elected/src18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elected/src18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selected/src19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9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9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9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9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9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9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9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9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9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9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elected/src19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elected/src19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elected/src19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elected/src19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elected/src19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elected/src19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elected/src19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elected/src19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elected/src19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elected/src19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elected/src19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elected/src19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elected/src19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elected/src19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5EDE-F97E-45F9-87B0-14931A40BF47}" type="datetimeFigureOut">
              <a:rPr lang="uz-Latn-UZ" smtClean="0"/>
              <a:t>23/09/2026</a:t>
            </a:fld>
            <a:endParaRPr lang="uz-Latn-U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z-Latn-UZ"/>
          </a:p>
        </p:txBody>
      </p:sp>
    </p:spTree>
    <p:extLst>
      <p:ext uri="{BB962C8B-B14F-4D97-AF65-F5344CB8AC3E}">
        <p14:creationId xmlns:p14="http://schemas.microsoft.com/office/powerpoint/2010/main" val="3487836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9E894B79-9A81-4551-97E1-32714F482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1pPr>
            <a:lvl2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2pPr>
            <a:lvl3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3pPr>
            <a:lvl4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4pPr>
            <a:lvl5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5pPr>
            <a:lvl6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6pPr>
            <a:lvl7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7pPr>
            <a:lvl8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8pPr>
            <a:lvl9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95D54650-1D78-4E50-B4C4-7A4F9A164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6CB158F5-C2DD-4D6E-8B34-FDACBD98841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A5BAE28E-FA32-45EA-A115-54754B669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6B198587-1D52-478F-8517-DE5EA230424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>
            <a:extLst>
              <a:ext uri="{FF2B5EF4-FFF2-40B4-BE49-F238E27FC236}">
                <a16:creationId xmlns:a16="http://schemas.microsoft.com/office/drawing/2014/main" id="{786744CB-7F3D-4730-9355-DCE7F409C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>
            <a:extLst>
              <a:ext uri="{FF2B5EF4-FFF2-40B4-BE49-F238E27FC236}">
                <a16:creationId xmlns:a16="http://schemas.microsoft.com/office/drawing/2014/main" id="{A651360F-1C1A-4ADD-AC6B-AFC6B2531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>
            <a:extLst>
              <a:ext uri="{FF2B5EF4-FFF2-40B4-BE49-F238E27FC236}">
                <a16:creationId xmlns:a16="http://schemas.microsoft.com/office/drawing/2014/main" id="{9498781A-0BD2-46FF-866D-BE26B1F95DE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>
            <a:extLst>
              <a:ext uri="{FF2B5EF4-FFF2-40B4-BE49-F238E27FC236}">
                <a16:creationId xmlns:a16="http://schemas.microsoft.com/office/drawing/2014/main" id="{B8900843-D9C0-4862-918C-D93C67876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>
            <a:extLst>
              <a:ext uri="{FF2B5EF4-FFF2-40B4-BE49-F238E27FC236}">
                <a16:creationId xmlns:a16="http://schemas.microsoft.com/office/drawing/2014/main" id="{DB9BF20B-7E63-44E3-B773-B8236E61B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>
            <a:extLst>
              <a:ext uri="{FF2B5EF4-FFF2-40B4-BE49-F238E27FC236}">
                <a16:creationId xmlns:a16="http://schemas.microsoft.com/office/drawing/2014/main" id="{375669BD-3733-4FDD-BEE9-8708FDEF078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BE9A2A1E-6F95-4C01-A0BC-ED41B4C20F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>
            <a:extLst>
              <a:ext uri="{FF2B5EF4-FFF2-40B4-BE49-F238E27FC236}">
                <a16:creationId xmlns:a16="http://schemas.microsoft.com/office/drawing/2014/main" id="{12CE402D-7CAB-4C73-B2ED-A2B6E0B6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75482C9E-21AE-4378-B0C0-260EE8E050A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>
            <a:extLst>
              <a:ext uri="{FF2B5EF4-FFF2-40B4-BE49-F238E27FC236}">
                <a16:creationId xmlns:a16="http://schemas.microsoft.com/office/drawing/2014/main" id="{58C124E5-1C58-4273-ABE5-D0679ECA3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3B3EEF30-61D1-4DDE-92EA-52EBEC509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784B2C43-29CB-4C59-A876-E16FAF1C436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>
            <a:extLst>
              <a:ext uri="{FF2B5EF4-FFF2-40B4-BE49-F238E27FC236}">
                <a16:creationId xmlns:a16="http://schemas.microsoft.com/office/drawing/2014/main" id="{71FA5A2A-4F2A-4D8E-B691-2BDD45F34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855F8D53-7186-44C7-9807-E67997C87C5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>
            <a:extLst>
              <a:ext uri="{FF2B5EF4-FFF2-40B4-BE49-F238E27FC236}">
                <a16:creationId xmlns:a16="http://schemas.microsoft.com/office/drawing/2014/main" id="{6297B929-14C6-4ED8-87BA-189A4A264A91}"/>
              </a:ext>
            </a:extLst>
          </p:cNvPr>
          <p:cNvSpPr>
            <a:spLocks noGrp="1"/>
          </p:cNvSpPr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>
              <a:ext uri="{FF2B5EF4-FFF2-40B4-BE49-F238E27FC236}">
                <a16:creationId xmlns:a16="http://schemas.microsoft.com/office/drawing/2014/main" id="{AAA5B135-BA52-444A-BF28-CCB4FA019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DDEC3AA9-9C19-4ABD-816B-317F825FA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B9BC143E-D44D-431D-A03A-F4C7C23E40E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5F11B6AD-2435-4DB6-A10A-100B8BBEA94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>
            <a:extLst>
              <a:ext uri="{FF2B5EF4-FFF2-40B4-BE49-F238E27FC236}">
                <a16:creationId xmlns:a16="http://schemas.microsoft.com/office/drawing/2014/main" id="{D4C76B62-F1E4-48B3-BCC6-024165E84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>
            <a:extLst>
              <a:ext uri="{FF2B5EF4-FFF2-40B4-BE49-F238E27FC236}">
                <a16:creationId xmlns:a16="http://schemas.microsoft.com/office/drawing/2014/main" id="{033163FB-4948-46D2-834F-D497DF39275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>
            <a:extLst>
              <a:ext uri="{FF2B5EF4-FFF2-40B4-BE49-F238E27FC236}">
                <a16:creationId xmlns:a16="http://schemas.microsoft.com/office/drawing/2014/main" id="{D65D68F5-C46B-41B4-A844-14CA3865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DC006DCB-0B00-44E5-9F5E-6927400E7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42C953DA-B2C2-4138-B266-F59FF1695BD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>
            <a:extLst>
              <a:ext uri="{FF2B5EF4-FFF2-40B4-BE49-F238E27FC236}">
                <a16:creationId xmlns:a16="http://schemas.microsoft.com/office/drawing/2014/main" id="{AC9AD09B-25ED-4F05-BACD-A14E3FD44B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23/09/2026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9E894B79-9A81-4551-97E1-32714F482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1pPr>
            <a:lvl2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2pPr>
            <a:lvl3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3pPr>
            <a:lvl4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4pPr>
            <a:lvl5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5pPr>
            <a:lvl6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6pPr>
            <a:lvl7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7pPr>
            <a:lvl8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8pPr>
            <a:lvl9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95D54650-1D78-4E50-B4C4-7A4F9A164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6CB158F5-C2DD-4D6E-8B34-FDACBD98841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172571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5EDE-F97E-45F9-87B0-14931A40BF47}" type="datetimeFigureOut">
              <a:rPr lang="uz-Latn-UZ" smtClean="0"/>
              <a:t>23/09/2026</a:t>
            </a:fld>
            <a:endParaRPr lang="uz-Latn-U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z-Latn-UZ"/>
          </a:p>
        </p:txBody>
      </p:sp>
    </p:spTree>
    <p:extLst>
      <p:ext uri="{BB962C8B-B14F-4D97-AF65-F5344CB8AC3E}">
        <p14:creationId xmlns:p14="http://schemas.microsoft.com/office/powerpoint/2010/main" val="348783655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99" cy="273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99" cy="105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99" cy="1122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99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99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99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199" y="1536633"/>
            <a:ext cx="53332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99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99" cy="5454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79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5999" y="965433"/>
            <a:ext cx="5116000" cy="492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6"/>
            <a:ext cx="7998399" cy="80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99" cy="26180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6"/>
            <a:ext cx="11360799" cy="1734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23/09/2026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23/09/2026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23/09/2026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23/09/2026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23/09/2026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23/09/2026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23/09/2026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23/09/2026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9.xml"/><Relationship Id="rId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slideLayout" Target="../slideLayouts/slideLayout41.xml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8.xml"/><Relationship Id="rId3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slideLayout" Target="../slideLayouts/slideLayout60.xml"/><Relationship Id="rId3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slideLayout" Target="../slideLayouts/slideLayout62.xml"/><Relationship Id="rId3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slideLayout" Target="../slideLayouts/slideLayout64.xml"/><Relationship Id="rId3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6.xml"/><Relationship Id="rId3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9.xml"/><Relationship Id="rId2" Type="http://schemas.openxmlformats.org/officeDocument/2006/relationships/slideLayout" Target="../slideLayouts/slideLayout70.xml"/><Relationship Id="rId3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theme" Target="../theme/theme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C315835C-05A4-43C1-A9CD-CEDF574DF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2A13AC4B-ED8A-4995-8F44-E61104D24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9D45EBC8-8535-4245-B7F3-F8BBFB08774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>
            <a:normAutofit/>
          </a:bodyPr>
          <a:lstStyle>
            <a:lvl1pPr algn="r">
              <a:buNone/>
              <a:defRPr sz="1333">
                <a:solidFill>
                  <a:schemeClr val="dk2"/>
                </a:solidFill>
              </a:defRPr>
            </a:lvl1pPr>
            <a:lvl2pPr algn="r">
              <a:buNone/>
              <a:defRPr sz="1333">
                <a:solidFill>
                  <a:schemeClr val="dk2"/>
                </a:solidFill>
              </a:defRPr>
            </a:lvl2pPr>
            <a:lvl3pPr algn="r">
              <a:buNone/>
              <a:defRPr sz="1333">
                <a:solidFill>
                  <a:schemeClr val="dk2"/>
                </a:solidFill>
              </a:defRPr>
            </a:lvl3pPr>
            <a:lvl4pPr algn="r">
              <a:buNone/>
              <a:defRPr sz="1333">
                <a:solidFill>
                  <a:schemeClr val="dk2"/>
                </a:solidFill>
              </a:defRPr>
            </a:lvl4pPr>
            <a:lvl5pPr algn="r">
              <a:buNone/>
              <a:defRPr sz="1333">
                <a:solidFill>
                  <a:schemeClr val="dk2"/>
                </a:solidFill>
              </a:defRPr>
            </a:lvl5pPr>
            <a:lvl6pPr algn="r">
              <a:buNone/>
              <a:defRPr sz="1333">
                <a:solidFill>
                  <a:schemeClr val="dk2"/>
                </a:solidFill>
              </a:defRPr>
            </a:lvl6pPr>
            <a:lvl7pPr algn="r">
              <a:buNone/>
              <a:defRPr sz="1333">
                <a:solidFill>
                  <a:schemeClr val="dk2"/>
                </a:solidFill>
              </a:defRPr>
            </a:lvl7pPr>
            <a:lvl8pPr algn="r">
              <a:buNone/>
              <a:defRPr sz="1333">
                <a:solidFill>
                  <a:schemeClr val="dk2"/>
                </a:solidFill>
              </a:defRPr>
            </a:lvl8pPr>
            <a:lvl9pPr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99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99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3" Type="http://schemas.openxmlformats.org/officeDocument/2006/relationships/hyperlink" Target="https://dailymed.nlm.nih.gov/dailymed/drugInfo.cfm?setid=fc726765-5d5a-4d6e-b037-b847bda9fb7c" TargetMode="External"/><Relationship Id="rId4" Type="http://schemas.openxmlformats.org/officeDocument/2006/relationships/hyperlink" Target="https://pubchem.ncbi.nlm.nih.gov/compound/60150535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hyperlink" Target="https://www.niddk.nih.gov/health-information/kidney-disease/kidneys-how-they-work" TargetMode="External"/><Relationship Id="rId5" Type="http://schemas.openxmlformats.org/officeDocument/2006/relationships/hyperlink" Target="https://commons.wikimedia.org/wiki/File:Nephron_simple.svg" TargetMode="External"/><Relationship Id="rId6" Type="http://schemas.openxmlformats.org/officeDocument/2006/relationships/hyperlink" Target="https://creativecommons.org/licenses/by-sa/4.0/" TargetMode="External"/><Relationship Id="rId7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eg"/><Relationship Id="rId4" Type="http://schemas.openxmlformats.org/officeDocument/2006/relationships/hyperlink" Target="https://doi.org/10.1038/s41581-020-0256-y" TargetMode="External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hyperlink" Target="https://doi.org/10.1038/s41581-020-0256-y" TargetMode="External"/><Relationship Id="rId5" Type="http://schemas.openxmlformats.org/officeDocument/2006/relationships/hyperlink" Target="https://doi.org/10.2215/CJN.11491116" TargetMode="External"/><Relationship Id="rId6" Type="http://schemas.openxmlformats.org/officeDocument/2006/relationships/hyperlink" Target="https://pubmed.ncbi.nlm.nih.gov/16731850/" TargetMode="External"/><Relationship Id="rId7" Type="http://schemas.openxmlformats.org/officeDocument/2006/relationships/hyperlink" Target="https://commons.wikimedia.org/wiki/File:Nephron_simple.svg" TargetMode="External"/><Relationship Id="rId8" Type="http://schemas.openxmlformats.org/officeDocument/2006/relationships/hyperlink" Target="https://creativecommons.org/licenses/by-sa/4.0/" TargetMode="External"/><Relationship Id="rId9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elected/src19/slideLayouts/slideLayout7.xml"/><Relationship Id="rId2" Type="http://schemas.openxmlformats.org/officeDocument/2006/relationships/image" Target="../selected/src19/media/image1.png"/><Relationship Id="rId3" Type="http://schemas.openxmlformats.org/officeDocument/2006/relationships/image" Target="../selected/src19/media/image2.png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elected/src08/slideLayouts/slideLayout7.xml"/><Relationship Id="rId2" Type="http://schemas.openxmlformats.org/officeDocument/2006/relationships/image" Target="../selected/src08/media/image1.png"/><Relationship Id="rId3" Type="http://schemas.openxmlformats.org/officeDocument/2006/relationships/hyperlink" Target="https://doi.org/10.1111/j.1440-1797.2006.00576.x" TargetMode="External"/><Relationship Id="rId4" Type="http://schemas.openxmlformats.org/officeDocument/2006/relationships/hyperlink" Target="https://doi.org/10.1681/ASN.2010010010" TargetMode="External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1.png"/><Relationship Id="rId3" Type="http://schemas.openxmlformats.org/officeDocument/2006/relationships/hyperlink" Target="https://kdigo.org/wp-content/uploads/2024/03/KDIGO-2024-CKD-Guideline.pdf" TargetMode="External"/><Relationship Id="rId4" Type="http://schemas.openxmlformats.org/officeDocument/2006/relationships/hyperlink" Target="https://doi.org/10.2337/dc26-S011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hyperlink" Target="https://kdigo.org/wp-content/uploads/2024/03/KDIGO-2024-CKD-Guideline.pdf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hyperlink" Target="https://doi.org/10.1016/j.ccl.2019.04.001" TargetMode="External"/><Relationship Id="rId6" Type="http://schemas.openxmlformats.org/officeDocument/2006/relationships/image" Target="../media/image21.png"/><Relationship Id="rId7" Type="http://schemas.openxmlformats.org/officeDocument/2006/relationships/image" Target="../media/image20.png"/><Relationship Id="rId8" Type="http://schemas.openxmlformats.org/officeDocument/2006/relationships/notesSlide" Target="../notesSlides/notesSlide2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hyperlink" Target="https://doi.org/10.1016/j.ccl.2019.04.001" TargetMode="External"/><Relationship Id="rId6" Type="http://schemas.openxmlformats.org/officeDocument/2006/relationships/hyperlink" Target="https://professional.heart.org/en/science-news/2026-guideline-for-the-prevention-detection-evaluation-and-management-of-ckm-syndrome" TargetMode="External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notesSlide" Target="../notesSlides/notesSlide2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chart" Target="../charts/chart1.xml"/><Relationship Id="rId5" Type="http://schemas.openxmlformats.org/officeDocument/2006/relationships/hyperlink" Target="https://doi.org/10.1056/NEJMoa1811744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s://doi.org/10.1056/NEJMoa011161" TargetMode="External"/><Relationship Id="rId5" Type="http://schemas.openxmlformats.org/officeDocument/2006/relationships/hyperlink" Target="https://doi.org/10.1056/NEJMoa011303" TargetMode="External"/><Relationship Id="rId6" Type="http://schemas.openxmlformats.org/officeDocument/2006/relationships/hyperlink" Target="https://doi.org/10.1056/NEJMoa1811744" TargetMode="External"/><Relationship Id="rId7" Type="http://schemas.openxmlformats.org/officeDocument/2006/relationships/hyperlink" Target="https://doi.org/10.1056/NEJMoa2024816" TargetMode="External"/><Relationship Id="rId8" Type="http://schemas.openxmlformats.org/officeDocument/2006/relationships/hyperlink" Target="https://doi.org/10.1056/NEJMoa2204233" TargetMode="External"/><Relationship Id="rId9" Type="http://schemas.openxmlformats.org/officeDocument/2006/relationships/hyperlink" Target="https://doi.org/10.1056/NEJMoa2025845" TargetMode="External"/><Relationship Id="rId10" Type="http://schemas.openxmlformats.org/officeDocument/2006/relationships/hyperlink" Target="https://doi.org/10.1056/NEJMoa2110956" TargetMode="External"/><Relationship Id="rId11" Type="http://schemas.openxmlformats.org/officeDocument/2006/relationships/hyperlink" Target="https://doi.org/10.1093/eurheartj/ehab777" TargetMode="External"/><Relationship Id="rId12" Type="http://schemas.openxmlformats.org/officeDocument/2006/relationships/hyperlink" Target="https://doi.org/10.1056/NEJMoa2403347" TargetMode="External"/><Relationship Id="rId13" Type="http://schemas.openxmlformats.org/officeDocument/2006/relationships/image" Target="../media/image3.png"/><Relationship Id="rId14" Type="http://schemas.openxmlformats.org/officeDocument/2006/relationships/image" Target="../media/image4.png"/><Relationship Id="rId15" Type="http://schemas.openxmlformats.org/officeDocument/2006/relationships/image" Target="../media/image5.png"/><Relationship Id="rId16" Type="http://schemas.openxmlformats.org/officeDocument/2006/relationships/image" Target="../media/image6.png"/><Relationship Id="rId17" Type="http://schemas.openxmlformats.org/officeDocument/2006/relationships/hyperlink" Target="https://kdigo.org/wp-content/uploads/2024/03/KDIGO-2024-CKD-Guideline.pdf" TargetMode="External"/><Relationship Id="rId18" Type="http://schemas.openxmlformats.org/officeDocument/2006/relationships/hyperlink" Target="https://www.medicines.org.uk/emc/product/13438/smpc" TargetMode="External"/><Relationship Id="rId19" Type="http://schemas.openxmlformats.org/officeDocument/2006/relationships/hyperlink" Target="https://www.novo-pi.com/ozempic.pdf" TargetMode="External"/><Relationship Id="rId20" Type="http://schemas.openxmlformats.org/officeDocument/2006/relationships/hyperlink" Target="https://smart.servier.com/smart_image/smart-receptor/" TargetMode="External"/><Relationship Id="rId21" Type="http://schemas.openxmlformats.org/officeDocument/2006/relationships/hyperlink" Target="https://creativecommons.org/licenses/by/4.0/" TargetMode="External"/><Relationship Id="rId2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elected/src18/slideLayouts/slideLayout7.xml"/><Relationship Id="rId2" Type="http://schemas.openxmlformats.org/officeDocument/2006/relationships/image" Target="../selected/src18/media/image1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elected/src17/slideLayouts/slideLayout7.xml"/><Relationship Id="rId2" Type="http://schemas.openxmlformats.org/officeDocument/2006/relationships/image" Target="../selected/src17/media/image1.png"/><Relationship Id="rId3" Type="http://schemas.openxmlformats.org/officeDocument/2006/relationships/image" Target="../selected/src17/media/image2.png"/><Relationship Id="rId4" Type="http://schemas.openxmlformats.org/officeDocument/2006/relationships/image" Target="../selected/src17/media/image3.png"/><Relationship Id="rId5" Type="http://schemas.openxmlformats.org/officeDocument/2006/relationships/image" Target="../selected/src17/media/image4.png"/><Relationship Id="rId6" Type="http://schemas.openxmlformats.org/officeDocument/2006/relationships/image" Target="../selected/src17/media/image5.png"/><Relationship Id="rId7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elected/src17/slideLayouts/slideLayout7.xml"/><Relationship Id="rId2" Type="http://schemas.openxmlformats.org/officeDocument/2006/relationships/image" Target="../selected/src17/media/image1.png"/><Relationship Id="rId3" Type="http://schemas.openxmlformats.org/officeDocument/2006/relationships/image" Target="../selected/src17/media/image2.png"/><Relationship Id="rId4" Type="http://schemas.openxmlformats.org/officeDocument/2006/relationships/image" Target="../selected/src17/media/image3.png"/><Relationship Id="rId5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hyperlink" Target="https://doi.org/10.1056/NEJMoa2025845" TargetMode="External"/><Relationship Id="rId5" Type="http://schemas.openxmlformats.org/officeDocument/2006/relationships/hyperlink" Target="https://doi.org/10.1056/NEJMoa2110956" TargetMode="External"/><Relationship Id="rId6" Type="http://schemas.openxmlformats.org/officeDocument/2006/relationships/hyperlink" Target="https://doi.org/10.1093/eurheartj/ehab777" TargetMode="External"/><Relationship Id="rId7" Type="http://schemas.openxmlformats.org/officeDocument/2006/relationships/hyperlink" Target="https://smart.servier.com/" TargetMode="External"/><Relationship Id="rId8" Type="http://schemas.openxmlformats.org/officeDocument/2006/relationships/hyperlink" Target="https://creativecommons.org/licenses/by/4.0/" TargetMode="External"/><Relationship Id="rId9" Type="http://schemas.openxmlformats.org/officeDocument/2006/relationships/image" Target="../media/image20.png"/><Relationship Id="rId10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hyperlink" Target="https://doi.org/10.1056/NEJMoa2025845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hyperlink" Target="https://doi.org/10.1056/NEJMoa2110956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hyperlink" Target="https://doi.org/10.1093/eurheartj/ehab777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chart" Target="../charts/chart2.xml"/><Relationship Id="rId5" Type="http://schemas.openxmlformats.org/officeDocument/2006/relationships/hyperlink" Target="https://doi.org/10.1093/eurheartj/ehab777" TargetMode="External"/><Relationship Id="rId6" Type="http://schemas.openxmlformats.org/officeDocument/2006/relationships/hyperlink" Target="https://doi.org/10.7326/M23-1023" TargetMode="External"/><Relationship Id="rId7" Type="http://schemas.openxmlformats.org/officeDocument/2006/relationships/hyperlink" Target="https://kdigo.org/wp-content/uploads/2024/03/KDIGO-2024-CKD-Guideline.pdf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hyperlink" Target="https://doi.org/10.1056/NEJMoa2410659" TargetMode="External"/><Relationship Id="rId5" Type="http://schemas.openxmlformats.org/officeDocument/2006/relationships/hyperlink" Target="https://doi.org/10.1016/j.jacc.2025.10.049" TargetMode="External"/><Relationship Id="rId6" Type="http://schemas.openxmlformats.org/officeDocument/2006/relationships/hyperlink" Target="https://clinicaltrials.gov/study/NCT05254002" TargetMode="External"/></Relationships>
</file>

<file path=ppt/slides/_rels/slide24.xml.rels><?xml version='1.0' encoding='UTF-8' standalone='yes'?>
<Relationships xmlns="http://schemas.openxmlformats.org/package/2006/relationships"><Relationship Id="R04ad166d9e7340b3" Type="http://schemas.openxmlformats.org/officeDocument/2006/relationships/hyperlink" Target="https://orvilleservices.com/instructions/Finerenon_Instruction_ru.pdf" TargetMode="External"/><Relationship Id="R20dd51a7c16d46b4" Type="http://schemas.openxmlformats.org/officeDocument/2006/relationships/hyperlink" Target="https://doi.org/10.2337/dc26-S011" TargetMode="External"/><Relationship Id="R36043bc3330d4127" Type="http://schemas.openxmlformats.org/officeDocument/2006/relationships/image" Target="../selected/new/media/image.png"/><Relationship Id="R6e8386be7e0c4247" Type="http://schemas.openxmlformats.org/officeDocument/2006/relationships/notesSlide" Target="../selected/new/notesSlides/notesSlide1.xml"/><Relationship Id="R98c37c1e130545b6" Type="http://schemas.openxmlformats.org/officeDocument/2006/relationships/slideLayout" Target="../selected/new/slideLayouts/slideLayout1.xml"/><Relationship Id="rId6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6de928f471e34b6b" Type="http://schemas.openxmlformats.org/officeDocument/2006/relationships/image" Target="../inserted_0924/media/image.png"/><Relationship Id="R755e3bb590834af3" Type="http://schemas.openxmlformats.org/officeDocument/2006/relationships/hyperlink" Target="https://kdigo.org/wp-content/uploads/2022/10/KDIGO-2022-Clinical-Practice-Guideline-for-Diabetes-Management-in-CKD.pdf" TargetMode="External"/><Relationship Id="R7c5425c8a7854354" Type="http://schemas.openxmlformats.org/officeDocument/2006/relationships/hyperlink" Target="https://kdigo.org/wp-content/uploads/2024/03/KDIGO-2024-CKD-Guideline.pdf" TargetMode="External"/><Relationship Id="R8831bc225a334e61" Type="http://schemas.openxmlformats.org/officeDocument/2006/relationships/slideLayout" Target="../inserted_0924/slideLayouts/slideLayout1.xml"/><Relationship Id="rId5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elected/src11/slideLayouts/slideLayout7.xml"/><Relationship Id="rId2" Type="http://schemas.openxmlformats.org/officeDocument/2006/relationships/image" Target="../selected/src11/media/image1.png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Source1" Type="http://schemas.openxmlformats.org/officeDocument/2006/relationships/hyperlink" Target="https://orvilleservices.com/instructions/Finerenon_Instruction_ru.pdf" TargetMode="External"/><Relationship Id="rIdSource2" Type="http://schemas.openxmlformats.org/officeDocument/2006/relationships/hyperlink" Target="https://kdigo.org/wp-content/uploads/2024/03/KDIGO-2024-CKD-Guideline.pdf" TargetMode="External"/><Relationship Id="rIdSource3" Type="http://schemas.openxmlformats.org/officeDocument/2006/relationships/hyperlink" Target="https://www.ema.europa.eu/en/documents/product-information/kerendia-epar-product-information_en.pdf" TargetMode="External"/><Relationship Id="rId1" Type="http://schemas.openxmlformats.org/officeDocument/2006/relationships/slideLayout" Target="../selected/src04/slideLayouts/slideLayout7.xml"/><Relationship Id="rId2" Type="http://schemas.openxmlformats.org/officeDocument/2006/relationships/hyperlink" Target="https://www.medicines.org.uk/emc/product/13438/smpc" TargetMode="External"/><Relationship Id="rId3" Type="http://schemas.openxmlformats.org/officeDocument/2006/relationships/hyperlink" Target="https://kdigo.org/wp-content/uploads/2024/03/KDIGO-2024-CKD-Guideline.pdf" TargetMode="External"/><Relationship Id="rId4" Type="http://schemas.openxmlformats.org/officeDocument/2006/relationships/hyperlink" Target="https://www.dailymed.nlm.nih.gov/dailymed/drugInfo.cfm?setid=90a0539a-7227-4b91-8b22-25b6f23ef35f" TargetMode="External"/><Relationship Id="rId5" Type="http://schemas.openxmlformats.org/officeDocument/2006/relationships/hyperlink" Target="https://pubmed.ncbi.nlm.nih.gov/33264825/" TargetMode="External"/><Relationship Id="rId6" Type="http://schemas.openxmlformats.org/officeDocument/2006/relationships/image" Target="../selected/src04/media/image1.png"/><Relationship Id="rId10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Source1" Type="http://schemas.openxmlformats.org/officeDocument/2006/relationships/hyperlink" Target="https://www.ema.europa.eu/en/documents/product-information/kerendia-epar-product-information_en.pdf" TargetMode="External"/><Relationship Id="rId1" Type="http://schemas.openxmlformats.org/officeDocument/2006/relationships/slideLayout" Target="../selected/src15/slideLayouts/slideLayout7.xml"/><Relationship Id="rId2" Type="http://schemas.openxmlformats.org/officeDocument/2006/relationships/image" Target="../selected/src15/media/image1.png"/><Relationship Id="rId4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Source1" Type="http://schemas.openxmlformats.org/officeDocument/2006/relationships/hyperlink" Target="https://orvilleservices.com/instructions/Finerenon_Instruction_ru.pdf" TargetMode="External"/><Relationship Id="rIdSource2" Type="http://schemas.openxmlformats.org/officeDocument/2006/relationships/hyperlink" Target="https://www.ema.europa.eu/en/documents/product-information/kerendia-epar-product-information_en.pdf" TargetMode="External"/><Relationship Id="rId1" Type="http://schemas.openxmlformats.org/officeDocument/2006/relationships/slideLayout" Target="../selected/src12/slideLayouts/slideLayout7.xml"/><Relationship Id="rId2" Type="http://schemas.openxmlformats.org/officeDocument/2006/relationships/image" Target="../selected/src12/media/image1.png"/><Relationship Id="rId3" Type="http://schemas.openxmlformats.org/officeDocument/2006/relationships/hyperlink" Target="https://www.fachinfo.de/fi/detail/023695/kerendia-r-10-mg-20-mg-filmtabletten" TargetMode="External"/><Relationship Id="rId6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Source1" Type="http://schemas.openxmlformats.org/officeDocument/2006/relationships/hyperlink" Target="https://orvilleservices.com/instructions/Finerenon_Instruction_ru.pdf" TargetMode="External"/><Relationship Id="rId1" Type="http://schemas.openxmlformats.org/officeDocument/2006/relationships/slideLayout" Target="../selected/src09/slideLayouts/slideLayout7.xml"/><Relationship Id="rId2" Type="http://schemas.openxmlformats.org/officeDocument/2006/relationships/image" Target="../selected/src09/media/image1.png"/><Relationship Id="rId4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Source1" Type="http://schemas.openxmlformats.org/officeDocument/2006/relationships/hyperlink" Target="https://www.ema.europa.eu/en/documents/product-information/kerendia-epar-product-information_en.pdf" TargetMode="External"/><Relationship Id="rId1" Type="http://schemas.openxmlformats.org/officeDocument/2006/relationships/slideLayout" Target="../selected/src14/slideLayouts/slideLayout7.xml"/><Relationship Id="rId2" Type="http://schemas.openxmlformats.org/officeDocument/2006/relationships/image" Target="../selected/src14/media/image1.png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elected/src02/slideLayouts/slideLayout7.xml"/><Relationship Id="rId2" Type="http://schemas.openxmlformats.org/officeDocument/2006/relationships/image" Target="../selected/src02/media/image1.png"/><Relationship Id="rId3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Source1" Type="http://schemas.openxmlformats.org/officeDocument/2006/relationships/hyperlink" Target="https://orvilleservices.com/instructions/Finerenon_Instruction_ru.pdf" TargetMode="External"/><Relationship Id="rIdSource2" Type="http://schemas.openxmlformats.org/officeDocument/2006/relationships/hyperlink" Target="https://www.ema.europa.eu/en/documents/product-information/kerendia-epar-product-information_en.pdf" TargetMode="External"/><Relationship Id="rIdSource3" Type="http://schemas.openxmlformats.org/officeDocument/2006/relationships/hyperlink" Target="https://kdigo.org/wp-content/uploads/2024/03/KDIGO-2024-CKD-Guideline.pdf" TargetMode="External"/><Relationship Id="rId1" Type="http://schemas.openxmlformats.org/officeDocument/2006/relationships/slideLayout" Target="../selected/src01/slideLayouts/slideLayout7.xml"/><Relationship Id="rId2" Type="http://schemas.openxmlformats.org/officeDocument/2006/relationships/image" Target="../selected/src01/media/image1.png"/><Relationship Id="rId6" Type="http://schemas.openxmlformats.org/officeDocument/2006/relationships/chart" Target="../charts/chart3.xml"/><Relationship Id="rId7" Type="http://schemas.openxmlformats.org/officeDocument/2006/relationships/image" Target="../media/image1.png"/><Relationship Id="rId8" Type="http://schemas.openxmlformats.org/officeDocument/2006/relationships/notesSlide" Target="../notesSlides/notesSlide2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elected/src08/slideLayouts/slideLayout7.xml"/><Relationship Id="rId2" Type="http://schemas.openxmlformats.org/officeDocument/2006/relationships/image" Target="../selected/src08/media/image1.png"/><Relationship Id="rId3" Type="http://schemas.openxmlformats.org/officeDocument/2006/relationships/chart" Target="../selected/src08/charts/chart1.xml"/><Relationship Id="rId4" Type="http://schemas.openxmlformats.org/officeDocument/2006/relationships/hyperlink" Target="https://doi.org/10.1093/eurheartj/eht187" TargetMode="External"/><Relationship Id="rId5" Type="http://schemas.openxmlformats.org/officeDocument/2006/relationships/image" Target="../media/image1.png"/><Relationship Id="rId6" Type="http://schemas.openxmlformats.org/officeDocument/2006/relationships/notesSlide" Target="../notesSlides/notesSlide2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hyperlink" Target="https://doi.org/10.1056/NEJMoa2604625" TargetMode="External"/><Relationship Id="rId5" Type="http://schemas.openxmlformats.org/officeDocument/2006/relationships/hyperlink" Target="https://orvilleservices.com/instructions/Finerenon_Instruction_ru.pdf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4.xml"/></Relationships>
</file>

<file path=ppt/slides/_rels/slide45.xml.rels><?xml version='1.0' encoding='UTF-8' standalone='yes'?>
<Relationships xmlns="http://schemas.openxmlformats.org/package/2006/relationships"><Relationship Id="R45ad85b1381a4010" Type="http://schemas.openxmlformats.org/officeDocument/2006/relationships/notesSlide" Target="../t1d_approval/notesSlides/notesSlide1.xml"/><Relationship Id="R58f7939dc5e4465d" Type="http://schemas.openxmlformats.org/officeDocument/2006/relationships/hyperlink" Target="https://www.accessdata.fda.gov/drugsatfda_docs/label/2026/215341s011lbl.pdf" TargetMode="External"/><Relationship Id="Rce37ce33f5dc4394" Type="http://schemas.openxmlformats.org/officeDocument/2006/relationships/image" Target="../t1d_approval/media/image.png"/><Relationship Id="Rda1e99282c60478b" Type="http://schemas.openxmlformats.org/officeDocument/2006/relationships/hyperlink" Target="https://www.accessdata.fda.gov/drugsatfda_docs/appletter/2026/215341Orig1s011ltr.pdf" TargetMode="External"/><Relationship Id="Rf9884a6faac74bbd" Type="http://schemas.openxmlformats.org/officeDocument/2006/relationships/slideLayout" Target="../t1d_approval/slideLayouts/slideLayout1.xml"/><Relationship Id="rId6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5.xml"/><Relationship Id="rId401" Type="http://schemas.openxmlformats.org/officeDocument/2006/relationships/notesSlide" Target="../notesSlides/notesSlide40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486EE4-498D-47F8-BA88-038A683979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0" t="0" r="r" b="b"/>
            <a:pathLst>
              <a:path w="1280000" h="720000" stroke="false" extrusionOk="false">
                <a:moveTo>
                  <a:pt x="0" y="0"/>
                </a:moveTo>
                <a:lnTo>
                  <a:pt x="611534" y="0"/>
                </a:lnTo>
                <a:cubicBezTo>
                  <a:pt x="611531" y="1719"/>
                  <a:pt x="611528" y="3437"/>
                  <a:pt x="611525" y="5156"/>
                </a:cubicBezTo>
                <a:cubicBezTo>
                  <a:pt x="611091" y="5840"/>
                  <a:pt x="609425" y="20653"/>
                  <a:pt x="608745" y="21099"/>
                </a:cubicBezTo>
                <a:lnTo>
                  <a:pt x="607820" y="43472"/>
                </a:lnTo>
                <a:cubicBezTo>
                  <a:pt x="607133" y="46292"/>
                  <a:pt x="603710" y="62855"/>
                  <a:pt x="605751" y="61466"/>
                </a:cubicBezTo>
                <a:cubicBezTo>
                  <a:pt x="601112" y="69726"/>
                  <a:pt x="603367" y="74380"/>
                  <a:pt x="600954" y="84055"/>
                </a:cubicBezTo>
                <a:cubicBezTo>
                  <a:pt x="605276" y="90010"/>
                  <a:pt x="601170" y="86569"/>
                  <a:pt x="601742" y="92273"/>
                </a:cubicBezTo>
                <a:cubicBezTo>
                  <a:pt x="597586" y="90231"/>
                  <a:pt x="603767" y="99359"/>
                  <a:pt x="598972" y="99089"/>
                </a:cubicBezTo>
                <a:cubicBezTo>
                  <a:pt x="599228" y="100136"/>
                  <a:pt x="599627" y="101158"/>
                  <a:pt x="600064" y="102187"/>
                </a:cubicBezTo>
                <a:lnTo>
                  <a:pt x="600290" y="102725"/>
                </a:lnTo>
                <a:lnTo>
                  <a:pt x="600368" y="104781"/>
                </a:lnTo>
                <a:lnTo>
                  <a:pt x="601424" y="105486"/>
                </a:lnTo>
                <a:lnTo>
                  <a:pt x="602138" y="112419"/>
                </a:lnTo>
                <a:cubicBezTo>
                  <a:pt x="599382" y="116586"/>
                  <a:pt x="603949" y="124981"/>
                  <a:pt x="600300" y="130078"/>
                </a:cubicBezTo>
                <a:cubicBezTo>
                  <a:pt x="600064" y="135496"/>
                  <a:pt x="600567" y="141493"/>
                  <a:pt x="600724" y="144927"/>
                </a:cubicBezTo>
                <a:cubicBezTo>
                  <a:pt x="602405" y="146603"/>
                  <a:pt x="599019" y="150711"/>
                  <a:pt x="601238" y="150684"/>
                </a:cubicBezTo>
                <a:lnTo>
                  <a:pt x="600582" y="152636"/>
                </a:lnTo>
                <a:lnTo>
                  <a:pt x="601416" y="154021"/>
                </a:lnTo>
                <a:cubicBezTo>
                  <a:pt x="602300" y="155436"/>
                  <a:pt x="602895" y="156545"/>
                  <a:pt x="602387" y="157723"/>
                </a:cubicBezTo>
                <a:lnTo>
                  <a:pt x="605866" y="164322"/>
                </a:lnTo>
                <a:cubicBezTo>
                  <a:pt x="607362" y="163492"/>
                  <a:pt x="605999" y="167618"/>
                  <a:pt x="607515" y="168183"/>
                </a:cubicBezTo>
                <a:cubicBezTo>
                  <a:pt x="608740" y="168468"/>
                  <a:pt x="608611" y="169786"/>
                  <a:pt x="609050" y="170814"/>
                </a:cubicBezTo>
                <a:cubicBezTo>
                  <a:pt x="610293" y="171590"/>
                  <a:pt x="611365" y="176713"/>
                  <a:pt x="611160" y="178469"/>
                </a:cubicBezTo>
                <a:cubicBezTo>
                  <a:pt x="609842" y="183388"/>
                  <a:pt x="614832" y="187622"/>
                  <a:pt x="613908" y="191559"/>
                </a:cubicBezTo>
                <a:cubicBezTo>
                  <a:pt x="614012" y="192607"/>
                  <a:pt x="614283" y="193483"/>
                  <a:pt x="614658" y="194249"/>
                </a:cubicBezTo>
                <a:lnTo>
                  <a:pt x="616833" y="196284"/>
                </a:lnTo>
                <a:lnTo>
                  <a:pt x="617351" y="197701"/>
                </a:lnTo>
                <a:lnTo>
                  <a:pt x="617626" y="197997"/>
                </a:lnTo>
                <a:lnTo>
                  <a:pt x="617728" y="198123"/>
                </a:lnTo>
                <a:lnTo>
                  <a:pt x="618529" y="199714"/>
                </a:lnTo>
                <a:lnTo>
                  <a:pt x="617542" y="202613"/>
                </a:lnTo>
                <a:lnTo>
                  <a:pt x="618551" y="208158"/>
                </a:lnTo>
                <a:cubicBezTo>
                  <a:pt x="616941" y="210625"/>
                  <a:pt x="618541" y="209668"/>
                  <a:pt x="619032" y="211340"/>
                </a:cubicBezTo>
                <a:cubicBezTo>
                  <a:pt x="619375" y="212864"/>
                  <a:pt x="620260" y="215718"/>
                  <a:pt x="620613" y="217305"/>
                </a:cubicBezTo>
                <a:cubicBezTo>
                  <a:pt x="622179" y="218397"/>
                  <a:pt x="620510" y="219238"/>
                  <a:pt x="621146" y="220864"/>
                </a:cubicBezTo>
                <a:cubicBezTo>
                  <a:pt x="621776" y="221590"/>
                  <a:pt x="621936" y="222149"/>
                  <a:pt x="621453" y="222995"/>
                </a:cubicBezTo>
                <a:cubicBezTo>
                  <a:pt x="624495" y="226324"/>
                  <a:pt x="621832" y="225184"/>
                  <a:pt x="623241" y="228471"/>
                </a:cubicBezTo>
                <a:cubicBezTo>
                  <a:pt x="624646" y="231280"/>
                  <a:pt x="625727" y="234526"/>
                  <a:pt x="628584" y="237064"/>
                </a:cubicBezTo>
                <a:cubicBezTo>
                  <a:pt x="629360" y="237500"/>
                  <a:pt x="629783" y="238747"/>
                  <a:pt x="629529" y="239850"/>
                </a:cubicBezTo>
                <a:cubicBezTo>
                  <a:pt x="629485" y="240039"/>
                  <a:pt x="629422" y="240217"/>
                  <a:pt x="629343" y="240379"/>
                </a:cubicBezTo>
                <a:cubicBezTo>
                  <a:pt x="630334" y="241116"/>
                  <a:pt x="630651" y="241805"/>
                  <a:pt x="630883" y="242385"/>
                </a:cubicBezTo>
                <a:lnTo>
                  <a:pt x="631829" y="243639"/>
                </a:lnTo>
                <a:lnTo>
                  <a:pt x="631993" y="244399"/>
                </a:lnTo>
                <a:lnTo>
                  <a:pt x="632407" y="247533"/>
                </a:lnTo>
                <a:lnTo>
                  <a:pt x="632652" y="248284"/>
                </a:lnTo>
                <a:lnTo>
                  <a:pt x="633028" y="250745"/>
                </a:lnTo>
                <a:lnTo>
                  <a:pt x="632927" y="252210"/>
                </a:lnTo>
                <a:lnTo>
                  <a:pt x="633522" y="254070"/>
                </a:lnTo>
                <a:cubicBezTo>
                  <a:pt x="633535" y="254165"/>
                  <a:pt x="633548" y="254261"/>
                  <a:pt x="633561" y="254357"/>
                </a:cubicBezTo>
                <a:lnTo>
                  <a:pt x="633359" y="254698"/>
                </a:lnTo>
                <a:cubicBezTo>
                  <a:pt x="633397" y="254875"/>
                  <a:pt x="633526" y="255089"/>
                  <a:pt x="633669" y="255323"/>
                </a:cubicBezTo>
                <a:cubicBezTo>
                  <a:pt x="633686" y="255391"/>
                  <a:pt x="633703" y="255459"/>
                  <a:pt x="633720" y="255527"/>
                </a:cubicBezTo>
                <a:lnTo>
                  <a:pt x="633970" y="257365"/>
                </a:lnTo>
                <a:cubicBezTo>
                  <a:pt x="633948" y="257509"/>
                  <a:pt x="633927" y="257654"/>
                  <a:pt x="633906" y="257799"/>
                </a:cubicBezTo>
                <a:lnTo>
                  <a:pt x="634135" y="258581"/>
                </a:lnTo>
                <a:lnTo>
                  <a:pt x="634720" y="262886"/>
                </a:lnTo>
                <a:cubicBezTo>
                  <a:pt x="635570" y="269402"/>
                  <a:pt x="636321" y="275614"/>
                  <a:pt x="636628" y="278523"/>
                </a:cubicBezTo>
                <a:cubicBezTo>
                  <a:pt x="636268" y="279086"/>
                  <a:pt x="636037" y="279695"/>
                  <a:pt x="635898" y="280335"/>
                </a:cubicBezTo>
                <a:lnTo>
                  <a:pt x="635729" y="282217"/>
                </a:lnTo>
                <a:lnTo>
                  <a:pt x="635903" y="282400"/>
                </a:lnTo>
                <a:cubicBezTo>
                  <a:pt x="636378" y="283304"/>
                  <a:pt x="636428" y="283936"/>
                  <a:pt x="636289" y="284447"/>
                </a:cubicBezTo>
                <a:lnTo>
                  <a:pt x="635981" y="284990"/>
                </a:lnTo>
                <a:cubicBezTo>
                  <a:pt x="636029" y="285468"/>
                  <a:pt x="636076" y="285946"/>
                  <a:pt x="636123" y="286424"/>
                </a:cubicBezTo>
                <a:cubicBezTo>
                  <a:pt x="636106" y="287392"/>
                  <a:pt x="636088" y="288361"/>
                  <a:pt x="636071" y="289329"/>
                </a:cubicBezTo>
                <a:lnTo>
                  <a:pt x="636371" y="289798"/>
                </a:lnTo>
                <a:lnTo>
                  <a:pt x="636775" y="294063"/>
                </a:lnTo>
                <a:lnTo>
                  <a:pt x="636928" y="294086"/>
                </a:lnTo>
                <a:cubicBezTo>
                  <a:pt x="637280" y="294235"/>
                  <a:pt x="637557" y="294528"/>
                  <a:pt x="637685" y="295132"/>
                </a:cubicBezTo>
                <a:cubicBezTo>
                  <a:pt x="639643" y="293682"/>
                  <a:pt x="638590" y="295304"/>
                  <a:pt x="638795" y="297213"/>
                </a:cubicBezTo>
                <a:cubicBezTo>
                  <a:pt x="641883" y="295386"/>
                  <a:pt x="641164" y="301123"/>
                  <a:pt x="643177" y="301568"/>
                </a:cubicBezTo>
                <a:lnTo>
                  <a:pt x="643783" y="306887"/>
                </a:lnTo>
                <a:lnTo>
                  <a:pt x="643820" y="306897"/>
                </a:lnTo>
                <a:cubicBezTo>
                  <a:pt x="643927" y="307072"/>
                  <a:pt x="644009" y="307355"/>
                  <a:pt x="644064" y="307808"/>
                </a:cubicBezTo>
                <a:cubicBezTo>
                  <a:pt x="644073" y="308033"/>
                  <a:pt x="644081" y="308259"/>
                  <a:pt x="644090" y="308485"/>
                </a:cubicBezTo>
                <a:lnTo>
                  <a:pt x="644417" y="310186"/>
                </a:lnTo>
                <a:lnTo>
                  <a:pt x="644751" y="310724"/>
                </a:lnTo>
                <a:lnTo>
                  <a:pt x="645202" y="310868"/>
                </a:lnTo>
                <a:lnTo>
                  <a:pt x="645186" y="311033"/>
                </a:lnTo>
                <a:cubicBezTo>
                  <a:pt x="644705" y="312339"/>
                  <a:pt x="643743" y="312863"/>
                  <a:pt x="646921" y="313967"/>
                </a:cubicBezTo>
                <a:cubicBezTo>
                  <a:pt x="646303" y="316887"/>
                  <a:pt x="648162" y="317168"/>
                  <a:pt x="649549" y="320835"/>
                </a:cubicBezTo>
                <a:cubicBezTo>
                  <a:pt x="648759" y="322571"/>
                  <a:pt x="649415" y="323775"/>
                  <a:pt x="650543" y="324880"/>
                </a:cubicBezTo>
                <a:cubicBezTo>
                  <a:pt x="650774" y="328615"/>
                  <a:pt x="652683" y="331770"/>
                  <a:pt x="653823" y="335837"/>
                </a:cubicBezTo>
                <a:lnTo>
                  <a:pt x="657143" y="347250"/>
                </a:lnTo>
                <a:lnTo>
                  <a:pt x="659036" y="354220"/>
                </a:lnTo>
                <a:cubicBezTo>
                  <a:pt x="659017" y="354442"/>
                  <a:pt x="659719" y="354735"/>
                  <a:pt x="660435" y="354999"/>
                </a:cubicBezTo>
                <a:lnTo>
                  <a:pt x="661122" y="355247"/>
                </a:lnTo>
                <a:lnTo>
                  <a:pt x="661720" y="358442"/>
                </a:lnTo>
                <a:lnTo>
                  <a:pt x="661455" y="360832"/>
                </a:lnTo>
                <a:lnTo>
                  <a:pt x="663267" y="369724"/>
                </a:lnTo>
                <a:lnTo>
                  <a:pt x="664001" y="378347"/>
                </a:lnTo>
                <a:cubicBezTo>
                  <a:pt x="664066" y="380050"/>
                  <a:pt x="664131" y="381753"/>
                  <a:pt x="664196" y="383457"/>
                </a:cubicBezTo>
                <a:lnTo>
                  <a:pt x="663180" y="384800"/>
                </a:lnTo>
                <a:lnTo>
                  <a:pt x="664391" y="388536"/>
                </a:lnTo>
                <a:lnTo>
                  <a:pt x="664527" y="392102"/>
                </a:lnTo>
                <a:cubicBezTo>
                  <a:pt x="664564" y="393865"/>
                  <a:pt x="664602" y="395628"/>
                  <a:pt x="664639" y="397391"/>
                </a:cubicBezTo>
                <a:cubicBezTo>
                  <a:pt x="664635" y="397497"/>
                  <a:pt x="664630" y="397603"/>
                  <a:pt x="664626" y="397709"/>
                </a:cubicBezTo>
                <a:cubicBezTo>
                  <a:pt x="664641" y="398081"/>
                  <a:pt x="664655" y="398453"/>
                  <a:pt x="664669" y="398824"/>
                </a:cubicBezTo>
                <a:cubicBezTo>
                  <a:pt x="664699" y="400222"/>
                  <a:pt x="664728" y="401620"/>
                  <a:pt x="664758" y="403018"/>
                </a:cubicBezTo>
                <a:cubicBezTo>
                  <a:pt x="665039" y="414598"/>
                  <a:pt x="662028" y="415794"/>
                  <a:pt x="662213" y="421543"/>
                </a:cubicBezTo>
                <a:lnTo>
                  <a:pt x="664831" y="425489"/>
                </a:lnTo>
                <a:lnTo>
                  <a:pt x="664794" y="430053"/>
                </a:lnTo>
                <a:cubicBezTo>
                  <a:pt x="661996" y="436656"/>
                  <a:pt x="665649" y="446245"/>
                  <a:pt x="664617" y="453663"/>
                </a:cubicBezTo>
                <a:cubicBezTo>
                  <a:pt x="664538" y="459488"/>
                  <a:pt x="664197" y="462751"/>
                  <a:pt x="664324" y="465005"/>
                </a:cubicBezTo>
                <a:cubicBezTo>
                  <a:pt x="664597" y="465754"/>
                  <a:pt x="664974" y="466469"/>
                  <a:pt x="665379" y="467185"/>
                </a:cubicBezTo>
                <a:lnTo>
                  <a:pt x="665590" y="467561"/>
                </a:lnTo>
                <a:lnTo>
                  <a:pt x="665810" y="469075"/>
                </a:lnTo>
                <a:lnTo>
                  <a:pt x="666649" y="469487"/>
                </a:lnTo>
                <a:lnTo>
                  <a:pt x="667538" y="471755"/>
                </a:lnTo>
                <a:cubicBezTo>
                  <a:pt x="667750" y="472607"/>
                  <a:pt x="667838" y="473527"/>
                  <a:pt x="667725" y="474548"/>
                </a:cubicBezTo>
                <a:cubicBezTo>
                  <a:pt x="667738" y="475136"/>
                  <a:pt x="667751" y="475724"/>
                  <a:pt x="667764" y="476312"/>
                </a:cubicBezTo>
                <a:lnTo>
                  <a:pt x="667646" y="476462"/>
                </a:lnTo>
                <a:cubicBezTo>
                  <a:pt x="667580" y="476765"/>
                  <a:pt x="667574" y="477119"/>
                  <a:pt x="667485" y="477436"/>
                </a:cubicBezTo>
                <a:cubicBezTo>
                  <a:pt x="666843" y="477949"/>
                  <a:pt x="666573" y="481064"/>
                  <a:pt x="666799" y="482110"/>
                </a:cubicBezTo>
                <a:cubicBezTo>
                  <a:pt x="667844" y="485011"/>
                  <a:pt x="665339" y="487742"/>
                  <a:pt x="666103" y="490070"/>
                </a:cubicBezTo>
                <a:cubicBezTo>
                  <a:pt x="665846" y="491871"/>
                  <a:pt x="665477" y="492426"/>
                  <a:pt x="665256" y="492917"/>
                </a:cubicBezTo>
                <a:lnTo>
                  <a:pt x="664777" y="493016"/>
                </a:lnTo>
                <a:lnTo>
                  <a:pt x="664579" y="493886"/>
                </a:lnTo>
                <a:lnTo>
                  <a:pt x="664445" y="494075"/>
                </a:lnTo>
                <a:cubicBezTo>
                  <a:pt x="664188" y="494433"/>
                  <a:pt x="663945" y="494796"/>
                  <a:pt x="663759" y="495197"/>
                </a:cubicBezTo>
                <a:lnTo>
                  <a:pt x="664205" y="500228"/>
                </a:lnTo>
                <a:lnTo>
                  <a:pt x="664690" y="501773"/>
                </a:lnTo>
                <a:lnTo>
                  <a:pt x="665312" y="502624"/>
                </a:lnTo>
                <a:lnTo>
                  <a:pt x="667286" y="508505"/>
                </a:lnTo>
                <a:lnTo>
                  <a:pt x="668908" y="512494"/>
                </a:lnTo>
                <a:lnTo>
                  <a:pt x="669511" y="513316"/>
                </a:lnTo>
                <a:lnTo>
                  <a:pt x="669378" y="514373"/>
                </a:lnTo>
                <a:cubicBezTo>
                  <a:pt x="669301" y="514510"/>
                  <a:pt x="669206" y="514625"/>
                  <a:pt x="669097" y="514715"/>
                </a:cubicBezTo>
                <a:lnTo>
                  <a:pt x="670489" y="517876"/>
                </a:lnTo>
                <a:lnTo>
                  <a:pt x="670594" y="518266"/>
                </a:lnTo>
                <a:lnTo>
                  <a:pt x="671083" y="520979"/>
                </a:lnTo>
                <a:cubicBezTo>
                  <a:pt x="671120" y="523774"/>
                  <a:pt x="671156" y="526569"/>
                  <a:pt x="671192" y="529364"/>
                </a:cubicBezTo>
                <a:cubicBezTo>
                  <a:pt x="670212" y="529106"/>
                  <a:pt x="671902" y="531280"/>
                  <a:pt x="671241" y="531827"/>
                </a:cubicBezTo>
                <a:cubicBezTo>
                  <a:pt x="670668" y="532171"/>
                  <a:pt x="671047" y="532910"/>
                  <a:pt x="671060" y="533566"/>
                </a:cubicBezTo>
                <a:cubicBezTo>
                  <a:pt x="670593" y="534195"/>
                  <a:pt x="671243" y="537299"/>
                  <a:pt x="671766" y="538280"/>
                </a:cubicBezTo>
                <a:cubicBezTo>
                  <a:pt x="673619" y="540915"/>
                  <a:pt x="672008" y="544084"/>
                  <a:pt x="673423" y="546213"/>
                </a:cubicBezTo>
                <a:cubicBezTo>
                  <a:pt x="673702" y="548028"/>
                  <a:pt x="673509" y="548645"/>
                  <a:pt x="673440" y="549169"/>
                </a:cubicBezTo>
                <a:lnTo>
                  <a:pt x="673008" y="549361"/>
                </a:lnTo>
                <a:lnTo>
                  <a:pt x="673072" y="550252"/>
                </a:lnTo>
                <a:lnTo>
                  <a:pt x="672998" y="550463"/>
                </a:lnTo>
                <a:cubicBezTo>
                  <a:pt x="672855" y="550864"/>
                  <a:pt x="672728" y="551268"/>
                  <a:pt x="672665" y="551697"/>
                </a:cubicBezTo>
                <a:cubicBezTo>
                  <a:pt x="674767" y="552110"/>
                  <a:pt x="672479" y="555422"/>
                  <a:pt x="674214" y="554988"/>
                </a:cubicBezTo>
                <a:cubicBezTo>
                  <a:pt x="674235" y="557421"/>
                  <a:pt x="677083" y="560371"/>
                  <a:pt x="675462" y="562499"/>
                </a:cubicBezTo>
                <a:cubicBezTo>
                  <a:pt x="675954" y="566116"/>
                  <a:pt x="676074" y="569387"/>
                  <a:pt x="676744" y="573237"/>
                </a:cubicBezTo>
                <a:cubicBezTo>
                  <a:pt x="677943" y="576218"/>
                  <a:pt x="676785" y="579438"/>
                  <a:pt x="678282" y="581597"/>
                </a:cubicBezTo>
                <a:cubicBezTo>
                  <a:pt x="678198" y="585035"/>
                  <a:pt x="679234" y="589327"/>
                  <a:pt x="681436" y="592029"/>
                </a:cubicBezTo>
                <a:cubicBezTo>
                  <a:pt x="681767" y="595719"/>
                  <a:pt x="683066" y="596346"/>
                  <a:pt x="682093" y="599576"/>
                </a:cubicBezTo>
                <a:cubicBezTo>
                  <a:pt x="682415" y="599846"/>
                  <a:pt x="682680" y="600163"/>
                  <a:pt x="682904" y="600510"/>
                </a:cubicBezTo>
                <a:lnTo>
                  <a:pt x="683437" y="601568"/>
                </a:lnTo>
                <a:lnTo>
                  <a:pt x="683389" y="601699"/>
                </a:lnTo>
                <a:lnTo>
                  <a:pt x="684226" y="604046"/>
                </a:lnTo>
                <a:lnTo>
                  <a:pt x="685691" y="608536"/>
                </a:lnTo>
                <a:lnTo>
                  <a:pt x="685616" y="608572"/>
                </a:lnTo>
                <a:cubicBezTo>
                  <a:pt x="685468" y="608709"/>
                  <a:pt x="685392" y="608918"/>
                  <a:pt x="685467" y="609285"/>
                </a:cubicBezTo>
                <a:cubicBezTo>
                  <a:pt x="684099" y="608738"/>
                  <a:pt x="685034" y="609517"/>
                  <a:pt x="685378" y="610645"/>
                </a:cubicBezTo>
                <a:cubicBezTo>
                  <a:pt x="683330" y="610048"/>
                  <a:pt x="685063" y="613242"/>
                  <a:pt x="684114" y="613793"/>
                </a:cubicBezTo>
                <a:cubicBezTo>
                  <a:pt x="684413" y="614636"/>
                  <a:pt x="684692" y="615515"/>
                  <a:pt x="684935" y="616413"/>
                </a:cubicBezTo>
                <a:lnTo>
                  <a:pt x="685055" y="616942"/>
                </a:lnTo>
                <a:lnTo>
                  <a:pt x="685038" y="616954"/>
                </a:lnTo>
                <a:cubicBezTo>
                  <a:pt x="685023" y="617070"/>
                  <a:pt x="685047" y="617245"/>
                  <a:pt x="685126" y="617513"/>
                </a:cubicBezTo>
                <a:lnTo>
                  <a:pt x="685503" y="618933"/>
                </a:lnTo>
                <a:cubicBezTo>
                  <a:pt x="685487" y="619053"/>
                  <a:pt x="685471" y="619172"/>
                  <a:pt x="685455" y="619291"/>
                </a:cubicBezTo>
                <a:lnTo>
                  <a:pt x="685086" y="621476"/>
                </a:lnTo>
                <a:cubicBezTo>
                  <a:pt x="685172" y="622950"/>
                  <a:pt x="685511" y="626020"/>
                  <a:pt x="685771" y="628285"/>
                </a:cubicBezTo>
                <a:cubicBezTo>
                  <a:pt x="686533" y="630468"/>
                  <a:pt x="686279" y="632563"/>
                  <a:pt x="686645" y="635070"/>
                </a:cubicBezTo>
                <a:cubicBezTo>
                  <a:pt x="688026" y="637672"/>
                  <a:pt x="686881" y="639211"/>
                  <a:pt x="687277" y="641890"/>
                </a:cubicBezTo>
                <a:cubicBezTo>
                  <a:pt x="689159" y="644040"/>
                  <a:pt x="686475" y="643924"/>
                  <a:pt x="686221" y="645348"/>
                </a:cubicBezTo>
                <a:lnTo>
                  <a:pt x="686254" y="645738"/>
                </a:lnTo>
                <a:lnTo>
                  <a:pt x="686673" y="646720"/>
                </a:lnTo>
                <a:lnTo>
                  <a:pt x="686885" y="647075"/>
                </a:lnTo>
                <a:cubicBezTo>
                  <a:pt x="687011" y="647325"/>
                  <a:pt x="687069" y="647498"/>
                  <a:pt x="687080" y="647625"/>
                </a:cubicBezTo>
                <a:cubicBezTo>
                  <a:pt x="687076" y="647631"/>
                  <a:pt x="687072" y="647637"/>
                  <a:pt x="687068" y="647643"/>
                </a:cubicBezTo>
                <a:lnTo>
                  <a:pt x="688560" y="650569"/>
                </a:lnTo>
                <a:cubicBezTo>
                  <a:pt x="687835" y="651496"/>
                  <a:pt x="690039" y="654174"/>
                  <a:pt x="688098" y="654317"/>
                </a:cubicBezTo>
                <a:cubicBezTo>
                  <a:pt x="688639" y="655362"/>
                  <a:pt x="689630" y="655823"/>
                  <a:pt x="688303" y="655765"/>
                </a:cubicBezTo>
                <a:cubicBezTo>
                  <a:pt x="688447" y="656118"/>
                  <a:pt x="688424" y="656364"/>
                  <a:pt x="688321" y="656562"/>
                </a:cubicBezTo>
                <a:lnTo>
                  <a:pt x="689494" y="658945"/>
                </a:lnTo>
                <a:cubicBezTo>
                  <a:pt x="689502" y="659059"/>
                  <a:pt x="689510" y="659174"/>
                  <a:pt x="689518" y="659288"/>
                </a:cubicBezTo>
                <a:lnTo>
                  <a:pt x="690499" y="660753"/>
                </a:lnTo>
                <a:lnTo>
                  <a:pt x="691732" y="662884"/>
                </a:lnTo>
                <a:cubicBezTo>
                  <a:pt x="691727" y="662935"/>
                  <a:pt x="691722" y="662987"/>
                  <a:pt x="691717" y="663038"/>
                </a:cubicBezTo>
                <a:lnTo>
                  <a:pt x="692411" y="663939"/>
                </a:lnTo>
                <a:cubicBezTo>
                  <a:pt x="692682" y="664218"/>
                  <a:pt x="693793" y="668176"/>
                  <a:pt x="694135" y="668338"/>
                </a:cubicBezTo>
                <a:lnTo>
                  <a:pt x="697371" y="688380"/>
                </a:lnTo>
                <a:cubicBezTo>
                  <a:pt x="699785" y="699835"/>
                  <a:pt x="702208" y="708039"/>
                  <a:pt x="704634" y="714822"/>
                </a:cubicBezTo>
                <a:lnTo>
                  <a:pt x="706606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  <a:solidFill>
            <a:srgbClr val="ECEBE9"/>
          </a:solidFill>
          <a:ln w="12700">
            <a:solidFill>
              <a:srgbClr val="16324F"/>
            </a:solidFill>
            <a:prstDash val="solid"/>
          </a:ln>
          <a:effectLst/>
        </p:spPr>
        <p:txBody>
          <a:bodyPr/>
          <a:lstStyle/>
          <a:p>
            <a:pPr>
              <a:lnSpc>
                <a:spcPct val="90000"/>
              </a:lnSpc>
            </a:pPr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69EF342-AE56-4CBA-8A80-69B7925D9032}"/>
              </a:ext>
            </a:extLst>
          </p:cNvPr>
          <p:cNvSpPr>
            <a:spLocks noGrp="1"/>
          </p:cNvSpPr>
          <p:nvPr/>
        </p:nvSpPr>
        <p:spPr>
          <a:xfrm>
            <a:off x="838200" y="2095500"/>
            <a:ext cx="4762500" cy="7620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  <a:lnSpc>
                <a:spcPct val="90000"/>
              </a:lnSpc>
            </a:pPr>
            <a:r>
              <a:rPr lang="uz-Cyrl-UZ" sz="4000" b="0" spc="100">
                <a:solidFill>
                  <a:srgbClr val="7030A0"/>
                </a:solidFill>
                <a:latin typeface="Arial Narrow"/>
                <a:ea typeface="Arial"/>
                <a:cs typeface="Arial Narrow"/>
                <a:sym typeface="Arial" panose="020B0604020202020204" pitchFamily="34" charset="0"/>
              </a:rPr>
              <a:t>ФИНЕРЕНОН</a:t>
            </a:r>
            <a:endParaRPr sz="4600" b="0">
              <a:solidFill>
                <a:srgbClr val="7030A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Клиническая тема"/>
          <p:cNvSpPr txBox="1"/>
          <p:nvPr/>
        </p:nvSpPr>
        <p:spPr>
          <a:xfrm>
            <a:off x="838200" y="3048000"/>
            <a:ext cx="4762500" cy="1066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У взрослых с хронической</a:t>
            </a:r>
            <a:br/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болезнью почек, связанной</a:t>
            </a:r>
            <a:br/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с сахарным диабетом 2 типа</a:t>
            </a:r>
          </a:p>
        </p:txBody>
      </p:sp>
      <p:sp>
        <p:nvSpPr>
          <p:cNvPr id="23" name="Практическая цель обучения"/>
          <p:cNvSpPr txBox="1"/>
          <p:nvPr/>
        </p:nvSpPr>
        <p:spPr>
          <a:xfrm>
            <a:off x="838200" y="4476750"/>
            <a:ext cx="4762500" cy="12700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Цели обучения: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1. Кому показан препарат и как он действует.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2. Какая польза подтверждена исследованиями.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3. Как контролировать калий и функцию почек.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4. Как сообщать о нежелательных явлениях.</a:t>
            </a:r>
          </a:p>
        </p:txBody>
      </p:sp>
      <p:grpSp>
        <p:nvGrpSpPr>
          <p:cNvPr id="4" name="Структурная формула финеренона: отдельные связи и подписи"/>
          <p:cNvGrpSpPr/>
          <p:nvPr/>
        </p:nvGrpSpPr>
        <p:grpSpPr>
          <a:xfrm>
            <a:off x="7858353" y="1249070"/>
            <a:ext cx="3206801" cy="3692895"/>
            <a:chOff x="7858353" y="1249070"/>
            <a:chExt cx="3206801" cy="3692895"/>
          </a:xfrm>
        </p:grpSpPr>
        <p:sp>
          <p:nvSpPr>
            <p:cNvPr id="5" name="Химическая связь 1 bond-0 atom-0 atom-1"/>
            <p:cNvSpPr/>
            <p:nvPr/>
          </p:nvSpPr>
          <p:spPr>
            <a:xfrm>
              <a:off x="10735056" y="2912364"/>
              <a:ext cx="330098" cy="301752"/>
            </a:xfrm>
            <a:custGeom>
              <a:avLst/>
              <a:gdLst/>
              <a:ahLst/>
              <a:cxnLst/>
              <a:rect l="l" t="t" r="r" b="b"/>
              <a:pathLst>
                <a:path w="330098" h="301752">
                  <a:moveTo>
                    <a:pt x="330098" y="301752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" name="Химическая связь 2 bond-1 atom-1 atom-2"/>
            <p:cNvSpPr/>
            <p:nvPr/>
          </p:nvSpPr>
          <p:spPr>
            <a:xfrm>
              <a:off x="10548518" y="2912364"/>
              <a:ext cx="186538" cy="11887"/>
            </a:xfrm>
            <a:custGeom>
              <a:avLst/>
              <a:gdLst/>
              <a:ahLst/>
              <a:cxnLst/>
              <a:rect l="l" t="t" r="r" b="b"/>
              <a:pathLst>
                <a:path w="186538" h="11887">
                  <a:moveTo>
                    <a:pt x="186538" y="0"/>
                  </a:moveTo>
                  <a:lnTo>
                    <a:pt x="0" y="11887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" name="Химическая связь 3 bond-1 atom-1 atom-2"/>
            <p:cNvSpPr/>
            <p:nvPr/>
          </p:nvSpPr>
          <p:spPr>
            <a:xfrm>
              <a:off x="10362895" y="2924251"/>
              <a:ext cx="185623" cy="11887"/>
            </a:xfrm>
            <a:custGeom>
              <a:avLst/>
              <a:gdLst/>
              <a:ahLst/>
              <a:cxnLst/>
              <a:rect l="l" t="t" r="r" b="b"/>
              <a:pathLst>
                <a:path w="185623" h="11887">
                  <a:moveTo>
                    <a:pt x="185623" y="0"/>
                  </a:moveTo>
                  <a:lnTo>
                    <a:pt x="0" y="11887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" name="Химическая связь 4 bond-2 atom-2 atom-3"/>
            <p:cNvSpPr/>
            <p:nvPr/>
          </p:nvSpPr>
          <p:spPr>
            <a:xfrm>
              <a:off x="10141610" y="2740457"/>
              <a:ext cx="95098" cy="128930"/>
            </a:xfrm>
            <a:custGeom>
              <a:avLst/>
              <a:gdLst/>
              <a:ahLst/>
              <a:cxnLst/>
              <a:rect l="l" t="t" r="r" b="b"/>
              <a:pathLst>
                <a:path w="95098" h="128930">
                  <a:moveTo>
                    <a:pt x="95098" y="128930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" name="Химическая связь 5 bond-2 atom-2 atom-3"/>
            <p:cNvSpPr/>
            <p:nvPr/>
          </p:nvSpPr>
          <p:spPr>
            <a:xfrm>
              <a:off x="10046513" y="2611526"/>
              <a:ext cx="95097" cy="128931"/>
            </a:xfrm>
            <a:custGeom>
              <a:avLst/>
              <a:gdLst/>
              <a:ahLst/>
              <a:cxnLst/>
              <a:rect l="l" t="t" r="r" b="b"/>
              <a:pathLst>
                <a:path w="95097" h="128931">
                  <a:moveTo>
                    <a:pt x="95097" y="128931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" name="Химическая связь 6 bond-3 atom-3 atom-4"/>
            <p:cNvSpPr/>
            <p:nvPr/>
          </p:nvSpPr>
          <p:spPr>
            <a:xfrm>
              <a:off x="10046513" y="2518258"/>
              <a:ext cx="157277" cy="93268"/>
            </a:xfrm>
            <a:custGeom>
              <a:avLst/>
              <a:gdLst/>
              <a:ahLst/>
              <a:cxnLst/>
              <a:rect l="l" t="t" r="r" b="b"/>
              <a:pathLst>
                <a:path w="157277" h="93268">
                  <a:moveTo>
                    <a:pt x="0" y="93268"/>
                  </a:moveTo>
                  <a:lnTo>
                    <a:pt x="157277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" name="Химическая связь 7 bond-3 atom-3 atom-4"/>
            <p:cNvSpPr/>
            <p:nvPr/>
          </p:nvSpPr>
          <p:spPr>
            <a:xfrm>
              <a:off x="10203790" y="2424989"/>
              <a:ext cx="158191" cy="93269"/>
            </a:xfrm>
            <a:custGeom>
              <a:avLst/>
              <a:gdLst/>
              <a:ahLst/>
              <a:cxnLst/>
              <a:rect l="l" t="t" r="r" b="b"/>
              <a:pathLst>
                <a:path w="158191" h="93269">
                  <a:moveTo>
                    <a:pt x="0" y="93269"/>
                  </a:moveTo>
                  <a:lnTo>
                    <a:pt x="158191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" name="Химическая связь 8 bond-3 atom-3 atom-4"/>
            <p:cNvSpPr/>
            <p:nvPr/>
          </p:nvSpPr>
          <p:spPr>
            <a:xfrm>
              <a:off x="10046513" y="2450592"/>
              <a:ext cx="140817" cy="83210"/>
            </a:xfrm>
            <a:custGeom>
              <a:avLst/>
              <a:gdLst/>
              <a:ahLst/>
              <a:cxnLst/>
              <a:rect l="l" t="t" r="r" b="b"/>
              <a:pathLst>
                <a:path w="140817" h="83210">
                  <a:moveTo>
                    <a:pt x="0" y="83210"/>
                  </a:moveTo>
                  <a:lnTo>
                    <a:pt x="140817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" name="Химическая связь 9 bond-3 atom-3 atom-4"/>
            <p:cNvSpPr/>
            <p:nvPr/>
          </p:nvSpPr>
          <p:spPr>
            <a:xfrm>
              <a:off x="10187330" y="2367382"/>
              <a:ext cx="139904" cy="83210"/>
            </a:xfrm>
            <a:custGeom>
              <a:avLst/>
              <a:gdLst/>
              <a:ahLst/>
              <a:cxnLst/>
              <a:rect l="l" t="t" r="r" b="b"/>
              <a:pathLst>
                <a:path w="139904" h="83210">
                  <a:moveTo>
                    <a:pt x="0" y="83210"/>
                  </a:moveTo>
                  <a:lnTo>
                    <a:pt x="139904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" name="Химическая связь 10 bond-4 atom-4 atom-5"/>
            <p:cNvSpPr/>
            <p:nvPr/>
          </p:nvSpPr>
          <p:spPr>
            <a:xfrm>
              <a:off x="10434218" y="2115922"/>
              <a:ext cx="0" cy="193852"/>
            </a:xfrm>
            <a:custGeom>
              <a:avLst/>
              <a:gdLst/>
              <a:ahLst/>
              <a:cxnLst/>
              <a:rect l="l" t="t" r="r" b="b"/>
              <a:pathLst>
                <a:path h="193852">
                  <a:moveTo>
                    <a:pt x="0" y="193852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" name="Химическая связь 11 bond-4 atom-4 atom-5"/>
            <p:cNvSpPr/>
            <p:nvPr/>
          </p:nvSpPr>
          <p:spPr>
            <a:xfrm>
              <a:off x="10434218" y="1922983"/>
              <a:ext cx="0" cy="192939"/>
            </a:xfrm>
            <a:custGeom>
              <a:avLst/>
              <a:gdLst/>
              <a:ahLst/>
              <a:cxnLst/>
              <a:rect l="l" t="t" r="r" b="b"/>
              <a:pathLst>
                <a:path h="192939">
                  <a:moveTo>
                    <a:pt x="0" y="19293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" name="Химическая связь 12 bond-5 atom-5 atom-6"/>
            <p:cNvSpPr/>
            <p:nvPr/>
          </p:nvSpPr>
          <p:spPr>
            <a:xfrm>
              <a:off x="10046513" y="1693469"/>
              <a:ext cx="387705" cy="229514"/>
            </a:xfrm>
            <a:custGeom>
              <a:avLst/>
              <a:gdLst/>
              <a:ahLst/>
              <a:cxnLst/>
              <a:rect l="l" t="t" r="r" b="b"/>
              <a:pathLst>
                <a:path w="387705" h="229514">
                  <a:moveTo>
                    <a:pt x="387705" y="229514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" name="Химическая связь 13 bond-5 atom-5 atom-6"/>
            <p:cNvSpPr/>
            <p:nvPr/>
          </p:nvSpPr>
          <p:spPr>
            <a:xfrm>
              <a:off x="10046513" y="1770278"/>
              <a:ext cx="320954" cy="190196"/>
            </a:xfrm>
            <a:custGeom>
              <a:avLst/>
              <a:gdLst/>
              <a:ahLst/>
              <a:cxnLst/>
              <a:rect l="l" t="t" r="r" b="b"/>
              <a:pathLst>
                <a:path w="320954" h="190196">
                  <a:moveTo>
                    <a:pt x="320954" y="190196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" name="Химическая связь 14 bond-6 atom-6 atom-7"/>
            <p:cNvSpPr/>
            <p:nvPr/>
          </p:nvSpPr>
          <p:spPr>
            <a:xfrm>
              <a:off x="9659722" y="1693469"/>
              <a:ext cx="386791" cy="229514"/>
            </a:xfrm>
            <a:custGeom>
              <a:avLst/>
              <a:gdLst/>
              <a:ahLst/>
              <a:cxnLst/>
              <a:rect l="l" t="t" r="r" b="b"/>
              <a:pathLst>
                <a:path w="386791" h="229514">
                  <a:moveTo>
                    <a:pt x="386791" y="0"/>
                  </a:moveTo>
                  <a:lnTo>
                    <a:pt x="0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" name="Химическая связь 15 bond-7 atom-7 atom-8"/>
            <p:cNvSpPr/>
            <p:nvPr/>
          </p:nvSpPr>
          <p:spPr>
            <a:xfrm>
              <a:off x="9659722" y="1922983"/>
              <a:ext cx="0" cy="459029"/>
            </a:xfrm>
            <a:custGeom>
              <a:avLst/>
              <a:gdLst/>
              <a:ahLst/>
              <a:cxnLst/>
              <a:rect l="l" t="t" r="r" b="b"/>
              <a:pathLst>
                <a:path h="459029">
                  <a:moveTo>
                    <a:pt x="0" y="0"/>
                  </a:moveTo>
                  <a:lnTo>
                    <a:pt x="0" y="459029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" name="Химическая связь 16 bond-7 atom-7 atom-8"/>
            <p:cNvSpPr/>
            <p:nvPr/>
          </p:nvSpPr>
          <p:spPr>
            <a:xfrm>
              <a:off x="9725558" y="1960474"/>
              <a:ext cx="0" cy="383133"/>
            </a:xfrm>
            <a:custGeom>
              <a:avLst/>
              <a:gdLst/>
              <a:ahLst/>
              <a:cxnLst/>
              <a:rect l="l" t="t" r="r" b="b"/>
              <a:pathLst>
                <a:path h="383133">
                  <a:moveTo>
                    <a:pt x="0" y="0"/>
                  </a:moveTo>
                  <a:lnTo>
                    <a:pt x="0" y="383133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" name="Химическая связь 17 bond-8 atom-8 atom-9"/>
            <p:cNvSpPr/>
            <p:nvPr/>
          </p:nvSpPr>
          <p:spPr>
            <a:xfrm>
              <a:off x="9272016" y="2382012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387706" y="0"/>
                  </a:moveTo>
                  <a:lnTo>
                    <a:pt x="0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" name="Химическая связь 18 bond-9 atom-9 atom-10"/>
            <p:cNvSpPr/>
            <p:nvPr/>
          </p:nvSpPr>
          <p:spPr>
            <a:xfrm>
              <a:off x="8884310" y="2382012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387706" y="229514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" name="Химическая связь 19 bond-10 atom-10 atom-11"/>
            <p:cNvSpPr/>
            <p:nvPr/>
          </p:nvSpPr>
          <p:spPr>
            <a:xfrm>
              <a:off x="8884310" y="1922983"/>
              <a:ext cx="0" cy="459029"/>
            </a:xfrm>
            <a:custGeom>
              <a:avLst/>
              <a:gdLst/>
              <a:ahLst/>
              <a:cxnLst/>
              <a:rect l="l" t="t" r="r" b="b"/>
              <a:pathLst>
                <a:path h="459029">
                  <a:moveTo>
                    <a:pt x="0" y="45902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" name="Химическая связь 20 bond-10 atom-10 atom-11"/>
            <p:cNvSpPr/>
            <p:nvPr/>
          </p:nvSpPr>
          <p:spPr>
            <a:xfrm>
              <a:off x="8951062" y="1960474"/>
              <a:ext cx="0" cy="383133"/>
            </a:xfrm>
            <a:custGeom>
              <a:avLst/>
              <a:gdLst/>
              <a:ahLst/>
              <a:cxnLst/>
              <a:rect l="l" t="t" r="r" b="b"/>
              <a:pathLst>
                <a:path h="383133">
                  <a:moveTo>
                    <a:pt x="0" y="383133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" name="Химическая связь 21 bond-11 atom-11 atom-12"/>
            <p:cNvSpPr/>
            <p:nvPr/>
          </p:nvSpPr>
          <p:spPr>
            <a:xfrm>
              <a:off x="8884310" y="1829714"/>
              <a:ext cx="158192" cy="93269"/>
            </a:xfrm>
            <a:custGeom>
              <a:avLst/>
              <a:gdLst/>
              <a:ahLst/>
              <a:cxnLst/>
              <a:rect l="l" t="t" r="r" b="b"/>
              <a:pathLst>
                <a:path w="158192" h="93269">
                  <a:moveTo>
                    <a:pt x="0" y="93269"/>
                  </a:moveTo>
                  <a:lnTo>
                    <a:pt x="158192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" name="Химическая связь 22 bond-11 atom-11 atom-12"/>
            <p:cNvSpPr/>
            <p:nvPr/>
          </p:nvSpPr>
          <p:spPr>
            <a:xfrm>
              <a:off x="9042502" y="1736446"/>
              <a:ext cx="157276" cy="93268"/>
            </a:xfrm>
            <a:custGeom>
              <a:avLst/>
              <a:gdLst/>
              <a:ahLst/>
              <a:cxnLst/>
              <a:rect l="l" t="t" r="r" b="b"/>
              <a:pathLst>
                <a:path w="157276" h="93268">
                  <a:moveTo>
                    <a:pt x="0" y="93268"/>
                  </a:moveTo>
                  <a:lnTo>
                    <a:pt x="157276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" name="Химическая связь 23 bond-12 atom-11 atom-13"/>
            <p:cNvSpPr/>
            <p:nvPr/>
          </p:nvSpPr>
          <p:spPr>
            <a:xfrm>
              <a:off x="8497519" y="1693469"/>
              <a:ext cx="386791" cy="229514"/>
            </a:xfrm>
            <a:custGeom>
              <a:avLst/>
              <a:gdLst/>
              <a:ahLst/>
              <a:cxnLst/>
              <a:rect l="l" t="t" r="r" b="b"/>
              <a:pathLst>
                <a:path w="386791" h="229514">
                  <a:moveTo>
                    <a:pt x="386791" y="229514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" name="Химическая связь 24 bond-13 atom-10 atom-14"/>
            <p:cNvSpPr/>
            <p:nvPr/>
          </p:nvSpPr>
          <p:spPr>
            <a:xfrm>
              <a:off x="8497519" y="2382012"/>
              <a:ext cx="386791" cy="229514"/>
            </a:xfrm>
            <a:custGeom>
              <a:avLst/>
              <a:gdLst/>
              <a:ahLst/>
              <a:cxnLst/>
              <a:rect l="l" t="t" r="r" b="b"/>
              <a:pathLst>
                <a:path w="386791" h="229514">
                  <a:moveTo>
                    <a:pt x="386791" y="0"/>
                  </a:moveTo>
                  <a:lnTo>
                    <a:pt x="0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" name="Химическая связь 25 bond-14 atom-14 atom-15"/>
            <p:cNvSpPr/>
            <p:nvPr/>
          </p:nvSpPr>
          <p:spPr>
            <a:xfrm>
              <a:off x="8464601" y="2591410"/>
              <a:ext cx="0" cy="189280"/>
            </a:xfrm>
            <a:custGeom>
              <a:avLst/>
              <a:gdLst/>
              <a:ahLst/>
              <a:cxnLst/>
              <a:rect l="l" t="t" r="r" b="b"/>
              <a:pathLst>
                <a:path h="189280">
                  <a:moveTo>
                    <a:pt x="0" y="0"/>
                  </a:moveTo>
                  <a:lnTo>
                    <a:pt x="0" y="18928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" name="Химическая связь 26 bond-14 atom-14 atom-15"/>
            <p:cNvSpPr/>
            <p:nvPr/>
          </p:nvSpPr>
          <p:spPr>
            <a:xfrm>
              <a:off x="8464601" y="2780690"/>
              <a:ext cx="0" cy="188367"/>
            </a:xfrm>
            <a:custGeom>
              <a:avLst/>
              <a:gdLst/>
              <a:ahLst/>
              <a:cxnLst/>
              <a:rect l="l" t="t" r="r" b="b"/>
              <a:pathLst>
                <a:path h="188367">
                  <a:moveTo>
                    <a:pt x="0" y="0"/>
                  </a:moveTo>
                  <a:lnTo>
                    <a:pt x="0" y="188367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" name="Химическая связь 27 bond-14 atom-14 atom-15"/>
            <p:cNvSpPr/>
            <p:nvPr/>
          </p:nvSpPr>
          <p:spPr>
            <a:xfrm>
              <a:off x="8530438" y="2591410"/>
              <a:ext cx="0" cy="189280"/>
            </a:xfrm>
            <a:custGeom>
              <a:avLst/>
              <a:gdLst/>
              <a:ahLst/>
              <a:cxnLst/>
              <a:rect l="l" t="t" r="r" b="b"/>
              <a:pathLst>
                <a:path h="189280">
                  <a:moveTo>
                    <a:pt x="0" y="0"/>
                  </a:moveTo>
                  <a:lnTo>
                    <a:pt x="0" y="18928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" name="Химическая связь 28 bond-14 atom-14 atom-15"/>
            <p:cNvSpPr/>
            <p:nvPr/>
          </p:nvSpPr>
          <p:spPr>
            <a:xfrm>
              <a:off x="8530438" y="2780690"/>
              <a:ext cx="0" cy="188367"/>
            </a:xfrm>
            <a:custGeom>
              <a:avLst/>
              <a:gdLst/>
              <a:ahLst/>
              <a:cxnLst/>
              <a:rect l="l" t="t" r="r" b="b"/>
              <a:pathLst>
                <a:path h="188367">
                  <a:moveTo>
                    <a:pt x="0" y="0"/>
                  </a:moveTo>
                  <a:lnTo>
                    <a:pt x="0" y="188367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" name="Химическая связь 29 bond-15 atom-14 atom-16"/>
            <p:cNvSpPr/>
            <p:nvPr/>
          </p:nvSpPr>
          <p:spPr>
            <a:xfrm>
              <a:off x="8340242" y="2518258"/>
              <a:ext cx="157277" cy="93268"/>
            </a:xfrm>
            <a:custGeom>
              <a:avLst/>
              <a:gdLst/>
              <a:ahLst/>
              <a:cxnLst/>
              <a:rect l="l" t="t" r="r" b="b"/>
              <a:pathLst>
                <a:path w="157277" h="93268">
                  <a:moveTo>
                    <a:pt x="157277" y="93268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" name="Химическая связь 30 bond-15 atom-14 atom-16"/>
            <p:cNvSpPr/>
            <p:nvPr/>
          </p:nvSpPr>
          <p:spPr>
            <a:xfrm>
              <a:off x="8182051" y="2424989"/>
              <a:ext cx="158191" cy="93269"/>
            </a:xfrm>
            <a:custGeom>
              <a:avLst/>
              <a:gdLst/>
              <a:ahLst/>
              <a:cxnLst/>
              <a:rect l="l" t="t" r="r" b="b"/>
              <a:pathLst>
                <a:path w="158191" h="93269">
                  <a:moveTo>
                    <a:pt x="158191" y="9326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" name="Химическая связь 31 bond-16 atom-9 atom-17"/>
            <p:cNvSpPr/>
            <p:nvPr/>
          </p:nvSpPr>
          <p:spPr>
            <a:xfrm>
              <a:off x="9269273" y="2640787"/>
              <a:ext cx="5486" cy="0"/>
            </a:xfrm>
            <a:custGeom>
              <a:avLst/>
              <a:gdLst/>
              <a:ahLst/>
              <a:cxnLst/>
              <a:rect l="l" t="t" r="r" b="b"/>
              <a:pathLst>
                <a:path w="5486">
                  <a:moveTo>
                    <a:pt x="0" y="0"/>
                  </a:moveTo>
                  <a:lnTo>
                    <a:pt x="5486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" name="Химическая связь 32 bond-16 atom-9 atom-17"/>
            <p:cNvSpPr/>
            <p:nvPr/>
          </p:nvSpPr>
          <p:spPr>
            <a:xfrm>
              <a:off x="9267444" y="2670962"/>
              <a:ext cx="9144" cy="0"/>
            </a:xfrm>
            <a:custGeom>
              <a:avLst/>
              <a:gdLst/>
              <a:ahLst/>
              <a:cxnLst/>
              <a:rect l="l" t="t" r="r" b="b"/>
              <a:pathLst>
                <a:path w="9144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" name="Химическая связь 33 bond-16 atom-9 atom-17"/>
            <p:cNvSpPr/>
            <p:nvPr/>
          </p:nvSpPr>
          <p:spPr>
            <a:xfrm>
              <a:off x="9264701" y="2700223"/>
              <a:ext cx="14630" cy="0"/>
            </a:xfrm>
            <a:custGeom>
              <a:avLst/>
              <a:gdLst/>
              <a:ahLst/>
              <a:cxnLst/>
              <a:rect l="l" t="t" r="r" b="b"/>
              <a:pathLst>
                <a:path w="14630">
                  <a:moveTo>
                    <a:pt x="0" y="0"/>
                  </a:moveTo>
                  <a:lnTo>
                    <a:pt x="14630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" name="Химическая связь 34 bond-16 atom-9 atom-17"/>
            <p:cNvSpPr/>
            <p:nvPr/>
          </p:nvSpPr>
          <p:spPr>
            <a:xfrm>
              <a:off x="9262872" y="2729484"/>
              <a:ext cx="18288" cy="0"/>
            </a:xfrm>
            <a:custGeom>
              <a:avLst/>
              <a:gdLst/>
              <a:ahLst/>
              <a:cxnLst/>
              <a:rect l="l" t="t" r="r" b="b"/>
              <a:pathLst>
                <a:path w="18288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" name="Химическая связь 35 bond-16 atom-9 atom-17"/>
            <p:cNvSpPr/>
            <p:nvPr/>
          </p:nvSpPr>
          <p:spPr>
            <a:xfrm>
              <a:off x="9260129" y="2759659"/>
              <a:ext cx="23774" cy="0"/>
            </a:xfrm>
            <a:custGeom>
              <a:avLst/>
              <a:gdLst/>
              <a:ahLst/>
              <a:cxnLst/>
              <a:rect l="l" t="t" r="r" b="b"/>
              <a:pathLst>
                <a:path w="23774">
                  <a:moveTo>
                    <a:pt x="0" y="0"/>
                  </a:moveTo>
                  <a:lnTo>
                    <a:pt x="23774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" name="Химическая связь 36 bond-16 atom-9 atom-17"/>
            <p:cNvSpPr/>
            <p:nvPr/>
          </p:nvSpPr>
          <p:spPr>
            <a:xfrm>
              <a:off x="9257386" y="2788920"/>
              <a:ext cx="29260" cy="0"/>
            </a:xfrm>
            <a:custGeom>
              <a:avLst/>
              <a:gdLst/>
              <a:ahLst/>
              <a:cxnLst/>
              <a:rect l="l" t="t" r="r" b="b"/>
              <a:pathLst>
                <a:path w="29260">
                  <a:moveTo>
                    <a:pt x="0" y="0"/>
                  </a:moveTo>
                  <a:lnTo>
                    <a:pt x="29260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" name="Химическая связь 37 bond-16 atom-9 atom-17"/>
            <p:cNvSpPr/>
            <p:nvPr/>
          </p:nvSpPr>
          <p:spPr>
            <a:xfrm>
              <a:off x="9255557" y="2819095"/>
              <a:ext cx="32918" cy="0"/>
            </a:xfrm>
            <a:custGeom>
              <a:avLst/>
              <a:gdLst/>
              <a:ahLst/>
              <a:cxnLst/>
              <a:rect l="l" t="t" r="r" b="b"/>
              <a:pathLst>
                <a:path w="32918">
                  <a:moveTo>
                    <a:pt x="0" y="0"/>
                  </a:moveTo>
                  <a:lnTo>
                    <a:pt x="32918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" name="Химическая связь 38 bond-16 atom-9 atom-17"/>
            <p:cNvSpPr/>
            <p:nvPr/>
          </p:nvSpPr>
          <p:spPr>
            <a:xfrm>
              <a:off x="9252814" y="2848356"/>
              <a:ext cx="38404" cy="0"/>
            </a:xfrm>
            <a:custGeom>
              <a:avLst/>
              <a:gdLst/>
              <a:ahLst/>
              <a:cxnLst/>
              <a:rect l="l" t="t" r="r" b="b"/>
              <a:pathLst>
                <a:path w="38404">
                  <a:moveTo>
                    <a:pt x="0" y="0"/>
                  </a:moveTo>
                  <a:lnTo>
                    <a:pt x="38404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" name="Химическая связь 39 bond-16 atom-9 atom-17"/>
            <p:cNvSpPr/>
            <p:nvPr/>
          </p:nvSpPr>
          <p:spPr>
            <a:xfrm>
              <a:off x="9250985" y="2877617"/>
              <a:ext cx="42062" cy="0"/>
            </a:xfrm>
            <a:custGeom>
              <a:avLst/>
              <a:gdLst/>
              <a:ahLst/>
              <a:cxnLst/>
              <a:rect l="l" t="t" r="r" b="b"/>
              <a:pathLst>
                <a:path w="42062">
                  <a:moveTo>
                    <a:pt x="0" y="0"/>
                  </a:moveTo>
                  <a:lnTo>
                    <a:pt x="42062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" name="Химическая связь 40 bond-16 atom-9 atom-17"/>
            <p:cNvSpPr/>
            <p:nvPr/>
          </p:nvSpPr>
          <p:spPr>
            <a:xfrm>
              <a:off x="9248242" y="2907792"/>
              <a:ext cx="47548" cy="0"/>
            </a:xfrm>
            <a:custGeom>
              <a:avLst/>
              <a:gdLst/>
              <a:ahLst/>
              <a:cxnLst/>
              <a:rect l="l" t="t" r="r" b="b"/>
              <a:pathLst>
                <a:path w="47548">
                  <a:moveTo>
                    <a:pt x="0" y="0"/>
                  </a:moveTo>
                  <a:lnTo>
                    <a:pt x="47548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" name="Химическая связь 41 bond-16 atom-9 atom-17"/>
            <p:cNvSpPr/>
            <p:nvPr/>
          </p:nvSpPr>
          <p:spPr>
            <a:xfrm>
              <a:off x="9245498" y="2937053"/>
              <a:ext cx="53036" cy="0"/>
            </a:xfrm>
            <a:custGeom>
              <a:avLst/>
              <a:gdLst/>
              <a:ahLst/>
              <a:cxnLst/>
              <a:rect l="l" t="t" r="r" b="b"/>
              <a:pathLst>
                <a:path w="53036">
                  <a:moveTo>
                    <a:pt x="0" y="0"/>
                  </a:moveTo>
                  <a:lnTo>
                    <a:pt x="53036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" name="Химическая связь 42 bond-16 atom-9 atom-17"/>
            <p:cNvSpPr/>
            <p:nvPr/>
          </p:nvSpPr>
          <p:spPr>
            <a:xfrm>
              <a:off x="9243670" y="2967228"/>
              <a:ext cx="56692" cy="0"/>
            </a:xfrm>
            <a:custGeom>
              <a:avLst/>
              <a:gdLst/>
              <a:ahLst/>
              <a:cxnLst/>
              <a:rect l="l" t="t" r="r" b="b"/>
              <a:pathLst>
                <a:path w="56692">
                  <a:moveTo>
                    <a:pt x="0" y="0"/>
                  </a:moveTo>
                  <a:lnTo>
                    <a:pt x="56692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" name="Химическая связь 43 bond-16 atom-9 atom-17"/>
            <p:cNvSpPr/>
            <p:nvPr/>
          </p:nvSpPr>
          <p:spPr>
            <a:xfrm>
              <a:off x="9240926" y="2996489"/>
              <a:ext cx="62180" cy="0"/>
            </a:xfrm>
            <a:custGeom>
              <a:avLst/>
              <a:gdLst/>
              <a:ahLst/>
              <a:cxnLst/>
              <a:rect l="l" t="t" r="r" b="b"/>
              <a:pathLst>
                <a:path w="62180">
                  <a:moveTo>
                    <a:pt x="0" y="0"/>
                  </a:moveTo>
                  <a:lnTo>
                    <a:pt x="62180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" name="Химическая связь 44 bond-16 atom-9 atom-17"/>
            <p:cNvSpPr/>
            <p:nvPr/>
          </p:nvSpPr>
          <p:spPr>
            <a:xfrm>
              <a:off x="9239098" y="3025750"/>
              <a:ext cx="65836" cy="0"/>
            </a:xfrm>
            <a:custGeom>
              <a:avLst/>
              <a:gdLst/>
              <a:ahLst/>
              <a:cxnLst/>
              <a:rect l="l" t="t" r="r" b="b"/>
              <a:pathLst>
                <a:path w="65836">
                  <a:moveTo>
                    <a:pt x="0" y="0"/>
                  </a:moveTo>
                  <a:lnTo>
                    <a:pt x="65836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" name="Химическая связь 45 bond-17 atom-17 atom-18"/>
            <p:cNvSpPr/>
            <p:nvPr/>
          </p:nvSpPr>
          <p:spPr>
            <a:xfrm>
              <a:off x="9272016" y="3055925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0" y="0"/>
                  </a:moveTo>
                  <a:lnTo>
                    <a:pt x="387706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" name="Химическая связь 46 bond-17 atom-17 atom-18"/>
            <p:cNvSpPr/>
            <p:nvPr/>
          </p:nvSpPr>
          <p:spPr>
            <a:xfrm>
              <a:off x="9272016" y="3133649"/>
              <a:ext cx="320954" cy="190195"/>
            </a:xfrm>
            <a:custGeom>
              <a:avLst/>
              <a:gdLst/>
              <a:ahLst/>
              <a:cxnLst/>
              <a:rect l="l" t="t" r="r" b="b"/>
              <a:pathLst>
                <a:path w="320954" h="190195">
                  <a:moveTo>
                    <a:pt x="0" y="0"/>
                  </a:moveTo>
                  <a:lnTo>
                    <a:pt x="320954" y="19019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" name="Химическая связь 47 bond-18 atom-18 atom-19"/>
            <p:cNvSpPr/>
            <p:nvPr/>
          </p:nvSpPr>
          <p:spPr>
            <a:xfrm>
              <a:off x="9659722" y="3285439"/>
              <a:ext cx="0" cy="444399"/>
            </a:xfrm>
            <a:custGeom>
              <a:avLst/>
              <a:gdLst/>
              <a:ahLst/>
              <a:cxnLst/>
              <a:rect l="l" t="t" r="r" b="b"/>
              <a:pathLst>
                <a:path h="444399">
                  <a:moveTo>
                    <a:pt x="0" y="0"/>
                  </a:moveTo>
                  <a:lnTo>
                    <a:pt x="0" y="444399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" name="Химическая связь 48 bond-19 atom-19 atom-20"/>
            <p:cNvSpPr/>
            <p:nvPr/>
          </p:nvSpPr>
          <p:spPr>
            <a:xfrm>
              <a:off x="9272016" y="3729838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387706" y="0"/>
                  </a:moveTo>
                  <a:lnTo>
                    <a:pt x="0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" name="Химическая связь 49 bond-19 atom-19 atom-20"/>
            <p:cNvSpPr/>
            <p:nvPr/>
          </p:nvSpPr>
          <p:spPr>
            <a:xfrm>
              <a:off x="9272016" y="3692347"/>
              <a:ext cx="320954" cy="190195"/>
            </a:xfrm>
            <a:custGeom>
              <a:avLst/>
              <a:gdLst/>
              <a:ahLst/>
              <a:cxnLst/>
              <a:rect l="l" t="t" r="r" b="b"/>
              <a:pathLst>
                <a:path w="320954" h="190195">
                  <a:moveTo>
                    <a:pt x="320954" y="0"/>
                  </a:moveTo>
                  <a:lnTo>
                    <a:pt x="0" y="19019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" name="Химическая связь 50 bond-20 atom-20 atom-21"/>
            <p:cNvSpPr/>
            <p:nvPr/>
          </p:nvSpPr>
          <p:spPr>
            <a:xfrm>
              <a:off x="8884310" y="3729838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387706" y="229514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" name="Химическая связь 51 bond-21 atom-21 atom-22"/>
            <p:cNvSpPr/>
            <p:nvPr/>
          </p:nvSpPr>
          <p:spPr>
            <a:xfrm>
              <a:off x="8884310" y="3285439"/>
              <a:ext cx="0" cy="444399"/>
            </a:xfrm>
            <a:custGeom>
              <a:avLst/>
              <a:gdLst/>
              <a:ahLst/>
              <a:cxnLst/>
              <a:rect l="l" t="t" r="r" b="b"/>
              <a:pathLst>
                <a:path h="444399">
                  <a:moveTo>
                    <a:pt x="0" y="44439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" name="Химическая связь 52 bond-21 atom-21 atom-22"/>
            <p:cNvSpPr/>
            <p:nvPr/>
          </p:nvSpPr>
          <p:spPr>
            <a:xfrm>
              <a:off x="8951062" y="3323844"/>
              <a:ext cx="0" cy="368503"/>
            </a:xfrm>
            <a:custGeom>
              <a:avLst/>
              <a:gdLst/>
              <a:ahLst/>
              <a:cxnLst/>
              <a:rect l="l" t="t" r="r" b="b"/>
              <a:pathLst>
                <a:path h="368503">
                  <a:moveTo>
                    <a:pt x="0" y="368503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" name="Химическая связь 53 bond-22 atom-20 atom-23"/>
            <p:cNvSpPr/>
            <p:nvPr/>
          </p:nvSpPr>
          <p:spPr>
            <a:xfrm>
              <a:off x="9272016" y="3959352"/>
              <a:ext cx="0" cy="416052"/>
            </a:xfrm>
            <a:custGeom>
              <a:avLst/>
              <a:gdLst/>
              <a:ahLst/>
              <a:cxnLst/>
              <a:rect l="l" t="t" r="r" b="b"/>
              <a:pathLst>
                <a:path h="416052">
                  <a:moveTo>
                    <a:pt x="0" y="0"/>
                  </a:moveTo>
                  <a:lnTo>
                    <a:pt x="0" y="416052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" name="Химическая связь 54 bond-23 atom-23 atom-24"/>
            <p:cNvSpPr/>
            <p:nvPr/>
          </p:nvSpPr>
          <p:spPr>
            <a:xfrm>
              <a:off x="9272016" y="4375404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" name="Химическая связь 55 bond-23 atom-23 atom-24"/>
            <p:cNvSpPr/>
            <p:nvPr/>
          </p:nvSpPr>
          <p:spPr>
            <a:xfrm>
              <a:off x="9272016" y="4539996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" name="Химическая связь 56 bond-23 atom-23 atom-24"/>
            <p:cNvSpPr/>
            <p:nvPr/>
          </p:nvSpPr>
          <p:spPr>
            <a:xfrm>
              <a:off x="9338767" y="4375404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" name="Химическая связь 57 bond-23 atom-23 atom-24"/>
            <p:cNvSpPr/>
            <p:nvPr/>
          </p:nvSpPr>
          <p:spPr>
            <a:xfrm>
              <a:off x="9338767" y="4539996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" name="Химическая связь 58 bond-23 atom-23 atom-24"/>
            <p:cNvSpPr/>
            <p:nvPr/>
          </p:nvSpPr>
          <p:spPr>
            <a:xfrm>
              <a:off x="9205265" y="4375404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" name="Химическая связь 59 bond-23 atom-23 atom-24"/>
            <p:cNvSpPr/>
            <p:nvPr/>
          </p:nvSpPr>
          <p:spPr>
            <a:xfrm>
              <a:off x="9205265" y="4539996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" name="Химическая связь 60 bond-24 atom-18 atom-25"/>
            <p:cNvSpPr/>
            <p:nvPr/>
          </p:nvSpPr>
          <p:spPr>
            <a:xfrm>
              <a:off x="9659722" y="3285439"/>
              <a:ext cx="170992" cy="23775"/>
            </a:xfrm>
            <a:custGeom>
              <a:avLst/>
              <a:gdLst/>
              <a:ahLst/>
              <a:cxnLst/>
              <a:rect l="l" t="t" r="r" b="b"/>
              <a:pathLst>
                <a:path w="170992" h="23775">
                  <a:moveTo>
                    <a:pt x="0" y="0"/>
                  </a:moveTo>
                  <a:lnTo>
                    <a:pt x="170992" y="2377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" name="Химическая связь 61 bond-24 atom-18 atom-25"/>
            <p:cNvSpPr/>
            <p:nvPr/>
          </p:nvSpPr>
          <p:spPr>
            <a:xfrm>
              <a:off x="9830714" y="3309214"/>
              <a:ext cx="171908" cy="23774"/>
            </a:xfrm>
            <a:custGeom>
              <a:avLst/>
              <a:gdLst/>
              <a:ahLst/>
              <a:cxnLst/>
              <a:rect l="l" t="t" r="r" b="b"/>
              <a:pathLst>
                <a:path w="171908" h="23774">
                  <a:moveTo>
                    <a:pt x="0" y="0"/>
                  </a:moveTo>
                  <a:lnTo>
                    <a:pt x="171908" y="23774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" name="Химическая связь 62 bond-25 atom-25 atom-26"/>
            <p:cNvSpPr/>
            <p:nvPr/>
          </p:nvSpPr>
          <p:spPr>
            <a:xfrm>
              <a:off x="10094062" y="3453689"/>
              <a:ext cx="26517" cy="160020"/>
            </a:xfrm>
            <a:custGeom>
              <a:avLst/>
              <a:gdLst/>
              <a:ahLst/>
              <a:cxnLst/>
              <a:rect l="l" t="t" r="r" b="b"/>
              <a:pathLst>
                <a:path w="26517" h="160020">
                  <a:moveTo>
                    <a:pt x="0" y="0"/>
                  </a:moveTo>
                  <a:lnTo>
                    <a:pt x="26517" y="160020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1" name="Химическая связь 63 bond-25 atom-25 atom-26"/>
            <p:cNvSpPr/>
            <p:nvPr/>
          </p:nvSpPr>
          <p:spPr>
            <a:xfrm>
              <a:off x="10120579" y="3613709"/>
              <a:ext cx="26518" cy="159105"/>
            </a:xfrm>
            <a:custGeom>
              <a:avLst/>
              <a:gdLst/>
              <a:ahLst/>
              <a:cxnLst/>
              <a:rect l="l" t="t" r="r" b="b"/>
              <a:pathLst>
                <a:path w="26518" h="159105">
                  <a:moveTo>
                    <a:pt x="0" y="0"/>
                  </a:moveTo>
                  <a:lnTo>
                    <a:pt x="26518" y="15910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2" name="Химическая связь 64 bond-26 atom-6 atom-27"/>
            <p:cNvSpPr/>
            <p:nvPr/>
          </p:nvSpPr>
          <p:spPr>
            <a:xfrm>
              <a:off x="10046513" y="1249070"/>
              <a:ext cx="0" cy="444399"/>
            </a:xfrm>
            <a:custGeom>
              <a:avLst/>
              <a:gdLst/>
              <a:ahLst/>
              <a:cxnLst/>
              <a:rect l="l" t="t" r="r" b="b"/>
              <a:pathLst>
                <a:path h="444399">
                  <a:moveTo>
                    <a:pt x="0" y="44439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3" name="Химическая связь 65 bond-27 atom-8 atom-3"/>
            <p:cNvSpPr/>
            <p:nvPr/>
          </p:nvSpPr>
          <p:spPr>
            <a:xfrm>
              <a:off x="9659722" y="2382012"/>
              <a:ext cx="386791" cy="229514"/>
            </a:xfrm>
            <a:custGeom>
              <a:avLst/>
              <a:gdLst/>
              <a:ahLst/>
              <a:cxnLst/>
              <a:rect l="l" t="t" r="r" b="b"/>
              <a:pathLst>
                <a:path w="386791" h="229514">
                  <a:moveTo>
                    <a:pt x="0" y="0"/>
                  </a:moveTo>
                  <a:lnTo>
                    <a:pt x="386791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4" name="Химическая связь 66 bond-28 atom-12 atom-7"/>
            <p:cNvSpPr/>
            <p:nvPr/>
          </p:nvSpPr>
          <p:spPr>
            <a:xfrm>
              <a:off x="9344254" y="1736446"/>
              <a:ext cx="157276" cy="93268"/>
            </a:xfrm>
            <a:custGeom>
              <a:avLst/>
              <a:gdLst/>
              <a:ahLst/>
              <a:cxnLst/>
              <a:rect l="l" t="t" r="r" b="b"/>
              <a:pathLst>
                <a:path w="157276" h="93268">
                  <a:moveTo>
                    <a:pt x="0" y="0"/>
                  </a:moveTo>
                  <a:lnTo>
                    <a:pt x="157276" y="93268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5" name="Химическая связь 67 bond-28 atom-12 atom-7"/>
            <p:cNvSpPr/>
            <p:nvPr/>
          </p:nvSpPr>
          <p:spPr>
            <a:xfrm>
              <a:off x="9501530" y="1829714"/>
              <a:ext cx="158192" cy="93269"/>
            </a:xfrm>
            <a:custGeom>
              <a:avLst/>
              <a:gdLst/>
              <a:ahLst/>
              <a:cxnLst/>
              <a:rect l="l" t="t" r="r" b="b"/>
              <a:pathLst>
                <a:path w="158192" h="93269">
                  <a:moveTo>
                    <a:pt x="0" y="0"/>
                  </a:moveTo>
                  <a:lnTo>
                    <a:pt x="158192" y="93269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6" name="Химическая связь 68 bond-29 atom-22 atom-17"/>
            <p:cNvSpPr/>
            <p:nvPr/>
          </p:nvSpPr>
          <p:spPr>
            <a:xfrm>
              <a:off x="8884310" y="3055925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0" y="229514"/>
                  </a:moveTo>
                  <a:lnTo>
                    <a:pt x="387706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7" name="Химическая связь 69 "/>
            <p:cNvSpPr/>
            <p:nvPr/>
          </p:nvSpPr>
          <p:spPr>
            <a:xfrm>
              <a:off x="10725912" y="2912364"/>
              <a:ext cx="25603" cy="15545"/>
            </a:xfrm>
            <a:custGeom>
              <a:avLst/>
              <a:gdLst/>
              <a:ahLst/>
              <a:cxnLst/>
              <a:rect l="l" t="t" r="r" b="b"/>
              <a:pathLst>
                <a:path w="25603" h="15545">
                  <a:moveTo>
                    <a:pt x="25603" y="15545"/>
                  </a:moveTo>
                  <a:lnTo>
                    <a:pt x="9144" y="0"/>
                  </a:lnTo>
                  <a:lnTo>
                    <a:pt x="0" y="9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8" name="Химическая связь 70 "/>
            <p:cNvSpPr/>
            <p:nvPr/>
          </p:nvSpPr>
          <p:spPr>
            <a:xfrm>
              <a:off x="10414102" y="1911096"/>
              <a:ext cx="20116" cy="21031"/>
            </a:xfrm>
            <a:custGeom>
              <a:avLst/>
              <a:gdLst/>
              <a:ahLst/>
              <a:cxnLst/>
              <a:rect l="l" t="t" r="r" b="b"/>
              <a:pathLst>
                <a:path w="20116" h="21031">
                  <a:moveTo>
                    <a:pt x="20116" y="21031"/>
                  </a:moveTo>
                  <a:lnTo>
                    <a:pt x="20116" y="11887"/>
                  </a:ln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9" name="Химическая связь 71 "/>
            <p:cNvSpPr/>
            <p:nvPr/>
          </p:nvSpPr>
          <p:spPr>
            <a:xfrm>
              <a:off x="9252814" y="2599639"/>
              <a:ext cx="38404" cy="11887"/>
            </a:xfrm>
            <a:custGeom>
              <a:avLst/>
              <a:gdLst/>
              <a:ahLst/>
              <a:cxnLst/>
              <a:rect l="l" t="t" r="r" b="b"/>
              <a:pathLst>
                <a:path w="38404" h="11887">
                  <a:moveTo>
                    <a:pt x="38404" y="0"/>
                  </a:moveTo>
                  <a:lnTo>
                    <a:pt x="19202" y="11887"/>
                  </a:ln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0" name="Химическая связь 72 "/>
            <p:cNvSpPr/>
            <p:nvPr/>
          </p:nvSpPr>
          <p:spPr>
            <a:xfrm>
              <a:off x="8489290" y="2599639"/>
              <a:ext cx="27432" cy="11887"/>
            </a:xfrm>
            <a:custGeom>
              <a:avLst/>
              <a:gdLst/>
              <a:ahLst/>
              <a:cxnLst/>
              <a:rect l="l" t="t" r="r" b="b"/>
              <a:pathLst>
                <a:path w="27432" h="11887">
                  <a:moveTo>
                    <a:pt x="27432" y="0"/>
                  </a:moveTo>
                  <a:lnTo>
                    <a:pt x="8229" y="11887"/>
                  </a:lnTo>
                  <a:lnTo>
                    <a:pt x="0" y="731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1" name="Химическая связь 73 "/>
            <p:cNvSpPr/>
            <p:nvPr/>
          </p:nvSpPr>
          <p:spPr>
            <a:xfrm>
              <a:off x="9252814" y="3055925"/>
              <a:ext cx="38404" cy="11887"/>
            </a:xfrm>
            <a:custGeom>
              <a:avLst/>
              <a:gdLst/>
              <a:ahLst/>
              <a:cxnLst/>
              <a:rect l="l" t="t" r="r" b="b"/>
              <a:pathLst>
                <a:path w="38404" h="11887">
                  <a:moveTo>
                    <a:pt x="38404" y="11887"/>
                  </a:moveTo>
                  <a:lnTo>
                    <a:pt x="19202" y="0"/>
                  </a:lnTo>
                  <a:lnTo>
                    <a:pt x="0" y="11887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2" name="Химическая связь 74 "/>
            <p:cNvSpPr/>
            <p:nvPr/>
          </p:nvSpPr>
          <p:spPr>
            <a:xfrm>
              <a:off x="9639605" y="3707892"/>
              <a:ext cx="20117" cy="33833"/>
            </a:xfrm>
            <a:custGeom>
              <a:avLst/>
              <a:gdLst/>
              <a:ahLst/>
              <a:cxnLst/>
              <a:rect l="l" t="t" r="r" b="b"/>
              <a:pathLst>
                <a:path w="20117" h="33833">
                  <a:moveTo>
                    <a:pt x="20117" y="0"/>
                  </a:moveTo>
                  <a:lnTo>
                    <a:pt x="20117" y="21946"/>
                  </a:lnTo>
                  <a:lnTo>
                    <a:pt x="0" y="33833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3" name="Химическая связь 75 "/>
            <p:cNvSpPr/>
            <p:nvPr/>
          </p:nvSpPr>
          <p:spPr>
            <a:xfrm>
              <a:off x="8884310" y="3707892"/>
              <a:ext cx="20117" cy="33833"/>
            </a:xfrm>
            <a:custGeom>
              <a:avLst/>
              <a:gdLst/>
              <a:ahLst/>
              <a:cxnLst/>
              <a:rect l="l" t="t" r="r" b="b"/>
              <a:pathLst>
                <a:path w="20117" h="33833">
                  <a:moveTo>
                    <a:pt x="20117" y="33833"/>
                  </a:moveTo>
                  <a:lnTo>
                    <a:pt x="0" y="21946"/>
                  </a:ln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4" name="Химическая связь 76 "/>
            <p:cNvSpPr/>
            <p:nvPr/>
          </p:nvSpPr>
          <p:spPr>
            <a:xfrm>
              <a:off x="8884310" y="3273552"/>
              <a:ext cx="20117" cy="33833"/>
            </a:xfrm>
            <a:custGeom>
              <a:avLst/>
              <a:gdLst/>
              <a:ahLst/>
              <a:cxnLst/>
              <a:rect l="l" t="t" r="r" b="b"/>
              <a:pathLst>
                <a:path w="20117" h="33833">
                  <a:moveTo>
                    <a:pt x="0" y="33833"/>
                  </a:moveTo>
                  <a:lnTo>
                    <a:pt x="0" y="11887"/>
                  </a:lnTo>
                  <a:lnTo>
                    <a:pt x="20117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5" name="Химическая связь 77 "/>
            <p:cNvSpPr/>
            <p:nvPr/>
          </p:nvSpPr>
          <p:spPr>
            <a:xfrm>
              <a:off x="9272016" y="4354373"/>
              <a:ext cx="0" cy="29261"/>
            </a:xfrm>
            <a:custGeom>
              <a:avLst/>
              <a:gdLst/>
              <a:ahLst/>
              <a:cxnLst/>
              <a:rect l="l" t="t" r="r" b="b"/>
              <a:pathLst>
                <a:path h="29261">
                  <a:moveTo>
                    <a:pt x="0" y="0"/>
                  </a:moveTo>
                  <a:lnTo>
                    <a:pt x="0" y="21031"/>
                  </a:lnTo>
                  <a:lnTo>
                    <a:pt x="0" y="29261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6" name="Атом 1: O"/>
            <p:cNvSpPr txBox="1"/>
            <p:nvPr/>
          </p:nvSpPr>
          <p:spPr>
            <a:xfrm>
              <a:off x="10233050" y="2860974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FF0000"/>
                  </a:solidFill>
                  <a:latin typeface="Arial"/>
                </a:rPr>
                <a:t>O</a:t>
              </a:r>
            </a:p>
          </p:txBody>
        </p:sp>
        <p:sp>
          <p:nvSpPr>
            <p:cNvPr id="87" name="Атом 2: N"/>
            <p:cNvSpPr txBox="1"/>
            <p:nvPr/>
          </p:nvSpPr>
          <p:spPr>
            <a:xfrm>
              <a:off x="10376611" y="2301361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N</a:t>
              </a:r>
            </a:p>
          </p:txBody>
        </p:sp>
        <p:sp>
          <p:nvSpPr>
            <p:cNvPr id="88" name="Атом 3: N"/>
            <p:cNvSpPr txBox="1"/>
            <p:nvPr/>
          </p:nvSpPr>
          <p:spPr>
            <a:xfrm>
              <a:off x="9214408" y="1612818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N</a:t>
              </a:r>
            </a:p>
          </p:txBody>
        </p:sp>
        <p:sp>
          <p:nvSpPr>
            <p:cNvPr id="89" name="Атом 4: H"/>
            <p:cNvSpPr txBox="1"/>
            <p:nvPr/>
          </p:nvSpPr>
          <p:spPr>
            <a:xfrm>
              <a:off x="9214408" y="1443654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H</a:t>
              </a:r>
            </a:p>
          </p:txBody>
        </p:sp>
        <p:sp>
          <p:nvSpPr>
            <p:cNvPr id="90" name="Атом 5: O"/>
            <p:cNvSpPr txBox="1"/>
            <p:nvPr/>
          </p:nvSpPr>
          <p:spPr>
            <a:xfrm>
              <a:off x="8439912" y="2960644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FF0000"/>
                  </a:solidFill>
                  <a:latin typeface="Arial"/>
                </a:rPr>
                <a:t>O</a:t>
              </a:r>
            </a:p>
          </p:txBody>
        </p:sp>
        <p:sp>
          <p:nvSpPr>
            <p:cNvPr id="91" name="Атом 6: H"/>
            <p:cNvSpPr txBox="1"/>
            <p:nvPr/>
          </p:nvSpPr>
          <p:spPr>
            <a:xfrm>
              <a:off x="7858353" y="2301361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H</a:t>
              </a:r>
            </a:p>
          </p:txBody>
        </p:sp>
        <p:sp>
          <p:nvSpPr>
            <p:cNvPr id="92" name="Атом 7: 2"/>
            <p:cNvSpPr txBox="1"/>
            <p:nvPr/>
          </p:nvSpPr>
          <p:spPr>
            <a:xfrm>
              <a:off x="7990941" y="2445471"/>
              <a:ext cx="106984" cy="152156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936" b="0">
                  <a:solidFill>
                    <a:srgbClr val="0000FF"/>
                  </a:solidFill>
                  <a:latin typeface="Arial"/>
                </a:rPr>
                <a:t>2</a:t>
              </a:r>
            </a:p>
          </p:txBody>
        </p:sp>
        <p:sp>
          <p:nvSpPr>
            <p:cNvPr id="93" name="Атом 8: N"/>
            <p:cNvSpPr txBox="1"/>
            <p:nvPr/>
          </p:nvSpPr>
          <p:spPr>
            <a:xfrm>
              <a:off x="8052206" y="2301361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N</a:t>
              </a:r>
            </a:p>
          </p:txBody>
        </p:sp>
        <p:sp>
          <p:nvSpPr>
            <p:cNvPr id="94" name="Атом 9: N"/>
            <p:cNvSpPr txBox="1"/>
            <p:nvPr/>
          </p:nvSpPr>
          <p:spPr>
            <a:xfrm>
              <a:off x="9214408" y="4696175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N</a:t>
              </a:r>
            </a:p>
          </p:txBody>
        </p:sp>
        <p:sp>
          <p:nvSpPr>
            <p:cNvPr id="95" name="Атом 10: O"/>
            <p:cNvSpPr txBox="1"/>
            <p:nvPr/>
          </p:nvSpPr>
          <p:spPr>
            <a:xfrm>
              <a:off x="10017252" y="3262396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FF0000"/>
                  </a:solidFill>
                  <a:latin typeface="Arial"/>
                </a:rPr>
                <a:t>O</a:t>
              </a:r>
            </a:p>
          </p:txBody>
        </p:sp>
      </p:grpSp>
      <p:sp>
        <p:nvSpPr>
          <p:cNvPr id="96" name="Класс препарата"/>
          <p:cNvSpPr txBox="1"/>
          <p:nvPr/>
        </p:nvSpPr>
        <p:spPr>
          <a:xfrm>
            <a:off x="6931152" y="5175504"/>
            <a:ext cx="4983480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Нестероидный антагонист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минералокортикоидного рецептора (МКР)</a:t>
            </a:r>
          </a:p>
        </p:txBody>
      </p:sp>
      <p:sp>
        <p:nvSpPr>
          <p:cNvPr id="97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PubChem. Finerenone.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Финеренон-Орвилле. Инструкция по медицинскому применению.</a:t>
            </a:r>
          </a:p>
        </p:txBody>
      </p:sp>
      <p:pic>
        <p:nvPicPr>
          <p:cNvPr id="98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99" name="Маркировка"/>
          <p:cNvSpPr txBox="1"/>
          <p:nvPr/>
        </p:nvSpPr>
        <p:spPr>
          <a:xfrm>
            <a:off x="838200" y="5816600"/>
            <a:ext cx="6096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595959"/>
                </a:solidFill>
                <a:latin typeface="Arial Narrow"/>
                <a:cs typeface="Arial Narrow"/>
              </a:rPr>
              <a:t>Только для внутреннего обучения медицинских представителей. Не для показа и передачи специалистам здравоохранения.</a:t>
            </a:r>
          </a:p>
        </p:txBody>
      </p:sp>
    </p:spTree>
    <p:extLst>
      <p:ext uri="{BB962C8B-B14F-4D97-AF65-F5344CB8AC3E}">
        <p14:creationId xmlns:p14="http://schemas.microsoft.com/office/powerpoint/2010/main" val="1524615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_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 dirty="0">
                <a:solidFill>
                  <a:srgbClr val="7030A0"/>
                </a:solidFill>
                <a:latin typeface="Arial Narrow"/>
                <a:cs typeface="Arial Narrow"/>
              </a:rPr>
              <a:t>Альбуминурия и повышение калия: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 dirty="0">
                <a:solidFill>
                  <a:srgbClr val="7030A0"/>
                </a:solidFill>
                <a:latin typeface="Arial Narrow"/>
                <a:cs typeface="Arial Narrow"/>
              </a:rPr>
              <a:t>два вопроса для обсуждения</a:t>
            </a:r>
          </a:p>
        </p:txBody>
      </p:sp>
      <p:grpSp>
        <p:nvGrpSpPr>
          <p:cNvPr id="5" name="Исходный_визуал_S13_1"/>
          <p:cNvGrpSpPr/>
          <p:nvPr/>
        </p:nvGrpSpPr>
        <p:grpSpPr>
          <a:xfrm>
            <a:off x="952500" y="1758950"/>
            <a:ext cx="1554480" cy="1157678"/>
            <a:chOff x="548640" y="4507992"/>
            <a:chExt cx="1737360" cy="1293876"/>
          </a:xfrm>
        </p:grpSpPr>
        <p:grpSp>
          <p:nvGrpSpPr>
            <p:cNvPr id="6" name="Urine_illustration_editable"/>
            <p:cNvGrpSpPr/>
            <p:nvPr/>
          </p:nvGrpSpPr>
          <p:grpSpPr>
            <a:xfrm>
              <a:off x="548640" y="4507992"/>
              <a:ext cx="1737360" cy="1293876"/>
              <a:chOff x="548640" y="4507992"/>
              <a:chExt cx="1737360" cy="1293876"/>
            </a:xfrm>
          </p:grpSpPr>
          <p:sp>
            <p:nvSpPr>
              <p:cNvPr id="7" name="Urine_cup"/>
              <p:cNvSpPr/>
              <p:nvPr/>
            </p:nvSpPr>
            <p:spPr>
              <a:xfrm>
                <a:off x="598018" y="4734763"/>
                <a:ext cx="918058" cy="106710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1167">
                    <a:moveTo>
                      <a:pt x="0" y="0"/>
                    </a:moveTo>
                    <a:lnTo>
                      <a:pt x="1004" y="0"/>
                    </a:lnTo>
                    <a:lnTo>
                      <a:pt x="875" y="1167"/>
                    </a:lnTo>
                    <a:lnTo>
                      <a:pt x="130" y="1167"/>
                    </a:lnTo>
                    <a:close/>
                  </a:path>
                </a:pathLst>
              </a:cu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8" name="Urine_urine"/>
              <p:cNvSpPr/>
              <p:nvPr/>
            </p:nvSpPr>
            <p:spPr>
              <a:xfrm>
                <a:off x="667512" y="5189220"/>
                <a:ext cx="779983" cy="533095"/>
              </a:xfrm>
              <a:custGeom>
                <a:avLst/>
                <a:gdLst/>
                <a:ahLst/>
                <a:cxnLst/>
                <a:rect l="l" t="t" r="r" b="b"/>
                <a:pathLst>
                  <a:path w="853" h="583">
                    <a:moveTo>
                      <a:pt x="0" y="0"/>
                    </a:moveTo>
                    <a:lnTo>
                      <a:pt x="853" y="0"/>
                    </a:lnTo>
                    <a:lnTo>
                      <a:pt x="788" y="583"/>
                    </a:lnTo>
                    <a:lnTo>
                      <a:pt x="64" y="583"/>
                    </a:lnTo>
                    <a:close/>
                  </a:path>
                </a:pathLst>
              </a:custGeom>
              <a:solidFill>
                <a:srgbClr val="FFF2C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9" name="Urine_surface"/>
              <p:cNvSpPr/>
              <p:nvPr/>
            </p:nvSpPr>
            <p:spPr>
              <a:xfrm>
                <a:off x="667146" y="5149900"/>
                <a:ext cx="780166" cy="128381"/>
              </a:xfrm>
              <a:prstGeom prst="ellipse">
                <a:avLst/>
              </a:prstGeom>
              <a:solidFill>
                <a:srgbClr val="EBC96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10" name="Urine_lid"/>
              <p:cNvSpPr/>
              <p:nvPr/>
            </p:nvSpPr>
            <p:spPr>
              <a:xfrm>
                <a:off x="548640" y="4507992"/>
                <a:ext cx="1017178" cy="296265"/>
              </a:xfrm>
              <a:prstGeom prst="roundRect">
                <a:avLst/>
              </a:prstGeom>
              <a:solidFill>
                <a:srgbClr val="C8104E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11" name="Urine_ridge1"/>
              <p:cNvCxnSpPr/>
              <p:nvPr/>
            </p:nvCxnSpPr>
            <p:spPr>
              <a:xfrm>
                <a:off x="62863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2" name="Urine_ridge2"/>
              <p:cNvCxnSpPr/>
              <p:nvPr/>
            </p:nvCxnSpPr>
            <p:spPr>
              <a:xfrm>
                <a:off x="70862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3" name="Urine_ridge3"/>
              <p:cNvCxnSpPr/>
              <p:nvPr/>
            </p:nvCxnSpPr>
            <p:spPr>
              <a:xfrm>
                <a:off x="78861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4" name="Urine_ridge4"/>
              <p:cNvCxnSpPr/>
              <p:nvPr/>
            </p:nvCxnSpPr>
            <p:spPr>
              <a:xfrm>
                <a:off x="868606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5" name="Urine_ridge5"/>
              <p:cNvCxnSpPr/>
              <p:nvPr/>
            </p:nvCxnSpPr>
            <p:spPr>
              <a:xfrm>
                <a:off x="94859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6" name="Urine_ridge6"/>
              <p:cNvCxnSpPr/>
              <p:nvPr/>
            </p:nvCxnSpPr>
            <p:spPr>
              <a:xfrm>
                <a:off x="1028590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7" name="Urine_ridge7"/>
              <p:cNvCxnSpPr/>
              <p:nvPr/>
            </p:nvCxnSpPr>
            <p:spPr>
              <a:xfrm>
                <a:off x="110858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8" name="Urine_ridge8"/>
              <p:cNvCxnSpPr/>
              <p:nvPr/>
            </p:nvCxnSpPr>
            <p:spPr>
              <a:xfrm>
                <a:off x="118857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9" name="Urine_ridge9"/>
              <p:cNvCxnSpPr/>
              <p:nvPr/>
            </p:nvCxnSpPr>
            <p:spPr>
              <a:xfrm>
                <a:off x="126856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20" name="Urine_ridge10"/>
              <p:cNvCxnSpPr/>
              <p:nvPr/>
            </p:nvCxnSpPr>
            <p:spPr>
              <a:xfrm>
                <a:off x="1348557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21" name="Urine_ridge11"/>
              <p:cNvCxnSpPr/>
              <p:nvPr/>
            </p:nvCxnSpPr>
            <p:spPr>
              <a:xfrm>
                <a:off x="142854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sp>
            <p:nvSpPr>
              <p:cNvPr id="22" name="Urine_label"/>
              <p:cNvSpPr/>
              <p:nvPr/>
            </p:nvSpPr>
            <p:spPr>
              <a:xfrm>
                <a:off x="775776" y="4991892"/>
                <a:ext cx="562904" cy="36539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23" name="Urine_barcode0"/>
              <p:cNvCxnSpPr/>
              <p:nvPr/>
            </p:nvCxnSpPr>
            <p:spPr>
              <a:xfrm>
                <a:off x="864656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4" name="Urine_barcode1"/>
              <p:cNvCxnSpPr/>
              <p:nvPr/>
            </p:nvCxnSpPr>
            <p:spPr>
              <a:xfrm>
                <a:off x="917984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5" name="Urine_barcode2"/>
              <p:cNvCxnSpPr/>
              <p:nvPr/>
            </p:nvCxnSpPr>
            <p:spPr>
              <a:xfrm>
                <a:off x="971312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6" name="Urine_barcode3"/>
              <p:cNvCxnSpPr/>
              <p:nvPr/>
            </p:nvCxnSpPr>
            <p:spPr>
              <a:xfrm>
                <a:off x="1024640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7" name="Urine_barcode4"/>
              <p:cNvCxnSpPr/>
              <p:nvPr/>
            </p:nvCxnSpPr>
            <p:spPr>
              <a:xfrm>
                <a:off x="1077967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8" name="Urine_barcode5"/>
              <p:cNvCxnSpPr/>
              <p:nvPr/>
            </p:nvCxnSpPr>
            <p:spPr>
              <a:xfrm>
                <a:off x="1131295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9" name="Urine_measure0"/>
              <p:cNvCxnSpPr/>
              <p:nvPr/>
            </p:nvCxnSpPr>
            <p:spPr>
              <a:xfrm>
                <a:off x="677021" y="4942514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0" name="Urine_measure1"/>
              <p:cNvCxnSpPr/>
              <p:nvPr/>
            </p:nvCxnSpPr>
            <p:spPr>
              <a:xfrm>
                <a:off x="677021" y="5110398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1" name="Urine_measure2"/>
              <p:cNvCxnSpPr/>
              <p:nvPr/>
            </p:nvCxnSpPr>
            <p:spPr>
              <a:xfrm>
                <a:off x="677021" y="5278282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2" name="Urine_measure3"/>
              <p:cNvCxnSpPr/>
              <p:nvPr/>
            </p:nvCxnSpPr>
            <p:spPr>
              <a:xfrm>
                <a:off x="677021" y="5446166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</p:grpSp>
      </p:grpSp>
      <p:sp>
        <p:nvSpPr>
          <p:cNvPr id="34" name="Text_5"/>
          <p:cNvSpPr txBox="1"/>
          <p:nvPr/>
        </p:nvSpPr>
        <p:spPr>
          <a:xfrm>
            <a:off x="3095625" y="1435100"/>
            <a:ext cx="8096250" cy="666750"/>
          </a:xfrm>
          <a:prstGeom prst="rect">
            <a:avLst/>
          </a:prstGeom>
          <a:noFill/>
        </p:spPr>
        <p:txBody>
          <a:bodyPr wrap="square" lIns="0" tIns="10972" rIns="0" bIns="1097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100" b="1" u="none">
                <a:solidFill>
                  <a:srgbClr val="7030A0"/>
                </a:solidFill>
                <a:latin typeface="Arial"/>
              </a:defRPr>
            </a:pPr>
            <a:r>
              <a:rPr lang="ru-RU" sz="1800" b="1" u="none">
                <a:solidFill>
                  <a:srgbClr val="7030A0"/>
                </a:solidFill>
                <a:latin typeface="Arial Narrow"/>
                <a:cs typeface="Arial Narrow"/>
              </a:rPr>
              <a:t>Вопрос 1.</a:t>
            </a:r>
            <a:r>
              <a:rPr lang="ru-RU" sz="1800" b="0" u="none">
                <a:solidFill>
                  <a:srgbClr val="7030A0"/>
                </a:solidFill>
                <a:latin typeface="Arial Narrow"/>
                <a:cs typeface="Arial Narrow"/>
              </a:rPr>
              <a:t> Взрослый с ХБП и диабетом 2 типа: гликемия и давление в целевом диапазоне</a:t>
            </a:r>
          </a:p>
        </p:txBody>
      </p:sp>
      <p:sp>
        <p:nvSpPr>
          <p:cNvPr id="35" name="Text_6"/>
          <p:cNvSpPr txBox="1"/>
          <p:nvPr/>
        </p:nvSpPr>
        <p:spPr>
          <a:xfrm>
            <a:off x="3095625" y="2273300"/>
            <a:ext cx="8096250" cy="1009650"/>
          </a:xfrm>
          <a:prstGeom prst="rect">
            <a:avLst/>
          </a:prstGeom>
          <a:noFill/>
        </p:spPr>
        <p:txBody>
          <a:bodyPr wrap="square" lIns="0" tIns="10972" rIns="0" bIns="1097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Альбуминурия (повышенная потеря альбумина с мочой) сохраняется.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Какие данные нужны, чтобы обсудить дополнительное лечение?</a:t>
            </a:r>
          </a:p>
        </p:txBody>
      </p:sp>
      <p:grpSp>
        <p:nvGrpSpPr>
          <p:cNvPr id="36" name="Исходный_визуал_S13_1"/>
          <p:cNvGrpSpPr/>
          <p:nvPr/>
        </p:nvGrpSpPr>
        <p:grpSpPr>
          <a:xfrm>
            <a:off x="1066800" y="3968750"/>
            <a:ext cx="1321266" cy="1508760"/>
            <a:chOff x="749808" y="1399032"/>
            <a:chExt cx="1536192" cy="1754184"/>
          </a:xfrm>
        </p:grpSpPr>
        <p:grpSp>
          <p:nvGrpSpPr>
            <p:cNvPr id="37" name="Blood_illustration_editable"/>
            <p:cNvGrpSpPr/>
            <p:nvPr/>
          </p:nvGrpSpPr>
          <p:grpSpPr>
            <a:xfrm>
              <a:off x="749808" y="1399032"/>
              <a:ext cx="1536192" cy="1754184"/>
              <a:chOff x="749808" y="1399032"/>
              <a:chExt cx="1536192" cy="1754184"/>
            </a:xfrm>
          </p:grpSpPr>
          <p:sp>
            <p:nvSpPr>
              <p:cNvPr id="38" name="Blood_glass"/>
              <p:cNvSpPr/>
              <p:nvPr/>
            </p:nvSpPr>
            <p:spPr>
              <a:xfrm>
                <a:off x="839510" y="1648206"/>
                <a:ext cx="468447" cy="1505010"/>
              </a:xfrm>
              <a:prstGeom prst="roundRect">
                <a:avLst>
                  <a:gd name="adj" fmla="val 32000"/>
                </a:avLst>
              </a:pr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39" name="Blood_blood"/>
              <p:cNvSpPr/>
              <p:nvPr/>
            </p:nvSpPr>
            <p:spPr>
              <a:xfrm>
                <a:off x="889345" y="2355860"/>
                <a:ext cx="368777" cy="687720"/>
              </a:xfrm>
              <a:prstGeom prst="roundRect">
                <a:avLst>
                  <a:gd name="adj" fmla="val 32000"/>
                </a:avLst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0" name="Blood_liquid_top"/>
              <p:cNvSpPr/>
              <p:nvPr/>
            </p:nvSpPr>
            <p:spPr>
              <a:xfrm>
                <a:off x="889345" y="2315992"/>
                <a:ext cx="368777" cy="348843"/>
              </a:xfrm>
              <a:prstGeom prst="rect">
                <a:avLst/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1" name="Blood_blood_surface"/>
              <p:cNvSpPr/>
              <p:nvPr/>
            </p:nvSpPr>
            <p:spPr>
              <a:xfrm>
                <a:off x="889345" y="2276124"/>
                <a:ext cx="368777" cy="109636"/>
              </a:xfrm>
              <a:prstGeom prst="ellipse">
                <a:avLst/>
              </a:prstGeom>
              <a:solidFill>
                <a:srgbClr val="CA647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2" name="Blood_label"/>
              <p:cNvSpPr/>
              <p:nvPr/>
            </p:nvSpPr>
            <p:spPr>
              <a:xfrm>
                <a:off x="859444" y="1947214"/>
                <a:ext cx="428579" cy="3488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43" name="Blood_barcode0"/>
              <p:cNvCxnSpPr/>
              <p:nvPr/>
            </p:nvCxnSpPr>
            <p:spPr>
              <a:xfrm>
                <a:off x="91924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4" name="Blood_barcode1"/>
              <p:cNvCxnSpPr/>
              <p:nvPr/>
            </p:nvCxnSpPr>
            <p:spPr>
              <a:xfrm>
                <a:off x="954130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5" name="Blood_barcode2"/>
              <p:cNvCxnSpPr/>
              <p:nvPr/>
            </p:nvCxnSpPr>
            <p:spPr>
              <a:xfrm>
                <a:off x="989015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6" name="Blood_barcode3"/>
              <p:cNvCxnSpPr/>
              <p:nvPr/>
            </p:nvCxnSpPr>
            <p:spPr>
              <a:xfrm>
                <a:off x="1023899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7" name="Blood_barcode4"/>
              <p:cNvCxnSpPr/>
              <p:nvPr/>
            </p:nvCxnSpPr>
            <p:spPr>
              <a:xfrm>
                <a:off x="1058783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8" name="Blood_barcode5"/>
              <p:cNvCxnSpPr/>
              <p:nvPr/>
            </p:nvCxnSpPr>
            <p:spPr>
              <a:xfrm>
                <a:off x="1093668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9" name="Blood_barcode6"/>
              <p:cNvCxnSpPr/>
              <p:nvPr/>
            </p:nvCxnSpPr>
            <p:spPr>
              <a:xfrm>
                <a:off x="1128552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50" name="Blood_barcode7"/>
              <p:cNvCxnSpPr/>
              <p:nvPr/>
            </p:nvCxnSpPr>
            <p:spPr>
              <a:xfrm>
                <a:off x="116343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sp>
            <p:nvSpPr>
              <p:cNvPr id="51" name="Blood_cap"/>
              <p:cNvSpPr/>
              <p:nvPr/>
            </p:nvSpPr>
            <p:spPr>
              <a:xfrm>
                <a:off x="749808" y="1399032"/>
                <a:ext cx="647852" cy="328909"/>
              </a:xfrm>
              <a:prstGeom prst="roundRect">
                <a:avLst/>
              </a:prstGeom>
              <a:solidFill>
                <a:srgbClr val="3A8E3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52" name="Blood_ridge1"/>
              <p:cNvCxnSpPr/>
              <p:nvPr/>
            </p:nvCxnSpPr>
            <p:spPr>
              <a:xfrm>
                <a:off x="827550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3" name="Blood_ridge2"/>
              <p:cNvCxnSpPr/>
              <p:nvPr/>
            </p:nvCxnSpPr>
            <p:spPr>
              <a:xfrm>
                <a:off x="905292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4" name="Blood_ridge3"/>
              <p:cNvCxnSpPr/>
              <p:nvPr/>
            </p:nvCxnSpPr>
            <p:spPr>
              <a:xfrm>
                <a:off x="98303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5" name="Blood_ridge4"/>
              <p:cNvCxnSpPr/>
              <p:nvPr/>
            </p:nvCxnSpPr>
            <p:spPr>
              <a:xfrm>
                <a:off x="1060777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6" name="Blood_ridge5"/>
              <p:cNvCxnSpPr/>
              <p:nvPr/>
            </p:nvCxnSpPr>
            <p:spPr>
              <a:xfrm>
                <a:off x="1138519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7" name="Blood_ridge6"/>
              <p:cNvCxnSpPr/>
              <p:nvPr/>
            </p:nvCxnSpPr>
            <p:spPr>
              <a:xfrm>
                <a:off x="1216261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8" name="Blood_ridge7"/>
              <p:cNvCxnSpPr/>
              <p:nvPr/>
            </p:nvCxnSpPr>
            <p:spPr>
              <a:xfrm>
                <a:off x="129400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9" name="Blood_shine"/>
              <p:cNvCxnSpPr/>
              <p:nvPr/>
            </p:nvCxnSpPr>
            <p:spPr>
              <a:xfrm>
                <a:off x="949147" y="1757842"/>
                <a:ext cx="0" cy="159471"/>
              </a:xfrm>
              <a:prstGeom prst="line">
                <a:avLst/>
              </a:prstGeom>
              <a:ln w="19050">
                <a:solidFill>
                  <a:srgbClr val="FFFFFF"/>
                </a:solidFill>
              </a:ln>
              <a:effectLst/>
            </p:spPr>
          </p:cxnSp>
        </p:grpSp>
      </p:grpSp>
      <p:sp>
        <p:nvSpPr>
          <p:cNvPr id="61" name="Text_8"/>
          <p:cNvSpPr txBox="1"/>
          <p:nvPr/>
        </p:nvSpPr>
        <p:spPr>
          <a:xfrm>
            <a:off x="3095625" y="3663950"/>
            <a:ext cx="8096250" cy="666750"/>
          </a:xfrm>
          <a:prstGeom prst="rect">
            <a:avLst/>
          </a:prstGeom>
          <a:noFill/>
        </p:spPr>
        <p:txBody>
          <a:bodyPr wrap="square" lIns="0" tIns="10972" rIns="0" bIns="1097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100" b="1" u="none">
                <a:solidFill>
                  <a:srgbClr val="7030A0"/>
                </a:solidFill>
                <a:latin typeface="Arial"/>
              </a:defRPr>
            </a:pPr>
            <a:r>
              <a:rPr lang="ru-RU" sz="1800" b="1" u="none">
                <a:solidFill>
                  <a:srgbClr val="7030A0"/>
                </a:solidFill>
                <a:latin typeface="Arial Narrow"/>
                <a:cs typeface="Arial Narrow"/>
              </a:rPr>
              <a:t>Вопрос 2.</a:t>
            </a:r>
            <a:r>
              <a:rPr lang="ru-RU" sz="1800" b="0" u="none">
                <a:solidFill>
                  <a:srgbClr val="7030A0"/>
                </a:solidFill>
                <a:latin typeface="Arial Narrow"/>
                <a:cs typeface="Arial Narrow"/>
              </a:rPr>
              <a:t> После начала финеренона повысился калий</a:t>
            </a:r>
          </a:p>
        </p:txBody>
      </p:sp>
      <p:sp>
        <p:nvSpPr>
          <p:cNvPr id="62" name="Text_9"/>
          <p:cNvSpPr txBox="1"/>
          <p:nvPr/>
        </p:nvSpPr>
        <p:spPr>
          <a:xfrm>
            <a:off x="3095625" y="4502150"/>
            <a:ext cx="8096250" cy="1000125"/>
          </a:xfrm>
          <a:prstGeom prst="rect">
            <a:avLst/>
          </a:prstGeom>
          <a:noFill/>
        </p:spPr>
        <p:txBody>
          <a:bodyPr wrap="square" lIns="0" tIns="10972" rIns="0" bIns="1097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Всегда ли нужна окончательная отмена?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Когда можно возобновить лечение?</a:t>
            </a:r>
          </a:p>
        </p:txBody>
      </p:sp>
      <p:sp>
        <p:nvSpPr>
          <p:cNvPr id="63" name="Подпись_моча"/>
          <p:cNvSpPr txBox="1"/>
          <p:nvPr/>
        </p:nvSpPr>
        <p:spPr>
          <a:xfrm>
            <a:off x="660400" y="29591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404040"/>
                </a:solidFill>
                <a:latin typeface="Arial Narrow"/>
                <a:cs typeface="Arial Narrow"/>
              </a:rPr>
              <a:t>Моча: альбумин и креатинин</a:t>
            </a:r>
          </a:p>
        </p:txBody>
      </p:sp>
      <p:sp>
        <p:nvSpPr>
          <p:cNvPr id="64" name="Подпись_кровь"/>
          <p:cNvSpPr txBox="1"/>
          <p:nvPr/>
        </p:nvSpPr>
        <p:spPr>
          <a:xfrm>
            <a:off x="660400" y="55245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404040"/>
                </a:solidFill>
                <a:latin typeface="Arial Narrow"/>
                <a:cs typeface="Arial Narrow"/>
              </a:rPr>
              <a:t>Кровь: калий и креатинин</a:t>
            </a:r>
          </a:p>
        </p:txBody>
      </p:sp>
      <p:sp>
        <p:nvSpPr>
          <p:cNvPr id="65" name="Источники"/>
          <p:cNvSpPr txBox="1"/>
          <p:nvPr/>
        </p:nvSpPr>
        <p:spPr>
          <a:xfrm>
            <a:off x="457200" y="6383020"/>
            <a:ext cx="10795000" cy="3987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KDIGO 2024 Clinical Practice Guideline for CKD. Kidney Int. 2024;105(4S):S117–S314.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Финеренон-Орвилле. Инструкция по медицинскому применению.</a:t>
            </a:r>
          </a:p>
        </p:txBody>
      </p:sp>
      <p:pic>
        <p:nvPicPr>
          <p:cNvPr id="66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">
            <a:extLst>
              <a:ext uri="{FF2B5EF4-FFF2-40B4-BE49-F238E27FC236}">
                <a16:creationId xmlns:a16="http://schemas.microsoft.com/office/drawing/2014/main" id="{4FDAC8BE-6AF4-42D7-927E-A2AD46EACCE0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Клубочек фильтрует кровь, канальцы возвращают нужные вещества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33500" y="1239520"/>
            <a:ext cx="3619500" cy="4512310"/>
          </a:xfrm>
          <a:prstGeom prst="rect">
            <a:avLst/>
          </a:prstGeom>
        </p:spPr>
      </p:pic>
      <p:sp>
        <p:nvSpPr>
          <p:cNvPr id="3" name="Кровь">
            <a:extLst>
              <a:ext uri="{FF2B5EF4-FFF2-40B4-BE49-F238E27FC236}">
                <a16:creationId xmlns:a16="http://schemas.microsoft.com/office/drawing/2014/main" id="{6BCCE0D3-2EFF-4324-B253-2A79D3834E93}"/>
              </a:ext>
            </a:extLst>
          </p:cNvPr>
          <p:cNvSpPr>
            <a:spLocks noGrp="1"/>
          </p:cNvSpPr>
          <p:nvPr/>
        </p:nvSpPr>
        <p:spPr>
          <a:xfrm>
            <a:off x="4219575" y="1000125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AA3034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400" b="1">
                <a:solidFill>
                  <a:srgbClr val="AA3034"/>
                </a:solidFill>
                <a:latin typeface="Arial Narrow"/>
                <a:ea typeface="Calibri"/>
                <a:cs typeface="Arial Narrow"/>
              </a:rPr>
              <a:t>Артерия</a:t>
            </a:r>
          </a:p>
        </p:txBody>
      </p:sp>
      <p:sp>
        <p:nvSpPr>
          <p:cNvPr id="4" name="Конец выноски">
            <a:extLst>
              <a:ext uri="{FF2B5EF4-FFF2-40B4-BE49-F238E27FC236}">
                <a16:creationId xmlns:a16="http://schemas.microsoft.com/office/drawing/2014/main" id="{A7099CAF-2062-440B-9E33-068A7BBBB49A}"/>
              </a:ext>
            </a:extLst>
          </p:cNvPr>
          <p:cNvSpPr>
            <a:spLocks noGrp="1"/>
          </p:cNvSpPr>
          <p:nvPr/>
        </p:nvSpPr>
        <p:spPr>
          <a:xfrm>
            <a:off x="4495800" y="20097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cxnSp>
        <p:nvCxnSpPr>
          <p:cNvPr id="27" name="Прямая со стрелкой 26"/>
          <p:cNvCxnSpPr>
            <a:stCxn id="3" idx="2"/>
            <a:endCxn id="4" idx="1"/>
          </p:cNvCxnSpPr>
          <p:nvPr/>
        </p:nvCxnSpPr>
        <p:spPr>
          <a:xfrm flipH="1">
            <a:off x="4495800" y="1266825"/>
            <a:ext cx="200025" cy="747713"/>
          </a:xfrm>
          <a:prstGeom prst="straightConnector1">
            <a:avLst/>
          </a:prstGeom>
          <a:ln w="11430">
            <a:solidFill>
              <a:srgbClr val="AA3034"/>
            </a:solidFill>
            <a:prstDash val="solid"/>
            <a:tailEnd type="none" w="med" len="med"/>
          </a:ln>
        </p:spPr>
      </p:cxnSp>
      <p:sp>
        <p:nvSpPr>
          <p:cNvPr id="6" name="Клубочек">
            <a:extLst>
              <a:ext uri="{FF2B5EF4-FFF2-40B4-BE49-F238E27FC236}">
                <a16:creationId xmlns:a16="http://schemas.microsoft.com/office/drawing/2014/main" id="{A9CE5B19-4F4D-42C4-A27C-2CA7EA4C032C}"/>
              </a:ext>
            </a:extLst>
          </p:cNvPr>
          <p:cNvSpPr>
            <a:spLocks noGrp="1"/>
          </p:cNvSpPr>
          <p:nvPr/>
        </p:nvSpPr>
        <p:spPr>
          <a:xfrm>
            <a:off x="457200" y="1981200"/>
            <a:ext cx="13620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Клубочек</a:t>
            </a:r>
          </a:p>
        </p:txBody>
      </p:sp>
      <p:sp>
        <p:nvSpPr>
          <p:cNvPr id="7" name="Конец выноски">
            <a:extLst>
              <a:ext uri="{FF2B5EF4-FFF2-40B4-BE49-F238E27FC236}">
                <a16:creationId xmlns:a16="http://schemas.microsoft.com/office/drawing/2014/main" id="{0274FB75-B327-4357-9380-CD908FFBF815}"/>
              </a:ext>
            </a:extLst>
          </p:cNvPr>
          <p:cNvSpPr>
            <a:spLocks noGrp="1"/>
          </p:cNvSpPr>
          <p:nvPr/>
        </p:nvSpPr>
        <p:spPr>
          <a:xfrm>
            <a:off x="3248025" y="25622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cxnSp>
        <p:nvCxnSpPr>
          <p:cNvPr id="30" name="Прямая со стрелкой 29"/>
          <p:cNvCxnSpPr>
            <a:stCxn id="6" idx="3"/>
            <a:endCxn id="7" idx="1"/>
          </p:cNvCxnSpPr>
          <p:nvPr/>
        </p:nvCxnSpPr>
        <p:spPr>
          <a:xfrm>
            <a:off x="1819275" y="2119313"/>
            <a:ext cx="1428750" cy="447675"/>
          </a:xfrm>
          <a:prstGeom prst="straightConnector1">
            <a:avLst/>
          </a:prstGeom>
          <a:ln w="11430">
            <a:solidFill>
              <a:srgbClr val="7E919E"/>
            </a:solidFill>
            <a:prstDash val="solid"/>
            <a:tailEnd type="none" w="med" len="med"/>
          </a:ln>
        </p:spPr>
      </p:cxnSp>
      <p:sp>
        <p:nvSpPr>
          <p:cNvPr id="9" name="Капсула Боумена">
            <a:extLst>
              <a:ext uri="{FF2B5EF4-FFF2-40B4-BE49-F238E27FC236}">
                <a16:creationId xmlns:a16="http://schemas.microsoft.com/office/drawing/2014/main" id="{2AC96E8C-C676-4F38-8140-71B147A3B055}"/>
              </a:ext>
            </a:extLst>
          </p:cNvPr>
          <p:cNvSpPr>
            <a:spLocks noGrp="1"/>
          </p:cNvSpPr>
          <p:nvPr/>
        </p:nvSpPr>
        <p:spPr>
          <a:xfrm>
            <a:off x="457200" y="3076575"/>
            <a:ext cx="13620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Капсула Боумена</a:t>
            </a:r>
          </a:p>
        </p:txBody>
      </p:sp>
      <p:sp>
        <p:nvSpPr>
          <p:cNvPr id="10" name="Конец выноски">
            <a:extLst>
              <a:ext uri="{FF2B5EF4-FFF2-40B4-BE49-F238E27FC236}">
                <a16:creationId xmlns:a16="http://schemas.microsoft.com/office/drawing/2014/main" id="{5A05B0F1-83EF-4762-9E16-3C8E3B51EE41}"/>
              </a:ext>
            </a:extLst>
          </p:cNvPr>
          <p:cNvSpPr>
            <a:spLocks noGrp="1"/>
          </p:cNvSpPr>
          <p:nvPr/>
        </p:nvSpPr>
        <p:spPr>
          <a:xfrm>
            <a:off x="3333750" y="27336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cxnSp>
        <p:nvCxnSpPr>
          <p:cNvPr id="33" name="Прямая со стрелкой 32"/>
          <p:cNvCxnSpPr/>
          <p:nvPr/>
        </p:nvCxnSpPr>
        <p:spPr>
          <a:xfrm flipV="1">
            <a:off x="1819275" y="2819400"/>
            <a:ext cx="1266825" cy="495301"/>
          </a:xfrm>
          <a:prstGeom prst="straightConnector1">
            <a:avLst/>
          </a:prstGeom>
          <a:ln w="11430">
            <a:solidFill>
              <a:srgbClr val="7E919E"/>
            </a:solidFill>
            <a:prstDash val="solid"/>
            <a:tailEnd type="none" w="med" len="med"/>
          </a:ln>
        </p:spPr>
      </p:cxnSp>
      <p:sp>
        <p:nvSpPr>
          <p:cNvPr id="12" name="Каналец">
            <a:extLst>
              <a:ext uri="{FF2B5EF4-FFF2-40B4-BE49-F238E27FC236}">
                <a16:creationId xmlns:a16="http://schemas.microsoft.com/office/drawing/2014/main" id="{1A909C59-6E07-4FF7-AD42-243C4B323919}"/>
              </a:ext>
            </a:extLst>
          </p:cNvPr>
          <p:cNvSpPr>
            <a:spLocks noGrp="1"/>
          </p:cNvSpPr>
          <p:nvPr/>
        </p:nvSpPr>
        <p:spPr>
          <a:xfrm>
            <a:off x="4978400" y="4000500"/>
            <a:ext cx="1270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996111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400" b="1">
                <a:solidFill>
                  <a:srgbClr val="996111"/>
                </a:solidFill>
                <a:latin typeface="Arial Narrow"/>
                <a:ea typeface="Calibri"/>
                <a:cs typeface="Arial Narrow"/>
              </a:rPr>
              <a:t>Проксимальный</a:t>
            </a:r>
          </a:p>
          <a:p>
            <a:pPr algn="l">
              <a:defRPr sz="1400" b="1">
                <a:solidFill>
                  <a:srgbClr val="996111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400" b="1">
                <a:solidFill>
                  <a:srgbClr val="996111"/>
                </a:solidFill>
                <a:latin typeface="Arial Narrow"/>
                <a:ea typeface="Calibri"/>
                <a:cs typeface="Arial Narrow"/>
              </a:rPr>
              <a:t>каналец</a:t>
            </a:r>
          </a:p>
        </p:txBody>
      </p:sp>
      <p:sp>
        <p:nvSpPr>
          <p:cNvPr id="13" name="Конец выноски">
            <a:extLst>
              <a:ext uri="{FF2B5EF4-FFF2-40B4-BE49-F238E27FC236}">
                <a16:creationId xmlns:a16="http://schemas.microsoft.com/office/drawing/2014/main" id="{48F886C8-0CA4-4193-BB4C-A21FF85B2F94}"/>
              </a:ext>
            </a:extLst>
          </p:cNvPr>
          <p:cNvSpPr>
            <a:spLocks noGrp="1"/>
          </p:cNvSpPr>
          <p:nvPr/>
        </p:nvSpPr>
        <p:spPr>
          <a:xfrm>
            <a:off x="3495675" y="409575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cxnSp>
        <p:nvCxnSpPr>
          <p:cNvPr id="36" name="Прямая со стрелкой 35"/>
          <p:cNvCxnSpPr/>
          <p:nvPr/>
        </p:nvCxnSpPr>
        <p:spPr>
          <a:xfrm flipH="1" flipV="1">
            <a:off x="3759200" y="2844800"/>
            <a:ext cx="1336675" cy="1293813"/>
          </a:xfrm>
          <a:prstGeom prst="straightConnector1">
            <a:avLst/>
          </a:prstGeom>
          <a:ln w="11430">
            <a:solidFill>
              <a:srgbClr val="996111"/>
            </a:solidFill>
            <a:prstDash val="solid"/>
            <a:tailEnd type="none" w="med" len="med"/>
          </a:ln>
        </p:spPr>
      </p:cxnSp>
      <p:sp>
        <p:nvSpPr>
          <p:cNvPr id="15" name="Клубочек подзаголовок">
            <a:extLst>
              <a:ext uri="{FF2B5EF4-FFF2-40B4-BE49-F238E27FC236}">
                <a16:creationId xmlns:a16="http://schemas.microsoft.com/office/drawing/2014/main" id="{67D58F7C-14E7-4731-A203-CFF9AF3005D6}"/>
              </a:ext>
            </a:extLst>
          </p:cNvPr>
          <p:cNvSpPr>
            <a:spLocks noGrp="1"/>
          </p:cNvSpPr>
          <p:nvPr/>
        </p:nvSpPr>
        <p:spPr>
          <a:xfrm>
            <a:off x="6229350" y="1323975"/>
            <a:ext cx="5238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7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Клубочек: сосудистый фильтр</a:t>
            </a:r>
          </a:p>
        </p:txBody>
      </p:sp>
      <p:sp>
        <p:nvSpPr>
          <p:cNvPr id="16" name="Фильтрация пояснение">
            <a:extLst>
              <a:ext uri="{FF2B5EF4-FFF2-40B4-BE49-F238E27FC236}">
                <a16:creationId xmlns:a16="http://schemas.microsoft.com/office/drawing/2014/main" id="{07DF7FC2-8A45-49A1-8853-0EB13B5926FD}"/>
              </a:ext>
            </a:extLst>
          </p:cNvPr>
          <p:cNvSpPr>
            <a:spLocks noGrp="1"/>
          </p:cNvSpPr>
          <p:nvPr/>
        </p:nvSpPr>
        <p:spPr>
          <a:xfrm>
            <a:off x="6229350" y="1752600"/>
            <a:ext cx="53721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Кровь проходит через капилляры.</a:t>
            </a:r>
          </a:p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Часть воды и мелких растворённых веществ</a:t>
            </a:r>
          </a:p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переходит в капсулу Боумена.</a:t>
            </a:r>
          </a:p>
        </p:txBody>
      </p:sp>
      <p:sp>
        <p:nvSpPr>
          <p:cNvPr id="17" name="Первичная моча подзаголовок">
            <a:extLst>
              <a:ext uri="{FF2B5EF4-FFF2-40B4-BE49-F238E27FC236}">
                <a16:creationId xmlns:a16="http://schemas.microsoft.com/office/drawing/2014/main" id="{4DA0E0FB-2D54-4C7B-BD48-8D2987643522}"/>
              </a:ext>
            </a:extLst>
          </p:cNvPr>
          <p:cNvSpPr>
            <a:spLocks noGrp="1"/>
          </p:cNvSpPr>
          <p:nvPr/>
        </p:nvSpPr>
        <p:spPr>
          <a:xfrm>
            <a:off x="6229350" y="2867025"/>
            <a:ext cx="5238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7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Так образуется первичная моча</a:t>
            </a:r>
          </a:p>
        </p:txBody>
      </p:sp>
      <p:sp>
        <p:nvSpPr>
          <p:cNvPr id="18" name="Первичная моча пояснение">
            <a:extLst>
              <a:ext uri="{FF2B5EF4-FFF2-40B4-BE49-F238E27FC236}">
                <a16:creationId xmlns:a16="http://schemas.microsoft.com/office/drawing/2014/main" id="{B4D837E6-3C2F-42DB-B7B9-657E06010C3E}"/>
              </a:ext>
            </a:extLst>
          </p:cNvPr>
          <p:cNvSpPr>
            <a:spLocks noGrp="1"/>
          </p:cNvSpPr>
          <p:nvPr/>
        </p:nvSpPr>
        <p:spPr>
          <a:xfrm>
            <a:off x="6229350" y="3295650"/>
            <a:ext cx="53340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Эта жидкость поступает в канальцы.</a:t>
            </a:r>
          </a:p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Клетки крови и большая часть белков</a:t>
            </a:r>
          </a:p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остаются в сосудах.</a:t>
            </a:r>
          </a:p>
        </p:txBody>
      </p:sp>
      <p:sp>
        <p:nvSpPr>
          <p:cNvPr id="19" name="Реабсорбция подзаголовок">
            <a:extLst>
              <a:ext uri="{FF2B5EF4-FFF2-40B4-BE49-F238E27FC236}">
                <a16:creationId xmlns:a16="http://schemas.microsoft.com/office/drawing/2014/main" id="{DA3EA924-47CC-47A8-8951-421F35D23679}"/>
              </a:ext>
            </a:extLst>
          </p:cNvPr>
          <p:cNvSpPr>
            <a:spLocks noGrp="1"/>
          </p:cNvSpPr>
          <p:nvPr/>
        </p:nvSpPr>
        <p:spPr>
          <a:xfrm>
            <a:off x="6229350" y="4410075"/>
            <a:ext cx="53721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00" b="1">
                <a:solidFill>
                  <a:srgbClr val="996111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7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Канальцы возвращают нужное в кровь</a:t>
            </a:r>
          </a:p>
        </p:txBody>
      </p:sp>
      <p:sp>
        <p:nvSpPr>
          <p:cNvPr id="20" name="Реабсорбция пояснение">
            <a:extLst>
              <a:ext uri="{FF2B5EF4-FFF2-40B4-BE49-F238E27FC236}">
                <a16:creationId xmlns:a16="http://schemas.microsoft.com/office/drawing/2014/main" id="{7183C990-3E1E-49EE-8A29-2DF596F28E8B}"/>
              </a:ext>
            </a:extLst>
          </p:cNvPr>
          <p:cNvSpPr>
            <a:spLocks noGrp="1"/>
          </p:cNvSpPr>
          <p:nvPr/>
        </p:nvSpPr>
        <p:spPr>
          <a:xfrm>
            <a:off x="6229350" y="4838700"/>
            <a:ext cx="53721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Большая часть воды, глюкоза и другие</a:t>
            </a:r>
          </a:p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нужные вещества возвращаются в кровь.</a:t>
            </a:r>
          </a:p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Это обратное всасывание, или реабсорбция.</a:t>
            </a:r>
          </a:p>
        </p:txBody>
      </p:sp>
      <p:sp>
        <p:nvSpPr>
          <p:cNvPr id="37" name="Метка_вена"/>
          <p:cNvSpPr txBox="1"/>
          <p:nvPr/>
        </p:nvSpPr>
        <p:spPr>
          <a:xfrm>
            <a:off x="4978400" y="1320800"/>
            <a:ext cx="762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3A5BA8"/>
                </a:solidFill>
                <a:latin typeface="Arial Narrow"/>
                <a:cs typeface="Arial Narrow"/>
              </a:rPr>
              <a:t>Вена</a:t>
            </a:r>
          </a:p>
        </p:txBody>
      </p:sp>
      <p:cxnSp>
        <p:nvCxnSpPr>
          <p:cNvPr id="38" name="Указатель_вена"/>
          <p:cNvCxnSpPr/>
          <p:nvPr/>
        </p:nvCxnSpPr>
        <p:spPr>
          <a:xfrm flipH="1">
            <a:off x="4813300" y="1549400"/>
            <a:ext cx="266700" cy="4826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39" name="Метка_приносящая"/>
          <p:cNvSpPr txBox="1"/>
          <p:nvPr/>
        </p:nvSpPr>
        <p:spPr>
          <a:xfrm>
            <a:off x="4978400" y="1905000"/>
            <a:ext cx="1219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202020"/>
                </a:solidFill>
                <a:latin typeface="Arial Narrow"/>
                <a:cs typeface="Arial Narrow"/>
              </a:rPr>
              <a:t>Приносящая артериола</a:t>
            </a:r>
          </a:p>
        </p:txBody>
      </p:sp>
      <p:cxnSp>
        <p:nvCxnSpPr>
          <p:cNvPr id="40" name="Указатель_приносящая"/>
          <p:cNvCxnSpPr/>
          <p:nvPr/>
        </p:nvCxnSpPr>
        <p:spPr>
          <a:xfrm flipH="1">
            <a:off x="3810000" y="2120900"/>
            <a:ext cx="1168400" cy="1143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41" name="Метка_выносящая"/>
          <p:cNvSpPr txBox="1"/>
          <p:nvPr/>
        </p:nvSpPr>
        <p:spPr>
          <a:xfrm>
            <a:off x="457200" y="2413000"/>
            <a:ext cx="13589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202020"/>
                </a:solidFill>
                <a:latin typeface="Arial Narrow"/>
                <a:cs typeface="Arial Narrow"/>
              </a:rPr>
              <a:t>Выносящая артериола</a:t>
            </a:r>
          </a:p>
        </p:txBody>
      </p:sp>
      <p:cxnSp>
        <p:nvCxnSpPr>
          <p:cNvPr id="42" name="Указатель_выносящая"/>
          <p:cNvCxnSpPr/>
          <p:nvPr/>
        </p:nvCxnSpPr>
        <p:spPr>
          <a:xfrm flipV="1">
            <a:off x="1816100" y="2540000"/>
            <a:ext cx="1003300" cy="635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43" name="Метка_собирательная"/>
          <p:cNvSpPr txBox="1"/>
          <p:nvPr/>
        </p:nvSpPr>
        <p:spPr>
          <a:xfrm>
            <a:off x="457200" y="3683000"/>
            <a:ext cx="13589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202020"/>
                </a:solidFill>
                <a:latin typeface="Arial Narrow"/>
                <a:cs typeface="Arial Narrow"/>
              </a:rPr>
              <a:t>Собирательная трубочка</a:t>
            </a:r>
          </a:p>
        </p:txBody>
      </p:sp>
      <p:cxnSp>
        <p:nvCxnSpPr>
          <p:cNvPr id="44" name="Указатель_собирательная"/>
          <p:cNvCxnSpPr/>
          <p:nvPr/>
        </p:nvCxnSpPr>
        <p:spPr>
          <a:xfrm>
            <a:off x="1816100" y="3873500"/>
            <a:ext cx="152400" cy="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45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NIDDK. Your Kidneys &amp; How They Work. T. Kebert, Jmarchn, CC BY-SA 4.0, modified.</a:t>
            </a:r>
          </a:p>
        </p:txBody>
      </p:sp>
      <p:pic>
        <p:nvPicPr>
          <p:cNvPr id="46" name="Логотип Орвилле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47" name="Связь_с_финереноном"/>
          <p:cNvSpPr txBox="1"/>
          <p:nvPr/>
        </p:nvSpPr>
        <p:spPr>
          <a:xfrm>
            <a:off x="6223000" y="5880100"/>
            <a:ext cx="53721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Связь с финереноном: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его мишень, минералокортикоидный рецептор, есть в клетках собирательной трубочки (слайд 17).</a:t>
            </a:r>
          </a:p>
        </p:txBody>
      </p:sp>
    </p:spTree>
    <p:extLst>
      <p:ext uri="{BB962C8B-B14F-4D97-AF65-F5344CB8AC3E}">
        <p14:creationId xmlns:p14="http://schemas.microsoft.com/office/powerpoint/2010/main" val="65091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">
            <a:extLst>
              <a:ext uri="{FF2B5EF4-FFF2-40B4-BE49-F238E27FC236}">
                <a16:creationId xmlns:a16="http://schemas.microsoft.com/office/drawing/2014/main" id="{8C688344-BDA6-4F92-88EE-223A0DAD7ECC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Плотное пятно регулирует фильтрацию в своём клубочке</a:t>
            </a:r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24000" y="1047750"/>
            <a:ext cx="5048250" cy="5048250"/>
          </a:xfrm>
          <a:prstGeom prst="rect">
            <a:avLst/>
          </a:prstGeom>
        </p:spPr>
      </p:pic>
      <p:sp>
        <p:nvSpPr>
          <p:cNvPr id="3" name="Приносящая артериола">
            <a:extLst>
              <a:ext uri="{FF2B5EF4-FFF2-40B4-BE49-F238E27FC236}">
                <a16:creationId xmlns:a16="http://schemas.microsoft.com/office/drawing/2014/main" id="{DCEBA2B9-3863-4334-96C8-BE4161295476}"/>
              </a:ext>
            </a:extLst>
          </p:cNvPr>
          <p:cNvSpPr>
            <a:spLocks noGrp="1"/>
          </p:cNvSpPr>
          <p:nvPr/>
        </p:nvSpPr>
        <p:spPr>
          <a:xfrm>
            <a:off x="866775" y="1238250"/>
            <a:ext cx="18097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Приносящая</a:t>
            </a:r>
          </a:p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артериола</a:t>
            </a:r>
          </a:p>
        </p:txBody>
      </p:sp>
      <p:sp>
        <p:nvSpPr>
          <p:cNvPr id="4" name="Конец выноски">
            <a:extLst>
              <a:ext uri="{FF2B5EF4-FFF2-40B4-BE49-F238E27FC236}">
                <a16:creationId xmlns:a16="http://schemas.microsoft.com/office/drawing/2014/main" id="{FC17EEED-2A0F-4128-A9C6-06A0D3FBCD42}"/>
              </a:ext>
            </a:extLst>
          </p:cNvPr>
          <p:cNvSpPr>
            <a:spLocks noGrp="1"/>
          </p:cNvSpPr>
          <p:nvPr/>
        </p:nvSpPr>
        <p:spPr>
          <a:xfrm>
            <a:off x="2419350" y="24860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cxnSp>
        <p:nvCxnSpPr>
          <p:cNvPr id="33" name="Прямая со стрелкой 32"/>
          <p:cNvCxnSpPr>
            <a:stCxn id="3" idx="2"/>
            <a:endCxn id="4" idx="1"/>
          </p:cNvCxnSpPr>
          <p:nvPr/>
        </p:nvCxnSpPr>
        <p:spPr>
          <a:xfrm>
            <a:off x="1771650" y="1743075"/>
            <a:ext cx="647700" cy="747713"/>
          </a:xfrm>
          <a:prstGeom prst="straightConnector1">
            <a:avLst/>
          </a:prstGeom>
          <a:ln w="11430">
            <a:solidFill>
              <a:srgbClr val="1F4E79"/>
            </a:solidFill>
            <a:prstDash val="solid"/>
            <a:tailEnd type="none" w="med" len="med"/>
          </a:ln>
        </p:spPr>
      </p:cxnSp>
      <p:sp>
        <p:nvSpPr>
          <p:cNvPr id="6" name="Клубочек">
            <a:extLst>
              <a:ext uri="{FF2B5EF4-FFF2-40B4-BE49-F238E27FC236}">
                <a16:creationId xmlns:a16="http://schemas.microsoft.com/office/drawing/2014/main" id="{FA687F3E-2687-45E4-B257-C4EE5CDC6F7D}"/>
              </a:ext>
            </a:extLst>
          </p:cNvPr>
          <p:cNvSpPr>
            <a:spLocks noGrp="1"/>
          </p:cNvSpPr>
          <p:nvPr/>
        </p:nvSpPr>
        <p:spPr>
          <a:xfrm>
            <a:off x="4448175" y="151447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Клубочек</a:t>
            </a:r>
          </a:p>
        </p:txBody>
      </p:sp>
      <p:sp>
        <p:nvSpPr>
          <p:cNvPr id="7" name="Конец выноски">
            <a:extLst>
              <a:ext uri="{FF2B5EF4-FFF2-40B4-BE49-F238E27FC236}">
                <a16:creationId xmlns:a16="http://schemas.microsoft.com/office/drawing/2014/main" id="{E136A304-9A07-403D-96D5-7356959E0C16}"/>
              </a:ext>
            </a:extLst>
          </p:cNvPr>
          <p:cNvSpPr>
            <a:spLocks noGrp="1"/>
          </p:cNvSpPr>
          <p:nvPr/>
        </p:nvSpPr>
        <p:spPr>
          <a:xfrm>
            <a:off x="4552950" y="28289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cxnSp>
        <p:nvCxnSpPr>
          <p:cNvPr id="36" name="Прямая со стрелкой 35"/>
          <p:cNvCxnSpPr>
            <a:stCxn id="6" idx="2"/>
            <a:endCxn id="7" idx="1"/>
          </p:cNvCxnSpPr>
          <p:nvPr/>
        </p:nvCxnSpPr>
        <p:spPr>
          <a:xfrm flipH="1">
            <a:off x="4552950" y="1800225"/>
            <a:ext cx="609600" cy="1033463"/>
          </a:xfrm>
          <a:prstGeom prst="straightConnector1">
            <a:avLst/>
          </a:prstGeom>
          <a:ln w="11430">
            <a:solidFill>
              <a:srgbClr val="7E919E"/>
            </a:solidFill>
            <a:prstDash val="solid"/>
            <a:tailEnd type="none" w="med" len="med"/>
          </a:ln>
        </p:spPr>
      </p:cxnSp>
      <p:sp>
        <p:nvSpPr>
          <p:cNvPr id="9" name="Плотное пятно">
            <a:extLst>
              <a:ext uri="{FF2B5EF4-FFF2-40B4-BE49-F238E27FC236}">
                <a16:creationId xmlns:a16="http://schemas.microsoft.com/office/drawing/2014/main" id="{36BD0485-D319-4957-A8B3-2DD05C453C45}"/>
              </a:ext>
            </a:extLst>
          </p:cNvPr>
          <p:cNvSpPr>
            <a:spLocks noGrp="1"/>
          </p:cNvSpPr>
          <p:nvPr/>
        </p:nvSpPr>
        <p:spPr>
          <a:xfrm>
            <a:off x="457200" y="3857625"/>
            <a:ext cx="15525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Плотное пятно</a:t>
            </a:r>
          </a:p>
        </p:txBody>
      </p:sp>
      <p:sp>
        <p:nvSpPr>
          <p:cNvPr id="10" name="Конец выноски">
            <a:extLst>
              <a:ext uri="{FF2B5EF4-FFF2-40B4-BE49-F238E27FC236}">
                <a16:creationId xmlns:a16="http://schemas.microsoft.com/office/drawing/2014/main" id="{1112075A-558E-4B59-96C8-A85E3CE0687D}"/>
              </a:ext>
            </a:extLst>
          </p:cNvPr>
          <p:cNvSpPr>
            <a:spLocks noGrp="1"/>
          </p:cNvSpPr>
          <p:nvPr/>
        </p:nvSpPr>
        <p:spPr>
          <a:xfrm>
            <a:off x="2343150" y="363855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cxnSp>
        <p:nvCxnSpPr>
          <p:cNvPr id="39" name="Прямая со стрелкой 38"/>
          <p:cNvCxnSpPr/>
          <p:nvPr/>
        </p:nvCxnSpPr>
        <p:spPr>
          <a:xfrm flipV="1">
            <a:off x="1574800" y="3644900"/>
            <a:ext cx="762000" cy="342900"/>
          </a:xfrm>
          <a:prstGeom prst="straightConnector1">
            <a:avLst/>
          </a:prstGeom>
          <a:ln w="19050">
            <a:solidFill>
              <a:srgbClr val="202020"/>
            </a:solidFill>
            <a:prstDash val="solid"/>
            <a:tailEnd type="none" w="med" len="med"/>
          </a:ln>
        </p:spPr>
      </p:cxnSp>
      <p:sp>
        <p:nvSpPr>
          <p:cNvPr id="12" name="Плотное пятно подпись">
            <a:extLst>
              <a:ext uri="{FF2B5EF4-FFF2-40B4-BE49-F238E27FC236}">
                <a16:creationId xmlns:a16="http://schemas.microsoft.com/office/drawing/2014/main" id="{53140CD5-9B8F-4252-B2B9-93074B5BAF5E}"/>
              </a:ext>
            </a:extLst>
          </p:cNvPr>
          <p:cNvSpPr>
            <a:spLocks noGrp="1"/>
          </p:cNvSpPr>
          <p:nvPr/>
        </p:nvSpPr>
        <p:spPr>
          <a:xfrm>
            <a:off x="457200" y="4200525"/>
            <a:ext cx="15430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Чувствительные</a:t>
            </a:r>
          </a:p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клетки канальца</a:t>
            </a:r>
          </a:p>
        </p:txBody>
      </p:sp>
      <p:sp>
        <p:nvSpPr>
          <p:cNvPr id="13" name="Поздний участок канальца">
            <a:extLst>
              <a:ext uri="{FF2B5EF4-FFF2-40B4-BE49-F238E27FC236}">
                <a16:creationId xmlns:a16="http://schemas.microsoft.com/office/drawing/2014/main" id="{2423AF95-68A2-4190-AF7A-8DC2BABABD9C}"/>
              </a:ext>
            </a:extLst>
          </p:cNvPr>
          <p:cNvSpPr>
            <a:spLocks noGrp="1"/>
          </p:cNvSpPr>
          <p:nvPr/>
        </p:nvSpPr>
        <p:spPr>
          <a:xfrm>
            <a:off x="3076575" y="5715000"/>
            <a:ext cx="34671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Восходящее колено петли Генле</a:t>
            </a:r>
          </a:p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прилежит к своему клубочку</a:t>
            </a:r>
          </a:p>
        </p:txBody>
      </p:sp>
      <p:sp>
        <p:nvSpPr>
          <p:cNvPr id="14" name="Конец выноски">
            <a:extLst>
              <a:ext uri="{FF2B5EF4-FFF2-40B4-BE49-F238E27FC236}">
                <a16:creationId xmlns:a16="http://schemas.microsoft.com/office/drawing/2014/main" id="{A97A2654-56F7-49F7-BC51-175F92E33492}"/>
              </a:ext>
            </a:extLst>
          </p:cNvPr>
          <p:cNvSpPr>
            <a:spLocks noGrp="1"/>
          </p:cNvSpPr>
          <p:nvPr/>
        </p:nvSpPr>
        <p:spPr>
          <a:xfrm>
            <a:off x="2952750" y="53625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cxnSp>
        <p:nvCxnSpPr>
          <p:cNvPr id="43" name="Прямая со стрелкой 42"/>
          <p:cNvCxnSpPr/>
          <p:nvPr/>
        </p:nvCxnSpPr>
        <p:spPr>
          <a:xfrm flipH="1" flipV="1">
            <a:off x="2997200" y="5029200"/>
            <a:ext cx="88900" cy="711200"/>
          </a:xfrm>
          <a:prstGeom prst="straightConnector1">
            <a:avLst/>
          </a:prstGeom>
          <a:ln w="11430">
            <a:solidFill>
              <a:srgbClr val="7E919E"/>
            </a:solidFill>
            <a:prstDash val="solid"/>
            <a:tailEnd type="none" w="med" len="med"/>
          </a:ln>
        </p:spPr>
      </p:cxnSp>
      <p:sp>
        <p:nvSpPr>
          <p:cNvPr id="16" name="Плотное пятно пояснение">
            <a:extLst>
              <a:ext uri="{FF2B5EF4-FFF2-40B4-BE49-F238E27FC236}">
                <a16:creationId xmlns:a16="http://schemas.microsoft.com/office/drawing/2014/main" id="{2CD6CEDC-C6B6-4D61-AE2E-46658898AE1F}"/>
              </a:ext>
            </a:extLst>
          </p:cNvPr>
          <p:cNvSpPr>
            <a:spLocks noGrp="1"/>
          </p:cNvSpPr>
          <p:nvPr/>
        </p:nvSpPr>
        <p:spPr>
          <a:xfrm>
            <a:off x="6985000" y="1276350"/>
            <a:ext cx="4699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Плотное пятно: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группа клеток канальца,</a:t>
            </a:r>
          </a:p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которая реагирует на содержание</a:t>
            </a:r>
          </a:p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соли (NaCl) в канальцевой жидкости.</a:t>
            </a:r>
          </a:p>
        </p:txBody>
      </p:sp>
      <p:sp>
        <p:nvSpPr>
          <p:cNvPr id="17" name="Соли больше">
            <a:extLst>
              <a:ext uri="{FF2B5EF4-FFF2-40B4-BE49-F238E27FC236}">
                <a16:creationId xmlns:a16="http://schemas.microsoft.com/office/drawing/2014/main" id="{231876AD-FDCA-4069-9366-8D7787149BAA}"/>
              </a:ext>
            </a:extLst>
          </p:cNvPr>
          <p:cNvSpPr>
            <a:spLocks noGrp="1"/>
          </p:cNvSpPr>
          <p:nvPr/>
        </p:nvSpPr>
        <p:spPr>
          <a:xfrm>
            <a:off x="6981825" y="2705100"/>
            <a:ext cx="4572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Соли поступает больше</a:t>
            </a:r>
          </a:p>
        </p:txBody>
      </p:sp>
      <p:sp>
        <p:nvSpPr>
          <p:cNvPr id="18" name="Артериола сужается">
            <a:extLst>
              <a:ext uri="{FF2B5EF4-FFF2-40B4-BE49-F238E27FC236}">
                <a16:creationId xmlns:a16="http://schemas.microsoft.com/office/drawing/2014/main" id="{3518B456-D1FA-442B-8276-9977156E16AB}"/>
              </a:ext>
            </a:extLst>
          </p:cNvPr>
          <p:cNvSpPr>
            <a:spLocks noGrp="1"/>
          </p:cNvSpPr>
          <p:nvPr/>
        </p:nvSpPr>
        <p:spPr>
          <a:xfrm>
            <a:off x="6981825" y="3257550"/>
            <a:ext cx="46386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Приносящая артериола сужается</a:t>
            </a:r>
          </a:p>
        </p:txBody>
      </p:sp>
      <p:cxnSp>
        <p:nvCxnSpPr>
          <p:cNvPr id="47" name="Прямая со стрелкой 46"/>
          <p:cNvCxnSpPr>
            <a:stCxn id="17" idx="2"/>
            <a:endCxn id="18" idx="0"/>
          </p:cNvCxnSpPr>
          <p:nvPr/>
        </p:nvCxnSpPr>
        <p:spPr>
          <a:xfrm>
            <a:off x="9267825" y="2990850"/>
            <a:ext cx="33338" cy="266700"/>
          </a:xfrm>
          <a:prstGeom prst="straightConnector1">
            <a:avLst/>
          </a:prstGeom>
          <a:ln w="18098">
            <a:solidFill>
              <a:srgbClr val="1F4E79"/>
            </a:solidFill>
            <a:prstDash val="solid"/>
            <a:tailEnd type="triangle" w="med" len="med"/>
          </a:ln>
        </p:spPr>
      </p:cxnSp>
      <p:sp>
        <p:nvSpPr>
          <p:cNvPr id="20" name="Фильтрация уменьшается">
            <a:extLst>
              <a:ext uri="{FF2B5EF4-FFF2-40B4-BE49-F238E27FC236}">
                <a16:creationId xmlns:a16="http://schemas.microsoft.com/office/drawing/2014/main" id="{CFC91215-F8BB-4698-BA91-B4F90EB9CFE4}"/>
              </a:ext>
            </a:extLst>
          </p:cNvPr>
          <p:cNvSpPr>
            <a:spLocks noGrp="1"/>
          </p:cNvSpPr>
          <p:nvPr/>
        </p:nvSpPr>
        <p:spPr>
          <a:xfrm>
            <a:off x="6981825" y="3810000"/>
            <a:ext cx="46386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Фильтрация уменьшается</a:t>
            </a:r>
          </a:p>
        </p:txBody>
      </p:sp>
      <p:cxnSp>
        <p:nvCxnSpPr>
          <p:cNvPr id="49" name="Прямая со стрелкой 48"/>
          <p:cNvCxnSpPr>
            <a:stCxn id="18" idx="2"/>
            <a:endCxn id="20" idx="0"/>
          </p:cNvCxnSpPr>
          <p:nvPr/>
        </p:nvCxnSpPr>
        <p:spPr>
          <a:xfrm>
            <a:off x="9301163" y="3543300"/>
            <a:ext cx="0" cy="266700"/>
          </a:xfrm>
          <a:prstGeom prst="straightConnector1">
            <a:avLst/>
          </a:prstGeom>
          <a:ln w="18098">
            <a:solidFill>
              <a:srgbClr val="1F4E79"/>
            </a:solidFill>
            <a:prstDash val="solid"/>
            <a:tailEnd type="triangle" w="med" len="med"/>
          </a:ln>
        </p:spPr>
      </p:cxnSp>
      <p:sp>
        <p:nvSpPr>
          <p:cNvPr id="22" name="Соли меньше">
            <a:extLst>
              <a:ext uri="{FF2B5EF4-FFF2-40B4-BE49-F238E27FC236}">
                <a16:creationId xmlns:a16="http://schemas.microsoft.com/office/drawing/2014/main" id="{F10F75E7-2945-4B5A-A86B-35245E2A400C}"/>
              </a:ext>
            </a:extLst>
          </p:cNvPr>
          <p:cNvSpPr>
            <a:spLocks noGrp="1"/>
          </p:cNvSpPr>
          <p:nvPr/>
        </p:nvSpPr>
        <p:spPr>
          <a:xfrm>
            <a:off x="6981825" y="4514850"/>
            <a:ext cx="46386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1">
                <a:solidFill>
                  <a:srgbClr val="996111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1">
                <a:solidFill>
                  <a:srgbClr val="996111"/>
                </a:solidFill>
                <a:latin typeface="Arial Narrow"/>
                <a:ea typeface="Calibri"/>
                <a:cs typeface="Arial Narrow"/>
              </a:rPr>
              <a:t>Соли поступает меньше</a:t>
            </a:r>
          </a:p>
        </p:txBody>
      </p:sp>
      <p:sp>
        <p:nvSpPr>
          <p:cNvPr id="23" name="Сигнал ослабевает">
            <a:extLst>
              <a:ext uri="{FF2B5EF4-FFF2-40B4-BE49-F238E27FC236}">
                <a16:creationId xmlns:a16="http://schemas.microsoft.com/office/drawing/2014/main" id="{F2626621-071B-42AA-AC51-7DE64DD423BC}"/>
              </a:ext>
            </a:extLst>
          </p:cNvPr>
          <p:cNvSpPr>
            <a:spLocks noGrp="1"/>
          </p:cNvSpPr>
          <p:nvPr/>
        </p:nvSpPr>
        <p:spPr>
          <a:xfrm>
            <a:off x="6981825" y="5067300"/>
            <a:ext cx="46386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Сигнал, ограничивающий фильтрацию, ослабевает</a:t>
            </a:r>
          </a:p>
        </p:txBody>
      </p:sp>
      <p:cxnSp>
        <p:nvCxnSpPr>
          <p:cNvPr id="52" name="Прямая со стрелкой 51"/>
          <p:cNvCxnSpPr>
            <a:stCxn id="22" idx="2"/>
            <a:endCxn id="23" idx="0"/>
          </p:cNvCxnSpPr>
          <p:nvPr/>
        </p:nvCxnSpPr>
        <p:spPr>
          <a:xfrm>
            <a:off x="9301163" y="4800600"/>
            <a:ext cx="0" cy="266700"/>
          </a:xfrm>
          <a:prstGeom prst="straightConnector1">
            <a:avLst/>
          </a:prstGeom>
          <a:ln w="18098">
            <a:solidFill>
              <a:srgbClr val="996111"/>
            </a:solidFill>
            <a:prstDash val="solid"/>
            <a:tailEnd type="triangle" w="med" len="med"/>
          </a:ln>
        </p:spPr>
      </p:cxnSp>
      <p:sp>
        <p:nvSpPr>
          <p:cNvPr id="25" name="Фильтрация увеличивается">
            <a:extLst>
              <a:ext uri="{FF2B5EF4-FFF2-40B4-BE49-F238E27FC236}">
                <a16:creationId xmlns:a16="http://schemas.microsoft.com/office/drawing/2014/main" id="{34AA2E27-F1A0-4960-A55B-C3E015A50E00}"/>
              </a:ext>
            </a:extLst>
          </p:cNvPr>
          <p:cNvSpPr>
            <a:spLocks noGrp="1"/>
          </p:cNvSpPr>
          <p:nvPr/>
        </p:nvSpPr>
        <p:spPr>
          <a:xfrm>
            <a:off x="6981825" y="5619750"/>
            <a:ext cx="463867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1">
                <a:solidFill>
                  <a:srgbClr val="996111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1">
                <a:solidFill>
                  <a:srgbClr val="996111"/>
                </a:solidFill>
                <a:latin typeface="Arial Narrow"/>
                <a:ea typeface="Calibri"/>
                <a:cs typeface="Arial Narrow"/>
              </a:rPr>
              <a:t>Фильтрация может увеличиться</a:t>
            </a:r>
          </a:p>
        </p:txBody>
      </p:sp>
      <p:cxnSp>
        <p:nvCxnSpPr>
          <p:cNvPr id="54" name="Прямая со стрелкой 53"/>
          <p:cNvCxnSpPr>
            <a:stCxn id="23" idx="2"/>
            <a:endCxn id="25" idx="0"/>
          </p:cNvCxnSpPr>
          <p:nvPr/>
        </p:nvCxnSpPr>
        <p:spPr>
          <a:xfrm>
            <a:off x="9301163" y="5353050"/>
            <a:ext cx="0" cy="266700"/>
          </a:xfrm>
          <a:prstGeom prst="straightConnector1">
            <a:avLst/>
          </a:prstGeom>
          <a:ln w="18098">
            <a:solidFill>
              <a:srgbClr val="996111"/>
            </a:solidFill>
            <a:prstDash val="solid"/>
            <a:tailEnd type="triangle" w="med" len="med"/>
          </a:ln>
        </p:spPr>
      </p:cxnSp>
      <p:sp>
        <p:nvSpPr>
          <p:cNvPr id="55" name="Метка_выносящая"/>
          <p:cNvSpPr txBox="1"/>
          <p:nvPr/>
        </p:nvSpPr>
        <p:spPr>
          <a:xfrm>
            <a:off x="457200" y="5080000"/>
            <a:ext cx="16510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202020"/>
                </a:solidFill>
                <a:latin typeface="Arial Narrow"/>
                <a:cs typeface="Arial Narrow"/>
              </a:rPr>
              <a:t>Выносящая артериола</a:t>
            </a:r>
          </a:p>
        </p:txBody>
      </p:sp>
      <p:cxnSp>
        <p:nvCxnSpPr>
          <p:cNvPr id="56" name="Указатель_выносящая"/>
          <p:cNvCxnSpPr/>
          <p:nvPr/>
        </p:nvCxnSpPr>
        <p:spPr>
          <a:xfrm flipV="1">
            <a:off x="1524000" y="4826000"/>
            <a:ext cx="762000" cy="3175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57" name="Метка_проксимальный"/>
          <p:cNvSpPr txBox="1"/>
          <p:nvPr/>
        </p:nvSpPr>
        <p:spPr>
          <a:xfrm>
            <a:off x="5308600" y="1905000"/>
            <a:ext cx="12700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202020"/>
                </a:solidFill>
                <a:latin typeface="Arial Narrow"/>
                <a:cs typeface="Arial Narrow"/>
              </a:rPr>
              <a:t>Проксимальный каналец</a:t>
            </a:r>
          </a:p>
        </p:txBody>
      </p:sp>
      <p:cxnSp>
        <p:nvCxnSpPr>
          <p:cNvPr id="58" name="Указатель_проксимальный"/>
          <p:cNvCxnSpPr/>
          <p:nvPr/>
        </p:nvCxnSpPr>
        <p:spPr>
          <a:xfrm flipH="1">
            <a:off x="5918200" y="2336800"/>
            <a:ext cx="101600" cy="5588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59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Vallon V, Thomson SC. Nat Rev Nephrol. 2020;16:317–336.</a:t>
            </a:r>
          </a:p>
        </p:txBody>
      </p:sp>
      <p:pic>
        <p:nvPicPr>
          <p:cNvPr id="60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61" name="Связь_с_финереноном"/>
          <p:cNvSpPr txBox="1"/>
          <p:nvPr/>
        </p:nvSpPr>
        <p:spPr>
          <a:xfrm>
            <a:off x="6985000" y="5892800"/>
            <a:ext cx="4635500" cy="584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Связь с финереноном: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при лечении контролируют фильтрацию, от неё зависят начальная доза и повышение дозы (слайды 32, 34).</a:t>
            </a:r>
          </a:p>
        </p:txBody>
      </p:sp>
    </p:spTree>
    <p:extLst>
      <p:ext uri="{BB962C8B-B14F-4D97-AF65-F5344CB8AC3E}">
        <p14:creationId xmlns:p14="http://schemas.microsoft.com/office/powerpoint/2010/main" val="225056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">
            <a:extLst>
              <a:ext uri="{FF2B5EF4-FFF2-40B4-BE49-F238E27FC236}">
                <a16:creationId xmlns:a16="http://schemas.microsoft.com/office/drawing/2014/main" id="{7C1241FB-DAD9-4279-BA90-416BC346476C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При диабете фильтрация может стать избыточной</a:t>
            </a:r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33500" y="1258094"/>
            <a:ext cx="3333750" cy="4156075"/>
          </a:xfrm>
          <a:prstGeom prst="rect">
            <a:avLst/>
          </a:prstGeom>
        </p:spPr>
      </p:pic>
      <p:sp>
        <p:nvSpPr>
          <p:cNvPr id="3" name="Плотное пятно">
            <a:extLst>
              <a:ext uri="{FF2B5EF4-FFF2-40B4-BE49-F238E27FC236}">
                <a16:creationId xmlns:a16="http://schemas.microsoft.com/office/drawing/2014/main" id="{270045B5-E304-432C-A2AE-D10E4E162FF9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752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Плотное пятно</a:t>
            </a:r>
          </a:p>
        </p:txBody>
      </p:sp>
      <p:sp>
        <p:nvSpPr>
          <p:cNvPr id="4" name="Конец выноски">
            <a:extLst>
              <a:ext uri="{FF2B5EF4-FFF2-40B4-BE49-F238E27FC236}">
                <a16:creationId xmlns:a16="http://schemas.microsoft.com/office/drawing/2014/main" id="{17BDB29E-E77B-41C1-B030-19990CA7866B}"/>
              </a:ext>
            </a:extLst>
          </p:cNvPr>
          <p:cNvSpPr>
            <a:spLocks noGrp="1"/>
          </p:cNvSpPr>
          <p:nvPr/>
        </p:nvSpPr>
        <p:spPr>
          <a:xfrm>
            <a:off x="3181350" y="22574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cxnSp>
        <p:nvCxnSpPr>
          <p:cNvPr id="30" name="Прямая со стрелкой 29"/>
          <p:cNvCxnSpPr>
            <a:stCxn id="3" idx="3"/>
            <a:endCxn id="4" idx="1"/>
          </p:cNvCxnSpPr>
          <p:nvPr/>
        </p:nvCxnSpPr>
        <p:spPr>
          <a:xfrm>
            <a:off x="2209800" y="1571625"/>
            <a:ext cx="971550" cy="690563"/>
          </a:xfrm>
          <a:prstGeom prst="straightConnector1">
            <a:avLst/>
          </a:prstGeom>
          <a:ln w="11430">
            <a:solidFill>
              <a:srgbClr val="783686"/>
            </a:solidFill>
            <a:prstDash val="solid"/>
            <a:tailEnd type="none" w="med" len="med"/>
          </a:ln>
        </p:spPr>
      </p:cxnSp>
      <p:sp>
        <p:nvSpPr>
          <p:cNvPr id="6" name="Клубочек">
            <a:extLst>
              <a:ext uri="{FF2B5EF4-FFF2-40B4-BE49-F238E27FC236}">
                <a16:creationId xmlns:a16="http://schemas.microsoft.com/office/drawing/2014/main" id="{492037FF-C929-4B27-B3B4-AC203C498A22}"/>
              </a:ext>
            </a:extLst>
          </p:cNvPr>
          <p:cNvSpPr>
            <a:spLocks noGrp="1"/>
          </p:cNvSpPr>
          <p:nvPr/>
        </p:nvSpPr>
        <p:spPr>
          <a:xfrm>
            <a:off x="457200" y="2886075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Клубочек</a:t>
            </a:r>
          </a:p>
        </p:txBody>
      </p:sp>
      <p:sp>
        <p:nvSpPr>
          <p:cNvPr id="7" name="Конец выноски">
            <a:extLst>
              <a:ext uri="{FF2B5EF4-FFF2-40B4-BE49-F238E27FC236}">
                <a16:creationId xmlns:a16="http://schemas.microsoft.com/office/drawing/2014/main" id="{6F8FBE3A-DE4C-4EC0-8768-600F454BC13A}"/>
              </a:ext>
            </a:extLst>
          </p:cNvPr>
          <p:cNvSpPr>
            <a:spLocks noGrp="1"/>
          </p:cNvSpPr>
          <p:nvPr/>
        </p:nvSpPr>
        <p:spPr>
          <a:xfrm>
            <a:off x="3105150" y="24669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cxnSp>
        <p:nvCxnSpPr>
          <p:cNvPr id="33" name="Прямая со стрелкой 32"/>
          <p:cNvCxnSpPr>
            <a:stCxn id="6" idx="3"/>
            <a:endCxn id="7" idx="1"/>
          </p:cNvCxnSpPr>
          <p:nvPr/>
        </p:nvCxnSpPr>
        <p:spPr>
          <a:xfrm flipV="1">
            <a:off x="1752600" y="2471738"/>
            <a:ext cx="1352550" cy="557213"/>
          </a:xfrm>
          <a:prstGeom prst="straightConnector1">
            <a:avLst/>
          </a:prstGeom>
          <a:ln w="11430">
            <a:solidFill>
              <a:srgbClr val="7E919E"/>
            </a:solidFill>
            <a:prstDash val="solid"/>
            <a:tailEnd type="none" w="med" len="med"/>
          </a:ln>
        </p:spPr>
      </p:cxnSp>
      <p:sp>
        <p:nvSpPr>
          <p:cNvPr id="9" name="Проксимальный каналец">
            <a:extLst>
              <a:ext uri="{FF2B5EF4-FFF2-40B4-BE49-F238E27FC236}">
                <a16:creationId xmlns:a16="http://schemas.microsoft.com/office/drawing/2014/main" id="{1CFEC412-D18F-4170-A1BD-34567292CE4F}"/>
              </a:ext>
            </a:extLst>
          </p:cNvPr>
          <p:cNvSpPr>
            <a:spLocks noGrp="1"/>
          </p:cNvSpPr>
          <p:nvPr/>
        </p:nvSpPr>
        <p:spPr>
          <a:xfrm>
            <a:off x="4886325" y="3086100"/>
            <a:ext cx="16097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996111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400" b="1">
                <a:solidFill>
                  <a:srgbClr val="996111"/>
                </a:solidFill>
                <a:latin typeface="Arial Narrow"/>
                <a:ea typeface="Calibri"/>
                <a:cs typeface="Arial Narrow"/>
              </a:rPr>
              <a:t>Проксимальный</a:t>
            </a:r>
          </a:p>
          <a:p>
            <a:pPr algn="l">
              <a:defRPr sz="1400" b="1">
                <a:solidFill>
                  <a:srgbClr val="996111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400" b="1">
                <a:solidFill>
                  <a:srgbClr val="996111"/>
                </a:solidFill>
                <a:latin typeface="Arial Narrow"/>
                <a:ea typeface="Calibri"/>
                <a:cs typeface="Arial Narrow"/>
              </a:rPr>
              <a:t>каналец</a:t>
            </a:r>
          </a:p>
        </p:txBody>
      </p:sp>
      <p:sp>
        <p:nvSpPr>
          <p:cNvPr id="10" name="Конец выноски">
            <a:extLst>
              <a:ext uri="{FF2B5EF4-FFF2-40B4-BE49-F238E27FC236}">
                <a16:creationId xmlns:a16="http://schemas.microsoft.com/office/drawing/2014/main" id="{708583DB-31FF-4FC5-BF37-48CF23B52495}"/>
              </a:ext>
            </a:extLst>
          </p:cNvPr>
          <p:cNvSpPr>
            <a:spLocks noGrp="1"/>
          </p:cNvSpPr>
          <p:nvPr/>
        </p:nvSpPr>
        <p:spPr>
          <a:xfrm>
            <a:off x="3581400" y="300990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cxnSp>
        <p:nvCxnSpPr>
          <p:cNvPr id="36" name="Прямая со стрелкой 35"/>
          <p:cNvCxnSpPr/>
          <p:nvPr/>
        </p:nvCxnSpPr>
        <p:spPr>
          <a:xfrm flipH="1" flipV="1">
            <a:off x="3657600" y="2857500"/>
            <a:ext cx="1228725" cy="476251"/>
          </a:xfrm>
          <a:prstGeom prst="straightConnector1">
            <a:avLst/>
          </a:prstGeom>
          <a:ln w="11430">
            <a:solidFill>
              <a:srgbClr val="996111"/>
            </a:solidFill>
            <a:prstDash val="solid"/>
            <a:tailEnd type="none" w="med" len="med"/>
          </a:ln>
        </p:spPr>
      </p:cxnSp>
      <p:sp>
        <p:nvSpPr>
          <p:cNvPr id="12" name="Проксимальный каналец пояснение">
            <a:extLst>
              <a:ext uri="{FF2B5EF4-FFF2-40B4-BE49-F238E27FC236}">
                <a16:creationId xmlns:a16="http://schemas.microsoft.com/office/drawing/2014/main" id="{268DB1BA-CD19-4E8D-90CE-086F77B45B0B}"/>
              </a:ext>
            </a:extLst>
          </p:cNvPr>
          <p:cNvSpPr>
            <a:spLocks noGrp="1"/>
          </p:cNvSpPr>
          <p:nvPr/>
        </p:nvSpPr>
        <p:spPr>
          <a:xfrm>
            <a:off x="4886325" y="3800475"/>
            <a:ext cx="16192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Возвращает в кровь</a:t>
            </a:r>
          </a:p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глюкозу и натрий</a:t>
            </a:r>
          </a:p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через НГЛТ2</a:t>
            </a:r>
          </a:p>
        </p:txBody>
      </p:sp>
      <p:sp>
        <p:nvSpPr>
          <p:cNvPr id="13" name="Больше глюкозы">
            <a:extLst>
              <a:ext uri="{FF2B5EF4-FFF2-40B4-BE49-F238E27FC236}">
                <a16:creationId xmlns:a16="http://schemas.microsoft.com/office/drawing/2014/main" id="{4683CD03-651B-41D7-9280-91AAB8E9D5B4}"/>
              </a:ext>
            </a:extLst>
          </p:cNvPr>
          <p:cNvSpPr>
            <a:spLocks noGrp="1"/>
          </p:cNvSpPr>
          <p:nvPr/>
        </p:nvSpPr>
        <p:spPr>
          <a:xfrm>
            <a:off x="6572250" y="1171575"/>
            <a:ext cx="5162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 первичной моче больше глюкозы</a:t>
            </a:r>
          </a:p>
        </p:txBody>
      </p:sp>
      <p:sp>
        <p:nvSpPr>
          <p:cNvPr id="14" name="Больше обратное всасывание">
            <a:extLst>
              <a:ext uri="{FF2B5EF4-FFF2-40B4-BE49-F238E27FC236}">
                <a16:creationId xmlns:a16="http://schemas.microsoft.com/office/drawing/2014/main" id="{85ADFC8C-3185-4A00-887C-00031563ADCD}"/>
              </a:ext>
            </a:extLst>
          </p:cNvPr>
          <p:cNvSpPr>
            <a:spLocks noGrp="1"/>
          </p:cNvSpPr>
          <p:nvPr/>
        </p:nvSpPr>
        <p:spPr>
          <a:xfrm>
            <a:off x="6572250" y="1771650"/>
            <a:ext cx="516255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Проксимальный каналец возвращает в кровь</a:t>
            </a:r>
          </a:p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больше глюкозы и натрия</a:t>
            </a:r>
          </a:p>
        </p:txBody>
      </p:sp>
      <p:sp>
        <p:nvSpPr>
          <p:cNvPr id="15" name="Меньше соли">
            <a:extLst>
              <a:ext uri="{FF2B5EF4-FFF2-40B4-BE49-F238E27FC236}">
                <a16:creationId xmlns:a16="http://schemas.microsoft.com/office/drawing/2014/main" id="{253B4D1A-F9E7-4772-AFA3-9061AF1F8A4D}"/>
              </a:ext>
            </a:extLst>
          </p:cNvPr>
          <p:cNvSpPr>
            <a:spLocks noGrp="1"/>
          </p:cNvSpPr>
          <p:nvPr/>
        </p:nvSpPr>
        <p:spPr>
          <a:xfrm>
            <a:off x="6572250" y="2647950"/>
            <a:ext cx="51625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 плотному пятну поступает меньше соли</a:t>
            </a:r>
          </a:p>
        </p:txBody>
      </p:sp>
      <p:sp>
        <p:nvSpPr>
          <p:cNvPr id="16" name="Слабее обратный сигнал">
            <a:extLst>
              <a:ext uri="{FF2B5EF4-FFF2-40B4-BE49-F238E27FC236}">
                <a16:creationId xmlns:a16="http://schemas.microsoft.com/office/drawing/2014/main" id="{1CAEB525-7353-479A-A013-D4E2979E70EB}"/>
              </a:ext>
            </a:extLst>
          </p:cNvPr>
          <p:cNvSpPr>
            <a:spLocks noGrp="1"/>
          </p:cNvSpPr>
          <p:nvPr/>
        </p:nvSpPr>
        <p:spPr>
          <a:xfrm>
            <a:off x="6572250" y="3257550"/>
            <a:ext cx="51625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Сигнал, ограничивающий фильтрацию,</a:t>
            </a:r>
          </a:p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ослабевает</a:t>
            </a:r>
          </a:p>
        </p:txBody>
      </p:sp>
      <p:sp>
        <p:nvSpPr>
          <p:cNvPr id="17" name="Давление и гиперфильтрация">
            <a:extLst>
              <a:ext uri="{FF2B5EF4-FFF2-40B4-BE49-F238E27FC236}">
                <a16:creationId xmlns:a16="http://schemas.microsoft.com/office/drawing/2014/main" id="{2D8337B4-0816-4CBD-AFD0-75436EE61108}"/>
              </a:ext>
            </a:extLst>
          </p:cNvPr>
          <p:cNvSpPr>
            <a:spLocks noGrp="1"/>
          </p:cNvSpPr>
          <p:nvPr/>
        </p:nvSpPr>
        <p:spPr>
          <a:xfrm>
            <a:off x="6572250" y="4124325"/>
            <a:ext cx="51625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1">
                <a:solidFill>
                  <a:srgbClr val="AA3034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1">
                <a:solidFill>
                  <a:srgbClr val="AA3034"/>
                </a:solidFill>
                <a:latin typeface="Arial Narrow"/>
                <a:ea typeface="Calibri"/>
                <a:cs typeface="Arial Narrow"/>
              </a:rPr>
              <a:t>Приносящая артериола расширяется, давление</a:t>
            </a:r>
          </a:p>
          <a:p>
            <a:pPr algn="l">
              <a:defRPr sz="1600" b="1">
                <a:solidFill>
                  <a:srgbClr val="AA3034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1">
                <a:solidFill>
                  <a:srgbClr val="AA3034"/>
                </a:solidFill>
                <a:latin typeface="Arial Narrow"/>
                <a:ea typeface="Calibri"/>
                <a:cs typeface="Arial Narrow"/>
              </a:rPr>
              <a:t>в клубочке растёт: развивается гиперфильтрация.</a:t>
            </a:r>
          </a:p>
        </p:txBody>
      </p:sp>
      <p:cxnSp>
        <p:nvCxnSpPr>
          <p:cNvPr id="43" name="Прямая со стрелкой 42"/>
          <p:cNvCxnSpPr>
            <a:stCxn id="13" idx="2"/>
            <a:endCxn id="14" idx="0"/>
          </p:cNvCxnSpPr>
          <p:nvPr/>
        </p:nvCxnSpPr>
        <p:spPr>
          <a:xfrm>
            <a:off x="9153525" y="1466850"/>
            <a:ext cx="0" cy="304800"/>
          </a:xfrm>
          <a:prstGeom prst="straightConnector1">
            <a:avLst/>
          </a:prstGeom>
          <a:ln w="18098">
            <a:solidFill>
              <a:srgbClr val="7E919E"/>
            </a:solidFill>
            <a:prstDash val="solid"/>
            <a:tailEnd type="triangle" w="med" len="med"/>
          </a:ln>
        </p:spPr>
      </p:cxnSp>
      <p:cxnSp>
        <p:nvCxnSpPr>
          <p:cNvPr id="44" name="Прямая со стрелкой 43"/>
          <p:cNvCxnSpPr>
            <a:stCxn id="14" idx="2"/>
            <a:endCxn id="15" idx="0"/>
          </p:cNvCxnSpPr>
          <p:nvPr/>
        </p:nvCxnSpPr>
        <p:spPr>
          <a:xfrm>
            <a:off x="9153525" y="2333625"/>
            <a:ext cx="0" cy="314325"/>
          </a:xfrm>
          <a:prstGeom prst="straightConnector1">
            <a:avLst/>
          </a:prstGeom>
          <a:ln w="18098">
            <a:solidFill>
              <a:srgbClr val="7E919E"/>
            </a:solidFill>
            <a:prstDash val="solid"/>
            <a:tailEnd type="triangle" w="med" len="med"/>
          </a:ln>
        </p:spPr>
      </p:cxnSp>
      <p:cxnSp>
        <p:nvCxnSpPr>
          <p:cNvPr id="45" name="Прямая со стрелкой 44"/>
          <p:cNvCxnSpPr>
            <a:stCxn id="15" idx="2"/>
            <a:endCxn id="16" idx="0"/>
          </p:cNvCxnSpPr>
          <p:nvPr/>
        </p:nvCxnSpPr>
        <p:spPr>
          <a:xfrm>
            <a:off x="9153525" y="2943225"/>
            <a:ext cx="0" cy="314325"/>
          </a:xfrm>
          <a:prstGeom prst="straightConnector1">
            <a:avLst/>
          </a:prstGeom>
          <a:ln w="18098">
            <a:solidFill>
              <a:srgbClr val="7E919E"/>
            </a:solidFill>
            <a:prstDash val="solid"/>
            <a:tailEnd type="triangle" w="med" len="med"/>
          </a:ln>
        </p:spPr>
      </p:cxnSp>
      <p:cxnSp>
        <p:nvCxnSpPr>
          <p:cNvPr id="46" name="Прямая со стрелкой 45"/>
          <p:cNvCxnSpPr>
            <a:stCxn id="16" idx="2"/>
            <a:endCxn id="17" idx="0"/>
          </p:cNvCxnSpPr>
          <p:nvPr/>
        </p:nvCxnSpPr>
        <p:spPr>
          <a:xfrm>
            <a:off x="9153525" y="3810000"/>
            <a:ext cx="0" cy="314325"/>
          </a:xfrm>
          <a:prstGeom prst="straightConnector1">
            <a:avLst/>
          </a:prstGeom>
          <a:ln w="18098">
            <a:solidFill>
              <a:srgbClr val="AA3034"/>
            </a:solidFill>
            <a:prstDash val="solid"/>
            <a:tailEnd type="triangle" w="med" len="med"/>
          </a:ln>
        </p:spPr>
      </p:cxnSp>
      <p:sp>
        <p:nvSpPr>
          <p:cNvPr id="22" name="Повреждение барьера">
            <a:extLst>
              <a:ext uri="{FF2B5EF4-FFF2-40B4-BE49-F238E27FC236}">
                <a16:creationId xmlns:a16="http://schemas.microsoft.com/office/drawing/2014/main" id="{E7529765-7468-4393-BDB0-CF6B48AE7216}"/>
              </a:ext>
            </a:extLst>
          </p:cNvPr>
          <p:cNvSpPr>
            <a:spLocks noGrp="1"/>
          </p:cNvSpPr>
          <p:nvPr/>
        </p:nvSpPr>
        <p:spPr>
          <a:xfrm>
            <a:off x="6572250" y="5057775"/>
            <a:ext cx="51625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Длительная перегрузка</a:t>
            </a:r>
          </a:p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повреждает фильтрационный барьер.</a:t>
            </a:r>
          </a:p>
        </p:txBody>
      </p:sp>
      <p:sp>
        <p:nvSpPr>
          <p:cNvPr id="23" name="Сохранная рСКФ">
            <a:extLst>
              <a:ext uri="{FF2B5EF4-FFF2-40B4-BE49-F238E27FC236}">
                <a16:creationId xmlns:a16="http://schemas.microsoft.com/office/drawing/2014/main" id="{F9ED8BAC-DA0A-41B2-A9A7-9B6DEE11EEA5}"/>
              </a:ext>
            </a:extLst>
          </p:cNvPr>
          <p:cNvSpPr>
            <a:spLocks noGrp="1"/>
          </p:cNvSpPr>
          <p:nvPr/>
        </p:nvSpPr>
        <p:spPr>
          <a:xfrm>
            <a:off x="457200" y="5848350"/>
            <a:ext cx="10763250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Вывод: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повреждение почек возможно и при сохранной рСКФ.</a:t>
            </a:r>
          </a:p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Связь с финереноном: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на этот механизм действуют ингибиторы НГЛТ2; у финеренона другая мишень, он их не заменяет (слайд 27).</a:t>
            </a:r>
          </a:p>
        </p:txBody>
      </p:sp>
      <p:sp>
        <p:nvSpPr>
          <p:cNvPr id="47" name="Метка_приносящая"/>
          <p:cNvSpPr txBox="1"/>
          <p:nvPr/>
        </p:nvSpPr>
        <p:spPr>
          <a:xfrm>
            <a:off x="4724400" y="1905000"/>
            <a:ext cx="16510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202020"/>
                </a:solidFill>
                <a:latin typeface="Arial Narrow"/>
                <a:cs typeface="Arial Narrow"/>
              </a:rPr>
              <a:t>Приносящая артериола</a:t>
            </a:r>
          </a:p>
        </p:txBody>
      </p:sp>
      <p:cxnSp>
        <p:nvCxnSpPr>
          <p:cNvPr id="48" name="Указатель_приносящая"/>
          <p:cNvCxnSpPr/>
          <p:nvPr/>
        </p:nvCxnSpPr>
        <p:spPr>
          <a:xfrm flipH="1">
            <a:off x="3606800" y="2120900"/>
            <a:ext cx="1117600" cy="635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49" name="Источники"/>
          <p:cNvSpPr txBox="1"/>
          <p:nvPr/>
        </p:nvSpPr>
        <p:spPr>
          <a:xfrm>
            <a:off x="457200" y="6383020"/>
            <a:ext cx="10795000" cy="3987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рСКФ: расчётная скорость клубочковой фильтрации; НГЛТ2: натрий-глюкозный котранспортёр 2 типа.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Vallon V, Thomson SC. Nat Rev Nephrol. 2020;16:317–336. Alicic RZ, et al. Clin J Am Soc Nephrol. 2017;12:2032–2045. Retnakaran R, et al. Diabetes. 2006;55:1832–1839. T. Kebert, Jmarchn, CC BY-SA 4.0, modified.</a:t>
            </a:r>
          </a:p>
        </p:txBody>
      </p:sp>
      <p:pic>
        <p:nvPicPr>
          <p:cNvPr id="50" name="Логотип Орвилле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935496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При диабетической болезни почек расширяется мезангий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и может развиваться узелковый гломерулосклероз</a:t>
            </a:r>
          </a:p>
        </p:txBody>
      </p:sp>
      <p:sp>
        <p:nvSpPr>
          <p:cNvPr id="3" name="Сохранённая структура"/>
          <p:cNvSpPr txBox="1"/>
          <p:nvPr/>
        </p:nvSpPr>
        <p:spPr>
          <a:xfrm>
            <a:off x="502920" y="1261872"/>
            <a:ext cx="34747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Сохранная структура</a:t>
            </a:r>
          </a:p>
        </p:txBody>
      </p:sp>
      <p:sp>
        <p:nvSpPr>
          <p:cNvPr id="4" name="Контрольный образец"/>
          <p:cNvSpPr txBox="1"/>
          <p:nvPr/>
        </p:nvSpPr>
        <p:spPr>
          <a:xfrm>
            <a:off x="502920" y="1609344"/>
            <a:ext cx="34747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Контрольный образец</a:t>
            </a:r>
          </a:p>
        </p:txBody>
      </p:sp>
      <p:pic>
        <p:nvPicPr>
          <p:cNvPr id="5" name="Контроль: исходная панель 1B" descr="image.png"/>
          <p:cNvPicPr>
            <a:picLocks noChangeAspect="1"/>
          </p:cNvPicPr>
          <p:nvPr/>
        </p:nvPicPr>
        <p:blipFill>
          <a:blip r:embed="rId2"/>
          <a:srcRect l="3456" t="26663" r="74542" b="57729"/>
          <a:stretch>
            <a:fillRect/>
          </a:stretch>
        </p:blipFill>
        <p:spPr>
          <a:xfrm>
            <a:off x="502920" y="1856231"/>
            <a:ext cx="3236976" cy="3236976"/>
          </a:xfrm>
          <a:prstGeom prst="rect">
            <a:avLst/>
          </a:prstGeom>
        </p:spPr>
      </p:pic>
      <p:sp>
        <p:nvSpPr>
          <p:cNvPr id="6" name="Расширение мезангия"/>
          <p:cNvSpPr txBox="1"/>
          <p:nvPr/>
        </p:nvSpPr>
        <p:spPr>
          <a:xfrm>
            <a:off x="4389120" y="1261872"/>
            <a:ext cx="34747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Расширение мезангия</a:t>
            </a:r>
          </a:p>
        </p:txBody>
      </p:sp>
      <p:sp>
        <p:nvSpPr>
          <p:cNvPr id="7" name="Класс II"/>
          <p:cNvSpPr txBox="1"/>
          <p:nvPr/>
        </p:nvSpPr>
        <p:spPr>
          <a:xfrm>
            <a:off x="4389120" y="1609344"/>
            <a:ext cx="34747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Класс II</a:t>
            </a:r>
          </a:p>
        </p:txBody>
      </p:sp>
      <p:pic>
        <p:nvPicPr>
          <p:cNvPr id="8" name="Класс II: исходная панель 1B" descr="image.png"/>
          <p:cNvPicPr>
            <a:picLocks noChangeAspect="1"/>
          </p:cNvPicPr>
          <p:nvPr/>
        </p:nvPicPr>
        <p:blipFill>
          <a:blip r:embed="rId2"/>
          <a:srcRect l="48307" t="26713" r="29690" b="57679"/>
          <a:stretch>
            <a:fillRect/>
          </a:stretch>
        </p:blipFill>
        <p:spPr>
          <a:xfrm>
            <a:off x="4389120" y="1856231"/>
            <a:ext cx="3236976" cy="3236976"/>
          </a:xfrm>
          <a:prstGeom prst="rect">
            <a:avLst/>
          </a:prstGeom>
        </p:spPr>
      </p:pic>
      <p:sp>
        <p:nvSpPr>
          <p:cNvPr id="9" name="Узловой склероз"/>
          <p:cNvSpPr txBox="1"/>
          <p:nvPr/>
        </p:nvSpPr>
        <p:spPr>
          <a:xfrm>
            <a:off x="8275320" y="1261872"/>
            <a:ext cx="347472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Узелковый склероз</a:t>
            </a:r>
          </a:p>
        </p:txBody>
      </p:sp>
      <p:sp>
        <p:nvSpPr>
          <p:cNvPr id="10" name="Класс III"/>
          <p:cNvSpPr txBox="1"/>
          <p:nvPr/>
        </p:nvSpPr>
        <p:spPr>
          <a:xfrm>
            <a:off x="8275320" y="1609344"/>
            <a:ext cx="34747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Класс III</a:t>
            </a:r>
          </a:p>
        </p:txBody>
      </p:sp>
      <p:pic>
        <p:nvPicPr>
          <p:cNvPr id="11" name="Класс III: исходная панель 1B" descr="image.png"/>
          <p:cNvPicPr>
            <a:picLocks noChangeAspect="1"/>
          </p:cNvPicPr>
          <p:nvPr/>
        </p:nvPicPr>
        <p:blipFill>
          <a:blip r:embed="rId2"/>
          <a:srcRect l="70733" t="26663" r="7264" b="57729"/>
          <a:stretch>
            <a:fillRect/>
          </a:stretch>
        </p:blipFill>
        <p:spPr>
          <a:xfrm>
            <a:off x="8275320" y="1856231"/>
            <a:ext cx="3236976" cy="3236976"/>
          </a:xfrm>
          <a:prstGeom prst="rect">
            <a:avLst/>
          </a:prstGeom>
        </p:spPr>
      </p:pic>
      <p:cxnSp>
        <p:nvCxnSpPr>
          <p:cNvPr id="12" name="Подложка указателя матрикса"/>
          <p:cNvCxnSpPr/>
          <p:nvPr/>
        </p:nvCxnSpPr>
        <p:spPr>
          <a:xfrm>
            <a:off x="5295473" y="3199577"/>
            <a:ext cx="210403" cy="291327"/>
          </a:xfrm>
          <a:prstGeom prst="line">
            <a:avLst/>
          </a:prstGeom>
          <a:ln w="355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Область мезангиального матрикса"/>
          <p:cNvCxnSpPr/>
          <p:nvPr/>
        </p:nvCxnSpPr>
        <p:spPr>
          <a:xfrm>
            <a:off x="5295473" y="3199577"/>
            <a:ext cx="210403" cy="291327"/>
          </a:xfrm>
          <a:prstGeom prst="line">
            <a:avLst/>
          </a:prstGeom>
          <a:ln w="15875">
            <a:solidFill>
              <a:srgbClr val="087A9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Матрикс"/>
          <p:cNvSpPr txBox="1"/>
          <p:nvPr/>
        </p:nvSpPr>
        <p:spPr>
          <a:xfrm>
            <a:off x="4470400" y="2717800"/>
            <a:ext cx="1168400" cy="45720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7A92"/>
                </a:solidFill>
                <a:latin typeface="Arial Narrow"/>
                <a:cs typeface="Arial Narrow"/>
              </a:rPr>
              <a:t>Мезангиальный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7A92"/>
                </a:solidFill>
                <a:latin typeface="Arial Narrow"/>
                <a:cs typeface="Arial Narrow"/>
              </a:rPr>
              <a:t>матрикс</a:t>
            </a:r>
          </a:p>
        </p:txBody>
      </p:sp>
      <p:cxnSp>
        <p:nvCxnSpPr>
          <p:cNvPr id="16" name="Подложка указателя узла"/>
          <p:cNvCxnSpPr/>
          <p:nvPr/>
        </p:nvCxnSpPr>
        <p:spPr>
          <a:xfrm>
            <a:off x="8938900" y="4057375"/>
            <a:ext cx="339882" cy="388437"/>
          </a:xfrm>
          <a:prstGeom prst="line">
            <a:avLst/>
          </a:prstGeom>
          <a:ln w="355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Область узла склероза"/>
          <p:cNvCxnSpPr/>
          <p:nvPr/>
        </p:nvCxnSpPr>
        <p:spPr>
          <a:xfrm>
            <a:off x="8938900" y="4057375"/>
            <a:ext cx="339882" cy="388437"/>
          </a:xfrm>
          <a:prstGeom prst="line">
            <a:avLst/>
          </a:prstGeom>
          <a:ln w="15875">
            <a:solidFill>
              <a:srgbClr val="087A9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Узел&#10;склероза"/>
          <p:cNvSpPr txBox="1"/>
          <p:nvPr/>
        </p:nvSpPr>
        <p:spPr>
          <a:xfrm>
            <a:off x="8331200" y="3520439"/>
            <a:ext cx="1778000" cy="48260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7A92"/>
                </a:solidFill>
                <a:latin typeface="Arial Narrow"/>
                <a:cs typeface="Arial Narrow"/>
              </a:rPr>
              <a:t>Узелок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87A92"/>
                </a:solidFill>
                <a:latin typeface="Arial Narrow"/>
                <a:cs typeface="Arial Narrow"/>
              </a:rPr>
              <a:t>Киммелстила–Уилсона</a:t>
            </a:r>
          </a:p>
        </p:txBody>
      </p:sp>
      <p:sp>
        <p:nvSpPr>
          <p:cNvPr id="20" name="Мезангий поддерживает капилляры.&#10;Он состоит из клеток и матр"/>
          <p:cNvSpPr txBox="1"/>
          <p:nvPr/>
        </p:nvSpPr>
        <p:spPr>
          <a:xfrm>
            <a:off x="502920" y="5248656"/>
            <a:ext cx="365760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Мезангий поддерживает капилляры.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Он состоит из клеток и матрикса,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то есть межклеточного вещества.</a:t>
            </a:r>
          </a:p>
        </p:txBody>
      </p:sp>
      <p:sp>
        <p:nvSpPr>
          <p:cNvPr id="21" name="Объём мезангиального матрикса&#10;увеличен. Узлового склероза&#10;в "/>
          <p:cNvSpPr txBox="1"/>
          <p:nvPr/>
        </p:nvSpPr>
        <p:spPr>
          <a:xfrm>
            <a:off x="4389120" y="5248656"/>
            <a:ext cx="365760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Объём мезангиального матрикса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увеличен. Узелкового склероза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в этом классе нет.</a:t>
            </a:r>
          </a:p>
        </p:txBody>
      </p:sp>
      <p:sp>
        <p:nvSpPr>
          <p:cNvPr id="22" name="В мезангии формируются&#10;округлые узлы&#10;из межклеточного матрик"/>
          <p:cNvSpPr txBox="1"/>
          <p:nvPr/>
        </p:nvSpPr>
        <p:spPr>
          <a:xfrm>
            <a:off x="8275320" y="5248656"/>
            <a:ext cx="365760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В мезангии формируются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округлые узелки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из межклеточного матрикса.</a:t>
            </a:r>
          </a:p>
        </p:txBody>
      </p:sp>
      <p:sp>
        <p:nvSpPr>
          <p:cNvPr id="23" name="ШИК-окраска. Линейка 20 мкм. Образцы разных людей; классы не"/>
          <p:cNvSpPr txBox="1"/>
          <p:nvPr/>
        </p:nvSpPr>
        <p:spPr>
          <a:xfrm>
            <a:off x="457200" y="596900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Образцы разных пациентов. Гистологический класс не то же самое, что стадия ХБП по рСКФ.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Связь с финереноном: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при его назначении врач ориентируется на рСКФ, альбуминурию и калий (слайды 12, 32).</a:t>
            </a:r>
          </a:p>
        </p:txBody>
      </p:sp>
      <p:sp>
        <p:nvSpPr>
          <p:cNvPr id="24" name="Метка_мезангий"/>
          <p:cNvSpPr txBox="1"/>
          <p:nvPr/>
        </p:nvSpPr>
        <p:spPr>
          <a:xfrm>
            <a:off x="584200" y="2819400"/>
            <a:ext cx="88900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87A92"/>
                </a:solidFill>
                <a:latin typeface="Arial Narrow"/>
                <a:cs typeface="Arial Narrow"/>
              </a:rPr>
              <a:t>Мезангий</a:t>
            </a:r>
          </a:p>
        </p:txBody>
      </p:sp>
      <p:cxnSp>
        <p:nvCxnSpPr>
          <p:cNvPr id="25" name="Указатель_мезангий"/>
          <p:cNvCxnSpPr/>
          <p:nvPr/>
        </p:nvCxnSpPr>
        <p:spPr>
          <a:xfrm>
            <a:off x="1270000" y="3048000"/>
            <a:ext cx="736600" cy="279400"/>
          </a:xfrm>
          <a:prstGeom prst="line">
            <a:avLst/>
          </a:prstGeom>
          <a:ln w="15875">
            <a:solidFill>
              <a:srgbClr val="087A92"/>
            </a:solidFill>
            <a:tailEnd type="triangle" w="med" len="med"/>
          </a:ln>
        </p:spPr>
      </p:cxnSp>
      <p:sp>
        <p:nvSpPr>
          <p:cNvPr id="26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рСКФ: расчётная скорость клубочковой фильтрации.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Bai Y, et al. Front Endocrinol. 2022;13:984452 (CC BY 4.0). Cohen Tervaert TW, et al. J Am Soc Nephrol. 2010;21:556–563.</a:t>
            </a:r>
          </a:p>
        </p:txBody>
      </p:sp>
      <p:pic>
        <p:nvPicPr>
          <p:cNvPr id="27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Диабетическая болезнь почек затрагивает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канальцы и ткань между ними</a:t>
            </a:r>
          </a:p>
        </p:txBody>
      </p:sp>
      <p:grpSp>
        <p:nvGrpSpPr>
          <p:cNvPr id="4" name="Сохранная ткань: редактируемая схема"/>
          <p:cNvGrpSpPr/>
          <p:nvPr/>
        </p:nvGrpSpPr>
        <p:grpSpPr>
          <a:xfrm>
            <a:off x="500268" y="1923098"/>
            <a:ext cx="3247031" cy="2826647"/>
            <a:chOff x="500268" y="1923098"/>
            <a:chExt cx="3247031" cy="2826647"/>
          </a:xfrm>
        </p:grpSpPr>
        <p:sp>
          <p:nvSpPr>
            <p:cNvPr id="5" name="Интерстиций"/>
            <p:cNvSpPr/>
            <p:nvPr/>
          </p:nvSpPr>
          <p:spPr>
            <a:xfrm>
              <a:off x="500268" y="1923098"/>
              <a:ext cx="3247031" cy="2826647"/>
            </a:xfrm>
            <a:custGeom>
              <a:avLst/>
              <a:gdLst/>
              <a:ahLst/>
              <a:cxnLst/>
              <a:rect l="l" t="t" r="r" b="b"/>
              <a:pathLst>
                <a:path w="3247031" h="2826647">
                  <a:moveTo>
                    <a:pt x="20940" y="509206"/>
                  </a:moveTo>
                  <a:lnTo>
                    <a:pt x="29566" y="444269"/>
                  </a:lnTo>
                  <a:lnTo>
                    <a:pt x="37942" y="388048"/>
                  </a:lnTo>
                  <a:lnTo>
                    <a:pt x="47247" y="339256"/>
                  </a:lnTo>
                  <a:lnTo>
                    <a:pt x="58659" y="296608"/>
                  </a:lnTo>
                  <a:lnTo>
                    <a:pt x="73357" y="258818"/>
                  </a:lnTo>
                  <a:lnTo>
                    <a:pt x="92520" y="224599"/>
                  </a:lnTo>
                  <a:lnTo>
                    <a:pt x="117327" y="192666"/>
                  </a:lnTo>
                  <a:lnTo>
                    <a:pt x="148956" y="161734"/>
                  </a:lnTo>
                  <a:lnTo>
                    <a:pt x="187318" y="132820"/>
                  </a:lnTo>
                  <a:lnTo>
                    <a:pt x="231252" y="107584"/>
                  </a:lnTo>
                  <a:lnTo>
                    <a:pt x="280330" y="85707"/>
                  </a:lnTo>
                  <a:lnTo>
                    <a:pt x="334122" y="66865"/>
                  </a:lnTo>
                  <a:lnTo>
                    <a:pt x="392201" y="50738"/>
                  </a:lnTo>
                  <a:lnTo>
                    <a:pt x="454137" y="37004"/>
                  </a:lnTo>
                  <a:lnTo>
                    <a:pt x="519502" y="25342"/>
                  </a:lnTo>
                  <a:lnTo>
                    <a:pt x="587868" y="15430"/>
                  </a:lnTo>
                  <a:lnTo>
                    <a:pt x="662761" y="7742"/>
                  </a:lnTo>
                  <a:lnTo>
                    <a:pt x="746102" y="2786"/>
                  </a:lnTo>
                  <a:lnTo>
                    <a:pt x="835051" y="294"/>
                  </a:lnTo>
                  <a:lnTo>
                    <a:pt x="926768" y="0"/>
                  </a:lnTo>
                  <a:lnTo>
                    <a:pt x="1018413" y="1634"/>
                  </a:lnTo>
                  <a:lnTo>
                    <a:pt x="1107147" y="4929"/>
                  </a:lnTo>
                  <a:lnTo>
                    <a:pt x="1190131" y="9617"/>
                  </a:lnTo>
                  <a:lnTo>
                    <a:pt x="1264524" y="15430"/>
                  </a:lnTo>
                  <a:lnTo>
                    <a:pt x="1327746" y="22565"/>
                  </a:lnTo>
                  <a:lnTo>
                    <a:pt x="1381396" y="31361"/>
                  </a:lnTo>
                  <a:lnTo>
                    <a:pt x="1428902" y="41764"/>
                  </a:lnTo>
                  <a:lnTo>
                    <a:pt x="1473693" y="53721"/>
                  </a:lnTo>
                  <a:lnTo>
                    <a:pt x="1519199" y="67178"/>
                  </a:lnTo>
                  <a:lnTo>
                    <a:pt x="1568848" y="82081"/>
                  </a:lnTo>
                  <a:lnTo>
                    <a:pt x="1626069" y="98378"/>
                  </a:lnTo>
                  <a:lnTo>
                    <a:pt x="1694292" y="116014"/>
                  </a:lnTo>
                  <a:lnTo>
                    <a:pt x="1776302" y="135329"/>
                  </a:lnTo>
                  <a:lnTo>
                    <a:pt x="1870028" y="156519"/>
                  </a:lnTo>
                  <a:lnTo>
                    <a:pt x="1971612" y="179317"/>
                  </a:lnTo>
                  <a:lnTo>
                    <a:pt x="2077197" y="203454"/>
                  </a:lnTo>
                  <a:lnTo>
                    <a:pt x="2182924" y="228662"/>
                  </a:lnTo>
                  <a:lnTo>
                    <a:pt x="2284937" y="254674"/>
                  </a:lnTo>
                  <a:lnTo>
                    <a:pt x="2379378" y="281222"/>
                  </a:lnTo>
                  <a:lnTo>
                    <a:pt x="2462388" y="308038"/>
                  </a:lnTo>
                  <a:lnTo>
                    <a:pt x="2534647" y="333693"/>
                  </a:lnTo>
                  <a:lnTo>
                    <a:pt x="2600120" y="357830"/>
                  </a:lnTo>
                  <a:lnTo>
                    <a:pt x="2659877" y="381788"/>
                  </a:lnTo>
                  <a:lnTo>
                    <a:pt x="2714991" y="406908"/>
                  </a:lnTo>
                  <a:lnTo>
                    <a:pt x="2766533" y="434527"/>
                  </a:lnTo>
                  <a:lnTo>
                    <a:pt x="2815575" y="465986"/>
                  </a:lnTo>
                  <a:lnTo>
                    <a:pt x="2863188" y="502625"/>
                  </a:lnTo>
                  <a:lnTo>
                    <a:pt x="2910444" y="545782"/>
                  </a:lnTo>
                  <a:lnTo>
                    <a:pt x="2958120" y="595538"/>
                  </a:lnTo>
                  <a:lnTo>
                    <a:pt x="3005527" y="650652"/>
                  </a:lnTo>
                  <a:lnTo>
                    <a:pt x="3051542" y="710481"/>
                  </a:lnTo>
                  <a:lnTo>
                    <a:pt x="3095039" y="774382"/>
                  </a:lnTo>
                  <a:lnTo>
                    <a:pt x="3134892" y="841712"/>
                  </a:lnTo>
                  <a:lnTo>
                    <a:pt x="3169976" y="911828"/>
                  </a:lnTo>
                  <a:lnTo>
                    <a:pt x="3199168" y="984087"/>
                  </a:lnTo>
                  <a:lnTo>
                    <a:pt x="3221340" y="1057846"/>
                  </a:lnTo>
                  <a:lnTo>
                    <a:pt x="3236119" y="1135240"/>
                  </a:lnTo>
                  <a:lnTo>
                    <a:pt x="3244414" y="1217795"/>
                  </a:lnTo>
                  <a:lnTo>
                    <a:pt x="3247031" y="1303957"/>
                  </a:lnTo>
                  <a:lnTo>
                    <a:pt x="3244772" y="1392174"/>
                  </a:lnTo>
                  <a:lnTo>
                    <a:pt x="3238440" y="1480890"/>
                  </a:lnTo>
                  <a:lnTo>
                    <a:pt x="3228841" y="1568553"/>
                  </a:lnTo>
                  <a:lnTo>
                    <a:pt x="3216777" y="1653608"/>
                  </a:lnTo>
                  <a:lnTo>
                    <a:pt x="3203052" y="1734502"/>
                  </a:lnTo>
                  <a:lnTo>
                    <a:pt x="3188890" y="1812699"/>
                  </a:lnTo>
                  <a:lnTo>
                    <a:pt x="3174048" y="1890307"/>
                  </a:lnTo>
                  <a:lnTo>
                    <a:pt x="3157136" y="1966736"/>
                  </a:lnTo>
                  <a:lnTo>
                    <a:pt x="3136758" y="2041398"/>
                  </a:lnTo>
                  <a:lnTo>
                    <a:pt x="3111523" y="2113701"/>
                  </a:lnTo>
                  <a:lnTo>
                    <a:pt x="3080037" y="2183058"/>
                  </a:lnTo>
                  <a:lnTo>
                    <a:pt x="3040907" y="2248879"/>
                  </a:lnTo>
                  <a:lnTo>
                    <a:pt x="2992740" y="2310574"/>
                  </a:lnTo>
                  <a:lnTo>
                    <a:pt x="2933295" y="2368751"/>
                  </a:lnTo>
                  <a:lnTo>
                    <a:pt x="2862938" y="2424231"/>
                  </a:lnTo>
                  <a:lnTo>
                    <a:pt x="2784187" y="2476747"/>
                  </a:lnTo>
                  <a:lnTo>
                    <a:pt x="2699560" y="2526030"/>
                  </a:lnTo>
                  <a:lnTo>
                    <a:pt x="2611576" y="2571812"/>
                  </a:lnTo>
                  <a:lnTo>
                    <a:pt x="2522753" y="2613826"/>
                  </a:lnTo>
                  <a:lnTo>
                    <a:pt x="2435608" y="2651804"/>
                  </a:lnTo>
                  <a:lnTo>
                    <a:pt x="2352660" y="2685478"/>
                  </a:lnTo>
                  <a:lnTo>
                    <a:pt x="2272838" y="2714357"/>
                  </a:lnTo>
                  <a:lnTo>
                    <a:pt x="2193283" y="2738485"/>
                  </a:lnTo>
                  <a:lnTo>
                    <a:pt x="2113836" y="2758398"/>
                  </a:lnTo>
                  <a:lnTo>
                    <a:pt x="2034334" y="2774632"/>
                  </a:lnTo>
                  <a:lnTo>
                    <a:pt x="1954619" y="2787723"/>
                  </a:lnTo>
                  <a:lnTo>
                    <a:pt x="1874529" y="2798206"/>
                  </a:lnTo>
                  <a:lnTo>
                    <a:pt x="1793903" y="2806618"/>
                  </a:lnTo>
                  <a:lnTo>
                    <a:pt x="1712580" y="2813494"/>
                  </a:lnTo>
                  <a:lnTo>
                    <a:pt x="1630141" y="2819379"/>
                  </a:lnTo>
                  <a:lnTo>
                    <a:pt x="1546559" y="2823995"/>
                  </a:lnTo>
                  <a:lnTo>
                    <a:pt x="1462263" y="2826647"/>
                  </a:lnTo>
                  <a:lnTo>
                    <a:pt x="1377681" y="2826639"/>
                  </a:lnTo>
                  <a:lnTo>
                    <a:pt x="1293242" y="2823272"/>
                  </a:lnTo>
                  <a:lnTo>
                    <a:pt x="1209374" y="2815851"/>
                  </a:lnTo>
                  <a:lnTo>
                    <a:pt x="1126507" y="2803680"/>
                  </a:lnTo>
                  <a:lnTo>
                    <a:pt x="1045068" y="2786062"/>
                  </a:lnTo>
                  <a:lnTo>
                    <a:pt x="963469" y="2762970"/>
                  </a:lnTo>
                  <a:lnTo>
                    <a:pt x="880619" y="2735056"/>
                  </a:lnTo>
                  <a:lnTo>
                    <a:pt x="797698" y="2702641"/>
                  </a:lnTo>
                  <a:lnTo>
                    <a:pt x="715884" y="2666047"/>
                  </a:lnTo>
                  <a:lnTo>
                    <a:pt x="636356" y="2625596"/>
                  </a:lnTo>
                  <a:lnTo>
                    <a:pt x="560293" y="2581608"/>
                  </a:lnTo>
                  <a:lnTo>
                    <a:pt x="488873" y="2534406"/>
                  </a:lnTo>
                  <a:lnTo>
                    <a:pt x="423276" y="2484310"/>
                  </a:lnTo>
                  <a:lnTo>
                    <a:pt x="362349" y="2430785"/>
                  </a:lnTo>
                  <a:lnTo>
                    <a:pt x="304475" y="2373296"/>
                  </a:lnTo>
                  <a:lnTo>
                    <a:pt x="250138" y="2312163"/>
                  </a:lnTo>
                  <a:lnTo>
                    <a:pt x="199820" y="2247709"/>
                  </a:lnTo>
                  <a:lnTo>
                    <a:pt x="154001" y="2180254"/>
                  </a:lnTo>
                  <a:lnTo>
                    <a:pt x="113166" y="2110120"/>
                  </a:lnTo>
                  <a:lnTo>
                    <a:pt x="77795" y="2037629"/>
                  </a:lnTo>
                  <a:lnTo>
                    <a:pt x="48372" y="1963102"/>
                  </a:lnTo>
                  <a:lnTo>
                    <a:pt x="26467" y="1885816"/>
                  </a:lnTo>
                  <a:lnTo>
                    <a:pt x="12296" y="1805154"/>
                  </a:lnTo>
                  <a:lnTo>
                    <a:pt x="4304" y="1721599"/>
                  </a:lnTo>
                  <a:lnTo>
                    <a:pt x="938" y="1635632"/>
                  </a:lnTo>
                  <a:lnTo>
                    <a:pt x="643" y="1547738"/>
                  </a:lnTo>
                  <a:lnTo>
                    <a:pt x="1866" y="1458396"/>
                  </a:lnTo>
                  <a:lnTo>
                    <a:pt x="3054" y="1368090"/>
                  </a:lnTo>
                  <a:lnTo>
                    <a:pt x="2652" y="1277302"/>
                  </a:lnTo>
                  <a:lnTo>
                    <a:pt x="1125" y="1182353"/>
                  </a:lnTo>
                  <a:lnTo>
                    <a:pt x="152" y="1081206"/>
                  </a:lnTo>
                  <a:lnTo>
                    <a:pt x="0" y="976809"/>
                  </a:lnTo>
                  <a:lnTo>
                    <a:pt x="938" y="872108"/>
                  </a:lnTo>
                  <a:lnTo>
                    <a:pt x="3232" y="770051"/>
                  </a:lnTo>
                  <a:lnTo>
                    <a:pt x="7153" y="673584"/>
                  </a:lnTo>
                  <a:lnTo>
                    <a:pt x="12966" y="585653"/>
                  </a:lnTo>
                  <a:close/>
                </a:path>
              </a:pathLst>
            </a:custGeom>
            <a:solidFill>
              <a:srgbClr val="FAF2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" name="Стромальная клетка"/>
            <p:cNvSpPr/>
            <p:nvPr/>
          </p:nvSpPr>
          <p:spPr>
            <a:xfrm rot="4260000">
              <a:off x="2041676" y="3122203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7" name="Стромальная клетка"/>
            <p:cNvSpPr/>
            <p:nvPr/>
          </p:nvSpPr>
          <p:spPr>
            <a:xfrm rot="6000000">
              <a:off x="2886304" y="3992750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8" name="Стромальная клетка"/>
            <p:cNvSpPr/>
            <p:nvPr/>
          </p:nvSpPr>
          <p:spPr>
            <a:xfrm rot="4680000">
              <a:off x="1997100" y="2864879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9" name="Стромальная клетка"/>
            <p:cNvSpPr/>
            <p:nvPr/>
          </p:nvSpPr>
          <p:spPr>
            <a:xfrm rot="2820000">
              <a:off x="2876596" y="3696464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0" name="Стромальная клетка"/>
            <p:cNvSpPr/>
            <p:nvPr/>
          </p:nvSpPr>
          <p:spPr>
            <a:xfrm rot="3960000">
              <a:off x="2471708" y="4415081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1" name="Стромальная клетка"/>
            <p:cNvSpPr/>
            <p:nvPr/>
          </p:nvSpPr>
          <p:spPr>
            <a:xfrm rot="1080000">
              <a:off x="659794" y="3672310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2" name="Стромальная клетка"/>
            <p:cNvSpPr/>
            <p:nvPr/>
          </p:nvSpPr>
          <p:spPr>
            <a:xfrm rot="2520000">
              <a:off x="1282621" y="3352815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3" name="Стромальная клетка"/>
            <p:cNvSpPr/>
            <p:nvPr/>
          </p:nvSpPr>
          <p:spPr>
            <a:xfrm rot="5100000">
              <a:off x="904811" y="3203497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4" name="Стромальная клетка"/>
            <p:cNvSpPr/>
            <p:nvPr/>
          </p:nvSpPr>
          <p:spPr>
            <a:xfrm rot="7380000">
              <a:off x="2068923" y="3332092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5" name="Базальная мембрана канальца"/>
            <p:cNvSpPr/>
            <p:nvPr/>
          </p:nvSpPr>
          <p:spPr>
            <a:xfrm>
              <a:off x="683304" y="2071667"/>
              <a:ext cx="1337077" cy="1165489"/>
            </a:xfrm>
            <a:custGeom>
              <a:avLst/>
              <a:gdLst/>
              <a:ahLst/>
              <a:cxnLst/>
              <a:rect l="l" t="t" r="r" b="b"/>
              <a:pathLst>
                <a:path w="1337077" h="1165489">
                  <a:moveTo>
                    <a:pt x="1319930" y="385209"/>
                  </a:moveTo>
                  <a:lnTo>
                    <a:pt x="1327084" y="414760"/>
                  </a:lnTo>
                  <a:lnTo>
                    <a:pt x="1332412" y="444732"/>
                  </a:lnTo>
                  <a:lnTo>
                    <a:pt x="1335785" y="475057"/>
                  </a:lnTo>
                  <a:lnTo>
                    <a:pt x="1337077" y="505646"/>
                  </a:lnTo>
                  <a:lnTo>
                    <a:pt x="1336179" y="536387"/>
                  </a:lnTo>
                  <a:lnTo>
                    <a:pt x="1333007" y="567150"/>
                  </a:lnTo>
                  <a:lnTo>
                    <a:pt x="1327521" y="597788"/>
                  </a:lnTo>
                  <a:lnTo>
                    <a:pt x="1319727" y="628149"/>
                  </a:lnTo>
                  <a:lnTo>
                    <a:pt x="1309681" y="658084"/>
                  </a:lnTo>
                  <a:lnTo>
                    <a:pt x="1297494" y="687453"/>
                  </a:lnTo>
                  <a:lnTo>
                    <a:pt x="1283321" y="716143"/>
                  </a:lnTo>
                  <a:lnTo>
                    <a:pt x="1267358" y="744067"/>
                  </a:lnTo>
                  <a:lnTo>
                    <a:pt x="1249820" y="771177"/>
                  </a:lnTo>
                  <a:lnTo>
                    <a:pt x="1230936" y="797462"/>
                  </a:lnTo>
                  <a:lnTo>
                    <a:pt x="1210927" y="822948"/>
                  </a:lnTo>
                  <a:lnTo>
                    <a:pt x="1189989" y="847693"/>
                  </a:lnTo>
                  <a:lnTo>
                    <a:pt x="1168285" y="871778"/>
                  </a:lnTo>
                  <a:lnTo>
                    <a:pt x="1145928" y="895295"/>
                  </a:lnTo>
                  <a:lnTo>
                    <a:pt x="1122982" y="918336"/>
                  </a:lnTo>
                  <a:lnTo>
                    <a:pt x="1099455" y="940974"/>
                  </a:lnTo>
                  <a:lnTo>
                    <a:pt x="1075303" y="963255"/>
                  </a:lnTo>
                  <a:lnTo>
                    <a:pt x="1050444" y="985185"/>
                  </a:lnTo>
                  <a:lnTo>
                    <a:pt x="1024765" y="1006718"/>
                  </a:lnTo>
                  <a:lnTo>
                    <a:pt x="998139" y="1027758"/>
                  </a:lnTo>
                  <a:lnTo>
                    <a:pt x="970443" y="1048153"/>
                  </a:lnTo>
                  <a:lnTo>
                    <a:pt x="941575" y="1067704"/>
                  </a:lnTo>
                  <a:lnTo>
                    <a:pt x="911465" y="1086174"/>
                  </a:lnTo>
                  <a:lnTo>
                    <a:pt x="880094" y="1103298"/>
                  </a:lnTo>
                  <a:lnTo>
                    <a:pt x="847496" y="1118805"/>
                  </a:lnTo>
                  <a:lnTo>
                    <a:pt x="813762" y="1132427"/>
                  </a:lnTo>
                  <a:lnTo>
                    <a:pt x="779041" y="1143923"/>
                  </a:lnTo>
                  <a:lnTo>
                    <a:pt x="743531" y="1153092"/>
                  </a:lnTo>
                  <a:lnTo>
                    <a:pt x="707468" y="1159788"/>
                  </a:lnTo>
                  <a:lnTo>
                    <a:pt x="671113" y="1163926"/>
                  </a:lnTo>
                  <a:lnTo>
                    <a:pt x="634735" y="1165489"/>
                  </a:lnTo>
                  <a:lnTo>
                    <a:pt x="598595" y="1164527"/>
                  </a:lnTo>
                  <a:lnTo>
                    <a:pt x="562930" y="1161151"/>
                  </a:lnTo>
                  <a:lnTo>
                    <a:pt x="527943" y="1155524"/>
                  </a:lnTo>
                  <a:lnTo>
                    <a:pt x="493791" y="1147850"/>
                  </a:lnTo>
                  <a:lnTo>
                    <a:pt x="460584" y="1138353"/>
                  </a:lnTo>
                  <a:lnTo>
                    <a:pt x="428382" y="1127267"/>
                  </a:lnTo>
                  <a:lnTo>
                    <a:pt x="397201" y="1114815"/>
                  </a:lnTo>
                  <a:lnTo>
                    <a:pt x="367021" y="1101197"/>
                  </a:lnTo>
                  <a:lnTo>
                    <a:pt x="337799" y="1086579"/>
                  </a:lnTo>
                  <a:lnTo>
                    <a:pt x="309483" y="1071086"/>
                  </a:lnTo>
                  <a:lnTo>
                    <a:pt x="282022" y="1054795"/>
                  </a:lnTo>
                  <a:lnTo>
                    <a:pt x="255381" y="1037743"/>
                  </a:lnTo>
                  <a:lnTo>
                    <a:pt x="229553" y="1019925"/>
                  </a:lnTo>
                  <a:lnTo>
                    <a:pt x="204562" y="1001307"/>
                  </a:lnTo>
                  <a:lnTo>
                    <a:pt x="180469" y="981836"/>
                  </a:lnTo>
                  <a:lnTo>
                    <a:pt x="157370" y="961450"/>
                  </a:lnTo>
                  <a:lnTo>
                    <a:pt x="135391" y="940092"/>
                  </a:lnTo>
                  <a:lnTo>
                    <a:pt x="114677" y="917718"/>
                  </a:lnTo>
                  <a:lnTo>
                    <a:pt x="95383" y="894309"/>
                  </a:lnTo>
                  <a:lnTo>
                    <a:pt x="77660" y="869872"/>
                  </a:lnTo>
                  <a:lnTo>
                    <a:pt x="61645" y="844447"/>
                  </a:lnTo>
                  <a:lnTo>
                    <a:pt x="47445" y="818101"/>
                  </a:lnTo>
                  <a:lnTo>
                    <a:pt x="35134" y="790924"/>
                  </a:lnTo>
                  <a:lnTo>
                    <a:pt x="24743" y="763026"/>
                  </a:lnTo>
                  <a:lnTo>
                    <a:pt x="16264" y="734525"/>
                  </a:lnTo>
                  <a:lnTo>
                    <a:pt x="9648" y="705538"/>
                  </a:lnTo>
                  <a:lnTo>
                    <a:pt x="4816" y="676176"/>
                  </a:lnTo>
                  <a:lnTo>
                    <a:pt x="1669" y="646532"/>
                  </a:lnTo>
                  <a:lnTo>
                    <a:pt x="97" y="616681"/>
                  </a:lnTo>
                  <a:lnTo>
                    <a:pt x="0" y="586679"/>
                  </a:lnTo>
                  <a:lnTo>
                    <a:pt x="1292" y="556560"/>
                  </a:lnTo>
                  <a:lnTo>
                    <a:pt x="3919" y="526346"/>
                  </a:lnTo>
                  <a:lnTo>
                    <a:pt x="7866" y="496051"/>
                  </a:lnTo>
                  <a:lnTo>
                    <a:pt x="13157" y="465691"/>
                  </a:lnTo>
                  <a:lnTo>
                    <a:pt x="19861" y="435294"/>
                  </a:lnTo>
                  <a:lnTo>
                    <a:pt x="28081" y="404907"/>
                  </a:lnTo>
                  <a:lnTo>
                    <a:pt x="37950" y="374609"/>
                  </a:lnTo>
                  <a:lnTo>
                    <a:pt x="49616" y="344508"/>
                  </a:lnTo>
                  <a:lnTo>
                    <a:pt x="63225" y="314753"/>
                  </a:lnTo>
                  <a:lnTo>
                    <a:pt x="78908" y="285521"/>
                  </a:lnTo>
                  <a:lnTo>
                    <a:pt x="96766" y="257021"/>
                  </a:lnTo>
                  <a:lnTo>
                    <a:pt x="116854" y="229481"/>
                  </a:lnTo>
                  <a:lnTo>
                    <a:pt x="139172" y="203133"/>
                  </a:lnTo>
                  <a:lnTo>
                    <a:pt x="163660" y="178205"/>
                  </a:lnTo>
                  <a:lnTo>
                    <a:pt x="190196" y="154904"/>
                  </a:lnTo>
                  <a:lnTo>
                    <a:pt x="218599" y="133401"/>
                  </a:lnTo>
                  <a:lnTo>
                    <a:pt x="248644" y="113821"/>
                  </a:lnTo>
                  <a:lnTo>
                    <a:pt x="280066" y="96232"/>
                  </a:lnTo>
                  <a:lnTo>
                    <a:pt x="312582" y="80645"/>
                  </a:lnTo>
                  <a:lnTo>
                    <a:pt x="345908" y="67010"/>
                  </a:lnTo>
                  <a:lnTo>
                    <a:pt x="379773" y="55220"/>
                  </a:lnTo>
                  <a:lnTo>
                    <a:pt x="413937" y="45124"/>
                  </a:lnTo>
                  <a:lnTo>
                    <a:pt x="448202" y="36536"/>
                  </a:lnTo>
                  <a:lnTo>
                    <a:pt x="482424" y="29254"/>
                  </a:lnTo>
                  <a:lnTo>
                    <a:pt x="516511" y="23074"/>
                  </a:lnTo>
                  <a:lnTo>
                    <a:pt x="550426" y="17809"/>
                  </a:lnTo>
                  <a:lnTo>
                    <a:pt x="584179" y="13303"/>
                  </a:lnTo>
                  <a:lnTo>
                    <a:pt x="617816" y="9449"/>
                  </a:lnTo>
                  <a:lnTo>
                    <a:pt x="651406" y="6189"/>
                  </a:lnTo>
                  <a:lnTo>
                    <a:pt x="685027" y="3527"/>
                  </a:lnTo>
                  <a:lnTo>
                    <a:pt x="718748" y="1525"/>
                  </a:lnTo>
                  <a:lnTo>
                    <a:pt x="752615" y="297"/>
                  </a:lnTo>
                  <a:lnTo>
                    <a:pt x="786640" y="0"/>
                  </a:lnTo>
                  <a:lnTo>
                    <a:pt x="820792" y="823"/>
                  </a:lnTo>
                  <a:lnTo>
                    <a:pt x="854991" y="2968"/>
                  </a:lnTo>
                  <a:lnTo>
                    <a:pt x="889115" y="6635"/>
                  </a:lnTo>
                  <a:lnTo>
                    <a:pt x="922996" y="12007"/>
                  </a:lnTo>
                  <a:lnTo>
                    <a:pt x="956438" y="19237"/>
                  </a:lnTo>
                  <a:lnTo>
                    <a:pt x="989222" y="28432"/>
                  </a:lnTo>
                  <a:lnTo>
                    <a:pt x="1021127" y="39651"/>
                  </a:lnTo>
                  <a:lnTo>
                    <a:pt x="1051935" y="52901"/>
                  </a:lnTo>
                  <a:lnTo>
                    <a:pt x="1081454" y="68135"/>
                  </a:lnTo>
                  <a:lnTo>
                    <a:pt x="1109521" y="85261"/>
                  </a:lnTo>
                  <a:lnTo>
                    <a:pt x="1136014" y="104149"/>
                  </a:lnTo>
                  <a:lnTo>
                    <a:pt x="1160852" y="124643"/>
                  </a:lnTo>
                  <a:lnTo>
                    <a:pt x="1183997" y="146572"/>
                  </a:lnTo>
                  <a:lnTo>
                    <a:pt x="1205447" y="169761"/>
                  </a:lnTo>
                  <a:lnTo>
                    <a:pt x="1225229" y="194047"/>
                  </a:lnTo>
                  <a:lnTo>
                    <a:pt x="1243388" y="219280"/>
                  </a:lnTo>
                  <a:lnTo>
                    <a:pt x="1259971" y="245337"/>
                  </a:lnTo>
                  <a:lnTo>
                    <a:pt x="1275021" y="272117"/>
                  </a:lnTo>
                  <a:lnTo>
                    <a:pt x="1288561" y="299544"/>
                  </a:lnTo>
                  <a:lnTo>
                    <a:pt x="1300587" y="327562"/>
                  </a:lnTo>
                  <a:lnTo>
                    <a:pt x="1311066" y="356130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6" name="Клетка однослойного эпителия"/>
            <p:cNvSpPr/>
            <p:nvPr/>
          </p:nvSpPr>
          <p:spPr>
            <a:xfrm>
              <a:off x="1788242" y="2462800"/>
              <a:ext cx="207610" cy="194210"/>
            </a:xfrm>
            <a:custGeom>
              <a:avLst/>
              <a:gdLst/>
              <a:ahLst/>
              <a:cxnLst/>
              <a:rect l="l" t="t" r="r" b="b"/>
              <a:pathLst>
                <a:path w="207610" h="194210">
                  <a:moveTo>
                    <a:pt x="192881" y="0"/>
                  </a:moveTo>
                  <a:lnTo>
                    <a:pt x="197433" y="18912"/>
                  </a:lnTo>
                  <a:lnTo>
                    <a:pt x="201192" y="38005"/>
                  </a:lnTo>
                  <a:lnTo>
                    <a:pt x="204125" y="57260"/>
                  </a:lnTo>
                  <a:lnTo>
                    <a:pt x="206195" y="76655"/>
                  </a:lnTo>
                  <a:lnTo>
                    <a:pt x="207368" y="96164"/>
                  </a:lnTo>
                  <a:lnTo>
                    <a:pt x="207610" y="115756"/>
                  </a:lnTo>
                  <a:lnTo>
                    <a:pt x="206894" y="135396"/>
                  </a:lnTo>
                  <a:lnTo>
                    <a:pt x="205197" y="155046"/>
                  </a:lnTo>
                  <a:lnTo>
                    <a:pt x="202504" y="174666"/>
                  </a:lnTo>
                  <a:lnTo>
                    <a:pt x="198810" y="194210"/>
                  </a:lnTo>
                  <a:lnTo>
                    <a:pt x="1416" y="176941"/>
                  </a:lnTo>
                  <a:lnTo>
                    <a:pt x="4249" y="164275"/>
                  </a:lnTo>
                  <a:lnTo>
                    <a:pt x="6389" y="151576"/>
                  </a:lnTo>
                  <a:lnTo>
                    <a:pt x="7838" y="138871"/>
                  </a:lnTo>
                  <a:lnTo>
                    <a:pt x="8608" y="126185"/>
                  </a:lnTo>
                  <a:lnTo>
                    <a:pt x="8712" y="113544"/>
                  </a:lnTo>
                  <a:lnTo>
                    <a:pt x="8169" y="100970"/>
                  </a:lnTo>
                  <a:lnTo>
                    <a:pt x="7003" y="88481"/>
                  </a:lnTo>
                  <a:lnTo>
                    <a:pt x="5236" y="76095"/>
                  </a:lnTo>
                  <a:lnTo>
                    <a:pt x="2894" y="63825"/>
                  </a:lnTo>
                  <a:lnTo>
                    <a:pt x="0" y="51683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7" name="Ядро эпителиальной клетки"/>
            <p:cNvSpPr/>
            <p:nvPr/>
          </p:nvSpPr>
          <p:spPr>
            <a:xfrm rot="21300000">
              <a:off x="1846588" y="250170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8" name="Ядрышко"/>
            <p:cNvSpPr/>
            <p:nvPr/>
          </p:nvSpPr>
          <p:spPr>
            <a:xfrm>
              <a:off x="1875849" y="255337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9" name="Клетка однослойного эпителия"/>
            <p:cNvSpPr/>
            <p:nvPr/>
          </p:nvSpPr>
          <p:spPr>
            <a:xfrm>
              <a:off x="1727238" y="2639741"/>
              <a:ext cx="259814" cy="200044"/>
            </a:xfrm>
            <a:custGeom>
              <a:avLst/>
              <a:gdLst/>
              <a:ahLst/>
              <a:cxnLst/>
              <a:rect l="l" t="t" r="r" b="b"/>
              <a:pathLst>
                <a:path w="259814" h="200044">
                  <a:moveTo>
                    <a:pt x="259814" y="17269"/>
                  </a:moveTo>
                  <a:lnTo>
                    <a:pt x="255122" y="36696"/>
                  </a:lnTo>
                  <a:lnTo>
                    <a:pt x="249446" y="55959"/>
                  </a:lnTo>
                  <a:lnTo>
                    <a:pt x="242811" y="75018"/>
                  </a:lnTo>
                  <a:lnTo>
                    <a:pt x="235250" y="93832"/>
                  </a:lnTo>
                  <a:lnTo>
                    <a:pt x="226810" y="112366"/>
                  </a:lnTo>
                  <a:lnTo>
                    <a:pt x="217541" y="130591"/>
                  </a:lnTo>
                  <a:lnTo>
                    <a:pt x="207506" y="148483"/>
                  </a:lnTo>
                  <a:lnTo>
                    <a:pt x="196767" y="166027"/>
                  </a:lnTo>
                  <a:lnTo>
                    <a:pt x="185395" y="183214"/>
                  </a:lnTo>
                  <a:lnTo>
                    <a:pt x="173460" y="200044"/>
                  </a:lnTo>
                  <a:lnTo>
                    <a:pt x="0" y="119158"/>
                  </a:lnTo>
                  <a:lnTo>
                    <a:pt x="8511" y="108131"/>
                  </a:lnTo>
                  <a:lnTo>
                    <a:pt x="16635" y="96881"/>
                  </a:lnTo>
                  <a:lnTo>
                    <a:pt x="24325" y="85409"/>
                  </a:lnTo>
                  <a:lnTo>
                    <a:pt x="31533" y="73723"/>
                  </a:lnTo>
                  <a:lnTo>
                    <a:pt x="38213" y="61832"/>
                  </a:lnTo>
                  <a:lnTo>
                    <a:pt x="44324" y="49753"/>
                  </a:lnTo>
                  <a:lnTo>
                    <a:pt x="49828" y="37506"/>
                  </a:lnTo>
                  <a:lnTo>
                    <a:pt x="54694" y="25113"/>
                  </a:lnTo>
                  <a:lnTo>
                    <a:pt x="58897" y="12602"/>
                  </a:lnTo>
                  <a:lnTo>
                    <a:pt x="62420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0" name="Ядро эпителиальной клетки"/>
            <p:cNvSpPr/>
            <p:nvPr/>
          </p:nvSpPr>
          <p:spPr>
            <a:xfrm rot="900000">
              <a:off x="1810257" y="265953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1" name="Ядрышко"/>
            <p:cNvSpPr/>
            <p:nvPr/>
          </p:nvSpPr>
          <p:spPr>
            <a:xfrm>
              <a:off x="1839518" y="271119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2" name="Клетка однослойного эпителия"/>
            <p:cNvSpPr/>
            <p:nvPr/>
          </p:nvSpPr>
          <p:spPr>
            <a:xfrm>
              <a:off x="1629253" y="2758899"/>
              <a:ext cx="271445" cy="233844"/>
            </a:xfrm>
            <a:custGeom>
              <a:avLst/>
              <a:gdLst/>
              <a:ahLst/>
              <a:cxnLst/>
              <a:rect l="l" t="t" r="r" b="b"/>
              <a:pathLst>
                <a:path w="271445" h="233844">
                  <a:moveTo>
                    <a:pt x="271445" y="80886"/>
                  </a:moveTo>
                  <a:lnTo>
                    <a:pt x="259014" y="97366"/>
                  </a:lnTo>
                  <a:lnTo>
                    <a:pt x="246155" y="113511"/>
                  </a:lnTo>
                  <a:lnTo>
                    <a:pt x="232926" y="129343"/>
                  </a:lnTo>
                  <a:lnTo>
                    <a:pt x="219382" y="144887"/>
                  </a:lnTo>
                  <a:lnTo>
                    <a:pt x="205566" y="160175"/>
                  </a:lnTo>
                  <a:lnTo>
                    <a:pt x="191513" y="175237"/>
                  </a:lnTo>
                  <a:lnTo>
                    <a:pt x="177244" y="190106"/>
                  </a:lnTo>
                  <a:lnTo>
                    <a:pt x="162773" y="204813"/>
                  </a:lnTo>
                  <a:lnTo>
                    <a:pt x="148098" y="219386"/>
                  </a:lnTo>
                  <a:lnTo>
                    <a:pt x="133208" y="233844"/>
                  </a:lnTo>
                  <a:lnTo>
                    <a:pt x="0" y="100636"/>
                  </a:lnTo>
                  <a:lnTo>
                    <a:pt x="10526" y="91098"/>
                  </a:lnTo>
                  <a:lnTo>
                    <a:pt x="20905" y="81490"/>
                  </a:lnTo>
                  <a:lnTo>
                    <a:pt x="31145" y="71797"/>
                  </a:lnTo>
                  <a:lnTo>
                    <a:pt x="41245" y="62002"/>
                  </a:lnTo>
                  <a:lnTo>
                    <a:pt x="51200" y="52086"/>
                  </a:lnTo>
                  <a:lnTo>
                    <a:pt x="60993" y="42028"/>
                  </a:lnTo>
                  <a:lnTo>
                    <a:pt x="70601" y="31808"/>
                  </a:lnTo>
                  <a:lnTo>
                    <a:pt x="79994" y="21407"/>
                  </a:lnTo>
                  <a:lnTo>
                    <a:pt x="89136" y="10809"/>
                  </a:lnTo>
                  <a:lnTo>
                    <a:pt x="97985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3" name="Ядро эпителиальной клетки"/>
            <p:cNvSpPr/>
            <p:nvPr/>
          </p:nvSpPr>
          <p:spPr>
            <a:xfrm rot="2100000">
              <a:off x="1708828" y="279657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4" name="Ядрышко"/>
            <p:cNvSpPr/>
            <p:nvPr/>
          </p:nvSpPr>
          <p:spPr>
            <a:xfrm>
              <a:off x="1738089" y="284823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5" name="Клетка однослойного эпителия"/>
            <p:cNvSpPr/>
            <p:nvPr/>
          </p:nvSpPr>
          <p:spPr>
            <a:xfrm>
              <a:off x="1510801" y="2859535"/>
              <a:ext cx="251660" cy="269574"/>
            </a:xfrm>
            <a:custGeom>
              <a:avLst/>
              <a:gdLst/>
              <a:ahLst/>
              <a:cxnLst/>
              <a:rect l="l" t="t" r="r" b="b"/>
              <a:pathLst>
                <a:path w="251660" h="269574">
                  <a:moveTo>
                    <a:pt x="251660" y="133208"/>
                  </a:moveTo>
                  <a:lnTo>
                    <a:pt x="236534" y="147566"/>
                  </a:lnTo>
                  <a:lnTo>
                    <a:pt x="221143" y="161830"/>
                  </a:lnTo>
                  <a:lnTo>
                    <a:pt x="205449" y="175993"/>
                  </a:lnTo>
                  <a:lnTo>
                    <a:pt x="189411" y="190041"/>
                  </a:lnTo>
                  <a:lnTo>
                    <a:pt x="172984" y="203945"/>
                  </a:lnTo>
                  <a:lnTo>
                    <a:pt x="156124" y="217666"/>
                  </a:lnTo>
                  <a:lnTo>
                    <a:pt x="138788" y="231155"/>
                  </a:lnTo>
                  <a:lnTo>
                    <a:pt x="120937" y="244350"/>
                  </a:lnTo>
                  <a:lnTo>
                    <a:pt x="102542" y="257182"/>
                  </a:lnTo>
                  <a:lnTo>
                    <a:pt x="83578" y="269574"/>
                  </a:lnTo>
                  <a:lnTo>
                    <a:pt x="0" y="90342"/>
                  </a:lnTo>
                  <a:lnTo>
                    <a:pt x="13323" y="82081"/>
                  </a:lnTo>
                  <a:lnTo>
                    <a:pt x="26258" y="73543"/>
                  </a:lnTo>
                  <a:lnTo>
                    <a:pt x="38820" y="64780"/>
                  </a:lnTo>
                  <a:lnTo>
                    <a:pt x="51029" y="55834"/>
                  </a:lnTo>
                  <a:lnTo>
                    <a:pt x="62911" y="46744"/>
                  </a:lnTo>
                  <a:lnTo>
                    <a:pt x="74496" y="37543"/>
                  </a:lnTo>
                  <a:lnTo>
                    <a:pt x="85813" y="28254"/>
                  </a:lnTo>
                  <a:lnTo>
                    <a:pt x="96892" y="18895"/>
                  </a:lnTo>
                  <a:lnTo>
                    <a:pt x="107764" y="9476"/>
                  </a:lnTo>
                  <a:lnTo>
                    <a:pt x="118452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6" name="Ядро эпителиальной клетки"/>
            <p:cNvSpPr/>
            <p:nvPr/>
          </p:nvSpPr>
          <p:spPr>
            <a:xfrm rot="3300000">
              <a:off x="1580827" y="291544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7" name="Ядрышко"/>
            <p:cNvSpPr/>
            <p:nvPr/>
          </p:nvSpPr>
          <p:spPr>
            <a:xfrm>
              <a:off x="1610088" y="296710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8" name="Клетка однослойного эпителия"/>
            <p:cNvSpPr/>
            <p:nvPr/>
          </p:nvSpPr>
          <p:spPr>
            <a:xfrm>
              <a:off x="1358639" y="2949877"/>
              <a:ext cx="235740" cy="260969"/>
            </a:xfrm>
            <a:custGeom>
              <a:avLst/>
              <a:gdLst/>
              <a:ahLst/>
              <a:cxnLst/>
              <a:rect l="l" t="t" r="r" b="b"/>
              <a:pathLst>
                <a:path w="235740" h="260969">
                  <a:moveTo>
                    <a:pt x="235740" y="179232"/>
                  </a:moveTo>
                  <a:lnTo>
                    <a:pt x="216196" y="191102"/>
                  </a:lnTo>
                  <a:lnTo>
                    <a:pt x="196070" y="202362"/>
                  </a:lnTo>
                  <a:lnTo>
                    <a:pt x="175373" y="212927"/>
                  </a:lnTo>
                  <a:lnTo>
                    <a:pt x="154129" y="222710"/>
                  </a:lnTo>
                  <a:lnTo>
                    <a:pt x="132374" y="231630"/>
                  </a:lnTo>
                  <a:lnTo>
                    <a:pt x="110157" y="239611"/>
                  </a:lnTo>
                  <a:lnTo>
                    <a:pt x="87535" y="246585"/>
                  </a:lnTo>
                  <a:lnTo>
                    <a:pt x="64575" y="252498"/>
                  </a:lnTo>
                  <a:lnTo>
                    <a:pt x="41354" y="257303"/>
                  </a:lnTo>
                  <a:lnTo>
                    <a:pt x="17952" y="260969"/>
                  </a:lnTo>
                  <a:lnTo>
                    <a:pt x="0" y="55774"/>
                  </a:lnTo>
                  <a:lnTo>
                    <a:pt x="16279" y="53083"/>
                  </a:lnTo>
                  <a:lnTo>
                    <a:pt x="32449" y="49660"/>
                  </a:lnTo>
                  <a:lnTo>
                    <a:pt x="48452" y="45525"/>
                  </a:lnTo>
                  <a:lnTo>
                    <a:pt x="64237" y="40710"/>
                  </a:lnTo>
                  <a:lnTo>
                    <a:pt x="79755" y="35251"/>
                  </a:lnTo>
                  <a:lnTo>
                    <a:pt x="94965" y="29192"/>
                  </a:lnTo>
                  <a:lnTo>
                    <a:pt x="109832" y="22583"/>
                  </a:lnTo>
                  <a:lnTo>
                    <a:pt x="124331" y="15478"/>
                  </a:lnTo>
                  <a:lnTo>
                    <a:pt x="138444" y="7931"/>
                  </a:lnTo>
                  <a:lnTo>
                    <a:pt x="152162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9" name="Ядро эпителиальной клетки"/>
            <p:cNvSpPr/>
            <p:nvPr/>
          </p:nvSpPr>
          <p:spPr>
            <a:xfrm rot="4500000">
              <a:off x="1417931" y="301309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0" name="Ядрышко"/>
            <p:cNvSpPr/>
            <p:nvPr/>
          </p:nvSpPr>
          <p:spPr>
            <a:xfrm>
              <a:off x="1447192" y="306475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1" name="Клетка однослойного эпителия"/>
            <p:cNvSpPr/>
            <p:nvPr/>
          </p:nvSpPr>
          <p:spPr>
            <a:xfrm>
              <a:off x="1149672" y="2993797"/>
              <a:ext cx="226919" cy="221111"/>
            </a:xfrm>
            <a:custGeom>
              <a:avLst/>
              <a:gdLst/>
              <a:ahLst/>
              <a:cxnLst/>
              <a:rect l="l" t="t" r="r" b="b"/>
              <a:pathLst>
                <a:path w="226919" h="221111">
                  <a:moveTo>
                    <a:pt x="226919" y="217049"/>
                  </a:moveTo>
                  <a:lnTo>
                    <a:pt x="203419" y="219559"/>
                  </a:lnTo>
                  <a:lnTo>
                    <a:pt x="179905" y="220909"/>
                  </a:lnTo>
                  <a:lnTo>
                    <a:pt x="156459" y="221111"/>
                  </a:lnTo>
                  <a:lnTo>
                    <a:pt x="133162" y="220189"/>
                  </a:lnTo>
                  <a:lnTo>
                    <a:pt x="110086" y="218180"/>
                  </a:lnTo>
                  <a:lnTo>
                    <a:pt x="87297" y="215132"/>
                  </a:lnTo>
                  <a:lnTo>
                    <a:pt x="64852" y="211103"/>
                  </a:lnTo>
                  <a:lnTo>
                    <a:pt x="42799" y="206157"/>
                  </a:lnTo>
                  <a:lnTo>
                    <a:pt x="21172" y="200366"/>
                  </a:lnTo>
                  <a:lnTo>
                    <a:pt x="0" y="193802"/>
                  </a:lnTo>
                  <a:lnTo>
                    <a:pt x="51929" y="0"/>
                  </a:lnTo>
                  <a:lnTo>
                    <a:pt x="66520" y="3943"/>
                  </a:lnTo>
                  <a:lnTo>
                    <a:pt x="81437" y="7380"/>
                  </a:lnTo>
                  <a:lnTo>
                    <a:pt x="96662" y="10265"/>
                  </a:lnTo>
                  <a:lnTo>
                    <a:pt x="112171" y="12554"/>
                  </a:lnTo>
                  <a:lnTo>
                    <a:pt x="127932" y="14205"/>
                  </a:lnTo>
                  <a:lnTo>
                    <a:pt x="143906" y="15182"/>
                  </a:lnTo>
                  <a:lnTo>
                    <a:pt x="160049" y="15453"/>
                  </a:lnTo>
                  <a:lnTo>
                    <a:pt x="176310" y="14998"/>
                  </a:lnTo>
                  <a:lnTo>
                    <a:pt x="192635" y="13800"/>
                  </a:lnTo>
                  <a:lnTo>
                    <a:pt x="208967" y="1185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2" name="Ядро эпителиальной клетки"/>
            <p:cNvSpPr/>
            <p:nvPr/>
          </p:nvSpPr>
          <p:spPr>
            <a:xfrm rot="5700000">
              <a:off x="1223317" y="303961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3" name="Ядрышко"/>
            <p:cNvSpPr/>
            <p:nvPr/>
          </p:nvSpPr>
          <p:spPr>
            <a:xfrm>
              <a:off x="1252578" y="309127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4" name="Клетка однослойного эпителия"/>
            <p:cNvSpPr/>
            <p:nvPr/>
          </p:nvSpPr>
          <p:spPr>
            <a:xfrm>
              <a:off x="962767" y="2935681"/>
              <a:ext cx="238834" cy="251918"/>
            </a:xfrm>
            <a:custGeom>
              <a:avLst/>
              <a:gdLst/>
              <a:ahLst/>
              <a:cxnLst/>
              <a:rect l="l" t="t" r="r" b="b"/>
              <a:pathLst>
                <a:path w="238834" h="251918">
                  <a:moveTo>
                    <a:pt x="186905" y="251918"/>
                  </a:moveTo>
                  <a:lnTo>
                    <a:pt x="166203" y="244655"/>
                  </a:lnTo>
                  <a:lnTo>
                    <a:pt x="145976" y="236765"/>
                  </a:lnTo>
                  <a:lnTo>
                    <a:pt x="126224" y="228317"/>
                  </a:lnTo>
                  <a:lnTo>
                    <a:pt x="106936" y="219374"/>
                  </a:lnTo>
                  <a:lnTo>
                    <a:pt x="88098" y="209991"/>
                  </a:lnTo>
                  <a:lnTo>
                    <a:pt x="69692" y="200217"/>
                  </a:lnTo>
                  <a:lnTo>
                    <a:pt x="51698" y="190092"/>
                  </a:lnTo>
                  <a:lnTo>
                    <a:pt x="34096" y="179643"/>
                  </a:lnTo>
                  <a:lnTo>
                    <a:pt x="16868" y="168892"/>
                  </a:lnTo>
                  <a:lnTo>
                    <a:pt x="0" y="157850"/>
                  </a:lnTo>
                  <a:lnTo>
                    <a:pt x="110528" y="0"/>
                  </a:lnTo>
                  <a:lnTo>
                    <a:pt x="122072" y="6892"/>
                  </a:lnTo>
                  <a:lnTo>
                    <a:pt x="133870" y="13592"/>
                  </a:lnTo>
                  <a:lnTo>
                    <a:pt x="145931" y="20091"/>
                  </a:lnTo>
                  <a:lnTo>
                    <a:pt x="158269" y="26376"/>
                  </a:lnTo>
                  <a:lnTo>
                    <a:pt x="170897" y="32428"/>
                  </a:lnTo>
                  <a:lnTo>
                    <a:pt x="183830" y="38222"/>
                  </a:lnTo>
                  <a:lnTo>
                    <a:pt x="197082" y="43726"/>
                  </a:lnTo>
                  <a:lnTo>
                    <a:pt x="210662" y="48905"/>
                  </a:lnTo>
                  <a:lnTo>
                    <a:pt x="224579" y="53716"/>
                  </a:lnTo>
                  <a:lnTo>
                    <a:pt x="238834" y="58116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5" name="Ядро эпителиальной клетки"/>
            <p:cNvSpPr/>
            <p:nvPr/>
          </p:nvSpPr>
          <p:spPr>
            <a:xfrm rot="6900000">
              <a:off x="1048200" y="298704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6" name="Ядрышко"/>
            <p:cNvSpPr/>
            <p:nvPr/>
          </p:nvSpPr>
          <p:spPr>
            <a:xfrm>
              <a:off x="1077461" y="303870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7" name="Клетка однослойного эпителия"/>
            <p:cNvSpPr/>
            <p:nvPr/>
          </p:nvSpPr>
          <p:spPr>
            <a:xfrm>
              <a:off x="815184" y="2854947"/>
              <a:ext cx="258111" cy="238584"/>
            </a:xfrm>
            <a:custGeom>
              <a:avLst/>
              <a:gdLst/>
              <a:ahLst/>
              <a:cxnLst/>
              <a:rect l="l" t="t" r="r" b="b"/>
              <a:pathLst>
                <a:path w="258111" h="238584">
                  <a:moveTo>
                    <a:pt x="147583" y="238584"/>
                  </a:moveTo>
                  <a:lnTo>
                    <a:pt x="131066" y="227254"/>
                  </a:lnTo>
                  <a:lnTo>
                    <a:pt x="114897" y="215631"/>
                  </a:lnTo>
                  <a:lnTo>
                    <a:pt x="99080" y="203705"/>
                  </a:lnTo>
                  <a:lnTo>
                    <a:pt x="83626" y="191461"/>
                  </a:lnTo>
                  <a:lnTo>
                    <a:pt x="68554" y="178881"/>
                  </a:lnTo>
                  <a:lnTo>
                    <a:pt x="53889" y="165946"/>
                  </a:lnTo>
                  <a:lnTo>
                    <a:pt x="39663" y="152638"/>
                  </a:lnTo>
                  <a:lnTo>
                    <a:pt x="25912" y="138939"/>
                  </a:lnTo>
                  <a:lnTo>
                    <a:pt x="12677" y="124835"/>
                  </a:lnTo>
                  <a:lnTo>
                    <a:pt x="0" y="110316"/>
                  </a:lnTo>
                  <a:lnTo>
                    <a:pt x="157548" y="0"/>
                  </a:lnTo>
                  <a:lnTo>
                    <a:pt x="166137" y="9194"/>
                  </a:lnTo>
                  <a:lnTo>
                    <a:pt x="175119" y="18113"/>
                  </a:lnTo>
                  <a:lnTo>
                    <a:pt x="184465" y="26763"/>
                  </a:lnTo>
                  <a:lnTo>
                    <a:pt x="194146" y="35155"/>
                  </a:lnTo>
                  <a:lnTo>
                    <a:pt x="204136" y="43299"/>
                  </a:lnTo>
                  <a:lnTo>
                    <a:pt x="214413" y="51209"/>
                  </a:lnTo>
                  <a:lnTo>
                    <a:pt x="224960" y="58897"/>
                  </a:lnTo>
                  <a:lnTo>
                    <a:pt x="235763" y="66374"/>
                  </a:lnTo>
                  <a:lnTo>
                    <a:pt x="246814" y="73651"/>
                  </a:lnTo>
                  <a:lnTo>
                    <a:pt x="258111" y="80734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8" name="Ядро эпителиальной клетки"/>
            <p:cNvSpPr/>
            <p:nvPr/>
          </p:nvSpPr>
          <p:spPr>
            <a:xfrm rot="8100000">
              <a:off x="908520" y="289703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9" name="Ядрышко"/>
            <p:cNvSpPr/>
            <p:nvPr/>
          </p:nvSpPr>
          <p:spPr>
            <a:xfrm>
              <a:off x="937781" y="294869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0" name="Клетка однослойного эпителия"/>
            <p:cNvSpPr/>
            <p:nvPr/>
          </p:nvSpPr>
          <p:spPr>
            <a:xfrm>
              <a:off x="726919" y="2748780"/>
              <a:ext cx="245813" cy="216483"/>
            </a:xfrm>
            <a:custGeom>
              <a:avLst/>
              <a:gdLst/>
              <a:ahLst/>
              <a:cxnLst/>
              <a:rect l="l" t="t" r="r" b="b"/>
              <a:pathLst>
                <a:path w="245813" h="216483">
                  <a:moveTo>
                    <a:pt x="88265" y="216483"/>
                  </a:moveTo>
                  <a:lnTo>
                    <a:pt x="76190" y="201544"/>
                  </a:lnTo>
                  <a:lnTo>
                    <a:pt x="64758" y="186187"/>
                  </a:lnTo>
                  <a:lnTo>
                    <a:pt x="54009" y="170418"/>
                  </a:lnTo>
                  <a:lnTo>
                    <a:pt x="43977" y="154248"/>
                  </a:lnTo>
                  <a:lnTo>
                    <a:pt x="34693" y="137695"/>
                  </a:lnTo>
                  <a:lnTo>
                    <a:pt x="26178" y="120782"/>
                  </a:lnTo>
                  <a:lnTo>
                    <a:pt x="18448" y="103534"/>
                  </a:lnTo>
                  <a:lnTo>
                    <a:pt x="11510" y="85981"/>
                  </a:lnTo>
                  <a:lnTo>
                    <a:pt x="5363" y="68154"/>
                  </a:lnTo>
                  <a:lnTo>
                    <a:pt x="0" y="50083"/>
                  </a:lnTo>
                  <a:lnTo>
                    <a:pt x="186913" y="0"/>
                  </a:lnTo>
                  <a:lnTo>
                    <a:pt x="190382" y="11588"/>
                  </a:lnTo>
                  <a:lnTo>
                    <a:pt x="194397" y="23008"/>
                  </a:lnTo>
                  <a:lnTo>
                    <a:pt x="198965" y="34240"/>
                  </a:lnTo>
                  <a:lnTo>
                    <a:pt x="204086" y="45265"/>
                  </a:lnTo>
                  <a:lnTo>
                    <a:pt x="209756" y="56062"/>
                  </a:lnTo>
                  <a:lnTo>
                    <a:pt x="215964" y="66616"/>
                  </a:lnTo>
                  <a:lnTo>
                    <a:pt x="222696" y="76912"/>
                  </a:lnTo>
                  <a:lnTo>
                    <a:pt x="229932" y="86941"/>
                  </a:lnTo>
                  <a:lnTo>
                    <a:pt x="237646" y="96693"/>
                  </a:lnTo>
                  <a:lnTo>
                    <a:pt x="245813" y="10616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1" name="Ядро эпителиальной клетки"/>
            <p:cNvSpPr/>
            <p:nvPr/>
          </p:nvSpPr>
          <p:spPr>
            <a:xfrm rot="9300000">
              <a:off x="806924" y="277773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2" name="Ядрышко"/>
            <p:cNvSpPr/>
            <p:nvPr/>
          </p:nvSpPr>
          <p:spPr>
            <a:xfrm>
              <a:off x="836185" y="282939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3" name="Клетка однослойного эпителия"/>
            <p:cNvSpPr/>
            <p:nvPr/>
          </p:nvSpPr>
          <p:spPr>
            <a:xfrm>
              <a:off x="709481" y="2610302"/>
              <a:ext cx="204351" cy="188561"/>
            </a:xfrm>
            <a:custGeom>
              <a:avLst/>
              <a:gdLst/>
              <a:ahLst/>
              <a:cxnLst/>
              <a:rect l="l" t="t" r="r" b="b"/>
              <a:pathLst>
                <a:path w="204351" h="188561">
                  <a:moveTo>
                    <a:pt x="17438" y="188561"/>
                  </a:moveTo>
                  <a:lnTo>
                    <a:pt x="12842" y="170279"/>
                  </a:lnTo>
                  <a:lnTo>
                    <a:pt x="8994" y="151813"/>
                  </a:lnTo>
                  <a:lnTo>
                    <a:pt x="5867" y="133191"/>
                  </a:lnTo>
                  <a:lnTo>
                    <a:pt x="3433" y="114437"/>
                  </a:lnTo>
                  <a:lnTo>
                    <a:pt x="1663" y="95571"/>
                  </a:lnTo>
                  <a:lnTo>
                    <a:pt x="528" y="76609"/>
                  </a:lnTo>
                  <a:lnTo>
                    <a:pt x="0" y="57564"/>
                  </a:lnTo>
                  <a:lnTo>
                    <a:pt x="59" y="38443"/>
                  </a:lnTo>
                  <a:lnTo>
                    <a:pt x="686" y="19254"/>
                  </a:lnTo>
                  <a:lnTo>
                    <a:pt x="1872" y="0"/>
                  </a:lnTo>
                  <a:lnTo>
                    <a:pt x="196174" y="17000"/>
                  </a:lnTo>
                  <a:lnTo>
                    <a:pt x="195084" y="29442"/>
                  </a:lnTo>
                  <a:lnTo>
                    <a:pt x="194383" y="41835"/>
                  </a:lnTo>
                  <a:lnTo>
                    <a:pt x="194077" y="54176"/>
                  </a:lnTo>
                  <a:lnTo>
                    <a:pt x="194178" y="66461"/>
                  </a:lnTo>
                  <a:lnTo>
                    <a:pt x="194703" y="78683"/>
                  </a:lnTo>
                  <a:lnTo>
                    <a:pt x="195668" y="90834"/>
                  </a:lnTo>
                  <a:lnTo>
                    <a:pt x="197096" y="102904"/>
                  </a:lnTo>
                  <a:lnTo>
                    <a:pt x="199006" y="114878"/>
                  </a:lnTo>
                  <a:lnTo>
                    <a:pt x="201418" y="126742"/>
                  </a:lnTo>
                  <a:lnTo>
                    <a:pt x="204351" y="138478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4" name="Ядро эпителиальной клетки"/>
            <p:cNvSpPr/>
            <p:nvPr/>
          </p:nvSpPr>
          <p:spPr>
            <a:xfrm rot="10500000">
              <a:off x="765804" y="263079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5" name="Ядрышко"/>
            <p:cNvSpPr/>
            <p:nvPr/>
          </p:nvSpPr>
          <p:spPr>
            <a:xfrm>
              <a:off x="795065" y="268246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6" name="Клетка однослойного эпителия"/>
            <p:cNvSpPr/>
            <p:nvPr/>
          </p:nvSpPr>
          <p:spPr>
            <a:xfrm>
              <a:off x="711353" y="2415939"/>
              <a:ext cx="228912" cy="211363"/>
            </a:xfrm>
            <a:custGeom>
              <a:avLst/>
              <a:gdLst/>
              <a:ahLst/>
              <a:cxnLst/>
              <a:rect l="l" t="t" r="r" b="b"/>
              <a:pathLst>
                <a:path w="228912" h="211363">
                  <a:moveTo>
                    <a:pt x="0" y="194363"/>
                  </a:moveTo>
                  <a:lnTo>
                    <a:pt x="1742" y="175048"/>
                  </a:lnTo>
                  <a:lnTo>
                    <a:pt x="4046" y="155674"/>
                  </a:lnTo>
                  <a:lnTo>
                    <a:pt x="6928" y="136245"/>
                  </a:lnTo>
                  <a:lnTo>
                    <a:pt x="10410" y="116771"/>
                  </a:lnTo>
                  <a:lnTo>
                    <a:pt x="14523" y="97262"/>
                  </a:lnTo>
                  <a:lnTo>
                    <a:pt x="19305" y="77734"/>
                  </a:lnTo>
                  <a:lnTo>
                    <a:pt x="24799" y="58211"/>
                  </a:lnTo>
                  <a:lnTo>
                    <a:pt x="31050" y="38721"/>
                  </a:lnTo>
                  <a:lnTo>
                    <a:pt x="38108" y="19303"/>
                  </a:lnTo>
                  <a:lnTo>
                    <a:pt x="46019" y="0"/>
                  </a:lnTo>
                  <a:lnTo>
                    <a:pt x="228912" y="85285"/>
                  </a:lnTo>
                  <a:lnTo>
                    <a:pt x="223158" y="97852"/>
                  </a:lnTo>
                  <a:lnTo>
                    <a:pt x="217995" y="110483"/>
                  </a:lnTo>
                  <a:lnTo>
                    <a:pt x="213389" y="123147"/>
                  </a:lnTo>
                  <a:lnTo>
                    <a:pt x="209308" y="135824"/>
                  </a:lnTo>
                  <a:lnTo>
                    <a:pt x="205721" y="148493"/>
                  </a:lnTo>
                  <a:lnTo>
                    <a:pt x="202598" y="161141"/>
                  </a:lnTo>
                  <a:lnTo>
                    <a:pt x="199913" y="173758"/>
                  </a:lnTo>
                  <a:lnTo>
                    <a:pt x="197645" y="186337"/>
                  </a:lnTo>
                  <a:lnTo>
                    <a:pt x="195778" y="198872"/>
                  </a:lnTo>
                  <a:lnTo>
                    <a:pt x="194302" y="211363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7" name="Ядро эпителиальной клетки"/>
            <p:cNvSpPr/>
            <p:nvPr/>
          </p:nvSpPr>
          <p:spPr>
            <a:xfrm rot="11700000">
              <a:off x="779579" y="247354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8" name="Ядрышко"/>
            <p:cNvSpPr/>
            <p:nvPr/>
          </p:nvSpPr>
          <p:spPr>
            <a:xfrm>
              <a:off x="808839" y="252521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9" name="Клетка однослойного эпителия"/>
            <p:cNvSpPr/>
            <p:nvPr/>
          </p:nvSpPr>
          <p:spPr>
            <a:xfrm>
              <a:off x="757372" y="2242882"/>
              <a:ext cx="276859" cy="258342"/>
            </a:xfrm>
            <a:custGeom>
              <a:avLst/>
              <a:gdLst/>
              <a:ahLst/>
              <a:cxnLst/>
              <a:rect l="l" t="t" r="r" b="b"/>
              <a:pathLst>
                <a:path w="276859" h="258342">
                  <a:moveTo>
                    <a:pt x="0" y="173057"/>
                  </a:moveTo>
                  <a:lnTo>
                    <a:pt x="8809" y="153921"/>
                  </a:lnTo>
                  <a:lnTo>
                    <a:pt x="18556" y="135010"/>
                  </a:lnTo>
                  <a:lnTo>
                    <a:pt x="29273" y="116387"/>
                  </a:lnTo>
                  <a:lnTo>
                    <a:pt x="40985" y="98122"/>
                  </a:lnTo>
                  <a:lnTo>
                    <a:pt x="53706" y="80285"/>
                  </a:lnTo>
                  <a:lnTo>
                    <a:pt x="67436" y="62949"/>
                  </a:lnTo>
                  <a:lnTo>
                    <a:pt x="82164" y="46186"/>
                  </a:lnTo>
                  <a:lnTo>
                    <a:pt x="97867" y="30065"/>
                  </a:lnTo>
                  <a:lnTo>
                    <a:pt x="114509" y="14650"/>
                  </a:lnTo>
                  <a:lnTo>
                    <a:pt x="132038" y="0"/>
                  </a:lnTo>
                  <a:lnTo>
                    <a:pt x="276859" y="144820"/>
                  </a:lnTo>
                  <a:lnTo>
                    <a:pt x="264499" y="154519"/>
                  </a:lnTo>
                  <a:lnTo>
                    <a:pt x="252745" y="164698"/>
                  </a:lnTo>
                  <a:lnTo>
                    <a:pt x="241632" y="175321"/>
                  </a:lnTo>
                  <a:lnTo>
                    <a:pt x="231185" y="186344"/>
                  </a:lnTo>
                  <a:lnTo>
                    <a:pt x="221424" y="197723"/>
                  </a:lnTo>
                  <a:lnTo>
                    <a:pt x="212355" y="209411"/>
                  </a:lnTo>
                  <a:lnTo>
                    <a:pt x="203980" y="221361"/>
                  </a:lnTo>
                  <a:lnTo>
                    <a:pt x="196289" y="233529"/>
                  </a:lnTo>
                  <a:lnTo>
                    <a:pt x="189267" y="245869"/>
                  </a:lnTo>
                  <a:lnTo>
                    <a:pt x="182893" y="258342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0" name="Ядро эпителиальной клетки"/>
            <p:cNvSpPr/>
            <p:nvPr/>
          </p:nvSpPr>
          <p:spPr>
            <a:xfrm rot="12900000">
              <a:off x="852571" y="231794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1" name="Ядрышко"/>
            <p:cNvSpPr/>
            <p:nvPr/>
          </p:nvSpPr>
          <p:spPr>
            <a:xfrm>
              <a:off x="881831" y="236960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2" name="Клетка однослойного эпителия"/>
            <p:cNvSpPr/>
            <p:nvPr/>
          </p:nvSpPr>
          <p:spPr>
            <a:xfrm>
              <a:off x="889410" y="2143677"/>
              <a:ext cx="290089" cy="244025"/>
            </a:xfrm>
            <a:custGeom>
              <a:avLst/>
              <a:gdLst/>
              <a:ahLst/>
              <a:cxnLst/>
              <a:rect l="l" t="t" r="r" b="b"/>
              <a:pathLst>
                <a:path w="290089" h="244025">
                  <a:moveTo>
                    <a:pt x="0" y="99205"/>
                  </a:moveTo>
                  <a:lnTo>
                    <a:pt x="18358" y="85368"/>
                  </a:lnTo>
                  <a:lnTo>
                    <a:pt x="37472" y="72384"/>
                  </a:lnTo>
                  <a:lnTo>
                    <a:pt x="57265" y="60282"/>
                  </a:lnTo>
                  <a:lnTo>
                    <a:pt x="77651" y="49076"/>
                  </a:lnTo>
                  <a:lnTo>
                    <a:pt x="98542" y="38771"/>
                  </a:lnTo>
                  <a:lnTo>
                    <a:pt x="119847" y="29357"/>
                  </a:lnTo>
                  <a:lnTo>
                    <a:pt x="141478" y="20811"/>
                  </a:lnTo>
                  <a:lnTo>
                    <a:pt x="163348" y="13101"/>
                  </a:lnTo>
                  <a:lnTo>
                    <a:pt x="185378" y="6182"/>
                  </a:lnTo>
                  <a:lnTo>
                    <a:pt x="207496" y="0"/>
                  </a:lnTo>
                  <a:lnTo>
                    <a:pt x="290089" y="177120"/>
                  </a:lnTo>
                  <a:lnTo>
                    <a:pt x="274665" y="181417"/>
                  </a:lnTo>
                  <a:lnTo>
                    <a:pt x="259292" y="186188"/>
                  </a:lnTo>
                  <a:lnTo>
                    <a:pt x="244018" y="191468"/>
                  </a:lnTo>
                  <a:lnTo>
                    <a:pt x="228900" y="197283"/>
                  </a:lnTo>
                  <a:lnTo>
                    <a:pt x="213995" y="203655"/>
                  </a:lnTo>
                  <a:lnTo>
                    <a:pt x="199365" y="210595"/>
                  </a:lnTo>
                  <a:lnTo>
                    <a:pt x="185072" y="218110"/>
                  </a:lnTo>
                  <a:lnTo>
                    <a:pt x="171179" y="226196"/>
                  </a:lnTo>
                  <a:lnTo>
                    <a:pt x="157743" y="234840"/>
                  </a:lnTo>
                  <a:lnTo>
                    <a:pt x="144821" y="244025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3" name="Ядро эпителиальной клетки"/>
            <p:cNvSpPr/>
            <p:nvPr/>
          </p:nvSpPr>
          <p:spPr>
            <a:xfrm rot="14100000">
              <a:off x="1002267" y="220189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4" name="Ядрышко"/>
            <p:cNvSpPr/>
            <p:nvPr/>
          </p:nvSpPr>
          <p:spPr>
            <a:xfrm>
              <a:off x="1031528" y="225355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5" name="Клетка однослойного эпителия"/>
            <p:cNvSpPr/>
            <p:nvPr/>
          </p:nvSpPr>
          <p:spPr>
            <a:xfrm>
              <a:off x="1096906" y="2108700"/>
              <a:ext cx="234110" cy="212097"/>
            </a:xfrm>
            <a:custGeom>
              <a:avLst/>
              <a:gdLst/>
              <a:ahLst/>
              <a:cxnLst/>
              <a:rect l="l" t="t" r="r" b="b"/>
              <a:pathLst>
                <a:path w="234110" h="212097">
                  <a:moveTo>
                    <a:pt x="0" y="34977"/>
                  </a:moveTo>
                  <a:lnTo>
                    <a:pt x="22144" y="29474"/>
                  </a:lnTo>
                  <a:lnTo>
                    <a:pt x="44261" y="24583"/>
                  </a:lnTo>
                  <a:lnTo>
                    <a:pt x="66312" y="20237"/>
                  </a:lnTo>
                  <a:lnTo>
                    <a:pt x="88267" y="16370"/>
                  </a:lnTo>
                  <a:lnTo>
                    <a:pt x="110111" y="12916"/>
                  </a:lnTo>
                  <a:lnTo>
                    <a:pt x="131837" y="9814"/>
                  </a:lnTo>
                  <a:lnTo>
                    <a:pt x="153451" y="7011"/>
                  </a:lnTo>
                  <a:lnTo>
                    <a:pt x="174967" y="4462"/>
                  </a:lnTo>
                  <a:lnTo>
                    <a:pt x="196406" y="2132"/>
                  </a:lnTo>
                  <a:lnTo>
                    <a:pt x="217793" y="0"/>
                  </a:lnTo>
                  <a:lnTo>
                    <a:pt x="234110" y="186501"/>
                  </a:lnTo>
                  <a:lnTo>
                    <a:pt x="219249" y="188174"/>
                  </a:lnTo>
                  <a:lnTo>
                    <a:pt x="204350" y="189975"/>
                  </a:lnTo>
                  <a:lnTo>
                    <a:pt x="189394" y="191918"/>
                  </a:lnTo>
                  <a:lnTo>
                    <a:pt x="174366" y="194027"/>
                  </a:lnTo>
                  <a:lnTo>
                    <a:pt x="159256" y="196331"/>
                  </a:lnTo>
                  <a:lnTo>
                    <a:pt x="144061" y="198863"/>
                  </a:lnTo>
                  <a:lnTo>
                    <a:pt x="128782" y="201664"/>
                  </a:lnTo>
                  <a:lnTo>
                    <a:pt x="113430" y="204775"/>
                  </a:lnTo>
                  <a:lnTo>
                    <a:pt x="98025" y="208238"/>
                  </a:lnTo>
                  <a:lnTo>
                    <a:pt x="82593" y="21209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6" name="Ядро эпителиальной клетки"/>
            <p:cNvSpPr/>
            <p:nvPr/>
          </p:nvSpPr>
          <p:spPr>
            <a:xfrm rot="15300000">
              <a:off x="1186852" y="215069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7" name="Ядрышко"/>
            <p:cNvSpPr/>
            <p:nvPr/>
          </p:nvSpPr>
          <p:spPr>
            <a:xfrm>
              <a:off x="1216113" y="220236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8" name="Клетка однослойного эпителия"/>
            <p:cNvSpPr/>
            <p:nvPr/>
          </p:nvSpPr>
          <p:spPr>
            <a:xfrm>
              <a:off x="1314699" y="2099952"/>
              <a:ext cx="216127" cy="195249"/>
            </a:xfrm>
            <a:custGeom>
              <a:avLst/>
              <a:gdLst/>
              <a:ahLst/>
              <a:cxnLst/>
              <a:rect l="l" t="t" r="r" b="b"/>
              <a:pathLst>
                <a:path w="216127" h="195249">
                  <a:moveTo>
                    <a:pt x="0" y="8748"/>
                  </a:moveTo>
                  <a:lnTo>
                    <a:pt x="21364" y="6803"/>
                  </a:lnTo>
                  <a:lnTo>
                    <a:pt x="42736" y="5045"/>
                  </a:lnTo>
                  <a:lnTo>
                    <a:pt x="64143" y="3492"/>
                  </a:lnTo>
                  <a:lnTo>
                    <a:pt x="85609" y="2168"/>
                  </a:lnTo>
                  <a:lnTo>
                    <a:pt x="107153" y="1112"/>
                  </a:lnTo>
                  <a:lnTo>
                    <a:pt x="128786" y="371"/>
                  </a:lnTo>
                  <a:lnTo>
                    <a:pt x="150512" y="0"/>
                  </a:lnTo>
                  <a:lnTo>
                    <a:pt x="172324" y="58"/>
                  </a:lnTo>
                  <a:lnTo>
                    <a:pt x="194204" y="611"/>
                  </a:lnTo>
                  <a:lnTo>
                    <a:pt x="216127" y="1723"/>
                  </a:lnTo>
                  <a:lnTo>
                    <a:pt x="166290" y="187715"/>
                  </a:lnTo>
                  <a:lnTo>
                    <a:pt x="151103" y="187302"/>
                  </a:lnTo>
                  <a:lnTo>
                    <a:pt x="135938" y="187249"/>
                  </a:lnTo>
                  <a:lnTo>
                    <a:pt x="120813" y="187514"/>
                  </a:lnTo>
                  <a:lnTo>
                    <a:pt x="105742" y="188055"/>
                  </a:lnTo>
                  <a:lnTo>
                    <a:pt x="90729" y="188834"/>
                  </a:lnTo>
                  <a:lnTo>
                    <a:pt x="75774" y="189814"/>
                  </a:lnTo>
                  <a:lnTo>
                    <a:pt x="60870" y="190966"/>
                  </a:lnTo>
                  <a:lnTo>
                    <a:pt x="46004" y="192266"/>
                  </a:lnTo>
                  <a:lnTo>
                    <a:pt x="31159" y="193697"/>
                  </a:lnTo>
                  <a:lnTo>
                    <a:pt x="16317" y="195249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9" name="Ядро эпителиальной клетки"/>
            <p:cNvSpPr/>
            <p:nvPr/>
          </p:nvSpPr>
          <p:spPr>
            <a:xfrm rot="16500000">
              <a:off x="1367591" y="213238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0" name="Ядрышко"/>
            <p:cNvSpPr/>
            <p:nvPr/>
          </p:nvSpPr>
          <p:spPr>
            <a:xfrm>
              <a:off x="1396852" y="218404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1" name="Клетка однослойного эпителия"/>
            <p:cNvSpPr/>
            <p:nvPr/>
          </p:nvSpPr>
          <p:spPr>
            <a:xfrm>
              <a:off x="1480989" y="2101675"/>
              <a:ext cx="260005" cy="217366"/>
            </a:xfrm>
            <a:custGeom>
              <a:avLst/>
              <a:gdLst/>
              <a:ahLst/>
              <a:cxnLst/>
              <a:rect l="l" t="t" r="r" b="b"/>
              <a:pathLst>
                <a:path w="260005" h="217366">
                  <a:moveTo>
                    <a:pt x="49837" y="0"/>
                  </a:moveTo>
                  <a:lnTo>
                    <a:pt x="71765" y="1736"/>
                  </a:lnTo>
                  <a:lnTo>
                    <a:pt x="93652" y="4158"/>
                  </a:lnTo>
                  <a:lnTo>
                    <a:pt x="115446" y="7320"/>
                  </a:lnTo>
                  <a:lnTo>
                    <a:pt x="137087" y="11273"/>
                  </a:lnTo>
                  <a:lnTo>
                    <a:pt x="158509" y="16056"/>
                  </a:lnTo>
                  <a:lnTo>
                    <a:pt x="179646" y="21701"/>
                  </a:lnTo>
                  <a:lnTo>
                    <a:pt x="200429" y="28227"/>
                  </a:lnTo>
                  <a:lnTo>
                    <a:pt x="220792" y="35643"/>
                  </a:lnTo>
                  <a:lnTo>
                    <a:pt x="240670" y="43949"/>
                  </a:lnTo>
                  <a:lnTo>
                    <a:pt x="260005" y="53132"/>
                  </a:lnTo>
                  <a:lnTo>
                    <a:pt x="145007" y="217366"/>
                  </a:lnTo>
                  <a:lnTo>
                    <a:pt x="131727" y="211708"/>
                  </a:lnTo>
                  <a:lnTo>
                    <a:pt x="118057" y="206623"/>
                  </a:lnTo>
                  <a:lnTo>
                    <a:pt x="104039" y="202119"/>
                  </a:lnTo>
                  <a:lnTo>
                    <a:pt x="89717" y="198196"/>
                  </a:lnTo>
                  <a:lnTo>
                    <a:pt x="75138" y="194846"/>
                  </a:lnTo>
                  <a:lnTo>
                    <a:pt x="60349" y="192057"/>
                  </a:lnTo>
                  <a:lnTo>
                    <a:pt x="45397" y="189806"/>
                  </a:lnTo>
                  <a:lnTo>
                    <a:pt x="30327" y="188067"/>
                  </a:lnTo>
                  <a:lnTo>
                    <a:pt x="15183" y="186808"/>
                  </a:lnTo>
                  <a:lnTo>
                    <a:pt x="0" y="185992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2" name="Ядро эпителиальной клетки"/>
            <p:cNvSpPr/>
            <p:nvPr/>
          </p:nvSpPr>
          <p:spPr>
            <a:xfrm rot="17700000">
              <a:off x="1550425" y="214440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3" name="Ядрышко"/>
            <p:cNvSpPr/>
            <p:nvPr/>
          </p:nvSpPr>
          <p:spPr>
            <a:xfrm>
              <a:off x="1579685" y="219607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4" name="Клетка однослойного эпителия"/>
            <p:cNvSpPr/>
            <p:nvPr/>
          </p:nvSpPr>
          <p:spPr>
            <a:xfrm>
              <a:off x="1625996" y="2154807"/>
              <a:ext cx="270622" cy="247365"/>
            </a:xfrm>
            <a:custGeom>
              <a:avLst/>
              <a:gdLst/>
              <a:ahLst/>
              <a:cxnLst/>
              <a:rect l="l" t="t" r="r" b="b"/>
              <a:pathLst>
                <a:path w="270622" h="247365">
                  <a:moveTo>
                    <a:pt x="114998" y="0"/>
                  </a:moveTo>
                  <a:lnTo>
                    <a:pt x="133735" y="10039"/>
                  </a:lnTo>
                  <a:lnTo>
                    <a:pt x="151828" y="20902"/>
                  </a:lnTo>
                  <a:lnTo>
                    <a:pt x="169241" y="32552"/>
                  </a:lnTo>
                  <a:lnTo>
                    <a:pt x="185944" y="44946"/>
                  </a:lnTo>
                  <a:lnTo>
                    <a:pt x="201917" y="58036"/>
                  </a:lnTo>
                  <a:lnTo>
                    <a:pt x="217145" y="71772"/>
                  </a:lnTo>
                  <a:lnTo>
                    <a:pt x="231626" y="86101"/>
                  </a:lnTo>
                  <a:lnTo>
                    <a:pt x="245361" y="100973"/>
                  </a:lnTo>
                  <a:lnTo>
                    <a:pt x="258356" y="116340"/>
                  </a:lnTo>
                  <a:lnTo>
                    <a:pt x="270622" y="132156"/>
                  </a:lnTo>
                  <a:lnTo>
                    <a:pt x="106086" y="247365"/>
                  </a:lnTo>
                  <a:lnTo>
                    <a:pt x="97799" y="237328"/>
                  </a:lnTo>
                  <a:lnTo>
                    <a:pt x="89001" y="227591"/>
                  </a:lnTo>
                  <a:lnTo>
                    <a:pt x="79683" y="218183"/>
                  </a:lnTo>
                  <a:lnTo>
                    <a:pt x="69840" y="209137"/>
                  </a:lnTo>
                  <a:lnTo>
                    <a:pt x="59469" y="200483"/>
                  </a:lnTo>
                  <a:lnTo>
                    <a:pt x="48575" y="192257"/>
                  </a:lnTo>
                  <a:lnTo>
                    <a:pt x="37164" y="184490"/>
                  </a:lnTo>
                  <a:lnTo>
                    <a:pt x="25251" y="177213"/>
                  </a:lnTo>
                  <a:lnTo>
                    <a:pt x="12854" y="170453"/>
                  </a:lnTo>
                  <a:lnTo>
                    <a:pt x="0" y="16423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5" name="Ядро эпителиальной клетки"/>
            <p:cNvSpPr/>
            <p:nvPr/>
          </p:nvSpPr>
          <p:spPr>
            <a:xfrm rot="18900000">
              <a:off x="1708120" y="222062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6" name="Ядрышко"/>
            <p:cNvSpPr/>
            <p:nvPr/>
          </p:nvSpPr>
          <p:spPr>
            <a:xfrm>
              <a:off x="1737380" y="227228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7" name="Клетка однослойного эпителия"/>
            <p:cNvSpPr/>
            <p:nvPr/>
          </p:nvSpPr>
          <p:spPr>
            <a:xfrm>
              <a:off x="1732082" y="2286963"/>
              <a:ext cx="249041" cy="227520"/>
            </a:xfrm>
            <a:custGeom>
              <a:avLst/>
              <a:gdLst/>
              <a:ahLst/>
              <a:cxnLst/>
              <a:rect l="l" t="t" r="r" b="b"/>
              <a:pathLst>
                <a:path w="249041" h="227520">
                  <a:moveTo>
                    <a:pt x="164536" y="0"/>
                  </a:moveTo>
                  <a:lnTo>
                    <a:pt x="176086" y="16222"/>
                  </a:lnTo>
                  <a:lnTo>
                    <a:pt x="186933" y="32814"/>
                  </a:lnTo>
                  <a:lnTo>
                    <a:pt x="197090" y="49743"/>
                  </a:lnTo>
                  <a:lnTo>
                    <a:pt x="206565" y="66982"/>
                  </a:lnTo>
                  <a:lnTo>
                    <a:pt x="215365" y="84506"/>
                  </a:lnTo>
                  <a:lnTo>
                    <a:pt x="223489" y="102298"/>
                  </a:lnTo>
                  <a:lnTo>
                    <a:pt x="230933" y="120340"/>
                  </a:lnTo>
                  <a:lnTo>
                    <a:pt x="237686" y="138620"/>
                  </a:lnTo>
                  <a:lnTo>
                    <a:pt x="243729" y="157123"/>
                  </a:lnTo>
                  <a:lnTo>
                    <a:pt x="249041" y="175837"/>
                  </a:lnTo>
                  <a:lnTo>
                    <a:pt x="56160" y="227520"/>
                  </a:lnTo>
                  <a:lnTo>
                    <a:pt x="52737" y="215515"/>
                  </a:lnTo>
                  <a:lnTo>
                    <a:pt x="48802" y="203658"/>
                  </a:lnTo>
                  <a:lnTo>
                    <a:pt x="44373" y="191954"/>
                  </a:lnTo>
                  <a:lnTo>
                    <a:pt x="39462" y="180413"/>
                  </a:lnTo>
                  <a:lnTo>
                    <a:pt x="34074" y="169043"/>
                  </a:lnTo>
                  <a:lnTo>
                    <a:pt x="28216" y="157855"/>
                  </a:lnTo>
                  <a:lnTo>
                    <a:pt x="21884" y="146861"/>
                  </a:lnTo>
                  <a:lnTo>
                    <a:pt x="15076" y="136076"/>
                  </a:lnTo>
                  <a:lnTo>
                    <a:pt x="7784" y="125519"/>
                  </a:lnTo>
                  <a:lnTo>
                    <a:pt x="0" y="115209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8" name="Ядро эпителиальной клетки"/>
            <p:cNvSpPr/>
            <p:nvPr/>
          </p:nvSpPr>
          <p:spPr>
            <a:xfrm rot="20100000">
              <a:off x="1807455" y="234913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9" name="Ядрышко"/>
            <p:cNvSpPr/>
            <p:nvPr/>
          </p:nvSpPr>
          <p:spPr>
            <a:xfrm>
              <a:off x="1836716" y="240079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70" name="Просвет канальца"/>
            <p:cNvSpPr/>
            <p:nvPr/>
          </p:nvSpPr>
          <p:spPr>
            <a:xfrm>
              <a:off x="902350" y="2284336"/>
              <a:ext cx="893191" cy="720900"/>
            </a:xfrm>
            <a:custGeom>
              <a:avLst/>
              <a:gdLst/>
              <a:ahLst/>
              <a:cxnLst/>
              <a:rect l="l" t="t" r="r" b="b"/>
              <a:pathLst>
                <a:path w="893191" h="720900">
                  <a:moveTo>
                    <a:pt x="883515" y="230784"/>
                  </a:moveTo>
                  <a:lnTo>
                    <a:pt x="887847" y="248899"/>
                  </a:lnTo>
                  <a:lnTo>
                    <a:pt x="890956" y="267299"/>
                  </a:lnTo>
                  <a:lnTo>
                    <a:pt x="892762" y="285943"/>
                  </a:lnTo>
                  <a:lnTo>
                    <a:pt x="893191" y="304778"/>
                  </a:lnTo>
                  <a:lnTo>
                    <a:pt x="892173" y="323738"/>
                  </a:lnTo>
                  <a:lnTo>
                    <a:pt x="889662" y="342746"/>
                  </a:lnTo>
                  <a:lnTo>
                    <a:pt x="885632" y="361716"/>
                  </a:lnTo>
                  <a:lnTo>
                    <a:pt x="880091" y="380555"/>
                  </a:lnTo>
                  <a:lnTo>
                    <a:pt x="873078" y="399174"/>
                  </a:lnTo>
                  <a:lnTo>
                    <a:pt x="864662" y="417489"/>
                  </a:lnTo>
                  <a:lnTo>
                    <a:pt x="854943" y="435428"/>
                  </a:lnTo>
                  <a:lnTo>
                    <a:pt x="844044" y="452936"/>
                  </a:lnTo>
                  <a:lnTo>
                    <a:pt x="832102" y="469979"/>
                  </a:lnTo>
                  <a:lnTo>
                    <a:pt x="819258" y="486544"/>
                  </a:lnTo>
                  <a:lnTo>
                    <a:pt x="805652" y="502638"/>
                  </a:lnTo>
                  <a:lnTo>
                    <a:pt x="791406" y="518290"/>
                  </a:lnTo>
                  <a:lnTo>
                    <a:pt x="776623" y="533540"/>
                  </a:lnTo>
                  <a:lnTo>
                    <a:pt x="761375" y="548435"/>
                  </a:lnTo>
                  <a:lnTo>
                    <a:pt x="745702" y="563024"/>
                  </a:lnTo>
                  <a:lnTo>
                    <a:pt x="729611" y="577346"/>
                  </a:lnTo>
                  <a:lnTo>
                    <a:pt x="713079" y="591424"/>
                  </a:lnTo>
                  <a:lnTo>
                    <a:pt x="696058" y="605261"/>
                  </a:lnTo>
                  <a:lnTo>
                    <a:pt x="678483" y="618828"/>
                  </a:lnTo>
                  <a:lnTo>
                    <a:pt x="660281" y="632071"/>
                  </a:lnTo>
                  <a:lnTo>
                    <a:pt x="641382" y="644900"/>
                  </a:lnTo>
                  <a:lnTo>
                    <a:pt x="621730" y="657204"/>
                  </a:lnTo>
                  <a:lnTo>
                    <a:pt x="601289" y="668843"/>
                  </a:lnTo>
                  <a:lnTo>
                    <a:pt x="580055" y="679666"/>
                  </a:lnTo>
                  <a:lnTo>
                    <a:pt x="558056" y="689515"/>
                  </a:lnTo>
                  <a:lnTo>
                    <a:pt x="535359" y="698236"/>
                  </a:lnTo>
                  <a:lnTo>
                    <a:pt x="512062" y="705686"/>
                  </a:lnTo>
                  <a:lnTo>
                    <a:pt x="488295" y="711747"/>
                  </a:lnTo>
                  <a:lnTo>
                    <a:pt x="464211" y="716332"/>
                  </a:lnTo>
                  <a:lnTo>
                    <a:pt x="439977" y="719387"/>
                  </a:lnTo>
                  <a:lnTo>
                    <a:pt x="415762" y="720900"/>
                  </a:lnTo>
                  <a:lnTo>
                    <a:pt x="391733" y="720893"/>
                  </a:lnTo>
                  <a:lnTo>
                    <a:pt x="368040" y="719429"/>
                  </a:lnTo>
                  <a:lnTo>
                    <a:pt x="344810" y="716597"/>
                  </a:lnTo>
                  <a:lnTo>
                    <a:pt x="322142" y="712512"/>
                  </a:lnTo>
                  <a:lnTo>
                    <a:pt x="300106" y="707301"/>
                  </a:lnTo>
                  <a:lnTo>
                    <a:pt x="278740" y="701096"/>
                  </a:lnTo>
                  <a:lnTo>
                    <a:pt x="258055" y="694027"/>
                  </a:lnTo>
                  <a:lnTo>
                    <a:pt x="238042" y="686209"/>
                  </a:lnTo>
                  <a:lnTo>
                    <a:pt x="218675" y="677738"/>
                  </a:lnTo>
                  <a:lnTo>
                    <a:pt x="199924" y="668687"/>
                  </a:lnTo>
                  <a:lnTo>
                    <a:pt x="181761" y="659104"/>
                  </a:lnTo>
                  <a:lnTo>
                    <a:pt x="164169" y="649012"/>
                  </a:lnTo>
                  <a:lnTo>
                    <a:pt x="147146" y="638409"/>
                  </a:lnTo>
                  <a:lnTo>
                    <a:pt x="130712" y="627278"/>
                  </a:lnTo>
                  <a:lnTo>
                    <a:pt x="114908" y="615590"/>
                  </a:lnTo>
                  <a:lnTo>
                    <a:pt x="99798" y="603312"/>
                  </a:lnTo>
                  <a:lnTo>
                    <a:pt x="85463" y="590410"/>
                  </a:lnTo>
                  <a:lnTo>
                    <a:pt x="71996" y="576862"/>
                  </a:lnTo>
                  <a:lnTo>
                    <a:pt x="59496" y="562656"/>
                  </a:lnTo>
                  <a:lnTo>
                    <a:pt x="48059" y="547799"/>
                  </a:lnTo>
                  <a:lnTo>
                    <a:pt x="37770" y="532313"/>
                  </a:lnTo>
                  <a:lnTo>
                    <a:pt x="28697" y="516239"/>
                  </a:lnTo>
                  <a:lnTo>
                    <a:pt x="20887" y="499631"/>
                  </a:lnTo>
                  <a:lnTo>
                    <a:pt x="14358" y="482555"/>
                  </a:lnTo>
                  <a:lnTo>
                    <a:pt x="9105" y="465081"/>
                  </a:lnTo>
                  <a:lnTo>
                    <a:pt x="5098" y="447281"/>
                  </a:lnTo>
                  <a:lnTo>
                    <a:pt x="2287" y="429223"/>
                  </a:lnTo>
                  <a:lnTo>
                    <a:pt x="610" y="410965"/>
                  </a:lnTo>
                  <a:lnTo>
                    <a:pt x="0" y="392555"/>
                  </a:lnTo>
                  <a:lnTo>
                    <a:pt x="393" y="374030"/>
                  </a:lnTo>
                  <a:lnTo>
                    <a:pt x="1736" y="355415"/>
                  </a:lnTo>
                  <a:lnTo>
                    <a:pt x="3994" y="336726"/>
                  </a:lnTo>
                  <a:lnTo>
                    <a:pt x="7158" y="317976"/>
                  </a:lnTo>
                  <a:lnTo>
                    <a:pt x="11241" y="299177"/>
                  </a:lnTo>
                  <a:lnTo>
                    <a:pt x="16285" y="280348"/>
                  </a:lnTo>
                  <a:lnTo>
                    <a:pt x="22351" y="261519"/>
                  </a:lnTo>
                  <a:lnTo>
                    <a:pt x="29519" y="242736"/>
                  </a:lnTo>
                  <a:lnTo>
                    <a:pt x="37875" y="224064"/>
                  </a:lnTo>
                  <a:lnTo>
                    <a:pt x="47508" y="205587"/>
                  </a:lnTo>
                  <a:lnTo>
                    <a:pt x="58493" y="187411"/>
                  </a:lnTo>
                  <a:lnTo>
                    <a:pt x="70887" y="169655"/>
                  </a:lnTo>
                  <a:lnTo>
                    <a:pt x="84719" y="152453"/>
                  </a:lnTo>
                  <a:lnTo>
                    <a:pt x="99981" y="135942"/>
                  </a:lnTo>
                  <a:lnTo>
                    <a:pt x="116632" y="120254"/>
                  </a:lnTo>
                  <a:lnTo>
                    <a:pt x="134589" y="105513"/>
                  </a:lnTo>
                  <a:lnTo>
                    <a:pt x="153736" y="91823"/>
                  </a:lnTo>
                  <a:lnTo>
                    <a:pt x="173927" y="79259"/>
                  </a:lnTo>
                  <a:lnTo>
                    <a:pt x="194995" y="67868"/>
                  </a:lnTo>
                  <a:lnTo>
                    <a:pt x="216761" y="57662"/>
                  </a:lnTo>
                  <a:lnTo>
                    <a:pt x="239046" y="48618"/>
                  </a:lnTo>
                  <a:lnTo>
                    <a:pt x="261680" y="40682"/>
                  </a:lnTo>
                  <a:lnTo>
                    <a:pt x="284513" y="33771"/>
                  </a:lnTo>
                  <a:lnTo>
                    <a:pt x="307421" y="27786"/>
                  </a:lnTo>
                  <a:lnTo>
                    <a:pt x="330312" y="22613"/>
                  </a:lnTo>
                  <a:lnTo>
                    <a:pt x="353128" y="18139"/>
                  </a:lnTo>
                  <a:lnTo>
                    <a:pt x="375844" y="14259"/>
                  </a:lnTo>
                  <a:lnTo>
                    <a:pt x="398463" y="10885"/>
                  </a:lnTo>
                  <a:lnTo>
                    <a:pt x="421011" y="7956"/>
                  </a:lnTo>
                  <a:lnTo>
                    <a:pt x="443527" y="5439"/>
                  </a:lnTo>
                  <a:lnTo>
                    <a:pt x="466054" y="3336"/>
                  </a:lnTo>
                  <a:lnTo>
                    <a:pt x="488629" y="1681"/>
                  </a:lnTo>
                  <a:lnTo>
                    <a:pt x="511273" y="539"/>
                  </a:lnTo>
                  <a:lnTo>
                    <a:pt x="533988" y="0"/>
                  </a:lnTo>
                  <a:lnTo>
                    <a:pt x="556747" y="172"/>
                  </a:lnTo>
                  <a:lnTo>
                    <a:pt x="579494" y="1171"/>
                  </a:lnTo>
                  <a:lnTo>
                    <a:pt x="602146" y="3111"/>
                  </a:lnTo>
                  <a:lnTo>
                    <a:pt x="624592" y="6100"/>
                  </a:lnTo>
                  <a:lnTo>
                    <a:pt x="646705" y="10226"/>
                  </a:lnTo>
                  <a:lnTo>
                    <a:pt x="668345" y="15552"/>
                  </a:lnTo>
                  <a:lnTo>
                    <a:pt x="689368" y="22113"/>
                  </a:lnTo>
                  <a:lnTo>
                    <a:pt x="709638" y="29914"/>
                  </a:lnTo>
                  <a:lnTo>
                    <a:pt x="729032" y="38930"/>
                  </a:lnTo>
                  <a:lnTo>
                    <a:pt x="747446" y="49107"/>
                  </a:lnTo>
                  <a:lnTo>
                    <a:pt x="764804" y="60373"/>
                  </a:lnTo>
                  <a:lnTo>
                    <a:pt x="781054" y="72635"/>
                  </a:lnTo>
                  <a:lnTo>
                    <a:pt x="796172" y="85794"/>
                  </a:lnTo>
                  <a:lnTo>
                    <a:pt x="810156" y="99748"/>
                  </a:lnTo>
                  <a:lnTo>
                    <a:pt x="823022" y="114401"/>
                  </a:lnTo>
                  <a:lnTo>
                    <a:pt x="834797" y="129664"/>
                  </a:lnTo>
                  <a:lnTo>
                    <a:pt x="845509" y="145463"/>
                  </a:lnTo>
                  <a:lnTo>
                    <a:pt x="855184" y="161735"/>
                  </a:lnTo>
                  <a:lnTo>
                    <a:pt x="863835" y="178435"/>
                  </a:lnTo>
                  <a:lnTo>
                    <a:pt x="871458" y="195527"/>
                  </a:lnTo>
                  <a:lnTo>
                    <a:pt x="878032" y="212985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71" name="Базальная мембрана канальца"/>
            <p:cNvSpPr/>
            <p:nvPr/>
          </p:nvSpPr>
          <p:spPr>
            <a:xfrm>
              <a:off x="2237738" y="2356897"/>
              <a:ext cx="1325180" cy="1186829"/>
            </a:xfrm>
            <a:custGeom>
              <a:avLst/>
              <a:gdLst/>
              <a:ahLst/>
              <a:cxnLst/>
              <a:rect l="l" t="t" r="r" b="b"/>
              <a:pathLst>
                <a:path w="1325180" h="1186829">
                  <a:moveTo>
                    <a:pt x="1261704" y="809470"/>
                  </a:moveTo>
                  <a:lnTo>
                    <a:pt x="1247702" y="835897"/>
                  </a:lnTo>
                  <a:lnTo>
                    <a:pt x="1233007" y="861760"/>
                  </a:lnTo>
                  <a:lnTo>
                    <a:pt x="1217674" y="887134"/>
                  </a:lnTo>
                  <a:lnTo>
                    <a:pt x="1201696" y="912078"/>
                  </a:lnTo>
                  <a:lnTo>
                    <a:pt x="1185010" y="936615"/>
                  </a:lnTo>
                  <a:lnTo>
                    <a:pt x="1167512" y="960732"/>
                  </a:lnTo>
                  <a:lnTo>
                    <a:pt x="1149071" y="984370"/>
                  </a:lnTo>
                  <a:lnTo>
                    <a:pt x="1129541" y="1007429"/>
                  </a:lnTo>
                  <a:lnTo>
                    <a:pt x="1108784" y="1029771"/>
                  </a:lnTo>
                  <a:lnTo>
                    <a:pt x="1086681" y="1051228"/>
                  </a:lnTo>
                  <a:lnTo>
                    <a:pt x="1063144" y="1071612"/>
                  </a:lnTo>
                  <a:lnTo>
                    <a:pt x="1038129" y="1090731"/>
                  </a:lnTo>
                  <a:lnTo>
                    <a:pt x="1011636" y="1108399"/>
                  </a:lnTo>
                  <a:lnTo>
                    <a:pt x="983715" y="1124452"/>
                  </a:lnTo>
                  <a:lnTo>
                    <a:pt x="954455" y="1138754"/>
                  </a:lnTo>
                  <a:lnTo>
                    <a:pt x="923983" y="1151211"/>
                  </a:lnTo>
                  <a:lnTo>
                    <a:pt x="892452" y="1161767"/>
                  </a:lnTo>
                  <a:lnTo>
                    <a:pt x="860029" y="1170413"/>
                  </a:lnTo>
                  <a:lnTo>
                    <a:pt x="826882" y="1177174"/>
                  </a:lnTo>
                  <a:lnTo>
                    <a:pt x="793173" y="1182110"/>
                  </a:lnTo>
                  <a:lnTo>
                    <a:pt x="759050" y="1185298"/>
                  </a:lnTo>
                  <a:lnTo>
                    <a:pt x="724638" y="1186829"/>
                  </a:lnTo>
                  <a:lnTo>
                    <a:pt x="690040" y="1186789"/>
                  </a:lnTo>
                  <a:lnTo>
                    <a:pt x="655339" y="1185253"/>
                  </a:lnTo>
                  <a:lnTo>
                    <a:pt x="620603" y="1182273"/>
                  </a:lnTo>
                  <a:lnTo>
                    <a:pt x="585889" y="1177875"/>
                  </a:lnTo>
                  <a:lnTo>
                    <a:pt x="551257" y="1172053"/>
                  </a:lnTo>
                  <a:lnTo>
                    <a:pt x="516774" y="1164773"/>
                  </a:lnTo>
                  <a:lnTo>
                    <a:pt x="482527" y="1155979"/>
                  </a:lnTo>
                  <a:lnTo>
                    <a:pt x="448624" y="1145599"/>
                  </a:lnTo>
                  <a:lnTo>
                    <a:pt x="415202" y="1133556"/>
                  </a:lnTo>
                  <a:lnTo>
                    <a:pt x="382424" y="1119780"/>
                  </a:lnTo>
                  <a:lnTo>
                    <a:pt x="350475" y="1104221"/>
                  </a:lnTo>
                  <a:lnTo>
                    <a:pt x="319556" y="1086858"/>
                  </a:lnTo>
                  <a:lnTo>
                    <a:pt x="289871" y="1067707"/>
                  </a:lnTo>
                  <a:lnTo>
                    <a:pt x="261618" y="1046827"/>
                  </a:lnTo>
                  <a:lnTo>
                    <a:pt x="234972" y="1024321"/>
                  </a:lnTo>
                  <a:lnTo>
                    <a:pt x="210075" y="1000333"/>
                  </a:lnTo>
                  <a:lnTo>
                    <a:pt x="187024" y="975039"/>
                  </a:lnTo>
                  <a:lnTo>
                    <a:pt x="165862" y="948642"/>
                  </a:lnTo>
                  <a:lnTo>
                    <a:pt x="146576" y="921354"/>
                  </a:lnTo>
                  <a:lnTo>
                    <a:pt x="129096" y="893386"/>
                  </a:lnTo>
                  <a:lnTo>
                    <a:pt x="113302" y="864935"/>
                  </a:lnTo>
                  <a:lnTo>
                    <a:pt x="99036" y="836169"/>
                  </a:lnTo>
                  <a:lnTo>
                    <a:pt x="86110" y="807221"/>
                  </a:lnTo>
                  <a:lnTo>
                    <a:pt x="74329" y="778179"/>
                  </a:lnTo>
                  <a:lnTo>
                    <a:pt x="63508" y="749088"/>
                  </a:lnTo>
                  <a:lnTo>
                    <a:pt x="53487" y="719951"/>
                  </a:lnTo>
                  <a:lnTo>
                    <a:pt x="44148" y="690735"/>
                  </a:lnTo>
                  <a:lnTo>
                    <a:pt x="35433" y="661382"/>
                  </a:lnTo>
                  <a:lnTo>
                    <a:pt x="27344" y="631818"/>
                  </a:lnTo>
                  <a:lnTo>
                    <a:pt x="19954" y="601975"/>
                  </a:lnTo>
                  <a:lnTo>
                    <a:pt x="13400" y="571796"/>
                  </a:lnTo>
                  <a:lnTo>
                    <a:pt x="7876" y="541253"/>
                  </a:lnTo>
                  <a:lnTo>
                    <a:pt x="3622" y="510356"/>
                  </a:lnTo>
                  <a:lnTo>
                    <a:pt x="905" y="479162"/>
                  </a:lnTo>
                  <a:lnTo>
                    <a:pt x="0" y="447773"/>
                  </a:lnTo>
                  <a:lnTo>
                    <a:pt x="1171" y="416338"/>
                  </a:lnTo>
                  <a:lnTo>
                    <a:pt x="4652" y="385046"/>
                  </a:lnTo>
                  <a:lnTo>
                    <a:pt x="10629" y="354116"/>
                  </a:lnTo>
                  <a:lnTo>
                    <a:pt x="19226" y="323786"/>
                  </a:lnTo>
                  <a:lnTo>
                    <a:pt x="30498" y="294294"/>
                  </a:lnTo>
                  <a:lnTo>
                    <a:pt x="44429" y="265870"/>
                  </a:lnTo>
                  <a:lnTo>
                    <a:pt x="60929" y="238718"/>
                  </a:lnTo>
                  <a:lnTo>
                    <a:pt x="79848" y="213005"/>
                  </a:lnTo>
                  <a:lnTo>
                    <a:pt x="100985" y="188855"/>
                  </a:lnTo>
                  <a:lnTo>
                    <a:pt x="124102" y="166342"/>
                  </a:lnTo>
                  <a:lnTo>
                    <a:pt x="148939" y="145493"/>
                  </a:lnTo>
                  <a:lnTo>
                    <a:pt x="175238" y="126288"/>
                  </a:lnTo>
                  <a:lnTo>
                    <a:pt x="202748" y="108675"/>
                  </a:lnTo>
                  <a:lnTo>
                    <a:pt x="231248" y="92573"/>
                  </a:lnTo>
                  <a:lnTo>
                    <a:pt x="260549" y="77888"/>
                  </a:lnTo>
                  <a:lnTo>
                    <a:pt x="290505" y="64530"/>
                  </a:lnTo>
                  <a:lnTo>
                    <a:pt x="321008" y="52417"/>
                  </a:lnTo>
                  <a:lnTo>
                    <a:pt x="351989" y="41492"/>
                  </a:lnTo>
                  <a:lnTo>
                    <a:pt x="383410" y="31728"/>
                  </a:lnTo>
                  <a:lnTo>
                    <a:pt x="415253" y="23134"/>
                  </a:lnTo>
                  <a:lnTo>
                    <a:pt x="447512" y="15749"/>
                  </a:lnTo>
                  <a:lnTo>
                    <a:pt x="480177" y="9644"/>
                  </a:lnTo>
                  <a:lnTo>
                    <a:pt x="513232" y="4914"/>
                  </a:lnTo>
                  <a:lnTo>
                    <a:pt x="546639" y="1664"/>
                  </a:lnTo>
                  <a:lnTo>
                    <a:pt x="580339" y="0"/>
                  </a:lnTo>
                  <a:lnTo>
                    <a:pt x="614250" y="19"/>
                  </a:lnTo>
                  <a:lnTo>
                    <a:pt x="648265" y="1794"/>
                  </a:lnTo>
                  <a:lnTo>
                    <a:pt x="682264" y="5369"/>
                  </a:lnTo>
                  <a:lnTo>
                    <a:pt x="716116" y="10751"/>
                  </a:lnTo>
                  <a:lnTo>
                    <a:pt x="749693" y="17909"/>
                  </a:lnTo>
                  <a:lnTo>
                    <a:pt x="782875" y="26773"/>
                  </a:lnTo>
                  <a:lnTo>
                    <a:pt x="815564" y="37241"/>
                  </a:lnTo>
                  <a:lnTo>
                    <a:pt x="847684" y="49190"/>
                  </a:lnTo>
                  <a:lnTo>
                    <a:pt x="879192" y="62480"/>
                  </a:lnTo>
                  <a:lnTo>
                    <a:pt x="910071" y="76974"/>
                  </a:lnTo>
                  <a:lnTo>
                    <a:pt x="940334" y="92543"/>
                  </a:lnTo>
                  <a:lnTo>
                    <a:pt x="970009" y="109081"/>
                  </a:lnTo>
                  <a:lnTo>
                    <a:pt x="999136" y="126511"/>
                  </a:lnTo>
                  <a:lnTo>
                    <a:pt x="1027750" y="144792"/>
                  </a:lnTo>
                  <a:lnTo>
                    <a:pt x="1055872" y="163919"/>
                  </a:lnTo>
                  <a:lnTo>
                    <a:pt x="1083493" y="183922"/>
                  </a:lnTo>
                  <a:lnTo>
                    <a:pt x="1110566" y="204858"/>
                  </a:lnTo>
                  <a:lnTo>
                    <a:pt x="1136996" y="226801"/>
                  </a:lnTo>
                  <a:lnTo>
                    <a:pt x="1162640" y="249831"/>
                  </a:lnTo>
                  <a:lnTo>
                    <a:pt x="1187306" y="274023"/>
                  </a:lnTo>
                  <a:lnTo>
                    <a:pt x="1210758" y="299429"/>
                  </a:lnTo>
                  <a:lnTo>
                    <a:pt x="1232728" y="326070"/>
                  </a:lnTo>
                  <a:lnTo>
                    <a:pt x="1252932" y="353926"/>
                  </a:lnTo>
                  <a:lnTo>
                    <a:pt x="1271083" y="382932"/>
                  </a:lnTo>
                  <a:lnTo>
                    <a:pt x="1286913" y="412972"/>
                  </a:lnTo>
                  <a:lnTo>
                    <a:pt x="1300189" y="443887"/>
                  </a:lnTo>
                  <a:lnTo>
                    <a:pt x="1310732" y="475480"/>
                  </a:lnTo>
                  <a:lnTo>
                    <a:pt x="1318426" y="507525"/>
                  </a:lnTo>
                  <a:lnTo>
                    <a:pt x="1323230" y="539783"/>
                  </a:lnTo>
                  <a:lnTo>
                    <a:pt x="1325180" y="572012"/>
                  </a:lnTo>
                  <a:lnTo>
                    <a:pt x="1324390" y="603987"/>
                  </a:lnTo>
                  <a:lnTo>
                    <a:pt x="1321036" y="635511"/>
                  </a:lnTo>
                  <a:lnTo>
                    <a:pt x="1315353" y="666423"/>
                  </a:lnTo>
                  <a:lnTo>
                    <a:pt x="1307610" y="696609"/>
                  </a:lnTo>
                  <a:lnTo>
                    <a:pt x="1298099" y="726005"/>
                  </a:lnTo>
                  <a:lnTo>
                    <a:pt x="1287106" y="754592"/>
                  </a:lnTo>
                  <a:lnTo>
                    <a:pt x="1274898" y="782394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72" name="Клетка однослойного эпителия"/>
            <p:cNvSpPr/>
            <p:nvPr/>
          </p:nvSpPr>
          <p:spPr>
            <a:xfrm>
              <a:off x="3228925" y="3093174"/>
              <a:ext cx="244639" cy="221520"/>
            </a:xfrm>
            <a:custGeom>
              <a:avLst/>
              <a:gdLst/>
              <a:ahLst/>
              <a:cxnLst/>
              <a:rect l="l" t="t" r="r" b="b"/>
              <a:pathLst>
                <a:path w="244639" h="221520">
                  <a:moveTo>
                    <a:pt x="244639" y="63774"/>
                  </a:moveTo>
                  <a:lnTo>
                    <a:pt x="235381" y="80436"/>
                  </a:lnTo>
                  <a:lnTo>
                    <a:pt x="225872" y="96839"/>
                  </a:lnTo>
                  <a:lnTo>
                    <a:pt x="216140" y="113014"/>
                  </a:lnTo>
                  <a:lnTo>
                    <a:pt x="206200" y="128990"/>
                  </a:lnTo>
                  <a:lnTo>
                    <a:pt x="196054" y="144790"/>
                  </a:lnTo>
                  <a:lnTo>
                    <a:pt x="185690" y="160432"/>
                  </a:lnTo>
                  <a:lnTo>
                    <a:pt x="175088" y="175928"/>
                  </a:lnTo>
                  <a:lnTo>
                    <a:pt x="164215" y="191280"/>
                  </a:lnTo>
                  <a:lnTo>
                    <a:pt x="153033" y="206483"/>
                  </a:lnTo>
                  <a:lnTo>
                    <a:pt x="141497" y="221520"/>
                  </a:lnTo>
                  <a:lnTo>
                    <a:pt x="0" y="102789"/>
                  </a:lnTo>
                  <a:lnTo>
                    <a:pt x="7801" y="93015"/>
                  </a:lnTo>
                  <a:lnTo>
                    <a:pt x="15354" y="83127"/>
                  </a:lnTo>
                  <a:lnTo>
                    <a:pt x="22691" y="73135"/>
                  </a:lnTo>
                  <a:lnTo>
                    <a:pt x="29837" y="63044"/>
                  </a:lnTo>
                  <a:lnTo>
                    <a:pt x="36815" y="52853"/>
                  </a:lnTo>
                  <a:lnTo>
                    <a:pt x="43640" y="42555"/>
                  </a:lnTo>
                  <a:lnTo>
                    <a:pt x="50320" y="32138"/>
                  </a:lnTo>
                  <a:lnTo>
                    <a:pt x="56851" y="21586"/>
                  </a:lnTo>
                  <a:lnTo>
                    <a:pt x="63225" y="10880"/>
                  </a:lnTo>
                  <a:lnTo>
                    <a:pt x="69421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73" name="Ядро эпителиальной клетки"/>
            <p:cNvSpPr/>
            <p:nvPr/>
          </p:nvSpPr>
          <p:spPr>
            <a:xfrm rot="1800000">
              <a:off x="3296454" y="312386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74" name="Ядрышко"/>
            <p:cNvSpPr/>
            <p:nvPr/>
          </p:nvSpPr>
          <p:spPr>
            <a:xfrm>
              <a:off x="3325715" y="317552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75" name="Клетка однослойного эпителия"/>
            <p:cNvSpPr/>
            <p:nvPr/>
          </p:nvSpPr>
          <p:spPr>
            <a:xfrm>
              <a:off x="3130786" y="3195963"/>
              <a:ext cx="239636" cy="251274"/>
            </a:xfrm>
            <a:custGeom>
              <a:avLst/>
              <a:gdLst/>
              <a:ahLst/>
              <a:cxnLst/>
              <a:rect l="l" t="t" r="r" b="b"/>
              <a:pathLst>
                <a:path w="239636" h="251274">
                  <a:moveTo>
                    <a:pt x="239636" y="118731"/>
                  </a:moveTo>
                  <a:lnTo>
                    <a:pt x="227700" y="133578"/>
                  </a:lnTo>
                  <a:lnTo>
                    <a:pt x="215314" y="148202"/>
                  </a:lnTo>
                  <a:lnTo>
                    <a:pt x="202434" y="162563"/>
                  </a:lnTo>
                  <a:lnTo>
                    <a:pt x="189016" y="176612"/>
                  </a:lnTo>
                  <a:lnTo>
                    <a:pt x="175022" y="190298"/>
                  </a:lnTo>
                  <a:lnTo>
                    <a:pt x="160423" y="203563"/>
                  </a:lnTo>
                  <a:lnTo>
                    <a:pt x="145198" y="216350"/>
                  </a:lnTo>
                  <a:lnTo>
                    <a:pt x="129332" y="228601"/>
                  </a:lnTo>
                  <a:lnTo>
                    <a:pt x="112824" y="240260"/>
                  </a:lnTo>
                  <a:lnTo>
                    <a:pt x="95679" y="251274"/>
                  </a:lnTo>
                  <a:lnTo>
                    <a:pt x="0" y="85552"/>
                  </a:lnTo>
                  <a:lnTo>
                    <a:pt x="11756" y="78517"/>
                  </a:lnTo>
                  <a:lnTo>
                    <a:pt x="23060" y="71046"/>
                  </a:lnTo>
                  <a:lnTo>
                    <a:pt x="33909" y="63175"/>
                  </a:lnTo>
                  <a:lnTo>
                    <a:pt x="44307" y="54940"/>
                  </a:lnTo>
                  <a:lnTo>
                    <a:pt x="54262" y="46381"/>
                  </a:lnTo>
                  <a:lnTo>
                    <a:pt x="63790" y="37535"/>
                  </a:lnTo>
                  <a:lnTo>
                    <a:pt x="72913" y="28441"/>
                  </a:lnTo>
                  <a:lnTo>
                    <a:pt x="81659" y="19133"/>
                  </a:lnTo>
                  <a:lnTo>
                    <a:pt x="90056" y="9643"/>
                  </a:lnTo>
                  <a:lnTo>
                    <a:pt x="98139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76" name="Ядро эпителиальной клетки"/>
            <p:cNvSpPr/>
            <p:nvPr/>
          </p:nvSpPr>
          <p:spPr>
            <a:xfrm rot="3000000">
              <a:off x="3197292" y="324512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77" name="Ядрышко"/>
            <p:cNvSpPr/>
            <p:nvPr/>
          </p:nvSpPr>
          <p:spPr>
            <a:xfrm>
              <a:off x="3226553" y="329679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78" name="Клетка однослойного эпителия"/>
            <p:cNvSpPr/>
            <p:nvPr/>
          </p:nvSpPr>
          <p:spPr>
            <a:xfrm>
              <a:off x="2993028" y="3281515"/>
              <a:ext cx="233437" cy="233644"/>
            </a:xfrm>
            <a:custGeom>
              <a:avLst/>
              <a:gdLst/>
              <a:ahLst/>
              <a:cxnLst/>
              <a:rect l="l" t="t" r="r" b="b"/>
              <a:pathLst>
                <a:path w="233437" h="233644">
                  <a:moveTo>
                    <a:pt x="233437" y="165722"/>
                  </a:moveTo>
                  <a:lnTo>
                    <a:pt x="215673" y="176044"/>
                  </a:lnTo>
                  <a:lnTo>
                    <a:pt x="197312" y="185634"/>
                  </a:lnTo>
                  <a:lnTo>
                    <a:pt x="178388" y="194457"/>
                  </a:lnTo>
                  <a:lnTo>
                    <a:pt x="158938" y="202488"/>
                  </a:lnTo>
                  <a:lnTo>
                    <a:pt x="139007" y="209710"/>
                  </a:lnTo>
                  <a:lnTo>
                    <a:pt x="118640" y="216115"/>
                  </a:lnTo>
                  <a:lnTo>
                    <a:pt x="97886" y="221701"/>
                  </a:lnTo>
                  <a:lnTo>
                    <a:pt x="76793" y="226475"/>
                  </a:lnTo>
                  <a:lnTo>
                    <a:pt x="55410" y="230450"/>
                  </a:lnTo>
                  <a:lnTo>
                    <a:pt x="33783" y="233644"/>
                  </a:lnTo>
                  <a:lnTo>
                    <a:pt x="0" y="42051"/>
                  </a:lnTo>
                  <a:lnTo>
                    <a:pt x="14982" y="40248"/>
                  </a:lnTo>
                  <a:lnTo>
                    <a:pt x="29782" y="37925"/>
                  </a:lnTo>
                  <a:lnTo>
                    <a:pt x="44370" y="35069"/>
                  </a:lnTo>
                  <a:lnTo>
                    <a:pt x="58711" y="31673"/>
                  </a:lnTo>
                  <a:lnTo>
                    <a:pt x="72771" y="27730"/>
                  </a:lnTo>
                  <a:lnTo>
                    <a:pt x="86517" y="23240"/>
                  </a:lnTo>
                  <a:lnTo>
                    <a:pt x="99917" y="18209"/>
                  </a:lnTo>
                  <a:lnTo>
                    <a:pt x="112941" y="12647"/>
                  </a:lnTo>
                  <a:lnTo>
                    <a:pt x="125561" y="6570"/>
                  </a:lnTo>
                  <a:lnTo>
                    <a:pt x="137758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79" name="Ядро эпителиальной клетки"/>
            <p:cNvSpPr/>
            <p:nvPr/>
          </p:nvSpPr>
          <p:spPr>
            <a:xfrm rot="4200000">
              <a:off x="3051872" y="333030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80" name="Ядрышко"/>
            <p:cNvSpPr/>
            <p:nvPr/>
          </p:nvSpPr>
          <p:spPr>
            <a:xfrm>
              <a:off x="3081133" y="338196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81" name="Клетка однослойного эпителия"/>
            <p:cNvSpPr/>
            <p:nvPr/>
          </p:nvSpPr>
          <p:spPr>
            <a:xfrm>
              <a:off x="2804539" y="3316181"/>
              <a:ext cx="222272" cy="204395"/>
            </a:xfrm>
            <a:custGeom>
              <a:avLst/>
              <a:gdLst/>
              <a:ahLst/>
              <a:cxnLst/>
              <a:rect l="l" t="t" r="r" b="b"/>
              <a:pathLst>
                <a:path w="222272" h="204395">
                  <a:moveTo>
                    <a:pt x="222272" y="198978"/>
                  </a:moveTo>
                  <a:lnTo>
                    <a:pt x="200441" y="201413"/>
                  </a:lnTo>
                  <a:lnTo>
                    <a:pt x="178447" y="203111"/>
                  </a:lnTo>
                  <a:lnTo>
                    <a:pt x="156324" y="204097"/>
                  </a:lnTo>
                  <a:lnTo>
                    <a:pt x="134102" y="204395"/>
                  </a:lnTo>
                  <a:lnTo>
                    <a:pt x="111807" y="204025"/>
                  </a:lnTo>
                  <a:lnTo>
                    <a:pt x="89464" y="203004"/>
                  </a:lnTo>
                  <a:lnTo>
                    <a:pt x="67092" y="201345"/>
                  </a:lnTo>
                  <a:lnTo>
                    <a:pt x="44711" y="199056"/>
                  </a:lnTo>
                  <a:lnTo>
                    <a:pt x="22341" y="196138"/>
                  </a:lnTo>
                  <a:lnTo>
                    <a:pt x="0" y="192588"/>
                  </a:lnTo>
                  <a:lnTo>
                    <a:pt x="33958" y="0"/>
                  </a:lnTo>
                  <a:lnTo>
                    <a:pt x="49532" y="2664"/>
                  </a:lnTo>
                  <a:lnTo>
                    <a:pt x="65117" y="4911"/>
                  </a:lnTo>
                  <a:lnTo>
                    <a:pt x="80700" y="6742"/>
                  </a:lnTo>
                  <a:lnTo>
                    <a:pt x="96268" y="8156"/>
                  </a:lnTo>
                  <a:lnTo>
                    <a:pt x="111807" y="9149"/>
                  </a:lnTo>
                  <a:lnTo>
                    <a:pt x="127303" y="9711"/>
                  </a:lnTo>
                  <a:lnTo>
                    <a:pt x="142740" y="9830"/>
                  </a:lnTo>
                  <a:lnTo>
                    <a:pt x="158097" y="9493"/>
                  </a:lnTo>
                  <a:lnTo>
                    <a:pt x="173355" y="8684"/>
                  </a:lnTo>
                  <a:lnTo>
                    <a:pt x="188489" y="7385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82" name="Ядро эпителиальной клетки"/>
            <p:cNvSpPr/>
            <p:nvPr/>
          </p:nvSpPr>
          <p:spPr>
            <a:xfrm rot="5400000">
              <a:off x="2870626" y="335257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83" name="Ядрышко"/>
            <p:cNvSpPr/>
            <p:nvPr/>
          </p:nvSpPr>
          <p:spPr>
            <a:xfrm>
              <a:off x="2899887" y="340424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84" name="Клетка однослойного эпителия"/>
            <p:cNvSpPr/>
            <p:nvPr/>
          </p:nvSpPr>
          <p:spPr>
            <a:xfrm>
              <a:off x="2589552" y="3264379"/>
              <a:ext cx="248945" cy="244390"/>
            </a:xfrm>
            <a:custGeom>
              <a:avLst/>
              <a:gdLst/>
              <a:ahLst/>
              <a:cxnLst/>
              <a:rect l="l" t="t" r="r" b="b"/>
              <a:pathLst>
                <a:path w="248945" h="244390">
                  <a:moveTo>
                    <a:pt x="214987" y="244390"/>
                  </a:moveTo>
                  <a:lnTo>
                    <a:pt x="192697" y="240198"/>
                  </a:lnTo>
                  <a:lnTo>
                    <a:pt x="170483" y="235351"/>
                  </a:lnTo>
                  <a:lnTo>
                    <a:pt x="148375" y="229830"/>
                  </a:lnTo>
                  <a:lnTo>
                    <a:pt x="126404" y="223615"/>
                  </a:lnTo>
                  <a:lnTo>
                    <a:pt x="104611" y="216685"/>
                  </a:lnTo>
                  <a:lnTo>
                    <a:pt x="83038" y="209017"/>
                  </a:lnTo>
                  <a:lnTo>
                    <a:pt x="61735" y="200593"/>
                  </a:lnTo>
                  <a:lnTo>
                    <a:pt x="40756" y="191395"/>
                  </a:lnTo>
                  <a:lnTo>
                    <a:pt x="20157" y="181412"/>
                  </a:lnTo>
                  <a:lnTo>
                    <a:pt x="0" y="170639"/>
                  </a:lnTo>
                  <a:lnTo>
                    <a:pt x="98519" y="0"/>
                  </a:lnTo>
                  <a:lnTo>
                    <a:pt x="112678" y="7407"/>
                  </a:lnTo>
                  <a:lnTo>
                    <a:pt x="127132" y="14298"/>
                  </a:lnTo>
                  <a:lnTo>
                    <a:pt x="141839" y="20675"/>
                  </a:lnTo>
                  <a:lnTo>
                    <a:pt x="156761" y="26546"/>
                  </a:lnTo>
                  <a:lnTo>
                    <a:pt x="171859" y="31921"/>
                  </a:lnTo>
                  <a:lnTo>
                    <a:pt x="187101" y="36811"/>
                  </a:lnTo>
                  <a:lnTo>
                    <a:pt x="202454" y="41231"/>
                  </a:lnTo>
                  <a:lnTo>
                    <a:pt x="217895" y="45194"/>
                  </a:lnTo>
                  <a:lnTo>
                    <a:pt x="233398" y="48714"/>
                  </a:lnTo>
                  <a:lnTo>
                    <a:pt x="248945" y="5180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85" name="Ядро эпителиальной клетки"/>
            <p:cNvSpPr/>
            <p:nvPr/>
          </p:nvSpPr>
          <p:spPr>
            <a:xfrm rot="6600000">
              <a:off x="2683411" y="331869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86" name="Ядрышко"/>
            <p:cNvSpPr/>
            <p:nvPr/>
          </p:nvSpPr>
          <p:spPr>
            <a:xfrm>
              <a:off x="2712672" y="337035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87" name="Клетка однослойного эпителия"/>
            <p:cNvSpPr/>
            <p:nvPr/>
          </p:nvSpPr>
          <p:spPr>
            <a:xfrm>
              <a:off x="2424176" y="3165104"/>
              <a:ext cx="263895" cy="269914"/>
            </a:xfrm>
            <a:custGeom>
              <a:avLst/>
              <a:gdLst/>
              <a:ahLst/>
              <a:cxnLst/>
              <a:rect l="l" t="t" r="r" b="b"/>
              <a:pathLst>
                <a:path w="263895" h="269914">
                  <a:moveTo>
                    <a:pt x="165376" y="269914"/>
                  </a:moveTo>
                  <a:lnTo>
                    <a:pt x="145722" y="258353"/>
                  </a:lnTo>
                  <a:lnTo>
                    <a:pt x="126631" y="246013"/>
                  </a:lnTo>
                  <a:lnTo>
                    <a:pt x="108162" y="232915"/>
                  </a:lnTo>
                  <a:lnTo>
                    <a:pt x="90371" y="219084"/>
                  </a:lnTo>
                  <a:lnTo>
                    <a:pt x="73306" y="204558"/>
                  </a:lnTo>
                  <a:lnTo>
                    <a:pt x="57009" y="189380"/>
                  </a:lnTo>
                  <a:lnTo>
                    <a:pt x="41514" y="173602"/>
                  </a:lnTo>
                  <a:lnTo>
                    <a:pt x="26842" y="157282"/>
                  </a:lnTo>
                  <a:lnTo>
                    <a:pt x="13004" y="140481"/>
                  </a:lnTo>
                  <a:lnTo>
                    <a:pt x="0" y="123264"/>
                  </a:lnTo>
                  <a:lnTo>
                    <a:pt x="146901" y="0"/>
                  </a:lnTo>
                  <a:lnTo>
                    <a:pt x="156182" y="11564"/>
                  </a:lnTo>
                  <a:lnTo>
                    <a:pt x="166035" y="22864"/>
                  </a:lnTo>
                  <a:lnTo>
                    <a:pt x="176462" y="33859"/>
                  </a:lnTo>
                  <a:lnTo>
                    <a:pt x="187453" y="44507"/>
                  </a:lnTo>
                  <a:lnTo>
                    <a:pt x="198992" y="54770"/>
                  </a:lnTo>
                  <a:lnTo>
                    <a:pt x="211056" y="64614"/>
                  </a:lnTo>
                  <a:lnTo>
                    <a:pt x="223615" y="74008"/>
                  </a:lnTo>
                  <a:lnTo>
                    <a:pt x="236633" y="82928"/>
                  </a:lnTo>
                  <a:lnTo>
                    <a:pt x="250074" y="91355"/>
                  </a:lnTo>
                  <a:lnTo>
                    <a:pt x="263895" y="99275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88" name="Ядро эпителиальной клетки"/>
            <p:cNvSpPr/>
            <p:nvPr/>
          </p:nvSpPr>
          <p:spPr>
            <a:xfrm rot="7800000">
              <a:off x="2517118" y="322547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89" name="Ядрышко"/>
            <p:cNvSpPr/>
            <p:nvPr/>
          </p:nvSpPr>
          <p:spPr>
            <a:xfrm>
              <a:off x="2546379" y="327714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90" name="Клетка однослойного эпителия"/>
            <p:cNvSpPr/>
            <p:nvPr/>
          </p:nvSpPr>
          <p:spPr>
            <a:xfrm>
              <a:off x="2332460" y="3043229"/>
              <a:ext cx="238617" cy="245139"/>
            </a:xfrm>
            <a:custGeom>
              <a:avLst/>
              <a:gdLst/>
              <a:ahLst/>
              <a:cxnLst/>
              <a:rect l="l" t="t" r="r" b="b"/>
              <a:pathLst>
                <a:path w="238617" h="245139">
                  <a:moveTo>
                    <a:pt x="91716" y="245139"/>
                  </a:moveTo>
                  <a:lnTo>
                    <a:pt x="79534" y="227572"/>
                  </a:lnTo>
                  <a:lnTo>
                    <a:pt x="68149" y="209718"/>
                  </a:lnTo>
                  <a:lnTo>
                    <a:pt x="57527" y="191640"/>
                  </a:lnTo>
                  <a:lnTo>
                    <a:pt x="47622" y="173396"/>
                  </a:lnTo>
                  <a:lnTo>
                    <a:pt x="38382" y="155035"/>
                  </a:lnTo>
                  <a:lnTo>
                    <a:pt x="29748" y="136602"/>
                  </a:lnTo>
                  <a:lnTo>
                    <a:pt x="21657" y="118132"/>
                  </a:lnTo>
                  <a:lnTo>
                    <a:pt x="14043" y="99651"/>
                  </a:lnTo>
                  <a:lnTo>
                    <a:pt x="6844" y="81175"/>
                  </a:lnTo>
                  <a:lnTo>
                    <a:pt x="0" y="62710"/>
                  </a:lnTo>
                  <a:lnTo>
                    <a:pt x="172296" y="0"/>
                  </a:lnTo>
                  <a:lnTo>
                    <a:pt x="177314" y="12300"/>
                  </a:lnTo>
                  <a:lnTo>
                    <a:pt x="182579" y="24614"/>
                  </a:lnTo>
                  <a:lnTo>
                    <a:pt x="188132" y="36937"/>
                  </a:lnTo>
                  <a:lnTo>
                    <a:pt x="194017" y="49259"/>
                  </a:lnTo>
                  <a:lnTo>
                    <a:pt x="200278" y="61565"/>
                  </a:lnTo>
                  <a:lnTo>
                    <a:pt x="206959" y="73831"/>
                  </a:lnTo>
                  <a:lnTo>
                    <a:pt x="214101" y="86030"/>
                  </a:lnTo>
                  <a:lnTo>
                    <a:pt x="221739" y="98129"/>
                  </a:lnTo>
                  <a:lnTo>
                    <a:pt x="229903" y="110091"/>
                  </a:lnTo>
                  <a:lnTo>
                    <a:pt x="238617" y="121875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91" name="Ядро эпителиальной клетки"/>
            <p:cNvSpPr/>
            <p:nvPr/>
          </p:nvSpPr>
          <p:spPr>
            <a:xfrm rot="9000000">
              <a:off x="2409308" y="308336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92" name="Ядрышко"/>
            <p:cNvSpPr/>
            <p:nvPr/>
          </p:nvSpPr>
          <p:spPr>
            <a:xfrm>
              <a:off x="2438568" y="313502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93" name="Клетка однослойного эпителия"/>
            <p:cNvSpPr/>
            <p:nvPr/>
          </p:nvSpPr>
          <p:spPr>
            <a:xfrm>
              <a:off x="2277097" y="2918676"/>
              <a:ext cx="227659" cy="187263"/>
            </a:xfrm>
            <a:custGeom>
              <a:avLst/>
              <a:gdLst/>
              <a:ahLst/>
              <a:cxnLst/>
              <a:rect l="l" t="t" r="r" b="b"/>
              <a:pathLst>
                <a:path w="227659" h="187263">
                  <a:moveTo>
                    <a:pt x="55363" y="187263"/>
                  </a:moveTo>
                  <a:lnTo>
                    <a:pt x="48819" y="168808"/>
                  </a:lnTo>
                  <a:lnTo>
                    <a:pt x="42530" y="150353"/>
                  </a:lnTo>
                  <a:lnTo>
                    <a:pt x="36462" y="131880"/>
                  </a:lnTo>
                  <a:lnTo>
                    <a:pt x="30591" y="113367"/>
                  </a:lnTo>
                  <a:lnTo>
                    <a:pt x="24908" y="94789"/>
                  </a:lnTo>
                  <a:lnTo>
                    <a:pt x="19419" y="76117"/>
                  </a:lnTo>
                  <a:lnTo>
                    <a:pt x="14142" y="57325"/>
                  </a:lnTo>
                  <a:lnTo>
                    <a:pt x="9113" y="38387"/>
                  </a:lnTo>
                  <a:lnTo>
                    <a:pt x="4379" y="19284"/>
                  </a:lnTo>
                  <a:lnTo>
                    <a:pt x="0" y="0"/>
                  </a:lnTo>
                  <a:lnTo>
                    <a:pt x="186527" y="0"/>
                  </a:lnTo>
                  <a:lnTo>
                    <a:pt x="189844" y="12807"/>
                  </a:lnTo>
                  <a:lnTo>
                    <a:pt x="193406" y="25500"/>
                  </a:lnTo>
                  <a:lnTo>
                    <a:pt x="197169" y="38088"/>
                  </a:lnTo>
                  <a:lnTo>
                    <a:pt x="201103" y="50583"/>
                  </a:lnTo>
                  <a:lnTo>
                    <a:pt x="205183" y="63002"/>
                  </a:lnTo>
                  <a:lnTo>
                    <a:pt x="209395" y="75361"/>
                  </a:lnTo>
                  <a:lnTo>
                    <a:pt x="213738" y="87680"/>
                  </a:lnTo>
                  <a:lnTo>
                    <a:pt x="218217" y="99975"/>
                  </a:lnTo>
                  <a:lnTo>
                    <a:pt x="222849" y="112262"/>
                  </a:lnTo>
                  <a:lnTo>
                    <a:pt x="227659" y="124553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94" name="Ядро эпителиальной клетки"/>
            <p:cNvSpPr/>
            <p:nvPr/>
          </p:nvSpPr>
          <p:spPr>
            <a:xfrm rot="10200000">
              <a:off x="2350027" y="293064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95" name="Ядрышко"/>
            <p:cNvSpPr/>
            <p:nvPr/>
          </p:nvSpPr>
          <p:spPr>
            <a:xfrm>
              <a:off x="2379288" y="298230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96" name="Клетка однослойного эпителия"/>
            <p:cNvSpPr/>
            <p:nvPr/>
          </p:nvSpPr>
          <p:spPr>
            <a:xfrm>
              <a:off x="2262707" y="2719108"/>
              <a:ext cx="200917" cy="199568"/>
            </a:xfrm>
            <a:custGeom>
              <a:avLst/>
              <a:gdLst/>
              <a:ahLst/>
              <a:cxnLst/>
              <a:rect l="l" t="t" r="r" b="b"/>
              <a:pathLst>
                <a:path w="200917" h="199568">
                  <a:moveTo>
                    <a:pt x="14390" y="199568"/>
                  </a:moveTo>
                  <a:lnTo>
                    <a:pt x="10436" y="180096"/>
                  </a:lnTo>
                  <a:lnTo>
                    <a:pt x="6989" y="160440"/>
                  </a:lnTo>
                  <a:lnTo>
                    <a:pt x="4132" y="140610"/>
                  </a:lnTo>
                  <a:lnTo>
                    <a:pt x="1956" y="120628"/>
                  </a:lnTo>
                  <a:lnTo>
                    <a:pt x="549" y="100527"/>
                  </a:lnTo>
                  <a:lnTo>
                    <a:pt x="0" y="80349"/>
                  </a:lnTo>
                  <a:lnTo>
                    <a:pt x="391" y="60144"/>
                  </a:lnTo>
                  <a:lnTo>
                    <a:pt x="1796" y="39973"/>
                  </a:lnTo>
                  <a:lnTo>
                    <a:pt x="4282" y="19901"/>
                  </a:lnTo>
                  <a:lnTo>
                    <a:pt x="7900" y="0"/>
                  </a:lnTo>
                  <a:lnTo>
                    <a:pt x="193569" y="67578"/>
                  </a:lnTo>
                  <a:lnTo>
                    <a:pt x="191338" y="80680"/>
                  </a:lnTo>
                  <a:lnTo>
                    <a:pt x="189897" y="93910"/>
                  </a:lnTo>
                  <a:lnTo>
                    <a:pt x="189207" y="107221"/>
                  </a:lnTo>
                  <a:lnTo>
                    <a:pt x="189223" y="120569"/>
                  </a:lnTo>
                  <a:lnTo>
                    <a:pt x="189892" y="133913"/>
                  </a:lnTo>
                  <a:lnTo>
                    <a:pt x="191155" y="147219"/>
                  </a:lnTo>
                  <a:lnTo>
                    <a:pt x="192951" y="160456"/>
                  </a:lnTo>
                  <a:lnTo>
                    <a:pt x="195218" y="173602"/>
                  </a:lnTo>
                  <a:lnTo>
                    <a:pt x="197893" y="186643"/>
                  </a:lnTo>
                  <a:lnTo>
                    <a:pt x="200917" y="199568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97" name="Ядро эпителиальной клетки"/>
            <p:cNvSpPr/>
            <p:nvPr/>
          </p:nvSpPr>
          <p:spPr>
            <a:xfrm rot="11400000">
              <a:off x="2315994" y="277070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98" name="Ядрышко"/>
            <p:cNvSpPr/>
            <p:nvPr/>
          </p:nvSpPr>
          <p:spPr>
            <a:xfrm>
              <a:off x="2345255" y="282236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99" name="Клетка однослойного эпителия"/>
            <p:cNvSpPr/>
            <p:nvPr/>
          </p:nvSpPr>
          <p:spPr>
            <a:xfrm>
              <a:off x="2270607" y="2544722"/>
              <a:ext cx="252602" cy="241964"/>
            </a:xfrm>
            <a:custGeom>
              <a:avLst/>
              <a:gdLst/>
              <a:ahLst/>
              <a:cxnLst/>
              <a:rect l="l" t="t" r="r" b="b"/>
              <a:pathLst>
                <a:path w="252602" h="241964">
                  <a:moveTo>
                    <a:pt x="0" y="174386"/>
                  </a:moveTo>
                  <a:lnTo>
                    <a:pt x="4791" y="154729"/>
                  </a:lnTo>
                  <a:lnTo>
                    <a:pt x="10778" y="135392"/>
                  </a:lnTo>
                  <a:lnTo>
                    <a:pt x="17973" y="116448"/>
                  </a:lnTo>
                  <a:lnTo>
                    <a:pt x="26369" y="97968"/>
                  </a:lnTo>
                  <a:lnTo>
                    <a:pt x="35945" y="80019"/>
                  </a:lnTo>
                  <a:lnTo>
                    <a:pt x="46667" y="62660"/>
                  </a:lnTo>
                  <a:lnTo>
                    <a:pt x="58486" y="45941"/>
                  </a:lnTo>
                  <a:lnTo>
                    <a:pt x="71345" y="29905"/>
                  </a:lnTo>
                  <a:lnTo>
                    <a:pt x="85175" y="14584"/>
                  </a:lnTo>
                  <a:lnTo>
                    <a:pt x="99902" y="0"/>
                  </a:lnTo>
                  <a:lnTo>
                    <a:pt x="252602" y="128130"/>
                  </a:lnTo>
                  <a:lnTo>
                    <a:pt x="242577" y="137560"/>
                  </a:lnTo>
                  <a:lnTo>
                    <a:pt x="233186" y="147489"/>
                  </a:lnTo>
                  <a:lnTo>
                    <a:pt x="224480" y="157905"/>
                  </a:lnTo>
                  <a:lnTo>
                    <a:pt x="216505" y="168786"/>
                  </a:lnTo>
                  <a:lnTo>
                    <a:pt x="209302" y="180107"/>
                  </a:lnTo>
                  <a:lnTo>
                    <a:pt x="202904" y="191833"/>
                  </a:lnTo>
                  <a:lnTo>
                    <a:pt x="197333" y="203927"/>
                  </a:lnTo>
                  <a:lnTo>
                    <a:pt x="192604" y="216345"/>
                  </a:lnTo>
                  <a:lnTo>
                    <a:pt x="188718" y="229041"/>
                  </a:lnTo>
                  <a:lnTo>
                    <a:pt x="185669" y="241964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00" name="Ядро эпителиальной клетки"/>
            <p:cNvSpPr/>
            <p:nvPr/>
          </p:nvSpPr>
          <p:spPr>
            <a:xfrm rot="12600000">
              <a:off x="2350977" y="261049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01" name="Ядрышко"/>
            <p:cNvSpPr/>
            <p:nvPr/>
          </p:nvSpPr>
          <p:spPr>
            <a:xfrm>
              <a:off x="2380238" y="266215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02" name="Клетка однослойного эпителия"/>
            <p:cNvSpPr/>
            <p:nvPr/>
          </p:nvSpPr>
          <p:spPr>
            <a:xfrm>
              <a:off x="2370509" y="2438003"/>
              <a:ext cx="276036" cy="234849"/>
            </a:xfrm>
            <a:custGeom>
              <a:avLst/>
              <a:gdLst/>
              <a:ahLst/>
              <a:cxnLst/>
              <a:rect l="l" t="t" r="r" b="b"/>
              <a:pathLst>
                <a:path w="276036" h="234849">
                  <a:moveTo>
                    <a:pt x="0" y="106719"/>
                  </a:moveTo>
                  <a:lnTo>
                    <a:pt x="15544" y="92883"/>
                  </a:lnTo>
                  <a:lnTo>
                    <a:pt x="31825" y="79797"/>
                  </a:lnTo>
                  <a:lnTo>
                    <a:pt x="48759" y="67454"/>
                  </a:lnTo>
                  <a:lnTo>
                    <a:pt x="66270" y="55839"/>
                  </a:lnTo>
                  <a:lnTo>
                    <a:pt x="84281" y="44931"/>
                  </a:lnTo>
                  <a:lnTo>
                    <a:pt x="102724" y="34703"/>
                  </a:lnTo>
                  <a:lnTo>
                    <a:pt x="121536" y="25127"/>
                  </a:lnTo>
                  <a:lnTo>
                    <a:pt x="140664" y="16171"/>
                  </a:lnTo>
                  <a:lnTo>
                    <a:pt x="160061" y="7804"/>
                  </a:lnTo>
                  <a:lnTo>
                    <a:pt x="179691" y="0"/>
                  </a:lnTo>
                  <a:lnTo>
                    <a:pt x="276036" y="166874"/>
                  </a:lnTo>
                  <a:lnTo>
                    <a:pt x="262508" y="171753"/>
                  </a:lnTo>
                  <a:lnTo>
                    <a:pt x="249149" y="177006"/>
                  </a:lnTo>
                  <a:lnTo>
                    <a:pt x="235986" y="182653"/>
                  </a:lnTo>
                  <a:lnTo>
                    <a:pt x="223051" y="188715"/>
                  </a:lnTo>
                  <a:lnTo>
                    <a:pt x="210382" y="195212"/>
                  </a:lnTo>
                  <a:lnTo>
                    <a:pt x="198023" y="202165"/>
                  </a:lnTo>
                  <a:lnTo>
                    <a:pt x="186021" y="209593"/>
                  </a:lnTo>
                  <a:lnTo>
                    <a:pt x="174430" y="217509"/>
                  </a:lnTo>
                  <a:lnTo>
                    <a:pt x="163304" y="225926"/>
                  </a:lnTo>
                  <a:lnTo>
                    <a:pt x="152700" y="234849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03" name="Ядро эпителиальной клетки"/>
            <p:cNvSpPr/>
            <p:nvPr/>
          </p:nvSpPr>
          <p:spPr>
            <a:xfrm rot="13800000">
              <a:off x="2474642" y="249478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04" name="Ядрышко"/>
            <p:cNvSpPr/>
            <p:nvPr/>
          </p:nvSpPr>
          <p:spPr>
            <a:xfrm>
              <a:off x="2503903" y="254644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05" name="Клетка однослойного эпителия"/>
            <p:cNvSpPr/>
            <p:nvPr/>
          </p:nvSpPr>
          <p:spPr>
            <a:xfrm>
              <a:off x="2550200" y="2388393"/>
              <a:ext cx="238468" cy="216484"/>
            </a:xfrm>
            <a:custGeom>
              <a:avLst/>
              <a:gdLst/>
              <a:ahLst/>
              <a:cxnLst/>
              <a:rect l="l" t="t" r="r" b="b"/>
              <a:pathLst>
                <a:path w="238468" h="216484">
                  <a:moveTo>
                    <a:pt x="0" y="49610"/>
                  </a:moveTo>
                  <a:lnTo>
                    <a:pt x="19834" y="42344"/>
                  </a:lnTo>
                  <a:lnTo>
                    <a:pt x="39850" y="35596"/>
                  </a:lnTo>
                  <a:lnTo>
                    <a:pt x="60034" y="29352"/>
                  </a:lnTo>
                  <a:lnTo>
                    <a:pt x="80376" y="23606"/>
                  </a:lnTo>
                  <a:lnTo>
                    <a:pt x="100871" y="18356"/>
                  </a:lnTo>
                  <a:lnTo>
                    <a:pt x="121516" y="13611"/>
                  </a:lnTo>
                  <a:lnTo>
                    <a:pt x="142311" y="9382"/>
                  </a:lnTo>
                  <a:lnTo>
                    <a:pt x="163253" y="5687"/>
                  </a:lnTo>
                  <a:lnTo>
                    <a:pt x="184338" y="2551"/>
                  </a:lnTo>
                  <a:lnTo>
                    <a:pt x="205561" y="0"/>
                  </a:lnTo>
                  <a:lnTo>
                    <a:pt x="238468" y="186620"/>
                  </a:lnTo>
                  <a:lnTo>
                    <a:pt x="223758" y="188004"/>
                  </a:lnTo>
                  <a:lnTo>
                    <a:pt x="209152" y="189777"/>
                  </a:lnTo>
                  <a:lnTo>
                    <a:pt x="194653" y="191921"/>
                  </a:lnTo>
                  <a:lnTo>
                    <a:pt x="180265" y="194420"/>
                  </a:lnTo>
                  <a:lnTo>
                    <a:pt x="165987" y="197263"/>
                  </a:lnTo>
                  <a:lnTo>
                    <a:pt x="151821" y="200441"/>
                  </a:lnTo>
                  <a:lnTo>
                    <a:pt x="137769" y="203949"/>
                  </a:lnTo>
                  <a:lnTo>
                    <a:pt x="123834" y="207788"/>
                  </a:lnTo>
                  <a:lnTo>
                    <a:pt x="110022" y="211964"/>
                  </a:lnTo>
                  <a:lnTo>
                    <a:pt x="96345" y="21648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06" name="Ядро эпителиальной клетки"/>
            <p:cNvSpPr/>
            <p:nvPr/>
          </p:nvSpPr>
          <p:spPr>
            <a:xfrm rot="15000000">
              <a:off x="2639211" y="243348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07" name="Ядрышко"/>
            <p:cNvSpPr/>
            <p:nvPr/>
          </p:nvSpPr>
          <p:spPr>
            <a:xfrm>
              <a:off x="2668472" y="248515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08" name="Клетка однослойного эпителия"/>
            <p:cNvSpPr/>
            <p:nvPr/>
          </p:nvSpPr>
          <p:spPr>
            <a:xfrm>
              <a:off x="2755761" y="2384531"/>
              <a:ext cx="215636" cy="201468"/>
            </a:xfrm>
            <a:custGeom>
              <a:avLst/>
              <a:gdLst/>
              <a:ahLst/>
              <a:cxnLst/>
              <a:rect l="l" t="t" r="r" b="b"/>
              <a:pathLst>
                <a:path w="215636" h="201468">
                  <a:moveTo>
                    <a:pt x="0" y="3862"/>
                  </a:moveTo>
                  <a:lnTo>
                    <a:pt x="21351" y="1923"/>
                  </a:lnTo>
                  <a:lnTo>
                    <a:pt x="42816" y="627"/>
                  </a:lnTo>
                  <a:lnTo>
                    <a:pt x="64376" y="0"/>
                  </a:lnTo>
                  <a:lnTo>
                    <a:pt x="86008" y="69"/>
                  </a:lnTo>
                  <a:lnTo>
                    <a:pt x="107686" y="853"/>
                  </a:lnTo>
                  <a:lnTo>
                    <a:pt x="129380" y="2370"/>
                  </a:lnTo>
                  <a:lnTo>
                    <a:pt x="151056" y="4628"/>
                  </a:lnTo>
                  <a:lnTo>
                    <a:pt x="172681" y="7631"/>
                  </a:lnTo>
                  <a:lnTo>
                    <a:pt x="194219" y="11373"/>
                  </a:lnTo>
                  <a:lnTo>
                    <a:pt x="215636" y="15843"/>
                  </a:lnTo>
                  <a:lnTo>
                    <a:pt x="182906" y="201468"/>
                  </a:lnTo>
                  <a:lnTo>
                    <a:pt x="167961" y="198209"/>
                  </a:lnTo>
                  <a:lnTo>
                    <a:pt x="152942" y="195429"/>
                  </a:lnTo>
                  <a:lnTo>
                    <a:pt x="137874" y="193137"/>
                  </a:lnTo>
                  <a:lnTo>
                    <a:pt x="122781" y="191336"/>
                  </a:lnTo>
                  <a:lnTo>
                    <a:pt x="107686" y="190025"/>
                  </a:lnTo>
                  <a:lnTo>
                    <a:pt x="92613" y="189198"/>
                  </a:lnTo>
                  <a:lnTo>
                    <a:pt x="77581" y="188845"/>
                  </a:lnTo>
                  <a:lnTo>
                    <a:pt x="62610" y="188953"/>
                  </a:lnTo>
                  <a:lnTo>
                    <a:pt x="47714" y="189504"/>
                  </a:lnTo>
                  <a:lnTo>
                    <a:pt x="32907" y="190482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09" name="Ядро эпителиальной клетки"/>
            <p:cNvSpPr/>
            <p:nvPr/>
          </p:nvSpPr>
          <p:spPr>
            <a:xfrm rot="16200000">
              <a:off x="2817727" y="241745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10" name="Ядрышко"/>
            <p:cNvSpPr/>
            <p:nvPr/>
          </p:nvSpPr>
          <p:spPr>
            <a:xfrm>
              <a:off x="2846988" y="246912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11" name="Клетка однослойного эпителия"/>
            <p:cNvSpPr/>
            <p:nvPr/>
          </p:nvSpPr>
          <p:spPr>
            <a:xfrm>
              <a:off x="2938667" y="2400374"/>
              <a:ext cx="235527" cy="240266"/>
            </a:xfrm>
            <a:custGeom>
              <a:avLst/>
              <a:gdLst/>
              <a:ahLst/>
              <a:cxnLst/>
              <a:rect l="l" t="t" r="r" b="b"/>
              <a:pathLst>
                <a:path w="235527" h="240266">
                  <a:moveTo>
                    <a:pt x="32730" y="0"/>
                  </a:moveTo>
                  <a:lnTo>
                    <a:pt x="53996" y="5179"/>
                  </a:lnTo>
                  <a:lnTo>
                    <a:pt x="75082" y="11041"/>
                  </a:lnTo>
                  <a:lnTo>
                    <a:pt x="95963" y="17555"/>
                  </a:lnTo>
                  <a:lnTo>
                    <a:pt x="116621" y="24687"/>
                  </a:lnTo>
                  <a:lnTo>
                    <a:pt x="137042" y="32399"/>
                  </a:lnTo>
                  <a:lnTo>
                    <a:pt x="157220" y="40650"/>
                  </a:lnTo>
                  <a:lnTo>
                    <a:pt x="177151" y="49403"/>
                  </a:lnTo>
                  <a:lnTo>
                    <a:pt x="196840" y="58618"/>
                  </a:lnTo>
                  <a:lnTo>
                    <a:pt x="216295" y="68264"/>
                  </a:lnTo>
                  <a:lnTo>
                    <a:pt x="235527" y="78309"/>
                  </a:lnTo>
                  <a:lnTo>
                    <a:pt x="142021" y="240266"/>
                  </a:lnTo>
                  <a:lnTo>
                    <a:pt x="128516" y="233353"/>
                  </a:lnTo>
                  <a:lnTo>
                    <a:pt x="114861" y="226701"/>
                  </a:lnTo>
                  <a:lnTo>
                    <a:pt x="101049" y="220330"/>
                  </a:lnTo>
                  <a:lnTo>
                    <a:pt x="87076" y="214262"/>
                  </a:lnTo>
                  <a:lnTo>
                    <a:pt x="72939" y="208522"/>
                  </a:lnTo>
                  <a:lnTo>
                    <a:pt x="58640" y="203135"/>
                  </a:lnTo>
                  <a:lnTo>
                    <a:pt x="44185" y="198127"/>
                  </a:lnTo>
                  <a:lnTo>
                    <a:pt x="29583" y="193524"/>
                  </a:lnTo>
                  <a:lnTo>
                    <a:pt x="14849" y="189350"/>
                  </a:lnTo>
                  <a:lnTo>
                    <a:pt x="0" y="185625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12" name="Ядро эпителиальной клетки"/>
            <p:cNvSpPr/>
            <p:nvPr/>
          </p:nvSpPr>
          <p:spPr>
            <a:xfrm rot="17400000">
              <a:off x="2996655" y="245806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13" name="Ядрышко"/>
            <p:cNvSpPr/>
            <p:nvPr/>
          </p:nvSpPr>
          <p:spPr>
            <a:xfrm>
              <a:off x="3025916" y="250972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14" name="Клетка однослойного эпителия"/>
            <p:cNvSpPr/>
            <p:nvPr/>
          </p:nvSpPr>
          <p:spPr>
            <a:xfrm>
              <a:off x="3080688" y="2478683"/>
              <a:ext cx="275396" cy="244356"/>
            </a:xfrm>
            <a:custGeom>
              <a:avLst/>
              <a:gdLst/>
              <a:ahLst/>
              <a:cxnLst/>
              <a:rect l="l" t="t" r="r" b="b"/>
              <a:pathLst>
                <a:path w="275396" h="244356">
                  <a:moveTo>
                    <a:pt x="93506" y="0"/>
                  </a:moveTo>
                  <a:lnTo>
                    <a:pt x="112527" y="10423"/>
                  </a:lnTo>
                  <a:lnTo>
                    <a:pt x="131353" y="21205"/>
                  </a:lnTo>
                  <a:lnTo>
                    <a:pt x="149996" y="32339"/>
                  </a:lnTo>
                  <a:lnTo>
                    <a:pt x="168465" y="43821"/>
                  </a:lnTo>
                  <a:lnTo>
                    <a:pt x="186766" y="55658"/>
                  </a:lnTo>
                  <a:lnTo>
                    <a:pt x="204897" y="67860"/>
                  </a:lnTo>
                  <a:lnTo>
                    <a:pt x="222849" y="80448"/>
                  </a:lnTo>
                  <a:lnTo>
                    <a:pt x="240603" y="93442"/>
                  </a:lnTo>
                  <a:lnTo>
                    <a:pt x="258132" y="106870"/>
                  </a:lnTo>
                  <a:lnTo>
                    <a:pt x="275396" y="120759"/>
                  </a:lnTo>
                  <a:lnTo>
                    <a:pt x="128099" y="244356"/>
                  </a:lnTo>
                  <a:lnTo>
                    <a:pt x="115906" y="234930"/>
                  </a:lnTo>
                  <a:lnTo>
                    <a:pt x="103536" y="225806"/>
                  </a:lnTo>
                  <a:lnTo>
                    <a:pt x="91015" y="216966"/>
                  </a:lnTo>
                  <a:lnTo>
                    <a:pt x="78363" y="208391"/>
                  </a:lnTo>
                  <a:lnTo>
                    <a:pt x="65591" y="200068"/>
                  </a:lnTo>
                  <a:lnTo>
                    <a:pt x="52707" y="191985"/>
                  </a:lnTo>
                  <a:lnTo>
                    <a:pt x="39711" y="184133"/>
                  </a:lnTo>
                  <a:lnTo>
                    <a:pt x="26599" y="176510"/>
                  </a:lnTo>
                  <a:lnTo>
                    <a:pt x="13365" y="169116"/>
                  </a:lnTo>
                  <a:lnTo>
                    <a:pt x="0" y="161957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15" name="Ядро эпителиальной клетки"/>
            <p:cNvSpPr/>
            <p:nvPr/>
          </p:nvSpPr>
          <p:spPr>
            <a:xfrm rot="18600000">
              <a:off x="3158723" y="254314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16" name="Ядрышко"/>
            <p:cNvSpPr/>
            <p:nvPr/>
          </p:nvSpPr>
          <p:spPr>
            <a:xfrm>
              <a:off x="3187983" y="259480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17" name="Клетка однослойного эпителия"/>
            <p:cNvSpPr/>
            <p:nvPr/>
          </p:nvSpPr>
          <p:spPr>
            <a:xfrm>
              <a:off x="3208787" y="2599442"/>
              <a:ext cx="290444" cy="236716"/>
            </a:xfrm>
            <a:custGeom>
              <a:avLst/>
              <a:gdLst/>
              <a:ahLst/>
              <a:cxnLst/>
              <a:rect l="l" t="t" r="r" b="b"/>
              <a:pathLst>
                <a:path w="290444" h="236716">
                  <a:moveTo>
                    <a:pt x="147297" y="0"/>
                  </a:moveTo>
                  <a:lnTo>
                    <a:pt x="164247" y="14378"/>
                  </a:lnTo>
                  <a:lnTo>
                    <a:pt x="180824" y="29270"/>
                  </a:lnTo>
                  <a:lnTo>
                    <a:pt x="196958" y="44698"/>
                  </a:lnTo>
                  <a:lnTo>
                    <a:pt x="212572" y="60680"/>
                  </a:lnTo>
                  <a:lnTo>
                    <a:pt x="227583" y="77223"/>
                  </a:lnTo>
                  <a:lnTo>
                    <a:pt x="241901" y="94330"/>
                  </a:lnTo>
                  <a:lnTo>
                    <a:pt x="255435" y="111992"/>
                  </a:lnTo>
                  <a:lnTo>
                    <a:pt x="268095" y="130190"/>
                  </a:lnTo>
                  <a:lnTo>
                    <a:pt x="279793" y="148897"/>
                  </a:lnTo>
                  <a:lnTo>
                    <a:pt x="290444" y="168074"/>
                  </a:lnTo>
                  <a:lnTo>
                    <a:pt x="101853" y="236716"/>
                  </a:lnTo>
                  <a:lnTo>
                    <a:pt x="94180" y="223890"/>
                  </a:lnTo>
                  <a:lnTo>
                    <a:pt x="85786" y="211360"/>
                  </a:lnTo>
                  <a:lnTo>
                    <a:pt x="76731" y="199152"/>
                  </a:lnTo>
                  <a:lnTo>
                    <a:pt x="67075" y="187286"/>
                  </a:lnTo>
                  <a:lnTo>
                    <a:pt x="56883" y="175777"/>
                  </a:lnTo>
                  <a:lnTo>
                    <a:pt x="46218" y="164629"/>
                  </a:lnTo>
                  <a:lnTo>
                    <a:pt x="35142" y="153845"/>
                  </a:lnTo>
                  <a:lnTo>
                    <a:pt x="23712" y="143418"/>
                  </a:lnTo>
                  <a:lnTo>
                    <a:pt x="11982" y="133340"/>
                  </a:lnTo>
                  <a:lnTo>
                    <a:pt x="0" y="123597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18" name="Ядро эпителиальной клетки"/>
            <p:cNvSpPr/>
            <p:nvPr/>
          </p:nvSpPr>
          <p:spPr>
            <a:xfrm rot="19800000">
              <a:off x="3301886" y="266161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19" name="Ядрышко"/>
            <p:cNvSpPr/>
            <p:nvPr/>
          </p:nvSpPr>
          <p:spPr>
            <a:xfrm>
              <a:off x="3331146" y="271328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20" name="Клетка однослойного эпителия"/>
            <p:cNvSpPr/>
            <p:nvPr/>
          </p:nvSpPr>
          <p:spPr>
            <a:xfrm>
              <a:off x="3310640" y="2767516"/>
              <a:ext cx="229715" cy="204059"/>
            </a:xfrm>
            <a:custGeom>
              <a:avLst/>
              <a:gdLst/>
              <a:ahLst/>
              <a:cxnLst/>
              <a:rect l="l" t="t" r="r" b="b"/>
              <a:pathLst>
                <a:path w="229715" h="204059">
                  <a:moveTo>
                    <a:pt x="188591" y="0"/>
                  </a:moveTo>
                  <a:lnTo>
                    <a:pt x="198122" y="19599"/>
                  </a:lnTo>
                  <a:lnTo>
                    <a:pt x="206467" y="39563"/>
                  </a:lnTo>
                  <a:lnTo>
                    <a:pt x="213573" y="59829"/>
                  </a:lnTo>
                  <a:lnTo>
                    <a:pt x="219402" y="80328"/>
                  </a:lnTo>
                  <a:lnTo>
                    <a:pt x="223930" y="100984"/>
                  </a:lnTo>
                  <a:lnTo>
                    <a:pt x="227149" y="121725"/>
                  </a:lnTo>
                  <a:lnTo>
                    <a:pt x="229069" y="142473"/>
                  </a:lnTo>
                  <a:lnTo>
                    <a:pt x="229715" y="163156"/>
                  </a:lnTo>
                  <a:lnTo>
                    <a:pt x="229128" y="183706"/>
                  </a:lnTo>
                  <a:lnTo>
                    <a:pt x="227363" y="204059"/>
                  </a:lnTo>
                  <a:lnTo>
                    <a:pt x="29843" y="204059"/>
                  </a:lnTo>
                  <a:lnTo>
                    <a:pt x="30779" y="190632"/>
                  </a:lnTo>
                  <a:lnTo>
                    <a:pt x="30895" y="177059"/>
                  </a:lnTo>
                  <a:lnTo>
                    <a:pt x="30152" y="163380"/>
                  </a:lnTo>
                  <a:lnTo>
                    <a:pt x="28523" y="149640"/>
                  </a:lnTo>
                  <a:lnTo>
                    <a:pt x="25991" y="135886"/>
                  </a:lnTo>
                  <a:lnTo>
                    <a:pt x="22551" y="122170"/>
                  </a:lnTo>
                  <a:lnTo>
                    <a:pt x="18209" y="108539"/>
                  </a:lnTo>
                  <a:lnTo>
                    <a:pt x="12984" y="95044"/>
                  </a:lnTo>
                  <a:lnTo>
                    <a:pt x="6901" y="81730"/>
                  </a:lnTo>
                  <a:lnTo>
                    <a:pt x="0" y="68642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21" name="Ядро эпителиальной клетки"/>
            <p:cNvSpPr/>
            <p:nvPr/>
          </p:nvSpPr>
          <p:spPr>
            <a:xfrm rot="21000000">
              <a:off x="3385921" y="282035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22" name="Ядрышко"/>
            <p:cNvSpPr/>
            <p:nvPr/>
          </p:nvSpPr>
          <p:spPr>
            <a:xfrm>
              <a:off x="3415182" y="287201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23" name="Клетка однослойного эпителия"/>
            <p:cNvSpPr/>
            <p:nvPr/>
          </p:nvSpPr>
          <p:spPr>
            <a:xfrm>
              <a:off x="3298346" y="2971575"/>
              <a:ext cx="239657" cy="185373"/>
            </a:xfrm>
            <a:custGeom>
              <a:avLst/>
              <a:gdLst/>
              <a:ahLst/>
              <a:cxnLst/>
              <a:rect l="l" t="t" r="r" b="b"/>
              <a:pathLst>
                <a:path w="239657" h="185373">
                  <a:moveTo>
                    <a:pt x="239657" y="0"/>
                  </a:moveTo>
                  <a:lnTo>
                    <a:pt x="236782" y="20101"/>
                  </a:lnTo>
                  <a:lnTo>
                    <a:pt x="232875" y="39904"/>
                  </a:lnTo>
                  <a:lnTo>
                    <a:pt x="228022" y="59373"/>
                  </a:lnTo>
                  <a:lnTo>
                    <a:pt x="222314" y="78482"/>
                  </a:lnTo>
                  <a:lnTo>
                    <a:pt x="215846" y="97215"/>
                  </a:lnTo>
                  <a:lnTo>
                    <a:pt x="208712" y="115567"/>
                  </a:lnTo>
                  <a:lnTo>
                    <a:pt x="201001" y="133543"/>
                  </a:lnTo>
                  <a:lnTo>
                    <a:pt x="192799" y="151155"/>
                  </a:lnTo>
                  <a:lnTo>
                    <a:pt x="184183" y="168423"/>
                  </a:lnTo>
                  <a:lnTo>
                    <a:pt x="175218" y="185373"/>
                  </a:lnTo>
                  <a:lnTo>
                    <a:pt x="0" y="121599"/>
                  </a:lnTo>
                  <a:lnTo>
                    <a:pt x="5988" y="110524"/>
                  </a:lnTo>
                  <a:lnTo>
                    <a:pt x="11729" y="99234"/>
                  </a:lnTo>
                  <a:lnTo>
                    <a:pt x="17177" y="87710"/>
                  </a:lnTo>
                  <a:lnTo>
                    <a:pt x="22279" y="75940"/>
                  </a:lnTo>
                  <a:lnTo>
                    <a:pt x="26975" y="63912"/>
                  </a:lnTo>
                  <a:lnTo>
                    <a:pt x="31203" y="51623"/>
                  </a:lnTo>
                  <a:lnTo>
                    <a:pt x="34897" y="39075"/>
                  </a:lnTo>
                  <a:lnTo>
                    <a:pt x="37992" y="26277"/>
                  </a:lnTo>
                  <a:lnTo>
                    <a:pt x="40425" y="13244"/>
                  </a:lnTo>
                  <a:lnTo>
                    <a:pt x="42137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24" name="Ядро эпителиальной клетки"/>
            <p:cNvSpPr/>
            <p:nvPr/>
          </p:nvSpPr>
          <p:spPr>
            <a:xfrm rot="600000">
              <a:off x="3370259" y="298517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25" name="Ядрышко"/>
            <p:cNvSpPr/>
            <p:nvPr/>
          </p:nvSpPr>
          <p:spPr>
            <a:xfrm>
              <a:off x="3399520" y="303684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26" name="Просвет канальца"/>
            <p:cNvSpPr/>
            <p:nvPr/>
          </p:nvSpPr>
          <p:spPr>
            <a:xfrm>
              <a:off x="2452396" y="2571540"/>
              <a:ext cx="885604" cy="752635"/>
            </a:xfrm>
            <a:custGeom>
              <a:avLst/>
              <a:gdLst/>
              <a:ahLst/>
              <a:cxnLst/>
              <a:rect l="l" t="t" r="r" b="b"/>
              <a:pathLst>
                <a:path w="885604" h="752635">
                  <a:moveTo>
                    <a:pt x="848421" y="522534"/>
                  </a:moveTo>
                  <a:lnTo>
                    <a:pt x="839599" y="539132"/>
                  </a:lnTo>
                  <a:lnTo>
                    <a:pt x="830258" y="555355"/>
                  </a:lnTo>
                  <a:lnTo>
                    <a:pt x="820433" y="571246"/>
                  </a:lnTo>
                  <a:lnTo>
                    <a:pt x="810122" y="586833"/>
                  </a:lnTo>
                  <a:lnTo>
                    <a:pt x="799291" y="602129"/>
                  </a:lnTo>
                  <a:lnTo>
                    <a:pt x="787875" y="617118"/>
                  </a:lnTo>
                  <a:lnTo>
                    <a:pt x="775796" y="631764"/>
                  </a:lnTo>
                  <a:lnTo>
                    <a:pt x="762966" y="646001"/>
                  </a:lnTo>
                  <a:lnTo>
                    <a:pt x="749299" y="659745"/>
                  </a:lnTo>
                  <a:lnTo>
                    <a:pt x="734724" y="672893"/>
                  </a:lnTo>
                  <a:lnTo>
                    <a:pt x="719186" y="685331"/>
                  </a:lnTo>
                  <a:lnTo>
                    <a:pt x="702658" y="696944"/>
                  </a:lnTo>
                  <a:lnTo>
                    <a:pt x="685144" y="707621"/>
                  </a:lnTo>
                  <a:lnTo>
                    <a:pt x="666673" y="717264"/>
                  </a:lnTo>
                  <a:lnTo>
                    <a:pt x="647304" y="725795"/>
                  </a:lnTo>
                  <a:lnTo>
                    <a:pt x="627118" y="733156"/>
                  </a:lnTo>
                  <a:lnTo>
                    <a:pt x="606214" y="739318"/>
                  </a:lnTo>
                  <a:lnTo>
                    <a:pt x="584696" y="744276"/>
                  </a:lnTo>
                  <a:lnTo>
                    <a:pt x="562676" y="748045"/>
                  </a:lnTo>
                  <a:lnTo>
                    <a:pt x="540259" y="750661"/>
                  </a:lnTo>
                  <a:lnTo>
                    <a:pt x="517541" y="752174"/>
                  </a:lnTo>
                  <a:lnTo>
                    <a:pt x="494605" y="752635"/>
                  </a:lnTo>
                  <a:lnTo>
                    <a:pt x="471521" y="752098"/>
                  </a:lnTo>
                  <a:lnTo>
                    <a:pt x="448346" y="750607"/>
                  </a:lnTo>
                  <a:lnTo>
                    <a:pt x="425127" y="748195"/>
                  </a:lnTo>
                  <a:lnTo>
                    <a:pt x="401904" y="744876"/>
                  </a:lnTo>
                  <a:lnTo>
                    <a:pt x="378720" y="740650"/>
                  </a:lnTo>
                  <a:lnTo>
                    <a:pt x="355620" y="735500"/>
                  </a:lnTo>
                  <a:lnTo>
                    <a:pt x="332661" y="729393"/>
                  </a:lnTo>
                  <a:lnTo>
                    <a:pt x="309914" y="722291"/>
                  </a:lnTo>
                  <a:lnTo>
                    <a:pt x="287467" y="714151"/>
                  </a:lnTo>
                  <a:lnTo>
                    <a:pt x="265424" y="704939"/>
                  </a:lnTo>
                  <a:lnTo>
                    <a:pt x="243903" y="694627"/>
                  </a:lnTo>
                  <a:lnTo>
                    <a:pt x="223033" y="683209"/>
                  </a:lnTo>
                  <a:lnTo>
                    <a:pt x="202944" y="670699"/>
                  </a:lnTo>
                  <a:lnTo>
                    <a:pt x="183763" y="657138"/>
                  </a:lnTo>
                  <a:lnTo>
                    <a:pt x="165603" y="642590"/>
                  </a:lnTo>
                  <a:lnTo>
                    <a:pt x="148560" y="627144"/>
                  </a:lnTo>
                  <a:lnTo>
                    <a:pt x="132697" y="610907"/>
                  </a:lnTo>
                  <a:lnTo>
                    <a:pt x="118048" y="594003"/>
                  </a:lnTo>
                  <a:lnTo>
                    <a:pt x="104612" y="576557"/>
                  </a:lnTo>
                  <a:lnTo>
                    <a:pt x="92350" y="558697"/>
                  </a:lnTo>
                  <a:lnTo>
                    <a:pt x="81196" y="540539"/>
                  </a:lnTo>
                  <a:lnTo>
                    <a:pt x="71055" y="522183"/>
                  </a:lnTo>
                  <a:lnTo>
                    <a:pt x="61816" y="503707"/>
                  </a:lnTo>
                  <a:lnTo>
                    <a:pt x="53363" y="485165"/>
                  </a:lnTo>
                  <a:lnTo>
                    <a:pt x="45582" y="466584"/>
                  </a:lnTo>
                  <a:lnTo>
                    <a:pt x="38377" y="447967"/>
                  </a:lnTo>
                  <a:lnTo>
                    <a:pt x="31678" y="429298"/>
                  </a:lnTo>
                  <a:lnTo>
                    <a:pt x="25447" y="410544"/>
                  </a:lnTo>
                  <a:lnTo>
                    <a:pt x="19688" y="391669"/>
                  </a:lnTo>
                  <a:lnTo>
                    <a:pt x="14445" y="372635"/>
                  </a:lnTo>
                  <a:lnTo>
                    <a:pt x="9802" y="353415"/>
                  </a:lnTo>
                  <a:lnTo>
                    <a:pt x="5881" y="334001"/>
                  </a:lnTo>
                  <a:lnTo>
                    <a:pt x="2828" y="314406"/>
                  </a:lnTo>
                  <a:lnTo>
                    <a:pt x="811" y="294669"/>
                  </a:lnTo>
                  <a:lnTo>
                    <a:pt x="0" y="274859"/>
                  </a:lnTo>
                  <a:lnTo>
                    <a:pt x="560" y="255071"/>
                  </a:lnTo>
                  <a:lnTo>
                    <a:pt x="2639" y="235421"/>
                  </a:lnTo>
                  <a:lnTo>
                    <a:pt x="6351" y="216045"/>
                  </a:lnTo>
                  <a:lnTo>
                    <a:pt x="11778" y="197087"/>
                  </a:lnTo>
                  <a:lnTo>
                    <a:pt x="18953" y="178692"/>
                  </a:lnTo>
                  <a:lnTo>
                    <a:pt x="27869" y="160997"/>
                  </a:lnTo>
                  <a:lnTo>
                    <a:pt x="38472" y="144123"/>
                  </a:lnTo>
                  <a:lnTo>
                    <a:pt x="50669" y="128170"/>
                  </a:lnTo>
                  <a:lnTo>
                    <a:pt x="64334" y="113211"/>
                  </a:lnTo>
                  <a:lnTo>
                    <a:pt x="79318" y="99289"/>
                  </a:lnTo>
                  <a:lnTo>
                    <a:pt x="95460" y="86418"/>
                  </a:lnTo>
                  <a:lnTo>
                    <a:pt x="112596" y="74587"/>
                  </a:lnTo>
                  <a:lnTo>
                    <a:pt x="130567" y="63764"/>
                  </a:lnTo>
                  <a:lnTo>
                    <a:pt x="149232" y="53901"/>
                  </a:lnTo>
                  <a:lnTo>
                    <a:pt x="168470" y="44944"/>
                  </a:lnTo>
                  <a:lnTo>
                    <a:pt x="188185" y="36837"/>
                  </a:lnTo>
                  <a:lnTo>
                    <a:pt x="208306" y="29536"/>
                  </a:lnTo>
                  <a:lnTo>
                    <a:pt x="228785" y="23007"/>
                  </a:lnTo>
                  <a:lnTo>
                    <a:pt x="249595" y="17235"/>
                  </a:lnTo>
                  <a:lnTo>
                    <a:pt x="270719" y="12226"/>
                  </a:lnTo>
                  <a:lnTo>
                    <a:pt x="292152" y="8005"/>
                  </a:lnTo>
                  <a:lnTo>
                    <a:pt x="313883" y="4614"/>
                  </a:lnTo>
                  <a:lnTo>
                    <a:pt x="335899" y="2108"/>
                  </a:lnTo>
                  <a:lnTo>
                    <a:pt x="358174" y="550"/>
                  </a:lnTo>
                  <a:lnTo>
                    <a:pt x="380668" y="0"/>
                  </a:lnTo>
                  <a:lnTo>
                    <a:pt x="403327" y="516"/>
                  </a:lnTo>
                  <a:lnTo>
                    <a:pt x="426081" y="2137"/>
                  </a:lnTo>
                  <a:lnTo>
                    <a:pt x="448852" y="4888"/>
                  </a:lnTo>
                  <a:lnTo>
                    <a:pt x="471555" y="8771"/>
                  </a:lnTo>
                  <a:lnTo>
                    <a:pt x="494106" y="13764"/>
                  </a:lnTo>
                  <a:lnTo>
                    <a:pt x="516424" y="19825"/>
                  </a:lnTo>
                  <a:lnTo>
                    <a:pt x="538442" y="26891"/>
                  </a:lnTo>
                  <a:lnTo>
                    <a:pt x="560109" y="34887"/>
                  </a:lnTo>
                  <a:lnTo>
                    <a:pt x="581389" y="43730"/>
                  </a:lnTo>
                  <a:lnTo>
                    <a:pt x="602268" y="53337"/>
                  </a:lnTo>
                  <a:lnTo>
                    <a:pt x="622746" y="63631"/>
                  </a:lnTo>
                  <a:lnTo>
                    <a:pt x="642836" y="74549"/>
                  </a:lnTo>
                  <a:lnTo>
                    <a:pt x="662557" y="86043"/>
                  </a:lnTo>
                  <a:lnTo>
                    <a:pt x="681926" y="98088"/>
                  </a:lnTo>
                  <a:lnTo>
                    <a:pt x="700951" y="110679"/>
                  </a:lnTo>
                  <a:lnTo>
                    <a:pt x="719624" y="123829"/>
                  </a:lnTo>
                  <a:lnTo>
                    <a:pt x="737914" y="137569"/>
                  </a:lnTo>
                  <a:lnTo>
                    <a:pt x="755758" y="151938"/>
                  </a:lnTo>
                  <a:lnTo>
                    <a:pt x="773067" y="166977"/>
                  </a:lnTo>
                  <a:lnTo>
                    <a:pt x="789718" y="182725"/>
                  </a:lnTo>
                  <a:lnTo>
                    <a:pt x="805566" y="199205"/>
                  </a:lnTo>
                  <a:lnTo>
                    <a:pt x="820440" y="216423"/>
                  </a:lnTo>
                  <a:lnTo>
                    <a:pt x="834164" y="234359"/>
                  </a:lnTo>
                  <a:lnTo>
                    <a:pt x="846555" y="252967"/>
                  </a:lnTo>
                  <a:lnTo>
                    <a:pt x="857446" y="272173"/>
                  </a:lnTo>
                  <a:lnTo>
                    <a:pt x="866687" y="291876"/>
                  </a:lnTo>
                  <a:lnTo>
                    <a:pt x="874163" y="311953"/>
                  </a:lnTo>
                  <a:lnTo>
                    <a:pt x="879799" y="332269"/>
                  </a:lnTo>
                  <a:lnTo>
                    <a:pt x="883564" y="352677"/>
                  </a:lnTo>
                  <a:lnTo>
                    <a:pt x="885477" y="373033"/>
                  </a:lnTo>
                  <a:lnTo>
                    <a:pt x="885604" y="393203"/>
                  </a:lnTo>
                  <a:lnTo>
                    <a:pt x="884051" y="413070"/>
                  </a:lnTo>
                  <a:lnTo>
                    <a:pt x="880960" y="432538"/>
                  </a:lnTo>
                  <a:lnTo>
                    <a:pt x="876498" y="451541"/>
                  </a:lnTo>
                  <a:lnTo>
                    <a:pt x="870841" y="470040"/>
                  </a:lnTo>
                  <a:lnTo>
                    <a:pt x="864170" y="488027"/>
                  </a:lnTo>
                  <a:lnTo>
                    <a:pt x="856649" y="505513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27" name="Базальная мембрана канальца"/>
            <p:cNvSpPr/>
            <p:nvPr/>
          </p:nvSpPr>
          <p:spPr>
            <a:xfrm>
              <a:off x="1165711" y="3449824"/>
              <a:ext cx="1508127" cy="1138637"/>
            </a:xfrm>
            <a:custGeom>
              <a:avLst/>
              <a:gdLst/>
              <a:ahLst/>
              <a:cxnLst/>
              <a:rect l="l" t="t" r="r" b="b"/>
              <a:pathLst>
                <a:path w="1508127" h="1138637">
                  <a:moveTo>
                    <a:pt x="1500569" y="485690"/>
                  </a:moveTo>
                  <a:lnTo>
                    <a:pt x="1505687" y="515132"/>
                  </a:lnTo>
                  <a:lnTo>
                    <a:pt x="1508127" y="544979"/>
                  </a:lnTo>
                  <a:lnTo>
                    <a:pt x="1507915" y="575078"/>
                  </a:lnTo>
                  <a:lnTo>
                    <a:pt x="1505130" y="605280"/>
                  </a:lnTo>
                  <a:lnTo>
                    <a:pt x="1499890" y="635453"/>
                  </a:lnTo>
                  <a:lnTo>
                    <a:pt x="1492343" y="665482"/>
                  </a:lnTo>
                  <a:lnTo>
                    <a:pt x="1482643" y="695273"/>
                  </a:lnTo>
                  <a:lnTo>
                    <a:pt x="1470945" y="724755"/>
                  </a:lnTo>
                  <a:lnTo>
                    <a:pt x="1457385" y="753870"/>
                  </a:lnTo>
                  <a:lnTo>
                    <a:pt x="1442068" y="782575"/>
                  </a:lnTo>
                  <a:lnTo>
                    <a:pt x="1425070" y="810827"/>
                  </a:lnTo>
                  <a:lnTo>
                    <a:pt x="1406427" y="838581"/>
                  </a:lnTo>
                  <a:lnTo>
                    <a:pt x="1386145" y="865778"/>
                  </a:lnTo>
                  <a:lnTo>
                    <a:pt x="1364201" y="892341"/>
                  </a:lnTo>
                  <a:lnTo>
                    <a:pt x="1340560" y="918170"/>
                  </a:lnTo>
                  <a:lnTo>
                    <a:pt x="1315182" y="943141"/>
                  </a:lnTo>
                  <a:lnTo>
                    <a:pt x="1288041" y="967111"/>
                  </a:lnTo>
                  <a:lnTo>
                    <a:pt x="1259132" y="989918"/>
                  </a:lnTo>
                  <a:lnTo>
                    <a:pt x="1228488" y="1011396"/>
                  </a:lnTo>
                  <a:lnTo>
                    <a:pt x="1196182" y="1031381"/>
                  </a:lnTo>
                  <a:lnTo>
                    <a:pt x="1162332" y="1049722"/>
                  </a:lnTo>
                  <a:lnTo>
                    <a:pt x="1127102" y="1066297"/>
                  </a:lnTo>
                  <a:lnTo>
                    <a:pt x="1090691" y="1081019"/>
                  </a:lnTo>
                  <a:lnTo>
                    <a:pt x="1053325" y="1093847"/>
                  </a:lnTo>
                  <a:lnTo>
                    <a:pt x="1015246" y="1104787"/>
                  </a:lnTo>
                  <a:lnTo>
                    <a:pt x="976694" y="1113897"/>
                  </a:lnTo>
                  <a:lnTo>
                    <a:pt x="937890" y="1121283"/>
                  </a:lnTo>
                  <a:lnTo>
                    <a:pt x="899028" y="1127089"/>
                  </a:lnTo>
                  <a:lnTo>
                    <a:pt x="860256" y="1131486"/>
                  </a:lnTo>
                  <a:lnTo>
                    <a:pt x="821676" y="1134663"/>
                  </a:lnTo>
                  <a:lnTo>
                    <a:pt x="783336" y="1136806"/>
                  </a:lnTo>
                  <a:lnTo>
                    <a:pt x="745236" y="1138084"/>
                  </a:lnTo>
                  <a:lnTo>
                    <a:pt x="707333" y="1138637"/>
                  </a:lnTo>
                  <a:lnTo>
                    <a:pt x="669557" y="1138558"/>
                  </a:lnTo>
                  <a:lnTo>
                    <a:pt x="631822" y="1137890"/>
                  </a:lnTo>
                  <a:lnTo>
                    <a:pt x="594046" y="1136616"/>
                  </a:lnTo>
                  <a:lnTo>
                    <a:pt x="556168" y="1134665"/>
                  </a:lnTo>
                  <a:lnTo>
                    <a:pt x="518166" y="1131910"/>
                  </a:lnTo>
                  <a:lnTo>
                    <a:pt x="480066" y="1128186"/>
                  </a:lnTo>
                  <a:lnTo>
                    <a:pt x="441954" y="1123293"/>
                  </a:lnTo>
                  <a:lnTo>
                    <a:pt x="403980" y="1117022"/>
                  </a:lnTo>
                  <a:lnTo>
                    <a:pt x="366353" y="1109166"/>
                  </a:lnTo>
                  <a:lnTo>
                    <a:pt x="329335" y="1099536"/>
                  </a:lnTo>
                  <a:lnTo>
                    <a:pt x="293229" y="1087980"/>
                  </a:lnTo>
                  <a:lnTo>
                    <a:pt x="258360" y="1074395"/>
                  </a:lnTo>
                  <a:lnTo>
                    <a:pt x="225056" y="1058733"/>
                  </a:lnTo>
                  <a:lnTo>
                    <a:pt x="193631" y="1041005"/>
                  </a:lnTo>
                  <a:lnTo>
                    <a:pt x="164362" y="1021285"/>
                  </a:lnTo>
                  <a:lnTo>
                    <a:pt x="137474" y="999701"/>
                  </a:lnTo>
                  <a:lnTo>
                    <a:pt x="113129" y="976426"/>
                  </a:lnTo>
                  <a:lnTo>
                    <a:pt x="91417" y="951669"/>
                  </a:lnTo>
                  <a:lnTo>
                    <a:pt x="72356" y="925656"/>
                  </a:lnTo>
                  <a:lnTo>
                    <a:pt x="55895" y="898623"/>
                  </a:lnTo>
                  <a:lnTo>
                    <a:pt x="41927" y="870794"/>
                  </a:lnTo>
                  <a:lnTo>
                    <a:pt x="30299" y="842376"/>
                  </a:lnTo>
                  <a:lnTo>
                    <a:pt x="20832" y="813545"/>
                  </a:lnTo>
                  <a:lnTo>
                    <a:pt x="13337" y="784445"/>
                  </a:lnTo>
                  <a:lnTo>
                    <a:pt x="7639" y="755183"/>
                  </a:lnTo>
                  <a:lnTo>
                    <a:pt x="3583" y="725830"/>
                  </a:lnTo>
                  <a:lnTo>
                    <a:pt x="1059" y="696432"/>
                  </a:lnTo>
                  <a:lnTo>
                    <a:pt x="0" y="667011"/>
                  </a:lnTo>
                  <a:lnTo>
                    <a:pt x="390" y="637579"/>
                  </a:lnTo>
                  <a:lnTo>
                    <a:pt x="2260" y="608144"/>
                  </a:lnTo>
                  <a:lnTo>
                    <a:pt x="5685" y="578723"/>
                  </a:lnTo>
                  <a:lnTo>
                    <a:pt x="10765" y="549345"/>
                  </a:lnTo>
                  <a:lnTo>
                    <a:pt x="17618" y="520058"/>
                  </a:lnTo>
                  <a:lnTo>
                    <a:pt x="26361" y="490933"/>
                  </a:lnTo>
                  <a:lnTo>
                    <a:pt x="37098" y="462058"/>
                  </a:lnTo>
                  <a:lnTo>
                    <a:pt x="49902" y="433537"/>
                  </a:lnTo>
                  <a:lnTo>
                    <a:pt x="64808" y="405483"/>
                  </a:lnTo>
                  <a:lnTo>
                    <a:pt x="81807" y="378011"/>
                  </a:lnTo>
                  <a:lnTo>
                    <a:pt x="100844" y="351226"/>
                  </a:lnTo>
                  <a:lnTo>
                    <a:pt x="121819" y="325221"/>
                  </a:lnTo>
                  <a:lnTo>
                    <a:pt x="144599" y="300063"/>
                  </a:lnTo>
                  <a:lnTo>
                    <a:pt x="169023" y="275794"/>
                  </a:lnTo>
                  <a:lnTo>
                    <a:pt x="194923" y="252428"/>
                  </a:lnTo>
                  <a:lnTo>
                    <a:pt x="222129" y="229954"/>
                  </a:lnTo>
                  <a:lnTo>
                    <a:pt x="250490" y="208338"/>
                  </a:lnTo>
                  <a:lnTo>
                    <a:pt x="279879" y="187535"/>
                  </a:lnTo>
                  <a:lnTo>
                    <a:pt x="310207" y="167497"/>
                  </a:lnTo>
                  <a:lnTo>
                    <a:pt x="341420" y="148183"/>
                  </a:lnTo>
                  <a:lnTo>
                    <a:pt x="373502" y="129574"/>
                  </a:lnTo>
                  <a:lnTo>
                    <a:pt x="406468" y="111680"/>
                  </a:lnTo>
                  <a:lnTo>
                    <a:pt x="440356" y="94548"/>
                  </a:lnTo>
                  <a:lnTo>
                    <a:pt x="475211" y="78267"/>
                  </a:lnTo>
                  <a:lnTo>
                    <a:pt x="511072" y="62971"/>
                  </a:lnTo>
                  <a:lnTo>
                    <a:pt x="547959" y="48830"/>
                  </a:lnTo>
                  <a:lnTo>
                    <a:pt x="585855" y="36049"/>
                  </a:lnTo>
                  <a:lnTo>
                    <a:pt x="624700" y="24850"/>
                  </a:lnTo>
                  <a:lnTo>
                    <a:pt x="664383" y="15464"/>
                  </a:lnTo>
                  <a:lnTo>
                    <a:pt x="704737" y="8111"/>
                  </a:lnTo>
                  <a:lnTo>
                    <a:pt x="745546" y="2987"/>
                  </a:lnTo>
                  <a:lnTo>
                    <a:pt x="786552" y="249"/>
                  </a:lnTo>
                  <a:lnTo>
                    <a:pt x="827467" y="0"/>
                  </a:lnTo>
                  <a:lnTo>
                    <a:pt x="867990" y="2282"/>
                  </a:lnTo>
                  <a:lnTo>
                    <a:pt x="907825" y="7072"/>
                  </a:lnTo>
                  <a:lnTo>
                    <a:pt x="946699" y="14279"/>
                  </a:lnTo>
                  <a:lnTo>
                    <a:pt x="984377" y="23754"/>
                  </a:lnTo>
                  <a:lnTo>
                    <a:pt x="1020680" y="35297"/>
                  </a:lnTo>
                  <a:lnTo>
                    <a:pt x="1055489" y="48667"/>
                  </a:lnTo>
                  <a:lnTo>
                    <a:pt x="1088754" y="63604"/>
                  </a:lnTo>
                  <a:lnTo>
                    <a:pt x="1120490" y="79843"/>
                  </a:lnTo>
                  <a:lnTo>
                    <a:pt x="1150767" y="97130"/>
                  </a:lnTo>
                  <a:lnTo>
                    <a:pt x="1179705" y="115239"/>
                  </a:lnTo>
                  <a:lnTo>
                    <a:pt x="1207450" y="133985"/>
                  </a:lnTo>
                  <a:lnTo>
                    <a:pt x="1234159" y="153230"/>
                  </a:lnTo>
                  <a:lnTo>
                    <a:pt x="1259981" y="172893"/>
                  </a:lnTo>
                  <a:lnTo>
                    <a:pt x="1285036" y="192942"/>
                  </a:lnTo>
                  <a:lnTo>
                    <a:pt x="1309401" y="213398"/>
                  </a:lnTo>
                  <a:lnTo>
                    <a:pt x="1333096" y="234318"/>
                  </a:lnTo>
                  <a:lnTo>
                    <a:pt x="1356080" y="255790"/>
                  </a:lnTo>
                  <a:lnTo>
                    <a:pt x="1378249" y="277914"/>
                  </a:lnTo>
                  <a:lnTo>
                    <a:pt x="1399440" y="300793"/>
                  </a:lnTo>
                  <a:lnTo>
                    <a:pt x="1419440" y="324514"/>
                  </a:lnTo>
                  <a:lnTo>
                    <a:pt x="1438004" y="349144"/>
                  </a:lnTo>
                  <a:lnTo>
                    <a:pt x="1454871" y="374714"/>
                  </a:lnTo>
                  <a:lnTo>
                    <a:pt x="1469780" y="401216"/>
                  </a:lnTo>
                  <a:lnTo>
                    <a:pt x="1482492" y="428607"/>
                  </a:lnTo>
                  <a:lnTo>
                    <a:pt x="1492806" y="456802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28" name="Клетка однослойного эпителия"/>
            <p:cNvSpPr/>
            <p:nvPr/>
          </p:nvSpPr>
          <p:spPr>
            <a:xfrm>
              <a:off x="2436452" y="3939177"/>
              <a:ext cx="212849" cy="180970"/>
            </a:xfrm>
            <a:custGeom>
              <a:avLst/>
              <a:gdLst/>
              <a:ahLst/>
              <a:cxnLst/>
              <a:rect l="l" t="t" r="r" b="b"/>
              <a:pathLst>
                <a:path w="212849" h="180970">
                  <a:moveTo>
                    <a:pt x="203763" y="0"/>
                  </a:moveTo>
                  <a:lnTo>
                    <a:pt x="207600" y="17634"/>
                  </a:lnTo>
                  <a:lnTo>
                    <a:pt x="210396" y="35468"/>
                  </a:lnTo>
                  <a:lnTo>
                    <a:pt x="212144" y="53465"/>
                  </a:lnTo>
                  <a:lnTo>
                    <a:pt x="212849" y="71587"/>
                  </a:lnTo>
                  <a:lnTo>
                    <a:pt x="212522" y="89797"/>
                  </a:lnTo>
                  <a:lnTo>
                    <a:pt x="211184" y="108057"/>
                  </a:lnTo>
                  <a:lnTo>
                    <a:pt x="208861" y="126335"/>
                  </a:lnTo>
                  <a:lnTo>
                    <a:pt x="205586" y="144598"/>
                  </a:lnTo>
                  <a:lnTo>
                    <a:pt x="201395" y="162818"/>
                  </a:lnTo>
                  <a:lnTo>
                    <a:pt x="196323" y="180970"/>
                  </a:lnTo>
                  <a:lnTo>
                    <a:pt x="0" y="142996"/>
                  </a:lnTo>
                  <a:lnTo>
                    <a:pt x="3938" y="131358"/>
                  </a:lnTo>
                  <a:lnTo>
                    <a:pt x="7236" y="119688"/>
                  </a:lnTo>
                  <a:lnTo>
                    <a:pt x="9865" y="108003"/>
                  </a:lnTo>
                  <a:lnTo>
                    <a:pt x="11800" y="96322"/>
                  </a:lnTo>
                  <a:lnTo>
                    <a:pt x="13017" y="84664"/>
                  </a:lnTo>
                  <a:lnTo>
                    <a:pt x="13496" y="73052"/>
                  </a:lnTo>
                  <a:lnTo>
                    <a:pt x="13221" y="61510"/>
                  </a:lnTo>
                  <a:lnTo>
                    <a:pt x="12183" y="50061"/>
                  </a:lnTo>
                  <a:lnTo>
                    <a:pt x="10379" y="38729"/>
                  </a:lnTo>
                  <a:lnTo>
                    <a:pt x="7812" y="27539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29" name="Ядро эпителиальной клетки"/>
            <p:cNvSpPr/>
            <p:nvPr/>
          </p:nvSpPr>
          <p:spPr>
            <a:xfrm rot="88421">
              <a:off x="2499511" y="396001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30" name="Ядрышко"/>
            <p:cNvSpPr/>
            <p:nvPr/>
          </p:nvSpPr>
          <p:spPr>
            <a:xfrm>
              <a:off x="2528772" y="401167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31" name="Клетка однослойного эпителия"/>
            <p:cNvSpPr/>
            <p:nvPr/>
          </p:nvSpPr>
          <p:spPr>
            <a:xfrm>
              <a:off x="2366971" y="4082173"/>
              <a:ext cx="265804" cy="212006"/>
            </a:xfrm>
            <a:custGeom>
              <a:avLst/>
              <a:gdLst/>
              <a:ahLst/>
              <a:cxnLst/>
              <a:rect l="l" t="t" r="r" b="b"/>
              <a:pathLst>
                <a:path w="265804" h="212006">
                  <a:moveTo>
                    <a:pt x="265804" y="37974"/>
                  </a:moveTo>
                  <a:lnTo>
                    <a:pt x="259892" y="56036"/>
                  </a:lnTo>
                  <a:lnTo>
                    <a:pt x="253175" y="73990"/>
                  </a:lnTo>
                  <a:lnTo>
                    <a:pt x="245687" y="91818"/>
                  </a:lnTo>
                  <a:lnTo>
                    <a:pt x="237461" y="109506"/>
                  </a:lnTo>
                  <a:lnTo>
                    <a:pt x="228522" y="127043"/>
                  </a:lnTo>
                  <a:lnTo>
                    <a:pt x="218891" y="144416"/>
                  </a:lnTo>
                  <a:lnTo>
                    <a:pt x="208585" y="161612"/>
                  </a:lnTo>
                  <a:lnTo>
                    <a:pt x="197614" y="178619"/>
                  </a:lnTo>
                  <a:lnTo>
                    <a:pt x="185982" y="195423"/>
                  </a:lnTo>
                  <a:lnTo>
                    <a:pt x="173691" y="212006"/>
                  </a:lnTo>
                  <a:lnTo>
                    <a:pt x="0" y="112150"/>
                  </a:lnTo>
                  <a:lnTo>
                    <a:pt x="9183" y="101417"/>
                  </a:lnTo>
                  <a:lnTo>
                    <a:pt x="17889" y="90553"/>
                  </a:lnTo>
                  <a:lnTo>
                    <a:pt x="26115" y="79567"/>
                  </a:lnTo>
                  <a:lnTo>
                    <a:pt x="33859" y="68469"/>
                  </a:lnTo>
                  <a:lnTo>
                    <a:pt x="41113" y="57268"/>
                  </a:lnTo>
                  <a:lnTo>
                    <a:pt x="47864" y="45972"/>
                  </a:lnTo>
                  <a:lnTo>
                    <a:pt x="54098" y="34587"/>
                  </a:lnTo>
                  <a:lnTo>
                    <a:pt x="59794" y="23124"/>
                  </a:lnTo>
                  <a:lnTo>
                    <a:pt x="64930" y="11591"/>
                  </a:lnTo>
                  <a:lnTo>
                    <a:pt x="69481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32" name="Ядро эпителиальной клетки"/>
            <p:cNvSpPr/>
            <p:nvPr/>
          </p:nvSpPr>
          <p:spPr>
            <a:xfrm rot="1225263">
              <a:off x="2452320" y="410663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33" name="Ядрышко"/>
            <p:cNvSpPr/>
            <p:nvPr/>
          </p:nvSpPr>
          <p:spPr>
            <a:xfrm>
              <a:off x="2481580" y="415830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34" name="Клетка однослойного эпителия"/>
            <p:cNvSpPr/>
            <p:nvPr/>
          </p:nvSpPr>
          <p:spPr>
            <a:xfrm>
              <a:off x="2248051" y="4194323"/>
              <a:ext cx="292611" cy="247534"/>
            </a:xfrm>
            <a:custGeom>
              <a:avLst/>
              <a:gdLst/>
              <a:ahLst/>
              <a:cxnLst/>
              <a:rect l="l" t="t" r="r" b="b"/>
              <a:pathLst>
                <a:path w="292611" h="247534">
                  <a:moveTo>
                    <a:pt x="292611" y="99856"/>
                  </a:moveTo>
                  <a:lnTo>
                    <a:pt x="279657" y="116198"/>
                  </a:lnTo>
                  <a:lnTo>
                    <a:pt x="266033" y="132277"/>
                  </a:lnTo>
                  <a:lnTo>
                    <a:pt x="251731" y="148066"/>
                  </a:lnTo>
                  <a:lnTo>
                    <a:pt x="236744" y="163533"/>
                  </a:lnTo>
                  <a:lnTo>
                    <a:pt x="221063" y="178646"/>
                  </a:lnTo>
                  <a:lnTo>
                    <a:pt x="204685" y="193368"/>
                  </a:lnTo>
                  <a:lnTo>
                    <a:pt x="187606" y="207659"/>
                  </a:lnTo>
                  <a:lnTo>
                    <a:pt x="169832" y="221478"/>
                  </a:lnTo>
                  <a:lnTo>
                    <a:pt x="151372" y="234784"/>
                  </a:lnTo>
                  <a:lnTo>
                    <a:pt x="132242" y="247534"/>
                  </a:lnTo>
                  <a:lnTo>
                    <a:pt x="0" y="96251"/>
                  </a:lnTo>
                  <a:lnTo>
                    <a:pt x="14121" y="87871"/>
                  </a:lnTo>
                  <a:lnTo>
                    <a:pt x="27762" y="79146"/>
                  </a:lnTo>
                  <a:lnTo>
                    <a:pt x="40908" y="70103"/>
                  </a:lnTo>
                  <a:lnTo>
                    <a:pt x="53553" y="60768"/>
                  </a:lnTo>
                  <a:lnTo>
                    <a:pt x="65694" y="51168"/>
                  </a:lnTo>
                  <a:lnTo>
                    <a:pt x="77331" y="41327"/>
                  </a:lnTo>
                  <a:lnTo>
                    <a:pt x="88467" y="31270"/>
                  </a:lnTo>
                  <a:lnTo>
                    <a:pt x="99106" y="21017"/>
                  </a:lnTo>
                  <a:lnTo>
                    <a:pt x="109255" y="10588"/>
                  </a:lnTo>
                  <a:lnTo>
                    <a:pt x="118920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35" name="Ядро эпителиальной клетки"/>
            <p:cNvSpPr/>
            <p:nvPr/>
          </p:nvSpPr>
          <p:spPr>
            <a:xfrm rot="2362105">
              <a:off x="2342602" y="424038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36" name="Ядрышко"/>
            <p:cNvSpPr/>
            <p:nvPr/>
          </p:nvSpPr>
          <p:spPr>
            <a:xfrm>
              <a:off x="2371863" y="429205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37" name="Клетка однослойного эпителия"/>
            <p:cNvSpPr/>
            <p:nvPr/>
          </p:nvSpPr>
          <p:spPr>
            <a:xfrm>
              <a:off x="2086541" y="4290574"/>
              <a:ext cx="293752" cy="241587"/>
            </a:xfrm>
            <a:custGeom>
              <a:avLst/>
              <a:gdLst/>
              <a:ahLst/>
              <a:cxnLst/>
              <a:rect l="l" t="t" r="r" b="b"/>
              <a:pathLst>
                <a:path w="293752" h="241587">
                  <a:moveTo>
                    <a:pt x="293752" y="151283"/>
                  </a:moveTo>
                  <a:lnTo>
                    <a:pt x="273974" y="163438"/>
                  </a:lnTo>
                  <a:lnTo>
                    <a:pt x="253581" y="174960"/>
                  </a:lnTo>
                  <a:lnTo>
                    <a:pt x="232608" y="185816"/>
                  </a:lnTo>
                  <a:lnTo>
                    <a:pt x="211102" y="195976"/>
                  </a:lnTo>
                  <a:lnTo>
                    <a:pt x="189111" y="205419"/>
                  </a:lnTo>
                  <a:lnTo>
                    <a:pt x="166693" y="214128"/>
                  </a:lnTo>
                  <a:lnTo>
                    <a:pt x="143906" y="222095"/>
                  </a:lnTo>
                  <a:lnTo>
                    <a:pt x="120812" y="229321"/>
                  </a:lnTo>
                  <a:lnTo>
                    <a:pt x="97475" y="235812"/>
                  </a:lnTo>
                  <a:lnTo>
                    <a:pt x="73954" y="241587"/>
                  </a:lnTo>
                  <a:lnTo>
                    <a:pt x="0" y="60462"/>
                  </a:lnTo>
                  <a:lnTo>
                    <a:pt x="17231" y="56471"/>
                  </a:lnTo>
                  <a:lnTo>
                    <a:pt x="34340" y="52025"/>
                  </a:lnTo>
                  <a:lnTo>
                    <a:pt x="51279" y="47115"/>
                  </a:lnTo>
                  <a:lnTo>
                    <a:pt x="68005" y="41735"/>
                  </a:lnTo>
                  <a:lnTo>
                    <a:pt x="84472" y="35888"/>
                  </a:lnTo>
                  <a:lnTo>
                    <a:pt x="100636" y="29579"/>
                  </a:lnTo>
                  <a:lnTo>
                    <a:pt x="116457" y="22819"/>
                  </a:lnTo>
                  <a:lnTo>
                    <a:pt x="131897" y="15623"/>
                  </a:lnTo>
                  <a:lnTo>
                    <a:pt x="146924" y="8009"/>
                  </a:lnTo>
                  <a:lnTo>
                    <a:pt x="161510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38" name="Ядро эпителиальной клетки"/>
            <p:cNvSpPr/>
            <p:nvPr/>
          </p:nvSpPr>
          <p:spPr>
            <a:xfrm rot="3498947">
              <a:off x="2175519" y="434154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39" name="Ядрышко"/>
            <p:cNvSpPr/>
            <p:nvPr/>
          </p:nvSpPr>
          <p:spPr>
            <a:xfrm>
              <a:off x="2204780" y="439320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40" name="Клетка однослойного эпителия"/>
            <p:cNvSpPr/>
            <p:nvPr/>
          </p:nvSpPr>
          <p:spPr>
            <a:xfrm>
              <a:off x="1914744" y="4351036"/>
              <a:ext cx="245751" cy="207621"/>
            </a:xfrm>
            <a:custGeom>
              <a:avLst/>
              <a:gdLst/>
              <a:ahLst/>
              <a:cxnLst/>
              <a:rect l="l" t="t" r="r" b="b"/>
              <a:pathLst>
                <a:path w="245751" h="207621">
                  <a:moveTo>
                    <a:pt x="245751" y="181125"/>
                  </a:moveTo>
                  <a:lnTo>
                    <a:pt x="222108" y="186207"/>
                  </a:lnTo>
                  <a:lnTo>
                    <a:pt x="198398" y="190629"/>
                  </a:lnTo>
                  <a:lnTo>
                    <a:pt x="174670" y="194429"/>
                  </a:lnTo>
                  <a:lnTo>
                    <a:pt x="150969" y="197651"/>
                  </a:lnTo>
                  <a:lnTo>
                    <a:pt x="127329" y="200343"/>
                  </a:lnTo>
                  <a:lnTo>
                    <a:pt x="103779" y="202555"/>
                  </a:lnTo>
                  <a:lnTo>
                    <a:pt x="80335" y="204339"/>
                  </a:lnTo>
                  <a:lnTo>
                    <a:pt x="57008" y="205746"/>
                  </a:lnTo>
                  <a:lnTo>
                    <a:pt x="33798" y="206825"/>
                  </a:lnTo>
                  <a:lnTo>
                    <a:pt x="10697" y="207621"/>
                  </a:lnTo>
                  <a:lnTo>
                    <a:pt x="0" y="19988"/>
                  </a:lnTo>
                  <a:lnTo>
                    <a:pt x="16860" y="19176"/>
                  </a:lnTo>
                  <a:lnTo>
                    <a:pt x="33803" y="18183"/>
                  </a:lnTo>
                  <a:lnTo>
                    <a:pt x="50836" y="16978"/>
                  </a:lnTo>
                  <a:lnTo>
                    <a:pt x="67960" y="15532"/>
                  </a:lnTo>
                  <a:lnTo>
                    <a:pt x="85167" y="13811"/>
                  </a:lnTo>
                  <a:lnTo>
                    <a:pt x="102445" y="11784"/>
                  </a:lnTo>
                  <a:lnTo>
                    <a:pt x="119775" y="9417"/>
                  </a:lnTo>
                  <a:lnTo>
                    <a:pt x="137132" y="6682"/>
                  </a:lnTo>
                  <a:lnTo>
                    <a:pt x="154484" y="3551"/>
                  </a:lnTo>
                  <a:lnTo>
                    <a:pt x="171797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41" name="Ядро эпителиальной клетки"/>
            <p:cNvSpPr/>
            <p:nvPr/>
          </p:nvSpPr>
          <p:spPr>
            <a:xfrm rot="4635789">
              <a:off x="1974428" y="438808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42" name="Ядрышко"/>
            <p:cNvSpPr/>
            <p:nvPr/>
          </p:nvSpPr>
          <p:spPr>
            <a:xfrm>
              <a:off x="2003689" y="443975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43" name="Клетка однослойного эпителия"/>
            <p:cNvSpPr/>
            <p:nvPr/>
          </p:nvSpPr>
          <p:spPr>
            <a:xfrm>
              <a:off x="1695683" y="4371024"/>
              <a:ext cx="229758" cy="188673"/>
            </a:xfrm>
            <a:custGeom>
              <a:avLst/>
              <a:gdLst/>
              <a:ahLst/>
              <a:cxnLst/>
              <a:rect l="l" t="t" r="r" b="b"/>
              <a:pathLst>
                <a:path w="229758" h="188673">
                  <a:moveTo>
                    <a:pt x="229758" y="187633"/>
                  </a:moveTo>
                  <a:lnTo>
                    <a:pt x="206753" y="188183"/>
                  </a:lnTo>
                  <a:lnTo>
                    <a:pt x="183822" y="188522"/>
                  </a:lnTo>
                  <a:lnTo>
                    <a:pt x="160941" y="188673"/>
                  </a:lnTo>
                  <a:lnTo>
                    <a:pt x="138082" y="188650"/>
                  </a:lnTo>
                  <a:lnTo>
                    <a:pt x="115217" y="188461"/>
                  </a:lnTo>
                  <a:lnTo>
                    <a:pt x="92318" y="188099"/>
                  </a:lnTo>
                  <a:lnTo>
                    <a:pt x="69363" y="187551"/>
                  </a:lnTo>
                  <a:lnTo>
                    <a:pt x="46332" y="186793"/>
                  </a:lnTo>
                  <a:lnTo>
                    <a:pt x="23213" y="185792"/>
                  </a:lnTo>
                  <a:lnTo>
                    <a:pt x="0" y="184506"/>
                  </a:lnTo>
                  <a:lnTo>
                    <a:pt x="51517" y="1036"/>
                  </a:lnTo>
                  <a:lnTo>
                    <a:pt x="68431" y="1550"/>
                  </a:lnTo>
                  <a:lnTo>
                    <a:pt x="85281" y="1883"/>
                  </a:lnTo>
                  <a:lnTo>
                    <a:pt x="102070" y="2063"/>
                  </a:lnTo>
                  <a:lnTo>
                    <a:pt x="118806" y="2109"/>
                  </a:lnTo>
                  <a:lnTo>
                    <a:pt x="135503" y="2038"/>
                  </a:lnTo>
                  <a:lnTo>
                    <a:pt x="152178" y="1857"/>
                  </a:lnTo>
                  <a:lnTo>
                    <a:pt x="168851" y="1570"/>
                  </a:lnTo>
                  <a:lnTo>
                    <a:pt x="185543" y="1173"/>
                  </a:lnTo>
                  <a:lnTo>
                    <a:pt x="202273" y="654"/>
                  </a:lnTo>
                  <a:lnTo>
                    <a:pt x="219061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44" name="Ядро эпителиальной клетки"/>
            <p:cNvSpPr/>
            <p:nvPr/>
          </p:nvSpPr>
          <p:spPr>
            <a:xfrm rot="5772632">
              <a:off x="1775728" y="439625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45" name="Ядрышко"/>
            <p:cNvSpPr/>
            <p:nvPr/>
          </p:nvSpPr>
          <p:spPr>
            <a:xfrm>
              <a:off x="1804989" y="444791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46" name="Клетка однослойного эпителия"/>
            <p:cNvSpPr/>
            <p:nvPr/>
          </p:nvSpPr>
          <p:spPr>
            <a:xfrm>
              <a:off x="1464799" y="4349421"/>
              <a:ext cx="282401" cy="206109"/>
            </a:xfrm>
            <a:custGeom>
              <a:avLst/>
              <a:gdLst/>
              <a:ahLst/>
              <a:cxnLst/>
              <a:rect l="l" t="t" r="r" b="b"/>
              <a:pathLst>
                <a:path w="282401" h="206109">
                  <a:moveTo>
                    <a:pt x="230884" y="206109"/>
                  </a:moveTo>
                  <a:lnTo>
                    <a:pt x="207585" y="204492"/>
                  </a:lnTo>
                  <a:lnTo>
                    <a:pt x="184213" y="202489"/>
                  </a:lnTo>
                  <a:lnTo>
                    <a:pt x="160796" y="200044"/>
                  </a:lnTo>
                  <a:lnTo>
                    <a:pt x="137371" y="197099"/>
                  </a:lnTo>
                  <a:lnTo>
                    <a:pt x="113985" y="193593"/>
                  </a:lnTo>
                  <a:lnTo>
                    <a:pt x="90699" y="189470"/>
                  </a:lnTo>
                  <a:lnTo>
                    <a:pt x="67578" y="184676"/>
                  </a:lnTo>
                  <a:lnTo>
                    <a:pt x="44700" y="179163"/>
                  </a:lnTo>
                  <a:lnTo>
                    <a:pt x="22145" y="172889"/>
                  </a:lnTo>
                  <a:lnTo>
                    <a:pt x="0" y="165819"/>
                  </a:lnTo>
                  <a:lnTo>
                    <a:pt x="114526" y="0"/>
                  </a:lnTo>
                  <a:lnTo>
                    <a:pt x="130585" y="4214"/>
                  </a:lnTo>
                  <a:lnTo>
                    <a:pt x="146954" y="7917"/>
                  </a:lnTo>
                  <a:lnTo>
                    <a:pt x="163569" y="11130"/>
                  </a:lnTo>
                  <a:lnTo>
                    <a:pt x="180369" y="13881"/>
                  </a:lnTo>
                  <a:lnTo>
                    <a:pt x="197300" y="16202"/>
                  </a:lnTo>
                  <a:lnTo>
                    <a:pt x="214311" y="18128"/>
                  </a:lnTo>
                  <a:lnTo>
                    <a:pt x="231359" y="19697"/>
                  </a:lnTo>
                  <a:lnTo>
                    <a:pt x="248407" y="20947"/>
                  </a:lnTo>
                  <a:lnTo>
                    <a:pt x="265428" y="21915"/>
                  </a:lnTo>
                  <a:lnTo>
                    <a:pt x="282401" y="22639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47" name="Ядро эпителиальной клетки"/>
            <p:cNvSpPr/>
            <p:nvPr/>
          </p:nvSpPr>
          <p:spPr>
            <a:xfrm rot="6909474">
              <a:off x="1576388" y="438447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48" name="Ядрышко"/>
            <p:cNvSpPr/>
            <p:nvPr/>
          </p:nvSpPr>
          <p:spPr>
            <a:xfrm>
              <a:off x="1605648" y="443614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49" name="Клетка однослойного эпителия"/>
            <p:cNvSpPr/>
            <p:nvPr/>
          </p:nvSpPr>
          <p:spPr>
            <a:xfrm>
              <a:off x="1283860" y="4278509"/>
              <a:ext cx="295465" cy="236731"/>
            </a:xfrm>
            <a:custGeom>
              <a:avLst/>
              <a:gdLst/>
              <a:ahLst/>
              <a:cxnLst/>
              <a:rect l="l" t="t" r="r" b="b"/>
              <a:pathLst>
                <a:path w="295465" h="236731">
                  <a:moveTo>
                    <a:pt x="180939" y="236731"/>
                  </a:moveTo>
                  <a:lnTo>
                    <a:pt x="159293" y="228840"/>
                  </a:lnTo>
                  <a:lnTo>
                    <a:pt x="138234" y="220115"/>
                  </a:lnTo>
                  <a:lnTo>
                    <a:pt x="117849" y="210549"/>
                  </a:lnTo>
                  <a:lnTo>
                    <a:pt x="98222" y="200150"/>
                  </a:lnTo>
                  <a:lnTo>
                    <a:pt x="79428" y="188931"/>
                  </a:lnTo>
                  <a:lnTo>
                    <a:pt x="61535" y="176919"/>
                  </a:lnTo>
                  <a:lnTo>
                    <a:pt x="44604" y="164149"/>
                  </a:lnTo>
                  <a:lnTo>
                    <a:pt x="28683" y="150663"/>
                  </a:lnTo>
                  <a:lnTo>
                    <a:pt x="13806" y="136510"/>
                  </a:lnTo>
                  <a:lnTo>
                    <a:pt x="0" y="121745"/>
                  </a:lnTo>
                  <a:lnTo>
                    <a:pt x="165004" y="0"/>
                  </a:lnTo>
                  <a:lnTo>
                    <a:pt x="174880" y="9230"/>
                  </a:lnTo>
                  <a:lnTo>
                    <a:pt x="185544" y="18056"/>
                  </a:lnTo>
                  <a:lnTo>
                    <a:pt x="196979" y="26442"/>
                  </a:lnTo>
                  <a:lnTo>
                    <a:pt x="209161" y="34359"/>
                  </a:lnTo>
                  <a:lnTo>
                    <a:pt x="222053" y="41780"/>
                  </a:lnTo>
                  <a:lnTo>
                    <a:pt x="235613" y="48684"/>
                  </a:lnTo>
                  <a:lnTo>
                    <a:pt x="249793" y="55054"/>
                  </a:lnTo>
                  <a:lnTo>
                    <a:pt x="264535" y="60883"/>
                  </a:lnTo>
                  <a:lnTo>
                    <a:pt x="279780" y="66167"/>
                  </a:lnTo>
                  <a:lnTo>
                    <a:pt x="295465" y="70912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50" name="Ядро эпителиальной клетки"/>
            <p:cNvSpPr/>
            <p:nvPr/>
          </p:nvSpPr>
          <p:spPr>
            <a:xfrm rot="8046316">
              <a:off x="1391732" y="432462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51" name="Ядрышко"/>
            <p:cNvSpPr/>
            <p:nvPr/>
          </p:nvSpPr>
          <p:spPr>
            <a:xfrm>
              <a:off x="1420993" y="437629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52" name="Клетка однослойного эпителия"/>
            <p:cNvSpPr/>
            <p:nvPr/>
          </p:nvSpPr>
          <p:spPr>
            <a:xfrm>
              <a:off x="1201969" y="4172252"/>
              <a:ext cx="246895" cy="228002"/>
            </a:xfrm>
            <a:custGeom>
              <a:avLst/>
              <a:gdLst/>
              <a:ahLst/>
              <a:cxnLst/>
              <a:rect l="l" t="t" r="r" b="b"/>
              <a:pathLst>
                <a:path w="246895" h="228002">
                  <a:moveTo>
                    <a:pt x="81891" y="228002"/>
                  </a:moveTo>
                  <a:lnTo>
                    <a:pt x="69166" y="212684"/>
                  </a:lnTo>
                  <a:lnTo>
                    <a:pt x="57523" y="196873"/>
                  </a:lnTo>
                  <a:lnTo>
                    <a:pt x="46948" y="180631"/>
                  </a:lnTo>
                  <a:lnTo>
                    <a:pt x="37419" y="164020"/>
                  </a:lnTo>
                  <a:lnTo>
                    <a:pt x="28905" y="147098"/>
                  </a:lnTo>
                  <a:lnTo>
                    <a:pt x="21366" y="129921"/>
                  </a:lnTo>
                  <a:lnTo>
                    <a:pt x="14756" y="112541"/>
                  </a:lnTo>
                  <a:lnTo>
                    <a:pt x="9026" y="95004"/>
                  </a:lnTo>
                  <a:lnTo>
                    <a:pt x="4125" y="77351"/>
                  </a:lnTo>
                  <a:lnTo>
                    <a:pt x="0" y="59617"/>
                  </a:lnTo>
                  <a:lnTo>
                    <a:pt x="189384" y="0"/>
                  </a:lnTo>
                  <a:lnTo>
                    <a:pt x="192159" y="11250"/>
                  </a:lnTo>
                  <a:lnTo>
                    <a:pt x="195501" y="22439"/>
                  </a:lnTo>
                  <a:lnTo>
                    <a:pt x="199449" y="33542"/>
                  </a:lnTo>
                  <a:lnTo>
                    <a:pt x="204041" y="44533"/>
                  </a:lnTo>
                  <a:lnTo>
                    <a:pt x="209314" y="55383"/>
                  </a:lnTo>
                  <a:lnTo>
                    <a:pt x="215301" y="66058"/>
                  </a:lnTo>
                  <a:lnTo>
                    <a:pt x="222032" y="76521"/>
                  </a:lnTo>
                  <a:lnTo>
                    <a:pt x="229531" y="86735"/>
                  </a:lnTo>
                  <a:lnTo>
                    <a:pt x="237816" y="96660"/>
                  </a:lnTo>
                  <a:lnTo>
                    <a:pt x="246895" y="10625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53" name="Ядро эпителиальной клетки"/>
            <p:cNvSpPr/>
            <p:nvPr/>
          </p:nvSpPr>
          <p:spPr>
            <a:xfrm rot="9183158">
              <a:off x="1278966" y="420536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54" name="Ядрышко"/>
            <p:cNvSpPr/>
            <p:nvPr/>
          </p:nvSpPr>
          <p:spPr>
            <a:xfrm>
              <a:off x="1308227" y="425702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55" name="Клетка однослойного эпителия"/>
            <p:cNvSpPr/>
            <p:nvPr/>
          </p:nvSpPr>
          <p:spPr>
            <a:xfrm>
              <a:off x="1191078" y="4053945"/>
              <a:ext cx="200275" cy="177924"/>
            </a:xfrm>
            <a:custGeom>
              <a:avLst/>
              <a:gdLst/>
              <a:ahLst/>
              <a:cxnLst/>
              <a:rect l="l" t="t" r="r" b="b"/>
              <a:pathLst>
                <a:path w="200275" h="177924">
                  <a:moveTo>
                    <a:pt x="10891" y="177924"/>
                  </a:moveTo>
                  <a:lnTo>
                    <a:pt x="7494" y="160138"/>
                  </a:lnTo>
                  <a:lnTo>
                    <a:pt x="4777" y="142322"/>
                  </a:lnTo>
                  <a:lnTo>
                    <a:pt x="2701" y="124494"/>
                  </a:lnTo>
                  <a:lnTo>
                    <a:pt x="1229" y="106667"/>
                  </a:lnTo>
                  <a:lnTo>
                    <a:pt x="335" y="88848"/>
                  </a:lnTo>
                  <a:lnTo>
                    <a:pt x="0" y="71043"/>
                  </a:lnTo>
                  <a:lnTo>
                    <a:pt x="211" y="53254"/>
                  </a:lnTo>
                  <a:lnTo>
                    <a:pt x="967" y="35483"/>
                  </a:lnTo>
                  <a:lnTo>
                    <a:pt x="2272" y="17731"/>
                  </a:lnTo>
                  <a:lnTo>
                    <a:pt x="4137" y="0"/>
                  </a:lnTo>
                  <a:lnTo>
                    <a:pt x="197694" y="4979"/>
                  </a:lnTo>
                  <a:lnTo>
                    <a:pt x="196100" y="16306"/>
                  </a:lnTo>
                  <a:lnTo>
                    <a:pt x="194914" y="27639"/>
                  </a:lnTo>
                  <a:lnTo>
                    <a:pt x="194129" y="38977"/>
                  </a:lnTo>
                  <a:lnTo>
                    <a:pt x="193740" y="50320"/>
                  </a:lnTo>
                  <a:lnTo>
                    <a:pt x="193750" y="61665"/>
                  </a:lnTo>
                  <a:lnTo>
                    <a:pt x="194167" y="73012"/>
                  </a:lnTo>
                  <a:lnTo>
                    <a:pt x="195005" y="84357"/>
                  </a:lnTo>
                  <a:lnTo>
                    <a:pt x="196285" y="95694"/>
                  </a:lnTo>
                  <a:lnTo>
                    <a:pt x="198032" y="107014"/>
                  </a:lnTo>
                  <a:lnTo>
                    <a:pt x="200275" y="118307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56" name="Ядро эпителиальной клетки"/>
            <p:cNvSpPr/>
            <p:nvPr/>
          </p:nvSpPr>
          <p:spPr>
            <a:xfrm rot="10320000">
              <a:off x="1246268" y="406236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57" name="Ядрышко"/>
            <p:cNvSpPr/>
            <p:nvPr/>
          </p:nvSpPr>
          <p:spPr>
            <a:xfrm>
              <a:off x="1275529" y="411402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58" name="Клетка однослойного эпителия"/>
            <p:cNvSpPr/>
            <p:nvPr/>
          </p:nvSpPr>
          <p:spPr>
            <a:xfrm>
              <a:off x="1195215" y="3879745"/>
              <a:ext cx="235696" cy="179179"/>
            </a:xfrm>
            <a:custGeom>
              <a:avLst/>
              <a:gdLst/>
              <a:ahLst/>
              <a:cxnLst/>
              <a:rect l="l" t="t" r="r" b="b"/>
              <a:pathLst>
                <a:path w="235696" h="179179">
                  <a:moveTo>
                    <a:pt x="0" y="174200"/>
                  </a:moveTo>
                  <a:lnTo>
                    <a:pt x="2444" y="156492"/>
                  </a:lnTo>
                  <a:lnTo>
                    <a:pt x="5489" y="138814"/>
                  </a:lnTo>
                  <a:lnTo>
                    <a:pt x="9161" y="121172"/>
                  </a:lnTo>
                  <a:lnTo>
                    <a:pt x="13489" y="103579"/>
                  </a:lnTo>
                  <a:lnTo>
                    <a:pt x="18500" y="86047"/>
                  </a:lnTo>
                  <a:lnTo>
                    <a:pt x="24221" y="68594"/>
                  </a:lnTo>
                  <a:lnTo>
                    <a:pt x="30676" y="51239"/>
                  </a:lnTo>
                  <a:lnTo>
                    <a:pt x="37886" y="34006"/>
                  </a:lnTo>
                  <a:lnTo>
                    <a:pt x="45866" y="16918"/>
                  </a:lnTo>
                  <a:lnTo>
                    <a:pt x="54623" y="0"/>
                  </a:lnTo>
                  <a:lnTo>
                    <a:pt x="235696" y="67416"/>
                  </a:lnTo>
                  <a:lnTo>
                    <a:pt x="229085" y="78316"/>
                  </a:lnTo>
                  <a:lnTo>
                    <a:pt x="223040" y="89314"/>
                  </a:lnTo>
                  <a:lnTo>
                    <a:pt x="217553" y="100394"/>
                  </a:lnTo>
                  <a:lnTo>
                    <a:pt x="212616" y="111542"/>
                  </a:lnTo>
                  <a:lnTo>
                    <a:pt x="208213" y="122743"/>
                  </a:lnTo>
                  <a:lnTo>
                    <a:pt x="204327" y="133984"/>
                  </a:lnTo>
                  <a:lnTo>
                    <a:pt x="200939" y="145256"/>
                  </a:lnTo>
                  <a:lnTo>
                    <a:pt x="198027" y="156550"/>
                  </a:lnTo>
                  <a:lnTo>
                    <a:pt x="195573" y="167859"/>
                  </a:lnTo>
                  <a:lnTo>
                    <a:pt x="193557" y="179179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59" name="Ядро эпителиальной клетки"/>
            <p:cNvSpPr/>
            <p:nvPr/>
          </p:nvSpPr>
          <p:spPr>
            <a:xfrm rot="11456842">
              <a:off x="1266645" y="391857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60" name="Ядрышко"/>
            <p:cNvSpPr/>
            <p:nvPr/>
          </p:nvSpPr>
          <p:spPr>
            <a:xfrm>
              <a:off x="1295906" y="397024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61" name="Клетка однослойного эпителия"/>
            <p:cNvSpPr/>
            <p:nvPr/>
          </p:nvSpPr>
          <p:spPr>
            <a:xfrm>
              <a:off x="1249838" y="3724760"/>
              <a:ext cx="276149" cy="222401"/>
            </a:xfrm>
            <a:custGeom>
              <a:avLst/>
              <a:gdLst/>
              <a:ahLst/>
              <a:cxnLst/>
              <a:rect l="l" t="t" r="r" b="b"/>
              <a:pathLst>
                <a:path w="276149" h="222401">
                  <a:moveTo>
                    <a:pt x="0" y="154985"/>
                  </a:moveTo>
                  <a:lnTo>
                    <a:pt x="9538" y="138264"/>
                  </a:lnTo>
                  <a:lnTo>
                    <a:pt x="19850" y="121764"/>
                  </a:lnTo>
                  <a:lnTo>
                    <a:pt x="30925" y="105509"/>
                  </a:lnTo>
                  <a:lnTo>
                    <a:pt x="42744" y="89521"/>
                  </a:lnTo>
                  <a:lnTo>
                    <a:pt x="55282" y="73819"/>
                  </a:lnTo>
                  <a:lnTo>
                    <a:pt x="68507" y="58419"/>
                  </a:lnTo>
                  <a:lnTo>
                    <a:pt x="82385" y="43332"/>
                  </a:lnTo>
                  <a:lnTo>
                    <a:pt x="96878" y="28565"/>
                  </a:lnTo>
                  <a:lnTo>
                    <a:pt x="111946" y="14121"/>
                  </a:lnTo>
                  <a:lnTo>
                    <a:pt x="127548" y="0"/>
                  </a:lnTo>
                  <a:lnTo>
                    <a:pt x="276149" y="121925"/>
                  </a:lnTo>
                  <a:lnTo>
                    <a:pt x="264583" y="131132"/>
                  </a:lnTo>
                  <a:lnTo>
                    <a:pt x="253402" y="140538"/>
                  </a:lnTo>
                  <a:lnTo>
                    <a:pt x="242636" y="150142"/>
                  </a:lnTo>
                  <a:lnTo>
                    <a:pt x="232315" y="159942"/>
                  </a:lnTo>
                  <a:lnTo>
                    <a:pt x="222465" y="169934"/>
                  </a:lnTo>
                  <a:lnTo>
                    <a:pt x="213113" y="180108"/>
                  </a:lnTo>
                  <a:lnTo>
                    <a:pt x="204282" y="190455"/>
                  </a:lnTo>
                  <a:lnTo>
                    <a:pt x="195989" y="200963"/>
                  </a:lnTo>
                  <a:lnTo>
                    <a:pt x="188250" y="211616"/>
                  </a:lnTo>
                  <a:lnTo>
                    <a:pt x="181073" y="222401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62" name="Ядро эпителиальной клетки"/>
            <p:cNvSpPr/>
            <p:nvPr/>
          </p:nvSpPr>
          <p:spPr>
            <a:xfrm rot="12593684">
              <a:off x="1346335" y="378226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63" name="Ядрышко"/>
            <p:cNvSpPr/>
            <p:nvPr/>
          </p:nvSpPr>
          <p:spPr>
            <a:xfrm>
              <a:off x="1375595" y="383392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64" name="Клетка однослойного эпителия"/>
            <p:cNvSpPr/>
            <p:nvPr/>
          </p:nvSpPr>
          <p:spPr>
            <a:xfrm>
              <a:off x="1377386" y="3599289"/>
              <a:ext cx="280650" cy="247396"/>
            </a:xfrm>
            <a:custGeom>
              <a:avLst/>
              <a:gdLst/>
              <a:ahLst/>
              <a:cxnLst/>
              <a:rect l="l" t="t" r="r" b="b"/>
              <a:pathLst>
                <a:path w="280650" h="247396">
                  <a:moveTo>
                    <a:pt x="0" y="125471"/>
                  </a:moveTo>
                  <a:lnTo>
                    <a:pt x="16099" y="111667"/>
                  </a:lnTo>
                  <a:lnTo>
                    <a:pt x="32656" y="98172"/>
                  </a:lnTo>
                  <a:lnTo>
                    <a:pt x="49638" y="84976"/>
                  </a:lnTo>
                  <a:lnTo>
                    <a:pt x="67018" y="72067"/>
                  </a:lnTo>
                  <a:lnTo>
                    <a:pt x="84773" y="59430"/>
                  </a:lnTo>
                  <a:lnTo>
                    <a:pt x="102884" y="47055"/>
                  </a:lnTo>
                  <a:lnTo>
                    <a:pt x="121341" y="34930"/>
                  </a:lnTo>
                  <a:lnTo>
                    <a:pt x="140140" y="23047"/>
                  </a:lnTo>
                  <a:lnTo>
                    <a:pt x="159281" y="11404"/>
                  </a:lnTo>
                  <a:lnTo>
                    <a:pt x="178771" y="0"/>
                  </a:lnTo>
                  <a:lnTo>
                    <a:pt x="280650" y="165058"/>
                  </a:lnTo>
                  <a:lnTo>
                    <a:pt x="266284" y="172584"/>
                  </a:lnTo>
                  <a:lnTo>
                    <a:pt x="252169" y="180259"/>
                  </a:lnTo>
                  <a:lnTo>
                    <a:pt x="238301" y="188081"/>
                  </a:lnTo>
                  <a:lnTo>
                    <a:pt x="224678" y="196054"/>
                  </a:lnTo>
                  <a:lnTo>
                    <a:pt x="211305" y="204181"/>
                  </a:lnTo>
                  <a:lnTo>
                    <a:pt x="198188" y="212470"/>
                  </a:lnTo>
                  <a:lnTo>
                    <a:pt x="185341" y="220929"/>
                  </a:lnTo>
                  <a:lnTo>
                    <a:pt x="172780" y="229564"/>
                  </a:lnTo>
                  <a:lnTo>
                    <a:pt x="160525" y="238385"/>
                  </a:lnTo>
                  <a:lnTo>
                    <a:pt x="148601" y="247396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65" name="Ядро эпителиальной клетки"/>
            <p:cNvSpPr/>
            <p:nvPr/>
          </p:nvSpPr>
          <p:spPr>
            <a:xfrm rot="13730526">
              <a:off x="1482235" y="366769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66" name="Ядрышко"/>
            <p:cNvSpPr/>
            <p:nvPr/>
          </p:nvSpPr>
          <p:spPr>
            <a:xfrm>
              <a:off x="1511496" y="371935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67" name="Клетка однослойного эпителия"/>
            <p:cNvSpPr/>
            <p:nvPr/>
          </p:nvSpPr>
          <p:spPr>
            <a:xfrm>
              <a:off x="1556157" y="3503351"/>
              <a:ext cx="261147" cy="260996"/>
            </a:xfrm>
            <a:custGeom>
              <a:avLst/>
              <a:gdLst/>
              <a:ahLst/>
              <a:cxnLst/>
              <a:rect l="l" t="t" r="r" b="b"/>
              <a:pathLst>
                <a:path w="261147" h="260996">
                  <a:moveTo>
                    <a:pt x="0" y="95938"/>
                  </a:moveTo>
                  <a:lnTo>
                    <a:pt x="19848" y="84781"/>
                  </a:lnTo>
                  <a:lnTo>
                    <a:pt x="40068" y="73884"/>
                  </a:lnTo>
                  <a:lnTo>
                    <a:pt x="60675" y="63269"/>
                  </a:lnTo>
                  <a:lnTo>
                    <a:pt x="81684" y="52962"/>
                  </a:lnTo>
                  <a:lnTo>
                    <a:pt x="103107" y="42999"/>
                  </a:lnTo>
                  <a:lnTo>
                    <a:pt x="124956" y="33422"/>
                  </a:lnTo>
                  <a:lnTo>
                    <a:pt x="147235" y="24278"/>
                  </a:lnTo>
                  <a:lnTo>
                    <a:pt x="169946" y="15621"/>
                  </a:lnTo>
                  <a:lnTo>
                    <a:pt x="193080" y="7508"/>
                  </a:lnTo>
                  <a:lnTo>
                    <a:pt x="216621" y="0"/>
                  </a:lnTo>
                  <a:lnTo>
                    <a:pt x="261147" y="196985"/>
                  </a:lnTo>
                  <a:lnTo>
                    <a:pt x="243877" y="202082"/>
                  </a:lnTo>
                  <a:lnTo>
                    <a:pt x="226896" y="207558"/>
                  </a:lnTo>
                  <a:lnTo>
                    <a:pt x="210217" y="213376"/>
                  </a:lnTo>
                  <a:lnTo>
                    <a:pt x="193846" y="219498"/>
                  </a:lnTo>
                  <a:lnTo>
                    <a:pt x="177783" y="225891"/>
                  </a:lnTo>
                  <a:lnTo>
                    <a:pt x="162026" y="232525"/>
                  </a:lnTo>
                  <a:lnTo>
                    <a:pt x="146566" y="239371"/>
                  </a:lnTo>
                  <a:lnTo>
                    <a:pt x="131396" y="246410"/>
                  </a:lnTo>
                  <a:lnTo>
                    <a:pt x="116503" y="253622"/>
                  </a:lnTo>
                  <a:lnTo>
                    <a:pt x="101879" y="260996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68" name="Ядро эпителиальной клетки"/>
            <p:cNvSpPr/>
            <p:nvPr/>
          </p:nvSpPr>
          <p:spPr>
            <a:xfrm rot="14867368">
              <a:off x="1652375" y="357516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69" name="Ядрышко"/>
            <p:cNvSpPr/>
            <p:nvPr/>
          </p:nvSpPr>
          <p:spPr>
            <a:xfrm>
              <a:off x="1681636" y="362682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70" name="Клетка однослойного эпителия"/>
            <p:cNvSpPr/>
            <p:nvPr/>
          </p:nvSpPr>
          <p:spPr>
            <a:xfrm>
              <a:off x="1772778" y="3472000"/>
              <a:ext cx="248210" cy="228336"/>
            </a:xfrm>
            <a:custGeom>
              <a:avLst/>
              <a:gdLst/>
              <a:ahLst/>
              <a:cxnLst/>
              <a:rect l="l" t="t" r="r" b="b"/>
              <a:pathLst>
                <a:path w="248210" h="228336">
                  <a:moveTo>
                    <a:pt x="0" y="31351"/>
                  </a:moveTo>
                  <a:lnTo>
                    <a:pt x="23926" y="24510"/>
                  </a:lnTo>
                  <a:lnTo>
                    <a:pt x="48200" y="18396"/>
                  </a:lnTo>
                  <a:lnTo>
                    <a:pt x="72782" y="13070"/>
                  </a:lnTo>
                  <a:lnTo>
                    <a:pt x="97619" y="8588"/>
                  </a:lnTo>
                  <a:lnTo>
                    <a:pt x="122651" y="5000"/>
                  </a:lnTo>
                  <a:lnTo>
                    <a:pt x="147810" y="2351"/>
                  </a:lnTo>
                  <a:lnTo>
                    <a:pt x="173025" y="675"/>
                  </a:lnTo>
                  <a:lnTo>
                    <a:pt x="198216" y="0"/>
                  </a:lnTo>
                  <a:lnTo>
                    <a:pt x="223305" y="341"/>
                  </a:lnTo>
                  <a:lnTo>
                    <a:pt x="248210" y="1704"/>
                  </a:lnTo>
                  <a:lnTo>
                    <a:pt x="225960" y="206166"/>
                  </a:lnTo>
                  <a:lnTo>
                    <a:pt x="207812" y="205625"/>
                  </a:lnTo>
                  <a:lnTo>
                    <a:pt x="189517" y="205738"/>
                  </a:lnTo>
                  <a:lnTo>
                    <a:pt x="171134" y="206501"/>
                  </a:lnTo>
                  <a:lnTo>
                    <a:pt x="152721" y="207901"/>
                  </a:lnTo>
                  <a:lnTo>
                    <a:pt x="134334" y="209922"/>
                  </a:lnTo>
                  <a:lnTo>
                    <a:pt x="116029" y="212539"/>
                  </a:lnTo>
                  <a:lnTo>
                    <a:pt x="97854" y="215724"/>
                  </a:lnTo>
                  <a:lnTo>
                    <a:pt x="79854" y="219443"/>
                  </a:lnTo>
                  <a:lnTo>
                    <a:pt x="62067" y="223660"/>
                  </a:lnTo>
                  <a:lnTo>
                    <a:pt x="44526" y="228336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71" name="Ядро эпителиальной клетки"/>
            <p:cNvSpPr/>
            <p:nvPr/>
          </p:nvSpPr>
          <p:spPr>
            <a:xfrm rot="16004211">
              <a:off x="1855784" y="351726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72" name="Ядрышко"/>
            <p:cNvSpPr/>
            <p:nvPr/>
          </p:nvSpPr>
          <p:spPr>
            <a:xfrm>
              <a:off x="1885044" y="356892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73" name="Клетка однослойного эпителия"/>
            <p:cNvSpPr/>
            <p:nvPr/>
          </p:nvSpPr>
          <p:spPr>
            <a:xfrm>
              <a:off x="1998738" y="3473704"/>
              <a:ext cx="246751" cy="241940"/>
            </a:xfrm>
            <a:custGeom>
              <a:avLst/>
              <a:gdLst/>
              <a:ahLst/>
              <a:cxnLst/>
              <a:rect l="l" t="t" r="r" b="b"/>
              <a:pathLst>
                <a:path w="246751" h="241940">
                  <a:moveTo>
                    <a:pt x="22250" y="0"/>
                  </a:moveTo>
                  <a:lnTo>
                    <a:pt x="46892" y="2378"/>
                  </a:lnTo>
                  <a:lnTo>
                    <a:pt x="71196" y="5755"/>
                  </a:lnTo>
                  <a:lnTo>
                    <a:pt x="95090" y="10101"/>
                  </a:lnTo>
                  <a:lnTo>
                    <a:pt x="118511" y="15378"/>
                  </a:lnTo>
                  <a:lnTo>
                    <a:pt x="141404" y="21539"/>
                  </a:lnTo>
                  <a:lnTo>
                    <a:pt x="163723" y="28527"/>
                  </a:lnTo>
                  <a:lnTo>
                    <a:pt x="185435" y="36280"/>
                  </a:lnTo>
                  <a:lnTo>
                    <a:pt x="206515" y="44730"/>
                  </a:lnTo>
                  <a:lnTo>
                    <a:pt x="226954" y="53807"/>
                  </a:lnTo>
                  <a:lnTo>
                    <a:pt x="246751" y="63438"/>
                  </a:lnTo>
                  <a:lnTo>
                    <a:pt x="162915" y="241940"/>
                  </a:lnTo>
                  <a:lnTo>
                    <a:pt x="148602" y="236062"/>
                  </a:lnTo>
                  <a:lnTo>
                    <a:pt x="133813" y="230545"/>
                  </a:lnTo>
                  <a:lnTo>
                    <a:pt x="118548" y="225437"/>
                  </a:lnTo>
                  <a:lnTo>
                    <a:pt x="102814" y="220781"/>
                  </a:lnTo>
                  <a:lnTo>
                    <a:pt x="86627" y="216621"/>
                  </a:lnTo>
                  <a:lnTo>
                    <a:pt x="70010" y="212995"/>
                  </a:lnTo>
                  <a:lnTo>
                    <a:pt x="52996" y="209940"/>
                  </a:lnTo>
                  <a:lnTo>
                    <a:pt x="35625" y="207485"/>
                  </a:lnTo>
                  <a:lnTo>
                    <a:pt x="17943" y="205653"/>
                  </a:lnTo>
                  <a:lnTo>
                    <a:pt x="0" y="204462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74" name="Ядро эпителиальной клетки"/>
            <p:cNvSpPr/>
            <p:nvPr/>
          </p:nvSpPr>
          <p:spPr>
            <a:xfrm rot="17141053">
              <a:off x="2065937" y="353039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75" name="Ядрышко"/>
            <p:cNvSpPr/>
            <p:nvPr/>
          </p:nvSpPr>
          <p:spPr>
            <a:xfrm>
              <a:off x="2095198" y="358205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76" name="Клетка однослойного эпителия"/>
            <p:cNvSpPr/>
            <p:nvPr/>
          </p:nvSpPr>
          <p:spPr>
            <a:xfrm>
              <a:off x="2161653" y="3537142"/>
              <a:ext cx="252708" cy="248521"/>
            </a:xfrm>
            <a:custGeom>
              <a:avLst/>
              <a:gdLst/>
              <a:ahLst/>
              <a:cxnLst/>
              <a:rect l="l" t="t" r="r" b="b"/>
              <a:pathLst>
                <a:path w="252708" h="248521">
                  <a:moveTo>
                    <a:pt x="83836" y="0"/>
                  </a:moveTo>
                  <a:lnTo>
                    <a:pt x="103003" y="10113"/>
                  </a:lnTo>
                  <a:lnTo>
                    <a:pt x="121560" y="20640"/>
                  </a:lnTo>
                  <a:lnTo>
                    <a:pt x="139539" y="31516"/>
                  </a:lnTo>
                  <a:lnTo>
                    <a:pt x="156975" y="42679"/>
                  </a:lnTo>
                  <a:lnTo>
                    <a:pt x="173912" y="54078"/>
                  </a:lnTo>
                  <a:lnTo>
                    <a:pt x="190395" y="65667"/>
                  </a:lnTo>
                  <a:lnTo>
                    <a:pt x="206472" y="77409"/>
                  </a:lnTo>
                  <a:lnTo>
                    <a:pt x="222188" y="89279"/>
                  </a:lnTo>
                  <a:lnTo>
                    <a:pt x="237588" y="101257"/>
                  </a:lnTo>
                  <a:lnTo>
                    <a:pt x="252708" y="113336"/>
                  </a:lnTo>
                  <a:lnTo>
                    <a:pt x="121680" y="248521"/>
                  </a:lnTo>
                  <a:lnTo>
                    <a:pt x="110811" y="241021"/>
                  </a:lnTo>
                  <a:lnTo>
                    <a:pt x="99736" y="233589"/>
                  </a:lnTo>
                  <a:lnTo>
                    <a:pt x="88429" y="226230"/>
                  </a:lnTo>
                  <a:lnTo>
                    <a:pt x="76857" y="218956"/>
                  </a:lnTo>
                  <a:lnTo>
                    <a:pt x="64987" y="211786"/>
                  </a:lnTo>
                  <a:lnTo>
                    <a:pt x="52784" y="204744"/>
                  </a:lnTo>
                  <a:lnTo>
                    <a:pt x="40213" y="197857"/>
                  </a:lnTo>
                  <a:lnTo>
                    <a:pt x="27243" y="191162"/>
                  </a:lnTo>
                  <a:lnTo>
                    <a:pt x="13846" y="184696"/>
                  </a:lnTo>
                  <a:lnTo>
                    <a:pt x="0" y="178502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77" name="Ядро эпителиальной клетки"/>
            <p:cNvSpPr/>
            <p:nvPr/>
          </p:nvSpPr>
          <p:spPr>
            <a:xfrm rot="18277895">
              <a:off x="2233204" y="360693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78" name="Ядрышко"/>
            <p:cNvSpPr/>
            <p:nvPr/>
          </p:nvSpPr>
          <p:spPr>
            <a:xfrm>
              <a:off x="2262464" y="365859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79" name="Клетка однослойного эпителия"/>
            <p:cNvSpPr/>
            <p:nvPr/>
          </p:nvSpPr>
          <p:spPr>
            <a:xfrm>
              <a:off x="2283333" y="3650478"/>
              <a:ext cx="269084" cy="215819"/>
            </a:xfrm>
            <a:custGeom>
              <a:avLst/>
              <a:gdLst/>
              <a:ahLst/>
              <a:cxnLst/>
              <a:rect l="l" t="t" r="r" b="b"/>
              <a:pathLst>
                <a:path w="269084" h="215819">
                  <a:moveTo>
                    <a:pt x="131028" y="0"/>
                  </a:moveTo>
                  <a:lnTo>
                    <a:pt x="145902" y="12178"/>
                  </a:lnTo>
                  <a:lnTo>
                    <a:pt x="160551" y="24465"/>
                  </a:lnTo>
                  <a:lnTo>
                    <a:pt x="174990" y="36876"/>
                  </a:lnTo>
                  <a:lnTo>
                    <a:pt x="189222" y="49431"/>
                  </a:lnTo>
                  <a:lnTo>
                    <a:pt x="203239" y="62156"/>
                  </a:lnTo>
                  <a:lnTo>
                    <a:pt x="217022" y="75079"/>
                  </a:lnTo>
                  <a:lnTo>
                    <a:pt x="230542" y="88231"/>
                  </a:lnTo>
                  <a:lnTo>
                    <a:pt x="243759" y="101641"/>
                  </a:lnTo>
                  <a:lnTo>
                    <a:pt x="256625" y="115339"/>
                  </a:lnTo>
                  <a:lnTo>
                    <a:pt x="269084" y="129350"/>
                  </a:lnTo>
                  <a:lnTo>
                    <a:pt x="98992" y="215819"/>
                  </a:lnTo>
                  <a:lnTo>
                    <a:pt x="90090" y="207052"/>
                  </a:lnTo>
                  <a:lnTo>
                    <a:pt x="80886" y="198490"/>
                  </a:lnTo>
                  <a:lnTo>
                    <a:pt x="71422" y="190116"/>
                  </a:lnTo>
                  <a:lnTo>
                    <a:pt x="61734" y="181911"/>
                  </a:lnTo>
                  <a:lnTo>
                    <a:pt x="51851" y="173855"/>
                  </a:lnTo>
                  <a:lnTo>
                    <a:pt x="41795" y="165928"/>
                  </a:lnTo>
                  <a:lnTo>
                    <a:pt x="31580" y="158112"/>
                  </a:lnTo>
                  <a:lnTo>
                    <a:pt x="21212" y="150392"/>
                  </a:lnTo>
                  <a:lnTo>
                    <a:pt x="10688" y="142753"/>
                  </a:lnTo>
                  <a:lnTo>
                    <a:pt x="0" y="135185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80" name="Ядро эпителиальной клетки"/>
            <p:cNvSpPr/>
            <p:nvPr/>
          </p:nvSpPr>
          <p:spPr>
            <a:xfrm rot="19414737">
              <a:off x="2362130" y="370442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81" name="Ядрышко"/>
            <p:cNvSpPr/>
            <p:nvPr/>
          </p:nvSpPr>
          <p:spPr>
            <a:xfrm>
              <a:off x="2391390" y="375608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82" name="Клетка однослойного эпителия"/>
            <p:cNvSpPr/>
            <p:nvPr/>
          </p:nvSpPr>
          <p:spPr>
            <a:xfrm>
              <a:off x="2382325" y="3779828"/>
              <a:ext cx="257890" cy="186888"/>
            </a:xfrm>
            <a:custGeom>
              <a:avLst/>
              <a:gdLst/>
              <a:ahLst/>
              <a:cxnLst/>
              <a:rect l="l" t="t" r="r" b="b"/>
              <a:pathLst>
                <a:path w="257890" h="186888">
                  <a:moveTo>
                    <a:pt x="170092" y="0"/>
                  </a:moveTo>
                  <a:lnTo>
                    <a:pt x="182080" y="14346"/>
                  </a:lnTo>
                  <a:lnTo>
                    <a:pt x="193531" y="29044"/>
                  </a:lnTo>
                  <a:lnTo>
                    <a:pt x="204376" y="44106"/>
                  </a:lnTo>
                  <a:lnTo>
                    <a:pt x="214545" y="59537"/>
                  </a:lnTo>
                  <a:lnTo>
                    <a:pt x="223970" y="75335"/>
                  </a:lnTo>
                  <a:lnTo>
                    <a:pt x="232586" y="91492"/>
                  </a:lnTo>
                  <a:lnTo>
                    <a:pt x="240335" y="107995"/>
                  </a:lnTo>
                  <a:lnTo>
                    <a:pt x="247163" y="124824"/>
                  </a:lnTo>
                  <a:lnTo>
                    <a:pt x="253027" y="141951"/>
                  </a:lnTo>
                  <a:lnTo>
                    <a:pt x="257890" y="159349"/>
                  </a:lnTo>
                  <a:lnTo>
                    <a:pt x="61939" y="186888"/>
                  </a:lnTo>
                  <a:lnTo>
                    <a:pt x="58621" y="175862"/>
                  </a:lnTo>
                  <a:lnTo>
                    <a:pt x="54570" y="165021"/>
                  </a:lnTo>
                  <a:lnTo>
                    <a:pt x="49812" y="154384"/>
                  </a:lnTo>
                  <a:lnTo>
                    <a:pt x="44377" y="143967"/>
                  </a:lnTo>
                  <a:lnTo>
                    <a:pt x="38306" y="133781"/>
                  </a:lnTo>
                  <a:lnTo>
                    <a:pt x="31639" y="123834"/>
                  </a:lnTo>
                  <a:lnTo>
                    <a:pt x="24425" y="114132"/>
                  </a:lnTo>
                  <a:lnTo>
                    <a:pt x="16714" y="104674"/>
                  </a:lnTo>
                  <a:lnTo>
                    <a:pt x="8555" y="95456"/>
                  </a:lnTo>
                  <a:lnTo>
                    <a:pt x="0" y="86469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83" name="Ядро эпителиальной клетки"/>
            <p:cNvSpPr/>
            <p:nvPr/>
          </p:nvSpPr>
          <p:spPr>
            <a:xfrm rot="20551579">
              <a:off x="2464029" y="381926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84" name="Ядрышко"/>
            <p:cNvSpPr/>
            <p:nvPr/>
          </p:nvSpPr>
          <p:spPr>
            <a:xfrm>
              <a:off x="2493290" y="387092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85" name="Просвет канальца"/>
            <p:cNvSpPr/>
            <p:nvPr/>
          </p:nvSpPr>
          <p:spPr>
            <a:xfrm>
              <a:off x="1384482" y="3681280"/>
              <a:ext cx="1064214" cy="695319"/>
            </a:xfrm>
            <a:custGeom>
              <a:avLst/>
              <a:gdLst/>
              <a:ahLst/>
              <a:cxnLst/>
              <a:rect l="l" t="t" r="r" b="b"/>
              <a:pathLst>
                <a:path w="1064214" h="695319">
                  <a:moveTo>
                    <a:pt x="1059884" y="285422"/>
                  </a:moveTo>
                  <a:lnTo>
                    <a:pt x="1062979" y="303275"/>
                  </a:lnTo>
                  <a:lnTo>
                    <a:pt x="1064214" y="321403"/>
                  </a:lnTo>
                  <a:lnTo>
                    <a:pt x="1063608" y="339713"/>
                  </a:lnTo>
                  <a:lnTo>
                    <a:pt x="1061215" y="358119"/>
                  </a:lnTo>
                  <a:lnTo>
                    <a:pt x="1057113" y="376541"/>
                  </a:lnTo>
                  <a:lnTo>
                    <a:pt x="1051401" y="394907"/>
                  </a:lnTo>
                  <a:lnTo>
                    <a:pt x="1044183" y="413159"/>
                  </a:lnTo>
                  <a:lnTo>
                    <a:pt x="1035561" y="431252"/>
                  </a:lnTo>
                  <a:lnTo>
                    <a:pt x="1025626" y="449148"/>
                  </a:lnTo>
                  <a:lnTo>
                    <a:pt x="1014450" y="466817"/>
                  </a:lnTo>
                  <a:lnTo>
                    <a:pt x="1002086" y="484231"/>
                  </a:lnTo>
                  <a:lnTo>
                    <a:pt x="988559" y="501360"/>
                  </a:lnTo>
                  <a:lnTo>
                    <a:pt x="973877" y="518168"/>
                  </a:lnTo>
                  <a:lnTo>
                    <a:pt x="958029" y="534608"/>
                  </a:lnTo>
                  <a:lnTo>
                    <a:pt x="940997" y="550621"/>
                  </a:lnTo>
                  <a:lnTo>
                    <a:pt x="922761" y="566134"/>
                  </a:lnTo>
                  <a:lnTo>
                    <a:pt x="903307" y="581064"/>
                  </a:lnTo>
                  <a:lnTo>
                    <a:pt x="882639" y="595318"/>
                  </a:lnTo>
                  <a:lnTo>
                    <a:pt x="860786" y="608798"/>
                  </a:lnTo>
                  <a:lnTo>
                    <a:pt x="837800" y="621407"/>
                  </a:lnTo>
                  <a:lnTo>
                    <a:pt x="813766" y="633058"/>
                  </a:lnTo>
                  <a:lnTo>
                    <a:pt x="788796" y="643676"/>
                  </a:lnTo>
                  <a:lnTo>
                    <a:pt x="763027" y="653208"/>
                  </a:lnTo>
                  <a:lnTo>
                    <a:pt x="736612" y="661625"/>
                  </a:lnTo>
                  <a:lnTo>
                    <a:pt x="709713" y="668927"/>
                  </a:lnTo>
                  <a:lnTo>
                    <a:pt x="682492" y="675141"/>
                  </a:lnTo>
                  <a:lnTo>
                    <a:pt x="655096" y="680321"/>
                  </a:lnTo>
                  <a:lnTo>
                    <a:pt x="627656" y="684546"/>
                  </a:lnTo>
                  <a:lnTo>
                    <a:pt x="600272" y="687909"/>
                  </a:lnTo>
                  <a:lnTo>
                    <a:pt x="573013" y="690514"/>
                  </a:lnTo>
                  <a:lnTo>
                    <a:pt x="545914" y="692464"/>
                  </a:lnTo>
                  <a:lnTo>
                    <a:pt x="518979" y="693854"/>
                  </a:lnTo>
                  <a:lnTo>
                    <a:pt x="492184" y="694762"/>
                  </a:lnTo>
                  <a:lnTo>
                    <a:pt x="465486" y="695242"/>
                  </a:lnTo>
                  <a:lnTo>
                    <a:pt x="438835" y="695319"/>
                  </a:lnTo>
                  <a:lnTo>
                    <a:pt x="412184" y="694985"/>
                  </a:lnTo>
                  <a:lnTo>
                    <a:pt x="385500" y="694199"/>
                  </a:lnTo>
                  <a:lnTo>
                    <a:pt x="358773" y="692893"/>
                  </a:lnTo>
                  <a:lnTo>
                    <a:pt x="332030" y="690972"/>
                  </a:lnTo>
                  <a:lnTo>
                    <a:pt x="305335" y="688325"/>
                  </a:lnTo>
                  <a:lnTo>
                    <a:pt x="278792" y="684832"/>
                  </a:lnTo>
                  <a:lnTo>
                    <a:pt x="252546" y="680375"/>
                  </a:lnTo>
                  <a:lnTo>
                    <a:pt x="226776" y="674846"/>
                  </a:lnTo>
                  <a:lnTo>
                    <a:pt x="201685" y="668156"/>
                  </a:lnTo>
                  <a:lnTo>
                    <a:pt x="177492" y="660246"/>
                  </a:lnTo>
                  <a:lnTo>
                    <a:pt x="154416" y="651085"/>
                  </a:lnTo>
                  <a:lnTo>
                    <a:pt x="132665" y="640679"/>
                  </a:lnTo>
                  <a:lnTo>
                    <a:pt x="112424" y="629068"/>
                  </a:lnTo>
                  <a:lnTo>
                    <a:pt x="93841" y="616323"/>
                  </a:lnTo>
                  <a:lnTo>
                    <a:pt x="77023" y="602542"/>
                  </a:lnTo>
                  <a:lnTo>
                    <a:pt x="62030" y="587845"/>
                  </a:lnTo>
                  <a:lnTo>
                    <a:pt x="48874" y="572362"/>
                  </a:lnTo>
                  <a:lnTo>
                    <a:pt x="37522" y="556228"/>
                  </a:lnTo>
                  <a:lnTo>
                    <a:pt x="27904" y="539575"/>
                  </a:lnTo>
                  <a:lnTo>
                    <a:pt x="19918" y="522525"/>
                  </a:lnTo>
                  <a:lnTo>
                    <a:pt x="13449" y="505183"/>
                  </a:lnTo>
                  <a:lnTo>
                    <a:pt x="8374" y="487634"/>
                  </a:lnTo>
                  <a:lnTo>
                    <a:pt x="4577" y="469945"/>
                  </a:lnTo>
                  <a:lnTo>
                    <a:pt x="1959" y="452162"/>
                  </a:lnTo>
                  <a:lnTo>
                    <a:pt x="448" y="434316"/>
                  </a:lnTo>
                  <a:lnTo>
                    <a:pt x="0" y="416423"/>
                  </a:lnTo>
                  <a:lnTo>
                    <a:pt x="605" y="398493"/>
                  </a:lnTo>
                  <a:lnTo>
                    <a:pt x="2285" y="380536"/>
                  </a:lnTo>
                  <a:lnTo>
                    <a:pt x="5086" y="362562"/>
                  </a:lnTo>
                  <a:lnTo>
                    <a:pt x="9073" y="344590"/>
                  </a:lnTo>
                  <a:lnTo>
                    <a:pt x="14323" y="326652"/>
                  </a:lnTo>
                  <a:lnTo>
                    <a:pt x="20909" y="308787"/>
                  </a:lnTo>
                  <a:lnTo>
                    <a:pt x="28896" y="291048"/>
                  </a:lnTo>
                  <a:lnTo>
                    <a:pt x="38330" y="273497"/>
                  </a:lnTo>
                  <a:lnTo>
                    <a:pt x="49229" y="256200"/>
                  </a:lnTo>
                  <a:lnTo>
                    <a:pt x="61585" y="239225"/>
                  </a:lnTo>
                  <a:lnTo>
                    <a:pt x="75356" y="222638"/>
                  </a:lnTo>
                  <a:lnTo>
                    <a:pt x="90475" y="206493"/>
                  </a:lnTo>
                  <a:lnTo>
                    <a:pt x="106850" y="190834"/>
                  </a:lnTo>
                  <a:lnTo>
                    <a:pt x="124373" y="175690"/>
                  </a:lnTo>
                  <a:lnTo>
                    <a:pt x="142930" y="161075"/>
                  </a:lnTo>
                  <a:lnTo>
                    <a:pt x="162407" y="146987"/>
                  </a:lnTo>
                  <a:lnTo>
                    <a:pt x="182702" y="133412"/>
                  </a:lnTo>
                  <a:lnTo>
                    <a:pt x="203728" y="120328"/>
                  </a:lnTo>
                  <a:lnTo>
                    <a:pt x="225424" y="107714"/>
                  </a:lnTo>
                  <a:lnTo>
                    <a:pt x="247750" y="95549"/>
                  </a:lnTo>
                  <a:lnTo>
                    <a:pt x="270692" y="83824"/>
                  </a:lnTo>
                  <a:lnTo>
                    <a:pt x="294254" y="72548"/>
                  </a:lnTo>
                  <a:lnTo>
                    <a:pt x="318455" y="61749"/>
                  </a:lnTo>
                  <a:lnTo>
                    <a:pt x="343318" y="51478"/>
                  </a:lnTo>
                  <a:lnTo>
                    <a:pt x="368863" y="41812"/>
                  </a:lnTo>
                  <a:lnTo>
                    <a:pt x="395094" y="32849"/>
                  </a:lnTo>
                  <a:lnTo>
                    <a:pt x="421992" y="24704"/>
                  </a:lnTo>
                  <a:lnTo>
                    <a:pt x="449511" y="17507"/>
                  </a:lnTo>
                  <a:lnTo>
                    <a:pt x="477568" y="11388"/>
                  </a:lnTo>
                  <a:lnTo>
                    <a:pt x="506047" y="6476"/>
                  </a:lnTo>
                  <a:lnTo>
                    <a:pt x="534798" y="2885"/>
                  </a:lnTo>
                  <a:lnTo>
                    <a:pt x="563646" y="705"/>
                  </a:lnTo>
                  <a:lnTo>
                    <a:pt x="592396" y="0"/>
                  </a:lnTo>
                  <a:lnTo>
                    <a:pt x="620845" y="797"/>
                  </a:lnTo>
                  <a:lnTo>
                    <a:pt x="648794" y="3087"/>
                  </a:lnTo>
                  <a:lnTo>
                    <a:pt x="676062" y="6822"/>
                  </a:lnTo>
                  <a:lnTo>
                    <a:pt x="702491" y="11920"/>
                  </a:lnTo>
                  <a:lnTo>
                    <a:pt x="727962" y="18270"/>
                  </a:lnTo>
                  <a:lnTo>
                    <a:pt x="752395" y="25738"/>
                  </a:lnTo>
                  <a:lnTo>
                    <a:pt x="775756" y="34176"/>
                  </a:lnTo>
                  <a:lnTo>
                    <a:pt x="798051" y="43433"/>
                  </a:lnTo>
                  <a:lnTo>
                    <a:pt x="819327" y="53364"/>
                  </a:lnTo>
                  <a:lnTo>
                    <a:pt x="839657" y="63838"/>
                  </a:lnTo>
                  <a:lnTo>
                    <a:pt x="859137" y="74748"/>
                  </a:lnTo>
                  <a:lnTo>
                    <a:pt x="877866" y="86012"/>
                  </a:lnTo>
                  <a:lnTo>
                    <a:pt x="895936" y="97579"/>
                  </a:lnTo>
                  <a:lnTo>
                    <a:pt x="913424" y="109430"/>
                  </a:lnTo>
                  <a:lnTo>
                    <a:pt x="930376" y="121571"/>
                  </a:lnTo>
                  <a:lnTo>
                    <a:pt x="946799" y="134033"/>
                  </a:lnTo>
                  <a:lnTo>
                    <a:pt x="962664" y="146863"/>
                  </a:lnTo>
                  <a:lnTo>
                    <a:pt x="977897" y="160115"/>
                  </a:lnTo>
                  <a:lnTo>
                    <a:pt x="992387" y="173846"/>
                  </a:lnTo>
                  <a:lnTo>
                    <a:pt x="1005993" y="188107"/>
                  </a:lnTo>
                  <a:lnTo>
                    <a:pt x="1018552" y="202934"/>
                  </a:lnTo>
                  <a:lnTo>
                    <a:pt x="1029890" y="218344"/>
                  </a:lnTo>
                  <a:lnTo>
                    <a:pt x="1039836" y="234334"/>
                  </a:lnTo>
                  <a:lnTo>
                    <a:pt x="1048233" y="250879"/>
                  </a:lnTo>
                  <a:lnTo>
                    <a:pt x="1054948" y="267930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86" name="Перитубулярный капилляр"/>
            <p:cNvSpPr/>
            <p:nvPr/>
          </p:nvSpPr>
          <p:spPr>
            <a:xfrm>
              <a:off x="2025165" y="2324177"/>
              <a:ext cx="240341" cy="456651"/>
            </a:xfrm>
            <a:custGeom>
              <a:avLst/>
              <a:gdLst/>
              <a:ahLst/>
              <a:cxnLst/>
              <a:rect l="l" t="t" r="r" b="b"/>
              <a:pathLst>
                <a:path w="240341" h="456651">
                  <a:moveTo>
                    <a:pt x="236839" y="225442"/>
                  </a:moveTo>
                  <a:lnTo>
                    <a:pt x="239605" y="248683"/>
                  </a:lnTo>
                  <a:lnTo>
                    <a:pt x="240341" y="272059"/>
                  </a:lnTo>
                  <a:lnTo>
                    <a:pt x="239063" y="294896"/>
                  </a:lnTo>
                  <a:lnTo>
                    <a:pt x="235984" y="316652"/>
                  </a:lnTo>
                  <a:lnTo>
                    <a:pt x="231441" y="337015"/>
                  </a:lnTo>
                  <a:lnTo>
                    <a:pt x="225796" y="355915"/>
                  </a:lnTo>
                  <a:lnTo>
                    <a:pt x="219349" y="373441"/>
                  </a:lnTo>
                  <a:lnTo>
                    <a:pt x="212277" y="389724"/>
                  </a:lnTo>
                  <a:lnTo>
                    <a:pt x="204628" y="404806"/>
                  </a:lnTo>
                  <a:lnTo>
                    <a:pt x="196359" y="418560"/>
                  </a:lnTo>
                  <a:lnTo>
                    <a:pt x="187396" y="430688"/>
                  </a:lnTo>
                  <a:lnTo>
                    <a:pt x="177706" y="440795"/>
                  </a:lnTo>
                  <a:lnTo>
                    <a:pt x="167340" y="448518"/>
                  </a:lnTo>
                  <a:lnTo>
                    <a:pt x="156439" y="453657"/>
                  </a:lnTo>
                  <a:lnTo>
                    <a:pt x="145200" y="456265"/>
                  </a:lnTo>
                  <a:lnTo>
                    <a:pt x="133823" y="456651"/>
                  </a:lnTo>
                  <a:lnTo>
                    <a:pt x="122445" y="455298"/>
                  </a:lnTo>
                  <a:lnTo>
                    <a:pt x="111109" y="452713"/>
                  </a:lnTo>
                  <a:lnTo>
                    <a:pt x="99763" y="449257"/>
                  </a:lnTo>
                  <a:lnTo>
                    <a:pt x="88310" y="445014"/>
                  </a:lnTo>
                  <a:lnTo>
                    <a:pt x="76675" y="439740"/>
                  </a:lnTo>
                  <a:lnTo>
                    <a:pt x="64885" y="432922"/>
                  </a:lnTo>
                  <a:lnTo>
                    <a:pt x="53116" y="423925"/>
                  </a:lnTo>
                  <a:lnTo>
                    <a:pt x="41705" y="412183"/>
                  </a:lnTo>
                  <a:lnTo>
                    <a:pt x="31094" y="397389"/>
                  </a:lnTo>
                  <a:lnTo>
                    <a:pt x="21748" y="379611"/>
                  </a:lnTo>
                  <a:lnTo>
                    <a:pt x="14046" y="359299"/>
                  </a:lnTo>
                  <a:lnTo>
                    <a:pt x="8187" y="337199"/>
                  </a:lnTo>
                  <a:lnTo>
                    <a:pt x="4150" y="314175"/>
                  </a:lnTo>
                  <a:lnTo>
                    <a:pt x="1698" y="291012"/>
                  </a:lnTo>
                  <a:lnTo>
                    <a:pt x="453" y="268263"/>
                  </a:lnTo>
                  <a:lnTo>
                    <a:pt x="0" y="246163"/>
                  </a:lnTo>
                  <a:lnTo>
                    <a:pt x="1" y="224661"/>
                  </a:lnTo>
                  <a:lnTo>
                    <a:pt x="278" y="203526"/>
                  </a:lnTo>
                  <a:lnTo>
                    <a:pt x="854" y="182511"/>
                  </a:lnTo>
                  <a:lnTo>
                    <a:pt x="1924" y="161498"/>
                  </a:lnTo>
                  <a:lnTo>
                    <a:pt x="3783" y="140587"/>
                  </a:lnTo>
                  <a:lnTo>
                    <a:pt x="6733" y="120103"/>
                  </a:lnTo>
                  <a:lnTo>
                    <a:pt x="10990" y="100518"/>
                  </a:lnTo>
                  <a:lnTo>
                    <a:pt x="16630" y="82317"/>
                  </a:lnTo>
                  <a:lnTo>
                    <a:pt x="23577" y="65876"/>
                  </a:lnTo>
                  <a:lnTo>
                    <a:pt x="31646" y="51371"/>
                  </a:lnTo>
                  <a:lnTo>
                    <a:pt x="40609" y="38776"/>
                  </a:lnTo>
                  <a:lnTo>
                    <a:pt x="50258" y="27934"/>
                  </a:lnTo>
                  <a:lnTo>
                    <a:pt x="60458" y="18685"/>
                  </a:lnTo>
                  <a:lnTo>
                    <a:pt x="71152" y="10991"/>
                  </a:lnTo>
                  <a:lnTo>
                    <a:pt x="82330" y="5029"/>
                  </a:lnTo>
                  <a:lnTo>
                    <a:pt x="93975" y="1191"/>
                  </a:lnTo>
                  <a:lnTo>
                    <a:pt x="106004" y="0"/>
                  </a:lnTo>
                  <a:lnTo>
                    <a:pt x="118232" y="1962"/>
                  </a:lnTo>
                  <a:lnTo>
                    <a:pt x="130382" y="7394"/>
                  </a:lnTo>
                  <a:lnTo>
                    <a:pt x="142130" y="16294"/>
                  </a:lnTo>
                  <a:lnTo>
                    <a:pt x="153178" y="28292"/>
                  </a:lnTo>
                  <a:lnTo>
                    <a:pt x="163333" y="42709"/>
                  </a:lnTo>
                  <a:lnTo>
                    <a:pt x="172563" y="58704"/>
                  </a:lnTo>
                  <a:lnTo>
                    <a:pt x="180999" y="75472"/>
                  </a:lnTo>
                  <a:lnTo>
                    <a:pt x="188894" y="92431"/>
                  </a:lnTo>
                  <a:lnTo>
                    <a:pt x="196535" y="109342"/>
                  </a:lnTo>
                  <a:lnTo>
                    <a:pt x="204135" y="126323"/>
                  </a:lnTo>
                  <a:lnTo>
                    <a:pt x="211749" y="143759"/>
                  </a:lnTo>
                  <a:lnTo>
                    <a:pt x="219224" y="162133"/>
                  </a:lnTo>
                  <a:lnTo>
                    <a:pt x="226212" y="181834"/>
                  </a:lnTo>
                  <a:lnTo>
                    <a:pt x="232246" y="20299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87" name="Эритроцит в просвете капилляра"/>
            <p:cNvSpPr/>
            <p:nvPr/>
          </p:nvSpPr>
          <p:spPr>
            <a:xfrm rot="21300000">
              <a:off x="2071845" y="2361467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88" name="Центральное просветление эритроцита"/>
            <p:cNvSpPr/>
            <p:nvPr/>
          </p:nvSpPr>
          <p:spPr>
            <a:xfrm rot="21300000">
              <a:off x="2102935" y="240078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89" name="Эритроцит в просвете капилляра"/>
            <p:cNvSpPr/>
            <p:nvPr/>
          </p:nvSpPr>
          <p:spPr>
            <a:xfrm rot="21300000">
              <a:off x="2083003" y="2488996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90" name="Центральное просветление эритроцита"/>
            <p:cNvSpPr/>
            <p:nvPr/>
          </p:nvSpPr>
          <p:spPr>
            <a:xfrm rot="21300000">
              <a:off x="2114092" y="2528315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91" name="Эритроцит в просвете капилляра"/>
            <p:cNvSpPr/>
            <p:nvPr/>
          </p:nvSpPr>
          <p:spPr>
            <a:xfrm rot="21300000">
              <a:off x="2094160" y="2616525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92" name="Центральное просветление эритроцита"/>
            <p:cNvSpPr/>
            <p:nvPr/>
          </p:nvSpPr>
          <p:spPr>
            <a:xfrm rot="21300000">
              <a:off x="2125250" y="26558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93" name="Ядро эндотелия"/>
            <p:cNvSpPr/>
            <p:nvPr/>
          </p:nvSpPr>
          <p:spPr>
            <a:xfrm rot="21300000">
              <a:off x="2208807" y="2472000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94" name="Перитубулярный капилляр"/>
            <p:cNvSpPr/>
            <p:nvPr/>
          </p:nvSpPr>
          <p:spPr>
            <a:xfrm>
              <a:off x="951579" y="3364947"/>
              <a:ext cx="340428" cy="433871"/>
            </a:xfrm>
            <a:custGeom>
              <a:avLst/>
              <a:gdLst/>
              <a:ahLst/>
              <a:cxnLst/>
              <a:rect l="l" t="t" r="r" b="b"/>
              <a:pathLst>
                <a:path w="340428" h="433871">
                  <a:moveTo>
                    <a:pt x="276101" y="286369"/>
                  </a:moveTo>
                  <a:lnTo>
                    <a:pt x="262953" y="307955"/>
                  </a:lnTo>
                  <a:lnTo>
                    <a:pt x="248123" y="328396"/>
                  </a:lnTo>
                  <a:lnTo>
                    <a:pt x="232070" y="347123"/>
                  </a:lnTo>
                  <a:lnTo>
                    <a:pt x="215317" y="363808"/>
                  </a:lnTo>
                  <a:lnTo>
                    <a:pt x="198333" y="378392"/>
                  </a:lnTo>
                  <a:lnTo>
                    <a:pt x="181451" y="391040"/>
                  </a:lnTo>
                  <a:lnTo>
                    <a:pt x="164844" y="402015"/>
                  </a:lnTo>
                  <a:lnTo>
                    <a:pt x="148566" y="411540"/>
                  </a:lnTo>
                  <a:lnTo>
                    <a:pt x="132628" y="419679"/>
                  </a:lnTo>
                  <a:lnTo>
                    <a:pt x="117079" y="426297"/>
                  </a:lnTo>
                  <a:lnTo>
                    <a:pt x="102057" y="431094"/>
                  </a:lnTo>
                  <a:lnTo>
                    <a:pt x="87797" y="433712"/>
                  </a:lnTo>
                  <a:lnTo>
                    <a:pt x="74577" y="433871"/>
                  </a:lnTo>
                  <a:lnTo>
                    <a:pt x="62641" y="431489"/>
                  </a:lnTo>
                  <a:lnTo>
                    <a:pt x="52109" y="426734"/>
                  </a:lnTo>
                  <a:lnTo>
                    <a:pt x="42932" y="419992"/>
                  </a:lnTo>
                  <a:lnTo>
                    <a:pt x="34901" y="411764"/>
                  </a:lnTo>
                  <a:lnTo>
                    <a:pt x="27715" y="402509"/>
                  </a:lnTo>
                  <a:lnTo>
                    <a:pt x="21095" y="392503"/>
                  </a:lnTo>
                  <a:lnTo>
                    <a:pt x="14911" y="381757"/>
                  </a:lnTo>
                  <a:lnTo>
                    <a:pt x="9262" y="370018"/>
                  </a:lnTo>
                  <a:lnTo>
                    <a:pt x="4509" y="356862"/>
                  </a:lnTo>
                  <a:lnTo>
                    <a:pt x="1210" y="341856"/>
                  </a:lnTo>
                  <a:lnTo>
                    <a:pt x="0" y="324726"/>
                  </a:lnTo>
                  <a:lnTo>
                    <a:pt x="1429" y="305486"/>
                  </a:lnTo>
                  <a:lnTo>
                    <a:pt x="5817" y="284479"/>
                  </a:lnTo>
                  <a:lnTo>
                    <a:pt x="13163" y="262328"/>
                  </a:lnTo>
                  <a:lnTo>
                    <a:pt x="23134" y="239795"/>
                  </a:lnTo>
                  <a:lnTo>
                    <a:pt x="35142" y="217603"/>
                  </a:lnTo>
                  <a:lnTo>
                    <a:pt x="48485" y="196279"/>
                  </a:lnTo>
                  <a:lnTo>
                    <a:pt x="62502" y="176058"/>
                  </a:lnTo>
                  <a:lnTo>
                    <a:pt x="76712" y="156885"/>
                  </a:lnTo>
                  <a:lnTo>
                    <a:pt x="90884" y="138504"/>
                  </a:lnTo>
                  <a:lnTo>
                    <a:pt x="105031" y="120609"/>
                  </a:lnTo>
                  <a:lnTo>
                    <a:pt x="119333" y="103003"/>
                  </a:lnTo>
                  <a:lnTo>
                    <a:pt x="134021" y="85704"/>
                  </a:lnTo>
                  <a:lnTo>
                    <a:pt x="149261" y="68984"/>
                  </a:lnTo>
                  <a:lnTo>
                    <a:pt x="165074" y="53307"/>
                  </a:lnTo>
                  <a:lnTo>
                    <a:pt x="181321" y="39210"/>
                  </a:lnTo>
                  <a:lnTo>
                    <a:pt x="197739" y="27156"/>
                  </a:lnTo>
                  <a:lnTo>
                    <a:pt x="214023" y="17419"/>
                  </a:lnTo>
                  <a:lnTo>
                    <a:pt x="229911" y="10035"/>
                  </a:lnTo>
                  <a:lnTo>
                    <a:pt x="245240" y="4838"/>
                  </a:lnTo>
                  <a:lnTo>
                    <a:pt x="259952" y="1567"/>
                  </a:lnTo>
                  <a:lnTo>
                    <a:pt x="274048" y="0"/>
                  </a:lnTo>
                  <a:lnTo>
                    <a:pt x="287505" y="70"/>
                  </a:lnTo>
                  <a:lnTo>
                    <a:pt x="300200" y="1921"/>
                  </a:lnTo>
                  <a:lnTo>
                    <a:pt x="311862" y="5877"/>
                  </a:lnTo>
                  <a:lnTo>
                    <a:pt x="322079" y="12335"/>
                  </a:lnTo>
                  <a:lnTo>
                    <a:pt x="330376" y="21612"/>
                  </a:lnTo>
                  <a:lnTo>
                    <a:pt x="336325" y="33807"/>
                  </a:lnTo>
                  <a:lnTo>
                    <a:pt x="339672" y="48716"/>
                  </a:lnTo>
                  <a:lnTo>
                    <a:pt x="340428" y="65839"/>
                  </a:lnTo>
                  <a:lnTo>
                    <a:pt x="338891" y="84475"/>
                  </a:lnTo>
                  <a:lnTo>
                    <a:pt x="335587" y="103885"/>
                  </a:lnTo>
                  <a:lnTo>
                    <a:pt x="331151" y="123462"/>
                  </a:lnTo>
                  <a:lnTo>
                    <a:pt x="326165" y="142867"/>
                  </a:lnTo>
                  <a:lnTo>
                    <a:pt x="321012" y="162071"/>
                  </a:lnTo>
                  <a:lnTo>
                    <a:pt x="315781" y="181311"/>
                  </a:lnTo>
                  <a:lnTo>
                    <a:pt x="310260" y="200948"/>
                  </a:lnTo>
                  <a:lnTo>
                    <a:pt x="304012" y="221301"/>
                  </a:lnTo>
                  <a:lnTo>
                    <a:pt x="296508" y="242486"/>
                  </a:lnTo>
                  <a:lnTo>
                    <a:pt x="287291" y="26432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95" name="Эритроцит в просвете капилляра"/>
            <p:cNvSpPr/>
            <p:nvPr/>
          </p:nvSpPr>
          <p:spPr>
            <a:xfrm rot="1980000">
              <a:off x="1137741" y="3405761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96" name="Центральное просветление эритроцита"/>
            <p:cNvSpPr/>
            <p:nvPr/>
          </p:nvSpPr>
          <p:spPr>
            <a:xfrm rot="1980000">
              <a:off x="1168831" y="344508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97" name="Эритроцит в просвете капилляра"/>
            <p:cNvSpPr/>
            <p:nvPr/>
          </p:nvSpPr>
          <p:spPr>
            <a:xfrm rot="1980000">
              <a:off x="1068019" y="351312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98" name="Центральное просветление эритроцита"/>
            <p:cNvSpPr/>
            <p:nvPr/>
          </p:nvSpPr>
          <p:spPr>
            <a:xfrm rot="1980000">
              <a:off x="1099108" y="35524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199" name="Эритроцит в просвете капилляра"/>
            <p:cNvSpPr/>
            <p:nvPr/>
          </p:nvSpPr>
          <p:spPr>
            <a:xfrm rot="1980000">
              <a:off x="998296" y="3620488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00" name="Центральное просветление эритроцита"/>
            <p:cNvSpPr/>
            <p:nvPr/>
          </p:nvSpPr>
          <p:spPr>
            <a:xfrm rot="1980000">
              <a:off x="1029386" y="365980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01" name="Ядро эндотелия"/>
            <p:cNvSpPr/>
            <p:nvPr/>
          </p:nvSpPr>
          <p:spPr>
            <a:xfrm rot="1980000">
              <a:off x="1177979" y="3559677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02" name="Перитубулярный капилляр"/>
            <p:cNvSpPr/>
            <p:nvPr/>
          </p:nvSpPr>
          <p:spPr>
            <a:xfrm>
              <a:off x="2985965" y="3759893"/>
              <a:ext cx="299872" cy="489520"/>
            </a:xfrm>
            <a:custGeom>
              <a:avLst/>
              <a:gdLst/>
              <a:ahLst/>
              <a:cxnLst/>
              <a:rect l="l" t="t" r="r" b="b"/>
              <a:pathLst>
                <a:path w="299872" h="489520">
                  <a:moveTo>
                    <a:pt x="253140" y="206427"/>
                  </a:moveTo>
                  <a:lnTo>
                    <a:pt x="265219" y="230736"/>
                  </a:lnTo>
                  <a:lnTo>
                    <a:pt x="275575" y="255795"/>
                  </a:lnTo>
                  <a:lnTo>
                    <a:pt x="283943" y="280868"/>
                  </a:lnTo>
                  <a:lnTo>
                    <a:pt x="290284" y="305307"/>
                  </a:lnTo>
                  <a:lnTo>
                    <a:pt x="294764" y="328676"/>
                  </a:lnTo>
                  <a:lnTo>
                    <a:pt x="297670" y="350789"/>
                  </a:lnTo>
                  <a:lnTo>
                    <a:pt x="299303" y="371655"/>
                  </a:lnTo>
                  <a:lnTo>
                    <a:pt x="299872" y="391363"/>
                  </a:lnTo>
                  <a:lnTo>
                    <a:pt x="299437" y="409942"/>
                  </a:lnTo>
                  <a:lnTo>
                    <a:pt x="297906" y="427271"/>
                  </a:lnTo>
                  <a:lnTo>
                    <a:pt x="295092" y="443047"/>
                  </a:lnTo>
                  <a:lnTo>
                    <a:pt x="290802" y="456854"/>
                  </a:lnTo>
                  <a:lnTo>
                    <a:pt x="284928" y="468283"/>
                  </a:lnTo>
                  <a:lnTo>
                    <a:pt x="277512" y="477079"/>
                  </a:lnTo>
                  <a:lnTo>
                    <a:pt x="268749" y="483236"/>
                  </a:lnTo>
                  <a:lnTo>
                    <a:pt x="258941" y="487033"/>
                  </a:lnTo>
                  <a:lnTo>
                    <a:pt x="248411" y="488949"/>
                  </a:lnTo>
                  <a:lnTo>
                    <a:pt x="237404" y="489520"/>
                  </a:lnTo>
                  <a:lnTo>
                    <a:pt x="226028" y="489153"/>
                  </a:lnTo>
                  <a:lnTo>
                    <a:pt x="214231" y="487966"/>
                  </a:lnTo>
                  <a:lnTo>
                    <a:pt x="201846" y="485718"/>
                  </a:lnTo>
                  <a:lnTo>
                    <a:pt x="188683" y="481848"/>
                  </a:lnTo>
                  <a:lnTo>
                    <a:pt x="174635" y="475614"/>
                  </a:lnTo>
                  <a:lnTo>
                    <a:pt x="159759" y="466307"/>
                  </a:lnTo>
                  <a:lnTo>
                    <a:pt x="144316" y="453462"/>
                  </a:lnTo>
                  <a:lnTo>
                    <a:pt x="128742" y="437013"/>
                  </a:lnTo>
                  <a:lnTo>
                    <a:pt x="113554" y="417338"/>
                  </a:lnTo>
                  <a:lnTo>
                    <a:pt x="99240" y="395181"/>
                  </a:lnTo>
                  <a:lnTo>
                    <a:pt x="86137" y="371483"/>
                  </a:lnTo>
                  <a:lnTo>
                    <a:pt x="74366" y="347165"/>
                  </a:lnTo>
                  <a:lnTo>
                    <a:pt x="63824" y="322936"/>
                  </a:lnTo>
                  <a:lnTo>
                    <a:pt x="54245" y="299173"/>
                  </a:lnTo>
                  <a:lnTo>
                    <a:pt x="45312" y="275922"/>
                  </a:lnTo>
                  <a:lnTo>
                    <a:pt x="36775" y="252986"/>
                  </a:lnTo>
                  <a:lnTo>
                    <a:pt x="28549" y="230092"/>
                  </a:lnTo>
                  <a:lnTo>
                    <a:pt x="20756" y="207052"/>
                  </a:lnTo>
                  <a:lnTo>
                    <a:pt x="13697" y="183889"/>
                  </a:lnTo>
                  <a:lnTo>
                    <a:pt x="7772" y="160863"/>
                  </a:lnTo>
                  <a:lnTo>
                    <a:pt x="3365" y="138420"/>
                  </a:lnTo>
                  <a:lnTo>
                    <a:pt x="744" y="117065"/>
                  </a:lnTo>
                  <a:lnTo>
                    <a:pt x="0" y="97223"/>
                  </a:lnTo>
                  <a:lnTo>
                    <a:pt x="1044" y="79142"/>
                  </a:lnTo>
                  <a:lnTo>
                    <a:pt x="3663" y="62861"/>
                  </a:lnTo>
                  <a:lnTo>
                    <a:pt x="7613" y="48272"/>
                  </a:lnTo>
                  <a:lnTo>
                    <a:pt x="12707" y="35241"/>
                  </a:lnTo>
                  <a:lnTo>
                    <a:pt x="18880" y="23746"/>
                  </a:lnTo>
                  <a:lnTo>
                    <a:pt x="26197" y="13979"/>
                  </a:lnTo>
                  <a:lnTo>
                    <a:pt x="34805" y="6371"/>
                  </a:lnTo>
                  <a:lnTo>
                    <a:pt x="44848" y="1511"/>
                  </a:lnTo>
                  <a:lnTo>
                    <a:pt x="56377" y="0"/>
                  </a:lnTo>
                  <a:lnTo>
                    <a:pt x="69279" y="2265"/>
                  </a:lnTo>
                  <a:lnTo>
                    <a:pt x="83269" y="8399"/>
                  </a:lnTo>
                  <a:lnTo>
                    <a:pt x="97934" y="18092"/>
                  </a:lnTo>
                  <a:lnTo>
                    <a:pt x="112821" y="30665"/>
                  </a:lnTo>
                  <a:lnTo>
                    <a:pt x="127552" y="45220"/>
                  </a:lnTo>
                  <a:lnTo>
                    <a:pt x="141910" y="60846"/>
                  </a:lnTo>
                  <a:lnTo>
                    <a:pt x="155873" y="76839"/>
                  </a:lnTo>
                  <a:lnTo>
                    <a:pt x="169593" y="92856"/>
                  </a:lnTo>
                  <a:lnTo>
                    <a:pt x="183307" y="108960"/>
                  </a:lnTo>
                  <a:lnTo>
                    <a:pt x="197221" y="125553"/>
                  </a:lnTo>
                  <a:lnTo>
                    <a:pt x="211404" y="143201"/>
                  </a:lnTo>
                  <a:lnTo>
                    <a:pt x="225712" y="162429"/>
                  </a:lnTo>
                  <a:lnTo>
                    <a:pt x="239791" y="183523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03" name="Эритроцит в просвете капилляра"/>
            <p:cNvSpPr/>
            <p:nvPr/>
          </p:nvSpPr>
          <p:spPr>
            <a:xfrm rot="20100000">
              <a:off x="3025597" y="3826870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04" name="Центральное просветление эритроцита"/>
            <p:cNvSpPr/>
            <p:nvPr/>
          </p:nvSpPr>
          <p:spPr>
            <a:xfrm rot="20100000">
              <a:off x="3056686" y="386619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05" name="Эритроцит в просвете капилляра"/>
            <p:cNvSpPr/>
            <p:nvPr/>
          </p:nvSpPr>
          <p:spPr>
            <a:xfrm rot="20100000">
              <a:off x="3079699" y="3942892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06" name="Центральное просветление эритроцита"/>
            <p:cNvSpPr/>
            <p:nvPr/>
          </p:nvSpPr>
          <p:spPr>
            <a:xfrm rot="20100000">
              <a:off x="3110788" y="3982212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07" name="Эритроцит в просвете капилляра"/>
            <p:cNvSpPr/>
            <p:nvPr/>
          </p:nvSpPr>
          <p:spPr>
            <a:xfrm rot="20100000">
              <a:off x="3133801" y="405891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08" name="Центральное просветление эритроцита"/>
            <p:cNvSpPr/>
            <p:nvPr/>
          </p:nvSpPr>
          <p:spPr>
            <a:xfrm rot="20100000">
              <a:off x="3164890" y="4098233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09" name="Ядро эндотелия"/>
            <p:cNvSpPr/>
            <p:nvPr/>
          </p:nvSpPr>
          <p:spPr>
            <a:xfrm rot="20100000">
              <a:off x="3188175" y="3896018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</p:grpSp>
      <p:grpSp>
        <p:nvGrpSpPr>
          <p:cNvPr id="210" name="Интерстициальное воспаление: редактируемая схема"/>
          <p:cNvGrpSpPr/>
          <p:nvPr/>
        </p:nvGrpSpPr>
        <p:grpSpPr>
          <a:xfrm>
            <a:off x="4386468" y="1923098"/>
            <a:ext cx="3247031" cy="2826647"/>
            <a:chOff x="4386468" y="1923098"/>
            <a:chExt cx="3247031" cy="2826647"/>
          </a:xfrm>
        </p:grpSpPr>
        <p:sp>
          <p:nvSpPr>
            <p:cNvPr id="211" name="Интерстиций"/>
            <p:cNvSpPr/>
            <p:nvPr/>
          </p:nvSpPr>
          <p:spPr>
            <a:xfrm>
              <a:off x="4386468" y="1923098"/>
              <a:ext cx="3247031" cy="2826647"/>
            </a:xfrm>
            <a:custGeom>
              <a:avLst/>
              <a:gdLst/>
              <a:ahLst/>
              <a:cxnLst/>
              <a:rect l="l" t="t" r="r" b="b"/>
              <a:pathLst>
                <a:path w="3247031" h="2826647">
                  <a:moveTo>
                    <a:pt x="20940" y="509206"/>
                  </a:moveTo>
                  <a:lnTo>
                    <a:pt x="29566" y="444269"/>
                  </a:lnTo>
                  <a:lnTo>
                    <a:pt x="37942" y="388048"/>
                  </a:lnTo>
                  <a:lnTo>
                    <a:pt x="47247" y="339256"/>
                  </a:lnTo>
                  <a:lnTo>
                    <a:pt x="58659" y="296608"/>
                  </a:lnTo>
                  <a:lnTo>
                    <a:pt x="73357" y="258818"/>
                  </a:lnTo>
                  <a:lnTo>
                    <a:pt x="92520" y="224599"/>
                  </a:lnTo>
                  <a:lnTo>
                    <a:pt x="117327" y="192666"/>
                  </a:lnTo>
                  <a:lnTo>
                    <a:pt x="148956" y="161734"/>
                  </a:lnTo>
                  <a:lnTo>
                    <a:pt x="187318" y="132820"/>
                  </a:lnTo>
                  <a:lnTo>
                    <a:pt x="231252" y="107584"/>
                  </a:lnTo>
                  <a:lnTo>
                    <a:pt x="280330" y="85707"/>
                  </a:lnTo>
                  <a:lnTo>
                    <a:pt x="334122" y="66865"/>
                  </a:lnTo>
                  <a:lnTo>
                    <a:pt x="392201" y="50738"/>
                  </a:lnTo>
                  <a:lnTo>
                    <a:pt x="454137" y="37004"/>
                  </a:lnTo>
                  <a:lnTo>
                    <a:pt x="519502" y="25342"/>
                  </a:lnTo>
                  <a:lnTo>
                    <a:pt x="587868" y="15430"/>
                  </a:lnTo>
                  <a:lnTo>
                    <a:pt x="662761" y="7742"/>
                  </a:lnTo>
                  <a:lnTo>
                    <a:pt x="746102" y="2786"/>
                  </a:lnTo>
                  <a:lnTo>
                    <a:pt x="835051" y="294"/>
                  </a:lnTo>
                  <a:lnTo>
                    <a:pt x="926768" y="0"/>
                  </a:lnTo>
                  <a:lnTo>
                    <a:pt x="1018413" y="1634"/>
                  </a:lnTo>
                  <a:lnTo>
                    <a:pt x="1107147" y="4929"/>
                  </a:lnTo>
                  <a:lnTo>
                    <a:pt x="1190131" y="9617"/>
                  </a:lnTo>
                  <a:lnTo>
                    <a:pt x="1264524" y="15430"/>
                  </a:lnTo>
                  <a:lnTo>
                    <a:pt x="1327746" y="22565"/>
                  </a:lnTo>
                  <a:lnTo>
                    <a:pt x="1381396" y="31361"/>
                  </a:lnTo>
                  <a:lnTo>
                    <a:pt x="1428902" y="41764"/>
                  </a:lnTo>
                  <a:lnTo>
                    <a:pt x="1473693" y="53721"/>
                  </a:lnTo>
                  <a:lnTo>
                    <a:pt x="1519199" y="67178"/>
                  </a:lnTo>
                  <a:lnTo>
                    <a:pt x="1568848" y="82081"/>
                  </a:lnTo>
                  <a:lnTo>
                    <a:pt x="1626069" y="98378"/>
                  </a:lnTo>
                  <a:lnTo>
                    <a:pt x="1694292" y="116014"/>
                  </a:lnTo>
                  <a:lnTo>
                    <a:pt x="1776302" y="135329"/>
                  </a:lnTo>
                  <a:lnTo>
                    <a:pt x="1870028" y="156519"/>
                  </a:lnTo>
                  <a:lnTo>
                    <a:pt x="1971612" y="179317"/>
                  </a:lnTo>
                  <a:lnTo>
                    <a:pt x="2077197" y="203454"/>
                  </a:lnTo>
                  <a:lnTo>
                    <a:pt x="2182924" y="228662"/>
                  </a:lnTo>
                  <a:lnTo>
                    <a:pt x="2284937" y="254674"/>
                  </a:lnTo>
                  <a:lnTo>
                    <a:pt x="2379378" y="281222"/>
                  </a:lnTo>
                  <a:lnTo>
                    <a:pt x="2462388" y="308038"/>
                  </a:lnTo>
                  <a:lnTo>
                    <a:pt x="2534647" y="333693"/>
                  </a:lnTo>
                  <a:lnTo>
                    <a:pt x="2600120" y="357830"/>
                  </a:lnTo>
                  <a:lnTo>
                    <a:pt x="2659877" y="381788"/>
                  </a:lnTo>
                  <a:lnTo>
                    <a:pt x="2714991" y="406908"/>
                  </a:lnTo>
                  <a:lnTo>
                    <a:pt x="2766533" y="434527"/>
                  </a:lnTo>
                  <a:lnTo>
                    <a:pt x="2815575" y="465986"/>
                  </a:lnTo>
                  <a:lnTo>
                    <a:pt x="2863188" y="502625"/>
                  </a:lnTo>
                  <a:lnTo>
                    <a:pt x="2910444" y="545782"/>
                  </a:lnTo>
                  <a:lnTo>
                    <a:pt x="2958120" y="595538"/>
                  </a:lnTo>
                  <a:lnTo>
                    <a:pt x="3005527" y="650652"/>
                  </a:lnTo>
                  <a:lnTo>
                    <a:pt x="3051542" y="710481"/>
                  </a:lnTo>
                  <a:lnTo>
                    <a:pt x="3095038" y="774382"/>
                  </a:lnTo>
                  <a:lnTo>
                    <a:pt x="3134892" y="841712"/>
                  </a:lnTo>
                  <a:lnTo>
                    <a:pt x="3169976" y="911828"/>
                  </a:lnTo>
                  <a:lnTo>
                    <a:pt x="3199168" y="984087"/>
                  </a:lnTo>
                  <a:lnTo>
                    <a:pt x="3221340" y="1057846"/>
                  </a:lnTo>
                  <a:lnTo>
                    <a:pt x="3236119" y="1135240"/>
                  </a:lnTo>
                  <a:lnTo>
                    <a:pt x="3244414" y="1217795"/>
                  </a:lnTo>
                  <a:lnTo>
                    <a:pt x="3247031" y="1303957"/>
                  </a:lnTo>
                  <a:lnTo>
                    <a:pt x="3244772" y="1392174"/>
                  </a:lnTo>
                  <a:lnTo>
                    <a:pt x="3238440" y="1480890"/>
                  </a:lnTo>
                  <a:lnTo>
                    <a:pt x="3228841" y="1568553"/>
                  </a:lnTo>
                  <a:lnTo>
                    <a:pt x="3216777" y="1653608"/>
                  </a:lnTo>
                  <a:lnTo>
                    <a:pt x="3203052" y="1734502"/>
                  </a:lnTo>
                  <a:lnTo>
                    <a:pt x="3188890" y="1812699"/>
                  </a:lnTo>
                  <a:lnTo>
                    <a:pt x="3174048" y="1890307"/>
                  </a:lnTo>
                  <a:lnTo>
                    <a:pt x="3157136" y="1966736"/>
                  </a:lnTo>
                  <a:lnTo>
                    <a:pt x="3136758" y="2041398"/>
                  </a:lnTo>
                  <a:lnTo>
                    <a:pt x="3111523" y="2113701"/>
                  </a:lnTo>
                  <a:lnTo>
                    <a:pt x="3080037" y="2183058"/>
                  </a:lnTo>
                  <a:lnTo>
                    <a:pt x="3040907" y="2248879"/>
                  </a:lnTo>
                  <a:lnTo>
                    <a:pt x="2992740" y="2310574"/>
                  </a:lnTo>
                  <a:lnTo>
                    <a:pt x="2933295" y="2368751"/>
                  </a:lnTo>
                  <a:lnTo>
                    <a:pt x="2862938" y="2424231"/>
                  </a:lnTo>
                  <a:lnTo>
                    <a:pt x="2784187" y="2476747"/>
                  </a:lnTo>
                  <a:lnTo>
                    <a:pt x="2699560" y="2526030"/>
                  </a:lnTo>
                  <a:lnTo>
                    <a:pt x="2611576" y="2571812"/>
                  </a:lnTo>
                  <a:lnTo>
                    <a:pt x="2522753" y="2613826"/>
                  </a:lnTo>
                  <a:lnTo>
                    <a:pt x="2435608" y="2651804"/>
                  </a:lnTo>
                  <a:lnTo>
                    <a:pt x="2352660" y="2685478"/>
                  </a:lnTo>
                  <a:lnTo>
                    <a:pt x="2272838" y="2714357"/>
                  </a:lnTo>
                  <a:lnTo>
                    <a:pt x="2193283" y="2738485"/>
                  </a:lnTo>
                  <a:lnTo>
                    <a:pt x="2113836" y="2758398"/>
                  </a:lnTo>
                  <a:lnTo>
                    <a:pt x="2034334" y="2774632"/>
                  </a:lnTo>
                  <a:lnTo>
                    <a:pt x="1954619" y="2787723"/>
                  </a:lnTo>
                  <a:lnTo>
                    <a:pt x="1874529" y="2798206"/>
                  </a:lnTo>
                  <a:lnTo>
                    <a:pt x="1793903" y="2806618"/>
                  </a:lnTo>
                  <a:lnTo>
                    <a:pt x="1712580" y="2813494"/>
                  </a:lnTo>
                  <a:lnTo>
                    <a:pt x="1630141" y="2819379"/>
                  </a:lnTo>
                  <a:lnTo>
                    <a:pt x="1546559" y="2823995"/>
                  </a:lnTo>
                  <a:lnTo>
                    <a:pt x="1462263" y="2826647"/>
                  </a:lnTo>
                  <a:lnTo>
                    <a:pt x="1377681" y="2826639"/>
                  </a:lnTo>
                  <a:lnTo>
                    <a:pt x="1293242" y="2823272"/>
                  </a:lnTo>
                  <a:lnTo>
                    <a:pt x="1209374" y="2815851"/>
                  </a:lnTo>
                  <a:lnTo>
                    <a:pt x="1126507" y="2803680"/>
                  </a:lnTo>
                  <a:lnTo>
                    <a:pt x="1045068" y="2786062"/>
                  </a:lnTo>
                  <a:lnTo>
                    <a:pt x="963469" y="2762970"/>
                  </a:lnTo>
                  <a:lnTo>
                    <a:pt x="880619" y="2735056"/>
                  </a:lnTo>
                  <a:lnTo>
                    <a:pt x="797698" y="2702641"/>
                  </a:lnTo>
                  <a:lnTo>
                    <a:pt x="715884" y="2666047"/>
                  </a:lnTo>
                  <a:lnTo>
                    <a:pt x="636356" y="2625596"/>
                  </a:lnTo>
                  <a:lnTo>
                    <a:pt x="560293" y="2581608"/>
                  </a:lnTo>
                  <a:lnTo>
                    <a:pt x="488873" y="2534406"/>
                  </a:lnTo>
                  <a:lnTo>
                    <a:pt x="423276" y="2484310"/>
                  </a:lnTo>
                  <a:lnTo>
                    <a:pt x="362349" y="2430785"/>
                  </a:lnTo>
                  <a:lnTo>
                    <a:pt x="304475" y="2373296"/>
                  </a:lnTo>
                  <a:lnTo>
                    <a:pt x="250138" y="2312163"/>
                  </a:lnTo>
                  <a:lnTo>
                    <a:pt x="199820" y="2247709"/>
                  </a:lnTo>
                  <a:lnTo>
                    <a:pt x="154001" y="2180254"/>
                  </a:lnTo>
                  <a:lnTo>
                    <a:pt x="113166" y="2110120"/>
                  </a:lnTo>
                  <a:lnTo>
                    <a:pt x="77795" y="2037629"/>
                  </a:lnTo>
                  <a:lnTo>
                    <a:pt x="48372" y="1963102"/>
                  </a:lnTo>
                  <a:lnTo>
                    <a:pt x="26467" y="1885816"/>
                  </a:lnTo>
                  <a:lnTo>
                    <a:pt x="12296" y="1805154"/>
                  </a:lnTo>
                  <a:lnTo>
                    <a:pt x="4304" y="1721599"/>
                  </a:lnTo>
                  <a:lnTo>
                    <a:pt x="938" y="1635632"/>
                  </a:lnTo>
                  <a:lnTo>
                    <a:pt x="643" y="1547738"/>
                  </a:lnTo>
                  <a:lnTo>
                    <a:pt x="1866" y="1458396"/>
                  </a:lnTo>
                  <a:lnTo>
                    <a:pt x="3054" y="1368090"/>
                  </a:lnTo>
                  <a:lnTo>
                    <a:pt x="2652" y="1277302"/>
                  </a:lnTo>
                  <a:lnTo>
                    <a:pt x="1125" y="1182353"/>
                  </a:lnTo>
                  <a:lnTo>
                    <a:pt x="152" y="1081206"/>
                  </a:lnTo>
                  <a:lnTo>
                    <a:pt x="0" y="976809"/>
                  </a:lnTo>
                  <a:lnTo>
                    <a:pt x="938" y="872108"/>
                  </a:lnTo>
                  <a:lnTo>
                    <a:pt x="3232" y="770051"/>
                  </a:lnTo>
                  <a:lnTo>
                    <a:pt x="7153" y="673584"/>
                  </a:lnTo>
                  <a:lnTo>
                    <a:pt x="12966" y="585653"/>
                  </a:lnTo>
                  <a:close/>
                </a:path>
              </a:pathLst>
            </a:custGeom>
            <a:solidFill>
              <a:srgbClr val="F8ED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12" name="Воспалительная клетка в интерстиции"/>
            <p:cNvSpPr/>
            <p:nvPr/>
          </p:nvSpPr>
          <p:spPr>
            <a:xfrm>
              <a:off x="6704067" y="3558919"/>
              <a:ext cx="104130" cy="104130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13" name="Ядро воспалительной клетки"/>
            <p:cNvSpPr/>
            <p:nvPr/>
          </p:nvSpPr>
          <p:spPr>
            <a:xfrm>
              <a:off x="6720728" y="3575580"/>
              <a:ext cx="71850" cy="71850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14" name="Воспалительная клетка в интерстиции"/>
            <p:cNvSpPr/>
            <p:nvPr/>
          </p:nvSpPr>
          <p:spPr>
            <a:xfrm>
              <a:off x="4852015" y="3857216"/>
              <a:ext cx="108126" cy="108126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15" name="Ядро воспалительной клетки"/>
            <p:cNvSpPr/>
            <p:nvPr/>
          </p:nvSpPr>
          <p:spPr>
            <a:xfrm>
              <a:off x="4869315" y="3874516"/>
              <a:ext cx="74607" cy="7460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16" name="Воспалительная клетка в интерстиции"/>
            <p:cNvSpPr/>
            <p:nvPr/>
          </p:nvSpPr>
          <p:spPr>
            <a:xfrm>
              <a:off x="6928935" y="4326247"/>
              <a:ext cx="90825" cy="9082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17" name="Ядро воспалительной клетки"/>
            <p:cNvSpPr/>
            <p:nvPr/>
          </p:nvSpPr>
          <p:spPr>
            <a:xfrm>
              <a:off x="6943467" y="4340779"/>
              <a:ext cx="62669" cy="62669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18" name="Воспалительная клетка в интерстиции"/>
            <p:cNvSpPr/>
            <p:nvPr/>
          </p:nvSpPr>
          <p:spPr>
            <a:xfrm>
              <a:off x="6933749" y="3587509"/>
              <a:ext cx="120408" cy="12040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19" name="Ядро воспалительной клетки"/>
            <p:cNvSpPr/>
            <p:nvPr/>
          </p:nvSpPr>
          <p:spPr>
            <a:xfrm>
              <a:off x="6953014" y="3606774"/>
              <a:ext cx="83081" cy="8308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20" name="Воспалительная клетка в интерстиции"/>
            <p:cNvSpPr/>
            <p:nvPr/>
          </p:nvSpPr>
          <p:spPr>
            <a:xfrm>
              <a:off x="5616574" y="3365310"/>
              <a:ext cx="82551" cy="8255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21" name="Ядро воспалительной клетки"/>
            <p:cNvSpPr/>
            <p:nvPr/>
          </p:nvSpPr>
          <p:spPr>
            <a:xfrm>
              <a:off x="5629782" y="3378518"/>
              <a:ext cx="56960" cy="56960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22" name="Воспалительная клетка в интерстиции"/>
            <p:cNvSpPr/>
            <p:nvPr/>
          </p:nvSpPr>
          <p:spPr>
            <a:xfrm>
              <a:off x="4935746" y="4221055"/>
              <a:ext cx="105969" cy="105969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23" name="Ядро воспалительной клетки"/>
            <p:cNvSpPr/>
            <p:nvPr/>
          </p:nvSpPr>
          <p:spPr>
            <a:xfrm>
              <a:off x="4952701" y="4238010"/>
              <a:ext cx="73118" cy="73118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24" name="Воспалительная клетка в интерстиции"/>
            <p:cNvSpPr/>
            <p:nvPr/>
          </p:nvSpPr>
          <p:spPr>
            <a:xfrm>
              <a:off x="4599973" y="3396024"/>
              <a:ext cx="103066" cy="103066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25" name="Ядро воспалительной клетки"/>
            <p:cNvSpPr/>
            <p:nvPr/>
          </p:nvSpPr>
          <p:spPr>
            <a:xfrm>
              <a:off x="4616463" y="3412514"/>
              <a:ext cx="71116" cy="71116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26" name="Воспалительная клетка в интерстиции"/>
            <p:cNvSpPr/>
            <p:nvPr/>
          </p:nvSpPr>
          <p:spPr>
            <a:xfrm>
              <a:off x="4530860" y="3288426"/>
              <a:ext cx="98387" cy="9838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27" name="Ядро воспалительной клетки"/>
            <p:cNvSpPr/>
            <p:nvPr/>
          </p:nvSpPr>
          <p:spPr>
            <a:xfrm>
              <a:off x="4546602" y="3304168"/>
              <a:ext cx="67887" cy="6788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28" name="Воспалительная клетка в интерстиции"/>
            <p:cNvSpPr/>
            <p:nvPr/>
          </p:nvSpPr>
          <p:spPr>
            <a:xfrm>
              <a:off x="7305029" y="3380795"/>
              <a:ext cx="90763" cy="90763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29" name="Ядро воспалительной клетки"/>
            <p:cNvSpPr/>
            <p:nvPr/>
          </p:nvSpPr>
          <p:spPr>
            <a:xfrm>
              <a:off x="7319551" y="3395317"/>
              <a:ext cx="62627" cy="6262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30" name="Воспалительная клетка в интерстиции"/>
            <p:cNvSpPr/>
            <p:nvPr/>
          </p:nvSpPr>
          <p:spPr>
            <a:xfrm>
              <a:off x="6744298" y="4345786"/>
              <a:ext cx="101017" cy="10101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31" name="Ядро воспалительной клетки"/>
            <p:cNvSpPr/>
            <p:nvPr/>
          </p:nvSpPr>
          <p:spPr>
            <a:xfrm>
              <a:off x="6760461" y="4361948"/>
              <a:ext cx="69701" cy="6970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32" name="Воспалительная клетка в интерстиции"/>
            <p:cNvSpPr/>
            <p:nvPr/>
          </p:nvSpPr>
          <p:spPr>
            <a:xfrm>
              <a:off x="6261084" y="4454230"/>
              <a:ext cx="105555" cy="10555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33" name="Ядро воспалительной клетки"/>
            <p:cNvSpPr/>
            <p:nvPr/>
          </p:nvSpPr>
          <p:spPr>
            <a:xfrm>
              <a:off x="6277973" y="4471119"/>
              <a:ext cx="72833" cy="72833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34" name="Воспалительная клетка в интерстиции"/>
            <p:cNvSpPr/>
            <p:nvPr/>
          </p:nvSpPr>
          <p:spPr>
            <a:xfrm>
              <a:off x="5843238" y="2881765"/>
              <a:ext cx="114169" cy="114169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35" name="Ядро воспалительной клетки"/>
            <p:cNvSpPr/>
            <p:nvPr/>
          </p:nvSpPr>
          <p:spPr>
            <a:xfrm>
              <a:off x="5861505" y="2900032"/>
              <a:ext cx="78777" cy="7877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36" name="Воспалительная клетка в интерстиции"/>
            <p:cNvSpPr/>
            <p:nvPr/>
          </p:nvSpPr>
          <p:spPr>
            <a:xfrm>
              <a:off x="6080864" y="3166627"/>
              <a:ext cx="104931" cy="10493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37" name="Ядро воспалительной клетки"/>
            <p:cNvSpPr/>
            <p:nvPr/>
          </p:nvSpPr>
          <p:spPr>
            <a:xfrm>
              <a:off x="6097653" y="3183416"/>
              <a:ext cx="72402" cy="72402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38" name="Воспалительная клетка в интерстиции"/>
            <p:cNvSpPr/>
            <p:nvPr/>
          </p:nvSpPr>
          <p:spPr>
            <a:xfrm>
              <a:off x="7057380" y="3782655"/>
              <a:ext cx="104327" cy="10432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39" name="Ядро воспалительной клетки"/>
            <p:cNvSpPr/>
            <p:nvPr/>
          </p:nvSpPr>
          <p:spPr>
            <a:xfrm>
              <a:off x="7074073" y="3799347"/>
              <a:ext cx="71986" cy="71986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40" name="Воспалительная клетка в интерстиции"/>
            <p:cNvSpPr/>
            <p:nvPr/>
          </p:nvSpPr>
          <p:spPr>
            <a:xfrm>
              <a:off x="7285960" y="3889037"/>
              <a:ext cx="107141" cy="10714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41" name="Ядро воспалительной клетки"/>
            <p:cNvSpPr/>
            <p:nvPr/>
          </p:nvSpPr>
          <p:spPr>
            <a:xfrm>
              <a:off x="7303103" y="3906180"/>
              <a:ext cx="73927" cy="7392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42" name="Воспалительная клетка в интерстиции"/>
            <p:cNvSpPr/>
            <p:nvPr/>
          </p:nvSpPr>
          <p:spPr>
            <a:xfrm>
              <a:off x="5285516" y="3300634"/>
              <a:ext cx="118855" cy="11885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43" name="Ядро воспалительной клетки"/>
            <p:cNvSpPr/>
            <p:nvPr/>
          </p:nvSpPr>
          <p:spPr>
            <a:xfrm>
              <a:off x="5304533" y="3319651"/>
              <a:ext cx="82010" cy="82010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44" name="Воспалительная клетка в интерстиции"/>
            <p:cNvSpPr/>
            <p:nvPr/>
          </p:nvSpPr>
          <p:spPr>
            <a:xfrm>
              <a:off x="7200402" y="3622608"/>
              <a:ext cx="123929" cy="123929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45" name="Ядро воспалительной клетки"/>
            <p:cNvSpPr/>
            <p:nvPr/>
          </p:nvSpPr>
          <p:spPr>
            <a:xfrm>
              <a:off x="7220231" y="3642436"/>
              <a:ext cx="85511" cy="8551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46" name="Воспалительная клетка в интерстиции"/>
            <p:cNvSpPr/>
            <p:nvPr/>
          </p:nvSpPr>
          <p:spPr>
            <a:xfrm>
              <a:off x="6534346" y="4177124"/>
              <a:ext cx="94552" cy="94552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47" name="Ядро воспалительной клетки"/>
            <p:cNvSpPr/>
            <p:nvPr/>
          </p:nvSpPr>
          <p:spPr>
            <a:xfrm>
              <a:off x="6549475" y="4192252"/>
              <a:ext cx="65241" cy="6524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48" name="Воспалительная клетка в интерстиции"/>
            <p:cNvSpPr/>
            <p:nvPr/>
          </p:nvSpPr>
          <p:spPr>
            <a:xfrm>
              <a:off x="6743760" y="3746149"/>
              <a:ext cx="117441" cy="11744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49" name="Ядро воспалительной клетки"/>
            <p:cNvSpPr/>
            <p:nvPr/>
          </p:nvSpPr>
          <p:spPr>
            <a:xfrm>
              <a:off x="6762550" y="3764940"/>
              <a:ext cx="81034" cy="81034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50" name="Воспалительная клетка в интерстиции"/>
            <p:cNvSpPr/>
            <p:nvPr/>
          </p:nvSpPr>
          <p:spPr>
            <a:xfrm>
              <a:off x="5434080" y="3240192"/>
              <a:ext cx="113575" cy="11357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51" name="Ядро воспалительной клетки"/>
            <p:cNvSpPr/>
            <p:nvPr/>
          </p:nvSpPr>
          <p:spPr>
            <a:xfrm>
              <a:off x="5452252" y="3258364"/>
              <a:ext cx="78367" cy="7836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52" name="Воспалительная клетка в интерстиции"/>
            <p:cNvSpPr/>
            <p:nvPr/>
          </p:nvSpPr>
          <p:spPr>
            <a:xfrm>
              <a:off x="4697199" y="3797757"/>
              <a:ext cx="95334" cy="9533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53" name="Ядро воспалительной клетки"/>
            <p:cNvSpPr/>
            <p:nvPr/>
          </p:nvSpPr>
          <p:spPr>
            <a:xfrm>
              <a:off x="4712452" y="3813011"/>
              <a:ext cx="65780" cy="65780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54" name="Воспалительная клетка в интерстиции"/>
            <p:cNvSpPr/>
            <p:nvPr/>
          </p:nvSpPr>
          <p:spPr>
            <a:xfrm>
              <a:off x="5983005" y="2129151"/>
              <a:ext cx="89976" cy="89976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55" name="Ядро воспалительной клетки"/>
            <p:cNvSpPr/>
            <p:nvPr/>
          </p:nvSpPr>
          <p:spPr>
            <a:xfrm>
              <a:off x="5997401" y="2143547"/>
              <a:ext cx="62083" cy="62083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56" name="Воспалительная клетка в интерстиции"/>
            <p:cNvSpPr/>
            <p:nvPr/>
          </p:nvSpPr>
          <p:spPr>
            <a:xfrm>
              <a:off x="4621124" y="3561376"/>
              <a:ext cx="108727" cy="10872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57" name="Ядро воспалительной клетки"/>
            <p:cNvSpPr/>
            <p:nvPr/>
          </p:nvSpPr>
          <p:spPr>
            <a:xfrm>
              <a:off x="4638520" y="3578773"/>
              <a:ext cx="75022" cy="75022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58" name="Воспалительная клетка в интерстиции"/>
            <p:cNvSpPr/>
            <p:nvPr/>
          </p:nvSpPr>
          <p:spPr>
            <a:xfrm>
              <a:off x="5874970" y="3319966"/>
              <a:ext cx="127874" cy="12787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59" name="Ядро воспалительной клетки"/>
            <p:cNvSpPr/>
            <p:nvPr/>
          </p:nvSpPr>
          <p:spPr>
            <a:xfrm>
              <a:off x="5895429" y="3340426"/>
              <a:ext cx="88233" cy="88233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60" name="Воспалительная клетка в интерстиции"/>
            <p:cNvSpPr/>
            <p:nvPr/>
          </p:nvSpPr>
          <p:spPr>
            <a:xfrm>
              <a:off x="6025763" y="3023347"/>
              <a:ext cx="87757" cy="8775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61" name="Ядро воспалительной клетки"/>
            <p:cNvSpPr/>
            <p:nvPr/>
          </p:nvSpPr>
          <p:spPr>
            <a:xfrm>
              <a:off x="6039804" y="3037388"/>
              <a:ext cx="60552" cy="60552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62" name="Воспалительная клетка в интерстиции"/>
            <p:cNvSpPr/>
            <p:nvPr/>
          </p:nvSpPr>
          <p:spPr>
            <a:xfrm>
              <a:off x="5202682" y="3429238"/>
              <a:ext cx="100271" cy="10027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63" name="Ядро воспалительной клетки"/>
            <p:cNvSpPr/>
            <p:nvPr/>
          </p:nvSpPr>
          <p:spPr>
            <a:xfrm>
              <a:off x="5218725" y="3445281"/>
              <a:ext cx="69187" cy="6918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64" name="Воспалительная клетка в интерстиции"/>
            <p:cNvSpPr/>
            <p:nvPr/>
          </p:nvSpPr>
          <p:spPr>
            <a:xfrm>
              <a:off x="6176305" y="2394884"/>
              <a:ext cx="99414" cy="9941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65" name="Ядро воспалительной клетки"/>
            <p:cNvSpPr/>
            <p:nvPr/>
          </p:nvSpPr>
          <p:spPr>
            <a:xfrm>
              <a:off x="6192212" y="2410791"/>
              <a:ext cx="68595" cy="68595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66" name="Воспалительная клетка в интерстиции"/>
            <p:cNvSpPr/>
            <p:nvPr/>
          </p:nvSpPr>
          <p:spPr>
            <a:xfrm>
              <a:off x="6643126" y="4056286"/>
              <a:ext cx="125180" cy="125180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67" name="Ядро воспалительной клетки"/>
            <p:cNvSpPr/>
            <p:nvPr/>
          </p:nvSpPr>
          <p:spPr>
            <a:xfrm>
              <a:off x="6663155" y="4076315"/>
              <a:ext cx="86374" cy="86374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68" name="Воспалительная клетка в интерстиции"/>
            <p:cNvSpPr/>
            <p:nvPr/>
          </p:nvSpPr>
          <p:spPr>
            <a:xfrm>
              <a:off x="4755003" y="3410562"/>
              <a:ext cx="84318" cy="8431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69" name="Ядро воспалительной клетки"/>
            <p:cNvSpPr/>
            <p:nvPr/>
          </p:nvSpPr>
          <p:spPr>
            <a:xfrm>
              <a:off x="4768494" y="3424053"/>
              <a:ext cx="58179" cy="58179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70" name="Воспалительная клетка в интерстиции"/>
            <p:cNvSpPr/>
            <p:nvPr/>
          </p:nvSpPr>
          <p:spPr>
            <a:xfrm>
              <a:off x="6710436" y="4204986"/>
              <a:ext cx="96664" cy="9666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71" name="Ядро воспалительной клетки"/>
            <p:cNvSpPr/>
            <p:nvPr/>
          </p:nvSpPr>
          <p:spPr>
            <a:xfrm>
              <a:off x="6725902" y="4220452"/>
              <a:ext cx="66698" cy="66698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72" name="Воспалительная клетка в интерстиции"/>
            <p:cNvSpPr/>
            <p:nvPr/>
          </p:nvSpPr>
          <p:spPr>
            <a:xfrm>
              <a:off x="4945595" y="4352608"/>
              <a:ext cx="113968" cy="11396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73" name="Ядро воспалительной клетки"/>
            <p:cNvSpPr/>
            <p:nvPr/>
          </p:nvSpPr>
          <p:spPr>
            <a:xfrm>
              <a:off x="4963830" y="4370843"/>
              <a:ext cx="78638" cy="78638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74" name="Воспалительная клетка в интерстиции"/>
            <p:cNvSpPr/>
            <p:nvPr/>
          </p:nvSpPr>
          <p:spPr>
            <a:xfrm>
              <a:off x="5880574" y="3156507"/>
              <a:ext cx="116776" cy="116776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75" name="Ядро воспалительной клетки"/>
            <p:cNvSpPr/>
            <p:nvPr/>
          </p:nvSpPr>
          <p:spPr>
            <a:xfrm>
              <a:off x="5899258" y="3175191"/>
              <a:ext cx="80575" cy="80575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76" name="Воспалительная клетка в интерстиции"/>
            <p:cNvSpPr/>
            <p:nvPr/>
          </p:nvSpPr>
          <p:spPr>
            <a:xfrm>
              <a:off x="5757139" y="3198828"/>
              <a:ext cx="92743" cy="92743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77" name="Ядро воспалительной клетки"/>
            <p:cNvSpPr/>
            <p:nvPr/>
          </p:nvSpPr>
          <p:spPr>
            <a:xfrm>
              <a:off x="5771978" y="3213667"/>
              <a:ext cx="63993" cy="63993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78" name="Воспалительная клетка в интерстиции"/>
            <p:cNvSpPr/>
            <p:nvPr/>
          </p:nvSpPr>
          <p:spPr>
            <a:xfrm>
              <a:off x="6403740" y="4393377"/>
              <a:ext cx="97030" cy="97030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79" name="Ядро воспалительной клетки"/>
            <p:cNvSpPr/>
            <p:nvPr/>
          </p:nvSpPr>
          <p:spPr>
            <a:xfrm>
              <a:off x="6419264" y="4408902"/>
              <a:ext cx="66951" cy="6695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80" name="Воспалительная клетка в интерстиции"/>
            <p:cNvSpPr/>
            <p:nvPr/>
          </p:nvSpPr>
          <p:spPr>
            <a:xfrm>
              <a:off x="6187334" y="2221577"/>
              <a:ext cx="83104" cy="8310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81" name="Ядро воспалительной клетки"/>
            <p:cNvSpPr/>
            <p:nvPr/>
          </p:nvSpPr>
          <p:spPr>
            <a:xfrm>
              <a:off x="6200631" y="2234873"/>
              <a:ext cx="57342" cy="57342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82" name="Воспалительная клетка в интерстиции"/>
            <p:cNvSpPr/>
            <p:nvPr/>
          </p:nvSpPr>
          <p:spPr>
            <a:xfrm>
              <a:off x="6618874" y="4385845"/>
              <a:ext cx="110779" cy="110779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83" name="Ядро воспалительной клетки"/>
            <p:cNvSpPr/>
            <p:nvPr/>
          </p:nvSpPr>
          <p:spPr>
            <a:xfrm>
              <a:off x="6636599" y="4403570"/>
              <a:ext cx="76437" cy="7643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84" name="Воспалительная клетка в интерстиции"/>
            <p:cNvSpPr/>
            <p:nvPr/>
          </p:nvSpPr>
          <p:spPr>
            <a:xfrm>
              <a:off x="4541017" y="3730041"/>
              <a:ext cx="109368" cy="10936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85" name="Ядро воспалительной клетки"/>
            <p:cNvSpPr/>
            <p:nvPr/>
          </p:nvSpPr>
          <p:spPr>
            <a:xfrm>
              <a:off x="4558516" y="3747540"/>
              <a:ext cx="75464" cy="75464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86" name="Воспалительная клетка в интерстиции"/>
            <p:cNvSpPr/>
            <p:nvPr/>
          </p:nvSpPr>
          <p:spPr>
            <a:xfrm>
              <a:off x="4843484" y="3226896"/>
              <a:ext cx="118988" cy="11898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87" name="Ядро воспалительной клетки"/>
            <p:cNvSpPr/>
            <p:nvPr/>
          </p:nvSpPr>
          <p:spPr>
            <a:xfrm>
              <a:off x="4862523" y="3245935"/>
              <a:ext cx="82101" cy="8210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88" name="Воспалительная клетка в интерстиции"/>
            <p:cNvSpPr/>
            <p:nvPr/>
          </p:nvSpPr>
          <p:spPr>
            <a:xfrm>
              <a:off x="6319463" y="3417321"/>
              <a:ext cx="111255" cy="11125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89" name="Ядро воспалительной клетки"/>
            <p:cNvSpPr/>
            <p:nvPr/>
          </p:nvSpPr>
          <p:spPr>
            <a:xfrm>
              <a:off x="6337264" y="3435122"/>
              <a:ext cx="76766" cy="76766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90" name="Воспалительная клетка в интерстиции"/>
            <p:cNvSpPr/>
            <p:nvPr/>
          </p:nvSpPr>
          <p:spPr>
            <a:xfrm>
              <a:off x="4840091" y="3992242"/>
              <a:ext cx="107897" cy="10789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91" name="Ядро воспалительной клетки"/>
            <p:cNvSpPr/>
            <p:nvPr/>
          </p:nvSpPr>
          <p:spPr>
            <a:xfrm>
              <a:off x="4857355" y="4009506"/>
              <a:ext cx="74449" cy="74449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92" name="Воспалительная клетка в интерстиции"/>
            <p:cNvSpPr/>
            <p:nvPr/>
          </p:nvSpPr>
          <p:spPr>
            <a:xfrm>
              <a:off x="7068545" y="3610893"/>
              <a:ext cx="114538" cy="11453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93" name="Ядро воспалительной клетки"/>
            <p:cNvSpPr/>
            <p:nvPr/>
          </p:nvSpPr>
          <p:spPr>
            <a:xfrm>
              <a:off x="7086871" y="3629220"/>
              <a:ext cx="79031" cy="7903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94" name="Воспалительная клетка в интерстиции"/>
            <p:cNvSpPr/>
            <p:nvPr/>
          </p:nvSpPr>
          <p:spPr>
            <a:xfrm>
              <a:off x="7174482" y="3472960"/>
              <a:ext cx="110441" cy="11044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95" name="Ядро воспалительной клетки"/>
            <p:cNvSpPr/>
            <p:nvPr/>
          </p:nvSpPr>
          <p:spPr>
            <a:xfrm>
              <a:off x="7192152" y="3490631"/>
              <a:ext cx="76204" cy="76204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96" name="Базальная мембрана канальца"/>
            <p:cNvSpPr/>
            <p:nvPr/>
          </p:nvSpPr>
          <p:spPr>
            <a:xfrm>
              <a:off x="4538381" y="2039545"/>
              <a:ext cx="1337445" cy="1163075"/>
            </a:xfrm>
            <a:custGeom>
              <a:avLst/>
              <a:gdLst/>
              <a:ahLst/>
              <a:cxnLst/>
              <a:rect l="l" t="t" r="r" b="b"/>
              <a:pathLst>
                <a:path w="1337445" h="1163075">
                  <a:moveTo>
                    <a:pt x="1326036" y="424034"/>
                  </a:moveTo>
                  <a:lnTo>
                    <a:pt x="1330373" y="453025"/>
                  </a:lnTo>
                  <a:lnTo>
                    <a:pt x="1333542" y="482083"/>
                  </a:lnTo>
                  <a:lnTo>
                    <a:pt x="1335703" y="511190"/>
                  </a:lnTo>
                  <a:lnTo>
                    <a:pt x="1336980" y="540361"/>
                  </a:lnTo>
                  <a:lnTo>
                    <a:pt x="1337445" y="569633"/>
                  </a:lnTo>
                  <a:lnTo>
                    <a:pt x="1337111" y="599057"/>
                  </a:lnTo>
                  <a:lnTo>
                    <a:pt x="1335927" y="628684"/>
                  </a:lnTo>
                  <a:lnTo>
                    <a:pt x="1333779" y="658552"/>
                  </a:lnTo>
                  <a:lnTo>
                    <a:pt x="1330502" y="688677"/>
                  </a:lnTo>
                  <a:lnTo>
                    <a:pt x="1325886" y="719036"/>
                  </a:lnTo>
                  <a:lnTo>
                    <a:pt x="1319696" y="749567"/>
                  </a:lnTo>
                  <a:lnTo>
                    <a:pt x="1311689" y="780158"/>
                  </a:lnTo>
                  <a:lnTo>
                    <a:pt x="1301637" y="810655"/>
                  </a:lnTo>
                  <a:lnTo>
                    <a:pt x="1289340" y="840861"/>
                  </a:lnTo>
                  <a:lnTo>
                    <a:pt x="1274648" y="870546"/>
                  </a:lnTo>
                  <a:lnTo>
                    <a:pt x="1257475" y="899462"/>
                  </a:lnTo>
                  <a:lnTo>
                    <a:pt x="1237801" y="927353"/>
                  </a:lnTo>
                  <a:lnTo>
                    <a:pt x="1215681" y="953976"/>
                  </a:lnTo>
                  <a:lnTo>
                    <a:pt x="1191241" y="979108"/>
                  </a:lnTo>
                  <a:lnTo>
                    <a:pt x="1164669" y="1002569"/>
                  </a:lnTo>
                  <a:lnTo>
                    <a:pt x="1136205" y="1024223"/>
                  </a:lnTo>
                  <a:lnTo>
                    <a:pt x="1106121" y="1043991"/>
                  </a:lnTo>
                  <a:lnTo>
                    <a:pt x="1074708" y="1061851"/>
                  </a:lnTo>
                  <a:lnTo>
                    <a:pt x="1042258" y="1077835"/>
                  </a:lnTo>
                  <a:lnTo>
                    <a:pt x="1009044" y="1092023"/>
                  </a:lnTo>
                  <a:lnTo>
                    <a:pt x="975309" y="1104532"/>
                  </a:lnTo>
                  <a:lnTo>
                    <a:pt x="941254" y="1115503"/>
                  </a:lnTo>
                  <a:lnTo>
                    <a:pt x="907034" y="1125088"/>
                  </a:lnTo>
                  <a:lnTo>
                    <a:pt x="872757" y="1133431"/>
                  </a:lnTo>
                  <a:lnTo>
                    <a:pt x="838483" y="1140658"/>
                  </a:lnTo>
                  <a:lnTo>
                    <a:pt x="804240" y="1146865"/>
                  </a:lnTo>
                  <a:lnTo>
                    <a:pt x="770025" y="1152106"/>
                  </a:lnTo>
                  <a:lnTo>
                    <a:pt x="735823" y="1156395"/>
                  </a:lnTo>
                  <a:lnTo>
                    <a:pt x="701618" y="1159703"/>
                  </a:lnTo>
                  <a:lnTo>
                    <a:pt x="667401" y="1161962"/>
                  </a:lnTo>
                  <a:lnTo>
                    <a:pt x="633187" y="1163075"/>
                  </a:lnTo>
                  <a:lnTo>
                    <a:pt x="599012" y="1162923"/>
                  </a:lnTo>
                  <a:lnTo>
                    <a:pt x="564946" y="1161382"/>
                  </a:lnTo>
                  <a:lnTo>
                    <a:pt x="531083" y="1158334"/>
                  </a:lnTo>
                  <a:lnTo>
                    <a:pt x="497543" y="1153676"/>
                  </a:lnTo>
                  <a:lnTo>
                    <a:pt x="464461" y="1147335"/>
                  </a:lnTo>
                  <a:lnTo>
                    <a:pt x="431978" y="1139272"/>
                  </a:lnTo>
                  <a:lnTo>
                    <a:pt x="400233" y="1129485"/>
                  </a:lnTo>
                  <a:lnTo>
                    <a:pt x="369348" y="1118010"/>
                  </a:lnTo>
                  <a:lnTo>
                    <a:pt x="339426" y="1104918"/>
                  </a:lnTo>
                  <a:lnTo>
                    <a:pt x="310540" y="1090307"/>
                  </a:lnTo>
                  <a:lnTo>
                    <a:pt x="282733" y="1074291"/>
                  </a:lnTo>
                  <a:lnTo>
                    <a:pt x="256019" y="1056993"/>
                  </a:lnTo>
                  <a:lnTo>
                    <a:pt x="230388" y="1038531"/>
                  </a:lnTo>
                  <a:lnTo>
                    <a:pt x="205814" y="1019010"/>
                  </a:lnTo>
                  <a:lnTo>
                    <a:pt x="182265" y="998516"/>
                  </a:lnTo>
                  <a:lnTo>
                    <a:pt x="159719" y="977106"/>
                  </a:lnTo>
                  <a:lnTo>
                    <a:pt x="138170" y="954812"/>
                  </a:lnTo>
                  <a:lnTo>
                    <a:pt x="117642" y="931642"/>
                  </a:lnTo>
                  <a:lnTo>
                    <a:pt x="98200" y="907585"/>
                  </a:lnTo>
                  <a:lnTo>
                    <a:pt x="79950" y="882615"/>
                  </a:lnTo>
                  <a:lnTo>
                    <a:pt x="63039" y="856711"/>
                  </a:lnTo>
                  <a:lnTo>
                    <a:pt x="47658" y="829856"/>
                  </a:lnTo>
                  <a:lnTo>
                    <a:pt x="34023" y="802058"/>
                  </a:lnTo>
                  <a:lnTo>
                    <a:pt x="22370" y="773350"/>
                  </a:lnTo>
                  <a:lnTo>
                    <a:pt x="12937" y="743804"/>
                  </a:lnTo>
                  <a:lnTo>
                    <a:pt x="5946" y="713527"/>
                  </a:lnTo>
                  <a:lnTo>
                    <a:pt x="1587" y="682664"/>
                  </a:lnTo>
                  <a:lnTo>
                    <a:pt x="0" y="651396"/>
                  </a:lnTo>
                  <a:lnTo>
                    <a:pt x="1266" y="619925"/>
                  </a:lnTo>
                  <a:lnTo>
                    <a:pt x="5396" y="588467"/>
                  </a:lnTo>
                  <a:lnTo>
                    <a:pt x="12325" y="557242"/>
                  </a:lnTo>
                  <a:lnTo>
                    <a:pt x="21919" y="526454"/>
                  </a:lnTo>
                  <a:lnTo>
                    <a:pt x="33978" y="496284"/>
                  </a:lnTo>
                  <a:lnTo>
                    <a:pt x="48253" y="466877"/>
                  </a:lnTo>
                  <a:lnTo>
                    <a:pt x="64455" y="438331"/>
                  </a:lnTo>
                  <a:lnTo>
                    <a:pt x="82282" y="410700"/>
                  </a:lnTo>
                  <a:lnTo>
                    <a:pt x="101432" y="383987"/>
                  </a:lnTo>
                  <a:lnTo>
                    <a:pt x="121628" y="358152"/>
                  </a:lnTo>
                  <a:lnTo>
                    <a:pt x="142630" y="333119"/>
                  </a:lnTo>
                  <a:lnTo>
                    <a:pt x="164252" y="308790"/>
                  </a:lnTo>
                  <a:lnTo>
                    <a:pt x="186370" y="285056"/>
                  </a:lnTo>
                  <a:lnTo>
                    <a:pt x="208925" y="261813"/>
                  </a:lnTo>
                  <a:lnTo>
                    <a:pt x="231919" y="238978"/>
                  </a:lnTo>
                  <a:lnTo>
                    <a:pt x="255410" y="216499"/>
                  </a:lnTo>
                  <a:lnTo>
                    <a:pt x="279501" y="194369"/>
                  </a:lnTo>
                  <a:lnTo>
                    <a:pt x="304320" y="172627"/>
                  </a:lnTo>
                  <a:lnTo>
                    <a:pt x="330009" y="151365"/>
                  </a:lnTo>
                  <a:lnTo>
                    <a:pt x="356702" y="130722"/>
                  </a:lnTo>
                  <a:lnTo>
                    <a:pt x="384509" y="110880"/>
                  </a:lnTo>
                  <a:lnTo>
                    <a:pt x="413507" y="92048"/>
                  </a:lnTo>
                  <a:lnTo>
                    <a:pt x="443725" y="74454"/>
                  </a:lnTo>
                  <a:lnTo>
                    <a:pt x="475142" y="58326"/>
                  </a:lnTo>
                  <a:lnTo>
                    <a:pt x="507685" y="43881"/>
                  </a:lnTo>
                  <a:lnTo>
                    <a:pt x="541233" y="31306"/>
                  </a:lnTo>
                  <a:lnTo>
                    <a:pt x="575626" y="20750"/>
                  </a:lnTo>
                  <a:lnTo>
                    <a:pt x="610673" y="12317"/>
                  </a:lnTo>
                  <a:lnTo>
                    <a:pt x="646171" y="6055"/>
                  </a:lnTo>
                  <a:lnTo>
                    <a:pt x="681911" y="1966"/>
                  </a:lnTo>
                  <a:lnTo>
                    <a:pt x="717693" y="0"/>
                  </a:lnTo>
                  <a:lnTo>
                    <a:pt x="753340" y="73"/>
                  </a:lnTo>
                  <a:lnTo>
                    <a:pt x="788697" y="2069"/>
                  </a:lnTo>
                  <a:lnTo>
                    <a:pt x="823643" y="5859"/>
                  </a:lnTo>
                  <a:lnTo>
                    <a:pt x="858083" y="11307"/>
                  </a:lnTo>
                  <a:lnTo>
                    <a:pt x="891950" y="18291"/>
                  </a:lnTo>
                  <a:lnTo>
                    <a:pt x="925193" y="26703"/>
                  </a:lnTo>
                  <a:lnTo>
                    <a:pt x="957773" y="36464"/>
                  </a:lnTo>
                  <a:lnTo>
                    <a:pt x="989649" y="47524"/>
                  </a:lnTo>
                  <a:lnTo>
                    <a:pt x="1020771" y="59862"/>
                  </a:lnTo>
                  <a:lnTo>
                    <a:pt x="1051069" y="73484"/>
                  </a:lnTo>
                  <a:lnTo>
                    <a:pt x="1080453" y="88413"/>
                  </a:lnTo>
                  <a:lnTo>
                    <a:pt x="1108806" y="104683"/>
                  </a:lnTo>
                  <a:lnTo>
                    <a:pt x="1135988" y="122329"/>
                  </a:lnTo>
                  <a:lnTo>
                    <a:pt x="1161840" y="141373"/>
                  </a:lnTo>
                  <a:lnTo>
                    <a:pt x="1186196" y="161817"/>
                  </a:lnTo>
                  <a:lnTo>
                    <a:pt x="1208892" y="183637"/>
                  </a:lnTo>
                  <a:lnTo>
                    <a:pt x="1229775" y="206775"/>
                  </a:lnTo>
                  <a:lnTo>
                    <a:pt x="1248722" y="231141"/>
                  </a:lnTo>
                  <a:lnTo>
                    <a:pt x="1265647" y="256614"/>
                  </a:lnTo>
                  <a:lnTo>
                    <a:pt x="1280511" y="283049"/>
                  </a:lnTo>
                  <a:lnTo>
                    <a:pt x="1293326" y="310285"/>
                  </a:lnTo>
                  <a:lnTo>
                    <a:pt x="1304155" y="338154"/>
                  </a:lnTo>
                  <a:lnTo>
                    <a:pt x="1313111" y="366495"/>
                  </a:lnTo>
                  <a:lnTo>
                    <a:pt x="1320345" y="395161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97" name="Клетка однослойного эпителия"/>
            <p:cNvSpPr/>
            <p:nvPr/>
          </p:nvSpPr>
          <p:spPr>
            <a:xfrm>
              <a:off x="5652575" y="2471205"/>
              <a:ext cx="194705" cy="184844"/>
            </a:xfrm>
            <a:custGeom>
              <a:avLst/>
              <a:gdLst/>
              <a:ahLst/>
              <a:cxnLst/>
              <a:rect l="l" t="t" r="r" b="b"/>
              <a:pathLst>
                <a:path w="194705" h="184844">
                  <a:moveTo>
                    <a:pt x="183383" y="0"/>
                  </a:moveTo>
                  <a:lnTo>
                    <a:pt x="186122" y="18356"/>
                  </a:lnTo>
                  <a:lnTo>
                    <a:pt x="188393" y="36727"/>
                  </a:lnTo>
                  <a:lnTo>
                    <a:pt x="190251" y="55108"/>
                  </a:lnTo>
                  <a:lnTo>
                    <a:pt x="191743" y="73501"/>
                  </a:lnTo>
                  <a:lnTo>
                    <a:pt x="192909" y="91914"/>
                  </a:lnTo>
                  <a:lnTo>
                    <a:pt x="193778" y="110359"/>
                  </a:lnTo>
                  <a:lnTo>
                    <a:pt x="194366" y="128855"/>
                  </a:lnTo>
                  <a:lnTo>
                    <a:pt x="194678" y="147421"/>
                  </a:lnTo>
                  <a:lnTo>
                    <a:pt x="194705" y="166077"/>
                  </a:lnTo>
                  <a:lnTo>
                    <a:pt x="194423" y="184844"/>
                  </a:lnTo>
                  <a:lnTo>
                    <a:pt x="5090" y="168280"/>
                  </a:lnTo>
                  <a:lnTo>
                    <a:pt x="5546" y="156164"/>
                  </a:lnTo>
                  <a:lnTo>
                    <a:pt x="5787" y="144124"/>
                  </a:lnTo>
                  <a:lnTo>
                    <a:pt x="5828" y="132146"/>
                  </a:lnTo>
                  <a:lnTo>
                    <a:pt x="5677" y="120217"/>
                  </a:lnTo>
                  <a:lnTo>
                    <a:pt x="5330" y="108325"/>
                  </a:lnTo>
                  <a:lnTo>
                    <a:pt x="4777" y="96458"/>
                  </a:lnTo>
                  <a:lnTo>
                    <a:pt x="3998" y="84608"/>
                  </a:lnTo>
                  <a:lnTo>
                    <a:pt x="2965" y="72771"/>
                  </a:lnTo>
                  <a:lnTo>
                    <a:pt x="1645" y="60946"/>
                  </a:lnTo>
                  <a:lnTo>
                    <a:pt x="0" y="49137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98" name="Ядро эпителиальной клетки"/>
            <p:cNvSpPr/>
            <p:nvPr/>
          </p:nvSpPr>
          <p:spPr>
            <a:xfrm rot="21300000">
              <a:off x="5702223" y="250535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299" name="Ядрышко"/>
            <p:cNvSpPr/>
            <p:nvPr/>
          </p:nvSpPr>
          <p:spPr>
            <a:xfrm>
              <a:off x="5731483" y="255702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00" name="Клетка однослойного эпителия"/>
            <p:cNvSpPr/>
            <p:nvPr/>
          </p:nvSpPr>
          <p:spPr>
            <a:xfrm>
              <a:off x="5632585" y="2639485"/>
              <a:ext cx="214413" cy="210612"/>
            </a:xfrm>
            <a:custGeom>
              <a:avLst/>
              <a:gdLst/>
              <a:ahLst/>
              <a:cxnLst/>
              <a:rect l="l" t="t" r="r" b="b"/>
              <a:pathLst>
                <a:path w="214413" h="210612">
                  <a:moveTo>
                    <a:pt x="214413" y="16564"/>
                  </a:moveTo>
                  <a:lnTo>
                    <a:pt x="213786" y="35458"/>
                  </a:lnTo>
                  <a:lnTo>
                    <a:pt x="212766" y="54490"/>
                  </a:lnTo>
                  <a:lnTo>
                    <a:pt x="211295" y="73667"/>
                  </a:lnTo>
                  <a:lnTo>
                    <a:pt x="209303" y="92987"/>
                  </a:lnTo>
                  <a:lnTo>
                    <a:pt x="206717" y="112438"/>
                  </a:lnTo>
                  <a:lnTo>
                    <a:pt x="203458" y="132001"/>
                  </a:lnTo>
                  <a:lnTo>
                    <a:pt x="199446" y="151645"/>
                  </a:lnTo>
                  <a:lnTo>
                    <a:pt x="194603" y="171329"/>
                  </a:lnTo>
                  <a:lnTo>
                    <a:pt x="188853" y="191005"/>
                  </a:lnTo>
                  <a:lnTo>
                    <a:pt x="182130" y="210612"/>
                  </a:lnTo>
                  <a:lnTo>
                    <a:pt x="0" y="125683"/>
                  </a:lnTo>
                  <a:lnTo>
                    <a:pt x="4935" y="112936"/>
                  </a:lnTo>
                  <a:lnTo>
                    <a:pt x="9195" y="100158"/>
                  </a:lnTo>
                  <a:lnTo>
                    <a:pt x="12827" y="87386"/>
                  </a:lnTo>
                  <a:lnTo>
                    <a:pt x="15881" y="74653"/>
                  </a:lnTo>
                  <a:lnTo>
                    <a:pt x="18413" y="61982"/>
                  </a:lnTo>
                  <a:lnTo>
                    <a:pt x="20476" y="49393"/>
                  </a:lnTo>
                  <a:lnTo>
                    <a:pt x="22125" y="36896"/>
                  </a:lnTo>
                  <a:lnTo>
                    <a:pt x="23412" y="24500"/>
                  </a:lnTo>
                  <a:lnTo>
                    <a:pt x="24383" y="12202"/>
                  </a:lnTo>
                  <a:lnTo>
                    <a:pt x="25080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01" name="Ядро эпителиальной клетки"/>
            <p:cNvSpPr/>
            <p:nvPr/>
          </p:nvSpPr>
          <p:spPr>
            <a:xfrm rot="900000">
              <a:off x="5695663" y="265939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02" name="Ядрышко"/>
            <p:cNvSpPr/>
            <p:nvPr/>
          </p:nvSpPr>
          <p:spPr>
            <a:xfrm>
              <a:off x="5724924" y="271105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03" name="Клетка однослойного эпителия"/>
            <p:cNvSpPr/>
            <p:nvPr/>
          </p:nvSpPr>
          <p:spPr>
            <a:xfrm>
              <a:off x="5542068" y="2765168"/>
              <a:ext cx="272647" cy="261116"/>
            </a:xfrm>
            <a:custGeom>
              <a:avLst/>
              <a:gdLst/>
              <a:ahLst/>
              <a:cxnLst/>
              <a:rect l="l" t="t" r="r" b="b"/>
              <a:pathLst>
                <a:path w="272647" h="261116">
                  <a:moveTo>
                    <a:pt x="272647" y="84929"/>
                  </a:moveTo>
                  <a:lnTo>
                    <a:pt x="264892" y="104402"/>
                  </a:lnTo>
                  <a:lnTo>
                    <a:pt x="256059" y="123668"/>
                  </a:lnTo>
                  <a:lnTo>
                    <a:pt x="246112" y="142649"/>
                  </a:lnTo>
                  <a:lnTo>
                    <a:pt x="235034" y="161267"/>
                  </a:lnTo>
                  <a:lnTo>
                    <a:pt x="222820" y="179441"/>
                  </a:lnTo>
                  <a:lnTo>
                    <a:pt x="209482" y="197094"/>
                  </a:lnTo>
                  <a:lnTo>
                    <a:pt x="195047" y="214152"/>
                  </a:lnTo>
                  <a:lnTo>
                    <a:pt x="179557" y="230546"/>
                  </a:lnTo>
                  <a:lnTo>
                    <a:pt x="163067" y="246218"/>
                  </a:lnTo>
                  <a:lnTo>
                    <a:pt x="145644" y="261116"/>
                  </a:lnTo>
                  <a:lnTo>
                    <a:pt x="0" y="115472"/>
                  </a:lnTo>
                  <a:lnTo>
                    <a:pt x="12289" y="105615"/>
                  </a:lnTo>
                  <a:lnTo>
                    <a:pt x="23942" y="95272"/>
                  </a:lnTo>
                  <a:lnTo>
                    <a:pt x="34911" y="84476"/>
                  </a:lnTo>
                  <a:lnTo>
                    <a:pt x="45158" y="73267"/>
                  </a:lnTo>
                  <a:lnTo>
                    <a:pt x="54652" y="61689"/>
                  </a:lnTo>
                  <a:lnTo>
                    <a:pt x="63374" y="49790"/>
                  </a:lnTo>
                  <a:lnTo>
                    <a:pt x="71315" y="37620"/>
                  </a:lnTo>
                  <a:lnTo>
                    <a:pt x="78476" y="25232"/>
                  </a:lnTo>
                  <a:lnTo>
                    <a:pt x="84869" y="12676"/>
                  </a:lnTo>
                  <a:lnTo>
                    <a:pt x="90517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04" name="Ядро эпителиальной клетки"/>
            <p:cNvSpPr/>
            <p:nvPr/>
          </p:nvSpPr>
          <p:spPr>
            <a:xfrm rot="2100000">
              <a:off x="5631720" y="281708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05" name="Ядрышко"/>
            <p:cNvSpPr/>
            <p:nvPr/>
          </p:nvSpPr>
          <p:spPr>
            <a:xfrm>
              <a:off x="5660981" y="286874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06" name="Клетка однослойного эпителия"/>
            <p:cNvSpPr/>
            <p:nvPr/>
          </p:nvSpPr>
          <p:spPr>
            <a:xfrm>
              <a:off x="5397187" y="2880640"/>
              <a:ext cx="290525" cy="249021"/>
            </a:xfrm>
            <a:custGeom>
              <a:avLst/>
              <a:gdLst/>
              <a:ahLst/>
              <a:cxnLst/>
              <a:rect l="l" t="t" r="r" b="b"/>
              <a:pathLst>
                <a:path w="290525" h="249021">
                  <a:moveTo>
                    <a:pt x="290525" y="145644"/>
                  </a:moveTo>
                  <a:lnTo>
                    <a:pt x="272246" y="159729"/>
                  </a:lnTo>
                  <a:lnTo>
                    <a:pt x="253195" y="172972"/>
                  </a:lnTo>
                  <a:lnTo>
                    <a:pt x="233461" y="185358"/>
                  </a:lnTo>
                  <a:lnTo>
                    <a:pt x="213137" y="196881"/>
                  </a:lnTo>
                  <a:lnTo>
                    <a:pt x="192315" y="207551"/>
                  </a:lnTo>
                  <a:lnTo>
                    <a:pt x="171084" y="217383"/>
                  </a:lnTo>
                  <a:lnTo>
                    <a:pt x="149529" y="226408"/>
                  </a:lnTo>
                  <a:lnTo>
                    <a:pt x="127730" y="234660"/>
                  </a:lnTo>
                  <a:lnTo>
                    <a:pt x="105756" y="242182"/>
                  </a:lnTo>
                  <a:lnTo>
                    <a:pt x="83670" y="249021"/>
                  </a:lnTo>
                  <a:lnTo>
                    <a:pt x="0" y="69588"/>
                  </a:lnTo>
                  <a:lnTo>
                    <a:pt x="15410" y="64868"/>
                  </a:lnTo>
                  <a:lnTo>
                    <a:pt x="30753" y="59709"/>
                  </a:lnTo>
                  <a:lnTo>
                    <a:pt x="45984" y="54080"/>
                  </a:lnTo>
                  <a:lnTo>
                    <a:pt x="61057" y="47957"/>
                  </a:lnTo>
                  <a:lnTo>
                    <a:pt x="75916" y="41316"/>
                  </a:lnTo>
                  <a:lnTo>
                    <a:pt x="90504" y="34142"/>
                  </a:lnTo>
                  <a:lnTo>
                    <a:pt x="104758" y="26422"/>
                  </a:lnTo>
                  <a:lnTo>
                    <a:pt x="118614" y="18155"/>
                  </a:lnTo>
                  <a:lnTo>
                    <a:pt x="132010" y="9343"/>
                  </a:lnTo>
                  <a:lnTo>
                    <a:pt x="144881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07" name="Ядро эпителиальной клетки"/>
            <p:cNvSpPr/>
            <p:nvPr/>
          </p:nvSpPr>
          <p:spPr>
            <a:xfrm rot="3300000">
              <a:off x="5483254" y="293545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08" name="Ядрышко"/>
            <p:cNvSpPr/>
            <p:nvPr/>
          </p:nvSpPr>
          <p:spPr>
            <a:xfrm>
              <a:off x="5512515" y="298711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09" name="Клетка однослойного эпителия"/>
            <p:cNvSpPr/>
            <p:nvPr/>
          </p:nvSpPr>
          <p:spPr>
            <a:xfrm>
              <a:off x="5243814" y="2950228"/>
              <a:ext cx="237043" cy="219730"/>
            </a:xfrm>
            <a:custGeom>
              <a:avLst/>
              <a:gdLst/>
              <a:ahLst/>
              <a:cxnLst/>
              <a:rect l="l" t="t" r="r" b="b"/>
              <a:pathLst>
                <a:path w="237043" h="219730">
                  <a:moveTo>
                    <a:pt x="237043" y="179433"/>
                  </a:moveTo>
                  <a:lnTo>
                    <a:pt x="214896" y="185637"/>
                  </a:lnTo>
                  <a:lnTo>
                    <a:pt x="192730" y="191257"/>
                  </a:lnTo>
                  <a:lnTo>
                    <a:pt x="170574" y="196339"/>
                  </a:lnTo>
                  <a:lnTo>
                    <a:pt x="148452" y="200928"/>
                  </a:lnTo>
                  <a:lnTo>
                    <a:pt x="126375" y="205062"/>
                  </a:lnTo>
                  <a:lnTo>
                    <a:pt x="104348" y="208772"/>
                  </a:lnTo>
                  <a:lnTo>
                    <a:pt x="82372" y="212084"/>
                  </a:lnTo>
                  <a:lnTo>
                    <a:pt x="60441" y="215011"/>
                  </a:lnTo>
                  <a:lnTo>
                    <a:pt x="38546" y="217560"/>
                  </a:lnTo>
                  <a:lnTo>
                    <a:pt x="16681" y="219730"/>
                  </a:lnTo>
                  <a:lnTo>
                    <a:pt x="0" y="29066"/>
                  </a:lnTo>
                  <a:lnTo>
                    <a:pt x="15193" y="27363"/>
                  </a:lnTo>
                  <a:lnTo>
                    <a:pt x="30411" y="25413"/>
                  </a:lnTo>
                  <a:lnTo>
                    <a:pt x="45660" y="23220"/>
                  </a:lnTo>
                  <a:lnTo>
                    <a:pt x="60946" y="20777"/>
                  </a:lnTo>
                  <a:lnTo>
                    <a:pt x="76272" y="18077"/>
                  </a:lnTo>
                  <a:lnTo>
                    <a:pt x="91639" y="15103"/>
                  </a:lnTo>
                  <a:lnTo>
                    <a:pt x="107044" y="11834"/>
                  </a:lnTo>
                  <a:lnTo>
                    <a:pt x="122479" y="8246"/>
                  </a:lnTo>
                  <a:lnTo>
                    <a:pt x="137929" y="4312"/>
                  </a:lnTo>
                  <a:lnTo>
                    <a:pt x="153373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10" name="Ядро эпителиальной клетки"/>
            <p:cNvSpPr/>
            <p:nvPr/>
          </p:nvSpPr>
          <p:spPr>
            <a:xfrm rot="4500000">
              <a:off x="5298415" y="299176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11" name="Ядрышко"/>
            <p:cNvSpPr/>
            <p:nvPr/>
          </p:nvSpPr>
          <p:spPr>
            <a:xfrm>
              <a:off x="5327676" y="304342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12" name="Клетка однослойного эпителия"/>
            <p:cNvSpPr/>
            <p:nvPr/>
          </p:nvSpPr>
          <p:spPr>
            <a:xfrm>
              <a:off x="5043600" y="2979294"/>
              <a:ext cx="216895" cy="195210"/>
            </a:xfrm>
            <a:custGeom>
              <a:avLst/>
              <a:gdLst/>
              <a:ahLst/>
              <a:cxnLst/>
              <a:rect l="l" t="t" r="r" b="b"/>
              <a:pathLst>
                <a:path w="216895" h="195210">
                  <a:moveTo>
                    <a:pt x="216895" y="190664"/>
                  </a:moveTo>
                  <a:lnTo>
                    <a:pt x="195050" y="192442"/>
                  </a:lnTo>
                  <a:lnTo>
                    <a:pt x="173221" y="193810"/>
                  </a:lnTo>
                  <a:lnTo>
                    <a:pt x="151405" y="194743"/>
                  </a:lnTo>
                  <a:lnTo>
                    <a:pt x="129606" y="195210"/>
                  </a:lnTo>
                  <a:lnTo>
                    <a:pt x="107831" y="195178"/>
                  </a:lnTo>
                  <a:lnTo>
                    <a:pt x="86094" y="194610"/>
                  </a:lnTo>
                  <a:lnTo>
                    <a:pt x="64415" y="193471"/>
                  </a:lnTo>
                  <a:lnTo>
                    <a:pt x="42819" y="191724"/>
                  </a:lnTo>
                  <a:lnTo>
                    <a:pt x="21336" y="189340"/>
                  </a:lnTo>
                  <a:lnTo>
                    <a:pt x="0" y="186289"/>
                  </a:lnTo>
                  <a:lnTo>
                    <a:pt x="49866" y="187"/>
                  </a:lnTo>
                  <a:lnTo>
                    <a:pt x="64619" y="1860"/>
                  </a:lnTo>
                  <a:lnTo>
                    <a:pt x="79484" y="3101"/>
                  </a:lnTo>
                  <a:lnTo>
                    <a:pt x="94436" y="3928"/>
                  </a:lnTo>
                  <a:lnTo>
                    <a:pt x="109453" y="4362"/>
                  </a:lnTo>
                  <a:lnTo>
                    <a:pt x="124519" y="4427"/>
                  </a:lnTo>
                  <a:lnTo>
                    <a:pt x="139619" y="4146"/>
                  </a:lnTo>
                  <a:lnTo>
                    <a:pt x="154743" y="3541"/>
                  </a:lnTo>
                  <a:lnTo>
                    <a:pt x="169884" y="2636"/>
                  </a:lnTo>
                  <a:lnTo>
                    <a:pt x="185041" y="1451"/>
                  </a:lnTo>
                  <a:lnTo>
                    <a:pt x="200214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13" name="Ядро эпителиальной клетки"/>
            <p:cNvSpPr/>
            <p:nvPr/>
          </p:nvSpPr>
          <p:spPr>
            <a:xfrm rot="5700000">
              <a:off x="5114388" y="300898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14" name="Ядрышко"/>
            <p:cNvSpPr/>
            <p:nvPr/>
          </p:nvSpPr>
          <p:spPr>
            <a:xfrm>
              <a:off x="5143649" y="306065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15" name="Клетка однослойного эпителия"/>
            <p:cNvSpPr/>
            <p:nvPr/>
          </p:nvSpPr>
          <p:spPr>
            <a:xfrm>
              <a:off x="4846075" y="2937972"/>
              <a:ext cx="247391" cy="227611"/>
            </a:xfrm>
            <a:custGeom>
              <a:avLst/>
              <a:gdLst/>
              <a:ahLst/>
              <a:cxnLst/>
              <a:rect l="l" t="t" r="r" b="b"/>
              <a:pathLst>
                <a:path w="247391" h="227611">
                  <a:moveTo>
                    <a:pt x="197525" y="227611"/>
                  </a:moveTo>
                  <a:lnTo>
                    <a:pt x="176371" y="223873"/>
                  </a:lnTo>
                  <a:lnTo>
                    <a:pt x="155439" y="219431"/>
                  </a:lnTo>
                  <a:lnTo>
                    <a:pt x="134766" y="214278"/>
                  </a:lnTo>
                  <a:lnTo>
                    <a:pt x="114390" y="208413"/>
                  </a:lnTo>
                  <a:lnTo>
                    <a:pt x="94345" y="201842"/>
                  </a:lnTo>
                  <a:lnTo>
                    <a:pt x="74662" y="194577"/>
                  </a:lnTo>
                  <a:lnTo>
                    <a:pt x="55368" y="186639"/>
                  </a:lnTo>
                  <a:lnTo>
                    <a:pt x="36483" y="178052"/>
                  </a:lnTo>
                  <a:lnTo>
                    <a:pt x="18024" y="168845"/>
                  </a:lnTo>
                  <a:lnTo>
                    <a:pt x="0" y="159047"/>
                  </a:lnTo>
                  <a:lnTo>
                    <a:pt x="111366" y="0"/>
                  </a:lnTo>
                  <a:lnTo>
                    <a:pt x="123729" y="6073"/>
                  </a:lnTo>
                  <a:lnTo>
                    <a:pt x="136402" y="11760"/>
                  </a:lnTo>
                  <a:lnTo>
                    <a:pt x="149379" y="17039"/>
                  </a:lnTo>
                  <a:lnTo>
                    <a:pt x="162648" y="21895"/>
                  </a:lnTo>
                  <a:lnTo>
                    <a:pt x="176197" y="26310"/>
                  </a:lnTo>
                  <a:lnTo>
                    <a:pt x="190006" y="30273"/>
                  </a:lnTo>
                  <a:lnTo>
                    <a:pt x="204055" y="33775"/>
                  </a:lnTo>
                  <a:lnTo>
                    <a:pt x="218319" y="36814"/>
                  </a:lnTo>
                  <a:lnTo>
                    <a:pt x="232773" y="39390"/>
                  </a:lnTo>
                  <a:lnTo>
                    <a:pt x="247391" y="41509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16" name="Ядро эпителиальной клетки"/>
            <p:cNvSpPr/>
            <p:nvPr/>
          </p:nvSpPr>
          <p:spPr>
            <a:xfrm rot="6900000">
              <a:off x="4937263" y="298224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17" name="Ядрышко"/>
            <p:cNvSpPr/>
            <p:nvPr/>
          </p:nvSpPr>
          <p:spPr>
            <a:xfrm>
              <a:off x="4966523" y="303390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18" name="Клетка однослойного эпителия"/>
            <p:cNvSpPr/>
            <p:nvPr/>
          </p:nvSpPr>
          <p:spPr>
            <a:xfrm>
              <a:off x="4689317" y="2859999"/>
              <a:ext cx="268124" cy="237020"/>
            </a:xfrm>
            <a:custGeom>
              <a:avLst/>
              <a:gdLst/>
              <a:ahLst/>
              <a:cxnLst/>
              <a:rect l="l" t="t" r="r" b="b"/>
              <a:pathLst>
                <a:path w="268124" h="237020">
                  <a:moveTo>
                    <a:pt x="156758" y="237020"/>
                  </a:moveTo>
                  <a:lnTo>
                    <a:pt x="139174" y="226666"/>
                  </a:lnTo>
                  <a:lnTo>
                    <a:pt x="122029" y="215788"/>
                  </a:lnTo>
                  <a:lnTo>
                    <a:pt x="105320" y="204416"/>
                  </a:lnTo>
                  <a:lnTo>
                    <a:pt x="89039" y="192579"/>
                  </a:lnTo>
                  <a:lnTo>
                    <a:pt x="73178" y="180301"/>
                  </a:lnTo>
                  <a:lnTo>
                    <a:pt x="57730" y="167603"/>
                  </a:lnTo>
                  <a:lnTo>
                    <a:pt x="42687" y="154500"/>
                  </a:lnTo>
                  <a:lnTo>
                    <a:pt x="28049" y="141001"/>
                  </a:lnTo>
                  <a:lnTo>
                    <a:pt x="13817" y="127112"/>
                  </a:lnTo>
                  <a:lnTo>
                    <a:pt x="0" y="112833"/>
                  </a:lnTo>
                  <a:lnTo>
                    <a:pt x="161141" y="0"/>
                  </a:lnTo>
                  <a:lnTo>
                    <a:pt x="170525" y="9024"/>
                  </a:lnTo>
                  <a:lnTo>
                    <a:pt x="180201" y="17790"/>
                  </a:lnTo>
                  <a:lnTo>
                    <a:pt x="190165" y="26299"/>
                  </a:lnTo>
                  <a:lnTo>
                    <a:pt x="200415" y="34547"/>
                  </a:lnTo>
                  <a:lnTo>
                    <a:pt x="210951" y="42528"/>
                  </a:lnTo>
                  <a:lnTo>
                    <a:pt x="221780" y="50231"/>
                  </a:lnTo>
                  <a:lnTo>
                    <a:pt x="232906" y="57645"/>
                  </a:lnTo>
                  <a:lnTo>
                    <a:pt x="244336" y="64752"/>
                  </a:lnTo>
                  <a:lnTo>
                    <a:pt x="256074" y="71535"/>
                  </a:lnTo>
                  <a:lnTo>
                    <a:pt x="268124" y="77973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19" name="Ядро эпителиальной клетки"/>
            <p:cNvSpPr/>
            <p:nvPr/>
          </p:nvSpPr>
          <p:spPr>
            <a:xfrm rot="8100000">
              <a:off x="4788417" y="290236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20" name="Ядрышко"/>
            <p:cNvSpPr/>
            <p:nvPr/>
          </p:nvSpPr>
          <p:spPr>
            <a:xfrm>
              <a:off x="4817677" y="295402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21" name="Клетка однослойного эпителия"/>
            <p:cNvSpPr/>
            <p:nvPr/>
          </p:nvSpPr>
          <p:spPr>
            <a:xfrm>
              <a:off x="4581754" y="2754639"/>
              <a:ext cx="268704" cy="218193"/>
            </a:xfrm>
            <a:custGeom>
              <a:avLst/>
              <a:gdLst/>
              <a:ahLst/>
              <a:cxnLst/>
              <a:rect l="l" t="t" r="r" b="b"/>
              <a:pathLst>
                <a:path w="268704" h="218193">
                  <a:moveTo>
                    <a:pt x="107563" y="218193"/>
                  </a:moveTo>
                  <a:lnTo>
                    <a:pt x="94178" y="203519"/>
                  </a:lnTo>
                  <a:lnTo>
                    <a:pt x="81249" y="188445"/>
                  </a:lnTo>
                  <a:lnTo>
                    <a:pt x="68811" y="172961"/>
                  </a:lnTo>
                  <a:lnTo>
                    <a:pt x="56906" y="157058"/>
                  </a:lnTo>
                  <a:lnTo>
                    <a:pt x="45585" y="140727"/>
                  </a:lnTo>
                  <a:lnTo>
                    <a:pt x="34906" y="123965"/>
                  </a:lnTo>
                  <a:lnTo>
                    <a:pt x="24937" y="106767"/>
                  </a:lnTo>
                  <a:lnTo>
                    <a:pt x="15747" y="89137"/>
                  </a:lnTo>
                  <a:lnTo>
                    <a:pt x="7409" y="71086"/>
                  </a:lnTo>
                  <a:lnTo>
                    <a:pt x="0" y="52629"/>
                  </a:lnTo>
                  <a:lnTo>
                    <a:pt x="196411" y="0"/>
                  </a:lnTo>
                  <a:lnTo>
                    <a:pt x="201293" y="11810"/>
                  </a:lnTo>
                  <a:lnTo>
                    <a:pt x="206824" y="23344"/>
                  </a:lnTo>
                  <a:lnTo>
                    <a:pt x="212953" y="34594"/>
                  </a:lnTo>
                  <a:lnTo>
                    <a:pt x="219628" y="45555"/>
                  </a:lnTo>
                  <a:lnTo>
                    <a:pt x="226800" y="56225"/>
                  </a:lnTo>
                  <a:lnTo>
                    <a:pt x="234424" y="66607"/>
                  </a:lnTo>
                  <a:lnTo>
                    <a:pt x="242459" y="76706"/>
                  </a:lnTo>
                  <a:lnTo>
                    <a:pt x="250870" y="86526"/>
                  </a:lnTo>
                  <a:lnTo>
                    <a:pt x="259626" y="96076"/>
                  </a:lnTo>
                  <a:lnTo>
                    <a:pt x="268704" y="10536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22" name="Ядро эпителиальной клетки"/>
            <p:cNvSpPr/>
            <p:nvPr/>
          </p:nvSpPr>
          <p:spPr>
            <a:xfrm rot="9300000">
              <a:off x="4675850" y="278513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23" name="Ядрышко"/>
            <p:cNvSpPr/>
            <p:nvPr/>
          </p:nvSpPr>
          <p:spPr>
            <a:xfrm>
              <a:off x="4705111" y="283679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24" name="Клетка однослойного эпителия"/>
            <p:cNvSpPr/>
            <p:nvPr/>
          </p:nvSpPr>
          <p:spPr>
            <a:xfrm>
              <a:off x="4560509" y="2609341"/>
              <a:ext cx="217656" cy="197927"/>
            </a:xfrm>
            <a:custGeom>
              <a:avLst/>
              <a:gdLst/>
              <a:ahLst/>
              <a:cxnLst/>
              <a:rect l="l" t="t" r="r" b="b"/>
              <a:pathLst>
                <a:path w="217656" h="197927">
                  <a:moveTo>
                    <a:pt x="21245" y="197927"/>
                  </a:moveTo>
                  <a:lnTo>
                    <a:pt x="14836" y="179088"/>
                  </a:lnTo>
                  <a:lnTo>
                    <a:pt x="9499" y="159901"/>
                  </a:lnTo>
                  <a:lnTo>
                    <a:pt x="5297" y="140406"/>
                  </a:lnTo>
                  <a:lnTo>
                    <a:pt x="2286" y="120650"/>
                  </a:lnTo>
                  <a:lnTo>
                    <a:pt x="509" y="100687"/>
                  </a:lnTo>
                  <a:lnTo>
                    <a:pt x="0" y="80579"/>
                  </a:lnTo>
                  <a:lnTo>
                    <a:pt x="778" y="60389"/>
                  </a:lnTo>
                  <a:lnTo>
                    <a:pt x="2845" y="40184"/>
                  </a:lnTo>
                  <a:lnTo>
                    <a:pt x="6191" y="20032"/>
                  </a:lnTo>
                  <a:lnTo>
                    <a:pt x="10789" y="0"/>
                  </a:lnTo>
                  <a:lnTo>
                    <a:pt x="213153" y="17704"/>
                  </a:lnTo>
                  <a:lnTo>
                    <a:pt x="209686" y="30697"/>
                  </a:lnTo>
                  <a:lnTo>
                    <a:pt x="207086" y="43749"/>
                  </a:lnTo>
                  <a:lnTo>
                    <a:pt x="205372" y="56817"/>
                  </a:lnTo>
                  <a:lnTo>
                    <a:pt x="204552" y="69859"/>
                  </a:lnTo>
                  <a:lnTo>
                    <a:pt x="204626" y="82829"/>
                  </a:lnTo>
                  <a:lnTo>
                    <a:pt x="205581" y="95688"/>
                  </a:lnTo>
                  <a:lnTo>
                    <a:pt x="207396" y="108397"/>
                  </a:lnTo>
                  <a:lnTo>
                    <a:pt x="210039" y="120920"/>
                  </a:lnTo>
                  <a:lnTo>
                    <a:pt x="213474" y="133229"/>
                  </a:lnTo>
                  <a:lnTo>
                    <a:pt x="217656" y="145298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25" name="Ядро эпителиальной клетки"/>
            <p:cNvSpPr/>
            <p:nvPr/>
          </p:nvSpPr>
          <p:spPr>
            <a:xfrm rot="10500000">
              <a:off x="4621439" y="263444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26" name="Ядрышко"/>
            <p:cNvSpPr/>
            <p:nvPr/>
          </p:nvSpPr>
          <p:spPr>
            <a:xfrm>
              <a:off x="4650699" y="268611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27" name="Клетка однослойного эпителия"/>
            <p:cNvSpPr/>
            <p:nvPr/>
          </p:nvSpPr>
          <p:spPr>
            <a:xfrm>
              <a:off x="4571298" y="2426251"/>
              <a:ext cx="274314" cy="200794"/>
            </a:xfrm>
            <a:custGeom>
              <a:avLst/>
              <a:gdLst/>
              <a:ahLst/>
              <a:cxnLst/>
              <a:rect l="l" t="t" r="r" b="b"/>
              <a:pathLst>
                <a:path w="274314" h="200794">
                  <a:moveTo>
                    <a:pt x="0" y="183090"/>
                  </a:moveTo>
                  <a:lnTo>
                    <a:pt x="5808" y="163242"/>
                  </a:lnTo>
                  <a:lnTo>
                    <a:pt x="12768" y="143637"/>
                  </a:lnTo>
                  <a:lnTo>
                    <a:pt x="20814" y="124327"/>
                  </a:lnTo>
                  <a:lnTo>
                    <a:pt x="29865" y="105358"/>
                  </a:lnTo>
                  <a:lnTo>
                    <a:pt x="39833" y="86766"/>
                  </a:lnTo>
                  <a:lnTo>
                    <a:pt x="50624" y="68576"/>
                  </a:lnTo>
                  <a:lnTo>
                    <a:pt x="62142" y="50804"/>
                  </a:lnTo>
                  <a:lnTo>
                    <a:pt x="74288" y="33456"/>
                  </a:lnTo>
                  <a:lnTo>
                    <a:pt x="86968" y="16526"/>
                  </a:lnTo>
                  <a:lnTo>
                    <a:pt x="100091" y="0"/>
                  </a:lnTo>
                  <a:lnTo>
                    <a:pt x="274314" y="81242"/>
                  </a:lnTo>
                  <a:lnTo>
                    <a:pt x="264984" y="92089"/>
                  </a:lnTo>
                  <a:lnTo>
                    <a:pt x="255956" y="103192"/>
                  </a:lnTo>
                  <a:lnTo>
                    <a:pt x="247292" y="114557"/>
                  </a:lnTo>
                  <a:lnTo>
                    <a:pt x="239059" y="126186"/>
                  </a:lnTo>
                  <a:lnTo>
                    <a:pt x="231323" y="138075"/>
                  </a:lnTo>
                  <a:lnTo>
                    <a:pt x="224152" y="150213"/>
                  </a:lnTo>
                  <a:lnTo>
                    <a:pt x="217613" y="162581"/>
                  </a:lnTo>
                  <a:lnTo>
                    <a:pt x="211766" y="175155"/>
                  </a:lnTo>
                  <a:lnTo>
                    <a:pt x="206666" y="187904"/>
                  </a:lnTo>
                  <a:lnTo>
                    <a:pt x="202364" y="20079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28" name="Ядро эпителиальной клетки"/>
            <p:cNvSpPr/>
            <p:nvPr/>
          </p:nvSpPr>
          <p:spPr>
            <a:xfrm rot="11700000">
              <a:off x="4664985" y="247340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29" name="Ядрышко"/>
            <p:cNvSpPr/>
            <p:nvPr/>
          </p:nvSpPr>
          <p:spPr>
            <a:xfrm>
              <a:off x="4694246" y="252506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30" name="Клетка однослойного эпителия"/>
            <p:cNvSpPr/>
            <p:nvPr/>
          </p:nvSpPr>
          <p:spPr>
            <a:xfrm>
              <a:off x="4671389" y="2276423"/>
              <a:ext cx="275657" cy="231070"/>
            </a:xfrm>
            <a:custGeom>
              <a:avLst/>
              <a:gdLst/>
              <a:ahLst/>
              <a:cxnLst/>
              <a:rect l="l" t="t" r="r" b="b"/>
              <a:pathLst>
                <a:path w="275657" h="231070">
                  <a:moveTo>
                    <a:pt x="0" y="149828"/>
                  </a:moveTo>
                  <a:lnTo>
                    <a:pt x="13485" y="133685"/>
                  </a:lnTo>
                  <a:lnTo>
                    <a:pt x="27257" y="117894"/>
                  </a:lnTo>
                  <a:lnTo>
                    <a:pt x="41257" y="102421"/>
                  </a:lnTo>
                  <a:lnTo>
                    <a:pt x="55435" y="87229"/>
                  </a:lnTo>
                  <a:lnTo>
                    <a:pt x="69758" y="72280"/>
                  </a:lnTo>
                  <a:lnTo>
                    <a:pt x="84203" y="57534"/>
                  </a:lnTo>
                  <a:lnTo>
                    <a:pt x="98765" y="42960"/>
                  </a:lnTo>
                  <a:lnTo>
                    <a:pt x="113450" y="28526"/>
                  </a:lnTo>
                  <a:lnTo>
                    <a:pt x="128276" y="14210"/>
                  </a:lnTo>
                  <a:lnTo>
                    <a:pt x="143272" y="0"/>
                  </a:lnTo>
                  <a:lnTo>
                    <a:pt x="275657" y="132384"/>
                  </a:lnTo>
                  <a:lnTo>
                    <a:pt x="265060" y="141764"/>
                  </a:lnTo>
                  <a:lnTo>
                    <a:pt x="254580" y="151208"/>
                  </a:lnTo>
                  <a:lnTo>
                    <a:pt x="244196" y="160728"/>
                  </a:lnTo>
                  <a:lnTo>
                    <a:pt x="233896" y="170336"/>
                  </a:lnTo>
                  <a:lnTo>
                    <a:pt x="223674" y="180053"/>
                  </a:lnTo>
                  <a:lnTo>
                    <a:pt x="213534" y="189900"/>
                  </a:lnTo>
                  <a:lnTo>
                    <a:pt x="203491" y="199901"/>
                  </a:lnTo>
                  <a:lnTo>
                    <a:pt x="193568" y="210082"/>
                  </a:lnTo>
                  <a:lnTo>
                    <a:pt x="183798" y="220464"/>
                  </a:lnTo>
                  <a:lnTo>
                    <a:pt x="174223" y="23107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31" name="Ядро эпителиальной клетки"/>
            <p:cNvSpPr/>
            <p:nvPr/>
          </p:nvSpPr>
          <p:spPr>
            <a:xfrm rot="12900000">
              <a:off x="4775462" y="233845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32" name="Ядрышко"/>
            <p:cNvSpPr/>
            <p:nvPr/>
          </p:nvSpPr>
          <p:spPr>
            <a:xfrm>
              <a:off x="4804723" y="239011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33" name="Клетка однослойного эпителия"/>
            <p:cNvSpPr/>
            <p:nvPr/>
          </p:nvSpPr>
          <p:spPr>
            <a:xfrm>
              <a:off x="4814661" y="2144228"/>
              <a:ext cx="251223" cy="264579"/>
            </a:xfrm>
            <a:custGeom>
              <a:avLst/>
              <a:gdLst/>
              <a:ahLst/>
              <a:cxnLst/>
              <a:rect l="l" t="t" r="r" b="b"/>
              <a:pathLst>
                <a:path w="251223" h="264579">
                  <a:moveTo>
                    <a:pt x="0" y="132195"/>
                  </a:moveTo>
                  <a:lnTo>
                    <a:pt x="15204" y="118084"/>
                  </a:lnTo>
                  <a:lnTo>
                    <a:pt x="30659" y="104081"/>
                  </a:lnTo>
                  <a:lnTo>
                    <a:pt x="46412" y="90200"/>
                  </a:lnTo>
                  <a:lnTo>
                    <a:pt x="62513" y="76471"/>
                  </a:lnTo>
                  <a:lnTo>
                    <a:pt x="79008" y="62931"/>
                  </a:lnTo>
                  <a:lnTo>
                    <a:pt x="95942" y="49628"/>
                  </a:lnTo>
                  <a:lnTo>
                    <a:pt x="113354" y="36619"/>
                  </a:lnTo>
                  <a:lnTo>
                    <a:pt x="131275" y="23965"/>
                  </a:lnTo>
                  <a:lnTo>
                    <a:pt x="149728" y="11735"/>
                  </a:lnTo>
                  <a:lnTo>
                    <a:pt x="168724" y="0"/>
                  </a:lnTo>
                  <a:lnTo>
                    <a:pt x="251223" y="176921"/>
                  </a:lnTo>
                  <a:lnTo>
                    <a:pt x="237887" y="184758"/>
                  </a:lnTo>
                  <a:lnTo>
                    <a:pt x="224921" y="192907"/>
                  </a:lnTo>
                  <a:lnTo>
                    <a:pt x="212318" y="201323"/>
                  </a:lnTo>
                  <a:lnTo>
                    <a:pt x="200063" y="209960"/>
                  </a:lnTo>
                  <a:lnTo>
                    <a:pt x="188135" y="218781"/>
                  </a:lnTo>
                  <a:lnTo>
                    <a:pt x="176508" y="227748"/>
                  </a:lnTo>
                  <a:lnTo>
                    <a:pt x="165153" y="236832"/>
                  </a:lnTo>
                  <a:lnTo>
                    <a:pt x="154036" y="246009"/>
                  </a:lnTo>
                  <a:lnTo>
                    <a:pt x="143124" y="255262"/>
                  </a:lnTo>
                  <a:lnTo>
                    <a:pt x="132385" y="264579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34" name="Ядро эпителиальной клетки"/>
            <p:cNvSpPr/>
            <p:nvPr/>
          </p:nvSpPr>
          <p:spPr>
            <a:xfrm rot="14100000">
              <a:off x="4904694" y="222190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35" name="Ядрышко"/>
            <p:cNvSpPr/>
            <p:nvPr/>
          </p:nvSpPr>
          <p:spPr>
            <a:xfrm>
              <a:off x="4933955" y="227357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36" name="Клетка однослойного эпителия"/>
            <p:cNvSpPr/>
            <p:nvPr/>
          </p:nvSpPr>
          <p:spPr>
            <a:xfrm>
              <a:off x="4983385" y="2067812"/>
              <a:ext cx="232806" cy="253337"/>
            </a:xfrm>
            <a:custGeom>
              <a:avLst/>
              <a:gdLst/>
              <a:ahLst/>
              <a:cxnLst/>
              <a:rect l="l" t="t" r="r" b="b"/>
              <a:pathLst>
                <a:path w="232806" h="253337">
                  <a:moveTo>
                    <a:pt x="0" y="76416"/>
                  </a:moveTo>
                  <a:lnTo>
                    <a:pt x="19541" y="65248"/>
                  </a:lnTo>
                  <a:lnTo>
                    <a:pt x="39617" y="54716"/>
                  </a:lnTo>
                  <a:lnTo>
                    <a:pt x="60209" y="44888"/>
                  </a:lnTo>
                  <a:lnTo>
                    <a:pt x="81286" y="35827"/>
                  </a:lnTo>
                  <a:lnTo>
                    <a:pt x="102807" y="27586"/>
                  </a:lnTo>
                  <a:lnTo>
                    <a:pt x="124724" y="20214"/>
                  </a:lnTo>
                  <a:lnTo>
                    <a:pt x="146985" y="13748"/>
                  </a:lnTo>
                  <a:lnTo>
                    <a:pt x="169528" y="8214"/>
                  </a:lnTo>
                  <a:lnTo>
                    <a:pt x="192294" y="3629"/>
                  </a:lnTo>
                  <a:lnTo>
                    <a:pt x="215218" y="0"/>
                  </a:lnTo>
                  <a:lnTo>
                    <a:pt x="232806" y="201032"/>
                  </a:lnTo>
                  <a:lnTo>
                    <a:pt x="216858" y="203692"/>
                  </a:lnTo>
                  <a:lnTo>
                    <a:pt x="201008" y="206967"/>
                  </a:lnTo>
                  <a:lnTo>
                    <a:pt x="185298" y="210852"/>
                  </a:lnTo>
                  <a:lnTo>
                    <a:pt x="169771" y="215334"/>
                  </a:lnTo>
                  <a:lnTo>
                    <a:pt x="154470" y="220396"/>
                  </a:lnTo>
                  <a:lnTo>
                    <a:pt x="139431" y="226013"/>
                  </a:lnTo>
                  <a:lnTo>
                    <a:pt x="124690" y="232154"/>
                  </a:lnTo>
                  <a:lnTo>
                    <a:pt x="110274" y="238782"/>
                  </a:lnTo>
                  <a:lnTo>
                    <a:pt x="96205" y="245858"/>
                  </a:lnTo>
                  <a:lnTo>
                    <a:pt x="82499" y="25333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37" name="Ядро эпителиальной клетки"/>
            <p:cNvSpPr/>
            <p:nvPr/>
          </p:nvSpPr>
          <p:spPr>
            <a:xfrm rot="15300000">
              <a:off x="5067336" y="212936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38" name="Ядрышко"/>
            <p:cNvSpPr/>
            <p:nvPr/>
          </p:nvSpPr>
          <p:spPr>
            <a:xfrm>
              <a:off x="5096597" y="218102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39" name="Клетка однослойного эпителия"/>
            <p:cNvSpPr/>
            <p:nvPr/>
          </p:nvSpPr>
          <p:spPr>
            <a:xfrm>
              <a:off x="5198603" y="2062572"/>
              <a:ext cx="226150" cy="210779"/>
            </a:xfrm>
            <a:custGeom>
              <a:avLst/>
              <a:gdLst/>
              <a:ahLst/>
              <a:cxnLst/>
              <a:rect l="l" t="t" r="r" b="b"/>
              <a:pathLst>
                <a:path w="226150" h="210779">
                  <a:moveTo>
                    <a:pt x="0" y="5240"/>
                  </a:moveTo>
                  <a:lnTo>
                    <a:pt x="23020" y="2562"/>
                  </a:lnTo>
                  <a:lnTo>
                    <a:pt x="46076" y="823"/>
                  </a:lnTo>
                  <a:lnTo>
                    <a:pt x="69112" y="0"/>
                  </a:lnTo>
                  <a:lnTo>
                    <a:pt x="92076" y="66"/>
                  </a:lnTo>
                  <a:lnTo>
                    <a:pt x="114921" y="988"/>
                  </a:lnTo>
                  <a:lnTo>
                    <a:pt x="137607" y="2727"/>
                  </a:lnTo>
                  <a:lnTo>
                    <a:pt x="160099" y="5245"/>
                  </a:lnTo>
                  <a:lnTo>
                    <a:pt x="182369" y="8502"/>
                  </a:lnTo>
                  <a:lnTo>
                    <a:pt x="204392" y="12461"/>
                  </a:lnTo>
                  <a:lnTo>
                    <a:pt x="226150" y="17087"/>
                  </a:lnTo>
                  <a:lnTo>
                    <a:pt x="174251" y="210779"/>
                  </a:lnTo>
                  <a:lnTo>
                    <a:pt x="159226" y="208096"/>
                  </a:lnTo>
                  <a:lnTo>
                    <a:pt x="144009" y="205846"/>
                  </a:lnTo>
                  <a:lnTo>
                    <a:pt x="128611" y="204053"/>
                  </a:lnTo>
                  <a:lnTo>
                    <a:pt x="113048" y="202740"/>
                  </a:lnTo>
                  <a:lnTo>
                    <a:pt x="97341" y="201933"/>
                  </a:lnTo>
                  <a:lnTo>
                    <a:pt x="81511" y="201655"/>
                  </a:lnTo>
                  <a:lnTo>
                    <a:pt x="65588" y="201931"/>
                  </a:lnTo>
                  <a:lnTo>
                    <a:pt x="49602" y="202782"/>
                  </a:lnTo>
                  <a:lnTo>
                    <a:pt x="33589" y="204224"/>
                  </a:lnTo>
                  <a:lnTo>
                    <a:pt x="17588" y="20627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40" name="Ядро эпителиальной клетки"/>
            <p:cNvSpPr/>
            <p:nvPr/>
          </p:nvSpPr>
          <p:spPr>
            <a:xfrm rot="16500000">
              <a:off x="5258662" y="210175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41" name="Ядрышко"/>
            <p:cNvSpPr/>
            <p:nvPr/>
          </p:nvSpPr>
          <p:spPr>
            <a:xfrm>
              <a:off x="5287922" y="215342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42" name="Клетка однослойного эпителия"/>
            <p:cNvSpPr/>
            <p:nvPr/>
          </p:nvSpPr>
          <p:spPr>
            <a:xfrm>
              <a:off x="5372854" y="2079659"/>
              <a:ext cx="251448" cy="241673"/>
            </a:xfrm>
            <a:custGeom>
              <a:avLst/>
              <a:gdLst/>
              <a:ahLst/>
              <a:cxnLst/>
              <a:rect l="l" t="t" r="r" b="b"/>
              <a:pathLst>
                <a:path w="251448" h="241673">
                  <a:moveTo>
                    <a:pt x="51899" y="0"/>
                  </a:moveTo>
                  <a:lnTo>
                    <a:pt x="73376" y="5261"/>
                  </a:lnTo>
                  <a:lnTo>
                    <a:pt x="94558" y="11131"/>
                  </a:lnTo>
                  <a:lnTo>
                    <a:pt x="115432" y="17588"/>
                  </a:lnTo>
                  <a:lnTo>
                    <a:pt x="135984" y="24619"/>
                  </a:lnTo>
                  <a:lnTo>
                    <a:pt x="156199" y="32214"/>
                  </a:lnTo>
                  <a:lnTo>
                    <a:pt x="176059" y="40368"/>
                  </a:lnTo>
                  <a:lnTo>
                    <a:pt x="195542" y="49081"/>
                  </a:lnTo>
                  <a:lnTo>
                    <a:pt x="214623" y="58359"/>
                  </a:lnTo>
                  <a:lnTo>
                    <a:pt x="233270" y="68208"/>
                  </a:lnTo>
                  <a:lnTo>
                    <a:pt x="251448" y="78636"/>
                  </a:lnTo>
                  <a:lnTo>
                    <a:pt x="137288" y="241673"/>
                  </a:lnTo>
                  <a:lnTo>
                    <a:pt x="124827" y="235196"/>
                  </a:lnTo>
                  <a:lnTo>
                    <a:pt x="112032" y="229098"/>
                  </a:lnTo>
                  <a:lnTo>
                    <a:pt x="98930" y="223375"/>
                  </a:lnTo>
                  <a:lnTo>
                    <a:pt x="85540" y="218022"/>
                  </a:lnTo>
                  <a:lnTo>
                    <a:pt x="71881" y="213035"/>
                  </a:lnTo>
                  <a:lnTo>
                    <a:pt x="57968" y="208414"/>
                  </a:lnTo>
                  <a:lnTo>
                    <a:pt x="43813" y="204162"/>
                  </a:lnTo>
                  <a:lnTo>
                    <a:pt x="29428" y="200284"/>
                  </a:lnTo>
                  <a:lnTo>
                    <a:pt x="14820" y="196789"/>
                  </a:lnTo>
                  <a:lnTo>
                    <a:pt x="0" y="193692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43" name="Ядро эпителиальной клетки"/>
            <p:cNvSpPr/>
            <p:nvPr/>
          </p:nvSpPr>
          <p:spPr>
            <a:xfrm rot="17700000">
              <a:off x="5439487" y="213960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44" name="Ядрышко"/>
            <p:cNvSpPr/>
            <p:nvPr/>
          </p:nvSpPr>
          <p:spPr>
            <a:xfrm>
              <a:off x="5468748" y="219126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45" name="Клетка однослойного эпителия"/>
            <p:cNvSpPr/>
            <p:nvPr/>
          </p:nvSpPr>
          <p:spPr>
            <a:xfrm>
              <a:off x="5510142" y="2158295"/>
              <a:ext cx="260609" cy="248930"/>
            </a:xfrm>
            <a:custGeom>
              <a:avLst/>
              <a:gdLst/>
              <a:ahLst/>
              <a:cxnLst/>
              <a:rect l="l" t="t" r="r" b="b"/>
              <a:pathLst>
                <a:path w="260609" h="248930">
                  <a:moveTo>
                    <a:pt x="114160" y="0"/>
                  </a:moveTo>
                  <a:lnTo>
                    <a:pt x="131830" y="11015"/>
                  </a:lnTo>
                  <a:lnTo>
                    <a:pt x="148948" y="22623"/>
                  </a:lnTo>
                  <a:lnTo>
                    <a:pt x="165468" y="34827"/>
                  </a:lnTo>
                  <a:lnTo>
                    <a:pt x="181344" y="47628"/>
                  </a:lnTo>
                  <a:lnTo>
                    <a:pt x="196527" y="61020"/>
                  </a:lnTo>
                  <a:lnTo>
                    <a:pt x="210973" y="74992"/>
                  </a:lnTo>
                  <a:lnTo>
                    <a:pt x="224638" y="89526"/>
                  </a:lnTo>
                  <a:lnTo>
                    <a:pt x="237485" y="104599"/>
                  </a:lnTo>
                  <a:lnTo>
                    <a:pt x="249483" y="120181"/>
                  </a:lnTo>
                  <a:lnTo>
                    <a:pt x="260609" y="136236"/>
                  </a:lnTo>
                  <a:lnTo>
                    <a:pt x="99666" y="248930"/>
                  </a:lnTo>
                  <a:lnTo>
                    <a:pt x="92174" y="238722"/>
                  </a:lnTo>
                  <a:lnTo>
                    <a:pt x="84070" y="228833"/>
                  </a:lnTo>
                  <a:lnTo>
                    <a:pt x="75370" y="219283"/>
                  </a:lnTo>
                  <a:lnTo>
                    <a:pt x="66096" y="210092"/>
                  </a:lnTo>
                  <a:lnTo>
                    <a:pt x="56272" y="201276"/>
                  </a:lnTo>
                  <a:lnTo>
                    <a:pt x="45929" y="192843"/>
                  </a:lnTo>
                  <a:lnTo>
                    <a:pt x="35097" y="184802"/>
                  </a:lnTo>
                  <a:lnTo>
                    <a:pt x="23810" y="177155"/>
                  </a:lnTo>
                  <a:lnTo>
                    <a:pt x="12101" y="169901"/>
                  </a:lnTo>
                  <a:lnTo>
                    <a:pt x="0" y="163037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46" name="Ядро эпителиальной клетки"/>
            <p:cNvSpPr/>
            <p:nvPr/>
          </p:nvSpPr>
          <p:spPr>
            <a:xfrm rot="18900000">
              <a:off x="5588016" y="222595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47" name="Ядрышко"/>
            <p:cNvSpPr/>
            <p:nvPr/>
          </p:nvSpPr>
          <p:spPr>
            <a:xfrm>
              <a:off x="5617277" y="227761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48" name="Клетка однослойного эпителия"/>
            <p:cNvSpPr/>
            <p:nvPr/>
          </p:nvSpPr>
          <p:spPr>
            <a:xfrm>
              <a:off x="5609808" y="2294531"/>
              <a:ext cx="226150" cy="225811"/>
            </a:xfrm>
            <a:custGeom>
              <a:avLst/>
              <a:gdLst/>
              <a:ahLst/>
              <a:cxnLst/>
              <a:rect l="l" t="t" r="r" b="b"/>
              <a:pathLst>
                <a:path w="226150" h="225811">
                  <a:moveTo>
                    <a:pt x="160943" y="0"/>
                  </a:moveTo>
                  <a:lnTo>
                    <a:pt x="171183" y="16488"/>
                  </a:lnTo>
                  <a:lnTo>
                    <a:pt x="180534" y="33363"/>
                  </a:lnTo>
                  <a:lnTo>
                    <a:pt x="189001" y="50577"/>
                  </a:lnTo>
                  <a:lnTo>
                    <a:pt x="196603" y="68082"/>
                  </a:lnTo>
                  <a:lnTo>
                    <a:pt x="203365" y="85830"/>
                  </a:lnTo>
                  <a:lnTo>
                    <a:pt x="209326" y="103772"/>
                  </a:lnTo>
                  <a:lnTo>
                    <a:pt x="214531" y="121864"/>
                  </a:lnTo>
                  <a:lnTo>
                    <a:pt x="219031" y="140067"/>
                  </a:lnTo>
                  <a:lnTo>
                    <a:pt x="222884" y="158346"/>
                  </a:lnTo>
                  <a:lnTo>
                    <a:pt x="226150" y="176674"/>
                  </a:lnTo>
                  <a:lnTo>
                    <a:pt x="42767" y="225811"/>
                  </a:lnTo>
                  <a:lnTo>
                    <a:pt x="40757" y="214028"/>
                  </a:lnTo>
                  <a:lnTo>
                    <a:pt x="38339" y="202284"/>
                  </a:lnTo>
                  <a:lnTo>
                    <a:pt x="35470" y="190599"/>
                  </a:lnTo>
                  <a:lnTo>
                    <a:pt x="32112" y="178995"/>
                  </a:lnTo>
                  <a:lnTo>
                    <a:pt x="28228" y="167498"/>
                  </a:lnTo>
                  <a:lnTo>
                    <a:pt x="23784" y="156138"/>
                  </a:lnTo>
                  <a:lnTo>
                    <a:pt x="18756" y="144946"/>
                  </a:lnTo>
                  <a:lnTo>
                    <a:pt x="13123" y="133953"/>
                  </a:lnTo>
                  <a:lnTo>
                    <a:pt x="6873" y="123192"/>
                  </a:lnTo>
                  <a:lnTo>
                    <a:pt x="0" y="112694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49" name="Ядро эпителиальной клетки"/>
            <p:cNvSpPr/>
            <p:nvPr/>
          </p:nvSpPr>
          <p:spPr>
            <a:xfrm rot="20100000">
              <a:off x="5676381" y="235653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50" name="Ядрышко"/>
            <p:cNvSpPr/>
            <p:nvPr/>
          </p:nvSpPr>
          <p:spPr>
            <a:xfrm>
              <a:off x="5705642" y="240819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51" name="Просвет канальца"/>
            <p:cNvSpPr/>
            <p:nvPr/>
          </p:nvSpPr>
          <p:spPr>
            <a:xfrm>
              <a:off x="4769238" y="2266792"/>
              <a:ext cx="893190" cy="719570"/>
            </a:xfrm>
            <a:custGeom>
              <a:avLst/>
              <a:gdLst/>
              <a:ahLst/>
              <a:cxnLst/>
              <a:rect l="l" t="t" r="r" b="b"/>
              <a:pathLst>
                <a:path w="893190" h="719570">
                  <a:moveTo>
                    <a:pt x="887290" y="252491"/>
                  </a:moveTo>
                  <a:lnTo>
                    <a:pt x="889890" y="270323"/>
                  </a:lnTo>
                  <a:lnTo>
                    <a:pt x="891678" y="288230"/>
                  </a:lnTo>
                  <a:lnTo>
                    <a:pt x="892753" y="306194"/>
                  </a:lnTo>
                  <a:lnTo>
                    <a:pt x="893190" y="324220"/>
                  </a:lnTo>
                  <a:lnTo>
                    <a:pt x="893035" y="342323"/>
                  </a:lnTo>
                  <a:lnTo>
                    <a:pt x="892293" y="360528"/>
                  </a:lnTo>
                  <a:lnTo>
                    <a:pt x="890933" y="378862"/>
                  </a:lnTo>
                  <a:lnTo>
                    <a:pt x="888886" y="397345"/>
                  </a:lnTo>
                  <a:lnTo>
                    <a:pt x="886049" y="415982"/>
                  </a:lnTo>
                  <a:lnTo>
                    <a:pt x="882295" y="434762"/>
                  </a:lnTo>
                  <a:lnTo>
                    <a:pt x="877481" y="453646"/>
                  </a:lnTo>
                  <a:lnTo>
                    <a:pt x="871459" y="472571"/>
                  </a:lnTo>
                  <a:lnTo>
                    <a:pt x="864093" y="491449"/>
                  </a:lnTo>
                  <a:lnTo>
                    <a:pt x="855264" y="510165"/>
                  </a:lnTo>
                  <a:lnTo>
                    <a:pt x="844886" y="528587"/>
                  </a:lnTo>
                  <a:lnTo>
                    <a:pt x="832909" y="546571"/>
                  </a:lnTo>
                  <a:lnTo>
                    <a:pt x="819329" y="563968"/>
                  </a:lnTo>
                  <a:lnTo>
                    <a:pt x="804185" y="580634"/>
                  </a:lnTo>
                  <a:lnTo>
                    <a:pt x="787561" y="596438"/>
                  </a:lnTo>
                  <a:lnTo>
                    <a:pt x="769580" y="611270"/>
                  </a:lnTo>
                  <a:lnTo>
                    <a:pt x="750393" y="625048"/>
                  </a:lnTo>
                  <a:lnTo>
                    <a:pt x="730175" y="637719"/>
                  </a:lnTo>
                  <a:lnTo>
                    <a:pt x="709109" y="649265"/>
                  </a:lnTo>
                  <a:lnTo>
                    <a:pt x="687378" y="659697"/>
                  </a:lnTo>
                  <a:lnTo>
                    <a:pt x="665155" y="669055"/>
                  </a:lnTo>
                  <a:lnTo>
                    <a:pt x="642591" y="677401"/>
                  </a:lnTo>
                  <a:lnTo>
                    <a:pt x="619814" y="684810"/>
                  </a:lnTo>
                  <a:lnTo>
                    <a:pt x="596922" y="691364"/>
                  </a:lnTo>
                  <a:lnTo>
                    <a:pt x="573982" y="697144"/>
                  </a:lnTo>
                  <a:lnTo>
                    <a:pt x="551037" y="702219"/>
                  </a:lnTo>
                  <a:lnTo>
                    <a:pt x="528106" y="706640"/>
                  </a:lnTo>
                  <a:lnTo>
                    <a:pt x="505191" y="710441"/>
                  </a:lnTo>
                  <a:lnTo>
                    <a:pt x="482288" y="713626"/>
                  </a:lnTo>
                  <a:lnTo>
                    <a:pt x="459392" y="716178"/>
                  </a:lnTo>
                  <a:lnTo>
                    <a:pt x="436503" y="718060"/>
                  </a:lnTo>
                  <a:lnTo>
                    <a:pt x="413635" y="719213"/>
                  </a:lnTo>
                  <a:lnTo>
                    <a:pt x="390819" y="719570"/>
                  </a:lnTo>
                  <a:lnTo>
                    <a:pt x="368103" y="719060"/>
                  </a:lnTo>
                  <a:lnTo>
                    <a:pt x="345552" y="717613"/>
                  </a:lnTo>
                  <a:lnTo>
                    <a:pt x="323246" y="715170"/>
                  </a:lnTo>
                  <a:lnTo>
                    <a:pt x="301273" y="711688"/>
                  </a:lnTo>
                  <a:lnTo>
                    <a:pt x="279726" y="707144"/>
                  </a:lnTo>
                  <a:lnTo>
                    <a:pt x="258695" y="701534"/>
                  </a:lnTo>
                  <a:lnTo>
                    <a:pt x="238259" y="694881"/>
                  </a:lnTo>
                  <a:lnTo>
                    <a:pt x="218484" y="687224"/>
                  </a:lnTo>
                  <a:lnTo>
                    <a:pt x="199420" y="678620"/>
                  </a:lnTo>
                  <a:lnTo>
                    <a:pt x="181094" y="669135"/>
                  </a:lnTo>
                  <a:lnTo>
                    <a:pt x="163517" y="658840"/>
                  </a:lnTo>
                  <a:lnTo>
                    <a:pt x="146685" y="647807"/>
                  </a:lnTo>
                  <a:lnTo>
                    <a:pt x="130585" y="636098"/>
                  </a:lnTo>
                  <a:lnTo>
                    <a:pt x="115199" y="623763"/>
                  </a:lnTo>
                  <a:lnTo>
                    <a:pt x="100514" y="610839"/>
                  </a:lnTo>
                  <a:lnTo>
                    <a:pt x="86530" y="597348"/>
                  </a:lnTo>
                  <a:lnTo>
                    <a:pt x="73266" y="583295"/>
                  </a:lnTo>
                  <a:lnTo>
                    <a:pt x="60761" y="568677"/>
                  </a:lnTo>
                  <a:lnTo>
                    <a:pt x="49086" y="553482"/>
                  </a:lnTo>
                  <a:lnTo>
                    <a:pt x="38334" y="537696"/>
                  </a:lnTo>
                  <a:lnTo>
                    <a:pt x="28623" y="521313"/>
                  </a:lnTo>
                  <a:lnTo>
                    <a:pt x="20090" y="504337"/>
                  </a:lnTo>
                  <a:lnTo>
                    <a:pt x="12880" y="486788"/>
                  </a:lnTo>
                  <a:lnTo>
                    <a:pt x="7141" y="468706"/>
                  </a:lnTo>
                  <a:lnTo>
                    <a:pt x="3010" y="450154"/>
                  </a:lnTo>
                  <a:lnTo>
                    <a:pt x="601" y="431217"/>
                  </a:lnTo>
                  <a:lnTo>
                    <a:pt x="0" y="411997"/>
                  </a:lnTo>
                  <a:lnTo>
                    <a:pt x="1254" y="392615"/>
                  </a:lnTo>
                  <a:lnTo>
                    <a:pt x="4367" y="373197"/>
                  </a:lnTo>
                  <a:lnTo>
                    <a:pt x="9295" y="353873"/>
                  </a:lnTo>
                  <a:lnTo>
                    <a:pt x="15952" y="334766"/>
                  </a:lnTo>
                  <a:lnTo>
                    <a:pt x="24213" y="315986"/>
                  </a:lnTo>
                  <a:lnTo>
                    <a:pt x="33918" y="297621"/>
                  </a:lnTo>
                  <a:lnTo>
                    <a:pt x="44888" y="279737"/>
                  </a:lnTo>
                  <a:lnTo>
                    <a:pt x="56934" y="262371"/>
                  </a:lnTo>
                  <a:lnTo>
                    <a:pt x="69867" y="245534"/>
                  </a:lnTo>
                  <a:lnTo>
                    <a:pt x="83514" y="229209"/>
                  </a:lnTo>
                  <a:lnTo>
                    <a:pt x="97727" y="213360"/>
                  </a:lnTo>
                  <a:lnTo>
                    <a:pt x="112390" y="197937"/>
                  </a:lnTo>
                  <a:lnTo>
                    <a:pt x="127424" y="182882"/>
                  </a:lnTo>
                  <a:lnTo>
                    <a:pt x="142791" y="168141"/>
                  </a:lnTo>
                  <a:lnTo>
                    <a:pt x="158491" y="153668"/>
                  </a:lnTo>
                  <a:lnTo>
                    <a:pt x="174558" y="139438"/>
                  </a:lnTo>
                  <a:lnTo>
                    <a:pt x="191050" y="125446"/>
                  </a:lnTo>
                  <a:lnTo>
                    <a:pt x="208044" y="111718"/>
                  </a:lnTo>
                  <a:lnTo>
                    <a:pt x="225621" y="98305"/>
                  </a:lnTo>
                  <a:lnTo>
                    <a:pt x="243858" y="85289"/>
                  </a:lnTo>
                  <a:lnTo>
                    <a:pt x="262819" y="72773"/>
                  </a:lnTo>
                  <a:lnTo>
                    <a:pt x="282542" y="60879"/>
                  </a:lnTo>
                  <a:lnTo>
                    <a:pt x="303038" y="49738"/>
                  </a:lnTo>
                  <a:lnTo>
                    <a:pt x="324288" y="39484"/>
                  </a:lnTo>
                  <a:lnTo>
                    <a:pt x="346237" y="30241"/>
                  </a:lnTo>
                  <a:lnTo>
                    <a:pt x="368806" y="22122"/>
                  </a:lnTo>
                  <a:lnTo>
                    <a:pt x="391887" y="15213"/>
                  </a:lnTo>
                  <a:lnTo>
                    <a:pt x="415359" y="9579"/>
                  </a:lnTo>
                  <a:lnTo>
                    <a:pt x="439088" y="5250"/>
                  </a:lnTo>
                  <a:lnTo>
                    <a:pt x="462943" y="2230"/>
                  </a:lnTo>
                  <a:lnTo>
                    <a:pt x="486795" y="496"/>
                  </a:lnTo>
                  <a:lnTo>
                    <a:pt x="510531" y="0"/>
                  </a:lnTo>
                  <a:lnTo>
                    <a:pt x="534052" y="681"/>
                  </a:lnTo>
                  <a:lnTo>
                    <a:pt x="557281" y="2464"/>
                  </a:lnTo>
                  <a:lnTo>
                    <a:pt x="580157" y="5274"/>
                  </a:lnTo>
                  <a:lnTo>
                    <a:pt x="602634" y="9041"/>
                  </a:lnTo>
                  <a:lnTo>
                    <a:pt x="624679" y="13704"/>
                  </a:lnTo>
                  <a:lnTo>
                    <a:pt x="646263" y="19217"/>
                  </a:lnTo>
                  <a:lnTo>
                    <a:pt x="667358" y="25552"/>
                  </a:lnTo>
                  <a:lnTo>
                    <a:pt x="687929" y="32695"/>
                  </a:lnTo>
                  <a:lnTo>
                    <a:pt x="707929" y="40650"/>
                  </a:lnTo>
                  <a:lnTo>
                    <a:pt x="727296" y="49429"/>
                  </a:lnTo>
                  <a:lnTo>
                    <a:pt x="745956" y="59052"/>
                  </a:lnTo>
                  <a:lnTo>
                    <a:pt x="763817" y="69539"/>
                  </a:lnTo>
                  <a:lnTo>
                    <a:pt x="780777" y="80901"/>
                  </a:lnTo>
                  <a:lnTo>
                    <a:pt x="796731" y="93142"/>
                  </a:lnTo>
                  <a:lnTo>
                    <a:pt x="811573" y="106245"/>
                  </a:lnTo>
                  <a:lnTo>
                    <a:pt x="825207" y="120177"/>
                  </a:lnTo>
                  <a:lnTo>
                    <a:pt x="837557" y="134887"/>
                  </a:lnTo>
                  <a:lnTo>
                    <a:pt x="848566" y="150304"/>
                  </a:lnTo>
                  <a:lnTo>
                    <a:pt x="858212" y="166341"/>
                  </a:lnTo>
                  <a:lnTo>
                    <a:pt x="866500" y="182904"/>
                  </a:lnTo>
                  <a:lnTo>
                    <a:pt x="873471" y="199893"/>
                  </a:lnTo>
                  <a:lnTo>
                    <a:pt x="879195" y="217210"/>
                  </a:lnTo>
                  <a:lnTo>
                    <a:pt x="883764" y="234767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52" name="Базальная мембрана канальца"/>
            <p:cNvSpPr/>
            <p:nvPr/>
          </p:nvSpPr>
          <p:spPr>
            <a:xfrm>
              <a:off x="6101410" y="2348215"/>
              <a:ext cx="1324346" cy="1187460"/>
            </a:xfrm>
            <a:custGeom>
              <a:avLst/>
              <a:gdLst/>
              <a:ahLst/>
              <a:cxnLst/>
              <a:rect l="l" t="t" r="r" b="b"/>
              <a:pathLst>
                <a:path w="1324346" h="1187460">
                  <a:moveTo>
                    <a:pt x="1312899" y="828586"/>
                  </a:moveTo>
                  <a:lnTo>
                    <a:pt x="1304097" y="858698"/>
                  </a:lnTo>
                  <a:lnTo>
                    <a:pt x="1292697" y="887978"/>
                  </a:lnTo>
                  <a:lnTo>
                    <a:pt x="1278738" y="916222"/>
                  </a:lnTo>
                  <a:lnTo>
                    <a:pt x="1262323" y="943248"/>
                  </a:lnTo>
                  <a:lnTo>
                    <a:pt x="1243608" y="968914"/>
                  </a:lnTo>
                  <a:lnTo>
                    <a:pt x="1222794" y="993118"/>
                  </a:lnTo>
                  <a:lnTo>
                    <a:pt x="1200104" y="1015802"/>
                  </a:lnTo>
                  <a:lnTo>
                    <a:pt x="1175776" y="1036949"/>
                  </a:lnTo>
                  <a:lnTo>
                    <a:pt x="1150041" y="1056579"/>
                  </a:lnTo>
                  <a:lnTo>
                    <a:pt x="1123114" y="1074738"/>
                  </a:lnTo>
                  <a:lnTo>
                    <a:pt x="1095181" y="1091485"/>
                  </a:lnTo>
                  <a:lnTo>
                    <a:pt x="1066393" y="1106885"/>
                  </a:lnTo>
                  <a:lnTo>
                    <a:pt x="1036868" y="1120995"/>
                  </a:lnTo>
                  <a:lnTo>
                    <a:pt x="1006686" y="1133852"/>
                  </a:lnTo>
                  <a:lnTo>
                    <a:pt x="975902" y="1145468"/>
                  </a:lnTo>
                  <a:lnTo>
                    <a:pt x="944548" y="1155826"/>
                  </a:lnTo>
                  <a:lnTo>
                    <a:pt x="912646" y="1164879"/>
                  </a:lnTo>
                  <a:lnTo>
                    <a:pt x="880219" y="1172552"/>
                  </a:lnTo>
                  <a:lnTo>
                    <a:pt x="847299" y="1178750"/>
                  </a:lnTo>
                  <a:lnTo>
                    <a:pt x="813936" y="1183369"/>
                  </a:lnTo>
                  <a:lnTo>
                    <a:pt x="780200" y="1186303"/>
                  </a:lnTo>
                  <a:lnTo>
                    <a:pt x="746187" y="1187460"/>
                  </a:lnTo>
                  <a:lnTo>
                    <a:pt x="712012" y="1186771"/>
                  </a:lnTo>
                  <a:lnTo>
                    <a:pt x="677809" y="1184198"/>
                  </a:lnTo>
                  <a:lnTo>
                    <a:pt x="643719" y="1179742"/>
                  </a:lnTo>
                  <a:lnTo>
                    <a:pt x="609880" y="1173444"/>
                  </a:lnTo>
                  <a:lnTo>
                    <a:pt x="576424" y="1165387"/>
                  </a:lnTo>
                  <a:lnTo>
                    <a:pt x="543457" y="1155686"/>
                  </a:lnTo>
                  <a:lnTo>
                    <a:pt x="511061" y="1144484"/>
                  </a:lnTo>
                  <a:lnTo>
                    <a:pt x="479284" y="1131940"/>
                  </a:lnTo>
                  <a:lnTo>
                    <a:pt x="448138" y="1118211"/>
                  </a:lnTo>
                  <a:lnTo>
                    <a:pt x="417608" y="1103450"/>
                  </a:lnTo>
                  <a:lnTo>
                    <a:pt x="387650" y="1087781"/>
                  </a:lnTo>
                  <a:lnTo>
                    <a:pt x="358209" y="1071300"/>
                  </a:lnTo>
                  <a:lnTo>
                    <a:pt x="329223" y="1054063"/>
                  </a:lnTo>
                  <a:lnTo>
                    <a:pt x="300646" y="1036081"/>
                  </a:lnTo>
                  <a:lnTo>
                    <a:pt x="272455" y="1017328"/>
                  </a:lnTo>
                  <a:lnTo>
                    <a:pt x="244664" y="997742"/>
                  </a:lnTo>
                  <a:lnTo>
                    <a:pt x="217334" y="977231"/>
                  </a:lnTo>
                  <a:lnTo>
                    <a:pt x="190581" y="955695"/>
                  </a:lnTo>
                  <a:lnTo>
                    <a:pt x="164573" y="933030"/>
                  </a:lnTo>
                  <a:lnTo>
                    <a:pt x="139529" y="909147"/>
                  </a:lnTo>
                  <a:lnTo>
                    <a:pt x="115711" y="883985"/>
                  </a:lnTo>
                  <a:lnTo>
                    <a:pt x="93407" y="857520"/>
                  </a:lnTo>
                  <a:lnTo>
                    <a:pt x="72920" y="829778"/>
                  </a:lnTo>
                  <a:lnTo>
                    <a:pt x="54545" y="800835"/>
                  </a:lnTo>
                  <a:lnTo>
                    <a:pt x="38553" y="770815"/>
                  </a:lnTo>
                  <a:lnTo>
                    <a:pt x="25169" y="739892"/>
                  </a:lnTo>
                  <a:lnTo>
                    <a:pt x="14562" y="708274"/>
                  </a:lnTo>
                  <a:lnTo>
                    <a:pt x="6831" y="676195"/>
                  </a:lnTo>
                  <a:lnTo>
                    <a:pt x="1996" y="643901"/>
                  </a:lnTo>
                  <a:lnTo>
                    <a:pt x="0" y="611632"/>
                  </a:lnTo>
                  <a:lnTo>
                    <a:pt x="716" y="579613"/>
                  </a:lnTo>
                  <a:lnTo>
                    <a:pt x="3951" y="548036"/>
                  </a:lnTo>
                  <a:lnTo>
                    <a:pt x="9466" y="517053"/>
                  </a:lnTo>
                  <a:lnTo>
                    <a:pt x="16992" y="486772"/>
                  </a:lnTo>
                  <a:lnTo>
                    <a:pt x="26247" y="457252"/>
                  </a:lnTo>
                  <a:lnTo>
                    <a:pt x="36960" y="428508"/>
                  </a:lnTo>
                  <a:lnTo>
                    <a:pt x="48887" y="400518"/>
                  </a:lnTo>
                  <a:lnTo>
                    <a:pt x="61824" y="373232"/>
                  </a:lnTo>
                  <a:lnTo>
                    <a:pt x="75622" y="346586"/>
                  </a:lnTo>
                  <a:lnTo>
                    <a:pt x="90189" y="320513"/>
                  </a:lnTo>
                  <a:lnTo>
                    <a:pt x="105493" y="294958"/>
                  </a:lnTo>
                  <a:lnTo>
                    <a:pt x="121556" y="269889"/>
                  </a:lnTo>
                  <a:lnTo>
                    <a:pt x="138447" y="245304"/>
                  </a:lnTo>
                  <a:lnTo>
                    <a:pt x="156267" y="221242"/>
                  </a:lnTo>
                  <a:lnTo>
                    <a:pt x="175135" y="197774"/>
                  </a:lnTo>
                  <a:lnTo>
                    <a:pt x="195174" y="175013"/>
                  </a:lnTo>
                  <a:lnTo>
                    <a:pt x="216495" y="153097"/>
                  </a:lnTo>
                  <a:lnTo>
                    <a:pt x="239181" y="132185"/>
                  </a:lnTo>
                  <a:lnTo>
                    <a:pt x="263285" y="112445"/>
                  </a:lnTo>
                  <a:lnTo>
                    <a:pt x="288814" y="94043"/>
                  </a:lnTo>
                  <a:lnTo>
                    <a:pt x="315737" y="77125"/>
                  </a:lnTo>
                  <a:lnTo>
                    <a:pt x="343980" y="61816"/>
                  </a:lnTo>
                  <a:lnTo>
                    <a:pt x="373437" y="48205"/>
                  </a:lnTo>
                  <a:lnTo>
                    <a:pt x="403975" y="36344"/>
                  </a:lnTo>
                  <a:lnTo>
                    <a:pt x="435447" y="26245"/>
                  </a:lnTo>
                  <a:lnTo>
                    <a:pt x="467702" y="17888"/>
                  </a:lnTo>
                  <a:lnTo>
                    <a:pt x="500595" y="11220"/>
                  </a:lnTo>
                  <a:lnTo>
                    <a:pt x="533995" y="6173"/>
                  </a:lnTo>
                  <a:lnTo>
                    <a:pt x="567789" y="2669"/>
                  </a:lnTo>
                  <a:lnTo>
                    <a:pt x="601889" y="631"/>
                  </a:lnTo>
                  <a:lnTo>
                    <a:pt x="636222" y="0"/>
                  </a:lnTo>
                  <a:lnTo>
                    <a:pt x="670735" y="738"/>
                  </a:lnTo>
                  <a:lnTo>
                    <a:pt x="705379" y="2837"/>
                  </a:lnTo>
                  <a:lnTo>
                    <a:pt x="740107" y="6320"/>
                  </a:lnTo>
                  <a:lnTo>
                    <a:pt x="774860" y="11243"/>
                  </a:lnTo>
                  <a:lnTo>
                    <a:pt x="809558" y="17686"/>
                  </a:lnTo>
                  <a:lnTo>
                    <a:pt x="844098" y="25746"/>
                  </a:lnTo>
                  <a:lnTo>
                    <a:pt x="878344" y="35530"/>
                  </a:lnTo>
                  <a:lnTo>
                    <a:pt x="912128" y="47136"/>
                  </a:lnTo>
                  <a:lnTo>
                    <a:pt x="945255" y="60644"/>
                  </a:lnTo>
                  <a:lnTo>
                    <a:pt x="977509" y="76103"/>
                  </a:lnTo>
                  <a:lnTo>
                    <a:pt x="1008662" y="93524"/>
                  </a:lnTo>
                  <a:lnTo>
                    <a:pt x="1038488" y="112867"/>
                  </a:lnTo>
                  <a:lnTo>
                    <a:pt x="1066779" y="134046"/>
                  </a:lnTo>
                  <a:lnTo>
                    <a:pt x="1093355" y="156927"/>
                  </a:lnTo>
                  <a:lnTo>
                    <a:pt x="1118082" y="181331"/>
                  </a:lnTo>
                  <a:lnTo>
                    <a:pt x="1140876" y="207050"/>
                  </a:lnTo>
                  <a:lnTo>
                    <a:pt x="1161715" y="233854"/>
                  </a:lnTo>
                  <a:lnTo>
                    <a:pt x="1180638" y="261508"/>
                  </a:lnTo>
                  <a:lnTo>
                    <a:pt x="1197740" y="289784"/>
                  </a:lnTo>
                  <a:lnTo>
                    <a:pt x="1213166" y="318478"/>
                  </a:lnTo>
                  <a:lnTo>
                    <a:pt x="1227100" y="347421"/>
                  </a:lnTo>
                  <a:lnTo>
                    <a:pt x="1239742" y="376484"/>
                  </a:lnTo>
                  <a:lnTo>
                    <a:pt x="1251299" y="405588"/>
                  </a:lnTo>
                  <a:lnTo>
                    <a:pt x="1261957" y="434699"/>
                  </a:lnTo>
                  <a:lnTo>
                    <a:pt x="1271872" y="463828"/>
                  </a:lnTo>
                  <a:lnTo>
                    <a:pt x="1281146" y="493019"/>
                  </a:lnTo>
                  <a:lnTo>
                    <a:pt x="1289824" y="522339"/>
                  </a:lnTo>
                  <a:lnTo>
                    <a:pt x="1297881" y="551865"/>
                  </a:lnTo>
                  <a:lnTo>
                    <a:pt x="1305227" y="581669"/>
                  </a:lnTo>
                  <a:lnTo>
                    <a:pt x="1311706" y="611805"/>
                  </a:lnTo>
                  <a:lnTo>
                    <a:pt x="1317111" y="642294"/>
                  </a:lnTo>
                  <a:lnTo>
                    <a:pt x="1321196" y="673120"/>
                  </a:lnTo>
                  <a:lnTo>
                    <a:pt x="1323697" y="704219"/>
                  </a:lnTo>
                  <a:lnTo>
                    <a:pt x="1324346" y="735484"/>
                  </a:lnTo>
                  <a:lnTo>
                    <a:pt x="1322895" y="766762"/>
                  </a:lnTo>
                  <a:lnTo>
                    <a:pt x="1319132" y="797866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53" name="Клетка однослойного эпителия"/>
            <p:cNvSpPr/>
            <p:nvPr/>
          </p:nvSpPr>
          <p:spPr>
            <a:xfrm>
              <a:off x="7140468" y="3101242"/>
              <a:ext cx="250960" cy="241102"/>
            </a:xfrm>
            <a:custGeom>
              <a:avLst/>
              <a:gdLst/>
              <a:ahLst/>
              <a:cxnLst/>
              <a:rect l="l" t="t" r="r" b="b"/>
              <a:pathLst>
                <a:path w="250960" h="241102">
                  <a:moveTo>
                    <a:pt x="250960" y="67231"/>
                  </a:moveTo>
                  <a:lnTo>
                    <a:pt x="246050" y="86730"/>
                  </a:lnTo>
                  <a:lnTo>
                    <a:pt x="239980" y="105914"/>
                  </a:lnTo>
                  <a:lnTo>
                    <a:pt x="232747" y="124716"/>
                  </a:lnTo>
                  <a:lnTo>
                    <a:pt x="224363" y="143072"/>
                  </a:lnTo>
                  <a:lnTo>
                    <a:pt x="214853" y="160925"/>
                  </a:lnTo>
                  <a:lnTo>
                    <a:pt x="204254" y="178221"/>
                  </a:lnTo>
                  <a:lnTo>
                    <a:pt x="192615" y="194918"/>
                  </a:lnTo>
                  <a:lnTo>
                    <a:pt x="179993" y="210980"/>
                  </a:lnTo>
                  <a:lnTo>
                    <a:pt x="166452" y="226380"/>
                  </a:lnTo>
                  <a:lnTo>
                    <a:pt x="152062" y="241102"/>
                  </a:lnTo>
                  <a:lnTo>
                    <a:pt x="0" y="113507"/>
                  </a:lnTo>
                  <a:lnTo>
                    <a:pt x="9789" y="103982"/>
                  </a:lnTo>
                  <a:lnTo>
                    <a:pt x="18978" y="93996"/>
                  </a:lnTo>
                  <a:lnTo>
                    <a:pt x="27520" y="83560"/>
                  </a:lnTo>
                  <a:lnTo>
                    <a:pt x="35370" y="72690"/>
                  </a:lnTo>
                  <a:lnTo>
                    <a:pt x="42488" y="61409"/>
                  </a:lnTo>
                  <a:lnTo>
                    <a:pt x="48842" y="49746"/>
                  </a:lnTo>
                  <a:lnTo>
                    <a:pt x="54406" y="37733"/>
                  </a:lnTo>
                  <a:lnTo>
                    <a:pt x="59164" y="25409"/>
                  </a:lnTo>
                  <a:lnTo>
                    <a:pt x="63109" y="12817"/>
                  </a:lnTo>
                  <a:lnTo>
                    <a:pt x="66243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54" name="Ядро эпителиальной клетки"/>
            <p:cNvSpPr/>
            <p:nvPr/>
          </p:nvSpPr>
          <p:spPr>
            <a:xfrm rot="1800000">
              <a:off x="7219971" y="314412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55" name="Ядрышко"/>
            <p:cNvSpPr/>
            <p:nvPr/>
          </p:nvSpPr>
          <p:spPr>
            <a:xfrm>
              <a:off x="7249231" y="319578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56" name="Клетка однослойного эпителия"/>
            <p:cNvSpPr/>
            <p:nvPr/>
          </p:nvSpPr>
          <p:spPr>
            <a:xfrm>
              <a:off x="7019907" y="3214749"/>
              <a:ext cx="272623" cy="238577"/>
            </a:xfrm>
            <a:custGeom>
              <a:avLst/>
              <a:gdLst/>
              <a:ahLst/>
              <a:cxnLst/>
              <a:rect l="l" t="t" r="r" b="b"/>
              <a:pathLst>
                <a:path w="272623" h="238577">
                  <a:moveTo>
                    <a:pt x="272623" y="127595"/>
                  </a:moveTo>
                  <a:lnTo>
                    <a:pt x="257456" y="141630"/>
                  </a:lnTo>
                  <a:lnTo>
                    <a:pt x="241585" y="154977"/>
                  </a:lnTo>
                  <a:lnTo>
                    <a:pt x="225082" y="167643"/>
                  </a:lnTo>
                  <a:lnTo>
                    <a:pt x="208013" y="179638"/>
                  </a:lnTo>
                  <a:lnTo>
                    <a:pt x="190443" y="190981"/>
                  </a:lnTo>
                  <a:lnTo>
                    <a:pt x="172430" y="201690"/>
                  </a:lnTo>
                  <a:lnTo>
                    <a:pt x="154022" y="211786"/>
                  </a:lnTo>
                  <a:lnTo>
                    <a:pt x="135265" y="221287"/>
                  </a:lnTo>
                  <a:lnTo>
                    <a:pt x="116194" y="230212"/>
                  </a:lnTo>
                  <a:lnTo>
                    <a:pt x="96838" y="238577"/>
                  </a:lnTo>
                  <a:lnTo>
                    <a:pt x="0" y="70848"/>
                  </a:lnTo>
                  <a:lnTo>
                    <a:pt x="13330" y="65596"/>
                  </a:lnTo>
                  <a:lnTo>
                    <a:pt x="26454" y="59968"/>
                  </a:lnTo>
                  <a:lnTo>
                    <a:pt x="39352" y="53955"/>
                  </a:lnTo>
                  <a:lnTo>
                    <a:pt x="51998" y="47545"/>
                  </a:lnTo>
                  <a:lnTo>
                    <a:pt x="64362" y="40724"/>
                  </a:lnTo>
                  <a:lnTo>
                    <a:pt x="76409" y="33477"/>
                  </a:lnTo>
                  <a:lnTo>
                    <a:pt x="88098" y="25791"/>
                  </a:lnTo>
                  <a:lnTo>
                    <a:pt x="99385" y="17655"/>
                  </a:lnTo>
                  <a:lnTo>
                    <a:pt x="110222" y="9060"/>
                  </a:lnTo>
                  <a:lnTo>
                    <a:pt x="120561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57" name="Ядро эпителиальной клетки"/>
            <p:cNvSpPr/>
            <p:nvPr/>
          </p:nvSpPr>
          <p:spPr>
            <a:xfrm rot="3000000">
              <a:off x="7099068" y="326130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58" name="Ядрышко"/>
            <p:cNvSpPr/>
            <p:nvPr/>
          </p:nvSpPr>
          <p:spPr>
            <a:xfrm>
              <a:off x="7128328" y="331296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59" name="Клетка однослойного эпителия"/>
            <p:cNvSpPr/>
            <p:nvPr/>
          </p:nvSpPr>
          <p:spPr>
            <a:xfrm>
              <a:off x="6877505" y="3285597"/>
              <a:ext cx="239240" cy="220066"/>
            </a:xfrm>
            <a:custGeom>
              <a:avLst/>
              <a:gdLst/>
              <a:ahLst/>
              <a:cxnLst/>
              <a:rect l="l" t="t" r="r" b="b"/>
              <a:pathLst>
                <a:path w="239240" h="220066">
                  <a:moveTo>
                    <a:pt x="239240" y="167729"/>
                  </a:moveTo>
                  <a:lnTo>
                    <a:pt x="219622" y="175541"/>
                  </a:lnTo>
                  <a:lnTo>
                    <a:pt x="199758" y="182808"/>
                  </a:lnTo>
                  <a:lnTo>
                    <a:pt x="179662" y="189528"/>
                  </a:lnTo>
                  <a:lnTo>
                    <a:pt x="159342" y="195694"/>
                  </a:lnTo>
                  <a:lnTo>
                    <a:pt x="138808" y="201295"/>
                  </a:lnTo>
                  <a:lnTo>
                    <a:pt x="118066" y="206312"/>
                  </a:lnTo>
                  <a:lnTo>
                    <a:pt x="97124" y="210724"/>
                  </a:lnTo>
                  <a:lnTo>
                    <a:pt x="75993" y="214506"/>
                  </a:lnTo>
                  <a:lnTo>
                    <a:pt x="54686" y="217629"/>
                  </a:lnTo>
                  <a:lnTo>
                    <a:pt x="33221" y="220066"/>
                  </a:lnTo>
                  <a:lnTo>
                    <a:pt x="0" y="31660"/>
                  </a:lnTo>
                  <a:lnTo>
                    <a:pt x="14880" y="30355"/>
                  </a:lnTo>
                  <a:lnTo>
                    <a:pt x="29640" y="28594"/>
                  </a:lnTo>
                  <a:lnTo>
                    <a:pt x="44268" y="26395"/>
                  </a:lnTo>
                  <a:lnTo>
                    <a:pt x="58756" y="23777"/>
                  </a:lnTo>
                  <a:lnTo>
                    <a:pt x="73097" y="20756"/>
                  </a:lnTo>
                  <a:lnTo>
                    <a:pt x="87285" y="17347"/>
                  </a:lnTo>
                  <a:lnTo>
                    <a:pt x="101316" y="13560"/>
                  </a:lnTo>
                  <a:lnTo>
                    <a:pt x="115184" y="9405"/>
                  </a:lnTo>
                  <a:lnTo>
                    <a:pt x="128882" y="4885"/>
                  </a:lnTo>
                  <a:lnTo>
                    <a:pt x="142402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60" name="Ядро эпителиальной клетки"/>
            <p:cNvSpPr/>
            <p:nvPr/>
          </p:nvSpPr>
          <p:spPr>
            <a:xfrm rot="4200000">
              <a:off x="6936423" y="332671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61" name="Ядрышко"/>
            <p:cNvSpPr/>
            <p:nvPr/>
          </p:nvSpPr>
          <p:spPr>
            <a:xfrm>
              <a:off x="6965684" y="337838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62" name="Клетка однослойного эпителия"/>
            <p:cNvSpPr/>
            <p:nvPr/>
          </p:nvSpPr>
          <p:spPr>
            <a:xfrm>
              <a:off x="6693801" y="3302779"/>
              <a:ext cx="216925" cy="205818"/>
            </a:xfrm>
            <a:custGeom>
              <a:avLst/>
              <a:gdLst/>
              <a:ahLst/>
              <a:cxnLst/>
              <a:rect l="l" t="t" r="r" b="b"/>
              <a:pathLst>
                <a:path w="216925" h="205818">
                  <a:moveTo>
                    <a:pt x="216925" y="202884"/>
                  </a:moveTo>
                  <a:lnTo>
                    <a:pt x="195323" y="204608"/>
                  </a:lnTo>
                  <a:lnTo>
                    <a:pt x="173610" y="205593"/>
                  </a:lnTo>
                  <a:lnTo>
                    <a:pt x="151815" y="205818"/>
                  </a:lnTo>
                  <a:lnTo>
                    <a:pt x="129971" y="205267"/>
                  </a:lnTo>
                  <a:lnTo>
                    <a:pt x="108116" y="203932"/>
                  </a:lnTo>
                  <a:lnTo>
                    <a:pt x="86287" y="201807"/>
                  </a:lnTo>
                  <a:lnTo>
                    <a:pt x="64524" y="198900"/>
                  </a:lnTo>
                  <a:lnTo>
                    <a:pt x="42865" y="195223"/>
                  </a:lnTo>
                  <a:lnTo>
                    <a:pt x="21345" y="190795"/>
                  </a:lnTo>
                  <a:lnTo>
                    <a:pt x="0" y="185647"/>
                  </a:lnTo>
                  <a:lnTo>
                    <a:pt x="32735" y="0"/>
                  </a:lnTo>
                  <a:lnTo>
                    <a:pt x="47639" y="3707"/>
                  </a:lnTo>
                  <a:lnTo>
                    <a:pt x="62654" y="6939"/>
                  </a:lnTo>
                  <a:lnTo>
                    <a:pt x="77756" y="9677"/>
                  </a:lnTo>
                  <a:lnTo>
                    <a:pt x="92919" y="11908"/>
                  </a:lnTo>
                  <a:lnTo>
                    <a:pt x="108116" y="13623"/>
                  </a:lnTo>
                  <a:lnTo>
                    <a:pt x="123321" y="14817"/>
                  </a:lnTo>
                  <a:lnTo>
                    <a:pt x="138506" y="15491"/>
                  </a:lnTo>
                  <a:lnTo>
                    <a:pt x="153646" y="15652"/>
                  </a:lnTo>
                  <a:lnTo>
                    <a:pt x="168719" y="15310"/>
                  </a:lnTo>
                  <a:lnTo>
                    <a:pt x="183704" y="14478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63" name="Ядро эпителиальной клетки"/>
            <p:cNvSpPr/>
            <p:nvPr/>
          </p:nvSpPr>
          <p:spPr>
            <a:xfrm rot="5400000">
              <a:off x="6756197" y="334145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64" name="Ядрышко"/>
            <p:cNvSpPr/>
            <p:nvPr/>
          </p:nvSpPr>
          <p:spPr>
            <a:xfrm>
              <a:off x="6785457" y="339311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65" name="Клетка однослойного эпителия"/>
            <p:cNvSpPr/>
            <p:nvPr/>
          </p:nvSpPr>
          <p:spPr>
            <a:xfrm>
              <a:off x="6493306" y="3245652"/>
              <a:ext cx="233230" cy="242774"/>
            </a:xfrm>
            <a:custGeom>
              <a:avLst/>
              <a:gdLst/>
              <a:ahLst/>
              <a:cxnLst/>
              <a:rect l="l" t="t" r="r" b="b"/>
              <a:pathLst>
                <a:path w="233230" h="242774">
                  <a:moveTo>
                    <a:pt x="200495" y="242774"/>
                  </a:moveTo>
                  <a:lnTo>
                    <a:pt x="179353" y="236938"/>
                  </a:lnTo>
                  <a:lnTo>
                    <a:pt x="158437" y="230454"/>
                  </a:lnTo>
                  <a:lnTo>
                    <a:pt x="137765" y="223368"/>
                  </a:lnTo>
                  <a:lnTo>
                    <a:pt x="117348" y="215724"/>
                  </a:lnTo>
                  <a:lnTo>
                    <a:pt x="97190" y="207571"/>
                  </a:lnTo>
                  <a:lnTo>
                    <a:pt x="77288" y="198954"/>
                  </a:lnTo>
                  <a:lnTo>
                    <a:pt x="57635" y="189918"/>
                  </a:lnTo>
                  <a:lnTo>
                    <a:pt x="38214" y="180501"/>
                  </a:lnTo>
                  <a:lnTo>
                    <a:pt x="19010" y="170737"/>
                  </a:lnTo>
                  <a:lnTo>
                    <a:pt x="0" y="160653"/>
                  </a:lnTo>
                  <a:lnTo>
                    <a:pt x="92753" y="0"/>
                  </a:lnTo>
                  <a:lnTo>
                    <a:pt x="106105" y="6935"/>
                  </a:lnTo>
                  <a:lnTo>
                    <a:pt x="119587" y="13662"/>
                  </a:lnTo>
                  <a:lnTo>
                    <a:pt x="133215" y="20162"/>
                  </a:lnTo>
                  <a:lnTo>
                    <a:pt x="147000" y="26413"/>
                  </a:lnTo>
                  <a:lnTo>
                    <a:pt x="160950" y="32391"/>
                  </a:lnTo>
                  <a:lnTo>
                    <a:pt x="175072" y="38067"/>
                  </a:lnTo>
                  <a:lnTo>
                    <a:pt x="189367" y="43409"/>
                  </a:lnTo>
                  <a:lnTo>
                    <a:pt x="203831" y="48387"/>
                  </a:lnTo>
                  <a:lnTo>
                    <a:pt x="218456" y="52969"/>
                  </a:lnTo>
                  <a:lnTo>
                    <a:pt x="233230" y="57127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66" name="Ядро эпителиальной клетки"/>
            <p:cNvSpPr/>
            <p:nvPr/>
          </p:nvSpPr>
          <p:spPr>
            <a:xfrm rot="6600000">
              <a:off x="6577931" y="329583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67" name="Ядрышко"/>
            <p:cNvSpPr/>
            <p:nvPr/>
          </p:nvSpPr>
          <p:spPr>
            <a:xfrm>
              <a:off x="6607192" y="334749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68" name="Клетка однослойного эпителия"/>
            <p:cNvSpPr/>
            <p:nvPr/>
          </p:nvSpPr>
          <p:spPr>
            <a:xfrm>
              <a:off x="6311119" y="3164751"/>
              <a:ext cx="274940" cy="241554"/>
            </a:xfrm>
            <a:custGeom>
              <a:avLst/>
              <a:gdLst/>
              <a:ahLst/>
              <a:cxnLst/>
              <a:rect l="l" t="t" r="r" b="b"/>
              <a:pathLst>
                <a:path w="274940" h="241554">
                  <a:moveTo>
                    <a:pt x="182187" y="241554"/>
                  </a:moveTo>
                  <a:lnTo>
                    <a:pt x="163350" y="231167"/>
                  </a:lnTo>
                  <a:lnTo>
                    <a:pt x="144666" y="220488"/>
                  </a:lnTo>
                  <a:lnTo>
                    <a:pt x="126118" y="209518"/>
                  </a:lnTo>
                  <a:lnTo>
                    <a:pt x="107691" y="198249"/>
                  </a:lnTo>
                  <a:lnTo>
                    <a:pt x="89381" y="186665"/>
                  </a:lnTo>
                  <a:lnTo>
                    <a:pt x="71188" y="174745"/>
                  </a:lnTo>
                  <a:lnTo>
                    <a:pt x="53126" y="162460"/>
                  </a:lnTo>
                  <a:lnTo>
                    <a:pt x="35216" y="149775"/>
                  </a:lnTo>
                  <a:lnTo>
                    <a:pt x="17492" y="136657"/>
                  </a:lnTo>
                  <a:lnTo>
                    <a:pt x="0" y="123068"/>
                  </a:lnTo>
                  <a:lnTo>
                    <a:pt x="146667" y="0"/>
                  </a:lnTo>
                  <a:lnTo>
                    <a:pt x="159014" y="9230"/>
                  </a:lnTo>
                  <a:lnTo>
                    <a:pt x="171515" y="18152"/>
                  </a:lnTo>
                  <a:lnTo>
                    <a:pt x="184140" y="26790"/>
                  </a:lnTo>
                  <a:lnTo>
                    <a:pt x="196865" y="35167"/>
                  </a:lnTo>
                  <a:lnTo>
                    <a:pt x="209675" y="43304"/>
                  </a:lnTo>
                  <a:lnTo>
                    <a:pt x="222563" y="51220"/>
                  </a:lnTo>
                  <a:lnTo>
                    <a:pt x="235526" y="58930"/>
                  </a:lnTo>
                  <a:lnTo>
                    <a:pt x="248570" y="66444"/>
                  </a:lnTo>
                  <a:lnTo>
                    <a:pt x="261704" y="73768"/>
                  </a:lnTo>
                  <a:lnTo>
                    <a:pt x="274940" y="80901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69" name="Ядро эпителиальной клетки"/>
            <p:cNvSpPr/>
            <p:nvPr/>
          </p:nvSpPr>
          <p:spPr>
            <a:xfrm rot="7800000">
              <a:off x="6417332" y="321057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70" name="Ядрышко"/>
            <p:cNvSpPr/>
            <p:nvPr/>
          </p:nvSpPr>
          <p:spPr>
            <a:xfrm>
              <a:off x="6446593" y="326223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71" name="Клетка однослойного эпителия"/>
            <p:cNvSpPr/>
            <p:nvPr/>
          </p:nvSpPr>
          <p:spPr>
            <a:xfrm>
              <a:off x="6165514" y="3052661"/>
              <a:ext cx="292272" cy="235158"/>
            </a:xfrm>
            <a:custGeom>
              <a:avLst/>
              <a:gdLst/>
              <a:ahLst/>
              <a:cxnLst/>
              <a:rect l="l" t="t" r="r" b="b"/>
              <a:pathLst>
                <a:path w="292272" h="235158">
                  <a:moveTo>
                    <a:pt x="145605" y="235158"/>
                  </a:moveTo>
                  <a:lnTo>
                    <a:pt x="128402" y="221065"/>
                  </a:lnTo>
                  <a:lnTo>
                    <a:pt x="111555" y="206434"/>
                  </a:lnTo>
                  <a:lnTo>
                    <a:pt x="95141" y="191241"/>
                  </a:lnTo>
                  <a:lnTo>
                    <a:pt x="79247" y="175466"/>
                  </a:lnTo>
                  <a:lnTo>
                    <a:pt x="63962" y="159097"/>
                  </a:lnTo>
                  <a:lnTo>
                    <a:pt x="49383" y="142135"/>
                  </a:lnTo>
                  <a:lnTo>
                    <a:pt x="35604" y="124588"/>
                  </a:lnTo>
                  <a:lnTo>
                    <a:pt x="22722" y="106476"/>
                  </a:lnTo>
                  <a:lnTo>
                    <a:pt x="10825" y="87830"/>
                  </a:lnTo>
                  <a:lnTo>
                    <a:pt x="0" y="68693"/>
                  </a:lnTo>
                  <a:lnTo>
                    <a:pt x="188734" y="0"/>
                  </a:lnTo>
                  <a:lnTo>
                    <a:pt x="196528" y="12802"/>
                  </a:lnTo>
                  <a:lnTo>
                    <a:pt x="205059" y="25294"/>
                  </a:lnTo>
                  <a:lnTo>
                    <a:pt x="214268" y="37448"/>
                  </a:lnTo>
                  <a:lnTo>
                    <a:pt x="224091" y="49241"/>
                  </a:lnTo>
                  <a:lnTo>
                    <a:pt x="234463" y="60659"/>
                  </a:lnTo>
                  <a:lnTo>
                    <a:pt x="245316" y="71695"/>
                  </a:lnTo>
                  <a:lnTo>
                    <a:pt x="256584" y="82347"/>
                  </a:lnTo>
                  <a:lnTo>
                    <a:pt x="268204" y="92622"/>
                  </a:lnTo>
                  <a:lnTo>
                    <a:pt x="280118" y="102531"/>
                  </a:lnTo>
                  <a:lnTo>
                    <a:pt x="292272" y="11209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72" name="Ядро эпителиальной клетки"/>
            <p:cNvSpPr/>
            <p:nvPr/>
          </p:nvSpPr>
          <p:spPr>
            <a:xfrm rot="9000000">
              <a:off x="6272416" y="309427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73" name="Ядрышко"/>
            <p:cNvSpPr/>
            <p:nvPr/>
          </p:nvSpPr>
          <p:spPr>
            <a:xfrm>
              <a:off x="6301677" y="314593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74" name="Клетка однослойного эпителия"/>
            <p:cNvSpPr/>
            <p:nvPr/>
          </p:nvSpPr>
          <p:spPr>
            <a:xfrm>
              <a:off x="6123572" y="2917099"/>
              <a:ext cx="230676" cy="204255"/>
            </a:xfrm>
            <a:custGeom>
              <a:avLst/>
              <a:gdLst/>
              <a:ahLst/>
              <a:cxnLst/>
              <a:rect l="l" t="t" r="r" b="b"/>
              <a:pathLst>
                <a:path w="230676" h="204255">
                  <a:moveTo>
                    <a:pt x="41942" y="204255"/>
                  </a:moveTo>
                  <a:lnTo>
                    <a:pt x="32260" y="184678"/>
                  </a:lnTo>
                  <a:lnTo>
                    <a:pt x="23787" y="164720"/>
                  </a:lnTo>
                  <a:lnTo>
                    <a:pt x="16571" y="144449"/>
                  </a:lnTo>
                  <a:lnTo>
                    <a:pt x="10648" y="123936"/>
                  </a:lnTo>
                  <a:lnTo>
                    <a:pt x="6035" y="103258"/>
                  </a:lnTo>
                  <a:lnTo>
                    <a:pt x="2735" y="82491"/>
                  </a:lnTo>
                  <a:lnTo>
                    <a:pt x="733" y="61711"/>
                  </a:lnTo>
                  <a:lnTo>
                    <a:pt x="0" y="40992"/>
                  </a:lnTo>
                  <a:lnTo>
                    <a:pt x="490" y="20401"/>
                  </a:lnTo>
                  <a:lnTo>
                    <a:pt x="2144" y="0"/>
                  </a:lnTo>
                  <a:lnTo>
                    <a:pt x="200118" y="0"/>
                  </a:lnTo>
                  <a:lnTo>
                    <a:pt x="199259" y="13460"/>
                  </a:lnTo>
                  <a:lnTo>
                    <a:pt x="199211" y="27062"/>
                  </a:lnTo>
                  <a:lnTo>
                    <a:pt x="200016" y="40766"/>
                  </a:lnTo>
                  <a:lnTo>
                    <a:pt x="201702" y="54528"/>
                  </a:lnTo>
                  <a:lnTo>
                    <a:pt x="204290" y="68300"/>
                  </a:lnTo>
                  <a:lnTo>
                    <a:pt x="207790" y="82032"/>
                  </a:lnTo>
                  <a:lnTo>
                    <a:pt x="212197" y="95673"/>
                  </a:lnTo>
                  <a:lnTo>
                    <a:pt x="217499" y="109174"/>
                  </a:lnTo>
                  <a:lnTo>
                    <a:pt x="223671" y="122485"/>
                  </a:lnTo>
                  <a:lnTo>
                    <a:pt x="230676" y="135562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75" name="Ядро эпителиальной клетки"/>
            <p:cNvSpPr/>
            <p:nvPr/>
          </p:nvSpPr>
          <p:spPr>
            <a:xfrm rot="10200000">
              <a:off x="6186979" y="293588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76" name="Ядрышко"/>
            <p:cNvSpPr/>
            <p:nvPr/>
          </p:nvSpPr>
          <p:spPr>
            <a:xfrm>
              <a:off x="6216240" y="298754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77" name="Клетка однослойного эпителия"/>
            <p:cNvSpPr/>
            <p:nvPr/>
          </p:nvSpPr>
          <p:spPr>
            <a:xfrm>
              <a:off x="6125716" y="2730633"/>
              <a:ext cx="238925" cy="186466"/>
            </a:xfrm>
            <a:custGeom>
              <a:avLst/>
              <a:gdLst/>
              <a:ahLst/>
              <a:cxnLst/>
              <a:rect l="l" t="t" r="r" b="b"/>
              <a:pathLst>
                <a:path w="238925" h="186466">
                  <a:moveTo>
                    <a:pt x="0" y="186466"/>
                  </a:moveTo>
                  <a:lnTo>
                    <a:pt x="2748" y="166309"/>
                  </a:lnTo>
                  <a:lnTo>
                    <a:pt x="6512" y="146440"/>
                  </a:lnTo>
                  <a:lnTo>
                    <a:pt x="11205" y="126894"/>
                  </a:lnTo>
                  <a:lnTo>
                    <a:pt x="16738" y="107695"/>
                  </a:lnTo>
                  <a:lnTo>
                    <a:pt x="23020" y="88859"/>
                  </a:lnTo>
                  <a:lnTo>
                    <a:pt x="29962" y="70389"/>
                  </a:lnTo>
                  <a:lnTo>
                    <a:pt x="37480" y="52283"/>
                  </a:lnTo>
                  <a:lnTo>
                    <a:pt x="45496" y="34528"/>
                  </a:lnTo>
                  <a:lnTo>
                    <a:pt x="53941" y="17108"/>
                  </a:lnTo>
                  <a:lnTo>
                    <a:pt x="62755" y="0"/>
                  </a:lnTo>
                  <a:lnTo>
                    <a:pt x="238925" y="64120"/>
                  </a:lnTo>
                  <a:lnTo>
                    <a:pt x="233044" y="75302"/>
                  </a:lnTo>
                  <a:lnTo>
                    <a:pt x="227424" y="86695"/>
                  </a:lnTo>
                  <a:lnTo>
                    <a:pt x="222107" y="98315"/>
                  </a:lnTo>
                  <a:lnTo>
                    <a:pt x="217141" y="110175"/>
                  </a:lnTo>
                  <a:lnTo>
                    <a:pt x="212580" y="122283"/>
                  </a:lnTo>
                  <a:lnTo>
                    <a:pt x="208483" y="134643"/>
                  </a:lnTo>
                  <a:lnTo>
                    <a:pt x="204912" y="147253"/>
                  </a:lnTo>
                  <a:lnTo>
                    <a:pt x="201929" y="160105"/>
                  </a:lnTo>
                  <a:lnTo>
                    <a:pt x="199597" y="173183"/>
                  </a:lnTo>
                  <a:lnTo>
                    <a:pt x="197974" y="186466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78" name="Ядро эпителиальной клетки"/>
            <p:cNvSpPr/>
            <p:nvPr/>
          </p:nvSpPr>
          <p:spPr>
            <a:xfrm rot="11400000">
              <a:off x="6201586" y="277057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79" name="Ядрышко"/>
            <p:cNvSpPr/>
            <p:nvPr/>
          </p:nvSpPr>
          <p:spPr>
            <a:xfrm>
              <a:off x="6230847" y="282224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80" name="Клетка однослойного эпителия"/>
            <p:cNvSpPr/>
            <p:nvPr/>
          </p:nvSpPr>
          <p:spPr>
            <a:xfrm>
              <a:off x="6188471" y="2572372"/>
              <a:ext cx="246282" cy="222381"/>
            </a:xfrm>
            <a:custGeom>
              <a:avLst/>
              <a:gdLst/>
              <a:ahLst/>
              <a:cxnLst/>
              <a:rect l="l" t="t" r="r" b="b"/>
              <a:pathLst>
                <a:path w="246282" h="222381">
                  <a:moveTo>
                    <a:pt x="0" y="158261"/>
                  </a:moveTo>
                  <a:lnTo>
                    <a:pt x="9139" y="141441"/>
                  </a:lnTo>
                  <a:lnTo>
                    <a:pt x="18565" y="124885"/>
                  </a:lnTo>
                  <a:lnTo>
                    <a:pt x="28259" y="108568"/>
                  </a:lnTo>
                  <a:lnTo>
                    <a:pt x="38211" y="92469"/>
                  </a:lnTo>
                  <a:lnTo>
                    <a:pt x="48424" y="76572"/>
                  </a:lnTo>
                  <a:lnTo>
                    <a:pt x="58910" y="60866"/>
                  </a:lnTo>
                  <a:lnTo>
                    <a:pt x="69693" y="45348"/>
                  </a:lnTo>
                  <a:lnTo>
                    <a:pt x="80802" y="30022"/>
                  </a:lnTo>
                  <a:lnTo>
                    <a:pt x="92273" y="14899"/>
                  </a:lnTo>
                  <a:lnTo>
                    <a:pt x="104146" y="0"/>
                  </a:lnTo>
                  <a:lnTo>
                    <a:pt x="246282" y="119266"/>
                  </a:lnTo>
                  <a:lnTo>
                    <a:pt x="238244" y="128944"/>
                  </a:lnTo>
                  <a:lnTo>
                    <a:pt x="230489" y="138776"/>
                  </a:lnTo>
                  <a:lnTo>
                    <a:pt x="222988" y="148747"/>
                  </a:lnTo>
                  <a:lnTo>
                    <a:pt x="215716" y="158850"/>
                  </a:lnTo>
                  <a:lnTo>
                    <a:pt x="208654" y="169081"/>
                  </a:lnTo>
                  <a:lnTo>
                    <a:pt x="201784" y="179442"/>
                  </a:lnTo>
                  <a:lnTo>
                    <a:pt x="195098" y="189940"/>
                  </a:lnTo>
                  <a:lnTo>
                    <a:pt x="188595" y="200587"/>
                  </a:lnTo>
                  <a:lnTo>
                    <a:pt x="182280" y="211395"/>
                  </a:lnTo>
                  <a:lnTo>
                    <a:pt x="176170" y="222381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81" name="Ядро эпителиальной клетки"/>
            <p:cNvSpPr/>
            <p:nvPr/>
          </p:nvSpPr>
          <p:spPr>
            <a:xfrm rot="12600000">
              <a:off x="6274494" y="263075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82" name="Ядрышко"/>
            <p:cNvSpPr/>
            <p:nvPr/>
          </p:nvSpPr>
          <p:spPr>
            <a:xfrm>
              <a:off x="6303755" y="268241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83" name="Клетка однослойного эпителия"/>
            <p:cNvSpPr/>
            <p:nvPr/>
          </p:nvSpPr>
          <p:spPr>
            <a:xfrm>
              <a:off x="6292617" y="2444092"/>
              <a:ext cx="243049" cy="247546"/>
            </a:xfrm>
            <a:custGeom>
              <a:avLst/>
              <a:gdLst/>
              <a:ahLst/>
              <a:cxnLst/>
              <a:rect l="l" t="t" r="r" b="b"/>
              <a:pathLst>
                <a:path w="243049" h="247546">
                  <a:moveTo>
                    <a:pt x="0" y="128280"/>
                  </a:moveTo>
                  <a:lnTo>
                    <a:pt x="12314" y="113632"/>
                  </a:lnTo>
                  <a:lnTo>
                    <a:pt x="25109" y="99269"/>
                  </a:lnTo>
                  <a:lnTo>
                    <a:pt x="38420" y="85231"/>
                  </a:lnTo>
                  <a:lnTo>
                    <a:pt x="52281" y="71562"/>
                  </a:lnTo>
                  <a:lnTo>
                    <a:pt x="66715" y="58312"/>
                  </a:lnTo>
                  <a:lnTo>
                    <a:pt x="81743" y="45528"/>
                  </a:lnTo>
                  <a:lnTo>
                    <a:pt x="97374" y="33259"/>
                  </a:lnTo>
                  <a:lnTo>
                    <a:pt x="113610" y="21554"/>
                  </a:lnTo>
                  <a:lnTo>
                    <a:pt x="130445" y="10454"/>
                  </a:lnTo>
                  <a:lnTo>
                    <a:pt x="147863" y="0"/>
                  </a:lnTo>
                  <a:lnTo>
                    <a:pt x="243049" y="164867"/>
                  </a:lnTo>
                  <a:lnTo>
                    <a:pt x="231095" y="171529"/>
                  </a:lnTo>
                  <a:lnTo>
                    <a:pt x="219556" y="178625"/>
                  </a:lnTo>
                  <a:lnTo>
                    <a:pt x="208441" y="186131"/>
                  </a:lnTo>
                  <a:lnTo>
                    <a:pt x="197755" y="194017"/>
                  </a:lnTo>
                  <a:lnTo>
                    <a:pt x="187496" y="202252"/>
                  </a:lnTo>
                  <a:lnTo>
                    <a:pt x="177654" y="210804"/>
                  </a:lnTo>
                  <a:lnTo>
                    <a:pt x="168218" y="219640"/>
                  </a:lnTo>
                  <a:lnTo>
                    <a:pt x="159169" y="228729"/>
                  </a:lnTo>
                  <a:lnTo>
                    <a:pt x="150483" y="238040"/>
                  </a:lnTo>
                  <a:lnTo>
                    <a:pt x="142136" y="247546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84" name="Ядро эпителиальной клетки"/>
            <p:cNvSpPr/>
            <p:nvPr/>
          </p:nvSpPr>
          <p:spPr>
            <a:xfrm rot="13800000">
              <a:off x="6376418" y="251095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85" name="Ядрышко"/>
            <p:cNvSpPr/>
            <p:nvPr/>
          </p:nvSpPr>
          <p:spPr>
            <a:xfrm>
              <a:off x="6405678" y="256262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86" name="Клетка однослойного эпителия"/>
            <p:cNvSpPr/>
            <p:nvPr/>
          </p:nvSpPr>
          <p:spPr>
            <a:xfrm>
              <a:off x="6440480" y="2378896"/>
              <a:ext cx="232665" cy="230063"/>
            </a:xfrm>
            <a:custGeom>
              <a:avLst/>
              <a:gdLst/>
              <a:ahLst/>
              <a:cxnLst/>
              <a:rect l="l" t="t" r="r" b="b"/>
              <a:pathLst>
                <a:path w="232665" h="230063">
                  <a:moveTo>
                    <a:pt x="0" y="65196"/>
                  </a:moveTo>
                  <a:lnTo>
                    <a:pt x="17980" y="55420"/>
                  </a:lnTo>
                  <a:lnTo>
                    <a:pt x="36493" y="46349"/>
                  </a:lnTo>
                  <a:lnTo>
                    <a:pt x="55504" y="38002"/>
                  </a:lnTo>
                  <a:lnTo>
                    <a:pt x="74977" y="30391"/>
                  </a:lnTo>
                  <a:lnTo>
                    <a:pt x="94869" y="23520"/>
                  </a:lnTo>
                  <a:lnTo>
                    <a:pt x="115139" y="17387"/>
                  </a:lnTo>
                  <a:lnTo>
                    <a:pt x="135746" y="11984"/>
                  </a:lnTo>
                  <a:lnTo>
                    <a:pt x="156649" y="7297"/>
                  </a:lnTo>
                  <a:lnTo>
                    <a:pt x="177811" y="3309"/>
                  </a:lnTo>
                  <a:lnTo>
                    <a:pt x="199197" y="0"/>
                  </a:lnTo>
                  <a:lnTo>
                    <a:pt x="232665" y="189808"/>
                  </a:lnTo>
                  <a:lnTo>
                    <a:pt x="217853" y="191690"/>
                  </a:lnTo>
                  <a:lnTo>
                    <a:pt x="203206" y="194025"/>
                  </a:lnTo>
                  <a:lnTo>
                    <a:pt x="188749" y="196826"/>
                  </a:lnTo>
                  <a:lnTo>
                    <a:pt x="174507" y="200103"/>
                  </a:lnTo>
                  <a:lnTo>
                    <a:pt x="160510" y="203868"/>
                  </a:lnTo>
                  <a:lnTo>
                    <a:pt x="146786" y="208126"/>
                  </a:lnTo>
                  <a:lnTo>
                    <a:pt x="133365" y="212880"/>
                  </a:lnTo>
                  <a:lnTo>
                    <a:pt x="120274" y="218126"/>
                  </a:lnTo>
                  <a:lnTo>
                    <a:pt x="107540" y="223858"/>
                  </a:lnTo>
                  <a:lnTo>
                    <a:pt x="95186" y="230063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87" name="Ядро эпителиальной клетки"/>
            <p:cNvSpPr/>
            <p:nvPr/>
          </p:nvSpPr>
          <p:spPr>
            <a:xfrm rot="15000000">
              <a:off x="6523762" y="242990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88" name="Ядрышко"/>
            <p:cNvSpPr/>
            <p:nvPr/>
          </p:nvSpPr>
          <p:spPr>
            <a:xfrm>
              <a:off x="6553023" y="248156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89" name="Клетка однослойного эпителия"/>
            <p:cNvSpPr/>
            <p:nvPr/>
          </p:nvSpPr>
          <p:spPr>
            <a:xfrm>
              <a:off x="6639677" y="2371889"/>
              <a:ext cx="220983" cy="200708"/>
            </a:xfrm>
            <a:custGeom>
              <a:avLst/>
              <a:gdLst/>
              <a:ahLst/>
              <a:cxnLst/>
              <a:rect l="l" t="t" r="r" b="b"/>
              <a:pathLst>
                <a:path w="220983" h="200708">
                  <a:moveTo>
                    <a:pt x="0" y="7007"/>
                  </a:moveTo>
                  <a:lnTo>
                    <a:pt x="21579" y="4358"/>
                  </a:lnTo>
                  <a:lnTo>
                    <a:pt x="43324" y="2348"/>
                  </a:lnTo>
                  <a:lnTo>
                    <a:pt x="65212" y="961"/>
                  </a:lnTo>
                  <a:lnTo>
                    <a:pt x="87224" y="181"/>
                  </a:lnTo>
                  <a:lnTo>
                    <a:pt x="109341" y="0"/>
                  </a:lnTo>
                  <a:lnTo>
                    <a:pt x="131550" y="413"/>
                  </a:lnTo>
                  <a:lnTo>
                    <a:pt x="153835" y="1423"/>
                  </a:lnTo>
                  <a:lnTo>
                    <a:pt x="176180" y="3037"/>
                  </a:lnTo>
                  <a:lnTo>
                    <a:pt x="198570" y="5270"/>
                  </a:lnTo>
                  <a:lnTo>
                    <a:pt x="220983" y="8141"/>
                  </a:lnTo>
                  <a:lnTo>
                    <a:pt x="187028" y="200708"/>
                  </a:lnTo>
                  <a:lnTo>
                    <a:pt x="171414" y="198492"/>
                  </a:lnTo>
                  <a:lnTo>
                    <a:pt x="155826" y="196697"/>
                  </a:lnTo>
                  <a:lnTo>
                    <a:pt x="140276" y="195313"/>
                  </a:lnTo>
                  <a:lnTo>
                    <a:pt x="124778" y="194328"/>
                  </a:lnTo>
                  <a:lnTo>
                    <a:pt x="109341" y="193739"/>
                  </a:lnTo>
                  <a:lnTo>
                    <a:pt x="93976" y="193544"/>
                  </a:lnTo>
                  <a:lnTo>
                    <a:pt x="78693" y="193746"/>
                  </a:lnTo>
                  <a:lnTo>
                    <a:pt x="63504" y="194352"/>
                  </a:lnTo>
                  <a:lnTo>
                    <a:pt x="48424" y="195371"/>
                  </a:lnTo>
                  <a:lnTo>
                    <a:pt x="33468" y="196815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90" name="Ядро эпителиальной клетки"/>
            <p:cNvSpPr/>
            <p:nvPr/>
          </p:nvSpPr>
          <p:spPr>
            <a:xfrm rot="16200000">
              <a:off x="6703298" y="240633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91" name="Ядрышко"/>
            <p:cNvSpPr/>
            <p:nvPr/>
          </p:nvSpPr>
          <p:spPr>
            <a:xfrm>
              <a:off x="6732559" y="245800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92" name="Клетка однослойного эпителия"/>
            <p:cNvSpPr/>
            <p:nvPr/>
          </p:nvSpPr>
          <p:spPr>
            <a:xfrm>
              <a:off x="6826705" y="2380030"/>
              <a:ext cx="251242" cy="241882"/>
            </a:xfrm>
            <a:custGeom>
              <a:avLst/>
              <a:gdLst/>
              <a:ahLst/>
              <a:cxnLst/>
              <a:rect l="l" t="t" r="r" b="b"/>
              <a:pathLst>
                <a:path w="251242" h="241882">
                  <a:moveTo>
                    <a:pt x="33955" y="0"/>
                  </a:moveTo>
                  <a:lnTo>
                    <a:pt x="56368" y="3535"/>
                  </a:lnTo>
                  <a:lnTo>
                    <a:pt x="78751" y="7761"/>
                  </a:lnTo>
                  <a:lnTo>
                    <a:pt x="101069" y="12710"/>
                  </a:lnTo>
                  <a:lnTo>
                    <a:pt x="123281" y="18413"/>
                  </a:lnTo>
                  <a:lnTo>
                    <a:pt x="145338" y="24902"/>
                  </a:lnTo>
                  <a:lnTo>
                    <a:pt x="167186" y="32204"/>
                  </a:lnTo>
                  <a:lnTo>
                    <a:pt x="188767" y="40345"/>
                  </a:lnTo>
                  <a:lnTo>
                    <a:pt x="210015" y="49342"/>
                  </a:lnTo>
                  <a:lnTo>
                    <a:pt x="230863" y="59206"/>
                  </a:lnTo>
                  <a:lnTo>
                    <a:pt x="251242" y="69940"/>
                  </a:lnTo>
                  <a:lnTo>
                    <a:pt x="151971" y="241882"/>
                  </a:lnTo>
                  <a:lnTo>
                    <a:pt x="137659" y="234498"/>
                  </a:lnTo>
                  <a:lnTo>
                    <a:pt x="123033" y="227682"/>
                  </a:lnTo>
                  <a:lnTo>
                    <a:pt x="108141" y="221434"/>
                  </a:lnTo>
                  <a:lnTo>
                    <a:pt x="93031" y="215747"/>
                  </a:lnTo>
                  <a:lnTo>
                    <a:pt x="77746" y="210609"/>
                  </a:lnTo>
                  <a:lnTo>
                    <a:pt x="62328" y="206007"/>
                  </a:lnTo>
                  <a:lnTo>
                    <a:pt x="46813" y="201922"/>
                  </a:lnTo>
                  <a:lnTo>
                    <a:pt x="31236" y="198334"/>
                  </a:lnTo>
                  <a:lnTo>
                    <a:pt x="15623" y="195222"/>
                  </a:lnTo>
                  <a:lnTo>
                    <a:pt x="0" y="19256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93" name="Ядро эпителиальной клетки"/>
            <p:cNvSpPr/>
            <p:nvPr/>
          </p:nvSpPr>
          <p:spPr>
            <a:xfrm rot="17400000">
              <a:off x="6891174" y="243520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94" name="Ядрышко"/>
            <p:cNvSpPr/>
            <p:nvPr/>
          </p:nvSpPr>
          <p:spPr>
            <a:xfrm>
              <a:off x="6920435" y="248686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95" name="Клетка однослойного эпителия"/>
            <p:cNvSpPr/>
            <p:nvPr/>
          </p:nvSpPr>
          <p:spPr>
            <a:xfrm>
              <a:off x="6978676" y="2449970"/>
              <a:ext cx="264350" cy="272716"/>
            </a:xfrm>
            <a:custGeom>
              <a:avLst/>
              <a:gdLst/>
              <a:ahLst/>
              <a:cxnLst/>
              <a:rect l="l" t="t" r="r" b="b"/>
              <a:pathLst>
                <a:path w="264350" h="272716">
                  <a:moveTo>
                    <a:pt x="99271" y="0"/>
                  </a:moveTo>
                  <a:lnTo>
                    <a:pt x="119111" y="11597"/>
                  </a:lnTo>
                  <a:lnTo>
                    <a:pt x="138344" y="24040"/>
                  </a:lnTo>
                  <a:lnTo>
                    <a:pt x="156907" y="37302"/>
                  </a:lnTo>
                  <a:lnTo>
                    <a:pt x="174741" y="51346"/>
                  </a:lnTo>
                  <a:lnTo>
                    <a:pt x="191796" y="66125"/>
                  </a:lnTo>
                  <a:lnTo>
                    <a:pt x="208031" y="81586"/>
                  </a:lnTo>
                  <a:lnTo>
                    <a:pt x="223416" y="97665"/>
                  </a:lnTo>
                  <a:lnTo>
                    <a:pt x="237932" y="114295"/>
                  </a:lnTo>
                  <a:lnTo>
                    <a:pt x="251575" y="131406"/>
                  </a:lnTo>
                  <a:lnTo>
                    <a:pt x="264350" y="148923"/>
                  </a:lnTo>
                  <a:lnTo>
                    <a:pt x="116819" y="272716"/>
                  </a:lnTo>
                  <a:lnTo>
                    <a:pt x="107693" y="260957"/>
                  </a:lnTo>
                  <a:lnTo>
                    <a:pt x="97971" y="249454"/>
                  </a:lnTo>
                  <a:lnTo>
                    <a:pt x="87648" y="238257"/>
                  </a:lnTo>
                  <a:lnTo>
                    <a:pt x="76730" y="227411"/>
                  </a:lnTo>
                  <a:lnTo>
                    <a:pt x="65229" y="216962"/>
                  </a:lnTo>
                  <a:lnTo>
                    <a:pt x="53169" y="206951"/>
                  </a:lnTo>
                  <a:lnTo>
                    <a:pt x="40577" y="197416"/>
                  </a:lnTo>
                  <a:lnTo>
                    <a:pt x="27491" y="188386"/>
                  </a:lnTo>
                  <a:lnTo>
                    <a:pt x="13950" y="179889"/>
                  </a:lnTo>
                  <a:lnTo>
                    <a:pt x="0" y="17194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96" name="Ядро эпителиальной клетки"/>
            <p:cNvSpPr/>
            <p:nvPr/>
          </p:nvSpPr>
          <p:spPr>
            <a:xfrm rot="18600000">
              <a:off x="7058937" y="252823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97" name="Ядрышко"/>
            <p:cNvSpPr/>
            <p:nvPr/>
          </p:nvSpPr>
          <p:spPr>
            <a:xfrm>
              <a:off x="7088197" y="257989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98" name="Клетка однослойного эпителия"/>
            <p:cNvSpPr/>
            <p:nvPr/>
          </p:nvSpPr>
          <p:spPr>
            <a:xfrm>
              <a:off x="7095495" y="2598893"/>
              <a:ext cx="236790" cy="246697"/>
            </a:xfrm>
            <a:custGeom>
              <a:avLst/>
              <a:gdLst/>
              <a:ahLst/>
              <a:cxnLst/>
              <a:rect l="l" t="t" r="r" b="b"/>
              <a:pathLst>
                <a:path w="236790" h="246697">
                  <a:moveTo>
                    <a:pt x="147531" y="0"/>
                  </a:moveTo>
                  <a:lnTo>
                    <a:pt x="159461" y="17852"/>
                  </a:lnTo>
                  <a:lnTo>
                    <a:pt x="170575" y="35967"/>
                  </a:lnTo>
                  <a:lnTo>
                    <a:pt x="180919" y="54280"/>
                  </a:lnTo>
                  <a:lnTo>
                    <a:pt x="190543" y="72731"/>
                  </a:lnTo>
                  <a:lnTo>
                    <a:pt x="199509" y="91266"/>
                  </a:lnTo>
                  <a:lnTo>
                    <a:pt x="207882" y="109843"/>
                  </a:lnTo>
                  <a:lnTo>
                    <a:pt x="215729" y="128428"/>
                  </a:lnTo>
                  <a:lnTo>
                    <a:pt x="223120" y="146996"/>
                  </a:lnTo>
                  <a:lnTo>
                    <a:pt x="230120" y="165534"/>
                  </a:lnTo>
                  <a:lnTo>
                    <a:pt x="236790" y="184038"/>
                  </a:lnTo>
                  <a:lnTo>
                    <a:pt x="64638" y="246697"/>
                  </a:lnTo>
                  <a:lnTo>
                    <a:pt x="59740" y="234372"/>
                  </a:lnTo>
                  <a:lnTo>
                    <a:pt x="54612" y="222020"/>
                  </a:lnTo>
                  <a:lnTo>
                    <a:pt x="49213" y="209643"/>
                  </a:lnTo>
                  <a:lnTo>
                    <a:pt x="43496" y="197249"/>
                  </a:lnTo>
                  <a:lnTo>
                    <a:pt x="37414" y="184852"/>
                  </a:lnTo>
                  <a:lnTo>
                    <a:pt x="30921" y="172474"/>
                  </a:lnTo>
                  <a:lnTo>
                    <a:pt x="23971" y="160143"/>
                  </a:lnTo>
                  <a:lnTo>
                    <a:pt x="16523" y="147892"/>
                  </a:lnTo>
                  <a:lnTo>
                    <a:pt x="8543" y="135761"/>
                  </a:lnTo>
                  <a:lnTo>
                    <a:pt x="0" y="123793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399" name="Ядро эпителиальной клетки"/>
            <p:cNvSpPr/>
            <p:nvPr/>
          </p:nvSpPr>
          <p:spPr>
            <a:xfrm rot="19800000">
              <a:off x="7164994" y="267252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00" name="Ядрышко"/>
            <p:cNvSpPr/>
            <p:nvPr/>
          </p:nvSpPr>
          <p:spPr>
            <a:xfrm>
              <a:off x="7194255" y="272419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01" name="Клетка однослойного эпителия"/>
            <p:cNvSpPr/>
            <p:nvPr/>
          </p:nvSpPr>
          <p:spPr>
            <a:xfrm>
              <a:off x="7160133" y="2782931"/>
              <a:ext cx="226489" cy="187067"/>
            </a:xfrm>
            <a:custGeom>
              <a:avLst/>
              <a:gdLst/>
              <a:ahLst/>
              <a:cxnLst/>
              <a:rect l="l" t="t" r="r" b="b"/>
              <a:pathLst>
                <a:path w="226489" h="187067">
                  <a:moveTo>
                    <a:pt x="172152" y="0"/>
                  </a:moveTo>
                  <a:lnTo>
                    <a:pt x="178546" y="18476"/>
                  </a:lnTo>
                  <a:lnTo>
                    <a:pt x="184706" y="36938"/>
                  </a:lnTo>
                  <a:lnTo>
                    <a:pt x="190665" y="55406"/>
                  </a:lnTo>
                  <a:lnTo>
                    <a:pt x="196441" y="73904"/>
                  </a:lnTo>
                  <a:lnTo>
                    <a:pt x="202038" y="92461"/>
                  </a:lnTo>
                  <a:lnTo>
                    <a:pt x="207447" y="111106"/>
                  </a:lnTo>
                  <a:lnTo>
                    <a:pt x="212642" y="129867"/>
                  </a:lnTo>
                  <a:lnTo>
                    <a:pt x="217584" y="148769"/>
                  </a:lnTo>
                  <a:lnTo>
                    <a:pt x="222221" y="167831"/>
                  </a:lnTo>
                  <a:lnTo>
                    <a:pt x="226489" y="187067"/>
                  </a:lnTo>
                  <a:lnTo>
                    <a:pt x="40415" y="187067"/>
                  </a:lnTo>
                  <a:lnTo>
                    <a:pt x="37176" y="174293"/>
                  </a:lnTo>
                  <a:lnTo>
                    <a:pt x="33683" y="161628"/>
                  </a:lnTo>
                  <a:lnTo>
                    <a:pt x="29980" y="149066"/>
                  </a:lnTo>
                  <a:lnTo>
                    <a:pt x="26104" y="136593"/>
                  </a:lnTo>
                  <a:lnTo>
                    <a:pt x="22080" y="124193"/>
                  </a:lnTo>
                  <a:lnTo>
                    <a:pt x="17927" y="111848"/>
                  </a:lnTo>
                  <a:lnTo>
                    <a:pt x="13651" y="99540"/>
                  </a:lnTo>
                  <a:lnTo>
                    <a:pt x="9248" y="87250"/>
                  </a:lnTo>
                  <a:lnTo>
                    <a:pt x="4705" y="74961"/>
                  </a:lnTo>
                  <a:lnTo>
                    <a:pt x="0" y="62659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02" name="Ядро эпителиальной клетки"/>
            <p:cNvSpPr/>
            <p:nvPr/>
          </p:nvSpPr>
          <p:spPr>
            <a:xfrm rot="21000000">
              <a:off x="7222873" y="282559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03" name="Ядрышко"/>
            <p:cNvSpPr/>
            <p:nvPr/>
          </p:nvSpPr>
          <p:spPr>
            <a:xfrm>
              <a:off x="7252134" y="287726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04" name="Клетка однослойного эпителия"/>
            <p:cNvSpPr/>
            <p:nvPr/>
          </p:nvSpPr>
          <p:spPr>
            <a:xfrm>
              <a:off x="7200548" y="2969998"/>
              <a:ext cx="199481" cy="198475"/>
            </a:xfrm>
            <a:custGeom>
              <a:avLst/>
              <a:gdLst/>
              <a:ahLst/>
              <a:cxnLst/>
              <a:rect l="l" t="t" r="r" b="b"/>
              <a:pathLst>
                <a:path w="199481" h="198475">
                  <a:moveTo>
                    <a:pt x="186074" y="0"/>
                  </a:moveTo>
                  <a:lnTo>
                    <a:pt x="189901" y="19415"/>
                  </a:lnTo>
                  <a:lnTo>
                    <a:pt x="193205" y="39006"/>
                  </a:lnTo>
                  <a:lnTo>
                    <a:pt x="195901" y="58759"/>
                  </a:lnTo>
                  <a:lnTo>
                    <a:pt x="197903" y="78651"/>
                  </a:lnTo>
                  <a:lnTo>
                    <a:pt x="199124" y="98649"/>
                  </a:lnTo>
                  <a:lnTo>
                    <a:pt x="199481" y="118710"/>
                  </a:lnTo>
                  <a:lnTo>
                    <a:pt x="198897" y="138783"/>
                  </a:lnTo>
                  <a:lnTo>
                    <a:pt x="197306" y="158812"/>
                  </a:lnTo>
                  <a:lnTo>
                    <a:pt x="194648" y="178732"/>
                  </a:lnTo>
                  <a:lnTo>
                    <a:pt x="190880" y="198475"/>
                  </a:lnTo>
                  <a:lnTo>
                    <a:pt x="6163" y="131244"/>
                  </a:lnTo>
                  <a:lnTo>
                    <a:pt x="8500" y="118248"/>
                  </a:lnTo>
                  <a:lnTo>
                    <a:pt x="10063" y="105121"/>
                  </a:lnTo>
                  <a:lnTo>
                    <a:pt x="10884" y="91906"/>
                  </a:lnTo>
                  <a:lnTo>
                    <a:pt x="11004" y="78648"/>
                  </a:lnTo>
                  <a:lnTo>
                    <a:pt x="10471" y="65384"/>
                  </a:lnTo>
                  <a:lnTo>
                    <a:pt x="9338" y="52150"/>
                  </a:lnTo>
                  <a:lnTo>
                    <a:pt x="7664" y="38974"/>
                  </a:lnTo>
                  <a:lnTo>
                    <a:pt x="5510" y="25881"/>
                  </a:lnTo>
                  <a:lnTo>
                    <a:pt x="2935" y="128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05" name="Ядро эпителиальной клетки"/>
            <p:cNvSpPr/>
            <p:nvPr/>
          </p:nvSpPr>
          <p:spPr>
            <a:xfrm rot="600000">
              <a:off x="7255852" y="298505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06" name="Ядрышко"/>
            <p:cNvSpPr/>
            <p:nvPr/>
          </p:nvSpPr>
          <p:spPr>
            <a:xfrm>
              <a:off x="7285112" y="303671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07" name="Просвет канальца"/>
            <p:cNvSpPr/>
            <p:nvPr/>
          </p:nvSpPr>
          <p:spPr>
            <a:xfrm>
              <a:off x="6326618" y="2566813"/>
              <a:ext cx="885129" cy="752635"/>
            </a:xfrm>
            <a:custGeom>
              <a:avLst/>
              <a:gdLst/>
              <a:ahLst/>
              <a:cxnLst/>
              <a:rect l="l" t="t" r="r" b="b"/>
              <a:pathLst>
                <a:path w="885129" h="752635">
                  <a:moveTo>
                    <a:pt x="878265" y="533763"/>
                  </a:moveTo>
                  <a:lnTo>
                    <a:pt x="872709" y="552590"/>
                  </a:lnTo>
                  <a:lnTo>
                    <a:pt x="865451" y="570860"/>
                  </a:lnTo>
                  <a:lnTo>
                    <a:pt x="856515" y="588449"/>
                  </a:lnTo>
                  <a:lnTo>
                    <a:pt x="845963" y="605251"/>
                  </a:lnTo>
                  <a:lnTo>
                    <a:pt x="833892" y="621179"/>
                  </a:lnTo>
                  <a:lnTo>
                    <a:pt x="820427" y="636174"/>
                  </a:lnTo>
                  <a:lnTo>
                    <a:pt x="805709" y="650202"/>
                  </a:lnTo>
                  <a:lnTo>
                    <a:pt x="789886" y="663255"/>
                  </a:lnTo>
                  <a:lnTo>
                    <a:pt x="773105" y="675342"/>
                  </a:lnTo>
                  <a:lnTo>
                    <a:pt x="755502" y="686492"/>
                  </a:lnTo>
                  <a:lnTo>
                    <a:pt x="737196" y="696741"/>
                  </a:lnTo>
                  <a:lnTo>
                    <a:pt x="718285" y="706125"/>
                  </a:lnTo>
                  <a:lnTo>
                    <a:pt x="698847" y="714676"/>
                  </a:lnTo>
                  <a:lnTo>
                    <a:pt x="678935" y="722418"/>
                  </a:lnTo>
                  <a:lnTo>
                    <a:pt x="658587" y="729354"/>
                  </a:lnTo>
                  <a:lnTo>
                    <a:pt x="637827" y="735476"/>
                  </a:lnTo>
                  <a:lnTo>
                    <a:pt x="616672" y="740752"/>
                  </a:lnTo>
                  <a:lnTo>
                    <a:pt x="595139" y="745139"/>
                  </a:lnTo>
                  <a:lnTo>
                    <a:pt x="573252" y="748582"/>
                  </a:lnTo>
                  <a:lnTo>
                    <a:pt x="551044" y="751018"/>
                  </a:lnTo>
                  <a:lnTo>
                    <a:pt x="528561" y="752387"/>
                  </a:lnTo>
                  <a:lnTo>
                    <a:pt x="505867" y="752635"/>
                  </a:lnTo>
                  <a:lnTo>
                    <a:pt x="483036" y="751723"/>
                  </a:lnTo>
                  <a:lnTo>
                    <a:pt x="460154" y="749632"/>
                  </a:lnTo>
                  <a:lnTo>
                    <a:pt x="437314" y="746364"/>
                  </a:lnTo>
                  <a:lnTo>
                    <a:pt x="414607" y="741945"/>
                  </a:lnTo>
                  <a:lnTo>
                    <a:pt x="392119" y="736427"/>
                  </a:lnTo>
                  <a:lnTo>
                    <a:pt x="369923" y="729880"/>
                  </a:lnTo>
                  <a:lnTo>
                    <a:pt x="348075" y="722389"/>
                  </a:lnTo>
                  <a:lnTo>
                    <a:pt x="326613" y="714048"/>
                  </a:lnTo>
                  <a:lnTo>
                    <a:pt x="305550" y="704954"/>
                  </a:lnTo>
                  <a:lnTo>
                    <a:pt x="284883" y="695194"/>
                  </a:lnTo>
                  <a:lnTo>
                    <a:pt x="264592" y="684846"/>
                  </a:lnTo>
                  <a:lnTo>
                    <a:pt x="244647" y="673965"/>
                  </a:lnTo>
                  <a:lnTo>
                    <a:pt x="225017" y="662585"/>
                  </a:lnTo>
                  <a:lnTo>
                    <a:pt x="205675" y="650716"/>
                  </a:lnTo>
                  <a:lnTo>
                    <a:pt x="186612" y="638344"/>
                  </a:lnTo>
                  <a:lnTo>
                    <a:pt x="167839" y="625435"/>
                  </a:lnTo>
                  <a:lnTo>
                    <a:pt x="149397" y="611941"/>
                  </a:lnTo>
                  <a:lnTo>
                    <a:pt x="131358" y="597806"/>
                  </a:lnTo>
                  <a:lnTo>
                    <a:pt x="113830" y="582975"/>
                  </a:lnTo>
                  <a:lnTo>
                    <a:pt x="96949" y="567403"/>
                  </a:lnTo>
                  <a:lnTo>
                    <a:pt x="80878" y="551060"/>
                  </a:lnTo>
                  <a:lnTo>
                    <a:pt x="65800" y="533941"/>
                  </a:lnTo>
                  <a:lnTo>
                    <a:pt x="51903" y="516068"/>
                  </a:lnTo>
                  <a:lnTo>
                    <a:pt x="39374" y="497493"/>
                  </a:lnTo>
                  <a:lnTo>
                    <a:pt x="28383" y="478298"/>
                  </a:lnTo>
                  <a:lnTo>
                    <a:pt x="19076" y="458589"/>
                  </a:lnTo>
                  <a:lnTo>
                    <a:pt x="11560" y="438495"/>
                  </a:lnTo>
                  <a:lnTo>
                    <a:pt x="5900" y="418160"/>
                  </a:lnTo>
                  <a:lnTo>
                    <a:pt x="2115" y="397729"/>
                  </a:lnTo>
                  <a:lnTo>
                    <a:pt x="173" y="377350"/>
                  </a:lnTo>
                  <a:lnTo>
                    <a:pt x="0" y="357153"/>
                  </a:lnTo>
                  <a:lnTo>
                    <a:pt x="1479" y="337254"/>
                  </a:lnTo>
                  <a:lnTo>
                    <a:pt x="4464" y="317742"/>
                  </a:lnTo>
                  <a:lnTo>
                    <a:pt x="8792" y="298680"/>
                  </a:lnTo>
                  <a:lnTo>
                    <a:pt x="14288" y="280104"/>
                  </a:lnTo>
                  <a:lnTo>
                    <a:pt x="20784" y="262022"/>
                  </a:lnTo>
                  <a:lnTo>
                    <a:pt x="28129" y="244422"/>
                  </a:lnTo>
                  <a:lnTo>
                    <a:pt x="36195" y="227275"/>
                  </a:lnTo>
                  <a:lnTo>
                    <a:pt x="44887" y="210546"/>
                  </a:lnTo>
                  <a:lnTo>
                    <a:pt x="54147" y="194197"/>
                  </a:lnTo>
                  <a:lnTo>
                    <a:pt x="63951" y="178201"/>
                  </a:lnTo>
                  <a:lnTo>
                    <a:pt x="74313" y="162541"/>
                  </a:lnTo>
                  <a:lnTo>
                    <a:pt x="85271" y="147221"/>
                  </a:lnTo>
                  <a:lnTo>
                    <a:pt x="96886" y="132267"/>
                  </a:lnTo>
                  <a:lnTo>
                    <a:pt x="109231" y="117727"/>
                  </a:lnTo>
                  <a:lnTo>
                    <a:pt x="122380" y="103671"/>
                  </a:lnTo>
                  <a:lnTo>
                    <a:pt x="136401" y="90184"/>
                  </a:lnTo>
                  <a:lnTo>
                    <a:pt x="151345" y="77364"/>
                  </a:lnTo>
                  <a:lnTo>
                    <a:pt x="167242" y="65311"/>
                  </a:lnTo>
                  <a:lnTo>
                    <a:pt x="184097" y="54124"/>
                  </a:lnTo>
                  <a:lnTo>
                    <a:pt x="201888" y="43893"/>
                  </a:lnTo>
                  <a:lnTo>
                    <a:pt x="220568" y="34689"/>
                  </a:lnTo>
                  <a:lnTo>
                    <a:pt x="240068" y="26566"/>
                  </a:lnTo>
                  <a:lnTo>
                    <a:pt x="260303" y="19554"/>
                  </a:lnTo>
                  <a:lnTo>
                    <a:pt x="281178" y="13659"/>
                  </a:lnTo>
                  <a:lnTo>
                    <a:pt x="302595" y="8869"/>
                  </a:lnTo>
                  <a:lnTo>
                    <a:pt x="324459" y="5151"/>
                  </a:lnTo>
                  <a:lnTo>
                    <a:pt x="346684" y="2465"/>
                  </a:lnTo>
                  <a:lnTo>
                    <a:pt x="369195" y="763"/>
                  </a:lnTo>
                  <a:lnTo>
                    <a:pt x="391930" y="0"/>
                  </a:lnTo>
                  <a:lnTo>
                    <a:pt x="414842" y="141"/>
                  </a:lnTo>
                  <a:lnTo>
                    <a:pt x="437889" y="1162"/>
                  </a:lnTo>
                  <a:lnTo>
                    <a:pt x="461040" y="3058"/>
                  </a:lnTo>
                  <a:lnTo>
                    <a:pt x="484258" y="5840"/>
                  </a:lnTo>
                  <a:lnTo>
                    <a:pt x="507504" y="9541"/>
                  </a:lnTo>
                  <a:lnTo>
                    <a:pt x="530727" y="14205"/>
                  </a:lnTo>
                  <a:lnTo>
                    <a:pt x="553856" y="19886"/>
                  </a:lnTo>
                  <a:lnTo>
                    <a:pt x="576807" y="26644"/>
                  </a:lnTo>
                  <a:lnTo>
                    <a:pt x="599472" y="34532"/>
                  </a:lnTo>
                  <a:lnTo>
                    <a:pt x="621727" y="43593"/>
                  </a:lnTo>
                  <a:lnTo>
                    <a:pt x="643435" y="53850"/>
                  </a:lnTo>
                  <a:lnTo>
                    <a:pt x="664450" y="65305"/>
                  </a:lnTo>
                  <a:lnTo>
                    <a:pt x="684630" y="77929"/>
                  </a:lnTo>
                  <a:lnTo>
                    <a:pt x="703838" y="91666"/>
                  </a:lnTo>
                  <a:lnTo>
                    <a:pt x="721960" y="106433"/>
                  </a:lnTo>
                  <a:lnTo>
                    <a:pt x="738904" y="122121"/>
                  </a:lnTo>
                  <a:lnTo>
                    <a:pt x="754614" y="138603"/>
                  </a:lnTo>
                  <a:lnTo>
                    <a:pt x="769068" y="155741"/>
                  </a:lnTo>
                  <a:lnTo>
                    <a:pt x="782285" y="173395"/>
                  </a:lnTo>
                  <a:lnTo>
                    <a:pt x="794317" y="191431"/>
                  </a:lnTo>
                  <a:lnTo>
                    <a:pt x="805248" y="209726"/>
                  </a:lnTo>
                  <a:lnTo>
                    <a:pt x="815185" y="228181"/>
                  </a:lnTo>
                  <a:lnTo>
                    <a:pt x="824251" y="246720"/>
                  </a:lnTo>
                  <a:lnTo>
                    <a:pt x="832567" y="265296"/>
                  </a:lnTo>
                  <a:lnTo>
                    <a:pt x="840247" y="283887"/>
                  </a:lnTo>
                  <a:lnTo>
                    <a:pt x="847385" y="302497"/>
                  </a:lnTo>
                  <a:lnTo>
                    <a:pt x="854044" y="321151"/>
                  </a:lnTo>
                  <a:lnTo>
                    <a:pt x="860251" y="339884"/>
                  </a:lnTo>
                  <a:lnTo>
                    <a:pt x="865990" y="358738"/>
                  </a:lnTo>
                  <a:lnTo>
                    <a:pt x="871206" y="377748"/>
                  </a:lnTo>
                  <a:lnTo>
                    <a:pt x="875801" y="396941"/>
                  </a:lnTo>
                  <a:lnTo>
                    <a:pt x="879649" y="416322"/>
                  </a:lnTo>
                  <a:lnTo>
                    <a:pt x="882596" y="435874"/>
                  </a:lnTo>
                  <a:lnTo>
                    <a:pt x="884479" y="455552"/>
                  </a:lnTo>
                  <a:lnTo>
                    <a:pt x="885129" y="475285"/>
                  </a:lnTo>
                  <a:lnTo>
                    <a:pt x="884394" y="494978"/>
                  </a:lnTo>
                  <a:lnTo>
                    <a:pt x="882139" y="514514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08" name="Базальная мембрана канальца"/>
            <p:cNvSpPr/>
            <p:nvPr/>
          </p:nvSpPr>
          <p:spPr>
            <a:xfrm>
              <a:off x="5066844" y="3461099"/>
              <a:ext cx="1510583" cy="1138558"/>
            </a:xfrm>
            <a:custGeom>
              <a:avLst/>
              <a:gdLst/>
              <a:ahLst/>
              <a:cxnLst/>
              <a:rect l="l" t="t" r="r" b="b"/>
              <a:pathLst>
                <a:path w="1510583" h="1138558">
                  <a:moveTo>
                    <a:pt x="1499510" y="472465"/>
                  </a:moveTo>
                  <a:lnTo>
                    <a:pt x="1506387" y="502280"/>
                  </a:lnTo>
                  <a:lnTo>
                    <a:pt x="1510114" y="532665"/>
                  </a:lnTo>
                  <a:lnTo>
                    <a:pt x="1510583" y="563416"/>
                  </a:lnTo>
                  <a:lnTo>
                    <a:pt x="1507773" y="594317"/>
                  </a:lnTo>
                  <a:lnTo>
                    <a:pt x="1501746" y="625149"/>
                  </a:lnTo>
                  <a:lnTo>
                    <a:pt x="1492639" y="655709"/>
                  </a:lnTo>
                  <a:lnTo>
                    <a:pt x="1480657" y="685815"/>
                  </a:lnTo>
                  <a:lnTo>
                    <a:pt x="1466049" y="715318"/>
                  </a:lnTo>
                  <a:lnTo>
                    <a:pt x="1449094" y="744107"/>
                  </a:lnTo>
                  <a:lnTo>
                    <a:pt x="1430080" y="772106"/>
                  </a:lnTo>
                  <a:lnTo>
                    <a:pt x="1409282" y="799277"/>
                  </a:lnTo>
                  <a:lnTo>
                    <a:pt x="1386948" y="825609"/>
                  </a:lnTo>
                  <a:lnTo>
                    <a:pt x="1363287" y="851115"/>
                  </a:lnTo>
                  <a:lnTo>
                    <a:pt x="1338458" y="875817"/>
                  </a:lnTo>
                  <a:lnTo>
                    <a:pt x="1312570" y="899735"/>
                  </a:lnTo>
                  <a:lnTo>
                    <a:pt x="1285681" y="922884"/>
                  </a:lnTo>
                  <a:lnTo>
                    <a:pt x="1257809" y="945256"/>
                  </a:lnTo>
                  <a:lnTo>
                    <a:pt x="1228943" y="966821"/>
                  </a:lnTo>
                  <a:lnTo>
                    <a:pt x="1199050" y="987523"/>
                  </a:lnTo>
                  <a:lnTo>
                    <a:pt x="1168096" y="1007281"/>
                  </a:lnTo>
                  <a:lnTo>
                    <a:pt x="1136057" y="1025991"/>
                  </a:lnTo>
                  <a:lnTo>
                    <a:pt x="1102928" y="1043536"/>
                  </a:lnTo>
                  <a:lnTo>
                    <a:pt x="1068734" y="1059794"/>
                  </a:lnTo>
                  <a:lnTo>
                    <a:pt x="1033532" y="1074648"/>
                  </a:lnTo>
                  <a:lnTo>
                    <a:pt x="997412" y="1087997"/>
                  </a:lnTo>
                  <a:lnTo>
                    <a:pt x="960495" y="1099765"/>
                  </a:lnTo>
                  <a:lnTo>
                    <a:pt x="922921" y="1109908"/>
                  </a:lnTo>
                  <a:lnTo>
                    <a:pt x="884842" y="1118417"/>
                  </a:lnTo>
                  <a:lnTo>
                    <a:pt x="846410" y="1125318"/>
                  </a:lnTo>
                  <a:lnTo>
                    <a:pt x="807767" y="1130674"/>
                  </a:lnTo>
                  <a:lnTo>
                    <a:pt x="769033" y="1134570"/>
                  </a:lnTo>
                  <a:lnTo>
                    <a:pt x="730300" y="1137110"/>
                  </a:lnTo>
                  <a:lnTo>
                    <a:pt x="691632" y="1138405"/>
                  </a:lnTo>
                  <a:lnTo>
                    <a:pt x="653060" y="1138558"/>
                  </a:lnTo>
                  <a:lnTo>
                    <a:pt x="614593" y="1137653"/>
                  </a:lnTo>
                  <a:lnTo>
                    <a:pt x="576222" y="1135747"/>
                  </a:lnTo>
                  <a:lnTo>
                    <a:pt x="537935" y="1132858"/>
                  </a:lnTo>
                  <a:lnTo>
                    <a:pt x="499728" y="1128966"/>
                  </a:lnTo>
                  <a:lnTo>
                    <a:pt x="461622" y="1124008"/>
                  </a:lnTo>
                  <a:lnTo>
                    <a:pt x="423671" y="1117885"/>
                  </a:lnTo>
                  <a:lnTo>
                    <a:pt x="385978" y="1110468"/>
                  </a:lnTo>
                  <a:lnTo>
                    <a:pt x="348694" y="1101611"/>
                  </a:lnTo>
                  <a:lnTo>
                    <a:pt x="312025" y="1091161"/>
                  </a:lnTo>
                  <a:lnTo>
                    <a:pt x="276225" y="1078978"/>
                  </a:lnTo>
                  <a:lnTo>
                    <a:pt x="241586" y="1064944"/>
                  </a:lnTo>
                  <a:lnTo>
                    <a:pt x="208429" y="1048978"/>
                  </a:lnTo>
                  <a:lnTo>
                    <a:pt x="177079" y="1031049"/>
                  </a:lnTo>
                  <a:lnTo>
                    <a:pt x="147852" y="1011176"/>
                  </a:lnTo>
                  <a:lnTo>
                    <a:pt x="121033" y="989438"/>
                  </a:lnTo>
                  <a:lnTo>
                    <a:pt x="96856" y="965967"/>
                  </a:lnTo>
                  <a:lnTo>
                    <a:pt x="75487" y="940942"/>
                  </a:lnTo>
                  <a:lnTo>
                    <a:pt x="57017" y="914582"/>
                  </a:lnTo>
                  <a:lnTo>
                    <a:pt x="41454" y="887129"/>
                  </a:lnTo>
                  <a:lnTo>
                    <a:pt x="28723" y="858833"/>
                  </a:lnTo>
                  <a:lnTo>
                    <a:pt x="18672" y="829942"/>
                  </a:lnTo>
                  <a:lnTo>
                    <a:pt x="11089" y="800682"/>
                  </a:lnTo>
                  <a:lnTo>
                    <a:pt x="5713" y="771247"/>
                  </a:lnTo>
                  <a:lnTo>
                    <a:pt x="2260" y="741792"/>
                  </a:lnTo>
                  <a:lnTo>
                    <a:pt x="444" y="712425"/>
                  </a:lnTo>
                  <a:lnTo>
                    <a:pt x="0" y="683207"/>
                  </a:lnTo>
                  <a:lnTo>
                    <a:pt x="701" y="654159"/>
                  </a:lnTo>
                  <a:lnTo>
                    <a:pt x="2377" y="625265"/>
                  </a:lnTo>
                  <a:lnTo>
                    <a:pt x="4929" y="596483"/>
                  </a:lnTo>
                  <a:lnTo>
                    <a:pt x="8328" y="567759"/>
                  </a:lnTo>
                  <a:lnTo>
                    <a:pt x="12620" y="539040"/>
                  </a:lnTo>
                  <a:lnTo>
                    <a:pt x="17914" y="510285"/>
                  </a:lnTo>
                  <a:lnTo>
                    <a:pt x="24375" y="481475"/>
                  </a:lnTo>
                  <a:lnTo>
                    <a:pt x="32202" y="452622"/>
                  </a:lnTo>
                  <a:lnTo>
                    <a:pt x="41612" y="423774"/>
                  </a:lnTo>
                  <a:lnTo>
                    <a:pt x="52820" y="395014"/>
                  </a:lnTo>
                  <a:lnTo>
                    <a:pt x="66019" y="366460"/>
                  </a:lnTo>
                  <a:lnTo>
                    <a:pt x="81365" y="338254"/>
                  </a:lnTo>
                  <a:lnTo>
                    <a:pt x="98962" y="310558"/>
                  </a:lnTo>
                  <a:lnTo>
                    <a:pt x="118856" y="283538"/>
                  </a:lnTo>
                  <a:lnTo>
                    <a:pt x="141033" y="257359"/>
                  </a:lnTo>
                  <a:lnTo>
                    <a:pt x="165421" y="232171"/>
                  </a:lnTo>
                  <a:lnTo>
                    <a:pt x="191897" y="208099"/>
                  </a:lnTo>
                  <a:lnTo>
                    <a:pt x="220300" y="185241"/>
                  </a:lnTo>
                  <a:lnTo>
                    <a:pt x="250441" y="163662"/>
                  </a:lnTo>
                  <a:lnTo>
                    <a:pt x="282122" y="143397"/>
                  </a:lnTo>
                  <a:lnTo>
                    <a:pt x="315145" y="124452"/>
                  </a:lnTo>
                  <a:lnTo>
                    <a:pt x="349328" y="106813"/>
                  </a:lnTo>
                  <a:lnTo>
                    <a:pt x="384512" y="90454"/>
                  </a:lnTo>
                  <a:lnTo>
                    <a:pt x="420563" y="75349"/>
                  </a:lnTo>
                  <a:lnTo>
                    <a:pt x="457377" y="61478"/>
                  </a:lnTo>
                  <a:lnTo>
                    <a:pt x="494873" y="48839"/>
                  </a:lnTo>
                  <a:lnTo>
                    <a:pt x="532989" y="37455"/>
                  </a:lnTo>
                  <a:lnTo>
                    <a:pt x="571669" y="27377"/>
                  </a:lnTo>
                  <a:lnTo>
                    <a:pt x="610854" y="18682"/>
                  </a:lnTo>
                  <a:lnTo>
                    <a:pt x="650474" y="11474"/>
                  </a:lnTo>
                  <a:lnTo>
                    <a:pt x="690433" y="5875"/>
                  </a:lnTo>
                  <a:lnTo>
                    <a:pt x="730610" y="2013"/>
                  </a:lnTo>
                  <a:lnTo>
                    <a:pt x="770850" y="18"/>
                  </a:lnTo>
                  <a:lnTo>
                    <a:pt x="810970" y="0"/>
                  </a:lnTo>
                  <a:lnTo>
                    <a:pt x="850761" y="2046"/>
                  </a:lnTo>
                  <a:lnTo>
                    <a:pt x="890001" y="6202"/>
                  </a:lnTo>
                  <a:lnTo>
                    <a:pt x="928465" y="12472"/>
                  </a:lnTo>
                  <a:lnTo>
                    <a:pt x="965939" y="20810"/>
                  </a:lnTo>
                  <a:lnTo>
                    <a:pt x="1002236" y="31119"/>
                  </a:lnTo>
                  <a:lnTo>
                    <a:pt x="1037206" y="43259"/>
                  </a:lnTo>
                  <a:lnTo>
                    <a:pt x="1070752" y="57050"/>
                  </a:lnTo>
                  <a:lnTo>
                    <a:pt x="1102831" y="72288"/>
                  </a:lnTo>
                  <a:lnTo>
                    <a:pt x="1133457" y="88756"/>
                  </a:lnTo>
                  <a:lnTo>
                    <a:pt x="1162701" y="106237"/>
                  </a:lnTo>
                  <a:lnTo>
                    <a:pt x="1190677" y="124533"/>
                  </a:lnTo>
                  <a:lnTo>
                    <a:pt x="1217532" y="143476"/>
                  </a:lnTo>
                  <a:lnTo>
                    <a:pt x="1243429" y="162936"/>
                  </a:lnTo>
                  <a:lnTo>
                    <a:pt x="1268527" y="182833"/>
                  </a:lnTo>
                  <a:lnTo>
                    <a:pt x="1292960" y="203135"/>
                  </a:lnTo>
                  <a:lnTo>
                    <a:pt x="1316823" y="223859"/>
                  </a:lnTo>
                  <a:lnTo>
                    <a:pt x="1340150" y="245064"/>
                  </a:lnTo>
                  <a:lnTo>
                    <a:pt x="1362911" y="266840"/>
                  </a:lnTo>
                  <a:lnTo>
                    <a:pt x="1384998" y="289299"/>
                  </a:lnTo>
                  <a:lnTo>
                    <a:pt x="1406235" y="312554"/>
                  </a:lnTo>
                  <a:lnTo>
                    <a:pt x="1426377" y="336711"/>
                  </a:lnTo>
                  <a:lnTo>
                    <a:pt x="1445128" y="361850"/>
                  </a:lnTo>
                  <a:lnTo>
                    <a:pt x="1462155" y="388018"/>
                  </a:lnTo>
                  <a:lnTo>
                    <a:pt x="1477114" y="415216"/>
                  </a:lnTo>
                  <a:lnTo>
                    <a:pt x="1489667" y="443397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09" name="Клетка однослойного эпителия"/>
            <p:cNvSpPr/>
            <p:nvPr/>
          </p:nvSpPr>
          <p:spPr>
            <a:xfrm>
              <a:off x="6334539" y="3936782"/>
              <a:ext cx="221326" cy="185141"/>
            </a:xfrm>
            <a:custGeom>
              <a:avLst/>
              <a:gdLst/>
              <a:ahLst/>
              <a:cxnLst/>
              <a:rect l="l" t="t" r="r" b="b"/>
              <a:pathLst>
                <a:path w="221326" h="185141">
                  <a:moveTo>
                    <a:pt x="208914" y="0"/>
                  </a:moveTo>
                  <a:lnTo>
                    <a:pt x="213923" y="17921"/>
                  </a:lnTo>
                  <a:lnTo>
                    <a:pt x="217688" y="36117"/>
                  </a:lnTo>
                  <a:lnTo>
                    <a:pt x="220166" y="54537"/>
                  </a:lnTo>
                  <a:lnTo>
                    <a:pt x="221326" y="73130"/>
                  </a:lnTo>
                  <a:lnTo>
                    <a:pt x="221154" y="91839"/>
                  </a:lnTo>
                  <a:lnTo>
                    <a:pt x="219649" y="110606"/>
                  </a:lnTo>
                  <a:lnTo>
                    <a:pt x="216824" y="129375"/>
                  </a:lnTo>
                  <a:lnTo>
                    <a:pt x="212707" y="148088"/>
                  </a:lnTo>
                  <a:lnTo>
                    <a:pt x="207338" y="166693"/>
                  </a:lnTo>
                  <a:lnTo>
                    <a:pt x="200766" y="185141"/>
                  </a:lnTo>
                  <a:lnTo>
                    <a:pt x="0" y="146308"/>
                  </a:lnTo>
                  <a:lnTo>
                    <a:pt x="5037" y="134462"/>
                  </a:lnTo>
                  <a:lnTo>
                    <a:pt x="9199" y="122531"/>
                  </a:lnTo>
                  <a:lnTo>
                    <a:pt x="12449" y="110548"/>
                  </a:lnTo>
                  <a:lnTo>
                    <a:pt x="14756" y="98547"/>
                  </a:lnTo>
                  <a:lnTo>
                    <a:pt x="16102" y="86564"/>
                  </a:lnTo>
                  <a:lnTo>
                    <a:pt x="16474" y="74636"/>
                  </a:lnTo>
                  <a:lnTo>
                    <a:pt x="15872" y="62799"/>
                  </a:lnTo>
                  <a:lnTo>
                    <a:pt x="14308" y="51090"/>
                  </a:lnTo>
                  <a:lnTo>
                    <a:pt x="11802" y="39541"/>
                  </a:lnTo>
                  <a:lnTo>
                    <a:pt x="8384" y="28183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10" name="Ядро эпителиальной клетки"/>
            <p:cNvSpPr/>
            <p:nvPr/>
          </p:nvSpPr>
          <p:spPr>
            <a:xfrm rot="88421">
              <a:off x="6403345" y="395958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11" name="Ядрышко"/>
            <p:cNvSpPr/>
            <p:nvPr/>
          </p:nvSpPr>
          <p:spPr>
            <a:xfrm>
              <a:off x="6432606" y="401124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12" name="Клетка однослойного эпителия"/>
            <p:cNvSpPr/>
            <p:nvPr/>
          </p:nvSpPr>
          <p:spPr>
            <a:xfrm>
              <a:off x="6247297" y="4083090"/>
              <a:ext cx="288008" cy="207835"/>
            </a:xfrm>
            <a:custGeom>
              <a:avLst/>
              <a:gdLst/>
              <a:ahLst/>
              <a:cxnLst/>
              <a:rect l="l" t="t" r="r" b="b"/>
              <a:pathLst>
                <a:path w="288008" h="207835">
                  <a:moveTo>
                    <a:pt x="288008" y="38833"/>
                  </a:moveTo>
                  <a:lnTo>
                    <a:pt x="280295" y="57079"/>
                  </a:lnTo>
                  <a:lnTo>
                    <a:pt x="271507" y="75085"/>
                  </a:lnTo>
                  <a:lnTo>
                    <a:pt x="261719" y="92817"/>
                  </a:lnTo>
                  <a:lnTo>
                    <a:pt x="251005" y="110249"/>
                  </a:lnTo>
                  <a:lnTo>
                    <a:pt x="239444" y="127362"/>
                  </a:lnTo>
                  <a:lnTo>
                    <a:pt x="227111" y="144142"/>
                  </a:lnTo>
                  <a:lnTo>
                    <a:pt x="214080" y="160580"/>
                  </a:lnTo>
                  <a:lnTo>
                    <a:pt x="200419" y="176673"/>
                  </a:lnTo>
                  <a:lnTo>
                    <a:pt x="186192" y="192424"/>
                  </a:lnTo>
                  <a:lnTo>
                    <a:pt x="171454" y="207835"/>
                  </a:lnTo>
                  <a:lnTo>
                    <a:pt x="0" y="109266"/>
                  </a:lnTo>
                  <a:lnTo>
                    <a:pt x="10953" y="99248"/>
                  </a:lnTo>
                  <a:lnTo>
                    <a:pt x="21538" y="89020"/>
                  </a:lnTo>
                  <a:lnTo>
                    <a:pt x="31714" y="78581"/>
                  </a:lnTo>
                  <a:lnTo>
                    <a:pt x="41436" y="67931"/>
                  </a:lnTo>
                  <a:lnTo>
                    <a:pt x="50653" y="57072"/>
                  </a:lnTo>
                  <a:lnTo>
                    <a:pt x="59311" y="46011"/>
                  </a:lnTo>
                  <a:lnTo>
                    <a:pt x="67356" y="34758"/>
                  </a:lnTo>
                  <a:lnTo>
                    <a:pt x="74729" y="23326"/>
                  </a:lnTo>
                  <a:lnTo>
                    <a:pt x="81376" y="11732"/>
                  </a:lnTo>
                  <a:lnTo>
                    <a:pt x="87242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13" name="Ядро эпителиальной клетки"/>
            <p:cNvSpPr/>
            <p:nvPr/>
          </p:nvSpPr>
          <p:spPr>
            <a:xfrm rot="1225263">
              <a:off x="6342849" y="410760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14" name="Ядрышко"/>
            <p:cNvSpPr/>
            <p:nvPr/>
          </p:nvSpPr>
          <p:spPr>
            <a:xfrm>
              <a:off x="6372110" y="415927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15" name="Клетка однослойного эпителия"/>
            <p:cNvSpPr/>
            <p:nvPr/>
          </p:nvSpPr>
          <p:spPr>
            <a:xfrm>
              <a:off x="6122196" y="4192356"/>
              <a:ext cx="296555" cy="235184"/>
            </a:xfrm>
            <a:custGeom>
              <a:avLst/>
              <a:gdLst/>
              <a:ahLst/>
              <a:cxnLst/>
              <a:rect l="l" t="t" r="r" b="b"/>
              <a:pathLst>
                <a:path w="296555" h="235184">
                  <a:moveTo>
                    <a:pt x="296555" y="98569"/>
                  </a:moveTo>
                  <a:lnTo>
                    <a:pt x="281352" y="113648"/>
                  </a:lnTo>
                  <a:lnTo>
                    <a:pt x="265725" y="128402"/>
                  </a:lnTo>
                  <a:lnTo>
                    <a:pt x="249704" y="142838"/>
                  </a:lnTo>
                  <a:lnTo>
                    <a:pt x="233310" y="156963"/>
                  </a:lnTo>
                  <a:lnTo>
                    <a:pt x="216559" y="170781"/>
                  </a:lnTo>
                  <a:lnTo>
                    <a:pt x="199456" y="184293"/>
                  </a:lnTo>
                  <a:lnTo>
                    <a:pt x="182005" y="197498"/>
                  </a:lnTo>
                  <a:lnTo>
                    <a:pt x="164202" y="210388"/>
                  </a:lnTo>
                  <a:lnTo>
                    <a:pt x="146040" y="222955"/>
                  </a:lnTo>
                  <a:lnTo>
                    <a:pt x="127511" y="235184"/>
                  </a:lnTo>
                  <a:lnTo>
                    <a:pt x="0" y="89313"/>
                  </a:lnTo>
                  <a:lnTo>
                    <a:pt x="13676" y="81274"/>
                  </a:lnTo>
                  <a:lnTo>
                    <a:pt x="27089" y="73023"/>
                  </a:lnTo>
                  <a:lnTo>
                    <a:pt x="40245" y="64572"/>
                  </a:lnTo>
                  <a:lnTo>
                    <a:pt x="53148" y="55924"/>
                  </a:lnTo>
                  <a:lnTo>
                    <a:pt x="65800" y="47086"/>
                  </a:lnTo>
                  <a:lnTo>
                    <a:pt x="78201" y="38057"/>
                  </a:lnTo>
                  <a:lnTo>
                    <a:pt x="90345" y="28837"/>
                  </a:lnTo>
                  <a:lnTo>
                    <a:pt x="102221" y="19423"/>
                  </a:lnTo>
                  <a:lnTo>
                    <a:pt x="113814" y="9812"/>
                  </a:lnTo>
                  <a:lnTo>
                    <a:pt x="125101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16" name="Ядро эпителиальной клетки"/>
            <p:cNvSpPr/>
            <p:nvPr/>
          </p:nvSpPr>
          <p:spPr>
            <a:xfrm rot="2362105">
              <a:off x="6214640" y="423252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17" name="Ядрышко"/>
            <p:cNvSpPr/>
            <p:nvPr/>
          </p:nvSpPr>
          <p:spPr>
            <a:xfrm>
              <a:off x="6243901" y="428418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18" name="Клетка однослойного эпителия"/>
            <p:cNvSpPr/>
            <p:nvPr/>
          </p:nvSpPr>
          <p:spPr>
            <a:xfrm>
              <a:off x="5970587" y="4281669"/>
              <a:ext cx="279120" cy="244471"/>
            </a:xfrm>
            <a:custGeom>
              <a:avLst/>
              <a:gdLst/>
              <a:ahLst/>
              <a:cxnLst/>
              <a:rect l="l" t="t" r="r" b="b"/>
              <a:pathLst>
                <a:path w="279120" h="244471">
                  <a:moveTo>
                    <a:pt x="279120" y="145871"/>
                  </a:moveTo>
                  <a:lnTo>
                    <a:pt x="260216" y="157743"/>
                  </a:lnTo>
                  <a:lnTo>
                    <a:pt x="240930" y="169238"/>
                  </a:lnTo>
                  <a:lnTo>
                    <a:pt x="221255" y="180330"/>
                  </a:lnTo>
                  <a:lnTo>
                    <a:pt x="201189" y="190993"/>
                  </a:lnTo>
                  <a:lnTo>
                    <a:pt x="180735" y="201200"/>
                  </a:lnTo>
                  <a:lnTo>
                    <a:pt x="159899" y="210923"/>
                  </a:lnTo>
                  <a:lnTo>
                    <a:pt x="138694" y="220135"/>
                  </a:lnTo>
                  <a:lnTo>
                    <a:pt x="117134" y="228811"/>
                  </a:lnTo>
                  <a:lnTo>
                    <a:pt x="95244" y="236929"/>
                  </a:lnTo>
                  <a:lnTo>
                    <a:pt x="73047" y="244471"/>
                  </a:lnTo>
                  <a:lnTo>
                    <a:pt x="0" y="65569"/>
                  </a:lnTo>
                  <a:lnTo>
                    <a:pt x="16290" y="60469"/>
                  </a:lnTo>
                  <a:lnTo>
                    <a:pt x="32364" y="55005"/>
                  </a:lnTo>
                  <a:lnTo>
                    <a:pt x="48203" y="49191"/>
                  </a:lnTo>
                  <a:lnTo>
                    <a:pt x="63792" y="43039"/>
                  </a:lnTo>
                  <a:lnTo>
                    <a:pt x="79118" y="36567"/>
                  </a:lnTo>
                  <a:lnTo>
                    <a:pt x="94172" y="29790"/>
                  </a:lnTo>
                  <a:lnTo>
                    <a:pt x="108948" y="22729"/>
                  </a:lnTo>
                  <a:lnTo>
                    <a:pt x="123445" y="15399"/>
                  </a:lnTo>
                  <a:lnTo>
                    <a:pt x="137664" y="7817"/>
                  </a:lnTo>
                  <a:lnTo>
                    <a:pt x="151609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19" name="Ядро эпителиальной клетки"/>
            <p:cNvSpPr/>
            <p:nvPr/>
          </p:nvSpPr>
          <p:spPr>
            <a:xfrm rot="3498947">
              <a:off x="6052761" y="433096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20" name="Ядрышко"/>
            <p:cNvSpPr/>
            <p:nvPr/>
          </p:nvSpPr>
          <p:spPr>
            <a:xfrm>
              <a:off x="6082022" y="438262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21" name="Клетка однослойного эпителия"/>
            <p:cNvSpPr/>
            <p:nvPr/>
          </p:nvSpPr>
          <p:spPr>
            <a:xfrm>
              <a:off x="5801020" y="4347238"/>
              <a:ext cx="242614" cy="222218"/>
            </a:xfrm>
            <a:custGeom>
              <a:avLst/>
              <a:gdLst/>
              <a:ahLst/>
              <a:cxnLst/>
              <a:rect l="l" t="t" r="r" b="b"/>
              <a:pathLst>
                <a:path w="242614" h="222218">
                  <a:moveTo>
                    <a:pt x="242614" y="178902"/>
                  </a:moveTo>
                  <a:lnTo>
                    <a:pt x="220141" y="185854"/>
                  </a:lnTo>
                  <a:lnTo>
                    <a:pt x="197425" y="192208"/>
                  </a:lnTo>
                  <a:lnTo>
                    <a:pt x="174500" y="197961"/>
                  </a:lnTo>
                  <a:lnTo>
                    <a:pt x="151401" y="203114"/>
                  </a:lnTo>
                  <a:lnTo>
                    <a:pt x="128162" y="207676"/>
                  </a:lnTo>
                  <a:lnTo>
                    <a:pt x="104816" y="211659"/>
                  </a:lnTo>
                  <a:lnTo>
                    <a:pt x="81394" y="215083"/>
                  </a:lnTo>
                  <a:lnTo>
                    <a:pt x="57924" y="217967"/>
                  </a:lnTo>
                  <a:lnTo>
                    <a:pt x="34426" y="220336"/>
                  </a:lnTo>
                  <a:lnTo>
                    <a:pt x="10921" y="222218"/>
                  </a:lnTo>
                  <a:lnTo>
                    <a:pt x="0" y="30666"/>
                  </a:lnTo>
                  <a:lnTo>
                    <a:pt x="17169" y="29157"/>
                  </a:lnTo>
                  <a:lnTo>
                    <a:pt x="34339" y="27336"/>
                  </a:lnTo>
                  <a:lnTo>
                    <a:pt x="51497" y="25189"/>
                  </a:lnTo>
                  <a:lnTo>
                    <a:pt x="68626" y="22698"/>
                  </a:lnTo>
                  <a:lnTo>
                    <a:pt x="85707" y="19850"/>
                  </a:lnTo>
                  <a:lnTo>
                    <a:pt x="102717" y="16636"/>
                  </a:lnTo>
                  <a:lnTo>
                    <a:pt x="119634" y="13047"/>
                  </a:lnTo>
                  <a:lnTo>
                    <a:pt x="136431" y="9078"/>
                  </a:lnTo>
                  <a:lnTo>
                    <a:pt x="153084" y="4728"/>
                  </a:lnTo>
                  <a:lnTo>
                    <a:pt x="169567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22" name="Ядро эпителиальной клетки"/>
            <p:cNvSpPr/>
            <p:nvPr/>
          </p:nvSpPr>
          <p:spPr>
            <a:xfrm rot="4635789">
              <a:off x="5861384" y="439095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23" name="Ядрышко"/>
            <p:cNvSpPr/>
            <p:nvPr/>
          </p:nvSpPr>
          <p:spPr>
            <a:xfrm>
              <a:off x="5890645" y="444261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24" name="Клетка однослойного эпителия"/>
            <p:cNvSpPr/>
            <p:nvPr/>
          </p:nvSpPr>
          <p:spPr>
            <a:xfrm>
              <a:off x="5577452" y="4377904"/>
              <a:ext cx="234489" cy="194713"/>
            </a:xfrm>
            <a:custGeom>
              <a:avLst/>
              <a:gdLst/>
              <a:ahLst/>
              <a:cxnLst/>
              <a:rect l="l" t="t" r="r" b="b"/>
              <a:pathLst>
                <a:path w="234489" h="194713">
                  <a:moveTo>
                    <a:pt x="234489" y="191552"/>
                  </a:moveTo>
                  <a:lnTo>
                    <a:pt x="210989" y="192971"/>
                  </a:lnTo>
                  <a:lnTo>
                    <a:pt x="187502" y="193955"/>
                  </a:lnTo>
                  <a:lnTo>
                    <a:pt x="164032" y="194529"/>
                  </a:lnTo>
                  <a:lnTo>
                    <a:pt x="140581" y="194713"/>
                  </a:lnTo>
                  <a:lnTo>
                    <a:pt x="117143" y="194524"/>
                  </a:lnTo>
                  <a:lnTo>
                    <a:pt x="93715" y="193975"/>
                  </a:lnTo>
                  <a:lnTo>
                    <a:pt x="70291" y="193071"/>
                  </a:lnTo>
                  <a:lnTo>
                    <a:pt x="46865" y="191813"/>
                  </a:lnTo>
                  <a:lnTo>
                    <a:pt x="23435" y="190194"/>
                  </a:lnTo>
                  <a:lnTo>
                    <a:pt x="0" y="188198"/>
                  </a:lnTo>
                  <a:lnTo>
                    <a:pt x="52576" y="953"/>
                  </a:lnTo>
                  <a:lnTo>
                    <a:pt x="69643" y="1916"/>
                  </a:lnTo>
                  <a:lnTo>
                    <a:pt x="86712" y="2640"/>
                  </a:lnTo>
                  <a:lnTo>
                    <a:pt x="103782" y="3133"/>
                  </a:lnTo>
                  <a:lnTo>
                    <a:pt x="120856" y="3400"/>
                  </a:lnTo>
                  <a:lnTo>
                    <a:pt x="137937" y="3441"/>
                  </a:lnTo>
                  <a:lnTo>
                    <a:pt x="155030" y="3253"/>
                  </a:lnTo>
                  <a:lnTo>
                    <a:pt x="172138" y="2826"/>
                  </a:lnTo>
                  <a:lnTo>
                    <a:pt x="189264" y="2152"/>
                  </a:lnTo>
                  <a:lnTo>
                    <a:pt x="206408" y="1214"/>
                  </a:lnTo>
                  <a:lnTo>
                    <a:pt x="223568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25" name="Ядро эпителиальной клетки"/>
            <p:cNvSpPr/>
            <p:nvPr/>
          </p:nvSpPr>
          <p:spPr>
            <a:xfrm rot="5772632">
              <a:off x="5659687" y="440677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26" name="Ядрышко"/>
            <p:cNvSpPr/>
            <p:nvPr/>
          </p:nvSpPr>
          <p:spPr>
            <a:xfrm>
              <a:off x="5688948" y="445843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27" name="Клетка однослойного эпителия"/>
            <p:cNvSpPr/>
            <p:nvPr/>
          </p:nvSpPr>
          <p:spPr>
            <a:xfrm>
              <a:off x="5347773" y="4351646"/>
              <a:ext cx="282255" cy="214456"/>
            </a:xfrm>
            <a:custGeom>
              <a:avLst/>
              <a:gdLst/>
              <a:ahLst/>
              <a:cxnLst/>
              <a:rect l="l" t="t" r="r" b="b"/>
              <a:pathLst>
                <a:path w="282255" h="214456">
                  <a:moveTo>
                    <a:pt x="229679" y="214456"/>
                  </a:moveTo>
                  <a:lnTo>
                    <a:pt x="206246" y="212063"/>
                  </a:lnTo>
                  <a:lnTo>
                    <a:pt x="182825" y="209247"/>
                  </a:lnTo>
                  <a:lnTo>
                    <a:pt x="159436" y="205976"/>
                  </a:lnTo>
                  <a:lnTo>
                    <a:pt x="136106" y="202212"/>
                  </a:lnTo>
                  <a:lnTo>
                    <a:pt x="112871" y="197916"/>
                  </a:lnTo>
                  <a:lnTo>
                    <a:pt x="89776" y="193047"/>
                  </a:lnTo>
                  <a:lnTo>
                    <a:pt x="66874" y="187562"/>
                  </a:lnTo>
                  <a:lnTo>
                    <a:pt x="44230" y="181420"/>
                  </a:lnTo>
                  <a:lnTo>
                    <a:pt x="21912" y="174583"/>
                  </a:lnTo>
                  <a:lnTo>
                    <a:pt x="0" y="167017"/>
                  </a:lnTo>
                  <a:lnTo>
                    <a:pt x="115353" y="0"/>
                  </a:lnTo>
                  <a:lnTo>
                    <a:pt x="131237" y="4533"/>
                  </a:lnTo>
                  <a:lnTo>
                    <a:pt x="147425" y="8597"/>
                  </a:lnTo>
                  <a:lnTo>
                    <a:pt x="163861" y="12214"/>
                  </a:lnTo>
                  <a:lnTo>
                    <a:pt x="180493" y="15409"/>
                  </a:lnTo>
                  <a:lnTo>
                    <a:pt x="197274" y="18208"/>
                  </a:lnTo>
                  <a:lnTo>
                    <a:pt x="214165" y="20640"/>
                  </a:lnTo>
                  <a:lnTo>
                    <a:pt x="231132" y="22732"/>
                  </a:lnTo>
                  <a:lnTo>
                    <a:pt x="248149" y="24509"/>
                  </a:lnTo>
                  <a:lnTo>
                    <a:pt x="265195" y="25995"/>
                  </a:lnTo>
                  <a:lnTo>
                    <a:pt x="282255" y="27211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28" name="Ядро эпителиальной клетки"/>
            <p:cNvSpPr/>
            <p:nvPr/>
          </p:nvSpPr>
          <p:spPr>
            <a:xfrm rot="6909474">
              <a:off x="5458813" y="438982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29" name="Ядрышко"/>
            <p:cNvSpPr/>
            <p:nvPr/>
          </p:nvSpPr>
          <p:spPr>
            <a:xfrm>
              <a:off x="5488074" y="444148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30" name="Клетка однослойного эпителия"/>
            <p:cNvSpPr/>
            <p:nvPr/>
          </p:nvSpPr>
          <p:spPr>
            <a:xfrm>
              <a:off x="5169240" y="4278819"/>
              <a:ext cx="293886" cy="239844"/>
            </a:xfrm>
            <a:custGeom>
              <a:avLst/>
              <a:gdLst/>
              <a:ahLst/>
              <a:cxnLst/>
              <a:rect l="l" t="t" r="r" b="b"/>
              <a:pathLst>
                <a:path w="293886" h="239844">
                  <a:moveTo>
                    <a:pt x="178533" y="239844"/>
                  </a:moveTo>
                  <a:lnTo>
                    <a:pt x="157107" y="231522"/>
                  </a:lnTo>
                  <a:lnTo>
                    <a:pt x="136255" y="222421"/>
                  </a:lnTo>
                  <a:lnTo>
                    <a:pt x="116063" y="212528"/>
                  </a:lnTo>
                  <a:lnTo>
                    <a:pt x="96621" y="201839"/>
                  </a:lnTo>
                  <a:lnTo>
                    <a:pt x="78012" y="190359"/>
                  </a:lnTo>
                  <a:lnTo>
                    <a:pt x="60317" y="178100"/>
                  </a:lnTo>
                  <a:lnTo>
                    <a:pt x="43609" y="165089"/>
                  </a:lnTo>
                  <a:lnTo>
                    <a:pt x="27953" y="151356"/>
                  </a:lnTo>
                  <a:lnTo>
                    <a:pt x="13403" y="136945"/>
                  </a:lnTo>
                  <a:lnTo>
                    <a:pt x="0" y="121904"/>
                  </a:lnTo>
                  <a:lnTo>
                    <a:pt x="165220" y="0"/>
                  </a:lnTo>
                  <a:lnTo>
                    <a:pt x="174798" y="9411"/>
                  </a:lnTo>
                  <a:lnTo>
                    <a:pt x="185221" y="18406"/>
                  </a:lnTo>
                  <a:lnTo>
                    <a:pt x="196459" y="26953"/>
                  </a:lnTo>
                  <a:lnTo>
                    <a:pt x="208474" y="35027"/>
                  </a:lnTo>
                  <a:lnTo>
                    <a:pt x="221219" y="42607"/>
                  </a:lnTo>
                  <a:lnTo>
                    <a:pt x="234641" y="49680"/>
                  </a:lnTo>
                  <a:lnTo>
                    <a:pt x="248682" y="56238"/>
                  </a:lnTo>
                  <a:lnTo>
                    <a:pt x="263279" y="62278"/>
                  </a:lnTo>
                  <a:lnTo>
                    <a:pt x="278368" y="67804"/>
                  </a:lnTo>
                  <a:lnTo>
                    <a:pt x="293886" y="72827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31" name="Ядро эпителиальной клетки"/>
            <p:cNvSpPr/>
            <p:nvPr/>
          </p:nvSpPr>
          <p:spPr>
            <a:xfrm rot="8046316">
              <a:off x="5275999" y="432605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32" name="Ядрышко"/>
            <p:cNvSpPr/>
            <p:nvPr/>
          </p:nvSpPr>
          <p:spPr>
            <a:xfrm>
              <a:off x="5305260" y="437771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33" name="Клетка однослойного эпителия"/>
            <p:cNvSpPr/>
            <p:nvPr/>
          </p:nvSpPr>
          <p:spPr>
            <a:xfrm>
              <a:off x="5097763" y="4170485"/>
              <a:ext cx="236697" cy="230238"/>
            </a:xfrm>
            <a:custGeom>
              <a:avLst/>
              <a:gdLst/>
              <a:ahLst/>
              <a:cxnLst/>
              <a:rect l="l" t="t" r="r" b="b"/>
              <a:pathLst>
                <a:path w="236697" h="230238">
                  <a:moveTo>
                    <a:pt x="71477" y="230238"/>
                  </a:moveTo>
                  <a:lnTo>
                    <a:pt x="59250" y="214624"/>
                  </a:lnTo>
                  <a:lnTo>
                    <a:pt x="48214" y="198497"/>
                  </a:lnTo>
                  <a:lnTo>
                    <a:pt x="38369" y="181921"/>
                  </a:lnTo>
                  <a:lnTo>
                    <a:pt x="29700" y="164964"/>
                  </a:lnTo>
                  <a:lnTo>
                    <a:pt x="22180" y="147693"/>
                  </a:lnTo>
                  <a:lnTo>
                    <a:pt x="15767" y="130174"/>
                  </a:lnTo>
                  <a:lnTo>
                    <a:pt x="10410" y="112470"/>
                  </a:lnTo>
                  <a:lnTo>
                    <a:pt x="6044" y="94640"/>
                  </a:lnTo>
                  <a:lnTo>
                    <a:pt x="2600" y="76738"/>
                  </a:lnTo>
                  <a:lnTo>
                    <a:pt x="0" y="58811"/>
                  </a:lnTo>
                  <a:lnTo>
                    <a:pt x="186822" y="0"/>
                  </a:lnTo>
                  <a:lnTo>
                    <a:pt x="188482" y="11394"/>
                  </a:lnTo>
                  <a:lnTo>
                    <a:pt x="190758" y="22760"/>
                  </a:lnTo>
                  <a:lnTo>
                    <a:pt x="193707" y="34068"/>
                  </a:lnTo>
                  <a:lnTo>
                    <a:pt x="197382" y="45283"/>
                  </a:lnTo>
                  <a:lnTo>
                    <a:pt x="201828" y="56366"/>
                  </a:lnTo>
                  <a:lnTo>
                    <a:pt x="207085" y="67276"/>
                  </a:lnTo>
                  <a:lnTo>
                    <a:pt x="213185" y="77971"/>
                  </a:lnTo>
                  <a:lnTo>
                    <a:pt x="220147" y="88407"/>
                  </a:lnTo>
                  <a:lnTo>
                    <a:pt x="227984" y="98542"/>
                  </a:lnTo>
                  <a:lnTo>
                    <a:pt x="236697" y="108334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34" name="Ядро эпителиальной клетки"/>
            <p:cNvSpPr/>
            <p:nvPr/>
          </p:nvSpPr>
          <p:spPr>
            <a:xfrm rot="9183158">
              <a:off x="5167639" y="420439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35" name="Ядрышко"/>
            <p:cNvSpPr/>
            <p:nvPr/>
          </p:nvSpPr>
          <p:spPr>
            <a:xfrm>
              <a:off x="5196900" y="425605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36" name="Клетка однослойного эпителия"/>
            <p:cNvSpPr/>
            <p:nvPr/>
          </p:nvSpPr>
          <p:spPr>
            <a:xfrm>
              <a:off x="5094212" y="4053592"/>
              <a:ext cx="195732" cy="175704"/>
            </a:xfrm>
            <a:custGeom>
              <a:avLst/>
              <a:gdLst/>
              <a:ahLst/>
              <a:cxnLst/>
              <a:rect l="l" t="t" r="r" b="b"/>
              <a:pathLst>
                <a:path w="195732" h="175704">
                  <a:moveTo>
                    <a:pt x="3551" y="175704"/>
                  </a:moveTo>
                  <a:lnTo>
                    <a:pt x="1717" y="157791"/>
                  </a:lnTo>
                  <a:lnTo>
                    <a:pt x="566" y="139925"/>
                  </a:lnTo>
                  <a:lnTo>
                    <a:pt x="19" y="122130"/>
                  </a:lnTo>
                  <a:lnTo>
                    <a:pt x="0" y="104421"/>
                  </a:lnTo>
                  <a:lnTo>
                    <a:pt x="439" y="86806"/>
                  </a:lnTo>
                  <a:lnTo>
                    <a:pt x="1275" y="69288"/>
                  </a:lnTo>
                  <a:lnTo>
                    <a:pt x="2457" y="51860"/>
                  </a:lnTo>
                  <a:lnTo>
                    <a:pt x="3942" y="34513"/>
                  </a:lnTo>
                  <a:lnTo>
                    <a:pt x="5702" y="17232"/>
                  </a:lnTo>
                  <a:lnTo>
                    <a:pt x="7723" y="0"/>
                  </a:lnTo>
                  <a:lnTo>
                    <a:pt x="195732" y="4837"/>
                  </a:lnTo>
                  <a:lnTo>
                    <a:pt x="194031" y="15848"/>
                  </a:lnTo>
                  <a:lnTo>
                    <a:pt x="192519" y="26887"/>
                  </a:lnTo>
                  <a:lnTo>
                    <a:pt x="191207" y="37964"/>
                  </a:lnTo>
                  <a:lnTo>
                    <a:pt x="190116" y="49089"/>
                  </a:lnTo>
                  <a:lnTo>
                    <a:pt x="189275" y="60267"/>
                  </a:lnTo>
                  <a:lnTo>
                    <a:pt x="188722" y="71501"/>
                  </a:lnTo>
                  <a:lnTo>
                    <a:pt x="188503" y="82789"/>
                  </a:lnTo>
                  <a:lnTo>
                    <a:pt x="188667" y="94126"/>
                  </a:lnTo>
                  <a:lnTo>
                    <a:pt x="189271" y="105499"/>
                  </a:lnTo>
                  <a:lnTo>
                    <a:pt x="190373" y="116893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37" name="Ядро эпителиальной клетки"/>
            <p:cNvSpPr/>
            <p:nvPr/>
          </p:nvSpPr>
          <p:spPr>
            <a:xfrm rot="10320000">
              <a:off x="5147125" y="406030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38" name="Ядрышко"/>
            <p:cNvSpPr/>
            <p:nvPr/>
          </p:nvSpPr>
          <p:spPr>
            <a:xfrm>
              <a:off x="5176386" y="411196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39" name="Клетка однослойного эпителия"/>
            <p:cNvSpPr/>
            <p:nvPr/>
          </p:nvSpPr>
          <p:spPr>
            <a:xfrm>
              <a:off x="5101935" y="3880981"/>
              <a:ext cx="218842" cy="177448"/>
            </a:xfrm>
            <a:custGeom>
              <a:avLst/>
              <a:gdLst/>
              <a:ahLst/>
              <a:cxnLst/>
              <a:rect l="l" t="t" r="r" b="b"/>
              <a:pathLst>
                <a:path w="218842" h="177448">
                  <a:moveTo>
                    <a:pt x="0" y="172611"/>
                  </a:moveTo>
                  <a:lnTo>
                    <a:pt x="2276" y="155410"/>
                  </a:lnTo>
                  <a:lnTo>
                    <a:pt x="4819" y="138223"/>
                  </a:lnTo>
                  <a:lnTo>
                    <a:pt x="7649" y="121032"/>
                  </a:lnTo>
                  <a:lnTo>
                    <a:pt x="10799" y="103823"/>
                  </a:lnTo>
                  <a:lnTo>
                    <a:pt x="14309" y="86587"/>
                  </a:lnTo>
                  <a:lnTo>
                    <a:pt x="18230" y="69318"/>
                  </a:lnTo>
                  <a:lnTo>
                    <a:pt x="22615" y="52016"/>
                  </a:lnTo>
                  <a:lnTo>
                    <a:pt x="27524" y="34686"/>
                  </a:lnTo>
                  <a:lnTo>
                    <a:pt x="33016" y="17342"/>
                  </a:lnTo>
                  <a:lnTo>
                    <a:pt x="39151" y="0"/>
                  </a:lnTo>
                  <a:lnTo>
                    <a:pt x="218842" y="66902"/>
                  </a:lnTo>
                  <a:lnTo>
                    <a:pt x="214138" y="78037"/>
                  </a:lnTo>
                  <a:lnTo>
                    <a:pt x="209903" y="89165"/>
                  </a:lnTo>
                  <a:lnTo>
                    <a:pt x="206094" y="100277"/>
                  </a:lnTo>
                  <a:lnTo>
                    <a:pt x="202668" y="111364"/>
                  </a:lnTo>
                  <a:lnTo>
                    <a:pt x="199580" y="122424"/>
                  </a:lnTo>
                  <a:lnTo>
                    <a:pt x="196793" y="133457"/>
                  </a:lnTo>
                  <a:lnTo>
                    <a:pt x="194269" y="144468"/>
                  </a:lnTo>
                  <a:lnTo>
                    <a:pt x="191978" y="155464"/>
                  </a:lnTo>
                  <a:lnTo>
                    <a:pt x="189896" y="166453"/>
                  </a:lnTo>
                  <a:lnTo>
                    <a:pt x="188009" y="177448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40" name="Ядро эпителиальной клетки"/>
            <p:cNvSpPr/>
            <p:nvPr/>
          </p:nvSpPr>
          <p:spPr>
            <a:xfrm rot="11456842">
              <a:off x="5166865" y="391990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41" name="Ядрышко"/>
            <p:cNvSpPr/>
            <p:nvPr/>
          </p:nvSpPr>
          <p:spPr>
            <a:xfrm>
              <a:off x="5196126" y="397157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42" name="Клетка однослойного эпителия"/>
            <p:cNvSpPr/>
            <p:nvPr/>
          </p:nvSpPr>
          <p:spPr>
            <a:xfrm>
              <a:off x="5141086" y="3714928"/>
              <a:ext cx="259152" cy="232955"/>
            </a:xfrm>
            <a:custGeom>
              <a:avLst/>
              <a:gdLst/>
              <a:ahLst/>
              <a:cxnLst/>
              <a:rect l="l" t="t" r="r" b="b"/>
              <a:pathLst>
                <a:path w="259152" h="232955">
                  <a:moveTo>
                    <a:pt x="0" y="166053"/>
                  </a:moveTo>
                  <a:lnTo>
                    <a:pt x="6836" y="148739"/>
                  </a:lnTo>
                  <a:lnTo>
                    <a:pt x="14423" y="131480"/>
                  </a:lnTo>
                  <a:lnTo>
                    <a:pt x="22809" y="114312"/>
                  </a:lnTo>
                  <a:lnTo>
                    <a:pt x="32032" y="97271"/>
                  </a:lnTo>
                  <a:lnTo>
                    <a:pt x="42122" y="80398"/>
                  </a:lnTo>
                  <a:lnTo>
                    <a:pt x="53100" y="63734"/>
                  </a:lnTo>
                  <a:lnTo>
                    <a:pt x="64975" y="47322"/>
                  </a:lnTo>
                  <a:lnTo>
                    <a:pt x="77748" y="31203"/>
                  </a:lnTo>
                  <a:lnTo>
                    <a:pt x="91409" y="15416"/>
                  </a:lnTo>
                  <a:lnTo>
                    <a:pt x="105941" y="0"/>
                  </a:lnTo>
                  <a:lnTo>
                    <a:pt x="259152" y="125708"/>
                  </a:lnTo>
                  <a:lnTo>
                    <a:pt x="248350" y="135727"/>
                  </a:lnTo>
                  <a:lnTo>
                    <a:pt x="238177" y="145970"/>
                  </a:lnTo>
                  <a:lnTo>
                    <a:pt x="228648" y="156413"/>
                  </a:lnTo>
                  <a:lnTo>
                    <a:pt x="219770" y="167032"/>
                  </a:lnTo>
                  <a:lnTo>
                    <a:pt x="211543" y="177799"/>
                  </a:lnTo>
                  <a:lnTo>
                    <a:pt x="203961" y="188687"/>
                  </a:lnTo>
                  <a:lnTo>
                    <a:pt x="197009" y="199672"/>
                  </a:lnTo>
                  <a:lnTo>
                    <a:pt x="190666" y="210726"/>
                  </a:lnTo>
                  <a:lnTo>
                    <a:pt x="184904" y="221827"/>
                  </a:lnTo>
                  <a:lnTo>
                    <a:pt x="179691" y="232955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43" name="Ядро эпителиальной клетки"/>
            <p:cNvSpPr/>
            <p:nvPr/>
          </p:nvSpPr>
          <p:spPr>
            <a:xfrm rot="12593684">
              <a:off x="5225587" y="377968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44" name="Ядрышко"/>
            <p:cNvSpPr/>
            <p:nvPr/>
          </p:nvSpPr>
          <p:spPr>
            <a:xfrm>
              <a:off x="5254848" y="383134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45" name="Клетка однослойного эпителия"/>
            <p:cNvSpPr/>
            <p:nvPr/>
          </p:nvSpPr>
          <p:spPr>
            <a:xfrm>
              <a:off x="5247027" y="3586165"/>
              <a:ext cx="289701" cy="254471"/>
            </a:xfrm>
            <a:custGeom>
              <a:avLst/>
              <a:gdLst/>
              <a:ahLst/>
              <a:cxnLst/>
              <a:rect l="l" t="t" r="r" b="b"/>
              <a:pathLst>
                <a:path w="289701" h="254471">
                  <a:moveTo>
                    <a:pt x="0" y="128763"/>
                  </a:moveTo>
                  <a:lnTo>
                    <a:pt x="15375" y="113749"/>
                  </a:lnTo>
                  <a:lnTo>
                    <a:pt x="31559" y="99168"/>
                  </a:lnTo>
                  <a:lnTo>
                    <a:pt x="48512" y="85044"/>
                  </a:lnTo>
                  <a:lnTo>
                    <a:pt x="66190" y="71395"/>
                  </a:lnTo>
                  <a:lnTo>
                    <a:pt x="84546" y="58237"/>
                  </a:lnTo>
                  <a:lnTo>
                    <a:pt x="103531" y="45579"/>
                  </a:lnTo>
                  <a:lnTo>
                    <a:pt x="123095" y="33426"/>
                  </a:lnTo>
                  <a:lnTo>
                    <a:pt x="143191" y="21780"/>
                  </a:lnTo>
                  <a:lnTo>
                    <a:pt x="163774" y="10640"/>
                  </a:lnTo>
                  <a:lnTo>
                    <a:pt x="184800" y="0"/>
                  </a:lnTo>
                  <a:lnTo>
                    <a:pt x="289701" y="169955"/>
                  </a:lnTo>
                  <a:lnTo>
                    <a:pt x="274225" y="177015"/>
                  </a:lnTo>
                  <a:lnTo>
                    <a:pt x="259065" y="184388"/>
                  </a:lnTo>
                  <a:lnTo>
                    <a:pt x="244254" y="192076"/>
                  </a:lnTo>
                  <a:lnTo>
                    <a:pt x="229823" y="200081"/>
                  </a:lnTo>
                  <a:lnTo>
                    <a:pt x="215809" y="208400"/>
                  </a:lnTo>
                  <a:lnTo>
                    <a:pt x="202247" y="217029"/>
                  </a:lnTo>
                  <a:lnTo>
                    <a:pt x="189172" y="225963"/>
                  </a:lnTo>
                  <a:lnTo>
                    <a:pt x="176621" y="235190"/>
                  </a:lnTo>
                  <a:lnTo>
                    <a:pt x="164624" y="244698"/>
                  </a:lnTo>
                  <a:lnTo>
                    <a:pt x="153211" y="254471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46" name="Ядро эпителиальной клетки"/>
            <p:cNvSpPr/>
            <p:nvPr/>
          </p:nvSpPr>
          <p:spPr>
            <a:xfrm rot="13730526">
              <a:off x="5354110" y="365619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47" name="Ядрышко"/>
            <p:cNvSpPr/>
            <p:nvPr/>
          </p:nvSpPr>
          <p:spPr>
            <a:xfrm>
              <a:off x="5383370" y="370785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48" name="Клетка однослойного эпителия"/>
            <p:cNvSpPr/>
            <p:nvPr/>
          </p:nvSpPr>
          <p:spPr>
            <a:xfrm>
              <a:off x="5431827" y="3506886"/>
              <a:ext cx="272293" cy="249234"/>
            </a:xfrm>
            <a:custGeom>
              <a:avLst/>
              <a:gdLst/>
              <a:ahLst/>
              <a:cxnLst/>
              <a:rect l="l" t="t" r="r" b="b"/>
              <a:pathLst>
                <a:path w="272293" h="249234">
                  <a:moveTo>
                    <a:pt x="0" y="79279"/>
                  </a:moveTo>
                  <a:lnTo>
                    <a:pt x="21430" y="69136"/>
                  </a:lnTo>
                  <a:lnTo>
                    <a:pt x="43232" y="59484"/>
                  </a:lnTo>
                  <a:lnTo>
                    <a:pt x="65373" y="50319"/>
                  </a:lnTo>
                  <a:lnTo>
                    <a:pt x="87829" y="41639"/>
                  </a:lnTo>
                  <a:lnTo>
                    <a:pt x="110576" y="33443"/>
                  </a:lnTo>
                  <a:lnTo>
                    <a:pt x="133595" y="25736"/>
                  </a:lnTo>
                  <a:lnTo>
                    <a:pt x="156869" y="18524"/>
                  </a:lnTo>
                  <a:lnTo>
                    <a:pt x="180381" y="11819"/>
                  </a:lnTo>
                  <a:lnTo>
                    <a:pt x="204117" y="5638"/>
                  </a:lnTo>
                  <a:lnTo>
                    <a:pt x="228060" y="0"/>
                  </a:lnTo>
                  <a:lnTo>
                    <a:pt x="272293" y="195692"/>
                  </a:lnTo>
                  <a:lnTo>
                    <a:pt x="254755" y="199601"/>
                  </a:lnTo>
                  <a:lnTo>
                    <a:pt x="237361" y="203854"/>
                  </a:lnTo>
                  <a:lnTo>
                    <a:pt x="220122" y="208438"/>
                  </a:lnTo>
                  <a:lnTo>
                    <a:pt x="203051" y="213342"/>
                  </a:lnTo>
                  <a:lnTo>
                    <a:pt x="186159" y="218559"/>
                  </a:lnTo>
                  <a:lnTo>
                    <a:pt x="169460" y="224083"/>
                  </a:lnTo>
                  <a:lnTo>
                    <a:pt x="152966" y="229912"/>
                  </a:lnTo>
                  <a:lnTo>
                    <a:pt x="136696" y="236046"/>
                  </a:lnTo>
                  <a:lnTo>
                    <a:pt x="120667" y="242486"/>
                  </a:lnTo>
                  <a:lnTo>
                    <a:pt x="104901" y="249234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49" name="Ядро эпителиальной клетки"/>
            <p:cNvSpPr/>
            <p:nvPr/>
          </p:nvSpPr>
          <p:spPr>
            <a:xfrm rot="14867368">
              <a:off x="5535986" y="357029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50" name="Ядрышко"/>
            <p:cNvSpPr/>
            <p:nvPr/>
          </p:nvSpPr>
          <p:spPr>
            <a:xfrm>
              <a:off x="5565246" y="362195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51" name="Клетка однослойного эпителия"/>
            <p:cNvSpPr/>
            <p:nvPr/>
          </p:nvSpPr>
          <p:spPr>
            <a:xfrm>
              <a:off x="5659887" y="3484736"/>
              <a:ext cx="244796" cy="217842"/>
            </a:xfrm>
            <a:custGeom>
              <a:avLst/>
              <a:gdLst/>
              <a:ahLst/>
              <a:cxnLst/>
              <a:rect l="l" t="t" r="r" b="b"/>
              <a:pathLst>
                <a:path w="244796" h="217842">
                  <a:moveTo>
                    <a:pt x="0" y="22150"/>
                  </a:moveTo>
                  <a:lnTo>
                    <a:pt x="24130" y="17080"/>
                  </a:lnTo>
                  <a:lnTo>
                    <a:pt x="48427" y="12606"/>
                  </a:lnTo>
                  <a:lnTo>
                    <a:pt x="72865" y="8757"/>
                  </a:lnTo>
                  <a:lnTo>
                    <a:pt x="97415" y="5565"/>
                  </a:lnTo>
                  <a:lnTo>
                    <a:pt x="122041" y="3063"/>
                  </a:lnTo>
                  <a:lnTo>
                    <a:pt x="146706" y="1282"/>
                  </a:lnTo>
                  <a:lnTo>
                    <a:pt x="171364" y="252"/>
                  </a:lnTo>
                  <a:lnTo>
                    <a:pt x="195968" y="0"/>
                  </a:lnTo>
                  <a:lnTo>
                    <a:pt x="220464" y="547"/>
                  </a:lnTo>
                  <a:lnTo>
                    <a:pt x="244796" y="1911"/>
                  </a:lnTo>
                  <a:lnTo>
                    <a:pt x="223054" y="201713"/>
                  </a:lnTo>
                  <a:lnTo>
                    <a:pt x="205323" y="201165"/>
                  </a:lnTo>
                  <a:lnTo>
                    <a:pt x="187464" y="201139"/>
                  </a:lnTo>
                  <a:lnTo>
                    <a:pt x="169515" y="201624"/>
                  </a:lnTo>
                  <a:lnTo>
                    <a:pt x="151515" y="202605"/>
                  </a:lnTo>
                  <a:lnTo>
                    <a:pt x="133501" y="204066"/>
                  </a:lnTo>
                  <a:lnTo>
                    <a:pt x="115506" y="205985"/>
                  </a:lnTo>
                  <a:lnTo>
                    <a:pt x="97557" y="208344"/>
                  </a:lnTo>
                  <a:lnTo>
                    <a:pt x="79681" y="211119"/>
                  </a:lnTo>
                  <a:lnTo>
                    <a:pt x="61900" y="214292"/>
                  </a:lnTo>
                  <a:lnTo>
                    <a:pt x="44233" y="21784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52" name="Ядро эпителиальной клетки"/>
            <p:cNvSpPr/>
            <p:nvPr/>
          </p:nvSpPr>
          <p:spPr>
            <a:xfrm rot="16004211">
              <a:off x="5742167" y="352602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53" name="Ядрышко"/>
            <p:cNvSpPr/>
            <p:nvPr/>
          </p:nvSpPr>
          <p:spPr>
            <a:xfrm>
              <a:off x="5771428" y="357769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54" name="Клетка однослойного эпителия"/>
            <p:cNvSpPr/>
            <p:nvPr/>
          </p:nvSpPr>
          <p:spPr>
            <a:xfrm>
              <a:off x="5882941" y="3486647"/>
              <a:ext cx="244408" cy="233228"/>
            </a:xfrm>
            <a:custGeom>
              <a:avLst/>
              <a:gdLst/>
              <a:ahLst/>
              <a:cxnLst/>
              <a:rect l="l" t="t" r="r" b="b"/>
              <a:pathLst>
                <a:path w="244408" h="233228">
                  <a:moveTo>
                    <a:pt x="21742" y="0"/>
                  </a:moveTo>
                  <a:lnTo>
                    <a:pt x="45855" y="2191"/>
                  </a:lnTo>
                  <a:lnTo>
                    <a:pt x="69689" y="5212"/>
                  </a:lnTo>
                  <a:lnTo>
                    <a:pt x="93189" y="9058"/>
                  </a:lnTo>
                  <a:lnTo>
                    <a:pt x="116299" y="13717"/>
                  </a:lnTo>
                  <a:lnTo>
                    <a:pt x="138969" y="19167"/>
                  </a:lnTo>
                  <a:lnTo>
                    <a:pt x="161155" y="25380"/>
                  </a:lnTo>
                  <a:lnTo>
                    <a:pt x="182818" y="32320"/>
                  </a:lnTo>
                  <a:lnTo>
                    <a:pt x="203927" y="39944"/>
                  </a:lnTo>
                  <a:lnTo>
                    <a:pt x="224461" y="48202"/>
                  </a:lnTo>
                  <a:lnTo>
                    <a:pt x="244408" y="57043"/>
                  </a:lnTo>
                  <a:lnTo>
                    <a:pt x="161659" y="233228"/>
                  </a:lnTo>
                  <a:lnTo>
                    <a:pt x="147227" y="227856"/>
                  </a:lnTo>
                  <a:lnTo>
                    <a:pt x="132358" y="222862"/>
                  </a:lnTo>
                  <a:lnTo>
                    <a:pt x="117062" y="218281"/>
                  </a:lnTo>
                  <a:lnTo>
                    <a:pt x="101352" y="214143"/>
                  </a:lnTo>
                  <a:lnTo>
                    <a:pt x="85252" y="210475"/>
                  </a:lnTo>
                  <a:lnTo>
                    <a:pt x="68788" y="207299"/>
                  </a:lnTo>
                  <a:lnTo>
                    <a:pt x="51993" y="204634"/>
                  </a:lnTo>
                  <a:lnTo>
                    <a:pt x="34903" y="202492"/>
                  </a:lnTo>
                  <a:lnTo>
                    <a:pt x="17558" y="200881"/>
                  </a:lnTo>
                  <a:lnTo>
                    <a:pt x="0" y="199802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55" name="Ядро эпителиальной клетки"/>
            <p:cNvSpPr/>
            <p:nvPr/>
          </p:nvSpPr>
          <p:spPr>
            <a:xfrm rot="17141053">
              <a:off x="5948257" y="353900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56" name="Ядрышко"/>
            <p:cNvSpPr/>
            <p:nvPr/>
          </p:nvSpPr>
          <p:spPr>
            <a:xfrm>
              <a:off x="5977518" y="359066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57" name="Клетка однослойного эпителия"/>
            <p:cNvSpPr/>
            <p:nvPr/>
          </p:nvSpPr>
          <p:spPr>
            <a:xfrm>
              <a:off x="6044600" y="3543690"/>
              <a:ext cx="253726" cy="243110"/>
            </a:xfrm>
            <a:custGeom>
              <a:avLst/>
              <a:gdLst/>
              <a:ahLst/>
              <a:cxnLst/>
              <a:rect l="l" t="t" r="r" b="b"/>
              <a:pathLst>
                <a:path w="253726" h="243110">
                  <a:moveTo>
                    <a:pt x="82749" y="0"/>
                  </a:moveTo>
                  <a:lnTo>
                    <a:pt x="102107" y="9367"/>
                  </a:lnTo>
                  <a:lnTo>
                    <a:pt x="120883" y="19202"/>
                  </a:lnTo>
                  <a:lnTo>
                    <a:pt x="139096" y="29449"/>
                  </a:lnTo>
                  <a:lnTo>
                    <a:pt x="156769" y="40050"/>
                  </a:lnTo>
                  <a:lnTo>
                    <a:pt x="173938" y="50953"/>
                  </a:lnTo>
                  <a:lnTo>
                    <a:pt x="190642" y="62110"/>
                  </a:lnTo>
                  <a:lnTo>
                    <a:pt x="206925" y="73477"/>
                  </a:lnTo>
                  <a:lnTo>
                    <a:pt x="222835" y="85020"/>
                  </a:lnTo>
                  <a:lnTo>
                    <a:pt x="238420" y="96709"/>
                  </a:lnTo>
                  <a:lnTo>
                    <a:pt x="253726" y="108525"/>
                  </a:lnTo>
                  <a:lnTo>
                    <a:pt x="123280" y="243110"/>
                  </a:lnTo>
                  <a:lnTo>
                    <a:pt x="112271" y="235780"/>
                  </a:lnTo>
                  <a:lnTo>
                    <a:pt x="101058" y="228534"/>
                  </a:lnTo>
                  <a:lnTo>
                    <a:pt x="89606" y="221386"/>
                  </a:lnTo>
                  <a:lnTo>
                    <a:pt x="77879" y="214355"/>
                  </a:lnTo>
                  <a:lnTo>
                    <a:pt x="65842" y="207463"/>
                  </a:lnTo>
                  <a:lnTo>
                    <a:pt x="53463" y="200740"/>
                  </a:lnTo>
                  <a:lnTo>
                    <a:pt x="40711" y="194215"/>
                  </a:lnTo>
                  <a:lnTo>
                    <a:pt x="27562" y="187923"/>
                  </a:lnTo>
                  <a:lnTo>
                    <a:pt x="13997" y="181901"/>
                  </a:lnTo>
                  <a:lnTo>
                    <a:pt x="0" y="176185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58" name="Ядро эпителиальной клетки"/>
            <p:cNvSpPr/>
            <p:nvPr/>
          </p:nvSpPr>
          <p:spPr>
            <a:xfrm rot="18277895">
              <a:off x="6116608" y="360973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59" name="Ядрышко"/>
            <p:cNvSpPr/>
            <p:nvPr/>
          </p:nvSpPr>
          <p:spPr>
            <a:xfrm>
              <a:off x="6145868" y="366139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60" name="Клетка однослойного эпителия"/>
            <p:cNvSpPr/>
            <p:nvPr/>
          </p:nvSpPr>
          <p:spPr>
            <a:xfrm>
              <a:off x="6167880" y="3652215"/>
              <a:ext cx="273606" cy="213298"/>
            </a:xfrm>
            <a:custGeom>
              <a:avLst/>
              <a:gdLst/>
              <a:ahLst/>
              <a:cxnLst/>
              <a:rect l="l" t="t" r="r" b="b"/>
              <a:pathLst>
                <a:path w="273606" h="213298">
                  <a:moveTo>
                    <a:pt x="130446" y="0"/>
                  </a:moveTo>
                  <a:lnTo>
                    <a:pt x="145517" y="11932"/>
                  </a:lnTo>
                  <a:lnTo>
                    <a:pt x="160389" y="23978"/>
                  </a:lnTo>
                  <a:lnTo>
                    <a:pt x="175094" y="36142"/>
                  </a:lnTo>
                  <a:lnTo>
                    <a:pt x="189651" y="48439"/>
                  </a:lnTo>
                  <a:lnTo>
                    <a:pt x="204072" y="60888"/>
                  </a:lnTo>
                  <a:lnTo>
                    <a:pt x="218353" y="73515"/>
                  </a:lnTo>
                  <a:lnTo>
                    <a:pt x="232480" y="86351"/>
                  </a:lnTo>
                  <a:lnTo>
                    <a:pt x="246427" y="99427"/>
                  </a:lnTo>
                  <a:lnTo>
                    <a:pt x="260153" y="112780"/>
                  </a:lnTo>
                  <a:lnTo>
                    <a:pt x="273606" y="126442"/>
                  </a:lnTo>
                  <a:lnTo>
                    <a:pt x="102753" y="213298"/>
                  </a:lnTo>
                  <a:lnTo>
                    <a:pt x="93121" y="204766"/>
                  </a:lnTo>
                  <a:lnTo>
                    <a:pt x="83286" y="196436"/>
                  </a:lnTo>
                  <a:lnTo>
                    <a:pt x="73285" y="188284"/>
                  </a:lnTo>
                  <a:lnTo>
                    <a:pt x="63150" y="180288"/>
                  </a:lnTo>
                  <a:lnTo>
                    <a:pt x="52899" y="172427"/>
                  </a:lnTo>
                  <a:lnTo>
                    <a:pt x="42545" y="164682"/>
                  </a:lnTo>
                  <a:lnTo>
                    <a:pt x="32089" y="157035"/>
                  </a:lnTo>
                  <a:lnTo>
                    <a:pt x="21524" y="149475"/>
                  </a:lnTo>
                  <a:lnTo>
                    <a:pt x="10835" y="141993"/>
                  </a:lnTo>
                  <a:lnTo>
                    <a:pt x="0" y="134585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61" name="Ядро эпителиальной клетки"/>
            <p:cNvSpPr/>
            <p:nvPr/>
          </p:nvSpPr>
          <p:spPr>
            <a:xfrm rot="19414737">
              <a:off x="6247622" y="370480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62" name="Ядрышко"/>
            <p:cNvSpPr/>
            <p:nvPr/>
          </p:nvSpPr>
          <p:spPr>
            <a:xfrm>
              <a:off x="6276882" y="375647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63" name="Клетка однослойного эпителия"/>
            <p:cNvSpPr/>
            <p:nvPr/>
          </p:nvSpPr>
          <p:spPr>
            <a:xfrm>
              <a:off x="6270633" y="3778657"/>
              <a:ext cx="272820" cy="186308"/>
            </a:xfrm>
            <a:custGeom>
              <a:avLst/>
              <a:gdLst/>
              <a:ahLst/>
              <a:cxnLst/>
              <a:rect l="l" t="t" r="r" b="b"/>
              <a:pathLst>
                <a:path w="272820" h="186308">
                  <a:moveTo>
                    <a:pt x="170853" y="0"/>
                  </a:moveTo>
                  <a:lnTo>
                    <a:pt x="183967" y="14003"/>
                  </a:lnTo>
                  <a:lnTo>
                    <a:pt x="196671" y="28377"/>
                  </a:lnTo>
                  <a:lnTo>
                    <a:pt x="208880" y="43146"/>
                  </a:lnTo>
                  <a:lnTo>
                    <a:pt x="220506" y="58327"/>
                  </a:lnTo>
                  <a:lnTo>
                    <a:pt x="231456" y="73932"/>
                  </a:lnTo>
                  <a:lnTo>
                    <a:pt x="241635" y="89963"/>
                  </a:lnTo>
                  <a:lnTo>
                    <a:pt x="250949" y="106416"/>
                  </a:lnTo>
                  <a:lnTo>
                    <a:pt x="259307" y="123277"/>
                  </a:lnTo>
                  <a:lnTo>
                    <a:pt x="266623" y="140523"/>
                  </a:lnTo>
                  <a:lnTo>
                    <a:pt x="272820" y="158125"/>
                  </a:lnTo>
                  <a:lnTo>
                    <a:pt x="72290" y="186308"/>
                  </a:lnTo>
                  <a:lnTo>
                    <a:pt x="68003" y="175169"/>
                  </a:lnTo>
                  <a:lnTo>
                    <a:pt x="62893" y="164272"/>
                  </a:lnTo>
                  <a:lnTo>
                    <a:pt x="57020" y="153635"/>
                  </a:lnTo>
                  <a:lnTo>
                    <a:pt x="50443" y="143270"/>
                  </a:lnTo>
                  <a:lnTo>
                    <a:pt x="43229" y="133185"/>
                  </a:lnTo>
                  <a:lnTo>
                    <a:pt x="35448" y="123382"/>
                  </a:lnTo>
                  <a:lnTo>
                    <a:pt x="27168" y="113858"/>
                  </a:lnTo>
                  <a:lnTo>
                    <a:pt x="18458" y="104605"/>
                  </a:lnTo>
                  <a:lnTo>
                    <a:pt x="9381" y="95609"/>
                  </a:lnTo>
                  <a:lnTo>
                    <a:pt x="0" y="86856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64" name="Ядро эпителиальной клетки"/>
            <p:cNvSpPr/>
            <p:nvPr/>
          </p:nvSpPr>
          <p:spPr>
            <a:xfrm rot="20551579">
              <a:off x="6358491" y="381710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65" name="Ядрышко"/>
            <p:cNvSpPr/>
            <p:nvPr/>
          </p:nvSpPr>
          <p:spPr>
            <a:xfrm>
              <a:off x="6387751" y="386877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66" name="Просвет канальца"/>
            <p:cNvSpPr/>
            <p:nvPr/>
          </p:nvSpPr>
          <p:spPr>
            <a:xfrm>
              <a:off x="5280206" y="3687655"/>
              <a:ext cx="1065743" cy="695242"/>
            </a:xfrm>
            <a:custGeom>
              <a:avLst/>
              <a:gdLst/>
              <a:ahLst/>
              <a:cxnLst/>
              <a:rect l="l" t="t" r="r" b="b"/>
              <a:pathLst>
                <a:path w="1065743" h="695242">
                  <a:moveTo>
                    <a:pt x="1059436" y="277771"/>
                  </a:moveTo>
                  <a:lnTo>
                    <a:pt x="1063675" y="295813"/>
                  </a:lnTo>
                  <a:lnTo>
                    <a:pt x="1065743" y="314227"/>
                  </a:lnTo>
                  <a:lnTo>
                    <a:pt x="1065573" y="332896"/>
                  </a:lnTo>
                  <a:lnTo>
                    <a:pt x="1063154" y="351696"/>
                  </a:lnTo>
                  <a:lnTo>
                    <a:pt x="1058529" y="370499"/>
                  </a:lnTo>
                  <a:lnTo>
                    <a:pt x="1051793" y="389184"/>
                  </a:lnTo>
                  <a:lnTo>
                    <a:pt x="1043082" y="407643"/>
                  </a:lnTo>
                  <a:lnTo>
                    <a:pt x="1032561" y="425786"/>
                  </a:lnTo>
                  <a:lnTo>
                    <a:pt x="1020416" y="443540"/>
                  </a:lnTo>
                  <a:lnTo>
                    <a:pt x="1006837" y="460859"/>
                  </a:lnTo>
                  <a:lnTo>
                    <a:pt x="992007" y="477711"/>
                  </a:lnTo>
                  <a:lnTo>
                    <a:pt x="976091" y="494086"/>
                  </a:lnTo>
                  <a:lnTo>
                    <a:pt x="959226" y="509984"/>
                  </a:lnTo>
                  <a:lnTo>
                    <a:pt x="941520" y="525412"/>
                  </a:lnTo>
                  <a:lnTo>
                    <a:pt x="923046" y="540376"/>
                  </a:lnTo>
                  <a:lnTo>
                    <a:pt x="903846" y="554882"/>
                  </a:lnTo>
                  <a:lnTo>
                    <a:pt x="883936" y="568921"/>
                  </a:lnTo>
                  <a:lnTo>
                    <a:pt x="863312" y="582474"/>
                  </a:lnTo>
                  <a:lnTo>
                    <a:pt x="841959" y="595507"/>
                  </a:lnTo>
                  <a:lnTo>
                    <a:pt x="819858" y="607971"/>
                  </a:lnTo>
                  <a:lnTo>
                    <a:pt x="797001" y="619807"/>
                  </a:lnTo>
                  <a:lnTo>
                    <a:pt x="773390" y="630945"/>
                  </a:lnTo>
                  <a:lnTo>
                    <a:pt x="749048" y="641314"/>
                  </a:lnTo>
                  <a:lnTo>
                    <a:pt x="724018" y="650846"/>
                  </a:lnTo>
                  <a:lnTo>
                    <a:pt x="698367" y="659481"/>
                  </a:lnTo>
                  <a:lnTo>
                    <a:pt x="672178" y="667172"/>
                  </a:lnTo>
                  <a:lnTo>
                    <a:pt x="645550" y="673890"/>
                  </a:lnTo>
                  <a:lnTo>
                    <a:pt x="618586" y="679629"/>
                  </a:lnTo>
                  <a:lnTo>
                    <a:pt x="591392" y="684399"/>
                  </a:lnTo>
                  <a:lnTo>
                    <a:pt x="564064" y="688232"/>
                  </a:lnTo>
                  <a:lnTo>
                    <a:pt x="536686" y="691175"/>
                  </a:lnTo>
                  <a:lnTo>
                    <a:pt x="509322" y="693285"/>
                  </a:lnTo>
                  <a:lnTo>
                    <a:pt x="482018" y="694621"/>
                  </a:lnTo>
                  <a:lnTo>
                    <a:pt x="454798" y="695242"/>
                  </a:lnTo>
                  <a:lnTo>
                    <a:pt x="427673" y="695195"/>
                  </a:lnTo>
                  <a:lnTo>
                    <a:pt x="400642" y="694511"/>
                  </a:lnTo>
                  <a:lnTo>
                    <a:pt x="373702" y="693203"/>
                  </a:lnTo>
                  <a:lnTo>
                    <a:pt x="346857" y="691258"/>
                  </a:lnTo>
                  <a:lnTo>
                    <a:pt x="320125" y="688643"/>
                  </a:lnTo>
                  <a:lnTo>
                    <a:pt x="293551" y="685300"/>
                  </a:lnTo>
                  <a:lnTo>
                    <a:pt x="267206" y="681157"/>
                  </a:lnTo>
                  <a:lnTo>
                    <a:pt x="241197" y="676131"/>
                  </a:lnTo>
                  <a:lnTo>
                    <a:pt x="215665" y="670136"/>
                  </a:lnTo>
                  <a:lnTo>
                    <a:pt x="190781" y="663089"/>
                  </a:lnTo>
                  <a:lnTo>
                    <a:pt x="166744" y="654922"/>
                  </a:lnTo>
                  <a:lnTo>
                    <a:pt x="143767" y="645589"/>
                  </a:lnTo>
                  <a:lnTo>
                    <a:pt x="122068" y="635068"/>
                  </a:lnTo>
                  <a:lnTo>
                    <a:pt x="101856" y="623370"/>
                  </a:lnTo>
                  <a:lnTo>
                    <a:pt x="83320" y="610537"/>
                  </a:lnTo>
                  <a:lnTo>
                    <a:pt x="66614" y="596644"/>
                  </a:lnTo>
                  <a:lnTo>
                    <a:pt x="51849" y="581792"/>
                  </a:lnTo>
                  <a:lnTo>
                    <a:pt x="39083" y="566105"/>
                  </a:lnTo>
                  <a:lnTo>
                    <a:pt x="28322" y="549723"/>
                  </a:lnTo>
                  <a:lnTo>
                    <a:pt x="19516" y="532792"/>
                  </a:lnTo>
                  <a:lnTo>
                    <a:pt x="12566" y="515455"/>
                  </a:lnTo>
                  <a:lnTo>
                    <a:pt x="7331" y="497846"/>
                  </a:lnTo>
                  <a:lnTo>
                    <a:pt x="3642" y="480082"/>
                  </a:lnTo>
                  <a:lnTo>
                    <a:pt x="1313" y="462256"/>
                  </a:lnTo>
                  <a:lnTo>
                    <a:pt x="156" y="444437"/>
                  </a:lnTo>
                  <a:lnTo>
                    <a:pt x="0" y="426665"/>
                  </a:lnTo>
                  <a:lnTo>
                    <a:pt x="695" y="408960"/>
                  </a:lnTo>
                  <a:lnTo>
                    <a:pt x="2133" y="391317"/>
                  </a:lnTo>
                  <a:lnTo>
                    <a:pt x="4249" y="373719"/>
                  </a:lnTo>
                  <a:lnTo>
                    <a:pt x="7025" y="356138"/>
                  </a:lnTo>
                  <a:lnTo>
                    <a:pt x="10489" y="338549"/>
                  </a:lnTo>
                  <a:lnTo>
                    <a:pt x="14715" y="320929"/>
                  </a:lnTo>
                  <a:lnTo>
                    <a:pt x="19808" y="303271"/>
                  </a:lnTo>
                  <a:lnTo>
                    <a:pt x="25897" y="285582"/>
                  </a:lnTo>
                  <a:lnTo>
                    <a:pt x="33120" y="267889"/>
                  </a:lnTo>
                  <a:lnTo>
                    <a:pt x="41616" y="250242"/>
                  </a:lnTo>
                  <a:lnTo>
                    <a:pt x="51506" y="232706"/>
                  </a:lnTo>
                  <a:lnTo>
                    <a:pt x="62888" y="215364"/>
                  </a:lnTo>
                  <a:lnTo>
                    <a:pt x="75824" y="198309"/>
                  </a:lnTo>
                  <a:lnTo>
                    <a:pt x="90340" y="181638"/>
                  </a:lnTo>
                  <a:lnTo>
                    <a:pt x="106422" y="165446"/>
                  </a:lnTo>
                  <a:lnTo>
                    <a:pt x="124016" y="149823"/>
                  </a:lnTo>
                  <a:lnTo>
                    <a:pt x="143037" y="134843"/>
                  </a:lnTo>
                  <a:lnTo>
                    <a:pt x="163375" y="120567"/>
                  </a:lnTo>
                  <a:lnTo>
                    <a:pt x="184901" y="107037"/>
                  </a:lnTo>
                  <a:lnTo>
                    <a:pt x="207483" y="94278"/>
                  </a:lnTo>
                  <a:lnTo>
                    <a:pt x="230985" y="82297"/>
                  </a:lnTo>
                  <a:lnTo>
                    <a:pt x="255285" y="71093"/>
                  </a:lnTo>
                  <a:lnTo>
                    <a:pt x="280274" y="60654"/>
                  </a:lnTo>
                  <a:lnTo>
                    <a:pt x="305861" y="50970"/>
                  </a:lnTo>
                  <a:lnTo>
                    <a:pt x="331972" y="42032"/>
                  </a:lnTo>
                  <a:lnTo>
                    <a:pt x="358550" y="33843"/>
                  </a:lnTo>
                  <a:lnTo>
                    <a:pt x="385547" y="26418"/>
                  </a:lnTo>
                  <a:lnTo>
                    <a:pt x="412923" y="19787"/>
                  </a:lnTo>
                  <a:lnTo>
                    <a:pt x="440631" y="13996"/>
                  </a:lnTo>
                  <a:lnTo>
                    <a:pt x="468619" y="9107"/>
                  </a:lnTo>
                  <a:lnTo>
                    <a:pt x="496819" y="5188"/>
                  </a:lnTo>
                  <a:lnTo>
                    <a:pt x="525141" y="2316"/>
                  </a:lnTo>
                  <a:lnTo>
                    <a:pt x="553480" y="564"/>
                  </a:lnTo>
                  <a:lnTo>
                    <a:pt x="581708" y="0"/>
                  </a:lnTo>
                  <a:lnTo>
                    <a:pt x="609683" y="673"/>
                  </a:lnTo>
                  <a:lnTo>
                    <a:pt x="637252" y="2614"/>
                  </a:lnTo>
                  <a:lnTo>
                    <a:pt x="664264" y="5826"/>
                  </a:lnTo>
                  <a:lnTo>
                    <a:pt x="690575" y="10285"/>
                  </a:lnTo>
                  <a:lnTo>
                    <a:pt x="716057" y="15940"/>
                  </a:lnTo>
                  <a:lnTo>
                    <a:pt x="740611" y="22712"/>
                  </a:lnTo>
                  <a:lnTo>
                    <a:pt x="764170" y="30501"/>
                  </a:lnTo>
                  <a:lnTo>
                    <a:pt x="786701" y="39189"/>
                  </a:lnTo>
                  <a:lnTo>
                    <a:pt x="808215" y="48654"/>
                  </a:lnTo>
                  <a:lnTo>
                    <a:pt x="828753" y="58770"/>
                  </a:lnTo>
                  <a:lnTo>
                    <a:pt x="848389" y="69424"/>
                  </a:lnTo>
                  <a:lnTo>
                    <a:pt x="867217" y="80515"/>
                  </a:lnTo>
                  <a:lnTo>
                    <a:pt x="885339" y="91968"/>
                  </a:lnTo>
                  <a:lnTo>
                    <a:pt x="902857" y="103732"/>
                  </a:lnTo>
                  <a:lnTo>
                    <a:pt x="919855" y="115786"/>
                  </a:lnTo>
                  <a:lnTo>
                    <a:pt x="936390" y="128135"/>
                  </a:lnTo>
                  <a:lnTo>
                    <a:pt x="952482" y="140809"/>
                  </a:lnTo>
                  <a:lnTo>
                    <a:pt x="968105" y="153858"/>
                  </a:lnTo>
                  <a:lnTo>
                    <a:pt x="983187" y="167342"/>
                  </a:lnTo>
                  <a:lnTo>
                    <a:pt x="997606" y="181324"/>
                  </a:lnTo>
                  <a:lnTo>
                    <a:pt x="1011200" y="195864"/>
                  </a:lnTo>
                  <a:lnTo>
                    <a:pt x="1023772" y="211008"/>
                  </a:lnTo>
                  <a:lnTo>
                    <a:pt x="1035104" y="226783"/>
                  </a:lnTo>
                  <a:lnTo>
                    <a:pt x="1044969" y="243190"/>
                  </a:lnTo>
                  <a:lnTo>
                    <a:pt x="1053146" y="260204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67" name="Перитубулярный капилляр"/>
            <p:cNvSpPr/>
            <p:nvPr/>
          </p:nvSpPr>
          <p:spPr>
            <a:xfrm>
              <a:off x="5911365" y="2324177"/>
              <a:ext cx="240341" cy="456651"/>
            </a:xfrm>
            <a:custGeom>
              <a:avLst/>
              <a:gdLst/>
              <a:ahLst/>
              <a:cxnLst/>
              <a:rect l="l" t="t" r="r" b="b"/>
              <a:pathLst>
                <a:path w="240341" h="456651">
                  <a:moveTo>
                    <a:pt x="236839" y="225442"/>
                  </a:moveTo>
                  <a:lnTo>
                    <a:pt x="239605" y="248683"/>
                  </a:lnTo>
                  <a:lnTo>
                    <a:pt x="240341" y="272059"/>
                  </a:lnTo>
                  <a:lnTo>
                    <a:pt x="239063" y="294896"/>
                  </a:lnTo>
                  <a:lnTo>
                    <a:pt x="235984" y="316652"/>
                  </a:lnTo>
                  <a:lnTo>
                    <a:pt x="231441" y="337015"/>
                  </a:lnTo>
                  <a:lnTo>
                    <a:pt x="225796" y="355915"/>
                  </a:lnTo>
                  <a:lnTo>
                    <a:pt x="219349" y="373441"/>
                  </a:lnTo>
                  <a:lnTo>
                    <a:pt x="212277" y="389724"/>
                  </a:lnTo>
                  <a:lnTo>
                    <a:pt x="204628" y="404806"/>
                  </a:lnTo>
                  <a:lnTo>
                    <a:pt x="196359" y="418560"/>
                  </a:lnTo>
                  <a:lnTo>
                    <a:pt x="187396" y="430688"/>
                  </a:lnTo>
                  <a:lnTo>
                    <a:pt x="177706" y="440795"/>
                  </a:lnTo>
                  <a:lnTo>
                    <a:pt x="167340" y="448518"/>
                  </a:lnTo>
                  <a:lnTo>
                    <a:pt x="156439" y="453657"/>
                  </a:lnTo>
                  <a:lnTo>
                    <a:pt x="145200" y="456265"/>
                  </a:lnTo>
                  <a:lnTo>
                    <a:pt x="133823" y="456651"/>
                  </a:lnTo>
                  <a:lnTo>
                    <a:pt x="122445" y="455298"/>
                  </a:lnTo>
                  <a:lnTo>
                    <a:pt x="111109" y="452713"/>
                  </a:lnTo>
                  <a:lnTo>
                    <a:pt x="99763" y="449257"/>
                  </a:lnTo>
                  <a:lnTo>
                    <a:pt x="88310" y="445014"/>
                  </a:lnTo>
                  <a:lnTo>
                    <a:pt x="76675" y="439740"/>
                  </a:lnTo>
                  <a:lnTo>
                    <a:pt x="64885" y="432922"/>
                  </a:lnTo>
                  <a:lnTo>
                    <a:pt x="53116" y="423925"/>
                  </a:lnTo>
                  <a:lnTo>
                    <a:pt x="41705" y="412183"/>
                  </a:lnTo>
                  <a:lnTo>
                    <a:pt x="31094" y="397389"/>
                  </a:lnTo>
                  <a:lnTo>
                    <a:pt x="21748" y="379611"/>
                  </a:lnTo>
                  <a:lnTo>
                    <a:pt x="14046" y="359299"/>
                  </a:lnTo>
                  <a:lnTo>
                    <a:pt x="8187" y="337199"/>
                  </a:lnTo>
                  <a:lnTo>
                    <a:pt x="4150" y="314175"/>
                  </a:lnTo>
                  <a:lnTo>
                    <a:pt x="1698" y="291012"/>
                  </a:lnTo>
                  <a:lnTo>
                    <a:pt x="453" y="268263"/>
                  </a:lnTo>
                  <a:lnTo>
                    <a:pt x="0" y="246163"/>
                  </a:lnTo>
                  <a:lnTo>
                    <a:pt x="1" y="224661"/>
                  </a:lnTo>
                  <a:lnTo>
                    <a:pt x="278" y="203526"/>
                  </a:lnTo>
                  <a:lnTo>
                    <a:pt x="854" y="182511"/>
                  </a:lnTo>
                  <a:lnTo>
                    <a:pt x="1924" y="161498"/>
                  </a:lnTo>
                  <a:lnTo>
                    <a:pt x="3783" y="140587"/>
                  </a:lnTo>
                  <a:lnTo>
                    <a:pt x="6733" y="120103"/>
                  </a:lnTo>
                  <a:lnTo>
                    <a:pt x="10990" y="100518"/>
                  </a:lnTo>
                  <a:lnTo>
                    <a:pt x="16630" y="82317"/>
                  </a:lnTo>
                  <a:lnTo>
                    <a:pt x="23577" y="65876"/>
                  </a:lnTo>
                  <a:lnTo>
                    <a:pt x="31646" y="51371"/>
                  </a:lnTo>
                  <a:lnTo>
                    <a:pt x="40609" y="38776"/>
                  </a:lnTo>
                  <a:lnTo>
                    <a:pt x="50258" y="27934"/>
                  </a:lnTo>
                  <a:lnTo>
                    <a:pt x="60458" y="18685"/>
                  </a:lnTo>
                  <a:lnTo>
                    <a:pt x="71152" y="10991"/>
                  </a:lnTo>
                  <a:lnTo>
                    <a:pt x="82330" y="5029"/>
                  </a:lnTo>
                  <a:lnTo>
                    <a:pt x="93975" y="1191"/>
                  </a:lnTo>
                  <a:lnTo>
                    <a:pt x="106004" y="0"/>
                  </a:lnTo>
                  <a:lnTo>
                    <a:pt x="118232" y="1962"/>
                  </a:lnTo>
                  <a:lnTo>
                    <a:pt x="130382" y="7394"/>
                  </a:lnTo>
                  <a:lnTo>
                    <a:pt x="142130" y="16294"/>
                  </a:lnTo>
                  <a:lnTo>
                    <a:pt x="153178" y="28292"/>
                  </a:lnTo>
                  <a:lnTo>
                    <a:pt x="163333" y="42709"/>
                  </a:lnTo>
                  <a:lnTo>
                    <a:pt x="172563" y="58704"/>
                  </a:lnTo>
                  <a:lnTo>
                    <a:pt x="180999" y="75472"/>
                  </a:lnTo>
                  <a:lnTo>
                    <a:pt x="188894" y="92431"/>
                  </a:lnTo>
                  <a:lnTo>
                    <a:pt x="196535" y="109342"/>
                  </a:lnTo>
                  <a:lnTo>
                    <a:pt x="204135" y="126323"/>
                  </a:lnTo>
                  <a:lnTo>
                    <a:pt x="211749" y="143759"/>
                  </a:lnTo>
                  <a:lnTo>
                    <a:pt x="219224" y="162133"/>
                  </a:lnTo>
                  <a:lnTo>
                    <a:pt x="226212" y="181834"/>
                  </a:lnTo>
                  <a:lnTo>
                    <a:pt x="232246" y="20299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68" name="Эритроцит в просвете капилляра"/>
            <p:cNvSpPr/>
            <p:nvPr/>
          </p:nvSpPr>
          <p:spPr>
            <a:xfrm rot="21300000">
              <a:off x="5958045" y="2361467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69" name="Центральное просветление эритроцита"/>
            <p:cNvSpPr/>
            <p:nvPr/>
          </p:nvSpPr>
          <p:spPr>
            <a:xfrm rot="21300000">
              <a:off x="5989135" y="240078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70" name="Эритроцит в просвете капилляра"/>
            <p:cNvSpPr/>
            <p:nvPr/>
          </p:nvSpPr>
          <p:spPr>
            <a:xfrm rot="21300000">
              <a:off x="5969203" y="2488996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71" name="Центральное просветление эритроцита"/>
            <p:cNvSpPr/>
            <p:nvPr/>
          </p:nvSpPr>
          <p:spPr>
            <a:xfrm rot="21300000">
              <a:off x="6000292" y="2528315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72" name="Эритроцит в просвете капилляра"/>
            <p:cNvSpPr/>
            <p:nvPr/>
          </p:nvSpPr>
          <p:spPr>
            <a:xfrm rot="21300000">
              <a:off x="5980360" y="2616525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73" name="Центральное просветление эритроцита"/>
            <p:cNvSpPr/>
            <p:nvPr/>
          </p:nvSpPr>
          <p:spPr>
            <a:xfrm rot="21300000">
              <a:off x="6011450" y="26558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74" name="Ядро эндотелия"/>
            <p:cNvSpPr/>
            <p:nvPr/>
          </p:nvSpPr>
          <p:spPr>
            <a:xfrm rot="21300000">
              <a:off x="6095007" y="2472000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75" name="Перитубулярный капилляр"/>
            <p:cNvSpPr/>
            <p:nvPr/>
          </p:nvSpPr>
          <p:spPr>
            <a:xfrm>
              <a:off x="4837779" y="3364947"/>
              <a:ext cx="340428" cy="433871"/>
            </a:xfrm>
            <a:custGeom>
              <a:avLst/>
              <a:gdLst/>
              <a:ahLst/>
              <a:cxnLst/>
              <a:rect l="l" t="t" r="r" b="b"/>
              <a:pathLst>
                <a:path w="340428" h="433871">
                  <a:moveTo>
                    <a:pt x="276101" y="286369"/>
                  </a:moveTo>
                  <a:lnTo>
                    <a:pt x="262953" y="307955"/>
                  </a:lnTo>
                  <a:lnTo>
                    <a:pt x="248123" y="328396"/>
                  </a:lnTo>
                  <a:lnTo>
                    <a:pt x="232070" y="347123"/>
                  </a:lnTo>
                  <a:lnTo>
                    <a:pt x="215317" y="363808"/>
                  </a:lnTo>
                  <a:lnTo>
                    <a:pt x="198333" y="378392"/>
                  </a:lnTo>
                  <a:lnTo>
                    <a:pt x="181451" y="391040"/>
                  </a:lnTo>
                  <a:lnTo>
                    <a:pt x="164844" y="402015"/>
                  </a:lnTo>
                  <a:lnTo>
                    <a:pt x="148566" y="411540"/>
                  </a:lnTo>
                  <a:lnTo>
                    <a:pt x="132628" y="419679"/>
                  </a:lnTo>
                  <a:lnTo>
                    <a:pt x="117079" y="426297"/>
                  </a:lnTo>
                  <a:lnTo>
                    <a:pt x="102057" y="431094"/>
                  </a:lnTo>
                  <a:lnTo>
                    <a:pt x="87797" y="433712"/>
                  </a:lnTo>
                  <a:lnTo>
                    <a:pt x="74577" y="433871"/>
                  </a:lnTo>
                  <a:lnTo>
                    <a:pt x="62641" y="431489"/>
                  </a:lnTo>
                  <a:lnTo>
                    <a:pt x="52109" y="426734"/>
                  </a:lnTo>
                  <a:lnTo>
                    <a:pt x="42932" y="419992"/>
                  </a:lnTo>
                  <a:lnTo>
                    <a:pt x="34901" y="411764"/>
                  </a:lnTo>
                  <a:lnTo>
                    <a:pt x="27715" y="402509"/>
                  </a:lnTo>
                  <a:lnTo>
                    <a:pt x="21095" y="392503"/>
                  </a:lnTo>
                  <a:lnTo>
                    <a:pt x="14911" y="381757"/>
                  </a:lnTo>
                  <a:lnTo>
                    <a:pt x="9262" y="370018"/>
                  </a:lnTo>
                  <a:lnTo>
                    <a:pt x="4509" y="356862"/>
                  </a:lnTo>
                  <a:lnTo>
                    <a:pt x="1210" y="341856"/>
                  </a:lnTo>
                  <a:lnTo>
                    <a:pt x="0" y="324726"/>
                  </a:lnTo>
                  <a:lnTo>
                    <a:pt x="1429" y="305486"/>
                  </a:lnTo>
                  <a:lnTo>
                    <a:pt x="5817" y="284479"/>
                  </a:lnTo>
                  <a:lnTo>
                    <a:pt x="13163" y="262328"/>
                  </a:lnTo>
                  <a:lnTo>
                    <a:pt x="23134" y="239795"/>
                  </a:lnTo>
                  <a:lnTo>
                    <a:pt x="35142" y="217603"/>
                  </a:lnTo>
                  <a:lnTo>
                    <a:pt x="48485" y="196279"/>
                  </a:lnTo>
                  <a:lnTo>
                    <a:pt x="62502" y="176058"/>
                  </a:lnTo>
                  <a:lnTo>
                    <a:pt x="76712" y="156885"/>
                  </a:lnTo>
                  <a:lnTo>
                    <a:pt x="90884" y="138504"/>
                  </a:lnTo>
                  <a:lnTo>
                    <a:pt x="105031" y="120609"/>
                  </a:lnTo>
                  <a:lnTo>
                    <a:pt x="119333" y="103003"/>
                  </a:lnTo>
                  <a:lnTo>
                    <a:pt x="134021" y="85704"/>
                  </a:lnTo>
                  <a:lnTo>
                    <a:pt x="149261" y="68984"/>
                  </a:lnTo>
                  <a:lnTo>
                    <a:pt x="165074" y="53307"/>
                  </a:lnTo>
                  <a:lnTo>
                    <a:pt x="181321" y="39210"/>
                  </a:lnTo>
                  <a:lnTo>
                    <a:pt x="197739" y="27156"/>
                  </a:lnTo>
                  <a:lnTo>
                    <a:pt x="214023" y="17419"/>
                  </a:lnTo>
                  <a:lnTo>
                    <a:pt x="229911" y="10035"/>
                  </a:lnTo>
                  <a:lnTo>
                    <a:pt x="245240" y="4838"/>
                  </a:lnTo>
                  <a:lnTo>
                    <a:pt x="259952" y="1567"/>
                  </a:lnTo>
                  <a:lnTo>
                    <a:pt x="274048" y="0"/>
                  </a:lnTo>
                  <a:lnTo>
                    <a:pt x="287505" y="70"/>
                  </a:lnTo>
                  <a:lnTo>
                    <a:pt x="300200" y="1921"/>
                  </a:lnTo>
                  <a:lnTo>
                    <a:pt x="311862" y="5877"/>
                  </a:lnTo>
                  <a:lnTo>
                    <a:pt x="322079" y="12335"/>
                  </a:lnTo>
                  <a:lnTo>
                    <a:pt x="330376" y="21612"/>
                  </a:lnTo>
                  <a:lnTo>
                    <a:pt x="336325" y="33807"/>
                  </a:lnTo>
                  <a:lnTo>
                    <a:pt x="339672" y="48716"/>
                  </a:lnTo>
                  <a:lnTo>
                    <a:pt x="340428" y="65839"/>
                  </a:lnTo>
                  <a:lnTo>
                    <a:pt x="338891" y="84475"/>
                  </a:lnTo>
                  <a:lnTo>
                    <a:pt x="335587" y="103885"/>
                  </a:lnTo>
                  <a:lnTo>
                    <a:pt x="331151" y="123462"/>
                  </a:lnTo>
                  <a:lnTo>
                    <a:pt x="326165" y="142867"/>
                  </a:lnTo>
                  <a:lnTo>
                    <a:pt x="321012" y="162071"/>
                  </a:lnTo>
                  <a:lnTo>
                    <a:pt x="315781" y="181311"/>
                  </a:lnTo>
                  <a:lnTo>
                    <a:pt x="310260" y="200948"/>
                  </a:lnTo>
                  <a:lnTo>
                    <a:pt x="304012" y="221301"/>
                  </a:lnTo>
                  <a:lnTo>
                    <a:pt x="296508" y="242486"/>
                  </a:lnTo>
                  <a:lnTo>
                    <a:pt x="287291" y="26432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76" name="Эритроцит в просвете капилляра"/>
            <p:cNvSpPr/>
            <p:nvPr/>
          </p:nvSpPr>
          <p:spPr>
            <a:xfrm rot="1980000">
              <a:off x="5023941" y="3405761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77" name="Центральное просветление эритроцита"/>
            <p:cNvSpPr/>
            <p:nvPr/>
          </p:nvSpPr>
          <p:spPr>
            <a:xfrm rot="1980000">
              <a:off x="5055031" y="344508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78" name="Эритроцит в просвете капилляра"/>
            <p:cNvSpPr/>
            <p:nvPr/>
          </p:nvSpPr>
          <p:spPr>
            <a:xfrm rot="1980000">
              <a:off x="4954219" y="351312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79" name="Центральное просветление эритроцита"/>
            <p:cNvSpPr/>
            <p:nvPr/>
          </p:nvSpPr>
          <p:spPr>
            <a:xfrm rot="1980000">
              <a:off x="4985308" y="35524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80" name="Эритроцит в просвете капилляра"/>
            <p:cNvSpPr/>
            <p:nvPr/>
          </p:nvSpPr>
          <p:spPr>
            <a:xfrm rot="1980000">
              <a:off x="4884496" y="3620488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81" name="Центральное просветление эритроцита"/>
            <p:cNvSpPr/>
            <p:nvPr/>
          </p:nvSpPr>
          <p:spPr>
            <a:xfrm rot="1980000">
              <a:off x="4915586" y="365980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82" name="Ядро эндотелия"/>
            <p:cNvSpPr/>
            <p:nvPr/>
          </p:nvSpPr>
          <p:spPr>
            <a:xfrm rot="1980000">
              <a:off x="5064179" y="3559677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83" name="Перитубулярный капилляр"/>
            <p:cNvSpPr/>
            <p:nvPr/>
          </p:nvSpPr>
          <p:spPr>
            <a:xfrm>
              <a:off x="6872165" y="3759893"/>
              <a:ext cx="299872" cy="489520"/>
            </a:xfrm>
            <a:custGeom>
              <a:avLst/>
              <a:gdLst/>
              <a:ahLst/>
              <a:cxnLst/>
              <a:rect l="l" t="t" r="r" b="b"/>
              <a:pathLst>
                <a:path w="299872" h="489520">
                  <a:moveTo>
                    <a:pt x="253140" y="206427"/>
                  </a:moveTo>
                  <a:lnTo>
                    <a:pt x="265219" y="230736"/>
                  </a:lnTo>
                  <a:lnTo>
                    <a:pt x="275575" y="255795"/>
                  </a:lnTo>
                  <a:lnTo>
                    <a:pt x="283943" y="280868"/>
                  </a:lnTo>
                  <a:lnTo>
                    <a:pt x="290284" y="305307"/>
                  </a:lnTo>
                  <a:lnTo>
                    <a:pt x="294764" y="328676"/>
                  </a:lnTo>
                  <a:lnTo>
                    <a:pt x="297670" y="350789"/>
                  </a:lnTo>
                  <a:lnTo>
                    <a:pt x="299303" y="371655"/>
                  </a:lnTo>
                  <a:lnTo>
                    <a:pt x="299872" y="391363"/>
                  </a:lnTo>
                  <a:lnTo>
                    <a:pt x="299437" y="409942"/>
                  </a:lnTo>
                  <a:lnTo>
                    <a:pt x="297906" y="427271"/>
                  </a:lnTo>
                  <a:lnTo>
                    <a:pt x="295092" y="443047"/>
                  </a:lnTo>
                  <a:lnTo>
                    <a:pt x="290802" y="456854"/>
                  </a:lnTo>
                  <a:lnTo>
                    <a:pt x="284928" y="468283"/>
                  </a:lnTo>
                  <a:lnTo>
                    <a:pt x="277512" y="477079"/>
                  </a:lnTo>
                  <a:lnTo>
                    <a:pt x="268749" y="483236"/>
                  </a:lnTo>
                  <a:lnTo>
                    <a:pt x="258941" y="487033"/>
                  </a:lnTo>
                  <a:lnTo>
                    <a:pt x="248411" y="488949"/>
                  </a:lnTo>
                  <a:lnTo>
                    <a:pt x="237404" y="489520"/>
                  </a:lnTo>
                  <a:lnTo>
                    <a:pt x="226028" y="489153"/>
                  </a:lnTo>
                  <a:lnTo>
                    <a:pt x="214231" y="487966"/>
                  </a:lnTo>
                  <a:lnTo>
                    <a:pt x="201846" y="485718"/>
                  </a:lnTo>
                  <a:lnTo>
                    <a:pt x="188683" y="481848"/>
                  </a:lnTo>
                  <a:lnTo>
                    <a:pt x="174635" y="475614"/>
                  </a:lnTo>
                  <a:lnTo>
                    <a:pt x="159759" y="466307"/>
                  </a:lnTo>
                  <a:lnTo>
                    <a:pt x="144316" y="453462"/>
                  </a:lnTo>
                  <a:lnTo>
                    <a:pt x="128742" y="437013"/>
                  </a:lnTo>
                  <a:lnTo>
                    <a:pt x="113554" y="417338"/>
                  </a:lnTo>
                  <a:lnTo>
                    <a:pt x="99240" y="395181"/>
                  </a:lnTo>
                  <a:lnTo>
                    <a:pt x="86137" y="371483"/>
                  </a:lnTo>
                  <a:lnTo>
                    <a:pt x="74366" y="347165"/>
                  </a:lnTo>
                  <a:lnTo>
                    <a:pt x="63824" y="322936"/>
                  </a:lnTo>
                  <a:lnTo>
                    <a:pt x="54245" y="299173"/>
                  </a:lnTo>
                  <a:lnTo>
                    <a:pt x="45312" y="275922"/>
                  </a:lnTo>
                  <a:lnTo>
                    <a:pt x="36775" y="252986"/>
                  </a:lnTo>
                  <a:lnTo>
                    <a:pt x="28549" y="230092"/>
                  </a:lnTo>
                  <a:lnTo>
                    <a:pt x="20756" y="207052"/>
                  </a:lnTo>
                  <a:lnTo>
                    <a:pt x="13697" y="183889"/>
                  </a:lnTo>
                  <a:lnTo>
                    <a:pt x="7772" y="160863"/>
                  </a:lnTo>
                  <a:lnTo>
                    <a:pt x="3365" y="138420"/>
                  </a:lnTo>
                  <a:lnTo>
                    <a:pt x="744" y="117065"/>
                  </a:lnTo>
                  <a:lnTo>
                    <a:pt x="0" y="97223"/>
                  </a:lnTo>
                  <a:lnTo>
                    <a:pt x="1044" y="79142"/>
                  </a:lnTo>
                  <a:lnTo>
                    <a:pt x="3663" y="62861"/>
                  </a:lnTo>
                  <a:lnTo>
                    <a:pt x="7613" y="48272"/>
                  </a:lnTo>
                  <a:lnTo>
                    <a:pt x="12707" y="35241"/>
                  </a:lnTo>
                  <a:lnTo>
                    <a:pt x="18880" y="23746"/>
                  </a:lnTo>
                  <a:lnTo>
                    <a:pt x="26197" y="13979"/>
                  </a:lnTo>
                  <a:lnTo>
                    <a:pt x="34805" y="6371"/>
                  </a:lnTo>
                  <a:lnTo>
                    <a:pt x="44848" y="1511"/>
                  </a:lnTo>
                  <a:lnTo>
                    <a:pt x="56377" y="0"/>
                  </a:lnTo>
                  <a:lnTo>
                    <a:pt x="69279" y="2265"/>
                  </a:lnTo>
                  <a:lnTo>
                    <a:pt x="83269" y="8399"/>
                  </a:lnTo>
                  <a:lnTo>
                    <a:pt x="97934" y="18092"/>
                  </a:lnTo>
                  <a:lnTo>
                    <a:pt x="112821" y="30665"/>
                  </a:lnTo>
                  <a:lnTo>
                    <a:pt x="127552" y="45220"/>
                  </a:lnTo>
                  <a:lnTo>
                    <a:pt x="141910" y="60846"/>
                  </a:lnTo>
                  <a:lnTo>
                    <a:pt x="155873" y="76839"/>
                  </a:lnTo>
                  <a:lnTo>
                    <a:pt x="169593" y="92856"/>
                  </a:lnTo>
                  <a:lnTo>
                    <a:pt x="183307" y="108960"/>
                  </a:lnTo>
                  <a:lnTo>
                    <a:pt x="197221" y="125553"/>
                  </a:lnTo>
                  <a:lnTo>
                    <a:pt x="211404" y="143201"/>
                  </a:lnTo>
                  <a:lnTo>
                    <a:pt x="225712" y="162429"/>
                  </a:lnTo>
                  <a:lnTo>
                    <a:pt x="239791" y="183523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84" name="Эритроцит в просвете капилляра"/>
            <p:cNvSpPr/>
            <p:nvPr/>
          </p:nvSpPr>
          <p:spPr>
            <a:xfrm rot="20100000">
              <a:off x="6911797" y="3826870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85" name="Центральное просветление эритроцита"/>
            <p:cNvSpPr/>
            <p:nvPr/>
          </p:nvSpPr>
          <p:spPr>
            <a:xfrm rot="20100000">
              <a:off x="6942886" y="386619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86" name="Эритроцит в просвете капилляра"/>
            <p:cNvSpPr/>
            <p:nvPr/>
          </p:nvSpPr>
          <p:spPr>
            <a:xfrm rot="20100000">
              <a:off x="6965899" y="3942892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87" name="Центральное просветление эритроцита"/>
            <p:cNvSpPr/>
            <p:nvPr/>
          </p:nvSpPr>
          <p:spPr>
            <a:xfrm rot="20100000">
              <a:off x="6996988" y="3982212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88" name="Эритроцит в просвете капилляра"/>
            <p:cNvSpPr/>
            <p:nvPr/>
          </p:nvSpPr>
          <p:spPr>
            <a:xfrm rot="20100000">
              <a:off x="7020001" y="405891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89" name="Центральное просветление эритроцита"/>
            <p:cNvSpPr/>
            <p:nvPr/>
          </p:nvSpPr>
          <p:spPr>
            <a:xfrm rot="20100000">
              <a:off x="7051090" y="4098233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90" name="Ядро эндотелия"/>
            <p:cNvSpPr/>
            <p:nvPr/>
          </p:nvSpPr>
          <p:spPr>
            <a:xfrm rot="20100000">
              <a:off x="7074375" y="3896018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</p:grpSp>
      <p:grpSp>
        <p:nvGrpSpPr>
          <p:cNvPr id="491" name="Фиброз и атрофия: редактируемая схема"/>
          <p:cNvGrpSpPr/>
          <p:nvPr/>
        </p:nvGrpSpPr>
        <p:grpSpPr>
          <a:xfrm>
            <a:off x="8272668" y="1923098"/>
            <a:ext cx="3247031" cy="2826647"/>
            <a:chOff x="8272668" y="1923098"/>
            <a:chExt cx="3247031" cy="2826647"/>
          </a:xfrm>
        </p:grpSpPr>
        <p:sp>
          <p:nvSpPr>
            <p:cNvPr id="492" name="Интерстиций"/>
            <p:cNvSpPr/>
            <p:nvPr/>
          </p:nvSpPr>
          <p:spPr>
            <a:xfrm>
              <a:off x="8272668" y="1923098"/>
              <a:ext cx="3247031" cy="2826647"/>
            </a:xfrm>
            <a:custGeom>
              <a:avLst/>
              <a:gdLst/>
              <a:ahLst/>
              <a:cxnLst/>
              <a:rect l="l" t="t" r="r" b="b"/>
              <a:pathLst>
                <a:path w="3247031" h="2826647">
                  <a:moveTo>
                    <a:pt x="20940" y="509206"/>
                  </a:moveTo>
                  <a:lnTo>
                    <a:pt x="29566" y="444269"/>
                  </a:lnTo>
                  <a:lnTo>
                    <a:pt x="37942" y="388048"/>
                  </a:lnTo>
                  <a:lnTo>
                    <a:pt x="47247" y="339256"/>
                  </a:lnTo>
                  <a:lnTo>
                    <a:pt x="58659" y="296608"/>
                  </a:lnTo>
                  <a:lnTo>
                    <a:pt x="73357" y="258818"/>
                  </a:lnTo>
                  <a:lnTo>
                    <a:pt x="92520" y="224599"/>
                  </a:lnTo>
                  <a:lnTo>
                    <a:pt x="117327" y="192666"/>
                  </a:lnTo>
                  <a:lnTo>
                    <a:pt x="148956" y="161734"/>
                  </a:lnTo>
                  <a:lnTo>
                    <a:pt x="187318" y="132820"/>
                  </a:lnTo>
                  <a:lnTo>
                    <a:pt x="231252" y="107584"/>
                  </a:lnTo>
                  <a:lnTo>
                    <a:pt x="280330" y="85707"/>
                  </a:lnTo>
                  <a:lnTo>
                    <a:pt x="334122" y="66865"/>
                  </a:lnTo>
                  <a:lnTo>
                    <a:pt x="392201" y="50738"/>
                  </a:lnTo>
                  <a:lnTo>
                    <a:pt x="454137" y="37004"/>
                  </a:lnTo>
                  <a:lnTo>
                    <a:pt x="519502" y="25342"/>
                  </a:lnTo>
                  <a:lnTo>
                    <a:pt x="587868" y="15430"/>
                  </a:lnTo>
                  <a:lnTo>
                    <a:pt x="662761" y="7742"/>
                  </a:lnTo>
                  <a:lnTo>
                    <a:pt x="746102" y="2786"/>
                  </a:lnTo>
                  <a:lnTo>
                    <a:pt x="835051" y="294"/>
                  </a:lnTo>
                  <a:lnTo>
                    <a:pt x="926768" y="0"/>
                  </a:lnTo>
                  <a:lnTo>
                    <a:pt x="1018413" y="1634"/>
                  </a:lnTo>
                  <a:lnTo>
                    <a:pt x="1107147" y="4929"/>
                  </a:lnTo>
                  <a:lnTo>
                    <a:pt x="1190131" y="9617"/>
                  </a:lnTo>
                  <a:lnTo>
                    <a:pt x="1264524" y="15430"/>
                  </a:lnTo>
                  <a:lnTo>
                    <a:pt x="1327746" y="22565"/>
                  </a:lnTo>
                  <a:lnTo>
                    <a:pt x="1381396" y="31361"/>
                  </a:lnTo>
                  <a:lnTo>
                    <a:pt x="1428902" y="41764"/>
                  </a:lnTo>
                  <a:lnTo>
                    <a:pt x="1473693" y="53721"/>
                  </a:lnTo>
                  <a:lnTo>
                    <a:pt x="1519199" y="67178"/>
                  </a:lnTo>
                  <a:lnTo>
                    <a:pt x="1568848" y="82081"/>
                  </a:lnTo>
                  <a:lnTo>
                    <a:pt x="1626069" y="98378"/>
                  </a:lnTo>
                  <a:lnTo>
                    <a:pt x="1694292" y="116014"/>
                  </a:lnTo>
                  <a:lnTo>
                    <a:pt x="1776302" y="135329"/>
                  </a:lnTo>
                  <a:lnTo>
                    <a:pt x="1870028" y="156519"/>
                  </a:lnTo>
                  <a:lnTo>
                    <a:pt x="1971612" y="179317"/>
                  </a:lnTo>
                  <a:lnTo>
                    <a:pt x="2077197" y="203454"/>
                  </a:lnTo>
                  <a:lnTo>
                    <a:pt x="2182925" y="228662"/>
                  </a:lnTo>
                  <a:lnTo>
                    <a:pt x="2284937" y="254674"/>
                  </a:lnTo>
                  <a:lnTo>
                    <a:pt x="2379378" y="281222"/>
                  </a:lnTo>
                  <a:lnTo>
                    <a:pt x="2462388" y="308038"/>
                  </a:lnTo>
                  <a:lnTo>
                    <a:pt x="2534647" y="333693"/>
                  </a:lnTo>
                  <a:lnTo>
                    <a:pt x="2600120" y="357830"/>
                  </a:lnTo>
                  <a:lnTo>
                    <a:pt x="2659877" y="381788"/>
                  </a:lnTo>
                  <a:lnTo>
                    <a:pt x="2714991" y="406908"/>
                  </a:lnTo>
                  <a:lnTo>
                    <a:pt x="2766533" y="434527"/>
                  </a:lnTo>
                  <a:lnTo>
                    <a:pt x="2815575" y="465986"/>
                  </a:lnTo>
                  <a:lnTo>
                    <a:pt x="2863188" y="502625"/>
                  </a:lnTo>
                  <a:lnTo>
                    <a:pt x="2910444" y="545782"/>
                  </a:lnTo>
                  <a:lnTo>
                    <a:pt x="2958120" y="595538"/>
                  </a:lnTo>
                  <a:lnTo>
                    <a:pt x="3005527" y="650652"/>
                  </a:lnTo>
                  <a:lnTo>
                    <a:pt x="3051542" y="710481"/>
                  </a:lnTo>
                  <a:lnTo>
                    <a:pt x="3095039" y="774382"/>
                  </a:lnTo>
                  <a:lnTo>
                    <a:pt x="3134892" y="841712"/>
                  </a:lnTo>
                  <a:lnTo>
                    <a:pt x="3169976" y="911828"/>
                  </a:lnTo>
                  <a:lnTo>
                    <a:pt x="3199168" y="984087"/>
                  </a:lnTo>
                  <a:lnTo>
                    <a:pt x="3221340" y="1057846"/>
                  </a:lnTo>
                  <a:lnTo>
                    <a:pt x="3236119" y="1135240"/>
                  </a:lnTo>
                  <a:lnTo>
                    <a:pt x="3244414" y="1217795"/>
                  </a:lnTo>
                  <a:lnTo>
                    <a:pt x="3247031" y="1303957"/>
                  </a:lnTo>
                  <a:lnTo>
                    <a:pt x="3244772" y="1392174"/>
                  </a:lnTo>
                  <a:lnTo>
                    <a:pt x="3238440" y="1480890"/>
                  </a:lnTo>
                  <a:lnTo>
                    <a:pt x="3228841" y="1568553"/>
                  </a:lnTo>
                  <a:lnTo>
                    <a:pt x="3216777" y="1653608"/>
                  </a:lnTo>
                  <a:lnTo>
                    <a:pt x="3203052" y="1734502"/>
                  </a:lnTo>
                  <a:lnTo>
                    <a:pt x="3188890" y="1812699"/>
                  </a:lnTo>
                  <a:lnTo>
                    <a:pt x="3174048" y="1890307"/>
                  </a:lnTo>
                  <a:lnTo>
                    <a:pt x="3157136" y="1966736"/>
                  </a:lnTo>
                  <a:lnTo>
                    <a:pt x="3136758" y="2041398"/>
                  </a:lnTo>
                  <a:lnTo>
                    <a:pt x="3111523" y="2113701"/>
                  </a:lnTo>
                  <a:lnTo>
                    <a:pt x="3080037" y="2183058"/>
                  </a:lnTo>
                  <a:lnTo>
                    <a:pt x="3040907" y="2248879"/>
                  </a:lnTo>
                  <a:lnTo>
                    <a:pt x="2992740" y="2310574"/>
                  </a:lnTo>
                  <a:lnTo>
                    <a:pt x="2933295" y="2368751"/>
                  </a:lnTo>
                  <a:lnTo>
                    <a:pt x="2862938" y="2424231"/>
                  </a:lnTo>
                  <a:lnTo>
                    <a:pt x="2784187" y="2476747"/>
                  </a:lnTo>
                  <a:lnTo>
                    <a:pt x="2699560" y="2526030"/>
                  </a:lnTo>
                  <a:lnTo>
                    <a:pt x="2611576" y="2571812"/>
                  </a:lnTo>
                  <a:lnTo>
                    <a:pt x="2522753" y="2613826"/>
                  </a:lnTo>
                  <a:lnTo>
                    <a:pt x="2435608" y="2651804"/>
                  </a:lnTo>
                  <a:lnTo>
                    <a:pt x="2352660" y="2685478"/>
                  </a:lnTo>
                  <a:lnTo>
                    <a:pt x="2272838" y="2714357"/>
                  </a:lnTo>
                  <a:lnTo>
                    <a:pt x="2193283" y="2738485"/>
                  </a:lnTo>
                  <a:lnTo>
                    <a:pt x="2113836" y="2758398"/>
                  </a:lnTo>
                  <a:lnTo>
                    <a:pt x="2034335" y="2774632"/>
                  </a:lnTo>
                  <a:lnTo>
                    <a:pt x="1954619" y="2787723"/>
                  </a:lnTo>
                  <a:lnTo>
                    <a:pt x="1874529" y="2798206"/>
                  </a:lnTo>
                  <a:lnTo>
                    <a:pt x="1793903" y="2806618"/>
                  </a:lnTo>
                  <a:lnTo>
                    <a:pt x="1712580" y="2813494"/>
                  </a:lnTo>
                  <a:lnTo>
                    <a:pt x="1630141" y="2819379"/>
                  </a:lnTo>
                  <a:lnTo>
                    <a:pt x="1546559" y="2823995"/>
                  </a:lnTo>
                  <a:lnTo>
                    <a:pt x="1462263" y="2826647"/>
                  </a:lnTo>
                  <a:lnTo>
                    <a:pt x="1377681" y="2826639"/>
                  </a:lnTo>
                  <a:lnTo>
                    <a:pt x="1293242" y="2823272"/>
                  </a:lnTo>
                  <a:lnTo>
                    <a:pt x="1209374" y="2815851"/>
                  </a:lnTo>
                  <a:lnTo>
                    <a:pt x="1126507" y="2803680"/>
                  </a:lnTo>
                  <a:lnTo>
                    <a:pt x="1045068" y="2786062"/>
                  </a:lnTo>
                  <a:lnTo>
                    <a:pt x="963469" y="2762970"/>
                  </a:lnTo>
                  <a:lnTo>
                    <a:pt x="880619" y="2735056"/>
                  </a:lnTo>
                  <a:lnTo>
                    <a:pt x="797698" y="2702641"/>
                  </a:lnTo>
                  <a:lnTo>
                    <a:pt x="715884" y="2666047"/>
                  </a:lnTo>
                  <a:lnTo>
                    <a:pt x="636356" y="2625596"/>
                  </a:lnTo>
                  <a:lnTo>
                    <a:pt x="560293" y="2581608"/>
                  </a:lnTo>
                  <a:lnTo>
                    <a:pt x="488873" y="2534406"/>
                  </a:lnTo>
                  <a:lnTo>
                    <a:pt x="423276" y="2484310"/>
                  </a:lnTo>
                  <a:lnTo>
                    <a:pt x="362349" y="2430785"/>
                  </a:lnTo>
                  <a:lnTo>
                    <a:pt x="304475" y="2373296"/>
                  </a:lnTo>
                  <a:lnTo>
                    <a:pt x="250138" y="2312163"/>
                  </a:lnTo>
                  <a:lnTo>
                    <a:pt x="199820" y="2247709"/>
                  </a:lnTo>
                  <a:lnTo>
                    <a:pt x="154001" y="2180254"/>
                  </a:lnTo>
                  <a:lnTo>
                    <a:pt x="113166" y="2110120"/>
                  </a:lnTo>
                  <a:lnTo>
                    <a:pt x="77795" y="2037629"/>
                  </a:lnTo>
                  <a:lnTo>
                    <a:pt x="48372" y="1963102"/>
                  </a:lnTo>
                  <a:lnTo>
                    <a:pt x="26467" y="1885816"/>
                  </a:lnTo>
                  <a:lnTo>
                    <a:pt x="12296" y="1805154"/>
                  </a:lnTo>
                  <a:lnTo>
                    <a:pt x="4304" y="1721599"/>
                  </a:lnTo>
                  <a:lnTo>
                    <a:pt x="938" y="1635632"/>
                  </a:lnTo>
                  <a:lnTo>
                    <a:pt x="643" y="1547738"/>
                  </a:lnTo>
                  <a:lnTo>
                    <a:pt x="1866" y="1458396"/>
                  </a:lnTo>
                  <a:lnTo>
                    <a:pt x="3054" y="1368090"/>
                  </a:lnTo>
                  <a:lnTo>
                    <a:pt x="2652" y="1277302"/>
                  </a:lnTo>
                  <a:lnTo>
                    <a:pt x="1125" y="1182353"/>
                  </a:lnTo>
                  <a:lnTo>
                    <a:pt x="152" y="1081206"/>
                  </a:lnTo>
                  <a:lnTo>
                    <a:pt x="0" y="976809"/>
                  </a:lnTo>
                  <a:lnTo>
                    <a:pt x="938" y="872108"/>
                  </a:lnTo>
                  <a:lnTo>
                    <a:pt x="3232" y="770051"/>
                  </a:lnTo>
                  <a:lnTo>
                    <a:pt x="7153" y="673584"/>
                  </a:lnTo>
                  <a:lnTo>
                    <a:pt x="12966" y="585653"/>
                  </a:lnTo>
                  <a:close/>
                </a:path>
              </a:pathLst>
            </a:custGeom>
            <a:solidFill>
              <a:srgbClr val="F4E7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93" name="Волокна матрикса в интерстиции"/>
            <p:cNvSpPr/>
            <p:nvPr/>
          </p:nvSpPr>
          <p:spPr>
            <a:xfrm>
              <a:off x="9072496" y="3495125"/>
              <a:ext cx="129684" cy="48886"/>
            </a:xfrm>
            <a:custGeom>
              <a:avLst/>
              <a:gdLst/>
              <a:ahLst/>
              <a:cxnLst/>
              <a:rect l="l" t="t" r="r" b="b"/>
              <a:pathLst>
                <a:path w="129684" h="48886">
                  <a:moveTo>
                    <a:pt x="0" y="0"/>
                  </a:moveTo>
                  <a:lnTo>
                    <a:pt x="16210" y="17103"/>
                  </a:lnTo>
                  <a:lnTo>
                    <a:pt x="32421" y="27766"/>
                  </a:lnTo>
                  <a:lnTo>
                    <a:pt x="48631" y="29324"/>
                  </a:lnTo>
                  <a:lnTo>
                    <a:pt x="64842" y="24443"/>
                  </a:lnTo>
                  <a:lnTo>
                    <a:pt x="81053" y="19562"/>
                  </a:lnTo>
                  <a:lnTo>
                    <a:pt x="97263" y="21120"/>
                  </a:lnTo>
                  <a:lnTo>
                    <a:pt x="113474" y="31784"/>
                  </a:lnTo>
                  <a:lnTo>
                    <a:pt x="129684" y="4888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94" name="Волокна матрикса в интерстиции"/>
            <p:cNvSpPr/>
            <p:nvPr/>
          </p:nvSpPr>
          <p:spPr>
            <a:xfrm>
              <a:off x="10446977" y="3585235"/>
              <a:ext cx="29977" cy="205431"/>
            </a:xfrm>
            <a:custGeom>
              <a:avLst/>
              <a:gdLst/>
              <a:ahLst/>
              <a:cxnLst/>
              <a:rect l="l" t="t" r="r" b="b"/>
              <a:pathLst>
                <a:path w="29977" h="205431">
                  <a:moveTo>
                    <a:pt x="29977" y="0"/>
                  </a:moveTo>
                  <a:lnTo>
                    <a:pt x="26230" y="36671"/>
                  </a:lnTo>
                  <a:lnTo>
                    <a:pt x="22483" y="66903"/>
                  </a:lnTo>
                  <a:lnTo>
                    <a:pt x="18736" y="88029"/>
                  </a:lnTo>
                  <a:lnTo>
                    <a:pt x="14989" y="102716"/>
                  </a:lnTo>
                  <a:lnTo>
                    <a:pt x="11242" y="117403"/>
                  </a:lnTo>
                  <a:lnTo>
                    <a:pt x="7495" y="138529"/>
                  </a:lnTo>
                  <a:lnTo>
                    <a:pt x="3748" y="168761"/>
                  </a:lnTo>
                  <a:lnTo>
                    <a:pt x="0" y="20543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95" name="Волокна матрикса в интерстиции"/>
            <p:cNvSpPr/>
            <p:nvPr/>
          </p:nvSpPr>
          <p:spPr>
            <a:xfrm>
              <a:off x="9686294" y="2098869"/>
              <a:ext cx="209306" cy="90261"/>
            </a:xfrm>
            <a:custGeom>
              <a:avLst/>
              <a:gdLst/>
              <a:ahLst/>
              <a:cxnLst/>
              <a:rect l="l" t="t" r="r" b="b"/>
              <a:pathLst>
                <a:path w="209306" h="90261">
                  <a:moveTo>
                    <a:pt x="0" y="0"/>
                  </a:moveTo>
                  <a:lnTo>
                    <a:pt x="26163" y="22275"/>
                  </a:lnTo>
                  <a:lnTo>
                    <a:pt x="52327" y="38110"/>
                  </a:lnTo>
                  <a:lnTo>
                    <a:pt x="78490" y="44840"/>
                  </a:lnTo>
                  <a:lnTo>
                    <a:pt x="104653" y="45131"/>
                  </a:lnTo>
                  <a:lnTo>
                    <a:pt x="130816" y="45421"/>
                  </a:lnTo>
                  <a:lnTo>
                    <a:pt x="156980" y="52151"/>
                  </a:lnTo>
                  <a:lnTo>
                    <a:pt x="183143" y="67987"/>
                  </a:lnTo>
                  <a:lnTo>
                    <a:pt x="209306" y="90261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96" name="Волокна матрикса в интерстиции"/>
            <p:cNvSpPr/>
            <p:nvPr/>
          </p:nvSpPr>
          <p:spPr>
            <a:xfrm>
              <a:off x="10009443" y="3459771"/>
              <a:ext cx="150344" cy="69036"/>
            </a:xfrm>
            <a:custGeom>
              <a:avLst/>
              <a:gdLst/>
              <a:ahLst/>
              <a:cxnLst/>
              <a:rect l="l" t="t" r="r" b="b"/>
              <a:pathLst>
                <a:path w="150344" h="69036">
                  <a:moveTo>
                    <a:pt x="150344" y="0"/>
                  </a:moveTo>
                  <a:lnTo>
                    <a:pt x="131551" y="19622"/>
                  </a:lnTo>
                  <a:lnTo>
                    <a:pt x="112758" y="32804"/>
                  </a:lnTo>
                  <a:lnTo>
                    <a:pt x="93965" y="36881"/>
                  </a:lnTo>
                  <a:lnTo>
                    <a:pt x="75172" y="34518"/>
                  </a:lnTo>
                  <a:lnTo>
                    <a:pt x="56379" y="32156"/>
                  </a:lnTo>
                  <a:lnTo>
                    <a:pt x="37586" y="36232"/>
                  </a:lnTo>
                  <a:lnTo>
                    <a:pt x="18793" y="49415"/>
                  </a:lnTo>
                  <a:lnTo>
                    <a:pt x="0" y="69036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97" name="Волокна матрикса в интерстиции"/>
            <p:cNvSpPr/>
            <p:nvPr/>
          </p:nvSpPr>
          <p:spPr>
            <a:xfrm>
              <a:off x="8480763" y="3071148"/>
              <a:ext cx="173216" cy="214705"/>
            </a:xfrm>
            <a:custGeom>
              <a:avLst/>
              <a:gdLst/>
              <a:ahLst/>
              <a:cxnLst/>
              <a:rect l="l" t="t" r="r" b="b"/>
              <a:pathLst>
                <a:path w="173216" h="214705">
                  <a:moveTo>
                    <a:pt x="173216" y="0"/>
                  </a:moveTo>
                  <a:lnTo>
                    <a:pt x="151564" y="37830"/>
                  </a:lnTo>
                  <a:lnTo>
                    <a:pt x="129912" y="69221"/>
                  </a:lnTo>
                  <a:lnTo>
                    <a:pt x="108260" y="91506"/>
                  </a:lnTo>
                  <a:lnTo>
                    <a:pt x="86608" y="107353"/>
                  </a:lnTo>
                  <a:lnTo>
                    <a:pt x="64956" y="123199"/>
                  </a:lnTo>
                  <a:lnTo>
                    <a:pt x="43304" y="145484"/>
                  </a:lnTo>
                  <a:lnTo>
                    <a:pt x="21652" y="176875"/>
                  </a:lnTo>
                  <a:lnTo>
                    <a:pt x="0" y="214705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98" name="Волокна матрикса в интерстиции"/>
            <p:cNvSpPr/>
            <p:nvPr/>
          </p:nvSpPr>
          <p:spPr>
            <a:xfrm>
              <a:off x="10256118" y="3687042"/>
              <a:ext cx="114321" cy="36858"/>
            </a:xfrm>
            <a:custGeom>
              <a:avLst/>
              <a:gdLst/>
              <a:ahLst/>
              <a:cxnLst/>
              <a:rect l="l" t="t" r="r" b="b"/>
              <a:pathLst>
                <a:path w="114321" h="36858">
                  <a:moveTo>
                    <a:pt x="0" y="0"/>
                  </a:moveTo>
                  <a:lnTo>
                    <a:pt x="14290" y="15599"/>
                  </a:lnTo>
                  <a:lnTo>
                    <a:pt x="28580" y="24759"/>
                  </a:lnTo>
                  <a:lnTo>
                    <a:pt x="42870" y="24813"/>
                  </a:lnTo>
                  <a:lnTo>
                    <a:pt x="57161" y="18429"/>
                  </a:lnTo>
                  <a:lnTo>
                    <a:pt x="71451" y="12044"/>
                  </a:lnTo>
                  <a:lnTo>
                    <a:pt x="85741" y="12098"/>
                  </a:lnTo>
                  <a:lnTo>
                    <a:pt x="100031" y="21258"/>
                  </a:lnTo>
                  <a:lnTo>
                    <a:pt x="114321" y="36858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499" name="Волокна матрикса в интерстиции"/>
            <p:cNvSpPr/>
            <p:nvPr/>
          </p:nvSpPr>
          <p:spPr>
            <a:xfrm>
              <a:off x="8477932" y="3652433"/>
              <a:ext cx="86089" cy="123677"/>
            </a:xfrm>
            <a:custGeom>
              <a:avLst/>
              <a:gdLst/>
              <a:ahLst/>
              <a:cxnLst/>
              <a:rect l="l" t="t" r="r" b="b"/>
              <a:pathLst>
                <a:path w="86089" h="123677">
                  <a:moveTo>
                    <a:pt x="86089" y="0"/>
                  </a:moveTo>
                  <a:lnTo>
                    <a:pt x="75328" y="26451"/>
                  </a:lnTo>
                  <a:lnTo>
                    <a:pt x="64567" y="46464"/>
                  </a:lnTo>
                  <a:lnTo>
                    <a:pt x="53806" y="57371"/>
                  </a:lnTo>
                  <a:lnTo>
                    <a:pt x="43044" y="61838"/>
                  </a:lnTo>
                  <a:lnTo>
                    <a:pt x="32283" y="66306"/>
                  </a:lnTo>
                  <a:lnTo>
                    <a:pt x="21522" y="77213"/>
                  </a:lnTo>
                  <a:lnTo>
                    <a:pt x="10761" y="97225"/>
                  </a:lnTo>
                  <a:lnTo>
                    <a:pt x="0" y="123677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00" name="Волокна матрикса в интерстиции"/>
            <p:cNvSpPr/>
            <p:nvPr/>
          </p:nvSpPr>
          <p:spPr>
            <a:xfrm>
              <a:off x="8751182" y="3180407"/>
              <a:ext cx="235395" cy="208713"/>
            </a:xfrm>
            <a:custGeom>
              <a:avLst/>
              <a:gdLst/>
              <a:ahLst/>
              <a:cxnLst/>
              <a:rect l="l" t="t" r="r" b="b"/>
              <a:pathLst>
                <a:path w="235395" h="208713">
                  <a:moveTo>
                    <a:pt x="235395" y="0"/>
                  </a:moveTo>
                  <a:lnTo>
                    <a:pt x="205970" y="37081"/>
                  </a:lnTo>
                  <a:lnTo>
                    <a:pt x="176546" y="67723"/>
                  </a:lnTo>
                  <a:lnTo>
                    <a:pt x="147122" y="89259"/>
                  </a:lnTo>
                  <a:lnTo>
                    <a:pt x="117697" y="104356"/>
                  </a:lnTo>
                  <a:lnTo>
                    <a:pt x="88273" y="119454"/>
                  </a:lnTo>
                  <a:lnTo>
                    <a:pt x="58849" y="140990"/>
                  </a:lnTo>
                  <a:lnTo>
                    <a:pt x="29424" y="171632"/>
                  </a:lnTo>
                  <a:lnTo>
                    <a:pt x="0" y="208713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01" name="Волокна матрикса в интерстиции"/>
            <p:cNvSpPr/>
            <p:nvPr/>
          </p:nvSpPr>
          <p:spPr>
            <a:xfrm>
              <a:off x="9694596" y="2293109"/>
              <a:ext cx="157568" cy="37360"/>
            </a:xfrm>
            <a:custGeom>
              <a:avLst/>
              <a:gdLst/>
              <a:ahLst/>
              <a:cxnLst/>
              <a:rect l="l" t="t" r="r" b="b"/>
              <a:pathLst>
                <a:path w="157568" h="37360">
                  <a:moveTo>
                    <a:pt x="157568" y="0"/>
                  </a:moveTo>
                  <a:lnTo>
                    <a:pt x="137872" y="15662"/>
                  </a:lnTo>
                  <a:lnTo>
                    <a:pt x="118176" y="24885"/>
                  </a:lnTo>
                  <a:lnTo>
                    <a:pt x="98480" y="25002"/>
                  </a:lnTo>
                  <a:lnTo>
                    <a:pt x="78784" y="18680"/>
                  </a:lnTo>
                  <a:lnTo>
                    <a:pt x="59088" y="12358"/>
                  </a:lnTo>
                  <a:lnTo>
                    <a:pt x="39392" y="12475"/>
                  </a:lnTo>
                  <a:lnTo>
                    <a:pt x="19696" y="21698"/>
                  </a:lnTo>
                  <a:lnTo>
                    <a:pt x="0" y="37360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02" name="Волокна матрикса в интерстиции"/>
            <p:cNvSpPr/>
            <p:nvPr/>
          </p:nvSpPr>
          <p:spPr>
            <a:xfrm>
              <a:off x="10873397" y="3494286"/>
              <a:ext cx="162593" cy="57520"/>
            </a:xfrm>
            <a:custGeom>
              <a:avLst/>
              <a:gdLst/>
              <a:ahLst/>
              <a:cxnLst/>
              <a:rect l="l" t="t" r="r" b="b"/>
              <a:pathLst>
                <a:path w="162593" h="57520">
                  <a:moveTo>
                    <a:pt x="162593" y="0"/>
                  </a:moveTo>
                  <a:lnTo>
                    <a:pt x="142269" y="18182"/>
                  </a:lnTo>
                  <a:lnTo>
                    <a:pt x="121945" y="29925"/>
                  </a:lnTo>
                  <a:lnTo>
                    <a:pt x="101621" y="32562"/>
                  </a:lnTo>
                  <a:lnTo>
                    <a:pt x="81297" y="28760"/>
                  </a:lnTo>
                  <a:lnTo>
                    <a:pt x="60973" y="24958"/>
                  </a:lnTo>
                  <a:lnTo>
                    <a:pt x="40648" y="27595"/>
                  </a:lnTo>
                  <a:lnTo>
                    <a:pt x="20324" y="39338"/>
                  </a:lnTo>
                  <a:lnTo>
                    <a:pt x="0" y="57520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03" name="Волокна матрикса в интерстиции"/>
            <p:cNvSpPr/>
            <p:nvPr/>
          </p:nvSpPr>
          <p:spPr>
            <a:xfrm>
              <a:off x="9543430" y="3389231"/>
              <a:ext cx="89271" cy="147998"/>
            </a:xfrm>
            <a:custGeom>
              <a:avLst/>
              <a:gdLst/>
              <a:ahLst/>
              <a:cxnLst/>
              <a:rect l="l" t="t" r="r" b="b"/>
              <a:pathLst>
                <a:path w="89271" h="147998">
                  <a:moveTo>
                    <a:pt x="89271" y="0"/>
                  </a:moveTo>
                  <a:lnTo>
                    <a:pt x="78112" y="29492"/>
                  </a:lnTo>
                  <a:lnTo>
                    <a:pt x="66953" y="52544"/>
                  </a:lnTo>
                  <a:lnTo>
                    <a:pt x="55794" y="66491"/>
                  </a:lnTo>
                  <a:lnTo>
                    <a:pt x="44636" y="73999"/>
                  </a:lnTo>
                  <a:lnTo>
                    <a:pt x="33477" y="81507"/>
                  </a:lnTo>
                  <a:lnTo>
                    <a:pt x="22318" y="95453"/>
                  </a:lnTo>
                  <a:lnTo>
                    <a:pt x="11159" y="118506"/>
                  </a:lnTo>
                  <a:lnTo>
                    <a:pt x="0" y="147998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04" name="Волокна матрикса в интерстиции"/>
            <p:cNvSpPr/>
            <p:nvPr/>
          </p:nvSpPr>
          <p:spPr>
            <a:xfrm>
              <a:off x="9933795" y="3475881"/>
              <a:ext cx="118835" cy="47431"/>
            </a:xfrm>
            <a:custGeom>
              <a:avLst/>
              <a:gdLst/>
              <a:ahLst/>
              <a:cxnLst/>
              <a:rect l="l" t="t" r="r" b="b"/>
              <a:pathLst>
                <a:path w="118835" h="47431">
                  <a:moveTo>
                    <a:pt x="0" y="0"/>
                  </a:moveTo>
                  <a:lnTo>
                    <a:pt x="14854" y="16921"/>
                  </a:lnTo>
                  <a:lnTo>
                    <a:pt x="29708" y="27403"/>
                  </a:lnTo>
                  <a:lnTo>
                    <a:pt x="44563" y="28779"/>
                  </a:lnTo>
                  <a:lnTo>
                    <a:pt x="59417" y="23716"/>
                  </a:lnTo>
                  <a:lnTo>
                    <a:pt x="74272" y="18653"/>
                  </a:lnTo>
                  <a:lnTo>
                    <a:pt x="89126" y="20028"/>
                  </a:lnTo>
                  <a:lnTo>
                    <a:pt x="103981" y="30510"/>
                  </a:lnTo>
                  <a:lnTo>
                    <a:pt x="118835" y="47431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05" name="Волокна матрикса в интерстиции"/>
            <p:cNvSpPr/>
            <p:nvPr/>
          </p:nvSpPr>
          <p:spPr>
            <a:xfrm>
              <a:off x="9469686" y="3101542"/>
              <a:ext cx="217695" cy="91551"/>
            </a:xfrm>
            <a:custGeom>
              <a:avLst/>
              <a:gdLst/>
              <a:ahLst/>
              <a:cxnLst/>
              <a:rect l="l" t="t" r="r" b="b"/>
              <a:pathLst>
                <a:path w="217695" h="91551">
                  <a:moveTo>
                    <a:pt x="217695" y="0"/>
                  </a:moveTo>
                  <a:lnTo>
                    <a:pt x="190483" y="22436"/>
                  </a:lnTo>
                  <a:lnTo>
                    <a:pt x="163271" y="38433"/>
                  </a:lnTo>
                  <a:lnTo>
                    <a:pt x="136059" y="45323"/>
                  </a:lnTo>
                  <a:lnTo>
                    <a:pt x="108847" y="45775"/>
                  </a:lnTo>
                  <a:lnTo>
                    <a:pt x="81635" y="46227"/>
                  </a:lnTo>
                  <a:lnTo>
                    <a:pt x="54423" y="53118"/>
                  </a:lnTo>
                  <a:lnTo>
                    <a:pt x="27212" y="69115"/>
                  </a:lnTo>
                  <a:lnTo>
                    <a:pt x="0" y="91551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06" name="Волокна матрикса в интерстиции"/>
            <p:cNvSpPr/>
            <p:nvPr/>
          </p:nvSpPr>
          <p:spPr>
            <a:xfrm>
              <a:off x="8755362" y="3839893"/>
              <a:ext cx="38669" cy="105561"/>
            </a:xfrm>
            <a:custGeom>
              <a:avLst/>
              <a:gdLst/>
              <a:ahLst/>
              <a:cxnLst/>
              <a:rect l="l" t="t" r="r" b="b"/>
              <a:pathLst>
                <a:path w="38669" h="105561">
                  <a:moveTo>
                    <a:pt x="0" y="0"/>
                  </a:moveTo>
                  <a:lnTo>
                    <a:pt x="4834" y="24187"/>
                  </a:lnTo>
                  <a:lnTo>
                    <a:pt x="9667" y="41935"/>
                  </a:lnTo>
                  <a:lnTo>
                    <a:pt x="14501" y="50577"/>
                  </a:lnTo>
                  <a:lnTo>
                    <a:pt x="19335" y="52781"/>
                  </a:lnTo>
                  <a:lnTo>
                    <a:pt x="24168" y="54984"/>
                  </a:lnTo>
                  <a:lnTo>
                    <a:pt x="29002" y="63626"/>
                  </a:lnTo>
                  <a:lnTo>
                    <a:pt x="33835" y="81374"/>
                  </a:lnTo>
                  <a:lnTo>
                    <a:pt x="38669" y="10556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07" name="Волокна матрикса в интерстиции"/>
            <p:cNvSpPr/>
            <p:nvPr/>
          </p:nvSpPr>
          <p:spPr>
            <a:xfrm>
              <a:off x="8830125" y="3875291"/>
              <a:ext cx="94054" cy="135802"/>
            </a:xfrm>
            <a:custGeom>
              <a:avLst/>
              <a:gdLst/>
              <a:ahLst/>
              <a:cxnLst/>
              <a:rect l="l" t="t" r="r" b="b"/>
              <a:pathLst>
                <a:path w="94054" h="135802">
                  <a:moveTo>
                    <a:pt x="94054" y="0"/>
                  </a:moveTo>
                  <a:lnTo>
                    <a:pt x="82298" y="27967"/>
                  </a:lnTo>
                  <a:lnTo>
                    <a:pt x="70541" y="49495"/>
                  </a:lnTo>
                  <a:lnTo>
                    <a:pt x="58784" y="61918"/>
                  </a:lnTo>
                  <a:lnTo>
                    <a:pt x="47027" y="67901"/>
                  </a:lnTo>
                  <a:lnTo>
                    <a:pt x="35270" y="73884"/>
                  </a:lnTo>
                  <a:lnTo>
                    <a:pt x="23513" y="86307"/>
                  </a:lnTo>
                  <a:lnTo>
                    <a:pt x="11756" y="107835"/>
                  </a:lnTo>
                  <a:lnTo>
                    <a:pt x="0" y="135802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08" name="Волокна матрикса в интерстиции"/>
            <p:cNvSpPr/>
            <p:nvPr/>
          </p:nvSpPr>
          <p:spPr>
            <a:xfrm>
              <a:off x="9275900" y="3504225"/>
              <a:ext cx="265119" cy="29068"/>
            </a:xfrm>
            <a:custGeom>
              <a:avLst/>
              <a:gdLst/>
              <a:ahLst/>
              <a:cxnLst/>
              <a:rect l="l" t="t" r="r" b="b"/>
              <a:pathLst>
                <a:path w="265119" h="29068">
                  <a:moveTo>
                    <a:pt x="0" y="12512"/>
                  </a:moveTo>
                  <a:lnTo>
                    <a:pt x="33140" y="24009"/>
                  </a:lnTo>
                  <a:lnTo>
                    <a:pt x="66280" y="29068"/>
                  </a:lnTo>
                  <a:lnTo>
                    <a:pt x="99420" y="25020"/>
                  </a:lnTo>
                  <a:lnTo>
                    <a:pt x="132559" y="14534"/>
                  </a:lnTo>
                  <a:lnTo>
                    <a:pt x="165699" y="4047"/>
                  </a:lnTo>
                  <a:lnTo>
                    <a:pt x="198839" y="0"/>
                  </a:lnTo>
                  <a:lnTo>
                    <a:pt x="231979" y="5058"/>
                  </a:lnTo>
                  <a:lnTo>
                    <a:pt x="265119" y="16555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09" name="Волокна матрикса в интерстиции"/>
            <p:cNvSpPr/>
            <p:nvPr/>
          </p:nvSpPr>
          <p:spPr>
            <a:xfrm>
              <a:off x="8420593" y="2299743"/>
              <a:ext cx="175718" cy="239890"/>
            </a:xfrm>
            <a:custGeom>
              <a:avLst/>
              <a:gdLst/>
              <a:ahLst/>
              <a:cxnLst/>
              <a:rect l="l" t="t" r="r" b="b"/>
              <a:pathLst>
                <a:path w="175718" h="239890">
                  <a:moveTo>
                    <a:pt x="175718" y="0"/>
                  </a:moveTo>
                  <a:lnTo>
                    <a:pt x="153754" y="40978"/>
                  </a:lnTo>
                  <a:lnTo>
                    <a:pt x="131789" y="75517"/>
                  </a:lnTo>
                  <a:lnTo>
                    <a:pt x="109824" y="100951"/>
                  </a:lnTo>
                  <a:lnTo>
                    <a:pt x="87859" y="119945"/>
                  </a:lnTo>
                  <a:lnTo>
                    <a:pt x="65895" y="138940"/>
                  </a:lnTo>
                  <a:lnTo>
                    <a:pt x="43930" y="164373"/>
                  </a:lnTo>
                  <a:lnTo>
                    <a:pt x="21965" y="198912"/>
                  </a:lnTo>
                  <a:lnTo>
                    <a:pt x="0" y="239890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10" name="Волокна матрикса в интерстиции"/>
            <p:cNvSpPr/>
            <p:nvPr/>
          </p:nvSpPr>
          <p:spPr>
            <a:xfrm>
              <a:off x="8858453" y="3988838"/>
              <a:ext cx="61588" cy="141590"/>
            </a:xfrm>
            <a:custGeom>
              <a:avLst/>
              <a:gdLst/>
              <a:ahLst/>
              <a:cxnLst/>
              <a:rect l="l" t="t" r="r" b="b"/>
              <a:pathLst>
                <a:path w="61588" h="141590">
                  <a:moveTo>
                    <a:pt x="61588" y="0"/>
                  </a:moveTo>
                  <a:lnTo>
                    <a:pt x="53889" y="28691"/>
                  </a:lnTo>
                  <a:lnTo>
                    <a:pt x="46191" y="50942"/>
                  </a:lnTo>
                  <a:lnTo>
                    <a:pt x="38492" y="64088"/>
                  </a:lnTo>
                  <a:lnTo>
                    <a:pt x="30794" y="70795"/>
                  </a:lnTo>
                  <a:lnTo>
                    <a:pt x="23096" y="77502"/>
                  </a:lnTo>
                  <a:lnTo>
                    <a:pt x="15397" y="90647"/>
                  </a:lnTo>
                  <a:lnTo>
                    <a:pt x="7699" y="112899"/>
                  </a:lnTo>
                  <a:lnTo>
                    <a:pt x="0" y="141590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11" name="Волокна матрикса в интерстиции"/>
            <p:cNvSpPr/>
            <p:nvPr/>
          </p:nvSpPr>
          <p:spPr>
            <a:xfrm>
              <a:off x="9290357" y="3202986"/>
              <a:ext cx="161132" cy="131264"/>
            </a:xfrm>
            <a:custGeom>
              <a:avLst/>
              <a:gdLst/>
              <a:ahLst/>
              <a:cxnLst/>
              <a:rect l="l" t="t" r="r" b="b"/>
              <a:pathLst>
                <a:path w="161132" h="131264">
                  <a:moveTo>
                    <a:pt x="161132" y="0"/>
                  </a:moveTo>
                  <a:lnTo>
                    <a:pt x="140990" y="27400"/>
                  </a:lnTo>
                  <a:lnTo>
                    <a:pt x="120849" y="48360"/>
                  </a:lnTo>
                  <a:lnTo>
                    <a:pt x="100707" y="60216"/>
                  </a:lnTo>
                  <a:lnTo>
                    <a:pt x="80566" y="65632"/>
                  </a:lnTo>
                  <a:lnTo>
                    <a:pt x="60424" y="71048"/>
                  </a:lnTo>
                  <a:lnTo>
                    <a:pt x="40283" y="82903"/>
                  </a:lnTo>
                  <a:lnTo>
                    <a:pt x="20141" y="103864"/>
                  </a:lnTo>
                  <a:lnTo>
                    <a:pt x="0" y="131264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12" name="Волокна матрикса в интерстиции"/>
            <p:cNvSpPr/>
            <p:nvPr/>
          </p:nvSpPr>
          <p:spPr>
            <a:xfrm>
              <a:off x="11196355" y="3440726"/>
              <a:ext cx="245082" cy="30142"/>
            </a:xfrm>
            <a:custGeom>
              <a:avLst/>
              <a:gdLst/>
              <a:ahLst/>
              <a:cxnLst/>
              <a:rect l="l" t="t" r="r" b="b"/>
              <a:pathLst>
                <a:path w="245082" h="30142">
                  <a:moveTo>
                    <a:pt x="245082" y="14123"/>
                  </a:moveTo>
                  <a:lnTo>
                    <a:pt x="214447" y="25352"/>
                  </a:lnTo>
                  <a:lnTo>
                    <a:pt x="183812" y="30142"/>
                  </a:lnTo>
                  <a:lnTo>
                    <a:pt x="153176" y="25826"/>
                  </a:lnTo>
                  <a:lnTo>
                    <a:pt x="122541" y="15071"/>
                  </a:lnTo>
                  <a:lnTo>
                    <a:pt x="91906" y="4316"/>
                  </a:lnTo>
                  <a:lnTo>
                    <a:pt x="61271" y="0"/>
                  </a:lnTo>
                  <a:lnTo>
                    <a:pt x="30636" y="4790"/>
                  </a:lnTo>
                  <a:lnTo>
                    <a:pt x="0" y="16019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13" name="Волокна матрикса в интерстиции"/>
            <p:cNvSpPr/>
            <p:nvPr/>
          </p:nvSpPr>
          <p:spPr>
            <a:xfrm>
              <a:off x="8888342" y="3848367"/>
              <a:ext cx="134811" cy="23280"/>
            </a:xfrm>
            <a:custGeom>
              <a:avLst/>
              <a:gdLst/>
              <a:ahLst/>
              <a:cxnLst/>
              <a:rect l="l" t="t" r="r" b="b"/>
              <a:pathLst>
                <a:path w="134811" h="23280">
                  <a:moveTo>
                    <a:pt x="0" y="3830"/>
                  </a:moveTo>
                  <a:lnTo>
                    <a:pt x="16852" y="16774"/>
                  </a:lnTo>
                  <a:lnTo>
                    <a:pt x="33703" y="23280"/>
                  </a:lnTo>
                  <a:lnTo>
                    <a:pt x="50554" y="20679"/>
                  </a:lnTo>
                  <a:lnTo>
                    <a:pt x="67406" y="11640"/>
                  </a:lnTo>
                  <a:lnTo>
                    <a:pt x="84257" y="2600"/>
                  </a:lnTo>
                  <a:lnTo>
                    <a:pt x="101109" y="0"/>
                  </a:lnTo>
                  <a:lnTo>
                    <a:pt x="117960" y="6505"/>
                  </a:lnTo>
                  <a:lnTo>
                    <a:pt x="134811" y="19449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14" name="Волокна матрикса в интерстиции"/>
            <p:cNvSpPr/>
            <p:nvPr/>
          </p:nvSpPr>
          <p:spPr>
            <a:xfrm>
              <a:off x="10446089" y="4433887"/>
              <a:ext cx="190124" cy="176591"/>
            </a:xfrm>
            <a:custGeom>
              <a:avLst/>
              <a:gdLst/>
              <a:ahLst/>
              <a:cxnLst/>
              <a:rect l="l" t="t" r="r" b="b"/>
              <a:pathLst>
                <a:path w="190124" h="176591">
                  <a:moveTo>
                    <a:pt x="190124" y="0"/>
                  </a:moveTo>
                  <a:lnTo>
                    <a:pt x="166358" y="33066"/>
                  </a:lnTo>
                  <a:lnTo>
                    <a:pt x="142593" y="59693"/>
                  </a:lnTo>
                  <a:lnTo>
                    <a:pt x="118828" y="77214"/>
                  </a:lnTo>
                  <a:lnTo>
                    <a:pt x="95062" y="88296"/>
                  </a:lnTo>
                  <a:lnTo>
                    <a:pt x="71297" y="99378"/>
                  </a:lnTo>
                  <a:lnTo>
                    <a:pt x="47531" y="116899"/>
                  </a:lnTo>
                  <a:lnTo>
                    <a:pt x="23766" y="143525"/>
                  </a:lnTo>
                  <a:lnTo>
                    <a:pt x="0" y="17659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15" name="Волокна матрикса в интерстиции"/>
            <p:cNvSpPr/>
            <p:nvPr/>
          </p:nvSpPr>
          <p:spPr>
            <a:xfrm>
              <a:off x="9713410" y="2028618"/>
              <a:ext cx="57088" cy="229966"/>
            </a:xfrm>
            <a:custGeom>
              <a:avLst/>
              <a:gdLst/>
              <a:ahLst/>
              <a:cxnLst/>
              <a:rect l="l" t="t" r="r" b="b"/>
              <a:pathLst>
                <a:path w="57088" h="229966">
                  <a:moveTo>
                    <a:pt x="0" y="0"/>
                  </a:moveTo>
                  <a:lnTo>
                    <a:pt x="7136" y="39737"/>
                  </a:lnTo>
                  <a:lnTo>
                    <a:pt x="14272" y="73036"/>
                  </a:lnTo>
                  <a:lnTo>
                    <a:pt x="21408" y="97229"/>
                  </a:lnTo>
                  <a:lnTo>
                    <a:pt x="28544" y="114983"/>
                  </a:lnTo>
                  <a:lnTo>
                    <a:pt x="35680" y="132737"/>
                  </a:lnTo>
                  <a:lnTo>
                    <a:pt x="42816" y="156929"/>
                  </a:lnTo>
                  <a:lnTo>
                    <a:pt x="49952" y="190228"/>
                  </a:lnTo>
                  <a:lnTo>
                    <a:pt x="57088" y="22996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16" name="Волокна матрикса в интерстиции"/>
            <p:cNvSpPr/>
            <p:nvPr/>
          </p:nvSpPr>
          <p:spPr>
            <a:xfrm>
              <a:off x="8821800" y="4077009"/>
              <a:ext cx="274457" cy="211267"/>
            </a:xfrm>
            <a:custGeom>
              <a:avLst/>
              <a:gdLst/>
              <a:ahLst/>
              <a:cxnLst/>
              <a:rect l="l" t="t" r="r" b="b"/>
              <a:pathLst>
                <a:path w="274457" h="211267">
                  <a:moveTo>
                    <a:pt x="0" y="0"/>
                  </a:moveTo>
                  <a:lnTo>
                    <a:pt x="34307" y="37400"/>
                  </a:lnTo>
                  <a:lnTo>
                    <a:pt x="68614" y="68362"/>
                  </a:lnTo>
                  <a:lnTo>
                    <a:pt x="102922" y="90217"/>
                  </a:lnTo>
                  <a:lnTo>
                    <a:pt x="137229" y="105634"/>
                  </a:lnTo>
                  <a:lnTo>
                    <a:pt x="171536" y="121050"/>
                  </a:lnTo>
                  <a:lnTo>
                    <a:pt x="205843" y="142905"/>
                  </a:lnTo>
                  <a:lnTo>
                    <a:pt x="240150" y="173867"/>
                  </a:lnTo>
                  <a:lnTo>
                    <a:pt x="274457" y="211267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17" name="Волокна матрикса в интерстиции"/>
            <p:cNvSpPr/>
            <p:nvPr/>
          </p:nvSpPr>
          <p:spPr>
            <a:xfrm>
              <a:off x="9221625" y="3453381"/>
              <a:ext cx="68308" cy="239896"/>
            </a:xfrm>
            <a:custGeom>
              <a:avLst/>
              <a:gdLst/>
              <a:ahLst/>
              <a:cxnLst/>
              <a:rect l="l" t="t" r="r" b="b"/>
              <a:pathLst>
                <a:path w="68308" h="239896">
                  <a:moveTo>
                    <a:pt x="0" y="0"/>
                  </a:moveTo>
                  <a:lnTo>
                    <a:pt x="8538" y="40979"/>
                  </a:lnTo>
                  <a:lnTo>
                    <a:pt x="17077" y="75519"/>
                  </a:lnTo>
                  <a:lnTo>
                    <a:pt x="25615" y="100953"/>
                  </a:lnTo>
                  <a:lnTo>
                    <a:pt x="34154" y="119948"/>
                  </a:lnTo>
                  <a:lnTo>
                    <a:pt x="42692" y="138943"/>
                  </a:lnTo>
                  <a:lnTo>
                    <a:pt x="51231" y="164377"/>
                  </a:lnTo>
                  <a:lnTo>
                    <a:pt x="59769" y="198917"/>
                  </a:lnTo>
                  <a:lnTo>
                    <a:pt x="68308" y="23989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18" name="Волокна матрикса в интерстиции"/>
            <p:cNvSpPr/>
            <p:nvPr/>
          </p:nvSpPr>
          <p:spPr>
            <a:xfrm>
              <a:off x="9711032" y="2090631"/>
              <a:ext cx="175521" cy="62111"/>
            </a:xfrm>
            <a:custGeom>
              <a:avLst/>
              <a:gdLst/>
              <a:ahLst/>
              <a:cxnLst/>
              <a:rect l="l" t="t" r="r" b="b"/>
              <a:pathLst>
                <a:path w="175521" h="62111">
                  <a:moveTo>
                    <a:pt x="175521" y="0"/>
                  </a:moveTo>
                  <a:lnTo>
                    <a:pt x="153581" y="18756"/>
                  </a:lnTo>
                  <a:lnTo>
                    <a:pt x="131641" y="31072"/>
                  </a:lnTo>
                  <a:lnTo>
                    <a:pt x="109701" y="34283"/>
                  </a:lnTo>
                  <a:lnTo>
                    <a:pt x="87761" y="31055"/>
                  </a:lnTo>
                  <a:lnTo>
                    <a:pt x="65820" y="27828"/>
                  </a:lnTo>
                  <a:lnTo>
                    <a:pt x="43880" y="31038"/>
                  </a:lnTo>
                  <a:lnTo>
                    <a:pt x="21940" y="43355"/>
                  </a:lnTo>
                  <a:lnTo>
                    <a:pt x="0" y="62111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19" name="Волокна матрикса в интерстиции"/>
            <p:cNvSpPr/>
            <p:nvPr/>
          </p:nvSpPr>
          <p:spPr>
            <a:xfrm>
              <a:off x="8340420" y="2457308"/>
              <a:ext cx="185700" cy="21804"/>
            </a:xfrm>
            <a:custGeom>
              <a:avLst/>
              <a:gdLst/>
              <a:ahLst/>
              <a:cxnLst/>
              <a:rect l="l" t="t" r="r" b="b"/>
              <a:pathLst>
                <a:path w="185700" h="21804">
                  <a:moveTo>
                    <a:pt x="185700" y="1616"/>
                  </a:moveTo>
                  <a:lnTo>
                    <a:pt x="162487" y="14929"/>
                  </a:lnTo>
                  <a:lnTo>
                    <a:pt x="139275" y="21804"/>
                  </a:lnTo>
                  <a:lnTo>
                    <a:pt x="116062" y="19572"/>
                  </a:lnTo>
                  <a:lnTo>
                    <a:pt x="92850" y="10902"/>
                  </a:lnTo>
                  <a:lnTo>
                    <a:pt x="69638" y="2231"/>
                  </a:lnTo>
                  <a:lnTo>
                    <a:pt x="46425" y="0"/>
                  </a:lnTo>
                  <a:lnTo>
                    <a:pt x="23213" y="6874"/>
                  </a:lnTo>
                  <a:lnTo>
                    <a:pt x="0" y="20187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20" name="Волокна матрикса в интерстиции"/>
            <p:cNvSpPr/>
            <p:nvPr/>
          </p:nvSpPr>
          <p:spPr>
            <a:xfrm>
              <a:off x="11231034" y="3489831"/>
              <a:ext cx="41854" cy="246694"/>
            </a:xfrm>
            <a:custGeom>
              <a:avLst/>
              <a:gdLst/>
              <a:ahLst/>
              <a:cxnLst/>
              <a:rect l="l" t="t" r="r" b="b"/>
              <a:pathLst>
                <a:path w="41854" h="246694">
                  <a:moveTo>
                    <a:pt x="0" y="0"/>
                  </a:moveTo>
                  <a:lnTo>
                    <a:pt x="5232" y="41828"/>
                  </a:lnTo>
                  <a:lnTo>
                    <a:pt x="10463" y="77218"/>
                  </a:lnTo>
                  <a:lnTo>
                    <a:pt x="15695" y="103502"/>
                  </a:lnTo>
                  <a:lnTo>
                    <a:pt x="20927" y="123347"/>
                  </a:lnTo>
                  <a:lnTo>
                    <a:pt x="26159" y="143192"/>
                  </a:lnTo>
                  <a:lnTo>
                    <a:pt x="31390" y="169476"/>
                  </a:lnTo>
                  <a:lnTo>
                    <a:pt x="36622" y="204865"/>
                  </a:lnTo>
                  <a:lnTo>
                    <a:pt x="41854" y="246694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21" name="Волокна матрикса в интерстиции"/>
            <p:cNvSpPr/>
            <p:nvPr/>
          </p:nvSpPr>
          <p:spPr>
            <a:xfrm>
              <a:off x="8491167" y="3338066"/>
              <a:ext cx="108132" cy="135890"/>
            </a:xfrm>
            <a:custGeom>
              <a:avLst/>
              <a:gdLst/>
              <a:ahLst/>
              <a:cxnLst/>
              <a:rect l="l" t="t" r="r" b="b"/>
              <a:pathLst>
                <a:path w="108132" h="135890">
                  <a:moveTo>
                    <a:pt x="108132" y="0"/>
                  </a:moveTo>
                  <a:lnTo>
                    <a:pt x="94616" y="27978"/>
                  </a:lnTo>
                  <a:lnTo>
                    <a:pt x="81099" y="49517"/>
                  </a:lnTo>
                  <a:lnTo>
                    <a:pt x="67583" y="61951"/>
                  </a:lnTo>
                  <a:lnTo>
                    <a:pt x="54066" y="67945"/>
                  </a:lnTo>
                  <a:lnTo>
                    <a:pt x="40550" y="73939"/>
                  </a:lnTo>
                  <a:lnTo>
                    <a:pt x="27033" y="86373"/>
                  </a:lnTo>
                  <a:lnTo>
                    <a:pt x="13517" y="107912"/>
                  </a:lnTo>
                  <a:lnTo>
                    <a:pt x="0" y="135890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22" name="Волокна матрикса в интерстиции"/>
            <p:cNvSpPr/>
            <p:nvPr/>
          </p:nvSpPr>
          <p:spPr>
            <a:xfrm>
              <a:off x="10459466" y="3608428"/>
              <a:ext cx="28380" cy="120528"/>
            </a:xfrm>
            <a:custGeom>
              <a:avLst/>
              <a:gdLst/>
              <a:ahLst/>
              <a:cxnLst/>
              <a:rect l="l" t="t" r="r" b="b"/>
              <a:pathLst>
                <a:path w="28380" h="120528">
                  <a:moveTo>
                    <a:pt x="0" y="0"/>
                  </a:moveTo>
                  <a:lnTo>
                    <a:pt x="3548" y="26058"/>
                  </a:lnTo>
                  <a:lnTo>
                    <a:pt x="7095" y="45677"/>
                  </a:lnTo>
                  <a:lnTo>
                    <a:pt x="10643" y="56190"/>
                  </a:lnTo>
                  <a:lnTo>
                    <a:pt x="14190" y="60264"/>
                  </a:lnTo>
                  <a:lnTo>
                    <a:pt x="17737" y="64338"/>
                  </a:lnTo>
                  <a:lnTo>
                    <a:pt x="21285" y="74851"/>
                  </a:lnTo>
                  <a:lnTo>
                    <a:pt x="24832" y="94470"/>
                  </a:lnTo>
                  <a:lnTo>
                    <a:pt x="28380" y="120528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23" name="Волокна матрикса в интерстиции"/>
            <p:cNvSpPr/>
            <p:nvPr/>
          </p:nvSpPr>
          <p:spPr>
            <a:xfrm>
              <a:off x="9235528" y="3471427"/>
              <a:ext cx="154821" cy="28681"/>
            </a:xfrm>
            <a:custGeom>
              <a:avLst/>
              <a:gdLst/>
              <a:ahLst/>
              <a:cxnLst/>
              <a:rect l="l" t="t" r="r" b="b"/>
              <a:pathLst>
                <a:path w="154821" h="28681">
                  <a:moveTo>
                    <a:pt x="0" y="0"/>
                  </a:moveTo>
                  <a:lnTo>
                    <a:pt x="19353" y="14577"/>
                  </a:lnTo>
                  <a:lnTo>
                    <a:pt x="38705" y="22715"/>
                  </a:lnTo>
                  <a:lnTo>
                    <a:pt x="58058" y="21747"/>
                  </a:lnTo>
                  <a:lnTo>
                    <a:pt x="77410" y="14341"/>
                  </a:lnTo>
                  <a:lnTo>
                    <a:pt x="96763" y="6934"/>
                  </a:lnTo>
                  <a:lnTo>
                    <a:pt x="116115" y="5966"/>
                  </a:lnTo>
                  <a:lnTo>
                    <a:pt x="135468" y="14104"/>
                  </a:lnTo>
                  <a:lnTo>
                    <a:pt x="154821" y="2868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24" name="Волокна матрикса в интерстиции"/>
            <p:cNvSpPr/>
            <p:nvPr/>
          </p:nvSpPr>
          <p:spPr>
            <a:xfrm>
              <a:off x="9387347" y="3449241"/>
              <a:ext cx="32285" cy="179512"/>
            </a:xfrm>
            <a:custGeom>
              <a:avLst/>
              <a:gdLst/>
              <a:ahLst/>
              <a:cxnLst/>
              <a:rect l="l" t="t" r="r" b="b"/>
              <a:pathLst>
                <a:path w="32285" h="179512">
                  <a:moveTo>
                    <a:pt x="32285" y="0"/>
                  </a:moveTo>
                  <a:lnTo>
                    <a:pt x="28249" y="33431"/>
                  </a:lnTo>
                  <a:lnTo>
                    <a:pt x="24214" y="60423"/>
                  </a:lnTo>
                  <a:lnTo>
                    <a:pt x="20178" y="78309"/>
                  </a:lnTo>
                  <a:lnTo>
                    <a:pt x="16142" y="89756"/>
                  </a:lnTo>
                  <a:lnTo>
                    <a:pt x="12107" y="101203"/>
                  </a:lnTo>
                  <a:lnTo>
                    <a:pt x="8071" y="119089"/>
                  </a:lnTo>
                  <a:lnTo>
                    <a:pt x="4036" y="146081"/>
                  </a:lnTo>
                  <a:lnTo>
                    <a:pt x="0" y="179512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25" name="Волокна матрикса в интерстиции"/>
            <p:cNvSpPr/>
            <p:nvPr/>
          </p:nvSpPr>
          <p:spPr>
            <a:xfrm>
              <a:off x="8489895" y="3785750"/>
              <a:ext cx="178675" cy="35616"/>
            </a:xfrm>
            <a:custGeom>
              <a:avLst/>
              <a:gdLst/>
              <a:ahLst/>
              <a:cxnLst/>
              <a:rect l="l" t="t" r="r" b="b"/>
              <a:pathLst>
                <a:path w="178675" h="35616">
                  <a:moveTo>
                    <a:pt x="178675" y="0"/>
                  </a:moveTo>
                  <a:lnTo>
                    <a:pt x="156341" y="15443"/>
                  </a:lnTo>
                  <a:lnTo>
                    <a:pt x="134006" y="24448"/>
                  </a:lnTo>
                  <a:lnTo>
                    <a:pt x="111672" y="24347"/>
                  </a:lnTo>
                  <a:lnTo>
                    <a:pt x="89337" y="17808"/>
                  </a:lnTo>
                  <a:lnTo>
                    <a:pt x="67003" y="11268"/>
                  </a:lnTo>
                  <a:lnTo>
                    <a:pt x="44669" y="11167"/>
                  </a:lnTo>
                  <a:lnTo>
                    <a:pt x="22334" y="20172"/>
                  </a:lnTo>
                  <a:lnTo>
                    <a:pt x="0" y="3561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26" name="Волокна матрикса в интерстиции"/>
            <p:cNvSpPr/>
            <p:nvPr/>
          </p:nvSpPr>
          <p:spPr>
            <a:xfrm>
              <a:off x="9731308" y="2960512"/>
              <a:ext cx="186513" cy="29130"/>
            </a:xfrm>
            <a:custGeom>
              <a:avLst/>
              <a:gdLst/>
              <a:ahLst/>
              <a:cxnLst/>
              <a:rect l="l" t="t" r="r" b="b"/>
              <a:pathLst>
                <a:path w="186513" h="29130">
                  <a:moveTo>
                    <a:pt x="0" y="12605"/>
                  </a:moveTo>
                  <a:lnTo>
                    <a:pt x="23314" y="24087"/>
                  </a:lnTo>
                  <a:lnTo>
                    <a:pt x="46628" y="29130"/>
                  </a:lnTo>
                  <a:lnTo>
                    <a:pt x="69942" y="25067"/>
                  </a:lnTo>
                  <a:lnTo>
                    <a:pt x="93256" y="14565"/>
                  </a:lnTo>
                  <a:lnTo>
                    <a:pt x="116571" y="4063"/>
                  </a:lnTo>
                  <a:lnTo>
                    <a:pt x="139885" y="0"/>
                  </a:lnTo>
                  <a:lnTo>
                    <a:pt x="163199" y="5043"/>
                  </a:lnTo>
                  <a:lnTo>
                    <a:pt x="186513" y="16525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27" name="Волокна матрикса в интерстиции"/>
            <p:cNvSpPr/>
            <p:nvPr/>
          </p:nvSpPr>
          <p:spPr>
            <a:xfrm>
              <a:off x="10602072" y="4089220"/>
              <a:ext cx="191781" cy="112256"/>
            </a:xfrm>
            <a:custGeom>
              <a:avLst/>
              <a:gdLst/>
              <a:ahLst/>
              <a:cxnLst/>
              <a:rect l="l" t="t" r="r" b="b"/>
              <a:pathLst>
                <a:path w="191781" h="112256">
                  <a:moveTo>
                    <a:pt x="191781" y="0"/>
                  </a:moveTo>
                  <a:lnTo>
                    <a:pt x="167808" y="25024"/>
                  </a:lnTo>
                  <a:lnTo>
                    <a:pt x="143836" y="43609"/>
                  </a:lnTo>
                  <a:lnTo>
                    <a:pt x="119863" y="53088"/>
                  </a:lnTo>
                  <a:lnTo>
                    <a:pt x="95890" y="56128"/>
                  </a:lnTo>
                  <a:lnTo>
                    <a:pt x="71918" y="59168"/>
                  </a:lnTo>
                  <a:lnTo>
                    <a:pt x="47945" y="68647"/>
                  </a:lnTo>
                  <a:lnTo>
                    <a:pt x="23972" y="87232"/>
                  </a:lnTo>
                  <a:lnTo>
                    <a:pt x="0" y="112256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28" name="Волокна матрикса в интерстиции"/>
            <p:cNvSpPr/>
            <p:nvPr/>
          </p:nvSpPr>
          <p:spPr>
            <a:xfrm>
              <a:off x="8570408" y="3147373"/>
              <a:ext cx="214500" cy="27276"/>
            </a:xfrm>
            <a:custGeom>
              <a:avLst/>
              <a:gdLst/>
              <a:ahLst/>
              <a:cxnLst/>
              <a:rect l="l" t="t" r="r" b="b"/>
              <a:pathLst>
                <a:path w="214500" h="27276">
                  <a:moveTo>
                    <a:pt x="0" y="0"/>
                  </a:moveTo>
                  <a:lnTo>
                    <a:pt x="26812" y="14402"/>
                  </a:lnTo>
                  <a:lnTo>
                    <a:pt x="53625" y="22364"/>
                  </a:lnTo>
                  <a:lnTo>
                    <a:pt x="80437" y="21221"/>
                  </a:lnTo>
                  <a:lnTo>
                    <a:pt x="107250" y="13638"/>
                  </a:lnTo>
                  <a:lnTo>
                    <a:pt x="134063" y="6056"/>
                  </a:lnTo>
                  <a:lnTo>
                    <a:pt x="160875" y="4912"/>
                  </a:lnTo>
                  <a:lnTo>
                    <a:pt x="187688" y="12875"/>
                  </a:lnTo>
                  <a:lnTo>
                    <a:pt x="214500" y="27276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29" name="Волокна матрикса в интерстиции"/>
            <p:cNvSpPr/>
            <p:nvPr/>
          </p:nvSpPr>
          <p:spPr>
            <a:xfrm>
              <a:off x="9105322" y="3364553"/>
              <a:ext cx="107506" cy="142143"/>
            </a:xfrm>
            <a:custGeom>
              <a:avLst/>
              <a:gdLst/>
              <a:ahLst/>
              <a:cxnLst/>
              <a:rect l="l" t="t" r="r" b="b"/>
              <a:pathLst>
                <a:path w="107506" h="142143">
                  <a:moveTo>
                    <a:pt x="107506" y="0"/>
                  </a:moveTo>
                  <a:lnTo>
                    <a:pt x="94068" y="28760"/>
                  </a:lnTo>
                  <a:lnTo>
                    <a:pt x="80630" y="51080"/>
                  </a:lnTo>
                  <a:lnTo>
                    <a:pt x="67192" y="64295"/>
                  </a:lnTo>
                  <a:lnTo>
                    <a:pt x="53753" y="71072"/>
                  </a:lnTo>
                  <a:lnTo>
                    <a:pt x="40315" y="77848"/>
                  </a:lnTo>
                  <a:lnTo>
                    <a:pt x="26877" y="91063"/>
                  </a:lnTo>
                  <a:lnTo>
                    <a:pt x="13439" y="113383"/>
                  </a:lnTo>
                  <a:lnTo>
                    <a:pt x="0" y="142143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30" name="Волокна матрикса в интерстиции"/>
            <p:cNvSpPr/>
            <p:nvPr/>
          </p:nvSpPr>
          <p:spPr>
            <a:xfrm>
              <a:off x="10607658" y="3883987"/>
              <a:ext cx="107710" cy="140841"/>
            </a:xfrm>
            <a:custGeom>
              <a:avLst/>
              <a:gdLst/>
              <a:ahLst/>
              <a:cxnLst/>
              <a:rect l="l" t="t" r="r" b="b"/>
              <a:pathLst>
                <a:path w="107710" h="140841">
                  <a:moveTo>
                    <a:pt x="107710" y="0"/>
                  </a:moveTo>
                  <a:lnTo>
                    <a:pt x="94246" y="28597"/>
                  </a:lnTo>
                  <a:lnTo>
                    <a:pt x="80782" y="50755"/>
                  </a:lnTo>
                  <a:lnTo>
                    <a:pt x="67318" y="63807"/>
                  </a:lnTo>
                  <a:lnTo>
                    <a:pt x="53855" y="70420"/>
                  </a:lnTo>
                  <a:lnTo>
                    <a:pt x="40391" y="77033"/>
                  </a:lnTo>
                  <a:lnTo>
                    <a:pt x="26927" y="90086"/>
                  </a:lnTo>
                  <a:lnTo>
                    <a:pt x="13464" y="112244"/>
                  </a:lnTo>
                  <a:lnTo>
                    <a:pt x="0" y="14084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31" name="Волокна матрикса в интерстиции"/>
            <p:cNvSpPr/>
            <p:nvPr/>
          </p:nvSpPr>
          <p:spPr>
            <a:xfrm>
              <a:off x="10535995" y="2264757"/>
              <a:ext cx="288892" cy="123356"/>
            </a:xfrm>
            <a:custGeom>
              <a:avLst/>
              <a:gdLst/>
              <a:ahLst/>
              <a:cxnLst/>
              <a:rect l="l" t="t" r="r" b="b"/>
              <a:pathLst>
                <a:path w="288892" h="123356">
                  <a:moveTo>
                    <a:pt x="0" y="0"/>
                  </a:moveTo>
                  <a:lnTo>
                    <a:pt x="36112" y="26412"/>
                  </a:lnTo>
                  <a:lnTo>
                    <a:pt x="72223" y="46384"/>
                  </a:lnTo>
                  <a:lnTo>
                    <a:pt x="108334" y="57251"/>
                  </a:lnTo>
                  <a:lnTo>
                    <a:pt x="144446" y="61678"/>
                  </a:lnTo>
                  <a:lnTo>
                    <a:pt x="180557" y="66106"/>
                  </a:lnTo>
                  <a:lnTo>
                    <a:pt x="216669" y="76972"/>
                  </a:lnTo>
                  <a:lnTo>
                    <a:pt x="252780" y="96945"/>
                  </a:lnTo>
                  <a:lnTo>
                    <a:pt x="288892" y="123356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32" name="Волокна матрикса в интерстиции"/>
            <p:cNvSpPr/>
            <p:nvPr/>
          </p:nvSpPr>
          <p:spPr>
            <a:xfrm>
              <a:off x="10508812" y="3787039"/>
              <a:ext cx="106421" cy="116411"/>
            </a:xfrm>
            <a:custGeom>
              <a:avLst/>
              <a:gdLst/>
              <a:ahLst/>
              <a:cxnLst/>
              <a:rect l="l" t="t" r="r" b="b"/>
              <a:pathLst>
                <a:path w="106421" h="116411">
                  <a:moveTo>
                    <a:pt x="0" y="0"/>
                  </a:moveTo>
                  <a:lnTo>
                    <a:pt x="13303" y="25543"/>
                  </a:lnTo>
                  <a:lnTo>
                    <a:pt x="26606" y="44647"/>
                  </a:lnTo>
                  <a:lnTo>
                    <a:pt x="39908" y="54646"/>
                  </a:lnTo>
                  <a:lnTo>
                    <a:pt x="53211" y="58205"/>
                  </a:lnTo>
                  <a:lnTo>
                    <a:pt x="66513" y="61765"/>
                  </a:lnTo>
                  <a:lnTo>
                    <a:pt x="79816" y="71763"/>
                  </a:lnTo>
                  <a:lnTo>
                    <a:pt x="93118" y="90868"/>
                  </a:lnTo>
                  <a:lnTo>
                    <a:pt x="106421" y="116411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33" name="Волокна матрикса в интерстиции"/>
            <p:cNvSpPr/>
            <p:nvPr/>
          </p:nvSpPr>
          <p:spPr>
            <a:xfrm>
              <a:off x="10288067" y="2231085"/>
              <a:ext cx="97312" cy="90412"/>
            </a:xfrm>
            <a:custGeom>
              <a:avLst/>
              <a:gdLst/>
              <a:ahLst/>
              <a:cxnLst/>
              <a:rect l="l" t="t" r="r" b="b"/>
              <a:pathLst>
                <a:path w="97312" h="90412">
                  <a:moveTo>
                    <a:pt x="0" y="0"/>
                  </a:moveTo>
                  <a:lnTo>
                    <a:pt x="12164" y="22294"/>
                  </a:lnTo>
                  <a:lnTo>
                    <a:pt x="24328" y="38148"/>
                  </a:lnTo>
                  <a:lnTo>
                    <a:pt x="36492" y="44896"/>
                  </a:lnTo>
                  <a:lnTo>
                    <a:pt x="48656" y="45206"/>
                  </a:lnTo>
                  <a:lnTo>
                    <a:pt x="60820" y="45516"/>
                  </a:lnTo>
                  <a:lnTo>
                    <a:pt x="72984" y="52264"/>
                  </a:lnTo>
                  <a:lnTo>
                    <a:pt x="85148" y="68119"/>
                  </a:lnTo>
                  <a:lnTo>
                    <a:pt x="97312" y="90412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34" name="Волокна матрикса в интерстиции"/>
            <p:cNvSpPr/>
            <p:nvPr/>
          </p:nvSpPr>
          <p:spPr>
            <a:xfrm>
              <a:off x="9603794" y="3005748"/>
              <a:ext cx="213905" cy="191039"/>
            </a:xfrm>
            <a:custGeom>
              <a:avLst/>
              <a:gdLst/>
              <a:ahLst/>
              <a:cxnLst/>
              <a:rect l="l" t="t" r="r" b="b"/>
              <a:pathLst>
                <a:path w="213905" h="191039">
                  <a:moveTo>
                    <a:pt x="0" y="0"/>
                  </a:moveTo>
                  <a:lnTo>
                    <a:pt x="26738" y="34872"/>
                  </a:lnTo>
                  <a:lnTo>
                    <a:pt x="53476" y="63305"/>
                  </a:lnTo>
                  <a:lnTo>
                    <a:pt x="80214" y="82632"/>
                  </a:lnTo>
                  <a:lnTo>
                    <a:pt x="106953" y="95520"/>
                  </a:lnTo>
                  <a:lnTo>
                    <a:pt x="133691" y="108408"/>
                  </a:lnTo>
                  <a:lnTo>
                    <a:pt x="160429" y="127735"/>
                  </a:lnTo>
                  <a:lnTo>
                    <a:pt x="187167" y="156167"/>
                  </a:lnTo>
                  <a:lnTo>
                    <a:pt x="213905" y="191039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35" name="Волокна матрикса в интерстиции"/>
            <p:cNvSpPr/>
            <p:nvPr/>
          </p:nvSpPr>
          <p:spPr>
            <a:xfrm>
              <a:off x="8872959" y="3919132"/>
              <a:ext cx="120520" cy="25985"/>
            </a:xfrm>
            <a:custGeom>
              <a:avLst/>
              <a:gdLst/>
              <a:ahLst/>
              <a:cxnLst/>
              <a:rect l="l" t="t" r="r" b="b"/>
              <a:pathLst>
                <a:path w="120520" h="25985">
                  <a:moveTo>
                    <a:pt x="120520" y="7887"/>
                  </a:moveTo>
                  <a:lnTo>
                    <a:pt x="105455" y="20155"/>
                  </a:lnTo>
                  <a:lnTo>
                    <a:pt x="90390" y="25985"/>
                  </a:lnTo>
                  <a:lnTo>
                    <a:pt x="75325" y="22708"/>
                  </a:lnTo>
                  <a:lnTo>
                    <a:pt x="60260" y="12992"/>
                  </a:lnTo>
                  <a:lnTo>
                    <a:pt x="45195" y="3277"/>
                  </a:lnTo>
                  <a:lnTo>
                    <a:pt x="30130" y="0"/>
                  </a:lnTo>
                  <a:lnTo>
                    <a:pt x="15065" y="5830"/>
                  </a:lnTo>
                  <a:lnTo>
                    <a:pt x="0" y="18098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36" name="Волокна матрикса в интерстиции"/>
            <p:cNvSpPr/>
            <p:nvPr/>
          </p:nvSpPr>
          <p:spPr>
            <a:xfrm>
              <a:off x="9992577" y="3429360"/>
              <a:ext cx="57326" cy="128716"/>
            </a:xfrm>
            <a:custGeom>
              <a:avLst/>
              <a:gdLst/>
              <a:ahLst/>
              <a:cxnLst/>
              <a:rect l="l" t="t" r="r" b="b"/>
              <a:pathLst>
                <a:path w="57326" h="128716">
                  <a:moveTo>
                    <a:pt x="57326" y="0"/>
                  </a:moveTo>
                  <a:lnTo>
                    <a:pt x="50160" y="27081"/>
                  </a:lnTo>
                  <a:lnTo>
                    <a:pt x="42994" y="47724"/>
                  </a:lnTo>
                  <a:lnTo>
                    <a:pt x="35829" y="59260"/>
                  </a:lnTo>
                  <a:lnTo>
                    <a:pt x="28663" y="64358"/>
                  </a:lnTo>
                  <a:lnTo>
                    <a:pt x="21497" y="69456"/>
                  </a:lnTo>
                  <a:lnTo>
                    <a:pt x="14331" y="80992"/>
                  </a:lnTo>
                  <a:lnTo>
                    <a:pt x="7165" y="101635"/>
                  </a:lnTo>
                  <a:lnTo>
                    <a:pt x="0" y="12871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37" name="Волокна матрикса в интерстиции"/>
            <p:cNvSpPr/>
            <p:nvPr/>
          </p:nvSpPr>
          <p:spPr>
            <a:xfrm>
              <a:off x="9710624" y="3022391"/>
              <a:ext cx="127173" cy="121051"/>
            </a:xfrm>
            <a:custGeom>
              <a:avLst/>
              <a:gdLst/>
              <a:ahLst/>
              <a:cxnLst/>
              <a:rect l="l" t="t" r="r" b="b"/>
              <a:pathLst>
                <a:path w="127173" h="121051">
                  <a:moveTo>
                    <a:pt x="0" y="0"/>
                  </a:moveTo>
                  <a:lnTo>
                    <a:pt x="15896" y="26124"/>
                  </a:lnTo>
                  <a:lnTo>
                    <a:pt x="31793" y="45808"/>
                  </a:lnTo>
                  <a:lnTo>
                    <a:pt x="47690" y="56386"/>
                  </a:lnTo>
                  <a:lnTo>
                    <a:pt x="63586" y="60526"/>
                  </a:lnTo>
                  <a:lnTo>
                    <a:pt x="79483" y="64665"/>
                  </a:lnTo>
                  <a:lnTo>
                    <a:pt x="95380" y="75243"/>
                  </a:lnTo>
                  <a:lnTo>
                    <a:pt x="111276" y="94928"/>
                  </a:lnTo>
                  <a:lnTo>
                    <a:pt x="127173" y="12105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38" name="Волокна матрикса в интерстиции"/>
            <p:cNvSpPr/>
            <p:nvPr/>
          </p:nvSpPr>
          <p:spPr>
            <a:xfrm>
              <a:off x="10197097" y="4343323"/>
              <a:ext cx="122231" cy="127999"/>
            </a:xfrm>
            <a:custGeom>
              <a:avLst/>
              <a:gdLst/>
              <a:ahLst/>
              <a:cxnLst/>
              <a:rect l="l" t="t" r="r" b="b"/>
              <a:pathLst>
                <a:path w="122231" h="127999">
                  <a:moveTo>
                    <a:pt x="122231" y="0"/>
                  </a:moveTo>
                  <a:lnTo>
                    <a:pt x="106952" y="26992"/>
                  </a:lnTo>
                  <a:lnTo>
                    <a:pt x="91673" y="47544"/>
                  </a:lnTo>
                  <a:lnTo>
                    <a:pt x="76394" y="58991"/>
                  </a:lnTo>
                  <a:lnTo>
                    <a:pt x="61115" y="64000"/>
                  </a:lnTo>
                  <a:lnTo>
                    <a:pt x="45836" y="69008"/>
                  </a:lnTo>
                  <a:lnTo>
                    <a:pt x="30558" y="80455"/>
                  </a:lnTo>
                  <a:lnTo>
                    <a:pt x="15279" y="101007"/>
                  </a:lnTo>
                  <a:lnTo>
                    <a:pt x="0" y="127999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39" name="Волокна матрикса в интерстиции"/>
            <p:cNvSpPr/>
            <p:nvPr/>
          </p:nvSpPr>
          <p:spPr>
            <a:xfrm>
              <a:off x="8535066" y="3615113"/>
              <a:ext cx="23506" cy="109215"/>
            </a:xfrm>
            <a:custGeom>
              <a:avLst/>
              <a:gdLst/>
              <a:ahLst/>
              <a:cxnLst/>
              <a:rect l="l" t="t" r="r" b="b"/>
              <a:pathLst>
                <a:path w="23506" h="109215">
                  <a:moveTo>
                    <a:pt x="23506" y="0"/>
                  </a:moveTo>
                  <a:lnTo>
                    <a:pt x="20568" y="24644"/>
                  </a:lnTo>
                  <a:lnTo>
                    <a:pt x="17629" y="42849"/>
                  </a:lnTo>
                  <a:lnTo>
                    <a:pt x="14691" y="51948"/>
                  </a:lnTo>
                  <a:lnTo>
                    <a:pt x="11753" y="54608"/>
                  </a:lnTo>
                  <a:lnTo>
                    <a:pt x="8815" y="57268"/>
                  </a:lnTo>
                  <a:lnTo>
                    <a:pt x="5877" y="66366"/>
                  </a:lnTo>
                  <a:lnTo>
                    <a:pt x="2938" y="84571"/>
                  </a:lnTo>
                  <a:lnTo>
                    <a:pt x="0" y="109215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40" name="Волокна матрикса в интерстиции"/>
            <p:cNvSpPr/>
            <p:nvPr/>
          </p:nvSpPr>
          <p:spPr>
            <a:xfrm>
              <a:off x="9935425" y="3089436"/>
              <a:ext cx="30777" cy="142162"/>
            </a:xfrm>
            <a:custGeom>
              <a:avLst/>
              <a:gdLst/>
              <a:ahLst/>
              <a:cxnLst/>
              <a:rect l="l" t="t" r="r" b="b"/>
              <a:pathLst>
                <a:path w="30777" h="142162">
                  <a:moveTo>
                    <a:pt x="0" y="0"/>
                  </a:moveTo>
                  <a:lnTo>
                    <a:pt x="3847" y="28762"/>
                  </a:lnTo>
                  <a:lnTo>
                    <a:pt x="7694" y="51086"/>
                  </a:lnTo>
                  <a:lnTo>
                    <a:pt x="11541" y="64303"/>
                  </a:lnTo>
                  <a:lnTo>
                    <a:pt x="15388" y="71081"/>
                  </a:lnTo>
                  <a:lnTo>
                    <a:pt x="19236" y="77860"/>
                  </a:lnTo>
                  <a:lnTo>
                    <a:pt x="23083" y="91077"/>
                  </a:lnTo>
                  <a:lnTo>
                    <a:pt x="26930" y="113400"/>
                  </a:lnTo>
                  <a:lnTo>
                    <a:pt x="30777" y="142162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41" name="Волокна матрикса в интерстиции"/>
            <p:cNvSpPr/>
            <p:nvPr/>
          </p:nvSpPr>
          <p:spPr>
            <a:xfrm>
              <a:off x="10644577" y="2320275"/>
              <a:ext cx="240423" cy="126680"/>
            </a:xfrm>
            <a:custGeom>
              <a:avLst/>
              <a:gdLst/>
              <a:ahLst/>
              <a:cxnLst/>
              <a:rect l="l" t="t" r="r" b="b"/>
              <a:pathLst>
                <a:path w="240423" h="126680">
                  <a:moveTo>
                    <a:pt x="0" y="0"/>
                  </a:moveTo>
                  <a:lnTo>
                    <a:pt x="30053" y="26827"/>
                  </a:lnTo>
                  <a:lnTo>
                    <a:pt x="60106" y="47215"/>
                  </a:lnTo>
                  <a:lnTo>
                    <a:pt x="90159" y="58497"/>
                  </a:lnTo>
                  <a:lnTo>
                    <a:pt x="120212" y="63340"/>
                  </a:lnTo>
                  <a:lnTo>
                    <a:pt x="150264" y="68183"/>
                  </a:lnTo>
                  <a:lnTo>
                    <a:pt x="180317" y="79465"/>
                  </a:lnTo>
                  <a:lnTo>
                    <a:pt x="210370" y="99853"/>
                  </a:lnTo>
                  <a:lnTo>
                    <a:pt x="240423" y="126680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42" name="Волокна матрикса в интерстиции"/>
            <p:cNvSpPr/>
            <p:nvPr/>
          </p:nvSpPr>
          <p:spPr>
            <a:xfrm>
              <a:off x="8346873" y="3654299"/>
              <a:ext cx="240119" cy="123642"/>
            </a:xfrm>
            <a:custGeom>
              <a:avLst/>
              <a:gdLst/>
              <a:ahLst/>
              <a:cxnLst/>
              <a:rect l="l" t="t" r="r" b="b"/>
              <a:pathLst>
                <a:path w="240119" h="123642">
                  <a:moveTo>
                    <a:pt x="0" y="0"/>
                  </a:moveTo>
                  <a:lnTo>
                    <a:pt x="30015" y="26447"/>
                  </a:lnTo>
                  <a:lnTo>
                    <a:pt x="60030" y="46455"/>
                  </a:lnTo>
                  <a:lnTo>
                    <a:pt x="90044" y="57358"/>
                  </a:lnTo>
                  <a:lnTo>
                    <a:pt x="120059" y="61821"/>
                  </a:lnTo>
                  <a:lnTo>
                    <a:pt x="150074" y="66285"/>
                  </a:lnTo>
                  <a:lnTo>
                    <a:pt x="180089" y="77187"/>
                  </a:lnTo>
                  <a:lnTo>
                    <a:pt x="210104" y="97195"/>
                  </a:lnTo>
                  <a:lnTo>
                    <a:pt x="240119" y="123642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43" name="Волокна матрикса в интерстиции"/>
            <p:cNvSpPr/>
            <p:nvPr/>
          </p:nvSpPr>
          <p:spPr>
            <a:xfrm>
              <a:off x="8886485" y="3699959"/>
              <a:ext cx="233398" cy="87161"/>
            </a:xfrm>
            <a:custGeom>
              <a:avLst/>
              <a:gdLst/>
              <a:ahLst/>
              <a:cxnLst/>
              <a:rect l="l" t="t" r="r" b="b"/>
              <a:pathLst>
                <a:path w="233398" h="87161">
                  <a:moveTo>
                    <a:pt x="233398" y="0"/>
                  </a:moveTo>
                  <a:lnTo>
                    <a:pt x="204223" y="21887"/>
                  </a:lnTo>
                  <a:lnTo>
                    <a:pt x="175048" y="37335"/>
                  </a:lnTo>
                  <a:lnTo>
                    <a:pt x="145874" y="43677"/>
                  </a:lnTo>
                  <a:lnTo>
                    <a:pt x="116699" y="43580"/>
                  </a:lnTo>
                  <a:lnTo>
                    <a:pt x="87524" y="43484"/>
                  </a:lnTo>
                  <a:lnTo>
                    <a:pt x="58349" y="49826"/>
                  </a:lnTo>
                  <a:lnTo>
                    <a:pt x="29175" y="65274"/>
                  </a:lnTo>
                  <a:lnTo>
                    <a:pt x="0" y="8716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44" name="Волокна матрикса в интерстиции"/>
            <p:cNvSpPr/>
            <p:nvPr/>
          </p:nvSpPr>
          <p:spPr>
            <a:xfrm>
              <a:off x="8462512" y="3093231"/>
              <a:ext cx="152976" cy="228190"/>
            </a:xfrm>
            <a:custGeom>
              <a:avLst/>
              <a:gdLst/>
              <a:ahLst/>
              <a:cxnLst/>
              <a:rect l="l" t="t" r="r" b="b"/>
              <a:pathLst>
                <a:path w="152976" h="228190">
                  <a:moveTo>
                    <a:pt x="0" y="0"/>
                  </a:moveTo>
                  <a:lnTo>
                    <a:pt x="19122" y="39516"/>
                  </a:lnTo>
                  <a:lnTo>
                    <a:pt x="38244" y="72592"/>
                  </a:lnTo>
                  <a:lnTo>
                    <a:pt x="57366" y="96563"/>
                  </a:lnTo>
                  <a:lnTo>
                    <a:pt x="76488" y="114095"/>
                  </a:lnTo>
                  <a:lnTo>
                    <a:pt x="95610" y="131627"/>
                  </a:lnTo>
                  <a:lnTo>
                    <a:pt x="114732" y="155598"/>
                  </a:lnTo>
                  <a:lnTo>
                    <a:pt x="133854" y="188674"/>
                  </a:lnTo>
                  <a:lnTo>
                    <a:pt x="152976" y="228190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45" name="Волокна матрикса в интерстиции"/>
            <p:cNvSpPr/>
            <p:nvPr/>
          </p:nvSpPr>
          <p:spPr>
            <a:xfrm>
              <a:off x="10133874" y="3500702"/>
              <a:ext cx="107361" cy="101772"/>
            </a:xfrm>
            <a:custGeom>
              <a:avLst/>
              <a:gdLst/>
              <a:ahLst/>
              <a:cxnLst/>
              <a:rect l="l" t="t" r="r" b="b"/>
              <a:pathLst>
                <a:path w="107361" h="101772">
                  <a:moveTo>
                    <a:pt x="0" y="0"/>
                  </a:moveTo>
                  <a:lnTo>
                    <a:pt x="13420" y="23714"/>
                  </a:lnTo>
                  <a:lnTo>
                    <a:pt x="26840" y="40988"/>
                  </a:lnTo>
                  <a:lnTo>
                    <a:pt x="40261" y="49156"/>
                  </a:lnTo>
                  <a:lnTo>
                    <a:pt x="53681" y="50886"/>
                  </a:lnTo>
                  <a:lnTo>
                    <a:pt x="67101" y="52616"/>
                  </a:lnTo>
                  <a:lnTo>
                    <a:pt x="80521" y="60784"/>
                  </a:lnTo>
                  <a:lnTo>
                    <a:pt x="93941" y="78059"/>
                  </a:lnTo>
                  <a:lnTo>
                    <a:pt x="107361" y="101772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46" name="Волокна матрикса в интерстиции"/>
            <p:cNvSpPr/>
            <p:nvPr/>
          </p:nvSpPr>
          <p:spPr>
            <a:xfrm>
              <a:off x="11206316" y="3431499"/>
              <a:ext cx="128627" cy="111567"/>
            </a:xfrm>
            <a:custGeom>
              <a:avLst/>
              <a:gdLst/>
              <a:ahLst/>
              <a:cxnLst/>
              <a:rect l="l" t="t" r="r" b="b"/>
              <a:pathLst>
                <a:path w="128627" h="111567">
                  <a:moveTo>
                    <a:pt x="128627" y="0"/>
                  </a:moveTo>
                  <a:lnTo>
                    <a:pt x="112549" y="24938"/>
                  </a:lnTo>
                  <a:lnTo>
                    <a:pt x="96470" y="43436"/>
                  </a:lnTo>
                  <a:lnTo>
                    <a:pt x="80392" y="52829"/>
                  </a:lnTo>
                  <a:lnTo>
                    <a:pt x="64313" y="55784"/>
                  </a:lnTo>
                  <a:lnTo>
                    <a:pt x="48235" y="58738"/>
                  </a:lnTo>
                  <a:lnTo>
                    <a:pt x="32156" y="68131"/>
                  </a:lnTo>
                  <a:lnTo>
                    <a:pt x="16078" y="86630"/>
                  </a:lnTo>
                  <a:lnTo>
                    <a:pt x="0" y="111567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47" name="Волокна матрикса в интерстиции"/>
            <p:cNvSpPr/>
            <p:nvPr/>
          </p:nvSpPr>
          <p:spPr>
            <a:xfrm>
              <a:off x="9097551" y="3328303"/>
              <a:ext cx="147945" cy="97021"/>
            </a:xfrm>
            <a:custGeom>
              <a:avLst/>
              <a:gdLst/>
              <a:ahLst/>
              <a:cxnLst/>
              <a:rect l="l" t="t" r="r" b="b"/>
              <a:pathLst>
                <a:path w="147945" h="97021">
                  <a:moveTo>
                    <a:pt x="147945" y="0"/>
                  </a:moveTo>
                  <a:lnTo>
                    <a:pt x="129452" y="23119"/>
                  </a:lnTo>
                  <a:lnTo>
                    <a:pt x="110959" y="39800"/>
                  </a:lnTo>
                  <a:lnTo>
                    <a:pt x="92465" y="47374"/>
                  </a:lnTo>
                  <a:lnTo>
                    <a:pt x="73972" y="48510"/>
                  </a:lnTo>
                  <a:lnTo>
                    <a:pt x="55479" y="49646"/>
                  </a:lnTo>
                  <a:lnTo>
                    <a:pt x="36986" y="57221"/>
                  </a:lnTo>
                  <a:lnTo>
                    <a:pt x="18493" y="73901"/>
                  </a:lnTo>
                  <a:lnTo>
                    <a:pt x="0" y="9702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48" name="Волокна матрикса в интерстиции"/>
            <p:cNvSpPr/>
            <p:nvPr/>
          </p:nvSpPr>
          <p:spPr>
            <a:xfrm>
              <a:off x="10427290" y="3710903"/>
              <a:ext cx="120724" cy="147953"/>
            </a:xfrm>
            <a:custGeom>
              <a:avLst/>
              <a:gdLst/>
              <a:ahLst/>
              <a:cxnLst/>
              <a:rect l="l" t="t" r="r" b="b"/>
              <a:pathLst>
                <a:path w="120724" h="147953">
                  <a:moveTo>
                    <a:pt x="0" y="0"/>
                  </a:moveTo>
                  <a:lnTo>
                    <a:pt x="15090" y="29486"/>
                  </a:lnTo>
                  <a:lnTo>
                    <a:pt x="30181" y="52533"/>
                  </a:lnTo>
                  <a:lnTo>
                    <a:pt x="45271" y="66474"/>
                  </a:lnTo>
                  <a:lnTo>
                    <a:pt x="60362" y="73976"/>
                  </a:lnTo>
                  <a:lnTo>
                    <a:pt x="75452" y="81479"/>
                  </a:lnTo>
                  <a:lnTo>
                    <a:pt x="90543" y="95420"/>
                  </a:lnTo>
                  <a:lnTo>
                    <a:pt x="105633" y="118467"/>
                  </a:lnTo>
                  <a:lnTo>
                    <a:pt x="120724" y="147953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49" name="Волокна матрикса в интерстиции"/>
            <p:cNvSpPr/>
            <p:nvPr/>
          </p:nvSpPr>
          <p:spPr>
            <a:xfrm>
              <a:off x="10537381" y="3790715"/>
              <a:ext cx="155560" cy="98277"/>
            </a:xfrm>
            <a:custGeom>
              <a:avLst/>
              <a:gdLst/>
              <a:ahLst/>
              <a:cxnLst/>
              <a:rect l="l" t="t" r="r" b="b"/>
              <a:pathLst>
                <a:path w="155560" h="98277">
                  <a:moveTo>
                    <a:pt x="155560" y="0"/>
                  </a:moveTo>
                  <a:lnTo>
                    <a:pt x="136115" y="23276"/>
                  </a:lnTo>
                  <a:lnTo>
                    <a:pt x="116670" y="40114"/>
                  </a:lnTo>
                  <a:lnTo>
                    <a:pt x="97225" y="47846"/>
                  </a:lnTo>
                  <a:lnTo>
                    <a:pt x="77780" y="49138"/>
                  </a:lnTo>
                  <a:lnTo>
                    <a:pt x="58335" y="50431"/>
                  </a:lnTo>
                  <a:lnTo>
                    <a:pt x="38890" y="58163"/>
                  </a:lnTo>
                  <a:lnTo>
                    <a:pt x="19445" y="75001"/>
                  </a:lnTo>
                  <a:lnTo>
                    <a:pt x="0" y="98277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50" name="Волокна матрикса в интерстиции"/>
            <p:cNvSpPr/>
            <p:nvPr/>
          </p:nvSpPr>
          <p:spPr>
            <a:xfrm>
              <a:off x="9637126" y="2976807"/>
              <a:ext cx="313145" cy="90502"/>
            </a:xfrm>
            <a:custGeom>
              <a:avLst/>
              <a:gdLst/>
              <a:ahLst/>
              <a:cxnLst/>
              <a:rect l="l" t="t" r="r" b="b"/>
              <a:pathLst>
                <a:path w="313145" h="90502">
                  <a:moveTo>
                    <a:pt x="313145" y="0"/>
                  </a:moveTo>
                  <a:lnTo>
                    <a:pt x="274002" y="22304"/>
                  </a:lnTo>
                  <a:lnTo>
                    <a:pt x="234859" y="38170"/>
                  </a:lnTo>
                  <a:lnTo>
                    <a:pt x="195716" y="44930"/>
                  </a:lnTo>
                  <a:lnTo>
                    <a:pt x="156573" y="45251"/>
                  </a:lnTo>
                  <a:lnTo>
                    <a:pt x="117429" y="45572"/>
                  </a:lnTo>
                  <a:lnTo>
                    <a:pt x="78286" y="52332"/>
                  </a:lnTo>
                  <a:lnTo>
                    <a:pt x="39143" y="68197"/>
                  </a:lnTo>
                  <a:lnTo>
                    <a:pt x="0" y="90502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51" name="Волокна матрикса в интерстиции"/>
            <p:cNvSpPr/>
            <p:nvPr/>
          </p:nvSpPr>
          <p:spPr>
            <a:xfrm>
              <a:off x="8540728" y="3276607"/>
              <a:ext cx="103278" cy="201982"/>
            </a:xfrm>
            <a:custGeom>
              <a:avLst/>
              <a:gdLst/>
              <a:ahLst/>
              <a:cxnLst/>
              <a:rect l="l" t="t" r="r" b="b"/>
              <a:pathLst>
                <a:path w="103278" h="201982">
                  <a:moveTo>
                    <a:pt x="103278" y="0"/>
                  </a:moveTo>
                  <a:lnTo>
                    <a:pt x="90368" y="36240"/>
                  </a:lnTo>
                  <a:lnTo>
                    <a:pt x="77459" y="66041"/>
                  </a:lnTo>
                  <a:lnTo>
                    <a:pt x="64549" y="86735"/>
                  </a:lnTo>
                  <a:lnTo>
                    <a:pt x="51639" y="100991"/>
                  </a:lnTo>
                  <a:lnTo>
                    <a:pt x="38730" y="115247"/>
                  </a:lnTo>
                  <a:lnTo>
                    <a:pt x="25820" y="135942"/>
                  </a:lnTo>
                  <a:lnTo>
                    <a:pt x="12910" y="165742"/>
                  </a:lnTo>
                  <a:lnTo>
                    <a:pt x="0" y="201982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52" name="Волокна матрикса в интерстиции"/>
            <p:cNvSpPr/>
            <p:nvPr/>
          </p:nvSpPr>
          <p:spPr>
            <a:xfrm>
              <a:off x="8444467" y="3910272"/>
              <a:ext cx="87914" cy="94029"/>
            </a:xfrm>
            <a:custGeom>
              <a:avLst/>
              <a:gdLst/>
              <a:ahLst/>
              <a:cxnLst/>
              <a:rect l="l" t="t" r="r" b="b"/>
              <a:pathLst>
                <a:path w="87914" h="94029">
                  <a:moveTo>
                    <a:pt x="87914" y="0"/>
                  </a:moveTo>
                  <a:lnTo>
                    <a:pt x="76925" y="22745"/>
                  </a:lnTo>
                  <a:lnTo>
                    <a:pt x="65936" y="39052"/>
                  </a:lnTo>
                  <a:lnTo>
                    <a:pt x="54946" y="46252"/>
                  </a:lnTo>
                  <a:lnTo>
                    <a:pt x="43957" y="47014"/>
                  </a:lnTo>
                  <a:lnTo>
                    <a:pt x="32968" y="47776"/>
                  </a:lnTo>
                  <a:lnTo>
                    <a:pt x="21979" y="54977"/>
                  </a:lnTo>
                  <a:lnTo>
                    <a:pt x="10989" y="71284"/>
                  </a:lnTo>
                  <a:lnTo>
                    <a:pt x="0" y="94029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53" name="Стромальная клетка"/>
            <p:cNvSpPr/>
            <p:nvPr/>
          </p:nvSpPr>
          <p:spPr>
            <a:xfrm rot="7320000">
              <a:off x="10606590" y="4240369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54" name="Стромальная клетка"/>
            <p:cNvSpPr/>
            <p:nvPr/>
          </p:nvSpPr>
          <p:spPr>
            <a:xfrm rot="1740000">
              <a:off x="8800869" y="4070785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55" name="Стромальная клетка"/>
            <p:cNvSpPr/>
            <p:nvPr/>
          </p:nvSpPr>
          <p:spPr>
            <a:xfrm rot="2220000">
              <a:off x="10233521" y="419738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56" name="Стромальная клетка"/>
            <p:cNvSpPr/>
            <p:nvPr/>
          </p:nvSpPr>
          <p:spPr>
            <a:xfrm rot="8940000">
              <a:off x="10525384" y="441002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57" name="Стромальная клетка"/>
            <p:cNvSpPr/>
            <p:nvPr/>
          </p:nvSpPr>
          <p:spPr>
            <a:xfrm rot="6660000">
              <a:off x="10529559" y="403421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58" name="Стромальная клетка"/>
            <p:cNvSpPr/>
            <p:nvPr/>
          </p:nvSpPr>
          <p:spPr>
            <a:xfrm rot="5340000">
              <a:off x="10301819" y="3992268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59" name="Стромальная клетка"/>
            <p:cNvSpPr/>
            <p:nvPr/>
          </p:nvSpPr>
          <p:spPr>
            <a:xfrm rot="1800000">
              <a:off x="10255678" y="4416368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60" name="Стромальная клетка"/>
            <p:cNvSpPr/>
            <p:nvPr/>
          </p:nvSpPr>
          <p:spPr>
            <a:xfrm rot="1140000">
              <a:off x="8903911" y="3200351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61" name="Стромальная клетка"/>
            <p:cNvSpPr/>
            <p:nvPr/>
          </p:nvSpPr>
          <p:spPr>
            <a:xfrm rot="4380000">
              <a:off x="10352338" y="4288415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62" name="Стромальная клетка"/>
            <p:cNvSpPr/>
            <p:nvPr/>
          </p:nvSpPr>
          <p:spPr>
            <a:xfrm rot="1560000">
              <a:off x="10076307" y="3579060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63" name="Стромальная клетка"/>
            <p:cNvSpPr/>
            <p:nvPr/>
          </p:nvSpPr>
          <p:spPr>
            <a:xfrm rot="5220000">
              <a:off x="10319714" y="3714411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64" name="Стромальная клетка"/>
            <p:cNvSpPr/>
            <p:nvPr/>
          </p:nvSpPr>
          <p:spPr>
            <a:xfrm rot="5880000">
              <a:off x="10839490" y="3676014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65" name="Стромальная клетка"/>
            <p:cNvSpPr/>
            <p:nvPr/>
          </p:nvSpPr>
          <p:spPr>
            <a:xfrm rot="1140000">
              <a:off x="9878309" y="3420543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66" name="Стромальная клетка"/>
            <p:cNvSpPr/>
            <p:nvPr/>
          </p:nvSpPr>
          <p:spPr>
            <a:xfrm rot="6060000">
              <a:off x="11127740" y="369398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67" name="Стромальная клетка"/>
            <p:cNvSpPr/>
            <p:nvPr/>
          </p:nvSpPr>
          <p:spPr>
            <a:xfrm rot="6840000">
              <a:off x="9641807" y="2149603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68" name="Стромальная клетка"/>
            <p:cNvSpPr/>
            <p:nvPr/>
          </p:nvSpPr>
          <p:spPr>
            <a:xfrm rot="6720000">
              <a:off x="9788738" y="3300235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69" name="Стромальная клетка"/>
            <p:cNvSpPr/>
            <p:nvPr/>
          </p:nvSpPr>
          <p:spPr>
            <a:xfrm rot="2700000">
              <a:off x="8383289" y="3834824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70" name="Стромальная клетка"/>
            <p:cNvSpPr/>
            <p:nvPr/>
          </p:nvSpPr>
          <p:spPr>
            <a:xfrm rot="9420000">
              <a:off x="8865152" y="438065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71" name="Базальная мембрана канальца"/>
            <p:cNvSpPr/>
            <p:nvPr/>
          </p:nvSpPr>
          <p:spPr>
            <a:xfrm>
              <a:off x="8506366" y="2113493"/>
              <a:ext cx="1244697" cy="1056546"/>
            </a:xfrm>
            <a:custGeom>
              <a:avLst/>
              <a:gdLst/>
              <a:ahLst/>
              <a:cxnLst/>
              <a:rect l="l" t="t" r="r" b="b"/>
              <a:pathLst>
                <a:path w="1244697" h="1056546">
                  <a:moveTo>
                    <a:pt x="1228048" y="345284"/>
                  </a:moveTo>
                  <a:lnTo>
                    <a:pt x="1235172" y="372025"/>
                  </a:lnTo>
                  <a:lnTo>
                    <a:pt x="1240413" y="399250"/>
                  </a:lnTo>
                  <a:lnTo>
                    <a:pt x="1243631" y="426877"/>
                  </a:lnTo>
                  <a:lnTo>
                    <a:pt x="1244697" y="454800"/>
                  </a:lnTo>
                  <a:lnTo>
                    <a:pt x="1243513" y="482893"/>
                  </a:lnTo>
                  <a:lnTo>
                    <a:pt x="1240022" y="511010"/>
                  </a:lnTo>
                  <a:lnTo>
                    <a:pt x="1234212" y="538996"/>
                  </a:lnTo>
                  <a:lnTo>
                    <a:pt x="1226128" y="566694"/>
                  </a:lnTo>
                  <a:lnTo>
                    <a:pt x="1215868" y="593955"/>
                  </a:lnTo>
                  <a:lnTo>
                    <a:pt x="1203579" y="620648"/>
                  </a:lnTo>
                  <a:lnTo>
                    <a:pt x="1189454" y="646670"/>
                  </a:lnTo>
                  <a:lnTo>
                    <a:pt x="1173711" y="671952"/>
                  </a:lnTo>
                  <a:lnTo>
                    <a:pt x="1156589" y="696462"/>
                  </a:lnTo>
                  <a:lnTo>
                    <a:pt x="1138323" y="720205"/>
                  </a:lnTo>
                  <a:lnTo>
                    <a:pt x="1119132" y="743223"/>
                  </a:lnTo>
                  <a:lnTo>
                    <a:pt x="1099204" y="765586"/>
                  </a:lnTo>
                  <a:lnTo>
                    <a:pt x="1078683" y="787380"/>
                  </a:lnTo>
                  <a:lnTo>
                    <a:pt x="1057662" y="808701"/>
                  </a:lnTo>
                  <a:lnTo>
                    <a:pt x="1036180" y="829637"/>
                  </a:lnTo>
                  <a:lnTo>
                    <a:pt x="1014222" y="850256"/>
                  </a:lnTo>
                  <a:lnTo>
                    <a:pt x="991725" y="870594"/>
                  </a:lnTo>
                  <a:lnTo>
                    <a:pt x="968590" y="890647"/>
                  </a:lnTo>
                  <a:lnTo>
                    <a:pt x="944694" y="910364"/>
                  </a:lnTo>
                  <a:lnTo>
                    <a:pt x="919909" y="929642"/>
                  </a:lnTo>
                  <a:lnTo>
                    <a:pt x="894113" y="948333"/>
                  </a:lnTo>
                  <a:lnTo>
                    <a:pt x="867211" y="966246"/>
                  </a:lnTo>
                  <a:lnTo>
                    <a:pt x="839143" y="983160"/>
                  </a:lnTo>
                  <a:lnTo>
                    <a:pt x="809899" y="998832"/>
                  </a:lnTo>
                  <a:lnTo>
                    <a:pt x="779521" y="1013021"/>
                  </a:lnTo>
                  <a:lnTo>
                    <a:pt x="748104" y="1025494"/>
                  </a:lnTo>
                  <a:lnTo>
                    <a:pt x="715796" y="1036046"/>
                  </a:lnTo>
                  <a:lnTo>
                    <a:pt x="682783" y="1044514"/>
                  </a:lnTo>
                  <a:lnTo>
                    <a:pt x="649285" y="1050781"/>
                  </a:lnTo>
                  <a:lnTo>
                    <a:pt x="615538" y="1054792"/>
                  </a:lnTo>
                  <a:lnTo>
                    <a:pt x="581781" y="1056546"/>
                  </a:lnTo>
                  <a:lnTo>
                    <a:pt x="548242" y="1056100"/>
                  </a:lnTo>
                  <a:lnTo>
                    <a:pt x="515124" y="1053560"/>
                  </a:lnTo>
                  <a:lnTo>
                    <a:pt x="482595" y="1049072"/>
                  </a:lnTo>
                  <a:lnTo>
                    <a:pt x="450788" y="1042808"/>
                  </a:lnTo>
                  <a:lnTo>
                    <a:pt x="419789" y="1034955"/>
                  </a:lnTo>
                  <a:lnTo>
                    <a:pt x="389650" y="1025699"/>
                  </a:lnTo>
                  <a:lnTo>
                    <a:pt x="360387" y="1015211"/>
                  </a:lnTo>
                  <a:lnTo>
                    <a:pt x="331992" y="1003641"/>
                  </a:lnTo>
                  <a:lnTo>
                    <a:pt x="304446" y="991104"/>
                  </a:lnTo>
                  <a:lnTo>
                    <a:pt x="277725" y="977681"/>
                  </a:lnTo>
                  <a:lnTo>
                    <a:pt x="251817" y="963418"/>
                  </a:lnTo>
                  <a:lnTo>
                    <a:pt x="226728" y="948325"/>
                  </a:lnTo>
                  <a:lnTo>
                    <a:pt x="202488" y="932390"/>
                  </a:lnTo>
                  <a:lnTo>
                    <a:pt x="179157" y="915578"/>
                  </a:lnTo>
                  <a:lnTo>
                    <a:pt x="156821" y="897851"/>
                  </a:lnTo>
                  <a:lnTo>
                    <a:pt x="135593" y="879169"/>
                  </a:lnTo>
                  <a:lnTo>
                    <a:pt x="115599" y="859507"/>
                  </a:lnTo>
                  <a:lnTo>
                    <a:pt x="96973" y="838857"/>
                  </a:lnTo>
                  <a:lnTo>
                    <a:pt x="79844" y="817234"/>
                  </a:lnTo>
                  <a:lnTo>
                    <a:pt x="64326" y="794682"/>
                  </a:lnTo>
                  <a:lnTo>
                    <a:pt x="50506" y="771268"/>
                  </a:lnTo>
                  <a:lnTo>
                    <a:pt x="38438" y="747079"/>
                  </a:lnTo>
                  <a:lnTo>
                    <a:pt x="28138" y="722220"/>
                  </a:lnTo>
                  <a:lnTo>
                    <a:pt x="19581" y="696802"/>
                  </a:lnTo>
                  <a:lnTo>
                    <a:pt x="12707" y="670933"/>
                  </a:lnTo>
                  <a:lnTo>
                    <a:pt x="7425" y="644716"/>
                  </a:lnTo>
                  <a:lnTo>
                    <a:pt x="3627" y="618235"/>
                  </a:lnTo>
                  <a:lnTo>
                    <a:pt x="1194" y="591557"/>
                  </a:lnTo>
                  <a:lnTo>
                    <a:pt x="16" y="564723"/>
                  </a:lnTo>
                  <a:lnTo>
                    <a:pt x="0" y="537757"/>
                  </a:lnTo>
                  <a:lnTo>
                    <a:pt x="1084" y="510665"/>
                  </a:lnTo>
                  <a:lnTo>
                    <a:pt x="3246" y="483443"/>
                  </a:lnTo>
                  <a:lnTo>
                    <a:pt x="6507" y="456085"/>
                  </a:lnTo>
                  <a:lnTo>
                    <a:pt x="10935" y="428593"/>
                  </a:lnTo>
                  <a:lnTo>
                    <a:pt x="16637" y="400987"/>
                  </a:lnTo>
                  <a:lnTo>
                    <a:pt x="23756" y="373312"/>
                  </a:lnTo>
                  <a:lnTo>
                    <a:pt x="32453" y="345646"/>
                  </a:lnTo>
                  <a:lnTo>
                    <a:pt x="42898" y="318102"/>
                  </a:lnTo>
                  <a:lnTo>
                    <a:pt x="55252" y="290829"/>
                  </a:lnTo>
                  <a:lnTo>
                    <a:pt x="69649" y="264007"/>
                  </a:lnTo>
                  <a:lnTo>
                    <a:pt x="86186" y="237843"/>
                  </a:lnTo>
                  <a:lnTo>
                    <a:pt x="104907" y="212558"/>
                  </a:lnTo>
                  <a:lnTo>
                    <a:pt x="125797" y="188375"/>
                  </a:lnTo>
                  <a:lnTo>
                    <a:pt x="148781" y="165507"/>
                  </a:lnTo>
                  <a:lnTo>
                    <a:pt x="173720" y="144142"/>
                  </a:lnTo>
                  <a:lnTo>
                    <a:pt x="200424" y="124433"/>
                  </a:lnTo>
                  <a:lnTo>
                    <a:pt x="228659" y="106483"/>
                  </a:lnTo>
                  <a:lnTo>
                    <a:pt x="258161" y="90346"/>
                  </a:lnTo>
                  <a:lnTo>
                    <a:pt x="288656" y="76018"/>
                  </a:lnTo>
                  <a:lnTo>
                    <a:pt x="319870" y="63443"/>
                  </a:lnTo>
                  <a:lnTo>
                    <a:pt x="351552" y="52515"/>
                  </a:lnTo>
                  <a:lnTo>
                    <a:pt x="383481" y="43092"/>
                  </a:lnTo>
                  <a:lnTo>
                    <a:pt x="415484" y="35005"/>
                  </a:lnTo>
                  <a:lnTo>
                    <a:pt x="447433" y="28076"/>
                  </a:lnTo>
                  <a:lnTo>
                    <a:pt x="479254" y="22130"/>
                  </a:lnTo>
                  <a:lnTo>
                    <a:pt x="510920" y="17015"/>
                  </a:lnTo>
                  <a:lnTo>
                    <a:pt x="542443" y="12607"/>
                  </a:lnTo>
                  <a:lnTo>
                    <a:pt x="573866" y="8828"/>
                  </a:lnTo>
                  <a:lnTo>
                    <a:pt x="605246" y="5648"/>
                  </a:lnTo>
                  <a:lnTo>
                    <a:pt x="636645" y="3087"/>
                  </a:lnTo>
                  <a:lnTo>
                    <a:pt x="668112" y="1213"/>
                  </a:lnTo>
                  <a:lnTo>
                    <a:pt x="699670" y="137"/>
                  </a:lnTo>
                  <a:lnTo>
                    <a:pt x="731312" y="0"/>
                  </a:lnTo>
                  <a:lnTo>
                    <a:pt x="762994" y="962"/>
                  </a:lnTo>
                  <a:lnTo>
                    <a:pt x="794629" y="3192"/>
                  </a:lnTo>
                  <a:lnTo>
                    <a:pt x="826096" y="6846"/>
                  </a:lnTo>
                  <a:lnTo>
                    <a:pt x="857242" y="12061"/>
                  </a:lnTo>
                  <a:lnTo>
                    <a:pt x="887896" y="18943"/>
                  </a:lnTo>
                  <a:lnTo>
                    <a:pt x="917874" y="27557"/>
                  </a:lnTo>
                  <a:lnTo>
                    <a:pt x="946996" y="37927"/>
                  </a:lnTo>
                  <a:lnTo>
                    <a:pt x="975096" y="50032"/>
                  </a:lnTo>
                  <a:lnTo>
                    <a:pt x="1002033" y="63811"/>
                  </a:lnTo>
                  <a:lnTo>
                    <a:pt x="1027694" y="79171"/>
                  </a:lnTo>
                  <a:lnTo>
                    <a:pt x="1052002" y="95994"/>
                  </a:lnTo>
                  <a:lnTo>
                    <a:pt x="1074913" y="114148"/>
                  </a:lnTo>
                  <a:lnTo>
                    <a:pt x="1096415" y="133495"/>
                  </a:lnTo>
                  <a:lnTo>
                    <a:pt x="1116518" y="153906"/>
                  </a:lnTo>
                  <a:lnTo>
                    <a:pt x="1135245" y="175263"/>
                  </a:lnTo>
                  <a:lnTo>
                    <a:pt x="1152623" y="197466"/>
                  </a:lnTo>
                  <a:lnTo>
                    <a:pt x="1168672" y="220439"/>
                  </a:lnTo>
                  <a:lnTo>
                    <a:pt x="1183392" y="244123"/>
                  </a:lnTo>
                  <a:lnTo>
                    <a:pt x="1196760" y="268478"/>
                  </a:lnTo>
                  <a:lnTo>
                    <a:pt x="1208719" y="293474"/>
                  </a:lnTo>
                  <a:lnTo>
                    <a:pt x="1219186" y="319086"/>
                  </a:lnTo>
                  <a:close/>
                </a:path>
              </a:pathLst>
            </a:custGeom>
            <a:solidFill>
              <a:srgbClr val="C9B6CF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72" name="Клетка однослойного эпителия"/>
            <p:cNvSpPr/>
            <p:nvPr/>
          </p:nvSpPr>
          <p:spPr>
            <a:xfrm>
              <a:off x="9631276" y="2464636"/>
              <a:ext cx="95902" cy="186724"/>
            </a:xfrm>
            <a:custGeom>
              <a:avLst/>
              <a:gdLst/>
              <a:ahLst/>
              <a:cxnLst/>
              <a:rect l="l" t="t" r="r" b="b"/>
              <a:pathLst>
                <a:path w="95902" h="186724">
                  <a:moveTo>
                    <a:pt x="81270" y="0"/>
                  </a:moveTo>
                  <a:lnTo>
                    <a:pt x="86133" y="18023"/>
                  </a:lnTo>
                  <a:lnTo>
                    <a:pt x="90075" y="36288"/>
                  </a:lnTo>
                  <a:lnTo>
                    <a:pt x="93049" y="54768"/>
                  </a:lnTo>
                  <a:lnTo>
                    <a:pt x="95005" y="73429"/>
                  </a:lnTo>
                  <a:lnTo>
                    <a:pt x="95902" y="92234"/>
                  </a:lnTo>
                  <a:lnTo>
                    <a:pt x="95704" y="111137"/>
                  </a:lnTo>
                  <a:lnTo>
                    <a:pt x="94386" y="130092"/>
                  </a:lnTo>
                  <a:lnTo>
                    <a:pt x="91931" y="149044"/>
                  </a:lnTo>
                  <a:lnTo>
                    <a:pt x="88339" y="167940"/>
                  </a:lnTo>
                  <a:lnTo>
                    <a:pt x="83619" y="186724"/>
                  </a:lnTo>
                  <a:lnTo>
                    <a:pt x="610" y="177741"/>
                  </a:lnTo>
                  <a:lnTo>
                    <a:pt x="4819" y="162014"/>
                  </a:lnTo>
                  <a:lnTo>
                    <a:pt x="8057" y="146202"/>
                  </a:lnTo>
                  <a:lnTo>
                    <a:pt x="10315" y="130351"/>
                  </a:lnTo>
                  <a:lnTo>
                    <a:pt x="11595" y="114507"/>
                  </a:lnTo>
                  <a:lnTo>
                    <a:pt x="11908" y="98714"/>
                  </a:lnTo>
                  <a:lnTo>
                    <a:pt x="11278" y="83012"/>
                  </a:lnTo>
                  <a:lnTo>
                    <a:pt x="9734" y="67438"/>
                  </a:lnTo>
                  <a:lnTo>
                    <a:pt x="7312" y="52023"/>
                  </a:lnTo>
                  <a:lnTo>
                    <a:pt x="4053" y="36795"/>
                  </a:lnTo>
                  <a:lnTo>
                    <a:pt x="0" y="21776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73" name="Ядро эпителиальной клетки"/>
            <p:cNvSpPr/>
            <p:nvPr/>
          </p:nvSpPr>
          <p:spPr>
            <a:xfrm rot="5135294">
              <a:off x="9636866" y="253006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74" name="Клетка однослойного эпителия"/>
            <p:cNvSpPr/>
            <p:nvPr/>
          </p:nvSpPr>
          <p:spPr>
            <a:xfrm>
              <a:off x="9546224" y="2642377"/>
              <a:ext cx="168671" cy="181277"/>
            </a:xfrm>
            <a:custGeom>
              <a:avLst/>
              <a:gdLst/>
              <a:ahLst/>
              <a:cxnLst/>
              <a:rect l="l" t="t" r="r" b="b"/>
              <a:pathLst>
                <a:path w="168671" h="181277">
                  <a:moveTo>
                    <a:pt x="168671" y="8983"/>
                  </a:moveTo>
                  <a:lnTo>
                    <a:pt x="162850" y="27600"/>
                  </a:lnTo>
                  <a:lnTo>
                    <a:pt x="155965" y="45999"/>
                  </a:lnTo>
                  <a:lnTo>
                    <a:pt x="148069" y="64132"/>
                  </a:lnTo>
                  <a:lnTo>
                    <a:pt x="139226" y="81958"/>
                  </a:lnTo>
                  <a:lnTo>
                    <a:pt x="129508" y="99445"/>
                  </a:lnTo>
                  <a:lnTo>
                    <a:pt x="118998" y="116568"/>
                  </a:lnTo>
                  <a:lnTo>
                    <a:pt x="107781" y="133312"/>
                  </a:lnTo>
                  <a:lnTo>
                    <a:pt x="95946" y="149673"/>
                  </a:lnTo>
                  <a:lnTo>
                    <a:pt x="83579" y="165657"/>
                  </a:lnTo>
                  <a:lnTo>
                    <a:pt x="70765" y="181277"/>
                  </a:lnTo>
                  <a:lnTo>
                    <a:pt x="0" y="144669"/>
                  </a:lnTo>
                  <a:lnTo>
                    <a:pt x="11159" y="131524"/>
                  </a:lnTo>
                  <a:lnTo>
                    <a:pt x="21935" y="118078"/>
                  </a:lnTo>
                  <a:lnTo>
                    <a:pt x="32257" y="104321"/>
                  </a:lnTo>
                  <a:lnTo>
                    <a:pt x="42048" y="90249"/>
                  </a:lnTo>
                  <a:lnTo>
                    <a:pt x="51234" y="75865"/>
                  </a:lnTo>
                  <a:lnTo>
                    <a:pt x="59739" y="61184"/>
                  </a:lnTo>
                  <a:lnTo>
                    <a:pt x="67493" y="46225"/>
                  </a:lnTo>
                  <a:lnTo>
                    <a:pt x="74434" y="31018"/>
                  </a:lnTo>
                  <a:lnTo>
                    <a:pt x="80505" y="15596"/>
                  </a:lnTo>
                  <a:lnTo>
                    <a:pt x="85662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75" name="Ядро эпителиальной клетки"/>
            <p:cNvSpPr/>
            <p:nvPr/>
          </p:nvSpPr>
          <p:spPr>
            <a:xfrm rot="6405882">
              <a:off x="9588395" y="269938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76" name="Клетка однослойного эпителия"/>
            <p:cNvSpPr/>
            <p:nvPr/>
          </p:nvSpPr>
          <p:spPr>
            <a:xfrm>
              <a:off x="9423017" y="2787046"/>
              <a:ext cx="193972" cy="179754"/>
            </a:xfrm>
            <a:custGeom>
              <a:avLst/>
              <a:gdLst/>
              <a:ahLst/>
              <a:cxnLst/>
              <a:rect l="l" t="t" r="r" b="b"/>
              <a:pathLst>
                <a:path w="193972" h="179754">
                  <a:moveTo>
                    <a:pt x="193972" y="36608"/>
                  </a:moveTo>
                  <a:lnTo>
                    <a:pt x="180787" y="51888"/>
                  </a:lnTo>
                  <a:lnTo>
                    <a:pt x="167298" y="66859"/>
                  </a:lnTo>
                  <a:lnTo>
                    <a:pt x="153561" y="81556"/>
                  </a:lnTo>
                  <a:lnTo>
                    <a:pt x="139619" y="96017"/>
                  </a:lnTo>
                  <a:lnTo>
                    <a:pt x="125500" y="110281"/>
                  </a:lnTo>
                  <a:lnTo>
                    <a:pt x="111217" y="124386"/>
                  </a:lnTo>
                  <a:lnTo>
                    <a:pt x="96770" y="138364"/>
                  </a:lnTo>
                  <a:lnTo>
                    <a:pt x="82144" y="152241"/>
                  </a:lnTo>
                  <a:lnTo>
                    <a:pt x="67311" y="166035"/>
                  </a:lnTo>
                  <a:lnTo>
                    <a:pt x="52234" y="179754"/>
                  </a:lnTo>
                  <a:lnTo>
                    <a:pt x="0" y="120653"/>
                  </a:lnTo>
                  <a:lnTo>
                    <a:pt x="13095" y="109079"/>
                  </a:lnTo>
                  <a:lnTo>
                    <a:pt x="25979" y="97443"/>
                  </a:lnTo>
                  <a:lnTo>
                    <a:pt x="38687" y="85740"/>
                  </a:lnTo>
                  <a:lnTo>
                    <a:pt x="51240" y="73954"/>
                  </a:lnTo>
                  <a:lnTo>
                    <a:pt x="63652" y="62063"/>
                  </a:lnTo>
                  <a:lnTo>
                    <a:pt x="75926" y="50041"/>
                  </a:lnTo>
                  <a:lnTo>
                    <a:pt x="88048" y="37855"/>
                  </a:lnTo>
                  <a:lnTo>
                    <a:pt x="99995" y="25473"/>
                  </a:lnTo>
                  <a:lnTo>
                    <a:pt x="111731" y="12865"/>
                  </a:lnTo>
                  <a:lnTo>
                    <a:pt x="123207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77" name="Ядро эпителиальной клетки"/>
            <p:cNvSpPr/>
            <p:nvPr/>
          </p:nvSpPr>
          <p:spPr>
            <a:xfrm rot="7676471">
              <a:off x="9469721" y="284207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78" name="Клетка однослойного эпителия"/>
            <p:cNvSpPr/>
            <p:nvPr/>
          </p:nvSpPr>
          <p:spPr>
            <a:xfrm>
              <a:off x="9271586" y="2907699"/>
              <a:ext cx="203665" cy="184746"/>
            </a:xfrm>
            <a:custGeom>
              <a:avLst/>
              <a:gdLst/>
              <a:ahLst/>
              <a:cxnLst/>
              <a:rect l="l" t="t" r="r" b="b"/>
              <a:pathLst>
                <a:path w="203665" h="184746">
                  <a:moveTo>
                    <a:pt x="203665" y="59101"/>
                  </a:moveTo>
                  <a:lnTo>
                    <a:pt x="188296" y="72738"/>
                  </a:lnTo>
                  <a:lnTo>
                    <a:pt x="172586" y="86276"/>
                  </a:lnTo>
                  <a:lnTo>
                    <a:pt x="156480" y="99683"/>
                  </a:lnTo>
                  <a:lnTo>
                    <a:pt x="139925" y="112914"/>
                  </a:lnTo>
                  <a:lnTo>
                    <a:pt x="122872" y="125913"/>
                  </a:lnTo>
                  <a:lnTo>
                    <a:pt x="105279" y="138611"/>
                  </a:lnTo>
                  <a:lnTo>
                    <a:pt x="87112" y="150930"/>
                  </a:lnTo>
                  <a:lnTo>
                    <a:pt x="68350" y="162786"/>
                  </a:lnTo>
                  <a:lnTo>
                    <a:pt x="48982" y="174089"/>
                  </a:lnTo>
                  <a:lnTo>
                    <a:pt x="29015" y="184746"/>
                  </a:lnTo>
                  <a:lnTo>
                    <a:pt x="0" y="106282"/>
                  </a:lnTo>
                  <a:lnTo>
                    <a:pt x="17284" y="97228"/>
                  </a:lnTo>
                  <a:lnTo>
                    <a:pt x="34057" y="87640"/>
                  </a:lnTo>
                  <a:lnTo>
                    <a:pt x="50313" y="77594"/>
                  </a:lnTo>
                  <a:lnTo>
                    <a:pt x="66059" y="67165"/>
                  </a:lnTo>
                  <a:lnTo>
                    <a:pt x="81314" y="56425"/>
                  </a:lnTo>
                  <a:lnTo>
                    <a:pt x="96105" y="45437"/>
                  </a:lnTo>
                  <a:lnTo>
                    <a:pt x="110469" y="34258"/>
                  </a:lnTo>
                  <a:lnTo>
                    <a:pt x="124447" y="22936"/>
                  </a:lnTo>
                  <a:lnTo>
                    <a:pt x="138086" y="11508"/>
                  </a:lnTo>
                  <a:lnTo>
                    <a:pt x="151431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79" name="Ядро эпителиальной клетки"/>
            <p:cNvSpPr/>
            <p:nvPr/>
          </p:nvSpPr>
          <p:spPr>
            <a:xfrm rot="8947059">
              <a:off x="9326213" y="296730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80" name="Клетка однослойного эпителия"/>
            <p:cNvSpPr/>
            <p:nvPr/>
          </p:nvSpPr>
          <p:spPr>
            <a:xfrm>
              <a:off x="9078384" y="3013981"/>
              <a:ext cx="222217" cy="133409"/>
            </a:xfrm>
            <a:custGeom>
              <a:avLst/>
              <a:gdLst/>
              <a:ahLst/>
              <a:cxnLst/>
              <a:rect l="l" t="t" r="r" b="b"/>
              <a:pathLst>
                <a:path w="222217" h="133409">
                  <a:moveTo>
                    <a:pt x="222217" y="78464"/>
                  </a:moveTo>
                  <a:lnTo>
                    <a:pt x="201670" y="88385"/>
                  </a:lnTo>
                  <a:lnTo>
                    <a:pt x="180578" y="97484"/>
                  </a:lnTo>
                  <a:lnTo>
                    <a:pt x="158988" y="105680"/>
                  </a:lnTo>
                  <a:lnTo>
                    <a:pt x="136960" y="112902"/>
                  </a:lnTo>
                  <a:lnTo>
                    <a:pt x="114565" y="119090"/>
                  </a:lnTo>
                  <a:lnTo>
                    <a:pt x="91883" y="124198"/>
                  </a:lnTo>
                  <a:lnTo>
                    <a:pt x="68997" y="128193"/>
                  </a:lnTo>
                  <a:lnTo>
                    <a:pt x="45997" y="131059"/>
                  </a:lnTo>
                  <a:lnTo>
                    <a:pt x="22969" y="132793"/>
                  </a:lnTo>
                  <a:lnTo>
                    <a:pt x="0" y="133409"/>
                  </a:lnTo>
                  <a:lnTo>
                    <a:pt x="1322" y="47583"/>
                  </a:lnTo>
                  <a:lnTo>
                    <a:pt x="21117" y="46894"/>
                  </a:lnTo>
                  <a:lnTo>
                    <a:pt x="40971" y="45271"/>
                  </a:lnTo>
                  <a:lnTo>
                    <a:pt x="60810" y="42703"/>
                  </a:lnTo>
                  <a:lnTo>
                    <a:pt x="80559" y="39192"/>
                  </a:lnTo>
                  <a:lnTo>
                    <a:pt x="100141" y="34754"/>
                  </a:lnTo>
                  <a:lnTo>
                    <a:pt x="119483" y="29415"/>
                  </a:lnTo>
                  <a:lnTo>
                    <a:pt x="138517" y="23215"/>
                  </a:lnTo>
                  <a:lnTo>
                    <a:pt x="157181" y="16205"/>
                  </a:lnTo>
                  <a:lnTo>
                    <a:pt x="175423" y="8444"/>
                  </a:lnTo>
                  <a:lnTo>
                    <a:pt x="193202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81" name="Ядро эпителиальной клетки"/>
            <p:cNvSpPr/>
            <p:nvPr/>
          </p:nvSpPr>
          <p:spPr>
            <a:xfrm rot="10217647">
              <a:off x="9138814" y="305904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82" name="Клетка однослойного эпителия"/>
            <p:cNvSpPr/>
            <p:nvPr/>
          </p:nvSpPr>
          <p:spPr>
            <a:xfrm>
              <a:off x="8865415" y="3025740"/>
              <a:ext cx="214291" cy="121650"/>
            </a:xfrm>
            <a:custGeom>
              <a:avLst/>
              <a:gdLst/>
              <a:ahLst/>
              <a:cxnLst/>
              <a:rect l="l" t="t" r="r" b="b"/>
              <a:pathLst>
                <a:path w="214291" h="121650">
                  <a:moveTo>
                    <a:pt x="212969" y="121650"/>
                  </a:moveTo>
                  <a:lnTo>
                    <a:pt x="190140" y="121176"/>
                  </a:lnTo>
                  <a:lnTo>
                    <a:pt x="167525" y="119650"/>
                  </a:lnTo>
                  <a:lnTo>
                    <a:pt x="145190" y="117124"/>
                  </a:lnTo>
                  <a:lnTo>
                    <a:pt x="123190" y="113657"/>
                  </a:lnTo>
                  <a:lnTo>
                    <a:pt x="101570" y="109313"/>
                  </a:lnTo>
                  <a:lnTo>
                    <a:pt x="80363" y="104162"/>
                  </a:lnTo>
                  <a:lnTo>
                    <a:pt x="59594" y="98272"/>
                  </a:lnTo>
                  <a:lnTo>
                    <a:pt x="39275" y="91713"/>
                  </a:lnTo>
                  <a:lnTo>
                    <a:pt x="19411" y="84547"/>
                  </a:lnTo>
                  <a:lnTo>
                    <a:pt x="0" y="76834"/>
                  </a:lnTo>
                  <a:lnTo>
                    <a:pt x="31135" y="0"/>
                  </a:lnTo>
                  <a:lnTo>
                    <a:pt x="47801" y="6296"/>
                  </a:lnTo>
                  <a:lnTo>
                    <a:pt x="64861" y="12131"/>
                  </a:lnTo>
                  <a:lnTo>
                    <a:pt x="82319" y="17457"/>
                  </a:lnTo>
                  <a:lnTo>
                    <a:pt x="100169" y="22220"/>
                  </a:lnTo>
                  <a:lnTo>
                    <a:pt x="118402" y="26362"/>
                  </a:lnTo>
                  <a:lnTo>
                    <a:pt x="136997" y="29827"/>
                  </a:lnTo>
                  <a:lnTo>
                    <a:pt x="155926" y="32557"/>
                  </a:lnTo>
                  <a:lnTo>
                    <a:pt x="175151" y="34498"/>
                  </a:lnTo>
                  <a:lnTo>
                    <a:pt x="194625" y="35601"/>
                  </a:lnTo>
                  <a:lnTo>
                    <a:pt x="214291" y="3582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83" name="Ядро эпителиальной клетки"/>
            <p:cNvSpPr/>
            <p:nvPr/>
          </p:nvSpPr>
          <p:spPr>
            <a:xfrm rot="11488235">
              <a:off x="8929103" y="306174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84" name="Клетка однослойного эпителия"/>
            <p:cNvSpPr/>
            <p:nvPr/>
          </p:nvSpPr>
          <p:spPr>
            <a:xfrm>
              <a:off x="8694752" y="2943317"/>
              <a:ext cx="201798" cy="159257"/>
            </a:xfrm>
            <a:custGeom>
              <a:avLst/>
              <a:gdLst/>
              <a:ahLst/>
              <a:cxnLst/>
              <a:rect l="l" t="t" r="r" b="b"/>
              <a:pathLst>
                <a:path w="201798" h="159257">
                  <a:moveTo>
                    <a:pt x="170663" y="159257"/>
                  </a:moveTo>
                  <a:lnTo>
                    <a:pt x="151699" y="151049"/>
                  </a:lnTo>
                  <a:lnTo>
                    <a:pt x="133171" y="142387"/>
                  </a:lnTo>
                  <a:lnTo>
                    <a:pt x="115068" y="133307"/>
                  </a:lnTo>
                  <a:lnTo>
                    <a:pt x="97381" y="123831"/>
                  </a:lnTo>
                  <a:lnTo>
                    <a:pt x="80103" y="113977"/>
                  </a:lnTo>
                  <a:lnTo>
                    <a:pt x="63233" y="103751"/>
                  </a:lnTo>
                  <a:lnTo>
                    <a:pt x="46773" y="93152"/>
                  </a:lnTo>
                  <a:lnTo>
                    <a:pt x="30734" y="82175"/>
                  </a:lnTo>
                  <a:lnTo>
                    <a:pt x="15135" y="70809"/>
                  </a:lnTo>
                  <a:lnTo>
                    <a:pt x="0" y="59042"/>
                  </a:lnTo>
                  <a:lnTo>
                    <a:pt x="55512" y="0"/>
                  </a:lnTo>
                  <a:lnTo>
                    <a:pt x="68464" y="9715"/>
                  </a:lnTo>
                  <a:lnTo>
                    <a:pt x="81819" y="19091"/>
                  </a:lnTo>
                  <a:lnTo>
                    <a:pt x="95554" y="28139"/>
                  </a:lnTo>
                  <a:lnTo>
                    <a:pt x="109656" y="36869"/>
                  </a:lnTo>
                  <a:lnTo>
                    <a:pt x="124114" y="45284"/>
                  </a:lnTo>
                  <a:lnTo>
                    <a:pt x="138926" y="53385"/>
                  </a:lnTo>
                  <a:lnTo>
                    <a:pt x="154094" y="61166"/>
                  </a:lnTo>
                  <a:lnTo>
                    <a:pt x="169622" y="68615"/>
                  </a:lnTo>
                  <a:lnTo>
                    <a:pt x="185520" y="75710"/>
                  </a:lnTo>
                  <a:lnTo>
                    <a:pt x="201798" y="82423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85" name="Ядро эпителиальной клетки"/>
            <p:cNvSpPr/>
            <p:nvPr/>
          </p:nvSpPr>
          <p:spPr>
            <a:xfrm rot="12758824">
              <a:off x="8751106" y="299139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86" name="Клетка однослойного эпителия"/>
            <p:cNvSpPr/>
            <p:nvPr/>
          </p:nvSpPr>
          <p:spPr>
            <a:xfrm>
              <a:off x="8576997" y="2826236"/>
              <a:ext cx="173267" cy="176123"/>
            </a:xfrm>
            <a:custGeom>
              <a:avLst/>
              <a:gdLst/>
              <a:ahLst/>
              <a:cxnLst/>
              <a:rect l="l" t="t" r="r" b="b"/>
              <a:pathLst>
                <a:path w="173267" h="176123">
                  <a:moveTo>
                    <a:pt x="117755" y="176123"/>
                  </a:moveTo>
                  <a:lnTo>
                    <a:pt x="103113" y="163941"/>
                  </a:lnTo>
                  <a:lnTo>
                    <a:pt x="89003" y="151331"/>
                  </a:lnTo>
                  <a:lnTo>
                    <a:pt x="75462" y="138284"/>
                  </a:lnTo>
                  <a:lnTo>
                    <a:pt x="62534" y="124794"/>
                  </a:lnTo>
                  <a:lnTo>
                    <a:pt x="50262" y="110860"/>
                  </a:lnTo>
                  <a:lnTo>
                    <a:pt x="38685" y="96486"/>
                  </a:lnTo>
                  <a:lnTo>
                    <a:pt x="27842" y="81683"/>
                  </a:lnTo>
                  <a:lnTo>
                    <a:pt x="17765" y="66469"/>
                  </a:lnTo>
                  <a:lnTo>
                    <a:pt x="8478" y="50865"/>
                  </a:lnTo>
                  <a:lnTo>
                    <a:pt x="0" y="34899"/>
                  </a:lnTo>
                  <a:lnTo>
                    <a:pt x="72879" y="0"/>
                  </a:lnTo>
                  <a:lnTo>
                    <a:pt x="80063" y="13273"/>
                  </a:lnTo>
                  <a:lnTo>
                    <a:pt x="87946" y="26237"/>
                  </a:lnTo>
                  <a:lnTo>
                    <a:pt x="96514" y="38870"/>
                  </a:lnTo>
                  <a:lnTo>
                    <a:pt x="105744" y="51154"/>
                  </a:lnTo>
                  <a:lnTo>
                    <a:pt x="115609" y="63074"/>
                  </a:lnTo>
                  <a:lnTo>
                    <a:pt x="126078" y="74621"/>
                  </a:lnTo>
                  <a:lnTo>
                    <a:pt x="137115" y="85792"/>
                  </a:lnTo>
                  <a:lnTo>
                    <a:pt x="148682" y="96589"/>
                  </a:lnTo>
                  <a:lnTo>
                    <a:pt x="160745" y="107015"/>
                  </a:lnTo>
                  <a:lnTo>
                    <a:pt x="173267" y="117081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87" name="Ядро эпителиальной клетки"/>
            <p:cNvSpPr/>
            <p:nvPr/>
          </p:nvSpPr>
          <p:spPr>
            <a:xfrm rot="14029412">
              <a:off x="8614604" y="288207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88" name="Клетка однослойного эпителия"/>
            <p:cNvSpPr/>
            <p:nvPr/>
          </p:nvSpPr>
          <p:spPr>
            <a:xfrm>
              <a:off x="8534183" y="2682487"/>
              <a:ext cx="115693" cy="178648"/>
            </a:xfrm>
            <a:custGeom>
              <a:avLst/>
              <a:gdLst/>
              <a:ahLst/>
              <a:cxnLst/>
              <a:rect l="l" t="t" r="r" b="b"/>
              <a:pathLst>
                <a:path w="115693" h="178648">
                  <a:moveTo>
                    <a:pt x="42814" y="178648"/>
                  </a:moveTo>
                  <a:lnTo>
                    <a:pt x="35150" y="162352"/>
                  </a:lnTo>
                  <a:lnTo>
                    <a:pt x="28301" y="145758"/>
                  </a:lnTo>
                  <a:lnTo>
                    <a:pt x="22254" y="128903"/>
                  </a:lnTo>
                  <a:lnTo>
                    <a:pt x="16990" y="111821"/>
                  </a:lnTo>
                  <a:lnTo>
                    <a:pt x="12483" y="94546"/>
                  </a:lnTo>
                  <a:lnTo>
                    <a:pt x="8697" y="77108"/>
                  </a:lnTo>
                  <a:lnTo>
                    <a:pt x="5596" y="59533"/>
                  </a:lnTo>
                  <a:lnTo>
                    <a:pt x="3138" y="41843"/>
                  </a:lnTo>
                  <a:lnTo>
                    <a:pt x="1286" y="24056"/>
                  </a:lnTo>
                  <a:lnTo>
                    <a:pt x="0" y="6181"/>
                  </a:lnTo>
                  <a:lnTo>
                    <a:pt x="80111" y="0"/>
                  </a:lnTo>
                  <a:lnTo>
                    <a:pt x="81083" y="14922"/>
                  </a:lnTo>
                  <a:lnTo>
                    <a:pt x="82545" y="29767"/>
                  </a:lnTo>
                  <a:lnTo>
                    <a:pt x="84528" y="44526"/>
                  </a:lnTo>
                  <a:lnTo>
                    <a:pt x="87067" y="59184"/>
                  </a:lnTo>
                  <a:lnTo>
                    <a:pt x="90197" y="73722"/>
                  </a:lnTo>
                  <a:lnTo>
                    <a:pt x="93950" y="88120"/>
                  </a:lnTo>
                  <a:lnTo>
                    <a:pt x="98355" y="102349"/>
                  </a:lnTo>
                  <a:lnTo>
                    <a:pt x="103438" y="116384"/>
                  </a:lnTo>
                  <a:lnTo>
                    <a:pt x="109213" y="130193"/>
                  </a:lnTo>
                  <a:lnTo>
                    <a:pt x="115693" y="143749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89" name="Ядро эпителиальной клетки"/>
            <p:cNvSpPr/>
            <p:nvPr/>
          </p:nvSpPr>
          <p:spPr>
            <a:xfrm rot="15300000">
              <a:off x="8540442" y="2736029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90" name="Клетка однослойного эпителия"/>
            <p:cNvSpPr/>
            <p:nvPr/>
          </p:nvSpPr>
          <p:spPr>
            <a:xfrm>
              <a:off x="8533191" y="2505263"/>
              <a:ext cx="96057" cy="183405"/>
            </a:xfrm>
            <a:custGeom>
              <a:avLst/>
              <a:gdLst/>
              <a:ahLst/>
              <a:cxnLst/>
              <a:rect l="l" t="t" r="r" b="b"/>
              <a:pathLst>
                <a:path w="96057" h="183405">
                  <a:moveTo>
                    <a:pt x="992" y="183405"/>
                  </a:moveTo>
                  <a:lnTo>
                    <a:pt x="241" y="165450"/>
                  </a:lnTo>
                  <a:lnTo>
                    <a:pt x="0" y="147415"/>
                  </a:lnTo>
                  <a:lnTo>
                    <a:pt x="252" y="129300"/>
                  </a:lnTo>
                  <a:lnTo>
                    <a:pt x="990" y="111099"/>
                  </a:lnTo>
                  <a:lnTo>
                    <a:pt x="2221" y="92809"/>
                  </a:lnTo>
                  <a:lnTo>
                    <a:pt x="3961" y="74425"/>
                  </a:lnTo>
                  <a:lnTo>
                    <a:pt x="6238" y="55945"/>
                  </a:lnTo>
                  <a:lnTo>
                    <a:pt x="9092" y="37374"/>
                  </a:lnTo>
                  <a:lnTo>
                    <a:pt x="12573" y="18720"/>
                  </a:lnTo>
                  <a:lnTo>
                    <a:pt x="16736" y="0"/>
                  </a:lnTo>
                  <a:lnTo>
                    <a:pt x="96057" y="23895"/>
                  </a:lnTo>
                  <a:lnTo>
                    <a:pt x="92328" y="39564"/>
                  </a:lnTo>
                  <a:lnTo>
                    <a:pt x="89189" y="55174"/>
                  </a:lnTo>
                  <a:lnTo>
                    <a:pt x="86589" y="70709"/>
                  </a:lnTo>
                  <a:lnTo>
                    <a:pt x="84486" y="86164"/>
                  </a:lnTo>
                  <a:lnTo>
                    <a:pt x="82848" y="101534"/>
                  </a:lnTo>
                  <a:lnTo>
                    <a:pt x="81649" y="116823"/>
                  </a:lnTo>
                  <a:lnTo>
                    <a:pt x="80875" y="132033"/>
                  </a:lnTo>
                  <a:lnTo>
                    <a:pt x="80521" y="147167"/>
                  </a:lnTo>
                  <a:lnTo>
                    <a:pt x="80592" y="162231"/>
                  </a:lnTo>
                  <a:lnTo>
                    <a:pt x="81103" y="177224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91" name="Ядро эпителиальной клетки"/>
            <p:cNvSpPr/>
            <p:nvPr/>
          </p:nvSpPr>
          <p:spPr>
            <a:xfrm rot="16570588">
              <a:off x="8530703" y="257243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92" name="Клетка однослойного эпителия"/>
            <p:cNvSpPr/>
            <p:nvPr/>
          </p:nvSpPr>
          <p:spPr>
            <a:xfrm>
              <a:off x="8549927" y="2324358"/>
              <a:ext cx="159976" cy="204800"/>
            </a:xfrm>
            <a:custGeom>
              <a:avLst/>
              <a:gdLst/>
              <a:ahLst/>
              <a:cxnLst/>
              <a:rect l="l" t="t" r="r" b="b"/>
              <a:pathLst>
                <a:path w="159976" h="204800">
                  <a:moveTo>
                    <a:pt x="0" y="180905"/>
                  </a:moveTo>
                  <a:lnTo>
                    <a:pt x="4907" y="162144"/>
                  </a:lnTo>
                  <a:lnTo>
                    <a:pt x="10625" y="143376"/>
                  </a:lnTo>
                  <a:lnTo>
                    <a:pt x="17218" y="124646"/>
                  </a:lnTo>
                  <a:lnTo>
                    <a:pt x="24748" y="106007"/>
                  </a:lnTo>
                  <a:lnTo>
                    <a:pt x="33271" y="87520"/>
                  </a:lnTo>
                  <a:lnTo>
                    <a:pt x="42836" y="69256"/>
                  </a:lnTo>
                  <a:lnTo>
                    <a:pt x="53478" y="51291"/>
                  </a:lnTo>
                  <a:lnTo>
                    <a:pt x="65219" y="33705"/>
                  </a:lnTo>
                  <a:lnTo>
                    <a:pt x="78069" y="16581"/>
                  </a:lnTo>
                  <a:lnTo>
                    <a:pt x="92019" y="0"/>
                  </a:lnTo>
                  <a:lnTo>
                    <a:pt x="159976" y="52982"/>
                  </a:lnTo>
                  <a:lnTo>
                    <a:pt x="147831" y="66938"/>
                  </a:lnTo>
                  <a:lnTo>
                    <a:pt x="136630" y="81341"/>
                  </a:lnTo>
                  <a:lnTo>
                    <a:pt x="126380" y="96121"/>
                  </a:lnTo>
                  <a:lnTo>
                    <a:pt x="117075" y="111209"/>
                  </a:lnTo>
                  <a:lnTo>
                    <a:pt x="108696" y="126538"/>
                  </a:lnTo>
                  <a:lnTo>
                    <a:pt x="101212" y="142045"/>
                  </a:lnTo>
                  <a:lnTo>
                    <a:pt x="94583" y="157673"/>
                  </a:lnTo>
                  <a:lnTo>
                    <a:pt x="88760" y="173369"/>
                  </a:lnTo>
                  <a:lnTo>
                    <a:pt x="83692" y="189090"/>
                  </a:lnTo>
                  <a:lnTo>
                    <a:pt x="79321" y="20480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93" name="Ядро эпителиальной клетки"/>
            <p:cNvSpPr/>
            <p:nvPr/>
          </p:nvSpPr>
          <p:spPr>
            <a:xfrm rot="17841176">
              <a:off x="8575784" y="240199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94" name="Клетка однослойного эпителия"/>
            <p:cNvSpPr/>
            <p:nvPr/>
          </p:nvSpPr>
          <p:spPr>
            <a:xfrm>
              <a:off x="8641946" y="2201616"/>
              <a:ext cx="230537" cy="175724"/>
            </a:xfrm>
            <a:custGeom>
              <a:avLst/>
              <a:gdLst/>
              <a:ahLst/>
              <a:cxnLst/>
              <a:rect l="l" t="t" r="r" b="b"/>
              <a:pathLst>
                <a:path w="230537" h="175724">
                  <a:moveTo>
                    <a:pt x="0" y="122742"/>
                  </a:moveTo>
                  <a:lnTo>
                    <a:pt x="15024" y="106784"/>
                  </a:lnTo>
                  <a:lnTo>
                    <a:pt x="31082" y="91523"/>
                  </a:lnTo>
                  <a:lnTo>
                    <a:pt x="48118" y="77026"/>
                  </a:lnTo>
                  <a:lnTo>
                    <a:pt x="66060" y="63347"/>
                  </a:lnTo>
                  <a:lnTo>
                    <a:pt x="84826" y="50533"/>
                  </a:lnTo>
                  <a:lnTo>
                    <a:pt x="104323" y="38613"/>
                  </a:lnTo>
                  <a:lnTo>
                    <a:pt x="124454" y="27605"/>
                  </a:lnTo>
                  <a:lnTo>
                    <a:pt x="145114" y="17511"/>
                  </a:lnTo>
                  <a:lnTo>
                    <a:pt x="166201" y="8318"/>
                  </a:lnTo>
                  <a:lnTo>
                    <a:pt x="187614" y="0"/>
                  </a:lnTo>
                  <a:lnTo>
                    <a:pt x="230537" y="71768"/>
                  </a:lnTo>
                  <a:lnTo>
                    <a:pt x="212024" y="78879"/>
                  </a:lnTo>
                  <a:lnTo>
                    <a:pt x="193785" y="86718"/>
                  </a:lnTo>
                  <a:lnTo>
                    <a:pt x="175908" y="95307"/>
                  </a:lnTo>
                  <a:lnTo>
                    <a:pt x="158480" y="104655"/>
                  </a:lnTo>
                  <a:lnTo>
                    <a:pt x="141591" y="114760"/>
                  </a:lnTo>
                  <a:lnTo>
                    <a:pt x="125325" y="125607"/>
                  </a:lnTo>
                  <a:lnTo>
                    <a:pt x="109762" y="137170"/>
                  </a:lnTo>
                  <a:lnTo>
                    <a:pt x="94974" y="149409"/>
                  </a:lnTo>
                  <a:lnTo>
                    <a:pt x="81023" y="162279"/>
                  </a:lnTo>
                  <a:lnTo>
                    <a:pt x="67957" y="17572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95" name="Ядро эпителиальной клетки"/>
            <p:cNvSpPr/>
            <p:nvPr/>
          </p:nvSpPr>
          <p:spPr>
            <a:xfrm rot="19111765">
              <a:off x="8709655" y="225537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96" name="Клетка однослойного эпителия"/>
            <p:cNvSpPr/>
            <p:nvPr/>
          </p:nvSpPr>
          <p:spPr>
            <a:xfrm>
              <a:off x="8829560" y="2154414"/>
              <a:ext cx="229780" cy="118970"/>
            </a:xfrm>
            <a:custGeom>
              <a:avLst/>
              <a:gdLst/>
              <a:ahLst/>
              <a:cxnLst/>
              <a:rect l="l" t="t" r="r" b="b"/>
              <a:pathLst>
                <a:path w="229780" h="118970">
                  <a:moveTo>
                    <a:pt x="0" y="47202"/>
                  </a:moveTo>
                  <a:lnTo>
                    <a:pt x="21645" y="39719"/>
                  </a:lnTo>
                  <a:lnTo>
                    <a:pt x="43433" y="33022"/>
                  </a:lnTo>
                  <a:lnTo>
                    <a:pt x="65289" y="27051"/>
                  </a:lnTo>
                  <a:lnTo>
                    <a:pt x="87149" y="21741"/>
                  </a:lnTo>
                  <a:lnTo>
                    <a:pt x="108960" y="17022"/>
                  </a:lnTo>
                  <a:lnTo>
                    <a:pt x="130687" y="12826"/>
                  </a:lnTo>
                  <a:lnTo>
                    <a:pt x="152304" y="9085"/>
                  </a:lnTo>
                  <a:lnTo>
                    <a:pt x="173802" y="5735"/>
                  </a:lnTo>
                  <a:lnTo>
                    <a:pt x="195183" y="2722"/>
                  </a:lnTo>
                  <a:lnTo>
                    <a:pt x="216456" y="0"/>
                  </a:lnTo>
                  <a:lnTo>
                    <a:pt x="229780" y="77900"/>
                  </a:lnTo>
                  <a:lnTo>
                    <a:pt x="211430" y="80335"/>
                  </a:lnTo>
                  <a:lnTo>
                    <a:pt x="192986" y="83014"/>
                  </a:lnTo>
                  <a:lnTo>
                    <a:pt x="174437" y="85975"/>
                  </a:lnTo>
                  <a:lnTo>
                    <a:pt x="155783" y="89264"/>
                  </a:lnTo>
                  <a:lnTo>
                    <a:pt x="137032" y="92934"/>
                  </a:lnTo>
                  <a:lnTo>
                    <a:pt x="118203" y="97041"/>
                  </a:lnTo>
                  <a:lnTo>
                    <a:pt x="99329" y="101642"/>
                  </a:lnTo>
                  <a:lnTo>
                    <a:pt x="80452" y="106796"/>
                  </a:lnTo>
                  <a:lnTo>
                    <a:pt x="61628" y="112555"/>
                  </a:lnTo>
                  <a:lnTo>
                    <a:pt x="42923" y="11897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97" name="Ядро эпителиальной клетки"/>
            <p:cNvSpPr/>
            <p:nvPr/>
          </p:nvSpPr>
          <p:spPr>
            <a:xfrm rot="20382353">
              <a:off x="8906483" y="218073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98" name="Клетка однослойного эпителия"/>
            <p:cNvSpPr/>
            <p:nvPr/>
          </p:nvSpPr>
          <p:spPr>
            <a:xfrm>
              <a:off x="9046016" y="2141552"/>
              <a:ext cx="211845" cy="90762"/>
            </a:xfrm>
            <a:custGeom>
              <a:avLst/>
              <a:gdLst/>
              <a:ahLst/>
              <a:cxnLst/>
              <a:rect l="l" t="t" r="r" b="b"/>
              <a:pathLst>
                <a:path w="211845" h="90762">
                  <a:moveTo>
                    <a:pt x="0" y="12862"/>
                  </a:moveTo>
                  <a:lnTo>
                    <a:pt x="21187" y="10396"/>
                  </a:lnTo>
                  <a:lnTo>
                    <a:pt x="42311" y="8165"/>
                  </a:lnTo>
                  <a:lnTo>
                    <a:pt x="63401" y="6159"/>
                  </a:lnTo>
                  <a:lnTo>
                    <a:pt x="84484" y="4385"/>
                  </a:lnTo>
                  <a:lnTo>
                    <a:pt x="105586" y="2859"/>
                  </a:lnTo>
                  <a:lnTo>
                    <a:pt x="126728" y="1613"/>
                  </a:lnTo>
                  <a:lnTo>
                    <a:pt x="147925" y="687"/>
                  </a:lnTo>
                  <a:lnTo>
                    <a:pt x="169181" y="130"/>
                  </a:lnTo>
                  <a:lnTo>
                    <a:pt x="190492" y="0"/>
                  </a:lnTo>
                  <a:lnTo>
                    <a:pt x="211845" y="356"/>
                  </a:lnTo>
                  <a:lnTo>
                    <a:pt x="195946" y="78710"/>
                  </a:lnTo>
                  <a:lnTo>
                    <a:pt x="177551" y="78574"/>
                  </a:lnTo>
                  <a:lnTo>
                    <a:pt x="159187" y="78844"/>
                  </a:lnTo>
                  <a:lnTo>
                    <a:pt x="140869" y="79470"/>
                  </a:lnTo>
                  <a:lnTo>
                    <a:pt x="122599" y="80405"/>
                  </a:lnTo>
                  <a:lnTo>
                    <a:pt x="104374" y="81606"/>
                  </a:lnTo>
                  <a:lnTo>
                    <a:pt x="86180" y="83040"/>
                  </a:lnTo>
                  <a:lnTo>
                    <a:pt x="68001" y="84682"/>
                  </a:lnTo>
                  <a:lnTo>
                    <a:pt x="49815" y="86517"/>
                  </a:lnTo>
                  <a:lnTo>
                    <a:pt x="31597" y="88541"/>
                  </a:lnTo>
                  <a:lnTo>
                    <a:pt x="13324" y="90762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599" name="Ядро эпителиальной клетки"/>
            <p:cNvSpPr/>
            <p:nvPr/>
          </p:nvSpPr>
          <p:spPr>
            <a:xfrm rot="52941">
              <a:off x="9104337" y="215518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00" name="Клетка однослойного эпителия"/>
            <p:cNvSpPr/>
            <p:nvPr/>
          </p:nvSpPr>
          <p:spPr>
            <a:xfrm>
              <a:off x="9241962" y="2141908"/>
              <a:ext cx="222294" cy="111777"/>
            </a:xfrm>
            <a:custGeom>
              <a:avLst/>
              <a:gdLst/>
              <a:ahLst/>
              <a:cxnLst/>
              <a:rect l="l" t="t" r="r" b="b"/>
              <a:pathLst>
                <a:path w="222294" h="111777">
                  <a:moveTo>
                    <a:pt x="15899" y="0"/>
                  </a:moveTo>
                  <a:lnTo>
                    <a:pt x="37268" y="905"/>
                  </a:lnTo>
                  <a:lnTo>
                    <a:pt x="58619" y="2420"/>
                  </a:lnTo>
                  <a:lnTo>
                    <a:pt x="79907" y="4603"/>
                  </a:lnTo>
                  <a:lnTo>
                    <a:pt x="101081" y="7506"/>
                  </a:lnTo>
                  <a:lnTo>
                    <a:pt x="122082" y="11175"/>
                  </a:lnTo>
                  <a:lnTo>
                    <a:pt x="142848" y="15645"/>
                  </a:lnTo>
                  <a:lnTo>
                    <a:pt x="163315" y="20941"/>
                  </a:lnTo>
                  <a:lnTo>
                    <a:pt x="183419" y="27079"/>
                  </a:lnTo>
                  <a:lnTo>
                    <a:pt x="203098" y="34062"/>
                  </a:lnTo>
                  <a:lnTo>
                    <a:pt x="222294" y="41883"/>
                  </a:lnTo>
                  <a:lnTo>
                    <a:pt x="177514" y="111777"/>
                  </a:lnTo>
                  <a:lnTo>
                    <a:pt x="161034" y="105389"/>
                  </a:lnTo>
                  <a:lnTo>
                    <a:pt x="144131" y="99705"/>
                  </a:lnTo>
                  <a:lnTo>
                    <a:pt x="126856" y="94730"/>
                  </a:lnTo>
                  <a:lnTo>
                    <a:pt x="109261" y="90461"/>
                  </a:lnTo>
                  <a:lnTo>
                    <a:pt x="91403" y="86885"/>
                  </a:lnTo>
                  <a:lnTo>
                    <a:pt x="73336" y="83979"/>
                  </a:lnTo>
                  <a:lnTo>
                    <a:pt x="55115" y="81714"/>
                  </a:lnTo>
                  <a:lnTo>
                    <a:pt x="36789" y="80052"/>
                  </a:lnTo>
                  <a:lnTo>
                    <a:pt x="18405" y="78948"/>
                  </a:lnTo>
                  <a:lnTo>
                    <a:pt x="0" y="78354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01" name="Ядро эпителиальной клетки"/>
            <p:cNvSpPr/>
            <p:nvPr/>
          </p:nvSpPr>
          <p:spPr>
            <a:xfrm rot="1323529">
              <a:off x="9301456" y="216227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02" name="Клетка однослойного эпителия"/>
            <p:cNvSpPr/>
            <p:nvPr/>
          </p:nvSpPr>
          <p:spPr>
            <a:xfrm>
              <a:off x="9419476" y="2183791"/>
              <a:ext cx="202601" cy="166783"/>
            </a:xfrm>
            <a:custGeom>
              <a:avLst/>
              <a:gdLst/>
              <a:ahLst/>
              <a:cxnLst/>
              <a:rect l="l" t="t" r="r" b="b"/>
              <a:pathLst>
                <a:path w="202601" h="166783">
                  <a:moveTo>
                    <a:pt x="44780" y="0"/>
                  </a:moveTo>
                  <a:lnTo>
                    <a:pt x="63442" y="8641"/>
                  </a:lnTo>
                  <a:lnTo>
                    <a:pt x="81524" y="18078"/>
                  </a:lnTo>
                  <a:lnTo>
                    <a:pt x="98991" y="28277"/>
                  </a:lnTo>
                  <a:lnTo>
                    <a:pt x="115814" y="39198"/>
                  </a:lnTo>
                  <a:lnTo>
                    <a:pt x="131972" y="50798"/>
                  </a:lnTo>
                  <a:lnTo>
                    <a:pt x="147455" y="63032"/>
                  </a:lnTo>
                  <a:lnTo>
                    <a:pt x="162257" y="75854"/>
                  </a:lnTo>
                  <a:lnTo>
                    <a:pt x="176379" y="89219"/>
                  </a:lnTo>
                  <a:lnTo>
                    <a:pt x="189825" y="103085"/>
                  </a:lnTo>
                  <a:lnTo>
                    <a:pt x="202601" y="117414"/>
                  </a:lnTo>
                  <a:lnTo>
                    <a:pt x="135090" y="166783"/>
                  </a:lnTo>
                  <a:lnTo>
                    <a:pt x="124190" y="154909"/>
                  </a:lnTo>
                  <a:lnTo>
                    <a:pt x="112710" y="143428"/>
                  </a:lnTo>
                  <a:lnTo>
                    <a:pt x="100644" y="132370"/>
                  </a:lnTo>
                  <a:lnTo>
                    <a:pt x="87988" y="121771"/>
                  </a:lnTo>
                  <a:lnTo>
                    <a:pt x="74740" y="111669"/>
                  </a:lnTo>
                  <a:lnTo>
                    <a:pt x="60906" y="102101"/>
                  </a:lnTo>
                  <a:lnTo>
                    <a:pt x="46494" y="93105"/>
                  </a:lnTo>
                  <a:lnTo>
                    <a:pt x="31522" y="84718"/>
                  </a:lnTo>
                  <a:lnTo>
                    <a:pt x="16013" y="76972"/>
                  </a:lnTo>
                  <a:lnTo>
                    <a:pt x="0" y="6989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03" name="Ядро эпителиальной клетки"/>
            <p:cNvSpPr/>
            <p:nvPr/>
          </p:nvSpPr>
          <p:spPr>
            <a:xfrm rot="2594118">
              <a:off x="9475053" y="223606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04" name="Клетка однослойного эпителия"/>
            <p:cNvSpPr/>
            <p:nvPr/>
          </p:nvSpPr>
          <p:spPr>
            <a:xfrm>
              <a:off x="9554566" y="2301205"/>
              <a:ext cx="157980" cy="185207"/>
            </a:xfrm>
            <a:custGeom>
              <a:avLst/>
              <a:gdLst/>
              <a:ahLst/>
              <a:cxnLst/>
              <a:rect l="l" t="t" r="r" b="b"/>
              <a:pathLst>
                <a:path w="157980" h="185207">
                  <a:moveTo>
                    <a:pt x="67511" y="0"/>
                  </a:moveTo>
                  <a:lnTo>
                    <a:pt x="79625" y="14759"/>
                  </a:lnTo>
                  <a:lnTo>
                    <a:pt x="91081" y="29917"/>
                  </a:lnTo>
                  <a:lnTo>
                    <a:pt x="101881" y="45451"/>
                  </a:lnTo>
                  <a:lnTo>
                    <a:pt x="112022" y="61342"/>
                  </a:lnTo>
                  <a:lnTo>
                    <a:pt x="121494" y="77573"/>
                  </a:lnTo>
                  <a:lnTo>
                    <a:pt x="130280" y="94133"/>
                  </a:lnTo>
                  <a:lnTo>
                    <a:pt x="138356" y="111010"/>
                  </a:lnTo>
                  <a:lnTo>
                    <a:pt x="145691" y="128193"/>
                  </a:lnTo>
                  <a:lnTo>
                    <a:pt x="152247" y="145672"/>
                  </a:lnTo>
                  <a:lnTo>
                    <a:pt x="157980" y="163431"/>
                  </a:lnTo>
                  <a:lnTo>
                    <a:pt x="76710" y="185207"/>
                  </a:lnTo>
                  <a:lnTo>
                    <a:pt x="71905" y="170415"/>
                  </a:lnTo>
                  <a:lnTo>
                    <a:pt x="66389" y="155864"/>
                  </a:lnTo>
                  <a:lnTo>
                    <a:pt x="60199" y="141565"/>
                  </a:lnTo>
                  <a:lnTo>
                    <a:pt x="53368" y="127528"/>
                  </a:lnTo>
                  <a:lnTo>
                    <a:pt x="45924" y="113761"/>
                  </a:lnTo>
                  <a:lnTo>
                    <a:pt x="37886" y="100274"/>
                  </a:lnTo>
                  <a:lnTo>
                    <a:pt x="29269" y="87076"/>
                  </a:lnTo>
                  <a:lnTo>
                    <a:pt x="20081" y="74181"/>
                  </a:lnTo>
                  <a:lnTo>
                    <a:pt x="10325" y="61605"/>
                  </a:lnTo>
                  <a:lnTo>
                    <a:pt x="0" y="49369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05" name="Ядро эпителиальной клетки"/>
            <p:cNvSpPr/>
            <p:nvPr/>
          </p:nvSpPr>
          <p:spPr>
            <a:xfrm rot="3864706">
              <a:off x="9590128" y="2367420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06" name="Просвет канальца"/>
            <p:cNvSpPr/>
            <p:nvPr/>
          </p:nvSpPr>
          <p:spPr>
            <a:xfrm>
              <a:off x="8611284" y="2216471"/>
              <a:ext cx="1029179" cy="840679"/>
            </a:xfrm>
            <a:custGeom>
              <a:avLst/>
              <a:gdLst/>
              <a:ahLst/>
              <a:cxnLst/>
              <a:rect l="l" t="t" r="r" b="b"/>
              <a:pathLst>
                <a:path w="1029179" h="840679">
                  <a:moveTo>
                    <a:pt x="1016538" y="270867"/>
                  </a:moveTo>
                  <a:lnTo>
                    <a:pt x="1022124" y="292038"/>
                  </a:lnTo>
                  <a:lnTo>
                    <a:pt x="1026163" y="313604"/>
                  </a:lnTo>
                  <a:lnTo>
                    <a:pt x="1028547" y="335502"/>
                  </a:lnTo>
                  <a:lnTo>
                    <a:pt x="1029179" y="357651"/>
                  </a:lnTo>
                  <a:lnTo>
                    <a:pt x="1027984" y="379953"/>
                  </a:lnTo>
                  <a:lnTo>
                    <a:pt x="1024919" y="402298"/>
                  </a:lnTo>
                  <a:lnTo>
                    <a:pt x="1019978" y="424567"/>
                  </a:lnTo>
                  <a:lnTo>
                    <a:pt x="1013197" y="446639"/>
                  </a:lnTo>
                  <a:lnTo>
                    <a:pt x="1004652" y="468400"/>
                  </a:lnTo>
                  <a:lnTo>
                    <a:pt x="994461" y="489749"/>
                  </a:lnTo>
                  <a:lnTo>
                    <a:pt x="982770" y="510603"/>
                  </a:lnTo>
                  <a:lnTo>
                    <a:pt x="969752" y="530904"/>
                  </a:lnTo>
                  <a:lnTo>
                    <a:pt x="955589" y="550624"/>
                  </a:lnTo>
                  <a:lnTo>
                    <a:pt x="940465" y="569759"/>
                  </a:lnTo>
                  <a:lnTo>
                    <a:pt x="924549" y="588336"/>
                  </a:lnTo>
                  <a:lnTo>
                    <a:pt x="907987" y="606398"/>
                  </a:lnTo>
                  <a:lnTo>
                    <a:pt x="890891" y="624006"/>
                  </a:lnTo>
                  <a:lnTo>
                    <a:pt x="873337" y="641224"/>
                  </a:lnTo>
                  <a:lnTo>
                    <a:pt x="855356" y="658113"/>
                  </a:lnTo>
                  <a:lnTo>
                    <a:pt x="836939" y="674720"/>
                  </a:lnTo>
                  <a:lnTo>
                    <a:pt x="818042" y="691069"/>
                  </a:lnTo>
                  <a:lnTo>
                    <a:pt x="798594" y="707155"/>
                  </a:lnTo>
                  <a:lnTo>
                    <a:pt x="778506" y="722936"/>
                  </a:lnTo>
                  <a:lnTo>
                    <a:pt x="757684" y="738337"/>
                  </a:lnTo>
                  <a:lnTo>
                    <a:pt x="736042" y="753246"/>
                  </a:lnTo>
                  <a:lnTo>
                    <a:pt x="713513" y="767521"/>
                  </a:lnTo>
                  <a:lnTo>
                    <a:pt x="690058" y="780996"/>
                  </a:lnTo>
                  <a:lnTo>
                    <a:pt x="665677" y="793494"/>
                  </a:lnTo>
                  <a:lnTo>
                    <a:pt x="640409" y="804831"/>
                  </a:lnTo>
                  <a:lnTo>
                    <a:pt x="614334" y="814836"/>
                  </a:lnTo>
                  <a:lnTo>
                    <a:pt x="587570" y="823354"/>
                  </a:lnTo>
                  <a:lnTo>
                    <a:pt x="560270" y="830262"/>
                  </a:lnTo>
                  <a:lnTo>
                    <a:pt x="532606" y="835472"/>
                  </a:lnTo>
                  <a:lnTo>
                    <a:pt x="504766" y="838940"/>
                  </a:lnTo>
                  <a:lnTo>
                    <a:pt x="476937" y="840663"/>
                  </a:lnTo>
                  <a:lnTo>
                    <a:pt x="449298" y="840679"/>
                  </a:lnTo>
                  <a:lnTo>
                    <a:pt x="422009" y="839067"/>
                  </a:lnTo>
                  <a:lnTo>
                    <a:pt x="395205" y="835931"/>
                  </a:lnTo>
                  <a:lnTo>
                    <a:pt x="368989" y="831397"/>
                  </a:lnTo>
                  <a:lnTo>
                    <a:pt x="343432" y="825603"/>
                  </a:lnTo>
                  <a:lnTo>
                    <a:pt x="318577" y="818686"/>
                  </a:lnTo>
                  <a:lnTo>
                    <a:pt x="294439" y="810772"/>
                  </a:lnTo>
                  <a:lnTo>
                    <a:pt x="271018" y="801974"/>
                  </a:lnTo>
                  <a:lnTo>
                    <a:pt x="248301" y="792376"/>
                  </a:lnTo>
                  <a:lnTo>
                    <a:pt x="226275" y="782042"/>
                  </a:lnTo>
                  <a:lnTo>
                    <a:pt x="204935" y="771007"/>
                  </a:lnTo>
                  <a:lnTo>
                    <a:pt x="184289" y="759279"/>
                  </a:lnTo>
                  <a:lnTo>
                    <a:pt x="164366" y="746852"/>
                  </a:lnTo>
                  <a:lnTo>
                    <a:pt x="145215" y="733704"/>
                  </a:lnTo>
                  <a:lnTo>
                    <a:pt x="126908" y="719806"/>
                  </a:lnTo>
                  <a:lnTo>
                    <a:pt x="109533" y="705133"/>
                  </a:lnTo>
                  <a:lnTo>
                    <a:pt x="93192" y="689667"/>
                  </a:lnTo>
                  <a:lnTo>
                    <a:pt x="77990" y="673405"/>
                  </a:lnTo>
                  <a:lnTo>
                    <a:pt x="64029" y="656360"/>
                  </a:lnTo>
                  <a:lnTo>
                    <a:pt x="51398" y="638567"/>
                  </a:lnTo>
                  <a:lnTo>
                    <a:pt x="40167" y="620077"/>
                  </a:lnTo>
                  <a:lnTo>
                    <a:pt x="30377" y="600960"/>
                  </a:lnTo>
                  <a:lnTo>
                    <a:pt x="22043" y="581295"/>
                  </a:lnTo>
                  <a:lnTo>
                    <a:pt x="15146" y="561168"/>
                  </a:lnTo>
                  <a:lnTo>
                    <a:pt x="9642" y="540664"/>
                  </a:lnTo>
                  <a:lnTo>
                    <a:pt x="5460" y="519863"/>
                  </a:lnTo>
                  <a:lnTo>
                    <a:pt x="2518" y="498832"/>
                  </a:lnTo>
                  <a:lnTo>
                    <a:pt x="727" y="477625"/>
                  </a:lnTo>
                  <a:lnTo>
                    <a:pt x="0" y="456280"/>
                  </a:lnTo>
                  <a:lnTo>
                    <a:pt x="268" y="434817"/>
                  </a:lnTo>
                  <a:lnTo>
                    <a:pt x="1483" y="413247"/>
                  </a:lnTo>
                  <a:lnTo>
                    <a:pt x="3627" y="391571"/>
                  </a:lnTo>
                  <a:lnTo>
                    <a:pt x="6717" y="369789"/>
                  </a:lnTo>
                  <a:lnTo>
                    <a:pt x="10802" y="347906"/>
                  </a:lnTo>
                  <a:lnTo>
                    <a:pt x="15964" y="325941"/>
                  </a:lnTo>
                  <a:lnTo>
                    <a:pt x="22309" y="303930"/>
                  </a:lnTo>
                  <a:lnTo>
                    <a:pt x="29959" y="281933"/>
                  </a:lnTo>
                  <a:lnTo>
                    <a:pt x="39040" y="260037"/>
                  </a:lnTo>
                  <a:lnTo>
                    <a:pt x="49672" y="238353"/>
                  </a:lnTo>
                  <a:lnTo>
                    <a:pt x="61953" y="217019"/>
                  </a:lnTo>
                  <a:lnTo>
                    <a:pt x="75953" y="196188"/>
                  </a:lnTo>
                  <a:lnTo>
                    <a:pt x="91701" y="176027"/>
                  </a:lnTo>
                  <a:lnTo>
                    <a:pt x="109179" y="156704"/>
                  </a:lnTo>
                  <a:lnTo>
                    <a:pt x="128326" y="138380"/>
                  </a:lnTo>
                  <a:lnTo>
                    <a:pt x="149029" y="121199"/>
                  </a:lnTo>
                  <a:lnTo>
                    <a:pt x="171138" y="105277"/>
                  </a:lnTo>
                  <a:lnTo>
                    <a:pt x="194469" y="90697"/>
                  </a:lnTo>
                  <a:lnTo>
                    <a:pt x="218816" y="77502"/>
                  </a:lnTo>
                  <a:lnTo>
                    <a:pt x="243963" y="65697"/>
                  </a:lnTo>
                  <a:lnTo>
                    <a:pt x="269698" y="55242"/>
                  </a:lnTo>
                  <a:lnTo>
                    <a:pt x="295824" y="46067"/>
                  </a:lnTo>
                  <a:lnTo>
                    <a:pt x="322170" y="38070"/>
                  </a:lnTo>
                  <a:lnTo>
                    <a:pt x="348597" y="31132"/>
                  </a:lnTo>
                  <a:lnTo>
                    <a:pt x="375006" y="25122"/>
                  </a:lnTo>
                  <a:lnTo>
                    <a:pt x="401336" y="19917"/>
                  </a:lnTo>
                  <a:lnTo>
                    <a:pt x="427561" y="15405"/>
                  </a:lnTo>
                  <a:lnTo>
                    <a:pt x="453688" y="11497"/>
                  </a:lnTo>
                  <a:lnTo>
                    <a:pt x="479744" y="8135"/>
                  </a:lnTo>
                  <a:lnTo>
                    <a:pt x="505768" y="5299"/>
                  </a:lnTo>
                  <a:lnTo>
                    <a:pt x="531801" y="3002"/>
                  </a:lnTo>
                  <a:lnTo>
                    <a:pt x="557873" y="1295"/>
                  </a:lnTo>
                  <a:lnTo>
                    <a:pt x="583998" y="260"/>
                  </a:lnTo>
                  <a:lnTo>
                    <a:pt x="610164" y="0"/>
                  </a:lnTo>
                  <a:lnTo>
                    <a:pt x="636328" y="634"/>
                  </a:lnTo>
                  <a:lnTo>
                    <a:pt x="662419" y="2285"/>
                  </a:lnTo>
                  <a:lnTo>
                    <a:pt x="688337" y="5069"/>
                  </a:lnTo>
                  <a:lnTo>
                    <a:pt x="713959" y="9087"/>
                  </a:lnTo>
                  <a:lnTo>
                    <a:pt x="739148" y="14417"/>
                  </a:lnTo>
                  <a:lnTo>
                    <a:pt x="763758" y="21108"/>
                  </a:lnTo>
                  <a:lnTo>
                    <a:pt x="787646" y="29175"/>
                  </a:lnTo>
                  <a:lnTo>
                    <a:pt x="810681" y="38604"/>
                  </a:lnTo>
                  <a:lnTo>
                    <a:pt x="832751" y="49349"/>
                  </a:lnTo>
                  <a:lnTo>
                    <a:pt x="853765" y="61341"/>
                  </a:lnTo>
                  <a:lnTo>
                    <a:pt x="873663" y="74490"/>
                  </a:lnTo>
                  <a:lnTo>
                    <a:pt x="892407" y="88696"/>
                  </a:lnTo>
                  <a:lnTo>
                    <a:pt x="909986" y="103857"/>
                  </a:lnTo>
                  <a:lnTo>
                    <a:pt x="926404" y="119873"/>
                  </a:lnTo>
                  <a:lnTo>
                    <a:pt x="941677" y="136654"/>
                  </a:lnTo>
                  <a:lnTo>
                    <a:pt x="955824" y="154125"/>
                  </a:lnTo>
                  <a:lnTo>
                    <a:pt x="968858" y="172223"/>
                  </a:lnTo>
                  <a:lnTo>
                    <a:pt x="980775" y="190903"/>
                  </a:lnTo>
                  <a:lnTo>
                    <a:pt x="991557" y="210132"/>
                  </a:lnTo>
                  <a:lnTo>
                    <a:pt x="1001159" y="229884"/>
                  </a:lnTo>
                  <a:lnTo>
                    <a:pt x="1009516" y="250138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07" name="Базальная мембрана канальца"/>
            <p:cNvSpPr/>
            <p:nvPr/>
          </p:nvSpPr>
          <p:spPr>
            <a:xfrm>
              <a:off x="9976860" y="2418746"/>
              <a:ext cx="1378666" cy="1072723"/>
            </a:xfrm>
            <a:custGeom>
              <a:avLst/>
              <a:gdLst/>
              <a:ahLst/>
              <a:cxnLst/>
              <a:rect l="l" t="t" r="r" b="b"/>
              <a:pathLst>
                <a:path w="1378666" h="1072723">
                  <a:moveTo>
                    <a:pt x="1325740" y="758816"/>
                  </a:moveTo>
                  <a:lnTo>
                    <a:pt x="1312673" y="781505"/>
                  </a:lnTo>
                  <a:lnTo>
                    <a:pt x="1298901" y="803653"/>
                  </a:lnTo>
                  <a:lnTo>
                    <a:pt x="1284519" y="825352"/>
                  </a:lnTo>
                  <a:lnTo>
                    <a:pt x="1269549" y="846680"/>
                  </a:lnTo>
                  <a:lnTo>
                    <a:pt x="1253948" y="867679"/>
                  </a:lnTo>
                  <a:lnTo>
                    <a:pt x="1237617" y="888358"/>
                  </a:lnTo>
                  <a:lnTo>
                    <a:pt x="1220410" y="908678"/>
                  </a:lnTo>
                  <a:lnTo>
                    <a:pt x="1202157" y="928556"/>
                  </a:lnTo>
                  <a:lnTo>
                    <a:pt x="1182675" y="947863"/>
                  </a:lnTo>
                  <a:lnTo>
                    <a:pt x="1161793" y="966435"/>
                  </a:lnTo>
                  <a:lnTo>
                    <a:pt x="1139366" y="984080"/>
                  </a:lnTo>
                  <a:lnTo>
                    <a:pt x="1115289" y="1000592"/>
                  </a:lnTo>
                  <a:lnTo>
                    <a:pt x="1089506" y="1015765"/>
                  </a:lnTo>
                  <a:lnTo>
                    <a:pt x="1062019" y="1029401"/>
                  </a:lnTo>
                  <a:lnTo>
                    <a:pt x="1032886" y="1041334"/>
                  </a:lnTo>
                  <a:lnTo>
                    <a:pt x="1002217" y="1051428"/>
                  </a:lnTo>
                  <a:lnTo>
                    <a:pt x="970164" y="1059592"/>
                  </a:lnTo>
                  <a:lnTo>
                    <a:pt x="936916" y="1065782"/>
                  </a:lnTo>
                  <a:lnTo>
                    <a:pt x="902676" y="1069999"/>
                  </a:lnTo>
                  <a:lnTo>
                    <a:pt x="867656" y="1072287"/>
                  </a:lnTo>
                  <a:lnTo>
                    <a:pt x="832062" y="1072723"/>
                  </a:lnTo>
                  <a:lnTo>
                    <a:pt x="796081" y="1071410"/>
                  </a:lnTo>
                  <a:lnTo>
                    <a:pt x="759875" y="1068464"/>
                  </a:lnTo>
                  <a:lnTo>
                    <a:pt x="723581" y="1064002"/>
                  </a:lnTo>
                  <a:lnTo>
                    <a:pt x="687307" y="1058131"/>
                  </a:lnTo>
                  <a:lnTo>
                    <a:pt x="651136" y="1050943"/>
                  </a:lnTo>
                  <a:lnTo>
                    <a:pt x="615137" y="1042503"/>
                  </a:lnTo>
                  <a:lnTo>
                    <a:pt x="579368" y="1032850"/>
                  </a:lnTo>
                  <a:lnTo>
                    <a:pt x="543889" y="1021995"/>
                  </a:lnTo>
                  <a:lnTo>
                    <a:pt x="508771" y="1009928"/>
                  </a:lnTo>
                  <a:lnTo>
                    <a:pt x="474103" y="996621"/>
                  </a:lnTo>
                  <a:lnTo>
                    <a:pt x="439994" y="982040"/>
                  </a:lnTo>
                  <a:lnTo>
                    <a:pt x="406580" y="966149"/>
                  </a:lnTo>
                  <a:lnTo>
                    <a:pt x="374016" y="948929"/>
                  </a:lnTo>
                  <a:lnTo>
                    <a:pt x="342472" y="930377"/>
                  </a:lnTo>
                  <a:lnTo>
                    <a:pt x="312127" y="910519"/>
                  </a:lnTo>
                  <a:lnTo>
                    <a:pt x="283154" y="889410"/>
                  </a:lnTo>
                  <a:lnTo>
                    <a:pt x="255708" y="867138"/>
                  </a:lnTo>
                  <a:lnTo>
                    <a:pt x="229915" y="843818"/>
                  </a:lnTo>
                  <a:lnTo>
                    <a:pt x="205864" y="819588"/>
                  </a:lnTo>
                  <a:lnTo>
                    <a:pt x="183594" y="794603"/>
                  </a:lnTo>
                  <a:lnTo>
                    <a:pt x="163093" y="769020"/>
                  </a:lnTo>
                  <a:lnTo>
                    <a:pt x="144301" y="742993"/>
                  </a:lnTo>
                  <a:lnTo>
                    <a:pt x="127111" y="716657"/>
                  </a:lnTo>
                  <a:lnTo>
                    <a:pt x="111380" y="690126"/>
                  </a:lnTo>
                  <a:lnTo>
                    <a:pt x="96946" y="663480"/>
                  </a:lnTo>
                  <a:lnTo>
                    <a:pt x="83639" y="636769"/>
                  </a:lnTo>
                  <a:lnTo>
                    <a:pt x="71301" y="610007"/>
                  </a:lnTo>
                  <a:lnTo>
                    <a:pt x="59804" y="583179"/>
                  </a:lnTo>
                  <a:lnTo>
                    <a:pt x="49064" y="556250"/>
                  </a:lnTo>
                  <a:lnTo>
                    <a:pt x="39053" y="529170"/>
                  </a:lnTo>
                  <a:lnTo>
                    <a:pt x="29809" y="501890"/>
                  </a:lnTo>
                  <a:lnTo>
                    <a:pt x="21434" y="474372"/>
                  </a:lnTo>
                  <a:lnTo>
                    <a:pt x="14095" y="446600"/>
                  </a:lnTo>
                  <a:lnTo>
                    <a:pt x="8012" y="418592"/>
                  </a:lnTo>
                  <a:lnTo>
                    <a:pt x="3446" y="390404"/>
                  </a:lnTo>
                  <a:lnTo>
                    <a:pt x="680" y="362135"/>
                  </a:lnTo>
                  <a:lnTo>
                    <a:pt x="0" y="333928"/>
                  </a:lnTo>
                  <a:lnTo>
                    <a:pt x="1672" y="305960"/>
                  </a:lnTo>
                  <a:lnTo>
                    <a:pt x="5925" y="278443"/>
                  </a:lnTo>
                  <a:lnTo>
                    <a:pt x="12932" y="251603"/>
                  </a:lnTo>
                  <a:lnTo>
                    <a:pt x="22798" y="225675"/>
                  </a:lnTo>
                  <a:lnTo>
                    <a:pt x="35552" y="200884"/>
                  </a:lnTo>
                  <a:lnTo>
                    <a:pt x="51140" y="177431"/>
                  </a:lnTo>
                  <a:lnTo>
                    <a:pt x="69438" y="155485"/>
                  </a:lnTo>
                  <a:lnTo>
                    <a:pt x="90251" y="135171"/>
                  </a:lnTo>
                  <a:lnTo>
                    <a:pt x="113334" y="116562"/>
                  </a:lnTo>
                  <a:lnTo>
                    <a:pt x="138405" y="99681"/>
                  </a:lnTo>
                  <a:lnTo>
                    <a:pt x="165163" y="84502"/>
                  </a:lnTo>
                  <a:lnTo>
                    <a:pt x="193310" y="70955"/>
                  </a:lnTo>
                  <a:lnTo>
                    <a:pt x="222567" y="58935"/>
                  </a:lnTo>
                  <a:lnTo>
                    <a:pt x="252685" y="48318"/>
                  </a:lnTo>
                  <a:lnTo>
                    <a:pt x="283463" y="38971"/>
                  </a:lnTo>
                  <a:lnTo>
                    <a:pt x="314746" y="30766"/>
                  </a:lnTo>
                  <a:lnTo>
                    <a:pt x="346431" y="23594"/>
                  </a:lnTo>
                  <a:lnTo>
                    <a:pt x="378461" y="17372"/>
                  </a:lnTo>
                  <a:lnTo>
                    <a:pt x="410818" y="12055"/>
                  </a:lnTo>
                  <a:lnTo>
                    <a:pt x="443512" y="7636"/>
                  </a:lnTo>
                  <a:lnTo>
                    <a:pt x="476567" y="4143"/>
                  </a:lnTo>
                  <a:lnTo>
                    <a:pt x="510010" y="1643"/>
                  </a:lnTo>
                  <a:lnTo>
                    <a:pt x="543859" y="226"/>
                  </a:lnTo>
                  <a:lnTo>
                    <a:pt x="578110" y="0"/>
                  </a:lnTo>
                  <a:lnTo>
                    <a:pt x="612735" y="1077"/>
                  </a:lnTo>
                  <a:lnTo>
                    <a:pt x="647675" y="3563"/>
                  </a:lnTo>
                  <a:lnTo>
                    <a:pt x="682842" y="7548"/>
                  </a:lnTo>
                  <a:lnTo>
                    <a:pt x="718126" y="13094"/>
                  </a:lnTo>
                  <a:lnTo>
                    <a:pt x="753397" y="20234"/>
                  </a:lnTo>
                  <a:lnTo>
                    <a:pt x="788519" y="28962"/>
                  </a:lnTo>
                  <a:lnTo>
                    <a:pt x="823358" y="39240"/>
                  </a:lnTo>
                  <a:lnTo>
                    <a:pt x="857792" y="51000"/>
                  </a:lnTo>
                  <a:lnTo>
                    <a:pt x="891719" y="64148"/>
                  </a:lnTo>
                  <a:lnTo>
                    <a:pt x="925062" y="78577"/>
                  </a:lnTo>
                  <a:lnTo>
                    <a:pt x="957769" y="94174"/>
                  </a:lnTo>
                  <a:lnTo>
                    <a:pt x="989815" y="110831"/>
                  </a:lnTo>
                  <a:lnTo>
                    <a:pt x="1021194" y="128453"/>
                  </a:lnTo>
                  <a:lnTo>
                    <a:pt x="1051912" y="146968"/>
                  </a:lnTo>
                  <a:lnTo>
                    <a:pt x="1081973" y="166324"/>
                  </a:lnTo>
                  <a:lnTo>
                    <a:pt x="1111372" y="186499"/>
                  </a:lnTo>
                  <a:lnTo>
                    <a:pt x="1140080" y="207491"/>
                  </a:lnTo>
                  <a:lnTo>
                    <a:pt x="1168033" y="229319"/>
                  </a:lnTo>
                  <a:lnTo>
                    <a:pt x="1195131" y="252008"/>
                  </a:lnTo>
                  <a:lnTo>
                    <a:pt x="1221225" y="275588"/>
                  </a:lnTo>
                  <a:lnTo>
                    <a:pt x="1246128" y="300074"/>
                  </a:lnTo>
                  <a:lnTo>
                    <a:pt x="1269613" y="325467"/>
                  </a:lnTo>
                  <a:lnTo>
                    <a:pt x="1291426" y="351736"/>
                  </a:lnTo>
                  <a:lnTo>
                    <a:pt x="1311301" y="378819"/>
                  </a:lnTo>
                  <a:lnTo>
                    <a:pt x="1328975" y="406616"/>
                  </a:lnTo>
                  <a:lnTo>
                    <a:pt x="1344204" y="434993"/>
                  </a:lnTo>
                  <a:lnTo>
                    <a:pt x="1356785" y="463784"/>
                  </a:lnTo>
                  <a:lnTo>
                    <a:pt x="1366569" y="492801"/>
                  </a:lnTo>
                  <a:lnTo>
                    <a:pt x="1373470" y="521841"/>
                  </a:lnTo>
                  <a:lnTo>
                    <a:pt x="1377480" y="550702"/>
                  </a:lnTo>
                  <a:lnTo>
                    <a:pt x="1378666" y="579190"/>
                  </a:lnTo>
                  <a:lnTo>
                    <a:pt x="1377168" y="607138"/>
                  </a:lnTo>
                  <a:lnTo>
                    <a:pt x="1373190" y="634409"/>
                  </a:lnTo>
                  <a:lnTo>
                    <a:pt x="1366986" y="660908"/>
                  </a:lnTo>
                  <a:lnTo>
                    <a:pt x="1358846" y="686585"/>
                  </a:lnTo>
                  <a:lnTo>
                    <a:pt x="1349068" y="711434"/>
                  </a:lnTo>
                  <a:lnTo>
                    <a:pt x="1337945" y="735489"/>
                  </a:lnTo>
                  <a:close/>
                </a:path>
              </a:pathLst>
            </a:custGeom>
            <a:solidFill>
              <a:srgbClr val="C9B6CF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08" name="Клетка однослойного эпителия"/>
            <p:cNvSpPr/>
            <p:nvPr/>
          </p:nvSpPr>
          <p:spPr>
            <a:xfrm>
              <a:off x="11119730" y="3140606"/>
              <a:ext cx="155987" cy="161413"/>
            </a:xfrm>
            <a:custGeom>
              <a:avLst/>
              <a:gdLst/>
              <a:ahLst/>
              <a:cxnLst/>
              <a:rect l="l" t="t" r="r" b="b"/>
              <a:pathLst>
                <a:path w="155987" h="161413">
                  <a:moveTo>
                    <a:pt x="155987" y="27172"/>
                  </a:moveTo>
                  <a:lnTo>
                    <a:pt x="147388" y="41341"/>
                  </a:lnTo>
                  <a:lnTo>
                    <a:pt x="138535" y="55272"/>
                  </a:lnTo>
                  <a:lnTo>
                    <a:pt x="129470" y="68997"/>
                  </a:lnTo>
                  <a:lnTo>
                    <a:pt x="120217" y="82551"/>
                  </a:lnTo>
                  <a:lnTo>
                    <a:pt x="110789" y="95961"/>
                  </a:lnTo>
                  <a:lnTo>
                    <a:pt x="101180" y="109252"/>
                  </a:lnTo>
                  <a:lnTo>
                    <a:pt x="91374" y="122439"/>
                  </a:lnTo>
                  <a:lnTo>
                    <a:pt x="81339" y="135531"/>
                  </a:lnTo>
                  <a:lnTo>
                    <a:pt x="71034" y="148526"/>
                  </a:lnTo>
                  <a:lnTo>
                    <a:pt x="60410" y="161413"/>
                  </a:lnTo>
                  <a:lnTo>
                    <a:pt x="0" y="110723"/>
                  </a:lnTo>
                  <a:lnTo>
                    <a:pt x="9072" y="100115"/>
                  </a:lnTo>
                  <a:lnTo>
                    <a:pt x="17864" y="89413"/>
                  </a:lnTo>
                  <a:lnTo>
                    <a:pt x="26419" y="78626"/>
                  </a:lnTo>
                  <a:lnTo>
                    <a:pt x="34773" y="67756"/>
                  </a:lnTo>
                  <a:lnTo>
                    <a:pt x="42953" y="56796"/>
                  </a:lnTo>
                  <a:lnTo>
                    <a:pt x="50974" y="45734"/>
                  </a:lnTo>
                  <a:lnTo>
                    <a:pt x="58839" y="34548"/>
                  </a:lnTo>
                  <a:lnTo>
                    <a:pt x="66538" y="23217"/>
                  </a:lnTo>
                  <a:lnTo>
                    <a:pt x="74048" y="11710"/>
                  </a:lnTo>
                  <a:lnTo>
                    <a:pt x="81334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09" name="Ядро эпителиальной клетки"/>
            <p:cNvSpPr/>
            <p:nvPr/>
          </p:nvSpPr>
          <p:spPr>
            <a:xfrm rot="7200000">
              <a:off x="11148609" y="318602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10" name="Клетка однослойного эпителия"/>
            <p:cNvSpPr/>
            <p:nvPr/>
          </p:nvSpPr>
          <p:spPr>
            <a:xfrm>
              <a:off x="11002778" y="3251329"/>
              <a:ext cx="177362" cy="165100"/>
            </a:xfrm>
            <a:custGeom>
              <a:avLst/>
              <a:gdLst/>
              <a:ahLst/>
              <a:cxnLst/>
              <a:rect l="l" t="t" r="r" b="b"/>
              <a:pathLst>
                <a:path w="177362" h="165100">
                  <a:moveTo>
                    <a:pt x="177362" y="50690"/>
                  </a:moveTo>
                  <a:lnTo>
                    <a:pt x="166363" y="63450"/>
                  </a:lnTo>
                  <a:lnTo>
                    <a:pt x="154927" y="76050"/>
                  </a:lnTo>
                  <a:lnTo>
                    <a:pt x="142995" y="88453"/>
                  </a:lnTo>
                  <a:lnTo>
                    <a:pt x="130507" y="100611"/>
                  </a:lnTo>
                  <a:lnTo>
                    <a:pt x="117407" y="112468"/>
                  </a:lnTo>
                  <a:lnTo>
                    <a:pt x="103646" y="123967"/>
                  </a:lnTo>
                  <a:lnTo>
                    <a:pt x="89184" y="135044"/>
                  </a:lnTo>
                  <a:lnTo>
                    <a:pt x="73988" y="145634"/>
                  </a:lnTo>
                  <a:lnTo>
                    <a:pt x="58039" y="155674"/>
                  </a:lnTo>
                  <a:lnTo>
                    <a:pt x="41327" y="165100"/>
                  </a:lnTo>
                  <a:lnTo>
                    <a:pt x="0" y="93520"/>
                  </a:lnTo>
                  <a:lnTo>
                    <a:pt x="14439" y="85899"/>
                  </a:lnTo>
                  <a:lnTo>
                    <a:pt x="28203" y="77755"/>
                  </a:lnTo>
                  <a:lnTo>
                    <a:pt x="41301" y="69139"/>
                  </a:lnTo>
                  <a:lnTo>
                    <a:pt x="53751" y="60105"/>
                  </a:lnTo>
                  <a:lnTo>
                    <a:pt x="65583" y="50707"/>
                  </a:lnTo>
                  <a:lnTo>
                    <a:pt x="76832" y="40999"/>
                  </a:lnTo>
                  <a:lnTo>
                    <a:pt x="87543" y="31030"/>
                  </a:lnTo>
                  <a:lnTo>
                    <a:pt x="97764" y="20849"/>
                  </a:lnTo>
                  <a:lnTo>
                    <a:pt x="107549" y="10494"/>
                  </a:lnTo>
                  <a:lnTo>
                    <a:pt x="116952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11" name="Ядро эпителиальной клетки"/>
            <p:cNvSpPr/>
            <p:nvPr/>
          </p:nvSpPr>
          <p:spPr>
            <a:xfrm rot="8400000">
              <a:off x="11046602" y="330150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12" name="Клетка однослойного эпителия"/>
            <p:cNvSpPr/>
            <p:nvPr/>
          </p:nvSpPr>
          <p:spPr>
            <a:xfrm>
              <a:off x="10826172" y="3344849"/>
              <a:ext cx="217933" cy="122950"/>
            </a:xfrm>
            <a:custGeom>
              <a:avLst/>
              <a:gdLst/>
              <a:ahLst/>
              <a:cxnLst/>
              <a:rect l="l" t="t" r="r" b="b"/>
              <a:pathLst>
                <a:path w="217933" h="122950">
                  <a:moveTo>
                    <a:pt x="217933" y="71580"/>
                  </a:moveTo>
                  <a:lnTo>
                    <a:pt x="200463" y="80336"/>
                  </a:lnTo>
                  <a:lnTo>
                    <a:pt x="182249" y="88368"/>
                  </a:lnTo>
                  <a:lnTo>
                    <a:pt x="163317" y="95630"/>
                  </a:lnTo>
                  <a:lnTo>
                    <a:pt x="143705" y="102087"/>
                  </a:lnTo>
                  <a:lnTo>
                    <a:pt x="123456" y="107708"/>
                  </a:lnTo>
                  <a:lnTo>
                    <a:pt x="102624" y="112476"/>
                  </a:lnTo>
                  <a:lnTo>
                    <a:pt x="81267" y="116380"/>
                  </a:lnTo>
                  <a:lnTo>
                    <a:pt x="59445" y="119420"/>
                  </a:lnTo>
                  <a:lnTo>
                    <a:pt x="37223" y="121605"/>
                  </a:lnTo>
                  <a:lnTo>
                    <a:pt x="14664" y="122950"/>
                  </a:lnTo>
                  <a:lnTo>
                    <a:pt x="0" y="39787"/>
                  </a:lnTo>
                  <a:lnTo>
                    <a:pt x="19668" y="39012"/>
                  </a:lnTo>
                  <a:lnTo>
                    <a:pt x="39028" y="37530"/>
                  </a:lnTo>
                  <a:lnTo>
                    <a:pt x="58026" y="35327"/>
                  </a:lnTo>
                  <a:lnTo>
                    <a:pt x="76605" y="32395"/>
                  </a:lnTo>
                  <a:lnTo>
                    <a:pt x="94712" y="28733"/>
                  </a:lnTo>
                  <a:lnTo>
                    <a:pt x="112296" y="24348"/>
                  </a:lnTo>
                  <a:lnTo>
                    <a:pt x="129313" y="19255"/>
                  </a:lnTo>
                  <a:lnTo>
                    <a:pt x="145723" y="13478"/>
                  </a:lnTo>
                  <a:lnTo>
                    <a:pt x="161494" y="7047"/>
                  </a:lnTo>
                  <a:lnTo>
                    <a:pt x="176606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13" name="Ядро эпителиальной клетки"/>
            <p:cNvSpPr/>
            <p:nvPr/>
          </p:nvSpPr>
          <p:spPr>
            <a:xfrm rot="9600000">
              <a:off x="10888046" y="338131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14" name="Клетка однослойного эпителия"/>
            <p:cNvSpPr/>
            <p:nvPr/>
          </p:nvSpPr>
          <p:spPr>
            <a:xfrm>
              <a:off x="10608171" y="3359032"/>
              <a:ext cx="232665" cy="109295"/>
            </a:xfrm>
            <a:custGeom>
              <a:avLst/>
              <a:gdLst/>
              <a:ahLst/>
              <a:cxnLst/>
              <a:rect l="l" t="t" r="r" b="b"/>
              <a:pathLst>
                <a:path w="232665" h="109295">
                  <a:moveTo>
                    <a:pt x="232665" y="108767"/>
                  </a:moveTo>
                  <a:lnTo>
                    <a:pt x="209829" y="109295"/>
                  </a:lnTo>
                  <a:lnTo>
                    <a:pt x="186777" y="109034"/>
                  </a:lnTo>
                  <a:lnTo>
                    <a:pt x="163562" y="108016"/>
                  </a:lnTo>
                  <a:lnTo>
                    <a:pt x="140234" y="106275"/>
                  </a:lnTo>
                  <a:lnTo>
                    <a:pt x="116837" y="103845"/>
                  </a:lnTo>
                  <a:lnTo>
                    <a:pt x="93410" y="100759"/>
                  </a:lnTo>
                  <a:lnTo>
                    <a:pt x="69986" y="97050"/>
                  </a:lnTo>
                  <a:lnTo>
                    <a:pt x="46594" y="92746"/>
                  </a:lnTo>
                  <a:lnTo>
                    <a:pt x="23258" y="87871"/>
                  </a:lnTo>
                  <a:lnTo>
                    <a:pt x="0" y="82444"/>
                  </a:lnTo>
                  <a:lnTo>
                    <a:pt x="14537" y="0"/>
                  </a:lnTo>
                  <a:lnTo>
                    <a:pt x="34919" y="4896"/>
                  </a:lnTo>
                  <a:lnTo>
                    <a:pt x="55361" y="9332"/>
                  </a:lnTo>
                  <a:lnTo>
                    <a:pt x="75843" y="13292"/>
                  </a:lnTo>
                  <a:lnTo>
                    <a:pt x="96344" y="16755"/>
                  </a:lnTo>
                  <a:lnTo>
                    <a:pt x="116837" y="19696"/>
                  </a:lnTo>
                  <a:lnTo>
                    <a:pt x="137294" y="22090"/>
                  </a:lnTo>
                  <a:lnTo>
                    <a:pt x="157681" y="23907"/>
                  </a:lnTo>
                  <a:lnTo>
                    <a:pt x="177957" y="25117"/>
                  </a:lnTo>
                  <a:lnTo>
                    <a:pt x="198080" y="25692"/>
                  </a:lnTo>
                  <a:lnTo>
                    <a:pt x="218001" y="25604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15" name="Ядро эпителиальной клетки"/>
            <p:cNvSpPr/>
            <p:nvPr/>
          </p:nvSpPr>
          <p:spPr>
            <a:xfrm rot="10800000">
              <a:off x="10678374" y="338894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16" name="Клетка однослойного эпителия"/>
            <p:cNvSpPr/>
            <p:nvPr/>
          </p:nvSpPr>
          <p:spPr>
            <a:xfrm>
              <a:off x="10384783" y="3285672"/>
              <a:ext cx="237925" cy="155804"/>
            </a:xfrm>
            <a:custGeom>
              <a:avLst/>
              <a:gdLst/>
              <a:ahLst/>
              <a:cxnLst/>
              <a:rect l="l" t="t" r="r" b="b"/>
              <a:pathLst>
                <a:path w="237925" h="155804">
                  <a:moveTo>
                    <a:pt x="223388" y="155804"/>
                  </a:moveTo>
                  <a:lnTo>
                    <a:pt x="200227" y="149840"/>
                  </a:lnTo>
                  <a:lnTo>
                    <a:pt x="177183" y="143347"/>
                  </a:lnTo>
                  <a:lnTo>
                    <a:pt x="154275" y="136330"/>
                  </a:lnTo>
                  <a:lnTo>
                    <a:pt x="131526" y="128787"/>
                  </a:lnTo>
                  <a:lnTo>
                    <a:pt x="108959" y="120716"/>
                  </a:lnTo>
                  <a:lnTo>
                    <a:pt x="86604" y="112109"/>
                  </a:lnTo>
                  <a:lnTo>
                    <a:pt x="64491" y="102959"/>
                  </a:lnTo>
                  <a:lnTo>
                    <a:pt x="42659" y="93258"/>
                  </a:lnTo>
                  <a:lnTo>
                    <a:pt x="21147" y="82998"/>
                  </a:lnTo>
                  <a:lnTo>
                    <a:pt x="0" y="72174"/>
                  </a:lnTo>
                  <a:lnTo>
                    <a:pt x="41670" y="0"/>
                  </a:lnTo>
                  <a:lnTo>
                    <a:pt x="60293" y="9374"/>
                  </a:lnTo>
                  <a:lnTo>
                    <a:pt x="79226" y="18283"/>
                  </a:lnTo>
                  <a:lnTo>
                    <a:pt x="98431" y="26730"/>
                  </a:lnTo>
                  <a:lnTo>
                    <a:pt x="117871" y="34720"/>
                  </a:lnTo>
                  <a:lnTo>
                    <a:pt x="137515" y="42260"/>
                  </a:lnTo>
                  <a:lnTo>
                    <a:pt x="157335" y="49356"/>
                  </a:lnTo>
                  <a:lnTo>
                    <a:pt x="177306" y="56012"/>
                  </a:lnTo>
                  <a:lnTo>
                    <a:pt x="197407" y="62232"/>
                  </a:lnTo>
                  <a:lnTo>
                    <a:pt x="217619" y="68016"/>
                  </a:lnTo>
                  <a:lnTo>
                    <a:pt x="237925" y="7336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17" name="Ядро эпителиальной клетки"/>
            <p:cNvSpPr/>
            <p:nvPr/>
          </p:nvSpPr>
          <p:spPr>
            <a:xfrm rot="12000000">
              <a:off x="10461957" y="333541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18" name="Клетка однослойного эпителия"/>
            <p:cNvSpPr/>
            <p:nvPr/>
          </p:nvSpPr>
          <p:spPr>
            <a:xfrm>
              <a:off x="10203919" y="3168441"/>
              <a:ext cx="222534" cy="189405"/>
            </a:xfrm>
            <a:custGeom>
              <a:avLst/>
              <a:gdLst/>
              <a:ahLst/>
              <a:cxnLst/>
              <a:rect l="l" t="t" r="r" b="b"/>
              <a:pathLst>
                <a:path w="222534" h="189405">
                  <a:moveTo>
                    <a:pt x="180864" y="189405"/>
                  </a:moveTo>
                  <a:lnTo>
                    <a:pt x="160131" y="178017"/>
                  </a:lnTo>
                  <a:lnTo>
                    <a:pt x="139863" y="166068"/>
                  </a:lnTo>
                  <a:lnTo>
                    <a:pt x="120108" y="153566"/>
                  </a:lnTo>
                  <a:lnTo>
                    <a:pt x="100920" y="140525"/>
                  </a:lnTo>
                  <a:lnTo>
                    <a:pt x="82344" y="126966"/>
                  </a:lnTo>
                  <a:lnTo>
                    <a:pt x="64427" y="112915"/>
                  </a:lnTo>
                  <a:lnTo>
                    <a:pt x="47206" y="98404"/>
                  </a:lnTo>
                  <a:lnTo>
                    <a:pt x="30714" y="83470"/>
                  </a:lnTo>
                  <a:lnTo>
                    <a:pt x="14973" y="68154"/>
                  </a:lnTo>
                  <a:lnTo>
                    <a:pt x="0" y="52499"/>
                  </a:lnTo>
                  <a:lnTo>
                    <a:pt x="62566" y="0"/>
                  </a:lnTo>
                  <a:lnTo>
                    <a:pt x="75877" y="13316"/>
                  </a:lnTo>
                  <a:lnTo>
                    <a:pt x="89851" y="26362"/>
                  </a:lnTo>
                  <a:lnTo>
                    <a:pt x="104476" y="39100"/>
                  </a:lnTo>
                  <a:lnTo>
                    <a:pt x="119730" y="51495"/>
                  </a:lnTo>
                  <a:lnTo>
                    <a:pt x="135585" y="63517"/>
                  </a:lnTo>
                  <a:lnTo>
                    <a:pt x="152006" y="75137"/>
                  </a:lnTo>
                  <a:lnTo>
                    <a:pt x="168955" y="86334"/>
                  </a:lnTo>
                  <a:lnTo>
                    <a:pt x="186389" y="97090"/>
                  </a:lnTo>
                  <a:lnTo>
                    <a:pt x="204263" y="107391"/>
                  </a:lnTo>
                  <a:lnTo>
                    <a:pt x="222534" y="117231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19" name="Ядро эпителиальной клетки"/>
            <p:cNvSpPr/>
            <p:nvPr/>
          </p:nvSpPr>
          <p:spPr>
            <a:xfrm rot="13200000">
              <a:off x="10267313" y="323223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20" name="Клетка однослойного эпителия"/>
            <p:cNvSpPr/>
            <p:nvPr/>
          </p:nvSpPr>
          <p:spPr>
            <a:xfrm>
              <a:off x="10092460" y="3028107"/>
              <a:ext cx="174025" cy="192833"/>
            </a:xfrm>
            <a:custGeom>
              <a:avLst/>
              <a:gdLst/>
              <a:ahLst/>
              <a:cxnLst/>
              <a:rect l="l" t="t" r="r" b="b"/>
              <a:pathLst>
                <a:path w="174025" h="192833">
                  <a:moveTo>
                    <a:pt x="111459" y="192833"/>
                  </a:moveTo>
                  <a:lnTo>
                    <a:pt x="97255" y="176887"/>
                  </a:lnTo>
                  <a:lnTo>
                    <a:pt x="83815" y="160696"/>
                  </a:lnTo>
                  <a:lnTo>
                    <a:pt x="71123" y="144304"/>
                  </a:lnTo>
                  <a:lnTo>
                    <a:pt x="59150" y="127756"/>
                  </a:lnTo>
                  <a:lnTo>
                    <a:pt x="47862" y="111091"/>
                  </a:lnTo>
                  <a:lnTo>
                    <a:pt x="37215" y="94343"/>
                  </a:lnTo>
                  <a:lnTo>
                    <a:pt x="27160" y="77541"/>
                  </a:lnTo>
                  <a:lnTo>
                    <a:pt x="17642" y="60708"/>
                  </a:lnTo>
                  <a:lnTo>
                    <a:pt x="8607" y="43858"/>
                  </a:lnTo>
                  <a:lnTo>
                    <a:pt x="0" y="27000"/>
                  </a:lnTo>
                  <a:lnTo>
                    <a:pt x="74182" y="0"/>
                  </a:lnTo>
                  <a:lnTo>
                    <a:pt x="81955" y="14224"/>
                  </a:lnTo>
                  <a:lnTo>
                    <a:pt x="90101" y="28447"/>
                  </a:lnTo>
                  <a:lnTo>
                    <a:pt x="98668" y="42665"/>
                  </a:lnTo>
                  <a:lnTo>
                    <a:pt x="107704" y="56864"/>
                  </a:lnTo>
                  <a:lnTo>
                    <a:pt x="117256" y="71027"/>
                  </a:lnTo>
                  <a:lnTo>
                    <a:pt x="127365" y="85131"/>
                  </a:lnTo>
                  <a:lnTo>
                    <a:pt x="138070" y="99148"/>
                  </a:lnTo>
                  <a:lnTo>
                    <a:pt x="149402" y="113044"/>
                  </a:lnTo>
                  <a:lnTo>
                    <a:pt x="161382" y="126786"/>
                  </a:lnTo>
                  <a:lnTo>
                    <a:pt x="174025" y="14033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21" name="Ядро эпителиальной клетки"/>
            <p:cNvSpPr/>
            <p:nvPr/>
          </p:nvSpPr>
          <p:spPr>
            <a:xfrm rot="14400000">
              <a:off x="10129772" y="3088189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22" name="Клетка однослойного эпителия"/>
            <p:cNvSpPr/>
            <p:nvPr/>
          </p:nvSpPr>
          <p:spPr>
            <a:xfrm>
              <a:off x="10022817" y="2884078"/>
              <a:ext cx="143825" cy="171029"/>
            </a:xfrm>
            <a:custGeom>
              <a:avLst/>
              <a:gdLst/>
              <a:ahLst/>
              <a:cxnLst/>
              <a:rect l="l" t="t" r="r" b="b"/>
              <a:pathLst>
                <a:path w="143825" h="171029">
                  <a:moveTo>
                    <a:pt x="69643" y="171029"/>
                  </a:moveTo>
                  <a:lnTo>
                    <a:pt x="61412" y="154164"/>
                  </a:lnTo>
                  <a:lnTo>
                    <a:pt x="53511" y="137286"/>
                  </a:lnTo>
                  <a:lnTo>
                    <a:pt x="45901" y="120386"/>
                  </a:lnTo>
                  <a:lnTo>
                    <a:pt x="38555" y="103447"/>
                  </a:lnTo>
                  <a:lnTo>
                    <a:pt x="31455" y="86453"/>
                  </a:lnTo>
                  <a:lnTo>
                    <a:pt x="24597" y="69383"/>
                  </a:lnTo>
                  <a:lnTo>
                    <a:pt x="17991" y="52218"/>
                  </a:lnTo>
                  <a:lnTo>
                    <a:pt x="11662" y="34941"/>
                  </a:lnTo>
                  <a:lnTo>
                    <a:pt x="5648" y="17538"/>
                  </a:lnTo>
                  <a:lnTo>
                    <a:pt x="0" y="0"/>
                  </a:lnTo>
                  <a:lnTo>
                    <a:pt x="80396" y="0"/>
                  </a:lnTo>
                  <a:lnTo>
                    <a:pt x="85596" y="14746"/>
                  </a:lnTo>
                  <a:lnTo>
                    <a:pt x="91115" y="29385"/>
                  </a:lnTo>
                  <a:lnTo>
                    <a:pt x="96906" y="43924"/>
                  </a:lnTo>
                  <a:lnTo>
                    <a:pt x="102937" y="58373"/>
                  </a:lnTo>
                  <a:lnTo>
                    <a:pt x="109187" y="72747"/>
                  </a:lnTo>
                  <a:lnTo>
                    <a:pt x="115646" y="87061"/>
                  </a:lnTo>
                  <a:lnTo>
                    <a:pt x="122320" y="101332"/>
                  </a:lnTo>
                  <a:lnTo>
                    <a:pt x="129223" y="115576"/>
                  </a:lnTo>
                  <a:lnTo>
                    <a:pt x="136380" y="129805"/>
                  </a:lnTo>
                  <a:lnTo>
                    <a:pt x="143825" y="144029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23" name="Ядро эпителиальной клетки"/>
            <p:cNvSpPr/>
            <p:nvPr/>
          </p:nvSpPr>
          <p:spPr>
            <a:xfrm rot="15600000">
              <a:off x="10048057" y="293322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24" name="Клетка однослойного эпителия"/>
            <p:cNvSpPr/>
            <p:nvPr/>
          </p:nvSpPr>
          <p:spPr>
            <a:xfrm>
              <a:off x="10000005" y="2704918"/>
              <a:ext cx="103208" cy="179160"/>
            </a:xfrm>
            <a:custGeom>
              <a:avLst/>
              <a:gdLst/>
              <a:ahLst/>
              <a:cxnLst/>
              <a:rect l="l" t="t" r="r" b="b"/>
              <a:pathLst>
                <a:path w="103208" h="179160">
                  <a:moveTo>
                    <a:pt x="22812" y="179160"/>
                  </a:moveTo>
                  <a:lnTo>
                    <a:pt x="17596" y="161484"/>
                  </a:lnTo>
                  <a:lnTo>
                    <a:pt x="12885" y="143676"/>
                  </a:lnTo>
                  <a:lnTo>
                    <a:pt x="8764" y="125750"/>
                  </a:lnTo>
                  <a:lnTo>
                    <a:pt x="5322" y="107729"/>
                  </a:lnTo>
                  <a:lnTo>
                    <a:pt x="2652" y="89645"/>
                  </a:lnTo>
                  <a:lnTo>
                    <a:pt x="848" y="71538"/>
                  </a:lnTo>
                  <a:lnTo>
                    <a:pt x="0" y="53460"/>
                  </a:lnTo>
                  <a:lnTo>
                    <a:pt x="196" y="35468"/>
                  </a:lnTo>
                  <a:lnTo>
                    <a:pt x="1511" y="17625"/>
                  </a:lnTo>
                  <a:lnTo>
                    <a:pt x="4015" y="0"/>
                  </a:lnTo>
                  <a:lnTo>
                    <a:pt x="84028" y="29122"/>
                  </a:lnTo>
                  <a:lnTo>
                    <a:pt x="82116" y="43815"/>
                  </a:lnTo>
                  <a:lnTo>
                    <a:pt x="81244" y="58708"/>
                  </a:lnTo>
                  <a:lnTo>
                    <a:pt x="81352" y="73744"/>
                  </a:lnTo>
                  <a:lnTo>
                    <a:pt x="82372" y="88867"/>
                  </a:lnTo>
                  <a:lnTo>
                    <a:pt x="84227" y="104028"/>
                  </a:lnTo>
                  <a:lnTo>
                    <a:pt x="86837" y="119185"/>
                  </a:lnTo>
                  <a:lnTo>
                    <a:pt x="90120" y="134301"/>
                  </a:lnTo>
                  <a:lnTo>
                    <a:pt x="93994" y="149348"/>
                  </a:lnTo>
                  <a:lnTo>
                    <a:pt x="98381" y="164305"/>
                  </a:lnTo>
                  <a:lnTo>
                    <a:pt x="103208" y="17916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25" name="Ядро эпителиальной клетки"/>
            <p:cNvSpPr/>
            <p:nvPr/>
          </p:nvSpPr>
          <p:spPr>
            <a:xfrm rot="16800000">
              <a:off x="9998441" y="277186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26" name="Клетка однослойного эпителия"/>
            <p:cNvSpPr/>
            <p:nvPr/>
          </p:nvSpPr>
          <p:spPr>
            <a:xfrm>
              <a:off x="10004020" y="2555558"/>
              <a:ext cx="160172" cy="178482"/>
            </a:xfrm>
            <a:custGeom>
              <a:avLst/>
              <a:gdLst/>
              <a:ahLst/>
              <a:cxnLst/>
              <a:rect l="l" t="t" r="r" b="b"/>
              <a:pathLst>
                <a:path w="160172" h="178482">
                  <a:moveTo>
                    <a:pt x="0" y="149360"/>
                  </a:moveTo>
                  <a:lnTo>
                    <a:pt x="3744" y="132025"/>
                  </a:lnTo>
                  <a:lnTo>
                    <a:pt x="8770" y="115052"/>
                  </a:lnTo>
                  <a:lnTo>
                    <a:pt x="15101" y="98515"/>
                  </a:lnTo>
                  <a:lnTo>
                    <a:pt x="22743" y="82483"/>
                  </a:lnTo>
                  <a:lnTo>
                    <a:pt x="31687" y="67021"/>
                  </a:lnTo>
                  <a:lnTo>
                    <a:pt x="41907" y="52186"/>
                  </a:lnTo>
                  <a:lnTo>
                    <a:pt x="53361" y="38031"/>
                  </a:lnTo>
                  <a:lnTo>
                    <a:pt x="65991" y="24596"/>
                  </a:lnTo>
                  <a:lnTo>
                    <a:pt x="79730" y="11912"/>
                  </a:lnTo>
                  <a:lnTo>
                    <a:pt x="94498" y="0"/>
                  </a:lnTo>
                  <a:lnTo>
                    <a:pt x="160172" y="55107"/>
                  </a:lnTo>
                  <a:lnTo>
                    <a:pt x="147468" y="64834"/>
                  </a:lnTo>
                  <a:lnTo>
                    <a:pt x="135674" y="75223"/>
                  </a:lnTo>
                  <a:lnTo>
                    <a:pt x="124859" y="86257"/>
                  </a:lnTo>
                  <a:lnTo>
                    <a:pt x="115082" y="97911"/>
                  </a:lnTo>
                  <a:lnTo>
                    <a:pt x="106392" y="110152"/>
                  </a:lnTo>
                  <a:lnTo>
                    <a:pt x="98826" y="122937"/>
                  </a:lnTo>
                  <a:lnTo>
                    <a:pt x="92404" y="136219"/>
                  </a:lnTo>
                  <a:lnTo>
                    <a:pt x="87136" y="149943"/>
                  </a:lnTo>
                  <a:lnTo>
                    <a:pt x="83012" y="164051"/>
                  </a:lnTo>
                  <a:lnTo>
                    <a:pt x="80013" y="17848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27" name="Ядро эпителиальной клетки"/>
            <p:cNvSpPr/>
            <p:nvPr/>
          </p:nvSpPr>
          <p:spPr>
            <a:xfrm rot="18000000">
              <a:off x="10027919" y="261483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28" name="Клетка однослойного эпителия"/>
            <p:cNvSpPr/>
            <p:nvPr/>
          </p:nvSpPr>
          <p:spPr>
            <a:xfrm>
              <a:off x="10098518" y="2476401"/>
              <a:ext cx="225468" cy="134264"/>
            </a:xfrm>
            <a:custGeom>
              <a:avLst/>
              <a:gdLst/>
              <a:ahLst/>
              <a:cxnLst/>
              <a:rect l="l" t="t" r="r" b="b"/>
              <a:pathLst>
                <a:path w="225468" h="134264">
                  <a:moveTo>
                    <a:pt x="0" y="79157"/>
                  </a:moveTo>
                  <a:lnTo>
                    <a:pt x="15710" y="68026"/>
                  </a:lnTo>
                  <a:lnTo>
                    <a:pt x="32270" y="57675"/>
                  </a:lnTo>
                  <a:lnTo>
                    <a:pt x="49585" y="48092"/>
                  </a:lnTo>
                  <a:lnTo>
                    <a:pt x="67558" y="39258"/>
                  </a:lnTo>
                  <a:lnTo>
                    <a:pt x="86099" y="31143"/>
                  </a:lnTo>
                  <a:lnTo>
                    <a:pt x="105118" y="23712"/>
                  </a:lnTo>
                  <a:lnTo>
                    <a:pt x="124536" y="16925"/>
                  </a:lnTo>
                  <a:lnTo>
                    <a:pt x="144279" y="10740"/>
                  </a:lnTo>
                  <a:lnTo>
                    <a:pt x="164284" y="5112"/>
                  </a:lnTo>
                  <a:lnTo>
                    <a:pt x="184500" y="0"/>
                  </a:lnTo>
                  <a:lnTo>
                    <a:pt x="225468" y="70960"/>
                  </a:lnTo>
                  <a:lnTo>
                    <a:pt x="207905" y="74920"/>
                  </a:lnTo>
                  <a:lnTo>
                    <a:pt x="190532" y="79314"/>
                  </a:lnTo>
                  <a:lnTo>
                    <a:pt x="173398" y="84178"/>
                  </a:lnTo>
                  <a:lnTo>
                    <a:pt x="156556" y="89549"/>
                  </a:lnTo>
                  <a:lnTo>
                    <a:pt x="140072" y="95466"/>
                  </a:lnTo>
                  <a:lnTo>
                    <a:pt x="124017" y="101962"/>
                  </a:lnTo>
                  <a:lnTo>
                    <a:pt x="108467" y="109067"/>
                  </a:lnTo>
                  <a:lnTo>
                    <a:pt x="93505" y="116808"/>
                  </a:lnTo>
                  <a:lnTo>
                    <a:pt x="79213" y="125203"/>
                  </a:lnTo>
                  <a:lnTo>
                    <a:pt x="65674" y="13426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29" name="Ядро эпителиальной клетки"/>
            <p:cNvSpPr/>
            <p:nvPr/>
          </p:nvSpPr>
          <p:spPr>
            <a:xfrm rot="19200000">
              <a:off x="10166048" y="251081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30" name="Клетка однослойного эпителия"/>
            <p:cNvSpPr/>
            <p:nvPr/>
          </p:nvSpPr>
          <p:spPr>
            <a:xfrm>
              <a:off x="10283018" y="2447584"/>
              <a:ext cx="222981" cy="99777"/>
            </a:xfrm>
            <a:custGeom>
              <a:avLst/>
              <a:gdLst/>
              <a:ahLst/>
              <a:cxnLst/>
              <a:rect l="l" t="t" r="r" b="b"/>
              <a:pathLst>
                <a:path w="222981" h="99777">
                  <a:moveTo>
                    <a:pt x="0" y="28817"/>
                  </a:moveTo>
                  <a:lnTo>
                    <a:pt x="20384" y="24178"/>
                  </a:lnTo>
                  <a:lnTo>
                    <a:pt x="40905" y="19977"/>
                  </a:lnTo>
                  <a:lnTo>
                    <a:pt x="61543" y="16184"/>
                  </a:lnTo>
                  <a:lnTo>
                    <a:pt x="82285" y="12774"/>
                  </a:lnTo>
                  <a:lnTo>
                    <a:pt x="103129" y="9731"/>
                  </a:lnTo>
                  <a:lnTo>
                    <a:pt x="124075" y="7047"/>
                  </a:lnTo>
                  <a:lnTo>
                    <a:pt x="145131" y="4721"/>
                  </a:lnTo>
                  <a:lnTo>
                    <a:pt x="166308" y="2761"/>
                  </a:lnTo>
                  <a:lnTo>
                    <a:pt x="187615" y="1180"/>
                  </a:lnTo>
                  <a:lnTo>
                    <a:pt x="209063" y="0"/>
                  </a:lnTo>
                  <a:lnTo>
                    <a:pt x="222981" y="78929"/>
                  </a:lnTo>
                  <a:lnTo>
                    <a:pt x="204280" y="79583"/>
                  </a:lnTo>
                  <a:lnTo>
                    <a:pt x="185709" y="80574"/>
                  </a:lnTo>
                  <a:lnTo>
                    <a:pt x="167258" y="81885"/>
                  </a:lnTo>
                  <a:lnTo>
                    <a:pt x="148917" y="83503"/>
                  </a:lnTo>
                  <a:lnTo>
                    <a:pt x="130678" y="85422"/>
                  </a:lnTo>
                  <a:lnTo>
                    <a:pt x="112534" y="87642"/>
                  </a:lnTo>
                  <a:lnTo>
                    <a:pt x="94484" y="90171"/>
                  </a:lnTo>
                  <a:lnTo>
                    <a:pt x="76531" y="93022"/>
                  </a:lnTo>
                  <a:lnTo>
                    <a:pt x="58686" y="96215"/>
                  </a:lnTo>
                  <a:lnTo>
                    <a:pt x="40968" y="99777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31" name="Ядро эпителиальной клетки"/>
            <p:cNvSpPr/>
            <p:nvPr/>
          </p:nvSpPr>
          <p:spPr>
            <a:xfrm rot="20400000">
              <a:off x="10353837" y="2466499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32" name="Клетка однослойного эпителия"/>
            <p:cNvSpPr/>
            <p:nvPr/>
          </p:nvSpPr>
          <p:spPr>
            <a:xfrm>
              <a:off x="10492081" y="2446531"/>
              <a:ext cx="221733" cy="97245"/>
            </a:xfrm>
            <a:custGeom>
              <a:avLst/>
              <a:gdLst/>
              <a:ahLst/>
              <a:cxnLst/>
              <a:rect l="l" t="t" r="r" b="b"/>
              <a:pathLst>
                <a:path w="221733" h="97245">
                  <a:moveTo>
                    <a:pt x="0" y="1053"/>
                  </a:moveTo>
                  <a:lnTo>
                    <a:pt x="21598" y="299"/>
                  </a:lnTo>
                  <a:lnTo>
                    <a:pt x="43349" y="0"/>
                  </a:lnTo>
                  <a:lnTo>
                    <a:pt x="65254" y="189"/>
                  </a:lnTo>
                  <a:lnTo>
                    <a:pt x="87307" y="897"/>
                  </a:lnTo>
                  <a:lnTo>
                    <a:pt x="109497" y="2157"/>
                  </a:lnTo>
                  <a:lnTo>
                    <a:pt x="131807" y="3997"/>
                  </a:lnTo>
                  <a:lnTo>
                    <a:pt x="154215" y="6443"/>
                  </a:lnTo>
                  <a:lnTo>
                    <a:pt x="176693" y="9516"/>
                  </a:lnTo>
                  <a:lnTo>
                    <a:pt x="199211" y="13231"/>
                  </a:lnTo>
                  <a:lnTo>
                    <a:pt x="221733" y="17598"/>
                  </a:lnTo>
                  <a:lnTo>
                    <a:pt x="207689" y="97245"/>
                  </a:lnTo>
                  <a:lnTo>
                    <a:pt x="187965" y="93246"/>
                  </a:lnTo>
                  <a:lnTo>
                    <a:pt x="168256" y="89792"/>
                  </a:lnTo>
                  <a:lnTo>
                    <a:pt x="148591" y="86875"/>
                  </a:lnTo>
                  <a:lnTo>
                    <a:pt x="128996" y="84484"/>
                  </a:lnTo>
                  <a:lnTo>
                    <a:pt x="109497" y="82600"/>
                  </a:lnTo>
                  <a:lnTo>
                    <a:pt x="90111" y="81204"/>
                  </a:lnTo>
                  <a:lnTo>
                    <a:pt x="70854" y="80270"/>
                  </a:lnTo>
                  <a:lnTo>
                    <a:pt x="51733" y="79773"/>
                  </a:lnTo>
                  <a:lnTo>
                    <a:pt x="32755" y="79686"/>
                  </a:lnTo>
                  <a:lnTo>
                    <a:pt x="13918" y="79982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33" name="Ядро эпителиальной клетки"/>
            <p:cNvSpPr/>
            <p:nvPr/>
          </p:nvSpPr>
          <p:spPr>
            <a:xfrm rot="0">
              <a:off x="10554943" y="246034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34" name="Клетка однослойного эпителия"/>
            <p:cNvSpPr/>
            <p:nvPr/>
          </p:nvSpPr>
          <p:spPr>
            <a:xfrm>
              <a:off x="10699770" y="2464129"/>
              <a:ext cx="232313" cy="147485"/>
            </a:xfrm>
            <a:custGeom>
              <a:avLst/>
              <a:gdLst/>
              <a:ahLst/>
              <a:cxnLst/>
              <a:rect l="l" t="t" r="r" b="b"/>
              <a:pathLst>
                <a:path w="232313" h="147485">
                  <a:moveTo>
                    <a:pt x="14044" y="0"/>
                  </a:moveTo>
                  <a:lnTo>
                    <a:pt x="36535" y="5019"/>
                  </a:lnTo>
                  <a:lnTo>
                    <a:pt x="58959" y="10688"/>
                  </a:lnTo>
                  <a:lnTo>
                    <a:pt x="81279" y="16994"/>
                  </a:lnTo>
                  <a:lnTo>
                    <a:pt x="103463" y="23921"/>
                  </a:lnTo>
                  <a:lnTo>
                    <a:pt x="125480" y="31449"/>
                  </a:lnTo>
                  <a:lnTo>
                    <a:pt x="147304" y="39551"/>
                  </a:lnTo>
                  <a:lnTo>
                    <a:pt x="168914" y="48198"/>
                  </a:lnTo>
                  <a:lnTo>
                    <a:pt x="190292" y="57362"/>
                  </a:lnTo>
                  <a:lnTo>
                    <a:pt x="211427" y="67012"/>
                  </a:lnTo>
                  <a:lnTo>
                    <a:pt x="232313" y="77119"/>
                  </a:lnTo>
                  <a:lnTo>
                    <a:pt x="191687" y="147485"/>
                  </a:lnTo>
                  <a:lnTo>
                    <a:pt x="173303" y="138714"/>
                  </a:lnTo>
                  <a:lnTo>
                    <a:pt x="154707" y="130321"/>
                  </a:lnTo>
                  <a:lnTo>
                    <a:pt x="135908" y="122331"/>
                  </a:lnTo>
                  <a:lnTo>
                    <a:pt x="116914" y="114768"/>
                  </a:lnTo>
                  <a:lnTo>
                    <a:pt x="97742" y="107659"/>
                  </a:lnTo>
                  <a:lnTo>
                    <a:pt x="78410" y="101026"/>
                  </a:lnTo>
                  <a:lnTo>
                    <a:pt x="58942" y="94892"/>
                  </a:lnTo>
                  <a:lnTo>
                    <a:pt x="39365" y="89275"/>
                  </a:lnTo>
                  <a:lnTo>
                    <a:pt x="19707" y="84190"/>
                  </a:lnTo>
                  <a:lnTo>
                    <a:pt x="0" y="7964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35" name="Ядро эпителиальной клетки"/>
            <p:cNvSpPr/>
            <p:nvPr/>
          </p:nvSpPr>
          <p:spPr>
            <a:xfrm rot="1200000">
              <a:off x="10764192" y="250503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36" name="Клетка однослойного эпителия"/>
            <p:cNvSpPr/>
            <p:nvPr/>
          </p:nvSpPr>
          <p:spPr>
            <a:xfrm>
              <a:off x="10891457" y="2541248"/>
              <a:ext cx="235404" cy="175636"/>
            </a:xfrm>
            <a:custGeom>
              <a:avLst/>
              <a:gdLst/>
              <a:ahLst/>
              <a:cxnLst/>
              <a:rect l="l" t="t" r="r" b="b"/>
              <a:pathLst>
                <a:path w="235404" h="175636">
                  <a:moveTo>
                    <a:pt x="40626" y="0"/>
                  </a:moveTo>
                  <a:lnTo>
                    <a:pt x="61258" y="10537"/>
                  </a:lnTo>
                  <a:lnTo>
                    <a:pt x="81637" y="21482"/>
                  </a:lnTo>
                  <a:lnTo>
                    <a:pt x="101763" y="32813"/>
                  </a:lnTo>
                  <a:lnTo>
                    <a:pt x="121640" y="44518"/>
                  </a:lnTo>
                  <a:lnTo>
                    <a:pt x="141268" y="56585"/>
                  </a:lnTo>
                  <a:lnTo>
                    <a:pt x="160644" y="69010"/>
                  </a:lnTo>
                  <a:lnTo>
                    <a:pt x="179761" y="81793"/>
                  </a:lnTo>
                  <a:lnTo>
                    <a:pt x="198608" y="94937"/>
                  </a:lnTo>
                  <a:lnTo>
                    <a:pt x="217165" y="108448"/>
                  </a:lnTo>
                  <a:lnTo>
                    <a:pt x="235404" y="122337"/>
                  </a:lnTo>
                  <a:lnTo>
                    <a:pt x="171886" y="175636"/>
                  </a:lnTo>
                  <a:lnTo>
                    <a:pt x="155753" y="163745"/>
                  </a:lnTo>
                  <a:lnTo>
                    <a:pt x="139348" y="152164"/>
                  </a:lnTo>
                  <a:lnTo>
                    <a:pt x="122696" y="140886"/>
                  </a:lnTo>
                  <a:lnTo>
                    <a:pt x="105813" y="129906"/>
                  </a:lnTo>
                  <a:lnTo>
                    <a:pt x="88710" y="119220"/>
                  </a:lnTo>
                  <a:lnTo>
                    <a:pt x="71394" y="108830"/>
                  </a:lnTo>
                  <a:lnTo>
                    <a:pt x="53865" y="98740"/>
                  </a:lnTo>
                  <a:lnTo>
                    <a:pt x="36124" y="88956"/>
                  </a:lnTo>
                  <a:lnTo>
                    <a:pt x="18169" y="79493"/>
                  </a:lnTo>
                  <a:lnTo>
                    <a:pt x="0" y="70366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37" name="Ядро эпителиальной клетки"/>
            <p:cNvSpPr/>
            <p:nvPr/>
          </p:nvSpPr>
          <p:spPr>
            <a:xfrm rot="2400000">
              <a:off x="10958760" y="260022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38" name="Клетка однослойного эпителия"/>
            <p:cNvSpPr/>
            <p:nvPr/>
          </p:nvSpPr>
          <p:spPr>
            <a:xfrm>
              <a:off x="11063343" y="2663585"/>
              <a:ext cx="216383" cy="189930"/>
            </a:xfrm>
            <a:custGeom>
              <a:avLst/>
              <a:gdLst/>
              <a:ahLst/>
              <a:cxnLst/>
              <a:rect l="l" t="t" r="r" b="b"/>
              <a:pathLst>
                <a:path w="216383" h="189930">
                  <a:moveTo>
                    <a:pt x="63518" y="0"/>
                  </a:moveTo>
                  <a:lnTo>
                    <a:pt x="81404" y="14277"/>
                  </a:lnTo>
                  <a:lnTo>
                    <a:pt x="98889" y="28950"/>
                  </a:lnTo>
                  <a:lnTo>
                    <a:pt x="115920" y="44028"/>
                  </a:lnTo>
                  <a:lnTo>
                    <a:pt x="132434" y="59515"/>
                  </a:lnTo>
                  <a:lnTo>
                    <a:pt x="148360" y="75413"/>
                  </a:lnTo>
                  <a:lnTo>
                    <a:pt x="163622" y="91715"/>
                  </a:lnTo>
                  <a:lnTo>
                    <a:pt x="178139" y="108411"/>
                  </a:lnTo>
                  <a:lnTo>
                    <a:pt x="191826" y="125482"/>
                  </a:lnTo>
                  <a:lnTo>
                    <a:pt x="204601" y="142901"/>
                  </a:lnTo>
                  <a:lnTo>
                    <a:pt x="216383" y="160636"/>
                  </a:lnTo>
                  <a:lnTo>
                    <a:pt x="135899" y="189930"/>
                  </a:lnTo>
                  <a:lnTo>
                    <a:pt x="125342" y="174924"/>
                  </a:lnTo>
                  <a:lnTo>
                    <a:pt x="113923" y="160167"/>
                  </a:lnTo>
                  <a:lnTo>
                    <a:pt x="101713" y="145686"/>
                  </a:lnTo>
                  <a:lnTo>
                    <a:pt x="88785" y="131507"/>
                  </a:lnTo>
                  <a:lnTo>
                    <a:pt x="75213" y="117644"/>
                  </a:lnTo>
                  <a:lnTo>
                    <a:pt x="61067" y="104110"/>
                  </a:lnTo>
                  <a:lnTo>
                    <a:pt x="46415" y="90909"/>
                  </a:lnTo>
                  <a:lnTo>
                    <a:pt x="31317" y="78043"/>
                  </a:lnTo>
                  <a:lnTo>
                    <a:pt x="15830" y="65508"/>
                  </a:lnTo>
                  <a:lnTo>
                    <a:pt x="0" y="53299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39" name="Ядро эпителиальной клетки"/>
            <p:cNvSpPr/>
            <p:nvPr/>
          </p:nvSpPr>
          <p:spPr>
            <a:xfrm rot="3600000">
              <a:off x="11127032" y="273078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40" name="Клетка однослойного эпителия"/>
            <p:cNvSpPr/>
            <p:nvPr/>
          </p:nvSpPr>
          <p:spPr>
            <a:xfrm>
              <a:off x="11199242" y="2824221"/>
              <a:ext cx="132505" cy="183287"/>
            </a:xfrm>
            <a:custGeom>
              <a:avLst/>
              <a:gdLst/>
              <a:ahLst/>
              <a:cxnLst/>
              <a:rect l="l" t="t" r="r" b="b"/>
              <a:pathLst>
                <a:path w="132505" h="183287">
                  <a:moveTo>
                    <a:pt x="80484" y="0"/>
                  </a:moveTo>
                  <a:lnTo>
                    <a:pt x="91195" y="18009"/>
                  </a:lnTo>
                  <a:lnTo>
                    <a:pt x="100766" y="36244"/>
                  </a:lnTo>
                  <a:lnTo>
                    <a:pt x="109138" y="54652"/>
                  </a:lnTo>
                  <a:lnTo>
                    <a:pt x="116263" y="73176"/>
                  </a:lnTo>
                  <a:lnTo>
                    <a:pt x="122106" y="91753"/>
                  </a:lnTo>
                  <a:lnTo>
                    <a:pt x="126647" y="110322"/>
                  </a:lnTo>
                  <a:lnTo>
                    <a:pt x="129884" y="128818"/>
                  </a:lnTo>
                  <a:lnTo>
                    <a:pt x="131827" y="147182"/>
                  </a:lnTo>
                  <a:lnTo>
                    <a:pt x="132505" y="165356"/>
                  </a:lnTo>
                  <a:lnTo>
                    <a:pt x="131962" y="183287"/>
                  </a:lnTo>
                  <a:lnTo>
                    <a:pt x="47766" y="183287"/>
                  </a:lnTo>
                  <a:lnTo>
                    <a:pt x="47962" y="168308"/>
                  </a:lnTo>
                  <a:lnTo>
                    <a:pt x="47088" y="153108"/>
                  </a:lnTo>
                  <a:lnTo>
                    <a:pt x="45108" y="137728"/>
                  </a:lnTo>
                  <a:lnTo>
                    <a:pt x="41997" y="122218"/>
                  </a:lnTo>
                  <a:lnTo>
                    <a:pt x="37746" y="106628"/>
                  </a:lnTo>
                  <a:lnTo>
                    <a:pt x="32359" y="91010"/>
                  </a:lnTo>
                  <a:lnTo>
                    <a:pt x="25854" y="75417"/>
                  </a:lnTo>
                  <a:lnTo>
                    <a:pt x="18262" y="59902"/>
                  </a:lnTo>
                  <a:lnTo>
                    <a:pt x="9626" y="44512"/>
                  </a:lnTo>
                  <a:lnTo>
                    <a:pt x="0" y="2929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41" name="Ядро эпителиальной клетки"/>
            <p:cNvSpPr/>
            <p:nvPr/>
          </p:nvSpPr>
          <p:spPr>
            <a:xfrm rot="4800000">
              <a:off x="11230846" y="289353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42" name="Клетка однослойного эпителия"/>
            <p:cNvSpPr/>
            <p:nvPr/>
          </p:nvSpPr>
          <p:spPr>
            <a:xfrm>
              <a:off x="11201064" y="3007508"/>
              <a:ext cx="130140" cy="160270"/>
            </a:xfrm>
            <a:custGeom>
              <a:avLst/>
              <a:gdLst/>
              <a:ahLst/>
              <a:cxnLst/>
              <a:rect l="l" t="t" r="r" b="b"/>
              <a:pathLst>
                <a:path w="130140" h="160270">
                  <a:moveTo>
                    <a:pt x="130140" y="0"/>
                  </a:moveTo>
                  <a:lnTo>
                    <a:pt x="128434" y="17644"/>
                  </a:lnTo>
                  <a:lnTo>
                    <a:pt x="125636" y="34963"/>
                  </a:lnTo>
                  <a:lnTo>
                    <a:pt x="121826" y="51926"/>
                  </a:lnTo>
                  <a:lnTo>
                    <a:pt x="117095" y="68516"/>
                  </a:lnTo>
                  <a:lnTo>
                    <a:pt x="111536" y="84722"/>
                  </a:lnTo>
                  <a:lnTo>
                    <a:pt x="105247" y="100544"/>
                  </a:lnTo>
                  <a:lnTo>
                    <a:pt x="98324" y="115989"/>
                  </a:lnTo>
                  <a:lnTo>
                    <a:pt x="90861" y="131075"/>
                  </a:lnTo>
                  <a:lnTo>
                    <a:pt x="82945" y="145826"/>
                  </a:lnTo>
                  <a:lnTo>
                    <a:pt x="74653" y="160270"/>
                  </a:lnTo>
                  <a:lnTo>
                    <a:pt x="0" y="133098"/>
                  </a:lnTo>
                  <a:lnTo>
                    <a:pt x="7013" y="121154"/>
                  </a:lnTo>
                  <a:lnTo>
                    <a:pt x="13693" y="108948"/>
                  </a:lnTo>
                  <a:lnTo>
                    <a:pt x="19973" y="96454"/>
                  </a:lnTo>
                  <a:lnTo>
                    <a:pt x="25775" y="83651"/>
                  </a:lnTo>
                  <a:lnTo>
                    <a:pt x="31019" y="70525"/>
                  </a:lnTo>
                  <a:lnTo>
                    <a:pt x="35620" y="57066"/>
                  </a:lnTo>
                  <a:lnTo>
                    <a:pt x="39492" y="43273"/>
                  </a:lnTo>
                  <a:lnTo>
                    <a:pt x="42554" y="29153"/>
                  </a:lnTo>
                  <a:lnTo>
                    <a:pt x="44728" y="14721"/>
                  </a:lnTo>
                  <a:lnTo>
                    <a:pt x="45944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43" name="Ядро эпителиальной клетки"/>
            <p:cNvSpPr/>
            <p:nvPr/>
          </p:nvSpPr>
          <p:spPr>
            <a:xfrm rot="6000000">
              <a:off x="11224096" y="305467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44" name="Просвет канальца"/>
            <p:cNvSpPr/>
            <p:nvPr/>
          </p:nvSpPr>
          <p:spPr>
            <a:xfrm>
              <a:off x="10083843" y="2523257"/>
              <a:ext cx="1160480" cy="858591"/>
            </a:xfrm>
            <a:custGeom>
              <a:avLst/>
              <a:gdLst/>
              <a:ahLst/>
              <a:cxnLst/>
              <a:rect l="l" t="t" r="r" b="b"/>
              <a:pathLst>
                <a:path w="1160480" h="858591">
                  <a:moveTo>
                    <a:pt x="1121521" y="618914"/>
                  </a:moveTo>
                  <a:lnTo>
                    <a:pt x="1111163" y="636842"/>
                  </a:lnTo>
                  <a:lnTo>
                    <a:pt x="1100136" y="654314"/>
                  </a:lnTo>
                  <a:lnTo>
                    <a:pt x="1088517" y="671397"/>
                  </a:lnTo>
                  <a:lnTo>
                    <a:pt x="1076327" y="688142"/>
                  </a:lnTo>
                  <a:lnTo>
                    <a:pt x="1063536" y="704579"/>
                  </a:lnTo>
                  <a:lnTo>
                    <a:pt x="1050069" y="720708"/>
                  </a:lnTo>
                  <a:lnTo>
                    <a:pt x="1035816" y="736494"/>
                  </a:lnTo>
                  <a:lnTo>
                    <a:pt x="1020646" y="751870"/>
                  </a:lnTo>
                  <a:lnTo>
                    <a:pt x="1004419" y="766736"/>
                  </a:lnTo>
                  <a:lnTo>
                    <a:pt x="987003" y="780965"/>
                  </a:lnTo>
                  <a:lnTo>
                    <a:pt x="968285" y="794411"/>
                  </a:lnTo>
                  <a:lnTo>
                    <a:pt x="948185" y="806918"/>
                  </a:lnTo>
                  <a:lnTo>
                    <a:pt x="926660" y="818330"/>
                  </a:lnTo>
                  <a:lnTo>
                    <a:pt x="903714" y="828502"/>
                  </a:lnTo>
                  <a:lnTo>
                    <a:pt x="879394" y="837309"/>
                  </a:lnTo>
                  <a:lnTo>
                    <a:pt x="853786" y="844651"/>
                  </a:lnTo>
                  <a:lnTo>
                    <a:pt x="827016" y="850464"/>
                  </a:lnTo>
                  <a:lnTo>
                    <a:pt x="799231" y="854718"/>
                  </a:lnTo>
                  <a:lnTo>
                    <a:pt x="770599" y="857415"/>
                  </a:lnTo>
                  <a:lnTo>
                    <a:pt x="741289" y="858591"/>
                  </a:lnTo>
                  <a:lnTo>
                    <a:pt x="711467" y="858306"/>
                  </a:lnTo>
                  <a:lnTo>
                    <a:pt x="681288" y="856640"/>
                  </a:lnTo>
                  <a:lnTo>
                    <a:pt x="650886" y="853680"/>
                  </a:lnTo>
                  <a:lnTo>
                    <a:pt x="620374" y="849516"/>
                  </a:lnTo>
                  <a:lnTo>
                    <a:pt x="589845" y="844230"/>
                  </a:lnTo>
                  <a:lnTo>
                    <a:pt x="559372" y="837890"/>
                  </a:lnTo>
                  <a:lnTo>
                    <a:pt x="529014" y="830547"/>
                  </a:lnTo>
                  <a:lnTo>
                    <a:pt x="498824" y="822233"/>
                  </a:lnTo>
                  <a:lnTo>
                    <a:pt x="468855" y="812958"/>
                  </a:lnTo>
                  <a:lnTo>
                    <a:pt x="439167" y="802718"/>
                  </a:lnTo>
                  <a:lnTo>
                    <a:pt x="409836" y="791496"/>
                  </a:lnTo>
                  <a:lnTo>
                    <a:pt x="380952" y="779271"/>
                  </a:lnTo>
                  <a:lnTo>
                    <a:pt x="352624" y="766022"/>
                  </a:lnTo>
                  <a:lnTo>
                    <a:pt x="324980" y="751738"/>
                  </a:lnTo>
                  <a:lnTo>
                    <a:pt x="298158" y="736425"/>
                  </a:lnTo>
                  <a:lnTo>
                    <a:pt x="272301" y="720108"/>
                  </a:lnTo>
                  <a:lnTo>
                    <a:pt x="247550" y="702832"/>
                  </a:lnTo>
                  <a:lnTo>
                    <a:pt x="224033" y="684670"/>
                  </a:lnTo>
                  <a:lnTo>
                    <a:pt x="201856" y="665710"/>
                  </a:lnTo>
                  <a:lnTo>
                    <a:pt x="181093" y="646062"/>
                  </a:lnTo>
                  <a:lnTo>
                    <a:pt x="161782" y="625842"/>
                  </a:lnTo>
                  <a:lnTo>
                    <a:pt x="143922" y="605170"/>
                  </a:lnTo>
                  <a:lnTo>
                    <a:pt x="127471" y="584162"/>
                  </a:lnTo>
                  <a:lnTo>
                    <a:pt x="112354" y="562922"/>
                  </a:lnTo>
                  <a:lnTo>
                    <a:pt x="98465" y="541533"/>
                  </a:lnTo>
                  <a:lnTo>
                    <a:pt x="85682" y="520057"/>
                  </a:lnTo>
                  <a:lnTo>
                    <a:pt x="73876" y="498531"/>
                  </a:lnTo>
                  <a:lnTo>
                    <a:pt x="62929" y="476968"/>
                  </a:lnTo>
                  <a:lnTo>
                    <a:pt x="52742" y="455360"/>
                  </a:lnTo>
                  <a:lnTo>
                    <a:pt x="43253" y="433683"/>
                  </a:lnTo>
                  <a:lnTo>
                    <a:pt x="34440" y="411905"/>
                  </a:lnTo>
                  <a:lnTo>
                    <a:pt x="26333" y="389995"/>
                  </a:lnTo>
                  <a:lnTo>
                    <a:pt x="19013" y="367930"/>
                  </a:lnTo>
                  <a:lnTo>
                    <a:pt x="12610" y="345708"/>
                  </a:lnTo>
                  <a:lnTo>
                    <a:pt x="7296" y="323349"/>
                  </a:lnTo>
                  <a:lnTo>
                    <a:pt x="3275" y="300904"/>
                  </a:lnTo>
                  <a:lnTo>
                    <a:pt x="768" y="278454"/>
                  </a:lnTo>
                  <a:lnTo>
                    <a:pt x="0" y="256114"/>
                  </a:lnTo>
                  <a:lnTo>
                    <a:pt x="1180" y="234025"/>
                  </a:lnTo>
                  <a:lnTo>
                    <a:pt x="4490" y="212348"/>
                  </a:lnTo>
                  <a:lnTo>
                    <a:pt x="10066" y="191260"/>
                  </a:lnTo>
                  <a:lnTo>
                    <a:pt x="17992" y="170937"/>
                  </a:lnTo>
                  <a:lnTo>
                    <a:pt x="28291" y="151549"/>
                  </a:lnTo>
                  <a:lnTo>
                    <a:pt x="40926" y="133249"/>
                  </a:lnTo>
                  <a:lnTo>
                    <a:pt x="55797" y="116162"/>
                  </a:lnTo>
                  <a:lnTo>
                    <a:pt x="72755" y="100379"/>
                  </a:lnTo>
                  <a:lnTo>
                    <a:pt x="91605" y="85954"/>
                  </a:lnTo>
                  <a:lnTo>
                    <a:pt x="112127" y="72902"/>
                  </a:lnTo>
                  <a:lnTo>
                    <a:pt x="134081" y="61201"/>
                  </a:lnTo>
                  <a:lnTo>
                    <a:pt x="157232" y="50796"/>
                  </a:lnTo>
                  <a:lnTo>
                    <a:pt x="181356" y="41610"/>
                  </a:lnTo>
                  <a:lnTo>
                    <a:pt x="206254" y="33549"/>
                  </a:lnTo>
                  <a:lnTo>
                    <a:pt x="231762" y="26512"/>
                  </a:lnTo>
                  <a:lnTo>
                    <a:pt x="257752" y="20406"/>
                  </a:lnTo>
                  <a:lnTo>
                    <a:pt x="284139" y="15148"/>
                  </a:lnTo>
                  <a:lnTo>
                    <a:pt x="310870" y="10681"/>
                  </a:lnTo>
                  <a:lnTo>
                    <a:pt x="337927" y="6969"/>
                  </a:lnTo>
                  <a:lnTo>
                    <a:pt x="365310" y="4010"/>
                  </a:lnTo>
                  <a:lnTo>
                    <a:pt x="393034" y="1827"/>
                  </a:lnTo>
                  <a:lnTo>
                    <a:pt x="421115" y="467"/>
                  </a:lnTo>
                  <a:lnTo>
                    <a:pt x="449563" y="0"/>
                  </a:lnTo>
                  <a:lnTo>
                    <a:pt x="478371" y="502"/>
                  </a:lnTo>
                  <a:lnTo>
                    <a:pt x="507512" y="2058"/>
                  </a:lnTo>
                  <a:lnTo>
                    <a:pt x="536937" y="4744"/>
                  </a:lnTo>
                  <a:lnTo>
                    <a:pt x="566573" y="8623"/>
                  </a:lnTo>
                  <a:lnTo>
                    <a:pt x="596328" y="13739"/>
                  </a:lnTo>
                  <a:lnTo>
                    <a:pt x="626097" y="20111"/>
                  </a:lnTo>
                  <a:lnTo>
                    <a:pt x="655769" y="27733"/>
                  </a:lnTo>
                  <a:lnTo>
                    <a:pt x="685231" y="36572"/>
                  </a:lnTo>
                  <a:lnTo>
                    <a:pt x="714381" y="46574"/>
                  </a:lnTo>
                  <a:lnTo>
                    <a:pt x="743134" y="57666"/>
                  </a:lnTo>
                  <a:lnTo>
                    <a:pt x="771420" y="69766"/>
                  </a:lnTo>
                  <a:lnTo>
                    <a:pt x="799192" y="82788"/>
                  </a:lnTo>
                  <a:lnTo>
                    <a:pt x="826424" y="96647"/>
                  </a:lnTo>
                  <a:lnTo>
                    <a:pt x="853103" y="111273"/>
                  </a:lnTo>
                  <a:lnTo>
                    <a:pt x="879227" y="126607"/>
                  </a:lnTo>
                  <a:lnTo>
                    <a:pt x="904793" y="142611"/>
                  </a:lnTo>
                  <a:lnTo>
                    <a:pt x="929791" y="159263"/>
                  </a:lnTo>
                  <a:lnTo>
                    <a:pt x="954195" y="176558"/>
                  </a:lnTo>
                  <a:lnTo>
                    <a:pt x="977951" y="194505"/>
                  </a:lnTo>
                  <a:lnTo>
                    <a:pt x="1000974" y="213118"/>
                  </a:lnTo>
                  <a:lnTo>
                    <a:pt x="1023149" y="232410"/>
                  </a:lnTo>
                  <a:lnTo>
                    <a:pt x="1044323" y="252388"/>
                  </a:lnTo>
                  <a:lnTo>
                    <a:pt x="1064318" y="273043"/>
                  </a:lnTo>
                  <a:lnTo>
                    <a:pt x="1082931" y="294343"/>
                  </a:lnTo>
                  <a:lnTo>
                    <a:pt x="1099952" y="316235"/>
                  </a:lnTo>
                  <a:lnTo>
                    <a:pt x="1115170" y="338635"/>
                  </a:lnTo>
                  <a:lnTo>
                    <a:pt x="1128393" y="361437"/>
                  </a:lnTo>
                  <a:lnTo>
                    <a:pt x="1139456" y="384510"/>
                  </a:lnTo>
                  <a:lnTo>
                    <a:pt x="1148238" y="407708"/>
                  </a:lnTo>
                  <a:lnTo>
                    <a:pt x="1154667" y="430876"/>
                  </a:lnTo>
                  <a:lnTo>
                    <a:pt x="1158732" y="453860"/>
                  </a:lnTo>
                  <a:lnTo>
                    <a:pt x="1160480" y="476515"/>
                  </a:lnTo>
                  <a:lnTo>
                    <a:pt x="1160016" y="498714"/>
                  </a:lnTo>
                  <a:lnTo>
                    <a:pt x="1157496" y="520358"/>
                  </a:lnTo>
                  <a:lnTo>
                    <a:pt x="1153116" y="541374"/>
                  </a:lnTo>
                  <a:lnTo>
                    <a:pt x="1147100" y="561728"/>
                  </a:lnTo>
                  <a:lnTo>
                    <a:pt x="1139680" y="581415"/>
                  </a:lnTo>
                  <a:lnTo>
                    <a:pt x="1131084" y="600460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45" name="Базальная мембрана канальца"/>
            <p:cNvSpPr/>
            <p:nvPr/>
          </p:nvSpPr>
          <p:spPr>
            <a:xfrm>
              <a:off x="9032565" y="3584383"/>
              <a:ext cx="1255079" cy="918578"/>
            </a:xfrm>
            <a:custGeom>
              <a:avLst/>
              <a:gdLst/>
              <a:ahLst/>
              <a:cxnLst/>
              <a:rect l="l" t="t" r="r" b="b"/>
              <a:pathLst>
                <a:path w="1255079" h="918578">
                  <a:moveTo>
                    <a:pt x="1255079" y="372358"/>
                  </a:moveTo>
                  <a:lnTo>
                    <a:pt x="1254291" y="395685"/>
                  </a:lnTo>
                  <a:lnTo>
                    <a:pt x="1252709" y="418883"/>
                  </a:lnTo>
                  <a:lnTo>
                    <a:pt x="1250458" y="441986"/>
                  </a:lnTo>
                  <a:lnTo>
                    <a:pt x="1247603" y="465042"/>
                  </a:lnTo>
                  <a:lnTo>
                    <a:pt x="1244141" y="488108"/>
                  </a:lnTo>
                  <a:lnTo>
                    <a:pt x="1240008" y="511236"/>
                  </a:lnTo>
                  <a:lnTo>
                    <a:pt x="1235081" y="534463"/>
                  </a:lnTo>
                  <a:lnTo>
                    <a:pt x="1229190" y="557800"/>
                  </a:lnTo>
                  <a:lnTo>
                    <a:pt x="1222136" y="581230"/>
                  </a:lnTo>
                  <a:lnTo>
                    <a:pt x="1213703" y="604700"/>
                  </a:lnTo>
                  <a:lnTo>
                    <a:pt x="1203684" y="628123"/>
                  </a:lnTo>
                  <a:lnTo>
                    <a:pt x="1191889" y="651380"/>
                  </a:lnTo>
                  <a:lnTo>
                    <a:pt x="1178169" y="674327"/>
                  </a:lnTo>
                  <a:lnTo>
                    <a:pt x="1162421" y="696800"/>
                  </a:lnTo>
                  <a:lnTo>
                    <a:pt x="1144599" y="718632"/>
                  </a:lnTo>
                  <a:lnTo>
                    <a:pt x="1124720" y="739654"/>
                  </a:lnTo>
                  <a:lnTo>
                    <a:pt x="1102854" y="759714"/>
                  </a:lnTo>
                  <a:lnTo>
                    <a:pt x="1079124" y="778681"/>
                  </a:lnTo>
                  <a:lnTo>
                    <a:pt x="1053696" y="796453"/>
                  </a:lnTo>
                  <a:lnTo>
                    <a:pt x="1026762" y="812960"/>
                  </a:lnTo>
                  <a:lnTo>
                    <a:pt x="998533" y="828167"/>
                  </a:lnTo>
                  <a:lnTo>
                    <a:pt x="969218" y="842070"/>
                  </a:lnTo>
                  <a:lnTo>
                    <a:pt x="939020" y="854691"/>
                  </a:lnTo>
                  <a:lnTo>
                    <a:pt x="908118" y="866072"/>
                  </a:lnTo>
                  <a:lnTo>
                    <a:pt x="876667" y="876265"/>
                  </a:lnTo>
                  <a:lnTo>
                    <a:pt x="844792" y="885324"/>
                  </a:lnTo>
                  <a:lnTo>
                    <a:pt x="812591" y="893294"/>
                  </a:lnTo>
                  <a:lnTo>
                    <a:pt x="780136" y="900207"/>
                  </a:lnTo>
                  <a:lnTo>
                    <a:pt x="747484" y="906074"/>
                  </a:lnTo>
                  <a:lnTo>
                    <a:pt x="714683" y="910883"/>
                  </a:lnTo>
                  <a:lnTo>
                    <a:pt x="681779" y="914598"/>
                  </a:lnTo>
                  <a:lnTo>
                    <a:pt x="648829" y="917167"/>
                  </a:lnTo>
                  <a:lnTo>
                    <a:pt x="615905" y="918518"/>
                  </a:lnTo>
                  <a:lnTo>
                    <a:pt x="583098" y="918578"/>
                  </a:lnTo>
                  <a:lnTo>
                    <a:pt x="550520" y="917273"/>
                  </a:lnTo>
                  <a:lnTo>
                    <a:pt x="518300" y="914541"/>
                  </a:lnTo>
                  <a:lnTo>
                    <a:pt x="486582" y="910340"/>
                  </a:lnTo>
                  <a:lnTo>
                    <a:pt x="455513" y="904656"/>
                  </a:lnTo>
                  <a:lnTo>
                    <a:pt x="425237" y="897502"/>
                  </a:lnTo>
                  <a:lnTo>
                    <a:pt x="395883" y="888928"/>
                  </a:lnTo>
                  <a:lnTo>
                    <a:pt x="367555" y="879012"/>
                  </a:lnTo>
                  <a:lnTo>
                    <a:pt x="340323" y="867860"/>
                  </a:lnTo>
                  <a:lnTo>
                    <a:pt x="314222" y="855599"/>
                  </a:lnTo>
                  <a:lnTo>
                    <a:pt x="289245" y="842366"/>
                  </a:lnTo>
                  <a:lnTo>
                    <a:pt x="265350" y="828298"/>
                  </a:lnTo>
                  <a:lnTo>
                    <a:pt x="242460" y="813523"/>
                  </a:lnTo>
                  <a:lnTo>
                    <a:pt x="220480" y="798152"/>
                  </a:lnTo>
                  <a:lnTo>
                    <a:pt x="199304" y="782268"/>
                  </a:lnTo>
                  <a:lnTo>
                    <a:pt x="178831" y="765923"/>
                  </a:lnTo>
                  <a:lnTo>
                    <a:pt x="158981" y="749136"/>
                  </a:lnTo>
                  <a:lnTo>
                    <a:pt x="139707" y="731894"/>
                  </a:lnTo>
                  <a:lnTo>
                    <a:pt x="121009" y="714156"/>
                  </a:lnTo>
                  <a:lnTo>
                    <a:pt x="102938" y="695860"/>
                  </a:lnTo>
                  <a:lnTo>
                    <a:pt x="85604" y="676936"/>
                  </a:lnTo>
                  <a:lnTo>
                    <a:pt x="69173" y="657311"/>
                  </a:lnTo>
                  <a:lnTo>
                    <a:pt x="53860" y="636926"/>
                  </a:lnTo>
                  <a:lnTo>
                    <a:pt x="39919" y="615740"/>
                  </a:lnTo>
                  <a:lnTo>
                    <a:pt x="27626" y="593744"/>
                  </a:lnTo>
                  <a:lnTo>
                    <a:pt x="17266" y="570965"/>
                  </a:lnTo>
                  <a:lnTo>
                    <a:pt x="9109" y="547467"/>
                  </a:lnTo>
                  <a:lnTo>
                    <a:pt x="3395" y="523354"/>
                  </a:lnTo>
                  <a:lnTo>
                    <a:pt x="316" y="498762"/>
                  </a:lnTo>
                  <a:lnTo>
                    <a:pt x="0" y="473854"/>
                  </a:lnTo>
                  <a:lnTo>
                    <a:pt x="2508" y="448814"/>
                  </a:lnTo>
                  <a:lnTo>
                    <a:pt x="7822" y="423827"/>
                  </a:lnTo>
                  <a:lnTo>
                    <a:pt x="15853" y="399079"/>
                  </a:lnTo>
                  <a:lnTo>
                    <a:pt x="26445" y="374737"/>
                  </a:lnTo>
                  <a:lnTo>
                    <a:pt x="39386" y="350943"/>
                  </a:lnTo>
                  <a:lnTo>
                    <a:pt x="54425" y="327809"/>
                  </a:lnTo>
                  <a:lnTo>
                    <a:pt x="71287" y="305410"/>
                  </a:lnTo>
                  <a:lnTo>
                    <a:pt x="89693" y="283784"/>
                  </a:lnTo>
                  <a:lnTo>
                    <a:pt x="109377" y="262936"/>
                  </a:lnTo>
                  <a:lnTo>
                    <a:pt x="130102" y="242842"/>
                  </a:lnTo>
                  <a:lnTo>
                    <a:pt x="151672" y="223457"/>
                  </a:lnTo>
                  <a:lnTo>
                    <a:pt x="173940" y="204728"/>
                  </a:lnTo>
                  <a:lnTo>
                    <a:pt x="196809" y="186598"/>
                  </a:lnTo>
                  <a:lnTo>
                    <a:pt x="220236" y="169022"/>
                  </a:lnTo>
                  <a:lnTo>
                    <a:pt x="244218" y="151972"/>
                  </a:lnTo>
                  <a:lnTo>
                    <a:pt x="268790" y="135445"/>
                  </a:lnTo>
                  <a:lnTo>
                    <a:pt x="294008" y="119465"/>
                  </a:lnTo>
                  <a:lnTo>
                    <a:pt x="319939" y="104085"/>
                  </a:lnTo>
                  <a:lnTo>
                    <a:pt x="346644" y="89386"/>
                  </a:lnTo>
                  <a:lnTo>
                    <a:pt x="374172" y="75468"/>
                  </a:lnTo>
                  <a:lnTo>
                    <a:pt x="402545" y="62446"/>
                  </a:lnTo>
                  <a:lnTo>
                    <a:pt x="431754" y="50438"/>
                  </a:lnTo>
                  <a:lnTo>
                    <a:pt x="461759" y="39560"/>
                  </a:lnTo>
                  <a:lnTo>
                    <a:pt x="492488" y="29911"/>
                  </a:lnTo>
                  <a:lnTo>
                    <a:pt x="523840" y="21572"/>
                  </a:lnTo>
                  <a:lnTo>
                    <a:pt x="555698" y="14595"/>
                  </a:lnTo>
                  <a:lnTo>
                    <a:pt x="587932" y="9004"/>
                  </a:lnTo>
                  <a:lnTo>
                    <a:pt x="620411" y="4791"/>
                  </a:lnTo>
                  <a:lnTo>
                    <a:pt x="653012" y="1924"/>
                  </a:lnTo>
                  <a:lnTo>
                    <a:pt x="685627" y="349"/>
                  </a:lnTo>
                  <a:lnTo>
                    <a:pt x="718169" y="0"/>
                  </a:lnTo>
                  <a:lnTo>
                    <a:pt x="750568" y="803"/>
                  </a:lnTo>
                  <a:lnTo>
                    <a:pt x="782778" y="2691"/>
                  </a:lnTo>
                  <a:lnTo>
                    <a:pt x="814765" y="5610"/>
                  </a:lnTo>
                  <a:lnTo>
                    <a:pt x="846502" y="9524"/>
                  </a:lnTo>
                  <a:lnTo>
                    <a:pt x="877960" y="14424"/>
                  </a:lnTo>
                  <a:lnTo>
                    <a:pt x="909098" y="20323"/>
                  </a:lnTo>
                  <a:lnTo>
                    <a:pt x="939856" y="27261"/>
                  </a:lnTo>
                  <a:lnTo>
                    <a:pt x="970142" y="35298"/>
                  </a:lnTo>
                  <a:lnTo>
                    <a:pt x="999832" y="44508"/>
                  </a:lnTo>
                  <a:lnTo>
                    <a:pt x="1028767" y="54968"/>
                  </a:lnTo>
                  <a:lnTo>
                    <a:pt x="1056757" y="66752"/>
                  </a:lnTo>
                  <a:lnTo>
                    <a:pt x="1083583" y="79917"/>
                  </a:lnTo>
                  <a:lnTo>
                    <a:pt x="1109013" y="94496"/>
                  </a:lnTo>
                  <a:lnTo>
                    <a:pt x="1132812" y="110491"/>
                  </a:lnTo>
                  <a:lnTo>
                    <a:pt x="1154755" y="127866"/>
                  </a:lnTo>
                  <a:lnTo>
                    <a:pt x="1174646" y="146548"/>
                  </a:lnTo>
                  <a:lnTo>
                    <a:pt x="1192330" y="166426"/>
                  </a:lnTo>
                  <a:lnTo>
                    <a:pt x="1207704" y="187358"/>
                  </a:lnTo>
                  <a:lnTo>
                    <a:pt x="1220727" y="209177"/>
                  </a:lnTo>
                  <a:lnTo>
                    <a:pt x="1231424" y="231701"/>
                  </a:lnTo>
                  <a:lnTo>
                    <a:pt x="1239882" y="254745"/>
                  </a:lnTo>
                  <a:lnTo>
                    <a:pt x="1246250" y="278131"/>
                  </a:lnTo>
                  <a:lnTo>
                    <a:pt x="1250720" y="301701"/>
                  </a:lnTo>
                  <a:lnTo>
                    <a:pt x="1253521" y="325322"/>
                  </a:lnTo>
                  <a:lnTo>
                    <a:pt x="1254894" y="348895"/>
                  </a:lnTo>
                  <a:close/>
                </a:path>
              </a:pathLst>
            </a:custGeom>
            <a:solidFill>
              <a:srgbClr val="C9B6CF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46" name="Клетка однослойного эпителия"/>
            <p:cNvSpPr/>
            <p:nvPr/>
          </p:nvSpPr>
          <p:spPr>
            <a:xfrm>
              <a:off x="10166497" y="3960709"/>
              <a:ext cx="92910" cy="153331"/>
            </a:xfrm>
            <a:custGeom>
              <a:avLst/>
              <a:gdLst/>
              <a:ahLst/>
              <a:cxnLst/>
              <a:rect l="l" t="t" r="r" b="b"/>
              <a:pathLst>
                <a:path w="92910" h="153331">
                  <a:moveTo>
                    <a:pt x="92910" y="0"/>
                  </a:moveTo>
                  <a:lnTo>
                    <a:pt x="92049" y="15505"/>
                  </a:lnTo>
                  <a:lnTo>
                    <a:pt x="90851" y="30923"/>
                  </a:lnTo>
                  <a:lnTo>
                    <a:pt x="89375" y="46264"/>
                  </a:lnTo>
                  <a:lnTo>
                    <a:pt x="87663" y="61547"/>
                  </a:lnTo>
                  <a:lnTo>
                    <a:pt x="85740" y="76795"/>
                  </a:lnTo>
                  <a:lnTo>
                    <a:pt x="83615" y="92032"/>
                  </a:lnTo>
                  <a:lnTo>
                    <a:pt x="81277" y="107283"/>
                  </a:lnTo>
                  <a:lnTo>
                    <a:pt x="78699" y="122571"/>
                  </a:lnTo>
                  <a:lnTo>
                    <a:pt x="75839" y="137916"/>
                  </a:lnTo>
                  <a:lnTo>
                    <a:pt x="72639" y="153331"/>
                  </a:lnTo>
                  <a:lnTo>
                    <a:pt x="0" y="136325"/>
                  </a:lnTo>
                  <a:lnTo>
                    <a:pt x="2895" y="123659"/>
                  </a:lnTo>
                  <a:lnTo>
                    <a:pt x="5494" y="111053"/>
                  </a:lnTo>
                  <a:lnTo>
                    <a:pt x="7846" y="98496"/>
                  </a:lnTo>
                  <a:lnTo>
                    <a:pt x="9990" y="85971"/>
                  </a:lnTo>
                  <a:lnTo>
                    <a:pt x="11949" y="73460"/>
                  </a:lnTo>
                  <a:lnTo>
                    <a:pt x="13732" y="60940"/>
                  </a:lnTo>
                  <a:lnTo>
                    <a:pt x="15331" y="48393"/>
                  </a:lnTo>
                  <a:lnTo>
                    <a:pt x="16726" y="35800"/>
                  </a:lnTo>
                  <a:lnTo>
                    <a:pt x="17879" y="23147"/>
                  </a:lnTo>
                  <a:lnTo>
                    <a:pt x="18740" y="1042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47" name="Ядро эпителиальной клетки"/>
            <p:cNvSpPr/>
            <p:nvPr/>
          </p:nvSpPr>
          <p:spPr>
            <a:xfrm rot="5555294">
              <a:off x="10167231" y="400559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48" name="Клетка однослойного эпителия"/>
            <p:cNvSpPr/>
            <p:nvPr/>
          </p:nvSpPr>
          <p:spPr>
            <a:xfrm>
              <a:off x="10106915" y="4097034"/>
              <a:ext cx="132221" cy="172289"/>
            </a:xfrm>
            <a:custGeom>
              <a:avLst/>
              <a:gdLst/>
              <a:ahLst/>
              <a:cxnLst/>
              <a:rect l="l" t="t" r="r" b="b"/>
              <a:pathLst>
                <a:path w="132221" h="172289">
                  <a:moveTo>
                    <a:pt x="132221" y="17006"/>
                  </a:moveTo>
                  <a:lnTo>
                    <a:pt x="128615" y="32498"/>
                  </a:lnTo>
                  <a:lnTo>
                    <a:pt x="124525" y="48067"/>
                  </a:lnTo>
                  <a:lnTo>
                    <a:pt x="119871" y="63701"/>
                  </a:lnTo>
                  <a:lnTo>
                    <a:pt x="114567" y="79382"/>
                  </a:lnTo>
                  <a:lnTo>
                    <a:pt x="108533" y="95081"/>
                  </a:lnTo>
                  <a:lnTo>
                    <a:pt x="101691" y="110760"/>
                  </a:lnTo>
                  <a:lnTo>
                    <a:pt x="93973" y="126374"/>
                  </a:lnTo>
                  <a:lnTo>
                    <a:pt x="85318" y="141872"/>
                  </a:lnTo>
                  <a:lnTo>
                    <a:pt x="75682" y="157197"/>
                  </a:lnTo>
                  <a:lnTo>
                    <a:pt x="65033" y="172289"/>
                  </a:lnTo>
                  <a:lnTo>
                    <a:pt x="0" y="127839"/>
                  </a:lnTo>
                  <a:lnTo>
                    <a:pt x="9375" y="115384"/>
                  </a:lnTo>
                  <a:lnTo>
                    <a:pt x="17871" y="102746"/>
                  </a:lnTo>
                  <a:lnTo>
                    <a:pt x="25513" y="89974"/>
                  </a:lnTo>
                  <a:lnTo>
                    <a:pt x="32342" y="77112"/>
                  </a:lnTo>
                  <a:lnTo>
                    <a:pt x="38408" y="64204"/>
                  </a:lnTo>
                  <a:lnTo>
                    <a:pt x="43771" y="51285"/>
                  </a:lnTo>
                  <a:lnTo>
                    <a:pt x="48499" y="38386"/>
                  </a:lnTo>
                  <a:lnTo>
                    <a:pt x="52662" y="25530"/>
                  </a:lnTo>
                  <a:lnTo>
                    <a:pt x="56333" y="12732"/>
                  </a:lnTo>
                  <a:lnTo>
                    <a:pt x="59582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49" name="Ядро эпителиальной клетки"/>
            <p:cNvSpPr/>
            <p:nvPr/>
          </p:nvSpPr>
          <p:spPr>
            <a:xfrm rot="6825882">
              <a:off x="10132348" y="414588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50" name="Клетка однослойного эпителия"/>
            <p:cNvSpPr/>
            <p:nvPr/>
          </p:nvSpPr>
          <p:spPr>
            <a:xfrm>
              <a:off x="9967800" y="4224873"/>
              <a:ext cx="204148" cy="170721"/>
            </a:xfrm>
            <a:custGeom>
              <a:avLst/>
              <a:gdLst/>
              <a:ahLst/>
              <a:cxnLst/>
              <a:rect l="l" t="t" r="r" b="b"/>
              <a:pathLst>
                <a:path w="204148" h="170721">
                  <a:moveTo>
                    <a:pt x="204148" y="44450"/>
                  </a:moveTo>
                  <a:lnTo>
                    <a:pt x="192467" y="59248"/>
                  </a:lnTo>
                  <a:lnTo>
                    <a:pt x="179756" y="73692"/>
                  </a:lnTo>
                  <a:lnTo>
                    <a:pt x="166028" y="87723"/>
                  </a:lnTo>
                  <a:lnTo>
                    <a:pt x="151313" y="101287"/>
                  </a:lnTo>
                  <a:lnTo>
                    <a:pt x="135652" y="114337"/>
                  </a:lnTo>
                  <a:lnTo>
                    <a:pt x="119100" y="126832"/>
                  </a:lnTo>
                  <a:lnTo>
                    <a:pt x="101720" y="138738"/>
                  </a:lnTo>
                  <a:lnTo>
                    <a:pt x="83580" y="150031"/>
                  </a:lnTo>
                  <a:lnTo>
                    <a:pt x="64757" y="160695"/>
                  </a:lnTo>
                  <a:lnTo>
                    <a:pt x="45324" y="170721"/>
                  </a:lnTo>
                  <a:lnTo>
                    <a:pt x="0" y="104701"/>
                  </a:lnTo>
                  <a:lnTo>
                    <a:pt x="16982" y="96339"/>
                  </a:lnTo>
                  <a:lnTo>
                    <a:pt x="33439" y="87458"/>
                  </a:lnTo>
                  <a:lnTo>
                    <a:pt x="49305" y="78066"/>
                  </a:lnTo>
                  <a:lnTo>
                    <a:pt x="64515" y="68176"/>
                  </a:lnTo>
                  <a:lnTo>
                    <a:pt x="79009" y="57810"/>
                  </a:lnTo>
                  <a:lnTo>
                    <a:pt x="92730" y="46994"/>
                  </a:lnTo>
                  <a:lnTo>
                    <a:pt x="105633" y="35763"/>
                  </a:lnTo>
                  <a:lnTo>
                    <a:pt x="117679" y="24157"/>
                  </a:lnTo>
                  <a:lnTo>
                    <a:pt x="128844" y="12220"/>
                  </a:lnTo>
                  <a:lnTo>
                    <a:pt x="139115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51" name="Ядро эпителиальной клетки"/>
            <p:cNvSpPr/>
            <p:nvPr/>
          </p:nvSpPr>
          <p:spPr>
            <a:xfrm rot="8096471">
              <a:off x="10027363" y="4279640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52" name="Клетка однослойного эпителия"/>
            <p:cNvSpPr/>
            <p:nvPr/>
          </p:nvSpPr>
          <p:spPr>
            <a:xfrm>
              <a:off x="9781539" y="4329574"/>
              <a:ext cx="231585" cy="133320"/>
            </a:xfrm>
            <a:custGeom>
              <a:avLst/>
              <a:gdLst/>
              <a:ahLst/>
              <a:cxnLst/>
              <a:rect l="l" t="t" r="r" b="b"/>
              <a:pathLst>
                <a:path w="231585" h="133320">
                  <a:moveTo>
                    <a:pt x="231585" y="66020"/>
                  </a:moveTo>
                  <a:lnTo>
                    <a:pt x="211620" y="75408"/>
                  </a:lnTo>
                  <a:lnTo>
                    <a:pt x="191195" y="84165"/>
                  </a:lnTo>
                  <a:lnTo>
                    <a:pt x="170379" y="92302"/>
                  </a:lnTo>
                  <a:lnTo>
                    <a:pt x="149233" y="99835"/>
                  </a:lnTo>
                  <a:lnTo>
                    <a:pt x="127815" y="106781"/>
                  </a:lnTo>
                  <a:lnTo>
                    <a:pt x="106173" y="113160"/>
                  </a:lnTo>
                  <a:lnTo>
                    <a:pt x="84349" y="118990"/>
                  </a:lnTo>
                  <a:lnTo>
                    <a:pt x="62376" y="124286"/>
                  </a:lnTo>
                  <a:lnTo>
                    <a:pt x="40284" y="129060"/>
                  </a:lnTo>
                  <a:lnTo>
                    <a:pt x="18097" y="133320"/>
                  </a:lnTo>
                  <a:lnTo>
                    <a:pt x="0" y="56729"/>
                  </a:lnTo>
                  <a:lnTo>
                    <a:pt x="19338" y="53076"/>
                  </a:lnTo>
                  <a:lnTo>
                    <a:pt x="38597" y="49002"/>
                  </a:lnTo>
                  <a:lnTo>
                    <a:pt x="57755" y="44501"/>
                  </a:lnTo>
                  <a:lnTo>
                    <a:pt x="76789" y="39563"/>
                  </a:lnTo>
                  <a:lnTo>
                    <a:pt x="95668" y="34175"/>
                  </a:lnTo>
                  <a:lnTo>
                    <a:pt x="114355" y="28324"/>
                  </a:lnTo>
                  <a:lnTo>
                    <a:pt x="132810" y="21995"/>
                  </a:lnTo>
                  <a:lnTo>
                    <a:pt x="150983" y="15172"/>
                  </a:lnTo>
                  <a:lnTo>
                    <a:pt x="168820" y="7843"/>
                  </a:lnTo>
                  <a:lnTo>
                    <a:pt x="186261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53" name="Ядро эпителиальной клетки"/>
            <p:cNvSpPr/>
            <p:nvPr/>
          </p:nvSpPr>
          <p:spPr>
            <a:xfrm rot="9367059">
              <a:off x="9846003" y="436842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54" name="Клетка однослойного эпителия"/>
            <p:cNvSpPr/>
            <p:nvPr/>
          </p:nvSpPr>
          <p:spPr>
            <a:xfrm>
              <a:off x="9577129" y="4386303"/>
              <a:ext cx="222507" cy="91566"/>
            </a:xfrm>
            <a:custGeom>
              <a:avLst/>
              <a:gdLst/>
              <a:ahLst/>
              <a:cxnLst/>
              <a:rect l="l" t="t" r="r" b="b"/>
              <a:pathLst>
                <a:path w="222507" h="91566">
                  <a:moveTo>
                    <a:pt x="222507" y="76591"/>
                  </a:moveTo>
                  <a:lnTo>
                    <a:pt x="200245" y="80339"/>
                  </a:lnTo>
                  <a:lnTo>
                    <a:pt x="177926" y="83573"/>
                  </a:lnTo>
                  <a:lnTo>
                    <a:pt x="155568" y="86284"/>
                  </a:lnTo>
                  <a:lnTo>
                    <a:pt x="133190" y="88458"/>
                  </a:lnTo>
                  <a:lnTo>
                    <a:pt x="110814" y="90077"/>
                  </a:lnTo>
                  <a:lnTo>
                    <a:pt x="88466" y="91121"/>
                  </a:lnTo>
                  <a:lnTo>
                    <a:pt x="66174" y="91566"/>
                  </a:lnTo>
                  <a:lnTo>
                    <a:pt x="43972" y="91390"/>
                  </a:lnTo>
                  <a:lnTo>
                    <a:pt x="21900" y="90568"/>
                  </a:lnTo>
                  <a:lnTo>
                    <a:pt x="0" y="89083"/>
                  </a:lnTo>
                  <a:lnTo>
                    <a:pt x="10694" y="11841"/>
                  </a:lnTo>
                  <a:lnTo>
                    <a:pt x="29741" y="12903"/>
                  </a:lnTo>
                  <a:lnTo>
                    <a:pt x="48942" y="13418"/>
                  </a:lnTo>
                  <a:lnTo>
                    <a:pt x="68261" y="13404"/>
                  </a:lnTo>
                  <a:lnTo>
                    <a:pt x="87663" y="12878"/>
                  </a:lnTo>
                  <a:lnTo>
                    <a:pt x="107118" y="11862"/>
                  </a:lnTo>
                  <a:lnTo>
                    <a:pt x="126601" y="10373"/>
                  </a:lnTo>
                  <a:lnTo>
                    <a:pt x="146089" y="8430"/>
                  </a:lnTo>
                  <a:lnTo>
                    <a:pt x="165565" y="6046"/>
                  </a:lnTo>
                  <a:lnTo>
                    <a:pt x="185010" y="3234"/>
                  </a:lnTo>
                  <a:lnTo>
                    <a:pt x="204410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55" name="Ядро эпителиальной клетки"/>
            <p:cNvSpPr/>
            <p:nvPr/>
          </p:nvSpPr>
          <p:spPr>
            <a:xfrm rot="10637647">
              <a:off x="9639386" y="440553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56" name="Клетка однослойного эпителия"/>
            <p:cNvSpPr/>
            <p:nvPr/>
          </p:nvSpPr>
          <p:spPr>
            <a:xfrm>
              <a:off x="9377612" y="4357204"/>
              <a:ext cx="210211" cy="118182"/>
            </a:xfrm>
            <a:custGeom>
              <a:avLst/>
              <a:gdLst/>
              <a:ahLst/>
              <a:cxnLst/>
              <a:rect l="l" t="t" r="r" b="b"/>
              <a:pathLst>
                <a:path w="210211" h="118182">
                  <a:moveTo>
                    <a:pt x="199517" y="118182"/>
                  </a:moveTo>
                  <a:lnTo>
                    <a:pt x="177835" y="116015"/>
                  </a:lnTo>
                  <a:lnTo>
                    <a:pt x="156421" y="113158"/>
                  </a:lnTo>
                  <a:lnTo>
                    <a:pt x="135323" y="109606"/>
                  </a:lnTo>
                  <a:lnTo>
                    <a:pt x="114589" y="105362"/>
                  </a:lnTo>
                  <a:lnTo>
                    <a:pt x="94266" y="100438"/>
                  </a:lnTo>
                  <a:lnTo>
                    <a:pt x="74395" y="94852"/>
                  </a:lnTo>
                  <a:lnTo>
                    <a:pt x="55009" y="88631"/>
                  </a:lnTo>
                  <a:lnTo>
                    <a:pt x="36138" y="81808"/>
                  </a:lnTo>
                  <a:lnTo>
                    <a:pt x="17799" y="74422"/>
                  </a:lnTo>
                  <a:lnTo>
                    <a:pt x="0" y="66519"/>
                  </a:lnTo>
                  <a:lnTo>
                    <a:pt x="36961" y="0"/>
                  </a:lnTo>
                  <a:lnTo>
                    <a:pt x="52393" y="6355"/>
                  </a:lnTo>
                  <a:lnTo>
                    <a:pt x="68299" y="12280"/>
                  </a:lnTo>
                  <a:lnTo>
                    <a:pt x="84672" y="17741"/>
                  </a:lnTo>
                  <a:lnTo>
                    <a:pt x="101496" y="22704"/>
                  </a:lnTo>
                  <a:lnTo>
                    <a:pt x="118748" y="27143"/>
                  </a:lnTo>
                  <a:lnTo>
                    <a:pt x="136398" y="31036"/>
                  </a:lnTo>
                  <a:lnTo>
                    <a:pt x="154410" y="34368"/>
                  </a:lnTo>
                  <a:lnTo>
                    <a:pt x="172744" y="37130"/>
                  </a:lnTo>
                  <a:lnTo>
                    <a:pt x="191359" y="39319"/>
                  </a:lnTo>
                  <a:lnTo>
                    <a:pt x="210211" y="4094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57" name="Ядро эпителиальной клетки"/>
            <p:cNvSpPr/>
            <p:nvPr/>
          </p:nvSpPr>
          <p:spPr>
            <a:xfrm rot="11908235">
              <a:off x="9437974" y="438935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58" name="Клетка однослойного эпителия"/>
            <p:cNvSpPr/>
            <p:nvPr/>
          </p:nvSpPr>
          <p:spPr>
            <a:xfrm>
              <a:off x="9225046" y="4278013"/>
              <a:ext cx="189527" cy="145710"/>
            </a:xfrm>
            <a:custGeom>
              <a:avLst/>
              <a:gdLst/>
              <a:ahLst/>
              <a:cxnLst/>
              <a:rect l="l" t="t" r="r" b="b"/>
              <a:pathLst>
                <a:path w="189527" h="145710">
                  <a:moveTo>
                    <a:pt x="152566" y="145710"/>
                  </a:moveTo>
                  <a:lnTo>
                    <a:pt x="135306" y="137335"/>
                  </a:lnTo>
                  <a:lnTo>
                    <a:pt x="118574" y="128538"/>
                  </a:lnTo>
                  <a:lnTo>
                    <a:pt x="102349" y="119365"/>
                  </a:lnTo>
                  <a:lnTo>
                    <a:pt x="86602" y="109864"/>
                  </a:lnTo>
                  <a:lnTo>
                    <a:pt x="71298" y="100075"/>
                  </a:lnTo>
                  <a:lnTo>
                    <a:pt x="56396" y="90034"/>
                  </a:lnTo>
                  <a:lnTo>
                    <a:pt x="41855" y="79772"/>
                  </a:lnTo>
                  <a:lnTo>
                    <a:pt x="27633" y="69308"/>
                  </a:lnTo>
                  <a:lnTo>
                    <a:pt x="13692" y="58656"/>
                  </a:lnTo>
                  <a:lnTo>
                    <a:pt x="0" y="47819"/>
                  </a:lnTo>
                  <a:lnTo>
                    <a:pt x="57466" y="0"/>
                  </a:lnTo>
                  <a:lnTo>
                    <a:pt x="69303" y="8790"/>
                  </a:lnTo>
                  <a:lnTo>
                    <a:pt x="81358" y="17426"/>
                  </a:lnTo>
                  <a:lnTo>
                    <a:pt x="93659" y="25906"/>
                  </a:lnTo>
                  <a:lnTo>
                    <a:pt x="106239" y="34219"/>
                  </a:lnTo>
                  <a:lnTo>
                    <a:pt x="119134" y="42346"/>
                  </a:lnTo>
                  <a:lnTo>
                    <a:pt x="132382" y="50265"/>
                  </a:lnTo>
                  <a:lnTo>
                    <a:pt x="146017" y="57945"/>
                  </a:lnTo>
                  <a:lnTo>
                    <a:pt x="160070" y="65351"/>
                  </a:lnTo>
                  <a:lnTo>
                    <a:pt x="174568" y="72446"/>
                  </a:lnTo>
                  <a:lnTo>
                    <a:pt x="189527" y="79191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59" name="Ядро эпителиальной клетки"/>
            <p:cNvSpPr/>
            <p:nvPr/>
          </p:nvSpPr>
          <p:spPr>
            <a:xfrm rot="13178824">
              <a:off x="9274584" y="431789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60" name="Клетка однослойного эпителия"/>
            <p:cNvSpPr/>
            <p:nvPr/>
          </p:nvSpPr>
          <p:spPr>
            <a:xfrm>
              <a:off x="9102951" y="4178597"/>
              <a:ext cx="179561" cy="147235"/>
            </a:xfrm>
            <a:custGeom>
              <a:avLst/>
              <a:gdLst/>
              <a:ahLst/>
              <a:cxnLst/>
              <a:rect l="l" t="t" r="r" b="b"/>
              <a:pathLst>
                <a:path w="179561" h="147235">
                  <a:moveTo>
                    <a:pt x="122095" y="147235"/>
                  </a:moveTo>
                  <a:lnTo>
                    <a:pt x="108627" y="136210"/>
                  </a:lnTo>
                  <a:lnTo>
                    <a:pt x="95371" y="124984"/>
                  </a:lnTo>
                  <a:lnTo>
                    <a:pt x="82326" y="113538"/>
                  </a:lnTo>
                  <a:lnTo>
                    <a:pt x="69506" y="101848"/>
                  </a:lnTo>
                  <a:lnTo>
                    <a:pt x="56942" y="89884"/>
                  </a:lnTo>
                  <a:lnTo>
                    <a:pt x="44676" y="77616"/>
                  </a:lnTo>
                  <a:lnTo>
                    <a:pt x="32770" y="65015"/>
                  </a:lnTo>
                  <a:lnTo>
                    <a:pt x="21296" y="52052"/>
                  </a:lnTo>
                  <a:lnTo>
                    <a:pt x="10341" y="38704"/>
                  </a:lnTo>
                  <a:lnTo>
                    <a:pt x="0" y="24951"/>
                  </a:lnTo>
                  <a:lnTo>
                    <a:pt x="74191" y="0"/>
                  </a:lnTo>
                  <a:lnTo>
                    <a:pt x="83091" y="11205"/>
                  </a:lnTo>
                  <a:lnTo>
                    <a:pt x="92528" y="22075"/>
                  </a:lnTo>
                  <a:lnTo>
                    <a:pt x="102420" y="32624"/>
                  </a:lnTo>
                  <a:lnTo>
                    <a:pt x="112691" y="42873"/>
                  </a:lnTo>
                  <a:lnTo>
                    <a:pt x="123276" y="52846"/>
                  </a:lnTo>
                  <a:lnTo>
                    <a:pt x="134124" y="62569"/>
                  </a:lnTo>
                  <a:lnTo>
                    <a:pt x="145195" y="72065"/>
                  </a:lnTo>
                  <a:lnTo>
                    <a:pt x="156465" y="81359"/>
                  </a:lnTo>
                  <a:lnTo>
                    <a:pt x="167920" y="90471"/>
                  </a:lnTo>
                  <a:lnTo>
                    <a:pt x="179561" y="99416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61" name="Ядро эпителиальной клетки"/>
            <p:cNvSpPr/>
            <p:nvPr/>
          </p:nvSpPr>
          <p:spPr>
            <a:xfrm rot="14449412">
              <a:off x="9147752" y="421904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62" name="Клетка однослойного эпителия"/>
            <p:cNvSpPr/>
            <p:nvPr/>
          </p:nvSpPr>
          <p:spPr>
            <a:xfrm>
              <a:off x="9054316" y="4046225"/>
              <a:ext cx="122826" cy="157323"/>
            </a:xfrm>
            <a:custGeom>
              <a:avLst/>
              <a:gdLst/>
              <a:ahLst/>
              <a:cxnLst/>
              <a:rect l="l" t="t" r="r" b="b"/>
              <a:pathLst>
                <a:path w="122826" h="157323">
                  <a:moveTo>
                    <a:pt x="48635" y="157323"/>
                  </a:moveTo>
                  <a:lnTo>
                    <a:pt x="39012" y="143157"/>
                  </a:lnTo>
                  <a:lnTo>
                    <a:pt x="30213" y="128575"/>
                  </a:lnTo>
                  <a:lnTo>
                    <a:pt x="22348" y="113585"/>
                  </a:lnTo>
                  <a:lnTo>
                    <a:pt x="15521" y="98206"/>
                  </a:lnTo>
                  <a:lnTo>
                    <a:pt x="9830" y="82467"/>
                  </a:lnTo>
                  <a:lnTo>
                    <a:pt x="5364" y="66406"/>
                  </a:lnTo>
                  <a:lnTo>
                    <a:pt x="2200" y="50070"/>
                  </a:lnTo>
                  <a:lnTo>
                    <a:pt x="398" y="33515"/>
                  </a:lnTo>
                  <a:lnTo>
                    <a:pt x="0" y="16803"/>
                  </a:lnTo>
                  <a:lnTo>
                    <a:pt x="1030" y="0"/>
                  </a:lnTo>
                  <a:lnTo>
                    <a:pt x="82529" y="3684"/>
                  </a:lnTo>
                  <a:lnTo>
                    <a:pt x="81512" y="17473"/>
                  </a:lnTo>
                  <a:lnTo>
                    <a:pt x="81738" y="31176"/>
                  </a:lnTo>
                  <a:lnTo>
                    <a:pt x="83187" y="44741"/>
                  </a:lnTo>
                  <a:lnTo>
                    <a:pt x="85824" y="58116"/>
                  </a:lnTo>
                  <a:lnTo>
                    <a:pt x="89594" y="71257"/>
                  </a:lnTo>
                  <a:lnTo>
                    <a:pt x="94434" y="84125"/>
                  </a:lnTo>
                  <a:lnTo>
                    <a:pt x="100265" y="96689"/>
                  </a:lnTo>
                  <a:lnTo>
                    <a:pt x="107002" y="108926"/>
                  </a:lnTo>
                  <a:lnTo>
                    <a:pt x="114553" y="120823"/>
                  </a:lnTo>
                  <a:lnTo>
                    <a:pt x="122826" y="132372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63" name="Ядро эпителиальной клетки"/>
            <p:cNvSpPr/>
            <p:nvPr/>
          </p:nvSpPr>
          <p:spPr>
            <a:xfrm rot="15720000">
              <a:off x="9058988" y="409268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64" name="Клетка однослойного эпителия"/>
            <p:cNvSpPr/>
            <p:nvPr/>
          </p:nvSpPr>
          <p:spPr>
            <a:xfrm>
              <a:off x="9055346" y="3886853"/>
              <a:ext cx="153038" cy="163056"/>
            </a:xfrm>
            <a:custGeom>
              <a:avLst/>
              <a:gdLst/>
              <a:ahLst/>
              <a:cxnLst/>
              <a:rect l="l" t="t" r="r" b="b"/>
              <a:pathLst>
                <a:path w="153038" h="163056">
                  <a:moveTo>
                    <a:pt x="0" y="159372"/>
                  </a:moveTo>
                  <a:lnTo>
                    <a:pt x="2463" y="142546"/>
                  </a:lnTo>
                  <a:lnTo>
                    <a:pt x="6341" y="125765"/>
                  </a:lnTo>
                  <a:lnTo>
                    <a:pt x="11600" y="109098"/>
                  </a:lnTo>
                  <a:lnTo>
                    <a:pt x="18186" y="92606"/>
                  </a:lnTo>
                  <a:lnTo>
                    <a:pt x="26029" y="76348"/>
                  </a:lnTo>
                  <a:lnTo>
                    <a:pt x="35046" y="60373"/>
                  </a:lnTo>
                  <a:lnTo>
                    <a:pt x="45145" y="44723"/>
                  </a:lnTo>
                  <a:lnTo>
                    <a:pt x="56222" y="29430"/>
                  </a:lnTo>
                  <a:lnTo>
                    <a:pt x="68175" y="14519"/>
                  </a:lnTo>
                  <a:lnTo>
                    <a:pt x="80896" y="0"/>
                  </a:lnTo>
                  <a:lnTo>
                    <a:pt x="153038" y="31765"/>
                  </a:lnTo>
                  <a:lnTo>
                    <a:pt x="141864" y="43764"/>
                  </a:lnTo>
                  <a:lnTo>
                    <a:pt x="131356" y="56080"/>
                  </a:lnTo>
                  <a:lnTo>
                    <a:pt x="121606" y="68702"/>
                  </a:lnTo>
                  <a:lnTo>
                    <a:pt x="112707" y="81610"/>
                  </a:lnTo>
                  <a:lnTo>
                    <a:pt x="104745" y="94776"/>
                  </a:lnTo>
                  <a:lnTo>
                    <a:pt x="97803" y="108167"/>
                  </a:lnTo>
                  <a:lnTo>
                    <a:pt x="91954" y="121740"/>
                  </a:lnTo>
                  <a:lnTo>
                    <a:pt x="87258" y="135448"/>
                  </a:lnTo>
                  <a:lnTo>
                    <a:pt x="83763" y="149238"/>
                  </a:lnTo>
                  <a:lnTo>
                    <a:pt x="81499" y="163056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65" name="Ядро эпителиальной клетки"/>
            <p:cNvSpPr/>
            <p:nvPr/>
          </p:nvSpPr>
          <p:spPr>
            <a:xfrm rot="16990588">
              <a:off x="9075672" y="394260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66" name="Клетка однослойного эпителия"/>
            <p:cNvSpPr/>
            <p:nvPr/>
          </p:nvSpPr>
          <p:spPr>
            <a:xfrm>
              <a:off x="9136242" y="3761194"/>
              <a:ext cx="204829" cy="157424"/>
            </a:xfrm>
            <a:custGeom>
              <a:avLst/>
              <a:gdLst/>
              <a:ahLst/>
              <a:cxnLst/>
              <a:rect l="l" t="t" r="r" b="b"/>
              <a:pathLst>
                <a:path w="204829" h="157424">
                  <a:moveTo>
                    <a:pt x="0" y="125659"/>
                  </a:moveTo>
                  <a:lnTo>
                    <a:pt x="13388" y="111538"/>
                  </a:lnTo>
                  <a:lnTo>
                    <a:pt x="27346" y="97810"/>
                  </a:lnTo>
                  <a:lnTo>
                    <a:pt x="41784" y="84463"/>
                  </a:lnTo>
                  <a:lnTo>
                    <a:pt x="56626" y="71480"/>
                  </a:lnTo>
                  <a:lnTo>
                    <a:pt x="71806" y="58840"/>
                  </a:lnTo>
                  <a:lnTo>
                    <a:pt x="87273" y="46520"/>
                  </a:lnTo>
                  <a:lnTo>
                    <a:pt x="102988" y="34496"/>
                  </a:lnTo>
                  <a:lnTo>
                    <a:pt x="118926" y="22746"/>
                  </a:lnTo>
                  <a:lnTo>
                    <a:pt x="135078" y="11252"/>
                  </a:lnTo>
                  <a:lnTo>
                    <a:pt x="151442" y="0"/>
                  </a:lnTo>
                  <a:lnTo>
                    <a:pt x="204829" y="53277"/>
                  </a:lnTo>
                  <a:lnTo>
                    <a:pt x="190508" y="62623"/>
                  </a:lnTo>
                  <a:lnTo>
                    <a:pt x="176371" y="72166"/>
                  </a:lnTo>
                  <a:lnTo>
                    <a:pt x="162417" y="81917"/>
                  </a:lnTo>
                  <a:lnTo>
                    <a:pt x="148655" y="91892"/>
                  </a:lnTo>
                  <a:lnTo>
                    <a:pt x="135108" y="102107"/>
                  </a:lnTo>
                  <a:lnTo>
                    <a:pt x="121807" y="112583"/>
                  </a:lnTo>
                  <a:lnTo>
                    <a:pt x="108799" y="123337"/>
                  </a:lnTo>
                  <a:lnTo>
                    <a:pt x="96138" y="134387"/>
                  </a:lnTo>
                  <a:lnTo>
                    <a:pt x="83894" y="145747"/>
                  </a:lnTo>
                  <a:lnTo>
                    <a:pt x="72142" y="15742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67" name="Ядро эпителиальной клетки"/>
            <p:cNvSpPr/>
            <p:nvPr/>
          </p:nvSpPr>
          <p:spPr>
            <a:xfrm rot="18261176">
              <a:off x="9194330" y="381235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68" name="Клетка однослойного эпителия"/>
            <p:cNvSpPr/>
            <p:nvPr/>
          </p:nvSpPr>
          <p:spPr>
            <a:xfrm>
              <a:off x="9287684" y="3663648"/>
              <a:ext cx="210301" cy="150823"/>
            </a:xfrm>
            <a:custGeom>
              <a:avLst/>
              <a:gdLst/>
              <a:ahLst/>
              <a:cxnLst/>
              <a:rect l="l" t="t" r="r" b="b"/>
              <a:pathLst>
                <a:path w="210301" h="150823">
                  <a:moveTo>
                    <a:pt x="0" y="97546"/>
                  </a:moveTo>
                  <a:lnTo>
                    <a:pt x="16587" y="86527"/>
                  </a:lnTo>
                  <a:lnTo>
                    <a:pt x="33415" y="75742"/>
                  </a:lnTo>
                  <a:lnTo>
                    <a:pt x="50506" y="65197"/>
                  </a:lnTo>
                  <a:lnTo>
                    <a:pt x="67886" y="54904"/>
                  </a:lnTo>
                  <a:lnTo>
                    <a:pt x="85583" y="44885"/>
                  </a:lnTo>
                  <a:lnTo>
                    <a:pt x="103621" y="35167"/>
                  </a:lnTo>
                  <a:lnTo>
                    <a:pt x="122021" y="25781"/>
                  </a:lnTo>
                  <a:lnTo>
                    <a:pt x="140799" y="16766"/>
                  </a:lnTo>
                  <a:lnTo>
                    <a:pt x="159963" y="8158"/>
                  </a:lnTo>
                  <a:lnTo>
                    <a:pt x="179514" y="0"/>
                  </a:lnTo>
                  <a:lnTo>
                    <a:pt x="210301" y="69532"/>
                  </a:lnTo>
                  <a:lnTo>
                    <a:pt x="193229" y="76364"/>
                  </a:lnTo>
                  <a:lnTo>
                    <a:pt x="176491" y="83561"/>
                  </a:lnTo>
                  <a:lnTo>
                    <a:pt x="160085" y="91090"/>
                  </a:lnTo>
                  <a:lnTo>
                    <a:pt x="144006" y="98919"/>
                  </a:lnTo>
                  <a:lnTo>
                    <a:pt x="128240" y="107019"/>
                  </a:lnTo>
                  <a:lnTo>
                    <a:pt x="112768" y="115363"/>
                  </a:lnTo>
                  <a:lnTo>
                    <a:pt x="97570" y="123930"/>
                  </a:lnTo>
                  <a:lnTo>
                    <a:pt x="82621" y="132702"/>
                  </a:lnTo>
                  <a:lnTo>
                    <a:pt x="67901" y="141668"/>
                  </a:lnTo>
                  <a:lnTo>
                    <a:pt x="53387" y="150823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69" name="Ядро эпителиальной клетки"/>
            <p:cNvSpPr/>
            <p:nvPr/>
          </p:nvSpPr>
          <p:spPr>
            <a:xfrm rot="19531765">
              <a:off x="9348814" y="371066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70" name="Клетка однослойного эпителия"/>
            <p:cNvSpPr/>
            <p:nvPr/>
          </p:nvSpPr>
          <p:spPr>
            <a:xfrm>
              <a:off x="9467198" y="3613340"/>
              <a:ext cx="215558" cy="119840"/>
            </a:xfrm>
            <a:custGeom>
              <a:avLst/>
              <a:gdLst/>
              <a:ahLst/>
              <a:cxnLst/>
              <a:rect l="l" t="t" r="r" b="b"/>
              <a:pathLst>
                <a:path w="215558" h="119840">
                  <a:moveTo>
                    <a:pt x="0" y="50308"/>
                  </a:moveTo>
                  <a:lnTo>
                    <a:pt x="19931" y="42637"/>
                  </a:lnTo>
                  <a:lnTo>
                    <a:pt x="40226" y="35492"/>
                  </a:lnTo>
                  <a:lnTo>
                    <a:pt x="60864" y="28905"/>
                  </a:lnTo>
                  <a:lnTo>
                    <a:pt x="81813" y="22905"/>
                  </a:lnTo>
                  <a:lnTo>
                    <a:pt x="103039" y="17514"/>
                  </a:lnTo>
                  <a:lnTo>
                    <a:pt x="124504" y="12747"/>
                  </a:lnTo>
                  <a:lnTo>
                    <a:pt x="146166" y="8615"/>
                  </a:lnTo>
                  <a:lnTo>
                    <a:pt x="167982" y="5117"/>
                  </a:lnTo>
                  <a:lnTo>
                    <a:pt x="189912" y="2249"/>
                  </a:lnTo>
                  <a:lnTo>
                    <a:pt x="211916" y="0"/>
                  </a:lnTo>
                  <a:lnTo>
                    <a:pt x="215558" y="77060"/>
                  </a:lnTo>
                  <a:lnTo>
                    <a:pt x="196394" y="79062"/>
                  </a:lnTo>
                  <a:lnTo>
                    <a:pt x="177290" y="81571"/>
                  </a:lnTo>
                  <a:lnTo>
                    <a:pt x="158280" y="84597"/>
                  </a:lnTo>
                  <a:lnTo>
                    <a:pt x="139400" y="88142"/>
                  </a:lnTo>
                  <a:lnTo>
                    <a:pt x="120688" y="92205"/>
                  </a:lnTo>
                  <a:lnTo>
                    <a:pt x="102177" y="96778"/>
                  </a:lnTo>
                  <a:lnTo>
                    <a:pt x="83904" y="101850"/>
                  </a:lnTo>
                  <a:lnTo>
                    <a:pt x="65898" y="107400"/>
                  </a:lnTo>
                  <a:lnTo>
                    <a:pt x="48186" y="113406"/>
                  </a:lnTo>
                  <a:lnTo>
                    <a:pt x="30787" y="11984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71" name="Ядро эпителиальной клетки"/>
            <p:cNvSpPr/>
            <p:nvPr/>
          </p:nvSpPr>
          <p:spPr>
            <a:xfrm rot="20802353">
              <a:off x="9532780" y="363951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72" name="Клетка однослойного эпителия"/>
            <p:cNvSpPr/>
            <p:nvPr/>
          </p:nvSpPr>
          <p:spPr>
            <a:xfrm>
              <a:off x="9679114" y="3610135"/>
              <a:ext cx="218455" cy="84839"/>
            </a:xfrm>
            <a:custGeom>
              <a:avLst/>
              <a:gdLst/>
              <a:ahLst/>
              <a:cxnLst/>
              <a:rect l="l" t="t" r="r" b="b"/>
              <a:pathLst>
                <a:path w="218455" h="84839">
                  <a:moveTo>
                    <a:pt x="0" y="3205"/>
                  </a:moveTo>
                  <a:lnTo>
                    <a:pt x="22044" y="1560"/>
                  </a:lnTo>
                  <a:lnTo>
                    <a:pt x="44095" y="499"/>
                  </a:lnTo>
                  <a:lnTo>
                    <a:pt x="66128" y="0"/>
                  </a:lnTo>
                  <a:lnTo>
                    <a:pt x="88121" y="41"/>
                  </a:lnTo>
                  <a:lnTo>
                    <a:pt x="110056" y="602"/>
                  </a:lnTo>
                  <a:lnTo>
                    <a:pt x="131920" y="1663"/>
                  </a:lnTo>
                  <a:lnTo>
                    <a:pt x="153702" y="3210"/>
                  </a:lnTo>
                  <a:lnTo>
                    <a:pt x="175392" y="5233"/>
                  </a:lnTo>
                  <a:lnTo>
                    <a:pt x="196980" y="7726"/>
                  </a:lnTo>
                  <a:lnTo>
                    <a:pt x="218455" y="10693"/>
                  </a:lnTo>
                  <a:lnTo>
                    <a:pt x="193688" y="84839"/>
                  </a:lnTo>
                  <a:lnTo>
                    <a:pt x="175023" y="82559"/>
                  </a:lnTo>
                  <a:lnTo>
                    <a:pt x="156254" y="80669"/>
                  </a:lnTo>
                  <a:lnTo>
                    <a:pt x="137394" y="79166"/>
                  </a:lnTo>
                  <a:lnTo>
                    <a:pt x="118450" y="78053"/>
                  </a:lnTo>
                  <a:lnTo>
                    <a:pt x="99432" y="77340"/>
                  </a:lnTo>
                  <a:lnTo>
                    <a:pt x="80348" y="77037"/>
                  </a:lnTo>
                  <a:lnTo>
                    <a:pt x="61210" y="77161"/>
                  </a:lnTo>
                  <a:lnTo>
                    <a:pt x="42033" y="77728"/>
                  </a:lnTo>
                  <a:lnTo>
                    <a:pt x="22836" y="78757"/>
                  </a:lnTo>
                  <a:lnTo>
                    <a:pt x="3642" y="80265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73" name="Ядро эпителиальной клетки"/>
            <p:cNvSpPr/>
            <p:nvPr/>
          </p:nvSpPr>
          <p:spPr>
            <a:xfrm rot="472941">
              <a:off x="9737011" y="362046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74" name="Клетка однослойного эпителия"/>
            <p:cNvSpPr/>
            <p:nvPr/>
          </p:nvSpPr>
          <p:spPr>
            <a:xfrm>
              <a:off x="9872802" y="3620828"/>
              <a:ext cx="226260" cy="121654"/>
            </a:xfrm>
            <a:custGeom>
              <a:avLst/>
              <a:gdLst/>
              <a:ahLst/>
              <a:cxnLst/>
              <a:rect l="l" t="t" r="r" b="b"/>
              <a:pathLst>
                <a:path w="226260" h="121654">
                  <a:moveTo>
                    <a:pt x="24767" y="0"/>
                  </a:moveTo>
                  <a:lnTo>
                    <a:pt x="46111" y="3449"/>
                  </a:lnTo>
                  <a:lnTo>
                    <a:pt x="67304" y="7392"/>
                  </a:lnTo>
                  <a:lnTo>
                    <a:pt x="88318" y="11851"/>
                  </a:lnTo>
                  <a:lnTo>
                    <a:pt x="109116" y="16849"/>
                  </a:lnTo>
                  <a:lnTo>
                    <a:pt x="129653" y="22413"/>
                  </a:lnTo>
                  <a:lnTo>
                    <a:pt x="149877" y="28572"/>
                  </a:lnTo>
                  <a:lnTo>
                    <a:pt x="169723" y="35354"/>
                  </a:lnTo>
                  <a:lnTo>
                    <a:pt x="189121" y="42787"/>
                  </a:lnTo>
                  <a:lnTo>
                    <a:pt x="207995" y="50892"/>
                  </a:lnTo>
                  <a:lnTo>
                    <a:pt x="226260" y="59689"/>
                  </a:lnTo>
                  <a:lnTo>
                    <a:pt x="174912" y="121654"/>
                  </a:lnTo>
                  <a:lnTo>
                    <a:pt x="159081" y="114570"/>
                  </a:lnTo>
                  <a:lnTo>
                    <a:pt x="142715" y="108058"/>
                  </a:lnTo>
                  <a:lnTo>
                    <a:pt x="125888" y="102101"/>
                  </a:lnTo>
                  <a:lnTo>
                    <a:pt x="108666" y="96681"/>
                  </a:lnTo>
                  <a:lnTo>
                    <a:pt x="91112" y="91775"/>
                  </a:lnTo>
                  <a:lnTo>
                    <a:pt x="73280" y="87359"/>
                  </a:lnTo>
                  <a:lnTo>
                    <a:pt x="55218" y="83409"/>
                  </a:lnTo>
                  <a:lnTo>
                    <a:pt x="36964" y="79903"/>
                  </a:lnTo>
                  <a:lnTo>
                    <a:pt x="18550" y="76821"/>
                  </a:lnTo>
                  <a:lnTo>
                    <a:pt x="0" y="74146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75" name="Ядро эпителиальной клетки"/>
            <p:cNvSpPr/>
            <p:nvPr/>
          </p:nvSpPr>
          <p:spPr>
            <a:xfrm rot="1743529">
              <a:off x="9935779" y="364913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76" name="Клетка однослойного эпителия"/>
            <p:cNvSpPr/>
            <p:nvPr/>
          </p:nvSpPr>
          <p:spPr>
            <a:xfrm>
              <a:off x="10047714" y="3680517"/>
              <a:ext cx="183514" cy="162590"/>
            </a:xfrm>
            <a:custGeom>
              <a:avLst/>
              <a:gdLst/>
              <a:ahLst/>
              <a:cxnLst/>
              <a:rect l="l" t="t" r="r" b="b"/>
              <a:pathLst>
                <a:path w="183514" h="162590">
                  <a:moveTo>
                    <a:pt x="51348" y="0"/>
                  </a:moveTo>
                  <a:lnTo>
                    <a:pt x="68920" y="9497"/>
                  </a:lnTo>
                  <a:lnTo>
                    <a:pt x="85711" y="19698"/>
                  </a:lnTo>
                  <a:lnTo>
                    <a:pt x="101639" y="30597"/>
                  </a:lnTo>
                  <a:lnTo>
                    <a:pt x="116622" y="42176"/>
                  </a:lnTo>
                  <a:lnTo>
                    <a:pt x="130589" y="54409"/>
                  </a:lnTo>
                  <a:lnTo>
                    <a:pt x="143480" y="67261"/>
                  </a:lnTo>
                  <a:lnTo>
                    <a:pt x="155243" y="80687"/>
                  </a:lnTo>
                  <a:lnTo>
                    <a:pt x="165846" y="94633"/>
                  </a:lnTo>
                  <a:lnTo>
                    <a:pt x="175270" y="109041"/>
                  </a:lnTo>
                  <a:lnTo>
                    <a:pt x="183514" y="123846"/>
                  </a:lnTo>
                  <a:lnTo>
                    <a:pt x="114123" y="162590"/>
                  </a:lnTo>
                  <a:lnTo>
                    <a:pt x="107055" y="150506"/>
                  </a:lnTo>
                  <a:lnTo>
                    <a:pt x="98958" y="138757"/>
                  </a:lnTo>
                  <a:lnTo>
                    <a:pt x="89831" y="127395"/>
                  </a:lnTo>
                  <a:lnTo>
                    <a:pt x="79691" y="116469"/>
                  </a:lnTo>
                  <a:lnTo>
                    <a:pt x="68566" y="106021"/>
                  </a:lnTo>
                  <a:lnTo>
                    <a:pt x="56499" y="96088"/>
                  </a:lnTo>
                  <a:lnTo>
                    <a:pt x="43544" y="86698"/>
                  </a:lnTo>
                  <a:lnTo>
                    <a:pt x="29762" y="77874"/>
                  </a:lnTo>
                  <a:lnTo>
                    <a:pt x="15223" y="69628"/>
                  </a:lnTo>
                  <a:lnTo>
                    <a:pt x="0" y="61965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77" name="Ядро эпителиальной клетки"/>
            <p:cNvSpPr/>
            <p:nvPr/>
          </p:nvSpPr>
          <p:spPr>
            <a:xfrm rot="3014118">
              <a:off x="10099416" y="3731589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78" name="Клетка однослойного эпителия"/>
            <p:cNvSpPr/>
            <p:nvPr/>
          </p:nvSpPr>
          <p:spPr>
            <a:xfrm>
              <a:off x="10161837" y="3804363"/>
              <a:ext cx="98024" cy="166770"/>
            </a:xfrm>
            <a:custGeom>
              <a:avLst/>
              <a:gdLst/>
              <a:ahLst/>
              <a:cxnLst/>
              <a:rect l="l" t="t" r="r" b="b"/>
              <a:pathLst>
                <a:path w="98024" h="166770">
                  <a:moveTo>
                    <a:pt x="69391" y="0"/>
                  </a:moveTo>
                  <a:lnTo>
                    <a:pt x="76470" y="15135"/>
                  </a:lnTo>
                  <a:lnTo>
                    <a:pt x="82419" y="30533"/>
                  </a:lnTo>
                  <a:lnTo>
                    <a:pt x="87286" y="46128"/>
                  </a:lnTo>
                  <a:lnTo>
                    <a:pt x="91136" y="61856"/>
                  </a:lnTo>
                  <a:lnTo>
                    <a:pt x="94043" y="77660"/>
                  </a:lnTo>
                  <a:lnTo>
                    <a:pt x="96093" y="93490"/>
                  </a:lnTo>
                  <a:lnTo>
                    <a:pt x="97377" y="109301"/>
                  </a:lnTo>
                  <a:lnTo>
                    <a:pt x="97990" y="125062"/>
                  </a:lnTo>
                  <a:lnTo>
                    <a:pt x="98024" y="140748"/>
                  </a:lnTo>
                  <a:lnTo>
                    <a:pt x="97570" y="156346"/>
                  </a:lnTo>
                  <a:lnTo>
                    <a:pt x="23400" y="166770"/>
                  </a:lnTo>
                  <a:lnTo>
                    <a:pt x="23907" y="153974"/>
                  </a:lnTo>
                  <a:lnTo>
                    <a:pt x="23990" y="141109"/>
                  </a:lnTo>
                  <a:lnTo>
                    <a:pt x="23569" y="128187"/>
                  </a:lnTo>
                  <a:lnTo>
                    <a:pt x="22565" y="115228"/>
                  </a:lnTo>
                  <a:lnTo>
                    <a:pt x="20895" y="102261"/>
                  </a:lnTo>
                  <a:lnTo>
                    <a:pt x="18479" y="89320"/>
                  </a:lnTo>
                  <a:lnTo>
                    <a:pt x="15242" y="76448"/>
                  </a:lnTo>
                  <a:lnTo>
                    <a:pt x="11118" y="63692"/>
                  </a:lnTo>
                  <a:lnTo>
                    <a:pt x="6052" y="51106"/>
                  </a:lnTo>
                  <a:lnTo>
                    <a:pt x="0" y="3874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79" name="Ядро эпителиальной клетки"/>
            <p:cNvSpPr/>
            <p:nvPr/>
          </p:nvSpPr>
          <p:spPr>
            <a:xfrm rot="4284706">
              <a:off x="10171208" y="3864640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80" name="Просвет канальца"/>
            <p:cNvSpPr/>
            <p:nvPr/>
          </p:nvSpPr>
          <p:spPr>
            <a:xfrm>
              <a:off x="9141682" y="3686888"/>
              <a:ext cx="1047900" cy="712427"/>
            </a:xfrm>
            <a:custGeom>
              <a:avLst/>
              <a:gdLst/>
              <a:ahLst/>
              <a:cxnLst/>
              <a:rect l="l" t="t" r="r" b="b"/>
              <a:pathLst>
                <a:path w="1047900" h="712427">
                  <a:moveTo>
                    <a:pt x="1047900" y="283634"/>
                  </a:moveTo>
                  <a:lnTo>
                    <a:pt x="1047242" y="301724"/>
                  </a:lnTo>
                  <a:lnTo>
                    <a:pt x="1045865" y="319739"/>
                  </a:lnTo>
                  <a:lnTo>
                    <a:pt x="1043866" y="337697"/>
                  </a:lnTo>
                  <a:lnTo>
                    <a:pt x="1041294" y="355631"/>
                  </a:lnTo>
                  <a:lnTo>
                    <a:pt x="1038148" y="373577"/>
                  </a:lnTo>
                  <a:lnTo>
                    <a:pt x="1034378" y="391569"/>
                  </a:lnTo>
                  <a:lnTo>
                    <a:pt x="1029890" y="409630"/>
                  </a:lnTo>
                  <a:lnTo>
                    <a:pt x="1024554" y="427766"/>
                  </a:lnTo>
                  <a:lnTo>
                    <a:pt x="1018218" y="445963"/>
                  </a:lnTo>
                  <a:lnTo>
                    <a:pt x="1010718" y="464181"/>
                  </a:lnTo>
                  <a:lnTo>
                    <a:pt x="1001896" y="482355"/>
                  </a:lnTo>
                  <a:lnTo>
                    <a:pt x="991608" y="500399"/>
                  </a:lnTo>
                  <a:lnTo>
                    <a:pt x="979744" y="518205"/>
                  </a:lnTo>
                  <a:lnTo>
                    <a:pt x="966229" y="535656"/>
                  </a:lnTo>
                  <a:lnTo>
                    <a:pt x="951031" y="552626"/>
                  </a:lnTo>
                  <a:lnTo>
                    <a:pt x="934168" y="568994"/>
                  </a:lnTo>
                  <a:lnTo>
                    <a:pt x="915699" y="584645"/>
                  </a:lnTo>
                  <a:lnTo>
                    <a:pt x="895724" y="599481"/>
                  </a:lnTo>
                  <a:lnTo>
                    <a:pt x="874377" y="613425"/>
                  </a:lnTo>
                  <a:lnTo>
                    <a:pt x="851810" y="626424"/>
                  </a:lnTo>
                  <a:lnTo>
                    <a:pt x="828191" y="638447"/>
                  </a:lnTo>
                  <a:lnTo>
                    <a:pt x="803688" y="649487"/>
                  </a:lnTo>
                  <a:lnTo>
                    <a:pt x="778459" y="659557"/>
                  </a:lnTo>
                  <a:lnTo>
                    <a:pt x="752649" y="668683"/>
                  </a:lnTo>
                  <a:lnTo>
                    <a:pt x="726382" y="676898"/>
                  </a:lnTo>
                  <a:lnTo>
                    <a:pt x="699761" y="684239"/>
                  </a:lnTo>
                  <a:lnTo>
                    <a:pt x="672863" y="690736"/>
                  </a:lnTo>
                  <a:lnTo>
                    <a:pt x="645753" y="696409"/>
                  </a:lnTo>
                  <a:lnTo>
                    <a:pt x="618477" y="701266"/>
                  </a:lnTo>
                  <a:lnTo>
                    <a:pt x="591078" y="705295"/>
                  </a:lnTo>
                  <a:lnTo>
                    <a:pt x="563600" y="708470"/>
                  </a:lnTo>
                  <a:lnTo>
                    <a:pt x="536090" y="710752"/>
                  </a:lnTo>
                  <a:lnTo>
                    <a:pt x="508612" y="712089"/>
                  </a:lnTo>
                  <a:lnTo>
                    <a:pt x="481240" y="712427"/>
                  </a:lnTo>
                  <a:lnTo>
                    <a:pt x="454069" y="711712"/>
                  </a:lnTo>
                  <a:lnTo>
                    <a:pt x="427204" y="709899"/>
                  </a:lnTo>
                  <a:lnTo>
                    <a:pt x="400761" y="706957"/>
                  </a:lnTo>
                  <a:lnTo>
                    <a:pt x="374861" y="702875"/>
                  </a:lnTo>
                  <a:lnTo>
                    <a:pt x="349619" y="697662"/>
                  </a:lnTo>
                  <a:lnTo>
                    <a:pt x="325140" y="691354"/>
                  </a:lnTo>
                  <a:lnTo>
                    <a:pt x="301508" y="684007"/>
                  </a:lnTo>
                  <a:lnTo>
                    <a:pt x="278783" y="675698"/>
                  </a:lnTo>
                  <a:lnTo>
                    <a:pt x="256994" y="666518"/>
                  </a:lnTo>
                  <a:lnTo>
                    <a:pt x="236141" y="656568"/>
                  </a:lnTo>
                  <a:lnTo>
                    <a:pt x="216194" y="645948"/>
                  </a:lnTo>
                  <a:lnTo>
                    <a:pt x="197097" y="634753"/>
                  </a:lnTo>
                  <a:lnTo>
                    <a:pt x="178779" y="623065"/>
                  </a:lnTo>
                  <a:lnTo>
                    <a:pt x="161163" y="610946"/>
                  </a:lnTo>
                  <a:lnTo>
                    <a:pt x="144174" y="598438"/>
                  </a:lnTo>
                  <a:lnTo>
                    <a:pt x="127752" y="585557"/>
                  </a:lnTo>
                  <a:lnTo>
                    <a:pt x="111866" y="572297"/>
                  </a:lnTo>
                  <a:lnTo>
                    <a:pt x="96519" y="558630"/>
                  </a:lnTo>
                  <a:lnTo>
                    <a:pt x="81753" y="544518"/>
                  </a:lnTo>
                  <a:lnTo>
                    <a:pt x="67657" y="529909"/>
                  </a:lnTo>
                  <a:lnTo>
                    <a:pt x="54362" y="514755"/>
                  </a:lnTo>
                  <a:lnTo>
                    <a:pt x="42036" y="499013"/>
                  </a:lnTo>
                  <a:lnTo>
                    <a:pt x="30878" y="482658"/>
                  </a:lnTo>
                  <a:lnTo>
                    <a:pt x="21103" y="465683"/>
                  </a:lnTo>
                  <a:lnTo>
                    <a:pt x="12932" y="448109"/>
                  </a:lnTo>
                  <a:lnTo>
                    <a:pt x="6574" y="429983"/>
                  </a:lnTo>
                  <a:lnTo>
                    <a:pt x="2214" y="411382"/>
                  </a:lnTo>
                  <a:lnTo>
                    <a:pt x="0" y="392405"/>
                  </a:lnTo>
                  <a:lnTo>
                    <a:pt x="31" y="373173"/>
                  </a:lnTo>
                  <a:lnTo>
                    <a:pt x="2350" y="353819"/>
                  </a:lnTo>
                  <a:lnTo>
                    <a:pt x="6942" y="334482"/>
                  </a:lnTo>
                  <a:lnTo>
                    <a:pt x="13737" y="315297"/>
                  </a:lnTo>
                  <a:lnTo>
                    <a:pt x="22612" y="296391"/>
                  </a:lnTo>
                  <a:lnTo>
                    <a:pt x="33399" y="277871"/>
                  </a:lnTo>
                  <a:lnTo>
                    <a:pt x="45903" y="259822"/>
                  </a:lnTo>
                  <a:lnTo>
                    <a:pt x="59908" y="242305"/>
                  </a:lnTo>
                  <a:lnTo>
                    <a:pt x="75197" y="225352"/>
                  </a:lnTo>
                  <a:lnTo>
                    <a:pt x="91561" y="208973"/>
                  </a:lnTo>
                  <a:lnTo>
                    <a:pt x="108815" y="193155"/>
                  </a:lnTo>
                  <a:lnTo>
                    <a:pt x="126804" y="177873"/>
                  </a:lnTo>
                  <a:lnTo>
                    <a:pt x="145413" y="163090"/>
                  </a:lnTo>
                  <a:lnTo>
                    <a:pt x="164564" y="148773"/>
                  </a:lnTo>
                  <a:lnTo>
                    <a:pt x="184218" y="134891"/>
                  </a:lnTo>
                  <a:lnTo>
                    <a:pt x="204373" y="121427"/>
                  </a:lnTo>
                  <a:lnTo>
                    <a:pt x="225048" y="108382"/>
                  </a:lnTo>
                  <a:lnTo>
                    <a:pt x="246285" y="95775"/>
                  </a:lnTo>
                  <a:lnTo>
                    <a:pt x="268129" y="83646"/>
                  </a:lnTo>
                  <a:lnTo>
                    <a:pt x="290624" y="72056"/>
                  </a:lnTo>
                  <a:lnTo>
                    <a:pt x="313799" y="61078"/>
                  </a:lnTo>
                  <a:lnTo>
                    <a:pt x="337667" y="50796"/>
                  </a:lnTo>
                  <a:lnTo>
                    <a:pt x="362216" y="41298"/>
                  </a:lnTo>
                  <a:lnTo>
                    <a:pt x="387408" y="32667"/>
                  </a:lnTo>
                  <a:lnTo>
                    <a:pt x="413180" y="24978"/>
                  </a:lnTo>
                  <a:lnTo>
                    <a:pt x="439451" y="18291"/>
                  </a:lnTo>
                  <a:lnTo>
                    <a:pt x="466122" y="12645"/>
                  </a:lnTo>
                  <a:lnTo>
                    <a:pt x="493088" y="8059"/>
                  </a:lnTo>
                  <a:lnTo>
                    <a:pt x="520243" y="4531"/>
                  </a:lnTo>
                  <a:lnTo>
                    <a:pt x="547485" y="2038"/>
                  </a:lnTo>
                  <a:lnTo>
                    <a:pt x="574727" y="543"/>
                  </a:lnTo>
                  <a:lnTo>
                    <a:pt x="601895" y="0"/>
                  </a:lnTo>
                  <a:lnTo>
                    <a:pt x="628933" y="356"/>
                  </a:lnTo>
                  <a:lnTo>
                    <a:pt x="655797" y="1564"/>
                  </a:lnTo>
                  <a:lnTo>
                    <a:pt x="682457" y="3585"/>
                  </a:lnTo>
                  <a:lnTo>
                    <a:pt x="708888" y="6393"/>
                  </a:lnTo>
                  <a:lnTo>
                    <a:pt x="735061" y="9980"/>
                  </a:lnTo>
                  <a:lnTo>
                    <a:pt x="760941" y="14356"/>
                  </a:lnTo>
                  <a:lnTo>
                    <a:pt x="786474" y="19548"/>
                  </a:lnTo>
                  <a:lnTo>
                    <a:pt x="811583" y="25600"/>
                  </a:lnTo>
                  <a:lnTo>
                    <a:pt x="836170" y="32564"/>
                  </a:lnTo>
                  <a:lnTo>
                    <a:pt x="860104" y="40494"/>
                  </a:lnTo>
                  <a:lnTo>
                    <a:pt x="883233" y="49444"/>
                  </a:lnTo>
                  <a:lnTo>
                    <a:pt x="905385" y="59453"/>
                  </a:lnTo>
                  <a:lnTo>
                    <a:pt x="926375" y="70546"/>
                  </a:lnTo>
                  <a:lnTo>
                    <a:pt x="946017" y="82723"/>
                  </a:lnTo>
                  <a:lnTo>
                    <a:pt x="964134" y="95958"/>
                  </a:lnTo>
                  <a:lnTo>
                    <a:pt x="980572" y="110197"/>
                  </a:lnTo>
                  <a:lnTo>
                    <a:pt x="995208" y="125360"/>
                  </a:lnTo>
                  <a:lnTo>
                    <a:pt x="1007962" y="141343"/>
                  </a:lnTo>
                  <a:lnTo>
                    <a:pt x="1018798" y="158022"/>
                  </a:lnTo>
                  <a:lnTo>
                    <a:pt x="1027737" y="175265"/>
                  </a:lnTo>
                  <a:lnTo>
                    <a:pt x="1034844" y="192934"/>
                  </a:lnTo>
                  <a:lnTo>
                    <a:pt x="1040234" y="210899"/>
                  </a:lnTo>
                  <a:lnTo>
                    <a:pt x="1044055" y="229039"/>
                  </a:lnTo>
                  <a:lnTo>
                    <a:pt x="1046482" y="247255"/>
                  </a:lnTo>
                  <a:lnTo>
                    <a:pt x="1047703" y="265470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81" name="Перитубулярный капилляр"/>
            <p:cNvSpPr/>
            <p:nvPr/>
          </p:nvSpPr>
          <p:spPr>
            <a:xfrm>
              <a:off x="9797565" y="2324177"/>
              <a:ext cx="240341" cy="456651"/>
            </a:xfrm>
            <a:custGeom>
              <a:avLst/>
              <a:gdLst/>
              <a:ahLst/>
              <a:cxnLst/>
              <a:rect l="l" t="t" r="r" b="b"/>
              <a:pathLst>
                <a:path w="240341" h="456651">
                  <a:moveTo>
                    <a:pt x="236839" y="225442"/>
                  </a:moveTo>
                  <a:lnTo>
                    <a:pt x="239605" y="248683"/>
                  </a:lnTo>
                  <a:lnTo>
                    <a:pt x="240341" y="272059"/>
                  </a:lnTo>
                  <a:lnTo>
                    <a:pt x="239063" y="294896"/>
                  </a:lnTo>
                  <a:lnTo>
                    <a:pt x="235984" y="316652"/>
                  </a:lnTo>
                  <a:lnTo>
                    <a:pt x="231441" y="337015"/>
                  </a:lnTo>
                  <a:lnTo>
                    <a:pt x="225796" y="355915"/>
                  </a:lnTo>
                  <a:lnTo>
                    <a:pt x="219349" y="373441"/>
                  </a:lnTo>
                  <a:lnTo>
                    <a:pt x="212277" y="389724"/>
                  </a:lnTo>
                  <a:lnTo>
                    <a:pt x="204628" y="404806"/>
                  </a:lnTo>
                  <a:lnTo>
                    <a:pt x="196359" y="418560"/>
                  </a:lnTo>
                  <a:lnTo>
                    <a:pt x="187396" y="430688"/>
                  </a:lnTo>
                  <a:lnTo>
                    <a:pt x="177706" y="440795"/>
                  </a:lnTo>
                  <a:lnTo>
                    <a:pt x="167340" y="448518"/>
                  </a:lnTo>
                  <a:lnTo>
                    <a:pt x="156439" y="453657"/>
                  </a:lnTo>
                  <a:lnTo>
                    <a:pt x="145200" y="456265"/>
                  </a:lnTo>
                  <a:lnTo>
                    <a:pt x="133823" y="456651"/>
                  </a:lnTo>
                  <a:lnTo>
                    <a:pt x="122445" y="455298"/>
                  </a:lnTo>
                  <a:lnTo>
                    <a:pt x="111109" y="452713"/>
                  </a:lnTo>
                  <a:lnTo>
                    <a:pt x="99763" y="449257"/>
                  </a:lnTo>
                  <a:lnTo>
                    <a:pt x="88310" y="445014"/>
                  </a:lnTo>
                  <a:lnTo>
                    <a:pt x="76675" y="439740"/>
                  </a:lnTo>
                  <a:lnTo>
                    <a:pt x="64885" y="432922"/>
                  </a:lnTo>
                  <a:lnTo>
                    <a:pt x="53116" y="423925"/>
                  </a:lnTo>
                  <a:lnTo>
                    <a:pt x="41705" y="412183"/>
                  </a:lnTo>
                  <a:lnTo>
                    <a:pt x="31094" y="397389"/>
                  </a:lnTo>
                  <a:lnTo>
                    <a:pt x="21748" y="379611"/>
                  </a:lnTo>
                  <a:lnTo>
                    <a:pt x="14046" y="359299"/>
                  </a:lnTo>
                  <a:lnTo>
                    <a:pt x="8187" y="337199"/>
                  </a:lnTo>
                  <a:lnTo>
                    <a:pt x="4150" y="314175"/>
                  </a:lnTo>
                  <a:lnTo>
                    <a:pt x="1698" y="291012"/>
                  </a:lnTo>
                  <a:lnTo>
                    <a:pt x="453" y="268263"/>
                  </a:lnTo>
                  <a:lnTo>
                    <a:pt x="0" y="246163"/>
                  </a:lnTo>
                  <a:lnTo>
                    <a:pt x="1" y="224661"/>
                  </a:lnTo>
                  <a:lnTo>
                    <a:pt x="278" y="203526"/>
                  </a:lnTo>
                  <a:lnTo>
                    <a:pt x="854" y="182511"/>
                  </a:lnTo>
                  <a:lnTo>
                    <a:pt x="1924" y="161498"/>
                  </a:lnTo>
                  <a:lnTo>
                    <a:pt x="3783" y="140587"/>
                  </a:lnTo>
                  <a:lnTo>
                    <a:pt x="6733" y="120103"/>
                  </a:lnTo>
                  <a:lnTo>
                    <a:pt x="10990" y="100518"/>
                  </a:lnTo>
                  <a:lnTo>
                    <a:pt x="16630" y="82317"/>
                  </a:lnTo>
                  <a:lnTo>
                    <a:pt x="23577" y="65876"/>
                  </a:lnTo>
                  <a:lnTo>
                    <a:pt x="31646" y="51371"/>
                  </a:lnTo>
                  <a:lnTo>
                    <a:pt x="40609" y="38776"/>
                  </a:lnTo>
                  <a:lnTo>
                    <a:pt x="50258" y="27934"/>
                  </a:lnTo>
                  <a:lnTo>
                    <a:pt x="60458" y="18685"/>
                  </a:lnTo>
                  <a:lnTo>
                    <a:pt x="71152" y="10991"/>
                  </a:lnTo>
                  <a:lnTo>
                    <a:pt x="82330" y="5029"/>
                  </a:lnTo>
                  <a:lnTo>
                    <a:pt x="93975" y="1191"/>
                  </a:lnTo>
                  <a:lnTo>
                    <a:pt x="106004" y="0"/>
                  </a:lnTo>
                  <a:lnTo>
                    <a:pt x="118232" y="1962"/>
                  </a:lnTo>
                  <a:lnTo>
                    <a:pt x="130382" y="7394"/>
                  </a:lnTo>
                  <a:lnTo>
                    <a:pt x="142130" y="16294"/>
                  </a:lnTo>
                  <a:lnTo>
                    <a:pt x="153178" y="28292"/>
                  </a:lnTo>
                  <a:lnTo>
                    <a:pt x="163333" y="42709"/>
                  </a:lnTo>
                  <a:lnTo>
                    <a:pt x="172563" y="58704"/>
                  </a:lnTo>
                  <a:lnTo>
                    <a:pt x="180999" y="75472"/>
                  </a:lnTo>
                  <a:lnTo>
                    <a:pt x="188894" y="92431"/>
                  </a:lnTo>
                  <a:lnTo>
                    <a:pt x="196535" y="109342"/>
                  </a:lnTo>
                  <a:lnTo>
                    <a:pt x="204135" y="126323"/>
                  </a:lnTo>
                  <a:lnTo>
                    <a:pt x="211749" y="143759"/>
                  </a:lnTo>
                  <a:lnTo>
                    <a:pt x="219224" y="162133"/>
                  </a:lnTo>
                  <a:lnTo>
                    <a:pt x="226212" y="181834"/>
                  </a:lnTo>
                  <a:lnTo>
                    <a:pt x="232246" y="20299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82" name="Эритроцит в просвете капилляра"/>
            <p:cNvSpPr/>
            <p:nvPr/>
          </p:nvSpPr>
          <p:spPr>
            <a:xfrm rot="21300000">
              <a:off x="9844245" y="2361467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83" name="Центральное просветление эритроцита"/>
            <p:cNvSpPr/>
            <p:nvPr/>
          </p:nvSpPr>
          <p:spPr>
            <a:xfrm rot="21300000">
              <a:off x="9875335" y="240078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84" name="Эритроцит в просвете капилляра"/>
            <p:cNvSpPr/>
            <p:nvPr/>
          </p:nvSpPr>
          <p:spPr>
            <a:xfrm rot="21300000">
              <a:off x="9855403" y="2488996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85" name="Центральное просветление эритроцита"/>
            <p:cNvSpPr/>
            <p:nvPr/>
          </p:nvSpPr>
          <p:spPr>
            <a:xfrm rot="21300000">
              <a:off x="9886492" y="2528315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86" name="Эритроцит в просвете капилляра"/>
            <p:cNvSpPr/>
            <p:nvPr/>
          </p:nvSpPr>
          <p:spPr>
            <a:xfrm rot="21300000">
              <a:off x="9866560" y="2616525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87" name="Центральное просветление эритроцита"/>
            <p:cNvSpPr/>
            <p:nvPr/>
          </p:nvSpPr>
          <p:spPr>
            <a:xfrm rot="21300000">
              <a:off x="9897650" y="26558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88" name="Ядро эндотелия"/>
            <p:cNvSpPr/>
            <p:nvPr/>
          </p:nvSpPr>
          <p:spPr>
            <a:xfrm rot="21300000">
              <a:off x="9981207" y="2472000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89" name="Перитубулярный капилляр"/>
            <p:cNvSpPr/>
            <p:nvPr/>
          </p:nvSpPr>
          <p:spPr>
            <a:xfrm>
              <a:off x="8723979" y="3364947"/>
              <a:ext cx="340428" cy="433871"/>
            </a:xfrm>
            <a:custGeom>
              <a:avLst/>
              <a:gdLst/>
              <a:ahLst/>
              <a:cxnLst/>
              <a:rect l="l" t="t" r="r" b="b"/>
              <a:pathLst>
                <a:path w="340428" h="433871">
                  <a:moveTo>
                    <a:pt x="276101" y="286369"/>
                  </a:moveTo>
                  <a:lnTo>
                    <a:pt x="262953" y="307955"/>
                  </a:lnTo>
                  <a:lnTo>
                    <a:pt x="248123" y="328396"/>
                  </a:lnTo>
                  <a:lnTo>
                    <a:pt x="232070" y="347123"/>
                  </a:lnTo>
                  <a:lnTo>
                    <a:pt x="215317" y="363808"/>
                  </a:lnTo>
                  <a:lnTo>
                    <a:pt x="198333" y="378392"/>
                  </a:lnTo>
                  <a:lnTo>
                    <a:pt x="181451" y="391040"/>
                  </a:lnTo>
                  <a:lnTo>
                    <a:pt x="164844" y="402015"/>
                  </a:lnTo>
                  <a:lnTo>
                    <a:pt x="148566" y="411540"/>
                  </a:lnTo>
                  <a:lnTo>
                    <a:pt x="132628" y="419679"/>
                  </a:lnTo>
                  <a:lnTo>
                    <a:pt x="117079" y="426297"/>
                  </a:lnTo>
                  <a:lnTo>
                    <a:pt x="102057" y="431094"/>
                  </a:lnTo>
                  <a:lnTo>
                    <a:pt x="87797" y="433712"/>
                  </a:lnTo>
                  <a:lnTo>
                    <a:pt x="74577" y="433871"/>
                  </a:lnTo>
                  <a:lnTo>
                    <a:pt x="62641" y="431489"/>
                  </a:lnTo>
                  <a:lnTo>
                    <a:pt x="52109" y="426734"/>
                  </a:lnTo>
                  <a:lnTo>
                    <a:pt x="42932" y="419992"/>
                  </a:lnTo>
                  <a:lnTo>
                    <a:pt x="34901" y="411764"/>
                  </a:lnTo>
                  <a:lnTo>
                    <a:pt x="27715" y="402509"/>
                  </a:lnTo>
                  <a:lnTo>
                    <a:pt x="21095" y="392503"/>
                  </a:lnTo>
                  <a:lnTo>
                    <a:pt x="14911" y="381757"/>
                  </a:lnTo>
                  <a:lnTo>
                    <a:pt x="9262" y="370018"/>
                  </a:lnTo>
                  <a:lnTo>
                    <a:pt x="4509" y="356862"/>
                  </a:lnTo>
                  <a:lnTo>
                    <a:pt x="1210" y="341856"/>
                  </a:lnTo>
                  <a:lnTo>
                    <a:pt x="0" y="324726"/>
                  </a:lnTo>
                  <a:lnTo>
                    <a:pt x="1429" y="305486"/>
                  </a:lnTo>
                  <a:lnTo>
                    <a:pt x="5817" y="284479"/>
                  </a:lnTo>
                  <a:lnTo>
                    <a:pt x="13163" y="262328"/>
                  </a:lnTo>
                  <a:lnTo>
                    <a:pt x="23134" y="239795"/>
                  </a:lnTo>
                  <a:lnTo>
                    <a:pt x="35142" y="217603"/>
                  </a:lnTo>
                  <a:lnTo>
                    <a:pt x="48485" y="196279"/>
                  </a:lnTo>
                  <a:lnTo>
                    <a:pt x="62502" y="176058"/>
                  </a:lnTo>
                  <a:lnTo>
                    <a:pt x="76712" y="156885"/>
                  </a:lnTo>
                  <a:lnTo>
                    <a:pt x="90884" y="138504"/>
                  </a:lnTo>
                  <a:lnTo>
                    <a:pt x="105031" y="120609"/>
                  </a:lnTo>
                  <a:lnTo>
                    <a:pt x="119333" y="103003"/>
                  </a:lnTo>
                  <a:lnTo>
                    <a:pt x="134021" y="85704"/>
                  </a:lnTo>
                  <a:lnTo>
                    <a:pt x="149261" y="68984"/>
                  </a:lnTo>
                  <a:lnTo>
                    <a:pt x="165074" y="53307"/>
                  </a:lnTo>
                  <a:lnTo>
                    <a:pt x="181321" y="39210"/>
                  </a:lnTo>
                  <a:lnTo>
                    <a:pt x="197739" y="27156"/>
                  </a:lnTo>
                  <a:lnTo>
                    <a:pt x="214023" y="17419"/>
                  </a:lnTo>
                  <a:lnTo>
                    <a:pt x="229911" y="10035"/>
                  </a:lnTo>
                  <a:lnTo>
                    <a:pt x="245240" y="4838"/>
                  </a:lnTo>
                  <a:lnTo>
                    <a:pt x="259952" y="1567"/>
                  </a:lnTo>
                  <a:lnTo>
                    <a:pt x="274048" y="0"/>
                  </a:lnTo>
                  <a:lnTo>
                    <a:pt x="287505" y="70"/>
                  </a:lnTo>
                  <a:lnTo>
                    <a:pt x="300200" y="1921"/>
                  </a:lnTo>
                  <a:lnTo>
                    <a:pt x="311862" y="5877"/>
                  </a:lnTo>
                  <a:lnTo>
                    <a:pt x="322079" y="12335"/>
                  </a:lnTo>
                  <a:lnTo>
                    <a:pt x="330376" y="21612"/>
                  </a:lnTo>
                  <a:lnTo>
                    <a:pt x="336325" y="33807"/>
                  </a:lnTo>
                  <a:lnTo>
                    <a:pt x="339672" y="48716"/>
                  </a:lnTo>
                  <a:lnTo>
                    <a:pt x="340428" y="65839"/>
                  </a:lnTo>
                  <a:lnTo>
                    <a:pt x="338891" y="84475"/>
                  </a:lnTo>
                  <a:lnTo>
                    <a:pt x="335587" y="103885"/>
                  </a:lnTo>
                  <a:lnTo>
                    <a:pt x="331151" y="123462"/>
                  </a:lnTo>
                  <a:lnTo>
                    <a:pt x="326165" y="142867"/>
                  </a:lnTo>
                  <a:lnTo>
                    <a:pt x="321012" y="162071"/>
                  </a:lnTo>
                  <a:lnTo>
                    <a:pt x="315781" y="181311"/>
                  </a:lnTo>
                  <a:lnTo>
                    <a:pt x="310260" y="200948"/>
                  </a:lnTo>
                  <a:lnTo>
                    <a:pt x="304012" y="221301"/>
                  </a:lnTo>
                  <a:lnTo>
                    <a:pt x="296508" y="242486"/>
                  </a:lnTo>
                  <a:lnTo>
                    <a:pt x="287291" y="26432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90" name="Эритроцит в просвете капилляра"/>
            <p:cNvSpPr/>
            <p:nvPr/>
          </p:nvSpPr>
          <p:spPr>
            <a:xfrm rot="1980000">
              <a:off x="8910141" y="3405761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91" name="Центральное просветление эритроцита"/>
            <p:cNvSpPr/>
            <p:nvPr/>
          </p:nvSpPr>
          <p:spPr>
            <a:xfrm rot="1980000">
              <a:off x="8941231" y="344508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92" name="Эритроцит в просвете капилляра"/>
            <p:cNvSpPr/>
            <p:nvPr/>
          </p:nvSpPr>
          <p:spPr>
            <a:xfrm rot="1980000">
              <a:off x="8840419" y="351312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93" name="Центральное просветление эритроцита"/>
            <p:cNvSpPr/>
            <p:nvPr/>
          </p:nvSpPr>
          <p:spPr>
            <a:xfrm rot="1980000">
              <a:off x="8871508" y="35524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94" name="Эритроцит в просвете капилляра"/>
            <p:cNvSpPr/>
            <p:nvPr/>
          </p:nvSpPr>
          <p:spPr>
            <a:xfrm rot="1980000">
              <a:off x="8770696" y="3620488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95" name="Центральное просветление эритроцита"/>
            <p:cNvSpPr/>
            <p:nvPr/>
          </p:nvSpPr>
          <p:spPr>
            <a:xfrm rot="1980000">
              <a:off x="8801786" y="365980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96" name="Ядро эндотелия"/>
            <p:cNvSpPr/>
            <p:nvPr/>
          </p:nvSpPr>
          <p:spPr>
            <a:xfrm rot="1980000">
              <a:off x="8950379" y="3559677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97" name="Перитубулярный капилляр"/>
            <p:cNvSpPr/>
            <p:nvPr/>
          </p:nvSpPr>
          <p:spPr>
            <a:xfrm>
              <a:off x="10758365" y="3759893"/>
              <a:ext cx="299872" cy="489520"/>
            </a:xfrm>
            <a:custGeom>
              <a:avLst/>
              <a:gdLst/>
              <a:ahLst/>
              <a:cxnLst/>
              <a:rect l="l" t="t" r="r" b="b"/>
              <a:pathLst>
                <a:path w="299872" h="489520">
                  <a:moveTo>
                    <a:pt x="253140" y="206427"/>
                  </a:moveTo>
                  <a:lnTo>
                    <a:pt x="265219" y="230736"/>
                  </a:lnTo>
                  <a:lnTo>
                    <a:pt x="275575" y="255795"/>
                  </a:lnTo>
                  <a:lnTo>
                    <a:pt x="283943" y="280868"/>
                  </a:lnTo>
                  <a:lnTo>
                    <a:pt x="290284" y="305307"/>
                  </a:lnTo>
                  <a:lnTo>
                    <a:pt x="294764" y="328676"/>
                  </a:lnTo>
                  <a:lnTo>
                    <a:pt x="297670" y="350789"/>
                  </a:lnTo>
                  <a:lnTo>
                    <a:pt x="299303" y="371655"/>
                  </a:lnTo>
                  <a:lnTo>
                    <a:pt x="299872" y="391363"/>
                  </a:lnTo>
                  <a:lnTo>
                    <a:pt x="299437" y="409942"/>
                  </a:lnTo>
                  <a:lnTo>
                    <a:pt x="297906" y="427271"/>
                  </a:lnTo>
                  <a:lnTo>
                    <a:pt x="295092" y="443047"/>
                  </a:lnTo>
                  <a:lnTo>
                    <a:pt x="290802" y="456854"/>
                  </a:lnTo>
                  <a:lnTo>
                    <a:pt x="284928" y="468283"/>
                  </a:lnTo>
                  <a:lnTo>
                    <a:pt x="277512" y="477079"/>
                  </a:lnTo>
                  <a:lnTo>
                    <a:pt x="268749" y="483236"/>
                  </a:lnTo>
                  <a:lnTo>
                    <a:pt x="258941" y="487033"/>
                  </a:lnTo>
                  <a:lnTo>
                    <a:pt x="248411" y="488949"/>
                  </a:lnTo>
                  <a:lnTo>
                    <a:pt x="237404" y="489520"/>
                  </a:lnTo>
                  <a:lnTo>
                    <a:pt x="226028" y="489153"/>
                  </a:lnTo>
                  <a:lnTo>
                    <a:pt x="214231" y="487966"/>
                  </a:lnTo>
                  <a:lnTo>
                    <a:pt x="201846" y="485718"/>
                  </a:lnTo>
                  <a:lnTo>
                    <a:pt x="188683" y="481848"/>
                  </a:lnTo>
                  <a:lnTo>
                    <a:pt x="174635" y="475614"/>
                  </a:lnTo>
                  <a:lnTo>
                    <a:pt x="159759" y="466307"/>
                  </a:lnTo>
                  <a:lnTo>
                    <a:pt x="144316" y="453462"/>
                  </a:lnTo>
                  <a:lnTo>
                    <a:pt x="128742" y="437013"/>
                  </a:lnTo>
                  <a:lnTo>
                    <a:pt x="113554" y="417338"/>
                  </a:lnTo>
                  <a:lnTo>
                    <a:pt x="99240" y="395181"/>
                  </a:lnTo>
                  <a:lnTo>
                    <a:pt x="86137" y="371483"/>
                  </a:lnTo>
                  <a:lnTo>
                    <a:pt x="74366" y="347165"/>
                  </a:lnTo>
                  <a:lnTo>
                    <a:pt x="63824" y="322936"/>
                  </a:lnTo>
                  <a:lnTo>
                    <a:pt x="54245" y="299173"/>
                  </a:lnTo>
                  <a:lnTo>
                    <a:pt x="45312" y="275922"/>
                  </a:lnTo>
                  <a:lnTo>
                    <a:pt x="36775" y="252986"/>
                  </a:lnTo>
                  <a:lnTo>
                    <a:pt x="28549" y="230092"/>
                  </a:lnTo>
                  <a:lnTo>
                    <a:pt x="20756" y="207052"/>
                  </a:lnTo>
                  <a:lnTo>
                    <a:pt x="13697" y="183889"/>
                  </a:lnTo>
                  <a:lnTo>
                    <a:pt x="7772" y="160863"/>
                  </a:lnTo>
                  <a:lnTo>
                    <a:pt x="3365" y="138420"/>
                  </a:lnTo>
                  <a:lnTo>
                    <a:pt x="744" y="117065"/>
                  </a:lnTo>
                  <a:lnTo>
                    <a:pt x="0" y="97223"/>
                  </a:lnTo>
                  <a:lnTo>
                    <a:pt x="1044" y="79142"/>
                  </a:lnTo>
                  <a:lnTo>
                    <a:pt x="3663" y="62861"/>
                  </a:lnTo>
                  <a:lnTo>
                    <a:pt x="7613" y="48272"/>
                  </a:lnTo>
                  <a:lnTo>
                    <a:pt x="12707" y="35241"/>
                  </a:lnTo>
                  <a:lnTo>
                    <a:pt x="18880" y="23746"/>
                  </a:lnTo>
                  <a:lnTo>
                    <a:pt x="26197" y="13979"/>
                  </a:lnTo>
                  <a:lnTo>
                    <a:pt x="34805" y="6371"/>
                  </a:lnTo>
                  <a:lnTo>
                    <a:pt x="44848" y="1511"/>
                  </a:lnTo>
                  <a:lnTo>
                    <a:pt x="56377" y="0"/>
                  </a:lnTo>
                  <a:lnTo>
                    <a:pt x="69279" y="2265"/>
                  </a:lnTo>
                  <a:lnTo>
                    <a:pt x="83269" y="8399"/>
                  </a:lnTo>
                  <a:lnTo>
                    <a:pt x="97934" y="18092"/>
                  </a:lnTo>
                  <a:lnTo>
                    <a:pt x="112821" y="30665"/>
                  </a:lnTo>
                  <a:lnTo>
                    <a:pt x="127552" y="45220"/>
                  </a:lnTo>
                  <a:lnTo>
                    <a:pt x="141910" y="60846"/>
                  </a:lnTo>
                  <a:lnTo>
                    <a:pt x="155873" y="76839"/>
                  </a:lnTo>
                  <a:lnTo>
                    <a:pt x="169593" y="92856"/>
                  </a:lnTo>
                  <a:lnTo>
                    <a:pt x="183307" y="108960"/>
                  </a:lnTo>
                  <a:lnTo>
                    <a:pt x="197221" y="125553"/>
                  </a:lnTo>
                  <a:lnTo>
                    <a:pt x="211404" y="143201"/>
                  </a:lnTo>
                  <a:lnTo>
                    <a:pt x="225712" y="162429"/>
                  </a:lnTo>
                  <a:lnTo>
                    <a:pt x="239791" y="183523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98" name="Эритроцит в просвете капилляра"/>
            <p:cNvSpPr/>
            <p:nvPr/>
          </p:nvSpPr>
          <p:spPr>
            <a:xfrm rot="20100000">
              <a:off x="10797997" y="3826870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699" name="Центральное просветление эритроцита"/>
            <p:cNvSpPr/>
            <p:nvPr/>
          </p:nvSpPr>
          <p:spPr>
            <a:xfrm rot="20100000">
              <a:off x="10829086" y="386619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700" name="Эритроцит в просвете капилляра"/>
            <p:cNvSpPr/>
            <p:nvPr/>
          </p:nvSpPr>
          <p:spPr>
            <a:xfrm rot="20100000">
              <a:off x="10852099" y="3942892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701" name="Центральное просветление эритроцита"/>
            <p:cNvSpPr/>
            <p:nvPr/>
          </p:nvSpPr>
          <p:spPr>
            <a:xfrm rot="20100000">
              <a:off x="10883188" y="3982212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702" name="Эритроцит в просвете капилляра"/>
            <p:cNvSpPr/>
            <p:nvPr/>
          </p:nvSpPr>
          <p:spPr>
            <a:xfrm rot="20100000">
              <a:off x="10906201" y="405891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703" name="Центральное просветление эритроцита"/>
            <p:cNvSpPr/>
            <p:nvPr/>
          </p:nvSpPr>
          <p:spPr>
            <a:xfrm rot="20100000">
              <a:off x="10937290" y="4098233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  <p:sp>
          <p:nvSpPr>
            <p:cNvPr id="704" name="Ядро эндотелия"/>
            <p:cNvSpPr/>
            <p:nvPr/>
          </p:nvSpPr>
          <p:spPr>
            <a:xfrm rot="20100000">
              <a:off x="10960575" y="3896018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</a:p>
          </p:txBody>
        </p:sp>
      </p:grpSp>
      <p:sp>
        <p:nvSpPr>
          <p:cNvPr id="705" name="Просвет"/>
          <p:cNvSpPr txBox="1"/>
          <p:nvPr/>
        </p:nvSpPr>
        <p:spPr>
          <a:xfrm>
            <a:off x="932688" y="2578608"/>
            <a:ext cx="832104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Просвет</a:t>
            </a:r>
          </a:p>
        </p:txBody>
      </p:sp>
      <p:sp>
        <p:nvSpPr>
          <p:cNvPr id="706" name="Капилляр"/>
          <p:cNvSpPr txBox="1"/>
          <p:nvPr/>
        </p:nvSpPr>
        <p:spPr>
          <a:xfrm>
            <a:off x="1645920" y="1755648"/>
            <a:ext cx="1060704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34F41"/>
                </a:solidFill>
                <a:latin typeface="Arial Narrow"/>
                <a:cs typeface="Arial Narrow"/>
              </a:rPr>
              <a:t>Капилляр</a:t>
            </a:r>
          </a:p>
        </p:txBody>
      </p:sp>
      <p:cxnSp>
        <p:nvCxnSpPr>
          <p:cNvPr id="707" name="Указатель"/>
          <p:cNvCxnSpPr/>
          <p:nvPr/>
        </p:nvCxnSpPr>
        <p:spPr>
          <a:xfrm flipH="1">
            <a:off x="2148840" y="1984248"/>
            <a:ext cx="18288" cy="347472"/>
          </a:xfrm>
          <a:prstGeom prst="line">
            <a:avLst/>
          </a:prstGeom>
          <a:ln w="10795">
            <a:solidFill>
              <a:srgbClr val="A34F4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8" name="Эпителий"/>
          <p:cNvSpPr txBox="1"/>
          <p:nvPr/>
        </p:nvSpPr>
        <p:spPr>
          <a:xfrm>
            <a:off x="539496" y="473659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7A92"/>
                </a:solidFill>
                <a:latin typeface="Arial Narrow"/>
                <a:cs typeface="Arial Narrow"/>
              </a:rPr>
              <a:t>Эпителий</a:t>
            </a:r>
          </a:p>
        </p:txBody>
      </p:sp>
      <p:cxnSp>
        <p:nvCxnSpPr>
          <p:cNvPr id="709" name="Указатель"/>
          <p:cNvCxnSpPr/>
          <p:nvPr/>
        </p:nvCxnSpPr>
        <p:spPr>
          <a:xfrm flipV="1">
            <a:off x="1545336" y="4471416"/>
            <a:ext cx="73152" cy="274320"/>
          </a:xfrm>
          <a:prstGeom prst="line">
            <a:avLst/>
          </a:prstGeom>
          <a:ln w="10795">
            <a:solidFill>
              <a:srgbClr val="087A9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0" name="Интерстиций"/>
          <p:cNvSpPr txBox="1"/>
          <p:nvPr/>
        </p:nvSpPr>
        <p:spPr>
          <a:xfrm>
            <a:off x="2478024" y="4727448"/>
            <a:ext cx="1444752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Интерстиций</a:t>
            </a:r>
          </a:p>
        </p:txBody>
      </p:sp>
      <p:cxnSp>
        <p:nvCxnSpPr>
          <p:cNvPr id="711" name="Указатель"/>
          <p:cNvCxnSpPr/>
          <p:nvPr/>
        </p:nvCxnSpPr>
        <p:spPr>
          <a:xfrm flipV="1">
            <a:off x="2752344" y="4471416"/>
            <a:ext cx="36576" cy="246888"/>
          </a:xfrm>
          <a:prstGeom prst="line">
            <a:avLst/>
          </a:prstGeom>
          <a:ln w="10795">
            <a:solidFill>
              <a:srgbClr val="58687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2" name="Воспалительные клетки"/>
          <p:cNvSpPr txBox="1"/>
          <p:nvPr/>
        </p:nvSpPr>
        <p:spPr>
          <a:xfrm>
            <a:off x="4480559" y="4736592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7A92"/>
                </a:solidFill>
                <a:latin typeface="Arial Narrow"/>
                <a:cs typeface="Arial Narrow"/>
              </a:rPr>
              <a:t>Воспалительные клетки</a:t>
            </a:r>
          </a:p>
        </p:txBody>
      </p:sp>
      <p:cxnSp>
        <p:nvCxnSpPr>
          <p:cNvPr id="713" name="Указатель"/>
          <p:cNvCxnSpPr/>
          <p:nvPr/>
        </p:nvCxnSpPr>
        <p:spPr>
          <a:xfrm flipH="1" flipV="1">
            <a:off x="5002579" y="4409593"/>
            <a:ext cx="319229" cy="308711"/>
          </a:xfrm>
          <a:prstGeom prst="line">
            <a:avLst/>
          </a:prstGeom>
          <a:ln w="10795">
            <a:solidFill>
              <a:srgbClr val="087A9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4" name="Межклеточный матрикс"/>
          <p:cNvSpPr txBox="1"/>
          <p:nvPr/>
        </p:nvSpPr>
        <p:spPr>
          <a:xfrm>
            <a:off x="8439912" y="1755648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A34F41"/>
                </a:solidFill>
                <a:latin typeface="Arial Narrow"/>
                <a:cs typeface="Arial Narrow"/>
              </a:rPr>
              <a:t>Межклеточный матрикс</a:t>
            </a:r>
          </a:p>
        </p:txBody>
      </p:sp>
      <p:cxnSp>
        <p:nvCxnSpPr>
          <p:cNvPr id="715" name="Указатель"/>
          <p:cNvCxnSpPr/>
          <p:nvPr/>
        </p:nvCxnSpPr>
        <p:spPr>
          <a:xfrm flipH="1">
            <a:off x="10731500" y="2019300"/>
            <a:ext cx="0" cy="304800"/>
          </a:xfrm>
          <a:prstGeom prst="line">
            <a:avLst/>
          </a:prstGeom>
          <a:ln w="10795">
            <a:solidFill>
              <a:srgbClr val="A34F4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6" name="Уплощённый эпителий"/>
          <p:cNvSpPr txBox="1"/>
          <p:nvPr/>
        </p:nvSpPr>
        <p:spPr>
          <a:xfrm>
            <a:off x="8394192" y="4736592"/>
            <a:ext cx="16510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87A92"/>
                </a:solidFill>
                <a:latin typeface="Arial Narrow"/>
                <a:cs typeface="Arial Narrow"/>
              </a:rPr>
              <a:t>Уплощённый эпителий</a:t>
            </a:r>
          </a:p>
        </p:txBody>
      </p:sp>
      <p:cxnSp>
        <p:nvCxnSpPr>
          <p:cNvPr id="717" name="Указатель"/>
          <p:cNvCxnSpPr/>
          <p:nvPr/>
        </p:nvCxnSpPr>
        <p:spPr>
          <a:xfrm flipV="1">
            <a:off x="9573768" y="4425696"/>
            <a:ext cx="164592" cy="283464"/>
          </a:xfrm>
          <a:prstGeom prst="line">
            <a:avLst/>
          </a:prstGeom>
          <a:ln w="10795">
            <a:solidFill>
              <a:srgbClr val="087A9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" name="Текст: Сохранная ткань"/>
          <p:cNvSpPr txBox="1"/>
          <p:nvPr/>
        </p:nvSpPr>
        <p:spPr>
          <a:xfrm>
            <a:off x="502920" y="1335024"/>
            <a:ext cx="3511296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Сохранная ткань</a:t>
            </a:r>
          </a:p>
        </p:txBody>
      </p:sp>
      <p:sp>
        <p:nvSpPr>
          <p:cNvPr id="719" name="Текст: Воспаление"/>
          <p:cNvSpPr txBox="1"/>
          <p:nvPr/>
        </p:nvSpPr>
        <p:spPr>
          <a:xfrm>
            <a:off x="4389120" y="1335024"/>
            <a:ext cx="3511296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Воспаление</a:t>
            </a:r>
          </a:p>
        </p:txBody>
      </p:sp>
      <p:sp>
        <p:nvSpPr>
          <p:cNvPr id="720" name="Текст: Фиброз и атрофия"/>
          <p:cNvSpPr txBox="1"/>
          <p:nvPr/>
        </p:nvSpPr>
        <p:spPr>
          <a:xfrm>
            <a:off x="8275320" y="1335024"/>
            <a:ext cx="3511296" cy="3474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Фиброз и атрофия</a:t>
            </a:r>
          </a:p>
        </p:txBody>
      </p:sp>
      <p:sp>
        <p:nvSpPr>
          <p:cNvPr id="721" name="Текст: Эпителий образует один слой. Интерстиций: тк"/>
          <p:cNvSpPr txBox="1"/>
          <p:nvPr/>
        </p:nvSpPr>
        <p:spPr>
          <a:xfrm>
            <a:off x="502920" y="5080000"/>
            <a:ext cx="3547872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Эпителий образует один слой.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Между канальцами лежит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интерстиций, в нём проходят сосуды.</a:t>
            </a:r>
          </a:p>
        </p:txBody>
      </p:sp>
      <p:sp>
        <p:nvSpPr>
          <p:cNvPr id="722" name="Текст: Воспалительные клетки скапливаются в интерсти"/>
          <p:cNvSpPr txBox="1"/>
          <p:nvPr/>
        </p:nvSpPr>
        <p:spPr>
          <a:xfrm>
            <a:off x="4389120" y="5080000"/>
            <a:ext cx="3547872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Воспалительные клетки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скапливаются в интерстиции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рядом с канальцами и сосудами.</a:t>
            </a:r>
          </a:p>
        </p:txBody>
      </p:sp>
      <p:sp>
        <p:nvSpPr>
          <p:cNvPr id="723" name="Текст: Фиброз: накопление матрикса. Атрофия канальце"/>
          <p:cNvSpPr txBox="1"/>
          <p:nvPr/>
        </p:nvSpPr>
        <p:spPr>
          <a:xfrm>
            <a:off x="8275320" y="5080000"/>
            <a:ext cx="3547872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При фиброзе накапливается матрикс.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При атрофии уменьшается высота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эпителия канальцев.</a:t>
            </a:r>
          </a:p>
        </p:txBody>
      </p:sp>
      <p:sp>
        <p:nvSpPr>
          <p:cNvPr id="724" name="Текст: Воспаление и фиброз могут сочетаться. Показан"/>
          <p:cNvSpPr txBox="1"/>
          <p:nvPr/>
        </p:nvSpPr>
        <p:spPr>
          <a:xfrm>
            <a:off x="508000" y="5816600"/>
            <a:ext cx="10795000" cy="6462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Воспаление и фиброз могут сочетаться и не обязательно сменяют друг друга.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Связь с финереноном: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он блокирует минералокортикоидный рецептор, избыточная активация которого поддерживает воспаление и фиброз (слайды 18, 19). Влияние финеренона на эти процессы показано только в доклинических исследованиях.</a:t>
            </a:r>
          </a:p>
        </p:txBody>
      </p:sp>
      <p:sp>
        <p:nvSpPr>
          <p:cNvPr id="725" name="Метка_миофибробласты"/>
          <p:cNvSpPr txBox="1"/>
          <p:nvPr/>
        </p:nvSpPr>
        <p:spPr>
          <a:xfrm>
            <a:off x="10160000" y="4737100"/>
            <a:ext cx="15240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87A92"/>
                </a:solidFill>
                <a:latin typeface="Arial Narrow"/>
                <a:cs typeface="Arial Narrow"/>
              </a:rPr>
              <a:t>Миофибробласты</a:t>
            </a:r>
          </a:p>
        </p:txBody>
      </p:sp>
      <p:cxnSp>
        <p:nvCxnSpPr>
          <p:cNvPr id="726" name="Указатель_миофибробласты"/>
          <p:cNvCxnSpPr/>
          <p:nvPr/>
        </p:nvCxnSpPr>
        <p:spPr>
          <a:xfrm flipH="1" flipV="1">
            <a:off x="10629900" y="4483100"/>
            <a:ext cx="114300" cy="279400"/>
          </a:xfrm>
          <a:prstGeom prst="line">
            <a:avLst/>
          </a:prstGeom>
          <a:ln w="12700">
            <a:solidFill>
              <a:srgbClr val="087A92"/>
            </a:solidFill>
            <a:tailEnd type="triangle" w="med" len="med"/>
          </a:ln>
        </p:spPr>
      </p:cxnSp>
      <p:sp>
        <p:nvSpPr>
          <p:cNvPr id="727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Nguyen D, et al. Nephrology. 2006;11:226–231. Kuppe C, et al. Nature. 2021;589:281–286. Cohen Tervaert TW, et al. J Am Soc Nephrol. 2010;21:556–563.</a:t>
            </a:r>
          </a:p>
        </p:txBody>
      </p:sp>
      <p:pic>
        <p:nvPicPr>
          <p:cNvPr id="728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Карточка_кровь"/>
          <p:cNvSpPr/>
          <p:nvPr/>
        </p:nvSpPr>
        <p:spPr>
          <a:xfrm>
            <a:off x="457200" y="1143000"/>
            <a:ext cx="6959600" cy="28448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Карточка_моча"/>
          <p:cNvSpPr/>
          <p:nvPr/>
        </p:nvSpPr>
        <p:spPr>
          <a:xfrm>
            <a:off x="457200" y="4140200"/>
            <a:ext cx="6959600" cy="2159000"/>
          </a:xfrm>
          <a:prstGeom prst="roundRect">
            <a:avLst>
              <a:gd name="adj" fmla="val 470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8" name="Карточка_ответ"/>
          <p:cNvSpPr/>
          <p:nvPr/>
        </p:nvSpPr>
        <p:spPr>
          <a:xfrm>
            <a:off x="7772400" y="1930400"/>
            <a:ext cx="3962400" cy="4368800"/>
          </a:xfrm>
          <a:prstGeom prst="roundRect">
            <a:avLst>
              <a:gd name="adj" fmla="val 256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Плашка_вопрос"/>
          <p:cNvSpPr/>
          <p:nvPr/>
        </p:nvSpPr>
        <p:spPr>
          <a:xfrm>
            <a:off x="7772400" y="1143000"/>
            <a:ext cx="3962400" cy="736600"/>
          </a:xfrm>
          <a:prstGeom prst="roundRect">
            <a:avLst>
              <a:gd name="adj" fmla="val 10344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" name="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При диабете 2 типа рСКФ и АКО проверяют не реже раза в год</a:t>
            </a:r>
          </a:p>
        </p:txBody>
      </p:sp>
      <p:sp>
        <p:nvSpPr>
          <p:cNvPr id="26" name="Blood_name"/>
          <p:cNvSpPr txBox="1"/>
          <p:nvPr/>
        </p:nvSpPr>
        <p:spPr>
          <a:xfrm>
            <a:off x="1755648" y="1252728"/>
            <a:ext cx="5157216" cy="347472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Креатинин крови</a:t>
            </a:r>
          </a:p>
        </p:txBody>
      </p:sp>
      <p:sp>
        <p:nvSpPr>
          <p:cNvPr id="27" name="Blood_explanation"/>
          <p:cNvSpPr txBox="1"/>
          <p:nvPr/>
        </p:nvSpPr>
        <p:spPr>
          <a:xfrm>
            <a:off x="1755648" y="1625600"/>
            <a:ext cx="5166360" cy="61264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По его уровню с учётом возраста и пола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рассчитывают фильтрацию.</a:t>
            </a:r>
          </a:p>
        </p:txBody>
      </p:sp>
      <p:sp>
        <p:nvSpPr>
          <p:cNvPr id="29" name="eGFR"/>
          <p:cNvSpPr txBox="1"/>
          <p:nvPr/>
        </p:nvSpPr>
        <p:spPr>
          <a:xfrm>
            <a:off x="2459736" y="2231136"/>
            <a:ext cx="4443984" cy="347472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рСКФ</a:t>
            </a:r>
          </a:p>
        </p:txBody>
      </p:sp>
      <p:sp>
        <p:nvSpPr>
          <p:cNvPr id="30" name="eGFR_expanded"/>
          <p:cNvSpPr txBox="1"/>
          <p:nvPr/>
        </p:nvSpPr>
        <p:spPr>
          <a:xfrm>
            <a:off x="2459736" y="2697480"/>
            <a:ext cx="4526280" cy="74980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Расчётная скорость клубочковой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фильтрации, мл/мин/1,73 м²</a:t>
            </a:r>
          </a:p>
        </p:txBody>
      </p:sp>
      <p:sp>
        <p:nvSpPr>
          <p:cNvPr id="31" name="Blood_question"/>
          <p:cNvSpPr txBox="1"/>
          <p:nvPr/>
        </p:nvSpPr>
        <p:spPr>
          <a:xfrm>
            <a:off x="1755648" y="3474720"/>
            <a:ext cx="5193792" cy="41148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Отвечает на вопрос: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насколько хорошо почки фильтруют?</a:t>
            </a:r>
          </a:p>
        </p:txBody>
      </p:sp>
      <p:sp>
        <p:nvSpPr>
          <p:cNvPr id="59" name="Urine_name"/>
          <p:cNvSpPr txBox="1"/>
          <p:nvPr/>
        </p:nvSpPr>
        <p:spPr>
          <a:xfrm>
            <a:off x="1755648" y="4270248"/>
            <a:ext cx="5230368" cy="393192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Альбумин и креатинин мочи</a:t>
            </a:r>
          </a:p>
        </p:txBody>
      </p:sp>
      <p:sp>
        <p:nvSpPr>
          <p:cNvPr id="60" name="Same_sample"/>
          <p:cNvSpPr txBox="1"/>
          <p:nvPr/>
        </p:nvSpPr>
        <p:spPr>
          <a:xfrm>
            <a:off x="1755648" y="4736592"/>
            <a:ext cx="5221224" cy="36576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Измеряют в одной порции мочи.</a:t>
            </a:r>
          </a:p>
        </p:txBody>
      </p:sp>
      <p:sp>
        <p:nvSpPr>
          <p:cNvPr id="62" name="ACR"/>
          <p:cNvSpPr txBox="1"/>
          <p:nvPr/>
        </p:nvSpPr>
        <p:spPr>
          <a:xfrm>
            <a:off x="2459736" y="5175504"/>
            <a:ext cx="4709160" cy="585216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Отношение альбумина к креатинину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мочи (АКО), мг/г</a:t>
            </a:r>
          </a:p>
        </p:txBody>
      </p:sp>
      <p:sp>
        <p:nvSpPr>
          <p:cNvPr id="63" name="Urine_question"/>
          <p:cNvSpPr txBox="1"/>
          <p:nvPr/>
        </p:nvSpPr>
        <p:spPr>
          <a:xfrm>
            <a:off x="1755648" y="5852160"/>
            <a:ext cx="5212080" cy="329184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Отвечает на вопрос: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нет ли повышенной потери альбумина?</a:t>
            </a:r>
          </a:p>
        </p:txBody>
      </p:sp>
      <p:sp>
        <p:nvSpPr>
          <p:cNvPr id="65" name="Clinical_question"/>
          <p:cNvSpPr txBox="1"/>
          <p:nvPr/>
        </p:nvSpPr>
        <p:spPr>
          <a:xfrm>
            <a:off x="7772400" y="1143000"/>
            <a:ext cx="3962400" cy="736600"/>
          </a:xfrm>
          <a:prstGeom prst="rect">
            <a:avLst/>
          </a:prstGeom>
          <a:noFill/>
          <a:effectLst/>
        </p:spPr>
        <p:txBody>
          <a:bodyPr wrap="square" lIns="17780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Фильтрация сохранна: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значит, почки не повреждены?</a:t>
            </a:r>
          </a:p>
        </p:txBody>
      </p:sp>
      <p:sp>
        <p:nvSpPr>
          <p:cNvPr id="66" name="Answer"/>
          <p:cNvSpPr txBox="1"/>
          <p:nvPr/>
        </p:nvSpPr>
        <p:spPr>
          <a:xfrm>
            <a:off x="7975600" y="2159000"/>
            <a:ext cx="3581400" cy="770384"/>
          </a:xfrm>
          <a:prstGeom prst="rect">
            <a:avLst/>
          </a:prstGeom>
          <a:noFill/>
          <a:effectLst/>
        </p:spPr>
        <p:txBody>
          <a:bodyPr wrap="square" lIns="0" tIns="0" rIns="0" bIns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Ответ: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 не обязательно. Альбумин мочи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может быть повышен уже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при сохранной фильтрации.</a:t>
            </a:r>
          </a:p>
        </p:txBody>
      </p:sp>
      <p:sp>
        <p:nvSpPr>
          <p:cNvPr id="67" name="Frequency"/>
          <p:cNvSpPr txBox="1"/>
          <p:nvPr/>
        </p:nvSpPr>
        <p:spPr>
          <a:xfrm>
            <a:off x="7975600" y="3853771"/>
            <a:ext cx="3581400" cy="770384"/>
          </a:xfrm>
          <a:prstGeom prst="rect">
            <a:avLst/>
          </a:prstGeom>
          <a:noFill/>
          <a:effectLst/>
        </p:spPr>
        <p:txBody>
          <a:bodyPr wrap="square" lIns="0" tIns="0" rIns="0" bIns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При хронической болезни почек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 частоту контроля определяют по стадии.</a:t>
            </a:r>
          </a:p>
        </p:txBody>
      </p:sp>
      <p:sp>
        <p:nvSpPr>
          <p:cNvPr id="69" name="Dipstick_limitation"/>
          <p:cNvSpPr txBox="1"/>
          <p:nvPr/>
        </p:nvSpPr>
        <p:spPr>
          <a:xfrm>
            <a:off x="7975600" y="5548543"/>
            <a:ext cx="3581400" cy="522056"/>
          </a:xfrm>
          <a:prstGeom prst="rect">
            <a:avLst/>
          </a:prstGeom>
          <a:noFill/>
          <a:effectLst/>
        </p:spPr>
        <p:txBody>
          <a:bodyPr wrap="square" lIns="0" tIns="0" rIns="0" bIns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Ограничение: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 тест-полоска на общий белок не заменяет определение АКО.</a:t>
            </a:r>
          </a:p>
        </p:txBody>
      </p:sp>
      <p:grpSp>
        <p:nvGrpSpPr>
          <p:cNvPr id="71" name="Blood_illustration_editable"/>
          <p:cNvGrpSpPr/>
          <p:nvPr/>
        </p:nvGrpSpPr>
        <p:grpSpPr>
          <a:xfrm>
            <a:off x="749808" y="1399032"/>
            <a:ext cx="1536192" cy="1754184"/>
            <a:chOff x="749808" y="1399032"/>
            <a:chExt cx="1536192" cy="1754184"/>
          </a:xfrm>
        </p:grpSpPr>
        <p:sp>
          <p:nvSpPr>
            <p:cNvPr id="4" name="Blood_glass"/>
            <p:cNvSpPr/>
            <p:nvPr/>
          </p:nvSpPr>
          <p:spPr>
            <a:xfrm>
              <a:off x="839510" y="1648206"/>
              <a:ext cx="468447" cy="1505010"/>
            </a:xfrm>
            <a:prstGeom prst="roundRect">
              <a:avLst>
                <a:gd name="adj" fmla="val 32000"/>
              </a:avLst>
            </a:prstGeom>
            <a:solidFill>
              <a:srgbClr val="EEF5F8"/>
            </a:solidFill>
            <a:ln w="12700">
              <a:solidFill>
                <a:srgbClr val="9BADB9"/>
              </a:solidFill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" name="Blood_blood"/>
            <p:cNvSpPr/>
            <p:nvPr/>
          </p:nvSpPr>
          <p:spPr>
            <a:xfrm>
              <a:off x="889345" y="2355860"/>
              <a:ext cx="368777" cy="687720"/>
            </a:xfrm>
            <a:prstGeom prst="roundRect">
              <a:avLst>
                <a:gd name="adj" fmla="val 32000"/>
              </a:avLst>
            </a:prstGeom>
            <a:solidFill>
              <a:srgbClr val="A6324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" name="Blood_liquid_top"/>
            <p:cNvSpPr/>
            <p:nvPr/>
          </p:nvSpPr>
          <p:spPr>
            <a:xfrm>
              <a:off x="889345" y="2315992"/>
              <a:ext cx="368777" cy="348843"/>
            </a:xfrm>
            <a:prstGeom prst="rect">
              <a:avLst/>
            </a:prstGeom>
            <a:solidFill>
              <a:srgbClr val="A6324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" name="Blood_blood_surface"/>
            <p:cNvSpPr/>
            <p:nvPr/>
          </p:nvSpPr>
          <p:spPr>
            <a:xfrm>
              <a:off x="889345" y="2276124"/>
              <a:ext cx="368777" cy="109636"/>
            </a:xfrm>
            <a:prstGeom prst="ellipse">
              <a:avLst/>
            </a:prstGeom>
            <a:solidFill>
              <a:srgbClr val="CA64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" name="Blood_label"/>
            <p:cNvSpPr/>
            <p:nvPr/>
          </p:nvSpPr>
          <p:spPr>
            <a:xfrm>
              <a:off x="859444" y="1947214"/>
              <a:ext cx="428579" cy="3488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9" name="Blood_barcode0"/>
            <p:cNvCxnSpPr/>
            <p:nvPr/>
          </p:nvCxnSpPr>
          <p:spPr>
            <a:xfrm>
              <a:off x="919246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0" name="Blood_barcode1"/>
            <p:cNvCxnSpPr/>
            <p:nvPr/>
          </p:nvCxnSpPr>
          <p:spPr>
            <a:xfrm>
              <a:off x="954130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1" name="Blood_barcode2"/>
            <p:cNvCxnSpPr/>
            <p:nvPr/>
          </p:nvCxnSpPr>
          <p:spPr>
            <a:xfrm>
              <a:off x="989015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2" name="Blood_barcode3"/>
            <p:cNvCxnSpPr/>
            <p:nvPr/>
          </p:nvCxnSpPr>
          <p:spPr>
            <a:xfrm>
              <a:off x="1023899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3" name="Blood_barcode4"/>
            <p:cNvCxnSpPr/>
            <p:nvPr/>
          </p:nvCxnSpPr>
          <p:spPr>
            <a:xfrm>
              <a:off x="1058783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4" name="Blood_barcode5"/>
            <p:cNvCxnSpPr/>
            <p:nvPr/>
          </p:nvCxnSpPr>
          <p:spPr>
            <a:xfrm>
              <a:off x="1093668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5" name="Blood_barcode6"/>
            <p:cNvCxnSpPr/>
            <p:nvPr/>
          </p:nvCxnSpPr>
          <p:spPr>
            <a:xfrm>
              <a:off x="1128552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6" name="Blood_barcode7"/>
            <p:cNvCxnSpPr/>
            <p:nvPr/>
          </p:nvCxnSpPr>
          <p:spPr>
            <a:xfrm>
              <a:off x="1163436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sp>
          <p:nvSpPr>
            <p:cNvPr id="17" name="Blood_cap"/>
            <p:cNvSpPr/>
            <p:nvPr/>
          </p:nvSpPr>
          <p:spPr>
            <a:xfrm>
              <a:off x="749808" y="1399032"/>
              <a:ext cx="647852" cy="328909"/>
            </a:xfrm>
            <a:prstGeom prst="roundRect">
              <a:avLst/>
            </a:prstGeom>
            <a:solidFill>
              <a:srgbClr val="16324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18" name="Blood_ridge1"/>
            <p:cNvCxnSpPr/>
            <p:nvPr/>
          </p:nvCxnSpPr>
          <p:spPr>
            <a:xfrm>
              <a:off x="827550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19" name="Blood_ridge2"/>
            <p:cNvCxnSpPr/>
            <p:nvPr/>
          </p:nvCxnSpPr>
          <p:spPr>
            <a:xfrm>
              <a:off x="905292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0" name="Blood_ridge3"/>
            <p:cNvCxnSpPr/>
            <p:nvPr/>
          </p:nvCxnSpPr>
          <p:spPr>
            <a:xfrm>
              <a:off x="983034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1" name="Blood_ridge4"/>
            <p:cNvCxnSpPr/>
            <p:nvPr/>
          </p:nvCxnSpPr>
          <p:spPr>
            <a:xfrm>
              <a:off x="1060777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2" name="Blood_ridge5"/>
            <p:cNvCxnSpPr/>
            <p:nvPr/>
          </p:nvCxnSpPr>
          <p:spPr>
            <a:xfrm>
              <a:off x="1138519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3" name="Blood_ridge6"/>
            <p:cNvCxnSpPr/>
            <p:nvPr/>
          </p:nvCxnSpPr>
          <p:spPr>
            <a:xfrm>
              <a:off x="1216261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4" name="Blood_ridge7"/>
            <p:cNvCxnSpPr/>
            <p:nvPr/>
          </p:nvCxnSpPr>
          <p:spPr>
            <a:xfrm>
              <a:off x="1294004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5" name="Blood_shine"/>
            <p:cNvCxnSpPr/>
            <p:nvPr/>
          </p:nvCxnSpPr>
          <p:spPr>
            <a:xfrm>
              <a:off x="949147" y="1757842"/>
              <a:ext cx="0" cy="159471"/>
            </a:xfrm>
            <a:prstGeom prst="line">
              <a:avLst/>
            </a:prstGeom>
            <a:ln w="19050">
              <a:solidFill>
                <a:srgbClr val="FFFFFF"/>
              </a:solidFill>
            </a:ln>
            <a:effectLst/>
          </p:spPr>
        </p:cxnSp>
        <p:cxnSp>
          <p:nvCxnSpPr>
            <p:cNvPr id="28" name="Blood_to_result"/>
            <p:cNvCxnSpPr/>
            <p:nvPr/>
          </p:nvCxnSpPr>
          <p:spPr>
            <a:xfrm>
              <a:off x="1764792" y="2414016"/>
              <a:ext cx="521208" cy="0"/>
            </a:xfrm>
            <a:prstGeom prst="line">
              <a:avLst/>
            </a:prstGeom>
            <a:ln w="21590">
              <a:solidFill>
                <a:srgbClr val="404040"/>
              </a:solidFill>
              <a:tailEnd type="triangle" w="sm" len="sm"/>
            </a:ln>
            <a:effectLst/>
          </p:spPr>
        </p:cxnSp>
      </p:grpSp>
      <p:grpSp>
        <p:nvGrpSpPr>
          <p:cNvPr id="72" name="Urine_illustration_editable"/>
          <p:cNvGrpSpPr/>
          <p:nvPr/>
        </p:nvGrpSpPr>
        <p:grpSpPr>
          <a:xfrm>
            <a:off x="548640" y="4507992"/>
            <a:ext cx="1737360" cy="1293876"/>
            <a:chOff x="548640" y="4507992"/>
            <a:chExt cx="1737360" cy="1293876"/>
          </a:xfrm>
        </p:grpSpPr>
        <p:sp>
          <p:nvSpPr>
            <p:cNvPr id="33" name="Urine_cup"/>
            <p:cNvSpPr/>
            <p:nvPr/>
          </p:nvSpPr>
          <p:spPr>
            <a:xfrm>
              <a:off x="598018" y="4734763"/>
              <a:ext cx="918058" cy="1067105"/>
            </a:xfrm>
            <a:custGeom>
              <a:avLst/>
              <a:gdLst/>
              <a:ahLst/>
              <a:cxnLst/>
              <a:rect l="l" t="t" r="r" b="b"/>
              <a:pathLst>
                <a:path w="1004" h="1167">
                  <a:moveTo>
                    <a:pt x="0" y="0"/>
                  </a:moveTo>
                  <a:lnTo>
                    <a:pt x="1004" y="0"/>
                  </a:lnTo>
                  <a:lnTo>
                    <a:pt x="875" y="1167"/>
                  </a:lnTo>
                  <a:lnTo>
                    <a:pt x="130" y="1167"/>
                  </a:lnTo>
                  <a:close/>
                </a:path>
              </a:pathLst>
            </a:custGeom>
            <a:solidFill>
              <a:srgbClr val="EEF5F8"/>
            </a:solidFill>
            <a:ln w="12700">
              <a:solidFill>
                <a:srgbClr val="9BADB9"/>
              </a:solidFill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" name="Urine_urine"/>
            <p:cNvSpPr/>
            <p:nvPr/>
          </p:nvSpPr>
          <p:spPr>
            <a:xfrm>
              <a:off x="667512" y="5189220"/>
              <a:ext cx="779983" cy="533095"/>
            </a:xfrm>
            <a:custGeom>
              <a:avLst/>
              <a:gdLst/>
              <a:ahLst/>
              <a:cxnLst/>
              <a:rect l="l" t="t" r="r" b="b"/>
              <a:pathLst>
                <a:path w="853" h="583">
                  <a:moveTo>
                    <a:pt x="0" y="0"/>
                  </a:moveTo>
                  <a:lnTo>
                    <a:pt x="853" y="0"/>
                  </a:lnTo>
                  <a:lnTo>
                    <a:pt x="788" y="583"/>
                  </a:lnTo>
                  <a:lnTo>
                    <a:pt x="64" y="583"/>
                  </a:lnTo>
                  <a:close/>
                </a:path>
              </a:pathLst>
            </a:custGeom>
            <a:solidFill>
              <a:srgbClr val="FFF2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" name="Urine_surface"/>
            <p:cNvSpPr/>
            <p:nvPr/>
          </p:nvSpPr>
          <p:spPr>
            <a:xfrm>
              <a:off x="667146" y="5149900"/>
              <a:ext cx="780166" cy="128381"/>
            </a:xfrm>
            <a:prstGeom prst="ellipse">
              <a:avLst/>
            </a:prstGeom>
            <a:solidFill>
              <a:srgbClr val="EBC96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" name="Urine_lid"/>
            <p:cNvSpPr/>
            <p:nvPr/>
          </p:nvSpPr>
          <p:spPr>
            <a:xfrm>
              <a:off x="548640" y="4507992"/>
              <a:ext cx="1017178" cy="296265"/>
            </a:xfrm>
            <a:prstGeom prst="roundRect">
              <a:avLst/>
            </a:prstGeom>
            <a:solidFill>
              <a:srgbClr val="C8104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37" name="Urine_ridge1"/>
            <p:cNvCxnSpPr/>
            <p:nvPr/>
          </p:nvCxnSpPr>
          <p:spPr>
            <a:xfrm>
              <a:off x="628631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38" name="Urine_ridge2"/>
            <p:cNvCxnSpPr/>
            <p:nvPr/>
          </p:nvCxnSpPr>
          <p:spPr>
            <a:xfrm>
              <a:off x="708623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39" name="Urine_ridge3"/>
            <p:cNvCxnSpPr/>
            <p:nvPr/>
          </p:nvCxnSpPr>
          <p:spPr>
            <a:xfrm>
              <a:off x="788615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0" name="Urine_ridge4"/>
            <p:cNvCxnSpPr/>
            <p:nvPr/>
          </p:nvCxnSpPr>
          <p:spPr>
            <a:xfrm>
              <a:off x="868606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1" name="Urine_ridge5"/>
            <p:cNvCxnSpPr/>
            <p:nvPr/>
          </p:nvCxnSpPr>
          <p:spPr>
            <a:xfrm>
              <a:off x="948598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2" name="Urine_ridge6"/>
            <p:cNvCxnSpPr/>
            <p:nvPr/>
          </p:nvCxnSpPr>
          <p:spPr>
            <a:xfrm>
              <a:off x="1028590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3" name="Urine_ridge7"/>
            <p:cNvCxnSpPr/>
            <p:nvPr/>
          </p:nvCxnSpPr>
          <p:spPr>
            <a:xfrm>
              <a:off x="1108581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4" name="Urine_ridge8"/>
            <p:cNvCxnSpPr/>
            <p:nvPr/>
          </p:nvCxnSpPr>
          <p:spPr>
            <a:xfrm>
              <a:off x="1188573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5" name="Urine_ridge9"/>
            <p:cNvCxnSpPr/>
            <p:nvPr/>
          </p:nvCxnSpPr>
          <p:spPr>
            <a:xfrm>
              <a:off x="1268565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6" name="Urine_ridge10"/>
            <p:cNvCxnSpPr/>
            <p:nvPr/>
          </p:nvCxnSpPr>
          <p:spPr>
            <a:xfrm>
              <a:off x="1348557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7" name="Urine_ridge11"/>
            <p:cNvCxnSpPr/>
            <p:nvPr/>
          </p:nvCxnSpPr>
          <p:spPr>
            <a:xfrm>
              <a:off x="1428548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sp>
          <p:nvSpPr>
            <p:cNvPr id="48" name="Urine_label"/>
            <p:cNvSpPr/>
            <p:nvPr/>
          </p:nvSpPr>
          <p:spPr>
            <a:xfrm>
              <a:off x="775776" y="4991892"/>
              <a:ext cx="562904" cy="36539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49" name="Urine_barcode0"/>
            <p:cNvCxnSpPr/>
            <p:nvPr/>
          </p:nvCxnSpPr>
          <p:spPr>
            <a:xfrm>
              <a:off x="864656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0" name="Urine_barcode1"/>
            <p:cNvCxnSpPr/>
            <p:nvPr/>
          </p:nvCxnSpPr>
          <p:spPr>
            <a:xfrm>
              <a:off x="917984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1" name="Urine_barcode2"/>
            <p:cNvCxnSpPr/>
            <p:nvPr/>
          </p:nvCxnSpPr>
          <p:spPr>
            <a:xfrm>
              <a:off x="971312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2" name="Urine_barcode3"/>
            <p:cNvCxnSpPr/>
            <p:nvPr/>
          </p:nvCxnSpPr>
          <p:spPr>
            <a:xfrm>
              <a:off x="1024640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3" name="Urine_barcode4"/>
            <p:cNvCxnSpPr/>
            <p:nvPr/>
          </p:nvCxnSpPr>
          <p:spPr>
            <a:xfrm>
              <a:off x="1077967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4" name="Urine_barcode5"/>
            <p:cNvCxnSpPr/>
            <p:nvPr/>
          </p:nvCxnSpPr>
          <p:spPr>
            <a:xfrm>
              <a:off x="1131295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5" name="Urine_measure0"/>
            <p:cNvCxnSpPr/>
            <p:nvPr/>
          </p:nvCxnSpPr>
          <p:spPr>
            <a:xfrm>
              <a:off x="677021" y="4942514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56" name="Urine_measure1"/>
            <p:cNvCxnSpPr/>
            <p:nvPr/>
          </p:nvCxnSpPr>
          <p:spPr>
            <a:xfrm>
              <a:off x="677021" y="5110398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57" name="Urine_measure2"/>
            <p:cNvCxnSpPr/>
            <p:nvPr/>
          </p:nvCxnSpPr>
          <p:spPr>
            <a:xfrm>
              <a:off x="677021" y="5278282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58" name="Urine_measure3"/>
            <p:cNvCxnSpPr/>
            <p:nvPr/>
          </p:nvCxnSpPr>
          <p:spPr>
            <a:xfrm>
              <a:off x="677021" y="5446166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61" name="Urine_to_ratio"/>
            <p:cNvCxnSpPr/>
            <p:nvPr/>
          </p:nvCxnSpPr>
          <p:spPr>
            <a:xfrm>
              <a:off x="1764792" y="5404104"/>
              <a:ext cx="521208" cy="0"/>
            </a:xfrm>
            <a:prstGeom prst="line">
              <a:avLst/>
            </a:prstGeom>
            <a:ln w="21590">
              <a:solidFill>
                <a:srgbClr val="404040"/>
              </a:solidFill>
              <a:tailEnd type="triangle" w="sm" len="sm"/>
            </a:ln>
            <a:effectLst/>
          </p:spPr>
        </p:cxnSp>
      </p:grpSp>
      <p:sp>
        <p:nvSpPr>
          <p:cNvPr id="73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рСКФ: расчётная скорость клубочковой фильтрации; АКО: отношение альбумина к креатинину мочи.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KDIGO 2024 Clinical Practice Guideline for CKD. Kidney Int. 2024;105(4S):S117–S314. American Diabetes Association Professional Practice Committee. Standards of Care in Diabetes-2026. Diabetes Care. 2026;49(Suppl 1):S246–S260.</a:t>
            </a:r>
          </a:p>
        </p:txBody>
      </p:sp>
      <p:pic>
        <p:nvPicPr>
          <p:cNvPr id="74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Карточка_хроническая"/>
          <p:cNvSpPr/>
          <p:nvPr/>
        </p:nvSpPr>
        <p:spPr>
          <a:xfrm>
            <a:off x="457200" y="4064000"/>
            <a:ext cx="11277600" cy="1441744"/>
          </a:xfrm>
          <a:prstGeom prst="roundRect">
            <a:avLst>
              <a:gd name="adj" fmla="val 704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Карточка_функция"/>
          <p:cNvSpPr/>
          <p:nvPr/>
        </p:nvSpPr>
        <p:spPr>
          <a:xfrm>
            <a:off x="457200" y="1524000"/>
            <a:ext cx="5334000" cy="2235200"/>
          </a:xfrm>
          <a:prstGeom prst="roundRect">
            <a:avLst>
              <a:gd name="adj" fmla="val 37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0" name="Карточка_повреждение"/>
          <p:cNvSpPr/>
          <p:nvPr/>
        </p:nvSpPr>
        <p:spPr>
          <a:xfrm>
            <a:off x="6400800" y="1524000"/>
            <a:ext cx="5334000" cy="2235200"/>
          </a:xfrm>
          <a:prstGeom prst="roundRect">
            <a:avLst>
              <a:gd name="adj" fmla="val 37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5" name="Круг_или"/>
          <p:cNvSpPr/>
          <p:nvPr/>
        </p:nvSpPr>
        <p:spPr>
          <a:xfrm>
            <a:off x="5816600" y="243840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" name="SlideTitle">
            <a:extLst>
              <a:ext uri="{FF2B5EF4-FFF2-40B4-BE49-F238E27FC236}">
                <a16:creationId xmlns:a16="http://schemas.microsoft.com/office/drawing/2014/main" id="{F37E09DA-3F0E-4A7D-ACB3-6AE5F85A4D05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Критерии ХБП: рСКФ &lt;60 мл/мин/1,73 м² или АКО ≥30 мг/г не менее 3 месяцев</a:t>
            </a:r>
          </a:p>
        </p:txBody>
      </p:sp>
      <p:sp>
        <p:nvSpPr>
          <p:cNvPr id="4" name="function-definition">
            <a:extLst>
              <a:ext uri="{FF2B5EF4-FFF2-40B4-BE49-F238E27FC236}">
                <a16:creationId xmlns:a16="http://schemas.microsoft.com/office/drawing/2014/main" id="{ACE45A74-7A10-4E35-9C25-7A16ABD111B6}"/>
              </a:ext>
            </a:extLst>
          </p:cNvPr>
          <p:cNvSpPr>
            <a:spLocks noGrp="1"/>
          </p:cNvSpPr>
          <p:nvPr/>
        </p:nvSpPr>
        <p:spPr>
          <a:xfrm>
            <a:off x="660400" y="1701800"/>
            <a:ext cx="406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Показатель: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расчётная скорость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клубочковой фильтрации (рСКФ)</a:t>
            </a:r>
          </a:p>
        </p:txBody>
      </p:sp>
      <p:sp>
        <p:nvSpPr>
          <p:cNvPr id="5" name="function-threshold">
            <a:extLst>
              <a:ext uri="{FF2B5EF4-FFF2-40B4-BE49-F238E27FC236}">
                <a16:creationId xmlns:a16="http://schemas.microsoft.com/office/drawing/2014/main" id="{0006504D-A6D2-4827-9FF8-6C7342AB7AD7}"/>
              </a:ext>
            </a:extLst>
          </p:cNvPr>
          <p:cNvSpPr>
            <a:spLocks noGrp="1"/>
          </p:cNvSpPr>
          <p:nvPr/>
        </p:nvSpPr>
        <p:spPr>
          <a:xfrm>
            <a:off x="660400" y="2413000"/>
            <a:ext cx="406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C71A4"/>
                </a:solidFill>
                <a:latin typeface="Arial Narrow"/>
                <a:ea typeface="Calibri"/>
                <a:cs typeface="Arial Narrow"/>
              </a:rPr>
              <a:t>Критерий ХБП: &lt;60 мл/мин/1,73 м²</a:t>
            </a:r>
          </a:p>
        </p:txBody>
      </p:sp>
      <p:sp>
        <p:nvSpPr>
          <p:cNvPr id="6" name="function-detail">
            <a:extLst>
              <a:ext uri="{FF2B5EF4-FFF2-40B4-BE49-F238E27FC236}">
                <a16:creationId xmlns:a16="http://schemas.microsoft.com/office/drawing/2014/main" id="{7CA19F02-C03C-4085-A5A3-4BB18FC1A27F}"/>
              </a:ext>
            </a:extLst>
          </p:cNvPr>
          <p:cNvSpPr>
            <a:spLocks noGrp="1"/>
          </p:cNvSpPr>
          <p:nvPr/>
        </p:nvSpPr>
        <p:spPr>
          <a:xfrm>
            <a:off x="660400" y="2997200"/>
            <a:ext cx="4064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Снижение фильтрации относится к критериям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хронической болезни почек.</a:t>
            </a:r>
          </a:p>
        </p:txBody>
      </p:sp>
      <p:sp>
        <p:nvSpPr>
          <p:cNvPr id="8" name="damage-definition">
            <a:extLst>
              <a:ext uri="{FF2B5EF4-FFF2-40B4-BE49-F238E27FC236}">
                <a16:creationId xmlns:a16="http://schemas.microsoft.com/office/drawing/2014/main" id="{39B4F330-E641-4EB6-B91C-B379C0A3ECE0}"/>
              </a:ext>
            </a:extLst>
          </p:cNvPr>
          <p:cNvSpPr>
            <a:spLocks noGrp="1"/>
          </p:cNvSpPr>
          <p:nvPr/>
        </p:nvSpPr>
        <p:spPr>
          <a:xfrm>
            <a:off x="6604000" y="1701800"/>
            <a:ext cx="406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Показатель: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отношение альбумина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 креатинину мочи (АКО)</a:t>
            </a:r>
          </a:p>
        </p:txBody>
      </p:sp>
      <p:sp>
        <p:nvSpPr>
          <p:cNvPr id="9" name="damage-threshold">
            <a:extLst>
              <a:ext uri="{FF2B5EF4-FFF2-40B4-BE49-F238E27FC236}">
                <a16:creationId xmlns:a16="http://schemas.microsoft.com/office/drawing/2014/main" id="{6631CADD-FE19-469E-AD44-7E1C927898A0}"/>
              </a:ext>
            </a:extLst>
          </p:cNvPr>
          <p:cNvSpPr>
            <a:spLocks noGrp="1"/>
          </p:cNvSpPr>
          <p:nvPr/>
        </p:nvSpPr>
        <p:spPr>
          <a:xfrm>
            <a:off x="6604000" y="2413000"/>
            <a:ext cx="406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B5323C"/>
                </a:solidFill>
                <a:latin typeface="Arial Narrow"/>
                <a:ea typeface="Calibri"/>
                <a:cs typeface="Arial Narrow"/>
              </a:rPr>
              <a:t>Критерий ХБП: ≥30 мг/г</a:t>
            </a:r>
          </a:p>
        </p:txBody>
      </p:sp>
      <p:sp>
        <p:nvSpPr>
          <p:cNvPr id="10" name="damage-detail">
            <a:extLst>
              <a:ext uri="{FF2B5EF4-FFF2-40B4-BE49-F238E27FC236}">
                <a16:creationId xmlns:a16="http://schemas.microsoft.com/office/drawing/2014/main" id="{B910AA36-4473-4D5C-8109-44CC2D72B30C}"/>
              </a:ext>
            </a:extLst>
          </p:cNvPr>
          <p:cNvSpPr>
            <a:spLocks noGrp="1"/>
          </p:cNvSpPr>
          <p:nvPr/>
        </p:nvSpPr>
        <p:spPr>
          <a:xfrm>
            <a:off x="6604000" y="2997200"/>
            <a:ext cx="4064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Повышенная потеря альбумина с мочой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называется альбуминурией.</a:t>
            </a:r>
          </a:p>
        </p:txBody>
      </p:sp>
      <p:sp>
        <p:nvSpPr>
          <p:cNvPr id="12" name="chronicity">
            <a:extLst>
              <a:ext uri="{FF2B5EF4-FFF2-40B4-BE49-F238E27FC236}">
                <a16:creationId xmlns:a16="http://schemas.microsoft.com/office/drawing/2014/main" id="{A7A03284-70F1-4855-B22C-28EA435F2238}"/>
              </a:ext>
            </a:extLst>
          </p:cNvPr>
          <p:cNvSpPr>
            <a:spLocks noGrp="1"/>
          </p:cNvSpPr>
          <p:nvPr/>
        </p:nvSpPr>
        <p:spPr>
          <a:xfrm>
            <a:off x="660400" y="4241800"/>
            <a:ext cx="10871200" cy="466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Болезнь почек считают хронической, если изменения сохраняются </a:t>
            </a: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не менее 3 месяцев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Достаточно </a:t>
            </a: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одного критерия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: сниженной рСКФ или маркера повреждения почек.</a:t>
            </a:r>
          </a:p>
        </p:txBody>
      </p:sp>
      <p:sp>
        <p:nvSpPr>
          <p:cNvPr id="13" name="transient">
            <a:extLst>
              <a:ext uri="{FF2B5EF4-FFF2-40B4-BE49-F238E27FC236}">
                <a16:creationId xmlns:a16="http://schemas.microsoft.com/office/drawing/2014/main" id="{AD8440F1-216F-4957-8A2C-D68CA2A26521}"/>
              </a:ext>
            </a:extLst>
          </p:cNvPr>
          <p:cNvSpPr>
            <a:spLocks noGrp="1"/>
          </p:cNvSpPr>
          <p:nvPr/>
        </p:nvSpPr>
        <p:spPr>
          <a:xfrm>
            <a:off x="660400" y="4861072"/>
            <a:ext cx="10871200" cy="466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Сохранная рСКФ не исключает болезнь почек. Повышенную альбуминурию подтверждают повторным анализом и исключают временные причины, например инфекцию.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/>
            </a:r>
          </a:p>
        </p:txBody>
      </p:sp>
      <p:sp>
        <p:nvSpPr>
          <p:cNvPr id="18" name="Логическая связка критериев 18"/>
          <p:cNvSpPr txBox="1"/>
          <p:nvPr/>
        </p:nvSpPr>
        <p:spPr>
          <a:xfrm>
            <a:off x="5765800" y="2540000"/>
            <a:ext cx="660400" cy="355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или</a:t>
            </a:r>
          </a:p>
        </p:txBody>
      </p:sp>
      <p:sp>
        <p:nvSpPr>
          <p:cNvPr id="21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АКО: отношение альбумина к креатинину мочи.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KDIGO 2024 Clinical Practice Guideline for CKD. Kidney Int. 2024;105(4S):S117–S314.</a:t>
            </a:r>
          </a:p>
        </p:txBody>
      </p:sp>
      <p:pic>
        <p:nvPicPr>
          <p:cNvPr id="22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23" name="Плашка_функция"/>
          <p:cNvSpPr/>
          <p:nvPr/>
        </p:nvSpPr>
        <p:spPr>
          <a:xfrm>
            <a:off x="457200" y="1092200"/>
            <a:ext cx="5334000" cy="381000"/>
          </a:xfrm>
          <a:prstGeom prst="roundRect">
            <a:avLst>
              <a:gd name="adj" fmla="val 25000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Функция почек</a:t>
            </a:r>
          </a:p>
        </p:txBody>
      </p:sp>
      <p:sp>
        <p:nvSpPr>
          <p:cNvPr id="24" name="Плашка_повреждение"/>
          <p:cNvSpPr/>
          <p:nvPr/>
        </p:nvSpPr>
        <p:spPr>
          <a:xfrm>
            <a:off x="6400800" y="1092200"/>
            <a:ext cx="5334000" cy="381000"/>
          </a:xfrm>
          <a:prstGeom prst="roundRect">
            <a:avLst>
              <a:gd name="adj" fmla="val 25000"/>
            </a:avLst>
          </a:prstGeom>
          <a:solidFill>
            <a:srgbClr val="B5323C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Повреждение почек</a:t>
            </a:r>
          </a:p>
        </p:txBody>
      </p:sp>
      <p:grpSp>
        <p:nvGrpSpPr>
          <p:cNvPr id="27" name="Blood_illustration_editable"/>
          <p:cNvGrpSpPr/>
          <p:nvPr/>
        </p:nvGrpSpPr>
        <p:grpSpPr>
          <a:xfrm>
            <a:off x="4978400" y="1930400"/>
            <a:ext cx="1245638" cy="1422400"/>
            <a:chOff x="749808" y="1399032"/>
            <a:chExt cx="1536192" cy="1754184"/>
          </a:xfrm>
        </p:grpSpPr>
        <p:sp>
          <p:nvSpPr>
            <p:cNvPr id="28" name="Blood_glass"/>
            <p:cNvSpPr/>
            <p:nvPr/>
          </p:nvSpPr>
          <p:spPr>
            <a:xfrm>
              <a:off x="839510" y="1648206"/>
              <a:ext cx="468447" cy="1505010"/>
            </a:xfrm>
            <a:prstGeom prst="roundRect">
              <a:avLst>
                <a:gd name="adj" fmla="val 32000"/>
              </a:avLst>
            </a:prstGeom>
            <a:solidFill>
              <a:srgbClr val="EEF5F8"/>
            </a:solidFill>
            <a:ln w="12700">
              <a:solidFill>
                <a:srgbClr val="9BADB9"/>
              </a:solidFill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" name="Blood_blood"/>
            <p:cNvSpPr/>
            <p:nvPr/>
          </p:nvSpPr>
          <p:spPr>
            <a:xfrm>
              <a:off x="889345" y="2355860"/>
              <a:ext cx="368777" cy="687720"/>
            </a:xfrm>
            <a:prstGeom prst="roundRect">
              <a:avLst>
                <a:gd name="adj" fmla="val 32000"/>
              </a:avLst>
            </a:prstGeom>
            <a:solidFill>
              <a:srgbClr val="A6324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" name="Blood_liquid_top"/>
            <p:cNvSpPr/>
            <p:nvPr/>
          </p:nvSpPr>
          <p:spPr>
            <a:xfrm>
              <a:off x="889345" y="2315992"/>
              <a:ext cx="368777" cy="348843"/>
            </a:xfrm>
            <a:prstGeom prst="rect">
              <a:avLst/>
            </a:prstGeom>
            <a:solidFill>
              <a:srgbClr val="A6324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" name="Blood_blood_surface"/>
            <p:cNvSpPr/>
            <p:nvPr/>
          </p:nvSpPr>
          <p:spPr>
            <a:xfrm>
              <a:off x="889345" y="2276124"/>
              <a:ext cx="368777" cy="109636"/>
            </a:xfrm>
            <a:prstGeom prst="ellipse">
              <a:avLst/>
            </a:prstGeom>
            <a:solidFill>
              <a:srgbClr val="CA64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" name="Blood_label"/>
            <p:cNvSpPr/>
            <p:nvPr/>
          </p:nvSpPr>
          <p:spPr>
            <a:xfrm>
              <a:off x="859444" y="1947214"/>
              <a:ext cx="428579" cy="3488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33" name="Blood_barcode0"/>
            <p:cNvCxnSpPr/>
            <p:nvPr/>
          </p:nvCxnSpPr>
          <p:spPr>
            <a:xfrm>
              <a:off x="919246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4" name="Blood_barcode1"/>
            <p:cNvCxnSpPr/>
            <p:nvPr/>
          </p:nvCxnSpPr>
          <p:spPr>
            <a:xfrm>
              <a:off x="954130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5" name="Blood_barcode2"/>
            <p:cNvCxnSpPr/>
            <p:nvPr/>
          </p:nvCxnSpPr>
          <p:spPr>
            <a:xfrm>
              <a:off x="989015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6" name="Blood_barcode3"/>
            <p:cNvCxnSpPr/>
            <p:nvPr/>
          </p:nvCxnSpPr>
          <p:spPr>
            <a:xfrm>
              <a:off x="1023899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7" name="Blood_barcode4"/>
            <p:cNvCxnSpPr/>
            <p:nvPr/>
          </p:nvCxnSpPr>
          <p:spPr>
            <a:xfrm>
              <a:off x="1058783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8" name="Blood_barcode5"/>
            <p:cNvCxnSpPr/>
            <p:nvPr/>
          </p:nvCxnSpPr>
          <p:spPr>
            <a:xfrm>
              <a:off x="1093668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9" name="Blood_barcode6"/>
            <p:cNvCxnSpPr/>
            <p:nvPr/>
          </p:nvCxnSpPr>
          <p:spPr>
            <a:xfrm>
              <a:off x="1128552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40" name="Blood_barcode7"/>
            <p:cNvCxnSpPr/>
            <p:nvPr/>
          </p:nvCxnSpPr>
          <p:spPr>
            <a:xfrm>
              <a:off x="1163436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sp>
          <p:nvSpPr>
            <p:cNvPr id="41" name="Blood_cap"/>
            <p:cNvSpPr/>
            <p:nvPr/>
          </p:nvSpPr>
          <p:spPr>
            <a:xfrm>
              <a:off x="749808" y="1399032"/>
              <a:ext cx="647852" cy="328909"/>
            </a:xfrm>
            <a:prstGeom prst="roundRect">
              <a:avLst/>
            </a:prstGeom>
            <a:solidFill>
              <a:srgbClr val="16324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42" name="Blood_ridge1"/>
            <p:cNvCxnSpPr/>
            <p:nvPr/>
          </p:nvCxnSpPr>
          <p:spPr>
            <a:xfrm>
              <a:off x="827550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3" name="Blood_ridge2"/>
            <p:cNvCxnSpPr/>
            <p:nvPr/>
          </p:nvCxnSpPr>
          <p:spPr>
            <a:xfrm>
              <a:off x="905292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4" name="Blood_ridge3"/>
            <p:cNvCxnSpPr/>
            <p:nvPr/>
          </p:nvCxnSpPr>
          <p:spPr>
            <a:xfrm>
              <a:off x="983034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5" name="Blood_ridge4"/>
            <p:cNvCxnSpPr/>
            <p:nvPr/>
          </p:nvCxnSpPr>
          <p:spPr>
            <a:xfrm>
              <a:off x="1060777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6" name="Blood_ridge5"/>
            <p:cNvCxnSpPr/>
            <p:nvPr/>
          </p:nvCxnSpPr>
          <p:spPr>
            <a:xfrm>
              <a:off x="1138519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7" name="Blood_ridge6"/>
            <p:cNvCxnSpPr/>
            <p:nvPr/>
          </p:nvCxnSpPr>
          <p:spPr>
            <a:xfrm>
              <a:off x="1216261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8" name="Blood_ridge7"/>
            <p:cNvCxnSpPr/>
            <p:nvPr/>
          </p:nvCxnSpPr>
          <p:spPr>
            <a:xfrm>
              <a:off x="1294004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9" name="Blood_shine"/>
            <p:cNvCxnSpPr/>
            <p:nvPr/>
          </p:nvCxnSpPr>
          <p:spPr>
            <a:xfrm>
              <a:off x="949147" y="1757842"/>
              <a:ext cx="0" cy="159471"/>
            </a:xfrm>
            <a:prstGeom prst="line">
              <a:avLst/>
            </a:prstGeom>
            <a:ln w="19050">
              <a:solidFill>
                <a:srgbClr val="FFFFFF"/>
              </a:solidFill>
            </a:ln>
            <a:effectLst/>
          </p:spPr>
        </p:cxnSp>
      </p:grpSp>
      <p:grpSp>
        <p:nvGrpSpPr>
          <p:cNvPr id="50" name="Urine_illustration_editable"/>
          <p:cNvGrpSpPr/>
          <p:nvPr/>
        </p:nvGrpSpPr>
        <p:grpSpPr>
          <a:xfrm>
            <a:off x="10490200" y="2108200"/>
            <a:ext cx="1432452" cy="1066800"/>
            <a:chOff x="548640" y="4507992"/>
            <a:chExt cx="1737360" cy="1293876"/>
          </a:xfrm>
        </p:grpSpPr>
        <p:sp>
          <p:nvSpPr>
            <p:cNvPr id="51" name="Urine_cup"/>
            <p:cNvSpPr/>
            <p:nvPr/>
          </p:nvSpPr>
          <p:spPr>
            <a:xfrm>
              <a:off x="598018" y="4734763"/>
              <a:ext cx="918058" cy="1067105"/>
            </a:xfrm>
            <a:custGeom>
              <a:avLst/>
              <a:gdLst/>
              <a:ahLst/>
              <a:cxnLst/>
              <a:rect l="l" t="t" r="r" b="b"/>
              <a:pathLst>
                <a:path w="1004" h="1167">
                  <a:moveTo>
                    <a:pt x="0" y="0"/>
                  </a:moveTo>
                  <a:lnTo>
                    <a:pt x="1004" y="0"/>
                  </a:lnTo>
                  <a:lnTo>
                    <a:pt x="875" y="1167"/>
                  </a:lnTo>
                  <a:lnTo>
                    <a:pt x="130" y="1167"/>
                  </a:lnTo>
                  <a:close/>
                </a:path>
              </a:pathLst>
            </a:custGeom>
            <a:solidFill>
              <a:srgbClr val="EEF5F8"/>
            </a:solidFill>
            <a:ln w="12700">
              <a:solidFill>
                <a:srgbClr val="9BADB9"/>
              </a:solidFill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" name="Urine_urine"/>
            <p:cNvSpPr/>
            <p:nvPr/>
          </p:nvSpPr>
          <p:spPr>
            <a:xfrm>
              <a:off x="667512" y="5189220"/>
              <a:ext cx="779983" cy="533095"/>
            </a:xfrm>
            <a:custGeom>
              <a:avLst/>
              <a:gdLst/>
              <a:ahLst/>
              <a:cxnLst/>
              <a:rect l="l" t="t" r="r" b="b"/>
              <a:pathLst>
                <a:path w="853" h="583">
                  <a:moveTo>
                    <a:pt x="0" y="0"/>
                  </a:moveTo>
                  <a:lnTo>
                    <a:pt x="853" y="0"/>
                  </a:lnTo>
                  <a:lnTo>
                    <a:pt x="788" y="583"/>
                  </a:lnTo>
                  <a:lnTo>
                    <a:pt x="64" y="583"/>
                  </a:lnTo>
                  <a:close/>
                </a:path>
              </a:pathLst>
            </a:custGeom>
            <a:solidFill>
              <a:srgbClr val="FFF2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" name="Urine_surface"/>
            <p:cNvSpPr/>
            <p:nvPr/>
          </p:nvSpPr>
          <p:spPr>
            <a:xfrm>
              <a:off x="667146" y="5149900"/>
              <a:ext cx="780166" cy="128381"/>
            </a:xfrm>
            <a:prstGeom prst="ellipse">
              <a:avLst/>
            </a:prstGeom>
            <a:solidFill>
              <a:srgbClr val="EBC96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" name="Urine_lid"/>
            <p:cNvSpPr/>
            <p:nvPr/>
          </p:nvSpPr>
          <p:spPr>
            <a:xfrm>
              <a:off x="548640" y="4507992"/>
              <a:ext cx="1017178" cy="296265"/>
            </a:xfrm>
            <a:prstGeom prst="roundRect">
              <a:avLst/>
            </a:prstGeom>
            <a:solidFill>
              <a:srgbClr val="C8104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55" name="Urine_ridge1"/>
            <p:cNvCxnSpPr/>
            <p:nvPr/>
          </p:nvCxnSpPr>
          <p:spPr>
            <a:xfrm>
              <a:off x="628631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56" name="Urine_ridge2"/>
            <p:cNvCxnSpPr/>
            <p:nvPr/>
          </p:nvCxnSpPr>
          <p:spPr>
            <a:xfrm>
              <a:off x="708623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57" name="Urine_ridge3"/>
            <p:cNvCxnSpPr/>
            <p:nvPr/>
          </p:nvCxnSpPr>
          <p:spPr>
            <a:xfrm>
              <a:off x="788615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58" name="Urine_ridge4"/>
            <p:cNvCxnSpPr/>
            <p:nvPr/>
          </p:nvCxnSpPr>
          <p:spPr>
            <a:xfrm>
              <a:off x="868606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59" name="Urine_ridge5"/>
            <p:cNvCxnSpPr/>
            <p:nvPr/>
          </p:nvCxnSpPr>
          <p:spPr>
            <a:xfrm>
              <a:off x="948598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0" name="Urine_ridge6"/>
            <p:cNvCxnSpPr/>
            <p:nvPr/>
          </p:nvCxnSpPr>
          <p:spPr>
            <a:xfrm>
              <a:off x="1028590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1" name="Urine_ridge7"/>
            <p:cNvCxnSpPr/>
            <p:nvPr/>
          </p:nvCxnSpPr>
          <p:spPr>
            <a:xfrm>
              <a:off x="1108581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2" name="Urine_ridge8"/>
            <p:cNvCxnSpPr/>
            <p:nvPr/>
          </p:nvCxnSpPr>
          <p:spPr>
            <a:xfrm>
              <a:off x="1188573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3" name="Urine_ridge9"/>
            <p:cNvCxnSpPr/>
            <p:nvPr/>
          </p:nvCxnSpPr>
          <p:spPr>
            <a:xfrm>
              <a:off x="1268565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4" name="Urine_ridge10"/>
            <p:cNvCxnSpPr/>
            <p:nvPr/>
          </p:nvCxnSpPr>
          <p:spPr>
            <a:xfrm>
              <a:off x="1348557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5" name="Urine_ridge11"/>
            <p:cNvCxnSpPr/>
            <p:nvPr/>
          </p:nvCxnSpPr>
          <p:spPr>
            <a:xfrm>
              <a:off x="1428548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sp>
          <p:nvSpPr>
            <p:cNvPr id="66" name="Urine_label"/>
            <p:cNvSpPr/>
            <p:nvPr/>
          </p:nvSpPr>
          <p:spPr>
            <a:xfrm>
              <a:off x="775776" y="4991892"/>
              <a:ext cx="562904" cy="36539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67" name="Urine_barcode0"/>
            <p:cNvCxnSpPr/>
            <p:nvPr/>
          </p:nvCxnSpPr>
          <p:spPr>
            <a:xfrm>
              <a:off x="864656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68" name="Urine_barcode1"/>
            <p:cNvCxnSpPr/>
            <p:nvPr/>
          </p:nvCxnSpPr>
          <p:spPr>
            <a:xfrm>
              <a:off x="917984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69" name="Urine_barcode2"/>
            <p:cNvCxnSpPr/>
            <p:nvPr/>
          </p:nvCxnSpPr>
          <p:spPr>
            <a:xfrm>
              <a:off x="971312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70" name="Urine_barcode3"/>
            <p:cNvCxnSpPr/>
            <p:nvPr/>
          </p:nvCxnSpPr>
          <p:spPr>
            <a:xfrm>
              <a:off x="1024640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71" name="Urine_barcode4"/>
            <p:cNvCxnSpPr/>
            <p:nvPr/>
          </p:nvCxnSpPr>
          <p:spPr>
            <a:xfrm>
              <a:off x="1077967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72" name="Urine_barcode5"/>
            <p:cNvCxnSpPr/>
            <p:nvPr/>
          </p:nvCxnSpPr>
          <p:spPr>
            <a:xfrm>
              <a:off x="1131295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73" name="Urine_measure0"/>
            <p:cNvCxnSpPr/>
            <p:nvPr/>
          </p:nvCxnSpPr>
          <p:spPr>
            <a:xfrm>
              <a:off x="677021" y="4942514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74" name="Urine_measure1"/>
            <p:cNvCxnSpPr/>
            <p:nvPr/>
          </p:nvCxnSpPr>
          <p:spPr>
            <a:xfrm>
              <a:off x="677021" y="5110398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75" name="Urine_measure2"/>
            <p:cNvCxnSpPr/>
            <p:nvPr/>
          </p:nvCxnSpPr>
          <p:spPr>
            <a:xfrm>
              <a:off x="677021" y="5278282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76" name="Urine_measure3"/>
            <p:cNvCxnSpPr/>
            <p:nvPr/>
          </p:nvCxnSpPr>
          <p:spPr>
            <a:xfrm>
              <a:off x="677021" y="5446166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882790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Карточка_пример"/>
          <p:cNvSpPr/>
          <p:nvPr/>
        </p:nvSpPr>
        <p:spPr>
          <a:xfrm>
            <a:off x="457200" y="2362200"/>
            <a:ext cx="2387600" cy="1720784"/>
          </a:xfrm>
          <a:prstGeom prst="roundRect">
            <a:avLst>
              <a:gd name="adj" fmla="val 579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Шапка_рСКФ"/>
          <p:cNvSpPr/>
          <p:nvPr/>
        </p:nvSpPr>
        <p:spPr>
          <a:xfrm>
            <a:off x="2946400" y="1092200"/>
            <a:ext cx="1524000" cy="711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6" name="Шапка_A1"/>
          <p:cNvSpPr/>
          <p:nvPr/>
        </p:nvSpPr>
        <p:spPr>
          <a:xfrm>
            <a:off x="4521200" y="1092200"/>
            <a:ext cx="2387600" cy="711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7" name="Шапка_A2"/>
          <p:cNvSpPr/>
          <p:nvPr/>
        </p:nvSpPr>
        <p:spPr>
          <a:xfrm>
            <a:off x="6934200" y="1092200"/>
            <a:ext cx="2387600" cy="711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Шапка_A3"/>
          <p:cNvSpPr/>
          <p:nvPr/>
        </p:nvSpPr>
        <p:spPr>
          <a:xfrm>
            <a:off x="9347200" y="1092200"/>
            <a:ext cx="2387600" cy="711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Шапка_G1"/>
          <p:cNvSpPr/>
          <p:nvPr/>
        </p:nvSpPr>
        <p:spPr>
          <a:xfrm>
            <a:off x="2946400" y="1854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Шапка_G2"/>
          <p:cNvSpPr/>
          <p:nvPr/>
        </p:nvSpPr>
        <p:spPr>
          <a:xfrm>
            <a:off x="2946400" y="2489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1" name="Шапка_G3"/>
          <p:cNvSpPr/>
          <p:nvPr/>
        </p:nvSpPr>
        <p:spPr>
          <a:xfrm>
            <a:off x="2946400" y="3124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Шапка_G4"/>
          <p:cNvSpPr/>
          <p:nvPr/>
        </p:nvSpPr>
        <p:spPr>
          <a:xfrm>
            <a:off x="2946400" y="3759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3" name="Шапка_G5"/>
          <p:cNvSpPr/>
          <p:nvPr/>
        </p:nvSpPr>
        <p:spPr>
          <a:xfrm>
            <a:off x="2946400" y="4394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4" name="Шапка_G6"/>
          <p:cNvSpPr/>
          <p:nvPr/>
        </p:nvSpPr>
        <p:spPr>
          <a:xfrm>
            <a:off x="2946400" y="5029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" name="Main_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>
                <a:solidFill>
                  <a:srgbClr val="7030A0"/>
                </a:solidFill>
                <a:latin typeface="Arial Narrow"/>
                <a:cs typeface="Arial Narrow"/>
              </a:rPr>
              <a:t>При одинаковой рСКФ более высокая альбуминурия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>
                <a:solidFill>
                  <a:srgbClr val="7030A0"/>
                </a:solidFill>
                <a:latin typeface="Arial Narrow"/>
                <a:cs typeface="Arial Narrow"/>
              </a:rPr>
              <a:t>может означать более высокий риск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2946400" y="1092200"/>
            <a:ext cx="1524000" cy="711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700" b="1" u="none">
                <a:solidFill>
                  <a:srgbClr val="000000"/>
                </a:solidFill>
                <a:latin typeface="Arial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рСКФ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700" b="1" u="none">
                <a:solidFill>
                  <a:srgbClr val="000000"/>
                </a:solidFill>
                <a:latin typeface="Arial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мл/мин/1,73 м²</a:t>
            </a:r>
          </a:p>
        </p:txBody>
      </p:sp>
      <p:sp>
        <p:nvSpPr>
          <p:cNvPr id="6" name="Text_5"/>
          <p:cNvSpPr txBox="1"/>
          <p:nvPr/>
        </p:nvSpPr>
        <p:spPr>
          <a:xfrm>
            <a:off x="4521200" y="1092200"/>
            <a:ext cx="2387600" cy="711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АКО &lt;30 мг/г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A1</a:t>
            </a:r>
          </a:p>
        </p:txBody>
      </p:sp>
      <p:sp>
        <p:nvSpPr>
          <p:cNvPr id="7" name="Text_6"/>
          <p:cNvSpPr txBox="1"/>
          <p:nvPr/>
        </p:nvSpPr>
        <p:spPr>
          <a:xfrm>
            <a:off x="6934200" y="1092200"/>
            <a:ext cx="2387600" cy="711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АКО 30–300 мг/г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A2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9347200" y="1092200"/>
            <a:ext cx="2387600" cy="711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АКО &gt;300 мг/г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A3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2946400" y="1854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G1 ≥90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1200" y="1854200"/>
            <a:ext cx="2387600" cy="584200"/>
          </a:xfrm>
          <a:prstGeom prst="rect">
            <a:avLst/>
          </a:prstGeom>
          <a:solidFill>
            <a:srgbClr val="8C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1" name="Text_10"/>
          <p:cNvSpPr txBox="1"/>
          <p:nvPr/>
        </p:nvSpPr>
        <p:spPr>
          <a:xfrm>
            <a:off x="4521200" y="1854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Низкий*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34200" y="1854200"/>
            <a:ext cx="2387600" cy="584200"/>
          </a:xfrm>
          <a:prstGeom prst="rect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3" name="Text_12"/>
          <p:cNvSpPr txBox="1"/>
          <p:nvPr/>
        </p:nvSpPr>
        <p:spPr>
          <a:xfrm>
            <a:off x="6934200" y="1854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42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Умеренно повышенный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47200" y="1854200"/>
            <a:ext cx="2387600" cy="584200"/>
          </a:xfrm>
          <a:prstGeom prst="rect">
            <a:avLst/>
          </a:prstGeom>
          <a:solidFill>
            <a:srgbClr val="F7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5" name="Text_14"/>
          <p:cNvSpPr txBox="1"/>
          <p:nvPr/>
        </p:nvSpPr>
        <p:spPr>
          <a:xfrm>
            <a:off x="9347200" y="1854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Высокий</a:t>
            </a:r>
          </a:p>
        </p:txBody>
      </p:sp>
      <p:sp>
        <p:nvSpPr>
          <p:cNvPr id="16" name="Text_15"/>
          <p:cNvSpPr txBox="1"/>
          <p:nvPr/>
        </p:nvSpPr>
        <p:spPr>
          <a:xfrm>
            <a:off x="2946400" y="2489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G2 60–89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1200" y="2489200"/>
            <a:ext cx="2387600" cy="584200"/>
          </a:xfrm>
          <a:prstGeom prst="rect">
            <a:avLst/>
          </a:prstGeom>
          <a:solidFill>
            <a:srgbClr val="8C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8" name="Text_17"/>
          <p:cNvSpPr txBox="1"/>
          <p:nvPr/>
        </p:nvSpPr>
        <p:spPr>
          <a:xfrm>
            <a:off x="4521200" y="2489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Низкий*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34200" y="2489200"/>
            <a:ext cx="2387600" cy="584200"/>
          </a:xfrm>
          <a:prstGeom prst="rect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0" name="Text_19"/>
          <p:cNvSpPr txBox="1"/>
          <p:nvPr/>
        </p:nvSpPr>
        <p:spPr>
          <a:xfrm>
            <a:off x="6934200" y="2489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42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Умеренно повышенный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47200" y="2489200"/>
            <a:ext cx="2387600" cy="584200"/>
          </a:xfrm>
          <a:prstGeom prst="rect">
            <a:avLst/>
          </a:prstGeom>
          <a:solidFill>
            <a:srgbClr val="F7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2" name="Text_21"/>
          <p:cNvSpPr txBox="1"/>
          <p:nvPr/>
        </p:nvSpPr>
        <p:spPr>
          <a:xfrm>
            <a:off x="9347200" y="2489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Высокий</a:t>
            </a:r>
          </a:p>
        </p:txBody>
      </p:sp>
      <p:sp>
        <p:nvSpPr>
          <p:cNvPr id="23" name="Text_22"/>
          <p:cNvSpPr txBox="1"/>
          <p:nvPr/>
        </p:nvSpPr>
        <p:spPr>
          <a:xfrm>
            <a:off x="2946400" y="3124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G3a 45–59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1200" y="3124200"/>
            <a:ext cx="2387600" cy="584200"/>
          </a:xfrm>
          <a:prstGeom prst="rect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5" name="Text_24"/>
          <p:cNvSpPr txBox="1"/>
          <p:nvPr/>
        </p:nvSpPr>
        <p:spPr>
          <a:xfrm>
            <a:off x="4521200" y="3124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42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Умеренно повышенный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34200" y="3124200"/>
            <a:ext cx="2387600" cy="584200"/>
          </a:xfrm>
          <a:prstGeom prst="rect">
            <a:avLst/>
          </a:prstGeom>
          <a:solidFill>
            <a:srgbClr val="F7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" name="Text_26"/>
          <p:cNvSpPr txBox="1"/>
          <p:nvPr/>
        </p:nvSpPr>
        <p:spPr>
          <a:xfrm>
            <a:off x="6934200" y="3124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Высокий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47200" y="3124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" name="Text_28"/>
          <p:cNvSpPr txBox="1"/>
          <p:nvPr/>
        </p:nvSpPr>
        <p:spPr>
          <a:xfrm>
            <a:off x="9347200" y="3124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30" name="Text_29"/>
          <p:cNvSpPr txBox="1"/>
          <p:nvPr/>
        </p:nvSpPr>
        <p:spPr>
          <a:xfrm>
            <a:off x="2946400" y="3759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G3b 30–44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1200" y="3759200"/>
            <a:ext cx="2387600" cy="584200"/>
          </a:xfrm>
          <a:prstGeom prst="rect">
            <a:avLst/>
          </a:prstGeom>
          <a:solidFill>
            <a:srgbClr val="F7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" name="Text_31"/>
          <p:cNvSpPr txBox="1"/>
          <p:nvPr/>
        </p:nvSpPr>
        <p:spPr>
          <a:xfrm>
            <a:off x="4521200" y="3759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Высокий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34200" y="3759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4" name="Text_33"/>
          <p:cNvSpPr txBox="1"/>
          <p:nvPr/>
        </p:nvSpPr>
        <p:spPr>
          <a:xfrm>
            <a:off x="6934200" y="3759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47200" y="3759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6" name="Text_35"/>
          <p:cNvSpPr txBox="1"/>
          <p:nvPr/>
        </p:nvSpPr>
        <p:spPr>
          <a:xfrm>
            <a:off x="9347200" y="3759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37" name="Text_36"/>
          <p:cNvSpPr txBox="1"/>
          <p:nvPr/>
        </p:nvSpPr>
        <p:spPr>
          <a:xfrm>
            <a:off x="2946400" y="4394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G4 15–29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21200" y="4394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9" name="Text_38"/>
          <p:cNvSpPr txBox="1"/>
          <p:nvPr/>
        </p:nvSpPr>
        <p:spPr>
          <a:xfrm>
            <a:off x="4521200" y="4394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34200" y="4394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1" name="Text_40"/>
          <p:cNvSpPr txBox="1"/>
          <p:nvPr/>
        </p:nvSpPr>
        <p:spPr>
          <a:xfrm>
            <a:off x="6934200" y="4394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47200" y="4394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3" name="Text_42"/>
          <p:cNvSpPr txBox="1"/>
          <p:nvPr/>
        </p:nvSpPr>
        <p:spPr>
          <a:xfrm>
            <a:off x="9347200" y="4394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4" name="Text_43"/>
          <p:cNvSpPr txBox="1"/>
          <p:nvPr/>
        </p:nvSpPr>
        <p:spPr>
          <a:xfrm>
            <a:off x="2946400" y="5029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G5 &lt;15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21200" y="5029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6" name="Text_45"/>
          <p:cNvSpPr txBox="1"/>
          <p:nvPr/>
        </p:nvSpPr>
        <p:spPr>
          <a:xfrm>
            <a:off x="4521200" y="5029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34200" y="5029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8" name="Text_47"/>
          <p:cNvSpPr txBox="1"/>
          <p:nvPr/>
        </p:nvSpPr>
        <p:spPr>
          <a:xfrm>
            <a:off x="6934200" y="5029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47200" y="5029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0" name="Text_49"/>
          <p:cNvSpPr txBox="1"/>
          <p:nvPr/>
        </p:nvSpPr>
        <p:spPr>
          <a:xfrm>
            <a:off x="9347200" y="5029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51" name="Text_50"/>
          <p:cNvSpPr txBox="1"/>
          <p:nvPr/>
        </p:nvSpPr>
        <p:spPr>
          <a:xfrm>
            <a:off x="558800" y="2514600"/>
            <a:ext cx="2260600" cy="1441384"/>
          </a:xfrm>
          <a:prstGeom prst="rect">
            <a:avLst/>
          </a:prstGeom>
          <a:noFill/>
        </p:spPr>
        <p:txBody>
          <a:bodyPr wrap="square" lIns="0" tIns="10972" rIns="0" bIns="1097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Пример:</a:t>
            </a: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 рСКФ 65 (G2).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АКО 15 мг/г (A1):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риск низкий*.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АКО 350 мг/г (A3):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риск высокий.</a:t>
            </a:r>
          </a:p>
        </p:txBody>
      </p:sp>
      <p:sp>
        <p:nvSpPr>
          <p:cNvPr id="53" name="Источники"/>
          <p:cNvSpPr txBox="1"/>
          <p:nvPr/>
        </p:nvSpPr>
        <p:spPr>
          <a:xfrm>
            <a:off x="457200" y="6383020"/>
            <a:ext cx="10795000" cy="3987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рСКФ: расчётная скорость клубочковой фильтрации; АКО: отношение альбумина к креатинину мочи.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* При G1–G2 без альбуминурии и других признаков повреждения диагноз болезни почек не устанавливают.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KDIGO 2024 Clinical Practice Guideline for CKD. Kidney Int. 2024;105(4S):S117–S314.</a:t>
            </a:r>
          </a:p>
        </p:txBody>
      </p:sp>
      <p:pic>
        <p:nvPicPr>
          <p:cNvPr id="54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65" name="Рамка_пример_A1"/>
          <p:cNvSpPr/>
          <p:nvPr/>
        </p:nvSpPr>
        <p:spPr>
          <a:xfrm>
            <a:off x="4495800" y="2463800"/>
            <a:ext cx="2438400" cy="635000"/>
          </a:xfrm>
          <a:prstGeom prst="rect">
            <a:avLst/>
          </a:prstGeom>
          <a:noFill/>
          <a:ln w="28575">
            <a:solidFill>
              <a:srgbClr val="7030A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66" name="Рамка_пример_A3"/>
          <p:cNvSpPr/>
          <p:nvPr/>
        </p:nvSpPr>
        <p:spPr>
          <a:xfrm>
            <a:off x="9321800" y="2463800"/>
            <a:ext cx="2438400" cy="635000"/>
          </a:xfrm>
          <a:prstGeom prst="rect">
            <a:avLst/>
          </a:prstGeom>
          <a:noFill/>
          <a:ln w="28575">
            <a:solidFill>
              <a:srgbClr val="7030A0"/>
            </a:solidFill>
          </a:ln>
          <a:effectLst/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_1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Как сердечная недостаточность ухудшает функцию почек</a:t>
            </a:r>
          </a:p>
        </p:txBody>
      </p:sp>
      <p:sp>
        <p:nvSpPr>
          <p:cNvPr id="9" name="classification_1"/>
          <p:cNvSpPr txBox="1"/>
          <p:nvPr/>
        </p:nvSpPr>
        <p:spPr>
          <a:xfrm>
            <a:off x="457200" y="841248"/>
            <a:ext cx="11155680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030A0"/>
                </a:solidFill>
                <a:latin typeface="Arial Narrow"/>
                <a:cs typeface="Arial Narrow"/>
              </a:rPr>
              <a:t>Хронический кардиоренальный синдром, тип 2</a:t>
            </a:r>
          </a:p>
        </p:txBody>
      </p:sp>
      <p:sp>
        <p:nvSpPr>
          <p:cNvPr id="10" name="clinical_context_1"/>
          <p:cNvSpPr txBox="1"/>
          <p:nvPr/>
        </p:nvSpPr>
        <p:spPr>
          <a:xfrm>
            <a:off x="457200" y="1234440"/>
            <a:ext cx="11082528" cy="521207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 диабете 2 типа и артериальной гипертензии оба органа могут повреждаться одновременно.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Поэтому определить, какое заболевание возникло первым, удаётся не всегда.</a:t>
            </a:r>
          </a:p>
        </p:txBody>
      </p:sp>
      <p:sp>
        <p:nvSpPr>
          <p:cNvPr id="11" name="heart_source_label"/>
          <p:cNvSpPr txBox="1"/>
          <p:nvPr/>
        </p:nvSpPr>
        <p:spPr>
          <a:xfrm>
            <a:off x="274320" y="1956816"/>
            <a:ext cx="1673352" cy="8686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53946"/>
                </a:solidFill>
                <a:latin typeface="Arial Narrow"/>
                <a:cs typeface="Arial Narrow"/>
              </a:rPr>
              <a:t>Хроническая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53946"/>
                </a:solidFill>
                <a:latin typeface="Arial Narrow"/>
                <a:cs typeface="Arial Narrow"/>
              </a:rPr>
              <a:t>сердечная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53946"/>
                </a:solidFill>
                <a:latin typeface="Arial Narrow"/>
                <a:cs typeface="Arial Narrow"/>
              </a:rPr>
              <a:t>недостаточность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55064" y="3657600"/>
            <a:ext cx="301752" cy="0"/>
          </a:xfrm>
          <a:prstGeom prst="line">
            <a:avLst/>
          </a:prstGeom>
          <a:ln w="17780">
            <a:solidFill>
              <a:srgbClr val="A539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athway_2_1"/>
          <p:cNvSpPr txBox="1"/>
          <p:nvPr/>
        </p:nvSpPr>
        <p:spPr>
          <a:xfrm>
            <a:off x="2221992" y="1917700"/>
            <a:ext cx="5687568" cy="49227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Снижение сердечного выброса. Дисфункция эндотелия. Повышение центрального венозного давления и давления в правом предсердии.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75688" y="1917700"/>
            <a:ext cx="0" cy="454172"/>
          </a:xfrm>
          <a:prstGeom prst="line">
            <a:avLst/>
          </a:prstGeom>
          <a:ln w="25400">
            <a:solidFill>
              <a:srgbClr val="A539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956816" y="2163836"/>
            <a:ext cx="82296" cy="0"/>
          </a:xfrm>
          <a:prstGeom prst="line">
            <a:avLst/>
          </a:prstGeom>
          <a:ln w="11430">
            <a:solidFill>
              <a:srgbClr val="A5394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83296" y="2163836"/>
            <a:ext cx="246887" cy="0"/>
          </a:xfrm>
          <a:prstGeom prst="line">
            <a:avLst/>
          </a:prstGeom>
          <a:ln w="11430">
            <a:solidFill>
              <a:srgbClr val="0E5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athway_2_2"/>
          <p:cNvSpPr txBox="1"/>
          <p:nvPr/>
        </p:nvSpPr>
        <p:spPr>
          <a:xfrm>
            <a:off x="2221992" y="2587772"/>
            <a:ext cx="5687568" cy="9337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Повторные воздействия на почки: острая декомпенсация сердечной недостаточности; изменения гемодинамики при лечении диуретиками и ингибиторами АПФ; гиповолемия и гипотензия, вызванные лекарствами.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75688" y="2587772"/>
            <a:ext cx="0" cy="895644"/>
          </a:xfrm>
          <a:prstGeom prst="line">
            <a:avLst/>
          </a:prstGeom>
          <a:ln w="25400">
            <a:solidFill>
              <a:srgbClr val="A539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956816" y="3054644"/>
            <a:ext cx="82296" cy="0"/>
          </a:xfrm>
          <a:prstGeom prst="line">
            <a:avLst/>
          </a:prstGeom>
          <a:ln w="11430">
            <a:solidFill>
              <a:srgbClr val="A5394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083296" y="3054644"/>
            <a:ext cx="246887" cy="0"/>
          </a:xfrm>
          <a:prstGeom prst="line">
            <a:avLst/>
          </a:prstGeom>
          <a:ln w="11430">
            <a:solidFill>
              <a:srgbClr val="0E5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athway_2_3"/>
          <p:cNvSpPr txBox="1"/>
          <p:nvPr/>
        </p:nvSpPr>
        <p:spPr>
          <a:xfrm>
            <a:off x="2221992" y="3699316"/>
            <a:ext cx="5687568" cy="49227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Ускоренное развитие атеросклероза. Изменения мелких и крупных сосудов.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75688" y="3699316"/>
            <a:ext cx="0" cy="454172"/>
          </a:xfrm>
          <a:prstGeom prst="line">
            <a:avLst/>
          </a:prstGeom>
          <a:ln w="25400">
            <a:solidFill>
              <a:srgbClr val="A539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956816" y="3945453"/>
            <a:ext cx="82296" cy="0"/>
          </a:xfrm>
          <a:prstGeom prst="line">
            <a:avLst/>
          </a:prstGeom>
          <a:ln w="11430">
            <a:solidFill>
              <a:srgbClr val="A5394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083296" y="3945453"/>
            <a:ext cx="246887" cy="0"/>
          </a:xfrm>
          <a:prstGeom prst="line">
            <a:avLst/>
          </a:prstGeom>
          <a:ln w="11430">
            <a:solidFill>
              <a:srgbClr val="0E5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athway_2_4"/>
          <p:cNvSpPr txBox="1"/>
          <p:nvPr/>
        </p:nvSpPr>
        <p:spPr>
          <a:xfrm>
            <a:off x="2221992" y="4369389"/>
            <a:ext cx="5687568" cy="49227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Нейрогуморальная активация. Сосудосуживающие медиаторы: катехоламины, эндотелин, ангиотензин II и альдостерон.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75688" y="4369389"/>
            <a:ext cx="0" cy="454172"/>
          </a:xfrm>
          <a:prstGeom prst="line">
            <a:avLst/>
          </a:prstGeom>
          <a:ln w="25400">
            <a:solidFill>
              <a:srgbClr val="A539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56816" y="4615525"/>
            <a:ext cx="82296" cy="0"/>
          </a:xfrm>
          <a:prstGeom prst="line">
            <a:avLst/>
          </a:prstGeom>
          <a:ln w="11430">
            <a:solidFill>
              <a:srgbClr val="A5394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083296" y="4615525"/>
            <a:ext cx="246887" cy="0"/>
          </a:xfrm>
          <a:prstGeom prst="line">
            <a:avLst/>
          </a:prstGeom>
          <a:ln w="11430">
            <a:solidFill>
              <a:srgbClr val="0E5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pathway_2_5"/>
          <p:cNvSpPr txBox="1"/>
          <p:nvPr/>
        </p:nvSpPr>
        <p:spPr>
          <a:xfrm>
            <a:off x="2221992" y="5039461"/>
            <a:ext cx="5687568" cy="49227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Изменение чувствительности к сосудорасширяющим факторам: натрийуретическим пептидам и оксиду азота.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075688" y="5039461"/>
            <a:ext cx="0" cy="454172"/>
          </a:xfrm>
          <a:prstGeom prst="line">
            <a:avLst/>
          </a:prstGeom>
          <a:ln w="25400">
            <a:solidFill>
              <a:srgbClr val="A539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956816" y="5285597"/>
            <a:ext cx="82296" cy="0"/>
          </a:xfrm>
          <a:prstGeom prst="line">
            <a:avLst/>
          </a:prstGeom>
          <a:ln w="11430">
            <a:solidFill>
              <a:srgbClr val="A5394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83296" y="5285597"/>
            <a:ext cx="246887" cy="0"/>
          </a:xfrm>
          <a:prstGeom prst="line">
            <a:avLst/>
          </a:prstGeom>
          <a:ln w="11430">
            <a:solidFill>
              <a:srgbClr val="0E5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56816" y="2163836"/>
            <a:ext cx="0" cy="3121761"/>
          </a:xfrm>
          <a:prstGeom prst="line">
            <a:avLst/>
          </a:prstGeom>
          <a:ln w="11430">
            <a:solidFill>
              <a:srgbClr val="A539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330183" y="2163836"/>
            <a:ext cx="0" cy="3121761"/>
          </a:xfrm>
          <a:prstGeom prst="line">
            <a:avLst/>
          </a:prstGeom>
          <a:ln w="11430">
            <a:solidFill>
              <a:srgbClr val="0E5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330183" y="4023360"/>
            <a:ext cx="365761" cy="0"/>
          </a:xfrm>
          <a:prstGeom prst="line">
            <a:avLst/>
          </a:prstGeom>
          <a:ln w="17780">
            <a:solidFill>
              <a:srgbClr val="0E5A8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kidney_target_label"/>
          <p:cNvSpPr txBox="1"/>
          <p:nvPr/>
        </p:nvSpPr>
        <p:spPr>
          <a:xfrm>
            <a:off x="8741664" y="1920240"/>
            <a:ext cx="2880360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Хроническая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болезнь почек</a:t>
            </a:r>
          </a:p>
        </p:txBody>
      </p:sp>
      <p:sp>
        <p:nvSpPr>
          <p:cNvPr id="39" name="kidney_changes"/>
          <p:cNvSpPr txBox="1"/>
          <p:nvPr/>
        </p:nvSpPr>
        <p:spPr>
          <a:xfrm>
            <a:off x="8796528" y="3867912"/>
            <a:ext cx="2825496" cy="218541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Недостаточное кровоснабжение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Снижение почечного кровотока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Венозный застой в почках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Снижение клубочковой фильтрации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Некроз и апоптоз клеток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Фиброз и склероз</a:t>
            </a:r>
          </a:p>
        </p:txBody>
      </p:sp>
      <p:pic>
        <p:nvPicPr>
          <p:cNvPr id="40" name="Сердце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184" y="2971800"/>
            <a:ext cx="1039047" cy="1362248"/>
          </a:xfrm>
          <a:prstGeom prst="rect">
            <a:avLst/>
          </a:prstGeom>
        </p:spPr>
      </p:pic>
      <p:pic>
        <p:nvPicPr>
          <p:cNvPr id="41" name="Почка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8089" y="2606040"/>
            <a:ext cx="739493" cy="1123683"/>
          </a:xfrm>
          <a:prstGeom prst="rect">
            <a:avLst/>
          </a:prstGeom>
        </p:spPr>
      </p:pic>
      <p:sp>
        <p:nvSpPr>
          <p:cNvPr id="42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АПФ: ангиотензинпревращающий фермент.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Kumar U, et al. Cardiol Clin. 2019;37:251–265.</a:t>
            </a:r>
          </a:p>
        </p:txBody>
      </p:sp>
      <p:pic>
        <p:nvPicPr>
          <p:cNvPr id="4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44" name="Связь_с_финереноном"/>
          <p:cNvSpPr txBox="1"/>
          <p:nvPr/>
        </p:nvSpPr>
        <p:spPr>
          <a:xfrm>
            <a:off x="457200" y="5734933"/>
            <a:ext cx="10795000" cy="439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Связь с финереноном: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его изучали у пациентов с хронической болезнью почек и диабетом 2 типа и оценивали почечные и сердечно-сосудистые исходы (слайд 20). В местной инструкции нет показания при сердечной недостаточности.</a:t>
            </a:r>
          </a:p>
        </p:txBody>
      </p:sp>
    </p:spTree>
    <p:extLst>
      <p:ext uri="{BB962C8B-B14F-4D97-AF65-F5344CB8AC3E}">
        <p14:creationId xmlns:p14="http://schemas.microsoft.com/office/powerpoint/2010/main" val="850306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2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Как хроническая болезнь почек ухудшает работу сердца</a:t>
            </a:r>
          </a:p>
        </p:txBody>
      </p:sp>
      <p:sp>
        <p:nvSpPr>
          <p:cNvPr id="4" name="classification_2"/>
          <p:cNvSpPr txBox="1"/>
          <p:nvPr/>
        </p:nvSpPr>
        <p:spPr>
          <a:xfrm>
            <a:off x="457200" y="841248"/>
            <a:ext cx="11155680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7030A0"/>
                </a:solidFill>
                <a:latin typeface="Arial Narrow"/>
                <a:cs typeface="Arial Narrow"/>
              </a:rPr>
              <a:t>Хронический ренокардиальный синдром, тип 4</a:t>
            </a:r>
          </a:p>
        </p:txBody>
      </p:sp>
      <p:sp>
        <p:nvSpPr>
          <p:cNvPr id="5" name="clinical_context_2"/>
          <p:cNvSpPr txBox="1"/>
          <p:nvPr/>
        </p:nvSpPr>
        <p:spPr>
          <a:xfrm>
            <a:off x="457200" y="1234440"/>
            <a:ext cx="11064240" cy="5486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Сердечно-сосудистые заболевания, хроническую болезнь почек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и метаболические нарушения рассматривают как взаимосвязанные состояния.</a:t>
            </a:r>
          </a:p>
        </p:txBody>
      </p:sp>
      <p:sp>
        <p:nvSpPr>
          <p:cNvPr id="6" name="kidney_source_label"/>
          <p:cNvSpPr txBox="1"/>
          <p:nvPr/>
        </p:nvSpPr>
        <p:spPr>
          <a:xfrm>
            <a:off x="384048" y="2057400"/>
            <a:ext cx="1536192" cy="7498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Хроническая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болезнь почек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09344" y="3337560"/>
            <a:ext cx="265175" cy="0"/>
          </a:xfrm>
          <a:prstGeom prst="line">
            <a:avLst/>
          </a:prstGeom>
          <a:ln w="16510">
            <a:solidFill>
              <a:srgbClr val="0E5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athway_4_1"/>
          <p:cNvSpPr txBox="1"/>
          <p:nvPr/>
        </p:nvSpPr>
        <p:spPr>
          <a:xfrm>
            <a:off x="2221992" y="1984248"/>
            <a:ext cx="5559552" cy="7040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Активация ренин-ангиотензин-альдостероновой системы, избыток альдостерона. Задержка натрия и воды. Увеличение объёма жидкости.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75688" y="1984248"/>
            <a:ext cx="0" cy="667512"/>
          </a:xfrm>
          <a:prstGeom prst="line">
            <a:avLst/>
          </a:prstGeom>
          <a:ln w="25400">
            <a:solidFill>
              <a:srgbClr val="0E5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221992" y="2743200"/>
            <a:ext cx="5733287" cy="0"/>
          </a:xfrm>
          <a:prstGeom prst="line">
            <a:avLst/>
          </a:prstGeom>
          <a:ln w="7620">
            <a:solidFill>
              <a:srgbClr val="D6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74519" y="2336291"/>
            <a:ext cx="164593" cy="0"/>
          </a:xfrm>
          <a:prstGeom prst="line">
            <a:avLst/>
          </a:prstGeom>
          <a:ln w="11430">
            <a:solidFill>
              <a:srgbClr val="0E5A8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55864" y="2336291"/>
            <a:ext cx="256032" cy="0"/>
          </a:xfrm>
          <a:prstGeom prst="line">
            <a:avLst/>
          </a:prstGeom>
          <a:ln w="11430">
            <a:solidFill>
              <a:srgbClr val="A539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athway_4_2"/>
          <p:cNvSpPr txBox="1"/>
          <p:nvPr/>
        </p:nvSpPr>
        <p:spPr>
          <a:xfrm>
            <a:off x="2221992" y="2834640"/>
            <a:ext cx="5559552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Активация симпатической нервной системы. Сужение сосудов. Повышение уровня катехоламинов, прежде всего норадреналина.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075688" y="2834640"/>
            <a:ext cx="0" cy="649224"/>
          </a:xfrm>
          <a:prstGeom prst="line">
            <a:avLst/>
          </a:prstGeom>
          <a:ln w="25400">
            <a:solidFill>
              <a:srgbClr val="0E5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21992" y="3575304"/>
            <a:ext cx="5733287" cy="0"/>
          </a:xfrm>
          <a:prstGeom prst="line">
            <a:avLst/>
          </a:prstGeom>
          <a:ln w="7620">
            <a:solidFill>
              <a:srgbClr val="D6E1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874519" y="3177540"/>
            <a:ext cx="164593" cy="0"/>
          </a:xfrm>
          <a:prstGeom prst="line">
            <a:avLst/>
          </a:prstGeom>
          <a:ln w="11430">
            <a:solidFill>
              <a:srgbClr val="0E5A8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55864" y="3177540"/>
            <a:ext cx="256032" cy="0"/>
          </a:xfrm>
          <a:prstGeom prst="line">
            <a:avLst/>
          </a:prstGeom>
          <a:ln w="11430">
            <a:solidFill>
              <a:srgbClr val="A539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thway_4_3"/>
          <p:cNvSpPr txBox="1"/>
          <p:nvPr/>
        </p:nvSpPr>
        <p:spPr>
          <a:xfrm>
            <a:off x="2221992" y="3666744"/>
            <a:ext cx="5559552" cy="53035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Уремия, электролитные нарушения и снижение pH крови (ацидемия).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075688" y="3666744"/>
            <a:ext cx="0" cy="493776"/>
          </a:xfrm>
          <a:prstGeom prst="line">
            <a:avLst/>
          </a:prstGeom>
          <a:ln w="25400">
            <a:solidFill>
              <a:srgbClr val="0E5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874519" y="3931920"/>
            <a:ext cx="164593" cy="0"/>
          </a:xfrm>
          <a:prstGeom prst="line">
            <a:avLst/>
          </a:prstGeom>
          <a:ln w="11430">
            <a:solidFill>
              <a:srgbClr val="0E5A8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55864" y="3931920"/>
            <a:ext cx="256032" cy="0"/>
          </a:xfrm>
          <a:prstGeom prst="line">
            <a:avLst/>
          </a:prstGeom>
          <a:ln w="11430">
            <a:solidFill>
              <a:srgbClr val="A539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74519" y="2336291"/>
            <a:ext cx="0" cy="1595629"/>
          </a:xfrm>
          <a:prstGeom prst="line">
            <a:avLst/>
          </a:prstGeom>
          <a:ln w="11430">
            <a:solidFill>
              <a:srgbClr val="0E5A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11896" y="2336291"/>
            <a:ext cx="0" cy="1595629"/>
          </a:xfrm>
          <a:prstGeom prst="line">
            <a:avLst/>
          </a:prstGeom>
          <a:ln w="11430">
            <a:solidFill>
              <a:srgbClr val="A5394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311896" y="3162300"/>
            <a:ext cx="384048" cy="0"/>
          </a:xfrm>
          <a:prstGeom prst="line">
            <a:avLst/>
          </a:prstGeom>
          <a:ln w="17780">
            <a:solidFill>
              <a:srgbClr val="A53946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art_target_label"/>
          <p:cNvSpPr txBox="1"/>
          <p:nvPr/>
        </p:nvSpPr>
        <p:spPr>
          <a:xfrm>
            <a:off x="8801100" y="1943100"/>
            <a:ext cx="2159000" cy="5943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53946"/>
                </a:solidFill>
                <a:latin typeface="Arial Narrow"/>
                <a:cs typeface="Arial Narrow"/>
              </a:rPr>
              <a:t>Хроническая сердечная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A53946"/>
                </a:solidFill>
                <a:latin typeface="Arial Narrow"/>
                <a:cs typeface="Arial Narrow"/>
              </a:rPr>
              <a:t>недостаточность</a:t>
            </a:r>
          </a:p>
        </p:txBody>
      </p:sp>
      <p:sp>
        <p:nvSpPr>
          <p:cNvPr id="28" name="heart_changes"/>
          <p:cNvSpPr txBox="1"/>
          <p:nvPr/>
        </p:nvSpPr>
        <p:spPr>
          <a:xfrm>
            <a:off x="8801100" y="3048000"/>
            <a:ext cx="2819400" cy="9083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Снижение функции сердца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Гипертрофия левого желудочка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Диастолическая дисфункция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Апоптоз и фиброз</a:t>
            </a:r>
          </a:p>
        </p:txBody>
      </p:sp>
      <p:sp>
        <p:nvSpPr>
          <p:cNvPr id="29" name="shared_title"/>
          <p:cNvSpPr txBox="1"/>
          <p:nvPr/>
        </p:nvSpPr>
        <p:spPr>
          <a:xfrm>
            <a:off x="457200" y="4465320"/>
            <a:ext cx="11064240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367B70"/>
                </a:solidFill>
                <a:latin typeface="Arial Narrow"/>
                <a:cs typeface="Arial Narrow"/>
              </a:rPr>
              <a:t>Общие для обоих органов процессы: окислительный стресс и воспаление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815084" y="4968240"/>
            <a:ext cx="0" cy="182880"/>
          </a:xfrm>
          <a:prstGeom prst="line">
            <a:avLst/>
          </a:prstGeom>
          <a:ln w="12700">
            <a:solidFill>
              <a:srgbClr val="367B7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hared_0.57"/>
          <p:cNvSpPr txBox="1"/>
          <p:nvPr/>
        </p:nvSpPr>
        <p:spPr>
          <a:xfrm>
            <a:off x="521207" y="5251704"/>
            <a:ext cx="2587752" cy="66751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Усиленное образование цитокинов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722876" y="4968240"/>
            <a:ext cx="0" cy="182880"/>
          </a:xfrm>
          <a:prstGeom prst="line">
            <a:avLst/>
          </a:prstGeom>
          <a:ln w="12700">
            <a:solidFill>
              <a:srgbClr val="367B7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shared_3.75"/>
          <p:cNvSpPr txBox="1"/>
          <p:nvPr/>
        </p:nvSpPr>
        <p:spPr>
          <a:xfrm>
            <a:off x="3429000" y="5251704"/>
            <a:ext cx="2587752" cy="66751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Нарушение баланса оксида азота и активных форм кислорода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603236" y="4968240"/>
            <a:ext cx="0" cy="182880"/>
          </a:xfrm>
          <a:prstGeom prst="line">
            <a:avLst/>
          </a:prstGeom>
          <a:ln w="12700">
            <a:solidFill>
              <a:srgbClr val="367B7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shared_6.93"/>
          <p:cNvSpPr txBox="1"/>
          <p:nvPr/>
        </p:nvSpPr>
        <p:spPr>
          <a:xfrm>
            <a:off x="6336792" y="5251704"/>
            <a:ext cx="2532888" cy="66751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Нарушение функции митохондрий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378440" y="4968240"/>
            <a:ext cx="0" cy="182880"/>
          </a:xfrm>
          <a:prstGeom prst="line">
            <a:avLst/>
          </a:prstGeom>
          <a:ln w="12700">
            <a:solidFill>
              <a:srgbClr val="367B7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hared_10.05"/>
          <p:cNvSpPr txBox="1"/>
          <p:nvPr/>
        </p:nvSpPr>
        <p:spPr>
          <a:xfrm>
            <a:off x="9189720" y="5251704"/>
            <a:ext cx="2377440" cy="66751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Дисфункция эндотелия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815084" y="4968240"/>
            <a:ext cx="8563356" cy="0"/>
          </a:xfrm>
          <a:prstGeom prst="line">
            <a:avLst/>
          </a:prstGeom>
          <a:ln w="12700">
            <a:solidFill>
              <a:srgbClr val="367B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80760" y="4785360"/>
            <a:ext cx="0" cy="182880"/>
          </a:xfrm>
          <a:prstGeom prst="line">
            <a:avLst/>
          </a:prstGeom>
          <a:ln w="12700">
            <a:solidFill>
              <a:srgbClr val="367B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Почка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317" y="2834640"/>
            <a:ext cx="688493" cy="1046187"/>
          </a:xfrm>
          <a:prstGeom prst="rect">
            <a:avLst/>
          </a:prstGeom>
        </p:spPr>
      </p:pic>
      <p:pic>
        <p:nvPicPr>
          <p:cNvPr id="41" name="Сердце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23600" y="1905000"/>
            <a:ext cx="677639" cy="888422"/>
          </a:xfrm>
          <a:prstGeom prst="rect">
            <a:avLst/>
          </a:prstGeom>
        </p:spPr>
      </p:pic>
      <p:sp>
        <p:nvSpPr>
          <p:cNvPr id="42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Kumar U, et al. Cardiol Clin. 2019;37:251–265. Ndumele CE, et al. Circulation. 2026;154:e50–e158.</a:t>
            </a:r>
          </a:p>
        </p:txBody>
      </p:sp>
      <p:pic>
        <p:nvPicPr>
          <p:cNvPr id="4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44" name="Связь_с_финереноном"/>
          <p:cNvSpPr txBox="1"/>
          <p:nvPr/>
        </p:nvSpPr>
        <p:spPr>
          <a:xfrm>
            <a:off x="457200" y="6045200"/>
            <a:ext cx="107950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Связь с финереноном: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избыток альдостерона действует через минералокортикоидный рецептор, мишень финеренона (слайд 17). В местной инструкции нет показания при сердечной недостаточности.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Карточка_результат"/>
          <p:cNvSpPr/>
          <p:nvPr/>
        </p:nvSpPr>
        <p:spPr>
          <a:xfrm>
            <a:off x="7670800" y="2641600"/>
            <a:ext cx="3810000" cy="304800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12" name="Заголовок">
            <a:extLst>
              <a:ext uri="{FF2B5EF4-FFF2-40B4-BE49-F238E27FC236}">
                <a16:creationId xmlns:a16="http://schemas.microsoft.com/office/drawing/2014/main" id="{E7B3D3F4-2311-40C8-BA10-4868E4C6C4C4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CREDENCE: остаточный риск сохраняется и на фоне канаглифлозина</a:t>
            </a:r>
          </a:p>
        </p:txBody>
      </p:sp>
      <p:sp>
        <p:nvSpPr>
          <p:cNvPr id="3" name="Определение">
            <a:extLst>
              <a:ext uri="{FF2B5EF4-FFF2-40B4-BE49-F238E27FC236}">
                <a16:creationId xmlns:a16="http://schemas.microsoft.com/office/drawing/2014/main" id="{D009CD3A-0AC7-4C2B-ACF5-18012292CCF9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108966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Остаточным называют риск осложнений, который сохраняется на фоне лечения.</a:t>
            </a:r>
          </a:p>
        </p:txBody>
      </p:sp>
      <p:sp>
        <p:nvSpPr>
          <p:cNvPr id="4" name="Исследование">
            <a:extLst>
              <a:ext uri="{FF2B5EF4-FFF2-40B4-BE49-F238E27FC236}">
                <a16:creationId xmlns:a16="http://schemas.microsoft.com/office/drawing/2014/main" id="{5677DEAE-B9DF-4406-A15A-B30E25558B6D}"/>
              </a:ext>
            </a:extLst>
          </p:cNvPr>
          <p:cNvSpPr>
            <a:spLocks noGrp="1"/>
          </p:cNvSpPr>
          <p:nvPr/>
        </p:nvSpPr>
        <p:spPr>
          <a:xfrm>
            <a:off x="457200" y="1485900"/>
            <a:ext cx="108966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Кто участвовал: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4401 пациент с диабетом 2 типа, хронической болезнью почек и выраженной альбуминурией.</a:t>
            </a:r>
          </a:p>
          <a:p>
            <a:pPr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Что сравнивали: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канаглифлозин или плацебо; все получали ингибитор АПФ или БРА.</a:t>
            </a:r>
          </a:p>
          <a:p>
            <a:pPr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Первичный исход: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терминальная почечная недостаточность, удвоение креатинина или смерть от почечных или сердечно-сосудистых причин.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457200" y="2533650"/>
          <a:ext cx="6896100" cy="278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Отношение рисков">
            <a:extLst>
              <a:ext uri="{FF2B5EF4-FFF2-40B4-BE49-F238E27FC236}">
                <a16:creationId xmlns:a16="http://schemas.microsoft.com/office/drawing/2014/main" id="{D24E95BD-A951-4365-9D15-7EEE297D4383}"/>
              </a:ext>
            </a:extLst>
          </p:cNvPr>
          <p:cNvSpPr>
            <a:spLocks noGrp="1"/>
          </p:cNvSpPr>
          <p:nvPr/>
        </p:nvSpPr>
        <p:spPr>
          <a:xfrm>
            <a:off x="7848600" y="2768600"/>
            <a:ext cx="3505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8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Результат:</a:t>
            </a:r>
            <a:r>
              <a:rPr sz="18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отношение рисков 0,70</a:t>
            </a:r>
          </a:p>
        </p:txBody>
      </p:sp>
      <p:sp>
        <p:nvSpPr>
          <p:cNvPr id="7" name="Доверительный интервал">
            <a:extLst>
              <a:ext uri="{FF2B5EF4-FFF2-40B4-BE49-F238E27FC236}">
                <a16:creationId xmlns:a16="http://schemas.microsoft.com/office/drawing/2014/main" id="{33AC9ACA-C7B9-444D-A2B2-25A63E287975}"/>
              </a:ext>
            </a:extLst>
          </p:cNvPr>
          <p:cNvSpPr>
            <a:spLocks noGrp="1"/>
          </p:cNvSpPr>
          <p:nvPr/>
        </p:nvSpPr>
        <p:spPr>
          <a:xfrm>
            <a:off x="7848600" y="3124200"/>
            <a:ext cx="3505200" cy="71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95% ДИ 0,59–0,82.</a:t>
            </a:r>
          </a:p>
          <a:p>
            <a:pPr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Риск ниже на 30% (относительное снижение).</a:t>
            </a:r>
          </a:p>
        </p:txBody>
      </p:sp>
      <p:sp>
        <p:nvSpPr>
          <p:cNvPr id="8" name="Наблюдение">
            <a:extLst>
              <a:ext uri="{FF2B5EF4-FFF2-40B4-BE49-F238E27FC236}">
                <a16:creationId xmlns:a16="http://schemas.microsoft.com/office/drawing/2014/main" id="{77C009BD-CD07-4884-96BB-6B8215BB0F3E}"/>
              </a:ext>
            </a:extLst>
          </p:cNvPr>
          <p:cNvSpPr>
            <a:spLocks noGrp="1"/>
          </p:cNvSpPr>
          <p:nvPr/>
        </p:nvSpPr>
        <p:spPr>
          <a:xfrm>
            <a:off x="7848600" y="3886200"/>
            <a:ext cx="3505200" cy="71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Наблюдение: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медиана 2,6 года.</a:t>
            </a:r>
          </a:p>
          <a:p>
            <a:pPr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 графике доля пациентов с событием за всё исследование.</a:t>
            </a:r>
          </a:p>
        </p:txBody>
      </p:sp>
      <p:sp>
        <p:nvSpPr>
          <p:cNvPr id="9" name="Граница доказательств">
            <a:extLst>
              <a:ext uri="{FF2B5EF4-FFF2-40B4-BE49-F238E27FC236}">
                <a16:creationId xmlns:a16="http://schemas.microsoft.com/office/drawing/2014/main" id="{DCCD233B-59E0-434F-85B7-0533B4B98E6B}"/>
              </a:ext>
            </a:extLst>
          </p:cNvPr>
          <p:cNvSpPr>
            <a:spLocks noGrp="1"/>
          </p:cNvSpPr>
          <p:nvPr/>
        </p:nvSpPr>
        <p:spPr>
          <a:xfrm>
            <a:off x="7848600" y="4648200"/>
            <a:ext cx="3505200" cy="71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Остаточный риск: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первичный исход был у </a:t>
            </a: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11,1%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пациентов в группе канаглифлозина.</a:t>
            </a:r>
          </a:p>
        </p:txBody>
      </p:sp>
      <p:sp>
        <p:nvSpPr>
          <p:cNvPr id="10" name="Состав исхода">
            <a:extLst>
              <a:ext uri="{FF2B5EF4-FFF2-40B4-BE49-F238E27FC236}">
                <a16:creationId xmlns:a16="http://schemas.microsoft.com/office/drawing/2014/main" id="{9B481421-4880-411C-86C7-C6283A1FE97F}"/>
              </a:ext>
            </a:extLst>
          </p:cNvPr>
          <p:cNvSpPr>
            <a:spLocks noGrp="1"/>
          </p:cNvSpPr>
          <p:nvPr/>
        </p:nvSpPr>
        <p:spPr>
          <a:xfrm>
            <a:off x="457200" y="5740400"/>
            <a:ext cx="10896600" cy="71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Ограничение: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финеренон в CREDENCE не изучался. В объединённом анализе FIDELITY ингибиторы НГЛТ2 исходно получали 6,7% пациентов; в этой подгруппе эффект финеренона был сходным с общим, но это анализ подгруппы, и отдельного исследования исходов для комбинации нет. Результаты разных исследований напрямую не сравнивают.</a:t>
            </a:r>
          </a:p>
        </p:txBody>
      </p:sp>
      <p:sp>
        <p:nvSpPr>
          <p:cNvPr id="18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АПФ: ангиотензинпревращающий фермент; БРА: блокатор рецепторов ангиотензина II; НГЛТ2: натрий-глюкозный котранспортёр 2 типа; ДИ: доверительный интервал.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Perkovic V, et al. N Engl J Med. 2019;380:2295–2306. Agarwal R, et al. Eur Heart J. 2022;43:474–484.</a:t>
            </a:r>
          </a:p>
        </p:txBody>
      </p:sp>
      <p:pic>
        <p:nvPicPr>
          <p:cNvPr id="19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91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Рамка_группа_4"/>
          <p:cNvSpPr/>
          <p:nvPr/>
        </p:nvSpPr>
        <p:spPr>
          <a:xfrm>
            <a:off x="3022600" y="4559300"/>
            <a:ext cx="8712200" cy="1231900"/>
          </a:xfrm>
          <a:prstGeom prst="roundRect">
            <a:avLst>
              <a:gd name="adj" fmla="val 6185"/>
            </a:avLst>
          </a:prstGeom>
          <a:noFill/>
          <a:ln w="15875">
            <a:solidFill>
              <a:srgbClr val="0F9ED5"/>
            </a:solidFill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348" name="Рамка_группа_3"/>
          <p:cNvSpPr/>
          <p:nvPr/>
        </p:nvSpPr>
        <p:spPr>
          <a:xfrm>
            <a:off x="3022600" y="3276600"/>
            <a:ext cx="8712200" cy="1231900"/>
          </a:xfrm>
          <a:prstGeom prst="roundRect">
            <a:avLst>
              <a:gd name="adj" fmla="val 6185"/>
            </a:avLst>
          </a:prstGeom>
          <a:noFill/>
          <a:ln w="15875">
            <a:solidFill>
              <a:srgbClr val="7030A0"/>
            </a:solidFill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347" name="Рамка_группа_2"/>
          <p:cNvSpPr/>
          <p:nvPr/>
        </p:nvSpPr>
        <p:spPr>
          <a:xfrm>
            <a:off x="3022600" y="1993900"/>
            <a:ext cx="8712200" cy="1231900"/>
          </a:xfrm>
          <a:prstGeom prst="roundRect">
            <a:avLst>
              <a:gd name="adj" fmla="val 6185"/>
            </a:avLst>
          </a:prstGeom>
          <a:noFill/>
          <a:ln w="15875">
            <a:solidFill>
              <a:srgbClr val="196B24"/>
            </a:solidFill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346" name="Рамка_группа_1"/>
          <p:cNvSpPr/>
          <p:nvPr/>
        </p:nvSpPr>
        <p:spPr>
          <a:xfrm>
            <a:off x="3022600" y="711200"/>
            <a:ext cx="8712200" cy="1231900"/>
          </a:xfrm>
          <a:prstGeom prst="roundRect">
            <a:avLst>
              <a:gd name="adj" fmla="val 6185"/>
            </a:avLst>
          </a:prstGeom>
          <a:noFill/>
          <a:ln w="15875">
            <a:solidFill>
              <a:srgbClr val="156082"/>
            </a:solidFill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0CB4D451-7524-4710-B3DE-ED06FD965172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cs typeface="Arial Narrow"/>
              </a:rPr>
              <a:t>Четыре группы препаратов для защиты почек при сахарном диабете 2 типа</a:t>
            </a:r>
          </a:p>
        </p:txBody>
      </p:sp>
      <p:pic>
        <p:nvPicPr>
          <p:cNvPr id="203" name="Google Shape;56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700" y="1050827"/>
            <a:ext cx="1727200" cy="2165859"/>
          </a:xfrm>
          <a:prstGeom prst="rect">
            <a:avLst/>
          </a:prstGeom>
          <a:ln>
            <a:noFill/>
          </a:ln>
        </p:spPr>
      </p:pic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5F94F6DE-0B0A-4553-9020-63F9DBF134DA}"/>
              </a:ext>
            </a:extLst>
          </p:cNvPr>
          <p:cNvSpPr>
            <a:spLocks noGrp="1"/>
          </p:cNvSpPr>
          <p:nvPr/>
        </p:nvSpPr>
        <p:spPr>
          <a:xfrm>
            <a:off x="355600" y="1066800"/>
            <a:ext cx="279400" cy="279400"/>
          </a:xfrm>
          <a:prstGeom prst="ellipse">
            <a:avLst/>
          </a:prstGeom>
          <a:solidFill>
            <a:srgbClr val="156082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lnSpc>
                <a:spcPct val="90000"/>
              </a:lnSpc>
            </a:pPr>
            <a:endParaRPr/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90C7A43A-5FB0-4C0D-82FC-77FE4A76A007}"/>
              </a:ext>
            </a:extLst>
          </p:cNvPr>
          <p:cNvSpPr>
            <a:spLocks noGrp="1"/>
          </p:cNvSpPr>
          <p:nvPr/>
        </p:nvSpPr>
        <p:spPr>
          <a:xfrm>
            <a:off x="355600" y="10668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1</a:t>
            </a:r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A7505E28-9968-4F5A-B1D5-C94387882A53}"/>
              </a:ext>
            </a:extLst>
          </p:cNvPr>
          <p:cNvSpPr>
            <a:spLocks noGrp="1"/>
          </p:cNvSpPr>
          <p:nvPr/>
        </p:nvSpPr>
        <p:spPr>
          <a:xfrm>
            <a:off x="1295400" y="889000"/>
            <a:ext cx="279400" cy="279400"/>
          </a:xfrm>
          <a:prstGeom prst="ellipse">
            <a:avLst/>
          </a:prstGeom>
          <a:solidFill>
            <a:srgbClr val="196B24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lnSpc>
                <a:spcPct val="90000"/>
              </a:lnSpc>
            </a:pPr>
            <a:endParaRPr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555B19CF-E884-4D12-9B46-0C98D8472172}"/>
              </a:ext>
            </a:extLst>
          </p:cNvPr>
          <p:cNvSpPr>
            <a:spLocks noGrp="1"/>
          </p:cNvSpPr>
          <p:nvPr/>
        </p:nvSpPr>
        <p:spPr>
          <a:xfrm>
            <a:off x="1295400" y="8890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2</a:t>
            </a:r>
          </a:p>
        </p:txBody>
      </p:sp>
      <p:sp>
        <p:nvSpPr>
          <p:cNvPr id="63" name="Google Shape;63;p13">
            <a:extLst>
              <a:ext uri="{FF2B5EF4-FFF2-40B4-BE49-F238E27FC236}">
                <a16:creationId xmlns:a16="http://schemas.microsoft.com/office/drawing/2014/main" id="{48B118A2-6E27-4A18-9D0F-71CF70700A04}"/>
              </a:ext>
            </a:extLst>
          </p:cNvPr>
          <p:cNvSpPr>
            <a:spLocks noGrp="1"/>
          </p:cNvSpPr>
          <p:nvPr/>
        </p:nvSpPr>
        <p:spPr>
          <a:xfrm>
            <a:off x="3098800" y="749300"/>
            <a:ext cx="279400" cy="279400"/>
          </a:xfrm>
          <a:prstGeom prst="ellipse">
            <a:avLst/>
          </a:prstGeom>
          <a:solidFill>
            <a:srgbClr val="156082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lnSpc>
                <a:spcPct val="90000"/>
              </a:lnSpc>
            </a:pPr>
            <a:endParaRPr/>
          </a:p>
        </p:txBody>
      </p:sp>
      <p:sp>
        <p:nvSpPr>
          <p:cNvPr id="64" name="Google Shape;64;p13">
            <a:extLst>
              <a:ext uri="{FF2B5EF4-FFF2-40B4-BE49-F238E27FC236}">
                <a16:creationId xmlns:a16="http://schemas.microsoft.com/office/drawing/2014/main" id="{436DB741-8FE6-4709-B128-B3BEB7477209}"/>
              </a:ext>
            </a:extLst>
          </p:cNvPr>
          <p:cNvSpPr>
            <a:spLocks noGrp="1"/>
          </p:cNvSpPr>
          <p:nvPr/>
        </p:nvSpPr>
        <p:spPr>
          <a:xfrm>
            <a:off x="3098800" y="7493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1</a:t>
            </a:r>
          </a:p>
        </p:txBody>
      </p:sp>
      <p:sp>
        <p:nvSpPr>
          <p:cNvPr id="65" name="Google Shape;65;p13">
            <a:extLst>
              <a:ext uri="{FF2B5EF4-FFF2-40B4-BE49-F238E27FC236}">
                <a16:creationId xmlns:a16="http://schemas.microsoft.com/office/drawing/2014/main" id="{E49D762A-721D-4307-A2A9-036FDEAEFC80}"/>
              </a:ext>
            </a:extLst>
          </p:cNvPr>
          <p:cNvSpPr>
            <a:spLocks noGrp="1"/>
          </p:cNvSpPr>
          <p:nvPr/>
        </p:nvSpPr>
        <p:spPr>
          <a:xfrm>
            <a:off x="3579326" y="793619"/>
            <a:ext cx="8155474" cy="21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156082"/>
                </a:solidFill>
                <a:latin typeface="Calibri"/>
                <a:ea typeface="Calibri"/>
                <a:cs typeface="Calibri"/>
              </a:defRPr>
            </a:pPr>
            <a:r>
              <a:rPr sz="1600" b="1" u="none" dirty="0" err="1">
                <a:solidFill>
                  <a:srgbClr val="156082"/>
                </a:solidFill>
                <a:latin typeface="Arial Narrow"/>
                <a:ea typeface="Calibri"/>
                <a:cs typeface="Arial Narrow"/>
              </a:rPr>
              <a:t>Ингибиторы АПФ или блокаторы рецепторов ангиотензина II (БРА)</a:t>
            </a:r>
            <a:r>
              <a:rPr sz="1600" b="1" u="none" dirty="0">
                <a:solidFill>
                  <a:srgbClr val="156082"/>
                </a:solidFill>
                <a:latin typeface="Arial Narrow"/>
                <a:ea typeface="Calibri"/>
                <a:cs typeface="Arial Narrow"/>
              </a:rPr>
              <a:t/>
            </a:r>
          </a:p>
        </p:txBody>
      </p:sp>
      <p:sp>
        <p:nvSpPr>
          <p:cNvPr id="66" name="Google Shape;66;p13">
            <a:extLst>
              <a:ext uri="{FF2B5EF4-FFF2-40B4-BE49-F238E27FC236}">
                <a16:creationId xmlns:a16="http://schemas.microsoft.com/office/drawing/2014/main" id="{633BED7F-4D84-4F26-A4AC-0EE858E07F58}"/>
              </a:ext>
            </a:extLst>
          </p:cNvPr>
          <p:cNvSpPr>
            <a:spLocks noGrp="1"/>
          </p:cNvSpPr>
          <p:nvPr/>
        </p:nvSpPr>
        <p:spPr>
          <a:xfrm>
            <a:off x="3111500" y="1028700"/>
            <a:ext cx="38735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 dirty="0" err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Мишень:</a:t>
            </a:r>
            <a:r>
              <a:rPr sz="1400" b="0" dirty="0" err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АПФ или рецептор ангиотензина II типа 1.</a:t>
            </a:r>
            <a:endParaRPr sz="1600" b="0" u="none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 dirty="0" err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Действие:</a:t>
            </a:r>
            <a:r>
              <a:rPr sz="1400" b="0" dirty="0" err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расширяют выносящую артериолу и снижают давление в клубочке.</a:t>
            </a:r>
          </a:p>
        </p:txBody>
      </p:sp>
      <p:sp>
        <p:nvSpPr>
          <p:cNvPr id="67" name="Google Shape;67;p13">
            <a:extLst>
              <a:ext uri="{FF2B5EF4-FFF2-40B4-BE49-F238E27FC236}">
                <a16:creationId xmlns:a16="http://schemas.microsoft.com/office/drawing/2014/main" id="{07DFDA66-B455-49FE-AED7-4FD6F0B0BDEC}"/>
              </a:ext>
            </a:extLst>
          </p:cNvPr>
          <p:cNvSpPr>
            <a:spLocks noGrp="1"/>
          </p:cNvSpPr>
          <p:nvPr/>
        </p:nvSpPr>
        <p:spPr>
          <a:xfrm>
            <a:off x="7112000" y="1028700"/>
            <a:ext cx="4622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Доказанная польза: 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ниже риск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прогрессирования ХБП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у пациентов с альбуминурией.</a:t>
            </a:r>
          </a:p>
        </p:txBody>
      </p:sp>
      <p:sp>
        <p:nvSpPr>
          <p:cNvPr id="68" name="Google Shape;68;p13">
            <a:extLst>
              <a:ext uri="{FF2B5EF4-FFF2-40B4-BE49-F238E27FC236}">
                <a16:creationId xmlns:a16="http://schemas.microsoft.com/office/drawing/2014/main" id="{E5CFBEB2-08A4-472C-AB0D-836CDF18BAD7}"/>
              </a:ext>
            </a:extLst>
          </p:cNvPr>
          <p:cNvSpPr>
            <a:spLocks noGrp="1"/>
          </p:cNvSpPr>
          <p:nvPr/>
        </p:nvSpPr>
        <p:spPr>
          <a:xfrm>
            <a:off x="3111500" y="1684122"/>
            <a:ext cx="862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 dirty="0" err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Исследования: </a:t>
            </a:r>
            <a:r>
              <a:rPr sz="1400" b="0" dirty="0" err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RENAAL (лозартан), IDNT (ирбесартан).</a:t>
            </a:r>
          </a:p>
        </p:txBody>
      </p:sp>
      <p:sp>
        <p:nvSpPr>
          <p:cNvPr id="71" name="Google Shape;71;p13">
            <a:extLst>
              <a:ext uri="{FF2B5EF4-FFF2-40B4-BE49-F238E27FC236}">
                <a16:creationId xmlns:a16="http://schemas.microsoft.com/office/drawing/2014/main" id="{064E96DE-BE6A-4D81-A8F2-6742D305A038}"/>
              </a:ext>
            </a:extLst>
          </p:cNvPr>
          <p:cNvSpPr>
            <a:spLocks noGrp="1"/>
          </p:cNvSpPr>
          <p:nvPr/>
        </p:nvSpPr>
        <p:spPr>
          <a:xfrm>
            <a:off x="3098800" y="2032000"/>
            <a:ext cx="279400" cy="279400"/>
          </a:xfrm>
          <a:prstGeom prst="ellipse">
            <a:avLst/>
          </a:prstGeom>
          <a:solidFill>
            <a:srgbClr val="196B24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lnSpc>
                <a:spcPct val="90000"/>
              </a:lnSpc>
            </a:pPr>
            <a:endParaRPr/>
          </a:p>
        </p:txBody>
      </p:sp>
      <p:sp>
        <p:nvSpPr>
          <p:cNvPr id="72" name="Google Shape;72;p13">
            <a:extLst>
              <a:ext uri="{FF2B5EF4-FFF2-40B4-BE49-F238E27FC236}">
                <a16:creationId xmlns:a16="http://schemas.microsoft.com/office/drawing/2014/main" id="{EEE930DA-BC3E-407A-972F-EC5C3EE383B6}"/>
              </a:ext>
            </a:extLst>
          </p:cNvPr>
          <p:cNvSpPr>
            <a:spLocks noGrp="1"/>
          </p:cNvSpPr>
          <p:nvPr/>
        </p:nvSpPr>
        <p:spPr>
          <a:xfrm>
            <a:off x="3098800" y="20320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2</a:t>
            </a:r>
          </a:p>
        </p:txBody>
      </p:sp>
      <p:sp>
        <p:nvSpPr>
          <p:cNvPr id="73" name="Google Shape;73;p13">
            <a:extLst>
              <a:ext uri="{FF2B5EF4-FFF2-40B4-BE49-F238E27FC236}">
                <a16:creationId xmlns:a16="http://schemas.microsoft.com/office/drawing/2014/main" id="{34D0F8E5-B506-4BC4-880C-9CB16B5FA7B1}"/>
              </a:ext>
            </a:extLst>
          </p:cNvPr>
          <p:cNvSpPr>
            <a:spLocks noGrp="1"/>
          </p:cNvSpPr>
          <p:nvPr/>
        </p:nvSpPr>
        <p:spPr>
          <a:xfrm>
            <a:off x="3517900" y="2032000"/>
            <a:ext cx="8216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196B24"/>
                </a:solidFill>
                <a:latin typeface="Calibri"/>
                <a:ea typeface="Calibri"/>
                <a:cs typeface="Calibri"/>
              </a:defRPr>
            </a:pPr>
            <a:r>
              <a:rPr sz="1600" b="1" u="none">
                <a:solidFill>
                  <a:srgbClr val="196B24"/>
                </a:solidFill>
                <a:latin typeface="Arial Narrow"/>
                <a:ea typeface="Calibri"/>
                <a:cs typeface="Arial Narrow"/>
              </a:rPr>
              <a:t>Ингибиторы натрий-глюкозного котранспортёра 2 типа (НГЛТ2)*</a:t>
            </a:r>
          </a:p>
        </p:txBody>
      </p:sp>
      <p:sp>
        <p:nvSpPr>
          <p:cNvPr id="74" name="Google Shape;74;p13">
            <a:extLst>
              <a:ext uri="{FF2B5EF4-FFF2-40B4-BE49-F238E27FC236}">
                <a16:creationId xmlns:a16="http://schemas.microsoft.com/office/drawing/2014/main" id="{1D117A58-9EA5-4BDB-B625-678F9E6324A7}"/>
              </a:ext>
            </a:extLst>
          </p:cNvPr>
          <p:cNvSpPr>
            <a:spLocks noGrp="1"/>
          </p:cNvSpPr>
          <p:nvPr/>
        </p:nvSpPr>
        <p:spPr>
          <a:xfrm>
            <a:off x="3111500" y="2311400"/>
            <a:ext cx="38735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Мишень: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НГЛТ2 проксимального канальца.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Действие: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снижают возврат натрия и глюкозы в кровь.</a:t>
            </a:r>
          </a:p>
        </p:txBody>
      </p:sp>
      <p:sp>
        <p:nvSpPr>
          <p:cNvPr id="75" name="Google Shape;75;p13">
            <a:extLst>
              <a:ext uri="{FF2B5EF4-FFF2-40B4-BE49-F238E27FC236}">
                <a16:creationId xmlns:a16="http://schemas.microsoft.com/office/drawing/2014/main" id="{2A418DAE-824D-483E-895F-22EEA8FD1484}"/>
              </a:ext>
            </a:extLst>
          </p:cNvPr>
          <p:cNvSpPr>
            <a:spLocks noGrp="1"/>
          </p:cNvSpPr>
          <p:nvPr/>
        </p:nvSpPr>
        <p:spPr>
          <a:xfrm>
            <a:off x="7112000" y="2311400"/>
            <a:ext cx="4622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Доказанная польза: 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ниже риск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прогрессирования ХБП и госпитализации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 поводу сердечной недостаточности.</a:t>
            </a:r>
          </a:p>
        </p:txBody>
      </p:sp>
      <p:sp>
        <p:nvSpPr>
          <p:cNvPr id="76" name="Google Shape;76;p13">
            <a:extLst>
              <a:ext uri="{FF2B5EF4-FFF2-40B4-BE49-F238E27FC236}">
                <a16:creationId xmlns:a16="http://schemas.microsoft.com/office/drawing/2014/main" id="{9FF320DD-6697-4C5E-8220-4D067E877FC5}"/>
              </a:ext>
            </a:extLst>
          </p:cNvPr>
          <p:cNvSpPr>
            <a:spLocks noGrp="1"/>
          </p:cNvSpPr>
          <p:nvPr/>
        </p:nvSpPr>
        <p:spPr>
          <a:xfrm>
            <a:off x="3111500" y="2966822"/>
            <a:ext cx="862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 dirty="0" err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Исследования: </a:t>
            </a:r>
            <a:r>
              <a:rPr sz="1400" b="0" dirty="0" err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CREDENCE (канаглифлозин), DAPA-CKD (дапаглифлозин), EMPA-KIDNEY (эмпаглифлозин).</a:t>
            </a:r>
          </a:p>
        </p:txBody>
      </p:sp>
      <p:sp>
        <p:nvSpPr>
          <p:cNvPr id="79" name="Google Shape;79;p13">
            <a:extLst>
              <a:ext uri="{FF2B5EF4-FFF2-40B4-BE49-F238E27FC236}">
                <a16:creationId xmlns:a16="http://schemas.microsoft.com/office/drawing/2014/main" id="{BB6CCBF0-3FA0-4E58-82A1-28F9B0AFE994}"/>
              </a:ext>
            </a:extLst>
          </p:cNvPr>
          <p:cNvSpPr>
            <a:spLocks noGrp="1"/>
          </p:cNvSpPr>
          <p:nvPr/>
        </p:nvSpPr>
        <p:spPr>
          <a:xfrm>
            <a:off x="3098800" y="3314700"/>
            <a:ext cx="279400" cy="279400"/>
          </a:xfrm>
          <a:prstGeom prst="ellipse">
            <a:avLst/>
          </a:prstGeom>
          <a:solidFill>
            <a:srgbClr val="7030A0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lnSpc>
                <a:spcPct val="90000"/>
              </a:lnSpc>
            </a:pPr>
            <a:endParaRPr/>
          </a:p>
        </p:txBody>
      </p:sp>
      <p:sp>
        <p:nvSpPr>
          <p:cNvPr id="80" name="Google Shape;80;p13">
            <a:extLst>
              <a:ext uri="{FF2B5EF4-FFF2-40B4-BE49-F238E27FC236}">
                <a16:creationId xmlns:a16="http://schemas.microsoft.com/office/drawing/2014/main" id="{C11F9E02-FA20-4C3D-B4D4-50F310694B04}"/>
              </a:ext>
            </a:extLst>
          </p:cNvPr>
          <p:cNvSpPr>
            <a:spLocks noGrp="1"/>
          </p:cNvSpPr>
          <p:nvPr/>
        </p:nvSpPr>
        <p:spPr>
          <a:xfrm>
            <a:off x="3098800" y="33147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3</a:t>
            </a:r>
          </a:p>
        </p:txBody>
      </p:sp>
      <p:sp>
        <p:nvSpPr>
          <p:cNvPr id="81" name="Google Shape;81;p13">
            <a:extLst>
              <a:ext uri="{FF2B5EF4-FFF2-40B4-BE49-F238E27FC236}">
                <a16:creationId xmlns:a16="http://schemas.microsoft.com/office/drawing/2014/main" id="{85EB4729-A953-4574-BFC6-4572A71D3E23}"/>
              </a:ext>
            </a:extLst>
          </p:cNvPr>
          <p:cNvSpPr>
            <a:spLocks noGrp="1"/>
          </p:cNvSpPr>
          <p:nvPr/>
        </p:nvSpPr>
        <p:spPr>
          <a:xfrm>
            <a:off x="3517900" y="3314700"/>
            <a:ext cx="8216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600" b="1" u="none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Нестероидный антагонист минералокортикоидного рецептора (МКР): финеренон</a:t>
            </a:r>
          </a:p>
        </p:txBody>
      </p:sp>
      <p:sp>
        <p:nvSpPr>
          <p:cNvPr id="82" name="Google Shape;82;p13">
            <a:extLst>
              <a:ext uri="{FF2B5EF4-FFF2-40B4-BE49-F238E27FC236}">
                <a16:creationId xmlns:a16="http://schemas.microsoft.com/office/drawing/2014/main" id="{A8A784EF-644A-437F-B455-E5A441B9B7AF}"/>
              </a:ext>
            </a:extLst>
          </p:cNvPr>
          <p:cNvSpPr>
            <a:spLocks noGrp="1"/>
          </p:cNvSpPr>
          <p:nvPr/>
        </p:nvSpPr>
        <p:spPr>
          <a:xfrm>
            <a:off x="3111500" y="3594100"/>
            <a:ext cx="38735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Мишень: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МКР в почках, сердце и сосудах.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Действие: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препятствует активации МКР (слайд 19).</a:t>
            </a:r>
          </a:p>
        </p:txBody>
      </p:sp>
      <p:sp>
        <p:nvSpPr>
          <p:cNvPr id="83" name="Google Shape;83;p13">
            <a:extLst>
              <a:ext uri="{FF2B5EF4-FFF2-40B4-BE49-F238E27FC236}">
                <a16:creationId xmlns:a16="http://schemas.microsoft.com/office/drawing/2014/main" id="{7B776FCD-639F-4A1F-8C30-210E91079B42}"/>
              </a:ext>
            </a:extLst>
          </p:cNvPr>
          <p:cNvSpPr>
            <a:spLocks noGrp="1"/>
          </p:cNvSpPr>
          <p:nvPr/>
        </p:nvSpPr>
        <p:spPr>
          <a:xfrm>
            <a:off x="7112000" y="3594100"/>
            <a:ext cx="4622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Доказанная польза: 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ниже риск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прогрессирования ХБП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 сердечно-сосудистых событий.</a:t>
            </a:r>
          </a:p>
        </p:txBody>
      </p:sp>
      <p:sp>
        <p:nvSpPr>
          <p:cNvPr id="84" name="Google Shape;84;p13">
            <a:extLst>
              <a:ext uri="{FF2B5EF4-FFF2-40B4-BE49-F238E27FC236}">
                <a16:creationId xmlns:a16="http://schemas.microsoft.com/office/drawing/2014/main" id="{047F5A5E-96BA-4AB2-B358-49195BF47111}"/>
              </a:ext>
            </a:extLst>
          </p:cNvPr>
          <p:cNvSpPr>
            <a:spLocks noGrp="1"/>
          </p:cNvSpPr>
          <p:nvPr/>
        </p:nvSpPr>
        <p:spPr>
          <a:xfrm>
            <a:off x="3111500" y="4249521"/>
            <a:ext cx="862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Исследования: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FIDELIO-DKD, FIGARO-DKD и их объединённый анализ FIDELITY, все на фоне ингибитора АПФ или БРА.</a:t>
            </a:r>
          </a:p>
        </p:txBody>
      </p:sp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79FE8ACE-FA3F-458D-B39B-C1A2ACC299AE}"/>
              </a:ext>
            </a:extLst>
          </p:cNvPr>
          <p:cNvSpPr>
            <a:spLocks noGrp="1"/>
          </p:cNvSpPr>
          <p:nvPr/>
        </p:nvSpPr>
        <p:spPr>
          <a:xfrm>
            <a:off x="3098800" y="4597400"/>
            <a:ext cx="279400" cy="279400"/>
          </a:xfrm>
          <a:prstGeom prst="ellipse">
            <a:avLst/>
          </a:prstGeom>
          <a:solidFill>
            <a:srgbClr val="0F9ED5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lnSpc>
                <a:spcPct val="90000"/>
              </a:lnSpc>
            </a:pPr>
            <a:endParaRPr/>
          </a:p>
        </p:txBody>
      </p:sp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CDE0B969-DC73-40A7-A026-B1BBADED4097}"/>
              </a:ext>
            </a:extLst>
          </p:cNvPr>
          <p:cNvSpPr>
            <a:spLocks noGrp="1"/>
          </p:cNvSpPr>
          <p:nvPr/>
        </p:nvSpPr>
        <p:spPr>
          <a:xfrm>
            <a:off x="3098800" y="45974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4</a:t>
            </a:r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5191A00A-0F6D-4AF7-A740-07E221D3032E}"/>
              </a:ext>
            </a:extLst>
          </p:cNvPr>
          <p:cNvSpPr>
            <a:spLocks noGrp="1"/>
          </p:cNvSpPr>
          <p:nvPr/>
        </p:nvSpPr>
        <p:spPr>
          <a:xfrm>
            <a:off x="3517900" y="4597400"/>
            <a:ext cx="8216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0F9ED5"/>
                </a:solidFill>
                <a:latin typeface="Calibri"/>
                <a:ea typeface="Calibri"/>
                <a:cs typeface="Calibri"/>
              </a:defRPr>
            </a:pPr>
            <a:r>
              <a:rPr sz="1600" b="1" u="none">
                <a:solidFill>
                  <a:srgbClr val="0F9ED5"/>
                </a:solidFill>
                <a:latin typeface="Arial Narrow"/>
                <a:ea typeface="Calibri"/>
                <a:cs typeface="Arial Narrow"/>
              </a:rPr>
              <a:t>Агонисты рецептора глюкагоноподобного пептида-1 (ГПП-1)</a:t>
            </a: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B5658C51-E9CC-4AF0-ACC4-65C7186A2E86}"/>
              </a:ext>
            </a:extLst>
          </p:cNvPr>
          <p:cNvSpPr>
            <a:spLocks noGrp="1"/>
          </p:cNvSpPr>
          <p:nvPr/>
        </p:nvSpPr>
        <p:spPr>
          <a:xfrm>
            <a:off x="3111500" y="4876800"/>
            <a:ext cx="38735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Мишень: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рецептор ГПП-1.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Действие: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улучшают контроль глюкозы и снижают массу тела.</a:t>
            </a:r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1880318D-134E-4942-9155-7D7F9CD58B69}"/>
              </a:ext>
            </a:extLst>
          </p:cNvPr>
          <p:cNvSpPr>
            <a:spLocks noGrp="1"/>
          </p:cNvSpPr>
          <p:nvPr/>
        </p:nvSpPr>
        <p:spPr>
          <a:xfrm>
            <a:off x="7112000" y="4876800"/>
            <a:ext cx="4622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Доказанная польза: 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семаглутид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снижает риск прогрессирования ХБП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или сердечно-сосудистой смерти†.</a:t>
            </a:r>
          </a:p>
        </p:txBody>
      </p:sp>
      <p:sp>
        <p:nvSpPr>
          <p:cNvPr id="92" name="Google Shape;92;p13">
            <a:extLst>
              <a:ext uri="{FF2B5EF4-FFF2-40B4-BE49-F238E27FC236}">
                <a16:creationId xmlns:a16="http://schemas.microsoft.com/office/drawing/2014/main" id="{FE5125EB-C9C0-4AD3-8124-B97CD8E92656}"/>
              </a:ext>
            </a:extLst>
          </p:cNvPr>
          <p:cNvSpPr>
            <a:spLocks noGrp="1"/>
          </p:cNvSpPr>
          <p:nvPr/>
        </p:nvSpPr>
        <p:spPr>
          <a:xfrm>
            <a:off x="3111500" y="5532221"/>
            <a:ext cx="862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Исследование: 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FLOW (семаглутид).</a:t>
            </a:r>
          </a:p>
        </p:txBody>
      </p:sp>
      <p:sp>
        <p:nvSpPr>
          <p:cNvPr id="93" name="Google Shape;93;p13">
            <a:extLst>
              <a:ext uri="{FF2B5EF4-FFF2-40B4-BE49-F238E27FC236}">
                <a16:creationId xmlns:a16="http://schemas.microsoft.com/office/drawing/2014/main" id="{8A89B3A7-E84D-4E29-801A-3EC33203A6BB}"/>
              </a:ext>
            </a:extLst>
          </p:cNvPr>
          <p:cNvSpPr>
            <a:spLocks noGrp="1"/>
          </p:cNvSpPr>
          <p:nvPr/>
        </p:nvSpPr>
        <p:spPr>
          <a:xfrm>
            <a:off x="431800" y="3340100"/>
            <a:ext cx="2565400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 b="1" dirty="0" err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Клеточные</a:t>
            </a:r>
            <a:r>
              <a:rPr sz="1800" b="1" dirty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мишени</a:t>
            </a:r>
            <a:endParaRPr sz="18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 b="0" dirty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 </a:t>
            </a:r>
            <a:r>
              <a:rPr sz="1800" b="0" dirty="0" err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разных</a:t>
            </a:r>
            <a:r>
              <a:rPr sz="1800" b="0" dirty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</a:t>
            </a:r>
            <a:r>
              <a:rPr sz="1800" b="0" dirty="0" err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тканях</a:t>
            </a:r>
            <a:endParaRPr sz="1800" b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13">
            <a:extLst>
              <a:ext uri="{FF2B5EF4-FFF2-40B4-BE49-F238E27FC236}">
                <a16:creationId xmlns:a16="http://schemas.microsoft.com/office/drawing/2014/main" id="{1EDCD5E3-ACB9-4F6B-846D-CD60E5C16130}"/>
              </a:ext>
            </a:extLst>
          </p:cNvPr>
          <p:cNvSpPr>
            <a:spLocks noGrp="1"/>
          </p:cNvSpPr>
          <p:nvPr/>
        </p:nvSpPr>
        <p:spPr>
          <a:xfrm>
            <a:off x="457200" y="5867400"/>
            <a:ext cx="11277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 dirty="0" err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Общее правило:</a:t>
            </a:r>
            <a:r>
              <a:rPr sz="1600" b="0" dirty="0" err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давление и гликемию контролируют у всех пациентов; препараты врач выбирает по рСКФ, альбуминурии и калию.</a:t>
            </a:r>
          </a:p>
        </p:txBody>
      </p:sp>
      <p:pic>
        <p:nvPicPr>
          <p:cNvPr id="246" name="Рисунок 245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381000" y="3898927"/>
            <a:ext cx="1435100" cy="1065984"/>
          </a:xfrm>
          <a:prstGeom prst="rect">
            <a:avLst/>
          </a:prstGeom>
        </p:spPr>
      </p:pic>
      <p:pic>
        <p:nvPicPr>
          <p:cNvPr id="247" name="Рисунок 246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609600" y="4394200"/>
            <a:ext cx="381000" cy="381000"/>
          </a:xfrm>
          <a:prstGeom prst="rect">
            <a:avLst/>
          </a:prstGeom>
        </p:spPr>
      </p:pic>
      <p:sp>
        <p:nvSpPr>
          <p:cNvPr id="102" name="intracellular_target_3_disc">
            <a:extLst>
              <a:ext uri="{FF2B5EF4-FFF2-40B4-BE49-F238E27FC236}">
                <a16:creationId xmlns:a16="http://schemas.microsoft.com/office/drawing/2014/main" id="{E1715120-7CF2-4036-AA86-7895591B4458}"/>
              </a:ext>
            </a:extLst>
          </p:cNvPr>
          <p:cNvSpPr>
            <a:spLocks noGrp="1"/>
          </p:cNvSpPr>
          <p:nvPr/>
        </p:nvSpPr>
        <p:spPr>
          <a:xfrm>
            <a:off x="1257300" y="4102100"/>
            <a:ext cx="279400" cy="279400"/>
          </a:xfrm>
          <a:prstGeom prst="ellipse">
            <a:avLst/>
          </a:prstGeom>
          <a:solidFill>
            <a:srgbClr val="7030A0"/>
          </a:solidFill>
          <a:ln w="15240">
            <a:solidFill>
              <a:srgbClr val="FFFFFF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3" name="intracellular_target_3_number">
            <a:extLst>
              <a:ext uri="{FF2B5EF4-FFF2-40B4-BE49-F238E27FC236}">
                <a16:creationId xmlns:a16="http://schemas.microsoft.com/office/drawing/2014/main" id="{CB27F05D-DC83-4644-AF8C-B696AAD7A15E}"/>
              </a:ext>
            </a:extLst>
          </p:cNvPr>
          <p:cNvSpPr>
            <a:spLocks noGrp="1"/>
          </p:cNvSpPr>
          <p:nvPr/>
        </p:nvSpPr>
        <p:spPr>
          <a:xfrm>
            <a:off x="1257300" y="4102100"/>
            <a:ext cx="2794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3</a:t>
            </a:r>
          </a:p>
        </p:txBody>
      </p:sp>
      <p:sp>
        <p:nvSpPr>
          <p:cNvPr id="104" name="intracellular_receptor_name">
            <a:extLst>
              <a:ext uri="{FF2B5EF4-FFF2-40B4-BE49-F238E27FC236}">
                <a16:creationId xmlns:a16="http://schemas.microsoft.com/office/drawing/2014/main" id="{A5813D6F-9D51-4527-A820-564515E32795}"/>
              </a:ext>
            </a:extLst>
          </p:cNvPr>
          <p:cNvSpPr>
            <a:spLocks noGrp="1"/>
          </p:cNvSpPr>
          <p:nvPr/>
        </p:nvSpPr>
        <p:spPr>
          <a:xfrm>
            <a:off x="1143000" y="4394200"/>
            <a:ext cx="6223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МКР</a:t>
            </a:r>
          </a:p>
        </p:txBody>
      </p:sp>
      <p:sp>
        <p:nvSpPr>
          <p:cNvPr id="105" name="inside_cell_label">
            <a:extLst>
              <a:ext uri="{FF2B5EF4-FFF2-40B4-BE49-F238E27FC236}">
                <a16:creationId xmlns:a16="http://schemas.microsoft.com/office/drawing/2014/main" id="{5386A5A6-A753-4E86-A28C-5BCF93AA7883}"/>
              </a:ext>
            </a:extLst>
          </p:cNvPr>
          <p:cNvSpPr>
            <a:spLocks noGrp="1"/>
          </p:cNvSpPr>
          <p:nvPr/>
        </p:nvSpPr>
        <p:spPr>
          <a:xfrm>
            <a:off x="1917700" y="4102100"/>
            <a:ext cx="1066800" cy="596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Внутри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клетки</a:t>
            </a:r>
          </a:p>
        </p:txBody>
      </p:sp>
      <p:sp>
        <p:nvSpPr>
          <p:cNvPr id="106" name="upper_lipid_head_0">
            <a:extLst>
              <a:ext uri="{FF2B5EF4-FFF2-40B4-BE49-F238E27FC236}">
                <a16:creationId xmlns:a16="http://schemas.microsoft.com/office/drawing/2014/main" id="{532450E2-07D3-4C14-9FE8-3F0CA2938695}"/>
              </a:ext>
            </a:extLst>
          </p:cNvPr>
          <p:cNvSpPr>
            <a:spLocks noGrp="1"/>
          </p:cNvSpPr>
          <p:nvPr/>
        </p:nvSpPr>
        <p:spPr>
          <a:xfrm>
            <a:off x="431800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7" name="upper_lipid_tail_a_0">
            <a:extLst>
              <a:ext uri="{FF2B5EF4-FFF2-40B4-BE49-F238E27FC236}">
                <a16:creationId xmlns:a16="http://schemas.microsoft.com/office/drawing/2014/main" id="{BAB820F5-BB77-4CA0-9A3C-0FC08B81190B}"/>
              </a:ext>
            </a:extLst>
          </p:cNvPr>
          <p:cNvSpPr>
            <a:spLocks noGrp="1"/>
          </p:cNvSpPr>
          <p:nvPr/>
        </p:nvSpPr>
        <p:spPr>
          <a:xfrm>
            <a:off x="454659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8" name="upper_lipid_tail_b_0">
            <a:extLst>
              <a:ext uri="{FF2B5EF4-FFF2-40B4-BE49-F238E27FC236}">
                <a16:creationId xmlns:a16="http://schemas.microsoft.com/office/drawing/2014/main" id="{77D2615A-3B44-458F-846C-CDDFF38DD401}"/>
              </a:ext>
            </a:extLst>
          </p:cNvPr>
          <p:cNvSpPr>
            <a:spLocks noGrp="1"/>
          </p:cNvSpPr>
          <p:nvPr/>
        </p:nvSpPr>
        <p:spPr>
          <a:xfrm>
            <a:off x="480059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9" name="lower_lipid_head_0">
            <a:extLst>
              <a:ext uri="{FF2B5EF4-FFF2-40B4-BE49-F238E27FC236}">
                <a16:creationId xmlns:a16="http://schemas.microsoft.com/office/drawing/2014/main" id="{1D0AA1AE-FD79-4993-87B2-C09708BDF15A}"/>
              </a:ext>
            </a:extLst>
          </p:cNvPr>
          <p:cNvSpPr>
            <a:spLocks noGrp="1"/>
          </p:cNvSpPr>
          <p:nvPr/>
        </p:nvSpPr>
        <p:spPr>
          <a:xfrm>
            <a:off x="431800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0" name="lower_lipid_tail_a_0">
            <a:extLst>
              <a:ext uri="{FF2B5EF4-FFF2-40B4-BE49-F238E27FC236}">
                <a16:creationId xmlns:a16="http://schemas.microsoft.com/office/drawing/2014/main" id="{7F2A8D2B-1D45-482B-9A56-76573FF2853A}"/>
              </a:ext>
            </a:extLst>
          </p:cNvPr>
          <p:cNvSpPr>
            <a:spLocks noGrp="1"/>
          </p:cNvSpPr>
          <p:nvPr/>
        </p:nvSpPr>
        <p:spPr>
          <a:xfrm>
            <a:off x="454659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1" name="lower_lipid_tail_b_0">
            <a:extLst>
              <a:ext uri="{FF2B5EF4-FFF2-40B4-BE49-F238E27FC236}">
                <a16:creationId xmlns:a16="http://schemas.microsoft.com/office/drawing/2014/main" id="{E9A53FAD-6400-4A1A-ABE7-EC29DC149860}"/>
              </a:ext>
            </a:extLst>
          </p:cNvPr>
          <p:cNvSpPr>
            <a:spLocks noGrp="1"/>
          </p:cNvSpPr>
          <p:nvPr/>
        </p:nvSpPr>
        <p:spPr>
          <a:xfrm>
            <a:off x="480059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2" name="upper_lipid_head_1">
            <a:extLst>
              <a:ext uri="{FF2B5EF4-FFF2-40B4-BE49-F238E27FC236}">
                <a16:creationId xmlns:a16="http://schemas.microsoft.com/office/drawing/2014/main" id="{D141E650-EB4E-486C-B7C1-991A9495BF1C}"/>
              </a:ext>
            </a:extLst>
          </p:cNvPr>
          <p:cNvSpPr>
            <a:spLocks noGrp="1"/>
          </p:cNvSpPr>
          <p:nvPr/>
        </p:nvSpPr>
        <p:spPr>
          <a:xfrm>
            <a:off x="52260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3" name="upper_lipid_tail_a_1">
            <a:extLst>
              <a:ext uri="{FF2B5EF4-FFF2-40B4-BE49-F238E27FC236}">
                <a16:creationId xmlns:a16="http://schemas.microsoft.com/office/drawing/2014/main" id="{0A1ECB42-D459-461B-B976-588D589A4055}"/>
              </a:ext>
            </a:extLst>
          </p:cNvPr>
          <p:cNvSpPr>
            <a:spLocks noGrp="1"/>
          </p:cNvSpPr>
          <p:nvPr/>
        </p:nvSpPr>
        <p:spPr>
          <a:xfrm>
            <a:off x="54546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4" name="upper_lipid_tail_b_1">
            <a:extLst>
              <a:ext uri="{FF2B5EF4-FFF2-40B4-BE49-F238E27FC236}">
                <a16:creationId xmlns:a16="http://schemas.microsoft.com/office/drawing/2014/main" id="{4D18D536-B081-40E5-9465-FD835CDB4F2B}"/>
              </a:ext>
            </a:extLst>
          </p:cNvPr>
          <p:cNvSpPr>
            <a:spLocks noGrp="1"/>
          </p:cNvSpPr>
          <p:nvPr/>
        </p:nvSpPr>
        <p:spPr>
          <a:xfrm>
            <a:off x="57086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5" name="lower_lipid_head_1">
            <a:extLst>
              <a:ext uri="{FF2B5EF4-FFF2-40B4-BE49-F238E27FC236}">
                <a16:creationId xmlns:a16="http://schemas.microsoft.com/office/drawing/2014/main" id="{AC788CEB-02BF-419A-A496-14E544896F21}"/>
              </a:ext>
            </a:extLst>
          </p:cNvPr>
          <p:cNvSpPr>
            <a:spLocks noGrp="1"/>
          </p:cNvSpPr>
          <p:nvPr/>
        </p:nvSpPr>
        <p:spPr>
          <a:xfrm>
            <a:off x="52260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6" name="lower_lipid_tail_a_1">
            <a:extLst>
              <a:ext uri="{FF2B5EF4-FFF2-40B4-BE49-F238E27FC236}">
                <a16:creationId xmlns:a16="http://schemas.microsoft.com/office/drawing/2014/main" id="{AEA31704-8F7F-4652-AA81-07AF855A0C01}"/>
              </a:ext>
            </a:extLst>
          </p:cNvPr>
          <p:cNvSpPr>
            <a:spLocks noGrp="1"/>
          </p:cNvSpPr>
          <p:nvPr/>
        </p:nvSpPr>
        <p:spPr>
          <a:xfrm>
            <a:off x="54546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7" name="lower_lipid_tail_b_1">
            <a:extLst>
              <a:ext uri="{FF2B5EF4-FFF2-40B4-BE49-F238E27FC236}">
                <a16:creationId xmlns:a16="http://schemas.microsoft.com/office/drawing/2014/main" id="{58168C5C-51CF-4B44-8C0C-D15123EFB4EB}"/>
              </a:ext>
            </a:extLst>
          </p:cNvPr>
          <p:cNvSpPr>
            <a:spLocks noGrp="1"/>
          </p:cNvSpPr>
          <p:nvPr/>
        </p:nvSpPr>
        <p:spPr>
          <a:xfrm>
            <a:off x="57086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8" name="upper_lipid_head_2">
            <a:extLst>
              <a:ext uri="{FF2B5EF4-FFF2-40B4-BE49-F238E27FC236}">
                <a16:creationId xmlns:a16="http://schemas.microsoft.com/office/drawing/2014/main" id="{094F1738-40B4-4CB9-B74E-07D414274984}"/>
              </a:ext>
            </a:extLst>
          </p:cNvPr>
          <p:cNvSpPr>
            <a:spLocks noGrp="1"/>
          </p:cNvSpPr>
          <p:nvPr/>
        </p:nvSpPr>
        <p:spPr>
          <a:xfrm>
            <a:off x="613411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9" name="upper_lipid_tail_a_2">
            <a:extLst>
              <a:ext uri="{FF2B5EF4-FFF2-40B4-BE49-F238E27FC236}">
                <a16:creationId xmlns:a16="http://schemas.microsoft.com/office/drawing/2014/main" id="{E38E5C69-D5B9-4F85-8D41-A94DF93ACDC0}"/>
              </a:ext>
            </a:extLst>
          </p:cNvPr>
          <p:cNvSpPr>
            <a:spLocks noGrp="1"/>
          </p:cNvSpPr>
          <p:nvPr/>
        </p:nvSpPr>
        <p:spPr>
          <a:xfrm>
            <a:off x="636269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0" name="upper_lipid_tail_b_2">
            <a:extLst>
              <a:ext uri="{FF2B5EF4-FFF2-40B4-BE49-F238E27FC236}">
                <a16:creationId xmlns:a16="http://schemas.microsoft.com/office/drawing/2014/main" id="{77C76985-F416-443B-8911-C53105BC86B1}"/>
              </a:ext>
            </a:extLst>
          </p:cNvPr>
          <p:cNvSpPr>
            <a:spLocks noGrp="1"/>
          </p:cNvSpPr>
          <p:nvPr/>
        </p:nvSpPr>
        <p:spPr>
          <a:xfrm>
            <a:off x="661669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1" name="lower_lipid_head_2">
            <a:extLst>
              <a:ext uri="{FF2B5EF4-FFF2-40B4-BE49-F238E27FC236}">
                <a16:creationId xmlns:a16="http://schemas.microsoft.com/office/drawing/2014/main" id="{1DA36FBA-1ABA-4B11-9BA8-40FD4BE88E46}"/>
              </a:ext>
            </a:extLst>
          </p:cNvPr>
          <p:cNvSpPr>
            <a:spLocks noGrp="1"/>
          </p:cNvSpPr>
          <p:nvPr/>
        </p:nvSpPr>
        <p:spPr>
          <a:xfrm>
            <a:off x="613411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2" name="lower_lipid_tail_a_2">
            <a:extLst>
              <a:ext uri="{FF2B5EF4-FFF2-40B4-BE49-F238E27FC236}">
                <a16:creationId xmlns:a16="http://schemas.microsoft.com/office/drawing/2014/main" id="{7A8B8932-419F-4F58-8A2B-DB7425F6F9B0}"/>
              </a:ext>
            </a:extLst>
          </p:cNvPr>
          <p:cNvSpPr>
            <a:spLocks noGrp="1"/>
          </p:cNvSpPr>
          <p:nvPr/>
        </p:nvSpPr>
        <p:spPr>
          <a:xfrm>
            <a:off x="636269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3" name="lower_lipid_tail_b_2">
            <a:extLst>
              <a:ext uri="{FF2B5EF4-FFF2-40B4-BE49-F238E27FC236}">
                <a16:creationId xmlns:a16="http://schemas.microsoft.com/office/drawing/2014/main" id="{9E8984E9-62F9-420A-A6BB-ECF426D92FEC}"/>
              </a:ext>
            </a:extLst>
          </p:cNvPr>
          <p:cNvSpPr>
            <a:spLocks noGrp="1"/>
          </p:cNvSpPr>
          <p:nvPr/>
        </p:nvSpPr>
        <p:spPr>
          <a:xfrm>
            <a:off x="661669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4" name="upper_lipid_head_3">
            <a:extLst>
              <a:ext uri="{FF2B5EF4-FFF2-40B4-BE49-F238E27FC236}">
                <a16:creationId xmlns:a16="http://schemas.microsoft.com/office/drawing/2014/main" id="{654329E0-0396-46FE-8291-804D326EED5C}"/>
              </a:ext>
            </a:extLst>
          </p:cNvPr>
          <p:cNvSpPr>
            <a:spLocks noGrp="1"/>
          </p:cNvSpPr>
          <p:nvPr/>
        </p:nvSpPr>
        <p:spPr>
          <a:xfrm>
            <a:off x="70421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5" name="upper_lipid_tail_a_3">
            <a:extLst>
              <a:ext uri="{FF2B5EF4-FFF2-40B4-BE49-F238E27FC236}">
                <a16:creationId xmlns:a16="http://schemas.microsoft.com/office/drawing/2014/main" id="{5D6EA50E-F83E-48DC-9AFB-2AAFA5B663EE}"/>
              </a:ext>
            </a:extLst>
          </p:cNvPr>
          <p:cNvSpPr>
            <a:spLocks noGrp="1"/>
          </p:cNvSpPr>
          <p:nvPr/>
        </p:nvSpPr>
        <p:spPr>
          <a:xfrm>
            <a:off x="72707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6" name="upper_lipid_tail_b_3">
            <a:extLst>
              <a:ext uri="{FF2B5EF4-FFF2-40B4-BE49-F238E27FC236}">
                <a16:creationId xmlns:a16="http://schemas.microsoft.com/office/drawing/2014/main" id="{B17FA22A-14F2-45CB-9A1D-BF06699E1A00}"/>
              </a:ext>
            </a:extLst>
          </p:cNvPr>
          <p:cNvSpPr>
            <a:spLocks noGrp="1"/>
          </p:cNvSpPr>
          <p:nvPr/>
        </p:nvSpPr>
        <p:spPr>
          <a:xfrm>
            <a:off x="75247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7" name="lower_lipid_head_3">
            <a:extLst>
              <a:ext uri="{FF2B5EF4-FFF2-40B4-BE49-F238E27FC236}">
                <a16:creationId xmlns:a16="http://schemas.microsoft.com/office/drawing/2014/main" id="{1F33624A-8DEC-437D-8B81-B38B7271705B}"/>
              </a:ext>
            </a:extLst>
          </p:cNvPr>
          <p:cNvSpPr>
            <a:spLocks noGrp="1"/>
          </p:cNvSpPr>
          <p:nvPr/>
        </p:nvSpPr>
        <p:spPr>
          <a:xfrm>
            <a:off x="70421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8" name="lower_lipid_tail_a_3">
            <a:extLst>
              <a:ext uri="{FF2B5EF4-FFF2-40B4-BE49-F238E27FC236}">
                <a16:creationId xmlns:a16="http://schemas.microsoft.com/office/drawing/2014/main" id="{4A057826-0F5A-4D35-9702-208332AD3B85}"/>
              </a:ext>
            </a:extLst>
          </p:cNvPr>
          <p:cNvSpPr>
            <a:spLocks noGrp="1"/>
          </p:cNvSpPr>
          <p:nvPr/>
        </p:nvSpPr>
        <p:spPr>
          <a:xfrm>
            <a:off x="72707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9" name="lower_lipid_tail_b_3">
            <a:extLst>
              <a:ext uri="{FF2B5EF4-FFF2-40B4-BE49-F238E27FC236}">
                <a16:creationId xmlns:a16="http://schemas.microsoft.com/office/drawing/2014/main" id="{65A4338C-19D1-4555-9AC6-D17F819BD9FF}"/>
              </a:ext>
            </a:extLst>
          </p:cNvPr>
          <p:cNvSpPr>
            <a:spLocks noGrp="1"/>
          </p:cNvSpPr>
          <p:nvPr/>
        </p:nvSpPr>
        <p:spPr>
          <a:xfrm>
            <a:off x="75247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0" name="upper_lipid_head_4">
            <a:extLst>
              <a:ext uri="{FF2B5EF4-FFF2-40B4-BE49-F238E27FC236}">
                <a16:creationId xmlns:a16="http://schemas.microsoft.com/office/drawing/2014/main" id="{52CE773D-AD43-466D-8864-1B4652074BE2}"/>
              </a:ext>
            </a:extLst>
          </p:cNvPr>
          <p:cNvSpPr>
            <a:spLocks noGrp="1"/>
          </p:cNvSpPr>
          <p:nvPr/>
        </p:nvSpPr>
        <p:spPr>
          <a:xfrm>
            <a:off x="795020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1" name="upper_lipid_tail_a_4">
            <a:extLst>
              <a:ext uri="{FF2B5EF4-FFF2-40B4-BE49-F238E27FC236}">
                <a16:creationId xmlns:a16="http://schemas.microsoft.com/office/drawing/2014/main" id="{CA971FBD-9D42-41C6-906D-2A750612E927}"/>
              </a:ext>
            </a:extLst>
          </p:cNvPr>
          <p:cNvSpPr>
            <a:spLocks noGrp="1"/>
          </p:cNvSpPr>
          <p:nvPr/>
        </p:nvSpPr>
        <p:spPr>
          <a:xfrm>
            <a:off x="81788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2" name="upper_lipid_tail_b_4">
            <a:extLst>
              <a:ext uri="{FF2B5EF4-FFF2-40B4-BE49-F238E27FC236}">
                <a16:creationId xmlns:a16="http://schemas.microsoft.com/office/drawing/2014/main" id="{700D6434-DBB2-4C8C-AC97-8C361AC0CD5E}"/>
              </a:ext>
            </a:extLst>
          </p:cNvPr>
          <p:cNvSpPr>
            <a:spLocks noGrp="1"/>
          </p:cNvSpPr>
          <p:nvPr/>
        </p:nvSpPr>
        <p:spPr>
          <a:xfrm>
            <a:off x="84328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3" name="lower_lipid_head_4">
            <a:extLst>
              <a:ext uri="{FF2B5EF4-FFF2-40B4-BE49-F238E27FC236}">
                <a16:creationId xmlns:a16="http://schemas.microsoft.com/office/drawing/2014/main" id="{0C89C24E-0146-4169-BD92-A722DD4BDBCD}"/>
              </a:ext>
            </a:extLst>
          </p:cNvPr>
          <p:cNvSpPr>
            <a:spLocks noGrp="1"/>
          </p:cNvSpPr>
          <p:nvPr/>
        </p:nvSpPr>
        <p:spPr>
          <a:xfrm>
            <a:off x="795020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4" name="lower_lipid_tail_a_4">
            <a:extLst>
              <a:ext uri="{FF2B5EF4-FFF2-40B4-BE49-F238E27FC236}">
                <a16:creationId xmlns:a16="http://schemas.microsoft.com/office/drawing/2014/main" id="{53C76F2C-352B-49CC-A927-56DFF6CA8F7D}"/>
              </a:ext>
            </a:extLst>
          </p:cNvPr>
          <p:cNvSpPr>
            <a:spLocks noGrp="1"/>
          </p:cNvSpPr>
          <p:nvPr/>
        </p:nvSpPr>
        <p:spPr>
          <a:xfrm>
            <a:off x="81788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5" name="lower_lipid_tail_b_4">
            <a:extLst>
              <a:ext uri="{FF2B5EF4-FFF2-40B4-BE49-F238E27FC236}">
                <a16:creationId xmlns:a16="http://schemas.microsoft.com/office/drawing/2014/main" id="{0E128382-7D69-4D92-8BD7-7F4AD8FB6689}"/>
              </a:ext>
            </a:extLst>
          </p:cNvPr>
          <p:cNvSpPr>
            <a:spLocks noGrp="1"/>
          </p:cNvSpPr>
          <p:nvPr/>
        </p:nvSpPr>
        <p:spPr>
          <a:xfrm>
            <a:off x="84328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6" name="upper_lipid_head_5">
            <a:extLst>
              <a:ext uri="{FF2B5EF4-FFF2-40B4-BE49-F238E27FC236}">
                <a16:creationId xmlns:a16="http://schemas.microsoft.com/office/drawing/2014/main" id="{B7E80144-5774-442B-93B7-FFAC6F5D9C02}"/>
              </a:ext>
            </a:extLst>
          </p:cNvPr>
          <p:cNvSpPr>
            <a:spLocks noGrp="1"/>
          </p:cNvSpPr>
          <p:nvPr/>
        </p:nvSpPr>
        <p:spPr>
          <a:xfrm>
            <a:off x="88582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7" name="upper_lipid_tail_a_5">
            <a:extLst>
              <a:ext uri="{FF2B5EF4-FFF2-40B4-BE49-F238E27FC236}">
                <a16:creationId xmlns:a16="http://schemas.microsoft.com/office/drawing/2014/main" id="{A4B2EF8D-48BC-4743-871F-1E3984467AEB}"/>
              </a:ext>
            </a:extLst>
          </p:cNvPr>
          <p:cNvSpPr>
            <a:spLocks noGrp="1"/>
          </p:cNvSpPr>
          <p:nvPr/>
        </p:nvSpPr>
        <p:spPr>
          <a:xfrm>
            <a:off x="90868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8" name="upper_lipid_tail_b_5">
            <a:extLst>
              <a:ext uri="{FF2B5EF4-FFF2-40B4-BE49-F238E27FC236}">
                <a16:creationId xmlns:a16="http://schemas.microsoft.com/office/drawing/2014/main" id="{85C7B43B-6F62-420D-BC8C-9873D830D3DF}"/>
              </a:ext>
            </a:extLst>
          </p:cNvPr>
          <p:cNvSpPr>
            <a:spLocks noGrp="1"/>
          </p:cNvSpPr>
          <p:nvPr/>
        </p:nvSpPr>
        <p:spPr>
          <a:xfrm>
            <a:off x="93408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9" name="lower_lipid_head_5">
            <a:extLst>
              <a:ext uri="{FF2B5EF4-FFF2-40B4-BE49-F238E27FC236}">
                <a16:creationId xmlns:a16="http://schemas.microsoft.com/office/drawing/2014/main" id="{4ADB2517-85D5-4589-9328-0C7AFFF788F8}"/>
              </a:ext>
            </a:extLst>
          </p:cNvPr>
          <p:cNvSpPr>
            <a:spLocks noGrp="1"/>
          </p:cNvSpPr>
          <p:nvPr/>
        </p:nvSpPr>
        <p:spPr>
          <a:xfrm>
            <a:off x="88582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40" name="lower_lipid_tail_a_5">
            <a:extLst>
              <a:ext uri="{FF2B5EF4-FFF2-40B4-BE49-F238E27FC236}">
                <a16:creationId xmlns:a16="http://schemas.microsoft.com/office/drawing/2014/main" id="{98D9FBB3-83E4-4F05-865A-DB251AA0B642}"/>
              </a:ext>
            </a:extLst>
          </p:cNvPr>
          <p:cNvSpPr>
            <a:spLocks noGrp="1"/>
          </p:cNvSpPr>
          <p:nvPr/>
        </p:nvSpPr>
        <p:spPr>
          <a:xfrm>
            <a:off x="90868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41" name="lower_lipid_tail_b_5">
            <a:extLst>
              <a:ext uri="{FF2B5EF4-FFF2-40B4-BE49-F238E27FC236}">
                <a16:creationId xmlns:a16="http://schemas.microsoft.com/office/drawing/2014/main" id="{19F910C9-3978-42F9-BD2C-2CA9AF360A6D}"/>
              </a:ext>
            </a:extLst>
          </p:cNvPr>
          <p:cNvSpPr>
            <a:spLocks noGrp="1"/>
          </p:cNvSpPr>
          <p:nvPr/>
        </p:nvSpPr>
        <p:spPr>
          <a:xfrm>
            <a:off x="93408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42" name="upper_lipid_head_6">
            <a:extLst>
              <a:ext uri="{FF2B5EF4-FFF2-40B4-BE49-F238E27FC236}">
                <a16:creationId xmlns:a16="http://schemas.microsoft.com/office/drawing/2014/main" id="{5D7C9679-0573-4367-A137-68BBD487DC35}"/>
              </a:ext>
            </a:extLst>
          </p:cNvPr>
          <p:cNvSpPr>
            <a:spLocks noGrp="1"/>
          </p:cNvSpPr>
          <p:nvPr/>
        </p:nvSpPr>
        <p:spPr>
          <a:xfrm>
            <a:off x="976631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43" name="upper_lipid_tail_a_6">
            <a:extLst>
              <a:ext uri="{FF2B5EF4-FFF2-40B4-BE49-F238E27FC236}">
                <a16:creationId xmlns:a16="http://schemas.microsoft.com/office/drawing/2014/main" id="{8F9C78DD-9E34-4F81-B62F-61EC0561865F}"/>
              </a:ext>
            </a:extLst>
          </p:cNvPr>
          <p:cNvSpPr>
            <a:spLocks noGrp="1"/>
          </p:cNvSpPr>
          <p:nvPr/>
        </p:nvSpPr>
        <p:spPr>
          <a:xfrm>
            <a:off x="99949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44" name="upper_lipid_tail_b_6">
            <a:extLst>
              <a:ext uri="{FF2B5EF4-FFF2-40B4-BE49-F238E27FC236}">
                <a16:creationId xmlns:a16="http://schemas.microsoft.com/office/drawing/2014/main" id="{A7864112-5DEE-439F-9195-8C42275FFDD3}"/>
              </a:ext>
            </a:extLst>
          </p:cNvPr>
          <p:cNvSpPr>
            <a:spLocks noGrp="1"/>
          </p:cNvSpPr>
          <p:nvPr/>
        </p:nvSpPr>
        <p:spPr>
          <a:xfrm>
            <a:off x="102489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45" name="lower_lipid_head_6">
            <a:extLst>
              <a:ext uri="{FF2B5EF4-FFF2-40B4-BE49-F238E27FC236}">
                <a16:creationId xmlns:a16="http://schemas.microsoft.com/office/drawing/2014/main" id="{8683DEC8-DBF7-4DCA-8A81-04BE11AE4060}"/>
              </a:ext>
            </a:extLst>
          </p:cNvPr>
          <p:cNvSpPr>
            <a:spLocks noGrp="1"/>
          </p:cNvSpPr>
          <p:nvPr/>
        </p:nvSpPr>
        <p:spPr>
          <a:xfrm>
            <a:off x="976631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46" name="lower_lipid_tail_a_6">
            <a:extLst>
              <a:ext uri="{FF2B5EF4-FFF2-40B4-BE49-F238E27FC236}">
                <a16:creationId xmlns:a16="http://schemas.microsoft.com/office/drawing/2014/main" id="{6352FF88-DA90-4AC8-90B6-19619B72005C}"/>
              </a:ext>
            </a:extLst>
          </p:cNvPr>
          <p:cNvSpPr>
            <a:spLocks noGrp="1"/>
          </p:cNvSpPr>
          <p:nvPr/>
        </p:nvSpPr>
        <p:spPr>
          <a:xfrm>
            <a:off x="99949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47" name="lower_lipid_tail_b_6">
            <a:extLst>
              <a:ext uri="{FF2B5EF4-FFF2-40B4-BE49-F238E27FC236}">
                <a16:creationId xmlns:a16="http://schemas.microsoft.com/office/drawing/2014/main" id="{7C14BC75-D791-45D8-9105-7B38146A0065}"/>
              </a:ext>
            </a:extLst>
          </p:cNvPr>
          <p:cNvSpPr>
            <a:spLocks noGrp="1"/>
          </p:cNvSpPr>
          <p:nvPr/>
        </p:nvSpPr>
        <p:spPr>
          <a:xfrm>
            <a:off x="102489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48" name="upper_lipid_head_7">
            <a:extLst>
              <a:ext uri="{FF2B5EF4-FFF2-40B4-BE49-F238E27FC236}">
                <a16:creationId xmlns:a16="http://schemas.microsoft.com/office/drawing/2014/main" id="{E69C2C6F-17BB-4CE6-B3FD-F9EC03CAD93B}"/>
              </a:ext>
            </a:extLst>
          </p:cNvPr>
          <p:cNvSpPr>
            <a:spLocks noGrp="1"/>
          </p:cNvSpPr>
          <p:nvPr/>
        </p:nvSpPr>
        <p:spPr>
          <a:xfrm>
            <a:off x="106743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49" name="upper_lipid_tail_a_7">
            <a:extLst>
              <a:ext uri="{FF2B5EF4-FFF2-40B4-BE49-F238E27FC236}">
                <a16:creationId xmlns:a16="http://schemas.microsoft.com/office/drawing/2014/main" id="{6FD06E90-EC8F-466D-A307-BD261DE74AB2}"/>
              </a:ext>
            </a:extLst>
          </p:cNvPr>
          <p:cNvSpPr>
            <a:spLocks noGrp="1"/>
          </p:cNvSpPr>
          <p:nvPr/>
        </p:nvSpPr>
        <p:spPr>
          <a:xfrm>
            <a:off x="109029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50" name="upper_lipid_tail_b_7">
            <a:extLst>
              <a:ext uri="{FF2B5EF4-FFF2-40B4-BE49-F238E27FC236}">
                <a16:creationId xmlns:a16="http://schemas.microsoft.com/office/drawing/2014/main" id="{A1DBCBB3-2A9C-4211-A793-4C812BDC7688}"/>
              </a:ext>
            </a:extLst>
          </p:cNvPr>
          <p:cNvSpPr>
            <a:spLocks noGrp="1"/>
          </p:cNvSpPr>
          <p:nvPr/>
        </p:nvSpPr>
        <p:spPr>
          <a:xfrm>
            <a:off x="111569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51" name="lower_lipid_head_7">
            <a:extLst>
              <a:ext uri="{FF2B5EF4-FFF2-40B4-BE49-F238E27FC236}">
                <a16:creationId xmlns:a16="http://schemas.microsoft.com/office/drawing/2014/main" id="{8A9D5F91-2464-47B0-801E-990B7F3523DD}"/>
              </a:ext>
            </a:extLst>
          </p:cNvPr>
          <p:cNvSpPr>
            <a:spLocks noGrp="1"/>
          </p:cNvSpPr>
          <p:nvPr/>
        </p:nvSpPr>
        <p:spPr>
          <a:xfrm>
            <a:off x="106743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52" name="lower_lipid_tail_a_7">
            <a:extLst>
              <a:ext uri="{FF2B5EF4-FFF2-40B4-BE49-F238E27FC236}">
                <a16:creationId xmlns:a16="http://schemas.microsoft.com/office/drawing/2014/main" id="{75F7C860-2994-41FD-AF6F-E004A026E1C8}"/>
              </a:ext>
            </a:extLst>
          </p:cNvPr>
          <p:cNvSpPr>
            <a:spLocks noGrp="1"/>
          </p:cNvSpPr>
          <p:nvPr/>
        </p:nvSpPr>
        <p:spPr>
          <a:xfrm>
            <a:off x="109029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53" name="lower_lipid_tail_b_7">
            <a:extLst>
              <a:ext uri="{FF2B5EF4-FFF2-40B4-BE49-F238E27FC236}">
                <a16:creationId xmlns:a16="http://schemas.microsoft.com/office/drawing/2014/main" id="{EEF812CB-C7F7-4D93-9AEC-003D8BA304E1}"/>
              </a:ext>
            </a:extLst>
          </p:cNvPr>
          <p:cNvSpPr>
            <a:spLocks noGrp="1"/>
          </p:cNvSpPr>
          <p:nvPr/>
        </p:nvSpPr>
        <p:spPr>
          <a:xfrm>
            <a:off x="111569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54" name="upper_lipid_head_8">
            <a:extLst>
              <a:ext uri="{FF2B5EF4-FFF2-40B4-BE49-F238E27FC236}">
                <a16:creationId xmlns:a16="http://schemas.microsoft.com/office/drawing/2014/main" id="{CB01D5C9-7400-4933-AAAB-68F1A545C123}"/>
              </a:ext>
            </a:extLst>
          </p:cNvPr>
          <p:cNvSpPr>
            <a:spLocks noGrp="1"/>
          </p:cNvSpPr>
          <p:nvPr/>
        </p:nvSpPr>
        <p:spPr>
          <a:xfrm>
            <a:off x="1158240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55" name="upper_lipid_tail_a_8">
            <a:extLst>
              <a:ext uri="{FF2B5EF4-FFF2-40B4-BE49-F238E27FC236}">
                <a16:creationId xmlns:a16="http://schemas.microsoft.com/office/drawing/2014/main" id="{984349C8-D27C-4251-9905-93E27D3EA51E}"/>
              </a:ext>
            </a:extLst>
          </p:cNvPr>
          <p:cNvSpPr>
            <a:spLocks noGrp="1"/>
          </p:cNvSpPr>
          <p:nvPr/>
        </p:nvSpPr>
        <p:spPr>
          <a:xfrm>
            <a:off x="118110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56" name="upper_lipid_tail_b_8">
            <a:extLst>
              <a:ext uri="{FF2B5EF4-FFF2-40B4-BE49-F238E27FC236}">
                <a16:creationId xmlns:a16="http://schemas.microsoft.com/office/drawing/2014/main" id="{1D36BC1F-BF13-408F-9217-4A8539DF762C}"/>
              </a:ext>
            </a:extLst>
          </p:cNvPr>
          <p:cNvSpPr>
            <a:spLocks noGrp="1"/>
          </p:cNvSpPr>
          <p:nvPr/>
        </p:nvSpPr>
        <p:spPr>
          <a:xfrm>
            <a:off x="120650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57" name="lower_lipid_head_8">
            <a:extLst>
              <a:ext uri="{FF2B5EF4-FFF2-40B4-BE49-F238E27FC236}">
                <a16:creationId xmlns:a16="http://schemas.microsoft.com/office/drawing/2014/main" id="{0DA8D23F-C8A3-45FD-9BE8-7EBB312811EF}"/>
              </a:ext>
            </a:extLst>
          </p:cNvPr>
          <p:cNvSpPr>
            <a:spLocks noGrp="1"/>
          </p:cNvSpPr>
          <p:nvPr/>
        </p:nvSpPr>
        <p:spPr>
          <a:xfrm>
            <a:off x="1158240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58" name="lower_lipid_tail_a_8">
            <a:extLst>
              <a:ext uri="{FF2B5EF4-FFF2-40B4-BE49-F238E27FC236}">
                <a16:creationId xmlns:a16="http://schemas.microsoft.com/office/drawing/2014/main" id="{91ECF192-EB2E-410C-8459-55D7B9AD3338}"/>
              </a:ext>
            </a:extLst>
          </p:cNvPr>
          <p:cNvSpPr>
            <a:spLocks noGrp="1"/>
          </p:cNvSpPr>
          <p:nvPr/>
        </p:nvSpPr>
        <p:spPr>
          <a:xfrm>
            <a:off x="118110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59" name="lower_lipid_tail_b_8">
            <a:extLst>
              <a:ext uri="{FF2B5EF4-FFF2-40B4-BE49-F238E27FC236}">
                <a16:creationId xmlns:a16="http://schemas.microsoft.com/office/drawing/2014/main" id="{9AAB397B-B121-4B62-A0C5-142C53129D9E}"/>
              </a:ext>
            </a:extLst>
          </p:cNvPr>
          <p:cNvSpPr>
            <a:spLocks noGrp="1"/>
          </p:cNvSpPr>
          <p:nvPr/>
        </p:nvSpPr>
        <p:spPr>
          <a:xfrm>
            <a:off x="120650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60" name="upper_lipid_head_9">
            <a:extLst>
              <a:ext uri="{FF2B5EF4-FFF2-40B4-BE49-F238E27FC236}">
                <a16:creationId xmlns:a16="http://schemas.microsoft.com/office/drawing/2014/main" id="{AAD8EB59-65B1-4A82-BBF2-4B62E4AC6F88}"/>
              </a:ext>
            </a:extLst>
          </p:cNvPr>
          <p:cNvSpPr>
            <a:spLocks noGrp="1"/>
          </p:cNvSpPr>
          <p:nvPr/>
        </p:nvSpPr>
        <p:spPr>
          <a:xfrm>
            <a:off x="124904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61" name="upper_lipid_tail_a_9">
            <a:extLst>
              <a:ext uri="{FF2B5EF4-FFF2-40B4-BE49-F238E27FC236}">
                <a16:creationId xmlns:a16="http://schemas.microsoft.com/office/drawing/2014/main" id="{F6AEEE6E-70E8-470D-8D27-472FF898526B}"/>
              </a:ext>
            </a:extLst>
          </p:cNvPr>
          <p:cNvSpPr>
            <a:spLocks noGrp="1"/>
          </p:cNvSpPr>
          <p:nvPr/>
        </p:nvSpPr>
        <p:spPr>
          <a:xfrm>
            <a:off x="127190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62" name="upper_lipid_tail_b_9">
            <a:extLst>
              <a:ext uri="{FF2B5EF4-FFF2-40B4-BE49-F238E27FC236}">
                <a16:creationId xmlns:a16="http://schemas.microsoft.com/office/drawing/2014/main" id="{9DF152E8-CB44-4A45-8BC6-62A4D294B641}"/>
              </a:ext>
            </a:extLst>
          </p:cNvPr>
          <p:cNvSpPr>
            <a:spLocks noGrp="1"/>
          </p:cNvSpPr>
          <p:nvPr/>
        </p:nvSpPr>
        <p:spPr>
          <a:xfrm>
            <a:off x="129730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63" name="lower_lipid_head_9">
            <a:extLst>
              <a:ext uri="{FF2B5EF4-FFF2-40B4-BE49-F238E27FC236}">
                <a16:creationId xmlns:a16="http://schemas.microsoft.com/office/drawing/2014/main" id="{C101D504-DF8B-42BA-9D6E-134A9278E2F9}"/>
              </a:ext>
            </a:extLst>
          </p:cNvPr>
          <p:cNvSpPr>
            <a:spLocks noGrp="1"/>
          </p:cNvSpPr>
          <p:nvPr/>
        </p:nvSpPr>
        <p:spPr>
          <a:xfrm>
            <a:off x="124904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64" name="lower_lipid_tail_a_9">
            <a:extLst>
              <a:ext uri="{FF2B5EF4-FFF2-40B4-BE49-F238E27FC236}">
                <a16:creationId xmlns:a16="http://schemas.microsoft.com/office/drawing/2014/main" id="{F73A59CB-837E-47BA-B5F6-39B25D869F5E}"/>
              </a:ext>
            </a:extLst>
          </p:cNvPr>
          <p:cNvSpPr>
            <a:spLocks noGrp="1"/>
          </p:cNvSpPr>
          <p:nvPr/>
        </p:nvSpPr>
        <p:spPr>
          <a:xfrm>
            <a:off x="127190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65" name="lower_lipid_tail_b_9">
            <a:extLst>
              <a:ext uri="{FF2B5EF4-FFF2-40B4-BE49-F238E27FC236}">
                <a16:creationId xmlns:a16="http://schemas.microsoft.com/office/drawing/2014/main" id="{0D12A4D4-B0F4-45A0-814F-BBE193645B84}"/>
              </a:ext>
            </a:extLst>
          </p:cNvPr>
          <p:cNvSpPr>
            <a:spLocks noGrp="1"/>
          </p:cNvSpPr>
          <p:nvPr/>
        </p:nvSpPr>
        <p:spPr>
          <a:xfrm>
            <a:off x="129730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66" name="upper_lipid_head_10">
            <a:extLst>
              <a:ext uri="{FF2B5EF4-FFF2-40B4-BE49-F238E27FC236}">
                <a16:creationId xmlns:a16="http://schemas.microsoft.com/office/drawing/2014/main" id="{4463E676-09BF-47E2-A609-D096F7E5BE54}"/>
              </a:ext>
            </a:extLst>
          </p:cNvPr>
          <p:cNvSpPr>
            <a:spLocks noGrp="1"/>
          </p:cNvSpPr>
          <p:nvPr/>
        </p:nvSpPr>
        <p:spPr>
          <a:xfrm>
            <a:off x="1339851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67" name="upper_lipid_tail_a_10">
            <a:extLst>
              <a:ext uri="{FF2B5EF4-FFF2-40B4-BE49-F238E27FC236}">
                <a16:creationId xmlns:a16="http://schemas.microsoft.com/office/drawing/2014/main" id="{98D3B263-2F8B-4758-8CFF-5A1DC7702F7A}"/>
              </a:ext>
            </a:extLst>
          </p:cNvPr>
          <p:cNvSpPr>
            <a:spLocks noGrp="1"/>
          </p:cNvSpPr>
          <p:nvPr/>
        </p:nvSpPr>
        <p:spPr>
          <a:xfrm>
            <a:off x="136271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68" name="upper_lipid_tail_b_10">
            <a:extLst>
              <a:ext uri="{FF2B5EF4-FFF2-40B4-BE49-F238E27FC236}">
                <a16:creationId xmlns:a16="http://schemas.microsoft.com/office/drawing/2014/main" id="{BC1A1F26-ABD4-47F3-BC2B-182E69161CFC}"/>
              </a:ext>
            </a:extLst>
          </p:cNvPr>
          <p:cNvSpPr>
            <a:spLocks noGrp="1"/>
          </p:cNvSpPr>
          <p:nvPr/>
        </p:nvSpPr>
        <p:spPr>
          <a:xfrm>
            <a:off x="138811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69" name="lower_lipid_head_10">
            <a:extLst>
              <a:ext uri="{FF2B5EF4-FFF2-40B4-BE49-F238E27FC236}">
                <a16:creationId xmlns:a16="http://schemas.microsoft.com/office/drawing/2014/main" id="{4EF1A60D-9101-4581-AD6C-0EC5E68A5971}"/>
              </a:ext>
            </a:extLst>
          </p:cNvPr>
          <p:cNvSpPr>
            <a:spLocks noGrp="1"/>
          </p:cNvSpPr>
          <p:nvPr/>
        </p:nvSpPr>
        <p:spPr>
          <a:xfrm>
            <a:off x="1339851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70" name="lower_lipid_tail_a_10">
            <a:extLst>
              <a:ext uri="{FF2B5EF4-FFF2-40B4-BE49-F238E27FC236}">
                <a16:creationId xmlns:a16="http://schemas.microsoft.com/office/drawing/2014/main" id="{649414B7-D32A-4ACE-92EC-9B08943C3E22}"/>
              </a:ext>
            </a:extLst>
          </p:cNvPr>
          <p:cNvSpPr>
            <a:spLocks noGrp="1"/>
          </p:cNvSpPr>
          <p:nvPr/>
        </p:nvSpPr>
        <p:spPr>
          <a:xfrm>
            <a:off x="136271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71" name="lower_lipid_tail_b_10">
            <a:extLst>
              <a:ext uri="{FF2B5EF4-FFF2-40B4-BE49-F238E27FC236}">
                <a16:creationId xmlns:a16="http://schemas.microsoft.com/office/drawing/2014/main" id="{5D9BDE94-526C-471D-851C-B7B5DAAABE4F}"/>
              </a:ext>
            </a:extLst>
          </p:cNvPr>
          <p:cNvSpPr>
            <a:spLocks noGrp="1"/>
          </p:cNvSpPr>
          <p:nvPr/>
        </p:nvSpPr>
        <p:spPr>
          <a:xfrm>
            <a:off x="138811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72" name="upper_lipid_head_11">
            <a:extLst>
              <a:ext uri="{FF2B5EF4-FFF2-40B4-BE49-F238E27FC236}">
                <a16:creationId xmlns:a16="http://schemas.microsoft.com/office/drawing/2014/main" id="{A24A85C6-DCAD-4859-83EE-EB43984F9B34}"/>
              </a:ext>
            </a:extLst>
          </p:cNvPr>
          <p:cNvSpPr>
            <a:spLocks noGrp="1"/>
          </p:cNvSpPr>
          <p:nvPr/>
        </p:nvSpPr>
        <p:spPr>
          <a:xfrm>
            <a:off x="143065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73" name="upper_lipid_tail_a_11">
            <a:extLst>
              <a:ext uri="{FF2B5EF4-FFF2-40B4-BE49-F238E27FC236}">
                <a16:creationId xmlns:a16="http://schemas.microsoft.com/office/drawing/2014/main" id="{E5B0AF55-AF6F-49C8-913E-88F8347F64E6}"/>
              </a:ext>
            </a:extLst>
          </p:cNvPr>
          <p:cNvSpPr>
            <a:spLocks noGrp="1"/>
          </p:cNvSpPr>
          <p:nvPr/>
        </p:nvSpPr>
        <p:spPr>
          <a:xfrm>
            <a:off x="145351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74" name="upper_lipid_tail_b_11">
            <a:extLst>
              <a:ext uri="{FF2B5EF4-FFF2-40B4-BE49-F238E27FC236}">
                <a16:creationId xmlns:a16="http://schemas.microsoft.com/office/drawing/2014/main" id="{5D01AC01-19F3-4C6F-8418-CB7398B741B7}"/>
              </a:ext>
            </a:extLst>
          </p:cNvPr>
          <p:cNvSpPr>
            <a:spLocks noGrp="1"/>
          </p:cNvSpPr>
          <p:nvPr/>
        </p:nvSpPr>
        <p:spPr>
          <a:xfrm>
            <a:off x="147891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75" name="lower_lipid_head_11">
            <a:extLst>
              <a:ext uri="{FF2B5EF4-FFF2-40B4-BE49-F238E27FC236}">
                <a16:creationId xmlns:a16="http://schemas.microsoft.com/office/drawing/2014/main" id="{C2AD4509-2069-4BC6-9EE1-539C7D79C92B}"/>
              </a:ext>
            </a:extLst>
          </p:cNvPr>
          <p:cNvSpPr>
            <a:spLocks noGrp="1"/>
          </p:cNvSpPr>
          <p:nvPr/>
        </p:nvSpPr>
        <p:spPr>
          <a:xfrm>
            <a:off x="143065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76" name="lower_lipid_tail_a_11">
            <a:extLst>
              <a:ext uri="{FF2B5EF4-FFF2-40B4-BE49-F238E27FC236}">
                <a16:creationId xmlns:a16="http://schemas.microsoft.com/office/drawing/2014/main" id="{EAE9AC04-C8AF-45C3-B38B-34FA3DDFF07C}"/>
              </a:ext>
            </a:extLst>
          </p:cNvPr>
          <p:cNvSpPr>
            <a:spLocks noGrp="1"/>
          </p:cNvSpPr>
          <p:nvPr/>
        </p:nvSpPr>
        <p:spPr>
          <a:xfrm>
            <a:off x="145351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77" name="lower_lipid_tail_b_11">
            <a:extLst>
              <a:ext uri="{FF2B5EF4-FFF2-40B4-BE49-F238E27FC236}">
                <a16:creationId xmlns:a16="http://schemas.microsoft.com/office/drawing/2014/main" id="{6E6E4BD1-B423-4FAD-BE36-9B6A27322335}"/>
              </a:ext>
            </a:extLst>
          </p:cNvPr>
          <p:cNvSpPr>
            <a:spLocks noGrp="1"/>
          </p:cNvSpPr>
          <p:nvPr/>
        </p:nvSpPr>
        <p:spPr>
          <a:xfrm>
            <a:off x="147891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78" name="upper_lipid_head_12">
            <a:extLst>
              <a:ext uri="{FF2B5EF4-FFF2-40B4-BE49-F238E27FC236}">
                <a16:creationId xmlns:a16="http://schemas.microsoft.com/office/drawing/2014/main" id="{C7F751B6-C174-4E9A-BFFC-4ABD5BA6FE1E}"/>
              </a:ext>
            </a:extLst>
          </p:cNvPr>
          <p:cNvSpPr>
            <a:spLocks noGrp="1"/>
          </p:cNvSpPr>
          <p:nvPr/>
        </p:nvSpPr>
        <p:spPr>
          <a:xfrm>
            <a:off x="1521460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79" name="upper_lipid_tail_a_12">
            <a:extLst>
              <a:ext uri="{FF2B5EF4-FFF2-40B4-BE49-F238E27FC236}">
                <a16:creationId xmlns:a16="http://schemas.microsoft.com/office/drawing/2014/main" id="{3C698DFF-30DF-43CA-8639-F5B11F9B8C5B}"/>
              </a:ext>
            </a:extLst>
          </p:cNvPr>
          <p:cNvSpPr>
            <a:spLocks noGrp="1"/>
          </p:cNvSpPr>
          <p:nvPr/>
        </p:nvSpPr>
        <p:spPr>
          <a:xfrm>
            <a:off x="154432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80" name="upper_lipid_tail_b_12">
            <a:extLst>
              <a:ext uri="{FF2B5EF4-FFF2-40B4-BE49-F238E27FC236}">
                <a16:creationId xmlns:a16="http://schemas.microsoft.com/office/drawing/2014/main" id="{65F8674E-BA19-412E-B444-475223C632DD}"/>
              </a:ext>
            </a:extLst>
          </p:cNvPr>
          <p:cNvSpPr>
            <a:spLocks noGrp="1"/>
          </p:cNvSpPr>
          <p:nvPr/>
        </p:nvSpPr>
        <p:spPr>
          <a:xfrm>
            <a:off x="156972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81" name="lower_lipid_head_12">
            <a:extLst>
              <a:ext uri="{FF2B5EF4-FFF2-40B4-BE49-F238E27FC236}">
                <a16:creationId xmlns:a16="http://schemas.microsoft.com/office/drawing/2014/main" id="{32C60C6D-295A-4779-98EC-F0A4D6E4C079}"/>
              </a:ext>
            </a:extLst>
          </p:cNvPr>
          <p:cNvSpPr>
            <a:spLocks noGrp="1"/>
          </p:cNvSpPr>
          <p:nvPr/>
        </p:nvSpPr>
        <p:spPr>
          <a:xfrm>
            <a:off x="1521460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82" name="lower_lipid_tail_a_12">
            <a:extLst>
              <a:ext uri="{FF2B5EF4-FFF2-40B4-BE49-F238E27FC236}">
                <a16:creationId xmlns:a16="http://schemas.microsoft.com/office/drawing/2014/main" id="{01F23075-64B1-4D0C-A5BE-B1200A5D4427}"/>
              </a:ext>
            </a:extLst>
          </p:cNvPr>
          <p:cNvSpPr>
            <a:spLocks noGrp="1"/>
          </p:cNvSpPr>
          <p:nvPr/>
        </p:nvSpPr>
        <p:spPr>
          <a:xfrm>
            <a:off x="154432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83" name="lower_lipid_tail_b_12">
            <a:extLst>
              <a:ext uri="{FF2B5EF4-FFF2-40B4-BE49-F238E27FC236}">
                <a16:creationId xmlns:a16="http://schemas.microsoft.com/office/drawing/2014/main" id="{6E8E92AE-C90C-4BAC-A7C2-62925A4C1492}"/>
              </a:ext>
            </a:extLst>
          </p:cNvPr>
          <p:cNvSpPr>
            <a:spLocks noGrp="1"/>
          </p:cNvSpPr>
          <p:nvPr/>
        </p:nvSpPr>
        <p:spPr>
          <a:xfrm>
            <a:off x="156972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84" name="upper_lipid_head_13">
            <a:extLst>
              <a:ext uri="{FF2B5EF4-FFF2-40B4-BE49-F238E27FC236}">
                <a16:creationId xmlns:a16="http://schemas.microsoft.com/office/drawing/2014/main" id="{0CB36531-66A7-411E-8AD7-1DD46B79B85D}"/>
              </a:ext>
            </a:extLst>
          </p:cNvPr>
          <p:cNvSpPr>
            <a:spLocks noGrp="1"/>
          </p:cNvSpPr>
          <p:nvPr/>
        </p:nvSpPr>
        <p:spPr>
          <a:xfrm>
            <a:off x="161226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85" name="upper_lipid_tail_a_13">
            <a:extLst>
              <a:ext uri="{FF2B5EF4-FFF2-40B4-BE49-F238E27FC236}">
                <a16:creationId xmlns:a16="http://schemas.microsoft.com/office/drawing/2014/main" id="{21712251-9310-44A7-B0E3-27A52486FD6D}"/>
              </a:ext>
            </a:extLst>
          </p:cNvPr>
          <p:cNvSpPr>
            <a:spLocks noGrp="1"/>
          </p:cNvSpPr>
          <p:nvPr/>
        </p:nvSpPr>
        <p:spPr>
          <a:xfrm>
            <a:off x="163512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86" name="upper_lipid_tail_b_13">
            <a:extLst>
              <a:ext uri="{FF2B5EF4-FFF2-40B4-BE49-F238E27FC236}">
                <a16:creationId xmlns:a16="http://schemas.microsoft.com/office/drawing/2014/main" id="{D7C9EA55-C109-4491-960E-089BCE18F64B}"/>
              </a:ext>
            </a:extLst>
          </p:cNvPr>
          <p:cNvSpPr>
            <a:spLocks noGrp="1"/>
          </p:cNvSpPr>
          <p:nvPr/>
        </p:nvSpPr>
        <p:spPr>
          <a:xfrm>
            <a:off x="166052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87" name="lower_lipid_head_13">
            <a:extLst>
              <a:ext uri="{FF2B5EF4-FFF2-40B4-BE49-F238E27FC236}">
                <a16:creationId xmlns:a16="http://schemas.microsoft.com/office/drawing/2014/main" id="{C8FDA06B-5608-4822-8A57-69BED392A92D}"/>
              </a:ext>
            </a:extLst>
          </p:cNvPr>
          <p:cNvSpPr>
            <a:spLocks noGrp="1"/>
          </p:cNvSpPr>
          <p:nvPr/>
        </p:nvSpPr>
        <p:spPr>
          <a:xfrm>
            <a:off x="161226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88" name="lower_lipid_tail_a_13">
            <a:extLst>
              <a:ext uri="{FF2B5EF4-FFF2-40B4-BE49-F238E27FC236}">
                <a16:creationId xmlns:a16="http://schemas.microsoft.com/office/drawing/2014/main" id="{6DC03A7A-E19E-41E4-8B6B-1D4D3DC8F25B}"/>
              </a:ext>
            </a:extLst>
          </p:cNvPr>
          <p:cNvSpPr>
            <a:spLocks noGrp="1"/>
          </p:cNvSpPr>
          <p:nvPr/>
        </p:nvSpPr>
        <p:spPr>
          <a:xfrm>
            <a:off x="163512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89" name="lower_lipid_tail_b_13">
            <a:extLst>
              <a:ext uri="{FF2B5EF4-FFF2-40B4-BE49-F238E27FC236}">
                <a16:creationId xmlns:a16="http://schemas.microsoft.com/office/drawing/2014/main" id="{DF939080-2A50-4EB9-8360-D84760C77957}"/>
              </a:ext>
            </a:extLst>
          </p:cNvPr>
          <p:cNvSpPr>
            <a:spLocks noGrp="1"/>
          </p:cNvSpPr>
          <p:nvPr/>
        </p:nvSpPr>
        <p:spPr>
          <a:xfrm>
            <a:off x="166052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90" name="upper_lipid_head_14">
            <a:extLst>
              <a:ext uri="{FF2B5EF4-FFF2-40B4-BE49-F238E27FC236}">
                <a16:creationId xmlns:a16="http://schemas.microsoft.com/office/drawing/2014/main" id="{75AC811E-5AFC-453E-9B08-7586687AA3A6}"/>
              </a:ext>
            </a:extLst>
          </p:cNvPr>
          <p:cNvSpPr>
            <a:spLocks noGrp="1"/>
          </p:cNvSpPr>
          <p:nvPr/>
        </p:nvSpPr>
        <p:spPr>
          <a:xfrm>
            <a:off x="1703071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91" name="upper_lipid_tail_a_14">
            <a:extLst>
              <a:ext uri="{FF2B5EF4-FFF2-40B4-BE49-F238E27FC236}">
                <a16:creationId xmlns:a16="http://schemas.microsoft.com/office/drawing/2014/main" id="{3F6D77BB-9488-4760-9A0E-1C10C0E78862}"/>
              </a:ext>
            </a:extLst>
          </p:cNvPr>
          <p:cNvSpPr>
            <a:spLocks noGrp="1"/>
          </p:cNvSpPr>
          <p:nvPr/>
        </p:nvSpPr>
        <p:spPr>
          <a:xfrm>
            <a:off x="172593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92" name="upper_lipid_tail_b_14">
            <a:extLst>
              <a:ext uri="{FF2B5EF4-FFF2-40B4-BE49-F238E27FC236}">
                <a16:creationId xmlns:a16="http://schemas.microsoft.com/office/drawing/2014/main" id="{F5076BA8-6C0F-4BC9-98AD-AB6904BD239A}"/>
              </a:ext>
            </a:extLst>
          </p:cNvPr>
          <p:cNvSpPr>
            <a:spLocks noGrp="1"/>
          </p:cNvSpPr>
          <p:nvPr/>
        </p:nvSpPr>
        <p:spPr>
          <a:xfrm>
            <a:off x="175133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93" name="lower_lipid_head_14">
            <a:extLst>
              <a:ext uri="{FF2B5EF4-FFF2-40B4-BE49-F238E27FC236}">
                <a16:creationId xmlns:a16="http://schemas.microsoft.com/office/drawing/2014/main" id="{A1DE6E1E-4655-428A-8EA3-80E8299CA1FC}"/>
              </a:ext>
            </a:extLst>
          </p:cNvPr>
          <p:cNvSpPr>
            <a:spLocks noGrp="1"/>
          </p:cNvSpPr>
          <p:nvPr/>
        </p:nvSpPr>
        <p:spPr>
          <a:xfrm>
            <a:off x="1703071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94" name="lower_lipid_tail_a_14">
            <a:extLst>
              <a:ext uri="{FF2B5EF4-FFF2-40B4-BE49-F238E27FC236}">
                <a16:creationId xmlns:a16="http://schemas.microsoft.com/office/drawing/2014/main" id="{5818D189-C2A9-4FA3-A3E3-722CF9260985}"/>
              </a:ext>
            </a:extLst>
          </p:cNvPr>
          <p:cNvSpPr>
            <a:spLocks noGrp="1"/>
          </p:cNvSpPr>
          <p:nvPr/>
        </p:nvSpPr>
        <p:spPr>
          <a:xfrm>
            <a:off x="172593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95" name="lower_lipid_tail_b_14">
            <a:extLst>
              <a:ext uri="{FF2B5EF4-FFF2-40B4-BE49-F238E27FC236}">
                <a16:creationId xmlns:a16="http://schemas.microsoft.com/office/drawing/2014/main" id="{B9955CBC-058C-4A99-BE17-2BC757BD58CC}"/>
              </a:ext>
            </a:extLst>
          </p:cNvPr>
          <p:cNvSpPr>
            <a:spLocks noGrp="1"/>
          </p:cNvSpPr>
          <p:nvPr/>
        </p:nvSpPr>
        <p:spPr>
          <a:xfrm>
            <a:off x="175133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pic>
        <p:nvPicPr>
          <p:cNvPr id="342" name="Рисунок 341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821746" y="5003800"/>
            <a:ext cx="845705" cy="876300"/>
          </a:xfrm>
          <a:prstGeom prst="rect">
            <a:avLst/>
          </a:prstGeom>
        </p:spPr>
      </p:pic>
      <p:sp>
        <p:nvSpPr>
          <p:cNvPr id="197" name="membrane_target_4_disc">
            <a:extLst>
              <a:ext uri="{FF2B5EF4-FFF2-40B4-BE49-F238E27FC236}">
                <a16:creationId xmlns:a16="http://schemas.microsoft.com/office/drawing/2014/main" id="{81AA453B-725D-480B-8861-156899A7B5B9}"/>
              </a:ext>
            </a:extLst>
          </p:cNvPr>
          <p:cNvSpPr>
            <a:spLocks noGrp="1"/>
          </p:cNvSpPr>
          <p:nvPr/>
        </p:nvSpPr>
        <p:spPr>
          <a:xfrm>
            <a:off x="406400" y="4991100"/>
            <a:ext cx="279400" cy="279400"/>
          </a:xfrm>
          <a:prstGeom prst="ellipse">
            <a:avLst/>
          </a:prstGeom>
          <a:solidFill>
            <a:srgbClr val="0F9ED5"/>
          </a:solidFill>
          <a:ln w="15240">
            <a:solidFill>
              <a:srgbClr val="FFFFFF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98" name="membrane_target_4_number">
            <a:extLst>
              <a:ext uri="{FF2B5EF4-FFF2-40B4-BE49-F238E27FC236}">
                <a16:creationId xmlns:a16="http://schemas.microsoft.com/office/drawing/2014/main" id="{7B584AA8-460B-4E1A-BF09-854F09C34BD1}"/>
              </a:ext>
            </a:extLst>
          </p:cNvPr>
          <p:cNvSpPr>
            <a:spLocks noGrp="1"/>
          </p:cNvSpPr>
          <p:nvPr/>
        </p:nvSpPr>
        <p:spPr>
          <a:xfrm>
            <a:off x="406400" y="4991100"/>
            <a:ext cx="2794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4</a:t>
            </a:r>
          </a:p>
        </p:txBody>
      </p:sp>
      <p:sp>
        <p:nvSpPr>
          <p:cNvPr id="199" name="membrane_target_pointer">
            <a:extLst>
              <a:ext uri="{FF2B5EF4-FFF2-40B4-BE49-F238E27FC236}">
                <a16:creationId xmlns:a16="http://schemas.microsoft.com/office/drawing/2014/main" id="{EADA3EAE-CDFD-458C-A04F-1C7B00FED826}"/>
              </a:ext>
            </a:extLst>
          </p:cNvPr>
          <p:cNvSpPr>
            <a:spLocks noGrp="1"/>
          </p:cNvSpPr>
          <p:nvPr/>
        </p:nvSpPr>
        <p:spPr>
          <a:xfrm>
            <a:off x="647700" y="5232400"/>
            <a:ext cx="203200" cy="114300"/>
          </a:xfrm>
          <a:prstGeom prst="line">
            <a:avLst/>
          </a:prstGeom>
          <a:noFill/>
          <a:ln w="16511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00" name="membrane_label">
            <a:extLst>
              <a:ext uri="{FF2B5EF4-FFF2-40B4-BE49-F238E27FC236}">
                <a16:creationId xmlns:a16="http://schemas.microsoft.com/office/drawing/2014/main" id="{B205D50C-7494-46D1-9D32-786A1C9314D1}"/>
              </a:ext>
            </a:extLst>
          </p:cNvPr>
          <p:cNvSpPr>
            <a:spLocks noGrp="1"/>
          </p:cNvSpPr>
          <p:nvPr/>
        </p:nvSpPr>
        <p:spPr>
          <a:xfrm>
            <a:off x="1854200" y="5143500"/>
            <a:ext cx="1143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мембране</a:t>
            </a:r>
          </a:p>
        </p:txBody>
      </p:sp>
      <p:cxnSp>
        <p:nvCxnSpPr>
          <p:cNvPr id="350" name="Указатель_маркер_1"/>
          <p:cNvCxnSpPr/>
          <p:nvPr/>
        </p:nvCxnSpPr>
        <p:spPr>
          <a:xfrm flipV="1">
            <a:off x="635000" y="1155700"/>
            <a:ext cx="203200" cy="50800"/>
          </a:xfrm>
          <a:prstGeom prst="line">
            <a:avLst/>
          </a:prstGeom>
          <a:ln w="15875">
            <a:solidFill>
              <a:srgbClr val="156082"/>
            </a:solidFill>
          </a:ln>
        </p:spPr>
      </p:cxnSp>
      <p:sp>
        <p:nvSpPr>
          <p:cNvPr id="79" name="Маркер_3_собирательная;79;p13">
            <a:extLst>
              <a:ext uri="{FF2B5EF4-FFF2-40B4-BE49-F238E27FC236}">
                <a16:creationId xmlns:a16="http://schemas.microsoft.com/office/drawing/2014/main" id="{BB6CCBF0-3FA0-4E58-82A1-28F9B0AFE994}"/>
              </a:ext>
            </a:extLst>
          </p:cNvPr>
          <p:cNvSpPr>
            <a:spLocks noGrp="1"/>
          </p:cNvSpPr>
          <p:nvPr/>
        </p:nvSpPr>
        <p:spPr>
          <a:xfrm>
            <a:off x="2540000" y="2336800"/>
            <a:ext cx="228600" cy="228600"/>
          </a:xfrm>
          <a:prstGeom prst="ellipse">
            <a:avLst/>
          </a:prstGeom>
          <a:solidFill>
            <a:srgbClr val="7030A0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  <a:lnSpc>
                <a:spcPct val="90000"/>
              </a:lnSpc>
            </a:pPr>
            <a:endParaRPr/>
          </a:p>
        </p:txBody>
      </p:sp>
      <p:sp>
        <p:nvSpPr>
          <p:cNvPr id="80" name="Маркер_3_собирательная;80;p13">
            <a:extLst>
              <a:ext uri="{FF2B5EF4-FFF2-40B4-BE49-F238E27FC236}">
                <a16:creationId xmlns:a16="http://schemas.microsoft.com/office/drawing/2014/main" id="{C11F9E02-FA20-4C3D-B4D4-50F310694B04}"/>
              </a:ext>
            </a:extLst>
          </p:cNvPr>
          <p:cNvSpPr>
            <a:spLocks noGrp="1"/>
          </p:cNvSpPr>
          <p:nvPr/>
        </p:nvSpPr>
        <p:spPr>
          <a:xfrm>
            <a:off x="2540000" y="23368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3</a:t>
            </a:r>
          </a:p>
        </p:txBody>
      </p:sp>
      <p:cxnSp>
        <p:nvCxnSpPr>
          <p:cNvPr id="351" name="Указатель_маркер_3"/>
          <p:cNvCxnSpPr/>
          <p:nvPr/>
        </p:nvCxnSpPr>
        <p:spPr>
          <a:xfrm flipH="1">
            <a:off x="2438400" y="2489200"/>
            <a:ext cx="101600" cy="50800"/>
          </a:xfrm>
          <a:prstGeom prst="line">
            <a:avLst/>
          </a:prstGeom>
          <a:ln w="15875">
            <a:solidFill>
              <a:srgbClr val="7030A0"/>
            </a:solidFill>
          </a:ln>
        </p:spPr>
      </p:cxnSp>
      <p:sp>
        <p:nvSpPr>
          <p:cNvPr id="352" name="Источники"/>
          <p:cNvSpPr txBox="1"/>
          <p:nvPr/>
        </p:nvSpPr>
        <p:spPr>
          <a:xfrm>
            <a:off x="457200" y="6134100"/>
            <a:ext cx="10795000" cy="6477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* Раннее снижение рСКФ после начала приёма ингибитора НГЛТ2 обычно обратимо; выраженное снижение требует оценки врача. † FLOW: почечная недостаточность, устойчивое снижение рСКФ на ≥50% либо смерть от почечных или сердечно-сосудистых причин.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рСКФ: расчётная скорость клубочковой фильтрации; АПФ: ангиотензинпревращающий фермент; БРА: блокатор рецепторов ангиотензина II.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KDIGO 2024 Clinical Practice Guideline for CKD. Kidney Int. 2024;105(4S):S117–S314. Kerendia (finerenone). Summary of Product Characteristics. EMA. Ozempic (semaglutide). US Prescribing Information. Perkovic V, et al. N Engl J Med. 2024;391:109–121. Servier Medical Art, CC BY 4.0.</a:t>
            </a:r>
          </a:p>
        </p:txBody>
      </p:sp>
      <p:pic>
        <p:nvPicPr>
          <p:cNvPr id="353" name="Логотип Орвилле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47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marR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cs typeface="Arial Narrow"/>
              </a:rPr>
              <a:t>Минералокортикоидный рецептор регулирует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cs typeface="Arial Narrow"/>
              </a:rPr>
              <a:t>реабсорбцию натрия и секрецию калия</a:t>
            </a:r>
          </a:p>
        </p:txBody>
      </p:sp>
      <p:sp>
        <p:nvSpPr>
          <p:cNvPr id="3" name="Просвет трубочки"/>
          <p:cNvSpPr/>
          <p:nvPr/>
        </p:nvSpPr>
        <p:spPr>
          <a:xfrm>
            <a:off x="438912" y="1655064"/>
            <a:ext cx="1828800" cy="4370832"/>
          </a:xfrm>
          <a:prstGeom prst="rect">
            <a:avLst/>
          </a:prstGeom>
          <a:solidFill>
            <a:srgbClr val="EF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" name="Интерстиций со стороны крови"/>
          <p:cNvSpPr/>
          <p:nvPr/>
        </p:nvSpPr>
        <p:spPr>
          <a:xfrm>
            <a:off x="9326880" y="1655064"/>
            <a:ext cx="2414016" cy="4370832"/>
          </a:xfrm>
          <a:prstGeom prst="rect">
            <a:avLst/>
          </a:prstGeom>
          <a:solidFill>
            <a:srgbClr val="FD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" name="Текст: Просвет&#10;трубочки"/>
          <p:cNvSpPr txBox="1"/>
          <p:nvPr/>
        </p:nvSpPr>
        <p:spPr>
          <a:xfrm>
            <a:off x="521207" y="1252728"/>
            <a:ext cx="1682496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Просвет</a:t>
            </a:r>
          </a:p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трубочки</a:t>
            </a:r>
          </a:p>
        </p:txBody>
      </p:sp>
      <p:sp>
        <p:nvSpPr>
          <p:cNvPr id="6" name="Текст: Главная клетка собирательной трубочки"/>
          <p:cNvSpPr txBox="1"/>
          <p:nvPr/>
        </p:nvSpPr>
        <p:spPr>
          <a:xfrm>
            <a:off x="2724912" y="1261872"/>
            <a:ext cx="63093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Главная клетка собирательной трубочки</a:t>
            </a:r>
          </a:p>
        </p:txBody>
      </p:sp>
      <p:sp>
        <p:nvSpPr>
          <p:cNvPr id="7" name="Текст: Межклеточная жидкость&#10;со стороны крови"/>
          <p:cNvSpPr txBox="1"/>
          <p:nvPr/>
        </p:nvSpPr>
        <p:spPr>
          <a:xfrm>
            <a:off x="9372600" y="1252728"/>
            <a:ext cx="2578608" cy="5029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Межклеточная жидкость</a:t>
            </a:r>
          </a:p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со стороны крови</a:t>
            </a:r>
          </a:p>
        </p:txBody>
      </p:sp>
      <p:sp>
        <p:nvSpPr>
          <p:cNvPr id="8" name="Главная клетка: наружная мембрана"/>
          <p:cNvSpPr/>
          <p:nvPr/>
        </p:nvSpPr>
        <p:spPr>
          <a:xfrm>
            <a:off x="2221992" y="1664208"/>
            <a:ext cx="7168896" cy="44348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5" y="10"/>
                </a:moveTo>
                <a:cubicBezTo>
                  <a:pt x="285" y="-10"/>
                  <a:pt x="670" y="18"/>
                  <a:pt x="906" y="5"/>
                </a:cubicBezTo>
                <a:cubicBezTo>
                  <a:pt x="982" y="8"/>
                  <a:pt x="1003" y="59"/>
                  <a:pt x="994" y="145"/>
                </a:cubicBezTo>
                <a:cubicBezTo>
                  <a:pt x="978" y="290"/>
                  <a:pt x="1003" y="386"/>
                  <a:pt x="991" y="520"/>
                </a:cubicBezTo>
                <a:cubicBezTo>
                  <a:pt x="981" y="650"/>
                  <a:pt x="1000" y="760"/>
                  <a:pt x="985" y="898"/>
                </a:cubicBezTo>
                <a:cubicBezTo>
                  <a:pt x="983" y="978"/>
                  <a:pt x="940" y="993"/>
                  <a:pt x="867" y="992"/>
                </a:cubicBezTo>
                <a:cubicBezTo>
                  <a:pt x="610" y="980"/>
                  <a:pt x="347" y="1004"/>
                  <a:pt x="90" y="984"/>
                </a:cubicBezTo>
                <a:cubicBezTo>
                  <a:pt x="22" y="974"/>
                  <a:pt x="7" y="935"/>
                  <a:pt x="12" y="872"/>
                </a:cubicBezTo>
                <a:cubicBezTo>
                  <a:pt x="26" y="745"/>
                  <a:pt x="-6" y="650"/>
                  <a:pt x="9" y="529"/>
                </a:cubicBezTo>
                <a:cubicBezTo>
                  <a:pt x="23" y="382"/>
                  <a:pt x="-6" y="231"/>
                  <a:pt x="11" y="137"/>
                </a:cubicBezTo>
                <a:cubicBezTo>
                  <a:pt x="15" y="64"/>
                  <a:pt x="15" y="22"/>
                  <a:pt x="75" y="10"/>
                </a:cubicBezTo>
                <a:close/>
              </a:path>
            </a:pathLst>
          </a:custGeom>
          <a:gradFill rotWithShape="1">
            <a:gsLst>
              <a:gs pos="0">
                <a:srgbClr val="FFF0D9"/>
              </a:gs>
              <a:gs pos="36000">
                <a:srgbClr val="FFF9F0"/>
              </a:gs>
              <a:gs pos="80000">
                <a:srgbClr val="FFF7EC"/>
              </a:gs>
              <a:gs pos="100000">
                <a:srgbClr val="F9E7CE"/>
              </a:gs>
            </a:gsLst>
            <a:lin ang="0" scaled="1"/>
          </a:gradFill>
          <a:ln w="26670">
            <a:solidFill>
              <a:srgbClr val="CFA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9" name="Внутренняя граница мембраны"/>
          <p:cNvSpPr/>
          <p:nvPr/>
        </p:nvSpPr>
        <p:spPr>
          <a:xfrm>
            <a:off x="2295144" y="1719072"/>
            <a:ext cx="7022592" cy="430682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5" y="10"/>
                </a:moveTo>
                <a:cubicBezTo>
                  <a:pt x="285" y="-10"/>
                  <a:pt x="670" y="18"/>
                  <a:pt x="906" y="5"/>
                </a:cubicBezTo>
                <a:cubicBezTo>
                  <a:pt x="982" y="8"/>
                  <a:pt x="1003" y="59"/>
                  <a:pt x="994" y="145"/>
                </a:cubicBezTo>
                <a:cubicBezTo>
                  <a:pt x="978" y="290"/>
                  <a:pt x="1003" y="386"/>
                  <a:pt x="991" y="520"/>
                </a:cubicBezTo>
                <a:cubicBezTo>
                  <a:pt x="981" y="650"/>
                  <a:pt x="1000" y="760"/>
                  <a:pt x="985" y="898"/>
                </a:cubicBezTo>
                <a:cubicBezTo>
                  <a:pt x="983" y="978"/>
                  <a:pt x="940" y="993"/>
                  <a:pt x="867" y="992"/>
                </a:cubicBezTo>
                <a:cubicBezTo>
                  <a:pt x="610" y="980"/>
                  <a:pt x="347" y="1004"/>
                  <a:pt x="90" y="984"/>
                </a:cubicBezTo>
                <a:cubicBezTo>
                  <a:pt x="22" y="974"/>
                  <a:pt x="7" y="935"/>
                  <a:pt x="12" y="872"/>
                </a:cubicBezTo>
                <a:cubicBezTo>
                  <a:pt x="26" y="745"/>
                  <a:pt x="-6" y="650"/>
                  <a:pt x="9" y="529"/>
                </a:cubicBezTo>
                <a:cubicBezTo>
                  <a:pt x="23" y="382"/>
                  <a:pt x="-6" y="231"/>
                  <a:pt x="11" y="137"/>
                </a:cubicBezTo>
                <a:cubicBezTo>
                  <a:pt x="15" y="64"/>
                  <a:pt x="15" y="22"/>
                  <a:pt x="75" y="10"/>
                </a:cubicBezTo>
                <a:close/>
              </a:path>
            </a:pathLst>
          </a:custGeom>
          <a:noFill/>
          <a:ln w="14604">
            <a:solidFill>
              <a:srgbClr val="E7CD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0" name="Митохондрия: контекст клетки"/>
          <p:cNvSpPr/>
          <p:nvPr/>
        </p:nvSpPr>
        <p:spPr>
          <a:xfrm>
            <a:off x="2752344" y="2039112"/>
            <a:ext cx="914400" cy="43891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210"/>
                </a:moveTo>
                <a:cubicBezTo>
                  <a:pt x="220" y="15"/>
                  <a:pt x="725" y="-35"/>
                  <a:pt x="915" y="270"/>
                </a:cubicBezTo>
                <a:cubicBezTo>
                  <a:pt x="1040" y="470"/>
                  <a:pt x="890" y="870"/>
                  <a:pt x="620" y="945"/>
                </a:cubicBezTo>
                <a:cubicBezTo>
                  <a:pt x="280" y="1040"/>
                  <a:pt x="5" y="860"/>
                  <a:pt x="25" y="570"/>
                </a:cubicBezTo>
                <a:cubicBezTo>
                  <a:pt x="35" y="410"/>
                  <a:pt x="50" y="290"/>
                  <a:pt x="90" y="210"/>
                </a:cubicBezTo>
                <a:close/>
              </a:path>
            </a:pathLst>
          </a:custGeom>
          <a:gradFill rotWithShape="1">
            <a:gsLst>
              <a:gs pos="0">
                <a:srgbClr val="FBE8C9"/>
              </a:gs>
              <a:gs pos="100000">
                <a:srgbClr val="F3C793"/>
              </a:gs>
            </a:gsLst>
            <a:lin ang="2700000" scaled="1"/>
          </a:gradFill>
          <a:ln w="10795">
            <a:solidFill>
              <a:srgbClr val="DDB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1" name="Кристы митохондрии"/>
          <p:cNvSpPr/>
          <p:nvPr/>
        </p:nvSpPr>
        <p:spPr>
          <a:xfrm>
            <a:off x="2752344" y="2039112"/>
            <a:ext cx="914400" cy="438912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80" y="580"/>
                </a:moveTo>
                <a:cubicBezTo>
                  <a:pt x="140" y="360"/>
                  <a:pt x="260" y="240"/>
                  <a:pt x="340" y="250"/>
                </a:cubicBezTo>
                <a:cubicBezTo>
                  <a:pt x="430" y="260"/>
                  <a:pt x="280" y="700"/>
                  <a:pt x="400" y="750"/>
                </a:cubicBezTo>
                <a:cubicBezTo>
                  <a:pt x="530" y="795"/>
                  <a:pt x="475" y="280"/>
                  <a:pt x="580" y="260"/>
                </a:cubicBezTo>
                <a:cubicBezTo>
                  <a:pt x="700" y="210"/>
                  <a:pt x="620" y="730"/>
                  <a:pt x="740" y="680"/>
                </a:cubicBezTo>
                <a:cubicBezTo>
                  <a:pt x="800" y="650"/>
                  <a:pt x="860" y="455"/>
                  <a:pt x="815" y="360"/>
                </a:cubicBezTo>
              </a:path>
            </a:pathLst>
          </a:custGeom>
          <a:noFill/>
          <a:ln w="12700">
            <a:solidFill>
              <a:srgbClr val="D7A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2" name="Митохондрия: контекст клетки"/>
          <p:cNvSpPr/>
          <p:nvPr/>
        </p:nvSpPr>
        <p:spPr>
          <a:xfrm>
            <a:off x="2871216" y="3346704"/>
            <a:ext cx="813816" cy="4206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210"/>
                </a:moveTo>
                <a:cubicBezTo>
                  <a:pt x="220" y="15"/>
                  <a:pt x="725" y="-35"/>
                  <a:pt x="915" y="270"/>
                </a:cubicBezTo>
                <a:cubicBezTo>
                  <a:pt x="1040" y="470"/>
                  <a:pt x="890" y="870"/>
                  <a:pt x="620" y="945"/>
                </a:cubicBezTo>
                <a:cubicBezTo>
                  <a:pt x="280" y="1040"/>
                  <a:pt x="5" y="860"/>
                  <a:pt x="25" y="570"/>
                </a:cubicBezTo>
                <a:cubicBezTo>
                  <a:pt x="35" y="410"/>
                  <a:pt x="50" y="290"/>
                  <a:pt x="90" y="210"/>
                </a:cubicBezTo>
                <a:close/>
              </a:path>
            </a:pathLst>
          </a:custGeom>
          <a:gradFill rotWithShape="1">
            <a:gsLst>
              <a:gs pos="0">
                <a:srgbClr val="FBE8C9"/>
              </a:gs>
              <a:gs pos="100000">
                <a:srgbClr val="F3C793"/>
              </a:gs>
            </a:gsLst>
            <a:lin ang="2700000" scaled="1"/>
          </a:gradFill>
          <a:ln w="10795">
            <a:solidFill>
              <a:srgbClr val="DDB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3" name="Кристы митохондрии"/>
          <p:cNvSpPr/>
          <p:nvPr/>
        </p:nvSpPr>
        <p:spPr>
          <a:xfrm>
            <a:off x="2871216" y="3346704"/>
            <a:ext cx="813816" cy="42062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80" y="580"/>
                </a:moveTo>
                <a:cubicBezTo>
                  <a:pt x="140" y="360"/>
                  <a:pt x="260" y="240"/>
                  <a:pt x="340" y="250"/>
                </a:cubicBezTo>
                <a:cubicBezTo>
                  <a:pt x="430" y="260"/>
                  <a:pt x="280" y="700"/>
                  <a:pt x="400" y="750"/>
                </a:cubicBezTo>
                <a:cubicBezTo>
                  <a:pt x="530" y="795"/>
                  <a:pt x="475" y="280"/>
                  <a:pt x="580" y="260"/>
                </a:cubicBezTo>
                <a:cubicBezTo>
                  <a:pt x="700" y="210"/>
                  <a:pt x="620" y="730"/>
                  <a:pt x="740" y="680"/>
                </a:cubicBezTo>
                <a:cubicBezTo>
                  <a:pt x="800" y="650"/>
                  <a:pt x="860" y="455"/>
                  <a:pt x="815" y="360"/>
                </a:cubicBezTo>
              </a:path>
            </a:pathLst>
          </a:custGeom>
          <a:noFill/>
          <a:ln w="12700">
            <a:solidFill>
              <a:srgbClr val="D7A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7" name="Ядро"/>
          <p:cNvSpPr/>
          <p:nvPr/>
        </p:nvSpPr>
        <p:spPr>
          <a:xfrm>
            <a:off x="4087368" y="1947672"/>
            <a:ext cx="2295144" cy="1508760"/>
          </a:xfrm>
          <a:prstGeom prst="ellipse">
            <a:avLst/>
          </a:prstGeom>
          <a:gradFill rotWithShape="1">
            <a:gsLst>
              <a:gs pos="0">
                <a:srgbClr val="F5EEF9"/>
              </a:gs>
              <a:gs pos="70000">
                <a:srgbClr val="E3D4F0"/>
              </a:gs>
              <a:gs pos="100000">
                <a:srgbClr val="D8C3EB"/>
              </a:gs>
            </a:gsLst>
            <a:lin ang="5400000" scaled="1"/>
          </a:gradFill>
          <a:ln w="18415">
            <a:solidFill>
              <a:srgbClr val="785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8" name="Ядерная оболочка"/>
          <p:cNvSpPr/>
          <p:nvPr/>
        </p:nvSpPr>
        <p:spPr>
          <a:xfrm>
            <a:off x="4142232" y="1993392"/>
            <a:ext cx="2185416" cy="1399032"/>
          </a:xfrm>
          <a:prstGeom prst="ellipse">
            <a:avLst/>
          </a:prstGeom>
          <a:noFill/>
          <a:ln w="9525">
            <a:solidFill>
              <a:srgbClr val="C9A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9" name="Текст: Ядро"/>
          <p:cNvSpPr txBox="1"/>
          <p:nvPr/>
        </p:nvSpPr>
        <p:spPr>
          <a:xfrm>
            <a:off x="4361688" y="2093976"/>
            <a:ext cx="1719072" cy="26517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Ядро</a:t>
            </a:r>
          </a:p>
        </p:txBody>
      </p:sp>
      <p:cxnSp>
        <p:nvCxnSpPr>
          <p:cNvPr id="20" name="Цепь ДНК"/>
          <p:cNvCxnSpPr/>
          <p:nvPr/>
        </p:nvCxnSpPr>
        <p:spPr>
          <a:xfrm>
            <a:off x="4453128" y="2679192"/>
            <a:ext cx="15544" cy="2227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Цепь ДНК"/>
          <p:cNvCxnSpPr/>
          <p:nvPr/>
        </p:nvCxnSpPr>
        <p:spPr>
          <a:xfrm>
            <a:off x="4468672" y="2701466"/>
            <a:ext cx="15545" cy="2148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Цепь ДНК"/>
          <p:cNvCxnSpPr/>
          <p:nvPr/>
        </p:nvCxnSpPr>
        <p:spPr>
          <a:xfrm>
            <a:off x="4484217" y="2722951"/>
            <a:ext cx="15545" cy="1993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Цепь ДНК"/>
          <p:cNvCxnSpPr/>
          <p:nvPr/>
        </p:nvCxnSpPr>
        <p:spPr>
          <a:xfrm>
            <a:off x="4499762" y="2742886"/>
            <a:ext cx="15545" cy="1767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Цепь ДНК"/>
          <p:cNvCxnSpPr/>
          <p:nvPr/>
        </p:nvCxnSpPr>
        <p:spPr>
          <a:xfrm>
            <a:off x="4515307" y="2760565"/>
            <a:ext cx="15545" cy="1479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Цепь ДНК"/>
          <p:cNvCxnSpPr/>
          <p:nvPr/>
        </p:nvCxnSpPr>
        <p:spPr>
          <a:xfrm>
            <a:off x="4530852" y="2775361"/>
            <a:ext cx="15544" cy="1138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Цепь ДНК"/>
          <p:cNvCxnSpPr/>
          <p:nvPr/>
        </p:nvCxnSpPr>
        <p:spPr>
          <a:xfrm>
            <a:off x="4546396" y="2786750"/>
            <a:ext cx="15545" cy="757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Цепь ДНК"/>
          <p:cNvCxnSpPr/>
          <p:nvPr/>
        </p:nvCxnSpPr>
        <p:spPr>
          <a:xfrm>
            <a:off x="4561941" y="2794329"/>
            <a:ext cx="15545" cy="3500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Цепь ДНК"/>
          <p:cNvCxnSpPr/>
          <p:nvPr/>
        </p:nvCxnSpPr>
        <p:spPr>
          <a:xfrm flipV="1">
            <a:off x="4577486" y="2797126"/>
            <a:ext cx="15545" cy="70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Цепь ДНК"/>
          <p:cNvCxnSpPr/>
          <p:nvPr/>
        </p:nvCxnSpPr>
        <p:spPr>
          <a:xfrm flipV="1">
            <a:off x="4593031" y="2792245"/>
            <a:ext cx="15545" cy="488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Цепь ДНК"/>
          <p:cNvCxnSpPr/>
          <p:nvPr/>
        </p:nvCxnSpPr>
        <p:spPr>
          <a:xfrm flipV="1">
            <a:off x="4608576" y="2783360"/>
            <a:ext cx="15544" cy="888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Цепь ДНК"/>
          <p:cNvCxnSpPr/>
          <p:nvPr/>
        </p:nvCxnSpPr>
        <p:spPr>
          <a:xfrm flipV="1">
            <a:off x="4624120" y="2770784"/>
            <a:ext cx="15545" cy="1257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Цепь ДНК"/>
          <p:cNvCxnSpPr/>
          <p:nvPr/>
        </p:nvCxnSpPr>
        <p:spPr>
          <a:xfrm flipV="1">
            <a:off x="4639665" y="2754963"/>
            <a:ext cx="15545" cy="1582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Цепь ДНК"/>
          <p:cNvCxnSpPr/>
          <p:nvPr/>
        </p:nvCxnSpPr>
        <p:spPr>
          <a:xfrm flipV="1">
            <a:off x="4655210" y="2736459"/>
            <a:ext cx="15545" cy="1850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Цепь ДНК"/>
          <p:cNvCxnSpPr/>
          <p:nvPr/>
        </p:nvCxnSpPr>
        <p:spPr>
          <a:xfrm flipV="1">
            <a:off x="4670755" y="2715925"/>
            <a:ext cx="15545" cy="2053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Цепь ДНК"/>
          <p:cNvCxnSpPr/>
          <p:nvPr/>
        </p:nvCxnSpPr>
        <p:spPr>
          <a:xfrm flipV="1">
            <a:off x="4686300" y="2694090"/>
            <a:ext cx="15544" cy="2183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Цепь ДНК"/>
          <p:cNvCxnSpPr/>
          <p:nvPr/>
        </p:nvCxnSpPr>
        <p:spPr>
          <a:xfrm flipV="1">
            <a:off x="4701844" y="2671727"/>
            <a:ext cx="15545" cy="2236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Цепь ДНК"/>
          <p:cNvCxnSpPr/>
          <p:nvPr/>
        </p:nvCxnSpPr>
        <p:spPr>
          <a:xfrm flipV="1">
            <a:off x="4717389" y="2649629"/>
            <a:ext cx="15545" cy="2209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Цепь ДНК"/>
          <p:cNvCxnSpPr/>
          <p:nvPr/>
        </p:nvCxnSpPr>
        <p:spPr>
          <a:xfrm flipV="1">
            <a:off x="4732934" y="2628578"/>
            <a:ext cx="15545" cy="2105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Цепь ДНК"/>
          <p:cNvCxnSpPr/>
          <p:nvPr/>
        </p:nvCxnSpPr>
        <p:spPr>
          <a:xfrm flipV="1">
            <a:off x="4748479" y="2609320"/>
            <a:ext cx="15545" cy="1925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Цепь ДНК"/>
          <p:cNvCxnSpPr/>
          <p:nvPr/>
        </p:nvCxnSpPr>
        <p:spPr>
          <a:xfrm flipV="1">
            <a:off x="4764024" y="2592538"/>
            <a:ext cx="15544" cy="1678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Цепь ДНК"/>
          <p:cNvCxnSpPr/>
          <p:nvPr/>
        </p:nvCxnSpPr>
        <p:spPr>
          <a:xfrm flipV="1">
            <a:off x="4779568" y="2578825"/>
            <a:ext cx="15545" cy="1371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Цепь ДНК"/>
          <p:cNvCxnSpPr/>
          <p:nvPr/>
        </p:nvCxnSpPr>
        <p:spPr>
          <a:xfrm flipV="1">
            <a:off x="4795113" y="2568667"/>
            <a:ext cx="15545" cy="1015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Цепь ДНК"/>
          <p:cNvCxnSpPr/>
          <p:nvPr/>
        </p:nvCxnSpPr>
        <p:spPr>
          <a:xfrm flipV="1">
            <a:off x="4810658" y="2562425"/>
            <a:ext cx="15545" cy="624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Цепь ДНК"/>
          <p:cNvCxnSpPr/>
          <p:nvPr/>
        </p:nvCxnSpPr>
        <p:spPr>
          <a:xfrm flipV="1">
            <a:off x="4826203" y="2560320"/>
            <a:ext cx="15545" cy="210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Цепь ДНК"/>
          <p:cNvCxnSpPr/>
          <p:nvPr/>
        </p:nvCxnSpPr>
        <p:spPr>
          <a:xfrm>
            <a:off x="4841748" y="2560320"/>
            <a:ext cx="15544" cy="210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Цепь ДНК"/>
          <p:cNvCxnSpPr/>
          <p:nvPr/>
        </p:nvCxnSpPr>
        <p:spPr>
          <a:xfrm>
            <a:off x="4857292" y="2562425"/>
            <a:ext cx="15545" cy="624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Цепь ДНК"/>
          <p:cNvCxnSpPr/>
          <p:nvPr/>
        </p:nvCxnSpPr>
        <p:spPr>
          <a:xfrm>
            <a:off x="4872837" y="2568667"/>
            <a:ext cx="15545" cy="1015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Цепь ДНК"/>
          <p:cNvCxnSpPr/>
          <p:nvPr/>
        </p:nvCxnSpPr>
        <p:spPr>
          <a:xfrm>
            <a:off x="4888382" y="2578825"/>
            <a:ext cx="15545" cy="1371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Цепь ДНК"/>
          <p:cNvCxnSpPr/>
          <p:nvPr/>
        </p:nvCxnSpPr>
        <p:spPr>
          <a:xfrm>
            <a:off x="4903927" y="2592538"/>
            <a:ext cx="15545" cy="1678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Цепь ДНК"/>
          <p:cNvCxnSpPr/>
          <p:nvPr/>
        </p:nvCxnSpPr>
        <p:spPr>
          <a:xfrm>
            <a:off x="4919472" y="2609320"/>
            <a:ext cx="15544" cy="1925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Цепь ДНК"/>
          <p:cNvCxnSpPr/>
          <p:nvPr/>
        </p:nvCxnSpPr>
        <p:spPr>
          <a:xfrm>
            <a:off x="4935016" y="2628578"/>
            <a:ext cx="15545" cy="2105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Цепь ДНК"/>
          <p:cNvCxnSpPr/>
          <p:nvPr/>
        </p:nvCxnSpPr>
        <p:spPr>
          <a:xfrm>
            <a:off x="4950561" y="2649629"/>
            <a:ext cx="15545" cy="2209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Цепь ДНК"/>
          <p:cNvCxnSpPr/>
          <p:nvPr/>
        </p:nvCxnSpPr>
        <p:spPr>
          <a:xfrm>
            <a:off x="4966106" y="2671727"/>
            <a:ext cx="15545" cy="2236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Цепь ДНК"/>
          <p:cNvCxnSpPr/>
          <p:nvPr/>
        </p:nvCxnSpPr>
        <p:spPr>
          <a:xfrm>
            <a:off x="4981651" y="2694090"/>
            <a:ext cx="15545" cy="2183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Цепь ДНК"/>
          <p:cNvCxnSpPr/>
          <p:nvPr/>
        </p:nvCxnSpPr>
        <p:spPr>
          <a:xfrm>
            <a:off x="4997196" y="2715925"/>
            <a:ext cx="15544" cy="2053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Цепь ДНК"/>
          <p:cNvCxnSpPr/>
          <p:nvPr/>
        </p:nvCxnSpPr>
        <p:spPr>
          <a:xfrm>
            <a:off x="5012740" y="2736459"/>
            <a:ext cx="15545" cy="1850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Цепь ДНК"/>
          <p:cNvCxnSpPr/>
          <p:nvPr/>
        </p:nvCxnSpPr>
        <p:spPr>
          <a:xfrm>
            <a:off x="5028285" y="2754963"/>
            <a:ext cx="15545" cy="1582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Цепь ДНК"/>
          <p:cNvCxnSpPr/>
          <p:nvPr/>
        </p:nvCxnSpPr>
        <p:spPr>
          <a:xfrm>
            <a:off x="5043830" y="2770784"/>
            <a:ext cx="15545" cy="1257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Цепь ДНК"/>
          <p:cNvCxnSpPr/>
          <p:nvPr/>
        </p:nvCxnSpPr>
        <p:spPr>
          <a:xfrm>
            <a:off x="5059375" y="2783360"/>
            <a:ext cx="15545" cy="888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Цепь ДНК"/>
          <p:cNvCxnSpPr/>
          <p:nvPr/>
        </p:nvCxnSpPr>
        <p:spPr>
          <a:xfrm>
            <a:off x="5074920" y="2792245"/>
            <a:ext cx="15544" cy="488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Цепь ДНК"/>
          <p:cNvCxnSpPr/>
          <p:nvPr/>
        </p:nvCxnSpPr>
        <p:spPr>
          <a:xfrm>
            <a:off x="5090464" y="2797126"/>
            <a:ext cx="15545" cy="70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Цепь ДНК"/>
          <p:cNvCxnSpPr/>
          <p:nvPr/>
        </p:nvCxnSpPr>
        <p:spPr>
          <a:xfrm flipV="1">
            <a:off x="5106009" y="2794329"/>
            <a:ext cx="15545" cy="3500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Цепь ДНК"/>
          <p:cNvCxnSpPr/>
          <p:nvPr/>
        </p:nvCxnSpPr>
        <p:spPr>
          <a:xfrm flipV="1">
            <a:off x="5121554" y="2786750"/>
            <a:ext cx="15545" cy="757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Цепь ДНК"/>
          <p:cNvCxnSpPr/>
          <p:nvPr/>
        </p:nvCxnSpPr>
        <p:spPr>
          <a:xfrm flipV="1">
            <a:off x="5137099" y="2775361"/>
            <a:ext cx="15545" cy="1138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Цепь ДНК"/>
          <p:cNvCxnSpPr/>
          <p:nvPr/>
        </p:nvCxnSpPr>
        <p:spPr>
          <a:xfrm flipV="1">
            <a:off x="5152644" y="2760565"/>
            <a:ext cx="15544" cy="1479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Цепь ДНК"/>
          <p:cNvCxnSpPr/>
          <p:nvPr/>
        </p:nvCxnSpPr>
        <p:spPr>
          <a:xfrm flipV="1">
            <a:off x="5168188" y="2742886"/>
            <a:ext cx="15545" cy="1767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Цепь ДНК"/>
          <p:cNvCxnSpPr/>
          <p:nvPr/>
        </p:nvCxnSpPr>
        <p:spPr>
          <a:xfrm flipV="1">
            <a:off x="5183733" y="2722951"/>
            <a:ext cx="15545" cy="1993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Цепь ДНК"/>
          <p:cNvCxnSpPr/>
          <p:nvPr/>
        </p:nvCxnSpPr>
        <p:spPr>
          <a:xfrm flipV="1">
            <a:off x="5199278" y="2701466"/>
            <a:ext cx="15545" cy="2148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Цепь ДНК"/>
          <p:cNvCxnSpPr/>
          <p:nvPr/>
        </p:nvCxnSpPr>
        <p:spPr>
          <a:xfrm flipV="1">
            <a:off x="5214823" y="2679192"/>
            <a:ext cx="15545" cy="2227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Цепь ДНК"/>
          <p:cNvCxnSpPr/>
          <p:nvPr/>
        </p:nvCxnSpPr>
        <p:spPr>
          <a:xfrm flipV="1">
            <a:off x="5230368" y="2656917"/>
            <a:ext cx="15544" cy="2227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Цепь ДНК"/>
          <p:cNvCxnSpPr/>
          <p:nvPr/>
        </p:nvCxnSpPr>
        <p:spPr>
          <a:xfrm flipV="1">
            <a:off x="5245912" y="2635432"/>
            <a:ext cx="15545" cy="2148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Цепь ДНК"/>
          <p:cNvCxnSpPr/>
          <p:nvPr/>
        </p:nvCxnSpPr>
        <p:spPr>
          <a:xfrm flipV="1">
            <a:off x="5261457" y="2615497"/>
            <a:ext cx="15545" cy="1993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Цепь ДНК"/>
          <p:cNvCxnSpPr/>
          <p:nvPr/>
        </p:nvCxnSpPr>
        <p:spPr>
          <a:xfrm flipV="1">
            <a:off x="5277002" y="2597818"/>
            <a:ext cx="15545" cy="1767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Цепь ДНК"/>
          <p:cNvCxnSpPr/>
          <p:nvPr/>
        </p:nvCxnSpPr>
        <p:spPr>
          <a:xfrm flipV="1">
            <a:off x="5292547" y="2583022"/>
            <a:ext cx="15545" cy="1479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Цепь ДНК"/>
          <p:cNvCxnSpPr/>
          <p:nvPr/>
        </p:nvCxnSpPr>
        <p:spPr>
          <a:xfrm flipV="1">
            <a:off x="5308092" y="2571633"/>
            <a:ext cx="15544" cy="1138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Цепь ДНК"/>
          <p:cNvCxnSpPr/>
          <p:nvPr/>
        </p:nvCxnSpPr>
        <p:spPr>
          <a:xfrm flipV="1">
            <a:off x="5323636" y="2564054"/>
            <a:ext cx="15545" cy="757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Цепь ДНК"/>
          <p:cNvCxnSpPr/>
          <p:nvPr/>
        </p:nvCxnSpPr>
        <p:spPr>
          <a:xfrm flipV="1">
            <a:off x="5339181" y="2560554"/>
            <a:ext cx="15545" cy="3500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Цепь ДНК"/>
          <p:cNvCxnSpPr/>
          <p:nvPr/>
        </p:nvCxnSpPr>
        <p:spPr>
          <a:xfrm>
            <a:off x="5354726" y="2560554"/>
            <a:ext cx="15545" cy="70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Цепь ДНК"/>
          <p:cNvCxnSpPr/>
          <p:nvPr/>
        </p:nvCxnSpPr>
        <p:spPr>
          <a:xfrm>
            <a:off x="5370271" y="2561257"/>
            <a:ext cx="15545" cy="488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Цепь ДНК"/>
          <p:cNvCxnSpPr/>
          <p:nvPr/>
        </p:nvCxnSpPr>
        <p:spPr>
          <a:xfrm>
            <a:off x="5385816" y="2566138"/>
            <a:ext cx="15544" cy="888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Цепь ДНК"/>
          <p:cNvCxnSpPr/>
          <p:nvPr/>
        </p:nvCxnSpPr>
        <p:spPr>
          <a:xfrm>
            <a:off x="5401360" y="2575023"/>
            <a:ext cx="15545" cy="1257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Цепь ДНК"/>
          <p:cNvCxnSpPr/>
          <p:nvPr/>
        </p:nvCxnSpPr>
        <p:spPr>
          <a:xfrm>
            <a:off x="5416905" y="2587599"/>
            <a:ext cx="15545" cy="1582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Цепь ДНК"/>
          <p:cNvCxnSpPr/>
          <p:nvPr/>
        </p:nvCxnSpPr>
        <p:spPr>
          <a:xfrm>
            <a:off x="5432450" y="2603420"/>
            <a:ext cx="15545" cy="1850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Цепь ДНК"/>
          <p:cNvCxnSpPr/>
          <p:nvPr/>
        </p:nvCxnSpPr>
        <p:spPr>
          <a:xfrm>
            <a:off x="5447995" y="2621924"/>
            <a:ext cx="15545" cy="2053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Цепь ДНК"/>
          <p:cNvCxnSpPr/>
          <p:nvPr/>
        </p:nvCxnSpPr>
        <p:spPr>
          <a:xfrm>
            <a:off x="5463540" y="2642458"/>
            <a:ext cx="15544" cy="2183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Цепь ДНК"/>
          <p:cNvCxnSpPr/>
          <p:nvPr/>
        </p:nvCxnSpPr>
        <p:spPr>
          <a:xfrm>
            <a:off x="5479084" y="2664293"/>
            <a:ext cx="15545" cy="2236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Цепь ДНК"/>
          <p:cNvCxnSpPr/>
          <p:nvPr/>
        </p:nvCxnSpPr>
        <p:spPr>
          <a:xfrm>
            <a:off x="5494629" y="2686656"/>
            <a:ext cx="15545" cy="2209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Цепь ДНК"/>
          <p:cNvCxnSpPr/>
          <p:nvPr/>
        </p:nvCxnSpPr>
        <p:spPr>
          <a:xfrm>
            <a:off x="5510174" y="2708754"/>
            <a:ext cx="15545" cy="2105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Цепь ДНК"/>
          <p:cNvCxnSpPr/>
          <p:nvPr/>
        </p:nvCxnSpPr>
        <p:spPr>
          <a:xfrm>
            <a:off x="5525719" y="2729805"/>
            <a:ext cx="15545" cy="1925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Цепь ДНК"/>
          <p:cNvCxnSpPr/>
          <p:nvPr/>
        </p:nvCxnSpPr>
        <p:spPr>
          <a:xfrm>
            <a:off x="5541264" y="2749063"/>
            <a:ext cx="15544" cy="1678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Цепь ДНК"/>
          <p:cNvCxnSpPr/>
          <p:nvPr/>
        </p:nvCxnSpPr>
        <p:spPr>
          <a:xfrm>
            <a:off x="5556808" y="2765845"/>
            <a:ext cx="15545" cy="1371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Цепь ДНК"/>
          <p:cNvCxnSpPr/>
          <p:nvPr/>
        </p:nvCxnSpPr>
        <p:spPr>
          <a:xfrm>
            <a:off x="5572353" y="2779558"/>
            <a:ext cx="15545" cy="1015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Цепь ДНК"/>
          <p:cNvCxnSpPr/>
          <p:nvPr/>
        </p:nvCxnSpPr>
        <p:spPr>
          <a:xfrm>
            <a:off x="5587898" y="2789716"/>
            <a:ext cx="15545" cy="624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Цепь ДНК"/>
          <p:cNvCxnSpPr/>
          <p:nvPr/>
        </p:nvCxnSpPr>
        <p:spPr>
          <a:xfrm>
            <a:off x="5603443" y="2795958"/>
            <a:ext cx="15545" cy="210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Цепь ДНК"/>
          <p:cNvCxnSpPr/>
          <p:nvPr/>
        </p:nvCxnSpPr>
        <p:spPr>
          <a:xfrm flipV="1">
            <a:off x="5618988" y="2795958"/>
            <a:ext cx="15544" cy="210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Цепь ДНК"/>
          <p:cNvCxnSpPr/>
          <p:nvPr/>
        </p:nvCxnSpPr>
        <p:spPr>
          <a:xfrm flipV="1">
            <a:off x="5634532" y="2789716"/>
            <a:ext cx="15545" cy="624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Цепь ДНК"/>
          <p:cNvCxnSpPr/>
          <p:nvPr/>
        </p:nvCxnSpPr>
        <p:spPr>
          <a:xfrm flipV="1">
            <a:off x="5650077" y="2779558"/>
            <a:ext cx="15545" cy="1015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Цепь ДНК"/>
          <p:cNvCxnSpPr/>
          <p:nvPr/>
        </p:nvCxnSpPr>
        <p:spPr>
          <a:xfrm flipV="1">
            <a:off x="5665622" y="2765845"/>
            <a:ext cx="15545" cy="1371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Цепь ДНК"/>
          <p:cNvCxnSpPr/>
          <p:nvPr/>
        </p:nvCxnSpPr>
        <p:spPr>
          <a:xfrm flipV="1">
            <a:off x="5681167" y="2749063"/>
            <a:ext cx="15545" cy="1678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Цепь ДНК"/>
          <p:cNvCxnSpPr/>
          <p:nvPr/>
        </p:nvCxnSpPr>
        <p:spPr>
          <a:xfrm flipV="1">
            <a:off x="5696712" y="2729805"/>
            <a:ext cx="15544" cy="1925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Цепь ДНК"/>
          <p:cNvCxnSpPr/>
          <p:nvPr/>
        </p:nvCxnSpPr>
        <p:spPr>
          <a:xfrm flipV="1">
            <a:off x="5712256" y="2708754"/>
            <a:ext cx="15545" cy="2105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Цепь ДНК"/>
          <p:cNvCxnSpPr/>
          <p:nvPr/>
        </p:nvCxnSpPr>
        <p:spPr>
          <a:xfrm flipV="1">
            <a:off x="5727801" y="2686656"/>
            <a:ext cx="15545" cy="2209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Цепь ДНК"/>
          <p:cNvCxnSpPr/>
          <p:nvPr/>
        </p:nvCxnSpPr>
        <p:spPr>
          <a:xfrm flipV="1">
            <a:off x="5743346" y="2664293"/>
            <a:ext cx="15545" cy="2236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Цепь ДНК"/>
          <p:cNvCxnSpPr/>
          <p:nvPr/>
        </p:nvCxnSpPr>
        <p:spPr>
          <a:xfrm flipV="1">
            <a:off x="5758891" y="2642458"/>
            <a:ext cx="15545" cy="2183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Цепь ДНК"/>
          <p:cNvCxnSpPr/>
          <p:nvPr/>
        </p:nvCxnSpPr>
        <p:spPr>
          <a:xfrm flipV="1">
            <a:off x="5774436" y="2621924"/>
            <a:ext cx="15544" cy="2053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Цепь ДНК"/>
          <p:cNvCxnSpPr/>
          <p:nvPr/>
        </p:nvCxnSpPr>
        <p:spPr>
          <a:xfrm flipV="1">
            <a:off x="5789980" y="2603420"/>
            <a:ext cx="15545" cy="1850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Цепь ДНК"/>
          <p:cNvCxnSpPr/>
          <p:nvPr/>
        </p:nvCxnSpPr>
        <p:spPr>
          <a:xfrm flipV="1">
            <a:off x="5805525" y="2587599"/>
            <a:ext cx="15545" cy="1582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Цепь ДНК"/>
          <p:cNvCxnSpPr/>
          <p:nvPr/>
        </p:nvCxnSpPr>
        <p:spPr>
          <a:xfrm flipV="1">
            <a:off x="5821070" y="2575023"/>
            <a:ext cx="15545" cy="1257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Цепь ДНК"/>
          <p:cNvCxnSpPr/>
          <p:nvPr/>
        </p:nvCxnSpPr>
        <p:spPr>
          <a:xfrm flipV="1">
            <a:off x="5836615" y="2566138"/>
            <a:ext cx="15545" cy="888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Цепь ДНК"/>
          <p:cNvCxnSpPr/>
          <p:nvPr/>
        </p:nvCxnSpPr>
        <p:spPr>
          <a:xfrm flipV="1">
            <a:off x="5852160" y="2561257"/>
            <a:ext cx="15544" cy="488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Цепь ДНК"/>
          <p:cNvCxnSpPr/>
          <p:nvPr/>
        </p:nvCxnSpPr>
        <p:spPr>
          <a:xfrm flipV="1">
            <a:off x="5867704" y="2560554"/>
            <a:ext cx="15545" cy="70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Цепь ДНК"/>
          <p:cNvCxnSpPr/>
          <p:nvPr/>
        </p:nvCxnSpPr>
        <p:spPr>
          <a:xfrm>
            <a:off x="5883249" y="2560554"/>
            <a:ext cx="15545" cy="3500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Цепь ДНК"/>
          <p:cNvCxnSpPr/>
          <p:nvPr/>
        </p:nvCxnSpPr>
        <p:spPr>
          <a:xfrm>
            <a:off x="5898794" y="2564054"/>
            <a:ext cx="15545" cy="757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Цепь ДНК"/>
          <p:cNvCxnSpPr/>
          <p:nvPr/>
        </p:nvCxnSpPr>
        <p:spPr>
          <a:xfrm>
            <a:off x="5914339" y="2571633"/>
            <a:ext cx="15545" cy="1138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Цепь ДНК"/>
          <p:cNvCxnSpPr/>
          <p:nvPr/>
        </p:nvCxnSpPr>
        <p:spPr>
          <a:xfrm>
            <a:off x="5929884" y="2583022"/>
            <a:ext cx="15544" cy="1479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Цепь ДНК"/>
          <p:cNvCxnSpPr/>
          <p:nvPr/>
        </p:nvCxnSpPr>
        <p:spPr>
          <a:xfrm>
            <a:off x="5945428" y="2597818"/>
            <a:ext cx="15545" cy="1767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Цепь ДНК"/>
          <p:cNvCxnSpPr/>
          <p:nvPr/>
        </p:nvCxnSpPr>
        <p:spPr>
          <a:xfrm>
            <a:off x="5960973" y="2615497"/>
            <a:ext cx="15545" cy="1993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Цепь ДНК"/>
          <p:cNvCxnSpPr/>
          <p:nvPr/>
        </p:nvCxnSpPr>
        <p:spPr>
          <a:xfrm>
            <a:off x="5976518" y="2635432"/>
            <a:ext cx="15545" cy="2148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Цепь ДНК"/>
          <p:cNvCxnSpPr/>
          <p:nvPr/>
        </p:nvCxnSpPr>
        <p:spPr>
          <a:xfrm>
            <a:off x="5992063" y="2656917"/>
            <a:ext cx="15545" cy="2227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Цепь ДНК"/>
          <p:cNvCxnSpPr/>
          <p:nvPr/>
        </p:nvCxnSpPr>
        <p:spPr>
          <a:xfrm flipV="1">
            <a:off x="4453128" y="2656917"/>
            <a:ext cx="15544" cy="2227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Цепь ДНК"/>
          <p:cNvCxnSpPr/>
          <p:nvPr/>
        </p:nvCxnSpPr>
        <p:spPr>
          <a:xfrm flipV="1">
            <a:off x="4468672" y="2635432"/>
            <a:ext cx="15545" cy="2148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Цепь ДНК"/>
          <p:cNvCxnSpPr/>
          <p:nvPr/>
        </p:nvCxnSpPr>
        <p:spPr>
          <a:xfrm flipV="1">
            <a:off x="4484217" y="2615497"/>
            <a:ext cx="15545" cy="1993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Цепь ДНК"/>
          <p:cNvCxnSpPr/>
          <p:nvPr/>
        </p:nvCxnSpPr>
        <p:spPr>
          <a:xfrm flipV="1">
            <a:off x="4499762" y="2597818"/>
            <a:ext cx="15545" cy="1767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Цепь ДНК"/>
          <p:cNvCxnSpPr/>
          <p:nvPr/>
        </p:nvCxnSpPr>
        <p:spPr>
          <a:xfrm flipV="1">
            <a:off x="4515307" y="2583022"/>
            <a:ext cx="15545" cy="1479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Цепь ДНК"/>
          <p:cNvCxnSpPr/>
          <p:nvPr/>
        </p:nvCxnSpPr>
        <p:spPr>
          <a:xfrm flipV="1">
            <a:off x="4530852" y="2571633"/>
            <a:ext cx="15544" cy="1138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Цепь ДНК"/>
          <p:cNvCxnSpPr/>
          <p:nvPr/>
        </p:nvCxnSpPr>
        <p:spPr>
          <a:xfrm flipV="1">
            <a:off x="4546396" y="2564054"/>
            <a:ext cx="15545" cy="757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Цепь ДНК"/>
          <p:cNvCxnSpPr/>
          <p:nvPr/>
        </p:nvCxnSpPr>
        <p:spPr>
          <a:xfrm flipV="1">
            <a:off x="4561941" y="2560554"/>
            <a:ext cx="15545" cy="3500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Цепь ДНК"/>
          <p:cNvCxnSpPr/>
          <p:nvPr/>
        </p:nvCxnSpPr>
        <p:spPr>
          <a:xfrm>
            <a:off x="4577486" y="2560554"/>
            <a:ext cx="15545" cy="70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Цепь ДНК"/>
          <p:cNvCxnSpPr/>
          <p:nvPr/>
        </p:nvCxnSpPr>
        <p:spPr>
          <a:xfrm>
            <a:off x="4593031" y="2561257"/>
            <a:ext cx="15545" cy="488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Цепь ДНК"/>
          <p:cNvCxnSpPr/>
          <p:nvPr/>
        </p:nvCxnSpPr>
        <p:spPr>
          <a:xfrm>
            <a:off x="4608576" y="2566138"/>
            <a:ext cx="15544" cy="888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Цепь ДНК"/>
          <p:cNvCxnSpPr/>
          <p:nvPr/>
        </p:nvCxnSpPr>
        <p:spPr>
          <a:xfrm>
            <a:off x="4624120" y="2575023"/>
            <a:ext cx="15545" cy="1257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Цепь ДНК"/>
          <p:cNvCxnSpPr/>
          <p:nvPr/>
        </p:nvCxnSpPr>
        <p:spPr>
          <a:xfrm>
            <a:off x="4639665" y="2587599"/>
            <a:ext cx="15545" cy="1582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Цепь ДНК"/>
          <p:cNvCxnSpPr/>
          <p:nvPr/>
        </p:nvCxnSpPr>
        <p:spPr>
          <a:xfrm>
            <a:off x="4655210" y="2603420"/>
            <a:ext cx="15545" cy="1850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Цепь ДНК"/>
          <p:cNvCxnSpPr/>
          <p:nvPr/>
        </p:nvCxnSpPr>
        <p:spPr>
          <a:xfrm>
            <a:off x="4670755" y="2621924"/>
            <a:ext cx="15545" cy="2053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Цепь ДНК"/>
          <p:cNvCxnSpPr/>
          <p:nvPr/>
        </p:nvCxnSpPr>
        <p:spPr>
          <a:xfrm>
            <a:off x="4686300" y="2642458"/>
            <a:ext cx="15544" cy="2183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Цепь ДНК"/>
          <p:cNvCxnSpPr/>
          <p:nvPr/>
        </p:nvCxnSpPr>
        <p:spPr>
          <a:xfrm>
            <a:off x="4701844" y="2664293"/>
            <a:ext cx="15545" cy="2236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Цепь ДНК"/>
          <p:cNvCxnSpPr/>
          <p:nvPr/>
        </p:nvCxnSpPr>
        <p:spPr>
          <a:xfrm>
            <a:off x="4717389" y="2686656"/>
            <a:ext cx="15545" cy="2209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Цепь ДНК"/>
          <p:cNvCxnSpPr/>
          <p:nvPr/>
        </p:nvCxnSpPr>
        <p:spPr>
          <a:xfrm>
            <a:off x="4732934" y="2708754"/>
            <a:ext cx="15545" cy="2105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Цепь ДНК"/>
          <p:cNvCxnSpPr/>
          <p:nvPr/>
        </p:nvCxnSpPr>
        <p:spPr>
          <a:xfrm>
            <a:off x="4748479" y="2729805"/>
            <a:ext cx="15545" cy="1925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Цепь ДНК"/>
          <p:cNvCxnSpPr/>
          <p:nvPr/>
        </p:nvCxnSpPr>
        <p:spPr>
          <a:xfrm>
            <a:off x="4764024" y="2749063"/>
            <a:ext cx="15544" cy="1678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Цепь ДНК"/>
          <p:cNvCxnSpPr/>
          <p:nvPr/>
        </p:nvCxnSpPr>
        <p:spPr>
          <a:xfrm>
            <a:off x="4779568" y="2765845"/>
            <a:ext cx="15545" cy="1371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Цепь ДНК"/>
          <p:cNvCxnSpPr/>
          <p:nvPr/>
        </p:nvCxnSpPr>
        <p:spPr>
          <a:xfrm>
            <a:off x="4795113" y="2779558"/>
            <a:ext cx="15545" cy="1015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Цепь ДНК"/>
          <p:cNvCxnSpPr/>
          <p:nvPr/>
        </p:nvCxnSpPr>
        <p:spPr>
          <a:xfrm>
            <a:off x="4810658" y="2789716"/>
            <a:ext cx="15545" cy="624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Цепь ДНК"/>
          <p:cNvCxnSpPr/>
          <p:nvPr/>
        </p:nvCxnSpPr>
        <p:spPr>
          <a:xfrm>
            <a:off x="4826203" y="2795958"/>
            <a:ext cx="15545" cy="210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Цепь ДНК"/>
          <p:cNvCxnSpPr/>
          <p:nvPr/>
        </p:nvCxnSpPr>
        <p:spPr>
          <a:xfrm flipV="1">
            <a:off x="4841748" y="2795958"/>
            <a:ext cx="15544" cy="210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Цепь ДНК"/>
          <p:cNvCxnSpPr/>
          <p:nvPr/>
        </p:nvCxnSpPr>
        <p:spPr>
          <a:xfrm flipV="1">
            <a:off x="4857292" y="2789716"/>
            <a:ext cx="15545" cy="624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Цепь ДНК"/>
          <p:cNvCxnSpPr/>
          <p:nvPr/>
        </p:nvCxnSpPr>
        <p:spPr>
          <a:xfrm flipV="1">
            <a:off x="4872837" y="2779558"/>
            <a:ext cx="15545" cy="1015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Цепь ДНК"/>
          <p:cNvCxnSpPr/>
          <p:nvPr/>
        </p:nvCxnSpPr>
        <p:spPr>
          <a:xfrm flipV="1">
            <a:off x="4888382" y="2765845"/>
            <a:ext cx="15545" cy="1371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Цепь ДНК"/>
          <p:cNvCxnSpPr/>
          <p:nvPr/>
        </p:nvCxnSpPr>
        <p:spPr>
          <a:xfrm flipV="1">
            <a:off x="4903927" y="2749063"/>
            <a:ext cx="15545" cy="1678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Цепь ДНК"/>
          <p:cNvCxnSpPr/>
          <p:nvPr/>
        </p:nvCxnSpPr>
        <p:spPr>
          <a:xfrm flipV="1">
            <a:off x="4919472" y="2729805"/>
            <a:ext cx="15544" cy="1925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Цепь ДНК"/>
          <p:cNvCxnSpPr/>
          <p:nvPr/>
        </p:nvCxnSpPr>
        <p:spPr>
          <a:xfrm flipV="1">
            <a:off x="4935016" y="2708754"/>
            <a:ext cx="15545" cy="2105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Цепь ДНК"/>
          <p:cNvCxnSpPr/>
          <p:nvPr/>
        </p:nvCxnSpPr>
        <p:spPr>
          <a:xfrm flipV="1">
            <a:off x="4950561" y="2686656"/>
            <a:ext cx="15545" cy="2209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Цепь ДНК"/>
          <p:cNvCxnSpPr/>
          <p:nvPr/>
        </p:nvCxnSpPr>
        <p:spPr>
          <a:xfrm flipV="1">
            <a:off x="4966106" y="2664293"/>
            <a:ext cx="15545" cy="2236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Цепь ДНК"/>
          <p:cNvCxnSpPr/>
          <p:nvPr/>
        </p:nvCxnSpPr>
        <p:spPr>
          <a:xfrm flipV="1">
            <a:off x="4981651" y="2642458"/>
            <a:ext cx="15545" cy="2183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Цепь ДНК"/>
          <p:cNvCxnSpPr/>
          <p:nvPr/>
        </p:nvCxnSpPr>
        <p:spPr>
          <a:xfrm flipV="1">
            <a:off x="4997196" y="2621924"/>
            <a:ext cx="15544" cy="2053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Цепь ДНК"/>
          <p:cNvCxnSpPr/>
          <p:nvPr/>
        </p:nvCxnSpPr>
        <p:spPr>
          <a:xfrm flipV="1">
            <a:off x="5012740" y="2603420"/>
            <a:ext cx="15545" cy="1850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Цепь ДНК"/>
          <p:cNvCxnSpPr/>
          <p:nvPr/>
        </p:nvCxnSpPr>
        <p:spPr>
          <a:xfrm flipV="1">
            <a:off x="5028285" y="2587599"/>
            <a:ext cx="15545" cy="1582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Цепь ДНК"/>
          <p:cNvCxnSpPr/>
          <p:nvPr/>
        </p:nvCxnSpPr>
        <p:spPr>
          <a:xfrm flipV="1">
            <a:off x="5043830" y="2575023"/>
            <a:ext cx="15545" cy="1257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Цепь ДНК"/>
          <p:cNvCxnSpPr/>
          <p:nvPr/>
        </p:nvCxnSpPr>
        <p:spPr>
          <a:xfrm flipV="1">
            <a:off x="5059375" y="2566138"/>
            <a:ext cx="15545" cy="888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Цепь ДНК"/>
          <p:cNvCxnSpPr/>
          <p:nvPr/>
        </p:nvCxnSpPr>
        <p:spPr>
          <a:xfrm flipV="1">
            <a:off x="5074920" y="2561257"/>
            <a:ext cx="15544" cy="488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Цепь ДНК"/>
          <p:cNvCxnSpPr/>
          <p:nvPr/>
        </p:nvCxnSpPr>
        <p:spPr>
          <a:xfrm flipV="1">
            <a:off x="5090464" y="2560554"/>
            <a:ext cx="15545" cy="70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Цепь ДНК"/>
          <p:cNvCxnSpPr/>
          <p:nvPr/>
        </p:nvCxnSpPr>
        <p:spPr>
          <a:xfrm>
            <a:off x="5106009" y="2560554"/>
            <a:ext cx="15545" cy="3500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Цепь ДНК"/>
          <p:cNvCxnSpPr/>
          <p:nvPr/>
        </p:nvCxnSpPr>
        <p:spPr>
          <a:xfrm>
            <a:off x="5121554" y="2564054"/>
            <a:ext cx="15545" cy="757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Цепь ДНК"/>
          <p:cNvCxnSpPr/>
          <p:nvPr/>
        </p:nvCxnSpPr>
        <p:spPr>
          <a:xfrm>
            <a:off x="5137099" y="2571633"/>
            <a:ext cx="15545" cy="1138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Цепь ДНК"/>
          <p:cNvCxnSpPr/>
          <p:nvPr/>
        </p:nvCxnSpPr>
        <p:spPr>
          <a:xfrm>
            <a:off x="5152644" y="2583022"/>
            <a:ext cx="15544" cy="1479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Цепь ДНК"/>
          <p:cNvCxnSpPr/>
          <p:nvPr/>
        </p:nvCxnSpPr>
        <p:spPr>
          <a:xfrm>
            <a:off x="5168188" y="2597818"/>
            <a:ext cx="15545" cy="1767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Цепь ДНК"/>
          <p:cNvCxnSpPr/>
          <p:nvPr/>
        </p:nvCxnSpPr>
        <p:spPr>
          <a:xfrm>
            <a:off x="5183733" y="2615497"/>
            <a:ext cx="15545" cy="1993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Цепь ДНК"/>
          <p:cNvCxnSpPr/>
          <p:nvPr/>
        </p:nvCxnSpPr>
        <p:spPr>
          <a:xfrm>
            <a:off x="5199278" y="2635432"/>
            <a:ext cx="15545" cy="2148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Цепь ДНК"/>
          <p:cNvCxnSpPr/>
          <p:nvPr/>
        </p:nvCxnSpPr>
        <p:spPr>
          <a:xfrm>
            <a:off x="5214823" y="2656917"/>
            <a:ext cx="15545" cy="2227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Цепь ДНК"/>
          <p:cNvCxnSpPr/>
          <p:nvPr/>
        </p:nvCxnSpPr>
        <p:spPr>
          <a:xfrm>
            <a:off x="5230368" y="2679192"/>
            <a:ext cx="15544" cy="2227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Цепь ДНК"/>
          <p:cNvCxnSpPr/>
          <p:nvPr/>
        </p:nvCxnSpPr>
        <p:spPr>
          <a:xfrm>
            <a:off x="5245912" y="2701466"/>
            <a:ext cx="15545" cy="2148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Цепь ДНК"/>
          <p:cNvCxnSpPr/>
          <p:nvPr/>
        </p:nvCxnSpPr>
        <p:spPr>
          <a:xfrm>
            <a:off x="5261457" y="2722951"/>
            <a:ext cx="15545" cy="1993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Цепь ДНК"/>
          <p:cNvCxnSpPr/>
          <p:nvPr/>
        </p:nvCxnSpPr>
        <p:spPr>
          <a:xfrm>
            <a:off x="5277002" y="2742886"/>
            <a:ext cx="15545" cy="1767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Цепь ДНК"/>
          <p:cNvCxnSpPr/>
          <p:nvPr/>
        </p:nvCxnSpPr>
        <p:spPr>
          <a:xfrm>
            <a:off x="5292547" y="2760565"/>
            <a:ext cx="15545" cy="1479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Цепь ДНК"/>
          <p:cNvCxnSpPr/>
          <p:nvPr/>
        </p:nvCxnSpPr>
        <p:spPr>
          <a:xfrm>
            <a:off x="5308092" y="2775361"/>
            <a:ext cx="15544" cy="1138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Цепь ДНК"/>
          <p:cNvCxnSpPr/>
          <p:nvPr/>
        </p:nvCxnSpPr>
        <p:spPr>
          <a:xfrm>
            <a:off x="5323636" y="2786750"/>
            <a:ext cx="15545" cy="757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Цепь ДНК"/>
          <p:cNvCxnSpPr/>
          <p:nvPr/>
        </p:nvCxnSpPr>
        <p:spPr>
          <a:xfrm>
            <a:off x="5339181" y="2794329"/>
            <a:ext cx="15545" cy="3500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Цепь ДНК"/>
          <p:cNvCxnSpPr/>
          <p:nvPr/>
        </p:nvCxnSpPr>
        <p:spPr>
          <a:xfrm flipV="1">
            <a:off x="5354726" y="2797126"/>
            <a:ext cx="15545" cy="70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Цепь ДНК"/>
          <p:cNvCxnSpPr/>
          <p:nvPr/>
        </p:nvCxnSpPr>
        <p:spPr>
          <a:xfrm flipV="1">
            <a:off x="5370271" y="2792245"/>
            <a:ext cx="15545" cy="488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Цепь ДНК"/>
          <p:cNvCxnSpPr/>
          <p:nvPr/>
        </p:nvCxnSpPr>
        <p:spPr>
          <a:xfrm flipV="1">
            <a:off x="5385816" y="2783360"/>
            <a:ext cx="15544" cy="888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Цепь ДНК"/>
          <p:cNvCxnSpPr/>
          <p:nvPr/>
        </p:nvCxnSpPr>
        <p:spPr>
          <a:xfrm flipV="1">
            <a:off x="5401360" y="2770784"/>
            <a:ext cx="15545" cy="1257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Цепь ДНК"/>
          <p:cNvCxnSpPr/>
          <p:nvPr/>
        </p:nvCxnSpPr>
        <p:spPr>
          <a:xfrm flipV="1">
            <a:off x="5416905" y="2754963"/>
            <a:ext cx="15545" cy="1582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Цепь ДНК"/>
          <p:cNvCxnSpPr/>
          <p:nvPr/>
        </p:nvCxnSpPr>
        <p:spPr>
          <a:xfrm flipV="1">
            <a:off x="5432450" y="2736459"/>
            <a:ext cx="15545" cy="1850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Цепь ДНК"/>
          <p:cNvCxnSpPr/>
          <p:nvPr/>
        </p:nvCxnSpPr>
        <p:spPr>
          <a:xfrm flipV="1">
            <a:off x="5447995" y="2715925"/>
            <a:ext cx="15545" cy="2053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Цепь ДНК"/>
          <p:cNvCxnSpPr/>
          <p:nvPr/>
        </p:nvCxnSpPr>
        <p:spPr>
          <a:xfrm flipV="1">
            <a:off x="5463540" y="2694090"/>
            <a:ext cx="15544" cy="2183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Цепь ДНК"/>
          <p:cNvCxnSpPr/>
          <p:nvPr/>
        </p:nvCxnSpPr>
        <p:spPr>
          <a:xfrm flipV="1">
            <a:off x="5479084" y="2671727"/>
            <a:ext cx="15545" cy="2236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Цепь ДНК"/>
          <p:cNvCxnSpPr/>
          <p:nvPr/>
        </p:nvCxnSpPr>
        <p:spPr>
          <a:xfrm flipV="1">
            <a:off x="5494629" y="2649629"/>
            <a:ext cx="15545" cy="2209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Цепь ДНК"/>
          <p:cNvCxnSpPr/>
          <p:nvPr/>
        </p:nvCxnSpPr>
        <p:spPr>
          <a:xfrm flipV="1">
            <a:off x="5510174" y="2628578"/>
            <a:ext cx="15545" cy="2105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Цепь ДНК"/>
          <p:cNvCxnSpPr/>
          <p:nvPr/>
        </p:nvCxnSpPr>
        <p:spPr>
          <a:xfrm flipV="1">
            <a:off x="5525719" y="2609320"/>
            <a:ext cx="15545" cy="1925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Цепь ДНК"/>
          <p:cNvCxnSpPr/>
          <p:nvPr/>
        </p:nvCxnSpPr>
        <p:spPr>
          <a:xfrm flipV="1">
            <a:off x="5541264" y="2592538"/>
            <a:ext cx="15544" cy="1678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Цепь ДНК"/>
          <p:cNvCxnSpPr/>
          <p:nvPr/>
        </p:nvCxnSpPr>
        <p:spPr>
          <a:xfrm flipV="1">
            <a:off x="5556808" y="2578825"/>
            <a:ext cx="15545" cy="1371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Цепь ДНК"/>
          <p:cNvCxnSpPr/>
          <p:nvPr/>
        </p:nvCxnSpPr>
        <p:spPr>
          <a:xfrm flipV="1">
            <a:off x="5572353" y="2568667"/>
            <a:ext cx="15545" cy="1015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Цепь ДНК"/>
          <p:cNvCxnSpPr/>
          <p:nvPr/>
        </p:nvCxnSpPr>
        <p:spPr>
          <a:xfrm flipV="1">
            <a:off x="5587898" y="2562425"/>
            <a:ext cx="15545" cy="624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Цепь ДНК"/>
          <p:cNvCxnSpPr/>
          <p:nvPr/>
        </p:nvCxnSpPr>
        <p:spPr>
          <a:xfrm flipV="1">
            <a:off x="5603443" y="2560320"/>
            <a:ext cx="15545" cy="210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Цепь ДНК"/>
          <p:cNvCxnSpPr/>
          <p:nvPr/>
        </p:nvCxnSpPr>
        <p:spPr>
          <a:xfrm>
            <a:off x="5618988" y="2560320"/>
            <a:ext cx="15544" cy="210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Цепь ДНК"/>
          <p:cNvCxnSpPr/>
          <p:nvPr/>
        </p:nvCxnSpPr>
        <p:spPr>
          <a:xfrm>
            <a:off x="5634532" y="2562425"/>
            <a:ext cx="15545" cy="624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Цепь ДНК"/>
          <p:cNvCxnSpPr/>
          <p:nvPr/>
        </p:nvCxnSpPr>
        <p:spPr>
          <a:xfrm>
            <a:off x="5650077" y="2568667"/>
            <a:ext cx="15545" cy="1015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Цепь ДНК"/>
          <p:cNvCxnSpPr/>
          <p:nvPr/>
        </p:nvCxnSpPr>
        <p:spPr>
          <a:xfrm>
            <a:off x="5665622" y="2578825"/>
            <a:ext cx="15545" cy="1371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Цепь ДНК"/>
          <p:cNvCxnSpPr/>
          <p:nvPr/>
        </p:nvCxnSpPr>
        <p:spPr>
          <a:xfrm>
            <a:off x="5681167" y="2592538"/>
            <a:ext cx="15545" cy="1678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Цепь ДНК"/>
          <p:cNvCxnSpPr/>
          <p:nvPr/>
        </p:nvCxnSpPr>
        <p:spPr>
          <a:xfrm>
            <a:off x="5696712" y="2609320"/>
            <a:ext cx="15544" cy="1925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Цепь ДНК"/>
          <p:cNvCxnSpPr/>
          <p:nvPr/>
        </p:nvCxnSpPr>
        <p:spPr>
          <a:xfrm>
            <a:off x="5712256" y="2628578"/>
            <a:ext cx="15545" cy="2105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Цепь ДНК"/>
          <p:cNvCxnSpPr/>
          <p:nvPr/>
        </p:nvCxnSpPr>
        <p:spPr>
          <a:xfrm>
            <a:off x="5727801" y="2649629"/>
            <a:ext cx="15545" cy="2209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Цепь ДНК"/>
          <p:cNvCxnSpPr/>
          <p:nvPr/>
        </p:nvCxnSpPr>
        <p:spPr>
          <a:xfrm>
            <a:off x="5743346" y="2671727"/>
            <a:ext cx="15545" cy="2236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Цепь ДНК"/>
          <p:cNvCxnSpPr/>
          <p:nvPr/>
        </p:nvCxnSpPr>
        <p:spPr>
          <a:xfrm>
            <a:off x="5758891" y="2694090"/>
            <a:ext cx="15545" cy="2183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Цепь ДНК"/>
          <p:cNvCxnSpPr/>
          <p:nvPr/>
        </p:nvCxnSpPr>
        <p:spPr>
          <a:xfrm>
            <a:off x="5774436" y="2715925"/>
            <a:ext cx="15544" cy="2053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Цепь ДНК"/>
          <p:cNvCxnSpPr/>
          <p:nvPr/>
        </p:nvCxnSpPr>
        <p:spPr>
          <a:xfrm>
            <a:off x="5789980" y="2736459"/>
            <a:ext cx="15545" cy="1850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Цепь ДНК"/>
          <p:cNvCxnSpPr/>
          <p:nvPr/>
        </p:nvCxnSpPr>
        <p:spPr>
          <a:xfrm>
            <a:off x="5805525" y="2754963"/>
            <a:ext cx="15545" cy="1582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Цепь ДНК"/>
          <p:cNvCxnSpPr/>
          <p:nvPr/>
        </p:nvCxnSpPr>
        <p:spPr>
          <a:xfrm>
            <a:off x="5821070" y="2770784"/>
            <a:ext cx="15545" cy="1257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Цепь ДНК"/>
          <p:cNvCxnSpPr/>
          <p:nvPr/>
        </p:nvCxnSpPr>
        <p:spPr>
          <a:xfrm>
            <a:off x="5836615" y="2783360"/>
            <a:ext cx="15545" cy="888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Цепь ДНК"/>
          <p:cNvCxnSpPr/>
          <p:nvPr/>
        </p:nvCxnSpPr>
        <p:spPr>
          <a:xfrm>
            <a:off x="5852160" y="2792245"/>
            <a:ext cx="15544" cy="488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Цепь ДНК"/>
          <p:cNvCxnSpPr/>
          <p:nvPr/>
        </p:nvCxnSpPr>
        <p:spPr>
          <a:xfrm>
            <a:off x="5867704" y="2797126"/>
            <a:ext cx="15545" cy="70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Цепь ДНК"/>
          <p:cNvCxnSpPr/>
          <p:nvPr/>
        </p:nvCxnSpPr>
        <p:spPr>
          <a:xfrm flipV="1">
            <a:off x="5883249" y="2794329"/>
            <a:ext cx="15545" cy="3500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Цепь ДНК"/>
          <p:cNvCxnSpPr/>
          <p:nvPr/>
        </p:nvCxnSpPr>
        <p:spPr>
          <a:xfrm flipV="1">
            <a:off x="5898794" y="2786750"/>
            <a:ext cx="15545" cy="757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Цепь ДНК"/>
          <p:cNvCxnSpPr/>
          <p:nvPr/>
        </p:nvCxnSpPr>
        <p:spPr>
          <a:xfrm flipV="1">
            <a:off x="5914339" y="2775361"/>
            <a:ext cx="15545" cy="1138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Цепь ДНК"/>
          <p:cNvCxnSpPr/>
          <p:nvPr/>
        </p:nvCxnSpPr>
        <p:spPr>
          <a:xfrm flipV="1">
            <a:off x="5929884" y="2760565"/>
            <a:ext cx="15544" cy="1479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Цепь ДНК"/>
          <p:cNvCxnSpPr/>
          <p:nvPr/>
        </p:nvCxnSpPr>
        <p:spPr>
          <a:xfrm flipV="1">
            <a:off x="5945428" y="2742886"/>
            <a:ext cx="15545" cy="1767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Цепь ДНК"/>
          <p:cNvCxnSpPr/>
          <p:nvPr/>
        </p:nvCxnSpPr>
        <p:spPr>
          <a:xfrm flipV="1">
            <a:off x="5960973" y="2722951"/>
            <a:ext cx="15545" cy="1993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Цепь ДНК"/>
          <p:cNvCxnSpPr/>
          <p:nvPr/>
        </p:nvCxnSpPr>
        <p:spPr>
          <a:xfrm flipV="1">
            <a:off x="5976518" y="2701466"/>
            <a:ext cx="15545" cy="2148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Цепь ДНК"/>
          <p:cNvCxnSpPr/>
          <p:nvPr/>
        </p:nvCxnSpPr>
        <p:spPr>
          <a:xfrm flipV="1">
            <a:off x="5992063" y="2679192"/>
            <a:ext cx="15545" cy="2227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Пары оснований ДНК"/>
          <p:cNvCxnSpPr/>
          <p:nvPr/>
        </p:nvCxnSpPr>
        <p:spPr>
          <a:xfrm>
            <a:off x="4453128" y="2679192"/>
            <a:ext cx="0" cy="0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Пары оснований ДНК"/>
          <p:cNvCxnSpPr/>
          <p:nvPr/>
        </p:nvCxnSpPr>
        <p:spPr>
          <a:xfrm flipV="1">
            <a:off x="4550283" y="2569368"/>
            <a:ext cx="0" cy="219647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Пары оснований ДНК"/>
          <p:cNvCxnSpPr/>
          <p:nvPr/>
        </p:nvCxnSpPr>
        <p:spPr>
          <a:xfrm flipV="1">
            <a:off x="4647438" y="2595136"/>
            <a:ext cx="0" cy="168111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Пары оснований ДНК"/>
          <p:cNvCxnSpPr/>
          <p:nvPr/>
        </p:nvCxnSpPr>
        <p:spPr>
          <a:xfrm>
            <a:off x="4744593" y="2633701"/>
            <a:ext cx="0" cy="90981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Пары оснований ДНК"/>
          <p:cNvCxnSpPr/>
          <p:nvPr/>
        </p:nvCxnSpPr>
        <p:spPr>
          <a:xfrm>
            <a:off x="4841748" y="2560320"/>
            <a:ext cx="0" cy="237744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Пары оснований ДНК"/>
          <p:cNvCxnSpPr/>
          <p:nvPr/>
        </p:nvCxnSpPr>
        <p:spPr>
          <a:xfrm>
            <a:off x="4938903" y="2633701"/>
            <a:ext cx="0" cy="90981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Пары оснований ДНК"/>
          <p:cNvCxnSpPr/>
          <p:nvPr/>
        </p:nvCxnSpPr>
        <p:spPr>
          <a:xfrm flipV="1">
            <a:off x="5036058" y="2595136"/>
            <a:ext cx="0" cy="168111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Пары оснований ДНК"/>
          <p:cNvCxnSpPr/>
          <p:nvPr/>
        </p:nvCxnSpPr>
        <p:spPr>
          <a:xfrm flipV="1">
            <a:off x="5133213" y="2569368"/>
            <a:ext cx="0" cy="219647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Пары оснований ДНК"/>
          <p:cNvCxnSpPr/>
          <p:nvPr/>
        </p:nvCxnSpPr>
        <p:spPr>
          <a:xfrm>
            <a:off x="5230368" y="2679192"/>
            <a:ext cx="0" cy="0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Пары оснований ДНК"/>
          <p:cNvCxnSpPr/>
          <p:nvPr/>
        </p:nvCxnSpPr>
        <p:spPr>
          <a:xfrm>
            <a:off x="5327523" y="2569368"/>
            <a:ext cx="0" cy="219647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Пары оснований ДНК"/>
          <p:cNvCxnSpPr/>
          <p:nvPr/>
        </p:nvCxnSpPr>
        <p:spPr>
          <a:xfrm>
            <a:off x="5424678" y="2595136"/>
            <a:ext cx="0" cy="168111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Пары оснований ДНК"/>
          <p:cNvCxnSpPr/>
          <p:nvPr/>
        </p:nvCxnSpPr>
        <p:spPr>
          <a:xfrm flipV="1">
            <a:off x="5521833" y="2633701"/>
            <a:ext cx="0" cy="90981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Пары оснований ДНК"/>
          <p:cNvCxnSpPr/>
          <p:nvPr/>
        </p:nvCxnSpPr>
        <p:spPr>
          <a:xfrm flipV="1">
            <a:off x="5618988" y="2560320"/>
            <a:ext cx="0" cy="237744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Пары оснований ДНК"/>
          <p:cNvCxnSpPr/>
          <p:nvPr/>
        </p:nvCxnSpPr>
        <p:spPr>
          <a:xfrm flipV="1">
            <a:off x="5716143" y="2633701"/>
            <a:ext cx="0" cy="90981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Пары оснований ДНК"/>
          <p:cNvCxnSpPr/>
          <p:nvPr/>
        </p:nvCxnSpPr>
        <p:spPr>
          <a:xfrm>
            <a:off x="5813298" y="2595136"/>
            <a:ext cx="0" cy="168111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Пары оснований ДНК"/>
          <p:cNvCxnSpPr/>
          <p:nvPr/>
        </p:nvCxnSpPr>
        <p:spPr>
          <a:xfrm>
            <a:off x="5910453" y="2569368"/>
            <a:ext cx="0" cy="219647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Пары оснований ДНК"/>
          <p:cNvCxnSpPr/>
          <p:nvPr/>
        </p:nvCxnSpPr>
        <p:spPr>
          <a:xfrm>
            <a:off x="6007608" y="2679192"/>
            <a:ext cx="0" cy="0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Текст: Регуляция генов"/>
          <p:cNvSpPr txBox="1"/>
          <p:nvPr/>
        </p:nvSpPr>
        <p:spPr>
          <a:xfrm>
            <a:off x="4251960" y="2926080"/>
            <a:ext cx="1947672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1" dirty="0">
                <a:solidFill>
                  <a:srgbClr val="7851AD"/>
                </a:solidFill>
                <a:latin typeface="Arial Narrow"/>
                <a:cs typeface="Arial Narrow"/>
              </a:rPr>
              <a:t>Регуляция генов</a:t>
            </a:r>
          </a:p>
        </p:txBody>
      </p:sp>
      <p:sp>
        <p:nvSpPr>
          <p:cNvPr id="238" name="Текст: Альдостерон"/>
          <p:cNvSpPr txBox="1"/>
          <p:nvPr/>
        </p:nvSpPr>
        <p:spPr>
          <a:xfrm>
            <a:off x="9601200" y="1892807"/>
            <a:ext cx="1993392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C55"/>
                </a:solidFill>
                <a:latin typeface="Arial Narrow"/>
                <a:cs typeface="Arial Narrow"/>
              </a:rPr>
              <a:t>Альдостерон</a:t>
            </a:r>
          </a:p>
        </p:txBody>
      </p:sp>
      <p:sp>
        <p:nvSpPr>
          <p:cNvPr id="239" name="Текст: Гормон надпочечников"/>
          <p:cNvSpPr txBox="1"/>
          <p:nvPr/>
        </p:nvSpPr>
        <p:spPr>
          <a:xfrm>
            <a:off x="9592056" y="2221992"/>
            <a:ext cx="2103120" cy="3931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cs typeface="Arial Narrow"/>
              </a:rPr>
              <a:t>Гормон коры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cs typeface="Arial Narrow"/>
              </a:rPr>
              <a:t>надпочечников</a:t>
            </a:r>
          </a:p>
        </p:txBody>
      </p:sp>
      <p:cxnSp>
        <p:nvCxnSpPr>
          <p:cNvPr id="240" name="Альдостерон проходит через мембрану"/>
          <p:cNvCxnSpPr/>
          <p:nvPr/>
        </p:nvCxnSpPr>
        <p:spPr>
          <a:xfrm flipH="1">
            <a:off x="7854696" y="2734056"/>
            <a:ext cx="2980944" cy="0"/>
          </a:xfrm>
          <a:prstGeom prst="line">
            <a:avLst/>
          </a:prstGeom>
          <a:ln w="33020">
            <a:solidFill>
              <a:srgbClr val="287C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Условное обозначение альдостерона"/>
          <p:cNvSpPr/>
          <p:nvPr/>
        </p:nvSpPr>
        <p:spPr>
          <a:xfrm>
            <a:off x="10945368" y="2638044"/>
            <a:ext cx="182880" cy="182880"/>
          </a:xfrm>
          <a:prstGeom prst="ellipse">
            <a:avLst/>
          </a:prstGeom>
          <a:solidFill>
            <a:srgbClr val="E8AE39"/>
          </a:solidFill>
          <a:ln w="7620">
            <a:solidFill>
              <a:srgbClr val="BF8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2" name="Минералокортикоидный рецептор"/>
          <p:cNvSpPr/>
          <p:nvPr/>
        </p:nvSpPr>
        <p:spPr>
          <a:xfrm>
            <a:off x="7205472" y="2386584"/>
            <a:ext cx="676656" cy="72237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70" y="500"/>
                </a:moveTo>
                <a:lnTo>
                  <a:pt x="962" y="524"/>
                </a:lnTo>
                <a:lnTo>
                  <a:pt x="951" y="547"/>
                </a:lnTo>
                <a:lnTo>
                  <a:pt x="937" y="569"/>
                </a:lnTo>
                <a:lnTo>
                  <a:pt x="922" y="590"/>
                </a:lnTo>
                <a:lnTo>
                  <a:pt x="906" y="609"/>
                </a:lnTo>
                <a:lnTo>
                  <a:pt x="891" y="627"/>
                </a:lnTo>
                <a:lnTo>
                  <a:pt x="877" y="645"/>
                </a:lnTo>
                <a:lnTo>
                  <a:pt x="864" y="662"/>
                </a:lnTo>
                <a:lnTo>
                  <a:pt x="853" y="680"/>
                </a:lnTo>
                <a:lnTo>
                  <a:pt x="844" y="698"/>
                </a:lnTo>
                <a:lnTo>
                  <a:pt x="836" y="718"/>
                </a:lnTo>
                <a:lnTo>
                  <a:pt x="830" y="739"/>
                </a:lnTo>
                <a:lnTo>
                  <a:pt x="824" y="762"/>
                </a:lnTo>
                <a:lnTo>
                  <a:pt x="817" y="786"/>
                </a:lnTo>
                <a:lnTo>
                  <a:pt x="810" y="810"/>
                </a:lnTo>
                <a:lnTo>
                  <a:pt x="801" y="834"/>
                </a:lnTo>
                <a:lnTo>
                  <a:pt x="790" y="858"/>
                </a:lnTo>
                <a:lnTo>
                  <a:pt x="776" y="879"/>
                </a:lnTo>
                <a:lnTo>
                  <a:pt x="759" y="899"/>
                </a:lnTo>
                <a:lnTo>
                  <a:pt x="739" y="915"/>
                </a:lnTo>
                <a:lnTo>
                  <a:pt x="717" y="927"/>
                </a:lnTo>
                <a:lnTo>
                  <a:pt x="693" y="935"/>
                </a:lnTo>
                <a:lnTo>
                  <a:pt x="668" y="938"/>
                </a:lnTo>
                <a:lnTo>
                  <a:pt x="642" y="937"/>
                </a:lnTo>
                <a:lnTo>
                  <a:pt x="616" y="932"/>
                </a:lnTo>
                <a:lnTo>
                  <a:pt x="590" y="924"/>
                </a:lnTo>
                <a:lnTo>
                  <a:pt x="565" y="913"/>
                </a:lnTo>
                <a:lnTo>
                  <a:pt x="542" y="902"/>
                </a:lnTo>
                <a:lnTo>
                  <a:pt x="520" y="890"/>
                </a:lnTo>
                <a:lnTo>
                  <a:pt x="500" y="879"/>
                </a:lnTo>
                <a:lnTo>
                  <a:pt x="481" y="869"/>
                </a:lnTo>
                <a:lnTo>
                  <a:pt x="462" y="862"/>
                </a:lnTo>
                <a:lnTo>
                  <a:pt x="443" y="858"/>
                </a:lnTo>
                <a:lnTo>
                  <a:pt x="424" y="856"/>
                </a:lnTo>
                <a:lnTo>
                  <a:pt x="404" y="858"/>
                </a:lnTo>
                <a:lnTo>
                  <a:pt x="383" y="861"/>
                </a:lnTo>
                <a:lnTo>
                  <a:pt x="359" y="866"/>
                </a:lnTo>
                <a:lnTo>
                  <a:pt x="335" y="872"/>
                </a:lnTo>
                <a:lnTo>
                  <a:pt x="308" y="877"/>
                </a:lnTo>
                <a:lnTo>
                  <a:pt x="280" y="880"/>
                </a:lnTo>
                <a:lnTo>
                  <a:pt x="252" y="881"/>
                </a:lnTo>
                <a:lnTo>
                  <a:pt x="224" y="879"/>
                </a:lnTo>
                <a:lnTo>
                  <a:pt x="197" y="874"/>
                </a:lnTo>
                <a:lnTo>
                  <a:pt x="172" y="864"/>
                </a:lnTo>
                <a:lnTo>
                  <a:pt x="150" y="850"/>
                </a:lnTo>
                <a:lnTo>
                  <a:pt x="132" y="832"/>
                </a:lnTo>
                <a:lnTo>
                  <a:pt x="117" y="810"/>
                </a:lnTo>
                <a:lnTo>
                  <a:pt x="106" y="786"/>
                </a:lnTo>
                <a:lnTo>
                  <a:pt x="100" y="760"/>
                </a:lnTo>
                <a:lnTo>
                  <a:pt x="97" y="733"/>
                </a:lnTo>
                <a:lnTo>
                  <a:pt x="97" y="705"/>
                </a:lnTo>
                <a:lnTo>
                  <a:pt x="100" y="678"/>
                </a:lnTo>
                <a:lnTo>
                  <a:pt x="104" y="652"/>
                </a:lnTo>
                <a:lnTo>
                  <a:pt x="109" y="627"/>
                </a:lnTo>
                <a:lnTo>
                  <a:pt x="114" y="604"/>
                </a:lnTo>
                <a:lnTo>
                  <a:pt x="117" y="581"/>
                </a:lnTo>
                <a:lnTo>
                  <a:pt x="118" y="560"/>
                </a:lnTo>
                <a:lnTo>
                  <a:pt x="118" y="540"/>
                </a:lnTo>
                <a:lnTo>
                  <a:pt x="115" y="520"/>
                </a:lnTo>
                <a:lnTo>
                  <a:pt x="110" y="500"/>
                </a:lnTo>
                <a:lnTo>
                  <a:pt x="103" y="479"/>
                </a:lnTo>
                <a:lnTo>
                  <a:pt x="95" y="457"/>
                </a:lnTo>
                <a:lnTo>
                  <a:pt x="88" y="435"/>
                </a:lnTo>
                <a:lnTo>
                  <a:pt x="81" y="411"/>
                </a:lnTo>
                <a:lnTo>
                  <a:pt x="76" y="386"/>
                </a:lnTo>
                <a:lnTo>
                  <a:pt x="73" y="361"/>
                </a:lnTo>
                <a:lnTo>
                  <a:pt x="74" y="336"/>
                </a:lnTo>
                <a:lnTo>
                  <a:pt x="78" y="312"/>
                </a:lnTo>
                <a:lnTo>
                  <a:pt x="87" y="289"/>
                </a:lnTo>
                <a:lnTo>
                  <a:pt x="99" y="268"/>
                </a:lnTo>
                <a:lnTo>
                  <a:pt x="115" y="250"/>
                </a:lnTo>
                <a:lnTo>
                  <a:pt x="134" y="234"/>
                </a:lnTo>
                <a:lnTo>
                  <a:pt x="155" y="221"/>
                </a:lnTo>
                <a:lnTo>
                  <a:pt x="178" y="210"/>
                </a:lnTo>
                <a:lnTo>
                  <a:pt x="202" y="202"/>
                </a:lnTo>
                <a:lnTo>
                  <a:pt x="225" y="195"/>
                </a:lnTo>
                <a:lnTo>
                  <a:pt x="248" y="189"/>
                </a:lnTo>
                <a:lnTo>
                  <a:pt x="270" y="184"/>
                </a:lnTo>
                <a:lnTo>
                  <a:pt x="291" y="178"/>
                </a:lnTo>
                <a:lnTo>
                  <a:pt x="309" y="170"/>
                </a:lnTo>
                <a:lnTo>
                  <a:pt x="327" y="161"/>
                </a:lnTo>
                <a:lnTo>
                  <a:pt x="344" y="149"/>
                </a:lnTo>
                <a:lnTo>
                  <a:pt x="360" y="135"/>
                </a:lnTo>
                <a:lnTo>
                  <a:pt x="376" y="119"/>
                </a:lnTo>
                <a:lnTo>
                  <a:pt x="393" y="101"/>
                </a:lnTo>
                <a:lnTo>
                  <a:pt x="411" y="82"/>
                </a:lnTo>
                <a:lnTo>
                  <a:pt x="431" y="64"/>
                </a:lnTo>
                <a:lnTo>
                  <a:pt x="452" y="46"/>
                </a:lnTo>
                <a:lnTo>
                  <a:pt x="475" y="31"/>
                </a:lnTo>
                <a:lnTo>
                  <a:pt x="500" y="19"/>
                </a:lnTo>
                <a:lnTo>
                  <a:pt x="526" y="10"/>
                </a:lnTo>
                <a:lnTo>
                  <a:pt x="552" y="7"/>
                </a:lnTo>
                <a:lnTo>
                  <a:pt x="578" y="8"/>
                </a:lnTo>
                <a:lnTo>
                  <a:pt x="603" y="15"/>
                </a:lnTo>
                <a:lnTo>
                  <a:pt x="627" y="27"/>
                </a:lnTo>
                <a:lnTo>
                  <a:pt x="648" y="43"/>
                </a:lnTo>
                <a:lnTo>
                  <a:pt x="668" y="63"/>
                </a:lnTo>
                <a:lnTo>
                  <a:pt x="684" y="86"/>
                </a:lnTo>
                <a:lnTo>
                  <a:pt x="699" y="110"/>
                </a:lnTo>
                <a:lnTo>
                  <a:pt x="710" y="136"/>
                </a:lnTo>
                <a:lnTo>
                  <a:pt x="721" y="160"/>
                </a:lnTo>
                <a:lnTo>
                  <a:pt x="730" y="184"/>
                </a:lnTo>
                <a:lnTo>
                  <a:pt x="739" y="205"/>
                </a:lnTo>
                <a:lnTo>
                  <a:pt x="748" y="225"/>
                </a:lnTo>
                <a:lnTo>
                  <a:pt x="758" y="242"/>
                </a:lnTo>
                <a:lnTo>
                  <a:pt x="771" y="256"/>
                </a:lnTo>
                <a:lnTo>
                  <a:pt x="785" y="269"/>
                </a:lnTo>
                <a:lnTo>
                  <a:pt x="802" y="281"/>
                </a:lnTo>
                <a:lnTo>
                  <a:pt x="821" y="292"/>
                </a:lnTo>
                <a:lnTo>
                  <a:pt x="841" y="303"/>
                </a:lnTo>
                <a:lnTo>
                  <a:pt x="863" y="315"/>
                </a:lnTo>
                <a:lnTo>
                  <a:pt x="886" y="328"/>
                </a:lnTo>
                <a:lnTo>
                  <a:pt x="907" y="344"/>
                </a:lnTo>
                <a:lnTo>
                  <a:pt x="927" y="361"/>
                </a:lnTo>
                <a:lnTo>
                  <a:pt x="944" y="381"/>
                </a:lnTo>
                <a:lnTo>
                  <a:pt x="958" y="403"/>
                </a:lnTo>
                <a:lnTo>
                  <a:pt x="968" y="426"/>
                </a:lnTo>
                <a:lnTo>
                  <a:pt x="973" y="450"/>
                </a:lnTo>
                <a:lnTo>
                  <a:pt x="974" y="475"/>
                </a:lnTo>
                <a:lnTo>
                  <a:pt x="970" y="500"/>
                </a:lnTo>
                <a:close/>
              </a:path>
            </a:pathLst>
          </a:custGeom>
          <a:gradFill rotWithShape="1">
            <a:gsLst>
              <a:gs pos="0">
                <a:srgbClr val="C4AAE3"/>
              </a:gs>
              <a:gs pos="42000">
                <a:srgbClr val="976ACA"/>
              </a:gs>
              <a:gs pos="100000">
                <a:srgbClr val="624086"/>
              </a:gs>
            </a:gsLst>
            <a:lin ang="2700000" scaled="1"/>
          </a:gradFill>
          <a:ln w="9525">
            <a:solidFill>
              <a:srgbClr val="785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3" name="Альдостерон связан с рецептором"/>
          <p:cNvSpPr/>
          <p:nvPr/>
        </p:nvSpPr>
        <p:spPr>
          <a:xfrm>
            <a:off x="7630668" y="2585008"/>
            <a:ext cx="155448" cy="155448"/>
          </a:xfrm>
          <a:prstGeom prst="ellipse">
            <a:avLst/>
          </a:prstGeom>
          <a:solidFill>
            <a:srgbClr val="E8AE39"/>
          </a:solidFill>
          <a:ln w="7620">
            <a:solidFill>
              <a:srgbClr val="BF8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4" name="Текст: Внутриклеточный&#10;рецептор"/>
          <p:cNvSpPr txBox="1"/>
          <p:nvPr/>
        </p:nvSpPr>
        <p:spPr>
          <a:xfrm>
            <a:off x="7031736" y="3182112"/>
            <a:ext cx="2048256" cy="48463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7851AD"/>
                </a:solidFill>
                <a:latin typeface="Arial Narrow"/>
                <a:cs typeface="Arial Narrow"/>
              </a:rPr>
              <a:t>Минералокортикоидный</a:t>
            </a:r>
            <a:endParaRPr sz="1600" b="1" dirty="0">
              <a:solidFill>
                <a:srgbClr val="7851AD"/>
              </a:solidFill>
              <a:latin typeface="Arial"/>
            </a:endParaRPr>
          </a:p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7851AD"/>
                </a:solidFill>
                <a:latin typeface="Arial Narrow"/>
                <a:cs typeface="Arial Narrow"/>
              </a:rPr>
              <a:t>рецептор (МКР)</a:t>
            </a:r>
            <a:endParaRPr sz="1600" b="1" dirty="0">
              <a:solidFill>
                <a:srgbClr val="7851AD"/>
              </a:solidFill>
              <a:latin typeface="Arial"/>
            </a:endParaRPr>
          </a:p>
        </p:txBody>
      </p:sp>
      <p:sp>
        <p:nvSpPr>
          <p:cNvPr id="245" name="Текст: Комплекс переходит&#10;в ядро"/>
          <p:cNvSpPr txBox="1"/>
          <p:nvPr/>
        </p:nvSpPr>
        <p:spPr>
          <a:xfrm>
            <a:off x="6336792" y="1874519"/>
            <a:ext cx="2084831" cy="44805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851AD"/>
                </a:solidFill>
                <a:latin typeface="Arial Narrow"/>
                <a:cs typeface="Arial Narrow"/>
              </a:rPr>
              <a:t>Комплекс переходит</a:t>
            </a:r>
          </a:p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851AD"/>
                </a:solidFill>
                <a:latin typeface="Arial Narrow"/>
                <a:cs typeface="Arial Narrow"/>
              </a:rPr>
              <a:t>в ядро</a:t>
            </a:r>
          </a:p>
        </p:txBody>
      </p:sp>
      <p:cxnSp>
        <p:nvCxnSpPr>
          <p:cNvPr id="246" name="Комплекс гормона и рецептора направляется в ядро"/>
          <p:cNvCxnSpPr/>
          <p:nvPr/>
        </p:nvCxnSpPr>
        <p:spPr>
          <a:xfrm flipH="1">
            <a:off x="6190488" y="2734056"/>
            <a:ext cx="1014984" cy="0"/>
          </a:xfrm>
          <a:prstGeom prst="line">
            <a:avLst/>
          </a:prstGeom>
          <a:ln w="30480">
            <a:solidFill>
              <a:srgbClr val="7851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Регуляция генов влияет на белки переноса"/>
          <p:cNvCxnSpPr/>
          <p:nvPr/>
        </p:nvCxnSpPr>
        <p:spPr>
          <a:xfrm>
            <a:off x="5212080" y="3474720"/>
            <a:ext cx="0" cy="256032"/>
          </a:xfrm>
          <a:prstGeom prst="line">
            <a:avLst/>
          </a:prstGeom>
          <a:ln w="25400">
            <a:solidFill>
              <a:srgbClr val="7851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Текст: Меняются синтез белков и работа&#10;натриевого канал"/>
          <p:cNvSpPr txBox="1"/>
          <p:nvPr/>
        </p:nvSpPr>
        <p:spPr>
          <a:xfrm>
            <a:off x="3538728" y="3749039"/>
            <a:ext cx="5285232" cy="60350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Меняются синтез белков, число и активность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натриевых каналов и натрий-калиевых насосов</a:t>
            </a:r>
          </a:p>
        </p:txBody>
      </p:sp>
      <p:sp>
        <p:nvSpPr>
          <p:cNvPr id="251" name="Полярная головка липида"/>
          <p:cNvSpPr/>
          <p:nvPr/>
        </p:nvSpPr>
        <p:spPr>
          <a:xfrm>
            <a:off x="2251252" y="1990648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52" name="Полярная головка липида"/>
          <p:cNvSpPr/>
          <p:nvPr/>
        </p:nvSpPr>
        <p:spPr>
          <a:xfrm>
            <a:off x="2317089" y="1990648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53" name="Липидный бислой"/>
          <p:cNvCxnSpPr/>
          <p:nvPr/>
        </p:nvCxnSpPr>
        <p:spPr>
          <a:xfrm>
            <a:off x="2291486" y="2011680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Полярная головка липида"/>
          <p:cNvSpPr/>
          <p:nvPr/>
        </p:nvSpPr>
        <p:spPr>
          <a:xfrm>
            <a:off x="2251252" y="2127808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55" name="Полярная головка липида"/>
          <p:cNvSpPr/>
          <p:nvPr/>
        </p:nvSpPr>
        <p:spPr>
          <a:xfrm>
            <a:off x="2317089" y="2127808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56" name="Липидный бислой"/>
          <p:cNvCxnSpPr/>
          <p:nvPr/>
        </p:nvCxnSpPr>
        <p:spPr>
          <a:xfrm>
            <a:off x="2291486" y="2148840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Полярная головка липида"/>
          <p:cNvSpPr/>
          <p:nvPr/>
        </p:nvSpPr>
        <p:spPr>
          <a:xfrm>
            <a:off x="2251252" y="2264968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58" name="Полярная головка липида"/>
          <p:cNvSpPr/>
          <p:nvPr/>
        </p:nvSpPr>
        <p:spPr>
          <a:xfrm>
            <a:off x="2317089" y="2264968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59" name="Липидный бислой"/>
          <p:cNvCxnSpPr/>
          <p:nvPr/>
        </p:nvCxnSpPr>
        <p:spPr>
          <a:xfrm>
            <a:off x="2291486" y="2286000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Полярная головка липида"/>
          <p:cNvSpPr/>
          <p:nvPr/>
        </p:nvSpPr>
        <p:spPr>
          <a:xfrm>
            <a:off x="2251252" y="2402128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61" name="Полярная головка липида"/>
          <p:cNvSpPr/>
          <p:nvPr/>
        </p:nvSpPr>
        <p:spPr>
          <a:xfrm>
            <a:off x="2317089" y="2402128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62" name="Липидный бислой"/>
          <p:cNvCxnSpPr/>
          <p:nvPr/>
        </p:nvCxnSpPr>
        <p:spPr>
          <a:xfrm>
            <a:off x="2291486" y="2423160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Полярная головка липида"/>
          <p:cNvSpPr/>
          <p:nvPr/>
        </p:nvSpPr>
        <p:spPr>
          <a:xfrm>
            <a:off x="2251252" y="3023920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64" name="Полярная головка липида"/>
          <p:cNvSpPr/>
          <p:nvPr/>
        </p:nvSpPr>
        <p:spPr>
          <a:xfrm>
            <a:off x="2317089" y="3023920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65" name="Липидный бислой"/>
          <p:cNvCxnSpPr/>
          <p:nvPr/>
        </p:nvCxnSpPr>
        <p:spPr>
          <a:xfrm>
            <a:off x="2291486" y="3044952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Полярная головка липида"/>
          <p:cNvSpPr/>
          <p:nvPr/>
        </p:nvSpPr>
        <p:spPr>
          <a:xfrm>
            <a:off x="2251252" y="3170224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67" name="Полярная головка липида"/>
          <p:cNvSpPr/>
          <p:nvPr/>
        </p:nvSpPr>
        <p:spPr>
          <a:xfrm>
            <a:off x="2317089" y="3170224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68" name="Липидный бислой"/>
          <p:cNvCxnSpPr/>
          <p:nvPr/>
        </p:nvCxnSpPr>
        <p:spPr>
          <a:xfrm>
            <a:off x="2291486" y="3191256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Полярная головка липида"/>
          <p:cNvSpPr/>
          <p:nvPr/>
        </p:nvSpPr>
        <p:spPr>
          <a:xfrm>
            <a:off x="2251252" y="3316528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0" name="Полярная головка липида"/>
          <p:cNvSpPr/>
          <p:nvPr/>
        </p:nvSpPr>
        <p:spPr>
          <a:xfrm>
            <a:off x="2317089" y="3316528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71" name="Липидный бислой"/>
          <p:cNvCxnSpPr/>
          <p:nvPr/>
        </p:nvCxnSpPr>
        <p:spPr>
          <a:xfrm>
            <a:off x="2291486" y="3337560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Полярная головка липида"/>
          <p:cNvSpPr/>
          <p:nvPr/>
        </p:nvSpPr>
        <p:spPr>
          <a:xfrm>
            <a:off x="2251252" y="3471976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3" name="Полярная головка липида"/>
          <p:cNvSpPr/>
          <p:nvPr/>
        </p:nvSpPr>
        <p:spPr>
          <a:xfrm>
            <a:off x="2317089" y="3471976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74" name="Липидный бислой"/>
          <p:cNvCxnSpPr/>
          <p:nvPr/>
        </p:nvCxnSpPr>
        <p:spPr>
          <a:xfrm>
            <a:off x="2291486" y="3493008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Полярная головка липида"/>
          <p:cNvSpPr/>
          <p:nvPr/>
        </p:nvSpPr>
        <p:spPr>
          <a:xfrm>
            <a:off x="2251252" y="3636568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6" name="Полярная головка липида"/>
          <p:cNvSpPr/>
          <p:nvPr/>
        </p:nvSpPr>
        <p:spPr>
          <a:xfrm>
            <a:off x="2317089" y="3636568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77" name="Липидный бислой"/>
          <p:cNvCxnSpPr/>
          <p:nvPr/>
        </p:nvCxnSpPr>
        <p:spPr>
          <a:xfrm>
            <a:off x="2291486" y="3657600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Полярная головка липида"/>
          <p:cNvSpPr/>
          <p:nvPr/>
        </p:nvSpPr>
        <p:spPr>
          <a:xfrm>
            <a:off x="2251252" y="3792016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9" name="Полярная головка липида"/>
          <p:cNvSpPr/>
          <p:nvPr/>
        </p:nvSpPr>
        <p:spPr>
          <a:xfrm>
            <a:off x="2317089" y="3792016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80" name="Липидный бислой"/>
          <p:cNvCxnSpPr/>
          <p:nvPr/>
        </p:nvCxnSpPr>
        <p:spPr>
          <a:xfrm>
            <a:off x="2291486" y="3813048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Полярная головка липида"/>
          <p:cNvSpPr/>
          <p:nvPr/>
        </p:nvSpPr>
        <p:spPr>
          <a:xfrm>
            <a:off x="2251252" y="3947464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82" name="Полярная головка липида"/>
          <p:cNvSpPr/>
          <p:nvPr/>
        </p:nvSpPr>
        <p:spPr>
          <a:xfrm>
            <a:off x="2317089" y="3947464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83" name="Липидный бислой"/>
          <p:cNvCxnSpPr/>
          <p:nvPr/>
        </p:nvCxnSpPr>
        <p:spPr>
          <a:xfrm>
            <a:off x="2291486" y="3968496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Полярная головка липида"/>
          <p:cNvSpPr/>
          <p:nvPr/>
        </p:nvSpPr>
        <p:spPr>
          <a:xfrm>
            <a:off x="2251252" y="4102912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85" name="Полярная головка липида"/>
          <p:cNvSpPr/>
          <p:nvPr/>
        </p:nvSpPr>
        <p:spPr>
          <a:xfrm>
            <a:off x="2317089" y="4102912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86" name="Липидный бислой"/>
          <p:cNvCxnSpPr/>
          <p:nvPr/>
        </p:nvCxnSpPr>
        <p:spPr>
          <a:xfrm>
            <a:off x="2291486" y="4123944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Полярная головка липида"/>
          <p:cNvSpPr/>
          <p:nvPr/>
        </p:nvSpPr>
        <p:spPr>
          <a:xfrm>
            <a:off x="2251252" y="4258360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88" name="Полярная головка липида"/>
          <p:cNvSpPr/>
          <p:nvPr/>
        </p:nvSpPr>
        <p:spPr>
          <a:xfrm>
            <a:off x="2317089" y="4258360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89" name="Липидный бислой"/>
          <p:cNvCxnSpPr/>
          <p:nvPr/>
        </p:nvCxnSpPr>
        <p:spPr>
          <a:xfrm>
            <a:off x="2291486" y="4279392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Полярная головка липида"/>
          <p:cNvSpPr/>
          <p:nvPr/>
        </p:nvSpPr>
        <p:spPr>
          <a:xfrm>
            <a:off x="9264700" y="1990648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1" name="Полярная головка липида"/>
          <p:cNvSpPr/>
          <p:nvPr/>
        </p:nvSpPr>
        <p:spPr>
          <a:xfrm>
            <a:off x="9330537" y="1990648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92" name="Липидный бислой"/>
          <p:cNvCxnSpPr/>
          <p:nvPr/>
        </p:nvCxnSpPr>
        <p:spPr>
          <a:xfrm>
            <a:off x="9304934" y="2011680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Полярная головка липида"/>
          <p:cNvSpPr/>
          <p:nvPr/>
        </p:nvSpPr>
        <p:spPr>
          <a:xfrm>
            <a:off x="9264700" y="2127808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4" name="Полярная головка липида"/>
          <p:cNvSpPr/>
          <p:nvPr/>
        </p:nvSpPr>
        <p:spPr>
          <a:xfrm>
            <a:off x="9330537" y="2127808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95" name="Липидный бислой"/>
          <p:cNvCxnSpPr/>
          <p:nvPr/>
        </p:nvCxnSpPr>
        <p:spPr>
          <a:xfrm>
            <a:off x="9304934" y="2148840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Полярная головка липида"/>
          <p:cNvSpPr/>
          <p:nvPr/>
        </p:nvSpPr>
        <p:spPr>
          <a:xfrm>
            <a:off x="9264700" y="2264968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7" name="Полярная головка липида"/>
          <p:cNvSpPr/>
          <p:nvPr/>
        </p:nvSpPr>
        <p:spPr>
          <a:xfrm>
            <a:off x="9330537" y="2264968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98" name="Липидный бислой"/>
          <p:cNvCxnSpPr/>
          <p:nvPr/>
        </p:nvCxnSpPr>
        <p:spPr>
          <a:xfrm>
            <a:off x="9304934" y="2286000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Полярная головка липида"/>
          <p:cNvSpPr/>
          <p:nvPr/>
        </p:nvSpPr>
        <p:spPr>
          <a:xfrm>
            <a:off x="9264700" y="3170224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0" name="Полярная головка липида"/>
          <p:cNvSpPr/>
          <p:nvPr/>
        </p:nvSpPr>
        <p:spPr>
          <a:xfrm>
            <a:off x="9330537" y="3170224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01" name="Липидный бислой"/>
          <p:cNvCxnSpPr/>
          <p:nvPr/>
        </p:nvCxnSpPr>
        <p:spPr>
          <a:xfrm>
            <a:off x="9304934" y="3191256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Полярная головка липида"/>
          <p:cNvSpPr/>
          <p:nvPr/>
        </p:nvSpPr>
        <p:spPr>
          <a:xfrm>
            <a:off x="9264700" y="3316528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3" name="Полярная головка липида"/>
          <p:cNvSpPr/>
          <p:nvPr/>
        </p:nvSpPr>
        <p:spPr>
          <a:xfrm>
            <a:off x="9330537" y="3316528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04" name="Липидный бислой"/>
          <p:cNvCxnSpPr/>
          <p:nvPr/>
        </p:nvCxnSpPr>
        <p:spPr>
          <a:xfrm>
            <a:off x="9304934" y="3337560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Полярная головка липида"/>
          <p:cNvSpPr/>
          <p:nvPr/>
        </p:nvSpPr>
        <p:spPr>
          <a:xfrm>
            <a:off x="9264700" y="3471976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6" name="Полярная головка липида"/>
          <p:cNvSpPr/>
          <p:nvPr/>
        </p:nvSpPr>
        <p:spPr>
          <a:xfrm>
            <a:off x="9330537" y="3471976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07" name="Липидный бислой"/>
          <p:cNvCxnSpPr/>
          <p:nvPr/>
        </p:nvCxnSpPr>
        <p:spPr>
          <a:xfrm>
            <a:off x="9304934" y="3493008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Полярная головка липида"/>
          <p:cNvSpPr/>
          <p:nvPr/>
        </p:nvSpPr>
        <p:spPr>
          <a:xfrm>
            <a:off x="9264700" y="3636568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9" name="Полярная головка липида"/>
          <p:cNvSpPr/>
          <p:nvPr/>
        </p:nvSpPr>
        <p:spPr>
          <a:xfrm>
            <a:off x="9330537" y="3636568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10" name="Липидный бислой"/>
          <p:cNvCxnSpPr/>
          <p:nvPr/>
        </p:nvCxnSpPr>
        <p:spPr>
          <a:xfrm>
            <a:off x="9304934" y="3657600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Полярная головка липида"/>
          <p:cNvSpPr/>
          <p:nvPr/>
        </p:nvSpPr>
        <p:spPr>
          <a:xfrm>
            <a:off x="9264700" y="3792016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12" name="Полярная головка липида"/>
          <p:cNvSpPr/>
          <p:nvPr/>
        </p:nvSpPr>
        <p:spPr>
          <a:xfrm>
            <a:off x="9330537" y="3792016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13" name="Липидный бислой"/>
          <p:cNvCxnSpPr/>
          <p:nvPr/>
        </p:nvCxnSpPr>
        <p:spPr>
          <a:xfrm>
            <a:off x="9304934" y="3813048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Полярная головка липида"/>
          <p:cNvSpPr/>
          <p:nvPr/>
        </p:nvSpPr>
        <p:spPr>
          <a:xfrm>
            <a:off x="9264700" y="3947464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15" name="Полярная головка липида"/>
          <p:cNvSpPr/>
          <p:nvPr/>
        </p:nvSpPr>
        <p:spPr>
          <a:xfrm>
            <a:off x="9330537" y="3947464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16" name="Липидный бислой"/>
          <p:cNvCxnSpPr/>
          <p:nvPr/>
        </p:nvCxnSpPr>
        <p:spPr>
          <a:xfrm>
            <a:off x="9304934" y="3968496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Полярная головка липида"/>
          <p:cNvSpPr/>
          <p:nvPr/>
        </p:nvSpPr>
        <p:spPr>
          <a:xfrm>
            <a:off x="9264700" y="4102912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18" name="Полярная головка липида"/>
          <p:cNvSpPr/>
          <p:nvPr/>
        </p:nvSpPr>
        <p:spPr>
          <a:xfrm>
            <a:off x="9330537" y="4102912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19" name="Липидный бислой"/>
          <p:cNvCxnSpPr/>
          <p:nvPr/>
        </p:nvCxnSpPr>
        <p:spPr>
          <a:xfrm>
            <a:off x="9304934" y="4123944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Полярная головка липида"/>
          <p:cNvSpPr/>
          <p:nvPr/>
        </p:nvSpPr>
        <p:spPr>
          <a:xfrm>
            <a:off x="9264700" y="4258360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1" name="Полярная головка липида"/>
          <p:cNvSpPr/>
          <p:nvPr/>
        </p:nvSpPr>
        <p:spPr>
          <a:xfrm>
            <a:off x="9330537" y="4258360"/>
            <a:ext cx="40233" cy="40233"/>
          </a:xfrm>
          <a:prstGeom prst="ellipse">
            <a:avLst/>
          </a:prstGeom>
          <a:solidFill>
            <a:srgbClr val="D4B1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22" name="Липидный бислой"/>
          <p:cNvCxnSpPr/>
          <p:nvPr/>
        </p:nvCxnSpPr>
        <p:spPr>
          <a:xfrm>
            <a:off x="9304934" y="4279392"/>
            <a:ext cx="25603" cy="0"/>
          </a:xfrm>
          <a:prstGeom prst="line">
            <a:avLst/>
          </a:prstGeom>
          <a:ln w="10795">
            <a:solidFill>
              <a:srgbClr val="E8C7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Натриевый канал апикальной мембраны: верхняя стенка"/>
          <p:cNvSpPr/>
          <p:nvPr/>
        </p:nvSpPr>
        <p:spPr>
          <a:xfrm>
            <a:off x="2075687" y="4544568"/>
            <a:ext cx="521207" cy="2560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0E8DAC"/>
              </a:gs>
              <a:gs pos="100000">
                <a:srgbClr val="0E8DAC"/>
              </a:gs>
            </a:gsLst>
            <a:lin ang="5400000" scaled="1"/>
          </a:gradFill>
          <a:ln w="8890">
            <a:solidFill>
              <a:srgbClr val="0E8D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4" name="Натриевый канал апикальной мембраны: нижняя стенка"/>
          <p:cNvSpPr/>
          <p:nvPr/>
        </p:nvSpPr>
        <p:spPr>
          <a:xfrm rot="10800000">
            <a:off x="2075687" y="4910327"/>
            <a:ext cx="521207" cy="2560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0E8DAC"/>
              </a:gs>
              <a:gs pos="100000">
                <a:srgbClr val="0E8DAC"/>
              </a:gs>
            </a:gsLst>
            <a:lin ang="5400000" scaled="1"/>
          </a:gradFill>
          <a:ln w="8890">
            <a:solidFill>
              <a:srgbClr val="0E8D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5" name="Калиевый канал апикальной мембраны: верхняя стенка"/>
          <p:cNvSpPr/>
          <p:nvPr/>
        </p:nvSpPr>
        <p:spPr>
          <a:xfrm>
            <a:off x="2075687" y="5294376"/>
            <a:ext cx="521207" cy="2560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C2752A"/>
              </a:gs>
              <a:gs pos="100000">
                <a:srgbClr val="C2752A"/>
              </a:gs>
            </a:gsLst>
            <a:lin ang="5400000" scaled="1"/>
          </a:gradFill>
          <a:ln w="8890">
            <a:solidFill>
              <a:srgbClr val="C27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6" name="Калиевый канал апикальной мембраны: нижняя стенка"/>
          <p:cNvSpPr/>
          <p:nvPr/>
        </p:nvSpPr>
        <p:spPr>
          <a:xfrm rot="10800000">
            <a:off x="2075687" y="5660136"/>
            <a:ext cx="521207" cy="2560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C2752A"/>
              </a:gs>
              <a:gs pos="100000">
                <a:srgbClr val="C2752A"/>
              </a:gs>
            </a:gsLst>
            <a:lin ang="5400000" scaled="1"/>
          </a:gradFill>
          <a:ln w="8890">
            <a:solidFill>
              <a:srgbClr val="C27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7" name="Один натрий-калиевый насос в базолатеральной мембране"/>
          <p:cNvSpPr/>
          <p:nvPr/>
        </p:nvSpPr>
        <p:spPr>
          <a:xfrm>
            <a:off x="9006840" y="4562856"/>
            <a:ext cx="704088" cy="135331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410" y="0"/>
                </a:moveTo>
                <a:cubicBezTo>
                  <a:pt x="770" y="-8"/>
                  <a:pt x="910" y="95"/>
                  <a:pt x="850" y="228"/>
                </a:cubicBezTo>
                <a:cubicBezTo>
                  <a:pt x="785" y="356"/>
                  <a:pt x="967" y="384"/>
                  <a:pt x="965" y="515"/>
                </a:cubicBezTo>
                <a:cubicBezTo>
                  <a:pt x="970" y="677"/>
                  <a:pt x="800" y="733"/>
                  <a:pt x="797" y="900"/>
                </a:cubicBezTo>
                <a:cubicBezTo>
                  <a:pt x="735" y="1020"/>
                  <a:pt x="448" y="1030"/>
                  <a:pt x="312" y="937"/>
                </a:cubicBezTo>
                <a:cubicBezTo>
                  <a:pt x="174" y="845"/>
                  <a:pt x="280" y="722"/>
                  <a:pt x="223" y="647"/>
                </a:cubicBezTo>
                <a:cubicBezTo>
                  <a:pt x="9" y="571"/>
                  <a:pt x="-15" y="405"/>
                  <a:pt x="169" y="306"/>
                </a:cubicBezTo>
                <a:cubicBezTo>
                  <a:pt x="298" y="230"/>
                  <a:pt x="202" y="111"/>
                  <a:pt x="410" y="0"/>
                </a:cubicBezTo>
                <a:close/>
              </a:path>
            </a:pathLst>
          </a:custGeom>
          <a:gradFill rotWithShape="1">
            <a:gsLst>
              <a:gs pos="0">
                <a:srgbClr val="E7DEEE"/>
              </a:gs>
              <a:gs pos="37000">
                <a:srgbClr val="BEAFCF"/>
              </a:gs>
              <a:gs pos="100000">
                <a:srgbClr val="9885AC"/>
              </a:gs>
            </a:gsLst>
            <a:lin ang="0" scaled="1"/>
          </a:gradFill>
          <a:ln w="12700">
            <a:solidFill>
              <a:srgbClr val="8472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8" name="Текст: Натрий-калиевый&#10;насос"/>
          <p:cNvSpPr txBox="1"/>
          <p:nvPr/>
        </p:nvSpPr>
        <p:spPr>
          <a:xfrm>
            <a:off x="9509760" y="3694176"/>
            <a:ext cx="2121408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Натрий-калиевый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насос</a:t>
            </a:r>
          </a:p>
        </p:txBody>
      </p:sp>
      <p:sp>
        <p:nvSpPr>
          <p:cNvPr id="329" name="Текст: Натриевый канал"/>
          <p:cNvSpPr txBox="1"/>
          <p:nvPr/>
        </p:nvSpPr>
        <p:spPr>
          <a:xfrm>
            <a:off x="2679700" y="4457700"/>
            <a:ext cx="330200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E8DAC"/>
                </a:solidFill>
                <a:latin typeface="Arial Narrow"/>
                <a:cs typeface="Arial Narrow"/>
              </a:rPr>
              <a:t>Натриевый канал ENaC</a:t>
            </a:r>
          </a:p>
        </p:txBody>
      </p:sp>
      <p:sp>
        <p:nvSpPr>
          <p:cNvPr id="330" name="Текст: Калиевый канал"/>
          <p:cNvSpPr txBox="1"/>
          <p:nvPr/>
        </p:nvSpPr>
        <p:spPr>
          <a:xfrm>
            <a:off x="2679700" y="5184648"/>
            <a:ext cx="330200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C2752A"/>
                </a:solidFill>
                <a:latin typeface="Arial Narrow"/>
                <a:cs typeface="Arial Narrow"/>
              </a:rPr>
              <a:t>Калиевый канал ROMK</a:t>
            </a:r>
          </a:p>
        </p:txBody>
      </p:sp>
      <p:sp>
        <p:nvSpPr>
          <p:cNvPr id="337" name="Текст: Натрий"/>
          <p:cNvSpPr txBox="1"/>
          <p:nvPr/>
        </p:nvSpPr>
        <p:spPr>
          <a:xfrm>
            <a:off x="585216" y="4407408"/>
            <a:ext cx="1325880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E8DAC"/>
                </a:solidFill>
                <a:latin typeface="Arial Narrow"/>
                <a:cs typeface="Arial Narrow"/>
              </a:rPr>
              <a:t>Натрий</a:t>
            </a:r>
          </a:p>
        </p:txBody>
      </p:sp>
      <p:sp>
        <p:nvSpPr>
          <p:cNvPr id="338" name="Текст: В кровь"/>
          <p:cNvSpPr txBox="1"/>
          <p:nvPr/>
        </p:nvSpPr>
        <p:spPr>
          <a:xfrm>
            <a:off x="10259568" y="4370832"/>
            <a:ext cx="1271016" cy="42976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1">
                <a:solidFill>
                  <a:srgbClr val="0E8DAC"/>
                </a:solidFill>
                <a:latin typeface="Arial Narrow"/>
                <a:cs typeface="Arial Narrow"/>
              </a:rPr>
              <a:t>Далее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1">
                <a:solidFill>
                  <a:srgbClr val="0E8DAC"/>
                </a:solidFill>
                <a:latin typeface="Arial Narrow"/>
                <a:cs typeface="Arial Narrow"/>
              </a:rPr>
              <a:t>в кровь</a:t>
            </a:r>
          </a:p>
        </p:txBody>
      </p:sp>
      <p:sp>
        <p:nvSpPr>
          <p:cNvPr id="339" name="Текст: В мочу"/>
          <p:cNvSpPr txBox="1"/>
          <p:nvPr/>
        </p:nvSpPr>
        <p:spPr>
          <a:xfrm>
            <a:off x="585216" y="5202936"/>
            <a:ext cx="145389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1">
                <a:solidFill>
                  <a:srgbClr val="C2752A"/>
                </a:solidFill>
                <a:latin typeface="Arial Narrow"/>
                <a:cs typeface="Arial Narrow"/>
              </a:rPr>
              <a:t>В просвет</a:t>
            </a:r>
          </a:p>
        </p:txBody>
      </p:sp>
      <p:sp>
        <p:nvSpPr>
          <p:cNvPr id="340" name="Текст: Калий"/>
          <p:cNvSpPr txBox="1"/>
          <p:nvPr/>
        </p:nvSpPr>
        <p:spPr>
          <a:xfrm>
            <a:off x="10222992" y="5202936"/>
            <a:ext cx="1280160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2752A"/>
                </a:solidFill>
                <a:latin typeface="Arial Narrow"/>
                <a:cs typeface="Arial Narrow"/>
              </a:rPr>
              <a:t>Калий</a:t>
            </a:r>
          </a:p>
        </p:txBody>
      </p:sp>
      <p:sp>
        <p:nvSpPr>
          <p:cNvPr id="341" name="Текст: Всасывание натрия создаёт условия для выделения "/>
          <p:cNvSpPr txBox="1"/>
          <p:nvPr/>
        </p:nvSpPr>
        <p:spPr>
          <a:xfrm>
            <a:off x="475488" y="6199632"/>
            <a:ext cx="10488168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cs typeface="Arial Narrow"/>
              </a:rPr>
              <a:t>Реабсорбция натрия создаёт электрическую движущую силу для секреции калия в просвет.</a:t>
            </a:r>
          </a:p>
        </p:txBody>
      </p:sp>
      <p:cxnSp>
        <p:nvCxnSpPr>
          <p:cNvPr id="344" name="Натрий: из просвета через апикальный канал к насосу"/>
          <p:cNvCxnSpPr/>
          <p:nvPr/>
        </p:nvCxnSpPr>
        <p:spPr>
          <a:xfrm>
            <a:off x="1143000" y="4855464"/>
            <a:ext cx="7863840" cy="0"/>
          </a:xfrm>
          <a:prstGeom prst="line">
            <a:avLst/>
          </a:prstGeom>
          <a:ln w="38100">
            <a:solidFill>
              <a:srgbClr val="0C91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Натрий: выход из насоса в межклеточную жидкость"/>
          <p:cNvCxnSpPr/>
          <p:nvPr/>
        </p:nvCxnSpPr>
        <p:spPr>
          <a:xfrm>
            <a:off x="9573768" y="4855464"/>
            <a:ext cx="1280160" cy="0"/>
          </a:xfrm>
          <a:prstGeom prst="line">
            <a:avLst/>
          </a:prstGeom>
          <a:ln w="38100">
            <a:solidFill>
              <a:srgbClr val="0C91A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Калий: из межклеточной жидкости в насос"/>
          <p:cNvCxnSpPr/>
          <p:nvPr/>
        </p:nvCxnSpPr>
        <p:spPr>
          <a:xfrm flipH="1">
            <a:off x="9610344" y="5605272"/>
            <a:ext cx="1252728" cy="0"/>
          </a:xfrm>
          <a:prstGeom prst="line">
            <a:avLst/>
          </a:prstGeom>
          <a:ln w="38100">
            <a:solidFill>
              <a:srgbClr val="C9792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Калий: из клетки через апикальный канал в просвет"/>
          <p:cNvCxnSpPr/>
          <p:nvPr/>
        </p:nvCxnSpPr>
        <p:spPr>
          <a:xfrm flipH="1">
            <a:off x="1143000" y="5605272"/>
            <a:ext cx="7946136" cy="0"/>
          </a:xfrm>
          <a:prstGeom prst="line">
            <a:avLst/>
          </a:prstGeom>
          <a:ln w="38100">
            <a:solidFill>
              <a:srgbClr val="C9792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Энергозависимость натрий-калиевого насоса"/>
          <p:cNvSpPr txBox="1"/>
          <p:nvPr/>
        </p:nvSpPr>
        <p:spPr>
          <a:xfrm>
            <a:off x="6099048" y="5074920"/>
            <a:ext cx="2761488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cs typeface="Arial Narrow"/>
              </a:rPr>
              <a:t>Насос использует энергию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cs typeface="Arial Narrow"/>
              </a:rPr>
              <a:t>аденозинтрифосфата</a:t>
            </a:r>
          </a:p>
        </p:txBody>
      </p:sp>
      <p:cxnSp>
        <p:nvCxnSpPr>
          <p:cNvPr id="349" name="Регуляция числа и активности натриевых каналов"/>
          <p:cNvCxnSpPr/>
          <p:nvPr/>
        </p:nvCxnSpPr>
        <p:spPr>
          <a:xfrm flipH="1">
            <a:off x="2451100" y="4059936"/>
            <a:ext cx="1169924" cy="372364"/>
          </a:xfrm>
          <a:prstGeom prst="line">
            <a:avLst/>
          </a:prstGeom>
          <a:ln w="14604">
            <a:solidFill>
              <a:srgbClr val="7851AD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Регуляция натрий-калиевых насосов"/>
          <p:cNvCxnSpPr/>
          <p:nvPr/>
        </p:nvCxnSpPr>
        <p:spPr>
          <a:xfrm>
            <a:off x="8586216" y="4389120"/>
            <a:ext cx="544068" cy="233172"/>
          </a:xfrm>
          <a:prstGeom prst="line">
            <a:avLst/>
          </a:prstGeom>
          <a:ln w="14604">
            <a:solidFill>
              <a:srgbClr val="7851AD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Указатель_ENaC"/>
          <p:cNvCxnSpPr/>
          <p:nvPr/>
        </p:nvCxnSpPr>
        <p:spPr>
          <a:xfrm flipH="1">
            <a:off x="2413000" y="4584700"/>
            <a:ext cx="254000" cy="50800"/>
          </a:xfrm>
          <a:prstGeom prst="line">
            <a:avLst/>
          </a:prstGeom>
          <a:ln w="15875">
            <a:solidFill>
              <a:srgbClr val="0E8DAC"/>
            </a:solidFill>
          </a:ln>
        </p:spPr>
      </p:cxnSp>
      <p:cxnSp>
        <p:nvCxnSpPr>
          <p:cNvPr id="352" name="Указатель_ROMK"/>
          <p:cNvCxnSpPr/>
          <p:nvPr/>
        </p:nvCxnSpPr>
        <p:spPr>
          <a:xfrm flipH="1">
            <a:off x="2413000" y="5321300"/>
            <a:ext cx="254000" cy="63500"/>
          </a:xfrm>
          <a:prstGeom prst="line">
            <a:avLst/>
          </a:prstGeom>
          <a:ln w="15875">
            <a:solidFill>
              <a:srgbClr val="C2752A"/>
            </a:solidFill>
          </a:ln>
        </p:spPr>
      </p:cxnSp>
      <p:cxnSp>
        <p:nvCxnSpPr>
          <p:cNvPr id="353" name="Указатель_насос"/>
          <p:cNvCxnSpPr/>
          <p:nvPr/>
        </p:nvCxnSpPr>
        <p:spPr>
          <a:xfrm flipH="1">
            <a:off x="9499600" y="4267200"/>
            <a:ext cx="279400" cy="304800"/>
          </a:xfrm>
          <a:prstGeom prst="line">
            <a:avLst/>
          </a:prstGeom>
          <a:ln w="15875">
            <a:solidFill>
              <a:srgbClr val="404040"/>
            </a:solidFill>
          </a:ln>
        </p:spPr>
      </p:cxnSp>
      <p:sp>
        <p:nvSpPr>
          <p:cNvPr id="354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ENaC: эпителиальный натриевый канал; ROMK: калиевый канал наружного мозгового вещества почки.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Amazit L, et al. J Biol Chem. 2015;290:21876–21889. Czogalla J, et al. Pflügers Arch. 2016;468:849–858. Loffing J, et al. Am J Physiol Renal Physiol. 2001;280:F675–F682. Sørensen MV, et al. JCI Insight. 2019;4:e126910. Kanai R, et al. Nature. 2013;502:201–206.</a:t>
            </a:r>
          </a:p>
        </p:txBody>
      </p:sp>
      <p:pic>
        <p:nvPicPr>
          <p:cNvPr id="355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Информативный 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Избыточная активация минералокортикоидного рецептора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поддерживает воспаление и фиброз</a:t>
            </a:r>
          </a:p>
        </p:txBody>
      </p:sp>
      <p:pic>
        <p:nvPicPr>
          <p:cNvPr id="4" name="Мембрана и цитоплазма: исходный рисунок" descr="cell_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554480"/>
            <a:ext cx="5221224" cy="3878292"/>
          </a:xfrm>
          <a:prstGeom prst="rect">
            <a:avLst/>
          </a:prstGeom>
          <a:effectLst/>
        </p:spPr>
      </p:pic>
      <p:pic>
        <p:nvPicPr>
          <p:cNvPr id="5" name="Ядро: исходный рисунок" descr="nucle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2816352"/>
            <a:ext cx="1435608" cy="1435607"/>
          </a:xfrm>
          <a:prstGeom prst="rect">
            <a:avLst/>
          </a:prstGeom>
          <a:effectLst/>
        </p:spPr>
      </p:pic>
      <p:sp>
        <p:nvSpPr>
          <p:cNvPr id="6" name="Внутри клетки"/>
          <p:cNvSpPr txBox="1"/>
          <p:nvPr/>
        </p:nvSpPr>
        <p:spPr>
          <a:xfrm>
            <a:off x="1947672" y="1947672"/>
            <a:ext cx="2450592" cy="2834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Внутри клетки</a:t>
            </a:r>
          </a:p>
        </p:txBody>
      </p:sp>
      <p:sp>
        <p:nvSpPr>
          <p:cNvPr id="7" name="Контур условного символа рецептора"/>
          <p:cNvSpPr/>
          <p:nvPr/>
        </p:nvSpPr>
        <p:spPr>
          <a:xfrm>
            <a:off x="1433962" y="3174796"/>
            <a:ext cx="465978" cy="358444"/>
          </a:xfrm>
          <a:prstGeom prst="ellipse">
            <a:avLst/>
          </a:prstGeom>
          <a:solidFill>
            <a:srgbClr val="7A4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8" name="Контур условного символа рецептора"/>
          <p:cNvSpPr/>
          <p:nvPr/>
        </p:nvSpPr>
        <p:spPr>
          <a:xfrm>
            <a:off x="1691914" y="3035808"/>
            <a:ext cx="441015" cy="438912"/>
          </a:xfrm>
          <a:prstGeom prst="ellipse">
            <a:avLst/>
          </a:prstGeom>
          <a:solidFill>
            <a:srgbClr val="7A4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9" name="Контур условного символа рецептора"/>
          <p:cNvSpPr/>
          <p:nvPr/>
        </p:nvSpPr>
        <p:spPr>
          <a:xfrm>
            <a:off x="1783445" y="3343046"/>
            <a:ext cx="482620" cy="336499"/>
          </a:xfrm>
          <a:prstGeom prst="ellipse">
            <a:avLst/>
          </a:prstGeom>
          <a:solidFill>
            <a:srgbClr val="7A4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10" name="Контур условного символа рецептора"/>
          <p:cNvSpPr/>
          <p:nvPr/>
        </p:nvSpPr>
        <p:spPr>
          <a:xfrm>
            <a:off x="1567098" y="3196742"/>
            <a:ext cx="507583" cy="402336"/>
          </a:xfrm>
          <a:prstGeom prst="ellipse">
            <a:avLst/>
          </a:prstGeom>
          <a:solidFill>
            <a:srgbClr val="7A4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11" name="Блик условного символа рецептора"/>
          <p:cNvSpPr/>
          <p:nvPr/>
        </p:nvSpPr>
        <p:spPr>
          <a:xfrm>
            <a:off x="1583740" y="3218687"/>
            <a:ext cx="191383" cy="73152"/>
          </a:xfrm>
          <a:prstGeom prst="ellipse">
            <a:avLst/>
          </a:prstGeom>
          <a:solidFill>
            <a:srgbClr val="AB8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12" name="Ядро"/>
          <p:cNvSpPr txBox="1"/>
          <p:nvPr/>
        </p:nvSpPr>
        <p:spPr>
          <a:xfrm>
            <a:off x="3538728" y="2496312"/>
            <a:ext cx="1005840" cy="2834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A4A9B"/>
                </a:solidFill>
                <a:latin typeface="Arial Narrow"/>
                <a:cs typeface="Arial Narrow"/>
              </a:rPr>
              <a:t>Ядро</a:t>
            </a:r>
          </a:p>
        </p:txBody>
      </p:sp>
      <p:sp>
        <p:nvSpPr>
          <p:cNvPr id="13" name="Регуляция работы генов"/>
          <p:cNvSpPr txBox="1"/>
          <p:nvPr/>
        </p:nvSpPr>
        <p:spPr>
          <a:xfrm>
            <a:off x="3319272" y="2997200"/>
            <a:ext cx="1179576" cy="6492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Регуляция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генов</a:t>
            </a:r>
          </a:p>
        </p:txBody>
      </p:sp>
      <p:sp>
        <p:nvSpPr>
          <p:cNvPr id="14" name="Рецептор"/>
          <p:cNvSpPr txBox="1"/>
          <p:nvPr/>
        </p:nvSpPr>
        <p:spPr>
          <a:xfrm>
            <a:off x="1060704" y="3886200"/>
            <a:ext cx="1865376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A4A9B"/>
                </a:solidFill>
                <a:latin typeface="Arial Narrow"/>
                <a:cs typeface="Arial Narrow"/>
              </a:rPr>
              <a:t>МКР</a:t>
            </a:r>
          </a:p>
        </p:txBody>
      </p:sp>
      <p:sp>
        <p:nvSpPr>
          <p:cNvPr id="15" name="Альдостерон"/>
          <p:cNvSpPr txBox="1"/>
          <p:nvPr/>
        </p:nvSpPr>
        <p:spPr>
          <a:xfrm>
            <a:off x="1244600" y="2459736"/>
            <a:ext cx="2084831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79849"/>
                </a:solidFill>
                <a:latin typeface="Arial Narrow"/>
                <a:cs typeface="Arial Narrow"/>
              </a:rPr>
              <a:t>Альдостерон</a:t>
            </a:r>
          </a:p>
        </p:txBody>
      </p:sp>
      <p:sp>
        <p:nvSpPr>
          <p:cNvPr id="16" name="Условный символ альдостерона у рецептора"/>
          <p:cNvSpPr/>
          <p:nvPr/>
        </p:nvSpPr>
        <p:spPr>
          <a:xfrm>
            <a:off x="2084831" y="3136392"/>
            <a:ext cx="164592" cy="164592"/>
          </a:xfrm>
          <a:prstGeom prst="ellipse">
            <a:avLst/>
          </a:prstGeom>
          <a:solidFill>
            <a:srgbClr val="E2B45F"/>
          </a:solidFill>
          <a:ln w="5080">
            <a:solidFill>
              <a:srgbClr val="A57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cxnSp>
        <p:nvCxnSpPr>
          <p:cNvPr id="17" name="Подпись к альдостерону"/>
          <p:cNvCxnSpPr/>
          <p:nvPr/>
        </p:nvCxnSpPr>
        <p:spPr>
          <a:xfrm>
            <a:off x="1929384" y="2807208"/>
            <a:ext cx="219456" cy="301752"/>
          </a:xfrm>
          <a:prstGeom prst="line">
            <a:avLst/>
          </a:prstGeom>
          <a:ln w="13970">
            <a:solidFill>
              <a:srgbClr val="C79849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8" name="Активация рецептора связана с регуляцией генов"/>
          <p:cNvCxnSpPr/>
          <p:nvPr/>
        </p:nvCxnSpPr>
        <p:spPr>
          <a:xfrm>
            <a:off x="2404872" y="3364992"/>
            <a:ext cx="640080" cy="0"/>
          </a:xfrm>
          <a:prstGeom prst="line">
            <a:avLst/>
          </a:prstGeom>
          <a:ln w="23495">
            <a:solidFill>
              <a:srgbClr val="B844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19" name="Интерстиций вне эпителиальных клеток"/>
          <p:cNvSpPr/>
          <p:nvPr/>
        </p:nvSpPr>
        <p:spPr>
          <a:xfrm>
            <a:off x="6455664" y="2734056"/>
            <a:ext cx="5248656" cy="1545336"/>
          </a:xfrm>
          <a:prstGeom prst="rect">
            <a:avLst/>
          </a:prstGeom>
          <a:solidFill>
            <a:srgbClr val="FA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pic>
        <p:nvPicPr>
          <p:cNvPr id="20" name="Эпителий канальца: исходная иллюстрация" descr="epitheliu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2148840"/>
            <a:ext cx="5248656" cy="665020"/>
          </a:xfrm>
          <a:prstGeom prst="rect">
            <a:avLst/>
          </a:prstGeom>
          <a:effectLst/>
        </p:spPr>
      </p:pic>
      <p:sp>
        <p:nvSpPr>
          <p:cNvPr id="21" name="Фрагмент ткани почки"/>
          <p:cNvSpPr txBox="1"/>
          <p:nvPr/>
        </p:nvSpPr>
        <p:spPr>
          <a:xfrm>
            <a:off x="6455664" y="1627632"/>
            <a:ext cx="5248656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Фрагмент ткани почки</a:t>
            </a:r>
          </a:p>
        </p:txBody>
      </p:sp>
      <p:sp>
        <p:nvSpPr>
          <p:cNvPr id="22" name="Эпителий канальца"/>
          <p:cNvSpPr txBox="1"/>
          <p:nvPr/>
        </p:nvSpPr>
        <p:spPr>
          <a:xfrm>
            <a:off x="6473951" y="1920240"/>
            <a:ext cx="2862072" cy="2468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Эпителий канальца</a:t>
            </a:r>
          </a:p>
        </p:txBody>
      </p:sp>
      <p:pic>
        <p:nvPicPr>
          <p:cNvPr id="23" name="Условное изображение воспалительной клетки" descr="immune_c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3236976"/>
            <a:ext cx="393192" cy="430307"/>
          </a:xfrm>
          <a:prstGeom prst="rect">
            <a:avLst/>
          </a:prstGeom>
          <a:effectLst/>
        </p:spPr>
      </p:pic>
      <p:pic>
        <p:nvPicPr>
          <p:cNvPr id="24" name="Условное изображение воспалительной клетки" descr="immune_c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344" y="3529584"/>
            <a:ext cx="365760" cy="400286"/>
          </a:xfrm>
          <a:prstGeom prst="rect">
            <a:avLst/>
          </a:prstGeom>
          <a:effectLst/>
        </p:spPr>
      </p:pic>
      <p:pic>
        <p:nvPicPr>
          <p:cNvPr id="25" name="Условное изображение воспалительной клетки" descr="immune_c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3200400"/>
            <a:ext cx="402336" cy="440314"/>
          </a:xfrm>
          <a:prstGeom prst="rect">
            <a:avLst/>
          </a:prstGeom>
          <a:effectLst/>
        </p:spPr>
      </p:pic>
      <p:pic>
        <p:nvPicPr>
          <p:cNvPr id="26" name="Условное изображение воспалительной клетки" descr="immune_c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3767328"/>
            <a:ext cx="365760" cy="400286"/>
          </a:xfrm>
          <a:prstGeom prst="rect">
            <a:avLst/>
          </a:prstGeom>
          <a:effectLst/>
        </p:spPr>
      </p:pic>
      <p:sp>
        <p:nvSpPr>
          <p:cNvPr id="27" name="Волокно межклеточного матрикса"/>
          <p:cNvSpPr/>
          <p:nvPr/>
        </p:nvSpPr>
        <p:spPr>
          <a:xfrm>
            <a:off x="9989820" y="3754526"/>
            <a:ext cx="502920" cy="59436"/>
          </a:xfrm>
          <a:custGeom>
            <a:avLst/>
            <a:gdLst/>
            <a:ahLst/>
            <a:cxnLst/>
            <a:rect l="l" t="t" r="r" b="b"/>
            <a:pathLst>
              <a:path w="550" h="65">
                <a:moveTo>
                  <a:pt x="0" y="33"/>
                </a:moveTo>
                <a:lnTo>
                  <a:pt x="45" y="59"/>
                </a:lnTo>
                <a:lnTo>
                  <a:pt x="91" y="65"/>
                </a:lnTo>
                <a:lnTo>
                  <a:pt x="137" y="45"/>
                </a:lnTo>
                <a:lnTo>
                  <a:pt x="183" y="16"/>
                </a:lnTo>
                <a:lnTo>
                  <a:pt x="229" y="0"/>
                </a:lnTo>
                <a:lnTo>
                  <a:pt x="275" y="10"/>
                </a:lnTo>
                <a:lnTo>
                  <a:pt x="321" y="38"/>
                </a:lnTo>
                <a:lnTo>
                  <a:pt x="367" y="62"/>
                </a:lnTo>
                <a:lnTo>
                  <a:pt x="413" y="63"/>
                </a:lnTo>
                <a:lnTo>
                  <a:pt x="459" y="40"/>
                </a:lnTo>
                <a:lnTo>
                  <a:pt x="504" y="12"/>
                </a:lnTo>
                <a:lnTo>
                  <a:pt x="550" y="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28" name="Волокно межклеточного матрикса"/>
          <p:cNvSpPr/>
          <p:nvPr/>
        </p:nvSpPr>
        <p:spPr>
          <a:xfrm>
            <a:off x="10414102" y="3949294"/>
            <a:ext cx="544982" cy="58522"/>
          </a:xfrm>
          <a:custGeom>
            <a:avLst/>
            <a:gdLst/>
            <a:ahLst/>
            <a:cxnLst/>
            <a:rect l="l" t="t" r="r" b="b"/>
            <a:pathLst>
              <a:path w="596" h="64">
                <a:moveTo>
                  <a:pt x="0" y="60"/>
                </a:moveTo>
                <a:lnTo>
                  <a:pt x="50" y="64"/>
                </a:lnTo>
                <a:lnTo>
                  <a:pt x="100" y="42"/>
                </a:lnTo>
                <a:lnTo>
                  <a:pt x="149" y="13"/>
                </a:lnTo>
                <a:lnTo>
                  <a:pt x="199" y="0"/>
                </a:lnTo>
                <a:lnTo>
                  <a:pt x="248" y="12"/>
                </a:lnTo>
                <a:lnTo>
                  <a:pt x="298" y="40"/>
                </a:lnTo>
                <a:lnTo>
                  <a:pt x="348" y="63"/>
                </a:lnTo>
                <a:lnTo>
                  <a:pt x="397" y="61"/>
                </a:lnTo>
                <a:lnTo>
                  <a:pt x="447" y="37"/>
                </a:lnTo>
                <a:lnTo>
                  <a:pt x="497" y="9"/>
                </a:lnTo>
                <a:lnTo>
                  <a:pt x="546" y="0"/>
                </a:lnTo>
                <a:lnTo>
                  <a:pt x="596" y="16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29" name="Волокно межклеточного матрикса"/>
          <p:cNvSpPr/>
          <p:nvPr/>
        </p:nvSpPr>
        <p:spPr>
          <a:xfrm>
            <a:off x="9368942" y="3387852"/>
            <a:ext cx="451714" cy="59436"/>
          </a:xfrm>
          <a:custGeom>
            <a:avLst/>
            <a:gdLst/>
            <a:ahLst/>
            <a:cxnLst/>
            <a:rect l="l" t="t" r="r" b="b"/>
            <a:pathLst>
              <a:path w="494" h="65">
                <a:moveTo>
                  <a:pt x="0" y="63"/>
                </a:moveTo>
                <a:lnTo>
                  <a:pt x="41" y="41"/>
                </a:lnTo>
                <a:lnTo>
                  <a:pt x="82" y="12"/>
                </a:lnTo>
                <a:lnTo>
                  <a:pt x="123" y="0"/>
                </a:lnTo>
                <a:lnTo>
                  <a:pt x="165" y="15"/>
                </a:lnTo>
                <a:lnTo>
                  <a:pt x="206" y="44"/>
                </a:lnTo>
                <a:lnTo>
                  <a:pt x="247" y="65"/>
                </a:lnTo>
                <a:lnTo>
                  <a:pt x="288" y="61"/>
                </a:lnTo>
                <a:lnTo>
                  <a:pt x="330" y="35"/>
                </a:lnTo>
                <a:lnTo>
                  <a:pt x="371" y="8"/>
                </a:lnTo>
                <a:lnTo>
                  <a:pt x="412" y="1"/>
                </a:lnTo>
                <a:lnTo>
                  <a:pt x="453" y="19"/>
                </a:lnTo>
                <a:lnTo>
                  <a:pt x="494" y="48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30" name="Волокно межклеточного матрикса"/>
          <p:cNvSpPr/>
          <p:nvPr/>
        </p:nvSpPr>
        <p:spPr>
          <a:xfrm>
            <a:off x="9811512" y="3998671"/>
            <a:ext cx="537667" cy="60350"/>
          </a:xfrm>
          <a:custGeom>
            <a:avLst/>
            <a:gdLst/>
            <a:ahLst/>
            <a:cxnLst/>
            <a:rect l="l" t="t" r="r" b="b"/>
            <a:pathLst>
              <a:path w="588" h="66">
                <a:moveTo>
                  <a:pt x="0" y="38"/>
                </a:moveTo>
                <a:lnTo>
                  <a:pt x="49" y="10"/>
                </a:lnTo>
                <a:lnTo>
                  <a:pt x="98" y="0"/>
                </a:lnTo>
                <a:lnTo>
                  <a:pt x="147" y="17"/>
                </a:lnTo>
                <a:lnTo>
                  <a:pt x="196" y="46"/>
                </a:lnTo>
                <a:lnTo>
                  <a:pt x="245" y="65"/>
                </a:lnTo>
                <a:lnTo>
                  <a:pt x="294" y="59"/>
                </a:lnTo>
                <a:lnTo>
                  <a:pt x="343" y="33"/>
                </a:lnTo>
                <a:lnTo>
                  <a:pt x="392" y="7"/>
                </a:lnTo>
                <a:lnTo>
                  <a:pt x="441" y="1"/>
                </a:lnTo>
                <a:lnTo>
                  <a:pt x="490" y="21"/>
                </a:lnTo>
                <a:lnTo>
                  <a:pt x="539" y="51"/>
                </a:lnTo>
                <a:lnTo>
                  <a:pt x="588" y="66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31" name="Волокно межклеточного матрикса"/>
          <p:cNvSpPr/>
          <p:nvPr/>
        </p:nvSpPr>
        <p:spPr>
          <a:xfrm>
            <a:off x="9964217" y="3496666"/>
            <a:ext cx="381305" cy="59436"/>
          </a:xfrm>
          <a:custGeom>
            <a:avLst/>
            <a:gdLst/>
            <a:ahLst/>
            <a:cxnLst/>
            <a:rect l="l" t="t" r="r" b="b"/>
            <a:pathLst>
              <a:path w="417" h="65">
                <a:moveTo>
                  <a:pt x="0" y="7"/>
                </a:moveTo>
                <a:lnTo>
                  <a:pt x="35" y="0"/>
                </a:lnTo>
                <a:lnTo>
                  <a:pt x="70" y="18"/>
                </a:lnTo>
                <a:lnTo>
                  <a:pt x="104" y="47"/>
                </a:lnTo>
                <a:lnTo>
                  <a:pt x="139" y="64"/>
                </a:lnTo>
                <a:lnTo>
                  <a:pt x="174" y="56"/>
                </a:lnTo>
                <a:lnTo>
                  <a:pt x="209" y="29"/>
                </a:lnTo>
                <a:lnTo>
                  <a:pt x="244" y="4"/>
                </a:lnTo>
                <a:lnTo>
                  <a:pt x="278" y="1"/>
                </a:lnTo>
                <a:lnTo>
                  <a:pt x="313" y="23"/>
                </a:lnTo>
                <a:lnTo>
                  <a:pt x="348" y="51"/>
                </a:lnTo>
                <a:lnTo>
                  <a:pt x="383" y="65"/>
                </a:lnTo>
                <a:lnTo>
                  <a:pt x="417" y="52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32" name="Волокно межклеточного матрикса"/>
          <p:cNvSpPr/>
          <p:nvPr/>
        </p:nvSpPr>
        <p:spPr>
          <a:xfrm>
            <a:off x="10225735" y="3967582"/>
            <a:ext cx="363017" cy="59436"/>
          </a:xfrm>
          <a:custGeom>
            <a:avLst/>
            <a:gdLst/>
            <a:ahLst/>
            <a:cxnLst/>
            <a:rect l="l" t="t" r="r" b="b"/>
            <a:pathLst>
              <a:path w="397" h="65">
                <a:moveTo>
                  <a:pt x="0" y="0"/>
                </a:moveTo>
                <a:lnTo>
                  <a:pt x="34" y="20"/>
                </a:lnTo>
                <a:lnTo>
                  <a:pt x="67" y="49"/>
                </a:lnTo>
                <a:lnTo>
                  <a:pt x="100" y="65"/>
                </a:lnTo>
                <a:lnTo>
                  <a:pt x="133" y="54"/>
                </a:lnTo>
                <a:lnTo>
                  <a:pt x="166" y="26"/>
                </a:lnTo>
                <a:lnTo>
                  <a:pt x="199" y="3"/>
                </a:lnTo>
                <a:lnTo>
                  <a:pt x="232" y="2"/>
                </a:lnTo>
                <a:lnTo>
                  <a:pt x="265" y="25"/>
                </a:lnTo>
                <a:lnTo>
                  <a:pt x="298" y="54"/>
                </a:lnTo>
                <a:lnTo>
                  <a:pt x="331" y="65"/>
                </a:lnTo>
                <a:lnTo>
                  <a:pt x="364" y="50"/>
                </a:lnTo>
                <a:lnTo>
                  <a:pt x="397" y="21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33" name="Волокно межклеточного матрикса"/>
          <p:cNvSpPr/>
          <p:nvPr/>
        </p:nvSpPr>
        <p:spPr>
          <a:xfrm>
            <a:off x="9933127" y="3491179"/>
            <a:ext cx="500177" cy="59436"/>
          </a:xfrm>
          <a:custGeom>
            <a:avLst/>
            <a:gdLst/>
            <a:ahLst/>
            <a:cxnLst/>
            <a:rect l="l" t="t" r="r" b="b"/>
            <a:pathLst>
              <a:path w="547" h="65">
                <a:moveTo>
                  <a:pt x="0" y="23"/>
                </a:moveTo>
                <a:lnTo>
                  <a:pt x="45" y="51"/>
                </a:lnTo>
                <a:lnTo>
                  <a:pt x="91" y="65"/>
                </a:lnTo>
                <a:lnTo>
                  <a:pt x="137" y="52"/>
                </a:lnTo>
                <a:lnTo>
                  <a:pt x="182" y="23"/>
                </a:lnTo>
                <a:lnTo>
                  <a:pt x="228" y="1"/>
                </a:lnTo>
                <a:lnTo>
                  <a:pt x="273" y="3"/>
                </a:lnTo>
                <a:lnTo>
                  <a:pt x="319" y="28"/>
                </a:lnTo>
                <a:lnTo>
                  <a:pt x="365" y="55"/>
                </a:lnTo>
                <a:lnTo>
                  <a:pt x="410" y="64"/>
                </a:lnTo>
                <a:lnTo>
                  <a:pt x="456" y="48"/>
                </a:lnTo>
                <a:lnTo>
                  <a:pt x="501" y="19"/>
                </a:lnTo>
                <a:lnTo>
                  <a:pt x="547" y="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34" name="Волокно межклеточного матрикса"/>
          <p:cNvSpPr/>
          <p:nvPr/>
        </p:nvSpPr>
        <p:spPr>
          <a:xfrm>
            <a:off x="9547250" y="3260750"/>
            <a:ext cx="521208" cy="59436"/>
          </a:xfrm>
          <a:custGeom>
            <a:avLst/>
            <a:gdLst/>
            <a:ahLst/>
            <a:cxnLst/>
            <a:rect l="l" t="t" r="r" b="b"/>
            <a:pathLst>
              <a:path w="570" h="65">
                <a:moveTo>
                  <a:pt x="0" y="54"/>
                </a:moveTo>
                <a:lnTo>
                  <a:pt x="47" y="65"/>
                </a:lnTo>
                <a:lnTo>
                  <a:pt x="95" y="50"/>
                </a:lnTo>
                <a:lnTo>
                  <a:pt x="142" y="21"/>
                </a:lnTo>
                <a:lnTo>
                  <a:pt x="190" y="1"/>
                </a:lnTo>
                <a:lnTo>
                  <a:pt x="238" y="5"/>
                </a:lnTo>
                <a:lnTo>
                  <a:pt x="285" y="31"/>
                </a:lnTo>
                <a:lnTo>
                  <a:pt x="333" y="58"/>
                </a:lnTo>
                <a:lnTo>
                  <a:pt x="380" y="64"/>
                </a:lnTo>
                <a:lnTo>
                  <a:pt x="428" y="46"/>
                </a:lnTo>
                <a:lnTo>
                  <a:pt x="475" y="17"/>
                </a:lnTo>
                <a:lnTo>
                  <a:pt x="523" y="0"/>
                </a:lnTo>
                <a:lnTo>
                  <a:pt x="570" y="8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35" name="Волокно межклеточного матрикса"/>
          <p:cNvSpPr/>
          <p:nvPr/>
        </p:nvSpPr>
        <p:spPr>
          <a:xfrm>
            <a:off x="9649663" y="3738982"/>
            <a:ext cx="593446" cy="60350"/>
          </a:xfrm>
          <a:custGeom>
            <a:avLst/>
            <a:gdLst/>
            <a:ahLst/>
            <a:cxnLst/>
            <a:rect l="l" t="t" r="r" b="b"/>
            <a:pathLst>
              <a:path w="649" h="66">
                <a:moveTo>
                  <a:pt x="0" y="66"/>
                </a:moveTo>
                <a:lnTo>
                  <a:pt x="54" y="49"/>
                </a:lnTo>
                <a:lnTo>
                  <a:pt x="108" y="20"/>
                </a:lnTo>
                <a:lnTo>
                  <a:pt x="162" y="1"/>
                </a:lnTo>
                <a:lnTo>
                  <a:pt x="217" y="7"/>
                </a:lnTo>
                <a:lnTo>
                  <a:pt x="271" y="34"/>
                </a:lnTo>
                <a:lnTo>
                  <a:pt x="325" y="60"/>
                </a:lnTo>
                <a:lnTo>
                  <a:pt x="379" y="64"/>
                </a:lnTo>
                <a:lnTo>
                  <a:pt x="433" y="44"/>
                </a:lnTo>
                <a:lnTo>
                  <a:pt x="487" y="15"/>
                </a:lnTo>
                <a:lnTo>
                  <a:pt x="541" y="0"/>
                </a:lnTo>
                <a:lnTo>
                  <a:pt x="595" y="11"/>
                </a:lnTo>
                <a:lnTo>
                  <a:pt x="649" y="39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36" name="Волокно межклеточного матрикса"/>
          <p:cNvSpPr/>
          <p:nvPr/>
        </p:nvSpPr>
        <p:spPr>
          <a:xfrm>
            <a:off x="10185502" y="3957523"/>
            <a:ext cx="560527" cy="57607"/>
          </a:xfrm>
          <a:custGeom>
            <a:avLst/>
            <a:gdLst/>
            <a:ahLst/>
            <a:cxnLst/>
            <a:rect l="l" t="t" r="r" b="b"/>
            <a:pathLst>
              <a:path w="613" h="63">
                <a:moveTo>
                  <a:pt x="0" y="46"/>
                </a:moveTo>
                <a:lnTo>
                  <a:pt x="51" y="17"/>
                </a:lnTo>
                <a:lnTo>
                  <a:pt x="102" y="0"/>
                </a:lnTo>
                <a:lnTo>
                  <a:pt x="153" y="9"/>
                </a:lnTo>
                <a:lnTo>
                  <a:pt x="204" y="36"/>
                </a:lnTo>
                <a:lnTo>
                  <a:pt x="255" y="61"/>
                </a:lnTo>
                <a:lnTo>
                  <a:pt x="306" y="63"/>
                </a:lnTo>
                <a:lnTo>
                  <a:pt x="357" y="41"/>
                </a:lnTo>
                <a:lnTo>
                  <a:pt x="408" y="13"/>
                </a:lnTo>
                <a:lnTo>
                  <a:pt x="460" y="0"/>
                </a:lnTo>
                <a:lnTo>
                  <a:pt x="511" y="13"/>
                </a:lnTo>
                <a:lnTo>
                  <a:pt x="562" y="41"/>
                </a:lnTo>
                <a:lnTo>
                  <a:pt x="613" y="63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37" name="Волокно межклеточного матрикса"/>
          <p:cNvSpPr/>
          <p:nvPr/>
        </p:nvSpPr>
        <p:spPr>
          <a:xfrm>
            <a:off x="9175090" y="3407969"/>
            <a:ext cx="516636" cy="59436"/>
          </a:xfrm>
          <a:custGeom>
            <a:avLst/>
            <a:gdLst/>
            <a:ahLst/>
            <a:cxnLst/>
            <a:rect l="l" t="t" r="r" b="b"/>
            <a:pathLst>
              <a:path w="565" h="65">
                <a:moveTo>
                  <a:pt x="0" y="15"/>
                </a:moveTo>
                <a:lnTo>
                  <a:pt x="47" y="0"/>
                </a:lnTo>
                <a:lnTo>
                  <a:pt x="94" y="11"/>
                </a:lnTo>
                <a:lnTo>
                  <a:pt x="142" y="40"/>
                </a:lnTo>
                <a:lnTo>
                  <a:pt x="189" y="63"/>
                </a:lnTo>
                <a:lnTo>
                  <a:pt x="236" y="63"/>
                </a:lnTo>
                <a:lnTo>
                  <a:pt x="283" y="39"/>
                </a:lnTo>
                <a:lnTo>
                  <a:pt x="330" y="11"/>
                </a:lnTo>
                <a:lnTo>
                  <a:pt x="377" y="0"/>
                </a:lnTo>
                <a:lnTo>
                  <a:pt x="424" y="16"/>
                </a:lnTo>
                <a:lnTo>
                  <a:pt x="471" y="45"/>
                </a:lnTo>
                <a:lnTo>
                  <a:pt x="518" y="65"/>
                </a:lnTo>
                <a:lnTo>
                  <a:pt x="565" y="6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38" name="Волокно межклеточного матрикса"/>
          <p:cNvSpPr/>
          <p:nvPr/>
        </p:nvSpPr>
        <p:spPr>
          <a:xfrm>
            <a:off x="9983419" y="3210458"/>
            <a:ext cx="566928" cy="59436"/>
          </a:xfrm>
          <a:custGeom>
            <a:avLst/>
            <a:gdLst/>
            <a:ahLst/>
            <a:cxnLst/>
            <a:rect l="l" t="t" r="r" b="b"/>
            <a:pathLst>
              <a:path w="620" h="65">
                <a:moveTo>
                  <a:pt x="0" y="0"/>
                </a:moveTo>
                <a:lnTo>
                  <a:pt x="52" y="13"/>
                </a:lnTo>
                <a:lnTo>
                  <a:pt x="104" y="42"/>
                </a:lnTo>
                <a:lnTo>
                  <a:pt x="155" y="63"/>
                </a:lnTo>
                <a:lnTo>
                  <a:pt x="207" y="61"/>
                </a:lnTo>
                <a:lnTo>
                  <a:pt x="258" y="36"/>
                </a:lnTo>
                <a:lnTo>
                  <a:pt x="310" y="9"/>
                </a:lnTo>
                <a:lnTo>
                  <a:pt x="362" y="0"/>
                </a:lnTo>
                <a:lnTo>
                  <a:pt x="413" y="17"/>
                </a:lnTo>
                <a:lnTo>
                  <a:pt x="465" y="47"/>
                </a:lnTo>
                <a:lnTo>
                  <a:pt x="516" y="65"/>
                </a:lnTo>
                <a:lnTo>
                  <a:pt x="568" y="58"/>
                </a:lnTo>
                <a:lnTo>
                  <a:pt x="620" y="31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39" name="Волокно межклеточного матрикса"/>
          <p:cNvSpPr/>
          <p:nvPr/>
        </p:nvSpPr>
        <p:spPr>
          <a:xfrm>
            <a:off x="10318090" y="3565246"/>
            <a:ext cx="472745" cy="58522"/>
          </a:xfrm>
          <a:custGeom>
            <a:avLst/>
            <a:gdLst/>
            <a:ahLst/>
            <a:cxnLst/>
            <a:rect l="l" t="t" r="r" b="b"/>
            <a:pathLst>
              <a:path w="517" h="64">
                <a:moveTo>
                  <a:pt x="0" y="14"/>
                </a:moveTo>
                <a:lnTo>
                  <a:pt x="43" y="43"/>
                </a:lnTo>
                <a:lnTo>
                  <a:pt x="86" y="63"/>
                </a:lnTo>
                <a:lnTo>
                  <a:pt x="129" y="58"/>
                </a:lnTo>
                <a:lnTo>
                  <a:pt x="172" y="33"/>
                </a:lnTo>
                <a:lnTo>
                  <a:pt x="215" y="6"/>
                </a:lnTo>
                <a:lnTo>
                  <a:pt x="258" y="0"/>
                </a:lnTo>
                <a:lnTo>
                  <a:pt x="302" y="19"/>
                </a:lnTo>
                <a:lnTo>
                  <a:pt x="345" y="48"/>
                </a:lnTo>
                <a:lnTo>
                  <a:pt x="388" y="64"/>
                </a:lnTo>
                <a:lnTo>
                  <a:pt x="431" y="55"/>
                </a:lnTo>
                <a:lnTo>
                  <a:pt x="474" y="27"/>
                </a:lnTo>
                <a:lnTo>
                  <a:pt x="517" y="3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40" name="Волокно межклеточного матрикса"/>
          <p:cNvSpPr/>
          <p:nvPr/>
        </p:nvSpPr>
        <p:spPr>
          <a:xfrm>
            <a:off x="9384487" y="3660343"/>
            <a:ext cx="355702" cy="58522"/>
          </a:xfrm>
          <a:custGeom>
            <a:avLst/>
            <a:gdLst/>
            <a:ahLst/>
            <a:cxnLst/>
            <a:rect l="l" t="t" r="r" b="b"/>
            <a:pathLst>
              <a:path w="389" h="64">
                <a:moveTo>
                  <a:pt x="0" y="45"/>
                </a:moveTo>
                <a:lnTo>
                  <a:pt x="33" y="64"/>
                </a:lnTo>
                <a:lnTo>
                  <a:pt x="65" y="57"/>
                </a:lnTo>
                <a:lnTo>
                  <a:pt x="97" y="30"/>
                </a:lnTo>
                <a:lnTo>
                  <a:pt x="130" y="4"/>
                </a:lnTo>
                <a:lnTo>
                  <a:pt x="162" y="0"/>
                </a:lnTo>
                <a:lnTo>
                  <a:pt x="195" y="21"/>
                </a:lnTo>
                <a:lnTo>
                  <a:pt x="227" y="50"/>
                </a:lnTo>
                <a:lnTo>
                  <a:pt x="259" y="64"/>
                </a:lnTo>
                <a:lnTo>
                  <a:pt x="292" y="53"/>
                </a:lnTo>
                <a:lnTo>
                  <a:pt x="324" y="25"/>
                </a:lnTo>
                <a:lnTo>
                  <a:pt x="356" y="2"/>
                </a:lnTo>
                <a:lnTo>
                  <a:pt x="389" y="2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41" name="Волокно межклеточного матрикса"/>
          <p:cNvSpPr/>
          <p:nvPr/>
        </p:nvSpPr>
        <p:spPr>
          <a:xfrm>
            <a:off x="10345522" y="3983126"/>
            <a:ext cx="377647" cy="58522"/>
          </a:xfrm>
          <a:custGeom>
            <a:avLst/>
            <a:gdLst/>
            <a:ahLst/>
            <a:cxnLst/>
            <a:rect l="l" t="t" r="r" b="b"/>
            <a:pathLst>
              <a:path w="413" h="64">
                <a:moveTo>
                  <a:pt x="0" y="64"/>
                </a:moveTo>
                <a:lnTo>
                  <a:pt x="34" y="55"/>
                </a:lnTo>
                <a:lnTo>
                  <a:pt x="69" y="27"/>
                </a:lnTo>
                <a:lnTo>
                  <a:pt x="103" y="2"/>
                </a:lnTo>
                <a:lnTo>
                  <a:pt x="138" y="1"/>
                </a:lnTo>
                <a:lnTo>
                  <a:pt x="172" y="23"/>
                </a:lnTo>
                <a:lnTo>
                  <a:pt x="207" y="52"/>
                </a:lnTo>
                <a:lnTo>
                  <a:pt x="241" y="64"/>
                </a:lnTo>
                <a:lnTo>
                  <a:pt x="276" y="51"/>
                </a:lnTo>
                <a:lnTo>
                  <a:pt x="310" y="22"/>
                </a:lnTo>
                <a:lnTo>
                  <a:pt x="344" y="0"/>
                </a:lnTo>
                <a:lnTo>
                  <a:pt x="379" y="3"/>
                </a:lnTo>
                <a:lnTo>
                  <a:pt x="413" y="28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42" name="Волокно межклеточного матрикса"/>
          <p:cNvSpPr/>
          <p:nvPr/>
        </p:nvSpPr>
        <p:spPr>
          <a:xfrm>
            <a:off x="9568282" y="3681374"/>
            <a:ext cx="583387" cy="58522"/>
          </a:xfrm>
          <a:custGeom>
            <a:avLst/>
            <a:gdLst/>
            <a:ahLst/>
            <a:cxnLst/>
            <a:rect l="l" t="t" r="r" b="b"/>
            <a:pathLst>
              <a:path w="638" h="64">
                <a:moveTo>
                  <a:pt x="0" y="53"/>
                </a:moveTo>
                <a:lnTo>
                  <a:pt x="54" y="25"/>
                </a:lnTo>
                <a:lnTo>
                  <a:pt x="107" y="2"/>
                </a:lnTo>
                <a:lnTo>
                  <a:pt x="160" y="2"/>
                </a:lnTo>
                <a:lnTo>
                  <a:pt x="213" y="26"/>
                </a:lnTo>
                <a:lnTo>
                  <a:pt x="266" y="54"/>
                </a:lnTo>
                <a:lnTo>
                  <a:pt x="319" y="64"/>
                </a:lnTo>
                <a:lnTo>
                  <a:pt x="373" y="49"/>
                </a:lnTo>
                <a:lnTo>
                  <a:pt x="426" y="20"/>
                </a:lnTo>
                <a:lnTo>
                  <a:pt x="479" y="0"/>
                </a:lnTo>
                <a:lnTo>
                  <a:pt x="532" y="5"/>
                </a:lnTo>
                <a:lnTo>
                  <a:pt x="585" y="31"/>
                </a:lnTo>
                <a:lnTo>
                  <a:pt x="638" y="58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43" name="Волокно межклеточного матрикса"/>
          <p:cNvSpPr/>
          <p:nvPr/>
        </p:nvSpPr>
        <p:spPr>
          <a:xfrm>
            <a:off x="9381744" y="3528670"/>
            <a:ext cx="498348" cy="59436"/>
          </a:xfrm>
          <a:custGeom>
            <a:avLst/>
            <a:gdLst/>
            <a:ahLst/>
            <a:cxnLst/>
            <a:rect l="l" t="t" r="r" b="b"/>
            <a:pathLst>
              <a:path w="545" h="65">
                <a:moveTo>
                  <a:pt x="0" y="23"/>
                </a:moveTo>
                <a:lnTo>
                  <a:pt x="45" y="2"/>
                </a:lnTo>
                <a:lnTo>
                  <a:pt x="91" y="5"/>
                </a:lnTo>
                <a:lnTo>
                  <a:pt x="136" y="30"/>
                </a:lnTo>
                <a:lnTo>
                  <a:pt x="182" y="57"/>
                </a:lnTo>
                <a:lnTo>
                  <a:pt x="227" y="65"/>
                </a:lnTo>
                <a:lnTo>
                  <a:pt x="273" y="48"/>
                </a:lnTo>
                <a:lnTo>
                  <a:pt x="318" y="18"/>
                </a:lnTo>
                <a:lnTo>
                  <a:pt x="364" y="0"/>
                </a:lnTo>
                <a:lnTo>
                  <a:pt x="409" y="8"/>
                </a:lnTo>
                <a:lnTo>
                  <a:pt x="454" y="35"/>
                </a:lnTo>
                <a:lnTo>
                  <a:pt x="500" y="60"/>
                </a:lnTo>
                <a:lnTo>
                  <a:pt x="545" y="64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44" name="Волокно межклеточного матрикса"/>
          <p:cNvSpPr/>
          <p:nvPr/>
        </p:nvSpPr>
        <p:spPr>
          <a:xfrm>
            <a:off x="9372600" y="3263494"/>
            <a:ext cx="543154" cy="59436"/>
          </a:xfrm>
          <a:custGeom>
            <a:avLst/>
            <a:gdLst/>
            <a:ahLst/>
            <a:cxnLst/>
            <a:rect l="l" t="t" r="r" b="b"/>
            <a:pathLst>
              <a:path w="594" h="65">
                <a:moveTo>
                  <a:pt x="0" y="1"/>
                </a:moveTo>
                <a:lnTo>
                  <a:pt x="49" y="6"/>
                </a:lnTo>
                <a:lnTo>
                  <a:pt x="99" y="32"/>
                </a:lnTo>
                <a:lnTo>
                  <a:pt x="149" y="59"/>
                </a:lnTo>
                <a:lnTo>
                  <a:pt x="198" y="65"/>
                </a:lnTo>
                <a:lnTo>
                  <a:pt x="248" y="45"/>
                </a:lnTo>
                <a:lnTo>
                  <a:pt x="297" y="16"/>
                </a:lnTo>
                <a:lnTo>
                  <a:pt x="347" y="0"/>
                </a:lnTo>
                <a:lnTo>
                  <a:pt x="396" y="10"/>
                </a:lnTo>
                <a:lnTo>
                  <a:pt x="446" y="38"/>
                </a:lnTo>
                <a:lnTo>
                  <a:pt x="495" y="62"/>
                </a:lnTo>
                <a:lnTo>
                  <a:pt x="545" y="63"/>
                </a:lnTo>
                <a:lnTo>
                  <a:pt x="594" y="40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45" name="Волокно межклеточного матрикса"/>
          <p:cNvSpPr/>
          <p:nvPr/>
        </p:nvSpPr>
        <p:spPr>
          <a:xfrm>
            <a:off x="10264140" y="3684118"/>
            <a:ext cx="480060" cy="58522"/>
          </a:xfrm>
          <a:custGeom>
            <a:avLst/>
            <a:gdLst/>
            <a:ahLst/>
            <a:cxnLst/>
            <a:rect l="l" t="t" r="r" b="b"/>
            <a:pathLst>
              <a:path w="525" h="64">
                <a:moveTo>
                  <a:pt x="0" y="8"/>
                </a:moveTo>
                <a:lnTo>
                  <a:pt x="44" y="35"/>
                </a:lnTo>
                <a:lnTo>
                  <a:pt x="87" y="60"/>
                </a:lnTo>
                <a:lnTo>
                  <a:pt x="131" y="64"/>
                </a:lnTo>
                <a:lnTo>
                  <a:pt x="175" y="43"/>
                </a:lnTo>
                <a:lnTo>
                  <a:pt x="219" y="14"/>
                </a:lnTo>
                <a:lnTo>
                  <a:pt x="263" y="0"/>
                </a:lnTo>
                <a:lnTo>
                  <a:pt x="306" y="12"/>
                </a:lnTo>
                <a:lnTo>
                  <a:pt x="350" y="40"/>
                </a:lnTo>
                <a:lnTo>
                  <a:pt x="394" y="63"/>
                </a:lnTo>
                <a:lnTo>
                  <a:pt x="438" y="62"/>
                </a:lnTo>
                <a:lnTo>
                  <a:pt x="482" y="38"/>
                </a:lnTo>
                <a:lnTo>
                  <a:pt x="525" y="1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46" name="Волокно межклеточного матрикса"/>
          <p:cNvSpPr/>
          <p:nvPr/>
        </p:nvSpPr>
        <p:spPr>
          <a:xfrm>
            <a:off x="9252814" y="3601822"/>
            <a:ext cx="461772" cy="58522"/>
          </a:xfrm>
          <a:custGeom>
            <a:avLst/>
            <a:gdLst/>
            <a:ahLst/>
            <a:cxnLst/>
            <a:rect l="l" t="t" r="r" b="b"/>
            <a:pathLst>
              <a:path w="505" h="64">
                <a:moveTo>
                  <a:pt x="0" y="38"/>
                </a:moveTo>
                <a:lnTo>
                  <a:pt x="42" y="62"/>
                </a:lnTo>
                <a:lnTo>
                  <a:pt x="84" y="63"/>
                </a:lnTo>
                <a:lnTo>
                  <a:pt x="126" y="41"/>
                </a:lnTo>
                <a:lnTo>
                  <a:pt x="168" y="12"/>
                </a:lnTo>
                <a:lnTo>
                  <a:pt x="210" y="0"/>
                </a:lnTo>
                <a:lnTo>
                  <a:pt x="252" y="14"/>
                </a:lnTo>
                <a:lnTo>
                  <a:pt x="295" y="43"/>
                </a:lnTo>
                <a:lnTo>
                  <a:pt x="337" y="64"/>
                </a:lnTo>
                <a:lnTo>
                  <a:pt x="379" y="61"/>
                </a:lnTo>
                <a:lnTo>
                  <a:pt x="421" y="35"/>
                </a:lnTo>
                <a:lnTo>
                  <a:pt x="463" y="8"/>
                </a:lnTo>
                <a:lnTo>
                  <a:pt x="505" y="1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47" name="Волокно межклеточного матрикса"/>
          <p:cNvSpPr/>
          <p:nvPr/>
        </p:nvSpPr>
        <p:spPr>
          <a:xfrm>
            <a:off x="10054742" y="3341218"/>
            <a:ext cx="331927" cy="58522"/>
          </a:xfrm>
          <a:custGeom>
            <a:avLst/>
            <a:gdLst/>
            <a:ahLst/>
            <a:cxnLst/>
            <a:rect l="l" t="t" r="r" b="b"/>
            <a:pathLst>
              <a:path w="363" h="64">
                <a:moveTo>
                  <a:pt x="0" y="62"/>
                </a:moveTo>
                <a:lnTo>
                  <a:pt x="30" y="61"/>
                </a:lnTo>
                <a:lnTo>
                  <a:pt x="60" y="37"/>
                </a:lnTo>
                <a:lnTo>
                  <a:pt x="90" y="9"/>
                </a:lnTo>
                <a:lnTo>
                  <a:pt x="121" y="0"/>
                </a:lnTo>
                <a:lnTo>
                  <a:pt x="151" y="16"/>
                </a:lnTo>
                <a:lnTo>
                  <a:pt x="181" y="45"/>
                </a:lnTo>
                <a:lnTo>
                  <a:pt x="211" y="64"/>
                </a:lnTo>
                <a:lnTo>
                  <a:pt x="242" y="58"/>
                </a:lnTo>
                <a:lnTo>
                  <a:pt x="272" y="32"/>
                </a:lnTo>
                <a:lnTo>
                  <a:pt x="302" y="6"/>
                </a:lnTo>
                <a:lnTo>
                  <a:pt x="332" y="1"/>
                </a:lnTo>
                <a:lnTo>
                  <a:pt x="363" y="2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48" name="Волокно межклеточного матрикса"/>
          <p:cNvSpPr/>
          <p:nvPr/>
        </p:nvSpPr>
        <p:spPr>
          <a:xfrm>
            <a:off x="10057486" y="3779215"/>
            <a:ext cx="518465" cy="59436"/>
          </a:xfrm>
          <a:custGeom>
            <a:avLst/>
            <a:gdLst/>
            <a:ahLst/>
            <a:cxnLst/>
            <a:rect l="l" t="t" r="r" b="b"/>
            <a:pathLst>
              <a:path w="567" h="65">
                <a:moveTo>
                  <a:pt x="0" y="60"/>
                </a:moveTo>
                <a:lnTo>
                  <a:pt x="47" y="35"/>
                </a:lnTo>
                <a:lnTo>
                  <a:pt x="94" y="8"/>
                </a:lnTo>
                <a:lnTo>
                  <a:pt x="141" y="0"/>
                </a:lnTo>
                <a:lnTo>
                  <a:pt x="189" y="18"/>
                </a:lnTo>
                <a:lnTo>
                  <a:pt x="236" y="48"/>
                </a:lnTo>
                <a:lnTo>
                  <a:pt x="283" y="65"/>
                </a:lnTo>
                <a:lnTo>
                  <a:pt x="330" y="57"/>
                </a:lnTo>
                <a:lnTo>
                  <a:pt x="378" y="30"/>
                </a:lnTo>
                <a:lnTo>
                  <a:pt x="425" y="5"/>
                </a:lnTo>
                <a:lnTo>
                  <a:pt x="472" y="2"/>
                </a:lnTo>
                <a:lnTo>
                  <a:pt x="519" y="23"/>
                </a:lnTo>
                <a:lnTo>
                  <a:pt x="567" y="52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49" name="Условная клетка интерстиция"/>
          <p:cNvSpPr/>
          <p:nvPr/>
        </p:nvSpPr>
        <p:spPr>
          <a:xfrm rot="20760000">
            <a:off x="9363456" y="3557016"/>
            <a:ext cx="438912" cy="109728"/>
          </a:xfrm>
          <a:prstGeom prst="ellipse">
            <a:avLst/>
          </a:prstGeom>
          <a:solidFill>
            <a:srgbClr val="AC92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50" name="Ядро клетки интерстиция"/>
          <p:cNvSpPr/>
          <p:nvPr/>
        </p:nvSpPr>
        <p:spPr>
          <a:xfrm rot="20760000">
            <a:off x="9518904" y="3573475"/>
            <a:ext cx="128016" cy="67665"/>
          </a:xfrm>
          <a:prstGeom prst="ellipse">
            <a:avLst/>
          </a:prstGeom>
          <a:solidFill>
            <a:srgbClr val="775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51" name="Условная клетка интерстиция"/>
          <p:cNvSpPr/>
          <p:nvPr/>
        </p:nvSpPr>
        <p:spPr>
          <a:xfrm rot="900000">
            <a:off x="10607040" y="3767328"/>
            <a:ext cx="438912" cy="109728"/>
          </a:xfrm>
          <a:prstGeom prst="ellipse">
            <a:avLst/>
          </a:prstGeom>
          <a:solidFill>
            <a:srgbClr val="AC92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52" name="Ядро клетки интерстиция"/>
          <p:cNvSpPr/>
          <p:nvPr/>
        </p:nvSpPr>
        <p:spPr>
          <a:xfrm rot="900000">
            <a:off x="10762488" y="3783787"/>
            <a:ext cx="128016" cy="67665"/>
          </a:xfrm>
          <a:prstGeom prst="ellipse">
            <a:avLst/>
          </a:prstGeom>
          <a:solidFill>
            <a:srgbClr val="775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53" name="Иммунные клетки"/>
          <p:cNvSpPr txBox="1"/>
          <p:nvPr/>
        </p:nvSpPr>
        <p:spPr>
          <a:xfrm>
            <a:off x="6611112" y="2862072"/>
            <a:ext cx="2002536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Иммунные клетки</a:t>
            </a:r>
          </a:p>
        </p:txBody>
      </p:sp>
      <p:sp>
        <p:nvSpPr>
          <p:cNvPr id="54" name="Матрикс"/>
          <p:cNvSpPr txBox="1"/>
          <p:nvPr/>
        </p:nvSpPr>
        <p:spPr>
          <a:xfrm>
            <a:off x="9198864" y="2862072"/>
            <a:ext cx="192024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Матрикс</a:t>
            </a:r>
          </a:p>
        </p:txBody>
      </p:sp>
      <p:sp>
        <p:nvSpPr>
          <p:cNvPr id="55" name="Капилляр"/>
          <p:cNvSpPr/>
          <p:nvPr/>
        </p:nvSpPr>
        <p:spPr>
          <a:xfrm>
            <a:off x="6455664" y="4306824"/>
            <a:ext cx="5248656" cy="301752"/>
          </a:xfrm>
          <a:prstGeom prst="roundRect">
            <a:avLst/>
          </a:prstGeom>
          <a:solidFill>
            <a:srgbClr val="FBE8E8"/>
          </a:solidFill>
          <a:ln w="8890">
            <a:solidFill>
              <a:srgbClr val="D2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56" name="Эритроцит в просвете капилляра"/>
          <p:cNvSpPr/>
          <p:nvPr/>
        </p:nvSpPr>
        <p:spPr>
          <a:xfrm>
            <a:off x="6702552" y="43680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57" name="Центральное просветление эритроцита"/>
          <p:cNvSpPr/>
          <p:nvPr/>
        </p:nvSpPr>
        <p:spPr>
          <a:xfrm>
            <a:off x="6754672" y="43946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58" name="Эритроцит в просвете капилляра"/>
          <p:cNvSpPr/>
          <p:nvPr/>
        </p:nvSpPr>
        <p:spPr>
          <a:xfrm>
            <a:off x="7452360" y="43680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59" name="Центральное просветление эритроцита"/>
          <p:cNvSpPr/>
          <p:nvPr/>
        </p:nvSpPr>
        <p:spPr>
          <a:xfrm>
            <a:off x="7504480" y="43946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60" name="Эритроцит в просвете капилляра"/>
          <p:cNvSpPr/>
          <p:nvPr/>
        </p:nvSpPr>
        <p:spPr>
          <a:xfrm>
            <a:off x="8202168" y="43680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61" name="Центральное просветление эритроцита"/>
          <p:cNvSpPr/>
          <p:nvPr/>
        </p:nvSpPr>
        <p:spPr>
          <a:xfrm>
            <a:off x="8254288" y="43946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62" name="Эритроцит в просвете капилляра"/>
          <p:cNvSpPr/>
          <p:nvPr/>
        </p:nvSpPr>
        <p:spPr>
          <a:xfrm>
            <a:off x="8951976" y="43680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63" name="Центральное просветление эритроцита"/>
          <p:cNvSpPr/>
          <p:nvPr/>
        </p:nvSpPr>
        <p:spPr>
          <a:xfrm>
            <a:off x="9004096" y="43946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64" name="Эритроцит в просвете капилляра"/>
          <p:cNvSpPr/>
          <p:nvPr/>
        </p:nvSpPr>
        <p:spPr>
          <a:xfrm>
            <a:off x="9701784" y="43680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65" name="Центральное просветление эритроцита"/>
          <p:cNvSpPr/>
          <p:nvPr/>
        </p:nvSpPr>
        <p:spPr>
          <a:xfrm>
            <a:off x="9753904" y="43946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66" name="Эритроцит в просвете капилляра"/>
          <p:cNvSpPr/>
          <p:nvPr/>
        </p:nvSpPr>
        <p:spPr>
          <a:xfrm>
            <a:off x="10451592" y="43680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67" name="Центральное просветление эритроцита"/>
          <p:cNvSpPr/>
          <p:nvPr/>
        </p:nvSpPr>
        <p:spPr>
          <a:xfrm>
            <a:off x="10503712" y="43946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68" name="Эритроцит в просвете капилляра"/>
          <p:cNvSpPr/>
          <p:nvPr/>
        </p:nvSpPr>
        <p:spPr>
          <a:xfrm>
            <a:off x="11201400" y="43680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69" name="Центральное просветление эритроцита"/>
          <p:cNvSpPr/>
          <p:nvPr/>
        </p:nvSpPr>
        <p:spPr>
          <a:xfrm>
            <a:off x="11253520" y="43946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70" name="Капилляр"/>
          <p:cNvSpPr txBox="1"/>
          <p:nvPr/>
        </p:nvSpPr>
        <p:spPr>
          <a:xfrm>
            <a:off x="8513064" y="4645152"/>
            <a:ext cx="1307592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Капилляр</a:t>
            </a:r>
          </a:p>
        </p:txBody>
      </p:sp>
      <p:sp>
        <p:nvSpPr>
          <p:cNvPr id="71" name="Воспаление"/>
          <p:cNvSpPr txBox="1"/>
          <p:nvPr/>
        </p:nvSpPr>
        <p:spPr>
          <a:xfrm>
            <a:off x="6455664" y="5047488"/>
            <a:ext cx="2386584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Воспаление</a:t>
            </a:r>
          </a:p>
        </p:txBody>
      </p:sp>
      <p:sp>
        <p:nvSpPr>
          <p:cNvPr id="72" name="Приток и активация иммунных клеток."/>
          <p:cNvSpPr txBox="1"/>
          <p:nvPr/>
        </p:nvSpPr>
        <p:spPr>
          <a:xfrm>
            <a:off x="6455664" y="5477256"/>
            <a:ext cx="2514600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Приток и активация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иммунных клеток.</a:t>
            </a:r>
          </a:p>
        </p:txBody>
      </p:sp>
      <p:sp>
        <p:nvSpPr>
          <p:cNvPr id="73" name="Фиброз"/>
          <p:cNvSpPr txBox="1"/>
          <p:nvPr/>
        </p:nvSpPr>
        <p:spPr>
          <a:xfrm>
            <a:off x="9180576" y="5047488"/>
            <a:ext cx="2523744" cy="31089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Фиброз</a:t>
            </a:r>
          </a:p>
        </p:txBody>
      </p:sp>
      <p:sp>
        <p:nvSpPr>
          <p:cNvPr id="74" name="Накопление матрикса между клетками."/>
          <p:cNvSpPr txBox="1"/>
          <p:nvPr/>
        </p:nvSpPr>
        <p:spPr>
          <a:xfrm>
            <a:off x="9180576" y="5477256"/>
            <a:ext cx="2560320" cy="7315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Избыток матрикса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между клетками.</a:t>
            </a:r>
          </a:p>
        </p:txBody>
      </p:sp>
      <p:sp>
        <p:nvSpPr>
          <p:cNvPr id="75" name="Усиливаются сигналы воспаления и фиброза"/>
          <p:cNvSpPr txBox="1"/>
          <p:nvPr/>
        </p:nvSpPr>
        <p:spPr>
          <a:xfrm>
            <a:off x="1371600" y="4356354"/>
            <a:ext cx="3611880" cy="5120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8443A"/>
                </a:solidFill>
                <a:latin typeface="Arial Narrow"/>
                <a:cs typeface="Arial Narrow"/>
              </a:rPr>
              <a:t>Усиливаются сигналы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B8443A"/>
                </a:solidFill>
                <a:latin typeface="Arial Narrow"/>
                <a:cs typeface="Arial Narrow"/>
              </a:rPr>
              <a:t>воспаления и фиброза</a:t>
            </a:r>
          </a:p>
        </p:txBody>
      </p:sp>
      <p:cxnSp>
        <p:nvCxnSpPr>
          <p:cNvPr id="76" name="Связь клеточного сигнала с тканевым ответом"/>
          <p:cNvCxnSpPr/>
          <p:nvPr/>
        </p:nvCxnSpPr>
        <p:spPr>
          <a:xfrm>
            <a:off x="5724144" y="3273552"/>
            <a:ext cx="548640" cy="0"/>
          </a:xfrm>
          <a:prstGeom prst="line">
            <a:avLst/>
          </a:prstGeom>
          <a:ln w="21590">
            <a:solidFill>
              <a:srgbClr val="B8443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77" name="Тканевой ответ"/>
          <p:cNvSpPr txBox="1"/>
          <p:nvPr/>
        </p:nvSpPr>
        <p:spPr>
          <a:xfrm>
            <a:off x="5450840" y="2761488"/>
            <a:ext cx="10668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Тканевой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ответ</a:t>
            </a:r>
          </a:p>
        </p:txBody>
      </p:sp>
      <p:sp>
        <p:nvSpPr>
          <p:cNvPr id="78" name="При диабете и повреждении тканей сигнал рецептора может усиливаться. Ответ зависит от типа клетки и "/>
          <p:cNvSpPr txBox="1"/>
          <p:nvPr/>
        </p:nvSpPr>
        <p:spPr>
          <a:xfrm>
            <a:off x="508000" y="5461000"/>
            <a:ext cx="5588000" cy="46687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 диабете и повреждении тканей сигнал МКР может усиливаться. Ответ зависит от типа клетки и состояния ткани.</a:t>
            </a:r>
          </a:p>
        </p:txBody>
      </p:sp>
      <p:sp>
        <p:nvSpPr>
          <p:cNvPr id="79" name="Метка_фибробласты"/>
          <p:cNvSpPr txBox="1"/>
          <p:nvPr/>
        </p:nvSpPr>
        <p:spPr>
          <a:xfrm>
            <a:off x="10744200" y="28702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202020"/>
                </a:solidFill>
                <a:latin typeface="Arial Narrow"/>
                <a:cs typeface="Arial Narrow"/>
              </a:rPr>
              <a:t>Фибробласты</a:t>
            </a:r>
          </a:p>
        </p:txBody>
      </p:sp>
      <p:cxnSp>
        <p:nvCxnSpPr>
          <p:cNvPr id="80" name="Указатель_фибробласты"/>
          <p:cNvCxnSpPr/>
          <p:nvPr/>
        </p:nvCxnSpPr>
        <p:spPr>
          <a:xfrm flipH="1">
            <a:off x="10820400" y="3124200"/>
            <a:ext cx="254000" cy="5969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81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МКР: минералокортикоидный рецептор.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Grune J, et al. Hypertension. 2018;71:599–608. Droebner K, et al. Am J Nephrol. 2021;52:588–601. Kerendia (finerenone). Summary of Product Characteristics. EMA. Servier Medical Art, CC BY 4.0.</a:t>
            </a:r>
          </a:p>
        </p:txBody>
      </p:sp>
      <p:pic>
        <p:nvPicPr>
          <p:cNvPr id="82" name="Логотип Орвилле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83" name="Связь_с_финереноном"/>
          <p:cNvSpPr txBox="1"/>
          <p:nvPr/>
        </p:nvSpPr>
        <p:spPr>
          <a:xfrm>
            <a:off x="508000" y="6045200"/>
            <a:ext cx="112776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Связь с финереноном: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он препятствует активации МКР (слайд 19). Влияние на воспаление и фиброз показано только в доклинических исследованиях.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Карточка_польза"/>
          <p:cNvSpPr/>
          <p:nvPr/>
        </p:nvSpPr>
        <p:spPr>
          <a:xfrm>
            <a:off x="6299200" y="2032000"/>
            <a:ext cx="5422900" cy="1854200"/>
          </a:xfrm>
          <a:prstGeom prst="roundRect">
            <a:avLst>
              <a:gd name="adj" fmla="val 547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30" name="Карточка_калий"/>
          <p:cNvSpPr/>
          <p:nvPr/>
        </p:nvSpPr>
        <p:spPr>
          <a:xfrm>
            <a:off x="6299200" y="4495800"/>
            <a:ext cx="54229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" name="Информативный 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Финеренон препятствует активации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минералокортикоидного рецептора</a:t>
            </a:r>
          </a:p>
        </p:txBody>
      </p:sp>
      <p:pic>
        <p:nvPicPr>
          <p:cNvPr id="4" name="Мембрана и цитоплазма: исходный рисунок" descr="cell_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554480"/>
            <a:ext cx="5221224" cy="3878292"/>
          </a:xfrm>
          <a:prstGeom prst="rect">
            <a:avLst/>
          </a:prstGeom>
          <a:effectLst/>
        </p:spPr>
      </p:pic>
      <p:pic>
        <p:nvPicPr>
          <p:cNvPr id="5" name="Ядро: исходный рисунок" descr="nucle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2816352"/>
            <a:ext cx="1435608" cy="1435607"/>
          </a:xfrm>
          <a:prstGeom prst="rect">
            <a:avLst/>
          </a:prstGeom>
          <a:effectLst/>
        </p:spPr>
      </p:pic>
      <p:sp>
        <p:nvSpPr>
          <p:cNvPr id="6" name="Внутри клетки"/>
          <p:cNvSpPr txBox="1"/>
          <p:nvPr/>
        </p:nvSpPr>
        <p:spPr>
          <a:xfrm>
            <a:off x="1947672" y="1947672"/>
            <a:ext cx="2450592" cy="2834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Внутри клетки</a:t>
            </a:r>
          </a:p>
        </p:txBody>
      </p:sp>
      <p:sp>
        <p:nvSpPr>
          <p:cNvPr id="7" name="Контур условного символа рецептора"/>
          <p:cNvSpPr/>
          <p:nvPr/>
        </p:nvSpPr>
        <p:spPr>
          <a:xfrm>
            <a:off x="1433962" y="3174796"/>
            <a:ext cx="465978" cy="358444"/>
          </a:xfrm>
          <a:prstGeom prst="ellipse">
            <a:avLst/>
          </a:prstGeom>
          <a:solidFill>
            <a:srgbClr val="7A4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8" name="Контур условного символа рецептора"/>
          <p:cNvSpPr/>
          <p:nvPr/>
        </p:nvSpPr>
        <p:spPr>
          <a:xfrm>
            <a:off x="1691914" y="3035808"/>
            <a:ext cx="441015" cy="438912"/>
          </a:xfrm>
          <a:prstGeom prst="ellipse">
            <a:avLst/>
          </a:prstGeom>
          <a:solidFill>
            <a:srgbClr val="7A4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9" name="Контур условного символа рецептора"/>
          <p:cNvSpPr/>
          <p:nvPr/>
        </p:nvSpPr>
        <p:spPr>
          <a:xfrm>
            <a:off x="1783445" y="3343046"/>
            <a:ext cx="482620" cy="336499"/>
          </a:xfrm>
          <a:prstGeom prst="ellipse">
            <a:avLst/>
          </a:prstGeom>
          <a:solidFill>
            <a:srgbClr val="7A4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10" name="Контур условного символа рецептора"/>
          <p:cNvSpPr/>
          <p:nvPr/>
        </p:nvSpPr>
        <p:spPr>
          <a:xfrm>
            <a:off x="1567098" y="3196742"/>
            <a:ext cx="507583" cy="402336"/>
          </a:xfrm>
          <a:prstGeom prst="ellipse">
            <a:avLst/>
          </a:prstGeom>
          <a:solidFill>
            <a:srgbClr val="7A4A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11" name="Блик условного символа рецептора"/>
          <p:cNvSpPr/>
          <p:nvPr/>
        </p:nvSpPr>
        <p:spPr>
          <a:xfrm>
            <a:off x="1583740" y="3218687"/>
            <a:ext cx="191383" cy="73152"/>
          </a:xfrm>
          <a:prstGeom prst="ellipse">
            <a:avLst/>
          </a:prstGeom>
          <a:solidFill>
            <a:srgbClr val="AB8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12" name="Ядро"/>
          <p:cNvSpPr txBox="1"/>
          <p:nvPr/>
        </p:nvSpPr>
        <p:spPr>
          <a:xfrm>
            <a:off x="3538728" y="2496312"/>
            <a:ext cx="1005840" cy="2834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A4A9B"/>
                </a:solidFill>
                <a:latin typeface="Arial Narrow"/>
                <a:cs typeface="Arial Narrow"/>
              </a:rPr>
              <a:t>Ядро</a:t>
            </a:r>
          </a:p>
        </p:txBody>
      </p:sp>
      <p:sp>
        <p:nvSpPr>
          <p:cNvPr id="13" name="Регуляция работы генов"/>
          <p:cNvSpPr txBox="1"/>
          <p:nvPr/>
        </p:nvSpPr>
        <p:spPr>
          <a:xfrm>
            <a:off x="3319272" y="3227832"/>
            <a:ext cx="1179576" cy="6492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Регуляция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генов</a:t>
            </a:r>
          </a:p>
        </p:txBody>
      </p:sp>
      <p:sp>
        <p:nvSpPr>
          <p:cNvPr id="14" name="Рецептор"/>
          <p:cNvSpPr txBox="1"/>
          <p:nvPr/>
        </p:nvSpPr>
        <p:spPr>
          <a:xfrm>
            <a:off x="1060704" y="3886200"/>
            <a:ext cx="1865376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A4A9B"/>
                </a:solidFill>
                <a:latin typeface="Arial Narrow"/>
                <a:cs typeface="Arial Narrow"/>
              </a:rPr>
              <a:t>МКР</a:t>
            </a:r>
          </a:p>
        </p:txBody>
      </p:sp>
      <p:sp>
        <p:nvSpPr>
          <p:cNvPr id="15" name="Финеренон связан с рецептором: условный символ"/>
          <p:cNvSpPr/>
          <p:nvPr/>
        </p:nvSpPr>
        <p:spPr>
          <a:xfrm>
            <a:off x="2084831" y="3136392"/>
            <a:ext cx="192024" cy="192024"/>
          </a:xfrm>
          <a:prstGeom prst="ellipse">
            <a:avLst/>
          </a:prstGeom>
          <a:solidFill>
            <a:srgbClr val="0087A5"/>
          </a:solidFill>
          <a:ln w="5080">
            <a:solidFill>
              <a:srgbClr val="006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16" name="Финеренон"/>
          <p:cNvSpPr txBox="1"/>
          <p:nvPr/>
        </p:nvSpPr>
        <p:spPr>
          <a:xfrm>
            <a:off x="1243584" y="2459736"/>
            <a:ext cx="210312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87A5"/>
                </a:solidFill>
                <a:latin typeface="Arial Narrow"/>
                <a:cs typeface="Arial Narrow"/>
              </a:rPr>
              <a:t>Финеренон</a:t>
            </a:r>
          </a:p>
        </p:txBody>
      </p:sp>
      <p:cxnSp>
        <p:nvCxnSpPr>
          <p:cNvPr id="17" name="Подпись к финеренону, связанному с рецептором"/>
          <p:cNvCxnSpPr/>
          <p:nvPr/>
        </p:nvCxnSpPr>
        <p:spPr>
          <a:xfrm>
            <a:off x="1956816" y="2816352"/>
            <a:ext cx="219456" cy="292608"/>
          </a:xfrm>
          <a:prstGeom prst="line">
            <a:avLst/>
          </a:prstGeom>
          <a:ln w="16510">
            <a:solidFill>
              <a:srgbClr val="0087A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8" name="Ослабление рецептор-зависимого сигнала, не полная остановка транскрипции"/>
          <p:cNvCxnSpPr/>
          <p:nvPr/>
        </p:nvCxnSpPr>
        <p:spPr>
          <a:xfrm>
            <a:off x="2414016" y="3364992"/>
            <a:ext cx="630936" cy="0"/>
          </a:xfrm>
          <a:prstGeom prst="line">
            <a:avLst/>
          </a:prstGeom>
          <a:ln w="18415">
            <a:solidFill>
              <a:srgbClr val="BA9FC9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9" name="Торможение рецепторного сигнала"/>
          <p:cNvCxnSpPr/>
          <p:nvPr/>
        </p:nvCxnSpPr>
        <p:spPr>
          <a:xfrm>
            <a:off x="2596896" y="3163824"/>
            <a:ext cx="0" cy="402336"/>
          </a:xfrm>
          <a:prstGeom prst="line">
            <a:avLst/>
          </a:prstGeom>
          <a:ln w="39370">
            <a:solidFill>
              <a:srgbClr val="0087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20" name="Сигналы воспаления и фиброза ослабляются"/>
          <p:cNvSpPr txBox="1"/>
          <p:nvPr/>
        </p:nvSpPr>
        <p:spPr>
          <a:xfrm>
            <a:off x="1358900" y="4241800"/>
            <a:ext cx="3644900" cy="762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030A0"/>
                </a:solidFill>
                <a:latin typeface="Arial Narrow"/>
                <a:cs typeface="Arial Narrow"/>
              </a:rPr>
              <a:t>Сигналы воспаления и фиброза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030A0"/>
                </a:solidFill>
                <a:latin typeface="Arial Narrow"/>
                <a:cs typeface="Arial Narrow"/>
              </a:rPr>
              <a:t>ослабляются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030A0"/>
                </a:solidFill>
                <a:latin typeface="Arial Narrow"/>
                <a:cs typeface="Arial Narrow"/>
              </a:rPr>
              <a:t>(</a:t>
            </a:r>
            <a:r>
              <a:rPr sz="1600" b="1">
                <a:solidFill>
                  <a:srgbClr val="7030A0"/>
                </a:solidFill>
                <a:latin typeface="Arial Narrow"/>
                <a:cs typeface="Arial Narrow"/>
              </a:rPr>
              <a:t>доклинические данные</a:t>
            </a:r>
            <a:r>
              <a:rPr sz="1600" b="0">
                <a:solidFill>
                  <a:srgbClr val="7030A0"/>
                </a:solidFill>
                <a:latin typeface="Arial Narrow"/>
                <a:cs typeface="Arial Narrow"/>
              </a:rPr>
              <a:t>)</a:t>
            </a:r>
          </a:p>
        </p:txBody>
      </p:sp>
      <p:sp>
        <p:nvSpPr>
          <p:cNvPr id="21" name="Нестероидный селективный антагонист. Связывается с рецептором внутри клетки."/>
          <p:cNvSpPr txBox="1"/>
          <p:nvPr/>
        </p:nvSpPr>
        <p:spPr>
          <a:xfrm>
            <a:off x="512064" y="5577840"/>
            <a:ext cx="5193792" cy="64922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Класс: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 нестероидный селективный антагонист МКР.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Связывается с МКР внутри клетки.</a:t>
            </a:r>
          </a:p>
        </p:txBody>
      </p:sp>
      <p:sp>
        <p:nvSpPr>
          <p:cNvPr id="23" name="При хронической болезни почек и диабете 2 типа финеренон снижал риск почечных и сердечно-сосудистых "/>
          <p:cNvSpPr txBox="1"/>
          <p:nvPr/>
        </p:nvSpPr>
        <p:spPr>
          <a:xfrm>
            <a:off x="6477000" y="2108200"/>
            <a:ext cx="5080000" cy="1320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Доказанная польза: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 при хронической болезни почек с альбуминурией и диабете 2 типа финеренон по сравнению с плацебо снижал риск почечных и сердечно-сосудистых событий на фоне стандартной терапии.</a:t>
            </a:r>
          </a:p>
        </p:txBody>
      </p:sp>
      <p:sp>
        <p:nvSpPr>
          <p:cNvPr id="24" name="FIDELIO-DKD · FIGARO-DKD · FIDELITY"/>
          <p:cNvSpPr txBox="1"/>
          <p:nvPr/>
        </p:nvSpPr>
        <p:spPr>
          <a:xfrm>
            <a:off x="6477000" y="3479800"/>
            <a:ext cx="50800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Исследования: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FIDELIO-DKD, FIGARO-DKD, FIDELITY</a:t>
            </a:r>
          </a:p>
        </p:txBody>
      </p:sp>
      <p:sp>
        <p:nvSpPr>
          <p:cNvPr id="26" name="Блокада рецептора может уменьшать секрецию калия в почечных канальцах. Калий крови и функцию почек п"/>
          <p:cNvSpPr txBox="1"/>
          <p:nvPr/>
        </p:nvSpPr>
        <p:spPr>
          <a:xfrm>
            <a:off x="6477000" y="4572000"/>
            <a:ext cx="5080000" cy="1320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Почему: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 блокада МКР может уменьшать секрецию калия в почечных канальцах.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Что делает врач: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 проверяет калий сыворотки и функцию почек до начала и во время лечения.</a:t>
            </a:r>
          </a:p>
        </p:txBody>
      </p:sp>
      <p:sp>
        <p:nvSpPr>
          <p:cNvPr id="27" name="Полоса_польза"/>
          <p:cNvSpPr/>
          <p:nvPr/>
        </p:nvSpPr>
        <p:spPr>
          <a:xfrm>
            <a:off x="6299200" y="1574800"/>
            <a:ext cx="5422900" cy="406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Клиническая польза</a:t>
            </a:r>
          </a:p>
        </p:txBody>
      </p:sp>
      <p:sp>
        <p:nvSpPr>
          <p:cNvPr id="28" name="Полоса_калий"/>
          <p:cNvSpPr/>
          <p:nvPr/>
        </p:nvSpPr>
        <p:spPr>
          <a:xfrm>
            <a:off x="6299200" y="4038600"/>
            <a:ext cx="5422900" cy="4064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Почему контролируют калий</a:t>
            </a:r>
          </a:p>
        </p:txBody>
      </p:sp>
      <p:sp>
        <p:nvSpPr>
          <p:cNvPr id="31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МКР: минералокортикоидный рецептор.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Amazit L, et al. J Biol Chem. 2015;290:21876–21889. Agarwal R, et al. Eur Heart J. 2022;43:474–484. Kerendia (finerenone). Summary of Product Characteristics. EMA. Servier Medical Art, CC BY 4.0.</a:t>
            </a:r>
          </a:p>
        </p:txBody>
      </p:sp>
      <p:pic>
        <p:nvPicPr>
          <p:cNvPr id="32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834FAF44-51D0-401F-BDA5-1854AEE8CF92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Финеренон: два исследования III фазы и объединённый анализ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D3BDD7A-DCA9-4695-9FB4-DE30C4019C11}"/>
              </a:ext>
            </a:extLst>
          </p:cNvPr>
          <p:cNvSpPr>
            <a:spLocks noGrp="1"/>
          </p:cNvSpPr>
          <p:nvPr/>
        </p:nvSpPr>
        <p:spPr>
          <a:xfrm>
            <a:off x="457200" y="1092200"/>
            <a:ext cx="3505200" cy="2381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Кто участвовал: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пациенты с хронической болезнью почек, сахарным диабетом 2 типа и альбуминурией; калий сыворотки при включении ≤4,8 ммоль/л.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Что сравнивали: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финеренон или плацебо на фоне стандартной терапии, включая ингибитор АПФ или БРА в максимально переносимой дозе.</a:t>
            </a:r>
          </a:p>
        </p:txBody>
      </p:sp>
      <p:sp>
        <p:nvSpPr>
          <p:cNvPr id="9" name="fidelio_title">
            <a:extLst>
              <a:ext uri="{FF2B5EF4-FFF2-40B4-BE49-F238E27FC236}">
                <a16:creationId xmlns:a16="http://schemas.microsoft.com/office/drawing/2014/main" id="{DB91DFC9-12DF-4CD8-A1EA-708913BD80FA}"/>
              </a:ext>
            </a:extLst>
          </p:cNvPr>
          <p:cNvSpPr>
            <a:spLocks noGrp="1"/>
          </p:cNvSpPr>
          <p:nvPr/>
        </p:nvSpPr>
        <p:spPr>
          <a:xfrm>
            <a:off x="4267200" y="920750"/>
            <a:ext cx="3476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2C71A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71A4"/>
                </a:solidFill>
                <a:latin typeface="Arial Narrow"/>
                <a:ea typeface="Arial"/>
                <a:cs typeface="Arial Narrow"/>
              </a:rPr>
              <a:t>FIDELIO-DKD</a:t>
            </a:r>
          </a:p>
        </p:txBody>
      </p:sp>
      <p:sp>
        <p:nvSpPr>
          <p:cNvPr id="10" name="figaro_title">
            <a:extLst>
              <a:ext uri="{FF2B5EF4-FFF2-40B4-BE49-F238E27FC236}">
                <a16:creationId xmlns:a16="http://schemas.microsoft.com/office/drawing/2014/main" id="{3A8EB585-C23E-400A-AF18-139AB0C07482}"/>
              </a:ext>
            </a:extLst>
          </p:cNvPr>
          <p:cNvSpPr>
            <a:spLocks noGrp="1"/>
          </p:cNvSpPr>
          <p:nvPr/>
        </p:nvSpPr>
        <p:spPr>
          <a:xfrm>
            <a:off x="8229600" y="920750"/>
            <a:ext cx="3619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4EA7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EA72E"/>
                </a:solidFill>
                <a:latin typeface="Arial Narrow"/>
                <a:ea typeface="Arial"/>
                <a:cs typeface="Arial Narrow"/>
              </a:rPr>
              <a:t>FIGARO-DKD</a:t>
            </a:r>
          </a:p>
        </p:txBody>
      </p:sp>
      <p:sp>
        <p:nvSpPr>
          <p:cNvPr id="11" name="fidelio_n">
            <a:extLst>
              <a:ext uri="{FF2B5EF4-FFF2-40B4-BE49-F238E27FC236}">
                <a16:creationId xmlns:a16="http://schemas.microsoft.com/office/drawing/2014/main" id="{E3FB8C88-D7A5-4B1A-818C-9147E32D6BCA}"/>
              </a:ext>
            </a:extLst>
          </p:cNvPr>
          <p:cNvSpPr>
            <a:spLocks noGrp="1"/>
          </p:cNvSpPr>
          <p:nvPr/>
        </p:nvSpPr>
        <p:spPr>
          <a:xfrm>
            <a:off x="4267200" y="1301750"/>
            <a:ext cx="3619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5734 пациента рандомизированы</a:t>
            </a:r>
          </a:p>
        </p:txBody>
      </p:sp>
      <p:sp>
        <p:nvSpPr>
          <p:cNvPr id="12" name="figaro_n">
            <a:extLst>
              <a:ext uri="{FF2B5EF4-FFF2-40B4-BE49-F238E27FC236}">
                <a16:creationId xmlns:a16="http://schemas.microsoft.com/office/drawing/2014/main" id="{7D189E7B-5736-4859-82D2-B87543408491}"/>
              </a:ext>
            </a:extLst>
          </p:cNvPr>
          <p:cNvSpPr>
            <a:spLocks noGrp="1"/>
          </p:cNvSpPr>
          <p:nvPr/>
        </p:nvSpPr>
        <p:spPr>
          <a:xfrm>
            <a:off x="8229600" y="1301750"/>
            <a:ext cx="36671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7437 пациентов рандомизированы</a:t>
            </a:r>
          </a:p>
        </p:txBody>
      </p:sp>
      <p:sp>
        <p:nvSpPr>
          <p:cNvPr id="13" name="trial_blue_rule">
            <a:extLst>
              <a:ext uri="{FF2B5EF4-FFF2-40B4-BE49-F238E27FC236}">
                <a16:creationId xmlns:a16="http://schemas.microsoft.com/office/drawing/2014/main" id="{CC8E7CDB-2DCE-4FBE-8925-7B258E7DCFE6}"/>
              </a:ext>
            </a:extLst>
          </p:cNvPr>
          <p:cNvSpPr>
            <a:spLocks noGrp="1"/>
          </p:cNvSpPr>
          <p:nvPr/>
        </p:nvSpPr>
        <p:spPr>
          <a:xfrm>
            <a:off x="4267200" y="1616075"/>
            <a:ext cx="3619500" cy="95"/>
          </a:xfrm>
          <a:prstGeom prst="line">
            <a:avLst/>
          </a:prstGeom>
          <a:noFill/>
          <a:ln w="17145">
            <a:solidFill>
              <a:srgbClr val="2C71A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4" name="trial_green_rule">
            <a:extLst>
              <a:ext uri="{FF2B5EF4-FFF2-40B4-BE49-F238E27FC236}">
                <a16:creationId xmlns:a16="http://schemas.microsoft.com/office/drawing/2014/main" id="{BB2B1A67-36F8-4929-B303-A2579516E52C}"/>
              </a:ext>
            </a:extLst>
          </p:cNvPr>
          <p:cNvSpPr>
            <a:spLocks noGrp="1"/>
          </p:cNvSpPr>
          <p:nvPr/>
        </p:nvSpPr>
        <p:spPr>
          <a:xfrm>
            <a:off x="8229600" y="1616075"/>
            <a:ext cx="3619500" cy="95"/>
          </a:xfrm>
          <a:prstGeom prst="line">
            <a:avLst/>
          </a:prstGeom>
          <a:noFill/>
          <a:ln w="17145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pic>
        <p:nvPicPr>
          <p:cNvPr id="45" name="Рисунок 44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4457186" y="1797050"/>
            <a:ext cx="626837" cy="952500"/>
          </a:xfrm>
          <a:prstGeom prst="rect">
            <a:avLst/>
          </a:prstGeom>
        </p:spPr>
      </p:pic>
      <p:pic>
        <p:nvPicPr>
          <p:cNvPr id="46" name="Рисунок 45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8382000" y="1787660"/>
            <a:ext cx="726514" cy="952500"/>
          </a:xfrm>
          <a:prstGeom prst="rect">
            <a:avLst/>
          </a:prstGeom>
        </p:spPr>
      </p:pic>
      <p:sp>
        <p:nvSpPr>
          <p:cNvPr id="17" name="fidelio_primary_label">
            <a:extLst>
              <a:ext uri="{FF2B5EF4-FFF2-40B4-BE49-F238E27FC236}">
                <a16:creationId xmlns:a16="http://schemas.microsoft.com/office/drawing/2014/main" id="{CCAE673E-2305-4C00-B57D-CFBC69AF0E5B}"/>
              </a:ext>
            </a:extLst>
          </p:cNvPr>
          <p:cNvSpPr>
            <a:spLocks noGrp="1"/>
          </p:cNvSpPr>
          <p:nvPr/>
        </p:nvSpPr>
        <p:spPr>
          <a:xfrm>
            <a:off x="5629275" y="2187575"/>
            <a:ext cx="223837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2C71A4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2C71A4"/>
                </a:solidFill>
                <a:latin typeface="Arial Narrow"/>
                <a:ea typeface="Calibri"/>
                <a:cs typeface="Arial Narrow"/>
              </a:rPr>
              <a:t>Первичный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2C71A4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2C71A4"/>
                </a:solidFill>
                <a:latin typeface="Arial Narrow"/>
                <a:ea typeface="Calibri"/>
                <a:cs typeface="Arial Narrow"/>
              </a:rPr>
              <a:t>почечный исход</a:t>
            </a:r>
          </a:p>
        </p:txBody>
      </p:sp>
      <p:sp>
        <p:nvSpPr>
          <p:cNvPr id="18" name="figaro_primary_label">
            <a:extLst>
              <a:ext uri="{FF2B5EF4-FFF2-40B4-BE49-F238E27FC236}">
                <a16:creationId xmlns:a16="http://schemas.microsoft.com/office/drawing/2014/main" id="{C73C2D0D-8CD9-445C-997F-E441455B6F61}"/>
              </a:ext>
            </a:extLst>
          </p:cNvPr>
          <p:cNvSpPr>
            <a:spLocks noGrp="1"/>
          </p:cNvSpPr>
          <p:nvPr/>
        </p:nvSpPr>
        <p:spPr>
          <a:xfrm>
            <a:off x="9591675" y="2054225"/>
            <a:ext cx="2286000" cy="828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4EA72E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4EA72E"/>
                </a:solidFill>
                <a:latin typeface="Arial Narrow"/>
                <a:ea typeface="Calibri"/>
                <a:cs typeface="Arial Narrow"/>
              </a:rPr>
              <a:t>Первичный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4EA72E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4EA72E"/>
                </a:solidFill>
                <a:latin typeface="Arial Narrow"/>
                <a:ea typeface="Calibri"/>
                <a:cs typeface="Arial Narrow"/>
              </a:rPr>
              <a:t>сердечно-сосудистый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4EA72E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4EA72E"/>
                </a:solidFill>
                <a:latin typeface="Arial Narrow"/>
                <a:ea typeface="Calibri"/>
                <a:cs typeface="Arial Narrow"/>
              </a:rPr>
              <a:t>исход</a:t>
            </a:r>
          </a:p>
        </p:txBody>
      </p:sp>
      <p:sp>
        <p:nvSpPr>
          <p:cNvPr id="19" name="fidelio_primary_components">
            <a:extLst>
              <a:ext uri="{FF2B5EF4-FFF2-40B4-BE49-F238E27FC236}">
                <a16:creationId xmlns:a16="http://schemas.microsoft.com/office/drawing/2014/main" id="{BEA1218A-2F91-40EC-B255-07CEB1ECFC16}"/>
              </a:ext>
            </a:extLst>
          </p:cNvPr>
          <p:cNvSpPr>
            <a:spLocks noGrp="1"/>
          </p:cNvSpPr>
          <p:nvPr/>
        </p:nvSpPr>
        <p:spPr>
          <a:xfrm>
            <a:off x="4267200" y="2914650"/>
            <a:ext cx="361950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Почечная недостаточность,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устойчивое снижение рСКФ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 </a:t>
            </a: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≥40%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или смерть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от почечных причин.</a:t>
            </a:r>
          </a:p>
        </p:txBody>
      </p:sp>
      <p:sp>
        <p:nvSpPr>
          <p:cNvPr id="20" name="figaro_primary_components">
            <a:extLst>
              <a:ext uri="{FF2B5EF4-FFF2-40B4-BE49-F238E27FC236}">
                <a16:creationId xmlns:a16="http://schemas.microsoft.com/office/drawing/2014/main" id="{CE942143-4C7E-404B-B9A3-36FBB79D1A65}"/>
              </a:ext>
            </a:extLst>
          </p:cNvPr>
          <p:cNvSpPr>
            <a:spLocks noGrp="1"/>
          </p:cNvSpPr>
          <p:nvPr/>
        </p:nvSpPr>
        <p:spPr>
          <a:xfrm>
            <a:off x="8229600" y="2914650"/>
            <a:ext cx="3657600" cy="1266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Сердечно-сосудистая смерть,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нефатальный инфаркт,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нефатальный инсульт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или госпитализация по поводу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сердечной недостаточности.</a:t>
            </a:r>
          </a:p>
        </p:txBody>
      </p:sp>
      <p:sp>
        <p:nvSpPr>
          <p:cNvPr id="21" name="fidelio_secondary">
            <a:extLst>
              <a:ext uri="{FF2B5EF4-FFF2-40B4-BE49-F238E27FC236}">
                <a16:creationId xmlns:a16="http://schemas.microsoft.com/office/drawing/2014/main" id="{AE5808A7-ADFC-45BC-92B0-53F19A8E073C}"/>
              </a:ext>
            </a:extLst>
          </p:cNvPr>
          <p:cNvSpPr>
            <a:spLocks noGrp="1"/>
          </p:cNvSpPr>
          <p:nvPr/>
        </p:nvSpPr>
        <p:spPr>
          <a:xfrm>
            <a:off x="4267200" y="4181475"/>
            <a:ext cx="3619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Ключевой вторичный исход: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сердечно-сосудистый</a:t>
            </a:r>
          </a:p>
        </p:txBody>
      </p:sp>
      <p:sp>
        <p:nvSpPr>
          <p:cNvPr id="22" name="figaro_secondary">
            <a:extLst>
              <a:ext uri="{FF2B5EF4-FFF2-40B4-BE49-F238E27FC236}">
                <a16:creationId xmlns:a16="http://schemas.microsoft.com/office/drawing/2014/main" id="{DD4720F7-D30A-4E03-B9EC-7D5EFE3ADD31}"/>
              </a:ext>
            </a:extLst>
          </p:cNvPr>
          <p:cNvSpPr>
            <a:spLocks noGrp="1"/>
          </p:cNvSpPr>
          <p:nvPr/>
        </p:nvSpPr>
        <p:spPr>
          <a:xfrm>
            <a:off x="8229600" y="4181475"/>
            <a:ext cx="3714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Ключевой вторичный исход: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почечный, как в FIDELIO-DKD</a:t>
            </a:r>
          </a:p>
        </p:txBody>
      </p:sp>
      <p:sp>
        <p:nvSpPr>
          <p:cNvPr id="23" name="pooled_left_stem">
            <a:extLst>
              <a:ext uri="{FF2B5EF4-FFF2-40B4-BE49-F238E27FC236}">
                <a16:creationId xmlns:a16="http://schemas.microsoft.com/office/drawing/2014/main" id="{9B931FAD-D6A1-4F01-8108-844E58A464AA}"/>
              </a:ext>
            </a:extLst>
          </p:cNvPr>
          <p:cNvSpPr>
            <a:spLocks noGrp="1"/>
          </p:cNvSpPr>
          <p:nvPr/>
        </p:nvSpPr>
        <p:spPr>
          <a:xfrm>
            <a:off x="6076950" y="4591050"/>
            <a:ext cx="95" cy="123825"/>
          </a:xfrm>
          <a:prstGeom prst="line">
            <a:avLst/>
          </a:prstGeom>
          <a:noFill/>
          <a:ln w="11430">
            <a:solidFill>
              <a:srgbClr val="8FA5B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4" name="pooled_right_stem">
            <a:extLst>
              <a:ext uri="{FF2B5EF4-FFF2-40B4-BE49-F238E27FC236}">
                <a16:creationId xmlns:a16="http://schemas.microsoft.com/office/drawing/2014/main" id="{D2091D0E-A493-4B76-9092-3B96CFDB0D0D}"/>
              </a:ext>
            </a:extLst>
          </p:cNvPr>
          <p:cNvSpPr>
            <a:spLocks noGrp="1"/>
          </p:cNvSpPr>
          <p:nvPr/>
        </p:nvSpPr>
        <p:spPr>
          <a:xfrm>
            <a:off x="10039350" y="4591050"/>
            <a:ext cx="95" cy="123825"/>
          </a:xfrm>
          <a:prstGeom prst="line">
            <a:avLst/>
          </a:prstGeom>
          <a:noFill/>
          <a:ln w="11430">
            <a:solidFill>
              <a:srgbClr val="8FA5B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5" name="pooled_merge">
            <a:extLst>
              <a:ext uri="{FF2B5EF4-FFF2-40B4-BE49-F238E27FC236}">
                <a16:creationId xmlns:a16="http://schemas.microsoft.com/office/drawing/2014/main" id="{F49B731D-86BB-45D4-8000-02D3A11EB958}"/>
              </a:ext>
            </a:extLst>
          </p:cNvPr>
          <p:cNvSpPr>
            <a:spLocks noGrp="1"/>
          </p:cNvSpPr>
          <p:nvPr/>
        </p:nvSpPr>
        <p:spPr>
          <a:xfrm>
            <a:off x="6076950" y="4714875"/>
            <a:ext cx="3962400" cy="95"/>
          </a:xfrm>
          <a:prstGeom prst="line">
            <a:avLst/>
          </a:prstGeom>
          <a:noFill/>
          <a:ln w="11430">
            <a:solidFill>
              <a:srgbClr val="8FA5B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6" name="pooled_center">
            <a:extLst>
              <a:ext uri="{FF2B5EF4-FFF2-40B4-BE49-F238E27FC236}">
                <a16:creationId xmlns:a16="http://schemas.microsoft.com/office/drawing/2014/main" id="{67E122B2-0D7E-4FEF-A2D5-24277B1ED792}"/>
              </a:ext>
            </a:extLst>
          </p:cNvPr>
          <p:cNvSpPr>
            <a:spLocks noGrp="1"/>
          </p:cNvSpPr>
          <p:nvPr/>
        </p:nvSpPr>
        <p:spPr>
          <a:xfrm>
            <a:off x="8058150" y="4714875"/>
            <a:ext cx="95" cy="76200"/>
          </a:xfrm>
          <a:prstGeom prst="line">
            <a:avLst/>
          </a:prstGeom>
          <a:noFill/>
          <a:ln w="11430">
            <a:solidFill>
              <a:srgbClr val="8FA5B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7" name="fidelity_title">
            <a:extLst>
              <a:ext uri="{FF2B5EF4-FFF2-40B4-BE49-F238E27FC236}">
                <a16:creationId xmlns:a16="http://schemas.microsoft.com/office/drawing/2014/main" id="{5C3F95B7-3755-4404-A7C8-0F9BC819333C}"/>
              </a:ext>
            </a:extLst>
          </p:cNvPr>
          <p:cNvSpPr>
            <a:spLocks noGrp="1"/>
          </p:cNvSpPr>
          <p:nvPr/>
        </p:nvSpPr>
        <p:spPr>
          <a:xfrm>
            <a:off x="4267200" y="4838700"/>
            <a:ext cx="1638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FIDELITY</a:t>
            </a:r>
          </a:p>
        </p:txBody>
      </p:sp>
      <p:sp>
        <p:nvSpPr>
          <p:cNvPr id="28" name="fidelity_n">
            <a:extLst>
              <a:ext uri="{FF2B5EF4-FFF2-40B4-BE49-F238E27FC236}">
                <a16:creationId xmlns:a16="http://schemas.microsoft.com/office/drawing/2014/main" id="{A104097A-AADE-4078-9C5B-13B22C784A7E}"/>
              </a:ext>
            </a:extLst>
          </p:cNvPr>
          <p:cNvSpPr>
            <a:spLocks noGrp="1"/>
          </p:cNvSpPr>
          <p:nvPr/>
        </p:nvSpPr>
        <p:spPr>
          <a:xfrm>
            <a:off x="5972175" y="4867275"/>
            <a:ext cx="5924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13 026 пациентов в анализе из 13 171 рандомизированного</a:t>
            </a:r>
          </a:p>
        </p:txBody>
      </p:sp>
      <p:sp>
        <p:nvSpPr>
          <p:cNvPr id="29" name="fidelity_description">
            <a:extLst>
              <a:ext uri="{FF2B5EF4-FFF2-40B4-BE49-F238E27FC236}">
                <a16:creationId xmlns:a16="http://schemas.microsoft.com/office/drawing/2014/main" id="{93FE25F2-D832-4776-8A26-4F4BEABAF7D0}"/>
              </a:ext>
            </a:extLst>
          </p:cNvPr>
          <p:cNvSpPr>
            <a:spLocks noGrp="1"/>
          </p:cNvSpPr>
          <p:nvPr/>
        </p:nvSpPr>
        <p:spPr>
          <a:xfrm>
            <a:off x="4267200" y="5162550"/>
            <a:ext cx="7620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Заранее запланированный поисковый анализ объединённых индивидуальных данных.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Основные исходы: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сердечно-сосудистый, как в FIGARO-DKD, и почечный, как в FIDELIO-DKD, но с устойчивым снижением рСКФ на </a:t>
            </a: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≥57%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.</a:t>
            </a:r>
          </a:p>
        </p:txBody>
      </p:sp>
      <p:sp>
        <p:nvSpPr>
          <p:cNvPr id="31" name="safety_outcome">
            <a:extLst>
              <a:ext uri="{FF2B5EF4-FFF2-40B4-BE49-F238E27FC236}">
                <a16:creationId xmlns:a16="http://schemas.microsoft.com/office/drawing/2014/main" id="{12C2A5CE-F011-47AF-88AE-1A5F5184FE05}"/>
              </a:ext>
            </a:extLst>
          </p:cNvPr>
          <p:cNvSpPr>
            <a:spLocks noGrp="1"/>
          </p:cNvSpPr>
          <p:nvPr/>
        </p:nvSpPr>
        <p:spPr>
          <a:xfrm>
            <a:off x="4267200" y="5892800"/>
            <a:ext cx="7620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Безопасность: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гиперкалиемия (повышение калия сыворотки).</a:t>
            </a:r>
          </a:p>
        </p:txBody>
      </p:sp>
      <p:sp>
        <p:nvSpPr>
          <p:cNvPr id="47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рСКФ: расчётная скорость клубочковой фильтрации; АПФ: ангиотензинпревращающий фермент; БРА: блокатор рецепторов ангиотензина II.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Bakris GL, et al. N Engl J Med. 2020;383:2219–2229. Pitt B, et al. N Engl J Med. 2021;385:2252–2263. Agarwal R, et al. Eur Heart J. 2022;43:474–484. Servier Medical Art, CC BY 4.0.</a:t>
            </a:r>
          </a:p>
        </p:txBody>
      </p:sp>
      <p:pic>
        <p:nvPicPr>
          <p:cNvPr id="48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737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2B7700-F0D4-4F0D-AAEE-ECFEC8487674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FIDELIO-DKD: относительное снижение риска комбинированного почечного исхода на 18%</a:t>
            </a:r>
          </a:p>
        </p:txBody>
      </p:sp>
      <p:sp>
        <p:nvSpPr>
          <p:cNvPr id="11" name="study_population">
            <a:extLst>
              <a:ext uri="{FF2B5EF4-FFF2-40B4-BE49-F238E27FC236}">
                <a16:creationId xmlns:a16="http://schemas.microsoft.com/office/drawing/2014/main" id="{673D29CD-E6C9-4048-A20F-220EAD7A92F0}"/>
              </a:ext>
            </a:extLst>
          </p:cNvPr>
          <p:cNvSpPr>
            <a:spLocks noGrp="1"/>
          </p:cNvSpPr>
          <p:nvPr/>
        </p:nvSpPr>
        <p:spPr>
          <a:xfrm>
            <a:off x="457200" y="711200"/>
            <a:ext cx="10896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Кто участвовал: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5674 пациента в анализе (5734 рандомизированы). Хроническая болезнь почек и сахарный диабет 2 типа; преимущественно 3–4-я стадия болезни почек с выраженной альбуминурией.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Что сравнивали: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финеренон или плацебо на фоне ингибитора АПФ или БРА в максимально переносимой дозе.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Наблюдение: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медиана 2,6 года.</a:t>
            </a:r>
          </a:p>
        </p:txBody>
      </p:sp>
      <p:sp>
        <p:nvSpPr>
          <p:cNvPr id="12" name="primary_endpoint">
            <a:extLst>
              <a:ext uri="{FF2B5EF4-FFF2-40B4-BE49-F238E27FC236}">
                <a16:creationId xmlns:a16="http://schemas.microsoft.com/office/drawing/2014/main" id="{B04B29A6-45E1-41A8-92AD-13C047326A9F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08966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Первичный исход: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 xml:space="preserve"> почечная недостаточность, снижение рСКФ на ≥40%, сохраняющееся не менее 4 недель,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или смерть от почечных причин.</a:t>
            </a:r>
          </a:p>
        </p:txBody>
      </p:sp>
      <p:sp>
        <p:nvSpPr>
          <p:cNvPr id="13" name="y_axis_title">
            <a:extLst>
              <a:ext uri="{FF2B5EF4-FFF2-40B4-BE49-F238E27FC236}">
                <a16:creationId xmlns:a16="http://schemas.microsoft.com/office/drawing/2014/main" id="{D9BF5D25-3102-42C2-B0F1-664CC4AA1FDB}"/>
              </a:ext>
            </a:extLst>
          </p:cNvPr>
          <p:cNvSpPr>
            <a:spLocks noGrp="1"/>
          </p:cNvSpPr>
          <p:nvPr/>
        </p:nvSpPr>
        <p:spPr>
          <a:xfrm>
            <a:off x="457200" y="2137324"/>
            <a:ext cx="6572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Накопленная частота событий, %</a:t>
            </a:r>
          </a:p>
        </p:txBody>
      </p:sp>
      <p:sp>
        <p:nvSpPr>
          <p:cNvPr id="14" name="tick_y_0">
            <a:extLst>
              <a:ext uri="{FF2B5EF4-FFF2-40B4-BE49-F238E27FC236}">
                <a16:creationId xmlns:a16="http://schemas.microsoft.com/office/drawing/2014/main" id="{99CC0655-617C-42E7-B4AA-191BADB80FBC}"/>
              </a:ext>
            </a:extLst>
          </p:cNvPr>
          <p:cNvSpPr>
            <a:spLocks noGrp="1"/>
          </p:cNvSpPr>
          <p:nvPr/>
        </p:nvSpPr>
        <p:spPr>
          <a:xfrm>
            <a:off x="1704975" y="5611311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5" name="y_0">
            <a:extLst>
              <a:ext uri="{FF2B5EF4-FFF2-40B4-BE49-F238E27FC236}">
                <a16:creationId xmlns:a16="http://schemas.microsoft.com/office/drawing/2014/main" id="{E4D00B76-C865-44BD-A07D-83825639FF73}"/>
              </a:ext>
            </a:extLst>
          </p:cNvPr>
          <p:cNvSpPr>
            <a:spLocks noGrp="1"/>
          </p:cNvSpPr>
          <p:nvPr/>
        </p:nvSpPr>
        <p:spPr>
          <a:xfrm>
            <a:off x="1343025" y="5499362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16" name="grid_10">
            <a:extLst>
              <a:ext uri="{FF2B5EF4-FFF2-40B4-BE49-F238E27FC236}">
                <a16:creationId xmlns:a16="http://schemas.microsoft.com/office/drawing/2014/main" id="{DCB4AF76-7C61-4B9B-894C-F7BA553E4F4B}"/>
              </a:ext>
            </a:extLst>
          </p:cNvPr>
          <p:cNvSpPr>
            <a:spLocks noGrp="1"/>
          </p:cNvSpPr>
          <p:nvPr/>
        </p:nvSpPr>
        <p:spPr>
          <a:xfrm>
            <a:off x="1752600" y="4844513"/>
            <a:ext cx="5181600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7" name="tick_y_10">
            <a:extLst>
              <a:ext uri="{FF2B5EF4-FFF2-40B4-BE49-F238E27FC236}">
                <a16:creationId xmlns:a16="http://schemas.microsoft.com/office/drawing/2014/main" id="{44406392-D66A-4F9A-B713-2B43F0D40180}"/>
              </a:ext>
            </a:extLst>
          </p:cNvPr>
          <p:cNvSpPr>
            <a:spLocks noGrp="1"/>
          </p:cNvSpPr>
          <p:nvPr/>
        </p:nvSpPr>
        <p:spPr>
          <a:xfrm>
            <a:off x="1704975" y="4844513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8" name="y_10">
            <a:extLst>
              <a:ext uri="{FF2B5EF4-FFF2-40B4-BE49-F238E27FC236}">
                <a16:creationId xmlns:a16="http://schemas.microsoft.com/office/drawing/2014/main" id="{4C0A2F53-F80F-4E9E-81B0-07ABAB0A3663}"/>
              </a:ext>
            </a:extLst>
          </p:cNvPr>
          <p:cNvSpPr>
            <a:spLocks noGrp="1"/>
          </p:cNvSpPr>
          <p:nvPr/>
        </p:nvSpPr>
        <p:spPr>
          <a:xfrm>
            <a:off x="1343025" y="4732564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10</a:t>
            </a:r>
          </a:p>
        </p:txBody>
      </p:sp>
      <p:sp>
        <p:nvSpPr>
          <p:cNvPr id="19" name="grid_20">
            <a:extLst>
              <a:ext uri="{FF2B5EF4-FFF2-40B4-BE49-F238E27FC236}">
                <a16:creationId xmlns:a16="http://schemas.microsoft.com/office/drawing/2014/main" id="{47D5BF9F-0B56-44BE-B930-D89EA88D52E1}"/>
              </a:ext>
            </a:extLst>
          </p:cNvPr>
          <p:cNvSpPr>
            <a:spLocks noGrp="1"/>
          </p:cNvSpPr>
          <p:nvPr/>
        </p:nvSpPr>
        <p:spPr>
          <a:xfrm>
            <a:off x="1752600" y="4077714"/>
            <a:ext cx="5181600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0" name="tick_y_20">
            <a:extLst>
              <a:ext uri="{FF2B5EF4-FFF2-40B4-BE49-F238E27FC236}">
                <a16:creationId xmlns:a16="http://schemas.microsoft.com/office/drawing/2014/main" id="{F0241278-CEF1-4607-A282-E806913E5170}"/>
              </a:ext>
            </a:extLst>
          </p:cNvPr>
          <p:cNvSpPr>
            <a:spLocks noGrp="1"/>
          </p:cNvSpPr>
          <p:nvPr/>
        </p:nvSpPr>
        <p:spPr>
          <a:xfrm>
            <a:off x="1704975" y="4077714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1" name="y_20">
            <a:extLst>
              <a:ext uri="{FF2B5EF4-FFF2-40B4-BE49-F238E27FC236}">
                <a16:creationId xmlns:a16="http://schemas.microsoft.com/office/drawing/2014/main" id="{BD2C160C-DA27-4440-A2EC-8F2ACA429064}"/>
              </a:ext>
            </a:extLst>
          </p:cNvPr>
          <p:cNvSpPr>
            <a:spLocks noGrp="1"/>
          </p:cNvSpPr>
          <p:nvPr/>
        </p:nvSpPr>
        <p:spPr>
          <a:xfrm>
            <a:off x="1343025" y="3965765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20</a:t>
            </a:r>
          </a:p>
        </p:txBody>
      </p:sp>
      <p:sp>
        <p:nvSpPr>
          <p:cNvPr id="22" name="grid_30">
            <a:extLst>
              <a:ext uri="{FF2B5EF4-FFF2-40B4-BE49-F238E27FC236}">
                <a16:creationId xmlns:a16="http://schemas.microsoft.com/office/drawing/2014/main" id="{472B2417-B270-4C1E-922F-C854D7F78A3E}"/>
              </a:ext>
            </a:extLst>
          </p:cNvPr>
          <p:cNvSpPr>
            <a:spLocks noGrp="1"/>
          </p:cNvSpPr>
          <p:nvPr/>
        </p:nvSpPr>
        <p:spPr>
          <a:xfrm>
            <a:off x="1752600" y="3310916"/>
            <a:ext cx="5181600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3" name="tick_y_30">
            <a:extLst>
              <a:ext uri="{FF2B5EF4-FFF2-40B4-BE49-F238E27FC236}">
                <a16:creationId xmlns:a16="http://schemas.microsoft.com/office/drawing/2014/main" id="{9720BF18-4CF0-48D0-9CD1-E2131D8497BC}"/>
              </a:ext>
            </a:extLst>
          </p:cNvPr>
          <p:cNvSpPr>
            <a:spLocks noGrp="1"/>
          </p:cNvSpPr>
          <p:nvPr/>
        </p:nvSpPr>
        <p:spPr>
          <a:xfrm>
            <a:off x="1704975" y="3310916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4" name="y_30">
            <a:extLst>
              <a:ext uri="{FF2B5EF4-FFF2-40B4-BE49-F238E27FC236}">
                <a16:creationId xmlns:a16="http://schemas.microsoft.com/office/drawing/2014/main" id="{461A4715-2283-4775-B111-8F7C247100B6}"/>
              </a:ext>
            </a:extLst>
          </p:cNvPr>
          <p:cNvSpPr>
            <a:spLocks noGrp="1"/>
          </p:cNvSpPr>
          <p:nvPr/>
        </p:nvSpPr>
        <p:spPr>
          <a:xfrm>
            <a:off x="1343025" y="3198968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25" name="grid_40">
            <a:extLst>
              <a:ext uri="{FF2B5EF4-FFF2-40B4-BE49-F238E27FC236}">
                <a16:creationId xmlns:a16="http://schemas.microsoft.com/office/drawing/2014/main" id="{1467E376-5B69-436E-9096-C03486575836}"/>
              </a:ext>
            </a:extLst>
          </p:cNvPr>
          <p:cNvSpPr>
            <a:spLocks noGrp="1"/>
          </p:cNvSpPr>
          <p:nvPr/>
        </p:nvSpPr>
        <p:spPr>
          <a:xfrm>
            <a:off x="1752600" y="2544117"/>
            <a:ext cx="5181600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6" name="tick_y_40">
            <a:extLst>
              <a:ext uri="{FF2B5EF4-FFF2-40B4-BE49-F238E27FC236}">
                <a16:creationId xmlns:a16="http://schemas.microsoft.com/office/drawing/2014/main" id="{21F3C3C2-B8A1-4D91-A90F-BEEFA08B188E}"/>
              </a:ext>
            </a:extLst>
          </p:cNvPr>
          <p:cNvSpPr>
            <a:spLocks noGrp="1"/>
          </p:cNvSpPr>
          <p:nvPr/>
        </p:nvSpPr>
        <p:spPr>
          <a:xfrm>
            <a:off x="1704975" y="2544117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7" name="y_40">
            <a:extLst>
              <a:ext uri="{FF2B5EF4-FFF2-40B4-BE49-F238E27FC236}">
                <a16:creationId xmlns:a16="http://schemas.microsoft.com/office/drawing/2014/main" id="{A31658D5-50E2-4838-AACB-CE4EC03C1E62}"/>
              </a:ext>
            </a:extLst>
          </p:cNvPr>
          <p:cNvSpPr>
            <a:spLocks noGrp="1"/>
          </p:cNvSpPr>
          <p:nvPr/>
        </p:nvSpPr>
        <p:spPr>
          <a:xfrm>
            <a:off x="1343025" y="2432169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40</a:t>
            </a:r>
          </a:p>
        </p:txBody>
      </p:sp>
      <p:sp>
        <p:nvSpPr>
          <p:cNvPr id="28" name="y_axis">
            <a:extLst>
              <a:ext uri="{FF2B5EF4-FFF2-40B4-BE49-F238E27FC236}">
                <a16:creationId xmlns:a16="http://schemas.microsoft.com/office/drawing/2014/main" id="{E17D8223-12B9-4DC5-9951-755EB13ADE75}"/>
              </a:ext>
            </a:extLst>
          </p:cNvPr>
          <p:cNvSpPr>
            <a:spLocks noGrp="1"/>
          </p:cNvSpPr>
          <p:nvPr/>
        </p:nvSpPr>
        <p:spPr>
          <a:xfrm>
            <a:off x="1752600" y="2544106"/>
            <a:ext cx="95" cy="3067193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9" name="x_axis">
            <a:extLst>
              <a:ext uri="{FF2B5EF4-FFF2-40B4-BE49-F238E27FC236}">
                <a16:creationId xmlns:a16="http://schemas.microsoft.com/office/drawing/2014/main" id="{AC8E1279-A1A9-46CF-80B7-269B2489C850}"/>
              </a:ext>
            </a:extLst>
          </p:cNvPr>
          <p:cNvSpPr>
            <a:spLocks noGrp="1"/>
          </p:cNvSpPr>
          <p:nvPr/>
        </p:nvSpPr>
        <p:spPr>
          <a:xfrm>
            <a:off x="1752600" y="5611311"/>
            <a:ext cx="5181600" cy="95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0" name="tick_x_0">
            <a:extLst>
              <a:ext uri="{FF2B5EF4-FFF2-40B4-BE49-F238E27FC236}">
                <a16:creationId xmlns:a16="http://schemas.microsoft.com/office/drawing/2014/main" id="{C552F541-999A-43AA-B9CC-97017837D9F7}"/>
              </a:ext>
            </a:extLst>
          </p:cNvPr>
          <p:cNvSpPr>
            <a:spLocks noGrp="1"/>
          </p:cNvSpPr>
          <p:nvPr/>
        </p:nvSpPr>
        <p:spPr>
          <a:xfrm>
            <a:off x="1752600" y="5618389"/>
            <a:ext cx="95" cy="57150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1" name="month_0">
            <a:extLst>
              <a:ext uri="{FF2B5EF4-FFF2-40B4-BE49-F238E27FC236}">
                <a16:creationId xmlns:a16="http://schemas.microsoft.com/office/drawing/2014/main" id="{37794906-FBB9-426B-9467-B68BB0664494}"/>
              </a:ext>
            </a:extLst>
          </p:cNvPr>
          <p:cNvSpPr>
            <a:spLocks noGrp="1"/>
          </p:cNvSpPr>
          <p:nvPr/>
        </p:nvSpPr>
        <p:spPr>
          <a:xfrm>
            <a:off x="1533525" y="5747836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32" name="tick_x_6">
            <a:extLst>
              <a:ext uri="{FF2B5EF4-FFF2-40B4-BE49-F238E27FC236}">
                <a16:creationId xmlns:a16="http://schemas.microsoft.com/office/drawing/2014/main" id="{5FB887B2-44E6-4B22-A441-3DCB5CC44E15}"/>
              </a:ext>
            </a:extLst>
          </p:cNvPr>
          <p:cNvSpPr>
            <a:spLocks noGrp="1"/>
          </p:cNvSpPr>
          <p:nvPr/>
        </p:nvSpPr>
        <p:spPr>
          <a:xfrm>
            <a:off x="2400300" y="5618389"/>
            <a:ext cx="95" cy="57150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3" name="month_6">
            <a:extLst>
              <a:ext uri="{FF2B5EF4-FFF2-40B4-BE49-F238E27FC236}">
                <a16:creationId xmlns:a16="http://schemas.microsoft.com/office/drawing/2014/main" id="{E3B967B5-642D-49D8-924E-3D366DD07011}"/>
              </a:ext>
            </a:extLst>
          </p:cNvPr>
          <p:cNvSpPr>
            <a:spLocks noGrp="1"/>
          </p:cNvSpPr>
          <p:nvPr/>
        </p:nvSpPr>
        <p:spPr>
          <a:xfrm>
            <a:off x="2181225" y="5747836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6</a:t>
            </a:r>
          </a:p>
        </p:txBody>
      </p:sp>
      <p:sp>
        <p:nvSpPr>
          <p:cNvPr id="34" name="tick_x_12">
            <a:extLst>
              <a:ext uri="{FF2B5EF4-FFF2-40B4-BE49-F238E27FC236}">
                <a16:creationId xmlns:a16="http://schemas.microsoft.com/office/drawing/2014/main" id="{5B7A0EBD-6427-4D99-8860-FB75264BB405}"/>
              </a:ext>
            </a:extLst>
          </p:cNvPr>
          <p:cNvSpPr>
            <a:spLocks noGrp="1"/>
          </p:cNvSpPr>
          <p:nvPr/>
        </p:nvSpPr>
        <p:spPr>
          <a:xfrm>
            <a:off x="3048000" y="5618389"/>
            <a:ext cx="95" cy="57150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5" name="month_12">
            <a:extLst>
              <a:ext uri="{FF2B5EF4-FFF2-40B4-BE49-F238E27FC236}">
                <a16:creationId xmlns:a16="http://schemas.microsoft.com/office/drawing/2014/main" id="{29E53C9F-8662-43BE-AD03-D7AF8941D334}"/>
              </a:ext>
            </a:extLst>
          </p:cNvPr>
          <p:cNvSpPr>
            <a:spLocks noGrp="1"/>
          </p:cNvSpPr>
          <p:nvPr/>
        </p:nvSpPr>
        <p:spPr>
          <a:xfrm>
            <a:off x="2828925" y="5747836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12</a:t>
            </a:r>
          </a:p>
        </p:txBody>
      </p:sp>
      <p:sp>
        <p:nvSpPr>
          <p:cNvPr id="36" name="tick_x_18">
            <a:extLst>
              <a:ext uri="{FF2B5EF4-FFF2-40B4-BE49-F238E27FC236}">
                <a16:creationId xmlns:a16="http://schemas.microsoft.com/office/drawing/2014/main" id="{54978DAF-76DF-4B09-8A34-9D595CD909B7}"/>
              </a:ext>
            </a:extLst>
          </p:cNvPr>
          <p:cNvSpPr>
            <a:spLocks noGrp="1"/>
          </p:cNvSpPr>
          <p:nvPr/>
        </p:nvSpPr>
        <p:spPr>
          <a:xfrm>
            <a:off x="3695700" y="5618389"/>
            <a:ext cx="95" cy="57150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7" name="month_18">
            <a:extLst>
              <a:ext uri="{FF2B5EF4-FFF2-40B4-BE49-F238E27FC236}">
                <a16:creationId xmlns:a16="http://schemas.microsoft.com/office/drawing/2014/main" id="{10B0B6EF-AD35-4B47-B315-28BC0802E043}"/>
              </a:ext>
            </a:extLst>
          </p:cNvPr>
          <p:cNvSpPr>
            <a:spLocks noGrp="1"/>
          </p:cNvSpPr>
          <p:nvPr/>
        </p:nvSpPr>
        <p:spPr>
          <a:xfrm>
            <a:off x="3476625" y="5747836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18</a:t>
            </a:r>
          </a:p>
        </p:txBody>
      </p:sp>
      <p:sp>
        <p:nvSpPr>
          <p:cNvPr id="38" name="tick_x_24">
            <a:extLst>
              <a:ext uri="{FF2B5EF4-FFF2-40B4-BE49-F238E27FC236}">
                <a16:creationId xmlns:a16="http://schemas.microsoft.com/office/drawing/2014/main" id="{61D9C40F-B433-4C59-8C55-FED7CC158D29}"/>
              </a:ext>
            </a:extLst>
          </p:cNvPr>
          <p:cNvSpPr>
            <a:spLocks noGrp="1"/>
          </p:cNvSpPr>
          <p:nvPr/>
        </p:nvSpPr>
        <p:spPr>
          <a:xfrm>
            <a:off x="4343400" y="5618389"/>
            <a:ext cx="95" cy="57150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9" name="month_24">
            <a:extLst>
              <a:ext uri="{FF2B5EF4-FFF2-40B4-BE49-F238E27FC236}">
                <a16:creationId xmlns:a16="http://schemas.microsoft.com/office/drawing/2014/main" id="{81A5B70C-2E4D-4141-BCD4-EAB3B093E06C}"/>
              </a:ext>
            </a:extLst>
          </p:cNvPr>
          <p:cNvSpPr>
            <a:spLocks noGrp="1"/>
          </p:cNvSpPr>
          <p:nvPr/>
        </p:nvSpPr>
        <p:spPr>
          <a:xfrm>
            <a:off x="4124325" y="5747836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24</a:t>
            </a:r>
          </a:p>
        </p:txBody>
      </p:sp>
      <p:sp>
        <p:nvSpPr>
          <p:cNvPr id="40" name="tick_x_30">
            <a:extLst>
              <a:ext uri="{FF2B5EF4-FFF2-40B4-BE49-F238E27FC236}">
                <a16:creationId xmlns:a16="http://schemas.microsoft.com/office/drawing/2014/main" id="{77A1A78D-AAD5-47B2-99A0-11EAE24B367A}"/>
              </a:ext>
            </a:extLst>
          </p:cNvPr>
          <p:cNvSpPr>
            <a:spLocks noGrp="1"/>
          </p:cNvSpPr>
          <p:nvPr/>
        </p:nvSpPr>
        <p:spPr>
          <a:xfrm>
            <a:off x="4991100" y="5618389"/>
            <a:ext cx="95" cy="57150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1" name="month_30">
            <a:extLst>
              <a:ext uri="{FF2B5EF4-FFF2-40B4-BE49-F238E27FC236}">
                <a16:creationId xmlns:a16="http://schemas.microsoft.com/office/drawing/2014/main" id="{BCCF0379-4E5C-40D5-A5CF-F48E71F89648}"/>
              </a:ext>
            </a:extLst>
          </p:cNvPr>
          <p:cNvSpPr>
            <a:spLocks noGrp="1"/>
          </p:cNvSpPr>
          <p:nvPr/>
        </p:nvSpPr>
        <p:spPr>
          <a:xfrm>
            <a:off x="4772025" y="5747836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42" name="tick_x_36">
            <a:extLst>
              <a:ext uri="{FF2B5EF4-FFF2-40B4-BE49-F238E27FC236}">
                <a16:creationId xmlns:a16="http://schemas.microsoft.com/office/drawing/2014/main" id="{48A63022-B124-4B3A-B1CA-4D8F58FE2033}"/>
              </a:ext>
            </a:extLst>
          </p:cNvPr>
          <p:cNvSpPr>
            <a:spLocks noGrp="1"/>
          </p:cNvSpPr>
          <p:nvPr/>
        </p:nvSpPr>
        <p:spPr>
          <a:xfrm>
            <a:off x="5638800" y="5618389"/>
            <a:ext cx="95" cy="57150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3" name="month_36">
            <a:extLst>
              <a:ext uri="{FF2B5EF4-FFF2-40B4-BE49-F238E27FC236}">
                <a16:creationId xmlns:a16="http://schemas.microsoft.com/office/drawing/2014/main" id="{4BADC973-507D-4416-9353-40AD1C202E32}"/>
              </a:ext>
            </a:extLst>
          </p:cNvPr>
          <p:cNvSpPr>
            <a:spLocks noGrp="1"/>
          </p:cNvSpPr>
          <p:nvPr/>
        </p:nvSpPr>
        <p:spPr>
          <a:xfrm>
            <a:off x="5419725" y="5747836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36</a:t>
            </a:r>
          </a:p>
        </p:txBody>
      </p:sp>
      <p:sp>
        <p:nvSpPr>
          <p:cNvPr id="44" name="tick_x_42">
            <a:extLst>
              <a:ext uri="{FF2B5EF4-FFF2-40B4-BE49-F238E27FC236}">
                <a16:creationId xmlns:a16="http://schemas.microsoft.com/office/drawing/2014/main" id="{E95B99B0-66F0-4E31-AE2A-CB5C5631187E}"/>
              </a:ext>
            </a:extLst>
          </p:cNvPr>
          <p:cNvSpPr>
            <a:spLocks noGrp="1"/>
          </p:cNvSpPr>
          <p:nvPr/>
        </p:nvSpPr>
        <p:spPr>
          <a:xfrm>
            <a:off x="6286500" y="5618389"/>
            <a:ext cx="95" cy="57150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5" name="month_42">
            <a:extLst>
              <a:ext uri="{FF2B5EF4-FFF2-40B4-BE49-F238E27FC236}">
                <a16:creationId xmlns:a16="http://schemas.microsoft.com/office/drawing/2014/main" id="{3E9C717B-2BC7-41BD-9F6B-EC74E7FF0EE4}"/>
              </a:ext>
            </a:extLst>
          </p:cNvPr>
          <p:cNvSpPr>
            <a:spLocks noGrp="1"/>
          </p:cNvSpPr>
          <p:nvPr/>
        </p:nvSpPr>
        <p:spPr>
          <a:xfrm>
            <a:off x="6067425" y="5747836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42</a:t>
            </a:r>
          </a:p>
        </p:txBody>
      </p:sp>
      <p:sp>
        <p:nvSpPr>
          <p:cNvPr id="46" name="tick_x_48">
            <a:extLst>
              <a:ext uri="{FF2B5EF4-FFF2-40B4-BE49-F238E27FC236}">
                <a16:creationId xmlns:a16="http://schemas.microsoft.com/office/drawing/2014/main" id="{2CE80C2B-78FB-41EF-9426-B767DCEA14CB}"/>
              </a:ext>
            </a:extLst>
          </p:cNvPr>
          <p:cNvSpPr>
            <a:spLocks noGrp="1"/>
          </p:cNvSpPr>
          <p:nvPr/>
        </p:nvSpPr>
        <p:spPr>
          <a:xfrm>
            <a:off x="6934200" y="5618389"/>
            <a:ext cx="95" cy="57150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7" name="month_48">
            <a:extLst>
              <a:ext uri="{FF2B5EF4-FFF2-40B4-BE49-F238E27FC236}">
                <a16:creationId xmlns:a16="http://schemas.microsoft.com/office/drawing/2014/main" id="{84DD3801-4C79-4A5F-843C-F2CC6017FB10}"/>
              </a:ext>
            </a:extLst>
          </p:cNvPr>
          <p:cNvSpPr>
            <a:spLocks noGrp="1"/>
          </p:cNvSpPr>
          <p:nvPr/>
        </p:nvSpPr>
        <p:spPr>
          <a:xfrm>
            <a:off x="6715125" y="5747836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48</a:t>
            </a:r>
          </a:p>
        </p:txBody>
      </p:sp>
      <p:sp>
        <p:nvSpPr>
          <p:cNvPr id="48" name="published_curve_Финеренон">
            <a:extLst>
              <a:ext uri="{FF2B5EF4-FFF2-40B4-BE49-F238E27FC236}">
                <a16:creationId xmlns:a16="http://schemas.microsoft.com/office/drawing/2014/main" id="{2D6E0B2E-3DFB-4581-B224-9A6A4D384691}"/>
              </a:ext>
            </a:extLst>
          </p:cNvPr>
          <p:cNvSpPr>
            <a:spLocks noGrp="1"/>
          </p:cNvSpPr>
          <p:nvPr/>
        </p:nvSpPr>
        <p:spPr>
          <a:xfrm>
            <a:off x="1752600" y="2544106"/>
            <a:ext cx="5181600" cy="3067193"/>
          </a:xfrm>
          <a:custGeom>
            <a:avLst/>
            <a:gdLst/>
            <a:ahLst/>
            <a:cxnLst/>
            <a:rect l="0" t="0" r="0" b="0"/>
            <a:pathLst>
              <a:path w="5181600" h="2457450">
                <a:moveTo>
                  <a:pt x="1695" y="2457462"/>
                </a:moveTo>
                <a:lnTo>
                  <a:pt x="5263" y="2457462"/>
                </a:lnTo>
                <a:lnTo>
                  <a:pt x="8878" y="2457462"/>
                </a:lnTo>
                <a:lnTo>
                  <a:pt x="12446" y="2457462"/>
                </a:lnTo>
                <a:lnTo>
                  <a:pt x="16108" y="2457462"/>
                </a:lnTo>
                <a:lnTo>
                  <a:pt x="19676" y="2457462"/>
                </a:lnTo>
                <a:lnTo>
                  <a:pt x="23197" y="2457462"/>
                </a:lnTo>
                <a:lnTo>
                  <a:pt x="26906" y="2457462"/>
                </a:lnTo>
                <a:lnTo>
                  <a:pt x="30474" y="2457462"/>
                </a:lnTo>
                <a:lnTo>
                  <a:pt x="34042" y="2457462"/>
                </a:lnTo>
                <a:lnTo>
                  <a:pt x="37657" y="2457462"/>
                </a:lnTo>
                <a:lnTo>
                  <a:pt x="41272" y="2457462"/>
                </a:lnTo>
                <a:lnTo>
                  <a:pt x="44887" y="2457462"/>
                </a:lnTo>
                <a:lnTo>
                  <a:pt x="48456" y="2457462"/>
                </a:lnTo>
                <a:lnTo>
                  <a:pt x="52117" y="2457462"/>
                </a:lnTo>
                <a:lnTo>
                  <a:pt x="55686" y="2457462"/>
                </a:lnTo>
                <a:lnTo>
                  <a:pt x="59301" y="2457462"/>
                </a:lnTo>
                <a:lnTo>
                  <a:pt x="62916" y="2457462"/>
                </a:lnTo>
                <a:lnTo>
                  <a:pt x="66484" y="2457462"/>
                </a:lnTo>
                <a:lnTo>
                  <a:pt x="70052" y="2457462"/>
                </a:lnTo>
                <a:lnTo>
                  <a:pt x="73667" y="2457462"/>
                </a:lnTo>
                <a:lnTo>
                  <a:pt x="77282" y="2457462"/>
                </a:lnTo>
                <a:lnTo>
                  <a:pt x="80850" y="2457462"/>
                </a:lnTo>
                <a:lnTo>
                  <a:pt x="84465" y="2457462"/>
                </a:lnTo>
                <a:lnTo>
                  <a:pt x="88127" y="2457462"/>
                </a:lnTo>
                <a:lnTo>
                  <a:pt x="91695" y="2457462"/>
                </a:lnTo>
                <a:lnTo>
                  <a:pt x="95263" y="2457462"/>
                </a:lnTo>
                <a:lnTo>
                  <a:pt x="98832" y="2457462"/>
                </a:lnTo>
                <a:lnTo>
                  <a:pt x="102446" y="2457462"/>
                </a:lnTo>
                <a:lnTo>
                  <a:pt x="102446" y="2455264"/>
                </a:lnTo>
                <a:lnTo>
                  <a:pt x="106062" y="2455264"/>
                </a:lnTo>
                <a:lnTo>
                  <a:pt x="109630" y="2455264"/>
                </a:lnTo>
                <a:lnTo>
                  <a:pt x="109630" y="2453100"/>
                </a:lnTo>
                <a:lnTo>
                  <a:pt x="113292" y="2453100"/>
                </a:lnTo>
                <a:lnTo>
                  <a:pt x="116907" y="2453100"/>
                </a:lnTo>
                <a:lnTo>
                  <a:pt x="120475" y="2453100"/>
                </a:lnTo>
                <a:lnTo>
                  <a:pt x="124043" y="2453100"/>
                </a:lnTo>
                <a:lnTo>
                  <a:pt x="124043" y="2450902"/>
                </a:lnTo>
                <a:lnTo>
                  <a:pt x="127705" y="2450902"/>
                </a:lnTo>
                <a:lnTo>
                  <a:pt x="127705" y="2446505"/>
                </a:lnTo>
                <a:lnTo>
                  <a:pt x="131273" y="2446505"/>
                </a:lnTo>
                <a:lnTo>
                  <a:pt x="131273" y="2444375"/>
                </a:lnTo>
                <a:lnTo>
                  <a:pt x="134841" y="2444375"/>
                </a:lnTo>
                <a:lnTo>
                  <a:pt x="138503" y="2444375"/>
                </a:lnTo>
                <a:lnTo>
                  <a:pt x="142071" y="2444375"/>
                </a:lnTo>
                <a:lnTo>
                  <a:pt x="145640" y="2444375"/>
                </a:lnTo>
                <a:lnTo>
                  <a:pt x="149254" y="2444375"/>
                </a:lnTo>
                <a:lnTo>
                  <a:pt x="152917" y="2444375"/>
                </a:lnTo>
                <a:lnTo>
                  <a:pt x="156484" y="2444375"/>
                </a:lnTo>
                <a:lnTo>
                  <a:pt x="160053" y="2444375"/>
                </a:lnTo>
                <a:lnTo>
                  <a:pt x="163715" y="2444375"/>
                </a:lnTo>
                <a:lnTo>
                  <a:pt x="167283" y="2444375"/>
                </a:lnTo>
                <a:lnTo>
                  <a:pt x="170898" y="2444375"/>
                </a:lnTo>
                <a:lnTo>
                  <a:pt x="174419" y="2444375"/>
                </a:lnTo>
                <a:lnTo>
                  <a:pt x="178081" y="2444375"/>
                </a:lnTo>
                <a:lnTo>
                  <a:pt x="181649" y="2444375"/>
                </a:lnTo>
                <a:lnTo>
                  <a:pt x="185264" y="2444375"/>
                </a:lnTo>
                <a:lnTo>
                  <a:pt x="188879" y="2444375"/>
                </a:lnTo>
                <a:lnTo>
                  <a:pt x="192494" y="2444375"/>
                </a:lnTo>
                <a:lnTo>
                  <a:pt x="196062" y="2444375"/>
                </a:lnTo>
                <a:lnTo>
                  <a:pt x="199631" y="2444375"/>
                </a:lnTo>
                <a:lnTo>
                  <a:pt x="203292" y="2444375"/>
                </a:lnTo>
                <a:lnTo>
                  <a:pt x="206908" y="2444375"/>
                </a:lnTo>
                <a:lnTo>
                  <a:pt x="210429" y="2444375"/>
                </a:lnTo>
                <a:lnTo>
                  <a:pt x="210429" y="2442109"/>
                </a:lnTo>
                <a:lnTo>
                  <a:pt x="214091" y="2442109"/>
                </a:lnTo>
                <a:lnTo>
                  <a:pt x="217706" y="2442109"/>
                </a:lnTo>
                <a:lnTo>
                  <a:pt x="221227" y="2442109"/>
                </a:lnTo>
                <a:lnTo>
                  <a:pt x="224842" y="2442109"/>
                </a:lnTo>
                <a:lnTo>
                  <a:pt x="228504" y="2442109"/>
                </a:lnTo>
                <a:lnTo>
                  <a:pt x="228504" y="2439978"/>
                </a:lnTo>
                <a:lnTo>
                  <a:pt x="232072" y="2439978"/>
                </a:lnTo>
                <a:lnTo>
                  <a:pt x="235640" y="2439978"/>
                </a:lnTo>
                <a:lnTo>
                  <a:pt x="235640" y="2437746"/>
                </a:lnTo>
                <a:lnTo>
                  <a:pt x="239302" y="2437746"/>
                </a:lnTo>
                <a:lnTo>
                  <a:pt x="242917" y="2437746"/>
                </a:lnTo>
                <a:lnTo>
                  <a:pt x="246438" y="2437746"/>
                </a:lnTo>
                <a:lnTo>
                  <a:pt x="250053" y="2437746"/>
                </a:lnTo>
                <a:lnTo>
                  <a:pt x="253715" y="2437746"/>
                </a:lnTo>
                <a:lnTo>
                  <a:pt x="257237" y="2437746"/>
                </a:lnTo>
                <a:lnTo>
                  <a:pt x="260851" y="2437746"/>
                </a:lnTo>
                <a:lnTo>
                  <a:pt x="264514" y="2437746"/>
                </a:lnTo>
                <a:lnTo>
                  <a:pt x="268082" y="2437746"/>
                </a:lnTo>
                <a:lnTo>
                  <a:pt x="271650" y="2437746"/>
                </a:lnTo>
                <a:lnTo>
                  <a:pt x="275265" y="2437746"/>
                </a:lnTo>
                <a:lnTo>
                  <a:pt x="278880" y="2437746"/>
                </a:lnTo>
                <a:lnTo>
                  <a:pt x="282448" y="2437746"/>
                </a:lnTo>
                <a:lnTo>
                  <a:pt x="286063" y="2437746"/>
                </a:lnTo>
                <a:lnTo>
                  <a:pt x="289725" y="2437746"/>
                </a:lnTo>
                <a:lnTo>
                  <a:pt x="293246" y="2437746"/>
                </a:lnTo>
                <a:lnTo>
                  <a:pt x="296861" y="2437746"/>
                </a:lnTo>
                <a:lnTo>
                  <a:pt x="300429" y="2437746"/>
                </a:lnTo>
                <a:lnTo>
                  <a:pt x="304091" y="2437746"/>
                </a:lnTo>
                <a:lnTo>
                  <a:pt x="304091" y="2435548"/>
                </a:lnTo>
                <a:lnTo>
                  <a:pt x="307659" y="2435548"/>
                </a:lnTo>
                <a:lnTo>
                  <a:pt x="311275" y="2435548"/>
                </a:lnTo>
                <a:lnTo>
                  <a:pt x="314889" y="2435548"/>
                </a:lnTo>
                <a:lnTo>
                  <a:pt x="318505" y="2435548"/>
                </a:lnTo>
                <a:lnTo>
                  <a:pt x="322073" y="2435548"/>
                </a:lnTo>
                <a:lnTo>
                  <a:pt x="325641" y="2435548"/>
                </a:lnTo>
                <a:lnTo>
                  <a:pt x="329303" y="2435548"/>
                </a:lnTo>
                <a:lnTo>
                  <a:pt x="332871" y="2435548"/>
                </a:lnTo>
                <a:lnTo>
                  <a:pt x="336439" y="2435548"/>
                </a:lnTo>
                <a:lnTo>
                  <a:pt x="340101" y="2435548"/>
                </a:lnTo>
                <a:lnTo>
                  <a:pt x="343669" y="2435548"/>
                </a:lnTo>
                <a:lnTo>
                  <a:pt x="347284" y="2435548"/>
                </a:lnTo>
                <a:lnTo>
                  <a:pt x="350852" y="2435548"/>
                </a:lnTo>
                <a:lnTo>
                  <a:pt x="354514" y="2435548"/>
                </a:lnTo>
                <a:lnTo>
                  <a:pt x="358083" y="2435548"/>
                </a:lnTo>
                <a:lnTo>
                  <a:pt x="361651" y="2435548"/>
                </a:lnTo>
                <a:lnTo>
                  <a:pt x="365313" y="2435548"/>
                </a:lnTo>
                <a:lnTo>
                  <a:pt x="368834" y="2435548"/>
                </a:lnTo>
                <a:lnTo>
                  <a:pt x="372449" y="2435548"/>
                </a:lnTo>
                <a:lnTo>
                  <a:pt x="376017" y="2435548"/>
                </a:lnTo>
                <a:lnTo>
                  <a:pt x="379679" y="2435548"/>
                </a:lnTo>
                <a:lnTo>
                  <a:pt x="383294" y="2435548"/>
                </a:lnTo>
                <a:lnTo>
                  <a:pt x="383294" y="2433383"/>
                </a:lnTo>
                <a:lnTo>
                  <a:pt x="386862" y="2433383"/>
                </a:lnTo>
                <a:lnTo>
                  <a:pt x="390477" y="2433383"/>
                </a:lnTo>
                <a:lnTo>
                  <a:pt x="394092" y="2433383"/>
                </a:lnTo>
                <a:lnTo>
                  <a:pt x="397660" y="2433383"/>
                </a:lnTo>
                <a:lnTo>
                  <a:pt x="401228" y="2433383"/>
                </a:lnTo>
                <a:lnTo>
                  <a:pt x="404890" y="2433383"/>
                </a:lnTo>
                <a:lnTo>
                  <a:pt x="404890" y="2431185"/>
                </a:lnTo>
                <a:lnTo>
                  <a:pt x="408458" y="2431185"/>
                </a:lnTo>
                <a:lnTo>
                  <a:pt x="412026" y="2431185"/>
                </a:lnTo>
                <a:lnTo>
                  <a:pt x="415689" y="2431185"/>
                </a:lnTo>
                <a:lnTo>
                  <a:pt x="419304" y="2431185"/>
                </a:lnTo>
                <a:lnTo>
                  <a:pt x="422872" y="2431185"/>
                </a:lnTo>
                <a:lnTo>
                  <a:pt x="422872" y="2426755"/>
                </a:lnTo>
                <a:lnTo>
                  <a:pt x="426440" y="2426755"/>
                </a:lnTo>
                <a:lnTo>
                  <a:pt x="426440" y="2424523"/>
                </a:lnTo>
                <a:lnTo>
                  <a:pt x="430102" y="2424523"/>
                </a:lnTo>
                <a:lnTo>
                  <a:pt x="430102" y="2415696"/>
                </a:lnTo>
                <a:lnTo>
                  <a:pt x="433670" y="2415696"/>
                </a:lnTo>
                <a:lnTo>
                  <a:pt x="437238" y="2415696"/>
                </a:lnTo>
                <a:lnTo>
                  <a:pt x="437238" y="2411232"/>
                </a:lnTo>
                <a:lnTo>
                  <a:pt x="440900" y="2411232"/>
                </a:lnTo>
                <a:lnTo>
                  <a:pt x="444468" y="2411232"/>
                </a:lnTo>
                <a:lnTo>
                  <a:pt x="448036" y="2411232"/>
                </a:lnTo>
                <a:lnTo>
                  <a:pt x="451698" y="2411232"/>
                </a:lnTo>
                <a:lnTo>
                  <a:pt x="455266" y="2411232"/>
                </a:lnTo>
                <a:lnTo>
                  <a:pt x="458881" y="2411232"/>
                </a:lnTo>
                <a:lnTo>
                  <a:pt x="458881" y="2409033"/>
                </a:lnTo>
                <a:lnTo>
                  <a:pt x="462450" y="2409033"/>
                </a:lnTo>
                <a:lnTo>
                  <a:pt x="466111" y="2409033"/>
                </a:lnTo>
                <a:lnTo>
                  <a:pt x="466111" y="2402337"/>
                </a:lnTo>
                <a:lnTo>
                  <a:pt x="469680" y="2402337"/>
                </a:lnTo>
                <a:lnTo>
                  <a:pt x="473248" y="2402337"/>
                </a:lnTo>
                <a:lnTo>
                  <a:pt x="473248" y="2400106"/>
                </a:lnTo>
                <a:lnTo>
                  <a:pt x="476910" y="2400106"/>
                </a:lnTo>
                <a:lnTo>
                  <a:pt x="480478" y="2400106"/>
                </a:lnTo>
                <a:lnTo>
                  <a:pt x="484046" y="2400106"/>
                </a:lnTo>
                <a:lnTo>
                  <a:pt x="487614" y="2400106"/>
                </a:lnTo>
                <a:lnTo>
                  <a:pt x="491276" y="2400106"/>
                </a:lnTo>
                <a:lnTo>
                  <a:pt x="494891" y="2400106"/>
                </a:lnTo>
                <a:lnTo>
                  <a:pt x="498459" y="2400106"/>
                </a:lnTo>
                <a:lnTo>
                  <a:pt x="498459" y="2397840"/>
                </a:lnTo>
                <a:lnTo>
                  <a:pt x="502121" y="2397840"/>
                </a:lnTo>
                <a:lnTo>
                  <a:pt x="505689" y="2397840"/>
                </a:lnTo>
                <a:lnTo>
                  <a:pt x="509304" y="2397840"/>
                </a:lnTo>
                <a:lnTo>
                  <a:pt x="512826" y="2397840"/>
                </a:lnTo>
                <a:lnTo>
                  <a:pt x="516487" y="2397840"/>
                </a:lnTo>
                <a:lnTo>
                  <a:pt x="520103" y="2397840"/>
                </a:lnTo>
                <a:lnTo>
                  <a:pt x="523624" y="2397840"/>
                </a:lnTo>
                <a:lnTo>
                  <a:pt x="527286" y="2397840"/>
                </a:lnTo>
                <a:lnTo>
                  <a:pt x="530901" y="2397840"/>
                </a:lnTo>
                <a:lnTo>
                  <a:pt x="534469" y="2397840"/>
                </a:lnTo>
                <a:lnTo>
                  <a:pt x="538037" y="2397840"/>
                </a:lnTo>
                <a:lnTo>
                  <a:pt x="541699" y="2397840"/>
                </a:lnTo>
                <a:lnTo>
                  <a:pt x="545267" y="2397840"/>
                </a:lnTo>
                <a:lnTo>
                  <a:pt x="548835" y="2397840"/>
                </a:lnTo>
                <a:lnTo>
                  <a:pt x="552497" y="2397840"/>
                </a:lnTo>
                <a:lnTo>
                  <a:pt x="552497" y="2395608"/>
                </a:lnTo>
                <a:lnTo>
                  <a:pt x="556112" y="2395608"/>
                </a:lnTo>
                <a:lnTo>
                  <a:pt x="559680" y="2395608"/>
                </a:lnTo>
                <a:lnTo>
                  <a:pt x="563248" y="2395608"/>
                </a:lnTo>
                <a:lnTo>
                  <a:pt x="563248" y="2393409"/>
                </a:lnTo>
                <a:lnTo>
                  <a:pt x="566910" y="2393409"/>
                </a:lnTo>
                <a:lnTo>
                  <a:pt x="570478" y="2393409"/>
                </a:lnTo>
                <a:lnTo>
                  <a:pt x="574047" y="2393409"/>
                </a:lnTo>
                <a:lnTo>
                  <a:pt x="577708" y="2393409"/>
                </a:lnTo>
                <a:lnTo>
                  <a:pt x="581277" y="2393409"/>
                </a:lnTo>
                <a:lnTo>
                  <a:pt x="584845" y="2393409"/>
                </a:lnTo>
                <a:lnTo>
                  <a:pt x="588460" y="2393409"/>
                </a:lnTo>
                <a:lnTo>
                  <a:pt x="592122" y="2393409"/>
                </a:lnTo>
                <a:lnTo>
                  <a:pt x="595690" y="2393409"/>
                </a:lnTo>
                <a:lnTo>
                  <a:pt x="599258" y="2393409"/>
                </a:lnTo>
                <a:lnTo>
                  <a:pt x="602920" y="2393409"/>
                </a:lnTo>
                <a:lnTo>
                  <a:pt x="606488" y="2393409"/>
                </a:lnTo>
                <a:lnTo>
                  <a:pt x="610056" y="2393409"/>
                </a:lnTo>
                <a:lnTo>
                  <a:pt x="613672" y="2393409"/>
                </a:lnTo>
                <a:lnTo>
                  <a:pt x="617333" y="2393409"/>
                </a:lnTo>
                <a:lnTo>
                  <a:pt x="620855" y="2393409"/>
                </a:lnTo>
                <a:lnTo>
                  <a:pt x="624470" y="2393409"/>
                </a:lnTo>
                <a:lnTo>
                  <a:pt x="628132" y="2393409"/>
                </a:lnTo>
                <a:lnTo>
                  <a:pt x="631653" y="2393409"/>
                </a:lnTo>
                <a:lnTo>
                  <a:pt x="631653" y="2391144"/>
                </a:lnTo>
                <a:lnTo>
                  <a:pt x="635268" y="2391144"/>
                </a:lnTo>
                <a:lnTo>
                  <a:pt x="638836" y="2391144"/>
                </a:lnTo>
                <a:lnTo>
                  <a:pt x="642498" y="2391144"/>
                </a:lnTo>
                <a:lnTo>
                  <a:pt x="646066" y="2391144"/>
                </a:lnTo>
                <a:lnTo>
                  <a:pt x="649681" y="2391144"/>
                </a:lnTo>
                <a:lnTo>
                  <a:pt x="653296" y="2391144"/>
                </a:lnTo>
                <a:lnTo>
                  <a:pt x="656911" y="2391144"/>
                </a:lnTo>
                <a:lnTo>
                  <a:pt x="660479" y="2391144"/>
                </a:lnTo>
                <a:lnTo>
                  <a:pt x="664000" y="2391144"/>
                </a:lnTo>
                <a:lnTo>
                  <a:pt x="664000" y="2388878"/>
                </a:lnTo>
                <a:lnTo>
                  <a:pt x="667709" y="2388878"/>
                </a:lnTo>
                <a:lnTo>
                  <a:pt x="671277" y="2388878"/>
                </a:lnTo>
                <a:lnTo>
                  <a:pt x="674845" y="2388878"/>
                </a:lnTo>
                <a:lnTo>
                  <a:pt x="678508" y="2388878"/>
                </a:lnTo>
                <a:lnTo>
                  <a:pt x="682075" y="2388878"/>
                </a:lnTo>
                <a:lnTo>
                  <a:pt x="685644" y="2388878"/>
                </a:lnTo>
                <a:lnTo>
                  <a:pt x="685644" y="2386646"/>
                </a:lnTo>
                <a:lnTo>
                  <a:pt x="689259" y="2386646"/>
                </a:lnTo>
                <a:lnTo>
                  <a:pt x="692921" y="2386646"/>
                </a:lnTo>
                <a:lnTo>
                  <a:pt x="696489" y="2386646"/>
                </a:lnTo>
                <a:lnTo>
                  <a:pt x="700057" y="2386646"/>
                </a:lnTo>
                <a:lnTo>
                  <a:pt x="703719" y="2386646"/>
                </a:lnTo>
                <a:lnTo>
                  <a:pt x="707287" y="2386646"/>
                </a:lnTo>
                <a:lnTo>
                  <a:pt x="710855" y="2386646"/>
                </a:lnTo>
                <a:lnTo>
                  <a:pt x="714470" y="2386646"/>
                </a:lnTo>
                <a:lnTo>
                  <a:pt x="718085" y="2386646"/>
                </a:lnTo>
                <a:lnTo>
                  <a:pt x="721653" y="2386646"/>
                </a:lnTo>
                <a:lnTo>
                  <a:pt x="725269" y="2386646"/>
                </a:lnTo>
                <a:lnTo>
                  <a:pt x="728930" y="2386646"/>
                </a:lnTo>
                <a:lnTo>
                  <a:pt x="732499" y="2386646"/>
                </a:lnTo>
                <a:lnTo>
                  <a:pt x="736067" y="2386646"/>
                </a:lnTo>
                <a:lnTo>
                  <a:pt x="739635" y="2386646"/>
                </a:lnTo>
                <a:lnTo>
                  <a:pt x="743250" y="2386646"/>
                </a:lnTo>
                <a:lnTo>
                  <a:pt x="746865" y="2386646"/>
                </a:lnTo>
                <a:lnTo>
                  <a:pt x="750433" y="2386646"/>
                </a:lnTo>
                <a:lnTo>
                  <a:pt x="754095" y="2386646"/>
                </a:lnTo>
                <a:lnTo>
                  <a:pt x="757663" y="2386646"/>
                </a:lnTo>
                <a:lnTo>
                  <a:pt x="761278" y="2386646"/>
                </a:lnTo>
                <a:lnTo>
                  <a:pt x="764846" y="2386646"/>
                </a:lnTo>
                <a:lnTo>
                  <a:pt x="768508" y="2386646"/>
                </a:lnTo>
                <a:lnTo>
                  <a:pt x="772076" y="2386646"/>
                </a:lnTo>
                <a:lnTo>
                  <a:pt x="775644" y="2386646"/>
                </a:lnTo>
                <a:lnTo>
                  <a:pt x="779259" y="2386646"/>
                </a:lnTo>
                <a:lnTo>
                  <a:pt x="782875" y="2386646"/>
                </a:lnTo>
                <a:lnTo>
                  <a:pt x="782875" y="2384380"/>
                </a:lnTo>
                <a:lnTo>
                  <a:pt x="786443" y="2384380"/>
                </a:lnTo>
                <a:lnTo>
                  <a:pt x="790058" y="2384380"/>
                </a:lnTo>
                <a:lnTo>
                  <a:pt x="793673" y="2384380"/>
                </a:lnTo>
                <a:lnTo>
                  <a:pt x="797288" y="2384380"/>
                </a:lnTo>
                <a:lnTo>
                  <a:pt x="800856" y="2384380"/>
                </a:lnTo>
                <a:lnTo>
                  <a:pt x="804518" y="2384380"/>
                </a:lnTo>
                <a:lnTo>
                  <a:pt x="808086" y="2384380"/>
                </a:lnTo>
                <a:lnTo>
                  <a:pt x="811654" y="2384380"/>
                </a:lnTo>
                <a:lnTo>
                  <a:pt x="815222" y="2384380"/>
                </a:lnTo>
                <a:lnTo>
                  <a:pt x="818884" y="2384380"/>
                </a:lnTo>
                <a:lnTo>
                  <a:pt x="822452" y="2384380"/>
                </a:lnTo>
                <a:lnTo>
                  <a:pt x="826067" y="2384380"/>
                </a:lnTo>
                <a:lnTo>
                  <a:pt x="826067" y="2382148"/>
                </a:lnTo>
                <a:lnTo>
                  <a:pt x="829683" y="2382148"/>
                </a:lnTo>
                <a:lnTo>
                  <a:pt x="829683" y="2379916"/>
                </a:lnTo>
                <a:lnTo>
                  <a:pt x="833250" y="2379916"/>
                </a:lnTo>
                <a:lnTo>
                  <a:pt x="833250" y="2370852"/>
                </a:lnTo>
                <a:lnTo>
                  <a:pt x="836866" y="2370852"/>
                </a:lnTo>
                <a:lnTo>
                  <a:pt x="836866" y="2366320"/>
                </a:lnTo>
                <a:lnTo>
                  <a:pt x="840434" y="2366320"/>
                </a:lnTo>
                <a:lnTo>
                  <a:pt x="844096" y="2366320"/>
                </a:lnTo>
                <a:lnTo>
                  <a:pt x="847711" y="2366320"/>
                </a:lnTo>
                <a:lnTo>
                  <a:pt x="851232" y="2366320"/>
                </a:lnTo>
                <a:lnTo>
                  <a:pt x="851232" y="2364088"/>
                </a:lnTo>
                <a:lnTo>
                  <a:pt x="854894" y="2364088"/>
                </a:lnTo>
                <a:lnTo>
                  <a:pt x="858509" y="2364088"/>
                </a:lnTo>
                <a:lnTo>
                  <a:pt x="858509" y="2361822"/>
                </a:lnTo>
                <a:lnTo>
                  <a:pt x="862030" y="2361822"/>
                </a:lnTo>
                <a:lnTo>
                  <a:pt x="862030" y="2359557"/>
                </a:lnTo>
                <a:lnTo>
                  <a:pt x="865692" y="2359557"/>
                </a:lnTo>
                <a:lnTo>
                  <a:pt x="869260" y="2359557"/>
                </a:lnTo>
                <a:lnTo>
                  <a:pt x="872875" y="2359557"/>
                </a:lnTo>
                <a:lnTo>
                  <a:pt x="876444" y="2359557"/>
                </a:lnTo>
                <a:lnTo>
                  <a:pt x="876444" y="2357291"/>
                </a:lnTo>
                <a:lnTo>
                  <a:pt x="880105" y="2357291"/>
                </a:lnTo>
                <a:lnTo>
                  <a:pt x="880105" y="2352793"/>
                </a:lnTo>
                <a:lnTo>
                  <a:pt x="883721" y="2352793"/>
                </a:lnTo>
                <a:lnTo>
                  <a:pt x="883721" y="2348261"/>
                </a:lnTo>
                <a:lnTo>
                  <a:pt x="887242" y="2348261"/>
                </a:lnTo>
                <a:lnTo>
                  <a:pt x="890904" y="2348261"/>
                </a:lnTo>
                <a:lnTo>
                  <a:pt x="894519" y="2348261"/>
                </a:lnTo>
                <a:lnTo>
                  <a:pt x="898040" y="2348261"/>
                </a:lnTo>
                <a:lnTo>
                  <a:pt x="898040" y="2345962"/>
                </a:lnTo>
                <a:lnTo>
                  <a:pt x="901655" y="2345962"/>
                </a:lnTo>
                <a:lnTo>
                  <a:pt x="901655" y="2341430"/>
                </a:lnTo>
                <a:lnTo>
                  <a:pt x="905317" y="2341430"/>
                </a:lnTo>
                <a:lnTo>
                  <a:pt x="905317" y="2334598"/>
                </a:lnTo>
                <a:lnTo>
                  <a:pt x="908885" y="2334598"/>
                </a:lnTo>
                <a:lnTo>
                  <a:pt x="912453" y="2334598"/>
                </a:lnTo>
                <a:lnTo>
                  <a:pt x="916115" y="2334598"/>
                </a:lnTo>
                <a:lnTo>
                  <a:pt x="919683" y="2334598"/>
                </a:lnTo>
                <a:lnTo>
                  <a:pt x="923251" y="2334598"/>
                </a:lnTo>
                <a:lnTo>
                  <a:pt x="926866" y="2334598"/>
                </a:lnTo>
                <a:lnTo>
                  <a:pt x="926866" y="2332333"/>
                </a:lnTo>
                <a:lnTo>
                  <a:pt x="930528" y="2332333"/>
                </a:lnTo>
                <a:lnTo>
                  <a:pt x="934050" y="2332333"/>
                </a:lnTo>
                <a:lnTo>
                  <a:pt x="937665" y="2332333"/>
                </a:lnTo>
                <a:lnTo>
                  <a:pt x="941327" y="2332333"/>
                </a:lnTo>
                <a:lnTo>
                  <a:pt x="944894" y="2332333"/>
                </a:lnTo>
                <a:lnTo>
                  <a:pt x="948463" y="2332333"/>
                </a:lnTo>
                <a:lnTo>
                  <a:pt x="952031" y="2332333"/>
                </a:lnTo>
                <a:lnTo>
                  <a:pt x="955693" y="2332333"/>
                </a:lnTo>
                <a:lnTo>
                  <a:pt x="959261" y="2332333"/>
                </a:lnTo>
                <a:lnTo>
                  <a:pt x="959261" y="2330067"/>
                </a:lnTo>
                <a:lnTo>
                  <a:pt x="962876" y="2330067"/>
                </a:lnTo>
                <a:lnTo>
                  <a:pt x="966538" y="2330067"/>
                </a:lnTo>
                <a:lnTo>
                  <a:pt x="966538" y="2325501"/>
                </a:lnTo>
                <a:lnTo>
                  <a:pt x="970059" y="2325501"/>
                </a:lnTo>
                <a:lnTo>
                  <a:pt x="973674" y="2325501"/>
                </a:lnTo>
                <a:lnTo>
                  <a:pt x="977242" y="2325501"/>
                </a:lnTo>
                <a:lnTo>
                  <a:pt x="980904" y="2325501"/>
                </a:lnTo>
                <a:lnTo>
                  <a:pt x="984472" y="2325501"/>
                </a:lnTo>
                <a:lnTo>
                  <a:pt x="988041" y="2325501"/>
                </a:lnTo>
                <a:lnTo>
                  <a:pt x="991702" y="2325501"/>
                </a:lnTo>
                <a:lnTo>
                  <a:pt x="995318" y="2325501"/>
                </a:lnTo>
                <a:lnTo>
                  <a:pt x="998886" y="2325501"/>
                </a:lnTo>
                <a:lnTo>
                  <a:pt x="1002454" y="2325501"/>
                </a:lnTo>
                <a:lnTo>
                  <a:pt x="1006116" y="2325501"/>
                </a:lnTo>
                <a:lnTo>
                  <a:pt x="1009684" y="2325501"/>
                </a:lnTo>
                <a:lnTo>
                  <a:pt x="1013252" y="2325501"/>
                </a:lnTo>
                <a:lnTo>
                  <a:pt x="1016914" y="2325501"/>
                </a:lnTo>
                <a:lnTo>
                  <a:pt x="1020482" y="2325501"/>
                </a:lnTo>
                <a:lnTo>
                  <a:pt x="1024050" y="2325501"/>
                </a:lnTo>
                <a:lnTo>
                  <a:pt x="1024050" y="2323235"/>
                </a:lnTo>
                <a:lnTo>
                  <a:pt x="1027665" y="2323235"/>
                </a:lnTo>
                <a:lnTo>
                  <a:pt x="1031280" y="2323235"/>
                </a:lnTo>
                <a:lnTo>
                  <a:pt x="1034896" y="2323235"/>
                </a:lnTo>
                <a:lnTo>
                  <a:pt x="1038463" y="2323235"/>
                </a:lnTo>
                <a:lnTo>
                  <a:pt x="1042125" y="2323235"/>
                </a:lnTo>
                <a:lnTo>
                  <a:pt x="1045694" y="2323235"/>
                </a:lnTo>
                <a:lnTo>
                  <a:pt x="1049262" y="2323235"/>
                </a:lnTo>
                <a:lnTo>
                  <a:pt x="1052830" y="2323235"/>
                </a:lnTo>
                <a:lnTo>
                  <a:pt x="1056492" y="2323235"/>
                </a:lnTo>
                <a:lnTo>
                  <a:pt x="1060107" y="2323235"/>
                </a:lnTo>
                <a:lnTo>
                  <a:pt x="1063628" y="2323235"/>
                </a:lnTo>
                <a:lnTo>
                  <a:pt x="1067290" y="2323235"/>
                </a:lnTo>
                <a:lnTo>
                  <a:pt x="1070905" y="2323235"/>
                </a:lnTo>
                <a:lnTo>
                  <a:pt x="1074473" y="2323235"/>
                </a:lnTo>
                <a:lnTo>
                  <a:pt x="1078041" y="2323235"/>
                </a:lnTo>
                <a:lnTo>
                  <a:pt x="1081703" y="2323235"/>
                </a:lnTo>
                <a:lnTo>
                  <a:pt x="1085271" y="2323235"/>
                </a:lnTo>
                <a:lnTo>
                  <a:pt x="1088839" y="2323235"/>
                </a:lnTo>
                <a:lnTo>
                  <a:pt x="1092502" y="2323235"/>
                </a:lnTo>
                <a:lnTo>
                  <a:pt x="1096069" y="2323235"/>
                </a:lnTo>
                <a:lnTo>
                  <a:pt x="1099685" y="2323235"/>
                </a:lnTo>
                <a:lnTo>
                  <a:pt x="1103253" y="2323235"/>
                </a:lnTo>
                <a:lnTo>
                  <a:pt x="1106915" y="2323235"/>
                </a:lnTo>
                <a:lnTo>
                  <a:pt x="1110483" y="2323235"/>
                </a:lnTo>
                <a:lnTo>
                  <a:pt x="1114051" y="2323235"/>
                </a:lnTo>
                <a:lnTo>
                  <a:pt x="1117713" y="2323235"/>
                </a:lnTo>
                <a:lnTo>
                  <a:pt x="1121281" y="2323235"/>
                </a:lnTo>
                <a:lnTo>
                  <a:pt x="1124849" y="2323235"/>
                </a:lnTo>
                <a:lnTo>
                  <a:pt x="1128417" y="2323235"/>
                </a:lnTo>
                <a:lnTo>
                  <a:pt x="1132079" y="2323235"/>
                </a:lnTo>
                <a:lnTo>
                  <a:pt x="1135694" y="2323235"/>
                </a:lnTo>
                <a:lnTo>
                  <a:pt x="1139262" y="2323235"/>
                </a:lnTo>
                <a:lnTo>
                  <a:pt x="1142877" y="2323235"/>
                </a:lnTo>
                <a:lnTo>
                  <a:pt x="1146493" y="2323235"/>
                </a:lnTo>
                <a:lnTo>
                  <a:pt x="1150061" y="2323235"/>
                </a:lnTo>
                <a:lnTo>
                  <a:pt x="1153629" y="2323235"/>
                </a:lnTo>
                <a:lnTo>
                  <a:pt x="1157291" y="2323235"/>
                </a:lnTo>
                <a:lnTo>
                  <a:pt x="1160859" y="2323235"/>
                </a:lnTo>
                <a:lnTo>
                  <a:pt x="1164427" y="2323235"/>
                </a:lnTo>
                <a:lnTo>
                  <a:pt x="1168089" y="2323235"/>
                </a:lnTo>
                <a:lnTo>
                  <a:pt x="1171704" y="2323235"/>
                </a:lnTo>
                <a:lnTo>
                  <a:pt x="1175272" y="2323235"/>
                </a:lnTo>
                <a:lnTo>
                  <a:pt x="1178840" y="2323235"/>
                </a:lnTo>
                <a:lnTo>
                  <a:pt x="1182502" y="2323235"/>
                </a:lnTo>
                <a:lnTo>
                  <a:pt x="1186070" y="2323235"/>
                </a:lnTo>
                <a:lnTo>
                  <a:pt x="1189638" y="2323235"/>
                </a:lnTo>
                <a:lnTo>
                  <a:pt x="1193300" y="2323235"/>
                </a:lnTo>
                <a:lnTo>
                  <a:pt x="1196915" y="2323235"/>
                </a:lnTo>
                <a:lnTo>
                  <a:pt x="1200437" y="2323235"/>
                </a:lnTo>
                <a:lnTo>
                  <a:pt x="1204052" y="2323235"/>
                </a:lnTo>
                <a:lnTo>
                  <a:pt x="1207667" y="2323235"/>
                </a:lnTo>
                <a:lnTo>
                  <a:pt x="1211282" y="2323235"/>
                </a:lnTo>
                <a:lnTo>
                  <a:pt x="1214850" y="2323235"/>
                </a:lnTo>
                <a:lnTo>
                  <a:pt x="1218512" y="2323235"/>
                </a:lnTo>
                <a:lnTo>
                  <a:pt x="1218512" y="2320969"/>
                </a:lnTo>
                <a:lnTo>
                  <a:pt x="1222080" y="2320969"/>
                </a:lnTo>
                <a:lnTo>
                  <a:pt x="1225648" y="2320969"/>
                </a:lnTo>
                <a:lnTo>
                  <a:pt x="1229310" y="2320969"/>
                </a:lnTo>
                <a:lnTo>
                  <a:pt x="1232925" y="2320969"/>
                </a:lnTo>
                <a:lnTo>
                  <a:pt x="1236446" y="2320969"/>
                </a:lnTo>
                <a:lnTo>
                  <a:pt x="1240014" y="2320969"/>
                </a:lnTo>
                <a:lnTo>
                  <a:pt x="1243723" y="2320969"/>
                </a:lnTo>
                <a:lnTo>
                  <a:pt x="1247291" y="2320969"/>
                </a:lnTo>
                <a:lnTo>
                  <a:pt x="1250860" y="2320969"/>
                </a:lnTo>
                <a:lnTo>
                  <a:pt x="1254521" y="2320969"/>
                </a:lnTo>
                <a:lnTo>
                  <a:pt x="1254521" y="2318704"/>
                </a:lnTo>
                <a:lnTo>
                  <a:pt x="1258090" y="2318704"/>
                </a:lnTo>
                <a:lnTo>
                  <a:pt x="1261658" y="2318704"/>
                </a:lnTo>
                <a:lnTo>
                  <a:pt x="1261658" y="2309539"/>
                </a:lnTo>
                <a:lnTo>
                  <a:pt x="1265273" y="2309539"/>
                </a:lnTo>
                <a:lnTo>
                  <a:pt x="1265273" y="2307306"/>
                </a:lnTo>
                <a:lnTo>
                  <a:pt x="1268935" y="2307306"/>
                </a:lnTo>
                <a:lnTo>
                  <a:pt x="1272456" y="2307306"/>
                </a:lnTo>
                <a:lnTo>
                  <a:pt x="1272456" y="2302673"/>
                </a:lnTo>
                <a:lnTo>
                  <a:pt x="1276071" y="2302673"/>
                </a:lnTo>
                <a:lnTo>
                  <a:pt x="1276071" y="2300408"/>
                </a:lnTo>
                <a:lnTo>
                  <a:pt x="1279733" y="2300408"/>
                </a:lnTo>
                <a:lnTo>
                  <a:pt x="1283301" y="2300408"/>
                </a:lnTo>
                <a:lnTo>
                  <a:pt x="1286869" y="2300408"/>
                </a:lnTo>
                <a:lnTo>
                  <a:pt x="1286869" y="2295876"/>
                </a:lnTo>
                <a:lnTo>
                  <a:pt x="1290484" y="2295876"/>
                </a:lnTo>
                <a:lnTo>
                  <a:pt x="1290484" y="2293508"/>
                </a:lnTo>
                <a:lnTo>
                  <a:pt x="1294099" y="2293508"/>
                </a:lnTo>
                <a:lnTo>
                  <a:pt x="1294099" y="2286643"/>
                </a:lnTo>
                <a:lnTo>
                  <a:pt x="1297668" y="2286643"/>
                </a:lnTo>
                <a:lnTo>
                  <a:pt x="1297668" y="2275212"/>
                </a:lnTo>
                <a:lnTo>
                  <a:pt x="1301282" y="2275212"/>
                </a:lnTo>
                <a:lnTo>
                  <a:pt x="1301282" y="2270613"/>
                </a:lnTo>
                <a:lnTo>
                  <a:pt x="1304945" y="2270613"/>
                </a:lnTo>
                <a:lnTo>
                  <a:pt x="1304945" y="2268280"/>
                </a:lnTo>
                <a:lnTo>
                  <a:pt x="1308466" y="2268280"/>
                </a:lnTo>
                <a:lnTo>
                  <a:pt x="1312080" y="2268280"/>
                </a:lnTo>
                <a:lnTo>
                  <a:pt x="1312080" y="2254515"/>
                </a:lnTo>
                <a:lnTo>
                  <a:pt x="1315649" y="2254515"/>
                </a:lnTo>
                <a:lnTo>
                  <a:pt x="1315649" y="2249882"/>
                </a:lnTo>
                <a:lnTo>
                  <a:pt x="1319264" y="2249882"/>
                </a:lnTo>
                <a:lnTo>
                  <a:pt x="1319264" y="2247583"/>
                </a:lnTo>
                <a:lnTo>
                  <a:pt x="1322879" y="2247583"/>
                </a:lnTo>
                <a:lnTo>
                  <a:pt x="1322879" y="2245283"/>
                </a:lnTo>
                <a:lnTo>
                  <a:pt x="1326447" y="2245283"/>
                </a:lnTo>
                <a:lnTo>
                  <a:pt x="1326447" y="2242983"/>
                </a:lnTo>
                <a:lnTo>
                  <a:pt x="1330109" y="2242983"/>
                </a:lnTo>
                <a:lnTo>
                  <a:pt x="1333677" y="2242983"/>
                </a:lnTo>
                <a:lnTo>
                  <a:pt x="1337292" y="2242983"/>
                </a:lnTo>
                <a:lnTo>
                  <a:pt x="1337292" y="2238350"/>
                </a:lnTo>
                <a:lnTo>
                  <a:pt x="1340813" y="2238350"/>
                </a:lnTo>
                <a:lnTo>
                  <a:pt x="1344523" y="2238350"/>
                </a:lnTo>
                <a:lnTo>
                  <a:pt x="1348090" y="2238350"/>
                </a:lnTo>
                <a:lnTo>
                  <a:pt x="1351658" y="2238350"/>
                </a:lnTo>
                <a:lnTo>
                  <a:pt x="1355321" y="2238350"/>
                </a:lnTo>
                <a:lnTo>
                  <a:pt x="1358889" y="2238350"/>
                </a:lnTo>
                <a:lnTo>
                  <a:pt x="1362456" y="2238350"/>
                </a:lnTo>
                <a:lnTo>
                  <a:pt x="1362456" y="2236050"/>
                </a:lnTo>
                <a:lnTo>
                  <a:pt x="1366072" y="2236050"/>
                </a:lnTo>
                <a:lnTo>
                  <a:pt x="1369687" y="2236050"/>
                </a:lnTo>
                <a:lnTo>
                  <a:pt x="1373302" y="2236050"/>
                </a:lnTo>
                <a:lnTo>
                  <a:pt x="1373302" y="2233717"/>
                </a:lnTo>
                <a:lnTo>
                  <a:pt x="1376870" y="2233717"/>
                </a:lnTo>
                <a:lnTo>
                  <a:pt x="1380532" y="2233717"/>
                </a:lnTo>
                <a:lnTo>
                  <a:pt x="1384100" y="2233717"/>
                </a:lnTo>
                <a:lnTo>
                  <a:pt x="1387668" y="2233717"/>
                </a:lnTo>
                <a:lnTo>
                  <a:pt x="1391236" y="2233717"/>
                </a:lnTo>
                <a:lnTo>
                  <a:pt x="1391236" y="2231417"/>
                </a:lnTo>
                <a:lnTo>
                  <a:pt x="1394898" y="2231417"/>
                </a:lnTo>
                <a:lnTo>
                  <a:pt x="1398466" y="2231417"/>
                </a:lnTo>
                <a:lnTo>
                  <a:pt x="1402082" y="2231417"/>
                </a:lnTo>
                <a:lnTo>
                  <a:pt x="1405696" y="2231417"/>
                </a:lnTo>
                <a:lnTo>
                  <a:pt x="1409265" y="2231417"/>
                </a:lnTo>
                <a:lnTo>
                  <a:pt x="1412880" y="2231417"/>
                </a:lnTo>
                <a:lnTo>
                  <a:pt x="1416448" y="2231417"/>
                </a:lnTo>
                <a:lnTo>
                  <a:pt x="1420110" y="2231417"/>
                </a:lnTo>
                <a:lnTo>
                  <a:pt x="1420110" y="2229050"/>
                </a:lnTo>
                <a:lnTo>
                  <a:pt x="1423678" y="2229050"/>
                </a:lnTo>
                <a:lnTo>
                  <a:pt x="1427246" y="2229050"/>
                </a:lnTo>
                <a:lnTo>
                  <a:pt x="1430908" y="2229050"/>
                </a:lnTo>
                <a:lnTo>
                  <a:pt x="1434476" y="2229050"/>
                </a:lnTo>
                <a:lnTo>
                  <a:pt x="1438091" y="2229050"/>
                </a:lnTo>
                <a:lnTo>
                  <a:pt x="1438091" y="2224383"/>
                </a:lnTo>
                <a:lnTo>
                  <a:pt x="1441659" y="2224383"/>
                </a:lnTo>
                <a:lnTo>
                  <a:pt x="1445322" y="2224383"/>
                </a:lnTo>
                <a:lnTo>
                  <a:pt x="1448889" y="2224383"/>
                </a:lnTo>
                <a:lnTo>
                  <a:pt x="1452457" y="2224383"/>
                </a:lnTo>
                <a:lnTo>
                  <a:pt x="1456120" y="2224383"/>
                </a:lnTo>
                <a:lnTo>
                  <a:pt x="1459688" y="2224383"/>
                </a:lnTo>
                <a:lnTo>
                  <a:pt x="1463255" y="2224383"/>
                </a:lnTo>
                <a:lnTo>
                  <a:pt x="1466824" y="2224383"/>
                </a:lnTo>
                <a:lnTo>
                  <a:pt x="1470486" y="2224383"/>
                </a:lnTo>
                <a:lnTo>
                  <a:pt x="1474054" y="2224383"/>
                </a:lnTo>
                <a:lnTo>
                  <a:pt x="1477669" y="2224383"/>
                </a:lnTo>
                <a:lnTo>
                  <a:pt x="1481331" y="2224383"/>
                </a:lnTo>
                <a:lnTo>
                  <a:pt x="1484899" y="2224383"/>
                </a:lnTo>
                <a:lnTo>
                  <a:pt x="1488467" y="2224383"/>
                </a:lnTo>
                <a:lnTo>
                  <a:pt x="1492082" y="2224383"/>
                </a:lnTo>
                <a:lnTo>
                  <a:pt x="1495697" y="2224383"/>
                </a:lnTo>
                <a:lnTo>
                  <a:pt x="1499265" y="2224383"/>
                </a:lnTo>
                <a:lnTo>
                  <a:pt x="1499265" y="2222083"/>
                </a:lnTo>
                <a:lnTo>
                  <a:pt x="1502833" y="2222083"/>
                </a:lnTo>
                <a:lnTo>
                  <a:pt x="1506495" y="2222083"/>
                </a:lnTo>
                <a:lnTo>
                  <a:pt x="1510064" y="2222083"/>
                </a:lnTo>
                <a:lnTo>
                  <a:pt x="1510064" y="2219783"/>
                </a:lnTo>
                <a:lnTo>
                  <a:pt x="1513679" y="2219783"/>
                </a:lnTo>
                <a:lnTo>
                  <a:pt x="1517246" y="2219783"/>
                </a:lnTo>
                <a:lnTo>
                  <a:pt x="1517246" y="2217450"/>
                </a:lnTo>
                <a:lnTo>
                  <a:pt x="1520908" y="2217450"/>
                </a:lnTo>
                <a:lnTo>
                  <a:pt x="1524477" y="2217450"/>
                </a:lnTo>
                <a:lnTo>
                  <a:pt x="1528045" y="2217450"/>
                </a:lnTo>
                <a:lnTo>
                  <a:pt x="1531707" y="2217450"/>
                </a:lnTo>
                <a:lnTo>
                  <a:pt x="1535322" y="2217450"/>
                </a:lnTo>
                <a:lnTo>
                  <a:pt x="1538843" y="2217450"/>
                </a:lnTo>
                <a:lnTo>
                  <a:pt x="1542459" y="2217450"/>
                </a:lnTo>
                <a:lnTo>
                  <a:pt x="1546120" y="2217450"/>
                </a:lnTo>
                <a:lnTo>
                  <a:pt x="1549688" y="2217450"/>
                </a:lnTo>
                <a:lnTo>
                  <a:pt x="1553257" y="2217450"/>
                </a:lnTo>
                <a:lnTo>
                  <a:pt x="1556918" y="2217450"/>
                </a:lnTo>
                <a:lnTo>
                  <a:pt x="1560486" y="2217450"/>
                </a:lnTo>
                <a:lnTo>
                  <a:pt x="1564055" y="2217450"/>
                </a:lnTo>
                <a:lnTo>
                  <a:pt x="1567623" y="2217450"/>
                </a:lnTo>
                <a:lnTo>
                  <a:pt x="1571332" y="2217450"/>
                </a:lnTo>
                <a:lnTo>
                  <a:pt x="1574853" y="2217450"/>
                </a:lnTo>
                <a:lnTo>
                  <a:pt x="1578468" y="2217450"/>
                </a:lnTo>
                <a:lnTo>
                  <a:pt x="1582130" y="2217450"/>
                </a:lnTo>
                <a:lnTo>
                  <a:pt x="1585651" y="2217450"/>
                </a:lnTo>
                <a:lnTo>
                  <a:pt x="1589266" y="2217450"/>
                </a:lnTo>
                <a:lnTo>
                  <a:pt x="1592834" y="2217450"/>
                </a:lnTo>
                <a:lnTo>
                  <a:pt x="1596497" y="2217450"/>
                </a:lnTo>
                <a:lnTo>
                  <a:pt x="1600064" y="2217450"/>
                </a:lnTo>
                <a:lnTo>
                  <a:pt x="1603679" y="2217450"/>
                </a:lnTo>
                <a:lnTo>
                  <a:pt x="1607295" y="2217450"/>
                </a:lnTo>
                <a:lnTo>
                  <a:pt x="1610863" y="2217450"/>
                </a:lnTo>
                <a:lnTo>
                  <a:pt x="1610863" y="2212749"/>
                </a:lnTo>
                <a:lnTo>
                  <a:pt x="1614478" y="2212749"/>
                </a:lnTo>
                <a:lnTo>
                  <a:pt x="1618140" y="2212749"/>
                </a:lnTo>
                <a:lnTo>
                  <a:pt x="1621661" y="2212749"/>
                </a:lnTo>
                <a:lnTo>
                  <a:pt x="1625276" y="2212749"/>
                </a:lnTo>
                <a:lnTo>
                  <a:pt x="1628844" y="2212749"/>
                </a:lnTo>
                <a:lnTo>
                  <a:pt x="1632506" y="2212749"/>
                </a:lnTo>
                <a:lnTo>
                  <a:pt x="1636121" y="2212749"/>
                </a:lnTo>
                <a:lnTo>
                  <a:pt x="1639689" y="2212749"/>
                </a:lnTo>
                <a:lnTo>
                  <a:pt x="1643304" y="2212749"/>
                </a:lnTo>
                <a:lnTo>
                  <a:pt x="1646872" y="2212749"/>
                </a:lnTo>
                <a:lnTo>
                  <a:pt x="1646872" y="2210416"/>
                </a:lnTo>
                <a:lnTo>
                  <a:pt x="1650487" y="2210416"/>
                </a:lnTo>
                <a:lnTo>
                  <a:pt x="1654055" y="2210416"/>
                </a:lnTo>
                <a:lnTo>
                  <a:pt x="1657670" y="2210416"/>
                </a:lnTo>
                <a:lnTo>
                  <a:pt x="1657670" y="2208082"/>
                </a:lnTo>
                <a:lnTo>
                  <a:pt x="1661285" y="2208082"/>
                </a:lnTo>
                <a:lnTo>
                  <a:pt x="1664854" y="2208082"/>
                </a:lnTo>
                <a:lnTo>
                  <a:pt x="1668516" y="2208082"/>
                </a:lnTo>
                <a:lnTo>
                  <a:pt x="1672083" y="2208082"/>
                </a:lnTo>
                <a:lnTo>
                  <a:pt x="1675698" y="2208082"/>
                </a:lnTo>
                <a:lnTo>
                  <a:pt x="1679220" y="2208082"/>
                </a:lnTo>
                <a:lnTo>
                  <a:pt x="1682929" y="2208082"/>
                </a:lnTo>
                <a:lnTo>
                  <a:pt x="1682929" y="2201082"/>
                </a:lnTo>
                <a:lnTo>
                  <a:pt x="1686497" y="2201082"/>
                </a:lnTo>
                <a:lnTo>
                  <a:pt x="1690065" y="2201082"/>
                </a:lnTo>
                <a:lnTo>
                  <a:pt x="1690065" y="2177645"/>
                </a:lnTo>
                <a:lnTo>
                  <a:pt x="1693727" y="2177645"/>
                </a:lnTo>
                <a:lnTo>
                  <a:pt x="1693727" y="2170611"/>
                </a:lnTo>
                <a:lnTo>
                  <a:pt x="1697248" y="2170611"/>
                </a:lnTo>
                <a:lnTo>
                  <a:pt x="1697248" y="2163576"/>
                </a:lnTo>
                <a:lnTo>
                  <a:pt x="1700863" y="2163576"/>
                </a:lnTo>
                <a:lnTo>
                  <a:pt x="1704432" y="2163576"/>
                </a:lnTo>
                <a:lnTo>
                  <a:pt x="1708093" y="2163576"/>
                </a:lnTo>
                <a:lnTo>
                  <a:pt x="1708093" y="2158909"/>
                </a:lnTo>
                <a:lnTo>
                  <a:pt x="1711709" y="2158909"/>
                </a:lnTo>
                <a:lnTo>
                  <a:pt x="1711709" y="2151773"/>
                </a:lnTo>
                <a:lnTo>
                  <a:pt x="1715277" y="2151773"/>
                </a:lnTo>
                <a:lnTo>
                  <a:pt x="1715277" y="2144705"/>
                </a:lnTo>
                <a:lnTo>
                  <a:pt x="1718938" y="2144705"/>
                </a:lnTo>
                <a:lnTo>
                  <a:pt x="1718938" y="2142406"/>
                </a:lnTo>
                <a:lnTo>
                  <a:pt x="1722507" y="2142406"/>
                </a:lnTo>
                <a:lnTo>
                  <a:pt x="1722507" y="2140072"/>
                </a:lnTo>
                <a:lnTo>
                  <a:pt x="1726075" y="2140072"/>
                </a:lnTo>
                <a:lnTo>
                  <a:pt x="1726075" y="2135338"/>
                </a:lnTo>
                <a:lnTo>
                  <a:pt x="1729643" y="2135338"/>
                </a:lnTo>
                <a:lnTo>
                  <a:pt x="1729643" y="2128303"/>
                </a:lnTo>
                <a:lnTo>
                  <a:pt x="1733305" y="2128303"/>
                </a:lnTo>
                <a:lnTo>
                  <a:pt x="1733305" y="2125902"/>
                </a:lnTo>
                <a:lnTo>
                  <a:pt x="1736873" y="2125902"/>
                </a:lnTo>
                <a:lnTo>
                  <a:pt x="1736873" y="2121201"/>
                </a:lnTo>
                <a:lnTo>
                  <a:pt x="1740441" y="2121201"/>
                </a:lnTo>
                <a:lnTo>
                  <a:pt x="1740441" y="2118868"/>
                </a:lnTo>
                <a:lnTo>
                  <a:pt x="1744103" y="2118868"/>
                </a:lnTo>
                <a:lnTo>
                  <a:pt x="1744103" y="2114133"/>
                </a:lnTo>
                <a:lnTo>
                  <a:pt x="1747718" y="2114133"/>
                </a:lnTo>
                <a:lnTo>
                  <a:pt x="1747718" y="2111766"/>
                </a:lnTo>
                <a:lnTo>
                  <a:pt x="1751286" y="2111766"/>
                </a:lnTo>
                <a:lnTo>
                  <a:pt x="1751286" y="2104698"/>
                </a:lnTo>
                <a:lnTo>
                  <a:pt x="1754854" y="2104698"/>
                </a:lnTo>
                <a:lnTo>
                  <a:pt x="1754854" y="2102296"/>
                </a:lnTo>
                <a:lnTo>
                  <a:pt x="1758516" y="2102296"/>
                </a:lnTo>
                <a:lnTo>
                  <a:pt x="1758516" y="2099929"/>
                </a:lnTo>
                <a:lnTo>
                  <a:pt x="1762084" y="2099929"/>
                </a:lnTo>
                <a:lnTo>
                  <a:pt x="1762084" y="2097562"/>
                </a:lnTo>
                <a:lnTo>
                  <a:pt x="1765653" y="2097562"/>
                </a:lnTo>
                <a:lnTo>
                  <a:pt x="1765653" y="2095194"/>
                </a:lnTo>
                <a:lnTo>
                  <a:pt x="1769315" y="2095194"/>
                </a:lnTo>
                <a:lnTo>
                  <a:pt x="1769315" y="2092861"/>
                </a:lnTo>
                <a:lnTo>
                  <a:pt x="1772882" y="2092861"/>
                </a:lnTo>
                <a:lnTo>
                  <a:pt x="1776451" y="2092861"/>
                </a:lnTo>
                <a:lnTo>
                  <a:pt x="1780066" y="2092861"/>
                </a:lnTo>
                <a:lnTo>
                  <a:pt x="1783681" y="2092861"/>
                </a:lnTo>
                <a:lnTo>
                  <a:pt x="1787296" y="2092861"/>
                </a:lnTo>
                <a:lnTo>
                  <a:pt x="1787296" y="2090494"/>
                </a:lnTo>
                <a:lnTo>
                  <a:pt x="1790864" y="2090494"/>
                </a:lnTo>
                <a:lnTo>
                  <a:pt x="1794526" y="2090494"/>
                </a:lnTo>
                <a:lnTo>
                  <a:pt x="1798094" y="2090494"/>
                </a:lnTo>
                <a:lnTo>
                  <a:pt x="1798094" y="2088093"/>
                </a:lnTo>
                <a:lnTo>
                  <a:pt x="1801662" y="2088093"/>
                </a:lnTo>
                <a:lnTo>
                  <a:pt x="1805230" y="2088093"/>
                </a:lnTo>
                <a:lnTo>
                  <a:pt x="1808892" y="2088093"/>
                </a:lnTo>
                <a:lnTo>
                  <a:pt x="1812460" y="2088093"/>
                </a:lnTo>
                <a:lnTo>
                  <a:pt x="1816075" y="2088093"/>
                </a:lnTo>
                <a:lnTo>
                  <a:pt x="1819691" y="2088093"/>
                </a:lnTo>
                <a:lnTo>
                  <a:pt x="1823306" y="2088093"/>
                </a:lnTo>
                <a:lnTo>
                  <a:pt x="1826873" y="2088093"/>
                </a:lnTo>
                <a:lnTo>
                  <a:pt x="1830489" y="2088093"/>
                </a:lnTo>
                <a:lnTo>
                  <a:pt x="1834104" y="2088093"/>
                </a:lnTo>
                <a:lnTo>
                  <a:pt x="1834104" y="2085691"/>
                </a:lnTo>
                <a:lnTo>
                  <a:pt x="1837672" y="2085691"/>
                </a:lnTo>
                <a:lnTo>
                  <a:pt x="1841239" y="2085691"/>
                </a:lnTo>
                <a:lnTo>
                  <a:pt x="1844902" y="2085691"/>
                </a:lnTo>
                <a:lnTo>
                  <a:pt x="1848470" y="2085691"/>
                </a:lnTo>
                <a:lnTo>
                  <a:pt x="1848470" y="2083358"/>
                </a:lnTo>
                <a:lnTo>
                  <a:pt x="1852038" y="2083358"/>
                </a:lnTo>
                <a:lnTo>
                  <a:pt x="1855653" y="2083358"/>
                </a:lnTo>
                <a:lnTo>
                  <a:pt x="1859315" y="2083358"/>
                </a:lnTo>
                <a:lnTo>
                  <a:pt x="1862883" y="2083358"/>
                </a:lnTo>
                <a:lnTo>
                  <a:pt x="1862883" y="2078589"/>
                </a:lnTo>
                <a:lnTo>
                  <a:pt x="1866498" y="2078589"/>
                </a:lnTo>
                <a:lnTo>
                  <a:pt x="1870113" y="2078589"/>
                </a:lnTo>
                <a:lnTo>
                  <a:pt x="1870113" y="2076188"/>
                </a:lnTo>
                <a:lnTo>
                  <a:pt x="1873681" y="2076188"/>
                </a:lnTo>
                <a:lnTo>
                  <a:pt x="1877250" y="2076188"/>
                </a:lnTo>
                <a:lnTo>
                  <a:pt x="1877250" y="2073821"/>
                </a:lnTo>
                <a:lnTo>
                  <a:pt x="1880818" y="2073821"/>
                </a:lnTo>
                <a:lnTo>
                  <a:pt x="1884527" y="2073821"/>
                </a:lnTo>
                <a:lnTo>
                  <a:pt x="1884527" y="2071420"/>
                </a:lnTo>
                <a:lnTo>
                  <a:pt x="1888095" y="2071420"/>
                </a:lnTo>
                <a:lnTo>
                  <a:pt x="1891663" y="2071420"/>
                </a:lnTo>
                <a:lnTo>
                  <a:pt x="1895325" y="2071420"/>
                </a:lnTo>
                <a:lnTo>
                  <a:pt x="1895325" y="2069086"/>
                </a:lnTo>
                <a:lnTo>
                  <a:pt x="1898893" y="2069086"/>
                </a:lnTo>
                <a:lnTo>
                  <a:pt x="1898893" y="2066685"/>
                </a:lnTo>
                <a:lnTo>
                  <a:pt x="1902461" y="2066685"/>
                </a:lnTo>
                <a:lnTo>
                  <a:pt x="1906076" y="2066685"/>
                </a:lnTo>
                <a:lnTo>
                  <a:pt x="1906076" y="2064318"/>
                </a:lnTo>
                <a:lnTo>
                  <a:pt x="1909691" y="2064318"/>
                </a:lnTo>
                <a:lnTo>
                  <a:pt x="1913259" y="2064318"/>
                </a:lnTo>
                <a:lnTo>
                  <a:pt x="1913259" y="2059516"/>
                </a:lnTo>
                <a:lnTo>
                  <a:pt x="1916828" y="2059516"/>
                </a:lnTo>
                <a:lnTo>
                  <a:pt x="1920536" y="2059516"/>
                </a:lnTo>
                <a:lnTo>
                  <a:pt x="1924105" y="2059516"/>
                </a:lnTo>
                <a:lnTo>
                  <a:pt x="1924105" y="2057148"/>
                </a:lnTo>
                <a:lnTo>
                  <a:pt x="1927672" y="2057148"/>
                </a:lnTo>
                <a:lnTo>
                  <a:pt x="1931241" y="2057148"/>
                </a:lnTo>
                <a:lnTo>
                  <a:pt x="1934903" y="2057148"/>
                </a:lnTo>
                <a:lnTo>
                  <a:pt x="1938471" y="2057148"/>
                </a:lnTo>
                <a:lnTo>
                  <a:pt x="1942086" y="2057148"/>
                </a:lnTo>
                <a:lnTo>
                  <a:pt x="1945748" y="2057148"/>
                </a:lnTo>
                <a:lnTo>
                  <a:pt x="1949269" y="2057148"/>
                </a:lnTo>
                <a:lnTo>
                  <a:pt x="1952884" y="2057148"/>
                </a:lnTo>
                <a:lnTo>
                  <a:pt x="1956452" y="2057148"/>
                </a:lnTo>
                <a:lnTo>
                  <a:pt x="1960067" y="2057148"/>
                </a:lnTo>
                <a:lnTo>
                  <a:pt x="1963682" y="2057148"/>
                </a:lnTo>
                <a:lnTo>
                  <a:pt x="1967250" y="2057148"/>
                </a:lnTo>
                <a:lnTo>
                  <a:pt x="1970912" y="2057148"/>
                </a:lnTo>
                <a:lnTo>
                  <a:pt x="1974481" y="2057148"/>
                </a:lnTo>
                <a:lnTo>
                  <a:pt x="1978095" y="2057148"/>
                </a:lnTo>
                <a:lnTo>
                  <a:pt x="1981616" y="2057148"/>
                </a:lnTo>
                <a:lnTo>
                  <a:pt x="1981616" y="2054679"/>
                </a:lnTo>
                <a:lnTo>
                  <a:pt x="1985279" y="2054679"/>
                </a:lnTo>
                <a:lnTo>
                  <a:pt x="1988893" y="2054679"/>
                </a:lnTo>
                <a:lnTo>
                  <a:pt x="1992414" y="2054679"/>
                </a:lnTo>
                <a:lnTo>
                  <a:pt x="1992414" y="2052312"/>
                </a:lnTo>
                <a:lnTo>
                  <a:pt x="1996077" y="2052312"/>
                </a:lnTo>
                <a:lnTo>
                  <a:pt x="1999691" y="2052312"/>
                </a:lnTo>
                <a:lnTo>
                  <a:pt x="2003260" y="2052312"/>
                </a:lnTo>
                <a:lnTo>
                  <a:pt x="2006922" y="2052312"/>
                </a:lnTo>
                <a:lnTo>
                  <a:pt x="2006922" y="2049911"/>
                </a:lnTo>
                <a:lnTo>
                  <a:pt x="2010490" y="2049911"/>
                </a:lnTo>
                <a:lnTo>
                  <a:pt x="2014105" y="2049911"/>
                </a:lnTo>
                <a:lnTo>
                  <a:pt x="2017626" y="2049911"/>
                </a:lnTo>
                <a:lnTo>
                  <a:pt x="2021335" y="2049911"/>
                </a:lnTo>
                <a:lnTo>
                  <a:pt x="2024904" y="2049911"/>
                </a:lnTo>
                <a:lnTo>
                  <a:pt x="2024904" y="2047442"/>
                </a:lnTo>
                <a:lnTo>
                  <a:pt x="2028424" y="2047442"/>
                </a:lnTo>
                <a:lnTo>
                  <a:pt x="2032133" y="2047442"/>
                </a:lnTo>
                <a:lnTo>
                  <a:pt x="2035702" y="2047442"/>
                </a:lnTo>
                <a:lnTo>
                  <a:pt x="2039270" y="2047442"/>
                </a:lnTo>
                <a:lnTo>
                  <a:pt x="2042885" y="2047442"/>
                </a:lnTo>
                <a:lnTo>
                  <a:pt x="2046500" y="2047442"/>
                </a:lnTo>
                <a:lnTo>
                  <a:pt x="2046500" y="2045007"/>
                </a:lnTo>
                <a:lnTo>
                  <a:pt x="2050068" y="2045007"/>
                </a:lnTo>
                <a:lnTo>
                  <a:pt x="2053683" y="2045007"/>
                </a:lnTo>
                <a:lnTo>
                  <a:pt x="2057345" y="2045007"/>
                </a:lnTo>
                <a:lnTo>
                  <a:pt x="2060913" y="2045007"/>
                </a:lnTo>
                <a:lnTo>
                  <a:pt x="2064481" y="2045007"/>
                </a:lnTo>
                <a:lnTo>
                  <a:pt x="2068049" y="2045007"/>
                </a:lnTo>
                <a:lnTo>
                  <a:pt x="2071664" y="2045007"/>
                </a:lnTo>
                <a:lnTo>
                  <a:pt x="2071664" y="2042572"/>
                </a:lnTo>
                <a:lnTo>
                  <a:pt x="2075280" y="2042572"/>
                </a:lnTo>
                <a:lnTo>
                  <a:pt x="2078847" y="2042572"/>
                </a:lnTo>
                <a:lnTo>
                  <a:pt x="2082509" y="2042572"/>
                </a:lnTo>
                <a:lnTo>
                  <a:pt x="2086078" y="2042572"/>
                </a:lnTo>
                <a:lnTo>
                  <a:pt x="2089693" y="2042572"/>
                </a:lnTo>
                <a:lnTo>
                  <a:pt x="2093261" y="2042572"/>
                </a:lnTo>
                <a:lnTo>
                  <a:pt x="2096923" y="2042572"/>
                </a:lnTo>
                <a:lnTo>
                  <a:pt x="2096923" y="2040137"/>
                </a:lnTo>
                <a:lnTo>
                  <a:pt x="2100538" y="2040137"/>
                </a:lnTo>
                <a:lnTo>
                  <a:pt x="2104059" y="2040137"/>
                </a:lnTo>
                <a:lnTo>
                  <a:pt x="2107674" y="2040137"/>
                </a:lnTo>
                <a:lnTo>
                  <a:pt x="2111289" y="2040137"/>
                </a:lnTo>
                <a:lnTo>
                  <a:pt x="2111289" y="2035166"/>
                </a:lnTo>
                <a:lnTo>
                  <a:pt x="2114857" y="2035166"/>
                </a:lnTo>
                <a:lnTo>
                  <a:pt x="2118472" y="2035166"/>
                </a:lnTo>
                <a:lnTo>
                  <a:pt x="2118472" y="2030228"/>
                </a:lnTo>
                <a:lnTo>
                  <a:pt x="2122087" y="2030228"/>
                </a:lnTo>
                <a:lnTo>
                  <a:pt x="2122087" y="2025189"/>
                </a:lnTo>
                <a:lnTo>
                  <a:pt x="2125702" y="2025189"/>
                </a:lnTo>
                <a:lnTo>
                  <a:pt x="2125702" y="2022754"/>
                </a:lnTo>
                <a:lnTo>
                  <a:pt x="2129270" y="2022754"/>
                </a:lnTo>
                <a:lnTo>
                  <a:pt x="2129270" y="2017749"/>
                </a:lnTo>
                <a:lnTo>
                  <a:pt x="2132933" y="2017749"/>
                </a:lnTo>
                <a:lnTo>
                  <a:pt x="2132933" y="2012778"/>
                </a:lnTo>
                <a:lnTo>
                  <a:pt x="2136500" y="2012778"/>
                </a:lnTo>
                <a:lnTo>
                  <a:pt x="2140068" y="2012778"/>
                </a:lnTo>
                <a:lnTo>
                  <a:pt x="2140068" y="2007773"/>
                </a:lnTo>
                <a:lnTo>
                  <a:pt x="2143637" y="2007773"/>
                </a:lnTo>
                <a:lnTo>
                  <a:pt x="2143637" y="2000265"/>
                </a:lnTo>
                <a:lnTo>
                  <a:pt x="2147299" y="2000265"/>
                </a:lnTo>
                <a:lnTo>
                  <a:pt x="2150866" y="2000265"/>
                </a:lnTo>
                <a:lnTo>
                  <a:pt x="2154482" y="2000265"/>
                </a:lnTo>
                <a:lnTo>
                  <a:pt x="2154482" y="1992689"/>
                </a:lnTo>
                <a:lnTo>
                  <a:pt x="2158097" y="1992689"/>
                </a:lnTo>
                <a:lnTo>
                  <a:pt x="2158097" y="1980041"/>
                </a:lnTo>
                <a:lnTo>
                  <a:pt x="2161665" y="1980041"/>
                </a:lnTo>
                <a:lnTo>
                  <a:pt x="2161665" y="1977539"/>
                </a:lnTo>
                <a:lnTo>
                  <a:pt x="2165280" y="1977539"/>
                </a:lnTo>
                <a:lnTo>
                  <a:pt x="2165280" y="1972466"/>
                </a:lnTo>
                <a:lnTo>
                  <a:pt x="2168848" y="1972466"/>
                </a:lnTo>
                <a:lnTo>
                  <a:pt x="2168848" y="1954677"/>
                </a:lnTo>
                <a:lnTo>
                  <a:pt x="2172510" y="1954677"/>
                </a:lnTo>
                <a:lnTo>
                  <a:pt x="2172510" y="1941927"/>
                </a:lnTo>
                <a:lnTo>
                  <a:pt x="2176078" y="1941927"/>
                </a:lnTo>
                <a:lnTo>
                  <a:pt x="2176078" y="1934216"/>
                </a:lnTo>
                <a:lnTo>
                  <a:pt x="2179646" y="1934216"/>
                </a:lnTo>
                <a:lnTo>
                  <a:pt x="2179646" y="1929110"/>
                </a:lnTo>
                <a:lnTo>
                  <a:pt x="2183308" y="1929110"/>
                </a:lnTo>
                <a:lnTo>
                  <a:pt x="2186876" y="1929110"/>
                </a:lnTo>
                <a:lnTo>
                  <a:pt x="2186876" y="1923970"/>
                </a:lnTo>
                <a:lnTo>
                  <a:pt x="2190492" y="1923970"/>
                </a:lnTo>
                <a:lnTo>
                  <a:pt x="2190492" y="1918829"/>
                </a:lnTo>
                <a:lnTo>
                  <a:pt x="2194060" y="1918829"/>
                </a:lnTo>
                <a:lnTo>
                  <a:pt x="2194060" y="1903408"/>
                </a:lnTo>
                <a:lnTo>
                  <a:pt x="2197675" y="1903408"/>
                </a:lnTo>
                <a:lnTo>
                  <a:pt x="2197675" y="1900837"/>
                </a:lnTo>
                <a:lnTo>
                  <a:pt x="2201290" y="1900837"/>
                </a:lnTo>
                <a:lnTo>
                  <a:pt x="2204858" y="1900837"/>
                </a:lnTo>
                <a:lnTo>
                  <a:pt x="2204858" y="1898267"/>
                </a:lnTo>
                <a:lnTo>
                  <a:pt x="2208520" y="1898267"/>
                </a:lnTo>
                <a:lnTo>
                  <a:pt x="2208520" y="1895663"/>
                </a:lnTo>
                <a:lnTo>
                  <a:pt x="2212135" y="1895663"/>
                </a:lnTo>
                <a:lnTo>
                  <a:pt x="2215656" y="1895663"/>
                </a:lnTo>
                <a:lnTo>
                  <a:pt x="2219224" y="1895663"/>
                </a:lnTo>
                <a:lnTo>
                  <a:pt x="2222933" y="1895663"/>
                </a:lnTo>
                <a:lnTo>
                  <a:pt x="2222933" y="1893093"/>
                </a:lnTo>
                <a:lnTo>
                  <a:pt x="2226455" y="1893093"/>
                </a:lnTo>
                <a:lnTo>
                  <a:pt x="2226455" y="1890455"/>
                </a:lnTo>
                <a:lnTo>
                  <a:pt x="2230069" y="1890455"/>
                </a:lnTo>
                <a:lnTo>
                  <a:pt x="2233732" y="1890455"/>
                </a:lnTo>
                <a:lnTo>
                  <a:pt x="2237299" y="1890455"/>
                </a:lnTo>
                <a:lnTo>
                  <a:pt x="2240867" y="1890455"/>
                </a:lnTo>
                <a:lnTo>
                  <a:pt x="2244482" y="1890455"/>
                </a:lnTo>
                <a:lnTo>
                  <a:pt x="2244482" y="1887817"/>
                </a:lnTo>
                <a:lnTo>
                  <a:pt x="2248098" y="1887817"/>
                </a:lnTo>
                <a:lnTo>
                  <a:pt x="2251666" y="1887817"/>
                </a:lnTo>
                <a:lnTo>
                  <a:pt x="2251666" y="1885213"/>
                </a:lnTo>
                <a:lnTo>
                  <a:pt x="2255234" y="1885213"/>
                </a:lnTo>
                <a:lnTo>
                  <a:pt x="2255234" y="1882609"/>
                </a:lnTo>
                <a:lnTo>
                  <a:pt x="2258942" y="1882609"/>
                </a:lnTo>
                <a:lnTo>
                  <a:pt x="2262464" y="1882609"/>
                </a:lnTo>
                <a:lnTo>
                  <a:pt x="2266079" y="1882609"/>
                </a:lnTo>
                <a:lnTo>
                  <a:pt x="2266079" y="1879971"/>
                </a:lnTo>
                <a:lnTo>
                  <a:pt x="2269647" y="1879971"/>
                </a:lnTo>
                <a:lnTo>
                  <a:pt x="2269647" y="1877333"/>
                </a:lnTo>
                <a:lnTo>
                  <a:pt x="2273309" y="1877333"/>
                </a:lnTo>
                <a:lnTo>
                  <a:pt x="2276877" y="1877333"/>
                </a:lnTo>
                <a:lnTo>
                  <a:pt x="2280492" y="1877333"/>
                </a:lnTo>
                <a:lnTo>
                  <a:pt x="2284108" y="1877333"/>
                </a:lnTo>
                <a:lnTo>
                  <a:pt x="2287675" y="1877333"/>
                </a:lnTo>
                <a:lnTo>
                  <a:pt x="2287675" y="1874661"/>
                </a:lnTo>
                <a:lnTo>
                  <a:pt x="2291291" y="1874661"/>
                </a:lnTo>
                <a:lnTo>
                  <a:pt x="2294812" y="1874661"/>
                </a:lnTo>
                <a:lnTo>
                  <a:pt x="2294812" y="1869318"/>
                </a:lnTo>
                <a:lnTo>
                  <a:pt x="2298474" y="1869318"/>
                </a:lnTo>
                <a:lnTo>
                  <a:pt x="2302089" y="1869318"/>
                </a:lnTo>
                <a:lnTo>
                  <a:pt x="2305657" y="1869318"/>
                </a:lnTo>
                <a:lnTo>
                  <a:pt x="2309318" y="1869318"/>
                </a:lnTo>
                <a:lnTo>
                  <a:pt x="2312887" y="1869318"/>
                </a:lnTo>
                <a:lnTo>
                  <a:pt x="2316455" y="1869318"/>
                </a:lnTo>
                <a:lnTo>
                  <a:pt x="2320023" y="1869318"/>
                </a:lnTo>
                <a:lnTo>
                  <a:pt x="2323685" y="1869318"/>
                </a:lnTo>
                <a:lnTo>
                  <a:pt x="2327300" y="1869318"/>
                </a:lnTo>
                <a:lnTo>
                  <a:pt x="2330869" y="1869318"/>
                </a:lnTo>
                <a:lnTo>
                  <a:pt x="2334483" y="1869318"/>
                </a:lnTo>
                <a:lnTo>
                  <a:pt x="2338098" y="1869318"/>
                </a:lnTo>
                <a:lnTo>
                  <a:pt x="2338098" y="1866579"/>
                </a:lnTo>
                <a:lnTo>
                  <a:pt x="2341667" y="1866579"/>
                </a:lnTo>
                <a:lnTo>
                  <a:pt x="2345235" y="1866579"/>
                </a:lnTo>
                <a:lnTo>
                  <a:pt x="2348896" y="1866579"/>
                </a:lnTo>
                <a:lnTo>
                  <a:pt x="2352465" y="1866579"/>
                </a:lnTo>
                <a:lnTo>
                  <a:pt x="2356033" y="1866579"/>
                </a:lnTo>
                <a:lnTo>
                  <a:pt x="2359742" y="1866579"/>
                </a:lnTo>
                <a:lnTo>
                  <a:pt x="2363310" y="1866579"/>
                </a:lnTo>
                <a:lnTo>
                  <a:pt x="2363310" y="1863840"/>
                </a:lnTo>
                <a:lnTo>
                  <a:pt x="2366878" y="1863840"/>
                </a:lnTo>
                <a:lnTo>
                  <a:pt x="2366878" y="1861066"/>
                </a:lnTo>
                <a:lnTo>
                  <a:pt x="2370446" y="1861066"/>
                </a:lnTo>
                <a:lnTo>
                  <a:pt x="2374108" y="1861066"/>
                </a:lnTo>
                <a:lnTo>
                  <a:pt x="2377676" y="1861066"/>
                </a:lnTo>
                <a:lnTo>
                  <a:pt x="2381244" y="1861066"/>
                </a:lnTo>
                <a:lnTo>
                  <a:pt x="2384907" y="1861066"/>
                </a:lnTo>
                <a:lnTo>
                  <a:pt x="2388521" y="1861066"/>
                </a:lnTo>
                <a:lnTo>
                  <a:pt x="2388521" y="1858293"/>
                </a:lnTo>
                <a:lnTo>
                  <a:pt x="2392089" y="1858293"/>
                </a:lnTo>
                <a:lnTo>
                  <a:pt x="2395705" y="1858293"/>
                </a:lnTo>
                <a:lnTo>
                  <a:pt x="2399319" y="1858293"/>
                </a:lnTo>
                <a:lnTo>
                  <a:pt x="2399319" y="1855520"/>
                </a:lnTo>
                <a:lnTo>
                  <a:pt x="2402888" y="1855520"/>
                </a:lnTo>
                <a:lnTo>
                  <a:pt x="2406455" y="1855520"/>
                </a:lnTo>
                <a:lnTo>
                  <a:pt x="2410117" y="1855520"/>
                </a:lnTo>
                <a:lnTo>
                  <a:pt x="2413686" y="1855520"/>
                </a:lnTo>
                <a:lnTo>
                  <a:pt x="2417254" y="1855520"/>
                </a:lnTo>
                <a:lnTo>
                  <a:pt x="2420916" y="1855520"/>
                </a:lnTo>
                <a:lnTo>
                  <a:pt x="2424484" y="1855520"/>
                </a:lnTo>
                <a:lnTo>
                  <a:pt x="2428099" y="1855520"/>
                </a:lnTo>
                <a:lnTo>
                  <a:pt x="2431667" y="1855520"/>
                </a:lnTo>
                <a:lnTo>
                  <a:pt x="2435329" y="1855520"/>
                </a:lnTo>
                <a:lnTo>
                  <a:pt x="2438897" y="1855520"/>
                </a:lnTo>
                <a:lnTo>
                  <a:pt x="2442465" y="1855520"/>
                </a:lnTo>
                <a:lnTo>
                  <a:pt x="2446127" y="1855520"/>
                </a:lnTo>
                <a:lnTo>
                  <a:pt x="2446127" y="1852713"/>
                </a:lnTo>
                <a:lnTo>
                  <a:pt x="2449695" y="1852713"/>
                </a:lnTo>
                <a:lnTo>
                  <a:pt x="2449695" y="1849838"/>
                </a:lnTo>
                <a:lnTo>
                  <a:pt x="2453264" y="1849838"/>
                </a:lnTo>
                <a:lnTo>
                  <a:pt x="2456831" y="1849838"/>
                </a:lnTo>
                <a:lnTo>
                  <a:pt x="2460493" y="1849838"/>
                </a:lnTo>
                <a:lnTo>
                  <a:pt x="2464109" y="1849838"/>
                </a:lnTo>
                <a:lnTo>
                  <a:pt x="2467677" y="1849838"/>
                </a:lnTo>
                <a:lnTo>
                  <a:pt x="2471339" y="1849838"/>
                </a:lnTo>
                <a:lnTo>
                  <a:pt x="2471339" y="1846930"/>
                </a:lnTo>
                <a:lnTo>
                  <a:pt x="2474907" y="1846930"/>
                </a:lnTo>
                <a:lnTo>
                  <a:pt x="2478475" y="1846930"/>
                </a:lnTo>
                <a:lnTo>
                  <a:pt x="2482090" y="1846930"/>
                </a:lnTo>
                <a:lnTo>
                  <a:pt x="2485705" y="1846930"/>
                </a:lnTo>
                <a:lnTo>
                  <a:pt x="2489273" y="1846930"/>
                </a:lnTo>
                <a:lnTo>
                  <a:pt x="2492842" y="1846930"/>
                </a:lnTo>
                <a:lnTo>
                  <a:pt x="2496503" y="1846930"/>
                </a:lnTo>
                <a:lnTo>
                  <a:pt x="2500119" y="1846930"/>
                </a:lnTo>
                <a:lnTo>
                  <a:pt x="2503687" y="1846930"/>
                </a:lnTo>
                <a:lnTo>
                  <a:pt x="2507254" y="1846930"/>
                </a:lnTo>
                <a:lnTo>
                  <a:pt x="2510917" y="1846930"/>
                </a:lnTo>
                <a:lnTo>
                  <a:pt x="2514485" y="1846930"/>
                </a:lnTo>
                <a:lnTo>
                  <a:pt x="2518053" y="1846930"/>
                </a:lnTo>
                <a:lnTo>
                  <a:pt x="2521715" y="1846930"/>
                </a:lnTo>
                <a:lnTo>
                  <a:pt x="2525283" y="1846930"/>
                </a:lnTo>
                <a:lnTo>
                  <a:pt x="2528851" y="1846930"/>
                </a:lnTo>
                <a:lnTo>
                  <a:pt x="2532466" y="1846930"/>
                </a:lnTo>
                <a:lnTo>
                  <a:pt x="2536081" y="1846930"/>
                </a:lnTo>
                <a:lnTo>
                  <a:pt x="2539696" y="1846930"/>
                </a:lnTo>
                <a:lnTo>
                  <a:pt x="2543264" y="1846930"/>
                </a:lnTo>
                <a:lnTo>
                  <a:pt x="2546926" y="1846930"/>
                </a:lnTo>
                <a:lnTo>
                  <a:pt x="2546926" y="1844021"/>
                </a:lnTo>
                <a:lnTo>
                  <a:pt x="2550494" y="1844021"/>
                </a:lnTo>
                <a:lnTo>
                  <a:pt x="2554063" y="1844021"/>
                </a:lnTo>
                <a:lnTo>
                  <a:pt x="2557630" y="1844021"/>
                </a:lnTo>
                <a:lnTo>
                  <a:pt x="2561340" y="1844021"/>
                </a:lnTo>
                <a:lnTo>
                  <a:pt x="2564861" y="1844021"/>
                </a:lnTo>
                <a:lnTo>
                  <a:pt x="2564861" y="1841045"/>
                </a:lnTo>
                <a:lnTo>
                  <a:pt x="2568476" y="1841045"/>
                </a:lnTo>
                <a:lnTo>
                  <a:pt x="2568476" y="1829040"/>
                </a:lnTo>
                <a:lnTo>
                  <a:pt x="2572138" y="1829040"/>
                </a:lnTo>
                <a:lnTo>
                  <a:pt x="2572138" y="1820078"/>
                </a:lnTo>
                <a:lnTo>
                  <a:pt x="2575706" y="1820078"/>
                </a:lnTo>
                <a:lnTo>
                  <a:pt x="2575706" y="1814058"/>
                </a:lnTo>
                <a:lnTo>
                  <a:pt x="2579274" y="1814058"/>
                </a:lnTo>
                <a:lnTo>
                  <a:pt x="2582889" y="1814058"/>
                </a:lnTo>
                <a:lnTo>
                  <a:pt x="2582889" y="1811048"/>
                </a:lnTo>
                <a:lnTo>
                  <a:pt x="2586504" y="1811048"/>
                </a:lnTo>
                <a:lnTo>
                  <a:pt x="2586504" y="1808005"/>
                </a:lnTo>
                <a:lnTo>
                  <a:pt x="2590072" y="1808005"/>
                </a:lnTo>
                <a:lnTo>
                  <a:pt x="2590072" y="1795830"/>
                </a:lnTo>
                <a:lnTo>
                  <a:pt x="2593640" y="1795830"/>
                </a:lnTo>
                <a:lnTo>
                  <a:pt x="2593640" y="1786665"/>
                </a:lnTo>
                <a:lnTo>
                  <a:pt x="2597349" y="1786665"/>
                </a:lnTo>
                <a:lnTo>
                  <a:pt x="2597349" y="1768301"/>
                </a:lnTo>
                <a:lnTo>
                  <a:pt x="2600870" y="1768301"/>
                </a:lnTo>
                <a:lnTo>
                  <a:pt x="2600870" y="1765224"/>
                </a:lnTo>
                <a:lnTo>
                  <a:pt x="2604439" y="1765224"/>
                </a:lnTo>
                <a:lnTo>
                  <a:pt x="2604439" y="1762112"/>
                </a:lnTo>
                <a:lnTo>
                  <a:pt x="2608053" y="1762112"/>
                </a:lnTo>
                <a:lnTo>
                  <a:pt x="2608053" y="1752880"/>
                </a:lnTo>
                <a:lnTo>
                  <a:pt x="2611716" y="1752880"/>
                </a:lnTo>
                <a:lnTo>
                  <a:pt x="2611716" y="1749768"/>
                </a:lnTo>
                <a:lnTo>
                  <a:pt x="2615283" y="1749768"/>
                </a:lnTo>
                <a:lnTo>
                  <a:pt x="2615283" y="1743546"/>
                </a:lnTo>
                <a:lnTo>
                  <a:pt x="2618899" y="1743546"/>
                </a:lnTo>
                <a:lnTo>
                  <a:pt x="2618899" y="1737289"/>
                </a:lnTo>
                <a:lnTo>
                  <a:pt x="2622514" y="1737289"/>
                </a:lnTo>
                <a:lnTo>
                  <a:pt x="2622514" y="1727921"/>
                </a:lnTo>
                <a:lnTo>
                  <a:pt x="2626082" y="1727921"/>
                </a:lnTo>
                <a:lnTo>
                  <a:pt x="2626082" y="1724844"/>
                </a:lnTo>
                <a:lnTo>
                  <a:pt x="2629697" y="1724844"/>
                </a:lnTo>
                <a:lnTo>
                  <a:pt x="2633218" y="1724844"/>
                </a:lnTo>
                <a:lnTo>
                  <a:pt x="2633218" y="1721665"/>
                </a:lnTo>
                <a:lnTo>
                  <a:pt x="2636880" y="1721665"/>
                </a:lnTo>
                <a:lnTo>
                  <a:pt x="2636880" y="1718520"/>
                </a:lnTo>
                <a:lnTo>
                  <a:pt x="2640496" y="1718520"/>
                </a:lnTo>
                <a:lnTo>
                  <a:pt x="2640496" y="1709118"/>
                </a:lnTo>
                <a:lnTo>
                  <a:pt x="2644063" y="1709118"/>
                </a:lnTo>
                <a:lnTo>
                  <a:pt x="2647725" y="1709118"/>
                </a:lnTo>
                <a:lnTo>
                  <a:pt x="2647725" y="1702828"/>
                </a:lnTo>
                <a:lnTo>
                  <a:pt x="2651294" y="1702828"/>
                </a:lnTo>
                <a:lnTo>
                  <a:pt x="2651294" y="1699648"/>
                </a:lnTo>
                <a:lnTo>
                  <a:pt x="2654908" y="1699648"/>
                </a:lnTo>
                <a:lnTo>
                  <a:pt x="2654908" y="1696470"/>
                </a:lnTo>
                <a:lnTo>
                  <a:pt x="2658429" y="1696470"/>
                </a:lnTo>
                <a:lnTo>
                  <a:pt x="2662092" y="1696470"/>
                </a:lnTo>
                <a:lnTo>
                  <a:pt x="2665706" y="1696470"/>
                </a:lnTo>
                <a:lnTo>
                  <a:pt x="2669228" y="1696470"/>
                </a:lnTo>
                <a:lnTo>
                  <a:pt x="2672890" y="1696470"/>
                </a:lnTo>
                <a:lnTo>
                  <a:pt x="2676505" y="1696470"/>
                </a:lnTo>
                <a:lnTo>
                  <a:pt x="2680073" y="1696470"/>
                </a:lnTo>
                <a:lnTo>
                  <a:pt x="2683641" y="1696470"/>
                </a:lnTo>
                <a:lnTo>
                  <a:pt x="2687303" y="1696470"/>
                </a:lnTo>
                <a:lnTo>
                  <a:pt x="2690871" y="1696470"/>
                </a:lnTo>
                <a:lnTo>
                  <a:pt x="2694439" y="1696470"/>
                </a:lnTo>
                <a:lnTo>
                  <a:pt x="2698101" y="1696470"/>
                </a:lnTo>
                <a:lnTo>
                  <a:pt x="2701716" y="1696470"/>
                </a:lnTo>
                <a:lnTo>
                  <a:pt x="2705238" y="1696470"/>
                </a:lnTo>
                <a:lnTo>
                  <a:pt x="2708853" y="1696470"/>
                </a:lnTo>
                <a:lnTo>
                  <a:pt x="2712515" y="1696470"/>
                </a:lnTo>
                <a:lnTo>
                  <a:pt x="2716082" y="1696470"/>
                </a:lnTo>
                <a:lnTo>
                  <a:pt x="2719651" y="1696470"/>
                </a:lnTo>
                <a:lnTo>
                  <a:pt x="2723313" y="1696470"/>
                </a:lnTo>
                <a:lnTo>
                  <a:pt x="2726881" y="1696470"/>
                </a:lnTo>
                <a:lnTo>
                  <a:pt x="2730496" y="1696470"/>
                </a:lnTo>
                <a:lnTo>
                  <a:pt x="2734064" y="1696470"/>
                </a:lnTo>
                <a:lnTo>
                  <a:pt x="2737726" y="1696470"/>
                </a:lnTo>
                <a:lnTo>
                  <a:pt x="2741294" y="1696470"/>
                </a:lnTo>
                <a:lnTo>
                  <a:pt x="2744862" y="1696470"/>
                </a:lnTo>
                <a:lnTo>
                  <a:pt x="2748524" y="1696470"/>
                </a:lnTo>
                <a:lnTo>
                  <a:pt x="2752092" y="1696470"/>
                </a:lnTo>
                <a:lnTo>
                  <a:pt x="2755660" y="1696470"/>
                </a:lnTo>
                <a:lnTo>
                  <a:pt x="2755660" y="1693189"/>
                </a:lnTo>
                <a:lnTo>
                  <a:pt x="2759228" y="1693189"/>
                </a:lnTo>
                <a:lnTo>
                  <a:pt x="2762891" y="1693189"/>
                </a:lnTo>
                <a:lnTo>
                  <a:pt x="2766505" y="1693189"/>
                </a:lnTo>
                <a:lnTo>
                  <a:pt x="2770074" y="1693189"/>
                </a:lnTo>
                <a:lnTo>
                  <a:pt x="2773735" y="1693189"/>
                </a:lnTo>
                <a:lnTo>
                  <a:pt x="2777303" y="1693189"/>
                </a:lnTo>
                <a:lnTo>
                  <a:pt x="2780872" y="1693189"/>
                </a:lnTo>
                <a:lnTo>
                  <a:pt x="2784487" y="1693189"/>
                </a:lnTo>
                <a:lnTo>
                  <a:pt x="2788101" y="1693189"/>
                </a:lnTo>
                <a:lnTo>
                  <a:pt x="2791670" y="1693189"/>
                </a:lnTo>
                <a:lnTo>
                  <a:pt x="2795238" y="1693189"/>
                </a:lnTo>
                <a:lnTo>
                  <a:pt x="2798900" y="1693189"/>
                </a:lnTo>
                <a:lnTo>
                  <a:pt x="2802468" y="1693189"/>
                </a:lnTo>
                <a:lnTo>
                  <a:pt x="2806083" y="1693189"/>
                </a:lnTo>
                <a:lnTo>
                  <a:pt x="2809745" y="1693189"/>
                </a:lnTo>
                <a:lnTo>
                  <a:pt x="2813314" y="1693189"/>
                </a:lnTo>
                <a:lnTo>
                  <a:pt x="2816881" y="1693189"/>
                </a:lnTo>
                <a:lnTo>
                  <a:pt x="2820496" y="1693189"/>
                </a:lnTo>
                <a:lnTo>
                  <a:pt x="2824112" y="1693189"/>
                </a:lnTo>
                <a:lnTo>
                  <a:pt x="2827680" y="1693189"/>
                </a:lnTo>
                <a:lnTo>
                  <a:pt x="2831295" y="1693189"/>
                </a:lnTo>
                <a:lnTo>
                  <a:pt x="2831295" y="1689807"/>
                </a:lnTo>
                <a:lnTo>
                  <a:pt x="2834910" y="1689807"/>
                </a:lnTo>
                <a:lnTo>
                  <a:pt x="2838478" y="1689807"/>
                </a:lnTo>
                <a:lnTo>
                  <a:pt x="2842093" y="1689807"/>
                </a:lnTo>
                <a:lnTo>
                  <a:pt x="2845661" y="1689807"/>
                </a:lnTo>
                <a:lnTo>
                  <a:pt x="2849323" y="1689807"/>
                </a:lnTo>
                <a:lnTo>
                  <a:pt x="2849323" y="1686493"/>
                </a:lnTo>
                <a:lnTo>
                  <a:pt x="2852891" y="1686493"/>
                </a:lnTo>
                <a:lnTo>
                  <a:pt x="2856459" y="1686493"/>
                </a:lnTo>
                <a:lnTo>
                  <a:pt x="2860121" y="1686493"/>
                </a:lnTo>
                <a:lnTo>
                  <a:pt x="2863690" y="1686493"/>
                </a:lnTo>
                <a:lnTo>
                  <a:pt x="2867257" y="1686493"/>
                </a:lnTo>
                <a:lnTo>
                  <a:pt x="2870872" y="1686493"/>
                </a:lnTo>
                <a:lnTo>
                  <a:pt x="2874488" y="1686493"/>
                </a:lnTo>
                <a:lnTo>
                  <a:pt x="2878103" y="1686493"/>
                </a:lnTo>
                <a:lnTo>
                  <a:pt x="2881671" y="1686493"/>
                </a:lnTo>
                <a:lnTo>
                  <a:pt x="2885333" y="1686493"/>
                </a:lnTo>
                <a:lnTo>
                  <a:pt x="2888901" y="1686493"/>
                </a:lnTo>
                <a:lnTo>
                  <a:pt x="2888901" y="1683043"/>
                </a:lnTo>
                <a:lnTo>
                  <a:pt x="2892469" y="1683043"/>
                </a:lnTo>
                <a:lnTo>
                  <a:pt x="2896037" y="1683043"/>
                </a:lnTo>
                <a:lnTo>
                  <a:pt x="2899746" y="1683043"/>
                </a:lnTo>
                <a:lnTo>
                  <a:pt x="2899746" y="1679628"/>
                </a:lnTo>
                <a:lnTo>
                  <a:pt x="2903267" y="1679628"/>
                </a:lnTo>
                <a:lnTo>
                  <a:pt x="2903267" y="1676178"/>
                </a:lnTo>
                <a:lnTo>
                  <a:pt x="2906882" y="1676178"/>
                </a:lnTo>
                <a:lnTo>
                  <a:pt x="2910544" y="1676178"/>
                </a:lnTo>
                <a:lnTo>
                  <a:pt x="2914112" y="1676178"/>
                </a:lnTo>
                <a:lnTo>
                  <a:pt x="2917680" y="1676178"/>
                </a:lnTo>
                <a:lnTo>
                  <a:pt x="2917680" y="1672661"/>
                </a:lnTo>
                <a:lnTo>
                  <a:pt x="2921295" y="1672661"/>
                </a:lnTo>
                <a:lnTo>
                  <a:pt x="2924910" y="1672661"/>
                </a:lnTo>
                <a:lnTo>
                  <a:pt x="2928478" y="1672661"/>
                </a:lnTo>
                <a:lnTo>
                  <a:pt x="2932094" y="1672661"/>
                </a:lnTo>
                <a:lnTo>
                  <a:pt x="2935755" y="1672661"/>
                </a:lnTo>
                <a:lnTo>
                  <a:pt x="2939276" y="1672661"/>
                </a:lnTo>
                <a:lnTo>
                  <a:pt x="2942892" y="1672661"/>
                </a:lnTo>
                <a:lnTo>
                  <a:pt x="2942892" y="1669245"/>
                </a:lnTo>
                <a:lnTo>
                  <a:pt x="2946460" y="1669245"/>
                </a:lnTo>
                <a:lnTo>
                  <a:pt x="2950075" y="1669245"/>
                </a:lnTo>
                <a:lnTo>
                  <a:pt x="2953690" y="1669245"/>
                </a:lnTo>
                <a:lnTo>
                  <a:pt x="2957258" y="1669245"/>
                </a:lnTo>
                <a:lnTo>
                  <a:pt x="2960920" y="1669245"/>
                </a:lnTo>
                <a:lnTo>
                  <a:pt x="2964488" y="1669245"/>
                </a:lnTo>
                <a:lnTo>
                  <a:pt x="2968104" y="1669245"/>
                </a:lnTo>
                <a:lnTo>
                  <a:pt x="2971625" y="1669245"/>
                </a:lnTo>
                <a:lnTo>
                  <a:pt x="2971625" y="1665694"/>
                </a:lnTo>
                <a:lnTo>
                  <a:pt x="2975287" y="1665694"/>
                </a:lnTo>
                <a:lnTo>
                  <a:pt x="2975287" y="1662177"/>
                </a:lnTo>
                <a:lnTo>
                  <a:pt x="2978902" y="1662177"/>
                </a:lnTo>
                <a:lnTo>
                  <a:pt x="2978902" y="1658626"/>
                </a:lnTo>
                <a:lnTo>
                  <a:pt x="2982470" y="1658626"/>
                </a:lnTo>
                <a:lnTo>
                  <a:pt x="2986085" y="1658626"/>
                </a:lnTo>
                <a:lnTo>
                  <a:pt x="2986085" y="1655075"/>
                </a:lnTo>
                <a:lnTo>
                  <a:pt x="2989700" y="1655075"/>
                </a:lnTo>
                <a:lnTo>
                  <a:pt x="2993268" y="1655075"/>
                </a:lnTo>
                <a:lnTo>
                  <a:pt x="2993268" y="1647973"/>
                </a:lnTo>
                <a:lnTo>
                  <a:pt x="2996836" y="1647973"/>
                </a:lnTo>
                <a:lnTo>
                  <a:pt x="2996836" y="1640871"/>
                </a:lnTo>
                <a:lnTo>
                  <a:pt x="3000498" y="1640871"/>
                </a:lnTo>
                <a:lnTo>
                  <a:pt x="3000498" y="1626566"/>
                </a:lnTo>
                <a:lnTo>
                  <a:pt x="3004113" y="1626566"/>
                </a:lnTo>
                <a:lnTo>
                  <a:pt x="3004113" y="1615778"/>
                </a:lnTo>
                <a:lnTo>
                  <a:pt x="3007634" y="1615778"/>
                </a:lnTo>
                <a:lnTo>
                  <a:pt x="3007634" y="1608608"/>
                </a:lnTo>
                <a:lnTo>
                  <a:pt x="3011296" y="1608608"/>
                </a:lnTo>
                <a:lnTo>
                  <a:pt x="3011296" y="1605057"/>
                </a:lnTo>
                <a:lnTo>
                  <a:pt x="3014911" y="1605057"/>
                </a:lnTo>
                <a:lnTo>
                  <a:pt x="3018480" y="1605057"/>
                </a:lnTo>
                <a:lnTo>
                  <a:pt x="3018480" y="1594235"/>
                </a:lnTo>
                <a:lnTo>
                  <a:pt x="3022047" y="1594235"/>
                </a:lnTo>
                <a:lnTo>
                  <a:pt x="3022047" y="1572557"/>
                </a:lnTo>
                <a:lnTo>
                  <a:pt x="3025709" y="1572557"/>
                </a:lnTo>
                <a:lnTo>
                  <a:pt x="3025709" y="1539922"/>
                </a:lnTo>
                <a:lnTo>
                  <a:pt x="3029278" y="1539922"/>
                </a:lnTo>
                <a:lnTo>
                  <a:pt x="3029278" y="1514321"/>
                </a:lnTo>
                <a:lnTo>
                  <a:pt x="3032846" y="1514321"/>
                </a:lnTo>
                <a:lnTo>
                  <a:pt x="3036508" y="1514321"/>
                </a:lnTo>
                <a:lnTo>
                  <a:pt x="3036508" y="1510669"/>
                </a:lnTo>
                <a:lnTo>
                  <a:pt x="3040123" y="1510669"/>
                </a:lnTo>
                <a:lnTo>
                  <a:pt x="3040123" y="1506982"/>
                </a:lnTo>
                <a:lnTo>
                  <a:pt x="3043644" y="1506982"/>
                </a:lnTo>
                <a:lnTo>
                  <a:pt x="3047259" y="1506982"/>
                </a:lnTo>
                <a:lnTo>
                  <a:pt x="3047259" y="1492237"/>
                </a:lnTo>
                <a:lnTo>
                  <a:pt x="3050921" y="1492237"/>
                </a:lnTo>
                <a:lnTo>
                  <a:pt x="3050921" y="1488517"/>
                </a:lnTo>
                <a:lnTo>
                  <a:pt x="3054489" y="1488517"/>
                </a:lnTo>
                <a:lnTo>
                  <a:pt x="3054489" y="1484831"/>
                </a:lnTo>
                <a:lnTo>
                  <a:pt x="3058057" y="1484831"/>
                </a:lnTo>
                <a:lnTo>
                  <a:pt x="3058057" y="1481077"/>
                </a:lnTo>
                <a:lnTo>
                  <a:pt x="3061719" y="1481077"/>
                </a:lnTo>
                <a:lnTo>
                  <a:pt x="3061719" y="1477391"/>
                </a:lnTo>
                <a:lnTo>
                  <a:pt x="3065287" y="1477391"/>
                </a:lnTo>
                <a:lnTo>
                  <a:pt x="3068855" y="1477391"/>
                </a:lnTo>
                <a:lnTo>
                  <a:pt x="3072470" y="1477391"/>
                </a:lnTo>
                <a:lnTo>
                  <a:pt x="3072470" y="1473603"/>
                </a:lnTo>
                <a:lnTo>
                  <a:pt x="3076132" y="1473603"/>
                </a:lnTo>
                <a:lnTo>
                  <a:pt x="3079700" y="1473603"/>
                </a:lnTo>
                <a:lnTo>
                  <a:pt x="3083269" y="1473603"/>
                </a:lnTo>
                <a:lnTo>
                  <a:pt x="3086930" y="1473603"/>
                </a:lnTo>
                <a:lnTo>
                  <a:pt x="3090499" y="1473603"/>
                </a:lnTo>
                <a:lnTo>
                  <a:pt x="3090499" y="1469849"/>
                </a:lnTo>
                <a:lnTo>
                  <a:pt x="3094066" y="1469849"/>
                </a:lnTo>
                <a:lnTo>
                  <a:pt x="3094066" y="1466095"/>
                </a:lnTo>
                <a:lnTo>
                  <a:pt x="3097635" y="1466095"/>
                </a:lnTo>
                <a:lnTo>
                  <a:pt x="3097635" y="1462274"/>
                </a:lnTo>
                <a:lnTo>
                  <a:pt x="3101297" y="1462274"/>
                </a:lnTo>
                <a:lnTo>
                  <a:pt x="3101297" y="1458554"/>
                </a:lnTo>
                <a:lnTo>
                  <a:pt x="3104865" y="1458554"/>
                </a:lnTo>
                <a:lnTo>
                  <a:pt x="3104865" y="1454766"/>
                </a:lnTo>
                <a:lnTo>
                  <a:pt x="3108480" y="1454766"/>
                </a:lnTo>
                <a:lnTo>
                  <a:pt x="3108480" y="1447191"/>
                </a:lnTo>
                <a:lnTo>
                  <a:pt x="3112142" y="1447191"/>
                </a:lnTo>
                <a:lnTo>
                  <a:pt x="3115710" y="1447191"/>
                </a:lnTo>
                <a:lnTo>
                  <a:pt x="3119279" y="1447191"/>
                </a:lnTo>
                <a:lnTo>
                  <a:pt x="3119279" y="1443403"/>
                </a:lnTo>
                <a:lnTo>
                  <a:pt x="3122846" y="1443403"/>
                </a:lnTo>
                <a:lnTo>
                  <a:pt x="3126508" y="1443403"/>
                </a:lnTo>
                <a:lnTo>
                  <a:pt x="3130077" y="1443403"/>
                </a:lnTo>
                <a:lnTo>
                  <a:pt x="3133645" y="1443403"/>
                </a:lnTo>
                <a:lnTo>
                  <a:pt x="3137307" y="1443403"/>
                </a:lnTo>
                <a:lnTo>
                  <a:pt x="3140875" y="1443403"/>
                </a:lnTo>
                <a:lnTo>
                  <a:pt x="3144489" y="1443403"/>
                </a:lnTo>
                <a:lnTo>
                  <a:pt x="3148058" y="1443403"/>
                </a:lnTo>
                <a:lnTo>
                  <a:pt x="3151720" y="1443403"/>
                </a:lnTo>
                <a:lnTo>
                  <a:pt x="3155288" y="1443403"/>
                </a:lnTo>
                <a:lnTo>
                  <a:pt x="3158903" y="1443403"/>
                </a:lnTo>
                <a:lnTo>
                  <a:pt x="3162518" y="1443403"/>
                </a:lnTo>
                <a:lnTo>
                  <a:pt x="3166086" y="1443403"/>
                </a:lnTo>
                <a:lnTo>
                  <a:pt x="3169655" y="1443403"/>
                </a:lnTo>
                <a:lnTo>
                  <a:pt x="3173317" y="1443403"/>
                </a:lnTo>
                <a:lnTo>
                  <a:pt x="3176884" y="1443403"/>
                </a:lnTo>
                <a:lnTo>
                  <a:pt x="3180453" y="1443403"/>
                </a:lnTo>
                <a:lnTo>
                  <a:pt x="3184067" y="1443403"/>
                </a:lnTo>
                <a:lnTo>
                  <a:pt x="3187730" y="1443403"/>
                </a:lnTo>
                <a:lnTo>
                  <a:pt x="3191298" y="1443403"/>
                </a:lnTo>
                <a:lnTo>
                  <a:pt x="3194913" y="1443403"/>
                </a:lnTo>
                <a:lnTo>
                  <a:pt x="3198528" y="1443403"/>
                </a:lnTo>
                <a:lnTo>
                  <a:pt x="3202096" y="1443403"/>
                </a:lnTo>
                <a:lnTo>
                  <a:pt x="3205664" y="1443403"/>
                </a:lnTo>
                <a:lnTo>
                  <a:pt x="3209279" y="1443403"/>
                </a:lnTo>
                <a:lnTo>
                  <a:pt x="3212894" y="1443403"/>
                </a:lnTo>
                <a:lnTo>
                  <a:pt x="3216509" y="1443403"/>
                </a:lnTo>
                <a:lnTo>
                  <a:pt x="3220078" y="1443403"/>
                </a:lnTo>
                <a:lnTo>
                  <a:pt x="3223739" y="1443403"/>
                </a:lnTo>
                <a:lnTo>
                  <a:pt x="3227307" y="1443403"/>
                </a:lnTo>
                <a:lnTo>
                  <a:pt x="3230875" y="1443403"/>
                </a:lnTo>
                <a:lnTo>
                  <a:pt x="3234444" y="1443403"/>
                </a:lnTo>
                <a:lnTo>
                  <a:pt x="3238105" y="1443403"/>
                </a:lnTo>
                <a:lnTo>
                  <a:pt x="3241674" y="1443403"/>
                </a:lnTo>
                <a:lnTo>
                  <a:pt x="3245241" y="1443403"/>
                </a:lnTo>
                <a:lnTo>
                  <a:pt x="3248951" y="1443403"/>
                </a:lnTo>
                <a:lnTo>
                  <a:pt x="3252518" y="1443403"/>
                </a:lnTo>
                <a:lnTo>
                  <a:pt x="3252518" y="1439378"/>
                </a:lnTo>
                <a:lnTo>
                  <a:pt x="3256087" y="1439378"/>
                </a:lnTo>
                <a:lnTo>
                  <a:pt x="3259655" y="1439378"/>
                </a:lnTo>
                <a:lnTo>
                  <a:pt x="3263317" y="1439378"/>
                </a:lnTo>
                <a:lnTo>
                  <a:pt x="3266885" y="1439378"/>
                </a:lnTo>
                <a:lnTo>
                  <a:pt x="3270500" y="1439378"/>
                </a:lnTo>
                <a:lnTo>
                  <a:pt x="3274162" y="1439378"/>
                </a:lnTo>
                <a:lnTo>
                  <a:pt x="3277683" y="1439378"/>
                </a:lnTo>
                <a:lnTo>
                  <a:pt x="3281251" y="1439378"/>
                </a:lnTo>
                <a:lnTo>
                  <a:pt x="3284866" y="1439378"/>
                </a:lnTo>
                <a:lnTo>
                  <a:pt x="3288529" y="1439378"/>
                </a:lnTo>
                <a:lnTo>
                  <a:pt x="3292097" y="1439378"/>
                </a:lnTo>
                <a:lnTo>
                  <a:pt x="3295664" y="1439378"/>
                </a:lnTo>
                <a:lnTo>
                  <a:pt x="3299327" y="1439378"/>
                </a:lnTo>
                <a:lnTo>
                  <a:pt x="3302895" y="1439378"/>
                </a:lnTo>
                <a:lnTo>
                  <a:pt x="3306510" y="1439378"/>
                </a:lnTo>
                <a:lnTo>
                  <a:pt x="3310031" y="1439378"/>
                </a:lnTo>
                <a:lnTo>
                  <a:pt x="3313693" y="1439378"/>
                </a:lnTo>
                <a:lnTo>
                  <a:pt x="3317308" y="1439378"/>
                </a:lnTo>
                <a:lnTo>
                  <a:pt x="3320876" y="1439378"/>
                </a:lnTo>
                <a:lnTo>
                  <a:pt x="3324492" y="1439378"/>
                </a:lnTo>
                <a:lnTo>
                  <a:pt x="3328106" y="1439378"/>
                </a:lnTo>
                <a:lnTo>
                  <a:pt x="3331674" y="1439378"/>
                </a:lnTo>
                <a:lnTo>
                  <a:pt x="3335242" y="1439378"/>
                </a:lnTo>
                <a:lnTo>
                  <a:pt x="3338904" y="1439378"/>
                </a:lnTo>
                <a:lnTo>
                  <a:pt x="3342519" y="1439378"/>
                </a:lnTo>
                <a:lnTo>
                  <a:pt x="3346040" y="1439378"/>
                </a:lnTo>
                <a:lnTo>
                  <a:pt x="3349750" y="1439378"/>
                </a:lnTo>
                <a:lnTo>
                  <a:pt x="3353317" y="1439378"/>
                </a:lnTo>
                <a:lnTo>
                  <a:pt x="3353317" y="1435117"/>
                </a:lnTo>
                <a:lnTo>
                  <a:pt x="3356839" y="1435117"/>
                </a:lnTo>
                <a:lnTo>
                  <a:pt x="3360454" y="1435117"/>
                </a:lnTo>
                <a:lnTo>
                  <a:pt x="3364116" y="1435117"/>
                </a:lnTo>
                <a:lnTo>
                  <a:pt x="3367684" y="1435117"/>
                </a:lnTo>
                <a:lnTo>
                  <a:pt x="3371253" y="1435117"/>
                </a:lnTo>
                <a:lnTo>
                  <a:pt x="3374914" y="1435117"/>
                </a:lnTo>
                <a:lnTo>
                  <a:pt x="3378530" y="1435117"/>
                </a:lnTo>
                <a:lnTo>
                  <a:pt x="3382050" y="1435117"/>
                </a:lnTo>
                <a:lnTo>
                  <a:pt x="3385666" y="1435117"/>
                </a:lnTo>
                <a:lnTo>
                  <a:pt x="3389327" y="1435117"/>
                </a:lnTo>
                <a:lnTo>
                  <a:pt x="3392849" y="1435117"/>
                </a:lnTo>
                <a:lnTo>
                  <a:pt x="3396464" y="1435117"/>
                </a:lnTo>
                <a:lnTo>
                  <a:pt x="3400126" y="1435117"/>
                </a:lnTo>
                <a:lnTo>
                  <a:pt x="3400126" y="1426460"/>
                </a:lnTo>
                <a:lnTo>
                  <a:pt x="3403693" y="1426460"/>
                </a:lnTo>
                <a:lnTo>
                  <a:pt x="3407309" y="1426460"/>
                </a:lnTo>
                <a:lnTo>
                  <a:pt x="3410877" y="1426460"/>
                </a:lnTo>
                <a:lnTo>
                  <a:pt x="3410877" y="1422063"/>
                </a:lnTo>
                <a:lnTo>
                  <a:pt x="3414492" y="1422063"/>
                </a:lnTo>
                <a:lnTo>
                  <a:pt x="3418107" y="1422063"/>
                </a:lnTo>
                <a:lnTo>
                  <a:pt x="3418107" y="1417700"/>
                </a:lnTo>
                <a:lnTo>
                  <a:pt x="3421675" y="1417700"/>
                </a:lnTo>
                <a:lnTo>
                  <a:pt x="3421675" y="1404477"/>
                </a:lnTo>
                <a:lnTo>
                  <a:pt x="3425337" y="1404477"/>
                </a:lnTo>
                <a:lnTo>
                  <a:pt x="3425337" y="1391186"/>
                </a:lnTo>
                <a:lnTo>
                  <a:pt x="3428952" y="1391186"/>
                </a:lnTo>
                <a:lnTo>
                  <a:pt x="3428952" y="1382326"/>
                </a:lnTo>
                <a:lnTo>
                  <a:pt x="3432473" y="1382326"/>
                </a:lnTo>
                <a:lnTo>
                  <a:pt x="3432473" y="1377828"/>
                </a:lnTo>
                <a:lnTo>
                  <a:pt x="3436041" y="1377828"/>
                </a:lnTo>
                <a:lnTo>
                  <a:pt x="3439703" y="1377828"/>
                </a:lnTo>
                <a:lnTo>
                  <a:pt x="3439703" y="1368934"/>
                </a:lnTo>
                <a:lnTo>
                  <a:pt x="3443272" y="1368934"/>
                </a:lnTo>
                <a:lnTo>
                  <a:pt x="3446887" y="1368934"/>
                </a:lnTo>
                <a:lnTo>
                  <a:pt x="3446887" y="1350874"/>
                </a:lnTo>
                <a:lnTo>
                  <a:pt x="3450502" y="1350874"/>
                </a:lnTo>
                <a:lnTo>
                  <a:pt x="3450502" y="1337279"/>
                </a:lnTo>
                <a:lnTo>
                  <a:pt x="3454116" y="1337279"/>
                </a:lnTo>
                <a:lnTo>
                  <a:pt x="3454116" y="1300789"/>
                </a:lnTo>
                <a:lnTo>
                  <a:pt x="3457685" y="1300789"/>
                </a:lnTo>
                <a:lnTo>
                  <a:pt x="3457685" y="1296189"/>
                </a:lnTo>
                <a:lnTo>
                  <a:pt x="3461253" y="1296189"/>
                </a:lnTo>
                <a:lnTo>
                  <a:pt x="3461253" y="1268593"/>
                </a:lnTo>
                <a:lnTo>
                  <a:pt x="3464915" y="1268593"/>
                </a:lnTo>
                <a:lnTo>
                  <a:pt x="3464915" y="1263960"/>
                </a:lnTo>
                <a:lnTo>
                  <a:pt x="3468483" y="1263960"/>
                </a:lnTo>
                <a:lnTo>
                  <a:pt x="3472051" y="1263960"/>
                </a:lnTo>
                <a:lnTo>
                  <a:pt x="3475713" y="1263960"/>
                </a:lnTo>
                <a:lnTo>
                  <a:pt x="3475713" y="1259293"/>
                </a:lnTo>
                <a:lnTo>
                  <a:pt x="3479281" y="1259293"/>
                </a:lnTo>
                <a:lnTo>
                  <a:pt x="3479281" y="1254592"/>
                </a:lnTo>
                <a:lnTo>
                  <a:pt x="3482896" y="1254592"/>
                </a:lnTo>
                <a:lnTo>
                  <a:pt x="3482896" y="1245123"/>
                </a:lnTo>
                <a:lnTo>
                  <a:pt x="3486464" y="1245123"/>
                </a:lnTo>
                <a:lnTo>
                  <a:pt x="3486464" y="1240422"/>
                </a:lnTo>
                <a:lnTo>
                  <a:pt x="3490126" y="1240422"/>
                </a:lnTo>
                <a:lnTo>
                  <a:pt x="3490126" y="1235721"/>
                </a:lnTo>
                <a:lnTo>
                  <a:pt x="3493694" y="1235721"/>
                </a:lnTo>
                <a:lnTo>
                  <a:pt x="3497310" y="1235721"/>
                </a:lnTo>
                <a:lnTo>
                  <a:pt x="3497310" y="1226116"/>
                </a:lnTo>
                <a:lnTo>
                  <a:pt x="3500925" y="1226116"/>
                </a:lnTo>
                <a:lnTo>
                  <a:pt x="3500925" y="1216613"/>
                </a:lnTo>
                <a:lnTo>
                  <a:pt x="3504492" y="1216613"/>
                </a:lnTo>
                <a:lnTo>
                  <a:pt x="3504492" y="1211811"/>
                </a:lnTo>
                <a:lnTo>
                  <a:pt x="3508061" y="1211811"/>
                </a:lnTo>
                <a:lnTo>
                  <a:pt x="3511629" y="1211811"/>
                </a:lnTo>
                <a:lnTo>
                  <a:pt x="3515291" y="1211811"/>
                </a:lnTo>
                <a:lnTo>
                  <a:pt x="3518906" y="1211811"/>
                </a:lnTo>
                <a:lnTo>
                  <a:pt x="3518906" y="1207009"/>
                </a:lnTo>
                <a:lnTo>
                  <a:pt x="3522473" y="1207009"/>
                </a:lnTo>
                <a:lnTo>
                  <a:pt x="3526089" y="1207009"/>
                </a:lnTo>
                <a:lnTo>
                  <a:pt x="3526089" y="1202173"/>
                </a:lnTo>
                <a:lnTo>
                  <a:pt x="3529705" y="1202173"/>
                </a:lnTo>
                <a:lnTo>
                  <a:pt x="3533272" y="1202173"/>
                </a:lnTo>
                <a:lnTo>
                  <a:pt x="3536840" y="1202173"/>
                </a:lnTo>
                <a:lnTo>
                  <a:pt x="3540502" y="1202173"/>
                </a:lnTo>
                <a:lnTo>
                  <a:pt x="3544071" y="1202173"/>
                </a:lnTo>
                <a:lnTo>
                  <a:pt x="3544071" y="1197337"/>
                </a:lnTo>
                <a:lnTo>
                  <a:pt x="3547639" y="1197337"/>
                </a:lnTo>
                <a:lnTo>
                  <a:pt x="3551301" y="1197337"/>
                </a:lnTo>
                <a:lnTo>
                  <a:pt x="3551301" y="1192467"/>
                </a:lnTo>
                <a:lnTo>
                  <a:pt x="3554868" y="1192467"/>
                </a:lnTo>
                <a:lnTo>
                  <a:pt x="3558484" y="1192467"/>
                </a:lnTo>
                <a:lnTo>
                  <a:pt x="3562145" y="1192467"/>
                </a:lnTo>
                <a:lnTo>
                  <a:pt x="3562145" y="1187563"/>
                </a:lnTo>
                <a:lnTo>
                  <a:pt x="3565714" y="1187563"/>
                </a:lnTo>
                <a:lnTo>
                  <a:pt x="3569282" y="1187563"/>
                </a:lnTo>
                <a:lnTo>
                  <a:pt x="3572850" y="1187563"/>
                </a:lnTo>
                <a:lnTo>
                  <a:pt x="3576559" y="1187563"/>
                </a:lnTo>
                <a:lnTo>
                  <a:pt x="3580081" y="1187563"/>
                </a:lnTo>
                <a:lnTo>
                  <a:pt x="3583695" y="1187563"/>
                </a:lnTo>
                <a:lnTo>
                  <a:pt x="3587358" y="1187563"/>
                </a:lnTo>
                <a:lnTo>
                  <a:pt x="3590878" y="1187563"/>
                </a:lnTo>
                <a:lnTo>
                  <a:pt x="3594493" y="1187563"/>
                </a:lnTo>
                <a:lnTo>
                  <a:pt x="3598062" y="1187563"/>
                </a:lnTo>
                <a:lnTo>
                  <a:pt x="3601724" y="1187563"/>
                </a:lnTo>
                <a:lnTo>
                  <a:pt x="3605291" y="1187563"/>
                </a:lnTo>
                <a:lnTo>
                  <a:pt x="3608906" y="1187563"/>
                </a:lnTo>
                <a:lnTo>
                  <a:pt x="3612522" y="1187563"/>
                </a:lnTo>
                <a:lnTo>
                  <a:pt x="3616090" y="1187563"/>
                </a:lnTo>
                <a:lnTo>
                  <a:pt x="3619705" y="1187563"/>
                </a:lnTo>
                <a:lnTo>
                  <a:pt x="3623226" y="1187563"/>
                </a:lnTo>
                <a:lnTo>
                  <a:pt x="3626888" y="1187563"/>
                </a:lnTo>
                <a:lnTo>
                  <a:pt x="3630503" y="1187563"/>
                </a:lnTo>
                <a:lnTo>
                  <a:pt x="3634071" y="1187563"/>
                </a:lnTo>
                <a:lnTo>
                  <a:pt x="3637733" y="1187563"/>
                </a:lnTo>
                <a:lnTo>
                  <a:pt x="3641301" y="1187563"/>
                </a:lnTo>
                <a:lnTo>
                  <a:pt x="3644869" y="1187563"/>
                </a:lnTo>
                <a:lnTo>
                  <a:pt x="3648438" y="1187563"/>
                </a:lnTo>
                <a:lnTo>
                  <a:pt x="3652100" y="1187563"/>
                </a:lnTo>
                <a:lnTo>
                  <a:pt x="3655715" y="1187563"/>
                </a:lnTo>
                <a:lnTo>
                  <a:pt x="3659282" y="1187563"/>
                </a:lnTo>
                <a:lnTo>
                  <a:pt x="3662898" y="1187563"/>
                </a:lnTo>
                <a:lnTo>
                  <a:pt x="3666513" y="1187563"/>
                </a:lnTo>
                <a:lnTo>
                  <a:pt x="3670081" y="1187563"/>
                </a:lnTo>
                <a:lnTo>
                  <a:pt x="3673696" y="1187563"/>
                </a:lnTo>
                <a:lnTo>
                  <a:pt x="3677311" y="1187563"/>
                </a:lnTo>
                <a:lnTo>
                  <a:pt x="3680879" y="1187563"/>
                </a:lnTo>
                <a:lnTo>
                  <a:pt x="3684447" y="1187563"/>
                </a:lnTo>
                <a:lnTo>
                  <a:pt x="3688157" y="1187563"/>
                </a:lnTo>
                <a:lnTo>
                  <a:pt x="3691724" y="1187563"/>
                </a:lnTo>
                <a:lnTo>
                  <a:pt x="3695292" y="1187563"/>
                </a:lnTo>
                <a:lnTo>
                  <a:pt x="3698861" y="1187563"/>
                </a:lnTo>
                <a:lnTo>
                  <a:pt x="3702523" y="1187563"/>
                </a:lnTo>
                <a:lnTo>
                  <a:pt x="3706090" y="1187563"/>
                </a:lnTo>
                <a:lnTo>
                  <a:pt x="3709658" y="1187563"/>
                </a:lnTo>
                <a:lnTo>
                  <a:pt x="3713320" y="1187563"/>
                </a:lnTo>
                <a:lnTo>
                  <a:pt x="3716936" y="1187563"/>
                </a:lnTo>
                <a:lnTo>
                  <a:pt x="3720457" y="1187563"/>
                </a:lnTo>
                <a:lnTo>
                  <a:pt x="3724072" y="1187563"/>
                </a:lnTo>
                <a:lnTo>
                  <a:pt x="3727734" y="1187563"/>
                </a:lnTo>
                <a:lnTo>
                  <a:pt x="3731256" y="1187563"/>
                </a:lnTo>
                <a:lnTo>
                  <a:pt x="3734870" y="1187563"/>
                </a:lnTo>
                <a:lnTo>
                  <a:pt x="3738533" y="1187563"/>
                </a:lnTo>
                <a:lnTo>
                  <a:pt x="3742100" y="1187563"/>
                </a:lnTo>
                <a:lnTo>
                  <a:pt x="3745668" y="1187563"/>
                </a:lnTo>
                <a:lnTo>
                  <a:pt x="3749283" y="1187563"/>
                </a:lnTo>
                <a:lnTo>
                  <a:pt x="3752945" y="1187563"/>
                </a:lnTo>
                <a:lnTo>
                  <a:pt x="3756514" y="1187563"/>
                </a:lnTo>
                <a:lnTo>
                  <a:pt x="3760081" y="1187563"/>
                </a:lnTo>
                <a:lnTo>
                  <a:pt x="3763743" y="1187563"/>
                </a:lnTo>
                <a:lnTo>
                  <a:pt x="3767312" y="1187563"/>
                </a:lnTo>
                <a:lnTo>
                  <a:pt x="3770880" y="1187563"/>
                </a:lnTo>
                <a:lnTo>
                  <a:pt x="3774448" y="1187563"/>
                </a:lnTo>
                <a:lnTo>
                  <a:pt x="3778110" y="1187563"/>
                </a:lnTo>
                <a:lnTo>
                  <a:pt x="3781678" y="1187563"/>
                </a:lnTo>
                <a:lnTo>
                  <a:pt x="3785293" y="1187563"/>
                </a:lnTo>
                <a:lnTo>
                  <a:pt x="3788908" y="1187563"/>
                </a:lnTo>
                <a:lnTo>
                  <a:pt x="3792523" y="1187563"/>
                </a:lnTo>
                <a:lnTo>
                  <a:pt x="3796091" y="1187563"/>
                </a:lnTo>
                <a:lnTo>
                  <a:pt x="3799660" y="1187563"/>
                </a:lnTo>
                <a:lnTo>
                  <a:pt x="3803321" y="1187563"/>
                </a:lnTo>
                <a:lnTo>
                  <a:pt x="3806890" y="1187563"/>
                </a:lnTo>
                <a:lnTo>
                  <a:pt x="3810457" y="1187563"/>
                </a:lnTo>
                <a:lnTo>
                  <a:pt x="3814119" y="1187563"/>
                </a:lnTo>
                <a:lnTo>
                  <a:pt x="3817688" y="1187563"/>
                </a:lnTo>
                <a:lnTo>
                  <a:pt x="3821256" y="1187563"/>
                </a:lnTo>
                <a:lnTo>
                  <a:pt x="3824871" y="1187563"/>
                </a:lnTo>
                <a:lnTo>
                  <a:pt x="3828533" y="1187563"/>
                </a:lnTo>
                <a:lnTo>
                  <a:pt x="3832100" y="1187563"/>
                </a:lnTo>
                <a:lnTo>
                  <a:pt x="3835669" y="1187563"/>
                </a:lnTo>
                <a:lnTo>
                  <a:pt x="3839331" y="1187563"/>
                </a:lnTo>
                <a:lnTo>
                  <a:pt x="3842899" y="1187563"/>
                </a:lnTo>
                <a:lnTo>
                  <a:pt x="3842899" y="1181712"/>
                </a:lnTo>
                <a:lnTo>
                  <a:pt x="3846467" y="1181712"/>
                </a:lnTo>
                <a:lnTo>
                  <a:pt x="3846467" y="1170078"/>
                </a:lnTo>
                <a:lnTo>
                  <a:pt x="3850082" y="1170078"/>
                </a:lnTo>
                <a:lnTo>
                  <a:pt x="3850082" y="1164194"/>
                </a:lnTo>
                <a:lnTo>
                  <a:pt x="3853697" y="1164194"/>
                </a:lnTo>
                <a:lnTo>
                  <a:pt x="3853697" y="1158310"/>
                </a:lnTo>
                <a:lnTo>
                  <a:pt x="3857265" y="1158310"/>
                </a:lnTo>
                <a:lnTo>
                  <a:pt x="3860880" y="1158310"/>
                </a:lnTo>
                <a:lnTo>
                  <a:pt x="3860880" y="1140521"/>
                </a:lnTo>
                <a:lnTo>
                  <a:pt x="3864542" y="1140521"/>
                </a:lnTo>
                <a:lnTo>
                  <a:pt x="3868110" y="1140521"/>
                </a:lnTo>
                <a:lnTo>
                  <a:pt x="3868110" y="1134535"/>
                </a:lnTo>
                <a:lnTo>
                  <a:pt x="3871726" y="1134535"/>
                </a:lnTo>
                <a:lnTo>
                  <a:pt x="3871726" y="1128515"/>
                </a:lnTo>
                <a:lnTo>
                  <a:pt x="3875247" y="1128515"/>
                </a:lnTo>
                <a:lnTo>
                  <a:pt x="3875247" y="1122529"/>
                </a:lnTo>
                <a:lnTo>
                  <a:pt x="3878861" y="1122529"/>
                </a:lnTo>
                <a:lnTo>
                  <a:pt x="3878861" y="1116543"/>
                </a:lnTo>
                <a:lnTo>
                  <a:pt x="3882477" y="1116543"/>
                </a:lnTo>
                <a:lnTo>
                  <a:pt x="3882477" y="1098383"/>
                </a:lnTo>
                <a:lnTo>
                  <a:pt x="3886045" y="1098383"/>
                </a:lnTo>
                <a:lnTo>
                  <a:pt x="3886045" y="1086275"/>
                </a:lnTo>
                <a:lnTo>
                  <a:pt x="3889707" y="1086275"/>
                </a:lnTo>
                <a:lnTo>
                  <a:pt x="3889707" y="1080154"/>
                </a:lnTo>
                <a:lnTo>
                  <a:pt x="3893275" y="1080154"/>
                </a:lnTo>
                <a:lnTo>
                  <a:pt x="3893275" y="1074033"/>
                </a:lnTo>
                <a:lnTo>
                  <a:pt x="3896890" y="1074033"/>
                </a:lnTo>
                <a:lnTo>
                  <a:pt x="3896890" y="1067878"/>
                </a:lnTo>
                <a:lnTo>
                  <a:pt x="3900458" y="1067878"/>
                </a:lnTo>
                <a:lnTo>
                  <a:pt x="3900458" y="1061723"/>
                </a:lnTo>
                <a:lnTo>
                  <a:pt x="3904120" y="1061723"/>
                </a:lnTo>
                <a:lnTo>
                  <a:pt x="3907689" y="1061723"/>
                </a:lnTo>
                <a:lnTo>
                  <a:pt x="3907689" y="1055568"/>
                </a:lnTo>
                <a:lnTo>
                  <a:pt x="3911256" y="1055568"/>
                </a:lnTo>
                <a:lnTo>
                  <a:pt x="3911256" y="1049311"/>
                </a:lnTo>
                <a:lnTo>
                  <a:pt x="3914918" y="1049311"/>
                </a:lnTo>
                <a:lnTo>
                  <a:pt x="3918487" y="1049311"/>
                </a:lnTo>
                <a:lnTo>
                  <a:pt x="3918487" y="1043089"/>
                </a:lnTo>
                <a:lnTo>
                  <a:pt x="3922055" y="1043089"/>
                </a:lnTo>
                <a:lnTo>
                  <a:pt x="3925670" y="1043089"/>
                </a:lnTo>
                <a:lnTo>
                  <a:pt x="3925670" y="1030576"/>
                </a:lnTo>
                <a:lnTo>
                  <a:pt x="3929285" y="1030576"/>
                </a:lnTo>
                <a:lnTo>
                  <a:pt x="3932853" y="1030576"/>
                </a:lnTo>
                <a:lnTo>
                  <a:pt x="3936468" y="1030576"/>
                </a:lnTo>
                <a:lnTo>
                  <a:pt x="3940130" y="1030576"/>
                </a:lnTo>
                <a:lnTo>
                  <a:pt x="3943698" y="1030576"/>
                </a:lnTo>
                <a:lnTo>
                  <a:pt x="3947313" y="1030576"/>
                </a:lnTo>
                <a:lnTo>
                  <a:pt x="3950928" y="1030576"/>
                </a:lnTo>
                <a:lnTo>
                  <a:pt x="3954496" y="1030576"/>
                </a:lnTo>
                <a:lnTo>
                  <a:pt x="3954496" y="1024150"/>
                </a:lnTo>
                <a:lnTo>
                  <a:pt x="3958112" y="1024150"/>
                </a:lnTo>
                <a:lnTo>
                  <a:pt x="3961679" y="1024150"/>
                </a:lnTo>
                <a:lnTo>
                  <a:pt x="3961679" y="1017724"/>
                </a:lnTo>
                <a:lnTo>
                  <a:pt x="3965294" y="1017724"/>
                </a:lnTo>
                <a:lnTo>
                  <a:pt x="3968863" y="1017724"/>
                </a:lnTo>
                <a:lnTo>
                  <a:pt x="3972478" y="1017724"/>
                </a:lnTo>
                <a:lnTo>
                  <a:pt x="3976140" y="1017724"/>
                </a:lnTo>
                <a:lnTo>
                  <a:pt x="3979708" y="1017724"/>
                </a:lnTo>
                <a:lnTo>
                  <a:pt x="3983323" y="1017724"/>
                </a:lnTo>
                <a:lnTo>
                  <a:pt x="3986844" y="1017724"/>
                </a:lnTo>
                <a:lnTo>
                  <a:pt x="3990506" y="1017724"/>
                </a:lnTo>
                <a:lnTo>
                  <a:pt x="3994121" y="1017724"/>
                </a:lnTo>
                <a:lnTo>
                  <a:pt x="3997642" y="1017724"/>
                </a:lnTo>
                <a:lnTo>
                  <a:pt x="4001304" y="1017724"/>
                </a:lnTo>
                <a:lnTo>
                  <a:pt x="4004919" y="1017724"/>
                </a:lnTo>
                <a:lnTo>
                  <a:pt x="4008488" y="1017724"/>
                </a:lnTo>
                <a:lnTo>
                  <a:pt x="4008488" y="1011096"/>
                </a:lnTo>
                <a:lnTo>
                  <a:pt x="4012055" y="1011096"/>
                </a:lnTo>
                <a:lnTo>
                  <a:pt x="4015717" y="1011096"/>
                </a:lnTo>
                <a:lnTo>
                  <a:pt x="4019285" y="1011096"/>
                </a:lnTo>
                <a:lnTo>
                  <a:pt x="4019285" y="1004400"/>
                </a:lnTo>
                <a:lnTo>
                  <a:pt x="4022854" y="1004400"/>
                </a:lnTo>
                <a:lnTo>
                  <a:pt x="4026515" y="1004400"/>
                </a:lnTo>
                <a:lnTo>
                  <a:pt x="4030131" y="1004400"/>
                </a:lnTo>
                <a:lnTo>
                  <a:pt x="4033651" y="1004400"/>
                </a:lnTo>
                <a:lnTo>
                  <a:pt x="4037267" y="1004400"/>
                </a:lnTo>
                <a:lnTo>
                  <a:pt x="4040929" y="1004400"/>
                </a:lnTo>
                <a:lnTo>
                  <a:pt x="4044497" y="1004400"/>
                </a:lnTo>
                <a:lnTo>
                  <a:pt x="4048065" y="1004400"/>
                </a:lnTo>
                <a:lnTo>
                  <a:pt x="4051727" y="1004400"/>
                </a:lnTo>
                <a:lnTo>
                  <a:pt x="4055295" y="1004400"/>
                </a:lnTo>
                <a:lnTo>
                  <a:pt x="4058864" y="1004400"/>
                </a:lnTo>
                <a:lnTo>
                  <a:pt x="4062478" y="1004400"/>
                </a:lnTo>
                <a:lnTo>
                  <a:pt x="4066141" y="1004400"/>
                </a:lnTo>
                <a:lnTo>
                  <a:pt x="4069662" y="1004400"/>
                </a:lnTo>
                <a:lnTo>
                  <a:pt x="4073276" y="1004400"/>
                </a:lnTo>
                <a:lnTo>
                  <a:pt x="4076939" y="1004400"/>
                </a:lnTo>
                <a:lnTo>
                  <a:pt x="4080507" y="1004400"/>
                </a:lnTo>
                <a:lnTo>
                  <a:pt x="4084075" y="1004400"/>
                </a:lnTo>
                <a:lnTo>
                  <a:pt x="4084075" y="997332"/>
                </a:lnTo>
                <a:lnTo>
                  <a:pt x="4087643" y="997332"/>
                </a:lnTo>
                <a:lnTo>
                  <a:pt x="4087643" y="990365"/>
                </a:lnTo>
                <a:lnTo>
                  <a:pt x="4091305" y="990365"/>
                </a:lnTo>
                <a:lnTo>
                  <a:pt x="4094920" y="990365"/>
                </a:lnTo>
                <a:lnTo>
                  <a:pt x="4098488" y="990365"/>
                </a:lnTo>
                <a:lnTo>
                  <a:pt x="4102150" y="990365"/>
                </a:lnTo>
                <a:lnTo>
                  <a:pt x="4105718" y="990365"/>
                </a:lnTo>
                <a:lnTo>
                  <a:pt x="4109286" y="990365"/>
                </a:lnTo>
                <a:lnTo>
                  <a:pt x="4112854" y="990365"/>
                </a:lnTo>
                <a:lnTo>
                  <a:pt x="4116517" y="990365"/>
                </a:lnTo>
                <a:lnTo>
                  <a:pt x="4120084" y="990365"/>
                </a:lnTo>
                <a:lnTo>
                  <a:pt x="4123652" y="990365"/>
                </a:lnTo>
                <a:lnTo>
                  <a:pt x="4127315" y="990365"/>
                </a:lnTo>
                <a:lnTo>
                  <a:pt x="4130930" y="990365"/>
                </a:lnTo>
                <a:lnTo>
                  <a:pt x="4134498" y="990365"/>
                </a:lnTo>
                <a:lnTo>
                  <a:pt x="4138065" y="990365"/>
                </a:lnTo>
                <a:lnTo>
                  <a:pt x="4141727" y="990365"/>
                </a:lnTo>
                <a:lnTo>
                  <a:pt x="4145296" y="990365"/>
                </a:lnTo>
                <a:lnTo>
                  <a:pt x="4148864" y="990365"/>
                </a:lnTo>
                <a:lnTo>
                  <a:pt x="4152526" y="990365"/>
                </a:lnTo>
                <a:lnTo>
                  <a:pt x="4156094" y="990365"/>
                </a:lnTo>
                <a:lnTo>
                  <a:pt x="4159709" y="990365"/>
                </a:lnTo>
                <a:lnTo>
                  <a:pt x="4159709" y="982992"/>
                </a:lnTo>
                <a:lnTo>
                  <a:pt x="4163278" y="982992"/>
                </a:lnTo>
                <a:lnTo>
                  <a:pt x="4166892" y="982992"/>
                </a:lnTo>
                <a:lnTo>
                  <a:pt x="4170507" y="982992"/>
                </a:lnTo>
                <a:lnTo>
                  <a:pt x="4174076" y="982992"/>
                </a:lnTo>
                <a:lnTo>
                  <a:pt x="4177737" y="982992"/>
                </a:lnTo>
                <a:lnTo>
                  <a:pt x="4181306" y="982992"/>
                </a:lnTo>
                <a:lnTo>
                  <a:pt x="4184921" y="982992"/>
                </a:lnTo>
                <a:lnTo>
                  <a:pt x="4188442" y="982992"/>
                </a:lnTo>
                <a:lnTo>
                  <a:pt x="4192103" y="982992"/>
                </a:lnTo>
                <a:lnTo>
                  <a:pt x="4195672" y="982992"/>
                </a:lnTo>
                <a:lnTo>
                  <a:pt x="4199287" y="982992"/>
                </a:lnTo>
                <a:lnTo>
                  <a:pt x="4202902" y="982992"/>
                </a:lnTo>
                <a:lnTo>
                  <a:pt x="4206517" y="982992"/>
                </a:lnTo>
                <a:lnTo>
                  <a:pt x="4206517" y="975417"/>
                </a:lnTo>
                <a:lnTo>
                  <a:pt x="4210085" y="975417"/>
                </a:lnTo>
                <a:lnTo>
                  <a:pt x="4213653" y="975417"/>
                </a:lnTo>
                <a:lnTo>
                  <a:pt x="4217316" y="975417"/>
                </a:lnTo>
                <a:lnTo>
                  <a:pt x="4220883" y="975417"/>
                </a:lnTo>
                <a:lnTo>
                  <a:pt x="4224451" y="975417"/>
                </a:lnTo>
                <a:lnTo>
                  <a:pt x="4228114" y="975417"/>
                </a:lnTo>
                <a:lnTo>
                  <a:pt x="4231682" y="975417"/>
                </a:lnTo>
                <a:lnTo>
                  <a:pt x="4235297" y="975417"/>
                </a:lnTo>
                <a:lnTo>
                  <a:pt x="4238864" y="975417"/>
                </a:lnTo>
                <a:lnTo>
                  <a:pt x="4242526" y="975417"/>
                </a:lnTo>
                <a:lnTo>
                  <a:pt x="4246095" y="975417"/>
                </a:lnTo>
                <a:lnTo>
                  <a:pt x="4249663" y="975417"/>
                </a:lnTo>
                <a:lnTo>
                  <a:pt x="4253325" y="975417"/>
                </a:lnTo>
                <a:lnTo>
                  <a:pt x="4256893" y="975417"/>
                </a:lnTo>
                <a:lnTo>
                  <a:pt x="4260461" y="975417"/>
                </a:lnTo>
                <a:lnTo>
                  <a:pt x="4264029" y="975417"/>
                </a:lnTo>
                <a:lnTo>
                  <a:pt x="4267692" y="975417"/>
                </a:lnTo>
                <a:lnTo>
                  <a:pt x="4271306" y="975417"/>
                </a:lnTo>
                <a:lnTo>
                  <a:pt x="4274874" y="975417"/>
                </a:lnTo>
                <a:lnTo>
                  <a:pt x="4278490" y="975417"/>
                </a:lnTo>
                <a:lnTo>
                  <a:pt x="4278490" y="967436"/>
                </a:lnTo>
                <a:lnTo>
                  <a:pt x="4282104" y="967436"/>
                </a:lnTo>
                <a:lnTo>
                  <a:pt x="4285673" y="967436"/>
                </a:lnTo>
                <a:lnTo>
                  <a:pt x="4285673" y="959387"/>
                </a:lnTo>
                <a:lnTo>
                  <a:pt x="4289288" y="959387"/>
                </a:lnTo>
                <a:lnTo>
                  <a:pt x="4289288" y="951338"/>
                </a:lnTo>
                <a:lnTo>
                  <a:pt x="4292902" y="951338"/>
                </a:lnTo>
                <a:lnTo>
                  <a:pt x="4296517" y="951338"/>
                </a:lnTo>
                <a:lnTo>
                  <a:pt x="4296517" y="943255"/>
                </a:lnTo>
                <a:lnTo>
                  <a:pt x="4300039" y="943255"/>
                </a:lnTo>
                <a:lnTo>
                  <a:pt x="4303701" y="943255"/>
                </a:lnTo>
                <a:lnTo>
                  <a:pt x="4307316" y="943255"/>
                </a:lnTo>
                <a:lnTo>
                  <a:pt x="4310884" y="943255"/>
                </a:lnTo>
                <a:lnTo>
                  <a:pt x="4314499" y="943255"/>
                </a:lnTo>
                <a:lnTo>
                  <a:pt x="4314499" y="934970"/>
                </a:lnTo>
                <a:lnTo>
                  <a:pt x="4318115" y="934970"/>
                </a:lnTo>
                <a:lnTo>
                  <a:pt x="4321682" y="934970"/>
                </a:lnTo>
                <a:lnTo>
                  <a:pt x="4325251" y="934970"/>
                </a:lnTo>
                <a:lnTo>
                  <a:pt x="4328912" y="934970"/>
                </a:lnTo>
                <a:lnTo>
                  <a:pt x="4328912" y="926583"/>
                </a:lnTo>
                <a:lnTo>
                  <a:pt x="4332528" y="926583"/>
                </a:lnTo>
                <a:lnTo>
                  <a:pt x="4336049" y="926583"/>
                </a:lnTo>
                <a:lnTo>
                  <a:pt x="4336049" y="918094"/>
                </a:lnTo>
                <a:lnTo>
                  <a:pt x="4339711" y="918094"/>
                </a:lnTo>
                <a:lnTo>
                  <a:pt x="4339711" y="900948"/>
                </a:lnTo>
                <a:lnTo>
                  <a:pt x="4343326" y="900948"/>
                </a:lnTo>
                <a:lnTo>
                  <a:pt x="4346894" y="900948"/>
                </a:lnTo>
                <a:lnTo>
                  <a:pt x="4346894" y="892256"/>
                </a:lnTo>
                <a:lnTo>
                  <a:pt x="4350462" y="892256"/>
                </a:lnTo>
                <a:lnTo>
                  <a:pt x="4354124" y="892256"/>
                </a:lnTo>
                <a:lnTo>
                  <a:pt x="4354124" y="883565"/>
                </a:lnTo>
                <a:lnTo>
                  <a:pt x="4357692" y="883565"/>
                </a:lnTo>
                <a:lnTo>
                  <a:pt x="4361260" y="883565"/>
                </a:lnTo>
                <a:lnTo>
                  <a:pt x="4361260" y="874840"/>
                </a:lnTo>
                <a:lnTo>
                  <a:pt x="4364922" y="874840"/>
                </a:lnTo>
                <a:lnTo>
                  <a:pt x="4368537" y="874840"/>
                </a:lnTo>
                <a:lnTo>
                  <a:pt x="4372058" y="874840"/>
                </a:lnTo>
                <a:lnTo>
                  <a:pt x="4375673" y="874840"/>
                </a:lnTo>
                <a:lnTo>
                  <a:pt x="4379335" y="874840"/>
                </a:lnTo>
                <a:lnTo>
                  <a:pt x="4382903" y="874840"/>
                </a:lnTo>
                <a:lnTo>
                  <a:pt x="4386472" y="874840"/>
                </a:lnTo>
                <a:lnTo>
                  <a:pt x="4390134" y="874840"/>
                </a:lnTo>
                <a:lnTo>
                  <a:pt x="4393701" y="874840"/>
                </a:lnTo>
                <a:lnTo>
                  <a:pt x="4397270" y="874840"/>
                </a:lnTo>
                <a:lnTo>
                  <a:pt x="4400885" y="874840"/>
                </a:lnTo>
                <a:lnTo>
                  <a:pt x="4404547" y="874840"/>
                </a:lnTo>
                <a:lnTo>
                  <a:pt x="4408068" y="874840"/>
                </a:lnTo>
                <a:lnTo>
                  <a:pt x="4411683" y="874840"/>
                </a:lnTo>
                <a:lnTo>
                  <a:pt x="4415345" y="874840"/>
                </a:lnTo>
                <a:lnTo>
                  <a:pt x="4418913" y="874840"/>
                </a:lnTo>
                <a:lnTo>
                  <a:pt x="4422481" y="874840"/>
                </a:lnTo>
                <a:lnTo>
                  <a:pt x="4426096" y="874840"/>
                </a:lnTo>
                <a:lnTo>
                  <a:pt x="4429711" y="874840"/>
                </a:lnTo>
                <a:lnTo>
                  <a:pt x="4429711" y="865506"/>
                </a:lnTo>
                <a:lnTo>
                  <a:pt x="4433279" y="865506"/>
                </a:lnTo>
                <a:lnTo>
                  <a:pt x="4436895" y="865506"/>
                </a:lnTo>
                <a:lnTo>
                  <a:pt x="4436895" y="856138"/>
                </a:lnTo>
                <a:lnTo>
                  <a:pt x="4440556" y="856138"/>
                </a:lnTo>
                <a:lnTo>
                  <a:pt x="4444125" y="856138"/>
                </a:lnTo>
                <a:lnTo>
                  <a:pt x="4447692" y="856138"/>
                </a:lnTo>
                <a:lnTo>
                  <a:pt x="4451261" y="856138"/>
                </a:lnTo>
                <a:lnTo>
                  <a:pt x="4454923" y="856138"/>
                </a:lnTo>
                <a:lnTo>
                  <a:pt x="4458491" y="856138"/>
                </a:lnTo>
                <a:lnTo>
                  <a:pt x="4462059" y="856138"/>
                </a:lnTo>
                <a:lnTo>
                  <a:pt x="4465721" y="856138"/>
                </a:lnTo>
                <a:lnTo>
                  <a:pt x="4469289" y="856138"/>
                </a:lnTo>
                <a:lnTo>
                  <a:pt x="4472905" y="856138"/>
                </a:lnTo>
                <a:lnTo>
                  <a:pt x="4476472" y="856138"/>
                </a:lnTo>
                <a:lnTo>
                  <a:pt x="4480134" y="856138"/>
                </a:lnTo>
                <a:lnTo>
                  <a:pt x="4483703" y="856138"/>
                </a:lnTo>
                <a:lnTo>
                  <a:pt x="4487271" y="856138"/>
                </a:lnTo>
                <a:lnTo>
                  <a:pt x="4490933" y="856138"/>
                </a:lnTo>
                <a:lnTo>
                  <a:pt x="4490933" y="846263"/>
                </a:lnTo>
                <a:lnTo>
                  <a:pt x="4494501" y="846263"/>
                </a:lnTo>
                <a:lnTo>
                  <a:pt x="4498069" y="846263"/>
                </a:lnTo>
                <a:lnTo>
                  <a:pt x="4501684" y="846263"/>
                </a:lnTo>
                <a:lnTo>
                  <a:pt x="4505346" y="846263"/>
                </a:lnTo>
                <a:lnTo>
                  <a:pt x="4505346" y="836286"/>
                </a:lnTo>
                <a:lnTo>
                  <a:pt x="4508914" y="836286"/>
                </a:lnTo>
                <a:lnTo>
                  <a:pt x="4512482" y="836286"/>
                </a:lnTo>
                <a:lnTo>
                  <a:pt x="4512482" y="826276"/>
                </a:lnTo>
                <a:lnTo>
                  <a:pt x="4516144" y="826276"/>
                </a:lnTo>
                <a:lnTo>
                  <a:pt x="4519712" y="826276"/>
                </a:lnTo>
                <a:lnTo>
                  <a:pt x="4523327" y="826276"/>
                </a:lnTo>
                <a:lnTo>
                  <a:pt x="4526848" y="826276"/>
                </a:lnTo>
                <a:lnTo>
                  <a:pt x="4530510" y="826276"/>
                </a:lnTo>
                <a:lnTo>
                  <a:pt x="4534078" y="826276"/>
                </a:lnTo>
                <a:lnTo>
                  <a:pt x="4537693" y="826276"/>
                </a:lnTo>
                <a:lnTo>
                  <a:pt x="4541309" y="826276"/>
                </a:lnTo>
                <a:lnTo>
                  <a:pt x="4544924" y="826276"/>
                </a:lnTo>
                <a:lnTo>
                  <a:pt x="4548491" y="826276"/>
                </a:lnTo>
                <a:lnTo>
                  <a:pt x="4552060" y="826276"/>
                </a:lnTo>
                <a:lnTo>
                  <a:pt x="4555722" y="826276"/>
                </a:lnTo>
                <a:lnTo>
                  <a:pt x="4559290" y="826276"/>
                </a:lnTo>
                <a:lnTo>
                  <a:pt x="4562858" y="826276"/>
                </a:lnTo>
                <a:lnTo>
                  <a:pt x="4566472" y="826276"/>
                </a:lnTo>
                <a:lnTo>
                  <a:pt x="4570088" y="826276"/>
                </a:lnTo>
                <a:lnTo>
                  <a:pt x="4573656" y="826276"/>
                </a:lnTo>
                <a:lnTo>
                  <a:pt x="4577271" y="826276"/>
                </a:lnTo>
                <a:lnTo>
                  <a:pt x="4580933" y="826276"/>
                </a:lnTo>
                <a:lnTo>
                  <a:pt x="4584501" y="826276"/>
                </a:lnTo>
                <a:lnTo>
                  <a:pt x="4588070" y="826276"/>
                </a:lnTo>
                <a:lnTo>
                  <a:pt x="4591731" y="826276"/>
                </a:lnTo>
                <a:lnTo>
                  <a:pt x="4595300" y="826276"/>
                </a:lnTo>
                <a:lnTo>
                  <a:pt x="4598867" y="826276"/>
                </a:lnTo>
                <a:lnTo>
                  <a:pt x="4602483" y="826276"/>
                </a:lnTo>
                <a:lnTo>
                  <a:pt x="4606098" y="826276"/>
                </a:lnTo>
                <a:lnTo>
                  <a:pt x="4609666" y="826276"/>
                </a:lnTo>
                <a:lnTo>
                  <a:pt x="4613281" y="826276"/>
                </a:lnTo>
                <a:lnTo>
                  <a:pt x="4616943" y="826276"/>
                </a:lnTo>
                <a:lnTo>
                  <a:pt x="4620510" y="826276"/>
                </a:lnTo>
                <a:lnTo>
                  <a:pt x="4624079" y="826276"/>
                </a:lnTo>
                <a:lnTo>
                  <a:pt x="4627694" y="826276"/>
                </a:lnTo>
                <a:lnTo>
                  <a:pt x="4631309" y="826276"/>
                </a:lnTo>
                <a:lnTo>
                  <a:pt x="4634924" y="826276"/>
                </a:lnTo>
                <a:lnTo>
                  <a:pt x="4638446" y="826276"/>
                </a:lnTo>
                <a:lnTo>
                  <a:pt x="4642107" y="826276"/>
                </a:lnTo>
                <a:lnTo>
                  <a:pt x="4645723" y="826276"/>
                </a:lnTo>
                <a:lnTo>
                  <a:pt x="4649290" y="826276"/>
                </a:lnTo>
                <a:lnTo>
                  <a:pt x="4652859" y="826276"/>
                </a:lnTo>
                <a:lnTo>
                  <a:pt x="4656521" y="826276"/>
                </a:lnTo>
                <a:lnTo>
                  <a:pt x="4660089" y="826276"/>
                </a:lnTo>
                <a:lnTo>
                  <a:pt x="4663657" y="826276"/>
                </a:lnTo>
                <a:lnTo>
                  <a:pt x="4667319" y="826276"/>
                </a:lnTo>
                <a:lnTo>
                  <a:pt x="4670934" y="826276"/>
                </a:lnTo>
                <a:lnTo>
                  <a:pt x="4674455" y="826276"/>
                </a:lnTo>
                <a:lnTo>
                  <a:pt x="4678070" y="826276"/>
                </a:lnTo>
                <a:lnTo>
                  <a:pt x="4681732" y="826276"/>
                </a:lnTo>
                <a:lnTo>
                  <a:pt x="4685300" y="826276"/>
                </a:lnTo>
                <a:lnTo>
                  <a:pt x="4688868" y="826276"/>
                </a:lnTo>
                <a:lnTo>
                  <a:pt x="4692530" y="826276"/>
                </a:lnTo>
                <a:lnTo>
                  <a:pt x="4696099" y="826276"/>
                </a:lnTo>
                <a:lnTo>
                  <a:pt x="4699666" y="826276"/>
                </a:lnTo>
                <a:lnTo>
                  <a:pt x="4703281" y="826276"/>
                </a:lnTo>
                <a:lnTo>
                  <a:pt x="4706943" y="826276"/>
                </a:lnTo>
                <a:lnTo>
                  <a:pt x="4710465" y="826276"/>
                </a:lnTo>
                <a:lnTo>
                  <a:pt x="4710465" y="813999"/>
                </a:lnTo>
                <a:lnTo>
                  <a:pt x="4714080" y="813999"/>
                </a:lnTo>
                <a:lnTo>
                  <a:pt x="4717742" y="813999"/>
                </a:lnTo>
                <a:lnTo>
                  <a:pt x="4721263" y="813999"/>
                </a:lnTo>
                <a:lnTo>
                  <a:pt x="4724878" y="813999"/>
                </a:lnTo>
                <a:lnTo>
                  <a:pt x="4728540" y="813999"/>
                </a:lnTo>
                <a:lnTo>
                  <a:pt x="4728540" y="801283"/>
                </a:lnTo>
                <a:lnTo>
                  <a:pt x="4732108" y="801283"/>
                </a:lnTo>
                <a:lnTo>
                  <a:pt x="4732108" y="788534"/>
                </a:lnTo>
                <a:lnTo>
                  <a:pt x="4735676" y="788534"/>
                </a:lnTo>
                <a:lnTo>
                  <a:pt x="4739291" y="788534"/>
                </a:lnTo>
                <a:lnTo>
                  <a:pt x="4739291" y="775615"/>
                </a:lnTo>
                <a:lnTo>
                  <a:pt x="4742906" y="775615"/>
                </a:lnTo>
                <a:lnTo>
                  <a:pt x="4746475" y="775615"/>
                </a:lnTo>
                <a:lnTo>
                  <a:pt x="4750089" y="775615"/>
                </a:lnTo>
                <a:lnTo>
                  <a:pt x="4750089" y="748729"/>
                </a:lnTo>
                <a:lnTo>
                  <a:pt x="4753752" y="748729"/>
                </a:lnTo>
                <a:lnTo>
                  <a:pt x="4753752" y="735167"/>
                </a:lnTo>
                <a:lnTo>
                  <a:pt x="4757319" y="735167"/>
                </a:lnTo>
                <a:lnTo>
                  <a:pt x="4757319" y="721505"/>
                </a:lnTo>
                <a:lnTo>
                  <a:pt x="4760888" y="721505"/>
                </a:lnTo>
                <a:lnTo>
                  <a:pt x="4760888" y="707808"/>
                </a:lnTo>
                <a:lnTo>
                  <a:pt x="4764456" y="707808"/>
                </a:lnTo>
                <a:lnTo>
                  <a:pt x="4764456" y="680178"/>
                </a:lnTo>
                <a:lnTo>
                  <a:pt x="4768118" y="680178"/>
                </a:lnTo>
                <a:lnTo>
                  <a:pt x="4771733" y="680178"/>
                </a:lnTo>
                <a:lnTo>
                  <a:pt x="4771733" y="665771"/>
                </a:lnTo>
                <a:lnTo>
                  <a:pt x="4775301" y="665771"/>
                </a:lnTo>
                <a:lnTo>
                  <a:pt x="4778916" y="665771"/>
                </a:lnTo>
                <a:lnTo>
                  <a:pt x="4782531" y="665771"/>
                </a:lnTo>
                <a:lnTo>
                  <a:pt x="4786099" y="665771"/>
                </a:lnTo>
                <a:lnTo>
                  <a:pt x="4789667" y="665771"/>
                </a:lnTo>
                <a:lnTo>
                  <a:pt x="4793329" y="665771"/>
                </a:lnTo>
                <a:lnTo>
                  <a:pt x="4796898" y="665771"/>
                </a:lnTo>
                <a:lnTo>
                  <a:pt x="4800465" y="665771"/>
                </a:lnTo>
                <a:lnTo>
                  <a:pt x="4804127" y="665771"/>
                </a:lnTo>
                <a:lnTo>
                  <a:pt x="4807695" y="665771"/>
                </a:lnTo>
                <a:lnTo>
                  <a:pt x="4811311" y="665771"/>
                </a:lnTo>
                <a:lnTo>
                  <a:pt x="4814879" y="665771"/>
                </a:lnTo>
                <a:lnTo>
                  <a:pt x="4818541" y="665771"/>
                </a:lnTo>
                <a:lnTo>
                  <a:pt x="4822109" y="665771"/>
                </a:lnTo>
                <a:lnTo>
                  <a:pt x="4825677" y="665771"/>
                </a:lnTo>
                <a:lnTo>
                  <a:pt x="4825677" y="650113"/>
                </a:lnTo>
                <a:lnTo>
                  <a:pt x="4829339" y="650113"/>
                </a:lnTo>
                <a:lnTo>
                  <a:pt x="4832907" y="650113"/>
                </a:lnTo>
                <a:lnTo>
                  <a:pt x="4836475" y="650113"/>
                </a:lnTo>
                <a:lnTo>
                  <a:pt x="4840043" y="650113"/>
                </a:lnTo>
                <a:lnTo>
                  <a:pt x="4843705" y="650113"/>
                </a:lnTo>
                <a:lnTo>
                  <a:pt x="4847320" y="650113"/>
                </a:lnTo>
                <a:lnTo>
                  <a:pt x="4850889" y="650113"/>
                </a:lnTo>
                <a:lnTo>
                  <a:pt x="4854503" y="650113"/>
                </a:lnTo>
                <a:lnTo>
                  <a:pt x="4858118" y="650113"/>
                </a:lnTo>
                <a:lnTo>
                  <a:pt x="4861687" y="650113"/>
                </a:lnTo>
                <a:lnTo>
                  <a:pt x="4865255" y="650113"/>
                </a:lnTo>
                <a:lnTo>
                  <a:pt x="4868917" y="650113"/>
                </a:lnTo>
                <a:lnTo>
                  <a:pt x="4872485" y="650113"/>
                </a:lnTo>
                <a:lnTo>
                  <a:pt x="4876053" y="650113"/>
                </a:lnTo>
                <a:lnTo>
                  <a:pt x="4879715" y="650113"/>
                </a:lnTo>
                <a:lnTo>
                  <a:pt x="4883330" y="650113"/>
                </a:lnTo>
                <a:lnTo>
                  <a:pt x="4886898" y="650113"/>
                </a:lnTo>
                <a:lnTo>
                  <a:pt x="4890466" y="650113"/>
                </a:lnTo>
                <a:lnTo>
                  <a:pt x="4894128" y="650113"/>
                </a:lnTo>
                <a:lnTo>
                  <a:pt x="4897696" y="650113"/>
                </a:lnTo>
                <a:lnTo>
                  <a:pt x="4901264" y="650113"/>
                </a:lnTo>
                <a:lnTo>
                  <a:pt x="4904927" y="650113"/>
                </a:lnTo>
                <a:lnTo>
                  <a:pt x="4908494" y="650113"/>
                </a:lnTo>
                <a:lnTo>
                  <a:pt x="4912110" y="650113"/>
                </a:lnTo>
                <a:lnTo>
                  <a:pt x="4915678" y="650113"/>
                </a:lnTo>
                <a:lnTo>
                  <a:pt x="4919293" y="650113"/>
                </a:lnTo>
                <a:lnTo>
                  <a:pt x="4922908" y="650113"/>
                </a:lnTo>
                <a:lnTo>
                  <a:pt x="4926476" y="650113"/>
                </a:lnTo>
                <a:lnTo>
                  <a:pt x="4930137" y="650113"/>
                </a:lnTo>
                <a:lnTo>
                  <a:pt x="4933706" y="650113"/>
                </a:lnTo>
                <a:lnTo>
                  <a:pt x="4937274" y="650113"/>
                </a:lnTo>
                <a:lnTo>
                  <a:pt x="4940842" y="650113"/>
                </a:lnTo>
                <a:lnTo>
                  <a:pt x="4944504" y="650113"/>
                </a:lnTo>
                <a:lnTo>
                  <a:pt x="4948073" y="650113"/>
                </a:lnTo>
                <a:lnTo>
                  <a:pt x="4951640" y="650113"/>
                </a:lnTo>
                <a:lnTo>
                  <a:pt x="4955302" y="650113"/>
                </a:lnTo>
                <a:lnTo>
                  <a:pt x="4958917" y="650113"/>
                </a:lnTo>
                <a:lnTo>
                  <a:pt x="4962486" y="650113"/>
                </a:lnTo>
                <a:lnTo>
                  <a:pt x="4966100" y="650113"/>
                </a:lnTo>
                <a:lnTo>
                  <a:pt x="4969716" y="650113"/>
                </a:lnTo>
                <a:lnTo>
                  <a:pt x="4973331" y="650113"/>
                </a:lnTo>
                <a:lnTo>
                  <a:pt x="4976852" y="650113"/>
                </a:lnTo>
                <a:lnTo>
                  <a:pt x="4980513" y="650113"/>
                </a:lnTo>
                <a:lnTo>
                  <a:pt x="4984129" y="650113"/>
                </a:lnTo>
                <a:lnTo>
                  <a:pt x="4987697" y="650113"/>
                </a:lnTo>
                <a:lnTo>
                  <a:pt x="4991265" y="650113"/>
                </a:lnTo>
                <a:lnTo>
                  <a:pt x="4994927" y="650113"/>
                </a:lnTo>
                <a:lnTo>
                  <a:pt x="4998495" y="650113"/>
                </a:lnTo>
                <a:lnTo>
                  <a:pt x="5002111" y="650113"/>
                </a:lnTo>
                <a:lnTo>
                  <a:pt x="5005726" y="650113"/>
                </a:lnTo>
                <a:lnTo>
                  <a:pt x="5009293" y="650113"/>
                </a:lnTo>
                <a:lnTo>
                  <a:pt x="5012862" y="650113"/>
                </a:lnTo>
                <a:lnTo>
                  <a:pt x="5016430" y="650113"/>
                </a:lnTo>
                <a:lnTo>
                  <a:pt x="5020139" y="650113"/>
                </a:lnTo>
                <a:lnTo>
                  <a:pt x="5023707" y="650113"/>
                </a:lnTo>
                <a:lnTo>
                  <a:pt x="5027274" y="650113"/>
                </a:lnTo>
                <a:lnTo>
                  <a:pt x="5030937" y="650113"/>
                </a:lnTo>
                <a:lnTo>
                  <a:pt x="5030937" y="622652"/>
                </a:lnTo>
                <a:lnTo>
                  <a:pt x="5034505" y="622652"/>
                </a:lnTo>
                <a:lnTo>
                  <a:pt x="5038073" y="622652"/>
                </a:lnTo>
                <a:lnTo>
                  <a:pt x="5041688" y="622652"/>
                </a:lnTo>
                <a:lnTo>
                  <a:pt x="5045350" y="622652"/>
                </a:lnTo>
                <a:lnTo>
                  <a:pt x="5048871" y="622652"/>
                </a:lnTo>
                <a:lnTo>
                  <a:pt x="5052487" y="622652"/>
                </a:lnTo>
                <a:lnTo>
                  <a:pt x="5056148" y="622652"/>
                </a:lnTo>
                <a:lnTo>
                  <a:pt x="5059716" y="622652"/>
                </a:lnTo>
                <a:lnTo>
                  <a:pt x="5063284" y="622652"/>
                </a:lnTo>
                <a:lnTo>
                  <a:pt x="5066900" y="622652"/>
                </a:lnTo>
                <a:lnTo>
                  <a:pt x="5070514" y="622652"/>
                </a:lnTo>
                <a:lnTo>
                  <a:pt x="5074083" y="622652"/>
                </a:lnTo>
                <a:lnTo>
                  <a:pt x="5077698" y="622652"/>
                </a:lnTo>
                <a:lnTo>
                  <a:pt x="5081360" y="622652"/>
                </a:lnTo>
                <a:lnTo>
                  <a:pt x="5084881" y="622652"/>
                </a:lnTo>
                <a:lnTo>
                  <a:pt x="5088496" y="622652"/>
                </a:lnTo>
                <a:lnTo>
                  <a:pt x="5092064" y="622652"/>
                </a:lnTo>
                <a:lnTo>
                  <a:pt x="5095679" y="622652"/>
                </a:lnTo>
                <a:lnTo>
                  <a:pt x="5099294" y="622652"/>
                </a:lnTo>
                <a:lnTo>
                  <a:pt x="5102863" y="622652"/>
                </a:lnTo>
                <a:lnTo>
                  <a:pt x="5106525" y="622652"/>
                </a:lnTo>
                <a:lnTo>
                  <a:pt x="5110092" y="622652"/>
                </a:lnTo>
                <a:lnTo>
                  <a:pt x="5113707" y="622652"/>
                </a:lnTo>
                <a:lnTo>
                  <a:pt x="5117322" y="622652"/>
                </a:lnTo>
                <a:lnTo>
                  <a:pt x="5120938" y="622652"/>
                </a:lnTo>
                <a:lnTo>
                  <a:pt x="5124506" y="622652"/>
                </a:lnTo>
                <a:lnTo>
                  <a:pt x="5128027" y="622652"/>
                </a:lnTo>
                <a:lnTo>
                  <a:pt x="5131736" y="622652"/>
                </a:lnTo>
                <a:lnTo>
                  <a:pt x="5135304" y="622652"/>
                </a:lnTo>
                <a:lnTo>
                  <a:pt x="5138872" y="622652"/>
                </a:lnTo>
                <a:lnTo>
                  <a:pt x="5142534" y="622652"/>
                </a:lnTo>
                <a:lnTo>
                  <a:pt x="5142534" y="584268"/>
                </a:lnTo>
                <a:lnTo>
                  <a:pt x="5146102" y="584268"/>
                </a:lnTo>
                <a:lnTo>
                  <a:pt x="5149717" y="584268"/>
                </a:lnTo>
                <a:lnTo>
                  <a:pt x="5153285" y="584268"/>
                </a:lnTo>
                <a:lnTo>
                  <a:pt x="5153285" y="541994"/>
                </a:lnTo>
                <a:lnTo>
                  <a:pt x="5156947" y="541994"/>
                </a:lnTo>
                <a:lnTo>
                  <a:pt x="5160515" y="541994"/>
                </a:lnTo>
                <a:lnTo>
                  <a:pt x="5164083" y="541994"/>
                </a:lnTo>
                <a:lnTo>
                  <a:pt x="5167745" y="541994"/>
                </a:lnTo>
                <a:lnTo>
                  <a:pt x="5167745" y="496068"/>
                </a:lnTo>
                <a:lnTo>
                  <a:pt x="5171313" y="496068"/>
                </a:lnTo>
                <a:lnTo>
                  <a:pt x="5171313" y="447504"/>
                </a:lnTo>
                <a:lnTo>
                  <a:pt x="5174882" y="447504"/>
                </a:lnTo>
                <a:lnTo>
                  <a:pt x="5174882" y="398940"/>
                </a:lnTo>
                <a:lnTo>
                  <a:pt x="5178497" y="398940"/>
                </a:lnTo>
                <a:lnTo>
                  <a:pt x="5182111" y="398940"/>
                </a:lnTo>
                <a:lnTo>
                  <a:pt x="5182111" y="349801"/>
                </a:lnTo>
              </a:path>
            </a:pathLst>
          </a:custGeom>
          <a:noFill/>
          <a:ln w="21908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9" name="published_curve_Плацебо">
            <a:extLst>
              <a:ext uri="{FF2B5EF4-FFF2-40B4-BE49-F238E27FC236}">
                <a16:creationId xmlns:a16="http://schemas.microsoft.com/office/drawing/2014/main" id="{059D4D1C-4A48-4B25-ABAD-4380390C9A6D}"/>
              </a:ext>
            </a:extLst>
          </p:cNvPr>
          <p:cNvSpPr>
            <a:spLocks noGrp="1"/>
          </p:cNvSpPr>
          <p:nvPr/>
        </p:nvSpPr>
        <p:spPr>
          <a:xfrm>
            <a:off x="1752600" y="2544106"/>
            <a:ext cx="5181600" cy="3067193"/>
          </a:xfrm>
          <a:custGeom>
            <a:avLst/>
            <a:gdLst/>
            <a:ahLst/>
            <a:cxnLst/>
            <a:rect l="0" t="0" r="0" b="0"/>
            <a:pathLst>
              <a:path w="5181600" h="2457450">
                <a:moveTo>
                  <a:pt x="1695" y="2457462"/>
                </a:moveTo>
                <a:lnTo>
                  <a:pt x="5263" y="2457462"/>
                </a:lnTo>
                <a:lnTo>
                  <a:pt x="8878" y="2457462"/>
                </a:lnTo>
                <a:lnTo>
                  <a:pt x="12446" y="2457462"/>
                </a:lnTo>
                <a:lnTo>
                  <a:pt x="16108" y="2457462"/>
                </a:lnTo>
                <a:lnTo>
                  <a:pt x="19676" y="2457462"/>
                </a:lnTo>
                <a:lnTo>
                  <a:pt x="23197" y="2457462"/>
                </a:lnTo>
                <a:lnTo>
                  <a:pt x="26906" y="2457462"/>
                </a:lnTo>
                <a:lnTo>
                  <a:pt x="30474" y="2457462"/>
                </a:lnTo>
                <a:lnTo>
                  <a:pt x="34042" y="2457462"/>
                </a:lnTo>
                <a:lnTo>
                  <a:pt x="37657" y="2457462"/>
                </a:lnTo>
                <a:lnTo>
                  <a:pt x="41272" y="2457462"/>
                </a:lnTo>
                <a:lnTo>
                  <a:pt x="44887" y="2457462"/>
                </a:lnTo>
                <a:lnTo>
                  <a:pt x="48456" y="2457462"/>
                </a:lnTo>
                <a:lnTo>
                  <a:pt x="52117" y="2457462"/>
                </a:lnTo>
                <a:lnTo>
                  <a:pt x="55686" y="2457462"/>
                </a:lnTo>
                <a:lnTo>
                  <a:pt x="59301" y="2457462"/>
                </a:lnTo>
                <a:lnTo>
                  <a:pt x="62916" y="2457462"/>
                </a:lnTo>
                <a:lnTo>
                  <a:pt x="66484" y="2457462"/>
                </a:lnTo>
                <a:lnTo>
                  <a:pt x="70052" y="2457462"/>
                </a:lnTo>
                <a:lnTo>
                  <a:pt x="73667" y="2457462"/>
                </a:lnTo>
                <a:lnTo>
                  <a:pt x="77282" y="2457462"/>
                </a:lnTo>
                <a:lnTo>
                  <a:pt x="80850" y="2457462"/>
                </a:lnTo>
                <a:lnTo>
                  <a:pt x="84465" y="2457462"/>
                </a:lnTo>
                <a:lnTo>
                  <a:pt x="88127" y="2457462"/>
                </a:lnTo>
                <a:lnTo>
                  <a:pt x="91695" y="2457462"/>
                </a:lnTo>
                <a:lnTo>
                  <a:pt x="95263" y="2457462"/>
                </a:lnTo>
                <a:lnTo>
                  <a:pt x="98832" y="2457462"/>
                </a:lnTo>
                <a:lnTo>
                  <a:pt x="102446" y="2457462"/>
                </a:lnTo>
                <a:lnTo>
                  <a:pt x="106062" y="2457462"/>
                </a:lnTo>
                <a:lnTo>
                  <a:pt x="109630" y="2457462"/>
                </a:lnTo>
                <a:lnTo>
                  <a:pt x="113292" y="2457462"/>
                </a:lnTo>
                <a:lnTo>
                  <a:pt x="116907" y="2457462"/>
                </a:lnTo>
                <a:lnTo>
                  <a:pt x="120475" y="2457462"/>
                </a:lnTo>
                <a:lnTo>
                  <a:pt x="124043" y="2457462"/>
                </a:lnTo>
                <a:lnTo>
                  <a:pt x="127705" y="2457462"/>
                </a:lnTo>
                <a:lnTo>
                  <a:pt x="127705" y="2455264"/>
                </a:lnTo>
                <a:lnTo>
                  <a:pt x="131273" y="2455264"/>
                </a:lnTo>
                <a:lnTo>
                  <a:pt x="134841" y="2455264"/>
                </a:lnTo>
                <a:lnTo>
                  <a:pt x="138503" y="2455264"/>
                </a:lnTo>
                <a:lnTo>
                  <a:pt x="142071" y="2455264"/>
                </a:lnTo>
                <a:lnTo>
                  <a:pt x="145640" y="2455264"/>
                </a:lnTo>
                <a:lnTo>
                  <a:pt x="149254" y="2455264"/>
                </a:lnTo>
                <a:lnTo>
                  <a:pt x="152917" y="2455264"/>
                </a:lnTo>
                <a:lnTo>
                  <a:pt x="156484" y="2455264"/>
                </a:lnTo>
                <a:lnTo>
                  <a:pt x="160053" y="2455264"/>
                </a:lnTo>
                <a:lnTo>
                  <a:pt x="163715" y="2455264"/>
                </a:lnTo>
                <a:lnTo>
                  <a:pt x="167283" y="2455264"/>
                </a:lnTo>
                <a:lnTo>
                  <a:pt x="170898" y="2455264"/>
                </a:lnTo>
                <a:lnTo>
                  <a:pt x="174419" y="2455264"/>
                </a:lnTo>
                <a:lnTo>
                  <a:pt x="178081" y="2455264"/>
                </a:lnTo>
                <a:lnTo>
                  <a:pt x="181649" y="2455264"/>
                </a:lnTo>
                <a:lnTo>
                  <a:pt x="185264" y="2455264"/>
                </a:lnTo>
                <a:lnTo>
                  <a:pt x="188879" y="2455264"/>
                </a:lnTo>
                <a:lnTo>
                  <a:pt x="192494" y="2455264"/>
                </a:lnTo>
                <a:lnTo>
                  <a:pt x="196062" y="2455264"/>
                </a:lnTo>
                <a:lnTo>
                  <a:pt x="199631" y="2455264"/>
                </a:lnTo>
                <a:lnTo>
                  <a:pt x="203292" y="2455264"/>
                </a:lnTo>
                <a:lnTo>
                  <a:pt x="206908" y="2455264"/>
                </a:lnTo>
                <a:lnTo>
                  <a:pt x="210429" y="2455264"/>
                </a:lnTo>
                <a:lnTo>
                  <a:pt x="214091" y="2455264"/>
                </a:lnTo>
                <a:lnTo>
                  <a:pt x="217706" y="2455264"/>
                </a:lnTo>
                <a:lnTo>
                  <a:pt x="221227" y="2455264"/>
                </a:lnTo>
                <a:lnTo>
                  <a:pt x="224842" y="2455264"/>
                </a:lnTo>
                <a:lnTo>
                  <a:pt x="228504" y="2455264"/>
                </a:lnTo>
                <a:lnTo>
                  <a:pt x="232072" y="2455264"/>
                </a:lnTo>
                <a:lnTo>
                  <a:pt x="235640" y="2455264"/>
                </a:lnTo>
                <a:lnTo>
                  <a:pt x="239302" y="2455264"/>
                </a:lnTo>
                <a:lnTo>
                  <a:pt x="242917" y="2455264"/>
                </a:lnTo>
                <a:lnTo>
                  <a:pt x="246438" y="2455264"/>
                </a:lnTo>
                <a:lnTo>
                  <a:pt x="250053" y="2455264"/>
                </a:lnTo>
                <a:lnTo>
                  <a:pt x="253715" y="2455264"/>
                </a:lnTo>
                <a:lnTo>
                  <a:pt x="257237" y="2455264"/>
                </a:lnTo>
                <a:lnTo>
                  <a:pt x="260851" y="2455264"/>
                </a:lnTo>
                <a:lnTo>
                  <a:pt x="264514" y="2455264"/>
                </a:lnTo>
                <a:lnTo>
                  <a:pt x="268082" y="2455264"/>
                </a:lnTo>
                <a:lnTo>
                  <a:pt x="271650" y="2455264"/>
                </a:lnTo>
                <a:lnTo>
                  <a:pt x="275265" y="2455264"/>
                </a:lnTo>
                <a:lnTo>
                  <a:pt x="278880" y="2455264"/>
                </a:lnTo>
                <a:lnTo>
                  <a:pt x="282448" y="2455264"/>
                </a:lnTo>
                <a:lnTo>
                  <a:pt x="286063" y="2455264"/>
                </a:lnTo>
                <a:lnTo>
                  <a:pt x="289725" y="2455264"/>
                </a:lnTo>
                <a:lnTo>
                  <a:pt x="293246" y="2455264"/>
                </a:lnTo>
                <a:lnTo>
                  <a:pt x="296861" y="2455264"/>
                </a:lnTo>
                <a:lnTo>
                  <a:pt x="300429" y="2455264"/>
                </a:lnTo>
                <a:lnTo>
                  <a:pt x="304091" y="2455264"/>
                </a:lnTo>
                <a:lnTo>
                  <a:pt x="307659" y="2455264"/>
                </a:lnTo>
                <a:lnTo>
                  <a:pt x="311275" y="2455264"/>
                </a:lnTo>
                <a:lnTo>
                  <a:pt x="314889" y="2455264"/>
                </a:lnTo>
                <a:lnTo>
                  <a:pt x="318505" y="2455264"/>
                </a:lnTo>
                <a:lnTo>
                  <a:pt x="322073" y="2455264"/>
                </a:lnTo>
                <a:lnTo>
                  <a:pt x="325641" y="2455264"/>
                </a:lnTo>
                <a:lnTo>
                  <a:pt x="329303" y="2455264"/>
                </a:lnTo>
                <a:lnTo>
                  <a:pt x="332871" y="2455264"/>
                </a:lnTo>
                <a:lnTo>
                  <a:pt x="336439" y="2455264"/>
                </a:lnTo>
                <a:lnTo>
                  <a:pt x="340101" y="2455264"/>
                </a:lnTo>
                <a:lnTo>
                  <a:pt x="343669" y="2455264"/>
                </a:lnTo>
                <a:lnTo>
                  <a:pt x="347284" y="2455264"/>
                </a:lnTo>
                <a:lnTo>
                  <a:pt x="350852" y="2455264"/>
                </a:lnTo>
                <a:lnTo>
                  <a:pt x="354514" y="2455264"/>
                </a:lnTo>
                <a:lnTo>
                  <a:pt x="358083" y="2455264"/>
                </a:lnTo>
                <a:lnTo>
                  <a:pt x="361651" y="2455264"/>
                </a:lnTo>
                <a:lnTo>
                  <a:pt x="361651" y="2453032"/>
                </a:lnTo>
                <a:lnTo>
                  <a:pt x="365313" y="2453032"/>
                </a:lnTo>
                <a:lnTo>
                  <a:pt x="368834" y="2453032"/>
                </a:lnTo>
                <a:lnTo>
                  <a:pt x="372449" y="2453032"/>
                </a:lnTo>
                <a:lnTo>
                  <a:pt x="376017" y="2453032"/>
                </a:lnTo>
                <a:lnTo>
                  <a:pt x="379679" y="2453032"/>
                </a:lnTo>
                <a:lnTo>
                  <a:pt x="383294" y="2453032"/>
                </a:lnTo>
                <a:lnTo>
                  <a:pt x="386862" y="2453032"/>
                </a:lnTo>
                <a:lnTo>
                  <a:pt x="390477" y="2453032"/>
                </a:lnTo>
                <a:lnTo>
                  <a:pt x="394092" y="2453032"/>
                </a:lnTo>
                <a:lnTo>
                  <a:pt x="397660" y="2453032"/>
                </a:lnTo>
                <a:lnTo>
                  <a:pt x="397660" y="2450902"/>
                </a:lnTo>
                <a:lnTo>
                  <a:pt x="401228" y="2450902"/>
                </a:lnTo>
                <a:lnTo>
                  <a:pt x="401228" y="2448670"/>
                </a:lnTo>
                <a:lnTo>
                  <a:pt x="404890" y="2448670"/>
                </a:lnTo>
                <a:lnTo>
                  <a:pt x="408458" y="2448670"/>
                </a:lnTo>
                <a:lnTo>
                  <a:pt x="412026" y="2448670"/>
                </a:lnTo>
                <a:lnTo>
                  <a:pt x="415689" y="2448670"/>
                </a:lnTo>
                <a:lnTo>
                  <a:pt x="419304" y="2448670"/>
                </a:lnTo>
                <a:lnTo>
                  <a:pt x="422872" y="2448670"/>
                </a:lnTo>
                <a:lnTo>
                  <a:pt x="426440" y="2448670"/>
                </a:lnTo>
                <a:lnTo>
                  <a:pt x="426440" y="2444239"/>
                </a:lnTo>
                <a:lnTo>
                  <a:pt x="430102" y="2444239"/>
                </a:lnTo>
                <a:lnTo>
                  <a:pt x="430102" y="2437611"/>
                </a:lnTo>
                <a:lnTo>
                  <a:pt x="433670" y="2437611"/>
                </a:lnTo>
                <a:lnTo>
                  <a:pt x="437238" y="2437611"/>
                </a:lnTo>
                <a:lnTo>
                  <a:pt x="437238" y="2435379"/>
                </a:lnTo>
                <a:lnTo>
                  <a:pt x="440900" y="2435379"/>
                </a:lnTo>
                <a:lnTo>
                  <a:pt x="444468" y="2435379"/>
                </a:lnTo>
                <a:lnTo>
                  <a:pt x="448036" y="2435379"/>
                </a:lnTo>
                <a:lnTo>
                  <a:pt x="451698" y="2435379"/>
                </a:lnTo>
                <a:lnTo>
                  <a:pt x="455266" y="2435379"/>
                </a:lnTo>
                <a:lnTo>
                  <a:pt x="458881" y="2435379"/>
                </a:lnTo>
                <a:lnTo>
                  <a:pt x="462450" y="2435379"/>
                </a:lnTo>
                <a:lnTo>
                  <a:pt x="462450" y="2430948"/>
                </a:lnTo>
                <a:lnTo>
                  <a:pt x="466111" y="2430948"/>
                </a:lnTo>
                <a:lnTo>
                  <a:pt x="469680" y="2430948"/>
                </a:lnTo>
                <a:lnTo>
                  <a:pt x="469680" y="2428750"/>
                </a:lnTo>
                <a:lnTo>
                  <a:pt x="473248" y="2428750"/>
                </a:lnTo>
                <a:lnTo>
                  <a:pt x="473248" y="2426450"/>
                </a:lnTo>
                <a:lnTo>
                  <a:pt x="476910" y="2426450"/>
                </a:lnTo>
                <a:lnTo>
                  <a:pt x="476910" y="2424252"/>
                </a:lnTo>
                <a:lnTo>
                  <a:pt x="480478" y="2424252"/>
                </a:lnTo>
                <a:lnTo>
                  <a:pt x="484046" y="2424252"/>
                </a:lnTo>
                <a:lnTo>
                  <a:pt x="484046" y="2422020"/>
                </a:lnTo>
                <a:lnTo>
                  <a:pt x="487614" y="2422020"/>
                </a:lnTo>
                <a:lnTo>
                  <a:pt x="491276" y="2422020"/>
                </a:lnTo>
                <a:lnTo>
                  <a:pt x="494891" y="2422020"/>
                </a:lnTo>
                <a:lnTo>
                  <a:pt x="498459" y="2422020"/>
                </a:lnTo>
                <a:lnTo>
                  <a:pt x="502121" y="2422020"/>
                </a:lnTo>
                <a:lnTo>
                  <a:pt x="505689" y="2422020"/>
                </a:lnTo>
                <a:lnTo>
                  <a:pt x="509304" y="2422020"/>
                </a:lnTo>
                <a:lnTo>
                  <a:pt x="512826" y="2422020"/>
                </a:lnTo>
                <a:lnTo>
                  <a:pt x="516487" y="2422020"/>
                </a:lnTo>
                <a:lnTo>
                  <a:pt x="520103" y="2422020"/>
                </a:lnTo>
                <a:lnTo>
                  <a:pt x="523624" y="2422020"/>
                </a:lnTo>
                <a:lnTo>
                  <a:pt x="527286" y="2422020"/>
                </a:lnTo>
                <a:lnTo>
                  <a:pt x="530901" y="2422020"/>
                </a:lnTo>
                <a:lnTo>
                  <a:pt x="534469" y="2422020"/>
                </a:lnTo>
                <a:lnTo>
                  <a:pt x="538037" y="2422020"/>
                </a:lnTo>
                <a:lnTo>
                  <a:pt x="538037" y="2419822"/>
                </a:lnTo>
                <a:lnTo>
                  <a:pt x="541699" y="2419822"/>
                </a:lnTo>
                <a:lnTo>
                  <a:pt x="545267" y="2419822"/>
                </a:lnTo>
                <a:lnTo>
                  <a:pt x="548835" y="2419822"/>
                </a:lnTo>
                <a:lnTo>
                  <a:pt x="552497" y="2419822"/>
                </a:lnTo>
                <a:lnTo>
                  <a:pt x="556112" y="2419822"/>
                </a:lnTo>
                <a:lnTo>
                  <a:pt x="556112" y="2417590"/>
                </a:lnTo>
                <a:lnTo>
                  <a:pt x="559680" y="2417590"/>
                </a:lnTo>
                <a:lnTo>
                  <a:pt x="563248" y="2417590"/>
                </a:lnTo>
                <a:lnTo>
                  <a:pt x="566910" y="2417590"/>
                </a:lnTo>
                <a:lnTo>
                  <a:pt x="570478" y="2417590"/>
                </a:lnTo>
                <a:lnTo>
                  <a:pt x="574047" y="2417590"/>
                </a:lnTo>
                <a:lnTo>
                  <a:pt x="577708" y="2417590"/>
                </a:lnTo>
                <a:lnTo>
                  <a:pt x="581277" y="2417590"/>
                </a:lnTo>
                <a:lnTo>
                  <a:pt x="584845" y="2417590"/>
                </a:lnTo>
                <a:lnTo>
                  <a:pt x="588460" y="2417590"/>
                </a:lnTo>
                <a:lnTo>
                  <a:pt x="592122" y="2417590"/>
                </a:lnTo>
                <a:lnTo>
                  <a:pt x="595690" y="2417590"/>
                </a:lnTo>
                <a:lnTo>
                  <a:pt x="599258" y="2417590"/>
                </a:lnTo>
                <a:lnTo>
                  <a:pt x="602920" y="2417590"/>
                </a:lnTo>
                <a:lnTo>
                  <a:pt x="606488" y="2417590"/>
                </a:lnTo>
                <a:lnTo>
                  <a:pt x="610056" y="2417590"/>
                </a:lnTo>
                <a:lnTo>
                  <a:pt x="613672" y="2417590"/>
                </a:lnTo>
                <a:lnTo>
                  <a:pt x="617333" y="2417590"/>
                </a:lnTo>
                <a:lnTo>
                  <a:pt x="620855" y="2417590"/>
                </a:lnTo>
                <a:lnTo>
                  <a:pt x="624470" y="2417590"/>
                </a:lnTo>
                <a:lnTo>
                  <a:pt x="628132" y="2417590"/>
                </a:lnTo>
                <a:lnTo>
                  <a:pt x="631653" y="2417590"/>
                </a:lnTo>
                <a:lnTo>
                  <a:pt x="631653" y="2410826"/>
                </a:lnTo>
                <a:lnTo>
                  <a:pt x="635268" y="2410826"/>
                </a:lnTo>
                <a:lnTo>
                  <a:pt x="638836" y="2410826"/>
                </a:lnTo>
                <a:lnTo>
                  <a:pt x="642498" y="2410826"/>
                </a:lnTo>
                <a:lnTo>
                  <a:pt x="646066" y="2410826"/>
                </a:lnTo>
                <a:lnTo>
                  <a:pt x="649681" y="2410826"/>
                </a:lnTo>
                <a:lnTo>
                  <a:pt x="653296" y="2410826"/>
                </a:lnTo>
                <a:lnTo>
                  <a:pt x="656911" y="2410826"/>
                </a:lnTo>
                <a:lnTo>
                  <a:pt x="656911" y="2408628"/>
                </a:lnTo>
                <a:lnTo>
                  <a:pt x="660479" y="2408628"/>
                </a:lnTo>
                <a:lnTo>
                  <a:pt x="664000" y="2408628"/>
                </a:lnTo>
                <a:lnTo>
                  <a:pt x="667709" y="2408628"/>
                </a:lnTo>
                <a:lnTo>
                  <a:pt x="671277" y="2408628"/>
                </a:lnTo>
                <a:lnTo>
                  <a:pt x="674845" y="2408628"/>
                </a:lnTo>
                <a:lnTo>
                  <a:pt x="678508" y="2408628"/>
                </a:lnTo>
                <a:lnTo>
                  <a:pt x="682075" y="2408628"/>
                </a:lnTo>
                <a:lnTo>
                  <a:pt x="685644" y="2408628"/>
                </a:lnTo>
                <a:lnTo>
                  <a:pt x="689259" y="2408628"/>
                </a:lnTo>
                <a:lnTo>
                  <a:pt x="692921" y="2408628"/>
                </a:lnTo>
                <a:lnTo>
                  <a:pt x="696489" y="2408628"/>
                </a:lnTo>
                <a:lnTo>
                  <a:pt x="700057" y="2408628"/>
                </a:lnTo>
                <a:lnTo>
                  <a:pt x="703719" y="2408628"/>
                </a:lnTo>
                <a:lnTo>
                  <a:pt x="703719" y="2406430"/>
                </a:lnTo>
                <a:lnTo>
                  <a:pt x="707287" y="2406430"/>
                </a:lnTo>
                <a:lnTo>
                  <a:pt x="710855" y="2406430"/>
                </a:lnTo>
                <a:lnTo>
                  <a:pt x="714470" y="2406430"/>
                </a:lnTo>
                <a:lnTo>
                  <a:pt x="718085" y="2406430"/>
                </a:lnTo>
                <a:lnTo>
                  <a:pt x="721653" y="2406430"/>
                </a:lnTo>
                <a:lnTo>
                  <a:pt x="725269" y="2406430"/>
                </a:lnTo>
                <a:lnTo>
                  <a:pt x="728930" y="2406430"/>
                </a:lnTo>
                <a:lnTo>
                  <a:pt x="732499" y="2406430"/>
                </a:lnTo>
                <a:lnTo>
                  <a:pt x="736067" y="2406430"/>
                </a:lnTo>
                <a:lnTo>
                  <a:pt x="739635" y="2406430"/>
                </a:lnTo>
                <a:lnTo>
                  <a:pt x="739635" y="2404130"/>
                </a:lnTo>
                <a:lnTo>
                  <a:pt x="743250" y="2404130"/>
                </a:lnTo>
                <a:lnTo>
                  <a:pt x="746865" y="2404130"/>
                </a:lnTo>
                <a:lnTo>
                  <a:pt x="750433" y="2404130"/>
                </a:lnTo>
                <a:lnTo>
                  <a:pt x="754095" y="2404130"/>
                </a:lnTo>
                <a:lnTo>
                  <a:pt x="757663" y="2404130"/>
                </a:lnTo>
                <a:lnTo>
                  <a:pt x="757663" y="2399666"/>
                </a:lnTo>
                <a:lnTo>
                  <a:pt x="761278" y="2399666"/>
                </a:lnTo>
                <a:lnTo>
                  <a:pt x="764846" y="2399666"/>
                </a:lnTo>
                <a:lnTo>
                  <a:pt x="768508" y="2399666"/>
                </a:lnTo>
                <a:lnTo>
                  <a:pt x="772076" y="2399666"/>
                </a:lnTo>
                <a:lnTo>
                  <a:pt x="772076" y="2397366"/>
                </a:lnTo>
                <a:lnTo>
                  <a:pt x="775644" y="2397366"/>
                </a:lnTo>
                <a:lnTo>
                  <a:pt x="779259" y="2397366"/>
                </a:lnTo>
                <a:lnTo>
                  <a:pt x="779259" y="2395168"/>
                </a:lnTo>
                <a:lnTo>
                  <a:pt x="782875" y="2395168"/>
                </a:lnTo>
                <a:lnTo>
                  <a:pt x="786443" y="2395168"/>
                </a:lnTo>
                <a:lnTo>
                  <a:pt x="790058" y="2395168"/>
                </a:lnTo>
                <a:lnTo>
                  <a:pt x="793673" y="2395168"/>
                </a:lnTo>
                <a:lnTo>
                  <a:pt x="797288" y="2395168"/>
                </a:lnTo>
                <a:lnTo>
                  <a:pt x="800856" y="2395168"/>
                </a:lnTo>
                <a:lnTo>
                  <a:pt x="804518" y="2395168"/>
                </a:lnTo>
                <a:lnTo>
                  <a:pt x="808086" y="2395168"/>
                </a:lnTo>
                <a:lnTo>
                  <a:pt x="811654" y="2395168"/>
                </a:lnTo>
                <a:lnTo>
                  <a:pt x="815222" y="2395168"/>
                </a:lnTo>
                <a:lnTo>
                  <a:pt x="818884" y="2395168"/>
                </a:lnTo>
                <a:lnTo>
                  <a:pt x="822452" y="2395168"/>
                </a:lnTo>
                <a:lnTo>
                  <a:pt x="826067" y="2395168"/>
                </a:lnTo>
                <a:lnTo>
                  <a:pt x="829683" y="2395168"/>
                </a:lnTo>
                <a:lnTo>
                  <a:pt x="833250" y="2395168"/>
                </a:lnTo>
                <a:lnTo>
                  <a:pt x="833250" y="2390670"/>
                </a:lnTo>
                <a:lnTo>
                  <a:pt x="836866" y="2390670"/>
                </a:lnTo>
                <a:lnTo>
                  <a:pt x="836866" y="2388404"/>
                </a:lnTo>
                <a:lnTo>
                  <a:pt x="840434" y="2388404"/>
                </a:lnTo>
                <a:lnTo>
                  <a:pt x="840434" y="2386139"/>
                </a:lnTo>
                <a:lnTo>
                  <a:pt x="844096" y="2386139"/>
                </a:lnTo>
                <a:lnTo>
                  <a:pt x="847711" y="2386139"/>
                </a:lnTo>
                <a:lnTo>
                  <a:pt x="851232" y="2386139"/>
                </a:lnTo>
                <a:lnTo>
                  <a:pt x="851232" y="2379408"/>
                </a:lnTo>
                <a:lnTo>
                  <a:pt x="854894" y="2379408"/>
                </a:lnTo>
                <a:lnTo>
                  <a:pt x="854894" y="2377143"/>
                </a:lnTo>
                <a:lnTo>
                  <a:pt x="858509" y="2377143"/>
                </a:lnTo>
                <a:lnTo>
                  <a:pt x="858509" y="2370412"/>
                </a:lnTo>
                <a:lnTo>
                  <a:pt x="862030" y="2370412"/>
                </a:lnTo>
                <a:lnTo>
                  <a:pt x="862030" y="2363649"/>
                </a:lnTo>
                <a:lnTo>
                  <a:pt x="865692" y="2363649"/>
                </a:lnTo>
                <a:lnTo>
                  <a:pt x="869260" y="2363649"/>
                </a:lnTo>
                <a:lnTo>
                  <a:pt x="872875" y="2363649"/>
                </a:lnTo>
                <a:lnTo>
                  <a:pt x="872875" y="2356817"/>
                </a:lnTo>
                <a:lnTo>
                  <a:pt x="876444" y="2356817"/>
                </a:lnTo>
                <a:lnTo>
                  <a:pt x="876444" y="2354552"/>
                </a:lnTo>
                <a:lnTo>
                  <a:pt x="880105" y="2354552"/>
                </a:lnTo>
                <a:lnTo>
                  <a:pt x="880105" y="2350054"/>
                </a:lnTo>
                <a:lnTo>
                  <a:pt x="883721" y="2350054"/>
                </a:lnTo>
                <a:lnTo>
                  <a:pt x="883721" y="2345488"/>
                </a:lnTo>
                <a:lnTo>
                  <a:pt x="887242" y="2345488"/>
                </a:lnTo>
                <a:lnTo>
                  <a:pt x="887242" y="2340956"/>
                </a:lnTo>
                <a:lnTo>
                  <a:pt x="890904" y="2340956"/>
                </a:lnTo>
                <a:lnTo>
                  <a:pt x="890904" y="2336458"/>
                </a:lnTo>
                <a:lnTo>
                  <a:pt x="894519" y="2336458"/>
                </a:lnTo>
                <a:lnTo>
                  <a:pt x="898040" y="2336458"/>
                </a:lnTo>
                <a:lnTo>
                  <a:pt x="898040" y="2334192"/>
                </a:lnTo>
                <a:lnTo>
                  <a:pt x="901655" y="2334192"/>
                </a:lnTo>
                <a:lnTo>
                  <a:pt x="901655" y="2331926"/>
                </a:lnTo>
                <a:lnTo>
                  <a:pt x="905317" y="2331926"/>
                </a:lnTo>
                <a:lnTo>
                  <a:pt x="908885" y="2331926"/>
                </a:lnTo>
                <a:lnTo>
                  <a:pt x="912453" y="2331926"/>
                </a:lnTo>
                <a:lnTo>
                  <a:pt x="916115" y="2331926"/>
                </a:lnTo>
                <a:lnTo>
                  <a:pt x="919683" y="2331926"/>
                </a:lnTo>
                <a:lnTo>
                  <a:pt x="923251" y="2331926"/>
                </a:lnTo>
                <a:lnTo>
                  <a:pt x="926866" y="2331926"/>
                </a:lnTo>
                <a:lnTo>
                  <a:pt x="930528" y="2331926"/>
                </a:lnTo>
                <a:lnTo>
                  <a:pt x="934050" y="2331926"/>
                </a:lnTo>
                <a:lnTo>
                  <a:pt x="937665" y="2331926"/>
                </a:lnTo>
                <a:lnTo>
                  <a:pt x="941327" y="2331926"/>
                </a:lnTo>
                <a:lnTo>
                  <a:pt x="941327" y="2327395"/>
                </a:lnTo>
                <a:lnTo>
                  <a:pt x="944894" y="2327395"/>
                </a:lnTo>
                <a:lnTo>
                  <a:pt x="948463" y="2327395"/>
                </a:lnTo>
                <a:lnTo>
                  <a:pt x="952031" y="2327395"/>
                </a:lnTo>
                <a:lnTo>
                  <a:pt x="952031" y="2325095"/>
                </a:lnTo>
                <a:lnTo>
                  <a:pt x="955693" y="2325095"/>
                </a:lnTo>
                <a:lnTo>
                  <a:pt x="959261" y="2325095"/>
                </a:lnTo>
                <a:lnTo>
                  <a:pt x="962876" y="2325095"/>
                </a:lnTo>
                <a:lnTo>
                  <a:pt x="966538" y="2325095"/>
                </a:lnTo>
                <a:lnTo>
                  <a:pt x="970059" y="2325095"/>
                </a:lnTo>
                <a:lnTo>
                  <a:pt x="973674" y="2325095"/>
                </a:lnTo>
                <a:lnTo>
                  <a:pt x="977242" y="2325095"/>
                </a:lnTo>
                <a:lnTo>
                  <a:pt x="980904" y="2325095"/>
                </a:lnTo>
                <a:lnTo>
                  <a:pt x="984472" y="2325095"/>
                </a:lnTo>
                <a:lnTo>
                  <a:pt x="988041" y="2325095"/>
                </a:lnTo>
                <a:lnTo>
                  <a:pt x="991702" y="2325095"/>
                </a:lnTo>
                <a:lnTo>
                  <a:pt x="995318" y="2325095"/>
                </a:lnTo>
                <a:lnTo>
                  <a:pt x="998886" y="2325095"/>
                </a:lnTo>
                <a:lnTo>
                  <a:pt x="1002454" y="2325095"/>
                </a:lnTo>
                <a:lnTo>
                  <a:pt x="1002454" y="2322829"/>
                </a:lnTo>
                <a:lnTo>
                  <a:pt x="1006116" y="2322829"/>
                </a:lnTo>
                <a:lnTo>
                  <a:pt x="1009684" y="2322829"/>
                </a:lnTo>
                <a:lnTo>
                  <a:pt x="1013252" y="2322829"/>
                </a:lnTo>
                <a:lnTo>
                  <a:pt x="1016914" y="2322829"/>
                </a:lnTo>
                <a:lnTo>
                  <a:pt x="1016914" y="2320563"/>
                </a:lnTo>
                <a:lnTo>
                  <a:pt x="1020482" y="2320563"/>
                </a:lnTo>
                <a:lnTo>
                  <a:pt x="1024050" y="2320563"/>
                </a:lnTo>
                <a:lnTo>
                  <a:pt x="1024050" y="2318297"/>
                </a:lnTo>
                <a:lnTo>
                  <a:pt x="1027665" y="2318297"/>
                </a:lnTo>
                <a:lnTo>
                  <a:pt x="1031280" y="2318297"/>
                </a:lnTo>
                <a:lnTo>
                  <a:pt x="1031280" y="2316032"/>
                </a:lnTo>
                <a:lnTo>
                  <a:pt x="1034896" y="2316032"/>
                </a:lnTo>
                <a:lnTo>
                  <a:pt x="1038463" y="2316032"/>
                </a:lnTo>
                <a:lnTo>
                  <a:pt x="1042125" y="2316032"/>
                </a:lnTo>
                <a:lnTo>
                  <a:pt x="1045694" y="2316032"/>
                </a:lnTo>
                <a:lnTo>
                  <a:pt x="1045694" y="2313732"/>
                </a:lnTo>
                <a:lnTo>
                  <a:pt x="1049262" y="2313732"/>
                </a:lnTo>
                <a:lnTo>
                  <a:pt x="1052830" y="2313732"/>
                </a:lnTo>
                <a:lnTo>
                  <a:pt x="1056492" y="2313732"/>
                </a:lnTo>
                <a:lnTo>
                  <a:pt x="1056492" y="2311500"/>
                </a:lnTo>
                <a:lnTo>
                  <a:pt x="1060107" y="2311500"/>
                </a:lnTo>
                <a:lnTo>
                  <a:pt x="1060107" y="2309200"/>
                </a:lnTo>
                <a:lnTo>
                  <a:pt x="1063628" y="2309200"/>
                </a:lnTo>
                <a:lnTo>
                  <a:pt x="1067290" y="2309200"/>
                </a:lnTo>
                <a:lnTo>
                  <a:pt x="1070905" y="2309200"/>
                </a:lnTo>
                <a:lnTo>
                  <a:pt x="1074473" y="2309200"/>
                </a:lnTo>
                <a:lnTo>
                  <a:pt x="1078041" y="2309200"/>
                </a:lnTo>
                <a:lnTo>
                  <a:pt x="1081703" y="2309200"/>
                </a:lnTo>
                <a:lnTo>
                  <a:pt x="1085271" y="2309200"/>
                </a:lnTo>
                <a:lnTo>
                  <a:pt x="1085271" y="2306934"/>
                </a:lnTo>
                <a:lnTo>
                  <a:pt x="1088839" y="2306934"/>
                </a:lnTo>
                <a:lnTo>
                  <a:pt x="1092502" y="2306934"/>
                </a:lnTo>
                <a:lnTo>
                  <a:pt x="1096069" y="2306934"/>
                </a:lnTo>
                <a:lnTo>
                  <a:pt x="1099685" y="2306934"/>
                </a:lnTo>
                <a:lnTo>
                  <a:pt x="1103253" y="2306934"/>
                </a:lnTo>
                <a:lnTo>
                  <a:pt x="1106915" y="2306934"/>
                </a:lnTo>
                <a:lnTo>
                  <a:pt x="1110483" y="2306934"/>
                </a:lnTo>
                <a:lnTo>
                  <a:pt x="1114051" y="2306934"/>
                </a:lnTo>
                <a:lnTo>
                  <a:pt x="1117713" y="2306934"/>
                </a:lnTo>
                <a:lnTo>
                  <a:pt x="1121281" y="2306934"/>
                </a:lnTo>
                <a:lnTo>
                  <a:pt x="1124849" y="2306934"/>
                </a:lnTo>
                <a:lnTo>
                  <a:pt x="1128417" y="2306934"/>
                </a:lnTo>
                <a:lnTo>
                  <a:pt x="1132079" y="2306934"/>
                </a:lnTo>
                <a:lnTo>
                  <a:pt x="1135694" y="2306934"/>
                </a:lnTo>
                <a:lnTo>
                  <a:pt x="1139262" y="2306934"/>
                </a:lnTo>
                <a:lnTo>
                  <a:pt x="1142877" y="2306934"/>
                </a:lnTo>
                <a:lnTo>
                  <a:pt x="1146493" y="2306934"/>
                </a:lnTo>
                <a:lnTo>
                  <a:pt x="1150061" y="2306934"/>
                </a:lnTo>
                <a:lnTo>
                  <a:pt x="1153629" y="2306934"/>
                </a:lnTo>
                <a:lnTo>
                  <a:pt x="1157291" y="2306934"/>
                </a:lnTo>
                <a:lnTo>
                  <a:pt x="1160859" y="2306934"/>
                </a:lnTo>
                <a:lnTo>
                  <a:pt x="1164427" y="2306934"/>
                </a:lnTo>
                <a:lnTo>
                  <a:pt x="1168089" y="2306934"/>
                </a:lnTo>
                <a:lnTo>
                  <a:pt x="1171704" y="2306934"/>
                </a:lnTo>
                <a:lnTo>
                  <a:pt x="1175272" y="2306934"/>
                </a:lnTo>
                <a:lnTo>
                  <a:pt x="1178840" y="2306934"/>
                </a:lnTo>
                <a:lnTo>
                  <a:pt x="1182502" y="2306934"/>
                </a:lnTo>
                <a:lnTo>
                  <a:pt x="1182502" y="2304635"/>
                </a:lnTo>
                <a:lnTo>
                  <a:pt x="1186070" y="2304635"/>
                </a:lnTo>
                <a:lnTo>
                  <a:pt x="1189638" y="2304635"/>
                </a:lnTo>
                <a:lnTo>
                  <a:pt x="1193300" y="2304635"/>
                </a:lnTo>
                <a:lnTo>
                  <a:pt x="1196915" y="2304635"/>
                </a:lnTo>
                <a:lnTo>
                  <a:pt x="1200437" y="2304635"/>
                </a:lnTo>
                <a:lnTo>
                  <a:pt x="1204052" y="2304635"/>
                </a:lnTo>
                <a:lnTo>
                  <a:pt x="1207667" y="2304635"/>
                </a:lnTo>
                <a:lnTo>
                  <a:pt x="1211282" y="2304635"/>
                </a:lnTo>
                <a:lnTo>
                  <a:pt x="1214850" y="2304635"/>
                </a:lnTo>
                <a:lnTo>
                  <a:pt x="1214850" y="2300035"/>
                </a:lnTo>
                <a:lnTo>
                  <a:pt x="1218512" y="2300035"/>
                </a:lnTo>
                <a:lnTo>
                  <a:pt x="1222080" y="2300035"/>
                </a:lnTo>
                <a:lnTo>
                  <a:pt x="1225648" y="2300035"/>
                </a:lnTo>
                <a:lnTo>
                  <a:pt x="1225648" y="2297770"/>
                </a:lnTo>
                <a:lnTo>
                  <a:pt x="1229310" y="2297770"/>
                </a:lnTo>
                <a:lnTo>
                  <a:pt x="1232925" y="2297770"/>
                </a:lnTo>
                <a:lnTo>
                  <a:pt x="1232925" y="2295504"/>
                </a:lnTo>
                <a:lnTo>
                  <a:pt x="1236446" y="2295504"/>
                </a:lnTo>
                <a:lnTo>
                  <a:pt x="1240014" y="2295504"/>
                </a:lnTo>
                <a:lnTo>
                  <a:pt x="1243723" y="2295504"/>
                </a:lnTo>
                <a:lnTo>
                  <a:pt x="1243723" y="2293238"/>
                </a:lnTo>
                <a:lnTo>
                  <a:pt x="1247291" y="2293238"/>
                </a:lnTo>
                <a:lnTo>
                  <a:pt x="1250860" y="2293238"/>
                </a:lnTo>
                <a:lnTo>
                  <a:pt x="1254521" y="2293238"/>
                </a:lnTo>
                <a:lnTo>
                  <a:pt x="1254521" y="2288605"/>
                </a:lnTo>
                <a:lnTo>
                  <a:pt x="1258090" y="2288605"/>
                </a:lnTo>
                <a:lnTo>
                  <a:pt x="1258090" y="2286339"/>
                </a:lnTo>
                <a:lnTo>
                  <a:pt x="1261658" y="2286339"/>
                </a:lnTo>
                <a:lnTo>
                  <a:pt x="1261658" y="2279508"/>
                </a:lnTo>
                <a:lnTo>
                  <a:pt x="1265273" y="2279508"/>
                </a:lnTo>
                <a:lnTo>
                  <a:pt x="1265273" y="2277174"/>
                </a:lnTo>
                <a:lnTo>
                  <a:pt x="1268935" y="2277174"/>
                </a:lnTo>
                <a:lnTo>
                  <a:pt x="1268935" y="2274942"/>
                </a:lnTo>
                <a:lnTo>
                  <a:pt x="1272456" y="2274942"/>
                </a:lnTo>
                <a:lnTo>
                  <a:pt x="1276071" y="2274942"/>
                </a:lnTo>
                <a:lnTo>
                  <a:pt x="1276071" y="2268043"/>
                </a:lnTo>
                <a:lnTo>
                  <a:pt x="1279733" y="2268043"/>
                </a:lnTo>
                <a:lnTo>
                  <a:pt x="1283301" y="2268043"/>
                </a:lnTo>
                <a:lnTo>
                  <a:pt x="1286869" y="2268043"/>
                </a:lnTo>
                <a:lnTo>
                  <a:pt x="1286869" y="2256646"/>
                </a:lnTo>
                <a:lnTo>
                  <a:pt x="1290484" y="2256646"/>
                </a:lnTo>
                <a:lnTo>
                  <a:pt x="1290484" y="2247481"/>
                </a:lnTo>
                <a:lnTo>
                  <a:pt x="1294099" y="2247481"/>
                </a:lnTo>
                <a:lnTo>
                  <a:pt x="1294099" y="2231417"/>
                </a:lnTo>
                <a:lnTo>
                  <a:pt x="1297668" y="2231417"/>
                </a:lnTo>
                <a:lnTo>
                  <a:pt x="1301282" y="2231417"/>
                </a:lnTo>
                <a:lnTo>
                  <a:pt x="1301282" y="2226851"/>
                </a:lnTo>
                <a:lnTo>
                  <a:pt x="1304945" y="2226851"/>
                </a:lnTo>
                <a:lnTo>
                  <a:pt x="1304945" y="2222218"/>
                </a:lnTo>
                <a:lnTo>
                  <a:pt x="1308466" y="2222218"/>
                </a:lnTo>
                <a:lnTo>
                  <a:pt x="1308466" y="2213020"/>
                </a:lnTo>
                <a:lnTo>
                  <a:pt x="1312080" y="2213020"/>
                </a:lnTo>
                <a:lnTo>
                  <a:pt x="1312080" y="2208454"/>
                </a:lnTo>
                <a:lnTo>
                  <a:pt x="1315649" y="2208454"/>
                </a:lnTo>
                <a:lnTo>
                  <a:pt x="1319264" y="2208454"/>
                </a:lnTo>
                <a:lnTo>
                  <a:pt x="1319264" y="2206154"/>
                </a:lnTo>
                <a:lnTo>
                  <a:pt x="1322879" y="2206154"/>
                </a:lnTo>
                <a:lnTo>
                  <a:pt x="1322879" y="2199221"/>
                </a:lnTo>
                <a:lnTo>
                  <a:pt x="1326447" y="2199221"/>
                </a:lnTo>
                <a:lnTo>
                  <a:pt x="1326447" y="2194622"/>
                </a:lnTo>
                <a:lnTo>
                  <a:pt x="1330109" y="2194622"/>
                </a:lnTo>
                <a:lnTo>
                  <a:pt x="1333677" y="2194622"/>
                </a:lnTo>
                <a:lnTo>
                  <a:pt x="1333677" y="2190022"/>
                </a:lnTo>
                <a:lnTo>
                  <a:pt x="1337292" y="2190022"/>
                </a:lnTo>
                <a:lnTo>
                  <a:pt x="1337292" y="2187689"/>
                </a:lnTo>
                <a:lnTo>
                  <a:pt x="1340813" y="2187689"/>
                </a:lnTo>
                <a:lnTo>
                  <a:pt x="1344523" y="2187689"/>
                </a:lnTo>
                <a:lnTo>
                  <a:pt x="1344523" y="2185423"/>
                </a:lnTo>
                <a:lnTo>
                  <a:pt x="1348090" y="2185423"/>
                </a:lnTo>
                <a:lnTo>
                  <a:pt x="1351658" y="2185423"/>
                </a:lnTo>
                <a:lnTo>
                  <a:pt x="1355321" y="2185423"/>
                </a:lnTo>
                <a:lnTo>
                  <a:pt x="1358889" y="2185423"/>
                </a:lnTo>
                <a:lnTo>
                  <a:pt x="1362456" y="2185423"/>
                </a:lnTo>
                <a:lnTo>
                  <a:pt x="1362456" y="2180756"/>
                </a:lnTo>
                <a:lnTo>
                  <a:pt x="1366072" y="2180756"/>
                </a:lnTo>
                <a:lnTo>
                  <a:pt x="1369687" y="2180756"/>
                </a:lnTo>
                <a:lnTo>
                  <a:pt x="1373302" y="2180756"/>
                </a:lnTo>
                <a:lnTo>
                  <a:pt x="1373302" y="2178491"/>
                </a:lnTo>
                <a:lnTo>
                  <a:pt x="1376870" y="2178491"/>
                </a:lnTo>
                <a:lnTo>
                  <a:pt x="1380532" y="2178491"/>
                </a:lnTo>
                <a:lnTo>
                  <a:pt x="1384100" y="2178491"/>
                </a:lnTo>
                <a:lnTo>
                  <a:pt x="1387668" y="2178491"/>
                </a:lnTo>
                <a:lnTo>
                  <a:pt x="1387668" y="2176157"/>
                </a:lnTo>
                <a:lnTo>
                  <a:pt x="1391236" y="2176157"/>
                </a:lnTo>
                <a:lnTo>
                  <a:pt x="1394898" y="2176157"/>
                </a:lnTo>
                <a:lnTo>
                  <a:pt x="1398466" y="2176157"/>
                </a:lnTo>
                <a:lnTo>
                  <a:pt x="1402082" y="2176157"/>
                </a:lnTo>
                <a:lnTo>
                  <a:pt x="1405696" y="2176157"/>
                </a:lnTo>
                <a:lnTo>
                  <a:pt x="1409265" y="2176157"/>
                </a:lnTo>
                <a:lnTo>
                  <a:pt x="1409265" y="2173824"/>
                </a:lnTo>
                <a:lnTo>
                  <a:pt x="1412880" y="2173824"/>
                </a:lnTo>
                <a:lnTo>
                  <a:pt x="1412880" y="2171524"/>
                </a:lnTo>
                <a:lnTo>
                  <a:pt x="1416448" y="2171524"/>
                </a:lnTo>
                <a:lnTo>
                  <a:pt x="1420110" y="2171524"/>
                </a:lnTo>
                <a:lnTo>
                  <a:pt x="1423678" y="2171524"/>
                </a:lnTo>
                <a:lnTo>
                  <a:pt x="1427246" y="2171524"/>
                </a:lnTo>
                <a:lnTo>
                  <a:pt x="1427246" y="2169224"/>
                </a:lnTo>
                <a:lnTo>
                  <a:pt x="1430908" y="2169224"/>
                </a:lnTo>
                <a:lnTo>
                  <a:pt x="1434476" y="2169224"/>
                </a:lnTo>
                <a:lnTo>
                  <a:pt x="1438091" y="2169224"/>
                </a:lnTo>
                <a:lnTo>
                  <a:pt x="1438091" y="2166891"/>
                </a:lnTo>
                <a:lnTo>
                  <a:pt x="1441659" y="2166891"/>
                </a:lnTo>
                <a:lnTo>
                  <a:pt x="1445322" y="2166891"/>
                </a:lnTo>
                <a:lnTo>
                  <a:pt x="1445322" y="2164557"/>
                </a:lnTo>
                <a:lnTo>
                  <a:pt x="1448889" y="2164557"/>
                </a:lnTo>
                <a:lnTo>
                  <a:pt x="1452457" y="2164557"/>
                </a:lnTo>
                <a:lnTo>
                  <a:pt x="1456120" y="2164557"/>
                </a:lnTo>
                <a:lnTo>
                  <a:pt x="1459688" y="2164557"/>
                </a:lnTo>
                <a:lnTo>
                  <a:pt x="1459688" y="2162257"/>
                </a:lnTo>
                <a:lnTo>
                  <a:pt x="1463255" y="2162257"/>
                </a:lnTo>
                <a:lnTo>
                  <a:pt x="1466824" y="2162257"/>
                </a:lnTo>
                <a:lnTo>
                  <a:pt x="1470486" y="2162257"/>
                </a:lnTo>
                <a:lnTo>
                  <a:pt x="1474054" y="2162257"/>
                </a:lnTo>
                <a:lnTo>
                  <a:pt x="1477669" y="2162257"/>
                </a:lnTo>
                <a:lnTo>
                  <a:pt x="1481331" y="2162257"/>
                </a:lnTo>
                <a:lnTo>
                  <a:pt x="1484899" y="2162257"/>
                </a:lnTo>
                <a:lnTo>
                  <a:pt x="1488467" y="2162257"/>
                </a:lnTo>
                <a:lnTo>
                  <a:pt x="1492082" y="2162257"/>
                </a:lnTo>
                <a:lnTo>
                  <a:pt x="1495697" y="2162257"/>
                </a:lnTo>
                <a:lnTo>
                  <a:pt x="1499265" y="2162257"/>
                </a:lnTo>
                <a:lnTo>
                  <a:pt x="1502833" y="2162257"/>
                </a:lnTo>
                <a:lnTo>
                  <a:pt x="1506495" y="2162257"/>
                </a:lnTo>
                <a:lnTo>
                  <a:pt x="1510064" y="2162257"/>
                </a:lnTo>
                <a:lnTo>
                  <a:pt x="1513679" y="2162257"/>
                </a:lnTo>
                <a:lnTo>
                  <a:pt x="1517246" y="2162257"/>
                </a:lnTo>
                <a:lnTo>
                  <a:pt x="1517246" y="2159958"/>
                </a:lnTo>
                <a:lnTo>
                  <a:pt x="1520908" y="2159958"/>
                </a:lnTo>
                <a:lnTo>
                  <a:pt x="1524477" y="2159958"/>
                </a:lnTo>
                <a:lnTo>
                  <a:pt x="1528045" y="2159958"/>
                </a:lnTo>
                <a:lnTo>
                  <a:pt x="1531707" y="2159958"/>
                </a:lnTo>
                <a:lnTo>
                  <a:pt x="1535322" y="2159958"/>
                </a:lnTo>
                <a:lnTo>
                  <a:pt x="1538843" y="2159958"/>
                </a:lnTo>
                <a:lnTo>
                  <a:pt x="1542459" y="2159958"/>
                </a:lnTo>
                <a:lnTo>
                  <a:pt x="1546120" y="2159958"/>
                </a:lnTo>
                <a:lnTo>
                  <a:pt x="1549688" y="2159958"/>
                </a:lnTo>
                <a:lnTo>
                  <a:pt x="1553257" y="2159958"/>
                </a:lnTo>
                <a:lnTo>
                  <a:pt x="1556918" y="2159958"/>
                </a:lnTo>
                <a:lnTo>
                  <a:pt x="1560486" y="2159958"/>
                </a:lnTo>
                <a:lnTo>
                  <a:pt x="1564055" y="2159958"/>
                </a:lnTo>
                <a:lnTo>
                  <a:pt x="1567623" y="2159958"/>
                </a:lnTo>
                <a:lnTo>
                  <a:pt x="1567623" y="2157624"/>
                </a:lnTo>
                <a:lnTo>
                  <a:pt x="1571332" y="2157624"/>
                </a:lnTo>
                <a:lnTo>
                  <a:pt x="1574853" y="2157624"/>
                </a:lnTo>
                <a:lnTo>
                  <a:pt x="1578468" y="2157624"/>
                </a:lnTo>
                <a:lnTo>
                  <a:pt x="1582130" y="2157624"/>
                </a:lnTo>
                <a:lnTo>
                  <a:pt x="1585651" y="2157624"/>
                </a:lnTo>
                <a:lnTo>
                  <a:pt x="1589266" y="2157624"/>
                </a:lnTo>
                <a:lnTo>
                  <a:pt x="1589266" y="2155291"/>
                </a:lnTo>
                <a:lnTo>
                  <a:pt x="1592834" y="2155291"/>
                </a:lnTo>
                <a:lnTo>
                  <a:pt x="1592834" y="2152957"/>
                </a:lnTo>
                <a:lnTo>
                  <a:pt x="1596497" y="2152957"/>
                </a:lnTo>
                <a:lnTo>
                  <a:pt x="1600064" y="2152957"/>
                </a:lnTo>
                <a:lnTo>
                  <a:pt x="1603679" y="2152957"/>
                </a:lnTo>
                <a:lnTo>
                  <a:pt x="1607295" y="2152957"/>
                </a:lnTo>
                <a:lnTo>
                  <a:pt x="1610863" y="2152957"/>
                </a:lnTo>
                <a:lnTo>
                  <a:pt x="1614478" y="2152957"/>
                </a:lnTo>
                <a:lnTo>
                  <a:pt x="1614478" y="2150624"/>
                </a:lnTo>
                <a:lnTo>
                  <a:pt x="1618140" y="2150624"/>
                </a:lnTo>
                <a:lnTo>
                  <a:pt x="1621661" y="2150624"/>
                </a:lnTo>
                <a:lnTo>
                  <a:pt x="1625276" y="2150624"/>
                </a:lnTo>
                <a:lnTo>
                  <a:pt x="1628844" y="2150624"/>
                </a:lnTo>
                <a:lnTo>
                  <a:pt x="1632506" y="2150624"/>
                </a:lnTo>
                <a:lnTo>
                  <a:pt x="1636121" y="2150624"/>
                </a:lnTo>
                <a:lnTo>
                  <a:pt x="1639689" y="2150624"/>
                </a:lnTo>
                <a:lnTo>
                  <a:pt x="1643304" y="2150624"/>
                </a:lnTo>
                <a:lnTo>
                  <a:pt x="1646872" y="2150624"/>
                </a:lnTo>
                <a:lnTo>
                  <a:pt x="1650487" y="2150624"/>
                </a:lnTo>
                <a:lnTo>
                  <a:pt x="1654055" y="2150624"/>
                </a:lnTo>
                <a:lnTo>
                  <a:pt x="1657670" y="2150624"/>
                </a:lnTo>
                <a:lnTo>
                  <a:pt x="1661285" y="2150624"/>
                </a:lnTo>
                <a:lnTo>
                  <a:pt x="1664854" y="2150624"/>
                </a:lnTo>
                <a:lnTo>
                  <a:pt x="1668516" y="2150624"/>
                </a:lnTo>
                <a:lnTo>
                  <a:pt x="1672083" y="2150624"/>
                </a:lnTo>
                <a:lnTo>
                  <a:pt x="1675698" y="2150624"/>
                </a:lnTo>
                <a:lnTo>
                  <a:pt x="1679220" y="2150624"/>
                </a:lnTo>
                <a:lnTo>
                  <a:pt x="1679220" y="2148290"/>
                </a:lnTo>
                <a:lnTo>
                  <a:pt x="1682929" y="2148290"/>
                </a:lnTo>
                <a:lnTo>
                  <a:pt x="1682929" y="2143691"/>
                </a:lnTo>
                <a:lnTo>
                  <a:pt x="1686497" y="2143691"/>
                </a:lnTo>
                <a:lnTo>
                  <a:pt x="1686497" y="2136690"/>
                </a:lnTo>
                <a:lnTo>
                  <a:pt x="1690065" y="2136690"/>
                </a:lnTo>
                <a:lnTo>
                  <a:pt x="1690065" y="2122689"/>
                </a:lnTo>
                <a:lnTo>
                  <a:pt x="1693727" y="2122689"/>
                </a:lnTo>
                <a:lnTo>
                  <a:pt x="1693727" y="2118022"/>
                </a:lnTo>
                <a:lnTo>
                  <a:pt x="1697248" y="2118022"/>
                </a:lnTo>
                <a:lnTo>
                  <a:pt x="1697248" y="2115723"/>
                </a:lnTo>
                <a:lnTo>
                  <a:pt x="1700863" y="2115723"/>
                </a:lnTo>
                <a:lnTo>
                  <a:pt x="1700863" y="2113389"/>
                </a:lnTo>
                <a:lnTo>
                  <a:pt x="1704432" y="2113389"/>
                </a:lnTo>
                <a:lnTo>
                  <a:pt x="1704432" y="2108688"/>
                </a:lnTo>
                <a:lnTo>
                  <a:pt x="1708093" y="2108688"/>
                </a:lnTo>
                <a:lnTo>
                  <a:pt x="1711709" y="2108688"/>
                </a:lnTo>
                <a:lnTo>
                  <a:pt x="1711709" y="2101654"/>
                </a:lnTo>
                <a:lnTo>
                  <a:pt x="1715277" y="2101654"/>
                </a:lnTo>
                <a:lnTo>
                  <a:pt x="1715277" y="2090020"/>
                </a:lnTo>
                <a:lnTo>
                  <a:pt x="1718938" y="2090020"/>
                </a:lnTo>
                <a:lnTo>
                  <a:pt x="1718938" y="2085353"/>
                </a:lnTo>
                <a:lnTo>
                  <a:pt x="1722507" y="2085353"/>
                </a:lnTo>
                <a:lnTo>
                  <a:pt x="1722507" y="2075985"/>
                </a:lnTo>
                <a:lnTo>
                  <a:pt x="1726075" y="2075985"/>
                </a:lnTo>
                <a:lnTo>
                  <a:pt x="1726075" y="2068917"/>
                </a:lnTo>
                <a:lnTo>
                  <a:pt x="1729643" y="2068917"/>
                </a:lnTo>
                <a:lnTo>
                  <a:pt x="1729643" y="2061950"/>
                </a:lnTo>
                <a:lnTo>
                  <a:pt x="1733305" y="2061950"/>
                </a:lnTo>
                <a:lnTo>
                  <a:pt x="1733305" y="2059583"/>
                </a:lnTo>
                <a:lnTo>
                  <a:pt x="1736873" y="2059583"/>
                </a:lnTo>
                <a:lnTo>
                  <a:pt x="1736873" y="2052515"/>
                </a:lnTo>
                <a:lnTo>
                  <a:pt x="1740441" y="2052515"/>
                </a:lnTo>
                <a:lnTo>
                  <a:pt x="1740441" y="2043147"/>
                </a:lnTo>
                <a:lnTo>
                  <a:pt x="1744103" y="2043147"/>
                </a:lnTo>
                <a:lnTo>
                  <a:pt x="1744103" y="2040813"/>
                </a:lnTo>
                <a:lnTo>
                  <a:pt x="1747718" y="2040813"/>
                </a:lnTo>
                <a:lnTo>
                  <a:pt x="1747718" y="2038480"/>
                </a:lnTo>
                <a:lnTo>
                  <a:pt x="1751286" y="2038480"/>
                </a:lnTo>
                <a:lnTo>
                  <a:pt x="1751286" y="2033779"/>
                </a:lnTo>
                <a:lnTo>
                  <a:pt x="1754854" y="2033779"/>
                </a:lnTo>
                <a:lnTo>
                  <a:pt x="1758516" y="2033779"/>
                </a:lnTo>
                <a:lnTo>
                  <a:pt x="1758516" y="2031446"/>
                </a:lnTo>
                <a:lnTo>
                  <a:pt x="1762084" y="2031446"/>
                </a:lnTo>
                <a:lnTo>
                  <a:pt x="1762084" y="2024412"/>
                </a:lnTo>
                <a:lnTo>
                  <a:pt x="1765653" y="2024412"/>
                </a:lnTo>
                <a:lnTo>
                  <a:pt x="1765653" y="2017343"/>
                </a:lnTo>
                <a:lnTo>
                  <a:pt x="1769315" y="2017343"/>
                </a:lnTo>
                <a:lnTo>
                  <a:pt x="1769315" y="2014942"/>
                </a:lnTo>
                <a:lnTo>
                  <a:pt x="1772882" y="2014942"/>
                </a:lnTo>
                <a:lnTo>
                  <a:pt x="1772882" y="2012608"/>
                </a:lnTo>
                <a:lnTo>
                  <a:pt x="1776451" y="2012608"/>
                </a:lnTo>
                <a:lnTo>
                  <a:pt x="1780066" y="2012608"/>
                </a:lnTo>
                <a:lnTo>
                  <a:pt x="1780066" y="2010207"/>
                </a:lnTo>
                <a:lnTo>
                  <a:pt x="1783681" y="2010207"/>
                </a:lnTo>
                <a:lnTo>
                  <a:pt x="1783681" y="2007908"/>
                </a:lnTo>
                <a:lnTo>
                  <a:pt x="1787296" y="2007908"/>
                </a:lnTo>
                <a:lnTo>
                  <a:pt x="1787296" y="2005507"/>
                </a:lnTo>
                <a:lnTo>
                  <a:pt x="1790864" y="2005507"/>
                </a:lnTo>
                <a:lnTo>
                  <a:pt x="1794526" y="2005507"/>
                </a:lnTo>
                <a:lnTo>
                  <a:pt x="1798094" y="2005507"/>
                </a:lnTo>
                <a:lnTo>
                  <a:pt x="1801662" y="2005507"/>
                </a:lnTo>
                <a:lnTo>
                  <a:pt x="1805230" y="2005507"/>
                </a:lnTo>
                <a:lnTo>
                  <a:pt x="1808892" y="2005507"/>
                </a:lnTo>
                <a:lnTo>
                  <a:pt x="1812460" y="2005507"/>
                </a:lnTo>
                <a:lnTo>
                  <a:pt x="1816075" y="2005507"/>
                </a:lnTo>
                <a:lnTo>
                  <a:pt x="1816075" y="2000840"/>
                </a:lnTo>
                <a:lnTo>
                  <a:pt x="1819691" y="2000840"/>
                </a:lnTo>
                <a:lnTo>
                  <a:pt x="1819691" y="1998472"/>
                </a:lnTo>
                <a:lnTo>
                  <a:pt x="1823306" y="1998472"/>
                </a:lnTo>
                <a:lnTo>
                  <a:pt x="1826873" y="1998472"/>
                </a:lnTo>
                <a:lnTo>
                  <a:pt x="1830489" y="1998472"/>
                </a:lnTo>
                <a:lnTo>
                  <a:pt x="1834104" y="1998472"/>
                </a:lnTo>
                <a:lnTo>
                  <a:pt x="1834104" y="1996105"/>
                </a:lnTo>
                <a:lnTo>
                  <a:pt x="1837672" y="1996105"/>
                </a:lnTo>
                <a:lnTo>
                  <a:pt x="1837672" y="1991336"/>
                </a:lnTo>
                <a:lnTo>
                  <a:pt x="1841239" y="1991336"/>
                </a:lnTo>
                <a:lnTo>
                  <a:pt x="1844902" y="1991336"/>
                </a:lnTo>
                <a:lnTo>
                  <a:pt x="1844902" y="1989003"/>
                </a:lnTo>
                <a:lnTo>
                  <a:pt x="1848470" y="1989003"/>
                </a:lnTo>
                <a:lnTo>
                  <a:pt x="1848470" y="1984302"/>
                </a:lnTo>
                <a:lnTo>
                  <a:pt x="1852038" y="1984302"/>
                </a:lnTo>
                <a:lnTo>
                  <a:pt x="1855653" y="1984302"/>
                </a:lnTo>
                <a:lnTo>
                  <a:pt x="1859315" y="1984302"/>
                </a:lnTo>
                <a:lnTo>
                  <a:pt x="1862883" y="1984302"/>
                </a:lnTo>
                <a:lnTo>
                  <a:pt x="1862883" y="1981901"/>
                </a:lnTo>
                <a:lnTo>
                  <a:pt x="1866498" y="1981901"/>
                </a:lnTo>
                <a:lnTo>
                  <a:pt x="1870113" y="1981901"/>
                </a:lnTo>
                <a:lnTo>
                  <a:pt x="1873681" y="1981901"/>
                </a:lnTo>
                <a:lnTo>
                  <a:pt x="1877250" y="1981901"/>
                </a:lnTo>
                <a:lnTo>
                  <a:pt x="1880818" y="1981901"/>
                </a:lnTo>
                <a:lnTo>
                  <a:pt x="1884527" y="1981901"/>
                </a:lnTo>
                <a:lnTo>
                  <a:pt x="1888095" y="1981901"/>
                </a:lnTo>
                <a:lnTo>
                  <a:pt x="1891663" y="1981901"/>
                </a:lnTo>
                <a:lnTo>
                  <a:pt x="1895325" y="1981901"/>
                </a:lnTo>
                <a:lnTo>
                  <a:pt x="1898893" y="1981901"/>
                </a:lnTo>
                <a:lnTo>
                  <a:pt x="1902461" y="1981901"/>
                </a:lnTo>
                <a:lnTo>
                  <a:pt x="1906076" y="1981901"/>
                </a:lnTo>
                <a:lnTo>
                  <a:pt x="1909691" y="1981901"/>
                </a:lnTo>
                <a:lnTo>
                  <a:pt x="1913259" y="1981901"/>
                </a:lnTo>
                <a:lnTo>
                  <a:pt x="1916828" y="1981901"/>
                </a:lnTo>
                <a:lnTo>
                  <a:pt x="1920536" y="1981901"/>
                </a:lnTo>
                <a:lnTo>
                  <a:pt x="1924105" y="1981901"/>
                </a:lnTo>
                <a:lnTo>
                  <a:pt x="1927672" y="1981901"/>
                </a:lnTo>
                <a:lnTo>
                  <a:pt x="1927672" y="1979500"/>
                </a:lnTo>
                <a:lnTo>
                  <a:pt x="1931241" y="1979500"/>
                </a:lnTo>
                <a:lnTo>
                  <a:pt x="1934903" y="1979500"/>
                </a:lnTo>
                <a:lnTo>
                  <a:pt x="1934903" y="1977133"/>
                </a:lnTo>
                <a:lnTo>
                  <a:pt x="1938471" y="1977133"/>
                </a:lnTo>
                <a:lnTo>
                  <a:pt x="1942086" y="1977133"/>
                </a:lnTo>
                <a:lnTo>
                  <a:pt x="1945748" y="1977133"/>
                </a:lnTo>
                <a:lnTo>
                  <a:pt x="1949269" y="1977133"/>
                </a:lnTo>
                <a:lnTo>
                  <a:pt x="1949269" y="1974799"/>
                </a:lnTo>
                <a:lnTo>
                  <a:pt x="1952884" y="1974799"/>
                </a:lnTo>
                <a:lnTo>
                  <a:pt x="1956452" y="1974799"/>
                </a:lnTo>
                <a:lnTo>
                  <a:pt x="1960067" y="1974799"/>
                </a:lnTo>
                <a:lnTo>
                  <a:pt x="1963682" y="1974799"/>
                </a:lnTo>
                <a:lnTo>
                  <a:pt x="1967250" y="1974799"/>
                </a:lnTo>
                <a:lnTo>
                  <a:pt x="1967250" y="1970031"/>
                </a:lnTo>
                <a:lnTo>
                  <a:pt x="1970912" y="1970031"/>
                </a:lnTo>
                <a:lnTo>
                  <a:pt x="1974481" y="1970031"/>
                </a:lnTo>
                <a:lnTo>
                  <a:pt x="1978095" y="1970031"/>
                </a:lnTo>
                <a:lnTo>
                  <a:pt x="1981616" y="1970031"/>
                </a:lnTo>
                <a:lnTo>
                  <a:pt x="1985279" y="1970031"/>
                </a:lnTo>
                <a:lnTo>
                  <a:pt x="1988893" y="1970031"/>
                </a:lnTo>
                <a:lnTo>
                  <a:pt x="1992414" y="1970031"/>
                </a:lnTo>
                <a:lnTo>
                  <a:pt x="1996077" y="1970031"/>
                </a:lnTo>
                <a:lnTo>
                  <a:pt x="1999691" y="1970031"/>
                </a:lnTo>
                <a:lnTo>
                  <a:pt x="2003260" y="1970031"/>
                </a:lnTo>
                <a:lnTo>
                  <a:pt x="2006922" y="1970031"/>
                </a:lnTo>
                <a:lnTo>
                  <a:pt x="2010490" y="1970031"/>
                </a:lnTo>
                <a:lnTo>
                  <a:pt x="2014105" y="1970031"/>
                </a:lnTo>
                <a:lnTo>
                  <a:pt x="2017626" y="1970031"/>
                </a:lnTo>
                <a:lnTo>
                  <a:pt x="2021335" y="1970031"/>
                </a:lnTo>
                <a:lnTo>
                  <a:pt x="2024904" y="1970031"/>
                </a:lnTo>
                <a:lnTo>
                  <a:pt x="2028424" y="1970031"/>
                </a:lnTo>
                <a:lnTo>
                  <a:pt x="2032133" y="1970031"/>
                </a:lnTo>
                <a:lnTo>
                  <a:pt x="2035702" y="1970031"/>
                </a:lnTo>
                <a:lnTo>
                  <a:pt x="2039270" y="1970031"/>
                </a:lnTo>
                <a:lnTo>
                  <a:pt x="2042885" y="1970031"/>
                </a:lnTo>
                <a:lnTo>
                  <a:pt x="2046500" y="1970031"/>
                </a:lnTo>
                <a:lnTo>
                  <a:pt x="2050068" y="1970031"/>
                </a:lnTo>
                <a:lnTo>
                  <a:pt x="2053683" y="1970031"/>
                </a:lnTo>
                <a:lnTo>
                  <a:pt x="2053683" y="1967562"/>
                </a:lnTo>
                <a:lnTo>
                  <a:pt x="2057345" y="1967562"/>
                </a:lnTo>
                <a:lnTo>
                  <a:pt x="2060913" y="1967562"/>
                </a:lnTo>
                <a:lnTo>
                  <a:pt x="2064481" y="1967562"/>
                </a:lnTo>
                <a:lnTo>
                  <a:pt x="2068049" y="1967562"/>
                </a:lnTo>
                <a:lnTo>
                  <a:pt x="2071664" y="1967562"/>
                </a:lnTo>
                <a:lnTo>
                  <a:pt x="2075280" y="1967562"/>
                </a:lnTo>
                <a:lnTo>
                  <a:pt x="2078847" y="1967562"/>
                </a:lnTo>
                <a:lnTo>
                  <a:pt x="2082509" y="1967562"/>
                </a:lnTo>
                <a:lnTo>
                  <a:pt x="2086078" y="1967562"/>
                </a:lnTo>
                <a:lnTo>
                  <a:pt x="2089693" y="1967562"/>
                </a:lnTo>
                <a:lnTo>
                  <a:pt x="2093261" y="1967562"/>
                </a:lnTo>
                <a:lnTo>
                  <a:pt x="2096923" y="1967562"/>
                </a:lnTo>
                <a:lnTo>
                  <a:pt x="2100538" y="1967562"/>
                </a:lnTo>
                <a:lnTo>
                  <a:pt x="2104059" y="1967562"/>
                </a:lnTo>
                <a:lnTo>
                  <a:pt x="2107674" y="1967562"/>
                </a:lnTo>
                <a:lnTo>
                  <a:pt x="2111289" y="1967562"/>
                </a:lnTo>
                <a:lnTo>
                  <a:pt x="2111289" y="1965093"/>
                </a:lnTo>
                <a:lnTo>
                  <a:pt x="2114857" y="1965093"/>
                </a:lnTo>
                <a:lnTo>
                  <a:pt x="2118472" y="1965093"/>
                </a:lnTo>
                <a:lnTo>
                  <a:pt x="2118472" y="1957788"/>
                </a:lnTo>
                <a:lnTo>
                  <a:pt x="2122087" y="1957788"/>
                </a:lnTo>
                <a:lnTo>
                  <a:pt x="2122087" y="1955320"/>
                </a:lnTo>
                <a:lnTo>
                  <a:pt x="2125702" y="1955320"/>
                </a:lnTo>
                <a:lnTo>
                  <a:pt x="2125702" y="1952885"/>
                </a:lnTo>
                <a:lnTo>
                  <a:pt x="2129270" y="1952885"/>
                </a:lnTo>
                <a:lnTo>
                  <a:pt x="2132933" y="1952885"/>
                </a:lnTo>
                <a:lnTo>
                  <a:pt x="2136500" y="1952885"/>
                </a:lnTo>
                <a:lnTo>
                  <a:pt x="2140068" y="1952885"/>
                </a:lnTo>
                <a:lnTo>
                  <a:pt x="2140068" y="1945478"/>
                </a:lnTo>
                <a:lnTo>
                  <a:pt x="2143637" y="1945478"/>
                </a:lnTo>
                <a:lnTo>
                  <a:pt x="2143637" y="1925728"/>
                </a:lnTo>
                <a:lnTo>
                  <a:pt x="2147299" y="1925728"/>
                </a:lnTo>
                <a:lnTo>
                  <a:pt x="2147299" y="1920757"/>
                </a:lnTo>
                <a:lnTo>
                  <a:pt x="2150866" y="1920757"/>
                </a:lnTo>
                <a:lnTo>
                  <a:pt x="2150866" y="1918254"/>
                </a:lnTo>
                <a:lnTo>
                  <a:pt x="2154482" y="1918254"/>
                </a:lnTo>
                <a:lnTo>
                  <a:pt x="2154482" y="1905775"/>
                </a:lnTo>
                <a:lnTo>
                  <a:pt x="2158097" y="1905775"/>
                </a:lnTo>
                <a:lnTo>
                  <a:pt x="2158097" y="1893329"/>
                </a:lnTo>
                <a:lnTo>
                  <a:pt x="2161665" y="1893329"/>
                </a:lnTo>
                <a:lnTo>
                  <a:pt x="2161665" y="1883353"/>
                </a:lnTo>
                <a:lnTo>
                  <a:pt x="2165280" y="1883353"/>
                </a:lnTo>
                <a:lnTo>
                  <a:pt x="2165280" y="1875845"/>
                </a:lnTo>
                <a:lnTo>
                  <a:pt x="2168848" y="1875845"/>
                </a:lnTo>
                <a:lnTo>
                  <a:pt x="2168848" y="1863231"/>
                </a:lnTo>
                <a:lnTo>
                  <a:pt x="2172510" y="1863231"/>
                </a:lnTo>
                <a:lnTo>
                  <a:pt x="2172510" y="1850650"/>
                </a:lnTo>
                <a:lnTo>
                  <a:pt x="2176078" y="1850650"/>
                </a:lnTo>
                <a:lnTo>
                  <a:pt x="2176078" y="1845577"/>
                </a:lnTo>
                <a:lnTo>
                  <a:pt x="2179646" y="1845577"/>
                </a:lnTo>
                <a:lnTo>
                  <a:pt x="2179646" y="1840538"/>
                </a:lnTo>
                <a:lnTo>
                  <a:pt x="2183308" y="1840538"/>
                </a:lnTo>
                <a:lnTo>
                  <a:pt x="2183308" y="1835431"/>
                </a:lnTo>
                <a:lnTo>
                  <a:pt x="2186876" y="1835431"/>
                </a:lnTo>
                <a:lnTo>
                  <a:pt x="2186876" y="1832895"/>
                </a:lnTo>
                <a:lnTo>
                  <a:pt x="2190492" y="1832895"/>
                </a:lnTo>
                <a:lnTo>
                  <a:pt x="2190492" y="1817609"/>
                </a:lnTo>
                <a:lnTo>
                  <a:pt x="2194060" y="1817609"/>
                </a:lnTo>
                <a:lnTo>
                  <a:pt x="2194060" y="1809932"/>
                </a:lnTo>
                <a:lnTo>
                  <a:pt x="2197675" y="1809932"/>
                </a:lnTo>
                <a:lnTo>
                  <a:pt x="2197675" y="1804792"/>
                </a:lnTo>
                <a:lnTo>
                  <a:pt x="2201290" y="1804792"/>
                </a:lnTo>
                <a:lnTo>
                  <a:pt x="2201290" y="1799651"/>
                </a:lnTo>
                <a:lnTo>
                  <a:pt x="2204858" y="1799651"/>
                </a:lnTo>
                <a:lnTo>
                  <a:pt x="2208520" y="1799651"/>
                </a:lnTo>
                <a:lnTo>
                  <a:pt x="2208520" y="1794477"/>
                </a:lnTo>
                <a:lnTo>
                  <a:pt x="2212135" y="1794477"/>
                </a:lnTo>
                <a:lnTo>
                  <a:pt x="2212135" y="1791907"/>
                </a:lnTo>
                <a:lnTo>
                  <a:pt x="2215656" y="1791907"/>
                </a:lnTo>
                <a:lnTo>
                  <a:pt x="2215656" y="1789336"/>
                </a:lnTo>
                <a:lnTo>
                  <a:pt x="2219224" y="1789336"/>
                </a:lnTo>
                <a:lnTo>
                  <a:pt x="2222933" y="1789336"/>
                </a:lnTo>
                <a:lnTo>
                  <a:pt x="2226455" y="1789336"/>
                </a:lnTo>
                <a:lnTo>
                  <a:pt x="2230069" y="1789336"/>
                </a:lnTo>
                <a:lnTo>
                  <a:pt x="2233732" y="1789336"/>
                </a:lnTo>
                <a:lnTo>
                  <a:pt x="2237299" y="1789336"/>
                </a:lnTo>
                <a:lnTo>
                  <a:pt x="2240867" y="1789336"/>
                </a:lnTo>
                <a:lnTo>
                  <a:pt x="2240867" y="1786732"/>
                </a:lnTo>
                <a:lnTo>
                  <a:pt x="2244482" y="1786732"/>
                </a:lnTo>
                <a:lnTo>
                  <a:pt x="2244482" y="1784095"/>
                </a:lnTo>
                <a:lnTo>
                  <a:pt x="2248098" y="1784095"/>
                </a:lnTo>
                <a:lnTo>
                  <a:pt x="2251666" y="1784095"/>
                </a:lnTo>
                <a:lnTo>
                  <a:pt x="2255234" y="1784095"/>
                </a:lnTo>
                <a:lnTo>
                  <a:pt x="2255234" y="1781490"/>
                </a:lnTo>
                <a:lnTo>
                  <a:pt x="2258942" y="1781490"/>
                </a:lnTo>
                <a:lnTo>
                  <a:pt x="2262464" y="1781490"/>
                </a:lnTo>
                <a:lnTo>
                  <a:pt x="2262464" y="1778853"/>
                </a:lnTo>
                <a:lnTo>
                  <a:pt x="2266079" y="1778853"/>
                </a:lnTo>
                <a:lnTo>
                  <a:pt x="2266079" y="1773610"/>
                </a:lnTo>
                <a:lnTo>
                  <a:pt x="2269647" y="1773610"/>
                </a:lnTo>
                <a:lnTo>
                  <a:pt x="2273309" y="1773610"/>
                </a:lnTo>
                <a:lnTo>
                  <a:pt x="2276877" y="1773610"/>
                </a:lnTo>
                <a:lnTo>
                  <a:pt x="2280492" y="1773610"/>
                </a:lnTo>
                <a:lnTo>
                  <a:pt x="2284108" y="1773610"/>
                </a:lnTo>
                <a:lnTo>
                  <a:pt x="2287675" y="1773610"/>
                </a:lnTo>
                <a:lnTo>
                  <a:pt x="2291291" y="1773610"/>
                </a:lnTo>
                <a:lnTo>
                  <a:pt x="2291291" y="1768301"/>
                </a:lnTo>
                <a:lnTo>
                  <a:pt x="2294812" y="1768301"/>
                </a:lnTo>
                <a:lnTo>
                  <a:pt x="2298474" y="1768301"/>
                </a:lnTo>
                <a:lnTo>
                  <a:pt x="2302089" y="1768301"/>
                </a:lnTo>
                <a:lnTo>
                  <a:pt x="2305657" y="1768301"/>
                </a:lnTo>
                <a:lnTo>
                  <a:pt x="2309318" y="1768301"/>
                </a:lnTo>
                <a:lnTo>
                  <a:pt x="2312887" y="1768301"/>
                </a:lnTo>
                <a:lnTo>
                  <a:pt x="2316455" y="1768301"/>
                </a:lnTo>
                <a:lnTo>
                  <a:pt x="2320023" y="1768301"/>
                </a:lnTo>
                <a:lnTo>
                  <a:pt x="2320023" y="1765562"/>
                </a:lnTo>
                <a:lnTo>
                  <a:pt x="2323685" y="1765562"/>
                </a:lnTo>
                <a:lnTo>
                  <a:pt x="2323685" y="1762890"/>
                </a:lnTo>
                <a:lnTo>
                  <a:pt x="2327300" y="1762890"/>
                </a:lnTo>
                <a:lnTo>
                  <a:pt x="2327300" y="1760150"/>
                </a:lnTo>
                <a:lnTo>
                  <a:pt x="2330869" y="1760150"/>
                </a:lnTo>
                <a:lnTo>
                  <a:pt x="2330869" y="1757479"/>
                </a:lnTo>
                <a:lnTo>
                  <a:pt x="2334483" y="1757479"/>
                </a:lnTo>
                <a:lnTo>
                  <a:pt x="2338098" y="1757479"/>
                </a:lnTo>
                <a:lnTo>
                  <a:pt x="2338098" y="1754706"/>
                </a:lnTo>
                <a:lnTo>
                  <a:pt x="2341667" y="1754706"/>
                </a:lnTo>
                <a:lnTo>
                  <a:pt x="2345235" y="1754706"/>
                </a:lnTo>
                <a:lnTo>
                  <a:pt x="2345235" y="1752000"/>
                </a:lnTo>
                <a:lnTo>
                  <a:pt x="2348896" y="1752000"/>
                </a:lnTo>
                <a:lnTo>
                  <a:pt x="2352465" y="1752000"/>
                </a:lnTo>
                <a:lnTo>
                  <a:pt x="2356033" y="1752000"/>
                </a:lnTo>
                <a:lnTo>
                  <a:pt x="2359742" y="1752000"/>
                </a:lnTo>
                <a:lnTo>
                  <a:pt x="2359742" y="1749261"/>
                </a:lnTo>
                <a:lnTo>
                  <a:pt x="2363310" y="1749261"/>
                </a:lnTo>
                <a:lnTo>
                  <a:pt x="2363310" y="1746521"/>
                </a:lnTo>
                <a:lnTo>
                  <a:pt x="2366878" y="1746521"/>
                </a:lnTo>
                <a:lnTo>
                  <a:pt x="2370446" y="1746521"/>
                </a:lnTo>
                <a:lnTo>
                  <a:pt x="2374108" y="1746521"/>
                </a:lnTo>
                <a:lnTo>
                  <a:pt x="2374108" y="1743715"/>
                </a:lnTo>
                <a:lnTo>
                  <a:pt x="2377676" y="1743715"/>
                </a:lnTo>
                <a:lnTo>
                  <a:pt x="2381244" y="1743715"/>
                </a:lnTo>
                <a:lnTo>
                  <a:pt x="2384907" y="1743715"/>
                </a:lnTo>
                <a:lnTo>
                  <a:pt x="2388521" y="1743715"/>
                </a:lnTo>
                <a:lnTo>
                  <a:pt x="2392089" y="1743715"/>
                </a:lnTo>
                <a:lnTo>
                  <a:pt x="2395705" y="1743715"/>
                </a:lnTo>
                <a:lnTo>
                  <a:pt x="2399319" y="1743715"/>
                </a:lnTo>
                <a:lnTo>
                  <a:pt x="2402888" y="1743715"/>
                </a:lnTo>
                <a:lnTo>
                  <a:pt x="2406455" y="1743715"/>
                </a:lnTo>
                <a:lnTo>
                  <a:pt x="2410117" y="1743715"/>
                </a:lnTo>
                <a:lnTo>
                  <a:pt x="2413686" y="1743715"/>
                </a:lnTo>
                <a:lnTo>
                  <a:pt x="2417254" y="1743715"/>
                </a:lnTo>
                <a:lnTo>
                  <a:pt x="2420916" y="1743715"/>
                </a:lnTo>
                <a:lnTo>
                  <a:pt x="2424484" y="1743715"/>
                </a:lnTo>
                <a:lnTo>
                  <a:pt x="2428099" y="1743715"/>
                </a:lnTo>
                <a:lnTo>
                  <a:pt x="2431667" y="1743715"/>
                </a:lnTo>
                <a:lnTo>
                  <a:pt x="2435329" y="1743715"/>
                </a:lnTo>
                <a:lnTo>
                  <a:pt x="2438897" y="1743715"/>
                </a:lnTo>
                <a:lnTo>
                  <a:pt x="2442465" y="1743715"/>
                </a:lnTo>
                <a:lnTo>
                  <a:pt x="2446127" y="1743715"/>
                </a:lnTo>
                <a:lnTo>
                  <a:pt x="2446127" y="1740942"/>
                </a:lnTo>
                <a:lnTo>
                  <a:pt x="2449695" y="1740942"/>
                </a:lnTo>
                <a:lnTo>
                  <a:pt x="2453264" y="1740942"/>
                </a:lnTo>
                <a:lnTo>
                  <a:pt x="2456831" y="1740942"/>
                </a:lnTo>
                <a:lnTo>
                  <a:pt x="2456831" y="1738067"/>
                </a:lnTo>
                <a:lnTo>
                  <a:pt x="2460493" y="1738067"/>
                </a:lnTo>
                <a:lnTo>
                  <a:pt x="2464109" y="1738067"/>
                </a:lnTo>
                <a:lnTo>
                  <a:pt x="2467677" y="1738067"/>
                </a:lnTo>
                <a:lnTo>
                  <a:pt x="2471339" y="1738067"/>
                </a:lnTo>
                <a:lnTo>
                  <a:pt x="2474907" y="1738067"/>
                </a:lnTo>
                <a:lnTo>
                  <a:pt x="2474907" y="1735226"/>
                </a:lnTo>
                <a:lnTo>
                  <a:pt x="2478475" y="1735226"/>
                </a:lnTo>
                <a:lnTo>
                  <a:pt x="2482090" y="1735226"/>
                </a:lnTo>
                <a:lnTo>
                  <a:pt x="2485705" y="1735226"/>
                </a:lnTo>
                <a:lnTo>
                  <a:pt x="2485705" y="1732352"/>
                </a:lnTo>
                <a:lnTo>
                  <a:pt x="2489273" y="1732352"/>
                </a:lnTo>
                <a:lnTo>
                  <a:pt x="2492842" y="1732352"/>
                </a:lnTo>
                <a:lnTo>
                  <a:pt x="2492842" y="1729443"/>
                </a:lnTo>
                <a:lnTo>
                  <a:pt x="2496503" y="1729443"/>
                </a:lnTo>
                <a:lnTo>
                  <a:pt x="2500119" y="1729443"/>
                </a:lnTo>
                <a:lnTo>
                  <a:pt x="2503687" y="1729443"/>
                </a:lnTo>
                <a:lnTo>
                  <a:pt x="2507254" y="1729443"/>
                </a:lnTo>
                <a:lnTo>
                  <a:pt x="2510917" y="1729443"/>
                </a:lnTo>
                <a:lnTo>
                  <a:pt x="2514485" y="1729443"/>
                </a:lnTo>
                <a:lnTo>
                  <a:pt x="2518053" y="1729443"/>
                </a:lnTo>
                <a:lnTo>
                  <a:pt x="2521715" y="1729443"/>
                </a:lnTo>
                <a:lnTo>
                  <a:pt x="2525283" y="1729443"/>
                </a:lnTo>
                <a:lnTo>
                  <a:pt x="2528851" y="1729443"/>
                </a:lnTo>
                <a:lnTo>
                  <a:pt x="2528851" y="1726534"/>
                </a:lnTo>
                <a:lnTo>
                  <a:pt x="2532466" y="1726534"/>
                </a:lnTo>
                <a:lnTo>
                  <a:pt x="2536081" y="1726534"/>
                </a:lnTo>
                <a:lnTo>
                  <a:pt x="2536081" y="1717708"/>
                </a:lnTo>
                <a:lnTo>
                  <a:pt x="2539696" y="1717708"/>
                </a:lnTo>
                <a:lnTo>
                  <a:pt x="2543264" y="1717708"/>
                </a:lnTo>
                <a:lnTo>
                  <a:pt x="2546926" y="1717708"/>
                </a:lnTo>
                <a:lnTo>
                  <a:pt x="2546926" y="1714766"/>
                </a:lnTo>
                <a:lnTo>
                  <a:pt x="2550494" y="1714766"/>
                </a:lnTo>
                <a:lnTo>
                  <a:pt x="2550494" y="1711823"/>
                </a:lnTo>
                <a:lnTo>
                  <a:pt x="2554063" y="1711823"/>
                </a:lnTo>
                <a:lnTo>
                  <a:pt x="2554063" y="1702963"/>
                </a:lnTo>
                <a:lnTo>
                  <a:pt x="2557630" y="1702963"/>
                </a:lnTo>
                <a:lnTo>
                  <a:pt x="2557630" y="1694069"/>
                </a:lnTo>
                <a:lnTo>
                  <a:pt x="2561340" y="1694069"/>
                </a:lnTo>
                <a:lnTo>
                  <a:pt x="2561340" y="1691059"/>
                </a:lnTo>
                <a:lnTo>
                  <a:pt x="2564861" y="1691059"/>
                </a:lnTo>
                <a:lnTo>
                  <a:pt x="2564861" y="1670294"/>
                </a:lnTo>
                <a:lnTo>
                  <a:pt x="2568476" y="1670294"/>
                </a:lnTo>
                <a:lnTo>
                  <a:pt x="2572138" y="1670294"/>
                </a:lnTo>
                <a:lnTo>
                  <a:pt x="2572138" y="1667318"/>
                </a:lnTo>
                <a:lnTo>
                  <a:pt x="2575706" y="1667318"/>
                </a:lnTo>
                <a:lnTo>
                  <a:pt x="2575706" y="1655312"/>
                </a:lnTo>
                <a:lnTo>
                  <a:pt x="2579274" y="1655312"/>
                </a:lnTo>
                <a:lnTo>
                  <a:pt x="2579274" y="1649258"/>
                </a:lnTo>
                <a:lnTo>
                  <a:pt x="2582889" y="1649258"/>
                </a:lnTo>
                <a:lnTo>
                  <a:pt x="2582889" y="1640195"/>
                </a:lnTo>
                <a:lnTo>
                  <a:pt x="2586504" y="1640195"/>
                </a:lnTo>
                <a:lnTo>
                  <a:pt x="2586504" y="1631165"/>
                </a:lnTo>
                <a:lnTo>
                  <a:pt x="2590072" y="1631165"/>
                </a:lnTo>
                <a:lnTo>
                  <a:pt x="2590072" y="1616082"/>
                </a:lnTo>
                <a:lnTo>
                  <a:pt x="2593640" y="1616082"/>
                </a:lnTo>
                <a:lnTo>
                  <a:pt x="2593640" y="1603907"/>
                </a:lnTo>
                <a:lnTo>
                  <a:pt x="2597349" y="1603907"/>
                </a:lnTo>
                <a:lnTo>
                  <a:pt x="2597349" y="1579456"/>
                </a:lnTo>
                <a:lnTo>
                  <a:pt x="2600870" y="1579456"/>
                </a:lnTo>
                <a:lnTo>
                  <a:pt x="2600870" y="1564102"/>
                </a:lnTo>
                <a:lnTo>
                  <a:pt x="2604439" y="1564102"/>
                </a:lnTo>
                <a:lnTo>
                  <a:pt x="2604439" y="1548715"/>
                </a:lnTo>
                <a:lnTo>
                  <a:pt x="2608053" y="1548715"/>
                </a:lnTo>
                <a:lnTo>
                  <a:pt x="2608053" y="1539516"/>
                </a:lnTo>
                <a:lnTo>
                  <a:pt x="2611716" y="1539516"/>
                </a:lnTo>
                <a:lnTo>
                  <a:pt x="2611716" y="1536405"/>
                </a:lnTo>
                <a:lnTo>
                  <a:pt x="2615283" y="1536405"/>
                </a:lnTo>
                <a:lnTo>
                  <a:pt x="2615283" y="1533327"/>
                </a:lnTo>
                <a:lnTo>
                  <a:pt x="2618899" y="1533327"/>
                </a:lnTo>
                <a:lnTo>
                  <a:pt x="2618899" y="1524061"/>
                </a:lnTo>
                <a:lnTo>
                  <a:pt x="2622514" y="1524061"/>
                </a:lnTo>
                <a:lnTo>
                  <a:pt x="2622514" y="1508538"/>
                </a:lnTo>
                <a:lnTo>
                  <a:pt x="2626082" y="1508538"/>
                </a:lnTo>
                <a:lnTo>
                  <a:pt x="2626082" y="1505494"/>
                </a:lnTo>
                <a:lnTo>
                  <a:pt x="2629697" y="1505494"/>
                </a:lnTo>
                <a:lnTo>
                  <a:pt x="2629697" y="1499238"/>
                </a:lnTo>
                <a:lnTo>
                  <a:pt x="2633218" y="1499238"/>
                </a:lnTo>
                <a:lnTo>
                  <a:pt x="2633218" y="1496160"/>
                </a:lnTo>
                <a:lnTo>
                  <a:pt x="2636880" y="1496160"/>
                </a:lnTo>
                <a:lnTo>
                  <a:pt x="2640496" y="1496160"/>
                </a:lnTo>
                <a:lnTo>
                  <a:pt x="2644063" y="1496160"/>
                </a:lnTo>
                <a:lnTo>
                  <a:pt x="2647725" y="1496160"/>
                </a:lnTo>
                <a:lnTo>
                  <a:pt x="2651294" y="1496160"/>
                </a:lnTo>
                <a:lnTo>
                  <a:pt x="2654908" y="1496160"/>
                </a:lnTo>
                <a:lnTo>
                  <a:pt x="2658429" y="1496160"/>
                </a:lnTo>
                <a:lnTo>
                  <a:pt x="2662092" y="1496160"/>
                </a:lnTo>
                <a:lnTo>
                  <a:pt x="2665706" y="1496160"/>
                </a:lnTo>
                <a:lnTo>
                  <a:pt x="2669228" y="1496160"/>
                </a:lnTo>
                <a:lnTo>
                  <a:pt x="2672890" y="1496160"/>
                </a:lnTo>
                <a:lnTo>
                  <a:pt x="2676505" y="1496160"/>
                </a:lnTo>
                <a:lnTo>
                  <a:pt x="2676505" y="1492981"/>
                </a:lnTo>
                <a:lnTo>
                  <a:pt x="2680073" y="1492981"/>
                </a:lnTo>
                <a:lnTo>
                  <a:pt x="2683641" y="1492981"/>
                </a:lnTo>
                <a:lnTo>
                  <a:pt x="2687303" y="1492981"/>
                </a:lnTo>
                <a:lnTo>
                  <a:pt x="2690871" y="1492981"/>
                </a:lnTo>
                <a:lnTo>
                  <a:pt x="2694439" y="1492981"/>
                </a:lnTo>
                <a:lnTo>
                  <a:pt x="2698101" y="1492981"/>
                </a:lnTo>
                <a:lnTo>
                  <a:pt x="2698101" y="1489802"/>
                </a:lnTo>
                <a:lnTo>
                  <a:pt x="2701716" y="1489802"/>
                </a:lnTo>
                <a:lnTo>
                  <a:pt x="2705238" y="1489802"/>
                </a:lnTo>
                <a:lnTo>
                  <a:pt x="2708853" y="1489802"/>
                </a:lnTo>
                <a:lnTo>
                  <a:pt x="2712515" y="1489802"/>
                </a:lnTo>
                <a:lnTo>
                  <a:pt x="2716082" y="1489802"/>
                </a:lnTo>
                <a:lnTo>
                  <a:pt x="2719651" y="1489802"/>
                </a:lnTo>
                <a:lnTo>
                  <a:pt x="2719651" y="1486590"/>
                </a:lnTo>
                <a:lnTo>
                  <a:pt x="2723313" y="1486590"/>
                </a:lnTo>
                <a:lnTo>
                  <a:pt x="2723313" y="1483343"/>
                </a:lnTo>
                <a:lnTo>
                  <a:pt x="2726881" y="1483343"/>
                </a:lnTo>
                <a:lnTo>
                  <a:pt x="2726881" y="1480130"/>
                </a:lnTo>
                <a:lnTo>
                  <a:pt x="2730496" y="1480130"/>
                </a:lnTo>
                <a:lnTo>
                  <a:pt x="2734064" y="1480130"/>
                </a:lnTo>
                <a:lnTo>
                  <a:pt x="2737726" y="1480130"/>
                </a:lnTo>
                <a:lnTo>
                  <a:pt x="2741294" y="1480130"/>
                </a:lnTo>
                <a:lnTo>
                  <a:pt x="2744862" y="1480130"/>
                </a:lnTo>
                <a:lnTo>
                  <a:pt x="2748524" y="1480130"/>
                </a:lnTo>
                <a:lnTo>
                  <a:pt x="2748524" y="1476850"/>
                </a:lnTo>
                <a:lnTo>
                  <a:pt x="2752092" y="1476850"/>
                </a:lnTo>
                <a:lnTo>
                  <a:pt x="2755660" y="1476850"/>
                </a:lnTo>
                <a:lnTo>
                  <a:pt x="2759228" y="1476850"/>
                </a:lnTo>
                <a:lnTo>
                  <a:pt x="2762891" y="1476850"/>
                </a:lnTo>
                <a:lnTo>
                  <a:pt x="2766505" y="1476850"/>
                </a:lnTo>
                <a:lnTo>
                  <a:pt x="2770074" y="1476850"/>
                </a:lnTo>
                <a:lnTo>
                  <a:pt x="2773735" y="1476850"/>
                </a:lnTo>
                <a:lnTo>
                  <a:pt x="2777303" y="1476850"/>
                </a:lnTo>
                <a:lnTo>
                  <a:pt x="2780872" y="1476850"/>
                </a:lnTo>
                <a:lnTo>
                  <a:pt x="2784487" y="1476850"/>
                </a:lnTo>
                <a:lnTo>
                  <a:pt x="2788101" y="1476850"/>
                </a:lnTo>
                <a:lnTo>
                  <a:pt x="2791670" y="1476850"/>
                </a:lnTo>
                <a:lnTo>
                  <a:pt x="2795238" y="1476850"/>
                </a:lnTo>
                <a:lnTo>
                  <a:pt x="2798900" y="1476850"/>
                </a:lnTo>
                <a:lnTo>
                  <a:pt x="2802468" y="1476850"/>
                </a:lnTo>
                <a:lnTo>
                  <a:pt x="2806083" y="1476850"/>
                </a:lnTo>
                <a:lnTo>
                  <a:pt x="2809745" y="1476850"/>
                </a:lnTo>
                <a:lnTo>
                  <a:pt x="2813314" y="1476850"/>
                </a:lnTo>
                <a:lnTo>
                  <a:pt x="2816881" y="1476850"/>
                </a:lnTo>
                <a:lnTo>
                  <a:pt x="2820496" y="1476850"/>
                </a:lnTo>
                <a:lnTo>
                  <a:pt x="2824112" y="1476850"/>
                </a:lnTo>
                <a:lnTo>
                  <a:pt x="2827680" y="1476850"/>
                </a:lnTo>
                <a:lnTo>
                  <a:pt x="2831295" y="1476850"/>
                </a:lnTo>
                <a:lnTo>
                  <a:pt x="2834910" y="1476850"/>
                </a:lnTo>
                <a:lnTo>
                  <a:pt x="2838478" y="1476850"/>
                </a:lnTo>
                <a:lnTo>
                  <a:pt x="2842093" y="1476850"/>
                </a:lnTo>
                <a:lnTo>
                  <a:pt x="2842093" y="1473535"/>
                </a:lnTo>
                <a:lnTo>
                  <a:pt x="2845661" y="1473535"/>
                </a:lnTo>
                <a:lnTo>
                  <a:pt x="2849323" y="1473535"/>
                </a:lnTo>
                <a:lnTo>
                  <a:pt x="2852891" y="1473535"/>
                </a:lnTo>
                <a:lnTo>
                  <a:pt x="2856459" y="1473535"/>
                </a:lnTo>
                <a:lnTo>
                  <a:pt x="2860121" y="1473535"/>
                </a:lnTo>
                <a:lnTo>
                  <a:pt x="2863690" y="1473535"/>
                </a:lnTo>
                <a:lnTo>
                  <a:pt x="2867257" y="1473535"/>
                </a:lnTo>
                <a:lnTo>
                  <a:pt x="2870872" y="1473535"/>
                </a:lnTo>
                <a:lnTo>
                  <a:pt x="2870872" y="1470154"/>
                </a:lnTo>
                <a:lnTo>
                  <a:pt x="2874488" y="1470154"/>
                </a:lnTo>
                <a:lnTo>
                  <a:pt x="2878103" y="1470154"/>
                </a:lnTo>
                <a:lnTo>
                  <a:pt x="2881671" y="1470154"/>
                </a:lnTo>
                <a:lnTo>
                  <a:pt x="2885333" y="1470154"/>
                </a:lnTo>
                <a:lnTo>
                  <a:pt x="2888901" y="1470154"/>
                </a:lnTo>
                <a:lnTo>
                  <a:pt x="2892469" y="1470154"/>
                </a:lnTo>
                <a:lnTo>
                  <a:pt x="2896037" y="1470154"/>
                </a:lnTo>
                <a:lnTo>
                  <a:pt x="2899746" y="1470154"/>
                </a:lnTo>
                <a:lnTo>
                  <a:pt x="2903267" y="1470154"/>
                </a:lnTo>
                <a:lnTo>
                  <a:pt x="2906882" y="1470154"/>
                </a:lnTo>
                <a:lnTo>
                  <a:pt x="2910544" y="1470154"/>
                </a:lnTo>
                <a:lnTo>
                  <a:pt x="2914112" y="1470154"/>
                </a:lnTo>
                <a:lnTo>
                  <a:pt x="2917680" y="1470154"/>
                </a:lnTo>
                <a:lnTo>
                  <a:pt x="2921295" y="1470154"/>
                </a:lnTo>
                <a:lnTo>
                  <a:pt x="2924910" y="1470154"/>
                </a:lnTo>
                <a:lnTo>
                  <a:pt x="2928478" y="1470154"/>
                </a:lnTo>
                <a:lnTo>
                  <a:pt x="2932094" y="1470154"/>
                </a:lnTo>
                <a:lnTo>
                  <a:pt x="2935755" y="1470154"/>
                </a:lnTo>
                <a:lnTo>
                  <a:pt x="2939276" y="1470154"/>
                </a:lnTo>
                <a:lnTo>
                  <a:pt x="2942892" y="1470154"/>
                </a:lnTo>
                <a:lnTo>
                  <a:pt x="2946460" y="1470154"/>
                </a:lnTo>
                <a:lnTo>
                  <a:pt x="2950075" y="1470154"/>
                </a:lnTo>
                <a:lnTo>
                  <a:pt x="2953690" y="1470154"/>
                </a:lnTo>
                <a:lnTo>
                  <a:pt x="2957258" y="1470154"/>
                </a:lnTo>
                <a:lnTo>
                  <a:pt x="2957258" y="1466738"/>
                </a:lnTo>
                <a:lnTo>
                  <a:pt x="2960920" y="1466738"/>
                </a:lnTo>
                <a:lnTo>
                  <a:pt x="2964488" y="1466738"/>
                </a:lnTo>
                <a:lnTo>
                  <a:pt x="2968104" y="1466738"/>
                </a:lnTo>
                <a:lnTo>
                  <a:pt x="2971625" y="1466738"/>
                </a:lnTo>
                <a:lnTo>
                  <a:pt x="2975287" y="1466738"/>
                </a:lnTo>
                <a:lnTo>
                  <a:pt x="2978902" y="1466738"/>
                </a:lnTo>
                <a:lnTo>
                  <a:pt x="2978902" y="1459737"/>
                </a:lnTo>
                <a:lnTo>
                  <a:pt x="2982470" y="1459737"/>
                </a:lnTo>
                <a:lnTo>
                  <a:pt x="2982470" y="1452737"/>
                </a:lnTo>
                <a:lnTo>
                  <a:pt x="2986085" y="1452737"/>
                </a:lnTo>
                <a:lnTo>
                  <a:pt x="2989700" y="1452737"/>
                </a:lnTo>
                <a:lnTo>
                  <a:pt x="2993268" y="1452737"/>
                </a:lnTo>
                <a:lnTo>
                  <a:pt x="2996836" y="1452737"/>
                </a:lnTo>
                <a:lnTo>
                  <a:pt x="2996836" y="1449186"/>
                </a:lnTo>
                <a:lnTo>
                  <a:pt x="3000498" y="1449186"/>
                </a:lnTo>
                <a:lnTo>
                  <a:pt x="3000498" y="1431532"/>
                </a:lnTo>
                <a:lnTo>
                  <a:pt x="3004113" y="1431532"/>
                </a:lnTo>
                <a:lnTo>
                  <a:pt x="3004113" y="1427981"/>
                </a:lnTo>
                <a:lnTo>
                  <a:pt x="3007634" y="1427981"/>
                </a:lnTo>
                <a:lnTo>
                  <a:pt x="3007634" y="1417295"/>
                </a:lnTo>
                <a:lnTo>
                  <a:pt x="3011296" y="1417295"/>
                </a:lnTo>
                <a:lnTo>
                  <a:pt x="3014911" y="1417295"/>
                </a:lnTo>
                <a:lnTo>
                  <a:pt x="3014911" y="1410193"/>
                </a:lnTo>
                <a:lnTo>
                  <a:pt x="3018480" y="1410193"/>
                </a:lnTo>
                <a:lnTo>
                  <a:pt x="3022047" y="1410193"/>
                </a:lnTo>
                <a:lnTo>
                  <a:pt x="3022047" y="1377828"/>
                </a:lnTo>
                <a:lnTo>
                  <a:pt x="3025709" y="1377828"/>
                </a:lnTo>
                <a:lnTo>
                  <a:pt x="3025709" y="1356285"/>
                </a:lnTo>
                <a:lnTo>
                  <a:pt x="3029278" y="1356285"/>
                </a:lnTo>
                <a:lnTo>
                  <a:pt x="3029278" y="1345362"/>
                </a:lnTo>
                <a:lnTo>
                  <a:pt x="3032846" y="1345362"/>
                </a:lnTo>
                <a:lnTo>
                  <a:pt x="3032846" y="1338091"/>
                </a:lnTo>
                <a:lnTo>
                  <a:pt x="3036508" y="1338091"/>
                </a:lnTo>
                <a:lnTo>
                  <a:pt x="3036508" y="1330820"/>
                </a:lnTo>
                <a:lnTo>
                  <a:pt x="3040123" y="1330820"/>
                </a:lnTo>
                <a:lnTo>
                  <a:pt x="3040123" y="1327133"/>
                </a:lnTo>
                <a:lnTo>
                  <a:pt x="3043644" y="1327133"/>
                </a:lnTo>
                <a:lnTo>
                  <a:pt x="3047259" y="1327133"/>
                </a:lnTo>
                <a:lnTo>
                  <a:pt x="3047259" y="1316075"/>
                </a:lnTo>
                <a:lnTo>
                  <a:pt x="3050921" y="1316075"/>
                </a:lnTo>
                <a:lnTo>
                  <a:pt x="3050921" y="1305050"/>
                </a:lnTo>
                <a:lnTo>
                  <a:pt x="3054489" y="1305050"/>
                </a:lnTo>
                <a:lnTo>
                  <a:pt x="3054489" y="1297643"/>
                </a:lnTo>
                <a:lnTo>
                  <a:pt x="3058057" y="1297643"/>
                </a:lnTo>
                <a:lnTo>
                  <a:pt x="3058057" y="1293991"/>
                </a:lnTo>
                <a:lnTo>
                  <a:pt x="3061719" y="1293991"/>
                </a:lnTo>
                <a:lnTo>
                  <a:pt x="3061719" y="1290237"/>
                </a:lnTo>
                <a:lnTo>
                  <a:pt x="3065287" y="1290237"/>
                </a:lnTo>
                <a:lnTo>
                  <a:pt x="3065287" y="1282865"/>
                </a:lnTo>
                <a:lnTo>
                  <a:pt x="3068855" y="1282865"/>
                </a:lnTo>
                <a:lnTo>
                  <a:pt x="3068855" y="1279111"/>
                </a:lnTo>
                <a:lnTo>
                  <a:pt x="3072470" y="1279111"/>
                </a:lnTo>
                <a:lnTo>
                  <a:pt x="3076132" y="1279111"/>
                </a:lnTo>
                <a:lnTo>
                  <a:pt x="3079700" y="1279111"/>
                </a:lnTo>
                <a:lnTo>
                  <a:pt x="3083269" y="1279111"/>
                </a:lnTo>
                <a:lnTo>
                  <a:pt x="3083269" y="1275390"/>
                </a:lnTo>
                <a:lnTo>
                  <a:pt x="3086930" y="1275390"/>
                </a:lnTo>
                <a:lnTo>
                  <a:pt x="3090499" y="1275390"/>
                </a:lnTo>
                <a:lnTo>
                  <a:pt x="3094066" y="1275390"/>
                </a:lnTo>
                <a:lnTo>
                  <a:pt x="3097635" y="1275390"/>
                </a:lnTo>
                <a:lnTo>
                  <a:pt x="3097635" y="1271603"/>
                </a:lnTo>
                <a:lnTo>
                  <a:pt x="3101297" y="1271603"/>
                </a:lnTo>
                <a:lnTo>
                  <a:pt x="3104865" y="1271603"/>
                </a:lnTo>
                <a:lnTo>
                  <a:pt x="3108480" y="1271603"/>
                </a:lnTo>
                <a:lnTo>
                  <a:pt x="3112142" y="1271603"/>
                </a:lnTo>
                <a:lnTo>
                  <a:pt x="3115710" y="1271603"/>
                </a:lnTo>
                <a:lnTo>
                  <a:pt x="3119279" y="1271603"/>
                </a:lnTo>
                <a:lnTo>
                  <a:pt x="3122846" y="1271603"/>
                </a:lnTo>
                <a:lnTo>
                  <a:pt x="3126508" y="1271603"/>
                </a:lnTo>
                <a:lnTo>
                  <a:pt x="3130077" y="1271603"/>
                </a:lnTo>
                <a:lnTo>
                  <a:pt x="3133645" y="1271603"/>
                </a:lnTo>
                <a:lnTo>
                  <a:pt x="3137307" y="1271603"/>
                </a:lnTo>
                <a:lnTo>
                  <a:pt x="3140875" y="1271603"/>
                </a:lnTo>
                <a:lnTo>
                  <a:pt x="3144489" y="1271603"/>
                </a:lnTo>
                <a:lnTo>
                  <a:pt x="3144489" y="1267815"/>
                </a:lnTo>
                <a:lnTo>
                  <a:pt x="3148058" y="1267815"/>
                </a:lnTo>
                <a:lnTo>
                  <a:pt x="3151720" y="1267815"/>
                </a:lnTo>
                <a:lnTo>
                  <a:pt x="3155288" y="1267815"/>
                </a:lnTo>
                <a:lnTo>
                  <a:pt x="3155288" y="1263994"/>
                </a:lnTo>
                <a:lnTo>
                  <a:pt x="3158903" y="1263994"/>
                </a:lnTo>
                <a:lnTo>
                  <a:pt x="3158903" y="1260172"/>
                </a:lnTo>
                <a:lnTo>
                  <a:pt x="3162518" y="1260172"/>
                </a:lnTo>
                <a:lnTo>
                  <a:pt x="3162518" y="1256317"/>
                </a:lnTo>
                <a:lnTo>
                  <a:pt x="3166086" y="1256317"/>
                </a:lnTo>
                <a:lnTo>
                  <a:pt x="3169655" y="1256317"/>
                </a:lnTo>
                <a:lnTo>
                  <a:pt x="3173317" y="1256317"/>
                </a:lnTo>
                <a:lnTo>
                  <a:pt x="3176884" y="1256317"/>
                </a:lnTo>
                <a:lnTo>
                  <a:pt x="3180453" y="1256317"/>
                </a:lnTo>
                <a:lnTo>
                  <a:pt x="3184067" y="1256317"/>
                </a:lnTo>
                <a:lnTo>
                  <a:pt x="3187730" y="1256317"/>
                </a:lnTo>
                <a:lnTo>
                  <a:pt x="3191298" y="1256317"/>
                </a:lnTo>
                <a:lnTo>
                  <a:pt x="3191298" y="1252461"/>
                </a:lnTo>
                <a:lnTo>
                  <a:pt x="3194913" y="1252461"/>
                </a:lnTo>
                <a:lnTo>
                  <a:pt x="3198528" y="1252461"/>
                </a:lnTo>
                <a:lnTo>
                  <a:pt x="3198528" y="1248572"/>
                </a:lnTo>
                <a:lnTo>
                  <a:pt x="3202096" y="1248572"/>
                </a:lnTo>
                <a:lnTo>
                  <a:pt x="3205664" y="1248572"/>
                </a:lnTo>
                <a:lnTo>
                  <a:pt x="3209279" y="1248572"/>
                </a:lnTo>
                <a:lnTo>
                  <a:pt x="3212894" y="1248572"/>
                </a:lnTo>
                <a:lnTo>
                  <a:pt x="3216509" y="1248572"/>
                </a:lnTo>
                <a:lnTo>
                  <a:pt x="3216509" y="1244683"/>
                </a:lnTo>
                <a:lnTo>
                  <a:pt x="3220078" y="1244683"/>
                </a:lnTo>
                <a:lnTo>
                  <a:pt x="3223739" y="1244683"/>
                </a:lnTo>
                <a:lnTo>
                  <a:pt x="3227307" y="1244683"/>
                </a:lnTo>
                <a:lnTo>
                  <a:pt x="3227307" y="1240760"/>
                </a:lnTo>
                <a:lnTo>
                  <a:pt x="3230875" y="1240760"/>
                </a:lnTo>
                <a:lnTo>
                  <a:pt x="3234444" y="1240760"/>
                </a:lnTo>
                <a:lnTo>
                  <a:pt x="3238105" y="1240760"/>
                </a:lnTo>
                <a:lnTo>
                  <a:pt x="3241674" y="1240760"/>
                </a:lnTo>
                <a:lnTo>
                  <a:pt x="3245241" y="1240760"/>
                </a:lnTo>
                <a:lnTo>
                  <a:pt x="3248951" y="1240760"/>
                </a:lnTo>
                <a:lnTo>
                  <a:pt x="3252518" y="1240760"/>
                </a:lnTo>
                <a:lnTo>
                  <a:pt x="3256087" y="1240760"/>
                </a:lnTo>
                <a:lnTo>
                  <a:pt x="3259655" y="1240760"/>
                </a:lnTo>
                <a:lnTo>
                  <a:pt x="3263317" y="1240760"/>
                </a:lnTo>
                <a:lnTo>
                  <a:pt x="3266885" y="1240760"/>
                </a:lnTo>
                <a:lnTo>
                  <a:pt x="3270500" y="1240760"/>
                </a:lnTo>
                <a:lnTo>
                  <a:pt x="3274162" y="1240760"/>
                </a:lnTo>
                <a:lnTo>
                  <a:pt x="3277683" y="1240760"/>
                </a:lnTo>
                <a:lnTo>
                  <a:pt x="3277683" y="1236769"/>
                </a:lnTo>
                <a:lnTo>
                  <a:pt x="3281251" y="1236769"/>
                </a:lnTo>
                <a:lnTo>
                  <a:pt x="3284866" y="1236769"/>
                </a:lnTo>
                <a:lnTo>
                  <a:pt x="3288529" y="1236769"/>
                </a:lnTo>
                <a:lnTo>
                  <a:pt x="3292097" y="1236769"/>
                </a:lnTo>
                <a:lnTo>
                  <a:pt x="3295664" y="1236769"/>
                </a:lnTo>
                <a:lnTo>
                  <a:pt x="3299327" y="1236769"/>
                </a:lnTo>
                <a:lnTo>
                  <a:pt x="3302895" y="1236769"/>
                </a:lnTo>
                <a:lnTo>
                  <a:pt x="3306510" y="1236769"/>
                </a:lnTo>
                <a:lnTo>
                  <a:pt x="3310031" y="1236769"/>
                </a:lnTo>
                <a:lnTo>
                  <a:pt x="3313693" y="1236769"/>
                </a:lnTo>
                <a:lnTo>
                  <a:pt x="3317308" y="1236769"/>
                </a:lnTo>
                <a:lnTo>
                  <a:pt x="3320876" y="1236769"/>
                </a:lnTo>
                <a:lnTo>
                  <a:pt x="3324492" y="1236769"/>
                </a:lnTo>
                <a:lnTo>
                  <a:pt x="3328106" y="1236769"/>
                </a:lnTo>
                <a:lnTo>
                  <a:pt x="3331674" y="1236769"/>
                </a:lnTo>
                <a:lnTo>
                  <a:pt x="3335242" y="1236769"/>
                </a:lnTo>
                <a:lnTo>
                  <a:pt x="3338904" y="1236769"/>
                </a:lnTo>
                <a:lnTo>
                  <a:pt x="3342519" y="1236769"/>
                </a:lnTo>
                <a:lnTo>
                  <a:pt x="3346040" y="1236769"/>
                </a:lnTo>
                <a:lnTo>
                  <a:pt x="3349750" y="1236769"/>
                </a:lnTo>
                <a:lnTo>
                  <a:pt x="3353317" y="1236769"/>
                </a:lnTo>
                <a:lnTo>
                  <a:pt x="3356839" y="1236769"/>
                </a:lnTo>
                <a:lnTo>
                  <a:pt x="3356839" y="1228416"/>
                </a:lnTo>
                <a:lnTo>
                  <a:pt x="3360454" y="1228416"/>
                </a:lnTo>
                <a:lnTo>
                  <a:pt x="3364116" y="1228416"/>
                </a:lnTo>
                <a:lnTo>
                  <a:pt x="3367684" y="1228416"/>
                </a:lnTo>
                <a:lnTo>
                  <a:pt x="3371253" y="1228416"/>
                </a:lnTo>
                <a:lnTo>
                  <a:pt x="3374914" y="1228416"/>
                </a:lnTo>
                <a:lnTo>
                  <a:pt x="3378530" y="1228416"/>
                </a:lnTo>
                <a:lnTo>
                  <a:pt x="3382050" y="1228416"/>
                </a:lnTo>
                <a:lnTo>
                  <a:pt x="3385666" y="1228416"/>
                </a:lnTo>
                <a:lnTo>
                  <a:pt x="3389327" y="1228416"/>
                </a:lnTo>
                <a:lnTo>
                  <a:pt x="3392849" y="1228416"/>
                </a:lnTo>
                <a:lnTo>
                  <a:pt x="3396464" y="1228416"/>
                </a:lnTo>
                <a:lnTo>
                  <a:pt x="3400126" y="1228416"/>
                </a:lnTo>
                <a:lnTo>
                  <a:pt x="3403693" y="1228416"/>
                </a:lnTo>
                <a:lnTo>
                  <a:pt x="3407309" y="1228416"/>
                </a:lnTo>
                <a:lnTo>
                  <a:pt x="3410877" y="1228416"/>
                </a:lnTo>
                <a:lnTo>
                  <a:pt x="3410877" y="1224087"/>
                </a:lnTo>
                <a:lnTo>
                  <a:pt x="3414492" y="1224087"/>
                </a:lnTo>
                <a:lnTo>
                  <a:pt x="3418107" y="1224087"/>
                </a:lnTo>
                <a:lnTo>
                  <a:pt x="3421675" y="1224087"/>
                </a:lnTo>
                <a:lnTo>
                  <a:pt x="3421675" y="1211270"/>
                </a:lnTo>
                <a:lnTo>
                  <a:pt x="3425337" y="1211270"/>
                </a:lnTo>
                <a:lnTo>
                  <a:pt x="3425337" y="1206975"/>
                </a:lnTo>
                <a:lnTo>
                  <a:pt x="3428952" y="1206975"/>
                </a:lnTo>
                <a:lnTo>
                  <a:pt x="3428952" y="1194056"/>
                </a:lnTo>
                <a:lnTo>
                  <a:pt x="3432473" y="1194056"/>
                </a:lnTo>
                <a:lnTo>
                  <a:pt x="3432473" y="1180968"/>
                </a:lnTo>
                <a:lnTo>
                  <a:pt x="3436041" y="1180968"/>
                </a:lnTo>
                <a:lnTo>
                  <a:pt x="3436041" y="1176673"/>
                </a:lnTo>
                <a:lnTo>
                  <a:pt x="3439703" y="1176673"/>
                </a:lnTo>
                <a:lnTo>
                  <a:pt x="3439703" y="1159155"/>
                </a:lnTo>
                <a:lnTo>
                  <a:pt x="3443272" y="1159155"/>
                </a:lnTo>
                <a:lnTo>
                  <a:pt x="3443272" y="1154792"/>
                </a:lnTo>
                <a:lnTo>
                  <a:pt x="3446887" y="1154792"/>
                </a:lnTo>
                <a:lnTo>
                  <a:pt x="3450502" y="1154792"/>
                </a:lnTo>
                <a:lnTo>
                  <a:pt x="3450502" y="1141637"/>
                </a:lnTo>
                <a:lnTo>
                  <a:pt x="3454116" y="1141637"/>
                </a:lnTo>
                <a:lnTo>
                  <a:pt x="3454116" y="1132844"/>
                </a:lnTo>
                <a:lnTo>
                  <a:pt x="3457685" y="1132844"/>
                </a:lnTo>
                <a:lnTo>
                  <a:pt x="3457685" y="1110523"/>
                </a:lnTo>
                <a:lnTo>
                  <a:pt x="3461253" y="1110523"/>
                </a:lnTo>
                <a:lnTo>
                  <a:pt x="3461253" y="1101595"/>
                </a:lnTo>
                <a:lnTo>
                  <a:pt x="3464915" y="1101595"/>
                </a:lnTo>
                <a:lnTo>
                  <a:pt x="3464915" y="1097097"/>
                </a:lnTo>
                <a:lnTo>
                  <a:pt x="3468483" y="1097097"/>
                </a:lnTo>
                <a:lnTo>
                  <a:pt x="3468483" y="1092667"/>
                </a:lnTo>
                <a:lnTo>
                  <a:pt x="3472051" y="1092667"/>
                </a:lnTo>
                <a:lnTo>
                  <a:pt x="3475713" y="1092667"/>
                </a:lnTo>
                <a:lnTo>
                  <a:pt x="3475713" y="1079106"/>
                </a:lnTo>
                <a:lnTo>
                  <a:pt x="3479281" y="1079106"/>
                </a:lnTo>
                <a:lnTo>
                  <a:pt x="3479281" y="1061046"/>
                </a:lnTo>
                <a:lnTo>
                  <a:pt x="3482896" y="1061046"/>
                </a:lnTo>
                <a:lnTo>
                  <a:pt x="3482896" y="1056481"/>
                </a:lnTo>
                <a:lnTo>
                  <a:pt x="3486464" y="1056481"/>
                </a:lnTo>
                <a:lnTo>
                  <a:pt x="3486464" y="1042852"/>
                </a:lnTo>
                <a:lnTo>
                  <a:pt x="3490126" y="1042852"/>
                </a:lnTo>
                <a:lnTo>
                  <a:pt x="3490126" y="1033755"/>
                </a:lnTo>
                <a:lnTo>
                  <a:pt x="3493694" y="1033755"/>
                </a:lnTo>
                <a:lnTo>
                  <a:pt x="3497310" y="1033755"/>
                </a:lnTo>
                <a:lnTo>
                  <a:pt x="3497310" y="1029189"/>
                </a:lnTo>
                <a:lnTo>
                  <a:pt x="3500925" y="1029189"/>
                </a:lnTo>
                <a:lnTo>
                  <a:pt x="3504492" y="1029189"/>
                </a:lnTo>
                <a:lnTo>
                  <a:pt x="3504492" y="1024624"/>
                </a:lnTo>
                <a:lnTo>
                  <a:pt x="3508061" y="1024624"/>
                </a:lnTo>
                <a:lnTo>
                  <a:pt x="3511629" y="1024624"/>
                </a:lnTo>
                <a:lnTo>
                  <a:pt x="3515291" y="1024624"/>
                </a:lnTo>
                <a:lnTo>
                  <a:pt x="3518906" y="1024624"/>
                </a:lnTo>
                <a:lnTo>
                  <a:pt x="3522473" y="1024624"/>
                </a:lnTo>
                <a:lnTo>
                  <a:pt x="3526089" y="1024624"/>
                </a:lnTo>
                <a:lnTo>
                  <a:pt x="3529705" y="1024624"/>
                </a:lnTo>
                <a:lnTo>
                  <a:pt x="3533272" y="1024624"/>
                </a:lnTo>
                <a:lnTo>
                  <a:pt x="3536840" y="1024624"/>
                </a:lnTo>
                <a:lnTo>
                  <a:pt x="3540502" y="1024624"/>
                </a:lnTo>
                <a:lnTo>
                  <a:pt x="3544071" y="1024624"/>
                </a:lnTo>
                <a:lnTo>
                  <a:pt x="3547639" y="1024624"/>
                </a:lnTo>
                <a:lnTo>
                  <a:pt x="3551301" y="1024624"/>
                </a:lnTo>
                <a:lnTo>
                  <a:pt x="3554868" y="1024624"/>
                </a:lnTo>
                <a:lnTo>
                  <a:pt x="3558484" y="1024624"/>
                </a:lnTo>
                <a:lnTo>
                  <a:pt x="3558484" y="1019889"/>
                </a:lnTo>
                <a:lnTo>
                  <a:pt x="3562145" y="1019889"/>
                </a:lnTo>
                <a:lnTo>
                  <a:pt x="3562145" y="1015154"/>
                </a:lnTo>
                <a:lnTo>
                  <a:pt x="3565714" y="1015154"/>
                </a:lnTo>
                <a:lnTo>
                  <a:pt x="3569282" y="1015154"/>
                </a:lnTo>
                <a:lnTo>
                  <a:pt x="3572850" y="1015154"/>
                </a:lnTo>
                <a:lnTo>
                  <a:pt x="3576559" y="1015154"/>
                </a:lnTo>
                <a:lnTo>
                  <a:pt x="3580081" y="1015154"/>
                </a:lnTo>
                <a:lnTo>
                  <a:pt x="3583695" y="1015154"/>
                </a:lnTo>
                <a:lnTo>
                  <a:pt x="3587358" y="1015154"/>
                </a:lnTo>
                <a:lnTo>
                  <a:pt x="3587358" y="1010386"/>
                </a:lnTo>
                <a:lnTo>
                  <a:pt x="3590878" y="1010386"/>
                </a:lnTo>
                <a:lnTo>
                  <a:pt x="3594493" y="1010386"/>
                </a:lnTo>
                <a:lnTo>
                  <a:pt x="3598062" y="1010386"/>
                </a:lnTo>
                <a:lnTo>
                  <a:pt x="3601724" y="1010386"/>
                </a:lnTo>
                <a:lnTo>
                  <a:pt x="3605291" y="1010386"/>
                </a:lnTo>
                <a:lnTo>
                  <a:pt x="3605291" y="1005550"/>
                </a:lnTo>
                <a:lnTo>
                  <a:pt x="3608906" y="1005550"/>
                </a:lnTo>
                <a:lnTo>
                  <a:pt x="3612522" y="1005550"/>
                </a:lnTo>
                <a:lnTo>
                  <a:pt x="3616090" y="1005550"/>
                </a:lnTo>
                <a:lnTo>
                  <a:pt x="3619705" y="1005550"/>
                </a:lnTo>
                <a:lnTo>
                  <a:pt x="3623226" y="1005550"/>
                </a:lnTo>
                <a:lnTo>
                  <a:pt x="3626888" y="1005550"/>
                </a:lnTo>
                <a:lnTo>
                  <a:pt x="3630503" y="1005550"/>
                </a:lnTo>
                <a:lnTo>
                  <a:pt x="3634071" y="1005550"/>
                </a:lnTo>
                <a:lnTo>
                  <a:pt x="3637733" y="1005550"/>
                </a:lnTo>
                <a:lnTo>
                  <a:pt x="3641301" y="1005550"/>
                </a:lnTo>
                <a:lnTo>
                  <a:pt x="3644869" y="1005550"/>
                </a:lnTo>
                <a:lnTo>
                  <a:pt x="3648438" y="1005550"/>
                </a:lnTo>
                <a:lnTo>
                  <a:pt x="3652100" y="1005550"/>
                </a:lnTo>
                <a:lnTo>
                  <a:pt x="3655715" y="1005550"/>
                </a:lnTo>
                <a:lnTo>
                  <a:pt x="3655715" y="1000544"/>
                </a:lnTo>
                <a:lnTo>
                  <a:pt x="3659282" y="1000544"/>
                </a:lnTo>
                <a:lnTo>
                  <a:pt x="3662898" y="1000544"/>
                </a:lnTo>
                <a:lnTo>
                  <a:pt x="3666513" y="1000544"/>
                </a:lnTo>
                <a:lnTo>
                  <a:pt x="3670081" y="1000544"/>
                </a:lnTo>
                <a:lnTo>
                  <a:pt x="3673696" y="1000544"/>
                </a:lnTo>
                <a:lnTo>
                  <a:pt x="3677311" y="1000544"/>
                </a:lnTo>
                <a:lnTo>
                  <a:pt x="3680879" y="1000544"/>
                </a:lnTo>
                <a:lnTo>
                  <a:pt x="3684447" y="1000544"/>
                </a:lnTo>
                <a:lnTo>
                  <a:pt x="3688157" y="1000544"/>
                </a:lnTo>
                <a:lnTo>
                  <a:pt x="3691724" y="1000544"/>
                </a:lnTo>
                <a:lnTo>
                  <a:pt x="3695292" y="1000544"/>
                </a:lnTo>
                <a:lnTo>
                  <a:pt x="3698861" y="1000544"/>
                </a:lnTo>
                <a:lnTo>
                  <a:pt x="3702523" y="1000544"/>
                </a:lnTo>
                <a:lnTo>
                  <a:pt x="3706090" y="1000544"/>
                </a:lnTo>
                <a:lnTo>
                  <a:pt x="3709658" y="1000544"/>
                </a:lnTo>
                <a:lnTo>
                  <a:pt x="3713320" y="1000544"/>
                </a:lnTo>
                <a:lnTo>
                  <a:pt x="3716936" y="1000544"/>
                </a:lnTo>
                <a:lnTo>
                  <a:pt x="3716936" y="995370"/>
                </a:lnTo>
                <a:lnTo>
                  <a:pt x="3720457" y="995370"/>
                </a:lnTo>
                <a:lnTo>
                  <a:pt x="3724072" y="995370"/>
                </a:lnTo>
                <a:lnTo>
                  <a:pt x="3727734" y="995370"/>
                </a:lnTo>
                <a:lnTo>
                  <a:pt x="3731256" y="995370"/>
                </a:lnTo>
                <a:lnTo>
                  <a:pt x="3734870" y="995370"/>
                </a:lnTo>
                <a:lnTo>
                  <a:pt x="3738533" y="995370"/>
                </a:lnTo>
                <a:lnTo>
                  <a:pt x="3742100" y="995370"/>
                </a:lnTo>
                <a:lnTo>
                  <a:pt x="3745668" y="995370"/>
                </a:lnTo>
                <a:lnTo>
                  <a:pt x="3749283" y="995370"/>
                </a:lnTo>
                <a:lnTo>
                  <a:pt x="3752945" y="995370"/>
                </a:lnTo>
                <a:lnTo>
                  <a:pt x="3756514" y="995370"/>
                </a:lnTo>
                <a:lnTo>
                  <a:pt x="3760081" y="995370"/>
                </a:lnTo>
                <a:lnTo>
                  <a:pt x="3763743" y="995370"/>
                </a:lnTo>
                <a:lnTo>
                  <a:pt x="3767312" y="995370"/>
                </a:lnTo>
                <a:lnTo>
                  <a:pt x="3770880" y="995370"/>
                </a:lnTo>
                <a:lnTo>
                  <a:pt x="3774448" y="995370"/>
                </a:lnTo>
                <a:lnTo>
                  <a:pt x="3778110" y="995370"/>
                </a:lnTo>
                <a:lnTo>
                  <a:pt x="3781678" y="995370"/>
                </a:lnTo>
                <a:lnTo>
                  <a:pt x="3785293" y="995370"/>
                </a:lnTo>
                <a:lnTo>
                  <a:pt x="3788908" y="995370"/>
                </a:lnTo>
                <a:lnTo>
                  <a:pt x="3792523" y="995370"/>
                </a:lnTo>
                <a:lnTo>
                  <a:pt x="3796091" y="995370"/>
                </a:lnTo>
                <a:lnTo>
                  <a:pt x="3799660" y="995370"/>
                </a:lnTo>
                <a:lnTo>
                  <a:pt x="3799660" y="989858"/>
                </a:lnTo>
                <a:lnTo>
                  <a:pt x="3803321" y="989858"/>
                </a:lnTo>
                <a:lnTo>
                  <a:pt x="3806890" y="989858"/>
                </a:lnTo>
                <a:lnTo>
                  <a:pt x="3810457" y="989858"/>
                </a:lnTo>
                <a:lnTo>
                  <a:pt x="3814119" y="989858"/>
                </a:lnTo>
                <a:lnTo>
                  <a:pt x="3817688" y="989858"/>
                </a:lnTo>
                <a:lnTo>
                  <a:pt x="3821256" y="989858"/>
                </a:lnTo>
                <a:lnTo>
                  <a:pt x="3824871" y="989858"/>
                </a:lnTo>
                <a:lnTo>
                  <a:pt x="3828533" y="989858"/>
                </a:lnTo>
                <a:lnTo>
                  <a:pt x="3828533" y="984379"/>
                </a:lnTo>
                <a:lnTo>
                  <a:pt x="3832100" y="984379"/>
                </a:lnTo>
                <a:lnTo>
                  <a:pt x="3832100" y="978934"/>
                </a:lnTo>
                <a:lnTo>
                  <a:pt x="3835669" y="978934"/>
                </a:lnTo>
                <a:lnTo>
                  <a:pt x="3839331" y="978934"/>
                </a:lnTo>
                <a:lnTo>
                  <a:pt x="3842899" y="978934"/>
                </a:lnTo>
                <a:lnTo>
                  <a:pt x="3846467" y="978934"/>
                </a:lnTo>
                <a:lnTo>
                  <a:pt x="3850082" y="978934"/>
                </a:lnTo>
                <a:lnTo>
                  <a:pt x="3853697" y="978934"/>
                </a:lnTo>
                <a:lnTo>
                  <a:pt x="3853697" y="973320"/>
                </a:lnTo>
                <a:lnTo>
                  <a:pt x="3857265" y="973320"/>
                </a:lnTo>
                <a:lnTo>
                  <a:pt x="3857265" y="962126"/>
                </a:lnTo>
                <a:lnTo>
                  <a:pt x="3860880" y="962126"/>
                </a:lnTo>
                <a:lnTo>
                  <a:pt x="3860880" y="945115"/>
                </a:lnTo>
                <a:lnTo>
                  <a:pt x="3864542" y="945115"/>
                </a:lnTo>
                <a:lnTo>
                  <a:pt x="3864542" y="939467"/>
                </a:lnTo>
                <a:lnTo>
                  <a:pt x="3868110" y="939467"/>
                </a:lnTo>
                <a:lnTo>
                  <a:pt x="3868110" y="933752"/>
                </a:lnTo>
                <a:lnTo>
                  <a:pt x="3871726" y="933752"/>
                </a:lnTo>
                <a:lnTo>
                  <a:pt x="3875247" y="933752"/>
                </a:lnTo>
                <a:lnTo>
                  <a:pt x="3878861" y="933752"/>
                </a:lnTo>
                <a:lnTo>
                  <a:pt x="3878861" y="905141"/>
                </a:lnTo>
                <a:lnTo>
                  <a:pt x="3882477" y="905141"/>
                </a:lnTo>
                <a:lnTo>
                  <a:pt x="3882477" y="887860"/>
                </a:lnTo>
                <a:lnTo>
                  <a:pt x="3886045" y="887860"/>
                </a:lnTo>
                <a:lnTo>
                  <a:pt x="3886045" y="876361"/>
                </a:lnTo>
                <a:lnTo>
                  <a:pt x="3889707" y="876361"/>
                </a:lnTo>
                <a:lnTo>
                  <a:pt x="3889707" y="870545"/>
                </a:lnTo>
                <a:lnTo>
                  <a:pt x="3893275" y="870545"/>
                </a:lnTo>
                <a:lnTo>
                  <a:pt x="3893275" y="864728"/>
                </a:lnTo>
                <a:lnTo>
                  <a:pt x="3896890" y="864728"/>
                </a:lnTo>
                <a:lnTo>
                  <a:pt x="3896890" y="858911"/>
                </a:lnTo>
                <a:lnTo>
                  <a:pt x="3900458" y="858911"/>
                </a:lnTo>
                <a:lnTo>
                  <a:pt x="3904120" y="858911"/>
                </a:lnTo>
                <a:lnTo>
                  <a:pt x="3907689" y="858911"/>
                </a:lnTo>
                <a:lnTo>
                  <a:pt x="3907689" y="829725"/>
                </a:lnTo>
                <a:lnTo>
                  <a:pt x="3911256" y="829725"/>
                </a:lnTo>
                <a:lnTo>
                  <a:pt x="3911256" y="823841"/>
                </a:lnTo>
                <a:lnTo>
                  <a:pt x="3914918" y="823841"/>
                </a:lnTo>
                <a:lnTo>
                  <a:pt x="3918487" y="823841"/>
                </a:lnTo>
                <a:lnTo>
                  <a:pt x="3918487" y="817821"/>
                </a:lnTo>
                <a:lnTo>
                  <a:pt x="3922055" y="817821"/>
                </a:lnTo>
                <a:lnTo>
                  <a:pt x="3922055" y="805883"/>
                </a:lnTo>
                <a:lnTo>
                  <a:pt x="3925670" y="805883"/>
                </a:lnTo>
                <a:lnTo>
                  <a:pt x="3929285" y="805883"/>
                </a:lnTo>
                <a:lnTo>
                  <a:pt x="3929285" y="799964"/>
                </a:lnTo>
                <a:lnTo>
                  <a:pt x="3932853" y="799964"/>
                </a:lnTo>
                <a:lnTo>
                  <a:pt x="3936468" y="799964"/>
                </a:lnTo>
                <a:lnTo>
                  <a:pt x="3940130" y="799964"/>
                </a:lnTo>
                <a:lnTo>
                  <a:pt x="3943698" y="799964"/>
                </a:lnTo>
                <a:lnTo>
                  <a:pt x="3943698" y="793945"/>
                </a:lnTo>
                <a:lnTo>
                  <a:pt x="3947313" y="793945"/>
                </a:lnTo>
                <a:lnTo>
                  <a:pt x="3950928" y="793945"/>
                </a:lnTo>
                <a:lnTo>
                  <a:pt x="3954496" y="793945"/>
                </a:lnTo>
                <a:lnTo>
                  <a:pt x="3958112" y="793945"/>
                </a:lnTo>
                <a:lnTo>
                  <a:pt x="3961679" y="793945"/>
                </a:lnTo>
                <a:lnTo>
                  <a:pt x="3965294" y="793945"/>
                </a:lnTo>
                <a:lnTo>
                  <a:pt x="3968863" y="793945"/>
                </a:lnTo>
                <a:lnTo>
                  <a:pt x="3972478" y="793945"/>
                </a:lnTo>
                <a:lnTo>
                  <a:pt x="3976140" y="793945"/>
                </a:lnTo>
                <a:lnTo>
                  <a:pt x="3976140" y="787824"/>
                </a:lnTo>
                <a:lnTo>
                  <a:pt x="3979708" y="787824"/>
                </a:lnTo>
                <a:lnTo>
                  <a:pt x="3983323" y="787824"/>
                </a:lnTo>
                <a:lnTo>
                  <a:pt x="3986844" y="787824"/>
                </a:lnTo>
                <a:lnTo>
                  <a:pt x="3990506" y="787824"/>
                </a:lnTo>
                <a:lnTo>
                  <a:pt x="3994121" y="787824"/>
                </a:lnTo>
                <a:lnTo>
                  <a:pt x="3997642" y="787824"/>
                </a:lnTo>
                <a:lnTo>
                  <a:pt x="4001304" y="787824"/>
                </a:lnTo>
                <a:lnTo>
                  <a:pt x="4004919" y="787824"/>
                </a:lnTo>
                <a:lnTo>
                  <a:pt x="4004919" y="781533"/>
                </a:lnTo>
                <a:lnTo>
                  <a:pt x="4008488" y="781533"/>
                </a:lnTo>
                <a:lnTo>
                  <a:pt x="4012055" y="781533"/>
                </a:lnTo>
                <a:lnTo>
                  <a:pt x="4015717" y="781533"/>
                </a:lnTo>
                <a:lnTo>
                  <a:pt x="4015717" y="775243"/>
                </a:lnTo>
                <a:lnTo>
                  <a:pt x="4019285" y="775243"/>
                </a:lnTo>
                <a:lnTo>
                  <a:pt x="4022854" y="775243"/>
                </a:lnTo>
                <a:lnTo>
                  <a:pt x="4026515" y="775243"/>
                </a:lnTo>
                <a:lnTo>
                  <a:pt x="4030131" y="775243"/>
                </a:lnTo>
                <a:lnTo>
                  <a:pt x="4033651" y="775243"/>
                </a:lnTo>
                <a:lnTo>
                  <a:pt x="4037267" y="775243"/>
                </a:lnTo>
                <a:lnTo>
                  <a:pt x="4040929" y="775243"/>
                </a:lnTo>
                <a:lnTo>
                  <a:pt x="4044497" y="775243"/>
                </a:lnTo>
                <a:lnTo>
                  <a:pt x="4048065" y="775243"/>
                </a:lnTo>
                <a:lnTo>
                  <a:pt x="4051727" y="775243"/>
                </a:lnTo>
                <a:lnTo>
                  <a:pt x="4055295" y="775243"/>
                </a:lnTo>
                <a:lnTo>
                  <a:pt x="4058864" y="775243"/>
                </a:lnTo>
                <a:lnTo>
                  <a:pt x="4062478" y="775243"/>
                </a:lnTo>
                <a:lnTo>
                  <a:pt x="4066141" y="775243"/>
                </a:lnTo>
                <a:lnTo>
                  <a:pt x="4069662" y="775243"/>
                </a:lnTo>
                <a:lnTo>
                  <a:pt x="4073276" y="775243"/>
                </a:lnTo>
                <a:lnTo>
                  <a:pt x="4076939" y="775243"/>
                </a:lnTo>
                <a:lnTo>
                  <a:pt x="4080507" y="775243"/>
                </a:lnTo>
                <a:lnTo>
                  <a:pt x="4084075" y="775243"/>
                </a:lnTo>
                <a:lnTo>
                  <a:pt x="4087643" y="775243"/>
                </a:lnTo>
                <a:lnTo>
                  <a:pt x="4091305" y="775243"/>
                </a:lnTo>
                <a:lnTo>
                  <a:pt x="4094920" y="775243"/>
                </a:lnTo>
                <a:lnTo>
                  <a:pt x="4098488" y="775243"/>
                </a:lnTo>
                <a:lnTo>
                  <a:pt x="4102150" y="775243"/>
                </a:lnTo>
                <a:lnTo>
                  <a:pt x="4105718" y="775243"/>
                </a:lnTo>
                <a:lnTo>
                  <a:pt x="4109286" y="775243"/>
                </a:lnTo>
                <a:lnTo>
                  <a:pt x="4112854" y="775243"/>
                </a:lnTo>
                <a:lnTo>
                  <a:pt x="4116517" y="775243"/>
                </a:lnTo>
                <a:lnTo>
                  <a:pt x="4120084" y="775243"/>
                </a:lnTo>
                <a:lnTo>
                  <a:pt x="4123652" y="775243"/>
                </a:lnTo>
                <a:lnTo>
                  <a:pt x="4127315" y="775243"/>
                </a:lnTo>
                <a:lnTo>
                  <a:pt x="4127315" y="761580"/>
                </a:lnTo>
                <a:lnTo>
                  <a:pt x="4130930" y="761580"/>
                </a:lnTo>
                <a:lnTo>
                  <a:pt x="4134498" y="761580"/>
                </a:lnTo>
                <a:lnTo>
                  <a:pt x="4138065" y="761580"/>
                </a:lnTo>
                <a:lnTo>
                  <a:pt x="4141727" y="761580"/>
                </a:lnTo>
                <a:lnTo>
                  <a:pt x="4145296" y="761580"/>
                </a:lnTo>
                <a:lnTo>
                  <a:pt x="4148864" y="761580"/>
                </a:lnTo>
                <a:lnTo>
                  <a:pt x="4152526" y="761580"/>
                </a:lnTo>
                <a:lnTo>
                  <a:pt x="4156094" y="761580"/>
                </a:lnTo>
                <a:lnTo>
                  <a:pt x="4159709" y="761580"/>
                </a:lnTo>
                <a:lnTo>
                  <a:pt x="4159709" y="754647"/>
                </a:lnTo>
                <a:lnTo>
                  <a:pt x="4163278" y="754647"/>
                </a:lnTo>
                <a:lnTo>
                  <a:pt x="4166892" y="754647"/>
                </a:lnTo>
                <a:lnTo>
                  <a:pt x="4170507" y="754647"/>
                </a:lnTo>
                <a:lnTo>
                  <a:pt x="4174076" y="754647"/>
                </a:lnTo>
                <a:lnTo>
                  <a:pt x="4177737" y="754647"/>
                </a:lnTo>
                <a:lnTo>
                  <a:pt x="4181306" y="754647"/>
                </a:lnTo>
                <a:lnTo>
                  <a:pt x="4184921" y="754647"/>
                </a:lnTo>
                <a:lnTo>
                  <a:pt x="4188442" y="754647"/>
                </a:lnTo>
                <a:lnTo>
                  <a:pt x="4192103" y="754647"/>
                </a:lnTo>
                <a:lnTo>
                  <a:pt x="4195672" y="754647"/>
                </a:lnTo>
                <a:lnTo>
                  <a:pt x="4199287" y="754647"/>
                </a:lnTo>
                <a:lnTo>
                  <a:pt x="4202902" y="754647"/>
                </a:lnTo>
                <a:lnTo>
                  <a:pt x="4206517" y="754647"/>
                </a:lnTo>
                <a:lnTo>
                  <a:pt x="4210085" y="754647"/>
                </a:lnTo>
                <a:lnTo>
                  <a:pt x="4213653" y="754647"/>
                </a:lnTo>
                <a:lnTo>
                  <a:pt x="4217316" y="754647"/>
                </a:lnTo>
                <a:lnTo>
                  <a:pt x="4220883" y="754647"/>
                </a:lnTo>
                <a:lnTo>
                  <a:pt x="4224451" y="754647"/>
                </a:lnTo>
                <a:lnTo>
                  <a:pt x="4228114" y="754647"/>
                </a:lnTo>
                <a:lnTo>
                  <a:pt x="4231682" y="754647"/>
                </a:lnTo>
                <a:lnTo>
                  <a:pt x="4235297" y="754647"/>
                </a:lnTo>
                <a:lnTo>
                  <a:pt x="4238864" y="754647"/>
                </a:lnTo>
                <a:lnTo>
                  <a:pt x="4242526" y="754647"/>
                </a:lnTo>
                <a:lnTo>
                  <a:pt x="4246095" y="754647"/>
                </a:lnTo>
                <a:lnTo>
                  <a:pt x="4249663" y="754647"/>
                </a:lnTo>
                <a:lnTo>
                  <a:pt x="4253325" y="754647"/>
                </a:lnTo>
                <a:lnTo>
                  <a:pt x="4256893" y="754647"/>
                </a:lnTo>
                <a:lnTo>
                  <a:pt x="4260461" y="754647"/>
                </a:lnTo>
                <a:lnTo>
                  <a:pt x="4264029" y="754647"/>
                </a:lnTo>
                <a:lnTo>
                  <a:pt x="4267692" y="754647"/>
                </a:lnTo>
                <a:lnTo>
                  <a:pt x="4271306" y="754647"/>
                </a:lnTo>
                <a:lnTo>
                  <a:pt x="4274874" y="754647"/>
                </a:lnTo>
                <a:lnTo>
                  <a:pt x="4278490" y="754647"/>
                </a:lnTo>
                <a:lnTo>
                  <a:pt x="4282104" y="754647"/>
                </a:lnTo>
                <a:lnTo>
                  <a:pt x="4285673" y="754647"/>
                </a:lnTo>
                <a:lnTo>
                  <a:pt x="4285673" y="732090"/>
                </a:lnTo>
                <a:lnTo>
                  <a:pt x="4289288" y="732090"/>
                </a:lnTo>
                <a:lnTo>
                  <a:pt x="4289288" y="724582"/>
                </a:lnTo>
                <a:lnTo>
                  <a:pt x="4292902" y="724582"/>
                </a:lnTo>
                <a:lnTo>
                  <a:pt x="4296517" y="724582"/>
                </a:lnTo>
                <a:lnTo>
                  <a:pt x="4296517" y="716973"/>
                </a:lnTo>
                <a:lnTo>
                  <a:pt x="4300039" y="716973"/>
                </a:lnTo>
                <a:lnTo>
                  <a:pt x="4303701" y="716973"/>
                </a:lnTo>
                <a:lnTo>
                  <a:pt x="4307316" y="716973"/>
                </a:lnTo>
                <a:lnTo>
                  <a:pt x="4307316" y="709330"/>
                </a:lnTo>
                <a:lnTo>
                  <a:pt x="4310884" y="709330"/>
                </a:lnTo>
                <a:lnTo>
                  <a:pt x="4310884" y="678487"/>
                </a:lnTo>
                <a:lnTo>
                  <a:pt x="4314499" y="678487"/>
                </a:lnTo>
                <a:lnTo>
                  <a:pt x="4318115" y="678487"/>
                </a:lnTo>
                <a:lnTo>
                  <a:pt x="4321682" y="678487"/>
                </a:lnTo>
                <a:lnTo>
                  <a:pt x="4321682" y="670675"/>
                </a:lnTo>
                <a:lnTo>
                  <a:pt x="4325251" y="670675"/>
                </a:lnTo>
                <a:lnTo>
                  <a:pt x="4325251" y="662795"/>
                </a:lnTo>
                <a:lnTo>
                  <a:pt x="4328912" y="662795"/>
                </a:lnTo>
                <a:lnTo>
                  <a:pt x="4328912" y="654949"/>
                </a:lnTo>
                <a:lnTo>
                  <a:pt x="4332528" y="654949"/>
                </a:lnTo>
                <a:lnTo>
                  <a:pt x="4332528" y="647069"/>
                </a:lnTo>
                <a:lnTo>
                  <a:pt x="4336049" y="647069"/>
                </a:lnTo>
                <a:lnTo>
                  <a:pt x="4336049" y="631242"/>
                </a:lnTo>
                <a:lnTo>
                  <a:pt x="4339711" y="631242"/>
                </a:lnTo>
                <a:lnTo>
                  <a:pt x="4339711" y="615347"/>
                </a:lnTo>
                <a:lnTo>
                  <a:pt x="4343326" y="615347"/>
                </a:lnTo>
                <a:lnTo>
                  <a:pt x="4343326" y="607400"/>
                </a:lnTo>
                <a:lnTo>
                  <a:pt x="4346894" y="607400"/>
                </a:lnTo>
                <a:lnTo>
                  <a:pt x="4350462" y="607400"/>
                </a:lnTo>
                <a:lnTo>
                  <a:pt x="4354124" y="607400"/>
                </a:lnTo>
                <a:lnTo>
                  <a:pt x="4357692" y="607400"/>
                </a:lnTo>
                <a:lnTo>
                  <a:pt x="4361260" y="607400"/>
                </a:lnTo>
                <a:lnTo>
                  <a:pt x="4364922" y="607400"/>
                </a:lnTo>
                <a:lnTo>
                  <a:pt x="4368537" y="607400"/>
                </a:lnTo>
                <a:lnTo>
                  <a:pt x="4372058" y="607400"/>
                </a:lnTo>
                <a:lnTo>
                  <a:pt x="4375673" y="607400"/>
                </a:lnTo>
                <a:lnTo>
                  <a:pt x="4375673" y="599249"/>
                </a:lnTo>
                <a:lnTo>
                  <a:pt x="4379335" y="599249"/>
                </a:lnTo>
                <a:lnTo>
                  <a:pt x="4382903" y="599249"/>
                </a:lnTo>
                <a:lnTo>
                  <a:pt x="4386472" y="599249"/>
                </a:lnTo>
                <a:lnTo>
                  <a:pt x="4390134" y="599249"/>
                </a:lnTo>
                <a:lnTo>
                  <a:pt x="4393701" y="599249"/>
                </a:lnTo>
                <a:lnTo>
                  <a:pt x="4397270" y="599249"/>
                </a:lnTo>
                <a:lnTo>
                  <a:pt x="4400885" y="599249"/>
                </a:lnTo>
                <a:lnTo>
                  <a:pt x="4404547" y="599249"/>
                </a:lnTo>
                <a:lnTo>
                  <a:pt x="4408068" y="599249"/>
                </a:lnTo>
                <a:lnTo>
                  <a:pt x="4411683" y="599249"/>
                </a:lnTo>
                <a:lnTo>
                  <a:pt x="4415345" y="599249"/>
                </a:lnTo>
                <a:lnTo>
                  <a:pt x="4418913" y="599249"/>
                </a:lnTo>
                <a:lnTo>
                  <a:pt x="4422481" y="599249"/>
                </a:lnTo>
                <a:lnTo>
                  <a:pt x="4426096" y="599249"/>
                </a:lnTo>
                <a:lnTo>
                  <a:pt x="4426096" y="590727"/>
                </a:lnTo>
                <a:lnTo>
                  <a:pt x="4429711" y="590727"/>
                </a:lnTo>
                <a:lnTo>
                  <a:pt x="4433279" y="590727"/>
                </a:lnTo>
                <a:lnTo>
                  <a:pt x="4436895" y="590727"/>
                </a:lnTo>
                <a:lnTo>
                  <a:pt x="4440556" y="590727"/>
                </a:lnTo>
                <a:lnTo>
                  <a:pt x="4444125" y="590727"/>
                </a:lnTo>
                <a:lnTo>
                  <a:pt x="4444125" y="581968"/>
                </a:lnTo>
                <a:lnTo>
                  <a:pt x="4447692" y="581968"/>
                </a:lnTo>
                <a:lnTo>
                  <a:pt x="4451261" y="581968"/>
                </a:lnTo>
                <a:lnTo>
                  <a:pt x="4454923" y="581968"/>
                </a:lnTo>
                <a:lnTo>
                  <a:pt x="4458491" y="581968"/>
                </a:lnTo>
                <a:lnTo>
                  <a:pt x="4458491" y="573175"/>
                </a:lnTo>
                <a:lnTo>
                  <a:pt x="4462059" y="573175"/>
                </a:lnTo>
                <a:lnTo>
                  <a:pt x="4465721" y="573175"/>
                </a:lnTo>
                <a:lnTo>
                  <a:pt x="4469289" y="573175"/>
                </a:lnTo>
                <a:lnTo>
                  <a:pt x="4472905" y="573175"/>
                </a:lnTo>
                <a:lnTo>
                  <a:pt x="4476472" y="573175"/>
                </a:lnTo>
                <a:lnTo>
                  <a:pt x="4480134" y="573175"/>
                </a:lnTo>
                <a:lnTo>
                  <a:pt x="4483703" y="573175"/>
                </a:lnTo>
                <a:lnTo>
                  <a:pt x="4487271" y="573175"/>
                </a:lnTo>
                <a:lnTo>
                  <a:pt x="4490933" y="573175"/>
                </a:lnTo>
                <a:lnTo>
                  <a:pt x="4494501" y="573175"/>
                </a:lnTo>
                <a:lnTo>
                  <a:pt x="4498069" y="573175"/>
                </a:lnTo>
                <a:lnTo>
                  <a:pt x="4501684" y="573175"/>
                </a:lnTo>
                <a:lnTo>
                  <a:pt x="4505346" y="573175"/>
                </a:lnTo>
                <a:lnTo>
                  <a:pt x="4508914" y="573175"/>
                </a:lnTo>
                <a:lnTo>
                  <a:pt x="4512482" y="573175"/>
                </a:lnTo>
                <a:lnTo>
                  <a:pt x="4516144" y="573175"/>
                </a:lnTo>
                <a:lnTo>
                  <a:pt x="4519712" y="573175"/>
                </a:lnTo>
                <a:lnTo>
                  <a:pt x="4523327" y="573175"/>
                </a:lnTo>
                <a:lnTo>
                  <a:pt x="4523327" y="563909"/>
                </a:lnTo>
                <a:lnTo>
                  <a:pt x="4526848" y="563909"/>
                </a:lnTo>
                <a:lnTo>
                  <a:pt x="4530510" y="563909"/>
                </a:lnTo>
                <a:lnTo>
                  <a:pt x="4534078" y="563909"/>
                </a:lnTo>
                <a:lnTo>
                  <a:pt x="4537693" y="563909"/>
                </a:lnTo>
                <a:lnTo>
                  <a:pt x="4541309" y="563909"/>
                </a:lnTo>
                <a:lnTo>
                  <a:pt x="4544924" y="563909"/>
                </a:lnTo>
                <a:lnTo>
                  <a:pt x="4548491" y="563909"/>
                </a:lnTo>
                <a:lnTo>
                  <a:pt x="4548491" y="554304"/>
                </a:lnTo>
                <a:lnTo>
                  <a:pt x="4552060" y="554304"/>
                </a:lnTo>
                <a:lnTo>
                  <a:pt x="4552060" y="544733"/>
                </a:lnTo>
                <a:lnTo>
                  <a:pt x="4555722" y="544733"/>
                </a:lnTo>
                <a:lnTo>
                  <a:pt x="4559290" y="544733"/>
                </a:lnTo>
                <a:lnTo>
                  <a:pt x="4562858" y="544733"/>
                </a:lnTo>
                <a:lnTo>
                  <a:pt x="4566472" y="544733"/>
                </a:lnTo>
                <a:lnTo>
                  <a:pt x="4566472" y="534926"/>
                </a:lnTo>
                <a:lnTo>
                  <a:pt x="4570088" y="534926"/>
                </a:lnTo>
                <a:lnTo>
                  <a:pt x="4573656" y="534926"/>
                </a:lnTo>
                <a:lnTo>
                  <a:pt x="4577271" y="534926"/>
                </a:lnTo>
                <a:lnTo>
                  <a:pt x="4580933" y="534926"/>
                </a:lnTo>
                <a:lnTo>
                  <a:pt x="4584501" y="534926"/>
                </a:lnTo>
                <a:lnTo>
                  <a:pt x="4588070" y="534926"/>
                </a:lnTo>
                <a:lnTo>
                  <a:pt x="4591731" y="534926"/>
                </a:lnTo>
                <a:lnTo>
                  <a:pt x="4595300" y="534926"/>
                </a:lnTo>
                <a:lnTo>
                  <a:pt x="4598867" y="534926"/>
                </a:lnTo>
                <a:lnTo>
                  <a:pt x="4602483" y="534926"/>
                </a:lnTo>
                <a:lnTo>
                  <a:pt x="4606098" y="534926"/>
                </a:lnTo>
                <a:lnTo>
                  <a:pt x="4609666" y="534926"/>
                </a:lnTo>
                <a:lnTo>
                  <a:pt x="4613281" y="534926"/>
                </a:lnTo>
                <a:lnTo>
                  <a:pt x="4616943" y="534926"/>
                </a:lnTo>
                <a:lnTo>
                  <a:pt x="4620510" y="534926"/>
                </a:lnTo>
                <a:lnTo>
                  <a:pt x="4624079" y="534926"/>
                </a:lnTo>
                <a:lnTo>
                  <a:pt x="4627694" y="534926"/>
                </a:lnTo>
                <a:lnTo>
                  <a:pt x="4631309" y="534926"/>
                </a:lnTo>
                <a:lnTo>
                  <a:pt x="4634924" y="534926"/>
                </a:lnTo>
                <a:lnTo>
                  <a:pt x="4638446" y="534926"/>
                </a:lnTo>
                <a:lnTo>
                  <a:pt x="4642107" y="534926"/>
                </a:lnTo>
                <a:lnTo>
                  <a:pt x="4645723" y="534926"/>
                </a:lnTo>
                <a:lnTo>
                  <a:pt x="4649290" y="534926"/>
                </a:lnTo>
                <a:lnTo>
                  <a:pt x="4649290" y="524408"/>
                </a:lnTo>
                <a:lnTo>
                  <a:pt x="4652859" y="524408"/>
                </a:lnTo>
                <a:lnTo>
                  <a:pt x="4656521" y="524408"/>
                </a:lnTo>
                <a:lnTo>
                  <a:pt x="4660089" y="524408"/>
                </a:lnTo>
                <a:lnTo>
                  <a:pt x="4663657" y="524408"/>
                </a:lnTo>
                <a:lnTo>
                  <a:pt x="4667319" y="524408"/>
                </a:lnTo>
                <a:lnTo>
                  <a:pt x="4670934" y="524408"/>
                </a:lnTo>
                <a:lnTo>
                  <a:pt x="4674455" y="524408"/>
                </a:lnTo>
                <a:lnTo>
                  <a:pt x="4678070" y="524408"/>
                </a:lnTo>
                <a:lnTo>
                  <a:pt x="4681732" y="524408"/>
                </a:lnTo>
                <a:lnTo>
                  <a:pt x="4685300" y="524408"/>
                </a:lnTo>
                <a:lnTo>
                  <a:pt x="4688868" y="524408"/>
                </a:lnTo>
                <a:lnTo>
                  <a:pt x="4692530" y="524408"/>
                </a:lnTo>
                <a:lnTo>
                  <a:pt x="4696099" y="524408"/>
                </a:lnTo>
                <a:lnTo>
                  <a:pt x="4699666" y="524408"/>
                </a:lnTo>
                <a:lnTo>
                  <a:pt x="4703281" y="524408"/>
                </a:lnTo>
                <a:lnTo>
                  <a:pt x="4706943" y="524408"/>
                </a:lnTo>
                <a:lnTo>
                  <a:pt x="4706943" y="501986"/>
                </a:lnTo>
                <a:lnTo>
                  <a:pt x="4710465" y="501986"/>
                </a:lnTo>
                <a:lnTo>
                  <a:pt x="4714080" y="501986"/>
                </a:lnTo>
                <a:lnTo>
                  <a:pt x="4714080" y="456331"/>
                </a:lnTo>
                <a:lnTo>
                  <a:pt x="4717742" y="456331"/>
                </a:lnTo>
                <a:lnTo>
                  <a:pt x="4721263" y="456331"/>
                </a:lnTo>
                <a:lnTo>
                  <a:pt x="4724878" y="456331"/>
                </a:lnTo>
                <a:lnTo>
                  <a:pt x="4724878" y="444663"/>
                </a:lnTo>
                <a:lnTo>
                  <a:pt x="4728540" y="444663"/>
                </a:lnTo>
                <a:lnTo>
                  <a:pt x="4732108" y="444663"/>
                </a:lnTo>
                <a:lnTo>
                  <a:pt x="4735676" y="444663"/>
                </a:lnTo>
                <a:lnTo>
                  <a:pt x="4735676" y="421125"/>
                </a:lnTo>
                <a:lnTo>
                  <a:pt x="4739291" y="421125"/>
                </a:lnTo>
                <a:lnTo>
                  <a:pt x="4742906" y="421125"/>
                </a:lnTo>
                <a:lnTo>
                  <a:pt x="4746475" y="421125"/>
                </a:lnTo>
                <a:lnTo>
                  <a:pt x="4750089" y="421125"/>
                </a:lnTo>
                <a:lnTo>
                  <a:pt x="4753752" y="421125"/>
                </a:lnTo>
                <a:lnTo>
                  <a:pt x="4753752" y="408646"/>
                </a:lnTo>
                <a:lnTo>
                  <a:pt x="4757319" y="408646"/>
                </a:lnTo>
                <a:lnTo>
                  <a:pt x="4757319" y="396201"/>
                </a:lnTo>
                <a:lnTo>
                  <a:pt x="4760888" y="396201"/>
                </a:lnTo>
                <a:lnTo>
                  <a:pt x="4760888" y="383485"/>
                </a:lnTo>
                <a:lnTo>
                  <a:pt x="4764456" y="383485"/>
                </a:lnTo>
                <a:lnTo>
                  <a:pt x="4764456" y="370769"/>
                </a:lnTo>
                <a:lnTo>
                  <a:pt x="4768118" y="370769"/>
                </a:lnTo>
                <a:lnTo>
                  <a:pt x="4768118" y="357850"/>
                </a:lnTo>
                <a:lnTo>
                  <a:pt x="4771733" y="357850"/>
                </a:lnTo>
                <a:lnTo>
                  <a:pt x="4775301" y="357850"/>
                </a:lnTo>
                <a:lnTo>
                  <a:pt x="4778916" y="357850"/>
                </a:lnTo>
                <a:lnTo>
                  <a:pt x="4778916" y="344728"/>
                </a:lnTo>
                <a:lnTo>
                  <a:pt x="4782531" y="344728"/>
                </a:lnTo>
                <a:lnTo>
                  <a:pt x="4786099" y="344728"/>
                </a:lnTo>
                <a:lnTo>
                  <a:pt x="4789667" y="344728"/>
                </a:lnTo>
                <a:lnTo>
                  <a:pt x="4789667" y="317741"/>
                </a:lnTo>
                <a:lnTo>
                  <a:pt x="4793329" y="317741"/>
                </a:lnTo>
                <a:lnTo>
                  <a:pt x="4796898" y="317741"/>
                </a:lnTo>
                <a:lnTo>
                  <a:pt x="4800465" y="317741"/>
                </a:lnTo>
                <a:lnTo>
                  <a:pt x="4804127" y="317741"/>
                </a:lnTo>
                <a:lnTo>
                  <a:pt x="4807695" y="317741"/>
                </a:lnTo>
                <a:lnTo>
                  <a:pt x="4811311" y="317741"/>
                </a:lnTo>
                <a:lnTo>
                  <a:pt x="4814879" y="317741"/>
                </a:lnTo>
                <a:lnTo>
                  <a:pt x="4818541" y="317741"/>
                </a:lnTo>
                <a:lnTo>
                  <a:pt x="4822109" y="317741"/>
                </a:lnTo>
                <a:lnTo>
                  <a:pt x="4825677" y="317741"/>
                </a:lnTo>
                <a:lnTo>
                  <a:pt x="4829339" y="317741"/>
                </a:lnTo>
                <a:lnTo>
                  <a:pt x="4832907" y="317741"/>
                </a:lnTo>
                <a:lnTo>
                  <a:pt x="4836475" y="317741"/>
                </a:lnTo>
                <a:lnTo>
                  <a:pt x="4840043" y="317741"/>
                </a:lnTo>
                <a:lnTo>
                  <a:pt x="4843705" y="317741"/>
                </a:lnTo>
                <a:lnTo>
                  <a:pt x="4847320" y="317741"/>
                </a:lnTo>
                <a:lnTo>
                  <a:pt x="4850889" y="317741"/>
                </a:lnTo>
                <a:lnTo>
                  <a:pt x="4854503" y="317741"/>
                </a:lnTo>
                <a:lnTo>
                  <a:pt x="4858118" y="317741"/>
                </a:lnTo>
                <a:lnTo>
                  <a:pt x="4861687" y="317741"/>
                </a:lnTo>
                <a:lnTo>
                  <a:pt x="4865255" y="317741"/>
                </a:lnTo>
                <a:lnTo>
                  <a:pt x="4868917" y="317741"/>
                </a:lnTo>
                <a:lnTo>
                  <a:pt x="4872485" y="317741"/>
                </a:lnTo>
                <a:lnTo>
                  <a:pt x="4876053" y="317741"/>
                </a:lnTo>
                <a:lnTo>
                  <a:pt x="4879715" y="317741"/>
                </a:lnTo>
                <a:lnTo>
                  <a:pt x="4883330" y="317741"/>
                </a:lnTo>
                <a:lnTo>
                  <a:pt x="4886898" y="317741"/>
                </a:lnTo>
                <a:lnTo>
                  <a:pt x="4890466" y="317741"/>
                </a:lnTo>
                <a:lnTo>
                  <a:pt x="4894128" y="317741"/>
                </a:lnTo>
                <a:lnTo>
                  <a:pt x="4897696" y="317741"/>
                </a:lnTo>
                <a:lnTo>
                  <a:pt x="4901264" y="317741"/>
                </a:lnTo>
                <a:lnTo>
                  <a:pt x="4904927" y="317741"/>
                </a:lnTo>
                <a:lnTo>
                  <a:pt x="4908494" y="317741"/>
                </a:lnTo>
                <a:lnTo>
                  <a:pt x="4912110" y="317741"/>
                </a:lnTo>
                <a:lnTo>
                  <a:pt x="4915678" y="317741"/>
                </a:lnTo>
                <a:lnTo>
                  <a:pt x="4919293" y="317741"/>
                </a:lnTo>
                <a:lnTo>
                  <a:pt x="4922908" y="317741"/>
                </a:lnTo>
                <a:lnTo>
                  <a:pt x="4926476" y="317741"/>
                </a:lnTo>
                <a:lnTo>
                  <a:pt x="4930137" y="317741"/>
                </a:lnTo>
                <a:lnTo>
                  <a:pt x="4933706" y="317741"/>
                </a:lnTo>
                <a:lnTo>
                  <a:pt x="4937274" y="317741"/>
                </a:lnTo>
                <a:lnTo>
                  <a:pt x="4940842" y="317741"/>
                </a:lnTo>
                <a:lnTo>
                  <a:pt x="4944504" y="317741"/>
                </a:lnTo>
                <a:lnTo>
                  <a:pt x="4948073" y="317741"/>
                </a:lnTo>
                <a:lnTo>
                  <a:pt x="4951640" y="317741"/>
                </a:lnTo>
                <a:lnTo>
                  <a:pt x="4955302" y="317741"/>
                </a:lnTo>
                <a:lnTo>
                  <a:pt x="4958917" y="317741"/>
                </a:lnTo>
                <a:lnTo>
                  <a:pt x="4962486" y="317741"/>
                </a:lnTo>
                <a:lnTo>
                  <a:pt x="4966100" y="317741"/>
                </a:lnTo>
                <a:lnTo>
                  <a:pt x="4969716" y="317741"/>
                </a:lnTo>
                <a:lnTo>
                  <a:pt x="4973331" y="317741"/>
                </a:lnTo>
                <a:lnTo>
                  <a:pt x="4976852" y="317741"/>
                </a:lnTo>
                <a:lnTo>
                  <a:pt x="4980513" y="317741"/>
                </a:lnTo>
                <a:lnTo>
                  <a:pt x="4984129" y="317741"/>
                </a:lnTo>
                <a:lnTo>
                  <a:pt x="4987697" y="317741"/>
                </a:lnTo>
                <a:lnTo>
                  <a:pt x="4991265" y="317741"/>
                </a:lnTo>
                <a:lnTo>
                  <a:pt x="4994927" y="317741"/>
                </a:lnTo>
                <a:lnTo>
                  <a:pt x="4998495" y="317741"/>
                </a:lnTo>
                <a:lnTo>
                  <a:pt x="5002111" y="317741"/>
                </a:lnTo>
                <a:lnTo>
                  <a:pt x="5005726" y="317741"/>
                </a:lnTo>
                <a:lnTo>
                  <a:pt x="5009293" y="317741"/>
                </a:lnTo>
                <a:lnTo>
                  <a:pt x="5012862" y="317741"/>
                </a:lnTo>
                <a:lnTo>
                  <a:pt x="5016430" y="317741"/>
                </a:lnTo>
                <a:lnTo>
                  <a:pt x="5020139" y="317741"/>
                </a:lnTo>
                <a:lnTo>
                  <a:pt x="5023707" y="317741"/>
                </a:lnTo>
                <a:lnTo>
                  <a:pt x="5027274" y="317741"/>
                </a:lnTo>
                <a:lnTo>
                  <a:pt x="5030937" y="317741"/>
                </a:lnTo>
                <a:lnTo>
                  <a:pt x="5034505" y="317741"/>
                </a:lnTo>
                <a:lnTo>
                  <a:pt x="5038073" y="317741"/>
                </a:lnTo>
                <a:lnTo>
                  <a:pt x="5041688" y="317741"/>
                </a:lnTo>
                <a:lnTo>
                  <a:pt x="5045350" y="317741"/>
                </a:lnTo>
                <a:lnTo>
                  <a:pt x="5048871" y="317741"/>
                </a:lnTo>
                <a:lnTo>
                  <a:pt x="5052487" y="317741"/>
                </a:lnTo>
                <a:lnTo>
                  <a:pt x="5056148" y="317741"/>
                </a:lnTo>
                <a:lnTo>
                  <a:pt x="5059716" y="317741"/>
                </a:lnTo>
                <a:lnTo>
                  <a:pt x="5063284" y="317741"/>
                </a:lnTo>
                <a:lnTo>
                  <a:pt x="5063284" y="290348"/>
                </a:lnTo>
                <a:lnTo>
                  <a:pt x="5066900" y="290348"/>
                </a:lnTo>
                <a:lnTo>
                  <a:pt x="5070514" y="290348"/>
                </a:lnTo>
                <a:lnTo>
                  <a:pt x="5070514" y="262143"/>
                </a:lnTo>
                <a:lnTo>
                  <a:pt x="5074083" y="262143"/>
                </a:lnTo>
                <a:lnTo>
                  <a:pt x="5077698" y="262143"/>
                </a:lnTo>
                <a:lnTo>
                  <a:pt x="5081360" y="262143"/>
                </a:lnTo>
                <a:lnTo>
                  <a:pt x="5084881" y="262143"/>
                </a:lnTo>
                <a:lnTo>
                  <a:pt x="5088496" y="262143"/>
                </a:lnTo>
                <a:lnTo>
                  <a:pt x="5092064" y="262143"/>
                </a:lnTo>
                <a:lnTo>
                  <a:pt x="5095679" y="262143"/>
                </a:lnTo>
                <a:lnTo>
                  <a:pt x="5099294" y="262143"/>
                </a:lnTo>
                <a:lnTo>
                  <a:pt x="5102863" y="262143"/>
                </a:lnTo>
                <a:lnTo>
                  <a:pt x="5106525" y="262143"/>
                </a:lnTo>
                <a:lnTo>
                  <a:pt x="5110092" y="262143"/>
                </a:lnTo>
                <a:lnTo>
                  <a:pt x="5113707" y="262143"/>
                </a:lnTo>
                <a:lnTo>
                  <a:pt x="5117322" y="262143"/>
                </a:lnTo>
                <a:lnTo>
                  <a:pt x="5120938" y="262143"/>
                </a:lnTo>
                <a:lnTo>
                  <a:pt x="5124506" y="262143"/>
                </a:lnTo>
                <a:lnTo>
                  <a:pt x="5128027" y="262143"/>
                </a:lnTo>
                <a:lnTo>
                  <a:pt x="5131736" y="262143"/>
                </a:lnTo>
                <a:lnTo>
                  <a:pt x="5135304" y="262143"/>
                </a:lnTo>
                <a:lnTo>
                  <a:pt x="5138872" y="262143"/>
                </a:lnTo>
                <a:lnTo>
                  <a:pt x="5142534" y="262143"/>
                </a:lnTo>
                <a:lnTo>
                  <a:pt x="5146102" y="262143"/>
                </a:lnTo>
                <a:lnTo>
                  <a:pt x="5146102" y="188417"/>
                </a:lnTo>
                <a:lnTo>
                  <a:pt x="5149717" y="188417"/>
                </a:lnTo>
                <a:lnTo>
                  <a:pt x="5153285" y="188417"/>
                </a:lnTo>
                <a:lnTo>
                  <a:pt x="5156947" y="188417"/>
                </a:lnTo>
                <a:lnTo>
                  <a:pt x="5160515" y="188417"/>
                </a:lnTo>
                <a:lnTo>
                  <a:pt x="5164083" y="188417"/>
                </a:lnTo>
                <a:lnTo>
                  <a:pt x="5167745" y="188417"/>
                </a:lnTo>
                <a:lnTo>
                  <a:pt x="5171313" y="188417"/>
                </a:lnTo>
                <a:lnTo>
                  <a:pt x="5174882" y="188417"/>
                </a:lnTo>
                <a:lnTo>
                  <a:pt x="5178497" y="188417"/>
                </a:lnTo>
                <a:lnTo>
                  <a:pt x="5182111" y="188417"/>
                </a:lnTo>
              </a:path>
            </a:pathLst>
          </a:custGeom>
          <a:noFill/>
          <a:ln w="21908">
            <a:solidFill>
              <a:srgbClr val="7F7F7F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50" name="legend_finerenone">
            <a:extLst>
              <a:ext uri="{FF2B5EF4-FFF2-40B4-BE49-F238E27FC236}">
                <a16:creationId xmlns:a16="http://schemas.microsoft.com/office/drawing/2014/main" id="{175329CD-C86A-46F0-8E4C-7EA474A7F846}"/>
              </a:ext>
            </a:extLst>
          </p:cNvPr>
          <p:cNvSpPr>
            <a:spLocks noGrp="1"/>
          </p:cNvSpPr>
          <p:nvPr/>
        </p:nvSpPr>
        <p:spPr>
          <a:xfrm>
            <a:off x="1981200" y="2805661"/>
            <a:ext cx="266700" cy="95"/>
          </a:xfrm>
          <a:prstGeom prst="line">
            <a:avLst/>
          </a:prstGeom>
          <a:noFill/>
          <a:ln w="23813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51" name="legend_finerenone_label">
            <a:extLst>
              <a:ext uri="{FF2B5EF4-FFF2-40B4-BE49-F238E27FC236}">
                <a16:creationId xmlns:a16="http://schemas.microsoft.com/office/drawing/2014/main" id="{D426A590-3A2E-4C41-AF30-706DAC904B76}"/>
              </a:ext>
            </a:extLst>
          </p:cNvPr>
          <p:cNvSpPr>
            <a:spLocks noGrp="1"/>
          </p:cNvSpPr>
          <p:nvPr/>
        </p:nvSpPr>
        <p:spPr>
          <a:xfrm>
            <a:off x="2324100" y="2681824"/>
            <a:ext cx="1219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52" name="legend_placebo">
            <a:extLst>
              <a:ext uri="{FF2B5EF4-FFF2-40B4-BE49-F238E27FC236}">
                <a16:creationId xmlns:a16="http://schemas.microsoft.com/office/drawing/2014/main" id="{839D5381-C0F0-4E27-8285-3981C53532C6}"/>
              </a:ext>
            </a:extLst>
          </p:cNvPr>
          <p:cNvSpPr>
            <a:spLocks noGrp="1"/>
          </p:cNvSpPr>
          <p:nvPr/>
        </p:nvSpPr>
        <p:spPr>
          <a:xfrm>
            <a:off x="3829050" y="2805661"/>
            <a:ext cx="266700" cy="95"/>
          </a:xfrm>
          <a:prstGeom prst="line">
            <a:avLst/>
          </a:prstGeom>
          <a:noFill/>
          <a:ln w="23813">
            <a:solidFill>
              <a:srgbClr val="7F7F7F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53" name="legend_placebo_label">
            <a:extLst>
              <a:ext uri="{FF2B5EF4-FFF2-40B4-BE49-F238E27FC236}">
                <a16:creationId xmlns:a16="http://schemas.microsoft.com/office/drawing/2014/main" id="{69D08F93-1CBC-41C9-B9D3-1984415815D8}"/>
              </a:ext>
            </a:extLst>
          </p:cNvPr>
          <p:cNvSpPr>
            <a:spLocks noGrp="1"/>
          </p:cNvSpPr>
          <p:nvPr/>
        </p:nvSpPr>
        <p:spPr>
          <a:xfrm>
            <a:off x="4171950" y="2681824"/>
            <a:ext cx="10096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54" name="x_axis_title">
            <a:extLst>
              <a:ext uri="{FF2B5EF4-FFF2-40B4-BE49-F238E27FC236}">
                <a16:creationId xmlns:a16="http://schemas.microsoft.com/office/drawing/2014/main" id="{CA65FFC4-D72E-4ACB-88A2-81D84D969DD0}"/>
              </a:ext>
            </a:extLst>
          </p:cNvPr>
          <p:cNvSpPr>
            <a:spLocks noGrp="1"/>
          </p:cNvSpPr>
          <p:nvPr/>
        </p:nvSpPr>
        <p:spPr>
          <a:xfrm>
            <a:off x="1924050" y="5999854"/>
            <a:ext cx="4591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Месяцы после рандомизации</a:t>
            </a:r>
          </a:p>
        </p:txBody>
      </p:sp>
      <p:sp>
        <p:nvSpPr>
          <p:cNvPr id="60" name="event_fractions_label">
            <a:extLst>
              <a:ext uri="{FF2B5EF4-FFF2-40B4-BE49-F238E27FC236}">
                <a16:creationId xmlns:a16="http://schemas.microsoft.com/office/drawing/2014/main" id="{B0CF027E-DF88-41D6-9148-D63E9C198859}"/>
              </a:ext>
            </a:extLst>
          </p:cNvPr>
          <p:cNvSpPr>
            <a:spLocks noGrp="1"/>
          </p:cNvSpPr>
          <p:nvPr/>
        </p:nvSpPr>
        <p:spPr>
          <a:xfrm>
            <a:off x="7600950" y="2200275"/>
            <a:ext cx="40767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Доля пациентов с событием за всё исследование</a:t>
            </a:r>
          </a:p>
        </p:txBody>
      </p:sp>
      <p:sp>
        <p:nvSpPr>
          <p:cNvPr id="61" name="finerenone_event_rate">
            <a:extLst>
              <a:ext uri="{FF2B5EF4-FFF2-40B4-BE49-F238E27FC236}">
                <a16:creationId xmlns:a16="http://schemas.microsoft.com/office/drawing/2014/main" id="{F22F5369-D7E6-4375-8CE9-003BE0159F67}"/>
              </a:ext>
            </a:extLst>
          </p:cNvPr>
          <p:cNvSpPr>
            <a:spLocks noGrp="1"/>
          </p:cNvSpPr>
          <p:nvPr/>
        </p:nvSpPr>
        <p:spPr>
          <a:xfrm>
            <a:off x="7715250" y="2514600"/>
            <a:ext cx="18383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17,8%</a:t>
            </a:r>
          </a:p>
        </p:txBody>
      </p:sp>
      <p:sp>
        <p:nvSpPr>
          <p:cNvPr id="62" name="placebo_event_rate">
            <a:extLst>
              <a:ext uri="{FF2B5EF4-FFF2-40B4-BE49-F238E27FC236}">
                <a16:creationId xmlns:a16="http://schemas.microsoft.com/office/drawing/2014/main" id="{874EED97-88B7-4E02-9C74-5AEDE7378910}"/>
              </a:ext>
            </a:extLst>
          </p:cNvPr>
          <p:cNvSpPr>
            <a:spLocks noGrp="1"/>
          </p:cNvSpPr>
          <p:nvPr/>
        </p:nvSpPr>
        <p:spPr>
          <a:xfrm>
            <a:off x="9906000" y="2514600"/>
            <a:ext cx="1676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21,1%</a:t>
            </a:r>
          </a:p>
        </p:txBody>
      </p:sp>
      <p:sp>
        <p:nvSpPr>
          <p:cNvPr id="63" name="finerenone_group">
            <a:extLst>
              <a:ext uri="{FF2B5EF4-FFF2-40B4-BE49-F238E27FC236}">
                <a16:creationId xmlns:a16="http://schemas.microsoft.com/office/drawing/2014/main" id="{FA221C3A-5F9B-49FD-B3A8-56CFA84F975D}"/>
              </a:ext>
            </a:extLst>
          </p:cNvPr>
          <p:cNvSpPr>
            <a:spLocks noGrp="1"/>
          </p:cNvSpPr>
          <p:nvPr/>
        </p:nvSpPr>
        <p:spPr>
          <a:xfrm>
            <a:off x="7715250" y="2844800"/>
            <a:ext cx="18669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64" name="placebo_group">
            <a:extLst>
              <a:ext uri="{FF2B5EF4-FFF2-40B4-BE49-F238E27FC236}">
                <a16:creationId xmlns:a16="http://schemas.microsoft.com/office/drawing/2014/main" id="{8A258009-4B6D-4B47-B1A5-EB2EF3B1A78A}"/>
              </a:ext>
            </a:extLst>
          </p:cNvPr>
          <p:cNvSpPr>
            <a:spLocks noGrp="1"/>
          </p:cNvSpPr>
          <p:nvPr/>
        </p:nvSpPr>
        <p:spPr>
          <a:xfrm>
            <a:off x="9906000" y="2844800"/>
            <a:ext cx="16573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65" name="hazard_ratio">
            <a:extLst>
              <a:ext uri="{FF2B5EF4-FFF2-40B4-BE49-F238E27FC236}">
                <a16:creationId xmlns:a16="http://schemas.microsoft.com/office/drawing/2014/main" id="{CF8CD935-2662-4030-8038-D375C88EF467}"/>
              </a:ext>
            </a:extLst>
          </p:cNvPr>
          <p:cNvSpPr>
            <a:spLocks noGrp="1"/>
          </p:cNvSpPr>
          <p:nvPr/>
        </p:nvSpPr>
        <p:spPr>
          <a:xfrm>
            <a:off x="7600950" y="3286125"/>
            <a:ext cx="41243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Результат: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отношение рисков </a:t>
            </a: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0,82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(95% ДИ 0,73–0,93),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p=0,001; риск ниже на 18% (относительное снижение).</a:t>
            </a:r>
          </a:p>
        </p:txBody>
      </p:sp>
      <p:sp>
        <p:nvSpPr>
          <p:cNvPr id="66" name="nnt">
            <a:extLst>
              <a:ext uri="{FF2B5EF4-FFF2-40B4-BE49-F238E27FC236}">
                <a16:creationId xmlns:a16="http://schemas.microsoft.com/office/drawing/2014/main" id="{7CBFB35D-2436-4060-A339-A64AF1516C1F}"/>
              </a:ext>
            </a:extLst>
          </p:cNvPr>
          <p:cNvSpPr>
            <a:spLocks noGrp="1"/>
          </p:cNvSpPr>
          <p:nvPr/>
        </p:nvSpPr>
        <p:spPr>
          <a:xfrm>
            <a:off x="7600950" y="3819525"/>
            <a:ext cx="412432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Чтобы предотвратить 1 событие за 3 года,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нужно лечить 29 пациентов (95% ДИ 16–166).</a:t>
            </a:r>
          </a:p>
        </p:txBody>
      </p:sp>
      <p:sp>
        <p:nvSpPr>
          <p:cNvPr id="68" name="hyperkalemia">
            <a:extLst>
              <a:ext uri="{FF2B5EF4-FFF2-40B4-BE49-F238E27FC236}">
                <a16:creationId xmlns:a16="http://schemas.microsoft.com/office/drawing/2014/main" id="{B149BF01-B64E-4F46-AA83-1474DECB5580}"/>
              </a:ext>
            </a:extLst>
          </p:cNvPr>
          <p:cNvSpPr>
            <a:spLocks noGrp="1"/>
          </p:cNvSpPr>
          <p:nvPr/>
        </p:nvSpPr>
        <p:spPr>
          <a:xfrm>
            <a:off x="7600950" y="4368800"/>
            <a:ext cx="4124325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Безопасность: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гиперкалиемия (</a:t>
            </a: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 18,3%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, </a:t>
            </a: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 9,0%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).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Окончательная отмена из-за гиперкалиемии (</a:t>
            </a: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 2,3%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, </a:t>
            </a: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 0,9%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).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Гиперкалиемии со смертельным исходом не было.</a:t>
            </a:r>
          </a:p>
        </p:txBody>
      </p:sp>
      <p:sp>
        <p:nvSpPr>
          <p:cNvPr id="121" name="Источники"/>
          <p:cNvSpPr txBox="1"/>
          <p:nvPr/>
        </p:nvSpPr>
        <p:spPr>
          <a:xfrm>
            <a:off x="457200" y="6383020"/>
            <a:ext cx="10795000" cy="3987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рСКФ: расчётная скорость клубочковой фильтрации; АПФ: ангиотензинпревращающий фермент; БРА: блокатор рецепторов ангиотензина II; НГЛТ2: натрий-глюкозный котранспортёр 2 типа; ДИ: доверительный интервал. Гиперкалиемия по сообщениям исследователей.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Bakris GL, et al. N Engl J Med. 2020;383:2219–2229.</a:t>
            </a:r>
          </a:p>
        </p:txBody>
      </p:sp>
      <p:pic>
        <p:nvPicPr>
          <p:cNvPr id="122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06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F3BA72-B0D8-45FE-9285-D1CC9D7BBE8F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FIGARO-DKD: относительное снижение риска комбинированного сердечно-сосудистого исхода на 13%</a:t>
            </a:r>
          </a:p>
        </p:txBody>
      </p:sp>
      <p:sp>
        <p:nvSpPr>
          <p:cNvPr id="11" name="study_population">
            <a:extLst>
              <a:ext uri="{FF2B5EF4-FFF2-40B4-BE49-F238E27FC236}">
                <a16:creationId xmlns:a16="http://schemas.microsoft.com/office/drawing/2014/main" id="{E3A1111F-3EA2-4D57-9FD0-31AB1A53EDCC}"/>
              </a:ext>
            </a:extLst>
          </p:cNvPr>
          <p:cNvSpPr>
            <a:spLocks noGrp="1"/>
          </p:cNvSpPr>
          <p:nvPr/>
        </p:nvSpPr>
        <p:spPr>
          <a:xfrm>
            <a:off x="457200" y="711200"/>
            <a:ext cx="10896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Кто участвовал: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7352 пациента в анализе (7437 рандомизированы). Хроническая болезнь почек и сахарный диабет 2 типа: 2–4-я стадия с умеренно повышенной альбуминурией или 1–2-я стадия с выраженной альбуминурией.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Что сравнивали: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финеренон или плацебо на фоне ингибитора АПФ или БРА в максимально переносимой дозе.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Наблюдение: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медиана 3,4 года.</a:t>
            </a:r>
          </a:p>
        </p:txBody>
      </p:sp>
      <p:sp>
        <p:nvSpPr>
          <p:cNvPr id="12" name="primary_endpoint">
            <a:extLst>
              <a:ext uri="{FF2B5EF4-FFF2-40B4-BE49-F238E27FC236}">
                <a16:creationId xmlns:a16="http://schemas.microsoft.com/office/drawing/2014/main" id="{1F1DDD6A-DD43-4C2F-ABA0-C6149359DD00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08966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Первичный исход: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сердечно-сосудистая смерть, нефатальный инфаркт, нефатальный инсульт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или госпитализация по поводу сердечной недостаточности.</a:t>
            </a:r>
          </a:p>
        </p:txBody>
      </p:sp>
      <p:sp>
        <p:nvSpPr>
          <p:cNvPr id="13" name="y_axis_title">
            <a:extLst>
              <a:ext uri="{FF2B5EF4-FFF2-40B4-BE49-F238E27FC236}">
                <a16:creationId xmlns:a16="http://schemas.microsoft.com/office/drawing/2014/main" id="{8D3AEAF6-E905-4F5B-AED1-774A48217E05}"/>
              </a:ext>
            </a:extLst>
          </p:cNvPr>
          <p:cNvSpPr>
            <a:spLocks noGrp="1"/>
          </p:cNvSpPr>
          <p:nvPr/>
        </p:nvSpPr>
        <p:spPr>
          <a:xfrm>
            <a:off x="457200" y="2137324"/>
            <a:ext cx="6572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Накопленная частота событий, %</a:t>
            </a:r>
          </a:p>
        </p:txBody>
      </p:sp>
      <p:sp>
        <p:nvSpPr>
          <p:cNvPr id="14" name="tick_y_0">
            <a:extLst>
              <a:ext uri="{FF2B5EF4-FFF2-40B4-BE49-F238E27FC236}">
                <a16:creationId xmlns:a16="http://schemas.microsoft.com/office/drawing/2014/main" id="{B81D150A-1886-4982-840D-6955CE4652BE}"/>
              </a:ext>
            </a:extLst>
          </p:cNvPr>
          <p:cNvSpPr>
            <a:spLocks noGrp="1"/>
          </p:cNvSpPr>
          <p:nvPr/>
        </p:nvSpPr>
        <p:spPr>
          <a:xfrm>
            <a:off x="1657350" y="5611311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5" name="y_0">
            <a:extLst>
              <a:ext uri="{FF2B5EF4-FFF2-40B4-BE49-F238E27FC236}">
                <a16:creationId xmlns:a16="http://schemas.microsoft.com/office/drawing/2014/main" id="{DF37A337-F5C7-4BAD-A059-6158DD9ADC4C}"/>
              </a:ext>
            </a:extLst>
          </p:cNvPr>
          <p:cNvSpPr>
            <a:spLocks noGrp="1"/>
          </p:cNvSpPr>
          <p:nvPr/>
        </p:nvSpPr>
        <p:spPr>
          <a:xfrm>
            <a:off x="1282700" y="5499362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16" name="grid_5">
            <a:extLst>
              <a:ext uri="{FF2B5EF4-FFF2-40B4-BE49-F238E27FC236}">
                <a16:creationId xmlns:a16="http://schemas.microsoft.com/office/drawing/2014/main" id="{8257106B-EE0F-4933-B6DA-BE351AF89ED9}"/>
              </a:ext>
            </a:extLst>
          </p:cNvPr>
          <p:cNvSpPr>
            <a:spLocks noGrp="1"/>
          </p:cNvSpPr>
          <p:nvPr/>
        </p:nvSpPr>
        <p:spPr>
          <a:xfrm>
            <a:off x="1704975" y="4844513"/>
            <a:ext cx="5229225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7" name="tick_y_5">
            <a:extLst>
              <a:ext uri="{FF2B5EF4-FFF2-40B4-BE49-F238E27FC236}">
                <a16:creationId xmlns:a16="http://schemas.microsoft.com/office/drawing/2014/main" id="{A7977DF4-7F70-4377-AFD5-47F839A3116E}"/>
              </a:ext>
            </a:extLst>
          </p:cNvPr>
          <p:cNvSpPr>
            <a:spLocks noGrp="1"/>
          </p:cNvSpPr>
          <p:nvPr/>
        </p:nvSpPr>
        <p:spPr>
          <a:xfrm>
            <a:off x="1657350" y="4844513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8" name="y_5">
            <a:extLst>
              <a:ext uri="{FF2B5EF4-FFF2-40B4-BE49-F238E27FC236}">
                <a16:creationId xmlns:a16="http://schemas.microsoft.com/office/drawing/2014/main" id="{CD67F6E7-7F12-43A1-9971-8C520BA2C8B3}"/>
              </a:ext>
            </a:extLst>
          </p:cNvPr>
          <p:cNvSpPr>
            <a:spLocks noGrp="1"/>
          </p:cNvSpPr>
          <p:nvPr/>
        </p:nvSpPr>
        <p:spPr>
          <a:xfrm>
            <a:off x="1282700" y="4732564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</a:t>
            </a:r>
          </a:p>
        </p:txBody>
      </p:sp>
      <p:sp>
        <p:nvSpPr>
          <p:cNvPr id="19" name="grid_10">
            <a:extLst>
              <a:ext uri="{FF2B5EF4-FFF2-40B4-BE49-F238E27FC236}">
                <a16:creationId xmlns:a16="http://schemas.microsoft.com/office/drawing/2014/main" id="{10108394-CF3B-4F52-AB2D-8E1124E720BF}"/>
              </a:ext>
            </a:extLst>
          </p:cNvPr>
          <p:cNvSpPr>
            <a:spLocks noGrp="1"/>
          </p:cNvSpPr>
          <p:nvPr/>
        </p:nvSpPr>
        <p:spPr>
          <a:xfrm>
            <a:off x="1704975" y="4077714"/>
            <a:ext cx="5229225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0" name="tick_y_10">
            <a:extLst>
              <a:ext uri="{FF2B5EF4-FFF2-40B4-BE49-F238E27FC236}">
                <a16:creationId xmlns:a16="http://schemas.microsoft.com/office/drawing/2014/main" id="{155DE1D5-79B1-4293-8BD1-F1881DC2178C}"/>
              </a:ext>
            </a:extLst>
          </p:cNvPr>
          <p:cNvSpPr>
            <a:spLocks noGrp="1"/>
          </p:cNvSpPr>
          <p:nvPr/>
        </p:nvSpPr>
        <p:spPr>
          <a:xfrm>
            <a:off x="1657350" y="4077714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1" name="y_10">
            <a:extLst>
              <a:ext uri="{FF2B5EF4-FFF2-40B4-BE49-F238E27FC236}">
                <a16:creationId xmlns:a16="http://schemas.microsoft.com/office/drawing/2014/main" id="{7C41A6E8-B47C-4013-AA87-DDBC1B612ED3}"/>
              </a:ext>
            </a:extLst>
          </p:cNvPr>
          <p:cNvSpPr>
            <a:spLocks noGrp="1"/>
          </p:cNvSpPr>
          <p:nvPr/>
        </p:nvSpPr>
        <p:spPr>
          <a:xfrm>
            <a:off x="1282700" y="3965765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10</a:t>
            </a:r>
          </a:p>
        </p:txBody>
      </p:sp>
      <p:sp>
        <p:nvSpPr>
          <p:cNvPr id="22" name="grid_15">
            <a:extLst>
              <a:ext uri="{FF2B5EF4-FFF2-40B4-BE49-F238E27FC236}">
                <a16:creationId xmlns:a16="http://schemas.microsoft.com/office/drawing/2014/main" id="{8A7873B4-978A-40A7-874C-1B44F9263C7B}"/>
              </a:ext>
            </a:extLst>
          </p:cNvPr>
          <p:cNvSpPr>
            <a:spLocks noGrp="1"/>
          </p:cNvSpPr>
          <p:nvPr/>
        </p:nvSpPr>
        <p:spPr>
          <a:xfrm>
            <a:off x="1704975" y="3310916"/>
            <a:ext cx="5229225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3" name="tick_y_15">
            <a:extLst>
              <a:ext uri="{FF2B5EF4-FFF2-40B4-BE49-F238E27FC236}">
                <a16:creationId xmlns:a16="http://schemas.microsoft.com/office/drawing/2014/main" id="{ADE9F592-BDB9-43E6-99BC-14591E62B9AD}"/>
              </a:ext>
            </a:extLst>
          </p:cNvPr>
          <p:cNvSpPr>
            <a:spLocks noGrp="1"/>
          </p:cNvSpPr>
          <p:nvPr/>
        </p:nvSpPr>
        <p:spPr>
          <a:xfrm>
            <a:off x="1657350" y="3310916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4" name="y_15">
            <a:extLst>
              <a:ext uri="{FF2B5EF4-FFF2-40B4-BE49-F238E27FC236}">
                <a16:creationId xmlns:a16="http://schemas.microsoft.com/office/drawing/2014/main" id="{3BB630D3-F31B-4B0A-954B-BC2BFA46A159}"/>
              </a:ext>
            </a:extLst>
          </p:cNvPr>
          <p:cNvSpPr>
            <a:spLocks noGrp="1"/>
          </p:cNvSpPr>
          <p:nvPr/>
        </p:nvSpPr>
        <p:spPr>
          <a:xfrm>
            <a:off x="1282700" y="3198968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15</a:t>
            </a:r>
          </a:p>
        </p:txBody>
      </p:sp>
      <p:sp>
        <p:nvSpPr>
          <p:cNvPr id="25" name="grid_20">
            <a:extLst>
              <a:ext uri="{FF2B5EF4-FFF2-40B4-BE49-F238E27FC236}">
                <a16:creationId xmlns:a16="http://schemas.microsoft.com/office/drawing/2014/main" id="{38E8FFAF-5D51-49C4-9FCB-260ACC6E3764}"/>
              </a:ext>
            </a:extLst>
          </p:cNvPr>
          <p:cNvSpPr>
            <a:spLocks noGrp="1"/>
          </p:cNvSpPr>
          <p:nvPr/>
        </p:nvSpPr>
        <p:spPr>
          <a:xfrm>
            <a:off x="1704975" y="2544117"/>
            <a:ext cx="5229225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6" name="tick_y_20">
            <a:extLst>
              <a:ext uri="{FF2B5EF4-FFF2-40B4-BE49-F238E27FC236}">
                <a16:creationId xmlns:a16="http://schemas.microsoft.com/office/drawing/2014/main" id="{2A60D0BE-9C0B-46D2-9601-B571EAAA6091}"/>
              </a:ext>
            </a:extLst>
          </p:cNvPr>
          <p:cNvSpPr>
            <a:spLocks noGrp="1"/>
          </p:cNvSpPr>
          <p:nvPr/>
        </p:nvSpPr>
        <p:spPr>
          <a:xfrm>
            <a:off x="1657350" y="2544117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7" name="y_20">
            <a:extLst>
              <a:ext uri="{FF2B5EF4-FFF2-40B4-BE49-F238E27FC236}">
                <a16:creationId xmlns:a16="http://schemas.microsoft.com/office/drawing/2014/main" id="{1091B3C2-D3B1-43BE-A9F6-554B0FE27870}"/>
              </a:ext>
            </a:extLst>
          </p:cNvPr>
          <p:cNvSpPr>
            <a:spLocks noGrp="1"/>
          </p:cNvSpPr>
          <p:nvPr/>
        </p:nvSpPr>
        <p:spPr>
          <a:xfrm>
            <a:off x="1282700" y="2432169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20</a:t>
            </a:r>
          </a:p>
        </p:txBody>
      </p:sp>
      <p:sp>
        <p:nvSpPr>
          <p:cNvPr id="28" name="y_axis">
            <a:extLst>
              <a:ext uri="{FF2B5EF4-FFF2-40B4-BE49-F238E27FC236}">
                <a16:creationId xmlns:a16="http://schemas.microsoft.com/office/drawing/2014/main" id="{89D41974-0547-4584-8F66-3236F8336208}"/>
              </a:ext>
            </a:extLst>
          </p:cNvPr>
          <p:cNvSpPr>
            <a:spLocks noGrp="1"/>
          </p:cNvSpPr>
          <p:nvPr/>
        </p:nvSpPr>
        <p:spPr>
          <a:xfrm>
            <a:off x="1704975" y="2544106"/>
            <a:ext cx="95" cy="3067193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9" name="x_axis">
            <a:extLst>
              <a:ext uri="{FF2B5EF4-FFF2-40B4-BE49-F238E27FC236}">
                <a16:creationId xmlns:a16="http://schemas.microsoft.com/office/drawing/2014/main" id="{A7B1F724-4B0A-47E5-8C61-5276E78C2413}"/>
              </a:ext>
            </a:extLst>
          </p:cNvPr>
          <p:cNvSpPr>
            <a:spLocks noGrp="1"/>
          </p:cNvSpPr>
          <p:nvPr/>
        </p:nvSpPr>
        <p:spPr>
          <a:xfrm>
            <a:off x="1704975" y="5611311"/>
            <a:ext cx="5229225" cy="95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0" name="tick_x_0">
            <a:extLst>
              <a:ext uri="{FF2B5EF4-FFF2-40B4-BE49-F238E27FC236}">
                <a16:creationId xmlns:a16="http://schemas.microsoft.com/office/drawing/2014/main" id="{2A939209-0B5D-439E-A5F6-A0618C78C9B7}"/>
              </a:ext>
            </a:extLst>
          </p:cNvPr>
          <p:cNvSpPr>
            <a:spLocks noGrp="1"/>
          </p:cNvSpPr>
          <p:nvPr/>
        </p:nvSpPr>
        <p:spPr>
          <a:xfrm>
            <a:off x="1704975" y="5618389"/>
            <a:ext cx="95" cy="57150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1" name="month_0">
            <a:extLst>
              <a:ext uri="{FF2B5EF4-FFF2-40B4-BE49-F238E27FC236}">
                <a16:creationId xmlns:a16="http://schemas.microsoft.com/office/drawing/2014/main" id="{78E97BD4-E634-4D76-95EA-AFD8182BB71B}"/>
              </a:ext>
            </a:extLst>
          </p:cNvPr>
          <p:cNvSpPr>
            <a:spLocks noGrp="1"/>
          </p:cNvSpPr>
          <p:nvPr/>
        </p:nvSpPr>
        <p:spPr>
          <a:xfrm>
            <a:off x="1485900" y="5747836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32" name="tick_x_6">
            <a:extLst>
              <a:ext uri="{FF2B5EF4-FFF2-40B4-BE49-F238E27FC236}">
                <a16:creationId xmlns:a16="http://schemas.microsoft.com/office/drawing/2014/main" id="{83E75F65-5D8A-42EE-8D38-832AD3EE1770}"/>
              </a:ext>
            </a:extLst>
          </p:cNvPr>
          <p:cNvSpPr>
            <a:spLocks noGrp="1"/>
          </p:cNvSpPr>
          <p:nvPr/>
        </p:nvSpPr>
        <p:spPr>
          <a:xfrm>
            <a:off x="2286000" y="5618389"/>
            <a:ext cx="95" cy="57150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3" name="month_6">
            <a:extLst>
              <a:ext uri="{FF2B5EF4-FFF2-40B4-BE49-F238E27FC236}">
                <a16:creationId xmlns:a16="http://schemas.microsoft.com/office/drawing/2014/main" id="{B5B59FF1-6063-4477-9A96-7CD912BF963D}"/>
              </a:ext>
            </a:extLst>
          </p:cNvPr>
          <p:cNvSpPr>
            <a:spLocks noGrp="1"/>
          </p:cNvSpPr>
          <p:nvPr/>
        </p:nvSpPr>
        <p:spPr>
          <a:xfrm>
            <a:off x="2066925" y="5747836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6</a:t>
            </a:r>
          </a:p>
        </p:txBody>
      </p:sp>
      <p:sp>
        <p:nvSpPr>
          <p:cNvPr id="34" name="tick_x_12">
            <a:extLst>
              <a:ext uri="{FF2B5EF4-FFF2-40B4-BE49-F238E27FC236}">
                <a16:creationId xmlns:a16="http://schemas.microsoft.com/office/drawing/2014/main" id="{79BCE497-964E-4163-A333-8BB8B91D6A61}"/>
              </a:ext>
            </a:extLst>
          </p:cNvPr>
          <p:cNvSpPr>
            <a:spLocks noGrp="1"/>
          </p:cNvSpPr>
          <p:nvPr/>
        </p:nvSpPr>
        <p:spPr>
          <a:xfrm>
            <a:off x="2867025" y="5618389"/>
            <a:ext cx="95" cy="57150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5" name="month_12">
            <a:extLst>
              <a:ext uri="{FF2B5EF4-FFF2-40B4-BE49-F238E27FC236}">
                <a16:creationId xmlns:a16="http://schemas.microsoft.com/office/drawing/2014/main" id="{3ABE8BE6-B2E5-4BAC-B6F7-A6E945914A51}"/>
              </a:ext>
            </a:extLst>
          </p:cNvPr>
          <p:cNvSpPr>
            <a:spLocks noGrp="1"/>
          </p:cNvSpPr>
          <p:nvPr/>
        </p:nvSpPr>
        <p:spPr>
          <a:xfrm>
            <a:off x="2647950" y="5747836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12</a:t>
            </a:r>
          </a:p>
        </p:txBody>
      </p:sp>
      <p:sp>
        <p:nvSpPr>
          <p:cNvPr id="36" name="tick_x_18">
            <a:extLst>
              <a:ext uri="{FF2B5EF4-FFF2-40B4-BE49-F238E27FC236}">
                <a16:creationId xmlns:a16="http://schemas.microsoft.com/office/drawing/2014/main" id="{C3C79B5F-5F7D-4AD3-AD00-56E6BCF23243}"/>
              </a:ext>
            </a:extLst>
          </p:cNvPr>
          <p:cNvSpPr>
            <a:spLocks noGrp="1"/>
          </p:cNvSpPr>
          <p:nvPr/>
        </p:nvSpPr>
        <p:spPr>
          <a:xfrm>
            <a:off x="3448050" y="5618389"/>
            <a:ext cx="95" cy="57150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7" name="month_18">
            <a:extLst>
              <a:ext uri="{FF2B5EF4-FFF2-40B4-BE49-F238E27FC236}">
                <a16:creationId xmlns:a16="http://schemas.microsoft.com/office/drawing/2014/main" id="{A3A7C89E-ADC3-482F-8ECC-0E5F5DDBAE89}"/>
              </a:ext>
            </a:extLst>
          </p:cNvPr>
          <p:cNvSpPr>
            <a:spLocks noGrp="1"/>
          </p:cNvSpPr>
          <p:nvPr/>
        </p:nvSpPr>
        <p:spPr>
          <a:xfrm>
            <a:off x="3228975" y="5747836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18</a:t>
            </a:r>
          </a:p>
        </p:txBody>
      </p:sp>
      <p:sp>
        <p:nvSpPr>
          <p:cNvPr id="38" name="tick_x_24">
            <a:extLst>
              <a:ext uri="{FF2B5EF4-FFF2-40B4-BE49-F238E27FC236}">
                <a16:creationId xmlns:a16="http://schemas.microsoft.com/office/drawing/2014/main" id="{BDE21C57-6A4D-4F5E-8B28-F6064E8B859A}"/>
              </a:ext>
            </a:extLst>
          </p:cNvPr>
          <p:cNvSpPr>
            <a:spLocks noGrp="1"/>
          </p:cNvSpPr>
          <p:nvPr/>
        </p:nvSpPr>
        <p:spPr>
          <a:xfrm>
            <a:off x="4029075" y="5618389"/>
            <a:ext cx="95" cy="57150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9" name="month_24">
            <a:extLst>
              <a:ext uri="{FF2B5EF4-FFF2-40B4-BE49-F238E27FC236}">
                <a16:creationId xmlns:a16="http://schemas.microsoft.com/office/drawing/2014/main" id="{CD72529C-56BA-4D24-A5AB-DA75F1F19D94}"/>
              </a:ext>
            </a:extLst>
          </p:cNvPr>
          <p:cNvSpPr>
            <a:spLocks noGrp="1"/>
          </p:cNvSpPr>
          <p:nvPr/>
        </p:nvSpPr>
        <p:spPr>
          <a:xfrm>
            <a:off x="3810000" y="5747836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24</a:t>
            </a:r>
          </a:p>
        </p:txBody>
      </p:sp>
      <p:sp>
        <p:nvSpPr>
          <p:cNvPr id="40" name="tick_x_30">
            <a:extLst>
              <a:ext uri="{FF2B5EF4-FFF2-40B4-BE49-F238E27FC236}">
                <a16:creationId xmlns:a16="http://schemas.microsoft.com/office/drawing/2014/main" id="{FBEA1FD1-1B71-4A80-BC25-B28D82E0AF63}"/>
              </a:ext>
            </a:extLst>
          </p:cNvPr>
          <p:cNvSpPr>
            <a:spLocks noGrp="1"/>
          </p:cNvSpPr>
          <p:nvPr/>
        </p:nvSpPr>
        <p:spPr>
          <a:xfrm>
            <a:off x="4610100" y="5618389"/>
            <a:ext cx="95" cy="57150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1" name="month_30">
            <a:extLst>
              <a:ext uri="{FF2B5EF4-FFF2-40B4-BE49-F238E27FC236}">
                <a16:creationId xmlns:a16="http://schemas.microsoft.com/office/drawing/2014/main" id="{022FFDFC-B480-4100-922D-94C0B18EFDDC}"/>
              </a:ext>
            </a:extLst>
          </p:cNvPr>
          <p:cNvSpPr>
            <a:spLocks noGrp="1"/>
          </p:cNvSpPr>
          <p:nvPr/>
        </p:nvSpPr>
        <p:spPr>
          <a:xfrm>
            <a:off x="4391025" y="5747836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42" name="tick_x_36">
            <a:extLst>
              <a:ext uri="{FF2B5EF4-FFF2-40B4-BE49-F238E27FC236}">
                <a16:creationId xmlns:a16="http://schemas.microsoft.com/office/drawing/2014/main" id="{BE09E92F-8A96-4907-BA94-C1F0D97CCCDC}"/>
              </a:ext>
            </a:extLst>
          </p:cNvPr>
          <p:cNvSpPr>
            <a:spLocks noGrp="1"/>
          </p:cNvSpPr>
          <p:nvPr/>
        </p:nvSpPr>
        <p:spPr>
          <a:xfrm>
            <a:off x="5191125" y="5618389"/>
            <a:ext cx="95" cy="57150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3" name="month_36">
            <a:extLst>
              <a:ext uri="{FF2B5EF4-FFF2-40B4-BE49-F238E27FC236}">
                <a16:creationId xmlns:a16="http://schemas.microsoft.com/office/drawing/2014/main" id="{9C99D548-B422-4FEC-8D23-2E8DC238EED0}"/>
              </a:ext>
            </a:extLst>
          </p:cNvPr>
          <p:cNvSpPr>
            <a:spLocks noGrp="1"/>
          </p:cNvSpPr>
          <p:nvPr/>
        </p:nvSpPr>
        <p:spPr>
          <a:xfrm>
            <a:off x="4972050" y="5747836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36</a:t>
            </a:r>
          </a:p>
        </p:txBody>
      </p:sp>
      <p:sp>
        <p:nvSpPr>
          <p:cNvPr id="44" name="tick_x_42">
            <a:extLst>
              <a:ext uri="{FF2B5EF4-FFF2-40B4-BE49-F238E27FC236}">
                <a16:creationId xmlns:a16="http://schemas.microsoft.com/office/drawing/2014/main" id="{5CFF1E26-251B-4CFD-8DFB-03A9370BC1A0}"/>
              </a:ext>
            </a:extLst>
          </p:cNvPr>
          <p:cNvSpPr>
            <a:spLocks noGrp="1"/>
          </p:cNvSpPr>
          <p:nvPr/>
        </p:nvSpPr>
        <p:spPr>
          <a:xfrm>
            <a:off x="5772150" y="5618389"/>
            <a:ext cx="95" cy="57150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5" name="month_42">
            <a:extLst>
              <a:ext uri="{FF2B5EF4-FFF2-40B4-BE49-F238E27FC236}">
                <a16:creationId xmlns:a16="http://schemas.microsoft.com/office/drawing/2014/main" id="{1DC1AD23-D30A-4B86-BBF8-0C86FB665D8E}"/>
              </a:ext>
            </a:extLst>
          </p:cNvPr>
          <p:cNvSpPr>
            <a:spLocks noGrp="1"/>
          </p:cNvSpPr>
          <p:nvPr/>
        </p:nvSpPr>
        <p:spPr>
          <a:xfrm>
            <a:off x="5553075" y="5747836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42</a:t>
            </a:r>
          </a:p>
        </p:txBody>
      </p:sp>
      <p:sp>
        <p:nvSpPr>
          <p:cNvPr id="46" name="tick_x_48">
            <a:extLst>
              <a:ext uri="{FF2B5EF4-FFF2-40B4-BE49-F238E27FC236}">
                <a16:creationId xmlns:a16="http://schemas.microsoft.com/office/drawing/2014/main" id="{E922E68C-B8AC-4718-B3C8-BFBC403FA4AF}"/>
              </a:ext>
            </a:extLst>
          </p:cNvPr>
          <p:cNvSpPr>
            <a:spLocks noGrp="1"/>
          </p:cNvSpPr>
          <p:nvPr/>
        </p:nvSpPr>
        <p:spPr>
          <a:xfrm>
            <a:off x="6353175" y="5618389"/>
            <a:ext cx="95" cy="57150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7" name="month_48">
            <a:extLst>
              <a:ext uri="{FF2B5EF4-FFF2-40B4-BE49-F238E27FC236}">
                <a16:creationId xmlns:a16="http://schemas.microsoft.com/office/drawing/2014/main" id="{0B6CA2B9-77A5-4CD6-93B9-A2E29D9B63A5}"/>
              </a:ext>
            </a:extLst>
          </p:cNvPr>
          <p:cNvSpPr>
            <a:spLocks noGrp="1"/>
          </p:cNvSpPr>
          <p:nvPr/>
        </p:nvSpPr>
        <p:spPr>
          <a:xfrm>
            <a:off x="6134100" y="5747836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48</a:t>
            </a:r>
          </a:p>
        </p:txBody>
      </p:sp>
      <p:sp>
        <p:nvSpPr>
          <p:cNvPr id="48" name="tick_x_54">
            <a:extLst>
              <a:ext uri="{FF2B5EF4-FFF2-40B4-BE49-F238E27FC236}">
                <a16:creationId xmlns:a16="http://schemas.microsoft.com/office/drawing/2014/main" id="{83C3C37D-3032-4E88-B483-2953CC6B940B}"/>
              </a:ext>
            </a:extLst>
          </p:cNvPr>
          <p:cNvSpPr>
            <a:spLocks noGrp="1"/>
          </p:cNvSpPr>
          <p:nvPr/>
        </p:nvSpPr>
        <p:spPr>
          <a:xfrm>
            <a:off x="6934200" y="5618389"/>
            <a:ext cx="95" cy="57150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9" name="month_54">
            <a:extLst>
              <a:ext uri="{FF2B5EF4-FFF2-40B4-BE49-F238E27FC236}">
                <a16:creationId xmlns:a16="http://schemas.microsoft.com/office/drawing/2014/main" id="{E204C86D-C046-4C51-B775-7D0DB5947CD0}"/>
              </a:ext>
            </a:extLst>
          </p:cNvPr>
          <p:cNvSpPr>
            <a:spLocks noGrp="1"/>
          </p:cNvSpPr>
          <p:nvPr/>
        </p:nvSpPr>
        <p:spPr>
          <a:xfrm>
            <a:off x="6715125" y="5747836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54</a:t>
            </a:r>
          </a:p>
        </p:txBody>
      </p:sp>
      <p:sp>
        <p:nvSpPr>
          <p:cNvPr id="50" name="published_curve_Плацебо">
            <a:extLst>
              <a:ext uri="{FF2B5EF4-FFF2-40B4-BE49-F238E27FC236}">
                <a16:creationId xmlns:a16="http://schemas.microsoft.com/office/drawing/2014/main" id="{34666DD0-E87B-4AAF-9CAC-BEC74C81149F}"/>
              </a:ext>
            </a:extLst>
          </p:cNvPr>
          <p:cNvSpPr>
            <a:spLocks noGrp="1"/>
          </p:cNvSpPr>
          <p:nvPr/>
        </p:nvSpPr>
        <p:spPr>
          <a:xfrm>
            <a:off x="1704975" y="2544106"/>
            <a:ext cx="5229225" cy="3067193"/>
          </a:xfrm>
          <a:custGeom>
            <a:avLst/>
            <a:gdLst/>
            <a:ahLst/>
            <a:cxnLst/>
            <a:rect l="0" t="0" r="0" b="0"/>
            <a:pathLst>
              <a:path w="5229225" h="2457450">
                <a:moveTo>
                  <a:pt x="4148" y="2456202"/>
                </a:moveTo>
                <a:lnTo>
                  <a:pt x="7390" y="2456202"/>
                </a:lnTo>
                <a:lnTo>
                  <a:pt x="7390" y="2452838"/>
                </a:lnTo>
                <a:lnTo>
                  <a:pt x="10607" y="2452838"/>
                </a:lnTo>
                <a:lnTo>
                  <a:pt x="13849" y="2452838"/>
                </a:lnTo>
                <a:lnTo>
                  <a:pt x="17066" y="2452838"/>
                </a:lnTo>
                <a:lnTo>
                  <a:pt x="17066" y="2449475"/>
                </a:lnTo>
                <a:lnTo>
                  <a:pt x="20309" y="2449475"/>
                </a:lnTo>
                <a:lnTo>
                  <a:pt x="20309" y="2446133"/>
                </a:lnTo>
                <a:lnTo>
                  <a:pt x="23551" y="2446133"/>
                </a:lnTo>
                <a:lnTo>
                  <a:pt x="26768" y="2446133"/>
                </a:lnTo>
                <a:lnTo>
                  <a:pt x="26768" y="2442790"/>
                </a:lnTo>
                <a:lnTo>
                  <a:pt x="30010" y="2442790"/>
                </a:lnTo>
                <a:lnTo>
                  <a:pt x="33253" y="2442790"/>
                </a:lnTo>
                <a:lnTo>
                  <a:pt x="36392" y="2442790"/>
                </a:lnTo>
                <a:lnTo>
                  <a:pt x="36392" y="2439470"/>
                </a:lnTo>
                <a:lnTo>
                  <a:pt x="39634" y="2439470"/>
                </a:lnTo>
                <a:lnTo>
                  <a:pt x="42825" y="2439470"/>
                </a:lnTo>
                <a:lnTo>
                  <a:pt x="42825" y="2436127"/>
                </a:lnTo>
                <a:lnTo>
                  <a:pt x="46093" y="2436127"/>
                </a:lnTo>
                <a:lnTo>
                  <a:pt x="46093" y="2426037"/>
                </a:lnTo>
                <a:lnTo>
                  <a:pt x="49310" y="2426058"/>
                </a:lnTo>
                <a:lnTo>
                  <a:pt x="49310" y="2422695"/>
                </a:lnTo>
                <a:lnTo>
                  <a:pt x="52552" y="2422695"/>
                </a:lnTo>
                <a:lnTo>
                  <a:pt x="55795" y="2422695"/>
                </a:lnTo>
                <a:lnTo>
                  <a:pt x="59038" y="2422695"/>
                </a:lnTo>
                <a:lnTo>
                  <a:pt x="62254" y="2422695"/>
                </a:lnTo>
                <a:lnTo>
                  <a:pt x="65497" y="2422695"/>
                </a:lnTo>
                <a:lnTo>
                  <a:pt x="68713" y="2422717"/>
                </a:lnTo>
                <a:lnTo>
                  <a:pt x="68713" y="2419395"/>
                </a:lnTo>
                <a:lnTo>
                  <a:pt x="71956" y="2419395"/>
                </a:lnTo>
                <a:lnTo>
                  <a:pt x="71956" y="2416053"/>
                </a:lnTo>
                <a:lnTo>
                  <a:pt x="75198" y="2416053"/>
                </a:lnTo>
                <a:lnTo>
                  <a:pt x="78337" y="2416053"/>
                </a:lnTo>
                <a:lnTo>
                  <a:pt x="78337" y="2412690"/>
                </a:lnTo>
                <a:lnTo>
                  <a:pt x="81580" y="2412690"/>
                </a:lnTo>
                <a:lnTo>
                  <a:pt x="81580" y="2409326"/>
                </a:lnTo>
                <a:lnTo>
                  <a:pt x="84796" y="2409326"/>
                </a:lnTo>
                <a:lnTo>
                  <a:pt x="88039" y="2409326"/>
                </a:lnTo>
                <a:lnTo>
                  <a:pt x="88039" y="2405985"/>
                </a:lnTo>
                <a:lnTo>
                  <a:pt x="91281" y="2405985"/>
                </a:lnTo>
                <a:lnTo>
                  <a:pt x="91281" y="2402600"/>
                </a:lnTo>
                <a:lnTo>
                  <a:pt x="94498" y="2402621"/>
                </a:lnTo>
                <a:lnTo>
                  <a:pt x="97741" y="2402621"/>
                </a:lnTo>
                <a:lnTo>
                  <a:pt x="100957" y="2402621"/>
                </a:lnTo>
                <a:lnTo>
                  <a:pt x="104200" y="2402621"/>
                </a:lnTo>
                <a:lnTo>
                  <a:pt x="107416" y="2402621"/>
                </a:lnTo>
                <a:lnTo>
                  <a:pt x="110659" y="2402621"/>
                </a:lnTo>
                <a:lnTo>
                  <a:pt x="113902" y="2402621"/>
                </a:lnTo>
                <a:lnTo>
                  <a:pt x="117144" y="2402621"/>
                </a:lnTo>
                <a:lnTo>
                  <a:pt x="120283" y="2402621"/>
                </a:lnTo>
                <a:lnTo>
                  <a:pt x="120283" y="2399300"/>
                </a:lnTo>
                <a:lnTo>
                  <a:pt x="123551" y="2399300"/>
                </a:lnTo>
                <a:lnTo>
                  <a:pt x="126768" y="2399300"/>
                </a:lnTo>
                <a:lnTo>
                  <a:pt x="129984" y="2399300"/>
                </a:lnTo>
                <a:lnTo>
                  <a:pt x="133227" y="2399300"/>
                </a:lnTo>
                <a:lnTo>
                  <a:pt x="136444" y="2399300"/>
                </a:lnTo>
                <a:lnTo>
                  <a:pt x="136444" y="2392616"/>
                </a:lnTo>
                <a:lnTo>
                  <a:pt x="139686" y="2392616"/>
                </a:lnTo>
                <a:lnTo>
                  <a:pt x="142929" y="2392616"/>
                </a:lnTo>
                <a:lnTo>
                  <a:pt x="146145" y="2392616"/>
                </a:lnTo>
                <a:lnTo>
                  <a:pt x="149388" y="2392637"/>
                </a:lnTo>
                <a:lnTo>
                  <a:pt x="149388" y="2389273"/>
                </a:lnTo>
                <a:lnTo>
                  <a:pt x="152605" y="2389273"/>
                </a:lnTo>
                <a:lnTo>
                  <a:pt x="152605" y="2385910"/>
                </a:lnTo>
                <a:lnTo>
                  <a:pt x="155821" y="2385910"/>
                </a:lnTo>
                <a:lnTo>
                  <a:pt x="159090" y="2385910"/>
                </a:lnTo>
                <a:lnTo>
                  <a:pt x="162228" y="2385910"/>
                </a:lnTo>
                <a:lnTo>
                  <a:pt x="162228" y="2382568"/>
                </a:lnTo>
                <a:lnTo>
                  <a:pt x="165471" y="2382589"/>
                </a:lnTo>
                <a:lnTo>
                  <a:pt x="168713" y="2382589"/>
                </a:lnTo>
                <a:lnTo>
                  <a:pt x="168713" y="2379205"/>
                </a:lnTo>
                <a:lnTo>
                  <a:pt x="171930" y="2379205"/>
                </a:lnTo>
                <a:lnTo>
                  <a:pt x="175173" y="2379226"/>
                </a:lnTo>
                <a:lnTo>
                  <a:pt x="178389" y="2379226"/>
                </a:lnTo>
                <a:lnTo>
                  <a:pt x="181632" y="2379226"/>
                </a:lnTo>
                <a:lnTo>
                  <a:pt x="184874" y="2379226"/>
                </a:lnTo>
                <a:lnTo>
                  <a:pt x="184874" y="2372563"/>
                </a:lnTo>
                <a:lnTo>
                  <a:pt x="188091" y="2372563"/>
                </a:lnTo>
                <a:lnTo>
                  <a:pt x="191334" y="2372563"/>
                </a:lnTo>
                <a:lnTo>
                  <a:pt x="194576" y="2372563"/>
                </a:lnTo>
                <a:lnTo>
                  <a:pt x="197793" y="2372563"/>
                </a:lnTo>
                <a:lnTo>
                  <a:pt x="197793" y="2369220"/>
                </a:lnTo>
                <a:lnTo>
                  <a:pt x="200958" y="2369220"/>
                </a:lnTo>
                <a:lnTo>
                  <a:pt x="204148" y="2369220"/>
                </a:lnTo>
                <a:lnTo>
                  <a:pt x="207416" y="2369220"/>
                </a:lnTo>
                <a:lnTo>
                  <a:pt x="210633" y="2369242"/>
                </a:lnTo>
                <a:lnTo>
                  <a:pt x="213876" y="2369242"/>
                </a:lnTo>
                <a:lnTo>
                  <a:pt x="213876" y="2362494"/>
                </a:lnTo>
                <a:lnTo>
                  <a:pt x="217118" y="2362494"/>
                </a:lnTo>
                <a:lnTo>
                  <a:pt x="220335" y="2362515"/>
                </a:lnTo>
                <a:lnTo>
                  <a:pt x="223577" y="2362515"/>
                </a:lnTo>
                <a:lnTo>
                  <a:pt x="226820" y="2362515"/>
                </a:lnTo>
                <a:lnTo>
                  <a:pt x="226820" y="2355788"/>
                </a:lnTo>
                <a:lnTo>
                  <a:pt x="230037" y="2355788"/>
                </a:lnTo>
                <a:lnTo>
                  <a:pt x="230037" y="2352510"/>
                </a:lnTo>
                <a:lnTo>
                  <a:pt x="233279" y="2352510"/>
                </a:lnTo>
                <a:lnTo>
                  <a:pt x="236522" y="2352510"/>
                </a:lnTo>
                <a:lnTo>
                  <a:pt x="239738" y="2352510"/>
                </a:lnTo>
                <a:lnTo>
                  <a:pt x="242903" y="2352510"/>
                </a:lnTo>
                <a:lnTo>
                  <a:pt x="246120" y="2352510"/>
                </a:lnTo>
                <a:lnTo>
                  <a:pt x="249362" y="2352510"/>
                </a:lnTo>
                <a:lnTo>
                  <a:pt x="252605" y="2352531"/>
                </a:lnTo>
                <a:lnTo>
                  <a:pt x="255795" y="2352531"/>
                </a:lnTo>
                <a:lnTo>
                  <a:pt x="259064" y="2352531"/>
                </a:lnTo>
                <a:lnTo>
                  <a:pt x="262280" y="2352531"/>
                </a:lnTo>
                <a:lnTo>
                  <a:pt x="265523" y="2352531"/>
                </a:lnTo>
                <a:lnTo>
                  <a:pt x="268739" y="2352531"/>
                </a:lnTo>
                <a:lnTo>
                  <a:pt x="271982" y="2352531"/>
                </a:lnTo>
                <a:lnTo>
                  <a:pt x="275225" y="2352531"/>
                </a:lnTo>
                <a:lnTo>
                  <a:pt x="278467" y="2352531"/>
                </a:lnTo>
                <a:lnTo>
                  <a:pt x="278467" y="2349167"/>
                </a:lnTo>
                <a:lnTo>
                  <a:pt x="281684" y="2349167"/>
                </a:lnTo>
                <a:lnTo>
                  <a:pt x="281684" y="2345804"/>
                </a:lnTo>
                <a:lnTo>
                  <a:pt x="284848" y="2345804"/>
                </a:lnTo>
                <a:lnTo>
                  <a:pt x="288065" y="2345804"/>
                </a:lnTo>
                <a:lnTo>
                  <a:pt x="288065" y="2339099"/>
                </a:lnTo>
                <a:lnTo>
                  <a:pt x="291308" y="2339099"/>
                </a:lnTo>
                <a:lnTo>
                  <a:pt x="294550" y="2339099"/>
                </a:lnTo>
                <a:lnTo>
                  <a:pt x="294550" y="2335735"/>
                </a:lnTo>
                <a:lnTo>
                  <a:pt x="297767" y="2335735"/>
                </a:lnTo>
                <a:lnTo>
                  <a:pt x="297767" y="2332393"/>
                </a:lnTo>
                <a:lnTo>
                  <a:pt x="301009" y="2332393"/>
                </a:lnTo>
                <a:lnTo>
                  <a:pt x="304252" y="2332393"/>
                </a:lnTo>
                <a:lnTo>
                  <a:pt x="307468" y="2332393"/>
                </a:lnTo>
                <a:lnTo>
                  <a:pt x="310711" y="2332393"/>
                </a:lnTo>
                <a:lnTo>
                  <a:pt x="310711" y="2325709"/>
                </a:lnTo>
                <a:lnTo>
                  <a:pt x="313928" y="2325709"/>
                </a:lnTo>
                <a:lnTo>
                  <a:pt x="313928" y="2319024"/>
                </a:lnTo>
                <a:lnTo>
                  <a:pt x="317170" y="2319024"/>
                </a:lnTo>
                <a:lnTo>
                  <a:pt x="317170" y="2315661"/>
                </a:lnTo>
                <a:lnTo>
                  <a:pt x="320387" y="2315661"/>
                </a:lnTo>
                <a:lnTo>
                  <a:pt x="320387" y="2308934"/>
                </a:lnTo>
                <a:lnTo>
                  <a:pt x="323603" y="2308934"/>
                </a:lnTo>
                <a:lnTo>
                  <a:pt x="326794" y="2308934"/>
                </a:lnTo>
                <a:lnTo>
                  <a:pt x="326794" y="2305592"/>
                </a:lnTo>
                <a:lnTo>
                  <a:pt x="330037" y="2305592"/>
                </a:lnTo>
                <a:lnTo>
                  <a:pt x="330037" y="2302250"/>
                </a:lnTo>
                <a:lnTo>
                  <a:pt x="333253" y="2302250"/>
                </a:lnTo>
                <a:lnTo>
                  <a:pt x="333253" y="2295566"/>
                </a:lnTo>
                <a:lnTo>
                  <a:pt x="336496" y="2295566"/>
                </a:lnTo>
                <a:lnTo>
                  <a:pt x="339713" y="2295566"/>
                </a:lnTo>
                <a:lnTo>
                  <a:pt x="342955" y="2295566"/>
                </a:lnTo>
                <a:lnTo>
                  <a:pt x="346198" y="2295566"/>
                </a:lnTo>
                <a:lnTo>
                  <a:pt x="346198" y="2292202"/>
                </a:lnTo>
                <a:lnTo>
                  <a:pt x="349388" y="2292202"/>
                </a:lnTo>
                <a:lnTo>
                  <a:pt x="352657" y="2292224"/>
                </a:lnTo>
                <a:lnTo>
                  <a:pt x="352657" y="2288860"/>
                </a:lnTo>
                <a:lnTo>
                  <a:pt x="355847" y="2288860"/>
                </a:lnTo>
                <a:lnTo>
                  <a:pt x="355847" y="2285497"/>
                </a:lnTo>
                <a:lnTo>
                  <a:pt x="359116" y="2285497"/>
                </a:lnTo>
                <a:lnTo>
                  <a:pt x="362332" y="2285518"/>
                </a:lnTo>
                <a:lnTo>
                  <a:pt x="365471" y="2285518"/>
                </a:lnTo>
                <a:lnTo>
                  <a:pt x="368739" y="2285518"/>
                </a:lnTo>
                <a:lnTo>
                  <a:pt x="371956" y="2285518"/>
                </a:lnTo>
                <a:lnTo>
                  <a:pt x="375199" y="2285518"/>
                </a:lnTo>
                <a:lnTo>
                  <a:pt x="378441" y="2285518"/>
                </a:lnTo>
                <a:lnTo>
                  <a:pt x="381632" y="2285518"/>
                </a:lnTo>
                <a:lnTo>
                  <a:pt x="381632" y="2282176"/>
                </a:lnTo>
                <a:lnTo>
                  <a:pt x="384900" y="2282176"/>
                </a:lnTo>
                <a:lnTo>
                  <a:pt x="388143" y="2282176"/>
                </a:lnTo>
                <a:lnTo>
                  <a:pt x="388143" y="2278813"/>
                </a:lnTo>
                <a:lnTo>
                  <a:pt x="391360" y="2278813"/>
                </a:lnTo>
                <a:lnTo>
                  <a:pt x="391360" y="2272107"/>
                </a:lnTo>
                <a:lnTo>
                  <a:pt x="394602" y="2272107"/>
                </a:lnTo>
                <a:lnTo>
                  <a:pt x="397845" y="2272107"/>
                </a:lnTo>
                <a:lnTo>
                  <a:pt x="401061" y="2272107"/>
                </a:lnTo>
                <a:lnTo>
                  <a:pt x="404304" y="2272107"/>
                </a:lnTo>
                <a:lnTo>
                  <a:pt x="407443" y="2272107"/>
                </a:lnTo>
                <a:lnTo>
                  <a:pt x="410659" y="2272107"/>
                </a:lnTo>
                <a:lnTo>
                  <a:pt x="410659" y="2268744"/>
                </a:lnTo>
                <a:lnTo>
                  <a:pt x="413928" y="2268765"/>
                </a:lnTo>
                <a:lnTo>
                  <a:pt x="413928" y="2258738"/>
                </a:lnTo>
                <a:lnTo>
                  <a:pt x="417118" y="2258738"/>
                </a:lnTo>
                <a:lnTo>
                  <a:pt x="420387" y="2258738"/>
                </a:lnTo>
                <a:lnTo>
                  <a:pt x="420387" y="2255375"/>
                </a:lnTo>
                <a:lnTo>
                  <a:pt x="423578" y="2255375"/>
                </a:lnTo>
                <a:lnTo>
                  <a:pt x="426846" y="2255375"/>
                </a:lnTo>
                <a:lnTo>
                  <a:pt x="426846" y="2252033"/>
                </a:lnTo>
                <a:lnTo>
                  <a:pt x="430063" y="2252033"/>
                </a:lnTo>
                <a:lnTo>
                  <a:pt x="433305" y="2252033"/>
                </a:lnTo>
                <a:lnTo>
                  <a:pt x="436548" y="2252033"/>
                </a:lnTo>
                <a:lnTo>
                  <a:pt x="439764" y="2252033"/>
                </a:lnTo>
                <a:lnTo>
                  <a:pt x="443007" y="2252033"/>
                </a:lnTo>
                <a:lnTo>
                  <a:pt x="443007" y="2245328"/>
                </a:lnTo>
                <a:lnTo>
                  <a:pt x="446249" y="2245328"/>
                </a:lnTo>
                <a:lnTo>
                  <a:pt x="449388" y="2245328"/>
                </a:lnTo>
                <a:lnTo>
                  <a:pt x="452631" y="2245328"/>
                </a:lnTo>
                <a:lnTo>
                  <a:pt x="455873" y="2245328"/>
                </a:lnTo>
                <a:lnTo>
                  <a:pt x="459090" y="2245328"/>
                </a:lnTo>
                <a:lnTo>
                  <a:pt x="462332" y="2245328"/>
                </a:lnTo>
                <a:lnTo>
                  <a:pt x="465549" y="2245328"/>
                </a:lnTo>
                <a:lnTo>
                  <a:pt x="468792" y="2245328"/>
                </a:lnTo>
                <a:lnTo>
                  <a:pt x="468792" y="2241985"/>
                </a:lnTo>
                <a:lnTo>
                  <a:pt x="472034" y="2241985"/>
                </a:lnTo>
                <a:lnTo>
                  <a:pt x="475225" y="2241985"/>
                </a:lnTo>
                <a:lnTo>
                  <a:pt x="475225" y="2238622"/>
                </a:lnTo>
                <a:lnTo>
                  <a:pt x="478493" y="2238622"/>
                </a:lnTo>
                <a:lnTo>
                  <a:pt x="481710" y="2238643"/>
                </a:lnTo>
                <a:lnTo>
                  <a:pt x="484926" y="2238643"/>
                </a:lnTo>
                <a:lnTo>
                  <a:pt x="488169" y="2238643"/>
                </a:lnTo>
                <a:lnTo>
                  <a:pt x="488169" y="2235258"/>
                </a:lnTo>
                <a:lnTo>
                  <a:pt x="491334" y="2235258"/>
                </a:lnTo>
                <a:lnTo>
                  <a:pt x="491334" y="2231917"/>
                </a:lnTo>
                <a:lnTo>
                  <a:pt x="494577" y="2231917"/>
                </a:lnTo>
                <a:lnTo>
                  <a:pt x="497819" y="2231917"/>
                </a:lnTo>
                <a:lnTo>
                  <a:pt x="501036" y="2231917"/>
                </a:lnTo>
                <a:lnTo>
                  <a:pt x="504252" y="2231917"/>
                </a:lnTo>
                <a:lnTo>
                  <a:pt x="504252" y="2225211"/>
                </a:lnTo>
                <a:lnTo>
                  <a:pt x="507521" y="2225232"/>
                </a:lnTo>
                <a:lnTo>
                  <a:pt x="507521" y="2218484"/>
                </a:lnTo>
                <a:lnTo>
                  <a:pt x="510711" y="2218484"/>
                </a:lnTo>
                <a:lnTo>
                  <a:pt x="513980" y="2218484"/>
                </a:lnTo>
                <a:lnTo>
                  <a:pt x="517171" y="2218505"/>
                </a:lnTo>
                <a:lnTo>
                  <a:pt x="520439" y="2218505"/>
                </a:lnTo>
                <a:lnTo>
                  <a:pt x="523656" y="2218505"/>
                </a:lnTo>
                <a:lnTo>
                  <a:pt x="523656" y="2215185"/>
                </a:lnTo>
                <a:lnTo>
                  <a:pt x="526898" y="2215185"/>
                </a:lnTo>
                <a:lnTo>
                  <a:pt x="530115" y="2215185"/>
                </a:lnTo>
                <a:lnTo>
                  <a:pt x="533254" y="2215205"/>
                </a:lnTo>
                <a:lnTo>
                  <a:pt x="536496" y="2215205"/>
                </a:lnTo>
                <a:lnTo>
                  <a:pt x="536496" y="2211842"/>
                </a:lnTo>
                <a:lnTo>
                  <a:pt x="539764" y="2211842"/>
                </a:lnTo>
                <a:lnTo>
                  <a:pt x="539764" y="2208479"/>
                </a:lnTo>
                <a:lnTo>
                  <a:pt x="542955" y="2208500"/>
                </a:lnTo>
                <a:lnTo>
                  <a:pt x="542955" y="2205137"/>
                </a:lnTo>
                <a:lnTo>
                  <a:pt x="546224" y="2205137"/>
                </a:lnTo>
                <a:lnTo>
                  <a:pt x="546224" y="2201773"/>
                </a:lnTo>
                <a:lnTo>
                  <a:pt x="549466" y="2201773"/>
                </a:lnTo>
                <a:lnTo>
                  <a:pt x="552683" y="2201773"/>
                </a:lnTo>
                <a:lnTo>
                  <a:pt x="555925" y="2201773"/>
                </a:lnTo>
                <a:lnTo>
                  <a:pt x="559142" y="2201794"/>
                </a:lnTo>
                <a:lnTo>
                  <a:pt x="562385" y="2201794"/>
                </a:lnTo>
                <a:lnTo>
                  <a:pt x="562385" y="2198431"/>
                </a:lnTo>
                <a:lnTo>
                  <a:pt x="565627" y="2198431"/>
                </a:lnTo>
                <a:lnTo>
                  <a:pt x="565627" y="2191726"/>
                </a:lnTo>
                <a:lnTo>
                  <a:pt x="568818" y="2191726"/>
                </a:lnTo>
                <a:lnTo>
                  <a:pt x="568818" y="2188362"/>
                </a:lnTo>
                <a:lnTo>
                  <a:pt x="571982" y="2188362"/>
                </a:lnTo>
                <a:lnTo>
                  <a:pt x="575251" y="2188362"/>
                </a:lnTo>
                <a:lnTo>
                  <a:pt x="578442" y="2188362"/>
                </a:lnTo>
                <a:lnTo>
                  <a:pt x="581710" y="2188362"/>
                </a:lnTo>
                <a:lnTo>
                  <a:pt x="584901" y="2188384"/>
                </a:lnTo>
                <a:lnTo>
                  <a:pt x="584901" y="2185020"/>
                </a:lnTo>
                <a:lnTo>
                  <a:pt x="588169" y="2185020"/>
                </a:lnTo>
                <a:lnTo>
                  <a:pt x="591386" y="2185020"/>
                </a:lnTo>
                <a:lnTo>
                  <a:pt x="591386" y="2181657"/>
                </a:lnTo>
                <a:lnTo>
                  <a:pt x="594602" y="2181657"/>
                </a:lnTo>
                <a:lnTo>
                  <a:pt x="594602" y="2178315"/>
                </a:lnTo>
                <a:lnTo>
                  <a:pt x="597871" y="2178315"/>
                </a:lnTo>
                <a:lnTo>
                  <a:pt x="601062" y="2178315"/>
                </a:lnTo>
                <a:lnTo>
                  <a:pt x="601062" y="2171588"/>
                </a:lnTo>
                <a:lnTo>
                  <a:pt x="604330" y="2171588"/>
                </a:lnTo>
                <a:lnTo>
                  <a:pt x="607572" y="2171588"/>
                </a:lnTo>
                <a:lnTo>
                  <a:pt x="607572" y="2168246"/>
                </a:lnTo>
                <a:lnTo>
                  <a:pt x="610789" y="2168246"/>
                </a:lnTo>
                <a:lnTo>
                  <a:pt x="613954" y="2168246"/>
                </a:lnTo>
                <a:lnTo>
                  <a:pt x="617196" y="2168246"/>
                </a:lnTo>
                <a:lnTo>
                  <a:pt x="617196" y="2164904"/>
                </a:lnTo>
                <a:lnTo>
                  <a:pt x="620413" y="2164904"/>
                </a:lnTo>
                <a:lnTo>
                  <a:pt x="620413" y="2158177"/>
                </a:lnTo>
                <a:lnTo>
                  <a:pt x="623656" y="2158177"/>
                </a:lnTo>
                <a:lnTo>
                  <a:pt x="626872" y="2158177"/>
                </a:lnTo>
                <a:lnTo>
                  <a:pt x="626872" y="2151472"/>
                </a:lnTo>
                <a:lnTo>
                  <a:pt x="630089" y="2151472"/>
                </a:lnTo>
                <a:lnTo>
                  <a:pt x="630089" y="2141382"/>
                </a:lnTo>
                <a:lnTo>
                  <a:pt x="633357" y="2141382"/>
                </a:lnTo>
                <a:lnTo>
                  <a:pt x="636548" y="2141382"/>
                </a:lnTo>
                <a:lnTo>
                  <a:pt x="636548" y="2134655"/>
                </a:lnTo>
                <a:lnTo>
                  <a:pt x="639817" y="2134655"/>
                </a:lnTo>
                <a:lnTo>
                  <a:pt x="643033" y="2134655"/>
                </a:lnTo>
                <a:lnTo>
                  <a:pt x="646250" y="2134655"/>
                </a:lnTo>
                <a:lnTo>
                  <a:pt x="646250" y="2131334"/>
                </a:lnTo>
                <a:lnTo>
                  <a:pt x="649492" y="2131334"/>
                </a:lnTo>
                <a:lnTo>
                  <a:pt x="652735" y="2131334"/>
                </a:lnTo>
                <a:lnTo>
                  <a:pt x="652735" y="2124607"/>
                </a:lnTo>
                <a:lnTo>
                  <a:pt x="655900" y="2124607"/>
                </a:lnTo>
                <a:lnTo>
                  <a:pt x="655900" y="2121244"/>
                </a:lnTo>
                <a:lnTo>
                  <a:pt x="659116" y="2121244"/>
                </a:lnTo>
                <a:lnTo>
                  <a:pt x="659116" y="2114538"/>
                </a:lnTo>
                <a:lnTo>
                  <a:pt x="662359" y="2114538"/>
                </a:lnTo>
                <a:lnTo>
                  <a:pt x="665575" y="2114538"/>
                </a:lnTo>
                <a:lnTo>
                  <a:pt x="668818" y="2114538"/>
                </a:lnTo>
                <a:lnTo>
                  <a:pt x="668818" y="2111196"/>
                </a:lnTo>
                <a:lnTo>
                  <a:pt x="672034" y="2111196"/>
                </a:lnTo>
                <a:lnTo>
                  <a:pt x="675303" y="2111196"/>
                </a:lnTo>
                <a:lnTo>
                  <a:pt x="675303" y="2104427"/>
                </a:lnTo>
                <a:lnTo>
                  <a:pt x="678494" y="2104427"/>
                </a:lnTo>
                <a:lnTo>
                  <a:pt x="681762" y="2104427"/>
                </a:lnTo>
                <a:lnTo>
                  <a:pt x="684979" y="2104427"/>
                </a:lnTo>
                <a:lnTo>
                  <a:pt x="688195" y="2104427"/>
                </a:lnTo>
                <a:lnTo>
                  <a:pt x="688195" y="2101085"/>
                </a:lnTo>
                <a:lnTo>
                  <a:pt x="691438" y="2101085"/>
                </a:lnTo>
                <a:lnTo>
                  <a:pt x="694655" y="2101085"/>
                </a:lnTo>
                <a:lnTo>
                  <a:pt x="697819" y="2101085"/>
                </a:lnTo>
                <a:lnTo>
                  <a:pt x="701088" y="2101085"/>
                </a:lnTo>
                <a:lnTo>
                  <a:pt x="701088" y="2097722"/>
                </a:lnTo>
                <a:lnTo>
                  <a:pt x="704278" y="2097722"/>
                </a:lnTo>
                <a:lnTo>
                  <a:pt x="704278" y="2094359"/>
                </a:lnTo>
                <a:lnTo>
                  <a:pt x="707547" y="2094359"/>
                </a:lnTo>
                <a:lnTo>
                  <a:pt x="710764" y="2094359"/>
                </a:lnTo>
                <a:lnTo>
                  <a:pt x="710764" y="2087653"/>
                </a:lnTo>
                <a:lnTo>
                  <a:pt x="714006" y="2087653"/>
                </a:lnTo>
                <a:lnTo>
                  <a:pt x="714006" y="2084311"/>
                </a:lnTo>
                <a:lnTo>
                  <a:pt x="717249" y="2084311"/>
                </a:lnTo>
                <a:lnTo>
                  <a:pt x="717249" y="2080948"/>
                </a:lnTo>
                <a:lnTo>
                  <a:pt x="720465" y="2080948"/>
                </a:lnTo>
                <a:lnTo>
                  <a:pt x="723682" y="2080948"/>
                </a:lnTo>
                <a:lnTo>
                  <a:pt x="726950" y="2080948"/>
                </a:lnTo>
                <a:lnTo>
                  <a:pt x="730141" y="2080969"/>
                </a:lnTo>
                <a:lnTo>
                  <a:pt x="733410" y="2080969"/>
                </a:lnTo>
                <a:lnTo>
                  <a:pt x="736600" y="2080969"/>
                </a:lnTo>
                <a:lnTo>
                  <a:pt x="739765" y="2080969"/>
                </a:lnTo>
                <a:lnTo>
                  <a:pt x="739765" y="2074242"/>
                </a:lnTo>
                <a:lnTo>
                  <a:pt x="743033" y="2074242"/>
                </a:lnTo>
                <a:lnTo>
                  <a:pt x="746224" y="2074242"/>
                </a:lnTo>
                <a:lnTo>
                  <a:pt x="749466" y="2074242"/>
                </a:lnTo>
                <a:lnTo>
                  <a:pt x="752709" y="2074242"/>
                </a:lnTo>
                <a:lnTo>
                  <a:pt x="755926" y="2074242"/>
                </a:lnTo>
                <a:lnTo>
                  <a:pt x="755926" y="2070858"/>
                </a:lnTo>
                <a:lnTo>
                  <a:pt x="759194" y="2070858"/>
                </a:lnTo>
                <a:lnTo>
                  <a:pt x="759194" y="2067494"/>
                </a:lnTo>
                <a:lnTo>
                  <a:pt x="762385" y="2067494"/>
                </a:lnTo>
                <a:lnTo>
                  <a:pt x="762385" y="2064152"/>
                </a:lnTo>
                <a:lnTo>
                  <a:pt x="765653" y="2064152"/>
                </a:lnTo>
                <a:lnTo>
                  <a:pt x="768870" y="2064152"/>
                </a:lnTo>
                <a:lnTo>
                  <a:pt x="772112" y="2064152"/>
                </a:lnTo>
                <a:lnTo>
                  <a:pt x="772112" y="2057425"/>
                </a:lnTo>
                <a:lnTo>
                  <a:pt x="775355" y="2057425"/>
                </a:lnTo>
                <a:lnTo>
                  <a:pt x="778494" y="2057425"/>
                </a:lnTo>
                <a:lnTo>
                  <a:pt x="778494" y="2054041"/>
                </a:lnTo>
                <a:lnTo>
                  <a:pt x="781736" y="2054083"/>
                </a:lnTo>
                <a:lnTo>
                  <a:pt x="784953" y="2054083"/>
                </a:lnTo>
                <a:lnTo>
                  <a:pt x="788196" y="2054083"/>
                </a:lnTo>
                <a:lnTo>
                  <a:pt x="791412" y="2054083"/>
                </a:lnTo>
                <a:lnTo>
                  <a:pt x="794681" y="2054083"/>
                </a:lnTo>
                <a:lnTo>
                  <a:pt x="794681" y="2047314"/>
                </a:lnTo>
                <a:lnTo>
                  <a:pt x="797871" y="2047314"/>
                </a:lnTo>
                <a:lnTo>
                  <a:pt x="801140" y="2047314"/>
                </a:lnTo>
                <a:lnTo>
                  <a:pt x="804330" y="2047314"/>
                </a:lnTo>
                <a:lnTo>
                  <a:pt x="804330" y="2040609"/>
                </a:lnTo>
                <a:lnTo>
                  <a:pt x="807599" y="2040609"/>
                </a:lnTo>
                <a:lnTo>
                  <a:pt x="810815" y="2040609"/>
                </a:lnTo>
                <a:lnTo>
                  <a:pt x="814032" y="2040609"/>
                </a:lnTo>
                <a:lnTo>
                  <a:pt x="817275" y="2040609"/>
                </a:lnTo>
                <a:lnTo>
                  <a:pt x="820465" y="2040609"/>
                </a:lnTo>
                <a:lnTo>
                  <a:pt x="820465" y="2037246"/>
                </a:lnTo>
                <a:lnTo>
                  <a:pt x="823682" y="2037246"/>
                </a:lnTo>
                <a:lnTo>
                  <a:pt x="826898" y="2037246"/>
                </a:lnTo>
                <a:lnTo>
                  <a:pt x="830141" y="2037246"/>
                </a:lnTo>
                <a:lnTo>
                  <a:pt x="830141" y="2033903"/>
                </a:lnTo>
                <a:lnTo>
                  <a:pt x="833358" y="2033903"/>
                </a:lnTo>
                <a:lnTo>
                  <a:pt x="836626" y="2033903"/>
                </a:lnTo>
                <a:lnTo>
                  <a:pt x="839817" y="2033925"/>
                </a:lnTo>
                <a:lnTo>
                  <a:pt x="843059" y="2033925"/>
                </a:lnTo>
                <a:lnTo>
                  <a:pt x="846302" y="2033925"/>
                </a:lnTo>
                <a:lnTo>
                  <a:pt x="849519" y="2033925"/>
                </a:lnTo>
                <a:lnTo>
                  <a:pt x="852761" y="2033925"/>
                </a:lnTo>
                <a:lnTo>
                  <a:pt x="855978" y="2033925"/>
                </a:lnTo>
                <a:lnTo>
                  <a:pt x="859220" y="2033925"/>
                </a:lnTo>
                <a:lnTo>
                  <a:pt x="862385" y="2033925"/>
                </a:lnTo>
                <a:lnTo>
                  <a:pt x="865601" y="2033925"/>
                </a:lnTo>
                <a:lnTo>
                  <a:pt x="868844" y="2033925"/>
                </a:lnTo>
                <a:lnTo>
                  <a:pt x="868844" y="2030582"/>
                </a:lnTo>
                <a:lnTo>
                  <a:pt x="872061" y="2030582"/>
                </a:lnTo>
                <a:lnTo>
                  <a:pt x="872061" y="2023814"/>
                </a:lnTo>
                <a:lnTo>
                  <a:pt x="875329" y="2023814"/>
                </a:lnTo>
                <a:lnTo>
                  <a:pt x="878546" y="2023814"/>
                </a:lnTo>
                <a:lnTo>
                  <a:pt x="881788" y="2023814"/>
                </a:lnTo>
                <a:lnTo>
                  <a:pt x="881788" y="2020471"/>
                </a:lnTo>
                <a:lnTo>
                  <a:pt x="885005" y="2020471"/>
                </a:lnTo>
                <a:lnTo>
                  <a:pt x="888274" y="2020471"/>
                </a:lnTo>
                <a:lnTo>
                  <a:pt x="891464" y="2020471"/>
                </a:lnTo>
                <a:lnTo>
                  <a:pt x="891464" y="2017108"/>
                </a:lnTo>
                <a:lnTo>
                  <a:pt x="894733" y="2017108"/>
                </a:lnTo>
                <a:lnTo>
                  <a:pt x="894733" y="2013745"/>
                </a:lnTo>
                <a:lnTo>
                  <a:pt x="897923" y="2013766"/>
                </a:lnTo>
                <a:lnTo>
                  <a:pt x="901192" y="2013766"/>
                </a:lnTo>
                <a:lnTo>
                  <a:pt x="901192" y="2010339"/>
                </a:lnTo>
                <a:lnTo>
                  <a:pt x="904330" y="2010339"/>
                </a:lnTo>
                <a:lnTo>
                  <a:pt x="907547" y="2010339"/>
                </a:lnTo>
                <a:lnTo>
                  <a:pt x="910790" y="2010339"/>
                </a:lnTo>
                <a:lnTo>
                  <a:pt x="910790" y="2003655"/>
                </a:lnTo>
                <a:lnTo>
                  <a:pt x="914032" y="2003655"/>
                </a:lnTo>
                <a:lnTo>
                  <a:pt x="917249" y="2003655"/>
                </a:lnTo>
                <a:lnTo>
                  <a:pt x="920517" y="2003655"/>
                </a:lnTo>
                <a:lnTo>
                  <a:pt x="923708" y="2003655"/>
                </a:lnTo>
                <a:lnTo>
                  <a:pt x="923708" y="2000291"/>
                </a:lnTo>
                <a:lnTo>
                  <a:pt x="926976" y="2000291"/>
                </a:lnTo>
                <a:lnTo>
                  <a:pt x="930193" y="2000291"/>
                </a:lnTo>
                <a:lnTo>
                  <a:pt x="933436" y="2000291"/>
                </a:lnTo>
                <a:lnTo>
                  <a:pt x="936652" y="2000312"/>
                </a:lnTo>
                <a:lnTo>
                  <a:pt x="936652" y="1996928"/>
                </a:lnTo>
                <a:lnTo>
                  <a:pt x="939895" y="1996928"/>
                </a:lnTo>
                <a:lnTo>
                  <a:pt x="943111" y="1996928"/>
                </a:lnTo>
                <a:lnTo>
                  <a:pt x="943111" y="1993522"/>
                </a:lnTo>
                <a:lnTo>
                  <a:pt x="946276" y="1993522"/>
                </a:lnTo>
                <a:lnTo>
                  <a:pt x="949519" y="1993522"/>
                </a:lnTo>
                <a:lnTo>
                  <a:pt x="952735" y="1993544"/>
                </a:lnTo>
                <a:lnTo>
                  <a:pt x="956004" y="1993544"/>
                </a:lnTo>
                <a:lnTo>
                  <a:pt x="959194" y="1993544"/>
                </a:lnTo>
                <a:lnTo>
                  <a:pt x="962437" y="1993544"/>
                </a:lnTo>
                <a:lnTo>
                  <a:pt x="962437" y="1990180"/>
                </a:lnTo>
                <a:lnTo>
                  <a:pt x="965654" y="1990180"/>
                </a:lnTo>
                <a:lnTo>
                  <a:pt x="968896" y="1990180"/>
                </a:lnTo>
                <a:lnTo>
                  <a:pt x="972139" y="1990180"/>
                </a:lnTo>
                <a:lnTo>
                  <a:pt x="975355" y="1990180"/>
                </a:lnTo>
                <a:lnTo>
                  <a:pt x="978598" y="1990180"/>
                </a:lnTo>
                <a:lnTo>
                  <a:pt x="978598" y="1986838"/>
                </a:lnTo>
                <a:lnTo>
                  <a:pt x="981840" y="1986838"/>
                </a:lnTo>
                <a:lnTo>
                  <a:pt x="985005" y="1986838"/>
                </a:lnTo>
                <a:lnTo>
                  <a:pt x="988222" y="1986838"/>
                </a:lnTo>
                <a:lnTo>
                  <a:pt x="988222" y="1983496"/>
                </a:lnTo>
                <a:lnTo>
                  <a:pt x="991464" y="1983496"/>
                </a:lnTo>
                <a:lnTo>
                  <a:pt x="994681" y="1983496"/>
                </a:lnTo>
                <a:lnTo>
                  <a:pt x="994681" y="1980069"/>
                </a:lnTo>
                <a:lnTo>
                  <a:pt x="997923" y="1980090"/>
                </a:lnTo>
                <a:lnTo>
                  <a:pt x="997923" y="1973363"/>
                </a:lnTo>
                <a:lnTo>
                  <a:pt x="1001140" y="1973363"/>
                </a:lnTo>
                <a:lnTo>
                  <a:pt x="1004382" y="1973363"/>
                </a:lnTo>
                <a:lnTo>
                  <a:pt x="1004382" y="1966658"/>
                </a:lnTo>
                <a:lnTo>
                  <a:pt x="1007599" y="1966658"/>
                </a:lnTo>
                <a:lnTo>
                  <a:pt x="1010842" y="1966658"/>
                </a:lnTo>
                <a:lnTo>
                  <a:pt x="1014084" y="1966658"/>
                </a:lnTo>
                <a:lnTo>
                  <a:pt x="1017301" y="1966658"/>
                </a:lnTo>
                <a:lnTo>
                  <a:pt x="1020543" y="1966679"/>
                </a:lnTo>
                <a:lnTo>
                  <a:pt x="1020543" y="1963252"/>
                </a:lnTo>
                <a:lnTo>
                  <a:pt x="1023786" y="1963252"/>
                </a:lnTo>
                <a:lnTo>
                  <a:pt x="1026925" y="1963274"/>
                </a:lnTo>
                <a:lnTo>
                  <a:pt x="1030167" y="1963274"/>
                </a:lnTo>
                <a:lnTo>
                  <a:pt x="1033384" y="1963274"/>
                </a:lnTo>
                <a:lnTo>
                  <a:pt x="1036626" y="1963274"/>
                </a:lnTo>
                <a:lnTo>
                  <a:pt x="1039869" y="1963274"/>
                </a:lnTo>
                <a:lnTo>
                  <a:pt x="1043111" y="1963274"/>
                </a:lnTo>
                <a:lnTo>
                  <a:pt x="1046328" y="1963274"/>
                </a:lnTo>
                <a:lnTo>
                  <a:pt x="1046328" y="1959910"/>
                </a:lnTo>
                <a:lnTo>
                  <a:pt x="1049597" y="1959910"/>
                </a:lnTo>
                <a:lnTo>
                  <a:pt x="1052787" y="1959910"/>
                </a:lnTo>
                <a:lnTo>
                  <a:pt x="1052787" y="1956568"/>
                </a:lnTo>
                <a:lnTo>
                  <a:pt x="1056030" y="1956568"/>
                </a:lnTo>
                <a:lnTo>
                  <a:pt x="1059246" y="1956568"/>
                </a:lnTo>
                <a:lnTo>
                  <a:pt x="1062489" y="1956568"/>
                </a:lnTo>
                <a:lnTo>
                  <a:pt x="1062489" y="1953226"/>
                </a:lnTo>
                <a:lnTo>
                  <a:pt x="1065731" y="1953226"/>
                </a:lnTo>
                <a:lnTo>
                  <a:pt x="1065731" y="1949820"/>
                </a:lnTo>
                <a:lnTo>
                  <a:pt x="1068870" y="1949820"/>
                </a:lnTo>
                <a:lnTo>
                  <a:pt x="1068870" y="1946436"/>
                </a:lnTo>
                <a:lnTo>
                  <a:pt x="1072113" y="1946436"/>
                </a:lnTo>
                <a:lnTo>
                  <a:pt x="1072113" y="1943094"/>
                </a:lnTo>
                <a:lnTo>
                  <a:pt x="1075330" y="1943094"/>
                </a:lnTo>
                <a:lnTo>
                  <a:pt x="1078572" y="1943094"/>
                </a:lnTo>
                <a:lnTo>
                  <a:pt x="1081840" y="1943094"/>
                </a:lnTo>
                <a:lnTo>
                  <a:pt x="1085031" y="1943094"/>
                </a:lnTo>
                <a:lnTo>
                  <a:pt x="1088274" y="1943094"/>
                </a:lnTo>
                <a:lnTo>
                  <a:pt x="1091516" y="1943094"/>
                </a:lnTo>
                <a:lnTo>
                  <a:pt x="1094733" y="1943094"/>
                </a:lnTo>
                <a:lnTo>
                  <a:pt x="1094733" y="1939709"/>
                </a:lnTo>
                <a:lnTo>
                  <a:pt x="1097975" y="1939709"/>
                </a:lnTo>
                <a:lnTo>
                  <a:pt x="1101218" y="1939709"/>
                </a:lnTo>
                <a:lnTo>
                  <a:pt x="1104434" y="1939709"/>
                </a:lnTo>
                <a:lnTo>
                  <a:pt x="1107703" y="1939730"/>
                </a:lnTo>
                <a:lnTo>
                  <a:pt x="1107703" y="1936346"/>
                </a:lnTo>
                <a:lnTo>
                  <a:pt x="1110842" y="1936346"/>
                </a:lnTo>
                <a:lnTo>
                  <a:pt x="1114058" y="1936346"/>
                </a:lnTo>
                <a:lnTo>
                  <a:pt x="1117275" y="1936346"/>
                </a:lnTo>
                <a:lnTo>
                  <a:pt x="1117275" y="1933004"/>
                </a:lnTo>
                <a:lnTo>
                  <a:pt x="1120517" y="1933004"/>
                </a:lnTo>
                <a:lnTo>
                  <a:pt x="1123760" y="1933025"/>
                </a:lnTo>
                <a:lnTo>
                  <a:pt x="1123760" y="1929640"/>
                </a:lnTo>
                <a:lnTo>
                  <a:pt x="1126977" y="1929640"/>
                </a:lnTo>
                <a:lnTo>
                  <a:pt x="1130219" y="1929640"/>
                </a:lnTo>
                <a:lnTo>
                  <a:pt x="1130219" y="1926235"/>
                </a:lnTo>
                <a:lnTo>
                  <a:pt x="1133488" y="1926235"/>
                </a:lnTo>
                <a:lnTo>
                  <a:pt x="1133488" y="1922892"/>
                </a:lnTo>
                <a:lnTo>
                  <a:pt x="1136678" y="1922892"/>
                </a:lnTo>
                <a:lnTo>
                  <a:pt x="1139921" y="1922914"/>
                </a:lnTo>
                <a:lnTo>
                  <a:pt x="1143138" y="1922914"/>
                </a:lnTo>
                <a:lnTo>
                  <a:pt x="1146380" y="1922914"/>
                </a:lnTo>
                <a:lnTo>
                  <a:pt x="1149571" y="1922914"/>
                </a:lnTo>
                <a:lnTo>
                  <a:pt x="1152761" y="1922914"/>
                </a:lnTo>
                <a:lnTo>
                  <a:pt x="1156004" y="1922914"/>
                </a:lnTo>
                <a:lnTo>
                  <a:pt x="1159246" y="1922914"/>
                </a:lnTo>
                <a:lnTo>
                  <a:pt x="1159246" y="1916145"/>
                </a:lnTo>
                <a:lnTo>
                  <a:pt x="1162463" y="1916145"/>
                </a:lnTo>
                <a:lnTo>
                  <a:pt x="1162463" y="1912781"/>
                </a:lnTo>
                <a:lnTo>
                  <a:pt x="1165706" y="1912781"/>
                </a:lnTo>
                <a:lnTo>
                  <a:pt x="1165706" y="1909418"/>
                </a:lnTo>
                <a:lnTo>
                  <a:pt x="1168922" y="1909418"/>
                </a:lnTo>
                <a:lnTo>
                  <a:pt x="1172165" y="1909418"/>
                </a:lnTo>
                <a:lnTo>
                  <a:pt x="1175408" y="1909439"/>
                </a:lnTo>
                <a:lnTo>
                  <a:pt x="1175408" y="1906097"/>
                </a:lnTo>
                <a:lnTo>
                  <a:pt x="1178624" y="1906097"/>
                </a:lnTo>
                <a:lnTo>
                  <a:pt x="1178624" y="1902670"/>
                </a:lnTo>
                <a:lnTo>
                  <a:pt x="1181866" y="1902670"/>
                </a:lnTo>
                <a:lnTo>
                  <a:pt x="1185083" y="1902670"/>
                </a:lnTo>
                <a:lnTo>
                  <a:pt x="1188325" y="1902670"/>
                </a:lnTo>
                <a:lnTo>
                  <a:pt x="1188325" y="1899307"/>
                </a:lnTo>
                <a:lnTo>
                  <a:pt x="1191490" y="1899328"/>
                </a:lnTo>
                <a:lnTo>
                  <a:pt x="1191490" y="1895944"/>
                </a:lnTo>
                <a:lnTo>
                  <a:pt x="1194707" y="1895944"/>
                </a:lnTo>
                <a:lnTo>
                  <a:pt x="1197949" y="1895944"/>
                </a:lnTo>
                <a:lnTo>
                  <a:pt x="1201192" y="1895965"/>
                </a:lnTo>
                <a:lnTo>
                  <a:pt x="1204434" y="1895965"/>
                </a:lnTo>
                <a:lnTo>
                  <a:pt x="1204434" y="1889196"/>
                </a:lnTo>
                <a:lnTo>
                  <a:pt x="1207651" y="1889217"/>
                </a:lnTo>
                <a:lnTo>
                  <a:pt x="1207651" y="1885790"/>
                </a:lnTo>
                <a:lnTo>
                  <a:pt x="1210868" y="1885790"/>
                </a:lnTo>
                <a:lnTo>
                  <a:pt x="1210868" y="1882448"/>
                </a:lnTo>
                <a:lnTo>
                  <a:pt x="1214110" y="1882448"/>
                </a:lnTo>
                <a:lnTo>
                  <a:pt x="1217353" y="1882448"/>
                </a:lnTo>
                <a:lnTo>
                  <a:pt x="1220570" y="1882448"/>
                </a:lnTo>
                <a:lnTo>
                  <a:pt x="1223812" y="1882448"/>
                </a:lnTo>
                <a:lnTo>
                  <a:pt x="1227055" y="1882448"/>
                </a:lnTo>
                <a:lnTo>
                  <a:pt x="1230271" y="1882448"/>
                </a:lnTo>
                <a:lnTo>
                  <a:pt x="1230271" y="1879106"/>
                </a:lnTo>
                <a:lnTo>
                  <a:pt x="1233436" y="1879106"/>
                </a:lnTo>
                <a:lnTo>
                  <a:pt x="1236653" y="1879106"/>
                </a:lnTo>
                <a:lnTo>
                  <a:pt x="1236653" y="1872337"/>
                </a:lnTo>
                <a:lnTo>
                  <a:pt x="1239895" y="1872337"/>
                </a:lnTo>
                <a:lnTo>
                  <a:pt x="1243138" y="1872337"/>
                </a:lnTo>
                <a:lnTo>
                  <a:pt x="1243138" y="1868974"/>
                </a:lnTo>
                <a:lnTo>
                  <a:pt x="1246354" y="1868974"/>
                </a:lnTo>
                <a:lnTo>
                  <a:pt x="1249597" y="1868974"/>
                </a:lnTo>
                <a:lnTo>
                  <a:pt x="1249597" y="1865568"/>
                </a:lnTo>
                <a:lnTo>
                  <a:pt x="1252813" y="1865568"/>
                </a:lnTo>
                <a:lnTo>
                  <a:pt x="1256056" y="1865568"/>
                </a:lnTo>
                <a:lnTo>
                  <a:pt x="1256056" y="1862205"/>
                </a:lnTo>
                <a:lnTo>
                  <a:pt x="1259298" y="1862205"/>
                </a:lnTo>
                <a:lnTo>
                  <a:pt x="1259298" y="1858841"/>
                </a:lnTo>
                <a:lnTo>
                  <a:pt x="1262541" y="1858841"/>
                </a:lnTo>
                <a:lnTo>
                  <a:pt x="1265757" y="1858841"/>
                </a:lnTo>
                <a:lnTo>
                  <a:pt x="1269026" y="1858841"/>
                </a:lnTo>
                <a:lnTo>
                  <a:pt x="1269026" y="1852093"/>
                </a:lnTo>
                <a:lnTo>
                  <a:pt x="1272217" y="1852115"/>
                </a:lnTo>
                <a:lnTo>
                  <a:pt x="1272217" y="1848688"/>
                </a:lnTo>
                <a:lnTo>
                  <a:pt x="1275381" y="1848709"/>
                </a:lnTo>
                <a:lnTo>
                  <a:pt x="1275381" y="1841982"/>
                </a:lnTo>
                <a:lnTo>
                  <a:pt x="1278598" y="1841982"/>
                </a:lnTo>
                <a:lnTo>
                  <a:pt x="1278598" y="1835214"/>
                </a:lnTo>
                <a:lnTo>
                  <a:pt x="1281841" y="1835214"/>
                </a:lnTo>
                <a:lnTo>
                  <a:pt x="1285083" y="1835214"/>
                </a:lnTo>
                <a:lnTo>
                  <a:pt x="1288300" y="1835235"/>
                </a:lnTo>
                <a:lnTo>
                  <a:pt x="1288300" y="1831808"/>
                </a:lnTo>
                <a:lnTo>
                  <a:pt x="1291542" y="1831808"/>
                </a:lnTo>
                <a:lnTo>
                  <a:pt x="1291542" y="1828466"/>
                </a:lnTo>
                <a:lnTo>
                  <a:pt x="1294811" y="1828466"/>
                </a:lnTo>
                <a:lnTo>
                  <a:pt x="1298001" y="1828466"/>
                </a:lnTo>
                <a:lnTo>
                  <a:pt x="1298001" y="1825123"/>
                </a:lnTo>
                <a:lnTo>
                  <a:pt x="1301244" y="1825123"/>
                </a:lnTo>
                <a:lnTo>
                  <a:pt x="1304461" y="1825123"/>
                </a:lnTo>
                <a:lnTo>
                  <a:pt x="1307677" y="1825123"/>
                </a:lnTo>
                <a:lnTo>
                  <a:pt x="1310946" y="1825123"/>
                </a:lnTo>
                <a:lnTo>
                  <a:pt x="1314163" y="1825123"/>
                </a:lnTo>
                <a:lnTo>
                  <a:pt x="1317327" y="1825123"/>
                </a:lnTo>
                <a:lnTo>
                  <a:pt x="1320544" y="1825123"/>
                </a:lnTo>
                <a:lnTo>
                  <a:pt x="1320544" y="1818355"/>
                </a:lnTo>
                <a:lnTo>
                  <a:pt x="1323786" y="1818355"/>
                </a:lnTo>
                <a:lnTo>
                  <a:pt x="1327029" y="1818355"/>
                </a:lnTo>
                <a:lnTo>
                  <a:pt x="1330245" y="1818376"/>
                </a:lnTo>
                <a:lnTo>
                  <a:pt x="1333488" y="1818376"/>
                </a:lnTo>
                <a:lnTo>
                  <a:pt x="1333488" y="1814949"/>
                </a:lnTo>
                <a:lnTo>
                  <a:pt x="1336731" y="1814949"/>
                </a:lnTo>
                <a:lnTo>
                  <a:pt x="1339947" y="1814949"/>
                </a:lnTo>
                <a:lnTo>
                  <a:pt x="1343164" y="1814949"/>
                </a:lnTo>
                <a:lnTo>
                  <a:pt x="1346406" y="1814949"/>
                </a:lnTo>
                <a:lnTo>
                  <a:pt x="1346406" y="1811586"/>
                </a:lnTo>
                <a:lnTo>
                  <a:pt x="1349649" y="1811607"/>
                </a:lnTo>
                <a:lnTo>
                  <a:pt x="1352891" y="1811607"/>
                </a:lnTo>
                <a:lnTo>
                  <a:pt x="1352891" y="1808265"/>
                </a:lnTo>
                <a:lnTo>
                  <a:pt x="1356030" y="1808265"/>
                </a:lnTo>
                <a:lnTo>
                  <a:pt x="1359273" y="1808265"/>
                </a:lnTo>
                <a:lnTo>
                  <a:pt x="1362515" y="1808265"/>
                </a:lnTo>
                <a:lnTo>
                  <a:pt x="1362515" y="1804838"/>
                </a:lnTo>
                <a:lnTo>
                  <a:pt x="1365732" y="1804838"/>
                </a:lnTo>
                <a:lnTo>
                  <a:pt x="1365732" y="1801496"/>
                </a:lnTo>
                <a:lnTo>
                  <a:pt x="1368974" y="1801496"/>
                </a:lnTo>
                <a:lnTo>
                  <a:pt x="1368974" y="1794727"/>
                </a:lnTo>
                <a:lnTo>
                  <a:pt x="1372191" y="1794727"/>
                </a:lnTo>
                <a:lnTo>
                  <a:pt x="1375434" y="1794727"/>
                </a:lnTo>
                <a:lnTo>
                  <a:pt x="1378676" y="1794727"/>
                </a:lnTo>
                <a:lnTo>
                  <a:pt x="1381893" y="1794727"/>
                </a:lnTo>
                <a:lnTo>
                  <a:pt x="1381893" y="1791342"/>
                </a:lnTo>
                <a:lnTo>
                  <a:pt x="1385135" y="1791342"/>
                </a:lnTo>
                <a:lnTo>
                  <a:pt x="1388352" y="1791342"/>
                </a:lnTo>
                <a:lnTo>
                  <a:pt x="1388352" y="1787979"/>
                </a:lnTo>
                <a:lnTo>
                  <a:pt x="1391594" y="1787979"/>
                </a:lnTo>
                <a:lnTo>
                  <a:pt x="1391594" y="1784616"/>
                </a:lnTo>
                <a:lnTo>
                  <a:pt x="1394837" y="1784616"/>
                </a:lnTo>
                <a:lnTo>
                  <a:pt x="1394837" y="1781210"/>
                </a:lnTo>
                <a:lnTo>
                  <a:pt x="1397976" y="1781210"/>
                </a:lnTo>
                <a:lnTo>
                  <a:pt x="1401218" y="1781210"/>
                </a:lnTo>
                <a:lnTo>
                  <a:pt x="1404461" y="1781210"/>
                </a:lnTo>
                <a:lnTo>
                  <a:pt x="1407677" y="1781210"/>
                </a:lnTo>
                <a:lnTo>
                  <a:pt x="1410920" y="1781210"/>
                </a:lnTo>
                <a:lnTo>
                  <a:pt x="1414136" y="1781231"/>
                </a:lnTo>
                <a:lnTo>
                  <a:pt x="1417379" y="1781231"/>
                </a:lnTo>
                <a:lnTo>
                  <a:pt x="1417379" y="1777868"/>
                </a:lnTo>
                <a:lnTo>
                  <a:pt x="1420621" y="1777868"/>
                </a:lnTo>
                <a:lnTo>
                  <a:pt x="1423838" y="1777868"/>
                </a:lnTo>
                <a:lnTo>
                  <a:pt x="1427081" y="1777868"/>
                </a:lnTo>
                <a:lnTo>
                  <a:pt x="1430323" y="1777868"/>
                </a:lnTo>
                <a:lnTo>
                  <a:pt x="1430323" y="1771099"/>
                </a:lnTo>
                <a:lnTo>
                  <a:pt x="1433540" y="1771099"/>
                </a:lnTo>
                <a:lnTo>
                  <a:pt x="1436782" y="1771099"/>
                </a:lnTo>
                <a:lnTo>
                  <a:pt x="1436782" y="1764330"/>
                </a:lnTo>
                <a:lnTo>
                  <a:pt x="1439921" y="1764330"/>
                </a:lnTo>
                <a:lnTo>
                  <a:pt x="1443164" y="1764330"/>
                </a:lnTo>
                <a:lnTo>
                  <a:pt x="1446406" y="1764351"/>
                </a:lnTo>
                <a:lnTo>
                  <a:pt x="1446406" y="1760966"/>
                </a:lnTo>
                <a:lnTo>
                  <a:pt x="1449623" y="1760966"/>
                </a:lnTo>
                <a:lnTo>
                  <a:pt x="1452865" y="1760966"/>
                </a:lnTo>
                <a:lnTo>
                  <a:pt x="1456082" y="1760966"/>
                </a:lnTo>
                <a:lnTo>
                  <a:pt x="1459325" y="1760966"/>
                </a:lnTo>
                <a:lnTo>
                  <a:pt x="1462541" y="1760966"/>
                </a:lnTo>
                <a:lnTo>
                  <a:pt x="1465784" y="1760966"/>
                </a:lnTo>
                <a:lnTo>
                  <a:pt x="1469000" y="1760966"/>
                </a:lnTo>
                <a:lnTo>
                  <a:pt x="1469000" y="1757603"/>
                </a:lnTo>
                <a:lnTo>
                  <a:pt x="1472269" y="1757624"/>
                </a:lnTo>
                <a:lnTo>
                  <a:pt x="1475486" y="1757624"/>
                </a:lnTo>
                <a:lnTo>
                  <a:pt x="1478728" y="1757624"/>
                </a:lnTo>
                <a:lnTo>
                  <a:pt x="1481867" y="1757624"/>
                </a:lnTo>
                <a:lnTo>
                  <a:pt x="1485109" y="1757624"/>
                </a:lnTo>
                <a:lnTo>
                  <a:pt x="1485109" y="1754261"/>
                </a:lnTo>
                <a:lnTo>
                  <a:pt x="1488352" y="1754261"/>
                </a:lnTo>
                <a:lnTo>
                  <a:pt x="1491568" y="1754261"/>
                </a:lnTo>
                <a:lnTo>
                  <a:pt x="1494811" y="1754261"/>
                </a:lnTo>
                <a:lnTo>
                  <a:pt x="1494811" y="1750855"/>
                </a:lnTo>
                <a:lnTo>
                  <a:pt x="1498028" y="1750855"/>
                </a:lnTo>
                <a:lnTo>
                  <a:pt x="1501270" y="1750855"/>
                </a:lnTo>
                <a:lnTo>
                  <a:pt x="1504487" y="1750855"/>
                </a:lnTo>
                <a:lnTo>
                  <a:pt x="1507729" y="1750855"/>
                </a:lnTo>
                <a:lnTo>
                  <a:pt x="1510972" y="1750855"/>
                </a:lnTo>
                <a:lnTo>
                  <a:pt x="1510972" y="1747492"/>
                </a:lnTo>
                <a:lnTo>
                  <a:pt x="1514214" y="1747492"/>
                </a:lnTo>
                <a:lnTo>
                  <a:pt x="1514214" y="1744108"/>
                </a:lnTo>
                <a:lnTo>
                  <a:pt x="1517431" y="1744108"/>
                </a:lnTo>
                <a:lnTo>
                  <a:pt x="1520674" y="1744108"/>
                </a:lnTo>
                <a:lnTo>
                  <a:pt x="1523813" y="1744108"/>
                </a:lnTo>
                <a:lnTo>
                  <a:pt x="1527055" y="1744108"/>
                </a:lnTo>
                <a:lnTo>
                  <a:pt x="1530298" y="1744108"/>
                </a:lnTo>
                <a:lnTo>
                  <a:pt x="1533514" y="1744108"/>
                </a:lnTo>
                <a:lnTo>
                  <a:pt x="1536757" y="1744108"/>
                </a:lnTo>
                <a:lnTo>
                  <a:pt x="1536757" y="1740766"/>
                </a:lnTo>
                <a:lnTo>
                  <a:pt x="1539999" y="1740766"/>
                </a:lnTo>
                <a:lnTo>
                  <a:pt x="1539999" y="1733996"/>
                </a:lnTo>
                <a:lnTo>
                  <a:pt x="1543216" y="1733996"/>
                </a:lnTo>
                <a:lnTo>
                  <a:pt x="1546458" y="1733996"/>
                </a:lnTo>
                <a:lnTo>
                  <a:pt x="1546458" y="1730591"/>
                </a:lnTo>
                <a:lnTo>
                  <a:pt x="1549675" y="1730591"/>
                </a:lnTo>
                <a:lnTo>
                  <a:pt x="1549675" y="1727249"/>
                </a:lnTo>
                <a:lnTo>
                  <a:pt x="1552918" y="1727249"/>
                </a:lnTo>
                <a:lnTo>
                  <a:pt x="1556134" y="1727249"/>
                </a:lnTo>
                <a:lnTo>
                  <a:pt x="1559377" y="1727249"/>
                </a:lnTo>
                <a:lnTo>
                  <a:pt x="1562541" y="1727249"/>
                </a:lnTo>
                <a:lnTo>
                  <a:pt x="1565784" y="1727249"/>
                </a:lnTo>
                <a:lnTo>
                  <a:pt x="1565784" y="1723843"/>
                </a:lnTo>
                <a:lnTo>
                  <a:pt x="1569000" y="1723843"/>
                </a:lnTo>
                <a:lnTo>
                  <a:pt x="1572243" y="1723843"/>
                </a:lnTo>
                <a:lnTo>
                  <a:pt x="1575460" y="1723843"/>
                </a:lnTo>
                <a:lnTo>
                  <a:pt x="1578702" y="1723843"/>
                </a:lnTo>
                <a:lnTo>
                  <a:pt x="1578702" y="1720480"/>
                </a:lnTo>
                <a:lnTo>
                  <a:pt x="1581945" y="1720480"/>
                </a:lnTo>
                <a:lnTo>
                  <a:pt x="1585161" y="1720501"/>
                </a:lnTo>
                <a:lnTo>
                  <a:pt x="1588404" y="1720501"/>
                </a:lnTo>
                <a:lnTo>
                  <a:pt x="1588404" y="1717074"/>
                </a:lnTo>
                <a:lnTo>
                  <a:pt x="1591620" y="1717074"/>
                </a:lnTo>
                <a:lnTo>
                  <a:pt x="1594863" y="1717074"/>
                </a:lnTo>
                <a:lnTo>
                  <a:pt x="1594863" y="1706963"/>
                </a:lnTo>
                <a:lnTo>
                  <a:pt x="1598105" y="1706984"/>
                </a:lnTo>
                <a:lnTo>
                  <a:pt x="1601322" y="1706984"/>
                </a:lnTo>
                <a:lnTo>
                  <a:pt x="1604487" y="1706984"/>
                </a:lnTo>
                <a:lnTo>
                  <a:pt x="1607729" y="1706984"/>
                </a:lnTo>
                <a:lnTo>
                  <a:pt x="1610946" y="1706984"/>
                </a:lnTo>
                <a:lnTo>
                  <a:pt x="1614189" y="1706984"/>
                </a:lnTo>
                <a:lnTo>
                  <a:pt x="1614189" y="1703578"/>
                </a:lnTo>
                <a:lnTo>
                  <a:pt x="1617379" y="1703578"/>
                </a:lnTo>
                <a:lnTo>
                  <a:pt x="1620648" y="1703578"/>
                </a:lnTo>
                <a:lnTo>
                  <a:pt x="1623891" y="1703578"/>
                </a:lnTo>
                <a:lnTo>
                  <a:pt x="1627107" y="1703578"/>
                </a:lnTo>
                <a:lnTo>
                  <a:pt x="1627107" y="1696810"/>
                </a:lnTo>
                <a:lnTo>
                  <a:pt x="1630323" y="1696810"/>
                </a:lnTo>
                <a:lnTo>
                  <a:pt x="1633592" y="1696810"/>
                </a:lnTo>
                <a:lnTo>
                  <a:pt x="1636783" y="1696810"/>
                </a:lnTo>
                <a:lnTo>
                  <a:pt x="1640051" y="1696810"/>
                </a:lnTo>
                <a:lnTo>
                  <a:pt x="1643268" y="1696810"/>
                </a:lnTo>
                <a:lnTo>
                  <a:pt x="1643268" y="1693467"/>
                </a:lnTo>
                <a:lnTo>
                  <a:pt x="1646432" y="1693467"/>
                </a:lnTo>
                <a:lnTo>
                  <a:pt x="1649675" y="1693488"/>
                </a:lnTo>
                <a:lnTo>
                  <a:pt x="1652866" y="1693488"/>
                </a:lnTo>
                <a:lnTo>
                  <a:pt x="1656134" y="1693488"/>
                </a:lnTo>
                <a:lnTo>
                  <a:pt x="1659325" y="1693488"/>
                </a:lnTo>
                <a:lnTo>
                  <a:pt x="1659325" y="1690062"/>
                </a:lnTo>
                <a:lnTo>
                  <a:pt x="1662593" y="1690062"/>
                </a:lnTo>
                <a:lnTo>
                  <a:pt x="1665810" y="1690062"/>
                </a:lnTo>
                <a:lnTo>
                  <a:pt x="1669053" y="1690062"/>
                </a:lnTo>
                <a:lnTo>
                  <a:pt x="1672295" y="1690083"/>
                </a:lnTo>
                <a:lnTo>
                  <a:pt x="1675538" y="1690083"/>
                </a:lnTo>
                <a:lnTo>
                  <a:pt x="1675538" y="1686720"/>
                </a:lnTo>
                <a:lnTo>
                  <a:pt x="1678754" y="1686720"/>
                </a:lnTo>
                <a:lnTo>
                  <a:pt x="1681971" y="1686720"/>
                </a:lnTo>
                <a:lnTo>
                  <a:pt x="1681971" y="1683314"/>
                </a:lnTo>
                <a:lnTo>
                  <a:pt x="1685213" y="1683314"/>
                </a:lnTo>
                <a:lnTo>
                  <a:pt x="1685213" y="1676545"/>
                </a:lnTo>
                <a:lnTo>
                  <a:pt x="1688378" y="1676545"/>
                </a:lnTo>
                <a:lnTo>
                  <a:pt x="1691621" y="1676545"/>
                </a:lnTo>
                <a:lnTo>
                  <a:pt x="1694837" y="1676566"/>
                </a:lnTo>
                <a:lnTo>
                  <a:pt x="1698080" y="1676566"/>
                </a:lnTo>
                <a:lnTo>
                  <a:pt x="1701296" y="1676566"/>
                </a:lnTo>
                <a:lnTo>
                  <a:pt x="1701296" y="1669776"/>
                </a:lnTo>
                <a:lnTo>
                  <a:pt x="1704539" y="1669776"/>
                </a:lnTo>
                <a:lnTo>
                  <a:pt x="1707782" y="1669776"/>
                </a:lnTo>
                <a:lnTo>
                  <a:pt x="1710972" y="1669776"/>
                </a:lnTo>
                <a:lnTo>
                  <a:pt x="1714241" y="1669797"/>
                </a:lnTo>
                <a:lnTo>
                  <a:pt x="1714241" y="1666392"/>
                </a:lnTo>
                <a:lnTo>
                  <a:pt x="1717457" y="1666392"/>
                </a:lnTo>
                <a:lnTo>
                  <a:pt x="1720700" y="1666392"/>
                </a:lnTo>
                <a:lnTo>
                  <a:pt x="1723916" y="1666392"/>
                </a:lnTo>
                <a:lnTo>
                  <a:pt x="1723916" y="1663028"/>
                </a:lnTo>
                <a:lnTo>
                  <a:pt x="1727159" y="1663028"/>
                </a:lnTo>
                <a:lnTo>
                  <a:pt x="1730324" y="1663028"/>
                </a:lnTo>
                <a:lnTo>
                  <a:pt x="1730324" y="1659644"/>
                </a:lnTo>
                <a:lnTo>
                  <a:pt x="1733566" y="1659644"/>
                </a:lnTo>
                <a:lnTo>
                  <a:pt x="1736757" y="1659644"/>
                </a:lnTo>
                <a:lnTo>
                  <a:pt x="1740025" y="1659644"/>
                </a:lnTo>
                <a:lnTo>
                  <a:pt x="1743242" y="1659644"/>
                </a:lnTo>
                <a:lnTo>
                  <a:pt x="1746484" y="1659665"/>
                </a:lnTo>
                <a:lnTo>
                  <a:pt x="1746484" y="1656301"/>
                </a:lnTo>
                <a:lnTo>
                  <a:pt x="1749727" y="1656301"/>
                </a:lnTo>
                <a:lnTo>
                  <a:pt x="1752944" y="1656301"/>
                </a:lnTo>
                <a:lnTo>
                  <a:pt x="1752944" y="1652875"/>
                </a:lnTo>
                <a:lnTo>
                  <a:pt x="1756186" y="1652875"/>
                </a:lnTo>
                <a:lnTo>
                  <a:pt x="1759429" y="1652875"/>
                </a:lnTo>
                <a:lnTo>
                  <a:pt x="1762646" y="1652896"/>
                </a:lnTo>
                <a:lnTo>
                  <a:pt x="1762646" y="1649469"/>
                </a:lnTo>
                <a:lnTo>
                  <a:pt x="1765888" y="1649469"/>
                </a:lnTo>
                <a:lnTo>
                  <a:pt x="1765888" y="1646148"/>
                </a:lnTo>
                <a:lnTo>
                  <a:pt x="1769027" y="1646148"/>
                </a:lnTo>
                <a:lnTo>
                  <a:pt x="1769027" y="1642721"/>
                </a:lnTo>
                <a:lnTo>
                  <a:pt x="1772243" y="1642721"/>
                </a:lnTo>
                <a:lnTo>
                  <a:pt x="1772243" y="1639316"/>
                </a:lnTo>
                <a:lnTo>
                  <a:pt x="1775512" y="1639316"/>
                </a:lnTo>
                <a:lnTo>
                  <a:pt x="1778702" y="1639316"/>
                </a:lnTo>
                <a:lnTo>
                  <a:pt x="1781971" y="1639316"/>
                </a:lnTo>
                <a:lnTo>
                  <a:pt x="1785214" y="1639316"/>
                </a:lnTo>
                <a:lnTo>
                  <a:pt x="1785214" y="1632547"/>
                </a:lnTo>
                <a:lnTo>
                  <a:pt x="1788430" y="1632547"/>
                </a:lnTo>
                <a:lnTo>
                  <a:pt x="1791646" y="1632547"/>
                </a:lnTo>
                <a:lnTo>
                  <a:pt x="1794889" y="1632547"/>
                </a:lnTo>
                <a:lnTo>
                  <a:pt x="1798106" y="1632547"/>
                </a:lnTo>
                <a:lnTo>
                  <a:pt x="1798106" y="1629226"/>
                </a:lnTo>
                <a:lnTo>
                  <a:pt x="1801374" y="1629226"/>
                </a:lnTo>
                <a:lnTo>
                  <a:pt x="1804565" y="1629226"/>
                </a:lnTo>
                <a:lnTo>
                  <a:pt x="1804565" y="1625799"/>
                </a:lnTo>
                <a:lnTo>
                  <a:pt x="1807833" y="1625820"/>
                </a:lnTo>
                <a:lnTo>
                  <a:pt x="1810998" y="1625820"/>
                </a:lnTo>
                <a:lnTo>
                  <a:pt x="1810998" y="1619051"/>
                </a:lnTo>
                <a:lnTo>
                  <a:pt x="1814189" y="1619051"/>
                </a:lnTo>
                <a:lnTo>
                  <a:pt x="1814189" y="1615624"/>
                </a:lnTo>
                <a:lnTo>
                  <a:pt x="1817457" y="1615624"/>
                </a:lnTo>
                <a:lnTo>
                  <a:pt x="1820648" y="1615624"/>
                </a:lnTo>
                <a:lnTo>
                  <a:pt x="1823917" y="1615624"/>
                </a:lnTo>
                <a:lnTo>
                  <a:pt x="1827133" y="1615624"/>
                </a:lnTo>
                <a:lnTo>
                  <a:pt x="1827133" y="1612240"/>
                </a:lnTo>
                <a:lnTo>
                  <a:pt x="1830376" y="1612240"/>
                </a:lnTo>
                <a:lnTo>
                  <a:pt x="1833592" y="1612240"/>
                </a:lnTo>
                <a:lnTo>
                  <a:pt x="1836809" y="1612240"/>
                </a:lnTo>
                <a:lnTo>
                  <a:pt x="1840077" y="1612261"/>
                </a:lnTo>
                <a:lnTo>
                  <a:pt x="1843294" y="1612261"/>
                </a:lnTo>
                <a:lnTo>
                  <a:pt x="1843294" y="1608898"/>
                </a:lnTo>
                <a:lnTo>
                  <a:pt x="1846537" y="1608898"/>
                </a:lnTo>
                <a:lnTo>
                  <a:pt x="1846537" y="1605492"/>
                </a:lnTo>
                <a:lnTo>
                  <a:pt x="1849753" y="1605492"/>
                </a:lnTo>
                <a:lnTo>
                  <a:pt x="1852944" y="1605492"/>
                </a:lnTo>
                <a:lnTo>
                  <a:pt x="1852944" y="1602065"/>
                </a:lnTo>
                <a:lnTo>
                  <a:pt x="1856160" y="1602065"/>
                </a:lnTo>
                <a:lnTo>
                  <a:pt x="1859403" y="1602065"/>
                </a:lnTo>
                <a:lnTo>
                  <a:pt x="1859403" y="1595339"/>
                </a:lnTo>
                <a:lnTo>
                  <a:pt x="1862619" y="1595339"/>
                </a:lnTo>
                <a:lnTo>
                  <a:pt x="1862619" y="1591912"/>
                </a:lnTo>
                <a:lnTo>
                  <a:pt x="1865836" y="1591912"/>
                </a:lnTo>
                <a:lnTo>
                  <a:pt x="1869105" y="1591912"/>
                </a:lnTo>
                <a:lnTo>
                  <a:pt x="1869105" y="1588570"/>
                </a:lnTo>
                <a:lnTo>
                  <a:pt x="1872295" y="1588570"/>
                </a:lnTo>
                <a:lnTo>
                  <a:pt x="1875564" y="1588570"/>
                </a:lnTo>
                <a:lnTo>
                  <a:pt x="1878780" y="1588570"/>
                </a:lnTo>
                <a:lnTo>
                  <a:pt x="1878780" y="1585143"/>
                </a:lnTo>
                <a:lnTo>
                  <a:pt x="1882023" y="1585143"/>
                </a:lnTo>
                <a:lnTo>
                  <a:pt x="1885239" y="1585164"/>
                </a:lnTo>
                <a:lnTo>
                  <a:pt x="1885239" y="1581737"/>
                </a:lnTo>
                <a:lnTo>
                  <a:pt x="1888482" y="1581737"/>
                </a:lnTo>
                <a:lnTo>
                  <a:pt x="1888482" y="1578395"/>
                </a:lnTo>
                <a:lnTo>
                  <a:pt x="1891724" y="1578395"/>
                </a:lnTo>
                <a:lnTo>
                  <a:pt x="1894889" y="1578395"/>
                </a:lnTo>
                <a:lnTo>
                  <a:pt x="1894889" y="1574990"/>
                </a:lnTo>
                <a:lnTo>
                  <a:pt x="1898080" y="1574990"/>
                </a:lnTo>
                <a:lnTo>
                  <a:pt x="1901348" y="1574990"/>
                </a:lnTo>
                <a:lnTo>
                  <a:pt x="1904539" y="1574990"/>
                </a:lnTo>
                <a:lnTo>
                  <a:pt x="1907808" y="1574990"/>
                </a:lnTo>
                <a:lnTo>
                  <a:pt x="1911050" y="1575011"/>
                </a:lnTo>
                <a:lnTo>
                  <a:pt x="1914267" y="1575011"/>
                </a:lnTo>
                <a:lnTo>
                  <a:pt x="1917510" y="1575011"/>
                </a:lnTo>
                <a:lnTo>
                  <a:pt x="1920752" y="1575011"/>
                </a:lnTo>
                <a:lnTo>
                  <a:pt x="1923942" y="1575011"/>
                </a:lnTo>
                <a:lnTo>
                  <a:pt x="1923942" y="1571605"/>
                </a:lnTo>
                <a:lnTo>
                  <a:pt x="1927211" y="1571605"/>
                </a:lnTo>
                <a:lnTo>
                  <a:pt x="1930402" y="1571605"/>
                </a:lnTo>
                <a:lnTo>
                  <a:pt x="1930402" y="1568199"/>
                </a:lnTo>
                <a:lnTo>
                  <a:pt x="1933566" y="1568199"/>
                </a:lnTo>
                <a:lnTo>
                  <a:pt x="1936835" y="1568199"/>
                </a:lnTo>
                <a:lnTo>
                  <a:pt x="1940025" y="1568199"/>
                </a:lnTo>
                <a:lnTo>
                  <a:pt x="1943294" y="1568199"/>
                </a:lnTo>
                <a:lnTo>
                  <a:pt x="1946537" y="1568199"/>
                </a:lnTo>
                <a:lnTo>
                  <a:pt x="1946537" y="1564836"/>
                </a:lnTo>
                <a:lnTo>
                  <a:pt x="1949753" y="1564836"/>
                </a:lnTo>
                <a:lnTo>
                  <a:pt x="1952970" y="1564836"/>
                </a:lnTo>
                <a:lnTo>
                  <a:pt x="1952970" y="1561452"/>
                </a:lnTo>
                <a:lnTo>
                  <a:pt x="1956187" y="1561452"/>
                </a:lnTo>
                <a:lnTo>
                  <a:pt x="1959429" y="1561452"/>
                </a:lnTo>
                <a:lnTo>
                  <a:pt x="1959429" y="1558025"/>
                </a:lnTo>
                <a:lnTo>
                  <a:pt x="1962672" y="1558046"/>
                </a:lnTo>
                <a:lnTo>
                  <a:pt x="1965888" y="1558046"/>
                </a:lnTo>
                <a:lnTo>
                  <a:pt x="1969157" y="1558046"/>
                </a:lnTo>
                <a:lnTo>
                  <a:pt x="1972347" y="1558046"/>
                </a:lnTo>
                <a:lnTo>
                  <a:pt x="1975512" y="1558046"/>
                </a:lnTo>
                <a:lnTo>
                  <a:pt x="1978781" y="1558046"/>
                </a:lnTo>
                <a:lnTo>
                  <a:pt x="1978781" y="1551235"/>
                </a:lnTo>
                <a:lnTo>
                  <a:pt x="1981971" y="1551235"/>
                </a:lnTo>
                <a:lnTo>
                  <a:pt x="1981971" y="1547829"/>
                </a:lnTo>
                <a:lnTo>
                  <a:pt x="1985214" y="1547829"/>
                </a:lnTo>
                <a:lnTo>
                  <a:pt x="1988456" y="1547829"/>
                </a:lnTo>
                <a:lnTo>
                  <a:pt x="1991673" y="1547829"/>
                </a:lnTo>
                <a:lnTo>
                  <a:pt x="1994916" y="1547829"/>
                </a:lnTo>
                <a:lnTo>
                  <a:pt x="1998132" y="1547829"/>
                </a:lnTo>
                <a:lnTo>
                  <a:pt x="2001401" y="1547829"/>
                </a:lnTo>
                <a:lnTo>
                  <a:pt x="2004617" y="1547850"/>
                </a:lnTo>
                <a:lnTo>
                  <a:pt x="2007860" y="1547850"/>
                </a:lnTo>
                <a:lnTo>
                  <a:pt x="2011076" y="1547850"/>
                </a:lnTo>
                <a:lnTo>
                  <a:pt x="2011076" y="1544466"/>
                </a:lnTo>
                <a:lnTo>
                  <a:pt x="2014319" y="1544466"/>
                </a:lnTo>
                <a:lnTo>
                  <a:pt x="2014319" y="1541039"/>
                </a:lnTo>
                <a:lnTo>
                  <a:pt x="2017484" y="1541039"/>
                </a:lnTo>
                <a:lnTo>
                  <a:pt x="2020700" y="1541039"/>
                </a:lnTo>
                <a:lnTo>
                  <a:pt x="2023943" y="1541039"/>
                </a:lnTo>
                <a:lnTo>
                  <a:pt x="2027159" y="1541039"/>
                </a:lnTo>
                <a:lnTo>
                  <a:pt x="2030428" y="1541039"/>
                </a:lnTo>
                <a:lnTo>
                  <a:pt x="2030428" y="1537697"/>
                </a:lnTo>
                <a:lnTo>
                  <a:pt x="2033618" y="1537697"/>
                </a:lnTo>
                <a:lnTo>
                  <a:pt x="2033618" y="1534270"/>
                </a:lnTo>
                <a:lnTo>
                  <a:pt x="2036887" y="1534291"/>
                </a:lnTo>
                <a:lnTo>
                  <a:pt x="2036887" y="1527480"/>
                </a:lnTo>
                <a:lnTo>
                  <a:pt x="2040078" y="1527480"/>
                </a:lnTo>
                <a:lnTo>
                  <a:pt x="2043346" y="1527480"/>
                </a:lnTo>
                <a:lnTo>
                  <a:pt x="2046563" y="1527480"/>
                </a:lnTo>
                <a:lnTo>
                  <a:pt x="2049780" y="1527480"/>
                </a:lnTo>
                <a:lnTo>
                  <a:pt x="2053048" y="1527480"/>
                </a:lnTo>
                <a:lnTo>
                  <a:pt x="2053048" y="1520668"/>
                </a:lnTo>
                <a:lnTo>
                  <a:pt x="2056265" y="1520668"/>
                </a:lnTo>
                <a:lnTo>
                  <a:pt x="2056265" y="1517263"/>
                </a:lnTo>
                <a:lnTo>
                  <a:pt x="2059403" y="1517263"/>
                </a:lnTo>
                <a:lnTo>
                  <a:pt x="2062672" y="1517263"/>
                </a:lnTo>
                <a:lnTo>
                  <a:pt x="2062672" y="1513836"/>
                </a:lnTo>
                <a:lnTo>
                  <a:pt x="2065862" y="1513836"/>
                </a:lnTo>
                <a:lnTo>
                  <a:pt x="2065862" y="1510452"/>
                </a:lnTo>
                <a:lnTo>
                  <a:pt x="2069131" y="1510452"/>
                </a:lnTo>
                <a:lnTo>
                  <a:pt x="2072374" y="1510452"/>
                </a:lnTo>
                <a:lnTo>
                  <a:pt x="2075590" y="1510452"/>
                </a:lnTo>
                <a:lnTo>
                  <a:pt x="2078806" y="1510452"/>
                </a:lnTo>
                <a:lnTo>
                  <a:pt x="2082075" y="1510473"/>
                </a:lnTo>
                <a:lnTo>
                  <a:pt x="2082075" y="1503640"/>
                </a:lnTo>
                <a:lnTo>
                  <a:pt x="2085265" y="1503640"/>
                </a:lnTo>
                <a:lnTo>
                  <a:pt x="2088534" y="1503640"/>
                </a:lnTo>
                <a:lnTo>
                  <a:pt x="2091725" y="1503640"/>
                </a:lnTo>
                <a:lnTo>
                  <a:pt x="2091725" y="1500235"/>
                </a:lnTo>
                <a:lnTo>
                  <a:pt x="2094993" y="1500235"/>
                </a:lnTo>
                <a:lnTo>
                  <a:pt x="2098210" y="1500235"/>
                </a:lnTo>
                <a:lnTo>
                  <a:pt x="2098210" y="1493424"/>
                </a:lnTo>
                <a:lnTo>
                  <a:pt x="2101349" y="1493424"/>
                </a:lnTo>
                <a:lnTo>
                  <a:pt x="2104617" y="1493424"/>
                </a:lnTo>
                <a:lnTo>
                  <a:pt x="2107834" y="1493424"/>
                </a:lnTo>
                <a:lnTo>
                  <a:pt x="2107834" y="1490018"/>
                </a:lnTo>
                <a:lnTo>
                  <a:pt x="2111051" y="1490018"/>
                </a:lnTo>
                <a:lnTo>
                  <a:pt x="2114319" y="1490018"/>
                </a:lnTo>
                <a:lnTo>
                  <a:pt x="2117510" y="1490018"/>
                </a:lnTo>
                <a:lnTo>
                  <a:pt x="2117510" y="1486633"/>
                </a:lnTo>
                <a:lnTo>
                  <a:pt x="2120752" y="1486633"/>
                </a:lnTo>
                <a:lnTo>
                  <a:pt x="2123995" y="1486633"/>
                </a:lnTo>
                <a:lnTo>
                  <a:pt x="2127211" y="1486633"/>
                </a:lnTo>
                <a:lnTo>
                  <a:pt x="2127211" y="1483228"/>
                </a:lnTo>
                <a:lnTo>
                  <a:pt x="2130480" y="1483228"/>
                </a:lnTo>
                <a:lnTo>
                  <a:pt x="2133671" y="1483228"/>
                </a:lnTo>
                <a:lnTo>
                  <a:pt x="2136939" y="1483228"/>
                </a:lnTo>
                <a:lnTo>
                  <a:pt x="2140078" y="1483228"/>
                </a:lnTo>
                <a:lnTo>
                  <a:pt x="2140078" y="1479801"/>
                </a:lnTo>
                <a:lnTo>
                  <a:pt x="2143294" y="1479801"/>
                </a:lnTo>
                <a:lnTo>
                  <a:pt x="2146537" y="1479801"/>
                </a:lnTo>
                <a:lnTo>
                  <a:pt x="2146537" y="1476417"/>
                </a:lnTo>
                <a:lnTo>
                  <a:pt x="2149779" y="1476417"/>
                </a:lnTo>
                <a:lnTo>
                  <a:pt x="2149779" y="1469647"/>
                </a:lnTo>
                <a:lnTo>
                  <a:pt x="2152996" y="1469647"/>
                </a:lnTo>
                <a:lnTo>
                  <a:pt x="2156239" y="1469669"/>
                </a:lnTo>
                <a:lnTo>
                  <a:pt x="2159455" y="1469669"/>
                </a:lnTo>
                <a:lnTo>
                  <a:pt x="2162724" y="1469669"/>
                </a:lnTo>
                <a:lnTo>
                  <a:pt x="2162724" y="1462836"/>
                </a:lnTo>
                <a:lnTo>
                  <a:pt x="2165940" y="1462836"/>
                </a:lnTo>
                <a:lnTo>
                  <a:pt x="2165940" y="1459452"/>
                </a:lnTo>
                <a:lnTo>
                  <a:pt x="2169157" y="1459452"/>
                </a:lnTo>
                <a:lnTo>
                  <a:pt x="2172399" y="1459452"/>
                </a:lnTo>
                <a:lnTo>
                  <a:pt x="2172399" y="1452619"/>
                </a:lnTo>
                <a:lnTo>
                  <a:pt x="2175616" y="1452619"/>
                </a:lnTo>
                <a:lnTo>
                  <a:pt x="2178858" y="1452619"/>
                </a:lnTo>
                <a:lnTo>
                  <a:pt x="2182023" y="1452619"/>
                </a:lnTo>
                <a:lnTo>
                  <a:pt x="2185266" y="1452619"/>
                </a:lnTo>
                <a:lnTo>
                  <a:pt x="2185266" y="1445766"/>
                </a:lnTo>
                <a:lnTo>
                  <a:pt x="2188482" y="1445766"/>
                </a:lnTo>
                <a:lnTo>
                  <a:pt x="2188482" y="1442381"/>
                </a:lnTo>
                <a:lnTo>
                  <a:pt x="2191751" y="1442381"/>
                </a:lnTo>
                <a:lnTo>
                  <a:pt x="2194942" y="1442381"/>
                </a:lnTo>
                <a:lnTo>
                  <a:pt x="2198210" y="1442381"/>
                </a:lnTo>
                <a:lnTo>
                  <a:pt x="2201401" y="1442381"/>
                </a:lnTo>
                <a:lnTo>
                  <a:pt x="2204644" y="1442381"/>
                </a:lnTo>
                <a:lnTo>
                  <a:pt x="2207886" y="1442381"/>
                </a:lnTo>
                <a:lnTo>
                  <a:pt x="2207886" y="1435549"/>
                </a:lnTo>
                <a:lnTo>
                  <a:pt x="2211103" y="1435549"/>
                </a:lnTo>
                <a:lnTo>
                  <a:pt x="2214371" y="1435549"/>
                </a:lnTo>
                <a:lnTo>
                  <a:pt x="2217588" y="1435570"/>
                </a:lnTo>
                <a:lnTo>
                  <a:pt x="2220830" y="1435570"/>
                </a:lnTo>
                <a:lnTo>
                  <a:pt x="2223995" y="1435570"/>
                </a:lnTo>
                <a:lnTo>
                  <a:pt x="2227185" y="1435570"/>
                </a:lnTo>
                <a:lnTo>
                  <a:pt x="2227185" y="1428738"/>
                </a:lnTo>
                <a:lnTo>
                  <a:pt x="2230428" y="1428738"/>
                </a:lnTo>
                <a:lnTo>
                  <a:pt x="2233671" y="1428738"/>
                </a:lnTo>
                <a:lnTo>
                  <a:pt x="2233671" y="1425353"/>
                </a:lnTo>
                <a:lnTo>
                  <a:pt x="2236913" y="1425353"/>
                </a:lnTo>
                <a:lnTo>
                  <a:pt x="2240130" y="1425353"/>
                </a:lnTo>
                <a:lnTo>
                  <a:pt x="2243372" y="1425353"/>
                </a:lnTo>
                <a:lnTo>
                  <a:pt x="2246589" y="1425353"/>
                </a:lnTo>
                <a:lnTo>
                  <a:pt x="2249857" y="1425375"/>
                </a:lnTo>
                <a:lnTo>
                  <a:pt x="2249857" y="1421948"/>
                </a:lnTo>
                <a:lnTo>
                  <a:pt x="2253048" y="1421948"/>
                </a:lnTo>
                <a:lnTo>
                  <a:pt x="2253048" y="1418542"/>
                </a:lnTo>
                <a:lnTo>
                  <a:pt x="2256317" y="1418542"/>
                </a:lnTo>
                <a:lnTo>
                  <a:pt x="2259533" y="1418542"/>
                </a:lnTo>
                <a:lnTo>
                  <a:pt x="2259533" y="1415136"/>
                </a:lnTo>
                <a:lnTo>
                  <a:pt x="2262750" y="1415136"/>
                </a:lnTo>
                <a:lnTo>
                  <a:pt x="2265915" y="1415136"/>
                </a:lnTo>
                <a:lnTo>
                  <a:pt x="2269157" y="1415136"/>
                </a:lnTo>
                <a:lnTo>
                  <a:pt x="2272374" y="1415136"/>
                </a:lnTo>
                <a:lnTo>
                  <a:pt x="2275642" y="1415136"/>
                </a:lnTo>
                <a:lnTo>
                  <a:pt x="2278833" y="1415136"/>
                </a:lnTo>
                <a:lnTo>
                  <a:pt x="2282075" y="1415136"/>
                </a:lnTo>
                <a:lnTo>
                  <a:pt x="2285318" y="1415158"/>
                </a:lnTo>
                <a:lnTo>
                  <a:pt x="2288535" y="1415158"/>
                </a:lnTo>
                <a:lnTo>
                  <a:pt x="2291803" y="1415158"/>
                </a:lnTo>
                <a:lnTo>
                  <a:pt x="2294994" y="1415158"/>
                </a:lnTo>
                <a:lnTo>
                  <a:pt x="2294994" y="1411688"/>
                </a:lnTo>
                <a:lnTo>
                  <a:pt x="2298236" y="1411688"/>
                </a:lnTo>
                <a:lnTo>
                  <a:pt x="2301479" y="1411710"/>
                </a:lnTo>
                <a:lnTo>
                  <a:pt x="2304695" y="1411710"/>
                </a:lnTo>
                <a:lnTo>
                  <a:pt x="2307860" y="1411710"/>
                </a:lnTo>
                <a:lnTo>
                  <a:pt x="2307860" y="1408325"/>
                </a:lnTo>
                <a:lnTo>
                  <a:pt x="2311077" y="1408325"/>
                </a:lnTo>
                <a:lnTo>
                  <a:pt x="2314319" y="1408325"/>
                </a:lnTo>
                <a:lnTo>
                  <a:pt x="2314319" y="1404856"/>
                </a:lnTo>
                <a:lnTo>
                  <a:pt x="2317562" y="1404856"/>
                </a:lnTo>
                <a:lnTo>
                  <a:pt x="2317562" y="1401450"/>
                </a:lnTo>
                <a:lnTo>
                  <a:pt x="2320778" y="1401450"/>
                </a:lnTo>
                <a:lnTo>
                  <a:pt x="2324021" y="1401450"/>
                </a:lnTo>
                <a:lnTo>
                  <a:pt x="2327263" y="1401450"/>
                </a:lnTo>
                <a:lnTo>
                  <a:pt x="2330480" y="1401450"/>
                </a:lnTo>
                <a:lnTo>
                  <a:pt x="2333722" y="1401450"/>
                </a:lnTo>
                <a:lnTo>
                  <a:pt x="2333722" y="1398002"/>
                </a:lnTo>
                <a:lnTo>
                  <a:pt x="2336939" y="1398002"/>
                </a:lnTo>
                <a:lnTo>
                  <a:pt x="2336939" y="1394576"/>
                </a:lnTo>
                <a:lnTo>
                  <a:pt x="2340182" y="1394576"/>
                </a:lnTo>
                <a:lnTo>
                  <a:pt x="2340182" y="1391149"/>
                </a:lnTo>
                <a:lnTo>
                  <a:pt x="2343424" y="1391149"/>
                </a:lnTo>
                <a:lnTo>
                  <a:pt x="2346589" y="1391149"/>
                </a:lnTo>
                <a:lnTo>
                  <a:pt x="2349806" y="1391149"/>
                </a:lnTo>
                <a:lnTo>
                  <a:pt x="2353023" y="1391149"/>
                </a:lnTo>
                <a:lnTo>
                  <a:pt x="2356265" y="1391149"/>
                </a:lnTo>
                <a:lnTo>
                  <a:pt x="2356265" y="1387701"/>
                </a:lnTo>
                <a:lnTo>
                  <a:pt x="2359508" y="1387701"/>
                </a:lnTo>
                <a:lnTo>
                  <a:pt x="2359508" y="1380784"/>
                </a:lnTo>
                <a:lnTo>
                  <a:pt x="2362724" y="1380784"/>
                </a:lnTo>
                <a:lnTo>
                  <a:pt x="2362724" y="1373930"/>
                </a:lnTo>
                <a:lnTo>
                  <a:pt x="2365967" y="1373930"/>
                </a:lnTo>
                <a:lnTo>
                  <a:pt x="2369209" y="1373930"/>
                </a:lnTo>
                <a:lnTo>
                  <a:pt x="2372426" y="1373930"/>
                </a:lnTo>
                <a:lnTo>
                  <a:pt x="2375694" y="1373930"/>
                </a:lnTo>
                <a:lnTo>
                  <a:pt x="2378885" y="1373930"/>
                </a:lnTo>
                <a:lnTo>
                  <a:pt x="2378885" y="1370461"/>
                </a:lnTo>
                <a:lnTo>
                  <a:pt x="2382127" y="1370461"/>
                </a:lnTo>
                <a:lnTo>
                  <a:pt x="2385370" y="1370461"/>
                </a:lnTo>
                <a:lnTo>
                  <a:pt x="2385370" y="1367013"/>
                </a:lnTo>
                <a:lnTo>
                  <a:pt x="2388508" y="1367013"/>
                </a:lnTo>
                <a:lnTo>
                  <a:pt x="2391751" y="1367013"/>
                </a:lnTo>
                <a:lnTo>
                  <a:pt x="2394994" y="1367034"/>
                </a:lnTo>
                <a:lnTo>
                  <a:pt x="2398236" y="1367034"/>
                </a:lnTo>
                <a:lnTo>
                  <a:pt x="2401453" y="1367034"/>
                </a:lnTo>
                <a:lnTo>
                  <a:pt x="2404695" y="1367034"/>
                </a:lnTo>
                <a:lnTo>
                  <a:pt x="2404695" y="1363502"/>
                </a:lnTo>
                <a:lnTo>
                  <a:pt x="2407912" y="1363502"/>
                </a:lnTo>
                <a:lnTo>
                  <a:pt x="2411180" y="1363502"/>
                </a:lnTo>
                <a:lnTo>
                  <a:pt x="2414371" y="1363523"/>
                </a:lnTo>
                <a:lnTo>
                  <a:pt x="2417614" y="1363523"/>
                </a:lnTo>
                <a:lnTo>
                  <a:pt x="2417614" y="1360054"/>
                </a:lnTo>
                <a:lnTo>
                  <a:pt x="2420856" y="1360054"/>
                </a:lnTo>
                <a:lnTo>
                  <a:pt x="2420856" y="1356585"/>
                </a:lnTo>
                <a:lnTo>
                  <a:pt x="2424073" y="1356585"/>
                </a:lnTo>
                <a:lnTo>
                  <a:pt x="2427315" y="1356585"/>
                </a:lnTo>
                <a:lnTo>
                  <a:pt x="2430480" y="1356606"/>
                </a:lnTo>
                <a:lnTo>
                  <a:pt x="2430480" y="1353116"/>
                </a:lnTo>
                <a:lnTo>
                  <a:pt x="2433697" y="1353116"/>
                </a:lnTo>
                <a:lnTo>
                  <a:pt x="2433697" y="1349647"/>
                </a:lnTo>
                <a:lnTo>
                  <a:pt x="2436965" y="1349647"/>
                </a:lnTo>
                <a:lnTo>
                  <a:pt x="2440156" y="1349647"/>
                </a:lnTo>
                <a:lnTo>
                  <a:pt x="2443424" y="1349668"/>
                </a:lnTo>
                <a:lnTo>
                  <a:pt x="2446615" y="1349668"/>
                </a:lnTo>
                <a:lnTo>
                  <a:pt x="2449858" y="1349668"/>
                </a:lnTo>
                <a:lnTo>
                  <a:pt x="2453100" y="1349668"/>
                </a:lnTo>
                <a:lnTo>
                  <a:pt x="2453100" y="1346156"/>
                </a:lnTo>
                <a:lnTo>
                  <a:pt x="2456317" y="1346156"/>
                </a:lnTo>
                <a:lnTo>
                  <a:pt x="2456317" y="1342582"/>
                </a:lnTo>
                <a:lnTo>
                  <a:pt x="2459559" y="1342582"/>
                </a:lnTo>
                <a:lnTo>
                  <a:pt x="2462802" y="1342603"/>
                </a:lnTo>
                <a:lnTo>
                  <a:pt x="2462802" y="1339091"/>
                </a:lnTo>
                <a:lnTo>
                  <a:pt x="2466018" y="1339091"/>
                </a:lnTo>
                <a:lnTo>
                  <a:pt x="2466018" y="1335580"/>
                </a:lnTo>
                <a:lnTo>
                  <a:pt x="2469235" y="1335580"/>
                </a:lnTo>
                <a:lnTo>
                  <a:pt x="2472374" y="1335580"/>
                </a:lnTo>
                <a:lnTo>
                  <a:pt x="2472374" y="1332090"/>
                </a:lnTo>
                <a:lnTo>
                  <a:pt x="2475642" y="1332090"/>
                </a:lnTo>
                <a:lnTo>
                  <a:pt x="2478859" y="1332090"/>
                </a:lnTo>
                <a:lnTo>
                  <a:pt x="2482101" y="1332111"/>
                </a:lnTo>
                <a:lnTo>
                  <a:pt x="2485344" y="1332111"/>
                </a:lnTo>
                <a:lnTo>
                  <a:pt x="2488561" y="1332111"/>
                </a:lnTo>
                <a:lnTo>
                  <a:pt x="2491804" y="1332111"/>
                </a:lnTo>
                <a:lnTo>
                  <a:pt x="2495046" y="1332111"/>
                </a:lnTo>
                <a:lnTo>
                  <a:pt x="2495046" y="1328536"/>
                </a:lnTo>
                <a:lnTo>
                  <a:pt x="2498263" y="1328536"/>
                </a:lnTo>
                <a:lnTo>
                  <a:pt x="2501479" y="1328536"/>
                </a:lnTo>
                <a:lnTo>
                  <a:pt x="2504748" y="1328536"/>
                </a:lnTo>
                <a:lnTo>
                  <a:pt x="2507964" y="1328557"/>
                </a:lnTo>
                <a:lnTo>
                  <a:pt x="2511233" y="1328557"/>
                </a:lnTo>
                <a:lnTo>
                  <a:pt x="2514372" y="1328557"/>
                </a:lnTo>
                <a:lnTo>
                  <a:pt x="2517588" y="1328557"/>
                </a:lnTo>
                <a:lnTo>
                  <a:pt x="2517588" y="1325003"/>
                </a:lnTo>
                <a:lnTo>
                  <a:pt x="2520857" y="1325003"/>
                </a:lnTo>
                <a:lnTo>
                  <a:pt x="2524047" y="1325003"/>
                </a:lnTo>
                <a:lnTo>
                  <a:pt x="2524047" y="1321386"/>
                </a:lnTo>
                <a:lnTo>
                  <a:pt x="2527290" y="1321386"/>
                </a:lnTo>
                <a:lnTo>
                  <a:pt x="2527290" y="1317832"/>
                </a:lnTo>
                <a:lnTo>
                  <a:pt x="2530532" y="1317832"/>
                </a:lnTo>
                <a:lnTo>
                  <a:pt x="2530532" y="1314279"/>
                </a:lnTo>
                <a:lnTo>
                  <a:pt x="2533749" y="1314279"/>
                </a:lnTo>
                <a:lnTo>
                  <a:pt x="2533749" y="1310662"/>
                </a:lnTo>
                <a:lnTo>
                  <a:pt x="2537017" y="1310683"/>
                </a:lnTo>
                <a:lnTo>
                  <a:pt x="2540208" y="1310683"/>
                </a:lnTo>
                <a:lnTo>
                  <a:pt x="2543476" y="1310683"/>
                </a:lnTo>
                <a:lnTo>
                  <a:pt x="2546693" y="1310683"/>
                </a:lnTo>
                <a:lnTo>
                  <a:pt x="2549935" y="1310683"/>
                </a:lnTo>
                <a:lnTo>
                  <a:pt x="2553075" y="1310683"/>
                </a:lnTo>
                <a:lnTo>
                  <a:pt x="2556291" y="1310683"/>
                </a:lnTo>
                <a:lnTo>
                  <a:pt x="2556291" y="1307087"/>
                </a:lnTo>
                <a:lnTo>
                  <a:pt x="2559534" y="1307087"/>
                </a:lnTo>
                <a:lnTo>
                  <a:pt x="2562776" y="1307087"/>
                </a:lnTo>
                <a:lnTo>
                  <a:pt x="2562776" y="1303470"/>
                </a:lnTo>
                <a:lnTo>
                  <a:pt x="2565993" y="1303470"/>
                </a:lnTo>
                <a:lnTo>
                  <a:pt x="2569235" y="1303470"/>
                </a:lnTo>
                <a:lnTo>
                  <a:pt x="2572478" y="1303470"/>
                </a:lnTo>
                <a:lnTo>
                  <a:pt x="2575694" y="1303470"/>
                </a:lnTo>
                <a:lnTo>
                  <a:pt x="2578937" y="1303470"/>
                </a:lnTo>
                <a:lnTo>
                  <a:pt x="2582153" y="1303470"/>
                </a:lnTo>
                <a:lnTo>
                  <a:pt x="2585396" y="1303470"/>
                </a:lnTo>
                <a:lnTo>
                  <a:pt x="2588638" y="1303491"/>
                </a:lnTo>
                <a:lnTo>
                  <a:pt x="2588638" y="1296214"/>
                </a:lnTo>
                <a:lnTo>
                  <a:pt x="2591856" y="1296214"/>
                </a:lnTo>
                <a:lnTo>
                  <a:pt x="2591856" y="1292597"/>
                </a:lnTo>
                <a:lnTo>
                  <a:pt x="2595020" y="1292597"/>
                </a:lnTo>
                <a:lnTo>
                  <a:pt x="2595020" y="1288959"/>
                </a:lnTo>
                <a:lnTo>
                  <a:pt x="2598262" y="1288959"/>
                </a:lnTo>
                <a:lnTo>
                  <a:pt x="2601479" y="1288959"/>
                </a:lnTo>
                <a:lnTo>
                  <a:pt x="2601479" y="1285299"/>
                </a:lnTo>
                <a:lnTo>
                  <a:pt x="2604721" y="1285299"/>
                </a:lnTo>
                <a:lnTo>
                  <a:pt x="2607938" y="1285299"/>
                </a:lnTo>
                <a:lnTo>
                  <a:pt x="2607938" y="1281703"/>
                </a:lnTo>
                <a:lnTo>
                  <a:pt x="2611155" y="1281703"/>
                </a:lnTo>
                <a:lnTo>
                  <a:pt x="2614423" y="1281703"/>
                </a:lnTo>
                <a:lnTo>
                  <a:pt x="2614423" y="1270725"/>
                </a:lnTo>
                <a:lnTo>
                  <a:pt x="2617640" y="1270725"/>
                </a:lnTo>
                <a:lnTo>
                  <a:pt x="2620882" y="1270725"/>
                </a:lnTo>
                <a:lnTo>
                  <a:pt x="2620882" y="1267065"/>
                </a:lnTo>
                <a:lnTo>
                  <a:pt x="2624099" y="1267065"/>
                </a:lnTo>
                <a:lnTo>
                  <a:pt x="2627341" y="1267065"/>
                </a:lnTo>
                <a:lnTo>
                  <a:pt x="2630584" y="1267065"/>
                </a:lnTo>
                <a:lnTo>
                  <a:pt x="2630584" y="1263364"/>
                </a:lnTo>
                <a:lnTo>
                  <a:pt x="2633801" y="1263364"/>
                </a:lnTo>
                <a:lnTo>
                  <a:pt x="2636965" y="1263364"/>
                </a:lnTo>
                <a:lnTo>
                  <a:pt x="2640208" y="1263364"/>
                </a:lnTo>
                <a:lnTo>
                  <a:pt x="2643424" y="1263364"/>
                </a:lnTo>
                <a:lnTo>
                  <a:pt x="2646667" y="1263364"/>
                </a:lnTo>
                <a:lnTo>
                  <a:pt x="2649884" y="1263406"/>
                </a:lnTo>
                <a:lnTo>
                  <a:pt x="2653127" y="1263406"/>
                </a:lnTo>
                <a:lnTo>
                  <a:pt x="2656369" y="1263406"/>
                </a:lnTo>
                <a:lnTo>
                  <a:pt x="2659586" y="1263406"/>
                </a:lnTo>
                <a:lnTo>
                  <a:pt x="2659586" y="1256003"/>
                </a:lnTo>
                <a:lnTo>
                  <a:pt x="2662828" y="1256024"/>
                </a:lnTo>
                <a:lnTo>
                  <a:pt x="2662828" y="1244940"/>
                </a:lnTo>
                <a:lnTo>
                  <a:pt x="2666071" y="1244940"/>
                </a:lnTo>
                <a:lnTo>
                  <a:pt x="2666071" y="1241238"/>
                </a:lnTo>
                <a:lnTo>
                  <a:pt x="2669287" y="1241238"/>
                </a:lnTo>
                <a:lnTo>
                  <a:pt x="2672530" y="1241238"/>
                </a:lnTo>
                <a:lnTo>
                  <a:pt x="2672530" y="1237515"/>
                </a:lnTo>
                <a:lnTo>
                  <a:pt x="2675746" y="1237536"/>
                </a:lnTo>
                <a:lnTo>
                  <a:pt x="2678911" y="1237536"/>
                </a:lnTo>
                <a:lnTo>
                  <a:pt x="2678911" y="1233834"/>
                </a:lnTo>
                <a:lnTo>
                  <a:pt x="2682154" y="1233834"/>
                </a:lnTo>
                <a:lnTo>
                  <a:pt x="2685345" y="1233834"/>
                </a:lnTo>
                <a:lnTo>
                  <a:pt x="2688613" y="1233855"/>
                </a:lnTo>
                <a:lnTo>
                  <a:pt x="2688613" y="1230069"/>
                </a:lnTo>
                <a:lnTo>
                  <a:pt x="2691804" y="1230090"/>
                </a:lnTo>
                <a:lnTo>
                  <a:pt x="2695072" y="1230090"/>
                </a:lnTo>
                <a:lnTo>
                  <a:pt x="2698315" y="1230090"/>
                </a:lnTo>
                <a:lnTo>
                  <a:pt x="2701531" y="1230090"/>
                </a:lnTo>
                <a:lnTo>
                  <a:pt x="2701531" y="1226367"/>
                </a:lnTo>
                <a:lnTo>
                  <a:pt x="2704774" y="1226367"/>
                </a:lnTo>
                <a:lnTo>
                  <a:pt x="2708016" y="1226367"/>
                </a:lnTo>
                <a:lnTo>
                  <a:pt x="2711233" y="1226367"/>
                </a:lnTo>
                <a:lnTo>
                  <a:pt x="2711233" y="1218858"/>
                </a:lnTo>
                <a:lnTo>
                  <a:pt x="2714449" y="1218858"/>
                </a:lnTo>
                <a:lnTo>
                  <a:pt x="2714449" y="1215114"/>
                </a:lnTo>
                <a:lnTo>
                  <a:pt x="2717588" y="1215114"/>
                </a:lnTo>
                <a:lnTo>
                  <a:pt x="2720857" y="1215114"/>
                </a:lnTo>
                <a:lnTo>
                  <a:pt x="2724099" y="1215114"/>
                </a:lnTo>
                <a:lnTo>
                  <a:pt x="2724099" y="1211348"/>
                </a:lnTo>
                <a:lnTo>
                  <a:pt x="2727342" y="1211348"/>
                </a:lnTo>
                <a:lnTo>
                  <a:pt x="2727342" y="1207583"/>
                </a:lnTo>
                <a:lnTo>
                  <a:pt x="2730558" y="1207583"/>
                </a:lnTo>
                <a:lnTo>
                  <a:pt x="2733827" y="1207583"/>
                </a:lnTo>
                <a:lnTo>
                  <a:pt x="2737017" y="1207604"/>
                </a:lnTo>
                <a:lnTo>
                  <a:pt x="2740260" y="1207604"/>
                </a:lnTo>
                <a:lnTo>
                  <a:pt x="2743476" y="1207604"/>
                </a:lnTo>
                <a:lnTo>
                  <a:pt x="2746719" y="1207604"/>
                </a:lnTo>
                <a:lnTo>
                  <a:pt x="2749961" y="1207604"/>
                </a:lnTo>
                <a:lnTo>
                  <a:pt x="2749961" y="1203776"/>
                </a:lnTo>
                <a:lnTo>
                  <a:pt x="2753179" y="1203818"/>
                </a:lnTo>
                <a:lnTo>
                  <a:pt x="2753179" y="1200011"/>
                </a:lnTo>
                <a:lnTo>
                  <a:pt x="2756421" y="1200011"/>
                </a:lnTo>
                <a:lnTo>
                  <a:pt x="2756421" y="1196203"/>
                </a:lnTo>
                <a:lnTo>
                  <a:pt x="2759586" y="1196203"/>
                </a:lnTo>
                <a:lnTo>
                  <a:pt x="2762802" y="1196203"/>
                </a:lnTo>
                <a:lnTo>
                  <a:pt x="2766045" y="1196203"/>
                </a:lnTo>
                <a:lnTo>
                  <a:pt x="2769261" y="1196203"/>
                </a:lnTo>
                <a:lnTo>
                  <a:pt x="2772504" y="1196203"/>
                </a:lnTo>
                <a:lnTo>
                  <a:pt x="2775746" y="1196203"/>
                </a:lnTo>
                <a:lnTo>
                  <a:pt x="2778937" y="1196203"/>
                </a:lnTo>
                <a:lnTo>
                  <a:pt x="2778937" y="1192395"/>
                </a:lnTo>
                <a:lnTo>
                  <a:pt x="2782205" y="1192395"/>
                </a:lnTo>
                <a:lnTo>
                  <a:pt x="2782205" y="1184717"/>
                </a:lnTo>
                <a:lnTo>
                  <a:pt x="2785397" y="1184717"/>
                </a:lnTo>
                <a:lnTo>
                  <a:pt x="2788664" y="1184717"/>
                </a:lnTo>
                <a:lnTo>
                  <a:pt x="2791882" y="1184717"/>
                </a:lnTo>
                <a:lnTo>
                  <a:pt x="2791882" y="1180867"/>
                </a:lnTo>
                <a:lnTo>
                  <a:pt x="2795124" y="1180867"/>
                </a:lnTo>
                <a:lnTo>
                  <a:pt x="2795124" y="1176996"/>
                </a:lnTo>
                <a:lnTo>
                  <a:pt x="2798341" y="1176996"/>
                </a:lnTo>
                <a:lnTo>
                  <a:pt x="2801505" y="1177017"/>
                </a:lnTo>
                <a:lnTo>
                  <a:pt x="2801505" y="1173189"/>
                </a:lnTo>
                <a:lnTo>
                  <a:pt x="2804722" y="1173189"/>
                </a:lnTo>
                <a:lnTo>
                  <a:pt x="2807990" y="1173189"/>
                </a:lnTo>
                <a:lnTo>
                  <a:pt x="2811181" y="1173189"/>
                </a:lnTo>
                <a:lnTo>
                  <a:pt x="2811181" y="1169296"/>
                </a:lnTo>
                <a:lnTo>
                  <a:pt x="2814450" y="1169296"/>
                </a:lnTo>
                <a:lnTo>
                  <a:pt x="2817666" y="1169296"/>
                </a:lnTo>
                <a:lnTo>
                  <a:pt x="2820909" y="1169296"/>
                </a:lnTo>
                <a:lnTo>
                  <a:pt x="2824125" y="1169296"/>
                </a:lnTo>
                <a:lnTo>
                  <a:pt x="2824125" y="1161555"/>
                </a:lnTo>
                <a:lnTo>
                  <a:pt x="2827368" y="1161555"/>
                </a:lnTo>
                <a:lnTo>
                  <a:pt x="2827368" y="1157705"/>
                </a:lnTo>
                <a:lnTo>
                  <a:pt x="2830585" y="1157705"/>
                </a:lnTo>
                <a:lnTo>
                  <a:pt x="2833853" y="1157705"/>
                </a:lnTo>
                <a:lnTo>
                  <a:pt x="2837070" y="1157705"/>
                </a:lnTo>
                <a:lnTo>
                  <a:pt x="2840312" y="1157705"/>
                </a:lnTo>
                <a:lnTo>
                  <a:pt x="2840312" y="1153791"/>
                </a:lnTo>
                <a:lnTo>
                  <a:pt x="2843477" y="1153791"/>
                </a:lnTo>
                <a:lnTo>
                  <a:pt x="2846693" y="1153791"/>
                </a:lnTo>
                <a:lnTo>
                  <a:pt x="2849936" y="1153791"/>
                </a:lnTo>
                <a:lnTo>
                  <a:pt x="2853153" y="1153791"/>
                </a:lnTo>
                <a:lnTo>
                  <a:pt x="2856395" y="1153791"/>
                </a:lnTo>
                <a:lnTo>
                  <a:pt x="2859663" y="1153791"/>
                </a:lnTo>
                <a:lnTo>
                  <a:pt x="2862854" y="1153791"/>
                </a:lnTo>
                <a:lnTo>
                  <a:pt x="2866097" y="1153791"/>
                </a:lnTo>
                <a:lnTo>
                  <a:pt x="2869339" y="1153812"/>
                </a:lnTo>
                <a:lnTo>
                  <a:pt x="2872556" y="1153812"/>
                </a:lnTo>
                <a:lnTo>
                  <a:pt x="2872556" y="1149857"/>
                </a:lnTo>
                <a:lnTo>
                  <a:pt x="2875798" y="1149857"/>
                </a:lnTo>
                <a:lnTo>
                  <a:pt x="2875798" y="1145880"/>
                </a:lnTo>
                <a:lnTo>
                  <a:pt x="2879015" y="1145880"/>
                </a:lnTo>
                <a:lnTo>
                  <a:pt x="2882257" y="1145880"/>
                </a:lnTo>
                <a:lnTo>
                  <a:pt x="2885422" y="1145880"/>
                </a:lnTo>
                <a:lnTo>
                  <a:pt x="2888639" y="1145901"/>
                </a:lnTo>
                <a:lnTo>
                  <a:pt x="2891881" y="1145901"/>
                </a:lnTo>
                <a:lnTo>
                  <a:pt x="2895098" y="1145901"/>
                </a:lnTo>
                <a:lnTo>
                  <a:pt x="2895098" y="1141903"/>
                </a:lnTo>
                <a:lnTo>
                  <a:pt x="2898315" y="1141903"/>
                </a:lnTo>
                <a:lnTo>
                  <a:pt x="2898315" y="1133929"/>
                </a:lnTo>
                <a:lnTo>
                  <a:pt x="2901584" y="1133929"/>
                </a:lnTo>
                <a:lnTo>
                  <a:pt x="2901584" y="1129910"/>
                </a:lnTo>
                <a:lnTo>
                  <a:pt x="2904774" y="1129910"/>
                </a:lnTo>
                <a:lnTo>
                  <a:pt x="2908043" y="1129910"/>
                </a:lnTo>
                <a:lnTo>
                  <a:pt x="2911259" y="1129910"/>
                </a:lnTo>
                <a:lnTo>
                  <a:pt x="2911259" y="1125911"/>
                </a:lnTo>
                <a:lnTo>
                  <a:pt x="2914502" y="1125911"/>
                </a:lnTo>
                <a:lnTo>
                  <a:pt x="2917718" y="1125911"/>
                </a:lnTo>
                <a:lnTo>
                  <a:pt x="2917718" y="1121893"/>
                </a:lnTo>
                <a:lnTo>
                  <a:pt x="2920960" y="1121893"/>
                </a:lnTo>
                <a:lnTo>
                  <a:pt x="2920960" y="1117831"/>
                </a:lnTo>
                <a:lnTo>
                  <a:pt x="2924125" y="1117831"/>
                </a:lnTo>
                <a:lnTo>
                  <a:pt x="2927368" y="1117831"/>
                </a:lnTo>
                <a:lnTo>
                  <a:pt x="2930559" y="1117831"/>
                </a:lnTo>
                <a:lnTo>
                  <a:pt x="2933827" y="1117831"/>
                </a:lnTo>
                <a:lnTo>
                  <a:pt x="2937044" y="1117831"/>
                </a:lnTo>
                <a:lnTo>
                  <a:pt x="2940287" y="1117852"/>
                </a:lnTo>
                <a:lnTo>
                  <a:pt x="2940287" y="1113812"/>
                </a:lnTo>
                <a:lnTo>
                  <a:pt x="2943529" y="1113812"/>
                </a:lnTo>
                <a:lnTo>
                  <a:pt x="2946745" y="1113812"/>
                </a:lnTo>
                <a:lnTo>
                  <a:pt x="2949987" y="1113812"/>
                </a:lnTo>
                <a:lnTo>
                  <a:pt x="2953230" y="1113812"/>
                </a:lnTo>
                <a:lnTo>
                  <a:pt x="2953230" y="1109687"/>
                </a:lnTo>
                <a:lnTo>
                  <a:pt x="2956447" y="1109687"/>
                </a:lnTo>
                <a:lnTo>
                  <a:pt x="2959690" y="1109708"/>
                </a:lnTo>
                <a:lnTo>
                  <a:pt x="2962906" y="1109708"/>
                </a:lnTo>
                <a:lnTo>
                  <a:pt x="2966071" y="1109708"/>
                </a:lnTo>
                <a:lnTo>
                  <a:pt x="2969314" y="1109708"/>
                </a:lnTo>
                <a:lnTo>
                  <a:pt x="2972530" y="1109708"/>
                </a:lnTo>
                <a:lnTo>
                  <a:pt x="2975773" y="1109708"/>
                </a:lnTo>
                <a:lnTo>
                  <a:pt x="2979015" y="1109708"/>
                </a:lnTo>
                <a:lnTo>
                  <a:pt x="2979015" y="1105541"/>
                </a:lnTo>
                <a:lnTo>
                  <a:pt x="2982232" y="1105541"/>
                </a:lnTo>
                <a:lnTo>
                  <a:pt x="2985474" y="1105541"/>
                </a:lnTo>
                <a:lnTo>
                  <a:pt x="2988691" y="1105563"/>
                </a:lnTo>
                <a:lnTo>
                  <a:pt x="2991908" y="1105563"/>
                </a:lnTo>
                <a:lnTo>
                  <a:pt x="2995176" y="1105563"/>
                </a:lnTo>
                <a:lnTo>
                  <a:pt x="2995176" y="1101353"/>
                </a:lnTo>
                <a:lnTo>
                  <a:pt x="2998367" y="1101353"/>
                </a:lnTo>
                <a:lnTo>
                  <a:pt x="3001635" y="1101353"/>
                </a:lnTo>
                <a:lnTo>
                  <a:pt x="3004852" y="1101353"/>
                </a:lnTo>
                <a:lnTo>
                  <a:pt x="3004852" y="1097144"/>
                </a:lnTo>
                <a:lnTo>
                  <a:pt x="3008017" y="1097144"/>
                </a:lnTo>
                <a:lnTo>
                  <a:pt x="3011259" y="1097144"/>
                </a:lnTo>
                <a:lnTo>
                  <a:pt x="3011259" y="1092934"/>
                </a:lnTo>
                <a:lnTo>
                  <a:pt x="3014476" y="1092955"/>
                </a:lnTo>
                <a:lnTo>
                  <a:pt x="3017718" y="1092955"/>
                </a:lnTo>
                <a:lnTo>
                  <a:pt x="3020961" y="1092955"/>
                </a:lnTo>
                <a:lnTo>
                  <a:pt x="3024151" y="1092955"/>
                </a:lnTo>
                <a:lnTo>
                  <a:pt x="3024151" y="1088682"/>
                </a:lnTo>
                <a:lnTo>
                  <a:pt x="3027420" y="1088682"/>
                </a:lnTo>
                <a:lnTo>
                  <a:pt x="3030611" y="1088703"/>
                </a:lnTo>
                <a:lnTo>
                  <a:pt x="3030611" y="1084473"/>
                </a:lnTo>
                <a:lnTo>
                  <a:pt x="3033879" y="1084473"/>
                </a:lnTo>
                <a:lnTo>
                  <a:pt x="3037096" y="1084473"/>
                </a:lnTo>
                <a:lnTo>
                  <a:pt x="3037096" y="1080221"/>
                </a:lnTo>
                <a:lnTo>
                  <a:pt x="3040339" y="1080221"/>
                </a:lnTo>
                <a:lnTo>
                  <a:pt x="3040339" y="1071654"/>
                </a:lnTo>
                <a:lnTo>
                  <a:pt x="3043555" y="1071654"/>
                </a:lnTo>
                <a:lnTo>
                  <a:pt x="3046824" y="1071675"/>
                </a:lnTo>
                <a:lnTo>
                  <a:pt x="3049962" y="1071675"/>
                </a:lnTo>
                <a:lnTo>
                  <a:pt x="3049962" y="1067403"/>
                </a:lnTo>
                <a:lnTo>
                  <a:pt x="3053230" y="1067403"/>
                </a:lnTo>
                <a:lnTo>
                  <a:pt x="3056421" y="1067403"/>
                </a:lnTo>
                <a:lnTo>
                  <a:pt x="3059689" y="1067403"/>
                </a:lnTo>
                <a:lnTo>
                  <a:pt x="3062907" y="1067403"/>
                </a:lnTo>
                <a:lnTo>
                  <a:pt x="3066149" y="1067424"/>
                </a:lnTo>
                <a:lnTo>
                  <a:pt x="3069366" y="1067424"/>
                </a:lnTo>
                <a:lnTo>
                  <a:pt x="3072608" y="1067424"/>
                </a:lnTo>
                <a:lnTo>
                  <a:pt x="3072608" y="1063045"/>
                </a:lnTo>
                <a:lnTo>
                  <a:pt x="3075825" y="1063045"/>
                </a:lnTo>
                <a:lnTo>
                  <a:pt x="3079067" y="1063066"/>
                </a:lnTo>
                <a:lnTo>
                  <a:pt x="3082284" y="1063066"/>
                </a:lnTo>
                <a:lnTo>
                  <a:pt x="3085501" y="1063066"/>
                </a:lnTo>
                <a:lnTo>
                  <a:pt x="3085501" y="1054351"/>
                </a:lnTo>
                <a:lnTo>
                  <a:pt x="3088769" y="1054351"/>
                </a:lnTo>
                <a:lnTo>
                  <a:pt x="3091907" y="1054351"/>
                </a:lnTo>
                <a:lnTo>
                  <a:pt x="3091907" y="1041257"/>
                </a:lnTo>
                <a:lnTo>
                  <a:pt x="3095125" y="1041279"/>
                </a:lnTo>
                <a:lnTo>
                  <a:pt x="3098367" y="1041279"/>
                </a:lnTo>
                <a:lnTo>
                  <a:pt x="3101610" y="1041279"/>
                </a:lnTo>
                <a:lnTo>
                  <a:pt x="3104852" y="1041279"/>
                </a:lnTo>
                <a:lnTo>
                  <a:pt x="3104852" y="1028100"/>
                </a:lnTo>
                <a:lnTo>
                  <a:pt x="3108069" y="1028100"/>
                </a:lnTo>
                <a:lnTo>
                  <a:pt x="3108069" y="1023700"/>
                </a:lnTo>
                <a:lnTo>
                  <a:pt x="3111311" y="1023700"/>
                </a:lnTo>
                <a:lnTo>
                  <a:pt x="3114554" y="1023700"/>
                </a:lnTo>
                <a:lnTo>
                  <a:pt x="3117744" y="1023700"/>
                </a:lnTo>
                <a:lnTo>
                  <a:pt x="3117744" y="1019237"/>
                </a:lnTo>
                <a:lnTo>
                  <a:pt x="3121013" y="1019237"/>
                </a:lnTo>
                <a:lnTo>
                  <a:pt x="3124203" y="1019237"/>
                </a:lnTo>
                <a:lnTo>
                  <a:pt x="3124203" y="1014837"/>
                </a:lnTo>
                <a:lnTo>
                  <a:pt x="3127472" y="1014837"/>
                </a:lnTo>
                <a:lnTo>
                  <a:pt x="3130611" y="1014837"/>
                </a:lnTo>
                <a:lnTo>
                  <a:pt x="3133828" y="1014837"/>
                </a:lnTo>
                <a:lnTo>
                  <a:pt x="3133828" y="1010374"/>
                </a:lnTo>
                <a:lnTo>
                  <a:pt x="3137070" y="1010374"/>
                </a:lnTo>
                <a:lnTo>
                  <a:pt x="3137070" y="1001511"/>
                </a:lnTo>
                <a:lnTo>
                  <a:pt x="3140287" y="1001511"/>
                </a:lnTo>
                <a:lnTo>
                  <a:pt x="3140287" y="997048"/>
                </a:lnTo>
                <a:lnTo>
                  <a:pt x="3143529" y="997048"/>
                </a:lnTo>
                <a:lnTo>
                  <a:pt x="3143529" y="992584"/>
                </a:lnTo>
                <a:lnTo>
                  <a:pt x="3146772" y="992584"/>
                </a:lnTo>
                <a:lnTo>
                  <a:pt x="3149962" y="992606"/>
                </a:lnTo>
                <a:lnTo>
                  <a:pt x="3153231" y="992606"/>
                </a:lnTo>
                <a:lnTo>
                  <a:pt x="3153231" y="988079"/>
                </a:lnTo>
                <a:lnTo>
                  <a:pt x="3156473" y="988079"/>
                </a:lnTo>
                <a:lnTo>
                  <a:pt x="3159716" y="988079"/>
                </a:lnTo>
                <a:lnTo>
                  <a:pt x="3159716" y="983616"/>
                </a:lnTo>
                <a:lnTo>
                  <a:pt x="3162958" y="983616"/>
                </a:lnTo>
                <a:lnTo>
                  <a:pt x="3166201" y="983637"/>
                </a:lnTo>
                <a:lnTo>
                  <a:pt x="3169417" y="983637"/>
                </a:lnTo>
                <a:lnTo>
                  <a:pt x="3172582" y="983637"/>
                </a:lnTo>
                <a:lnTo>
                  <a:pt x="3175799" y="983637"/>
                </a:lnTo>
                <a:lnTo>
                  <a:pt x="3179041" y="983637"/>
                </a:lnTo>
                <a:lnTo>
                  <a:pt x="3182258" y="983637"/>
                </a:lnTo>
                <a:lnTo>
                  <a:pt x="3185500" y="983637"/>
                </a:lnTo>
                <a:lnTo>
                  <a:pt x="3188717" y="983637"/>
                </a:lnTo>
                <a:lnTo>
                  <a:pt x="3191959" y="983637"/>
                </a:lnTo>
                <a:lnTo>
                  <a:pt x="3195176" y="983658"/>
                </a:lnTo>
                <a:lnTo>
                  <a:pt x="3198444" y="983658"/>
                </a:lnTo>
                <a:lnTo>
                  <a:pt x="3201635" y="983658"/>
                </a:lnTo>
                <a:lnTo>
                  <a:pt x="3201635" y="979110"/>
                </a:lnTo>
                <a:lnTo>
                  <a:pt x="3204904" y="979110"/>
                </a:lnTo>
                <a:lnTo>
                  <a:pt x="3208094" y="979110"/>
                </a:lnTo>
                <a:lnTo>
                  <a:pt x="3208094" y="974499"/>
                </a:lnTo>
                <a:lnTo>
                  <a:pt x="3211363" y="974499"/>
                </a:lnTo>
                <a:lnTo>
                  <a:pt x="3214502" y="974499"/>
                </a:lnTo>
                <a:lnTo>
                  <a:pt x="3217744" y="974499"/>
                </a:lnTo>
                <a:lnTo>
                  <a:pt x="3217744" y="969930"/>
                </a:lnTo>
                <a:lnTo>
                  <a:pt x="3220961" y="969930"/>
                </a:lnTo>
                <a:lnTo>
                  <a:pt x="3224230" y="969930"/>
                </a:lnTo>
                <a:lnTo>
                  <a:pt x="3227420" y="969930"/>
                </a:lnTo>
                <a:lnTo>
                  <a:pt x="3230689" y="969930"/>
                </a:lnTo>
                <a:lnTo>
                  <a:pt x="3233880" y="969930"/>
                </a:lnTo>
                <a:lnTo>
                  <a:pt x="3237122" y="969930"/>
                </a:lnTo>
                <a:lnTo>
                  <a:pt x="3240365" y="969930"/>
                </a:lnTo>
                <a:lnTo>
                  <a:pt x="3240365" y="965276"/>
                </a:lnTo>
                <a:lnTo>
                  <a:pt x="3243581" y="965276"/>
                </a:lnTo>
                <a:lnTo>
                  <a:pt x="3246824" y="965276"/>
                </a:lnTo>
                <a:lnTo>
                  <a:pt x="3246824" y="960665"/>
                </a:lnTo>
                <a:lnTo>
                  <a:pt x="3250040" y="960665"/>
                </a:lnTo>
                <a:lnTo>
                  <a:pt x="3253283" y="960686"/>
                </a:lnTo>
                <a:lnTo>
                  <a:pt x="3253283" y="956011"/>
                </a:lnTo>
                <a:lnTo>
                  <a:pt x="3256473" y="956011"/>
                </a:lnTo>
                <a:lnTo>
                  <a:pt x="3259664" y="956011"/>
                </a:lnTo>
                <a:lnTo>
                  <a:pt x="3262907" y="956011"/>
                </a:lnTo>
                <a:lnTo>
                  <a:pt x="3266175" y="956011"/>
                </a:lnTo>
                <a:lnTo>
                  <a:pt x="3269392" y="956032"/>
                </a:lnTo>
                <a:lnTo>
                  <a:pt x="3272634" y="956032"/>
                </a:lnTo>
                <a:lnTo>
                  <a:pt x="3275825" y="956032"/>
                </a:lnTo>
                <a:lnTo>
                  <a:pt x="3275825" y="951357"/>
                </a:lnTo>
                <a:lnTo>
                  <a:pt x="3279093" y="951357"/>
                </a:lnTo>
                <a:lnTo>
                  <a:pt x="3282310" y="951378"/>
                </a:lnTo>
                <a:lnTo>
                  <a:pt x="3285553" y="951378"/>
                </a:lnTo>
                <a:lnTo>
                  <a:pt x="3288769" y="951378"/>
                </a:lnTo>
                <a:lnTo>
                  <a:pt x="3288769" y="946682"/>
                </a:lnTo>
                <a:lnTo>
                  <a:pt x="3292038" y="946682"/>
                </a:lnTo>
                <a:lnTo>
                  <a:pt x="3295228" y="946682"/>
                </a:lnTo>
                <a:lnTo>
                  <a:pt x="3298419" y="946682"/>
                </a:lnTo>
                <a:lnTo>
                  <a:pt x="3301610" y="946682"/>
                </a:lnTo>
                <a:lnTo>
                  <a:pt x="3304878" y="946682"/>
                </a:lnTo>
                <a:lnTo>
                  <a:pt x="3308095" y="946682"/>
                </a:lnTo>
                <a:lnTo>
                  <a:pt x="3311337" y="946682"/>
                </a:lnTo>
                <a:lnTo>
                  <a:pt x="3314554" y="946682"/>
                </a:lnTo>
                <a:lnTo>
                  <a:pt x="3317822" y="946704"/>
                </a:lnTo>
                <a:lnTo>
                  <a:pt x="3321013" y="946704"/>
                </a:lnTo>
                <a:lnTo>
                  <a:pt x="3324281" y="946704"/>
                </a:lnTo>
                <a:lnTo>
                  <a:pt x="3327472" y="946704"/>
                </a:lnTo>
                <a:lnTo>
                  <a:pt x="3330714" y="946704"/>
                </a:lnTo>
                <a:lnTo>
                  <a:pt x="3330714" y="941881"/>
                </a:lnTo>
                <a:lnTo>
                  <a:pt x="3333957" y="941902"/>
                </a:lnTo>
                <a:lnTo>
                  <a:pt x="3337122" y="941902"/>
                </a:lnTo>
                <a:lnTo>
                  <a:pt x="3340339" y="941902"/>
                </a:lnTo>
                <a:lnTo>
                  <a:pt x="3343582" y="941902"/>
                </a:lnTo>
                <a:lnTo>
                  <a:pt x="3346797" y="941902"/>
                </a:lnTo>
                <a:lnTo>
                  <a:pt x="3346797" y="932235"/>
                </a:lnTo>
                <a:lnTo>
                  <a:pt x="3350067" y="932235"/>
                </a:lnTo>
                <a:lnTo>
                  <a:pt x="3353257" y="932256"/>
                </a:lnTo>
                <a:lnTo>
                  <a:pt x="3356499" y="932256"/>
                </a:lnTo>
                <a:lnTo>
                  <a:pt x="3359742" y="932256"/>
                </a:lnTo>
                <a:lnTo>
                  <a:pt x="3362958" y="932256"/>
                </a:lnTo>
                <a:lnTo>
                  <a:pt x="3362958" y="922505"/>
                </a:lnTo>
                <a:lnTo>
                  <a:pt x="3366201" y="922505"/>
                </a:lnTo>
                <a:lnTo>
                  <a:pt x="3369417" y="922505"/>
                </a:lnTo>
                <a:lnTo>
                  <a:pt x="3372660" y="922505"/>
                </a:lnTo>
                <a:lnTo>
                  <a:pt x="3375903" y="922505"/>
                </a:lnTo>
                <a:lnTo>
                  <a:pt x="3379067" y="922505"/>
                </a:lnTo>
                <a:lnTo>
                  <a:pt x="3379067" y="917618"/>
                </a:lnTo>
                <a:lnTo>
                  <a:pt x="3382336" y="917618"/>
                </a:lnTo>
                <a:lnTo>
                  <a:pt x="3385553" y="917618"/>
                </a:lnTo>
                <a:lnTo>
                  <a:pt x="3388770" y="917618"/>
                </a:lnTo>
                <a:lnTo>
                  <a:pt x="3392012" y="917618"/>
                </a:lnTo>
                <a:lnTo>
                  <a:pt x="3395228" y="917618"/>
                </a:lnTo>
                <a:lnTo>
                  <a:pt x="3398471" y="917618"/>
                </a:lnTo>
                <a:lnTo>
                  <a:pt x="3401713" y="917639"/>
                </a:lnTo>
                <a:lnTo>
                  <a:pt x="3404930" y="917639"/>
                </a:lnTo>
                <a:lnTo>
                  <a:pt x="3404930" y="912711"/>
                </a:lnTo>
                <a:lnTo>
                  <a:pt x="3408173" y="912711"/>
                </a:lnTo>
                <a:lnTo>
                  <a:pt x="3411389" y="912711"/>
                </a:lnTo>
                <a:lnTo>
                  <a:pt x="3414606" y="912711"/>
                </a:lnTo>
                <a:lnTo>
                  <a:pt x="3414606" y="907824"/>
                </a:lnTo>
                <a:lnTo>
                  <a:pt x="3417874" y="907824"/>
                </a:lnTo>
                <a:lnTo>
                  <a:pt x="3420987" y="907824"/>
                </a:lnTo>
                <a:lnTo>
                  <a:pt x="3420987" y="902875"/>
                </a:lnTo>
                <a:lnTo>
                  <a:pt x="3424256" y="902875"/>
                </a:lnTo>
                <a:lnTo>
                  <a:pt x="3427472" y="902875"/>
                </a:lnTo>
                <a:lnTo>
                  <a:pt x="3430715" y="902875"/>
                </a:lnTo>
                <a:lnTo>
                  <a:pt x="3433931" y="902875"/>
                </a:lnTo>
                <a:lnTo>
                  <a:pt x="3437174" y="902875"/>
                </a:lnTo>
                <a:lnTo>
                  <a:pt x="3440391" y="902875"/>
                </a:lnTo>
                <a:lnTo>
                  <a:pt x="3443659" y="902896"/>
                </a:lnTo>
                <a:lnTo>
                  <a:pt x="3446850" y="902896"/>
                </a:lnTo>
                <a:lnTo>
                  <a:pt x="3450092" y="902896"/>
                </a:lnTo>
                <a:lnTo>
                  <a:pt x="3453335" y="902896"/>
                </a:lnTo>
                <a:lnTo>
                  <a:pt x="3456551" y="902896"/>
                </a:lnTo>
                <a:lnTo>
                  <a:pt x="3459794" y="902896"/>
                </a:lnTo>
                <a:lnTo>
                  <a:pt x="3462933" y="902896"/>
                </a:lnTo>
                <a:lnTo>
                  <a:pt x="3466149" y="902896"/>
                </a:lnTo>
                <a:lnTo>
                  <a:pt x="3466149" y="897946"/>
                </a:lnTo>
                <a:lnTo>
                  <a:pt x="3469418" y="897946"/>
                </a:lnTo>
                <a:lnTo>
                  <a:pt x="3472609" y="897946"/>
                </a:lnTo>
                <a:lnTo>
                  <a:pt x="3475877" y="897946"/>
                </a:lnTo>
                <a:lnTo>
                  <a:pt x="3475877" y="892890"/>
                </a:lnTo>
                <a:lnTo>
                  <a:pt x="3479094" y="892912"/>
                </a:lnTo>
                <a:lnTo>
                  <a:pt x="3482337" y="892912"/>
                </a:lnTo>
                <a:lnTo>
                  <a:pt x="3485604" y="892912"/>
                </a:lnTo>
                <a:lnTo>
                  <a:pt x="3485604" y="887856"/>
                </a:lnTo>
                <a:lnTo>
                  <a:pt x="3488822" y="887856"/>
                </a:lnTo>
                <a:lnTo>
                  <a:pt x="3492064" y="887856"/>
                </a:lnTo>
                <a:lnTo>
                  <a:pt x="3495307" y="887877"/>
                </a:lnTo>
                <a:lnTo>
                  <a:pt x="3498522" y="887877"/>
                </a:lnTo>
                <a:lnTo>
                  <a:pt x="3501687" y="887877"/>
                </a:lnTo>
                <a:lnTo>
                  <a:pt x="3504878" y="887877"/>
                </a:lnTo>
                <a:lnTo>
                  <a:pt x="3504878" y="882758"/>
                </a:lnTo>
                <a:lnTo>
                  <a:pt x="3508147" y="882758"/>
                </a:lnTo>
                <a:lnTo>
                  <a:pt x="3511364" y="882758"/>
                </a:lnTo>
                <a:lnTo>
                  <a:pt x="3514580" y="882758"/>
                </a:lnTo>
                <a:lnTo>
                  <a:pt x="3517822" y="882758"/>
                </a:lnTo>
                <a:lnTo>
                  <a:pt x="3521040" y="882758"/>
                </a:lnTo>
                <a:lnTo>
                  <a:pt x="3521040" y="877660"/>
                </a:lnTo>
                <a:lnTo>
                  <a:pt x="3524282" y="877660"/>
                </a:lnTo>
                <a:lnTo>
                  <a:pt x="3527525" y="877660"/>
                </a:lnTo>
                <a:lnTo>
                  <a:pt x="3530740" y="877681"/>
                </a:lnTo>
                <a:lnTo>
                  <a:pt x="3534010" y="877681"/>
                </a:lnTo>
                <a:lnTo>
                  <a:pt x="3537252" y="877681"/>
                </a:lnTo>
                <a:lnTo>
                  <a:pt x="3540468" y="877681"/>
                </a:lnTo>
                <a:lnTo>
                  <a:pt x="3543608" y="877681"/>
                </a:lnTo>
                <a:lnTo>
                  <a:pt x="3546824" y="877681"/>
                </a:lnTo>
                <a:lnTo>
                  <a:pt x="3550067" y="877681"/>
                </a:lnTo>
                <a:lnTo>
                  <a:pt x="3553309" y="877681"/>
                </a:lnTo>
                <a:lnTo>
                  <a:pt x="3553309" y="862092"/>
                </a:lnTo>
                <a:lnTo>
                  <a:pt x="3556526" y="862092"/>
                </a:lnTo>
                <a:lnTo>
                  <a:pt x="3556526" y="856952"/>
                </a:lnTo>
                <a:lnTo>
                  <a:pt x="3559768" y="856952"/>
                </a:lnTo>
                <a:lnTo>
                  <a:pt x="3563011" y="856952"/>
                </a:lnTo>
                <a:lnTo>
                  <a:pt x="3566227" y="856952"/>
                </a:lnTo>
                <a:lnTo>
                  <a:pt x="3569470" y="856952"/>
                </a:lnTo>
                <a:lnTo>
                  <a:pt x="3572686" y="856952"/>
                </a:lnTo>
                <a:lnTo>
                  <a:pt x="3575929" y="856952"/>
                </a:lnTo>
                <a:lnTo>
                  <a:pt x="3575929" y="851748"/>
                </a:lnTo>
                <a:lnTo>
                  <a:pt x="3579146" y="851748"/>
                </a:lnTo>
                <a:lnTo>
                  <a:pt x="3582362" y="851748"/>
                </a:lnTo>
                <a:lnTo>
                  <a:pt x="3582362" y="846460"/>
                </a:lnTo>
                <a:lnTo>
                  <a:pt x="3585553" y="846460"/>
                </a:lnTo>
                <a:lnTo>
                  <a:pt x="3585553" y="841256"/>
                </a:lnTo>
                <a:lnTo>
                  <a:pt x="3588769" y="841256"/>
                </a:lnTo>
                <a:lnTo>
                  <a:pt x="3592012" y="841256"/>
                </a:lnTo>
                <a:lnTo>
                  <a:pt x="3595281" y="841256"/>
                </a:lnTo>
                <a:lnTo>
                  <a:pt x="3598471" y="841256"/>
                </a:lnTo>
                <a:lnTo>
                  <a:pt x="3601739" y="841256"/>
                </a:lnTo>
                <a:lnTo>
                  <a:pt x="3604956" y="841277"/>
                </a:lnTo>
                <a:lnTo>
                  <a:pt x="3608173" y="841277"/>
                </a:lnTo>
                <a:lnTo>
                  <a:pt x="3611415" y="841277"/>
                </a:lnTo>
                <a:lnTo>
                  <a:pt x="3614632" y="841277"/>
                </a:lnTo>
                <a:lnTo>
                  <a:pt x="3617874" y="841277"/>
                </a:lnTo>
                <a:lnTo>
                  <a:pt x="3621117" y="841277"/>
                </a:lnTo>
                <a:lnTo>
                  <a:pt x="3624334" y="841277"/>
                </a:lnTo>
                <a:lnTo>
                  <a:pt x="3627524" y="841277"/>
                </a:lnTo>
                <a:lnTo>
                  <a:pt x="3630741" y="841277"/>
                </a:lnTo>
                <a:lnTo>
                  <a:pt x="3630741" y="835968"/>
                </a:lnTo>
                <a:lnTo>
                  <a:pt x="3633983" y="835989"/>
                </a:lnTo>
                <a:lnTo>
                  <a:pt x="3637200" y="835989"/>
                </a:lnTo>
                <a:lnTo>
                  <a:pt x="3637200" y="830679"/>
                </a:lnTo>
                <a:lnTo>
                  <a:pt x="3640417" y="830679"/>
                </a:lnTo>
                <a:lnTo>
                  <a:pt x="3643660" y="830679"/>
                </a:lnTo>
                <a:lnTo>
                  <a:pt x="3646902" y="830679"/>
                </a:lnTo>
                <a:lnTo>
                  <a:pt x="3650119" y="830679"/>
                </a:lnTo>
                <a:lnTo>
                  <a:pt x="3650119" y="819891"/>
                </a:lnTo>
                <a:lnTo>
                  <a:pt x="3653361" y="819891"/>
                </a:lnTo>
                <a:lnTo>
                  <a:pt x="3656577" y="819891"/>
                </a:lnTo>
                <a:lnTo>
                  <a:pt x="3659820" y="819913"/>
                </a:lnTo>
                <a:lnTo>
                  <a:pt x="3663063" y="819913"/>
                </a:lnTo>
                <a:lnTo>
                  <a:pt x="3666280" y="819913"/>
                </a:lnTo>
                <a:lnTo>
                  <a:pt x="3669444" y="819913"/>
                </a:lnTo>
                <a:lnTo>
                  <a:pt x="3669444" y="809146"/>
                </a:lnTo>
                <a:lnTo>
                  <a:pt x="3672687" y="809146"/>
                </a:lnTo>
                <a:lnTo>
                  <a:pt x="3675903" y="809146"/>
                </a:lnTo>
                <a:lnTo>
                  <a:pt x="3679145" y="809146"/>
                </a:lnTo>
                <a:lnTo>
                  <a:pt x="3682363" y="809146"/>
                </a:lnTo>
                <a:lnTo>
                  <a:pt x="3685605" y="809167"/>
                </a:lnTo>
                <a:lnTo>
                  <a:pt x="3688848" y="809167"/>
                </a:lnTo>
                <a:lnTo>
                  <a:pt x="3688848" y="803688"/>
                </a:lnTo>
                <a:lnTo>
                  <a:pt x="3692064" y="803688"/>
                </a:lnTo>
                <a:lnTo>
                  <a:pt x="3695307" y="803688"/>
                </a:lnTo>
                <a:lnTo>
                  <a:pt x="3698549" y="803688"/>
                </a:lnTo>
                <a:lnTo>
                  <a:pt x="3701766" y="803688"/>
                </a:lnTo>
                <a:lnTo>
                  <a:pt x="3701766" y="798188"/>
                </a:lnTo>
                <a:lnTo>
                  <a:pt x="3705008" y="798188"/>
                </a:lnTo>
                <a:lnTo>
                  <a:pt x="3708173" y="798188"/>
                </a:lnTo>
                <a:lnTo>
                  <a:pt x="3711416" y="798188"/>
                </a:lnTo>
                <a:lnTo>
                  <a:pt x="3714658" y="798188"/>
                </a:lnTo>
                <a:lnTo>
                  <a:pt x="3717875" y="798188"/>
                </a:lnTo>
                <a:lnTo>
                  <a:pt x="3721117" y="798188"/>
                </a:lnTo>
                <a:lnTo>
                  <a:pt x="3724334" y="798188"/>
                </a:lnTo>
                <a:lnTo>
                  <a:pt x="3727576" y="798210"/>
                </a:lnTo>
                <a:lnTo>
                  <a:pt x="3727576" y="792689"/>
                </a:lnTo>
                <a:lnTo>
                  <a:pt x="3730819" y="792689"/>
                </a:lnTo>
                <a:lnTo>
                  <a:pt x="3734009" y="792689"/>
                </a:lnTo>
                <a:lnTo>
                  <a:pt x="3737252" y="792689"/>
                </a:lnTo>
                <a:lnTo>
                  <a:pt x="3740494" y="792710"/>
                </a:lnTo>
                <a:lnTo>
                  <a:pt x="3743711" y="792710"/>
                </a:lnTo>
                <a:lnTo>
                  <a:pt x="3746954" y="792710"/>
                </a:lnTo>
                <a:lnTo>
                  <a:pt x="3750119" y="792710"/>
                </a:lnTo>
                <a:lnTo>
                  <a:pt x="3753361" y="792710"/>
                </a:lnTo>
                <a:lnTo>
                  <a:pt x="3756578" y="792710"/>
                </a:lnTo>
                <a:lnTo>
                  <a:pt x="3759794" y="792710"/>
                </a:lnTo>
                <a:lnTo>
                  <a:pt x="3763037" y="792710"/>
                </a:lnTo>
                <a:lnTo>
                  <a:pt x="3766279" y="792710"/>
                </a:lnTo>
                <a:lnTo>
                  <a:pt x="3769497" y="792710"/>
                </a:lnTo>
                <a:lnTo>
                  <a:pt x="3772739" y="792731"/>
                </a:lnTo>
                <a:lnTo>
                  <a:pt x="3775955" y="792731"/>
                </a:lnTo>
                <a:lnTo>
                  <a:pt x="3779197" y="792731"/>
                </a:lnTo>
                <a:lnTo>
                  <a:pt x="3782440" y="792731"/>
                </a:lnTo>
                <a:lnTo>
                  <a:pt x="3785657" y="792731"/>
                </a:lnTo>
                <a:lnTo>
                  <a:pt x="3788900" y="792731"/>
                </a:lnTo>
                <a:lnTo>
                  <a:pt x="3788900" y="786999"/>
                </a:lnTo>
                <a:lnTo>
                  <a:pt x="3792038" y="786999"/>
                </a:lnTo>
                <a:lnTo>
                  <a:pt x="3792038" y="781287"/>
                </a:lnTo>
                <a:lnTo>
                  <a:pt x="3795255" y="781287"/>
                </a:lnTo>
                <a:lnTo>
                  <a:pt x="3798497" y="781287"/>
                </a:lnTo>
                <a:lnTo>
                  <a:pt x="3801714" y="781308"/>
                </a:lnTo>
                <a:lnTo>
                  <a:pt x="3804983" y="781308"/>
                </a:lnTo>
                <a:lnTo>
                  <a:pt x="3808225" y="781308"/>
                </a:lnTo>
                <a:lnTo>
                  <a:pt x="3811468" y="781308"/>
                </a:lnTo>
                <a:lnTo>
                  <a:pt x="3811468" y="775597"/>
                </a:lnTo>
                <a:lnTo>
                  <a:pt x="3814710" y="775597"/>
                </a:lnTo>
                <a:lnTo>
                  <a:pt x="3817927" y="775597"/>
                </a:lnTo>
                <a:lnTo>
                  <a:pt x="3821169" y="775597"/>
                </a:lnTo>
                <a:lnTo>
                  <a:pt x="3821169" y="769822"/>
                </a:lnTo>
                <a:lnTo>
                  <a:pt x="3824412" y="769844"/>
                </a:lnTo>
                <a:lnTo>
                  <a:pt x="3827603" y="769844"/>
                </a:lnTo>
                <a:lnTo>
                  <a:pt x="3830871" y="769844"/>
                </a:lnTo>
                <a:lnTo>
                  <a:pt x="3834010" y="769844"/>
                </a:lnTo>
                <a:lnTo>
                  <a:pt x="3837226" y="769844"/>
                </a:lnTo>
                <a:lnTo>
                  <a:pt x="3840468" y="769844"/>
                </a:lnTo>
                <a:lnTo>
                  <a:pt x="3840468" y="764090"/>
                </a:lnTo>
                <a:lnTo>
                  <a:pt x="3843686" y="764090"/>
                </a:lnTo>
                <a:lnTo>
                  <a:pt x="3843686" y="758294"/>
                </a:lnTo>
                <a:lnTo>
                  <a:pt x="3846928" y="758294"/>
                </a:lnTo>
                <a:lnTo>
                  <a:pt x="3850171" y="758294"/>
                </a:lnTo>
                <a:lnTo>
                  <a:pt x="3853387" y="758294"/>
                </a:lnTo>
                <a:lnTo>
                  <a:pt x="3856656" y="758294"/>
                </a:lnTo>
                <a:lnTo>
                  <a:pt x="3859846" y="758294"/>
                </a:lnTo>
                <a:lnTo>
                  <a:pt x="3863115" y="758294"/>
                </a:lnTo>
                <a:lnTo>
                  <a:pt x="3863115" y="752477"/>
                </a:lnTo>
                <a:lnTo>
                  <a:pt x="3866331" y="752477"/>
                </a:lnTo>
                <a:lnTo>
                  <a:pt x="3866331" y="746618"/>
                </a:lnTo>
                <a:lnTo>
                  <a:pt x="3869574" y="746618"/>
                </a:lnTo>
                <a:lnTo>
                  <a:pt x="3872791" y="746618"/>
                </a:lnTo>
                <a:lnTo>
                  <a:pt x="3875955" y="746639"/>
                </a:lnTo>
                <a:lnTo>
                  <a:pt x="3879172" y="746639"/>
                </a:lnTo>
                <a:lnTo>
                  <a:pt x="3882414" y="746639"/>
                </a:lnTo>
                <a:lnTo>
                  <a:pt x="3885631" y="746639"/>
                </a:lnTo>
                <a:lnTo>
                  <a:pt x="3888874" y="746639"/>
                </a:lnTo>
                <a:lnTo>
                  <a:pt x="3888874" y="740779"/>
                </a:lnTo>
                <a:lnTo>
                  <a:pt x="3892090" y="740779"/>
                </a:lnTo>
                <a:lnTo>
                  <a:pt x="3895333" y="740800"/>
                </a:lnTo>
                <a:lnTo>
                  <a:pt x="3898549" y="740800"/>
                </a:lnTo>
                <a:lnTo>
                  <a:pt x="3901818" y="740800"/>
                </a:lnTo>
                <a:lnTo>
                  <a:pt x="3901818" y="734814"/>
                </a:lnTo>
                <a:lnTo>
                  <a:pt x="3905009" y="734814"/>
                </a:lnTo>
                <a:lnTo>
                  <a:pt x="3908252" y="734814"/>
                </a:lnTo>
                <a:lnTo>
                  <a:pt x="3911494" y="734814"/>
                </a:lnTo>
                <a:lnTo>
                  <a:pt x="3914658" y="734814"/>
                </a:lnTo>
                <a:lnTo>
                  <a:pt x="3917901" y="734814"/>
                </a:lnTo>
                <a:lnTo>
                  <a:pt x="3921117" y="734814"/>
                </a:lnTo>
                <a:lnTo>
                  <a:pt x="3924360" y="734814"/>
                </a:lnTo>
                <a:lnTo>
                  <a:pt x="3927577" y="734835"/>
                </a:lnTo>
                <a:lnTo>
                  <a:pt x="3930820" y="734835"/>
                </a:lnTo>
                <a:lnTo>
                  <a:pt x="3930820" y="722778"/>
                </a:lnTo>
                <a:lnTo>
                  <a:pt x="3934062" y="722778"/>
                </a:lnTo>
                <a:lnTo>
                  <a:pt x="3937278" y="722799"/>
                </a:lnTo>
                <a:lnTo>
                  <a:pt x="3940520" y="722799"/>
                </a:lnTo>
                <a:lnTo>
                  <a:pt x="3943763" y="722799"/>
                </a:lnTo>
                <a:lnTo>
                  <a:pt x="3946980" y="722799"/>
                </a:lnTo>
                <a:lnTo>
                  <a:pt x="3950223" y="722799"/>
                </a:lnTo>
                <a:lnTo>
                  <a:pt x="3950223" y="716749"/>
                </a:lnTo>
                <a:lnTo>
                  <a:pt x="3953413" y="716749"/>
                </a:lnTo>
                <a:lnTo>
                  <a:pt x="3953413" y="710700"/>
                </a:lnTo>
                <a:lnTo>
                  <a:pt x="3956604" y="710700"/>
                </a:lnTo>
                <a:lnTo>
                  <a:pt x="3959847" y="710700"/>
                </a:lnTo>
                <a:lnTo>
                  <a:pt x="3963063" y="710700"/>
                </a:lnTo>
                <a:lnTo>
                  <a:pt x="3963063" y="704629"/>
                </a:lnTo>
                <a:lnTo>
                  <a:pt x="3966306" y="704629"/>
                </a:lnTo>
                <a:lnTo>
                  <a:pt x="3969548" y="704629"/>
                </a:lnTo>
                <a:lnTo>
                  <a:pt x="3972765" y="704629"/>
                </a:lnTo>
                <a:lnTo>
                  <a:pt x="3976008" y="704650"/>
                </a:lnTo>
                <a:lnTo>
                  <a:pt x="3979223" y="704650"/>
                </a:lnTo>
                <a:lnTo>
                  <a:pt x="3982466" y="704650"/>
                </a:lnTo>
                <a:lnTo>
                  <a:pt x="3985683" y="704650"/>
                </a:lnTo>
                <a:lnTo>
                  <a:pt x="3988926" y="704650"/>
                </a:lnTo>
                <a:lnTo>
                  <a:pt x="3992142" y="704650"/>
                </a:lnTo>
                <a:lnTo>
                  <a:pt x="3995385" y="704650"/>
                </a:lnTo>
                <a:lnTo>
                  <a:pt x="3998549" y="704650"/>
                </a:lnTo>
                <a:lnTo>
                  <a:pt x="4001791" y="704650"/>
                </a:lnTo>
                <a:lnTo>
                  <a:pt x="4005009" y="704650"/>
                </a:lnTo>
                <a:lnTo>
                  <a:pt x="4005009" y="698494"/>
                </a:lnTo>
                <a:lnTo>
                  <a:pt x="4008251" y="698494"/>
                </a:lnTo>
                <a:lnTo>
                  <a:pt x="4011468" y="698494"/>
                </a:lnTo>
                <a:lnTo>
                  <a:pt x="4014710" y="698494"/>
                </a:lnTo>
                <a:lnTo>
                  <a:pt x="4017927" y="698494"/>
                </a:lnTo>
                <a:lnTo>
                  <a:pt x="4021169" y="698494"/>
                </a:lnTo>
                <a:lnTo>
                  <a:pt x="4024386" y="698516"/>
                </a:lnTo>
                <a:lnTo>
                  <a:pt x="4027654" y="698516"/>
                </a:lnTo>
                <a:lnTo>
                  <a:pt x="4030871" y="698516"/>
                </a:lnTo>
                <a:lnTo>
                  <a:pt x="4034139" y="698516"/>
                </a:lnTo>
                <a:lnTo>
                  <a:pt x="4037357" y="698516"/>
                </a:lnTo>
                <a:lnTo>
                  <a:pt x="4040522" y="698516"/>
                </a:lnTo>
                <a:lnTo>
                  <a:pt x="4043737" y="698516"/>
                </a:lnTo>
                <a:lnTo>
                  <a:pt x="4046980" y="698516"/>
                </a:lnTo>
                <a:lnTo>
                  <a:pt x="4050197" y="698516"/>
                </a:lnTo>
                <a:lnTo>
                  <a:pt x="4053465" y="698537"/>
                </a:lnTo>
                <a:lnTo>
                  <a:pt x="4056656" y="698537"/>
                </a:lnTo>
                <a:lnTo>
                  <a:pt x="4059925" y="698537"/>
                </a:lnTo>
                <a:lnTo>
                  <a:pt x="4063115" y="698537"/>
                </a:lnTo>
                <a:lnTo>
                  <a:pt x="4063115" y="692212"/>
                </a:lnTo>
                <a:lnTo>
                  <a:pt x="4066357" y="692212"/>
                </a:lnTo>
                <a:lnTo>
                  <a:pt x="4069600" y="692212"/>
                </a:lnTo>
                <a:lnTo>
                  <a:pt x="4072817" y="692212"/>
                </a:lnTo>
                <a:lnTo>
                  <a:pt x="4072817" y="685866"/>
                </a:lnTo>
                <a:lnTo>
                  <a:pt x="4076060" y="685866"/>
                </a:lnTo>
                <a:lnTo>
                  <a:pt x="4076060" y="679436"/>
                </a:lnTo>
                <a:lnTo>
                  <a:pt x="4079275" y="679436"/>
                </a:lnTo>
                <a:lnTo>
                  <a:pt x="4082440" y="679436"/>
                </a:lnTo>
                <a:lnTo>
                  <a:pt x="4085683" y="679436"/>
                </a:lnTo>
                <a:lnTo>
                  <a:pt x="4088900" y="679436"/>
                </a:lnTo>
                <a:lnTo>
                  <a:pt x="4092143" y="679457"/>
                </a:lnTo>
                <a:lnTo>
                  <a:pt x="4095385" y="679457"/>
                </a:lnTo>
                <a:lnTo>
                  <a:pt x="4098602" y="679457"/>
                </a:lnTo>
                <a:lnTo>
                  <a:pt x="4101844" y="679457"/>
                </a:lnTo>
                <a:lnTo>
                  <a:pt x="4105061" y="679457"/>
                </a:lnTo>
                <a:lnTo>
                  <a:pt x="4108303" y="679457"/>
                </a:lnTo>
                <a:lnTo>
                  <a:pt x="4111520" y="679457"/>
                </a:lnTo>
                <a:lnTo>
                  <a:pt x="4114763" y="679457"/>
                </a:lnTo>
                <a:lnTo>
                  <a:pt x="4117978" y="679457"/>
                </a:lnTo>
                <a:lnTo>
                  <a:pt x="4117978" y="672963"/>
                </a:lnTo>
                <a:lnTo>
                  <a:pt x="4121143" y="672963"/>
                </a:lnTo>
                <a:lnTo>
                  <a:pt x="4124386" y="672963"/>
                </a:lnTo>
                <a:lnTo>
                  <a:pt x="4127629" y="672963"/>
                </a:lnTo>
                <a:lnTo>
                  <a:pt x="4130819" y="672984"/>
                </a:lnTo>
                <a:lnTo>
                  <a:pt x="4134088" y="672984"/>
                </a:lnTo>
                <a:lnTo>
                  <a:pt x="4137331" y="672984"/>
                </a:lnTo>
                <a:lnTo>
                  <a:pt x="4140573" y="672984"/>
                </a:lnTo>
                <a:lnTo>
                  <a:pt x="4143789" y="672984"/>
                </a:lnTo>
                <a:lnTo>
                  <a:pt x="4147058" y="672984"/>
                </a:lnTo>
                <a:lnTo>
                  <a:pt x="4147058" y="666405"/>
                </a:lnTo>
                <a:lnTo>
                  <a:pt x="4150249" y="666427"/>
                </a:lnTo>
                <a:lnTo>
                  <a:pt x="4153517" y="666427"/>
                </a:lnTo>
                <a:lnTo>
                  <a:pt x="4156708" y="666427"/>
                </a:lnTo>
                <a:lnTo>
                  <a:pt x="4159950" y="666427"/>
                </a:lnTo>
                <a:lnTo>
                  <a:pt x="4163115" y="666427"/>
                </a:lnTo>
                <a:lnTo>
                  <a:pt x="4166332" y="666427"/>
                </a:lnTo>
                <a:lnTo>
                  <a:pt x="4169549" y="666427"/>
                </a:lnTo>
                <a:lnTo>
                  <a:pt x="4172791" y="666427"/>
                </a:lnTo>
                <a:lnTo>
                  <a:pt x="4176007" y="666427"/>
                </a:lnTo>
                <a:lnTo>
                  <a:pt x="4179302" y="666448"/>
                </a:lnTo>
                <a:lnTo>
                  <a:pt x="4179302" y="659721"/>
                </a:lnTo>
                <a:lnTo>
                  <a:pt x="4182492" y="659721"/>
                </a:lnTo>
                <a:lnTo>
                  <a:pt x="4185762" y="659721"/>
                </a:lnTo>
                <a:lnTo>
                  <a:pt x="4188977" y="659742"/>
                </a:lnTo>
                <a:lnTo>
                  <a:pt x="4192194" y="659742"/>
                </a:lnTo>
                <a:lnTo>
                  <a:pt x="4195437" y="659742"/>
                </a:lnTo>
                <a:lnTo>
                  <a:pt x="4195437" y="652952"/>
                </a:lnTo>
                <a:lnTo>
                  <a:pt x="4198653" y="652952"/>
                </a:lnTo>
                <a:lnTo>
                  <a:pt x="4201896" y="652952"/>
                </a:lnTo>
                <a:lnTo>
                  <a:pt x="4205061" y="652952"/>
                </a:lnTo>
                <a:lnTo>
                  <a:pt x="4208251" y="652973"/>
                </a:lnTo>
                <a:lnTo>
                  <a:pt x="4211520" y="652973"/>
                </a:lnTo>
                <a:lnTo>
                  <a:pt x="4214736" y="652973"/>
                </a:lnTo>
                <a:lnTo>
                  <a:pt x="4217979" y="652973"/>
                </a:lnTo>
                <a:lnTo>
                  <a:pt x="4221195" y="652973"/>
                </a:lnTo>
                <a:lnTo>
                  <a:pt x="4224413" y="652973"/>
                </a:lnTo>
                <a:lnTo>
                  <a:pt x="4224413" y="646099"/>
                </a:lnTo>
                <a:lnTo>
                  <a:pt x="4227655" y="646099"/>
                </a:lnTo>
                <a:lnTo>
                  <a:pt x="4227655" y="639245"/>
                </a:lnTo>
                <a:lnTo>
                  <a:pt x="4230898" y="639245"/>
                </a:lnTo>
                <a:lnTo>
                  <a:pt x="4234140" y="639245"/>
                </a:lnTo>
                <a:lnTo>
                  <a:pt x="4234140" y="632286"/>
                </a:lnTo>
                <a:lnTo>
                  <a:pt x="4237357" y="632286"/>
                </a:lnTo>
                <a:lnTo>
                  <a:pt x="4240625" y="632286"/>
                </a:lnTo>
                <a:lnTo>
                  <a:pt x="4243816" y="632286"/>
                </a:lnTo>
                <a:lnTo>
                  <a:pt x="4247006" y="632307"/>
                </a:lnTo>
                <a:lnTo>
                  <a:pt x="4250223" y="632307"/>
                </a:lnTo>
                <a:lnTo>
                  <a:pt x="4253466" y="632307"/>
                </a:lnTo>
                <a:lnTo>
                  <a:pt x="4253466" y="625221"/>
                </a:lnTo>
                <a:lnTo>
                  <a:pt x="4256708" y="625221"/>
                </a:lnTo>
                <a:lnTo>
                  <a:pt x="4256708" y="618134"/>
                </a:lnTo>
                <a:lnTo>
                  <a:pt x="4259925" y="618134"/>
                </a:lnTo>
                <a:lnTo>
                  <a:pt x="4263141" y="618134"/>
                </a:lnTo>
                <a:lnTo>
                  <a:pt x="4266384" y="618134"/>
                </a:lnTo>
                <a:lnTo>
                  <a:pt x="4269601" y="618134"/>
                </a:lnTo>
                <a:lnTo>
                  <a:pt x="4269601" y="610963"/>
                </a:lnTo>
                <a:lnTo>
                  <a:pt x="4272869" y="610963"/>
                </a:lnTo>
                <a:lnTo>
                  <a:pt x="4276060" y="610963"/>
                </a:lnTo>
                <a:lnTo>
                  <a:pt x="4279328" y="610963"/>
                </a:lnTo>
                <a:lnTo>
                  <a:pt x="4279328" y="603729"/>
                </a:lnTo>
                <a:lnTo>
                  <a:pt x="4282545" y="603750"/>
                </a:lnTo>
                <a:lnTo>
                  <a:pt x="4285709" y="603750"/>
                </a:lnTo>
                <a:lnTo>
                  <a:pt x="4288926" y="603750"/>
                </a:lnTo>
                <a:lnTo>
                  <a:pt x="4288926" y="596453"/>
                </a:lnTo>
                <a:lnTo>
                  <a:pt x="4292169" y="596453"/>
                </a:lnTo>
                <a:lnTo>
                  <a:pt x="4295385" y="596453"/>
                </a:lnTo>
                <a:lnTo>
                  <a:pt x="4298654" y="596453"/>
                </a:lnTo>
                <a:lnTo>
                  <a:pt x="4301844" y="596453"/>
                </a:lnTo>
                <a:lnTo>
                  <a:pt x="4305113" y="596453"/>
                </a:lnTo>
                <a:lnTo>
                  <a:pt x="4308329" y="596474"/>
                </a:lnTo>
                <a:lnTo>
                  <a:pt x="4311572" y="596474"/>
                </a:lnTo>
                <a:lnTo>
                  <a:pt x="4311572" y="589028"/>
                </a:lnTo>
                <a:lnTo>
                  <a:pt x="4314789" y="589028"/>
                </a:lnTo>
                <a:lnTo>
                  <a:pt x="4318005" y="589028"/>
                </a:lnTo>
                <a:lnTo>
                  <a:pt x="4321247" y="589028"/>
                </a:lnTo>
                <a:lnTo>
                  <a:pt x="4324490" y="589028"/>
                </a:lnTo>
                <a:lnTo>
                  <a:pt x="4327629" y="589028"/>
                </a:lnTo>
                <a:lnTo>
                  <a:pt x="4330897" y="589049"/>
                </a:lnTo>
                <a:lnTo>
                  <a:pt x="4334088" y="589049"/>
                </a:lnTo>
                <a:lnTo>
                  <a:pt x="4337357" y="589049"/>
                </a:lnTo>
                <a:lnTo>
                  <a:pt x="4340573" y="589049"/>
                </a:lnTo>
                <a:lnTo>
                  <a:pt x="4343816" y="589049"/>
                </a:lnTo>
                <a:lnTo>
                  <a:pt x="4347032" y="589049"/>
                </a:lnTo>
                <a:lnTo>
                  <a:pt x="4350275" y="589049"/>
                </a:lnTo>
                <a:lnTo>
                  <a:pt x="4353492" y="589049"/>
                </a:lnTo>
                <a:lnTo>
                  <a:pt x="4353492" y="581392"/>
                </a:lnTo>
                <a:lnTo>
                  <a:pt x="4356760" y="581392"/>
                </a:lnTo>
                <a:lnTo>
                  <a:pt x="4359977" y="581392"/>
                </a:lnTo>
                <a:lnTo>
                  <a:pt x="4363220" y="581392"/>
                </a:lnTo>
                <a:lnTo>
                  <a:pt x="4366462" y="581392"/>
                </a:lnTo>
                <a:lnTo>
                  <a:pt x="4369627" y="581413"/>
                </a:lnTo>
                <a:lnTo>
                  <a:pt x="4372843" y="581413"/>
                </a:lnTo>
                <a:lnTo>
                  <a:pt x="4376085" y="581413"/>
                </a:lnTo>
                <a:lnTo>
                  <a:pt x="4379303" y="581413"/>
                </a:lnTo>
                <a:lnTo>
                  <a:pt x="4382545" y="581413"/>
                </a:lnTo>
                <a:lnTo>
                  <a:pt x="4385761" y="581413"/>
                </a:lnTo>
                <a:lnTo>
                  <a:pt x="4389003" y="581413"/>
                </a:lnTo>
                <a:lnTo>
                  <a:pt x="4392246" y="581413"/>
                </a:lnTo>
                <a:lnTo>
                  <a:pt x="4395437" y="581413"/>
                </a:lnTo>
                <a:lnTo>
                  <a:pt x="4398706" y="581434"/>
                </a:lnTo>
                <a:lnTo>
                  <a:pt x="4401896" y="581434"/>
                </a:lnTo>
                <a:lnTo>
                  <a:pt x="4405165" y="581434"/>
                </a:lnTo>
                <a:lnTo>
                  <a:pt x="4408381" y="581434"/>
                </a:lnTo>
                <a:lnTo>
                  <a:pt x="4411546" y="581434"/>
                </a:lnTo>
                <a:lnTo>
                  <a:pt x="4414763" y="581434"/>
                </a:lnTo>
                <a:lnTo>
                  <a:pt x="4418031" y="581434"/>
                </a:lnTo>
                <a:lnTo>
                  <a:pt x="4421221" y="581434"/>
                </a:lnTo>
                <a:lnTo>
                  <a:pt x="4424491" y="581434"/>
                </a:lnTo>
                <a:lnTo>
                  <a:pt x="4427681" y="581434"/>
                </a:lnTo>
                <a:lnTo>
                  <a:pt x="4430949" y="581455"/>
                </a:lnTo>
                <a:lnTo>
                  <a:pt x="4430949" y="573417"/>
                </a:lnTo>
                <a:lnTo>
                  <a:pt x="4434166" y="573417"/>
                </a:lnTo>
                <a:lnTo>
                  <a:pt x="4437409" y="573438"/>
                </a:lnTo>
                <a:lnTo>
                  <a:pt x="4440625" y="573438"/>
                </a:lnTo>
                <a:lnTo>
                  <a:pt x="4443842" y="573438"/>
                </a:lnTo>
                <a:lnTo>
                  <a:pt x="4447084" y="573438"/>
                </a:lnTo>
                <a:lnTo>
                  <a:pt x="4450327" y="573438"/>
                </a:lnTo>
                <a:lnTo>
                  <a:pt x="4453466" y="573438"/>
                </a:lnTo>
                <a:lnTo>
                  <a:pt x="4456734" y="573438"/>
                </a:lnTo>
                <a:lnTo>
                  <a:pt x="4459977" y="573438"/>
                </a:lnTo>
                <a:lnTo>
                  <a:pt x="4459977" y="565209"/>
                </a:lnTo>
                <a:lnTo>
                  <a:pt x="4463219" y="565209"/>
                </a:lnTo>
                <a:lnTo>
                  <a:pt x="4466436" y="565209"/>
                </a:lnTo>
                <a:lnTo>
                  <a:pt x="4469652" y="565209"/>
                </a:lnTo>
                <a:lnTo>
                  <a:pt x="4472895" y="565209"/>
                </a:lnTo>
                <a:lnTo>
                  <a:pt x="4476137" y="565231"/>
                </a:lnTo>
                <a:lnTo>
                  <a:pt x="4479355" y="565231"/>
                </a:lnTo>
                <a:lnTo>
                  <a:pt x="4482597" y="565231"/>
                </a:lnTo>
                <a:lnTo>
                  <a:pt x="4485840" y="565231"/>
                </a:lnTo>
                <a:lnTo>
                  <a:pt x="4489056" y="565231"/>
                </a:lnTo>
                <a:lnTo>
                  <a:pt x="4492195" y="565231"/>
                </a:lnTo>
                <a:lnTo>
                  <a:pt x="4495437" y="565231"/>
                </a:lnTo>
                <a:lnTo>
                  <a:pt x="4498654" y="565231"/>
                </a:lnTo>
                <a:lnTo>
                  <a:pt x="4501923" y="565231"/>
                </a:lnTo>
                <a:lnTo>
                  <a:pt x="4501923" y="556770"/>
                </a:lnTo>
                <a:lnTo>
                  <a:pt x="4505139" y="556770"/>
                </a:lnTo>
                <a:lnTo>
                  <a:pt x="4508382" y="556770"/>
                </a:lnTo>
                <a:lnTo>
                  <a:pt x="4511598" y="556770"/>
                </a:lnTo>
                <a:lnTo>
                  <a:pt x="4514840" y="556770"/>
                </a:lnTo>
                <a:lnTo>
                  <a:pt x="4518083" y="556791"/>
                </a:lnTo>
                <a:lnTo>
                  <a:pt x="4521300" y="556791"/>
                </a:lnTo>
                <a:lnTo>
                  <a:pt x="4524543" y="556791"/>
                </a:lnTo>
                <a:lnTo>
                  <a:pt x="4527785" y="556791"/>
                </a:lnTo>
                <a:lnTo>
                  <a:pt x="4531001" y="556791"/>
                </a:lnTo>
                <a:lnTo>
                  <a:pt x="4534141" y="556791"/>
                </a:lnTo>
                <a:lnTo>
                  <a:pt x="4537357" y="556791"/>
                </a:lnTo>
                <a:lnTo>
                  <a:pt x="4540600" y="556791"/>
                </a:lnTo>
                <a:lnTo>
                  <a:pt x="4543842" y="556791"/>
                </a:lnTo>
                <a:lnTo>
                  <a:pt x="4543842" y="548033"/>
                </a:lnTo>
                <a:lnTo>
                  <a:pt x="4547059" y="548033"/>
                </a:lnTo>
                <a:lnTo>
                  <a:pt x="4550301" y="548033"/>
                </a:lnTo>
                <a:lnTo>
                  <a:pt x="4550301" y="539170"/>
                </a:lnTo>
                <a:lnTo>
                  <a:pt x="4553544" y="539170"/>
                </a:lnTo>
                <a:lnTo>
                  <a:pt x="4556761" y="539170"/>
                </a:lnTo>
                <a:lnTo>
                  <a:pt x="4560003" y="539170"/>
                </a:lnTo>
                <a:lnTo>
                  <a:pt x="4563219" y="539191"/>
                </a:lnTo>
                <a:lnTo>
                  <a:pt x="4566462" y="539191"/>
                </a:lnTo>
                <a:lnTo>
                  <a:pt x="4569704" y="539191"/>
                </a:lnTo>
                <a:lnTo>
                  <a:pt x="4572921" y="539191"/>
                </a:lnTo>
                <a:lnTo>
                  <a:pt x="4576112" y="539191"/>
                </a:lnTo>
                <a:lnTo>
                  <a:pt x="4579302" y="539191"/>
                </a:lnTo>
                <a:lnTo>
                  <a:pt x="4582571" y="539191"/>
                </a:lnTo>
                <a:lnTo>
                  <a:pt x="4585787" y="539191"/>
                </a:lnTo>
                <a:lnTo>
                  <a:pt x="4585787" y="530117"/>
                </a:lnTo>
                <a:lnTo>
                  <a:pt x="4589030" y="530117"/>
                </a:lnTo>
                <a:lnTo>
                  <a:pt x="4592247" y="530117"/>
                </a:lnTo>
                <a:lnTo>
                  <a:pt x="4592247" y="520958"/>
                </a:lnTo>
                <a:lnTo>
                  <a:pt x="4595515" y="520958"/>
                </a:lnTo>
                <a:lnTo>
                  <a:pt x="4598706" y="520958"/>
                </a:lnTo>
                <a:lnTo>
                  <a:pt x="4601948" y="520958"/>
                </a:lnTo>
                <a:lnTo>
                  <a:pt x="4605165" y="520958"/>
                </a:lnTo>
                <a:lnTo>
                  <a:pt x="4608407" y="520979"/>
                </a:lnTo>
                <a:lnTo>
                  <a:pt x="4611676" y="520979"/>
                </a:lnTo>
                <a:lnTo>
                  <a:pt x="4614892" y="520979"/>
                </a:lnTo>
                <a:lnTo>
                  <a:pt x="4618032" y="520979"/>
                </a:lnTo>
                <a:lnTo>
                  <a:pt x="4621300" y="520979"/>
                </a:lnTo>
                <a:lnTo>
                  <a:pt x="4621300" y="511650"/>
                </a:lnTo>
                <a:lnTo>
                  <a:pt x="4624490" y="511650"/>
                </a:lnTo>
                <a:lnTo>
                  <a:pt x="4627733" y="511650"/>
                </a:lnTo>
                <a:lnTo>
                  <a:pt x="4630950" y="511650"/>
                </a:lnTo>
                <a:lnTo>
                  <a:pt x="4634192" y="511650"/>
                </a:lnTo>
                <a:lnTo>
                  <a:pt x="4637435" y="511671"/>
                </a:lnTo>
                <a:lnTo>
                  <a:pt x="4640651" y="511671"/>
                </a:lnTo>
                <a:lnTo>
                  <a:pt x="4643894" y="511671"/>
                </a:lnTo>
                <a:lnTo>
                  <a:pt x="4647110" y="511671"/>
                </a:lnTo>
                <a:lnTo>
                  <a:pt x="4650353" y="511671"/>
                </a:lnTo>
                <a:lnTo>
                  <a:pt x="4653595" y="511671"/>
                </a:lnTo>
                <a:lnTo>
                  <a:pt x="4653595" y="501983"/>
                </a:lnTo>
                <a:lnTo>
                  <a:pt x="4656813" y="502004"/>
                </a:lnTo>
                <a:lnTo>
                  <a:pt x="4659977" y="502004"/>
                </a:lnTo>
                <a:lnTo>
                  <a:pt x="4663219" y="502004"/>
                </a:lnTo>
                <a:lnTo>
                  <a:pt x="4666436" y="502004"/>
                </a:lnTo>
                <a:lnTo>
                  <a:pt x="4669678" y="502004"/>
                </a:lnTo>
                <a:lnTo>
                  <a:pt x="4672896" y="502004"/>
                </a:lnTo>
                <a:lnTo>
                  <a:pt x="4676138" y="502004"/>
                </a:lnTo>
                <a:lnTo>
                  <a:pt x="4676138" y="492063"/>
                </a:lnTo>
                <a:lnTo>
                  <a:pt x="4679381" y="492084"/>
                </a:lnTo>
                <a:lnTo>
                  <a:pt x="4682623" y="492084"/>
                </a:lnTo>
                <a:lnTo>
                  <a:pt x="4685866" y="492084"/>
                </a:lnTo>
                <a:lnTo>
                  <a:pt x="4689108" y="492084"/>
                </a:lnTo>
                <a:lnTo>
                  <a:pt x="4692325" y="492084"/>
                </a:lnTo>
                <a:lnTo>
                  <a:pt x="4692325" y="482036"/>
                </a:lnTo>
                <a:lnTo>
                  <a:pt x="4695541" y="482036"/>
                </a:lnTo>
                <a:lnTo>
                  <a:pt x="4698706" y="482036"/>
                </a:lnTo>
                <a:lnTo>
                  <a:pt x="4701949" y="482036"/>
                </a:lnTo>
                <a:lnTo>
                  <a:pt x="4705191" y="482036"/>
                </a:lnTo>
                <a:lnTo>
                  <a:pt x="4708408" y="482036"/>
                </a:lnTo>
                <a:lnTo>
                  <a:pt x="4711650" y="482036"/>
                </a:lnTo>
                <a:lnTo>
                  <a:pt x="4714867" y="482036"/>
                </a:lnTo>
                <a:lnTo>
                  <a:pt x="4718109" y="482036"/>
                </a:lnTo>
                <a:lnTo>
                  <a:pt x="4721326" y="482036"/>
                </a:lnTo>
                <a:lnTo>
                  <a:pt x="4724542" y="482057"/>
                </a:lnTo>
                <a:lnTo>
                  <a:pt x="4727785" y="482057"/>
                </a:lnTo>
                <a:lnTo>
                  <a:pt x="4731027" y="482057"/>
                </a:lnTo>
                <a:lnTo>
                  <a:pt x="4734244" y="482057"/>
                </a:lnTo>
                <a:lnTo>
                  <a:pt x="4737487" y="482057"/>
                </a:lnTo>
                <a:lnTo>
                  <a:pt x="4740652" y="482057"/>
                </a:lnTo>
                <a:lnTo>
                  <a:pt x="4743868" y="482057"/>
                </a:lnTo>
                <a:lnTo>
                  <a:pt x="4747111" y="482057"/>
                </a:lnTo>
                <a:lnTo>
                  <a:pt x="4750327" y="482057"/>
                </a:lnTo>
                <a:lnTo>
                  <a:pt x="4750327" y="471671"/>
                </a:lnTo>
                <a:lnTo>
                  <a:pt x="4753570" y="471671"/>
                </a:lnTo>
                <a:lnTo>
                  <a:pt x="4756812" y="471692"/>
                </a:lnTo>
                <a:lnTo>
                  <a:pt x="4760030" y="471692"/>
                </a:lnTo>
                <a:lnTo>
                  <a:pt x="4763272" y="471692"/>
                </a:lnTo>
                <a:lnTo>
                  <a:pt x="4766488" y="471692"/>
                </a:lnTo>
                <a:lnTo>
                  <a:pt x="4769730" y="471692"/>
                </a:lnTo>
                <a:lnTo>
                  <a:pt x="4772973" y="471692"/>
                </a:lnTo>
                <a:lnTo>
                  <a:pt x="4776190" y="471692"/>
                </a:lnTo>
                <a:lnTo>
                  <a:pt x="4779433" y="471692"/>
                </a:lnTo>
                <a:lnTo>
                  <a:pt x="4782571" y="471692"/>
                </a:lnTo>
                <a:lnTo>
                  <a:pt x="4785840" y="471713"/>
                </a:lnTo>
                <a:lnTo>
                  <a:pt x="4789083" y="471713"/>
                </a:lnTo>
                <a:lnTo>
                  <a:pt x="4789083" y="460883"/>
                </a:lnTo>
                <a:lnTo>
                  <a:pt x="4792298" y="460883"/>
                </a:lnTo>
                <a:lnTo>
                  <a:pt x="4795541" y="460883"/>
                </a:lnTo>
                <a:lnTo>
                  <a:pt x="4798783" y="460904"/>
                </a:lnTo>
                <a:lnTo>
                  <a:pt x="4802001" y="460904"/>
                </a:lnTo>
                <a:lnTo>
                  <a:pt x="4802001" y="449905"/>
                </a:lnTo>
                <a:lnTo>
                  <a:pt x="4805243" y="449905"/>
                </a:lnTo>
                <a:lnTo>
                  <a:pt x="4808460" y="449905"/>
                </a:lnTo>
                <a:lnTo>
                  <a:pt x="4811702" y="449926"/>
                </a:lnTo>
                <a:lnTo>
                  <a:pt x="4814918" y="449926"/>
                </a:lnTo>
                <a:lnTo>
                  <a:pt x="4818161" y="449926"/>
                </a:lnTo>
                <a:lnTo>
                  <a:pt x="4821378" y="449926"/>
                </a:lnTo>
                <a:lnTo>
                  <a:pt x="4824543" y="449926"/>
                </a:lnTo>
                <a:lnTo>
                  <a:pt x="4827786" y="449926"/>
                </a:lnTo>
                <a:lnTo>
                  <a:pt x="4831028" y="449926"/>
                </a:lnTo>
                <a:lnTo>
                  <a:pt x="4834244" y="449926"/>
                </a:lnTo>
                <a:lnTo>
                  <a:pt x="4837486" y="449926"/>
                </a:lnTo>
                <a:lnTo>
                  <a:pt x="4840729" y="449926"/>
                </a:lnTo>
                <a:lnTo>
                  <a:pt x="4843946" y="449926"/>
                </a:lnTo>
                <a:lnTo>
                  <a:pt x="4847163" y="449926"/>
                </a:lnTo>
                <a:lnTo>
                  <a:pt x="4850405" y="449926"/>
                </a:lnTo>
                <a:lnTo>
                  <a:pt x="4850405" y="438440"/>
                </a:lnTo>
                <a:lnTo>
                  <a:pt x="4853622" y="438440"/>
                </a:lnTo>
                <a:lnTo>
                  <a:pt x="4856890" y="438440"/>
                </a:lnTo>
                <a:lnTo>
                  <a:pt x="4860081" y="438440"/>
                </a:lnTo>
                <a:lnTo>
                  <a:pt x="4863349" y="438440"/>
                </a:lnTo>
                <a:lnTo>
                  <a:pt x="4866488" y="438440"/>
                </a:lnTo>
                <a:lnTo>
                  <a:pt x="4869705" y="438440"/>
                </a:lnTo>
                <a:lnTo>
                  <a:pt x="4872947" y="438440"/>
                </a:lnTo>
                <a:lnTo>
                  <a:pt x="4876164" y="438440"/>
                </a:lnTo>
                <a:lnTo>
                  <a:pt x="4879407" y="438440"/>
                </a:lnTo>
                <a:lnTo>
                  <a:pt x="4882649" y="438440"/>
                </a:lnTo>
                <a:lnTo>
                  <a:pt x="4885866" y="438440"/>
                </a:lnTo>
                <a:lnTo>
                  <a:pt x="4889108" y="438461"/>
                </a:lnTo>
                <a:lnTo>
                  <a:pt x="4892325" y="438461"/>
                </a:lnTo>
                <a:lnTo>
                  <a:pt x="4895567" y="438461"/>
                </a:lnTo>
                <a:lnTo>
                  <a:pt x="4898810" y="438461"/>
                </a:lnTo>
                <a:lnTo>
                  <a:pt x="4902052" y="438461"/>
                </a:lnTo>
                <a:lnTo>
                  <a:pt x="4905217" y="438461"/>
                </a:lnTo>
                <a:lnTo>
                  <a:pt x="4908434" y="438461"/>
                </a:lnTo>
                <a:lnTo>
                  <a:pt x="4911650" y="438461"/>
                </a:lnTo>
                <a:lnTo>
                  <a:pt x="4914893" y="438461"/>
                </a:lnTo>
                <a:lnTo>
                  <a:pt x="4918110" y="438461"/>
                </a:lnTo>
                <a:lnTo>
                  <a:pt x="4921353" y="438461"/>
                </a:lnTo>
                <a:lnTo>
                  <a:pt x="4924595" y="438461"/>
                </a:lnTo>
                <a:lnTo>
                  <a:pt x="4927812" y="438461"/>
                </a:lnTo>
                <a:lnTo>
                  <a:pt x="4931054" y="438461"/>
                </a:lnTo>
                <a:lnTo>
                  <a:pt x="4934323" y="438461"/>
                </a:lnTo>
                <a:lnTo>
                  <a:pt x="4937539" y="438461"/>
                </a:lnTo>
                <a:lnTo>
                  <a:pt x="4940756" y="438461"/>
                </a:lnTo>
                <a:lnTo>
                  <a:pt x="4943998" y="438461"/>
                </a:lnTo>
                <a:lnTo>
                  <a:pt x="4943998" y="425642"/>
                </a:lnTo>
                <a:lnTo>
                  <a:pt x="4947137" y="425642"/>
                </a:lnTo>
                <a:lnTo>
                  <a:pt x="4950379" y="425642"/>
                </a:lnTo>
                <a:lnTo>
                  <a:pt x="4953596" y="425642"/>
                </a:lnTo>
                <a:lnTo>
                  <a:pt x="4956838" y="425642"/>
                </a:lnTo>
                <a:lnTo>
                  <a:pt x="4960081" y="425642"/>
                </a:lnTo>
                <a:lnTo>
                  <a:pt x="4963298" y="425642"/>
                </a:lnTo>
                <a:lnTo>
                  <a:pt x="4966541" y="425642"/>
                </a:lnTo>
                <a:lnTo>
                  <a:pt x="4969756" y="425642"/>
                </a:lnTo>
                <a:lnTo>
                  <a:pt x="4972974" y="425642"/>
                </a:lnTo>
                <a:lnTo>
                  <a:pt x="4976241" y="425663"/>
                </a:lnTo>
                <a:lnTo>
                  <a:pt x="4979433" y="425663"/>
                </a:lnTo>
                <a:lnTo>
                  <a:pt x="4982701" y="425663"/>
                </a:lnTo>
                <a:lnTo>
                  <a:pt x="4985892" y="425663"/>
                </a:lnTo>
                <a:lnTo>
                  <a:pt x="4989083" y="425663"/>
                </a:lnTo>
                <a:lnTo>
                  <a:pt x="4992325" y="425663"/>
                </a:lnTo>
                <a:lnTo>
                  <a:pt x="4995542" y="425663"/>
                </a:lnTo>
                <a:lnTo>
                  <a:pt x="4998784" y="425663"/>
                </a:lnTo>
                <a:lnTo>
                  <a:pt x="5002027" y="425663"/>
                </a:lnTo>
                <a:lnTo>
                  <a:pt x="5005244" y="425685"/>
                </a:lnTo>
                <a:lnTo>
                  <a:pt x="5008512" y="425685"/>
                </a:lnTo>
                <a:lnTo>
                  <a:pt x="5011702" y="425685"/>
                </a:lnTo>
                <a:lnTo>
                  <a:pt x="5014972" y="425685"/>
                </a:lnTo>
                <a:lnTo>
                  <a:pt x="5018187" y="425685"/>
                </a:lnTo>
                <a:lnTo>
                  <a:pt x="5021430" y="425685"/>
                </a:lnTo>
                <a:lnTo>
                  <a:pt x="5024647" y="425685"/>
                </a:lnTo>
                <a:lnTo>
                  <a:pt x="5027863" y="425685"/>
                </a:lnTo>
                <a:lnTo>
                  <a:pt x="5031028" y="425685"/>
                </a:lnTo>
                <a:lnTo>
                  <a:pt x="5034297" y="425685"/>
                </a:lnTo>
                <a:lnTo>
                  <a:pt x="5037487" y="425727"/>
                </a:lnTo>
                <a:lnTo>
                  <a:pt x="5040755" y="425727"/>
                </a:lnTo>
                <a:lnTo>
                  <a:pt x="5043972" y="425727"/>
                </a:lnTo>
                <a:lnTo>
                  <a:pt x="5047189" y="425727"/>
                </a:lnTo>
                <a:lnTo>
                  <a:pt x="5050431" y="425727"/>
                </a:lnTo>
                <a:lnTo>
                  <a:pt x="5053648" y="425727"/>
                </a:lnTo>
                <a:lnTo>
                  <a:pt x="5056890" y="425727"/>
                </a:lnTo>
                <a:lnTo>
                  <a:pt x="5060133" y="425727"/>
                </a:lnTo>
                <a:lnTo>
                  <a:pt x="5063350" y="425727"/>
                </a:lnTo>
                <a:lnTo>
                  <a:pt x="5066567" y="425727"/>
                </a:lnTo>
                <a:lnTo>
                  <a:pt x="5069758" y="425727"/>
                </a:lnTo>
                <a:lnTo>
                  <a:pt x="5072973" y="425727"/>
                </a:lnTo>
                <a:lnTo>
                  <a:pt x="5076216" y="425727"/>
                </a:lnTo>
                <a:lnTo>
                  <a:pt x="5079433" y="425727"/>
                </a:lnTo>
                <a:lnTo>
                  <a:pt x="5082676" y="425727"/>
                </a:lnTo>
                <a:lnTo>
                  <a:pt x="5085918" y="425727"/>
                </a:lnTo>
                <a:lnTo>
                  <a:pt x="5089135" y="425727"/>
                </a:lnTo>
                <a:lnTo>
                  <a:pt x="5092351" y="425727"/>
                </a:lnTo>
                <a:lnTo>
                  <a:pt x="5095593" y="425769"/>
                </a:lnTo>
                <a:lnTo>
                  <a:pt x="5095593" y="395626"/>
                </a:lnTo>
                <a:lnTo>
                  <a:pt x="5098811" y="395626"/>
                </a:lnTo>
                <a:lnTo>
                  <a:pt x="5102079" y="395626"/>
                </a:lnTo>
                <a:lnTo>
                  <a:pt x="5105269" y="395626"/>
                </a:lnTo>
                <a:lnTo>
                  <a:pt x="5108538" y="395626"/>
                </a:lnTo>
                <a:lnTo>
                  <a:pt x="5111729" y="395626"/>
                </a:lnTo>
                <a:lnTo>
                  <a:pt x="5114945" y="395626"/>
                </a:lnTo>
                <a:lnTo>
                  <a:pt x="5114945" y="380396"/>
                </a:lnTo>
                <a:lnTo>
                  <a:pt x="5118188" y="380396"/>
                </a:lnTo>
                <a:lnTo>
                  <a:pt x="5121404" y="380396"/>
                </a:lnTo>
                <a:lnTo>
                  <a:pt x="5121404" y="365123"/>
                </a:lnTo>
                <a:lnTo>
                  <a:pt x="5124621" y="365123"/>
                </a:lnTo>
                <a:lnTo>
                  <a:pt x="5127889" y="365123"/>
                </a:lnTo>
                <a:lnTo>
                  <a:pt x="5127889" y="349809"/>
                </a:lnTo>
                <a:lnTo>
                  <a:pt x="5131080" y="349809"/>
                </a:lnTo>
                <a:lnTo>
                  <a:pt x="5134349" y="349809"/>
                </a:lnTo>
                <a:lnTo>
                  <a:pt x="5137565" y="349809"/>
                </a:lnTo>
                <a:lnTo>
                  <a:pt x="5140808" y="349809"/>
                </a:lnTo>
                <a:lnTo>
                  <a:pt x="5140808" y="334219"/>
                </a:lnTo>
                <a:lnTo>
                  <a:pt x="5144024" y="334219"/>
                </a:lnTo>
                <a:lnTo>
                  <a:pt x="5147267" y="334219"/>
                </a:lnTo>
                <a:lnTo>
                  <a:pt x="5150484" y="334219"/>
                </a:lnTo>
                <a:lnTo>
                  <a:pt x="5153674" y="334219"/>
                </a:lnTo>
                <a:lnTo>
                  <a:pt x="5156865" y="334219"/>
                </a:lnTo>
                <a:lnTo>
                  <a:pt x="5160133" y="334240"/>
                </a:lnTo>
                <a:lnTo>
                  <a:pt x="5163350" y="334240"/>
                </a:lnTo>
                <a:lnTo>
                  <a:pt x="5166592" y="334240"/>
                </a:lnTo>
                <a:lnTo>
                  <a:pt x="5169809" y="334240"/>
                </a:lnTo>
                <a:lnTo>
                  <a:pt x="5173052" y="334240"/>
                </a:lnTo>
                <a:lnTo>
                  <a:pt x="5176268" y="334240"/>
                </a:lnTo>
                <a:lnTo>
                  <a:pt x="5179510" y="334240"/>
                </a:lnTo>
                <a:lnTo>
                  <a:pt x="5182727" y="334240"/>
                </a:lnTo>
                <a:lnTo>
                  <a:pt x="5182727" y="317699"/>
                </a:lnTo>
                <a:lnTo>
                  <a:pt x="5185970" y="317699"/>
                </a:lnTo>
                <a:lnTo>
                  <a:pt x="5189186" y="317699"/>
                </a:lnTo>
                <a:lnTo>
                  <a:pt x="5192403" y="317699"/>
                </a:lnTo>
                <a:lnTo>
                  <a:pt x="5195568" y="317699"/>
                </a:lnTo>
                <a:lnTo>
                  <a:pt x="5198810" y="317699"/>
                </a:lnTo>
                <a:lnTo>
                  <a:pt x="5202028" y="317699"/>
                </a:lnTo>
                <a:lnTo>
                  <a:pt x="5205295" y="317699"/>
                </a:lnTo>
                <a:lnTo>
                  <a:pt x="5208513" y="317699"/>
                </a:lnTo>
                <a:lnTo>
                  <a:pt x="5211755" y="317720"/>
                </a:lnTo>
                <a:lnTo>
                  <a:pt x="5214971" y="317720"/>
                </a:lnTo>
                <a:lnTo>
                  <a:pt x="5218188" y="317720"/>
                </a:lnTo>
                <a:lnTo>
                  <a:pt x="5221456" y="317720"/>
                </a:lnTo>
                <a:lnTo>
                  <a:pt x="5224673" y="317720"/>
                </a:lnTo>
                <a:lnTo>
                  <a:pt x="5227941" y="317720"/>
                </a:lnTo>
              </a:path>
            </a:pathLst>
          </a:custGeom>
          <a:noFill/>
          <a:ln w="21908">
            <a:solidFill>
              <a:srgbClr val="7F7F7F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51" name="published_curve_Финеренон">
            <a:extLst>
              <a:ext uri="{FF2B5EF4-FFF2-40B4-BE49-F238E27FC236}">
                <a16:creationId xmlns:a16="http://schemas.microsoft.com/office/drawing/2014/main" id="{1AF2C255-B8AA-44DE-9229-6D9C5E542BD1}"/>
              </a:ext>
            </a:extLst>
          </p:cNvPr>
          <p:cNvSpPr>
            <a:spLocks noGrp="1"/>
          </p:cNvSpPr>
          <p:nvPr/>
        </p:nvSpPr>
        <p:spPr>
          <a:xfrm>
            <a:off x="1704975" y="2544106"/>
            <a:ext cx="5229225" cy="3067193"/>
          </a:xfrm>
          <a:custGeom>
            <a:avLst/>
            <a:gdLst/>
            <a:ahLst/>
            <a:cxnLst/>
            <a:rect l="0" t="0" r="0" b="0"/>
            <a:pathLst>
              <a:path w="5229225" h="2457450">
                <a:moveTo>
                  <a:pt x="4148" y="2452841"/>
                </a:moveTo>
                <a:lnTo>
                  <a:pt x="7390" y="2452841"/>
                </a:lnTo>
                <a:lnTo>
                  <a:pt x="10607" y="2452841"/>
                </a:lnTo>
                <a:lnTo>
                  <a:pt x="13849" y="2452841"/>
                </a:lnTo>
                <a:lnTo>
                  <a:pt x="17066" y="2452841"/>
                </a:lnTo>
                <a:lnTo>
                  <a:pt x="17066" y="2449541"/>
                </a:lnTo>
                <a:lnTo>
                  <a:pt x="20309" y="2449541"/>
                </a:lnTo>
                <a:lnTo>
                  <a:pt x="23551" y="2449541"/>
                </a:lnTo>
                <a:lnTo>
                  <a:pt x="26768" y="2449541"/>
                </a:lnTo>
                <a:lnTo>
                  <a:pt x="26768" y="2446178"/>
                </a:lnTo>
                <a:lnTo>
                  <a:pt x="30010" y="2446178"/>
                </a:lnTo>
                <a:lnTo>
                  <a:pt x="33253" y="2446178"/>
                </a:lnTo>
                <a:lnTo>
                  <a:pt x="36392" y="2446178"/>
                </a:lnTo>
                <a:lnTo>
                  <a:pt x="39634" y="2446178"/>
                </a:lnTo>
                <a:lnTo>
                  <a:pt x="39634" y="2436215"/>
                </a:lnTo>
                <a:lnTo>
                  <a:pt x="42825" y="2436215"/>
                </a:lnTo>
                <a:lnTo>
                  <a:pt x="46093" y="2436215"/>
                </a:lnTo>
                <a:lnTo>
                  <a:pt x="49310" y="2436215"/>
                </a:lnTo>
                <a:lnTo>
                  <a:pt x="52552" y="2436236"/>
                </a:lnTo>
                <a:lnTo>
                  <a:pt x="55795" y="2436236"/>
                </a:lnTo>
                <a:lnTo>
                  <a:pt x="59038" y="2436236"/>
                </a:lnTo>
                <a:lnTo>
                  <a:pt x="59038" y="2432915"/>
                </a:lnTo>
                <a:lnTo>
                  <a:pt x="62254" y="2432915"/>
                </a:lnTo>
                <a:lnTo>
                  <a:pt x="65497" y="2432915"/>
                </a:lnTo>
                <a:lnTo>
                  <a:pt x="65497" y="2429572"/>
                </a:lnTo>
                <a:lnTo>
                  <a:pt x="68713" y="2429572"/>
                </a:lnTo>
                <a:lnTo>
                  <a:pt x="71956" y="2429572"/>
                </a:lnTo>
                <a:lnTo>
                  <a:pt x="75198" y="2429572"/>
                </a:lnTo>
                <a:lnTo>
                  <a:pt x="78337" y="2429572"/>
                </a:lnTo>
                <a:lnTo>
                  <a:pt x="81580" y="2429594"/>
                </a:lnTo>
                <a:lnTo>
                  <a:pt x="81580" y="2426273"/>
                </a:lnTo>
                <a:lnTo>
                  <a:pt x="84796" y="2426273"/>
                </a:lnTo>
                <a:lnTo>
                  <a:pt x="84796" y="2422910"/>
                </a:lnTo>
                <a:lnTo>
                  <a:pt x="88039" y="2422910"/>
                </a:lnTo>
                <a:lnTo>
                  <a:pt x="88039" y="2419610"/>
                </a:lnTo>
                <a:lnTo>
                  <a:pt x="91281" y="2419610"/>
                </a:lnTo>
                <a:lnTo>
                  <a:pt x="94498" y="2419610"/>
                </a:lnTo>
                <a:lnTo>
                  <a:pt x="94498" y="2412968"/>
                </a:lnTo>
                <a:lnTo>
                  <a:pt x="97741" y="2412968"/>
                </a:lnTo>
                <a:lnTo>
                  <a:pt x="97741" y="2406283"/>
                </a:lnTo>
                <a:lnTo>
                  <a:pt x="100957" y="2406283"/>
                </a:lnTo>
                <a:lnTo>
                  <a:pt x="104200" y="2406283"/>
                </a:lnTo>
                <a:lnTo>
                  <a:pt x="107416" y="2406283"/>
                </a:lnTo>
                <a:lnTo>
                  <a:pt x="107416" y="2402920"/>
                </a:lnTo>
                <a:lnTo>
                  <a:pt x="110659" y="2402920"/>
                </a:lnTo>
                <a:lnTo>
                  <a:pt x="110659" y="2399620"/>
                </a:lnTo>
                <a:lnTo>
                  <a:pt x="113902" y="2399620"/>
                </a:lnTo>
                <a:lnTo>
                  <a:pt x="113902" y="2396278"/>
                </a:lnTo>
                <a:lnTo>
                  <a:pt x="117144" y="2396278"/>
                </a:lnTo>
                <a:lnTo>
                  <a:pt x="117144" y="2386294"/>
                </a:lnTo>
                <a:lnTo>
                  <a:pt x="120283" y="2386294"/>
                </a:lnTo>
                <a:lnTo>
                  <a:pt x="120283" y="2382951"/>
                </a:lnTo>
                <a:lnTo>
                  <a:pt x="123551" y="2382951"/>
                </a:lnTo>
                <a:lnTo>
                  <a:pt x="126768" y="2382951"/>
                </a:lnTo>
                <a:lnTo>
                  <a:pt x="129984" y="2382951"/>
                </a:lnTo>
                <a:lnTo>
                  <a:pt x="133227" y="2382951"/>
                </a:lnTo>
                <a:lnTo>
                  <a:pt x="136444" y="2382973"/>
                </a:lnTo>
                <a:lnTo>
                  <a:pt x="139686" y="2382973"/>
                </a:lnTo>
                <a:lnTo>
                  <a:pt x="142929" y="2382973"/>
                </a:lnTo>
                <a:lnTo>
                  <a:pt x="146145" y="2382973"/>
                </a:lnTo>
                <a:lnTo>
                  <a:pt x="149388" y="2382973"/>
                </a:lnTo>
                <a:lnTo>
                  <a:pt x="152605" y="2382973"/>
                </a:lnTo>
                <a:lnTo>
                  <a:pt x="155821" y="2382973"/>
                </a:lnTo>
                <a:lnTo>
                  <a:pt x="159090" y="2382973"/>
                </a:lnTo>
                <a:lnTo>
                  <a:pt x="159090" y="2376288"/>
                </a:lnTo>
                <a:lnTo>
                  <a:pt x="162228" y="2376288"/>
                </a:lnTo>
                <a:lnTo>
                  <a:pt x="165471" y="2376288"/>
                </a:lnTo>
                <a:lnTo>
                  <a:pt x="168713" y="2376309"/>
                </a:lnTo>
                <a:lnTo>
                  <a:pt x="171930" y="2376309"/>
                </a:lnTo>
                <a:lnTo>
                  <a:pt x="175173" y="2376309"/>
                </a:lnTo>
                <a:lnTo>
                  <a:pt x="178389" y="2376309"/>
                </a:lnTo>
                <a:lnTo>
                  <a:pt x="178389" y="2373009"/>
                </a:lnTo>
                <a:lnTo>
                  <a:pt x="181632" y="2373009"/>
                </a:lnTo>
                <a:lnTo>
                  <a:pt x="184874" y="2373009"/>
                </a:lnTo>
                <a:lnTo>
                  <a:pt x="184874" y="2369646"/>
                </a:lnTo>
                <a:lnTo>
                  <a:pt x="188091" y="2369646"/>
                </a:lnTo>
                <a:lnTo>
                  <a:pt x="188091" y="2366346"/>
                </a:lnTo>
                <a:lnTo>
                  <a:pt x="191334" y="2366346"/>
                </a:lnTo>
                <a:lnTo>
                  <a:pt x="191334" y="2362983"/>
                </a:lnTo>
                <a:lnTo>
                  <a:pt x="194576" y="2362983"/>
                </a:lnTo>
                <a:lnTo>
                  <a:pt x="197793" y="2362983"/>
                </a:lnTo>
                <a:lnTo>
                  <a:pt x="197793" y="2359704"/>
                </a:lnTo>
                <a:lnTo>
                  <a:pt x="200958" y="2359704"/>
                </a:lnTo>
                <a:lnTo>
                  <a:pt x="204148" y="2359704"/>
                </a:lnTo>
                <a:lnTo>
                  <a:pt x="207416" y="2359704"/>
                </a:lnTo>
                <a:lnTo>
                  <a:pt x="210633" y="2359704"/>
                </a:lnTo>
                <a:lnTo>
                  <a:pt x="213876" y="2359704"/>
                </a:lnTo>
                <a:lnTo>
                  <a:pt x="217118" y="2359704"/>
                </a:lnTo>
                <a:lnTo>
                  <a:pt x="220335" y="2359704"/>
                </a:lnTo>
                <a:lnTo>
                  <a:pt x="223577" y="2359704"/>
                </a:lnTo>
                <a:lnTo>
                  <a:pt x="226820" y="2359704"/>
                </a:lnTo>
                <a:lnTo>
                  <a:pt x="226820" y="2356341"/>
                </a:lnTo>
                <a:lnTo>
                  <a:pt x="230037" y="2356341"/>
                </a:lnTo>
                <a:lnTo>
                  <a:pt x="230037" y="2353062"/>
                </a:lnTo>
                <a:lnTo>
                  <a:pt x="233279" y="2353062"/>
                </a:lnTo>
                <a:lnTo>
                  <a:pt x="236522" y="2353062"/>
                </a:lnTo>
                <a:lnTo>
                  <a:pt x="236522" y="2349678"/>
                </a:lnTo>
                <a:lnTo>
                  <a:pt x="239738" y="2349699"/>
                </a:lnTo>
                <a:lnTo>
                  <a:pt x="242903" y="2349699"/>
                </a:lnTo>
                <a:lnTo>
                  <a:pt x="242903" y="2343015"/>
                </a:lnTo>
                <a:lnTo>
                  <a:pt x="246120" y="2343015"/>
                </a:lnTo>
                <a:lnTo>
                  <a:pt x="249362" y="2343036"/>
                </a:lnTo>
                <a:lnTo>
                  <a:pt x="252605" y="2343036"/>
                </a:lnTo>
                <a:lnTo>
                  <a:pt x="252605" y="2339715"/>
                </a:lnTo>
                <a:lnTo>
                  <a:pt x="255795" y="2339715"/>
                </a:lnTo>
                <a:lnTo>
                  <a:pt x="255795" y="2336373"/>
                </a:lnTo>
                <a:lnTo>
                  <a:pt x="259064" y="2336373"/>
                </a:lnTo>
                <a:lnTo>
                  <a:pt x="262280" y="2336373"/>
                </a:lnTo>
                <a:lnTo>
                  <a:pt x="265523" y="2336373"/>
                </a:lnTo>
                <a:lnTo>
                  <a:pt x="265523" y="2333009"/>
                </a:lnTo>
                <a:lnTo>
                  <a:pt x="268739" y="2333009"/>
                </a:lnTo>
                <a:lnTo>
                  <a:pt x="271982" y="2333009"/>
                </a:lnTo>
                <a:lnTo>
                  <a:pt x="275225" y="2333030"/>
                </a:lnTo>
                <a:lnTo>
                  <a:pt x="278467" y="2333030"/>
                </a:lnTo>
                <a:lnTo>
                  <a:pt x="281684" y="2333030"/>
                </a:lnTo>
                <a:lnTo>
                  <a:pt x="281684" y="2329709"/>
                </a:lnTo>
                <a:lnTo>
                  <a:pt x="284848" y="2329730"/>
                </a:lnTo>
                <a:lnTo>
                  <a:pt x="288065" y="2329730"/>
                </a:lnTo>
                <a:lnTo>
                  <a:pt x="291308" y="2329730"/>
                </a:lnTo>
                <a:lnTo>
                  <a:pt x="294550" y="2329730"/>
                </a:lnTo>
                <a:lnTo>
                  <a:pt x="297767" y="2329730"/>
                </a:lnTo>
                <a:lnTo>
                  <a:pt x="301009" y="2329730"/>
                </a:lnTo>
                <a:lnTo>
                  <a:pt x="304252" y="2329730"/>
                </a:lnTo>
                <a:lnTo>
                  <a:pt x="307468" y="2329730"/>
                </a:lnTo>
                <a:lnTo>
                  <a:pt x="310711" y="2329730"/>
                </a:lnTo>
                <a:lnTo>
                  <a:pt x="313928" y="2329752"/>
                </a:lnTo>
                <a:lnTo>
                  <a:pt x="317170" y="2329752"/>
                </a:lnTo>
                <a:lnTo>
                  <a:pt x="320387" y="2329752"/>
                </a:lnTo>
                <a:lnTo>
                  <a:pt x="323603" y="2329752"/>
                </a:lnTo>
                <a:lnTo>
                  <a:pt x="326794" y="2329752"/>
                </a:lnTo>
                <a:lnTo>
                  <a:pt x="326794" y="2323067"/>
                </a:lnTo>
                <a:lnTo>
                  <a:pt x="330037" y="2323067"/>
                </a:lnTo>
                <a:lnTo>
                  <a:pt x="333253" y="2323067"/>
                </a:lnTo>
                <a:lnTo>
                  <a:pt x="336496" y="2323067"/>
                </a:lnTo>
                <a:lnTo>
                  <a:pt x="339713" y="2323067"/>
                </a:lnTo>
                <a:lnTo>
                  <a:pt x="339713" y="2319725"/>
                </a:lnTo>
                <a:lnTo>
                  <a:pt x="342955" y="2319746"/>
                </a:lnTo>
                <a:lnTo>
                  <a:pt x="342955" y="2316425"/>
                </a:lnTo>
                <a:lnTo>
                  <a:pt x="346198" y="2316425"/>
                </a:lnTo>
                <a:lnTo>
                  <a:pt x="346198" y="2313062"/>
                </a:lnTo>
                <a:lnTo>
                  <a:pt x="349388" y="2313083"/>
                </a:lnTo>
                <a:lnTo>
                  <a:pt x="349388" y="2309762"/>
                </a:lnTo>
                <a:lnTo>
                  <a:pt x="352657" y="2309762"/>
                </a:lnTo>
                <a:lnTo>
                  <a:pt x="355847" y="2309762"/>
                </a:lnTo>
                <a:lnTo>
                  <a:pt x="359116" y="2309762"/>
                </a:lnTo>
                <a:lnTo>
                  <a:pt x="359116" y="2306420"/>
                </a:lnTo>
                <a:lnTo>
                  <a:pt x="362332" y="2306420"/>
                </a:lnTo>
                <a:lnTo>
                  <a:pt x="365471" y="2306420"/>
                </a:lnTo>
                <a:lnTo>
                  <a:pt x="365471" y="2303120"/>
                </a:lnTo>
                <a:lnTo>
                  <a:pt x="368739" y="2303120"/>
                </a:lnTo>
                <a:lnTo>
                  <a:pt x="368739" y="2299757"/>
                </a:lnTo>
                <a:lnTo>
                  <a:pt x="371956" y="2299757"/>
                </a:lnTo>
                <a:lnTo>
                  <a:pt x="375199" y="2299757"/>
                </a:lnTo>
                <a:lnTo>
                  <a:pt x="378441" y="2299757"/>
                </a:lnTo>
                <a:lnTo>
                  <a:pt x="378441" y="2296393"/>
                </a:lnTo>
                <a:lnTo>
                  <a:pt x="381632" y="2296414"/>
                </a:lnTo>
                <a:lnTo>
                  <a:pt x="381632" y="2293073"/>
                </a:lnTo>
                <a:lnTo>
                  <a:pt x="384900" y="2293093"/>
                </a:lnTo>
                <a:lnTo>
                  <a:pt x="384900" y="2286430"/>
                </a:lnTo>
                <a:lnTo>
                  <a:pt x="388143" y="2286430"/>
                </a:lnTo>
                <a:lnTo>
                  <a:pt x="388143" y="2279746"/>
                </a:lnTo>
                <a:lnTo>
                  <a:pt x="391360" y="2279767"/>
                </a:lnTo>
                <a:lnTo>
                  <a:pt x="394602" y="2279767"/>
                </a:lnTo>
                <a:lnTo>
                  <a:pt x="397845" y="2279767"/>
                </a:lnTo>
                <a:lnTo>
                  <a:pt x="401061" y="2279767"/>
                </a:lnTo>
                <a:lnTo>
                  <a:pt x="404304" y="2279767"/>
                </a:lnTo>
                <a:lnTo>
                  <a:pt x="407443" y="2279767"/>
                </a:lnTo>
                <a:lnTo>
                  <a:pt x="407443" y="2276404"/>
                </a:lnTo>
                <a:lnTo>
                  <a:pt x="410659" y="2276404"/>
                </a:lnTo>
                <a:lnTo>
                  <a:pt x="413928" y="2276404"/>
                </a:lnTo>
                <a:lnTo>
                  <a:pt x="413928" y="2273062"/>
                </a:lnTo>
                <a:lnTo>
                  <a:pt x="417118" y="2273062"/>
                </a:lnTo>
                <a:lnTo>
                  <a:pt x="420387" y="2273062"/>
                </a:lnTo>
                <a:lnTo>
                  <a:pt x="420387" y="2269762"/>
                </a:lnTo>
                <a:lnTo>
                  <a:pt x="423578" y="2269783"/>
                </a:lnTo>
                <a:lnTo>
                  <a:pt x="426846" y="2269783"/>
                </a:lnTo>
                <a:lnTo>
                  <a:pt x="426846" y="2266399"/>
                </a:lnTo>
                <a:lnTo>
                  <a:pt x="430063" y="2266399"/>
                </a:lnTo>
                <a:lnTo>
                  <a:pt x="433305" y="2266399"/>
                </a:lnTo>
                <a:lnTo>
                  <a:pt x="436548" y="2266420"/>
                </a:lnTo>
                <a:lnTo>
                  <a:pt x="436548" y="2259756"/>
                </a:lnTo>
                <a:lnTo>
                  <a:pt x="439764" y="2259756"/>
                </a:lnTo>
                <a:lnTo>
                  <a:pt x="443007" y="2259756"/>
                </a:lnTo>
                <a:lnTo>
                  <a:pt x="446249" y="2259756"/>
                </a:lnTo>
                <a:lnTo>
                  <a:pt x="449388" y="2259756"/>
                </a:lnTo>
                <a:lnTo>
                  <a:pt x="452631" y="2259756"/>
                </a:lnTo>
                <a:lnTo>
                  <a:pt x="452631" y="2253093"/>
                </a:lnTo>
                <a:lnTo>
                  <a:pt x="455873" y="2253093"/>
                </a:lnTo>
                <a:lnTo>
                  <a:pt x="459090" y="2253093"/>
                </a:lnTo>
                <a:lnTo>
                  <a:pt x="459090" y="2249751"/>
                </a:lnTo>
                <a:lnTo>
                  <a:pt x="462332" y="2249751"/>
                </a:lnTo>
                <a:lnTo>
                  <a:pt x="465549" y="2249751"/>
                </a:lnTo>
                <a:lnTo>
                  <a:pt x="468792" y="2249751"/>
                </a:lnTo>
                <a:lnTo>
                  <a:pt x="472034" y="2249751"/>
                </a:lnTo>
                <a:lnTo>
                  <a:pt x="475225" y="2249772"/>
                </a:lnTo>
                <a:lnTo>
                  <a:pt x="475225" y="2246409"/>
                </a:lnTo>
                <a:lnTo>
                  <a:pt x="478493" y="2246409"/>
                </a:lnTo>
                <a:lnTo>
                  <a:pt x="478493" y="2243109"/>
                </a:lnTo>
                <a:lnTo>
                  <a:pt x="481710" y="2243109"/>
                </a:lnTo>
                <a:lnTo>
                  <a:pt x="484926" y="2243109"/>
                </a:lnTo>
                <a:lnTo>
                  <a:pt x="484926" y="2236425"/>
                </a:lnTo>
                <a:lnTo>
                  <a:pt x="488169" y="2236425"/>
                </a:lnTo>
                <a:lnTo>
                  <a:pt x="491334" y="2236425"/>
                </a:lnTo>
                <a:lnTo>
                  <a:pt x="494577" y="2236425"/>
                </a:lnTo>
                <a:lnTo>
                  <a:pt x="497819" y="2236425"/>
                </a:lnTo>
                <a:lnTo>
                  <a:pt x="497819" y="2233082"/>
                </a:lnTo>
                <a:lnTo>
                  <a:pt x="501036" y="2233082"/>
                </a:lnTo>
                <a:lnTo>
                  <a:pt x="501036" y="2229740"/>
                </a:lnTo>
                <a:lnTo>
                  <a:pt x="504252" y="2229740"/>
                </a:lnTo>
                <a:lnTo>
                  <a:pt x="504252" y="2226419"/>
                </a:lnTo>
                <a:lnTo>
                  <a:pt x="507521" y="2226419"/>
                </a:lnTo>
                <a:lnTo>
                  <a:pt x="510711" y="2226440"/>
                </a:lnTo>
                <a:lnTo>
                  <a:pt x="513980" y="2226440"/>
                </a:lnTo>
                <a:lnTo>
                  <a:pt x="517171" y="2226440"/>
                </a:lnTo>
                <a:lnTo>
                  <a:pt x="520439" y="2226440"/>
                </a:lnTo>
                <a:lnTo>
                  <a:pt x="523656" y="2226440"/>
                </a:lnTo>
                <a:lnTo>
                  <a:pt x="526898" y="2226440"/>
                </a:lnTo>
                <a:lnTo>
                  <a:pt x="530115" y="2226440"/>
                </a:lnTo>
                <a:lnTo>
                  <a:pt x="530115" y="2223077"/>
                </a:lnTo>
                <a:lnTo>
                  <a:pt x="533254" y="2223077"/>
                </a:lnTo>
                <a:lnTo>
                  <a:pt x="536496" y="2223077"/>
                </a:lnTo>
                <a:lnTo>
                  <a:pt x="536496" y="2219714"/>
                </a:lnTo>
                <a:lnTo>
                  <a:pt x="539764" y="2219714"/>
                </a:lnTo>
                <a:lnTo>
                  <a:pt x="542955" y="2219714"/>
                </a:lnTo>
                <a:lnTo>
                  <a:pt x="546224" y="2219714"/>
                </a:lnTo>
                <a:lnTo>
                  <a:pt x="549466" y="2219735"/>
                </a:lnTo>
                <a:lnTo>
                  <a:pt x="552683" y="2219735"/>
                </a:lnTo>
                <a:lnTo>
                  <a:pt x="555925" y="2219735"/>
                </a:lnTo>
                <a:lnTo>
                  <a:pt x="555925" y="2216414"/>
                </a:lnTo>
                <a:lnTo>
                  <a:pt x="559142" y="2216435"/>
                </a:lnTo>
                <a:lnTo>
                  <a:pt x="562385" y="2216435"/>
                </a:lnTo>
                <a:lnTo>
                  <a:pt x="565627" y="2216435"/>
                </a:lnTo>
                <a:lnTo>
                  <a:pt x="565627" y="2209772"/>
                </a:lnTo>
                <a:lnTo>
                  <a:pt x="568818" y="2209772"/>
                </a:lnTo>
                <a:lnTo>
                  <a:pt x="568818" y="2206409"/>
                </a:lnTo>
                <a:lnTo>
                  <a:pt x="571982" y="2206409"/>
                </a:lnTo>
                <a:lnTo>
                  <a:pt x="575251" y="2206409"/>
                </a:lnTo>
                <a:lnTo>
                  <a:pt x="578442" y="2206409"/>
                </a:lnTo>
                <a:lnTo>
                  <a:pt x="581710" y="2206409"/>
                </a:lnTo>
                <a:lnTo>
                  <a:pt x="584901" y="2206430"/>
                </a:lnTo>
                <a:lnTo>
                  <a:pt x="588169" y="2206430"/>
                </a:lnTo>
                <a:lnTo>
                  <a:pt x="588169" y="2203045"/>
                </a:lnTo>
                <a:lnTo>
                  <a:pt x="591386" y="2203045"/>
                </a:lnTo>
                <a:lnTo>
                  <a:pt x="594602" y="2203045"/>
                </a:lnTo>
                <a:lnTo>
                  <a:pt x="597871" y="2203066"/>
                </a:lnTo>
                <a:lnTo>
                  <a:pt x="601062" y="2203066"/>
                </a:lnTo>
                <a:lnTo>
                  <a:pt x="601062" y="2196403"/>
                </a:lnTo>
                <a:lnTo>
                  <a:pt x="604330" y="2196425"/>
                </a:lnTo>
                <a:lnTo>
                  <a:pt x="607572" y="2196425"/>
                </a:lnTo>
                <a:lnTo>
                  <a:pt x="610789" y="2196425"/>
                </a:lnTo>
                <a:lnTo>
                  <a:pt x="613954" y="2196425"/>
                </a:lnTo>
                <a:lnTo>
                  <a:pt x="613954" y="2193061"/>
                </a:lnTo>
                <a:lnTo>
                  <a:pt x="617196" y="2193061"/>
                </a:lnTo>
                <a:lnTo>
                  <a:pt x="620413" y="2193061"/>
                </a:lnTo>
                <a:lnTo>
                  <a:pt x="623656" y="2193061"/>
                </a:lnTo>
                <a:lnTo>
                  <a:pt x="623656" y="2189761"/>
                </a:lnTo>
                <a:lnTo>
                  <a:pt x="626872" y="2189761"/>
                </a:lnTo>
                <a:lnTo>
                  <a:pt x="630089" y="2189761"/>
                </a:lnTo>
                <a:lnTo>
                  <a:pt x="630089" y="2186398"/>
                </a:lnTo>
                <a:lnTo>
                  <a:pt x="633357" y="2186398"/>
                </a:lnTo>
                <a:lnTo>
                  <a:pt x="633357" y="2183056"/>
                </a:lnTo>
                <a:lnTo>
                  <a:pt x="636548" y="2183077"/>
                </a:lnTo>
                <a:lnTo>
                  <a:pt x="639817" y="2183077"/>
                </a:lnTo>
                <a:lnTo>
                  <a:pt x="643033" y="2183077"/>
                </a:lnTo>
                <a:lnTo>
                  <a:pt x="646250" y="2183077"/>
                </a:lnTo>
                <a:lnTo>
                  <a:pt x="649492" y="2183077"/>
                </a:lnTo>
                <a:lnTo>
                  <a:pt x="649492" y="2179756"/>
                </a:lnTo>
                <a:lnTo>
                  <a:pt x="652735" y="2179756"/>
                </a:lnTo>
                <a:lnTo>
                  <a:pt x="655900" y="2179756"/>
                </a:lnTo>
                <a:lnTo>
                  <a:pt x="655900" y="2173029"/>
                </a:lnTo>
                <a:lnTo>
                  <a:pt x="659116" y="2173029"/>
                </a:lnTo>
                <a:lnTo>
                  <a:pt x="659116" y="2166387"/>
                </a:lnTo>
                <a:lnTo>
                  <a:pt x="662359" y="2166387"/>
                </a:lnTo>
                <a:lnTo>
                  <a:pt x="665575" y="2166387"/>
                </a:lnTo>
                <a:lnTo>
                  <a:pt x="668818" y="2166387"/>
                </a:lnTo>
                <a:lnTo>
                  <a:pt x="672034" y="2166387"/>
                </a:lnTo>
                <a:lnTo>
                  <a:pt x="675303" y="2166387"/>
                </a:lnTo>
                <a:lnTo>
                  <a:pt x="675303" y="2163024"/>
                </a:lnTo>
                <a:lnTo>
                  <a:pt x="678494" y="2163024"/>
                </a:lnTo>
                <a:lnTo>
                  <a:pt x="681762" y="2163045"/>
                </a:lnTo>
                <a:lnTo>
                  <a:pt x="684979" y="2163045"/>
                </a:lnTo>
                <a:lnTo>
                  <a:pt x="684979" y="2159724"/>
                </a:lnTo>
                <a:lnTo>
                  <a:pt x="688195" y="2159724"/>
                </a:lnTo>
                <a:lnTo>
                  <a:pt x="688195" y="2156361"/>
                </a:lnTo>
                <a:lnTo>
                  <a:pt x="691438" y="2156361"/>
                </a:lnTo>
                <a:lnTo>
                  <a:pt x="694655" y="2156361"/>
                </a:lnTo>
                <a:lnTo>
                  <a:pt x="697819" y="2156361"/>
                </a:lnTo>
                <a:lnTo>
                  <a:pt x="701088" y="2156361"/>
                </a:lnTo>
                <a:lnTo>
                  <a:pt x="701088" y="2153019"/>
                </a:lnTo>
                <a:lnTo>
                  <a:pt x="704278" y="2153019"/>
                </a:lnTo>
                <a:lnTo>
                  <a:pt x="707547" y="2153019"/>
                </a:lnTo>
                <a:lnTo>
                  <a:pt x="710764" y="2153019"/>
                </a:lnTo>
                <a:lnTo>
                  <a:pt x="714006" y="2153019"/>
                </a:lnTo>
                <a:lnTo>
                  <a:pt x="714006" y="2149719"/>
                </a:lnTo>
                <a:lnTo>
                  <a:pt x="717249" y="2149719"/>
                </a:lnTo>
                <a:lnTo>
                  <a:pt x="720465" y="2149740"/>
                </a:lnTo>
                <a:lnTo>
                  <a:pt x="723682" y="2149740"/>
                </a:lnTo>
                <a:lnTo>
                  <a:pt x="726950" y="2149740"/>
                </a:lnTo>
                <a:lnTo>
                  <a:pt x="730141" y="2149740"/>
                </a:lnTo>
                <a:lnTo>
                  <a:pt x="730141" y="2146376"/>
                </a:lnTo>
                <a:lnTo>
                  <a:pt x="733410" y="2146376"/>
                </a:lnTo>
                <a:lnTo>
                  <a:pt x="736600" y="2146376"/>
                </a:lnTo>
                <a:lnTo>
                  <a:pt x="736600" y="2143013"/>
                </a:lnTo>
                <a:lnTo>
                  <a:pt x="739765" y="2143013"/>
                </a:lnTo>
                <a:lnTo>
                  <a:pt x="743033" y="2143013"/>
                </a:lnTo>
                <a:lnTo>
                  <a:pt x="746224" y="2143013"/>
                </a:lnTo>
                <a:lnTo>
                  <a:pt x="749466" y="2143013"/>
                </a:lnTo>
                <a:lnTo>
                  <a:pt x="752709" y="2143013"/>
                </a:lnTo>
                <a:lnTo>
                  <a:pt x="755926" y="2143013"/>
                </a:lnTo>
                <a:lnTo>
                  <a:pt x="759194" y="2143034"/>
                </a:lnTo>
                <a:lnTo>
                  <a:pt x="762385" y="2143034"/>
                </a:lnTo>
                <a:lnTo>
                  <a:pt x="765653" y="2143034"/>
                </a:lnTo>
                <a:lnTo>
                  <a:pt x="768870" y="2143034"/>
                </a:lnTo>
                <a:lnTo>
                  <a:pt x="768870" y="2136392"/>
                </a:lnTo>
                <a:lnTo>
                  <a:pt x="772112" y="2136392"/>
                </a:lnTo>
                <a:lnTo>
                  <a:pt x="772112" y="2133029"/>
                </a:lnTo>
                <a:lnTo>
                  <a:pt x="775355" y="2133029"/>
                </a:lnTo>
                <a:lnTo>
                  <a:pt x="778494" y="2133029"/>
                </a:lnTo>
                <a:lnTo>
                  <a:pt x="778494" y="2129666"/>
                </a:lnTo>
                <a:lnTo>
                  <a:pt x="781736" y="2129666"/>
                </a:lnTo>
                <a:lnTo>
                  <a:pt x="781736" y="2126345"/>
                </a:lnTo>
                <a:lnTo>
                  <a:pt x="784953" y="2126345"/>
                </a:lnTo>
                <a:lnTo>
                  <a:pt x="784953" y="2122981"/>
                </a:lnTo>
                <a:lnTo>
                  <a:pt x="788196" y="2122981"/>
                </a:lnTo>
                <a:lnTo>
                  <a:pt x="791412" y="2122981"/>
                </a:lnTo>
                <a:lnTo>
                  <a:pt x="794681" y="2122981"/>
                </a:lnTo>
                <a:lnTo>
                  <a:pt x="794681" y="2116339"/>
                </a:lnTo>
                <a:lnTo>
                  <a:pt x="797871" y="2116339"/>
                </a:lnTo>
                <a:lnTo>
                  <a:pt x="801140" y="2116339"/>
                </a:lnTo>
                <a:lnTo>
                  <a:pt x="801140" y="2112976"/>
                </a:lnTo>
                <a:lnTo>
                  <a:pt x="804330" y="2112976"/>
                </a:lnTo>
                <a:lnTo>
                  <a:pt x="807599" y="2112997"/>
                </a:lnTo>
                <a:lnTo>
                  <a:pt x="810815" y="2112997"/>
                </a:lnTo>
                <a:lnTo>
                  <a:pt x="810815" y="2109613"/>
                </a:lnTo>
                <a:lnTo>
                  <a:pt x="814032" y="2109613"/>
                </a:lnTo>
                <a:lnTo>
                  <a:pt x="814032" y="2106313"/>
                </a:lnTo>
                <a:lnTo>
                  <a:pt x="817275" y="2106313"/>
                </a:lnTo>
                <a:lnTo>
                  <a:pt x="817275" y="2102970"/>
                </a:lnTo>
                <a:lnTo>
                  <a:pt x="820465" y="2102970"/>
                </a:lnTo>
                <a:lnTo>
                  <a:pt x="823682" y="2102970"/>
                </a:lnTo>
                <a:lnTo>
                  <a:pt x="826898" y="2102992"/>
                </a:lnTo>
                <a:lnTo>
                  <a:pt x="826898" y="2099628"/>
                </a:lnTo>
                <a:lnTo>
                  <a:pt x="830141" y="2099628"/>
                </a:lnTo>
                <a:lnTo>
                  <a:pt x="830141" y="2096265"/>
                </a:lnTo>
                <a:lnTo>
                  <a:pt x="833358" y="2096265"/>
                </a:lnTo>
                <a:lnTo>
                  <a:pt x="836626" y="2096265"/>
                </a:lnTo>
                <a:lnTo>
                  <a:pt x="839817" y="2096265"/>
                </a:lnTo>
                <a:lnTo>
                  <a:pt x="839817" y="2092944"/>
                </a:lnTo>
                <a:lnTo>
                  <a:pt x="843059" y="2092944"/>
                </a:lnTo>
                <a:lnTo>
                  <a:pt x="846302" y="2092944"/>
                </a:lnTo>
                <a:lnTo>
                  <a:pt x="849519" y="2092944"/>
                </a:lnTo>
                <a:lnTo>
                  <a:pt x="852761" y="2092965"/>
                </a:lnTo>
                <a:lnTo>
                  <a:pt x="852761" y="2089623"/>
                </a:lnTo>
                <a:lnTo>
                  <a:pt x="855978" y="2089644"/>
                </a:lnTo>
                <a:lnTo>
                  <a:pt x="859220" y="2089644"/>
                </a:lnTo>
                <a:lnTo>
                  <a:pt x="862385" y="2089644"/>
                </a:lnTo>
                <a:lnTo>
                  <a:pt x="865601" y="2089644"/>
                </a:lnTo>
                <a:lnTo>
                  <a:pt x="868844" y="2089644"/>
                </a:lnTo>
                <a:lnTo>
                  <a:pt x="868844" y="2086281"/>
                </a:lnTo>
                <a:lnTo>
                  <a:pt x="872061" y="2086281"/>
                </a:lnTo>
                <a:lnTo>
                  <a:pt x="875329" y="2086281"/>
                </a:lnTo>
                <a:lnTo>
                  <a:pt x="875329" y="2082917"/>
                </a:lnTo>
                <a:lnTo>
                  <a:pt x="878546" y="2082917"/>
                </a:lnTo>
                <a:lnTo>
                  <a:pt x="878546" y="2079596"/>
                </a:lnTo>
                <a:lnTo>
                  <a:pt x="881788" y="2079596"/>
                </a:lnTo>
                <a:lnTo>
                  <a:pt x="885005" y="2079596"/>
                </a:lnTo>
                <a:lnTo>
                  <a:pt x="885005" y="2076254"/>
                </a:lnTo>
                <a:lnTo>
                  <a:pt x="888274" y="2076254"/>
                </a:lnTo>
                <a:lnTo>
                  <a:pt x="891464" y="2076254"/>
                </a:lnTo>
                <a:lnTo>
                  <a:pt x="894733" y="2076254"/>
                </a:lnTo>
                <a:lnTo>
                  <a:pt x="897923" y="2076254"/>
                </a:lnTo>
                <a:lnTo>
                  <a:pt x="901192" y="2076254"/>
                </a:lnTo>
                <a:lnTo>
                  <a:pt x="901192" y="2072912"/>
                </a:lnTo>
                <a:lnTo>
                  <a:pt x="904330" y="2072912"/>
                </a:lnTo>
                <a:lnTo>
                  <a:pt x="904330" y="2069549"/>
                </a:lnTo>
                <a:lnTo>
                  <a:pt x="907547" y="2069549"/>
                </a:lnTo>
                <a:lnTo>
                  <a:pt x="907547" y="2066228"/>
                </a:lnTo>
                <a:lnTo>
                  <a:pt x="910790" y="2066228"/>
                </a:lnTo>
                <a:lnTo>
                  <a:pt x="914032" y="2066249"/>
                </a:lnTo>
                <a:lnTo>
                  <a:pt x="917249" y="2066249"/>
                </a:lnTo>
                <a:lnTo>
                  <a:pt x="917249" y="2062886"/>
                </a:lnTo>
                <a:lnTo>
                  <a:pt x="920517" y="2062886"/>
                </a:lnTo>
                <a:lnTo>
                  <a:pt x="920517" y="2056180"/>
                </a:lnTo>
                <a:lnTo>
                  <a:pt x="923708" y="2056180"/>
                </a:lnTo>
                <a:lnTo>
                  <a:pt x="926976" y="2056201"/>
                </a:lnTo>
                <a:lnTo>
                  <a:pt x="930193" y="2056201"/>
                </a:lnTo>
                <a:lnTo>
                  <a:pt x="930193" y="2049517"/>
                </a:lnTo>
                <a:lnTo>
                  <a:pt x="933436" y="2049517"/>
                </a:lnTo>
                <a:lnTo>
                  <a:pt x="933436" y="2042790"/>
                </a:lnTo>
                <a:lnTo>
                  <a:pt x="936652" y="2042811"/>
                </a:lnTo>
                <a:lnTo>
                  <a:pt x="936652" y="2039511"/>
                </a:lnTo>
                <a:lnTo>
                  <a:pt x="939895" y="2039511"/>
                </a:lnTo>
                <a:lnTo>
                  <a:pt x="943111" y="2039511"/>
                </a:lnTo>
                <a:lnTo>
                  <a:pt x="946276" y="2039511"/>
                </a:lnTo>
                <a:lnTo>
                  <a:pt x="949519" y="2039511"/>
                </a:lnTo>
                <a:lnTo>
                  <a:pt x="949519" y="2032785"/>
                </a:lnTo>
                <a:lnTo>
                  <a:pt x="952735" y="2032785"/>
                </a:lnTo>
                <a:lnTo>
                  <a:pt x="956004" y="2032785"/>
                </a:lnTo>
                <a:lnTo>
                  <a:pt x="959194" y="2032785"/>
                </a:lnTo>
                <a:lnTo>
                  <a:pt x="962437" y="2032785"/>
                </a:lnTo>
                <a:lnTo>
                  <a:pt x="965654" y="2032785"/>
                </a:lnTo>
                <a:lnTo>
                  <a:pt x="968896" y="2032806"/>
                </a:lnTo>
                <a:lnTo>
                  <a:pt x="968896" y="2029422"/>
                </a:lnTo>
                <a:lnTo>
                  <a:pt x="972139" y="2029422"/>
                </a:lnTo>
                <a:lnTo>
                  <a:pt x="975355" y="2029422"/>
                </a:lnTo>
                <a:lnTo>
                  <a:pt x="978598" y="2029422"/>
                </a:lnTo>
                <a:lnTo>
                  <a:pt x="978598" y="2026143"/>
                </a:lnTo>
                <a:lnTo>
                  <a:pt x="981840" y="2026143"/>
                </a:lnTo>
                <a:lnTo>
                  <a:pt x="985005" y="2026143"/>
                </a:lnTo>
                <a:lnTo>
                  <a:pt x="988222" y="2026143"/>
                </a:lnTo>
                <a:lnTo>
                  <a:pt x="991464" y="2026143"/>
                </a:lnTo>
                <a:lnTo>
                  <a:pt x="994681" y="2026143"/>
                </a:lnTo>
                <a:lnTo>
                  <a:pt x="997923" y="2026143"/>
                </a:lnTo>
                <a:lnTo>
                  <a:pt x="1001140" y="2026164"/>
                </a:lnTo>
                <a:lnTo>
                  <a:pt x="1001140" y="2022801"/>
                </a:lnTo>
                <a:lnTo>
                  <a:pt x="1004382" y="2022801"/>
                </a:lnTo>
                <a:lnTo>
                  <a:pt x="1007599" y="2022801"/>
                </a:lnTo>
                <a:lnTo>
                  <a:pt x="1010842" y="2022801"/>
                </a:lnTo>
                <a:lnTo>
                  <a:pt x="1014084" y="2022801"/>
                </a:lnTo>
                <a:lnTo>
                  <a:pt x="1014084" y="2019437"/>
                </a:lnTo>
                <a:lnTo>
                  <a:pt x="1017301" y="2019458"/>
                </a:lnTo>
                <a:lnTo>
                  <a:pt x="1020543" y="2019458"/>
                </a:lnTo>
                <a:lnTo>
                  <a:pt x="1020543" y="2016095"/>
                </a:lnTo>
                <a:lnTo>
                  <a:pt x="1023786" y="2016095"/>
                </a:lnTo>
                <a:lnTo>
                  <a:pt x="1023786" y="2012732"/>
                </a:lnTo>
                <a:lnTo>
                  <a:pt x="1026925" y="2012732"/>
                </a:lnTo>
                <a:lnTo>
                  <a:pt x="1030167" y="2012732"/>
                </a:lnTo>
                <a:lnTo>
                  <a:pt x="1030167" y="2009432"/>
                </a:lnTo>
                <a:lnTo>
                  <a:pt x="1033384" y="2009432"/>
                </a:lnTo>
                <a:lnTo>
                  <a:pt x="1033384" y="2006090"/>
                </a:lnTo>
                <a:lnTo>
                  <a:pt x="1036626" y="2006090"/>
                </a:lnTo>
                <a:lnTo>
                  <a:pt x="1039869" y="2006090"/>
                </a:lnTo>
                <a:lnTo>
                  <a:pt x="1043111" y="2006090"/>
                </a:lnTo>
                <a:lnTo>
                  <a:pt x="1046328" y="2006090"/>
                </a:lnTo>
                <a:lnTo>
                  <a:pt x="1046328" y="2002727"/>
                </a:lnTo>
                <a:lnTo>
                  <a:pt x="1049597" y="2002727"/>
                </a:lnTo>
                <a:lnTo>
                  <a:pt x="1052787" y="2002727"/>
                </a:lnTo>
                <a:lnTo>
                  <a:pt x="1056030" y="2002727"/>
                </a:lnTo>
                <a:lnTo>
                  <a:pt x="1059246" y="2002748"/>
                </a:lnTo>
                <a:lnTo>
                  <a:pt x="1062489" y="2002748"/>
                </a:lnTo>
                <a:lnTo>
                  <a:pt x="1065731" y="2002748"/>
                </a:lnTo>
                <a:lnTo>
                  <a:pt x="1068870" y="2002748"/>
                </a:lnTo>
                <a:lnTo>
                  <a:pt x="1072113" y="2002748"/>
                </a:lnTo>
                <a:lnTo>
                  <a:pt x="1072113" y="1999384"/>
                </a:lnTo>
                <a:lnTo>
                  <a:pt x="1075330" y="1999384"/>
                </a:lnTo>
                <a:lnTo>
                  <a:pt x="1078572" y="1999384"/>
                </a:lnTo>
                <a:lnTo>
                  <a:pt x="1081840" y="1999384"/>
                </a:lnTo>
                <a:lnTo>
                  <a:pt x="1081840" y="1996042"/>
                </a:lnTo>
                <a:lnTo>
                  <a:pt x="1085031" y="1996042"/>
                </a:lnTo>
                <a:lnTo>
                  <a:pt x="1088274" y="1996042"/>
                </a:lnTo>
                <a:lnTo>
                  <a:pt x="1091516" y="1996042"/>
                </a:lnTo>
                <a:lnTo>
                  <a:pt x="1094733" y="1996042"/>
                </a:lnTo>
                <a:lnTo>
                  <a:pt x="1094733" y="1992742"/>
                </a:lnTo>
                <a:lnTo>
                  <a:pt x="1097975" y="1992742"/>
                </a:lnTo>
                <a:lnTo>
                  <a:pt x="1097975" y="1989379"/>
                </a:lnTo>
                <a:lnTo>
                  <a:pt x="1101218" y="1989379"/>
                </a:lnTo>
                <a:lnTo>
                  <a:pt x="1101218" y="1986037"/>
                </a:lnTo>
                <a:lnTo>
                  <a:pt x="1104434" y="1986037"/>
                </a:lnTo>
                <a:lnTo>
                  <a:pt x="1107703" y="1986037"/>
                </a:lnTo>
                <a:lnTo>
                  <a:pt x="1110842" y="1986037"/>
                </a:lnTo>
                <a:lnTo>
                  <a:pt x="1114058" y="1986037"/>
                </a:lnTo>
                <a:lnTo>
                  <a:pt x="1117275" y="1986037"/>
                </a:lnTo>
                <a:lnTo>
                  <a:pt x="1120517" y="1986037"/>
                </a:lnTo>
                <a:lnTo>
                  <a:pt x="1123760" y="1986037"/>
                </a:lnTo>
                <a:lnTo>
                  <a:pt x="1126977" y="1986037"/>
                </a:lnTo>
                <a:lnTo>
                  <a:pt x="1126977" y="1982673"/>
                </a:lnTo>
                <a:lnTo>
                  <a:pt x="1130219" y="1982673"/>
                </a:lnTo>
                <a:lnTo>
                  <a:pt x="1133488" y="1982673"/>
                </a:lnTo>
                <a:lnTo>
                  <a:pt x="1136678" y="1982673"/>
                </a:lnTo>
                <a:lnTo>
                  <a:pt x="1139921" y="1982673"/>
                </a:lnTo>
                <a:lnTo>
                  <a:pt x="1139921" y="1979331"/>
                </a:lnTo>
                <a:lnTo>
                  <a:pt x="1143138" y="1979352"/>
                </a:lnTo>
                <a:lnTo>
                  <a:pt x="1146380" y="1979352"/>
                </a:lnTo>
                <a:lnTo>
                  <a:pt x="1146380" y="1975968"/>
                </a:lnTo>
                <a:lnTo>
                  <a:pt x="1149571" y="1975968"/>
                </a:lnTo>
                <a:lnTo>
                  <a:pt x="1152761" y="1975989"/>
                </a:lnTo>
                <a:lnTo>
                  <a:pt x="1156004" y="1975989"/>
                </a:lnTo>
                <a:lnTo>
                  <a:pt x="1159246" y="1975989"/>
                </a:lnTo>
                <a:lnTo>
                  <a:pt x="1162463" y="1975989"/>
                </a:lnTo>
                <a:lnTo>
                  <a:pt x="1165706" y="1975989"/>
                </a:lnTo>
                <a:lnTo>
                  <a:pt x="1168922" y="1975989"/>
                </a:lnTo>
                <a:lnTo>
                  <a:pt x="1168922" y="1972647"/>
                </a:lnTo>
                <a:lnTo>
                  <a:pt x="1172165" y="1972647"/>
                </a:lnTo>
                <a:lnTo>
                  <a:pt x="1175408" y="1972647"/>
                </a:lnTo>
                <a:lnTo>
                  <a:pt x="1178624" y="1972647"/>
                </a:lnTo>
                <a:lnTo>
                  <a:pt x="1178624" y="1969284"/>
                </a:lnTo>
                <a:lnTo>
                  <a:pt x="1181866" y="1969284"/>
                </a:lnTo>
                <a:lnTo>
                  <a:pt x="1185083" y="1969284"/>
                </a:lnTo>
                <a:lnTo>
                  <a:pt x="1188325" y="1969284"/>
                </a:lnTo>
                <a:lnTo>
                  <a:pt x="1188325" y="1965920"/>
                </a:lnTo>
                <a:lnTo>
                  <a:pt x="1191490" y="1965920"/>
                </a:lnTo>
                <a:lnTo>
                  <a:pt x="1194707" y="1965920"/>
                </a:lnTo>
                <a:lnTo>
                  <a:pt x="1197949" y="1965941"/>
                </a:lnTo>
                <a:lnTo>
                  <a:pt x="1197949" y="1959278"/>
                </a:lnTo>
                <a:lnTo>
                  <a:pt x="1201192" y="1959278"/>
                </a:lnTo>
                <a:lnTo>
                  <a:pt x="1204434" y="1959278"/>
                </a:lnTo>
                <a:lnTo>
                  <a:pt x="1207651" y="1959278"/>
                </a:lnTo>
                <a:lnTo>
                  <a:pt x="1207651" y="1955915"/>
                </a:lnTo>
                <a:lnTo>
                  <a:pt x="1210868" y="1955915"/>
                </a:lnTo>
                <a:lnTo>
                  <a:pt x="1214110" y="1955915"/>
                </a:lnTo>
                <a:lnTo>
                  <a:pt x="1217353" y="1955915"/>
                </a:lnTo>
                <a:lnTo>
                  <a:pt x="1217353" y="1952573"/>
                </a:lnTo>
                <a:lnTo>
                  <a:pt x="1220570" y="1952573"/>
                </a:lnTo>
                <a:lnTo>
                  <a:pt x="1223812" y="1952573"/>
                </a:lnTo>
                <a:lnTo>
                  <a:pt x="1227055" y="1952573"/>
                </a:lnTo>
                <a:lnTo>
                  <a:pt x="1227055" y="1949231"/>
                </a:lnTo>
                <a:lnTo>
                  <a:pt x="1230271" y="1949231"/>
                </a:lnTo>
                <a:lnTo>
                  <a:pt x="1233436" y="1949231"/>
                </a:lnTo>
                <a:lnTo>
                  <a:pt x="1233436" y="1945867"/>
                </a:lnTo>
                <a:lnTo>
                  <a:pt x="1236653" y="1945867"/>
                </a:lnTo>
                <a:lnTo>
                  <a:pt x="1236653" y="1942525"/>
                </a:lnTo>
                <a:lnTo>
                  <a:pt x="1239895" y="1942525"/>
                </a:lnTo>
                <a:lnTo>
                  <a:pt x="1239895" y="1939162"/>
                </a:lnTo>
                <a:lnTo>
                  <a:pt x="1243138" y="1939162"/>
                </a:lnTo>
                <a:lnTo>
                  <a:pt x="1246354" y="1939162"/>
                </a:lnTo>
                <a:lnTo>
                  <a:pt x="1246354" y="1935799"/>
                </a:lnTo>
                <a:lnTo>
                  <a:pt x="1249597" y="1935799"/>
                </a:lnTo>
                <a:lnTo>
                  <a:pt x="1249597" y="1929093"/>
                </a:lnTo>
                <a:lnTo>
                  <a:pt x="1252813" y="1929093"/>
                </a:lnTo>
                <a:lnTo>
                  <a:pt x="1256056" y="1929093"/>
                </a:lnTo>
                <a:lnTo>
                  <a:pt x="1259298" y="1929093"/>
                </a:lnTo>
                <a:lnTo>
                  <a:pt x="1262541" y="1929093"/>
                </a:lnTo>
                <a:lnTo>
                  <a:pt x="1262541" y="1922366"/>
                </a:lnTo>
                <a:lnTo>
                  <a:pt x="1265757" y="1922366"/>
                </a:lnTo>
                <a:lnTo>
                  <a:pt x="1269026" y="1922366"/>
                </a:lnTo>
                <a:lnTo>
                  <a:pt x="1272217" y="1922366"/>
                </a:lnTo>
                <a:lnTo>
                  <a:pt x="1272217" y="1915682"/>
                </a:lnTo>
                <a:lnTo>
                  <a:pt x="1275381" y="1915682"/>
                </a:lnTo>
                <a:lnTo>
                  <a:pt x="1278598" y="1915682"/>
                </a:lnTo>
                <a:lnTo>
                  <a:pt x="1281841" y="1915682"/>
                </a:lnTo>
                <a:lnTo>
                  <a:pt x="1285083" y="1915682"/>
                </a:lnTo>
                <a:lnTo>
                  <a:pt x="1288300" y="1915682"/>
                </a:lnTo>
                <a:lnTo>
                  <a:pt x="1291542" y="1915682"/>
                </a:lnTo>
                <a:lnTo>
                  <a:pt x="1294811" y="1915682"/>
                </a:lnTo>
                <a:lnTo>
                  <a:pt x="1298001" y="1915682"/>
                </a:lnTo>
                <a:lnTo>
                  <a:pt x="1301244" y="1915703"/>
                </a:lnTo>
                <a:lnTo>
                  <a:pt x="1304461" y="1915703"/>
                </a:lnTo>
                <a:lnTo>
                  <a:pt x="1307677" y="1915703"/>
                </a:lnTo>
                <a:lnTo>
                  <a:pt x="1310946" y="1915703"/>
                </a:lnTo>
                <a:lnTo>
                  <a:pt x="1310946" y="1912340"/>
                </a:lnTo>
                <a:lnTo>
                  <a:pt x="1314163" y="1912340"/>
                </a:lnTo>
                <a:lnTo>
                  <a:pt x="1317327" y="1912340"/>
                </a:lnTo>
                <a:lnTo>
                  <a:pt x="1320544" y="1912340"/>
                </a:lnTo>
                <a:lnTo>
                  <a:pt x="1320544" y="1908977"/>
                </a:lnTo>
                <a:lnTo>
                  <a:pt x="1323786" y="1908977"/>
                </a:lnTo>
                <a:lnTo>
                  <a:pt x="1323786" y="1905613"/>
                </a:lnTo>
                <a:lnTo>
                  <a:pt x="1327029" y="1905613"/>
                </a:lnTo>
                <a:lnTo>
                  <a:pt x="1330245" y="1905613"/>
                </a:lnTo>
                <a:lnTo>
                  <a:pt x="1333488" y="1905613"/>
                </a:lnTo>
                <a:lnTo>
                  <a:pt x="1333488" y="1902292"/>
                </a:lnTo>
                <a:lnTo>
                  <a:pt x="1336731" y="1902292"/>
                </a:lnTo>
                <a:lnTo>
                  <a:pt x="1339947" y="1902292"/>
                </a:lnTo>
                <a:lnTo>
                  <a:pt x="1343164" y="1902292"/>
                </a:lnTo>
                <a:lnTo>
                  <a:pt x="1346406" y="1902292"/>
                </a:lnTo>
                <a:lnTo>
                  <a:pt x="1346406" y="1895566"/>
                </a:lnTo>
                <a:lnTo>
                  <a:pt x="1349649" y="1895587"/>
                </a:lnTo>
                <a:lnTo>
                  <a:pt x="1352891" y="1895587"/>
                </a:lnTo>
                <a:lnTo>
                  <a:pt x="1352891" y="1892202"/>
                </a:lnTo>
                <a:lnTo>
                  <a:pt x="1356030" y="1892202"/>
                </a:lnTo>
                <a:lnTo>
                  <a:pt x="1356030" y="1888839"/>
                </a:lnTo>
                <a:lnTo>
                  <a:pt x="1359273" y="1888860"/>
                </a:lnTo>
                <a:lnTo>
                  <a:pt x="1359273" y="1882133"/>
                </a:lnTo>
                <a:lnTo>
                  <a:pt x="1362515" y="1882133"/>
                </a:lnTo>
                <a:lnTo>
                  <a:pt x="1365732" y="1882133"/>
                </a:lnTo>
                <a:lnTo>
                  <a:pt x="1365732" y="1878791"/>
                </a:lnTo>
                <a:lnTo>
                  <a:pt x="1368974" y="1878791"/>
                </a:lnTo>
                <a:lnTo>
                  <a:pt x="1372191" y="1878813"/>
                </a:lnTo>
                <a:lnTo>
                  <a:pt x="1375434" y="1878813"/>
                </a:lnTo>
                <a:lnTo>
                  <a:pt x="1375434" y="1875428"/>
                </a:lnTo>
                <a:lnTo>
                  <a:pt x="1378676" y="1875428"/>
                </a:lnTo>
                <a:lnTo>
                  <a:pt x="1381893" y="1875428"/>
                </a:lnTo>
                <a:lnTo>
                  <a:pt x="1385135" y="1875449"/>
                </a:lnTo>
                <a:lnTo>
                  <a:pt x="1388352" y="1875449"/>
                </a:lnTo>
                <a:lnTo>
                  <a:pt x="1391594" y="1875449"/>
                </a:lnTo>
                <a:lnTo>
                  <a:pt x="1394837" y="1875449"/>
                </a:lnTo>
                <a:lnTo>
                  <a:pt x="1394837" y="1872086"/>
                </a:lnTo>
                <a:lnTo>
                  <a:pt x="1397976" y="1872086"/>
                </a:lnTo>
                <a:lnTo>
                  <a:pt x="1401218" y="1872086"/>
                </a:lnTo>
                <a:lnTo>
                  <a:pt x="1401218" y="1868743"/>
                </a:lnTo>
                <a:lnTo>
                  <a:pt x="1404461" y="1868743"/>
                </a:lnTo>
                <a:lnTo>
                  <a:pt x="1404461" y="1862017"/>
                </a:lnTo>
                <a:lnTo>
                  <a:pt x="1407677" y="1862017"/>
                </a:lnTo>
                <a:lnTo>
                  <a:pt x="1410920" y="1862017"/>
                </a:lnTo>
                <a:lnTo>
                  <a:pt x="1414136" y="1862017"/>
                </a:lnTo>
                <a:lnTo>
                  <a:pt x="1414136" y="1858654"/>
                </a:lnTo>
                <a:lnTo>
                  <a:pt x="1417379" y="1858654"/>
                </a:lnTo>
                <a:lnTo>
                  <a:pt x="1420621" y="1858654"/>
                </a:lnTo>
                <a:lnTo>
                  <a:pt x="1420621" y="1855311"/>
                </a:lnTo>
                <a:lnTo>
                  <a:pt x="1423838" y="1855311"/>
                </a:lnTo>
                <a:lnTo>
                  <a:pt x="1423838" y="1848606"/>
                </a:lnTo>
                <a:lnTo>
                  <a:pt x="1427081" y="1848606"/>
                </a:lnTo>
                <a:lnTo>
                  <a:pt x="1430323" y="1848606"/>
                </a:lnTo>
                <a:lnTo>
                  <a:pt x="1430323" y="1845243"/>
                </a:lnTo>
                <a:lnTo>
                  <a:pt x="1433540" y="1845243"/>
                </a:lnTo>
                <a:lnTo>
                  <a:pt x="1436782" y="1845243"/>
                </a:lnTo>
                <a:lnTo>
                  <a:pt x="1439921" y="1845243"/>
                </a:lnTo>
                <a:lnTo>
                  <a:pt x="1439921" y="1841900"/>
                </a:lnTo>
                <a:lnTo>
                  <a:pt x="1443164" y="1841900"/>
                </a:lnTo>
                <a:lnTo>
                  <a:pt x="1446406" y="1841900"/>
                </a:lnTo>
                <a:lnTo>
                  <a:pt x="1449623" y="1841900"/>
                </a:lnTo>
                <a:lnTo>
                  <a:pt x="1452865" y="1841900"/>
                </a:lnTo>
                <a:lnTo>
                  <a:pt x="1456082" y="1841900"/>
                </a:lnTo>
                <a:lnTo>
                  <a:pt x="1459325" y="1841922"/>
                </a:lnTo>
                <a:lnTo>
                  <a:pt x="1462541" y="1841922"/>
                </a:lnTo>
                <a:lnTo>
                  <a:pt x="1465784" y="1841922"/>
                </a:lnTo>
                <a:lnTo>
                  <a:pt x="1469000" y="1841922"/>
                </a:lnTo>
                <a:lnTo>
                  <a:pt x="1472269" y="1841922"/>
                </a:lnTo>
                <a:lnTo>
                  <a:pt x="1475486" y="1841922"/>
                </a:lnTo>
                <a:lnTo>
                  <a:pt x="1478728" y="1841922"/>
                </a:lnTo>
                <a:lnTo>
                  <a:pt x="1481867" y="1841922"/>
                </a:lnTo>
                <a:lnTo>
                  <a:pt x="1481867" y="1838579"/>
                </a:lnTo>
                <a:lnTo>
                  <a:pt x="1485109" y="1838579"/>
                </a:lnTo>
                <a:lnTo>
                  <a:pt x="1485109" y="1835216"/>
                </a:lnTo>
                <a:lnTo>
                  <a:pt x="1488352" y="1835216"/>
                </a:lnTo>
                <a:lnTo>
                  <a:pt x="1491568" y="1835216"/>
                </a:lnTo>
                <a:lnTo>
                  <a:pt x="1494811" y="1835216"/>
                </a:lnTo>
                <a:lnTo>
                  <a:pt x="1498028" y="1835237"/>
                </a:lnTo>
                <a:lnTo>
                  <a:pt x="1501270" y="1835237"/>
                </a:lnTo>
                <a:lnTo>
                  <a:pt x="1504487" y="1835237"/>
                </a:lnTo>
                <a:lnTo>
                  <a:pt x="1504487" y="1828489"/>
                </a:lnTo>
                <a:lnTo>
                  <a:pt x="1507729" y="1828511"/>
                </a:lnTo>
                <a:lnTo>
                  <a:pt x="1507729" y="1825147"/>
                </a:lnTo>
                <a:lnTo>
                  <a:pt x="1510972" y="1825147"/>
                </a:lnTo>
                <a:lnTo>
                  <a:pt x="1510972" y="1821784"/>
                </a:lnTo>
                <a:lnTo>
                  <a:pt x="1514214" y="1821805"/>
                </a:lnTo>
                <a:lnTo>
                  <a:pt x="1517431" y="1821805"/>
                </a:lnTo>
                <a:lnTo>
                  <a:pt x="1520674" y="1821805"/>
                </a:lnTo>
                <a:lnTo>
                  <a:pt x="1520674" y="1818463"/>
                </a:lnTo>
                <a:lnTo>
                  <a:pt x="1523813" y="1818463"/>
                </a:lnTo>
                <a:lnTo>
                  <a:pt x="1523813" y="1815079"/>
                </a:lnTo>
                <a:lnTo>
                  <a:pt x="1527055" y="1815079"/>
                </a:lnTo>
                <a:lnTo>
                  <a:pt x="1530298" y="1815100"/>
                </a:lnTo>
                <a:lnTo>
                  <a:pt x="1533514" y="1815100"/>
                </a:lnTo>
                <a:lnTo>
                  <a:pt x="1536757" y="1815100"/>
                </a:lnTo>
                <a:lnTo>
                  <a:pt x="1536757" y="1811673"/>
                </a:lnTo>
                <a:lnTo>
                  <a:pt x="1539999" y="1811694"/>
                </a:lnTo>
                <a:lnTo>
                  <a:pt x="1539999" y="1804967"/>
                </a:lnTo>
                <a:lnTo>
                  <a:pt x="1543216" y="1804967"/>
                </a:lnTo>
                <a:lnTo>
                  <a:pt x="1546458" y="1804989"/>
                </a:lnTo>
                <a:lnTo>
                  <a:pt x="1546458" y="1801625"/>
                </a:lnTo>
                <a:lnTo>
                  <a:pt x="1549675" y="1801625"/>
                </a:lnTo>
                <a:lnTo>
                  <a:pt x="1549675" y="1794898"/>
                </a:lnTo>
                <a:lnTo>
                  <a:pt x="1552918" y="1794898"/>
                </a:lnTo>
                <a:lnTo>
                  <a:pt x="1552918" y="1791535"/>
                </a:lnTo>
                <a:lnTo>
                  <a:pt x="1556134" y="1791535"/>
                </a:lnTo>
                <a:lnTo>
                  <a:pt x="1559377" y="1791556"/>
                </a:lnTo>
                <a:lnTo>
                  <a:pt x="1562541" y="1791556"/>
                </a:lnTo>
                <a:lnTo>
                  <a:pt x="1565784" y="1791556"/>
                </a:lnTo>
                <a:lnTo>
                  <a:pt x="1569000" y="1791556"/>
                </a:lnTo>
                <a:lnTo>
                  <a:pt x="1572243" y="1791556"/>
                </a:lnTo>
                <a:lnTo>
                  <a:pt x="1575460" y="1791556"/>
                </a:lnTo>
                <a:lnTo>
                  <a:pt x="1578702" y="1791556"/>
                </a:lnTo>
                <a:lnTo>
                  <a:pt x="1581945" y="1791556"/>
                </a:lnTo>
                <a:lnTo>
                  <a:pt x="1585161" y="1791556"/>
                </a:lnTo>
                <a:lnTo>
                  <a:pt x="1588404" y="1791599"/>
                </a:lnTo>
                <a:lnTo>
                  <a:pt x="1591620" y="1791599"/>
                </a:lnTo>
                <a:lnTo>
                  <a:pt x="1594863" y="1791599"/>
                </a:lnTo>
                <a:lnTo>
                  <a:pt x="1598105" y="1791599"/>
                </a:lnTo>
                <a:lnTo>
                  <a:pt x="1601322" y="1791599"/>
                </a:lnTo>
                <a:lnTo>
                  <a:pt x="1604487" y="1791599"/>
                </a:lnTo>
                <a:lnTo>
                  <a:pt x="1604487" y="1784872"/>
                </a:lnTo>
                <a:lnTo>
                  <a:pt x="1607729" y="1784872"/>
                </a:lnTo>
                <a:lnTo>
                  <a:pt x="1610946" y="1784872"/>
                </a:lnTo>
                <a:lnTo>
                  <a:pt x="1610946" y="1781445"/>
                </a:lnTo>
                <a:lnTo>
                  <a:pt x="1614189" y="1781445"/>
                </a:lnTo>
                <a:lnTo>
                  <a:pt x="1617379" y="1781445"/>
                </a:lnTo>
                <a:lnTo>
                  <a:pt x="1620648" y="1781466"/>
                </a:lnTo>
                <a:lnTo>
                  <a:pt x="1623891" y="1781466"/>
                </a:lnTo>
                <a:lnTo>
                  <a:pt x="1623891" y="1778103"/>
                </a:lnTo>
                <a:lnTo>
                  <a:pt x="1627107" y="1778103"/>
                </a:lnTo>
                <a:lnTo>
                  <a:pt x="1630323" y="1778103"/>
                </a:lnTo>
                <a:lnTo>
                  <a:pt x="1633592" y="1778103"/>
                </a:lnTo>
                <a:lnTo>
                  <a:pt x="1636783" y="1778103"/>
                </a:lnTo>
                <a:lnTo>
                  <a:pt x="1640051" y="1778103"/>
                </a:lnTo>
                <a:lnTo>
                  <a:pt x="1643268" y="1778103"/>
                </a:lnTo>
                <a:lnTo>
                  <a:pt x="1646432" y="1778124"/>
                </a:lnTo>
                <a:lnTo>
                  <a:pt x="1646432" y="1771419"/>
                </a:lnTo>
                <a:lnTo>
                  <a:pt x="1649675" y="1771419"/>
                </a:lnTo>
                <a:lnTo>
                  <a:pt x="1652866" y="1771419"/>
                </a:lnTo>
                <a:lnTo>
                  <a:pt x="1656134" y="1771419"/>
                </a:lnTo>
                <a:lnTo>
                  <a:pt x="1659325" y="1771419"/>
                </a:lnTo>
                <a:lnTo>
                  <a:pt x="1662593" y="1771440"/>
                </a:lnTo>
                <a:lnTo>
                  <a:pt x="1665810" y="1771440"/>
                </a:lnTo>
                <a:lnTo>
                  <a:pt x="1669053" y="1771440"/>
                </a:lnTo>
                <a:lnTo>
                  <a:pt x="1672295" y="1771440"/>
                </a:lnTo>
                <a:lnTo>
                  <a:pt x="1675538" y="1771440"/>
                </a:lnTo>
                <a:lnTo>
                  <a:pt x="1678754" y="1771440"/>
                </a:lnTo>
                <a:lnTo>
                  <a:pt x="1678754" y="1768076"/>
                </a:lnTo>
                <a:lnTo>
                  <a:pt x="1681971" y="1768076"/>
                </a:lnTo>
                <a:lnTo>
                  <a:pt x="1685213" y="1768076"/>
                </a:lnTo>
                <a:lnTo>
                  <a:pt x="1688378" y="1768076"/>
                </a:lnTo>
                <a:lnTo>
                  <a:pt x="1691621" y="1768098"/>
                </a:lnTo>
                <a:lnTo>
                  <a:pt x="1691621" y="1764671"/>
                </a:lnTo>
                <a:lnTo>
                  <a:pt x="1694837" y="1764671"/>
                </a:lnTo>
                <a:lnTo>
                  <a:pt x="1698080" y="1764671"/>
                </a:lnTo>
                <a:lnTo>
                  <a:pt x="1698080" y="1761308"/>
                </a:lnTo>
                <a:lnTo>
                  <a:pt x="1701296" y="1761308"/>
                </a:lnTo>
                <a:lnTo>
                  <a:pt x="1701296" y="1757965"/>
                </a:lnTo>
                <a:lnTo>
                  <a:pt x="1704539" y="1757965"/>
                </a:lnTo>
                <a:lnTo>
                  <a:pt x="1707782" y="1757965"/>
                </a:lnTo>
                <a:lnTo>
                  <a:pt x="1707782" y="1754623"/>
                </a:lnTo>
                <a:lnTo>
                  <a:pt x="1710972" y="1754623"/>
                </a:lnTo>
                <a:lnTo>
                  <a:pt x="1710972" y="1751260"/>
                </a:lnTo>
                <a:lnTo>
                  <a:pt x="1714241" y="1751260"/>
                </a:lnTo>
                <a:lnTo>
                  <a:pt x="1714241" y="1747854"/>
                </a:lnTo>
                <a:lnTo>
                  <a:pt x="1717457" y="1747854"/>
                </a:lnTo>
                <a:lnTo>
                  <a:pt x="1717457" y="1744491"/>
                </a:lnTo>
                <a:lnTo>
                  <a:pt x="1720700" y="1744491"/>
                </a:lnTo>
                <a:lnTo>
                  <a:pt x="1723916" y="1744491"/>
                </a:lnTo>
                <a:lnTo>
                  <a:pt x="1727159" y="1744491"/>
                </a:lnTo>
                <a:lnTo>
                  <a:pt x="1730324" y="1744491"/>
                </a:lnTo>
                <a:lnTo>
                  <a:pt x="1730324" y="1737743"/>
                </a:lnTo>
                <a:lnTo>
                  <a:pt x="1733566" y="1737743"/>
                </a:lnTo>
                <a:lnTo>
                  <a:pt x="1736757" y="1737743"/>
                </a:lnTo>
                <a:lnTo>
                  <a:pt x="1736757" y="1734380"/>
                </a:lnTo>
                <a:lnTo>
                  <a:pt x="1740025" y="1734380"/>
                </a:lnTo>
                <a:lnTo>
                  <a:pt x="1743242" y="1734380"/>
                </a:lnTo>
                <a:lnTo>
                  <a:pt x="1746484" y="1734380"/>
                </a:lnTo>
                <a:lnTo>
                  <a:pt x="1749727" y="1734380"/>
                </a:lnTo>
                <a:lnTo>
                  <a:pt x="1752944" y="1734380"/>
                </a:lnTo>
                <a:lnTo>
                  <a:pt x="1756186" y="1734401"/>
                </a:lnTo>
                <a:lnTo>
                  <a:pt x="1759429" y="1734401"/>
                </a:lnTo>
                <a:lnTo>
                  <a:pt x="1762646" y="1734401"/>
                </a:lnTo>
                <a:lnTo>
                  <a:pt x="1765888" y="1734401"/>
                </a:lnTo>
                <a:lnTo>
                  <a:pt x="1769027" y="1734401"/>
                </a:lnTo>
                <a:lnTo>
                  <a:pt x="1769027" y="1731038"/>
                </a:lnTo>
                <a:lnTo>
                  <a:pt x="1772243" y="1731038"/>
                </a:lnTo>
                <a:lnTo>
                  <a:pt x="1772243" y="1727695"/>
                </a:lnTo>
                <a:lnTo>
                  <a:pt x="1775512" y="1727695"/>
                </a:lnTo>
                <a:lnTo>
                  <a:pt x="1778702" y="1727695"/>
                </a:lnTo>
                <a:lnTo>
                  <a:pt x="1781971" y="1727695"/>
                </a:lnTo>
                <a:lnTo>
                  <a:pt x="1785214" y="1727695"/>
                </a:lnTo>
                <a:lnTo>
                  <a:pt x="1785214" y="1724290"/>
                </a:lnTo>
                <a:lnTo>
                  <a:pt x="1788430" y="1724290"/>
                </a:lnTo>
                <a:lnTo>
                  <a:pt x="1791646" y="1724290"/>
                </a:lnTo>
                <a:lnTo>
                  <a:pt x="1794889" y="1724311"/>
                </a:lnTo>
                <a:lnTo>
                  <a:pt x="1794889" y="1720948"/>
                </a:lnTo>
                <a:lnTo>
                  <a:pt x="1798106" y="1720948"/>
                </a:lnTo>
                <a:lnTo>
                  <a:pt x="1801374" y="1720948"/>
                </a:lnTo>
                <a:lnTo>
                  <a:pt x="1804565" y="1720948"/>
                </a:lnTo>
                <a:lnTo>
                  <a:pt x="1804565" y="1717584"/>
                </a:lnTo>
                <a:lnTo>
                  <a:pt x="1807833" y="1717584"/>
                </a:lnTo>
                <a:lnTo>
                  <a:pt x="1810998" y="1717584"/>
                </a:lnTo>
                <a:lnTo>
                  <a:pt x="1810998" y="1714179"/>
                </a:lnTo>
                <a:lnTo>
                  <a:pt x="1814189" y="1714179"/>
                </a:lnTo>
                <a:lnTo>
                  <a:pt x="1817457" y="1714179"/>
                </a:lnTo>
                <a:lnTo>
                  <a:pt x="1820648" y="1714179"/>
                </a:lnTo>
                <a:lnTo>
                  <a:pt x="1823917" y="1714179"/>
                </a:lnTo>
                <a:lnTo>
                  <a:pt x="1827133" y="1714179"/>
                </a:lnTo>
                <a:lnTo>
                  <a:pt x="1827133" y="1707495"/>
                </a:lnTo>
                <a:lnTo>
                  <a:pt x="1830376" y="1707495"/>
                </a:lnTo>
                <a:lnTo>
                  <a:pt x="1833592" y="1707495"/>
                </a:lnTo>
                <a:lnTo>
                  <a:pt x="1833592" y="1704131"/>
                </a:lnTo>
                <a:lnTo>
                  <a:pt x="1836809" y="1704131"/>
                </a:lnTo>
                <a:lnTo>
                  <a:pt x="1840077" y="1704131"/>
                </a:lnTo>
                <a:lnTo>
                  <a:pt x="1843294" y="1704131"/>
                </a:lnTo>
                <a:lnTo>
                  <a:pt x="1843294" y="1700725"/>
                </a:lnTo>
                <a:lnTo>
                  <a:pt x="1846537" y="1700725"/>
                </a:lnTo>
                <a:lnTo>
                  <a:pt x="1846537" y="1697362"/>
                </a:lnTo>
                <a:lnTo>
                  <a:pt x="1849753" y="1697362"/>
                </a:lnTo>
                <a:lnTo>
                  <a:pt x="1852944" y="1697362"/>
                </a:lnTo>
                <a:lnTo>
                  <a:pt x="1856160" y="1697362"/>
                </a:lnTo>
                <a:lnTo>
                  <a:pt x="1859403" y="1697362"/>
                </a:lnTo>
                <a:lnTo>
                  <a:pt x="1862619" y="1697362"/>
                </a:lnTo>
                <a:lnTo>
                  <a:pt x="1865836" y="1697362"/>
                </a:lnTo>
                <a:lnTo>
                  <a:pt x="1869105" y="1697362"/>
                </a:lnTo>
                <a:lnTo>
                  <a:pt x="1872295" y="1697383"/>
                </a:lnTo>
                <a:lnTo>
                  <a:pt x="1872295" y="1694041"/>
                </a:lnTo>
                <a:lnTo>
                  <a:pt x="1875564" y="1694041"/>
                </a:lnTo>
                <a:lnTo>
                  <a:pt x="1878780" y="1694041"/>
                </a:lnTo>
                <a:lnTo>
                  <a:pt x="1882023" y="1694041"/>
                </a:lnTo>
                <a:lnTo>
                  <a:pt x="1882023" y="1687251"/>
                </a:lnTo>
                <a:lnTo>
                  <a:pt x="1885239" y="1687272"/>
                </a:lnTo>
                <a:lnTo>
                  <a:pt x="1888482" y="1687272"/>
                </a:lnTo>
                <a:lnTo>
                  <a:pt x="1891724" y="1687272"/>
                </a:lnTo>
                <a:lnTo>
                  <a:pt x="1894889" y="1687272"/>
                </a:lnTo>
                <a:lnTo>
                  <a:pt x="1894889" y="1683867"/>
                </a:lnTo>
                <a:lnTo>
                  <a:pt x="1898080" y="1683867"/>
                </a:lnTo>
                <a:lnTo>
                  <a:pt x="1901348" y="1683867"/>
                </a:lnTo>
                <a:lnTo>
                  <a:pt x="1901348" y="1680503"/>
                </a:lnTo>
                <a:lnTo>
                  <a:pt x="1904539" y="1680503"/>
                </a:lnTo>
                <a:lnTo>
                  <a:pt x="1907808" y="1680503"/>
                </a:lnTo>
                <a:lnTo>
                  <a:pt x="1907808" y="1677161"/>
                </a:lnTo>
                <a:lnTo>
                  <a:pt x="1911050" y="1677182"/>
                </a:lnTo>
                <a:lnTo>
                  <a:pt x="1911050" y="1673756"/>
                </a:lnTo>
                <a:lnTo>
                  <a:pt x="1914267" y="1673756"/>
                </a:lnTo>
                <a:lnTo>
                  <a:pt x="1917510" y="1673776"/>
                </a:lnTo>
                <a:lnTo>
                  <a:pt x="1920752" y="1673776"/>
                </a:lnTo>
                <a:lnTo>
                  <a:pt x="1923942" y="1673776"/>
                </a:lnTo>
                <a:lnTo>
                  <a:pt x="1927211" y="1673776"/>
                </a:lnTo>
                <a:lnTo>
                  <a:pt x="1930402" y="1673776"/>
                </a:lnTo>
                <a:lnTo>
                  <a:pt x="1933566" y="1673776"/>
                </a:lnTo>
                <a:lnTo>
                  <a:pt x="1936835" y="1673776"/>
                </a:lnTo>
                <a:lnTo>
                  <a:pt x="1940025" y="1673776"/>
                </a:lnTo>
                <a:lnTo>
                  <a:pt x="1943294" y="1673776"/>
                </a:lnTo>
                <a:lnTo>
                  <a:pt x="1946537" y="1673798"/>
                </a:lnTo>
                <a:lnTo>
                  <a:pt x="1949753" y="1673798"/>
                </a:lnTo>
                <a:lnTo>
                  <a:pt x="1952970" y="1673798"/>
                </a:lnTo>
                <a:lnTo>
                  <a:pt x="1956187" y="1673798"/>
                </a:lnTo>
                <a:lnTo>
                  <a:pt x="1956187" y="1670413"/>
                </a:lnTo>
                <a:lnTo>
                  <a:pt x="1959429" y="1670434"/>
                </a:lnTo>
                <a:lnTo>
                  <a:pt x="1962672" y="1670434"/>
                </a:lnTo>
                <a:lnTo>
                  <a:pt x="1962672" y="1667071"/>
                </a:lnTo>
                <a:lnTo>
                  <a:pt x="1965888" y="1667071"/>
                </a:lnTo>
                <a:lnTo>
                  <a:pt x="1969157" y="1667071"/>
                </a:lnTo>
                <a:lnTo>
                  <a:pt x="1969157" y="1663644"/>
                </a:lnTo>
                <a:lnTo>
                  <a:pt x="1972347" y="1663644"/>
                </a:lnTo>
                <a:lnTo>
                  <a:pt x="1975512" y="1663644"/>
                </a:lnTo>
                <a:lnTo>
                  <a:pt x="1978781" y="1663665"/>
                </a:lnTo>
                <a:lnTo>
                  <a:pt x="1981971" y="1663665"/>
                </a:lnTo>
                <a:lnTo>
                  <a:pt x="1985214" y="1663665"/>
                </a:lnTo>
                <a:lnTo>
                  <a:pt x="1985214" y="1656918"/>
                </a:lnTo>
                <a:lnTo>
                  <a:pt x="1988456" y="1656918"/>
                </a:lnTo>
                <a:lnTo>
                  <a:pt x="1988456" y="1653554"/>
                </a:lnTo>
                <a:lnTo>
                  <a:pt x="1991673" y="1653554"/>
                </a:lnTo>
                <a:lnTo>
                  <a:pt x="1994916" y="1653554"/>
                </a:lnTo>
                <a:lnTo>
                  <a:pt x="1998132" y="1653575"/>
                </a:lnTo>
                <a:lnTo>
                  <a:pt x="2001401" y="1653575"/>
                </a:lnTo>
                <a:lnTo>
                  <a:pt x="2004617" y="1653575"/>
                </a:lnTo>
                <a:lnTo>
                  <a:pt x="2007860" y="1653575"/>
                </a:lnTo>
                <a:lnTo>
                  <a:pt x="2011076" y="1653575"/>
                </a:lnTo>
                <a:lnTo>
                  <a:pt x="2014319" y="1653575"/>
                </a:lnTo>
                <a:lnTo>
                  <a:pt x="2017484" y="1653575"/>
                </a:lnTo>
                <a:lnTo>
                  <a:pt x="2017484" y="1650149"/>
                </a:lnTo>
                <a:lnTo>
                  <a:pt x="2020700" y="1650149"/>
                </a:lnTo>
                <a:lnTo>
                  <a:pt x="2023943" y="1650149"/>
                </a:lnTo>
                <a:lnTo>
                  <a:pt x="2023943" y="1646807"/>
                </a:lnTo>
                <a:lnTo>
                  <a:pt x="2027159" y="1646807"/>
                </a:lnTo>
                <a:lnTo>
                  <a:pt x="2030428" y="1646807"/>
                </a:lnTo>
                <a:lnTo>
                  <a:pt x="2033618" y="1646807"/>
                </a:lnTo>
                <a:lnTo>
                  <a:pt x="2036887" y="1646807"/>
                </a:lnTo>
                <a:lnTo>
                  <a:pt x="2040078" y="1646807"/>
                </a:lnTo>
                <a:lnTo>
                  <a:pt x="2043346" y="1646807"/>
                </a:lnTo>
                <a:lnTo>
                  <a:pt x="2046563" y="1646807"/>
                </a:lnTo>
                <a:lnTo>
                  <a:pt x="2049780" y="1646828"/>
                </a:lnTo>
                <a:lnTo>
                  <a:pt x="2053048" y="1646828"/>
                </a:lnTo>
                <a:lnTo>
                  <a:pt x="2056265" y="1646828"/>
                </a:lnTo>
                <a:lnTo>
                  <a:pt x="2056265" y="1643443"/>
                </a:lnTo>
                <a:lnTo>
                  <a:pt x="2059403" y="1643443"/>
                </a:lnTo>
                <a:lnTo>
                  <a:pt x="2059403" y="1640080"/>
                </a:lnTo>
                <a:lnTo>
                  <a:pt x="2062672" y="1640080"/>
                </a:lnTo>
                <a:lnTo>
                  <a:pt x="2062672" y="1633247"/>
                </a:lnTo>
                <a:lnTo>
                  <a:pt x="2065862" y="1633247"/>
                </a:lnTo>
                <a:lnTo>
                  <a:pt x="2069131" y="1633247"/>
                </a:lnTo>
                <a:lnTo>
                  <a:pt x="2069131" y="1623136"/>
                </a:lnTo>
                <a:lnTo>
                  <a:pt x="2072374" y="1623136"/>
                </a:lnTo>
                <a:lnTo>
                  <a:pt x="2072374" y="1616304"/>
                </a:lnTo>
                <a:lnTo>
                  <a:pt x="2075590" y="1616304"/>
                </a:lnTo>
                <a:lnTo>
                  <a:pt x="2078806" y="1616304"/>
                </a:lnTo>
                <a:lnTo>
                  <a:pt x="2082075" y="1616304"/>
                </a:lnTo>
                <a:lnTo>
                  <a:pt x="2082075" y="1609577"/>
                </a:lnTo>
                <a:lnTo>
                  <a:pt x="2085265" y="1609577"/>
                </a:lnTo>
                <a:lnTo>
                  <a:pt x="2085265" y="1606150"/>
                </a:lnTo>
                <a:lnTo>
                  <a:pt x="2088534" y="1606150"/>
                </a:lnTo>
                <a:lnTo>
                  <a:pt x="2091725" y="1606150"/>
                </a:lnTo>
                <a:lnTo>
                  <a:pt x="2091725" y="1602808"/>
                </a:lnTo>
                <a:lnTo>
                  <a:pt x="2094993" y="1602808"/>
                </a:lnTo>
                <a:lnTo>
                  <a:pt x="2098210" y="1602808"/>
                </a:lnTo>
                <a:lnTo>
                  <a:pt x="2101349" y="1602808"/>
                </a:lnTo>
                <a:lnTo>
                  <a:pt x="2104617" y="1602808"/>
                </a:lnTo>
                <a:lnTo>
                  <a:pt x="2107834" y="1602808"/>
                </a:lnTo>
                <a:lnTo>
                  <a:pt x="2111051" y="1602808"/>
                </a:lnTo>
                <a:lnTo>
                  <a:pt x="2114319" y="1602808"/>
                </a:lnTo>
                <a:lnTo>
                  <a:pt x="2114319" y="1596039"/>
                </a:lnTo>
                <a:lnTo>
                  <a:pt x="2117510" y="1596039"/>
                </a:lnTo>
                <a:lnTo>
                  <a:pt x="2117510" y="1592655"/>
                </a:lnTo>
                <a:lnTo>
                  <a:pt x="2120752" y="1592655"/>
                </a:lnTo>
                <a:lnTo>
                  <a:pt x="2123995" y="1592655"/>
                </a:lnTo>
                <a:lnTo>
                  <a:pt x="2123995" y="1589228"/>
                </a:lnTo>
                <a:lnTo>
                  <a:pt x="2127211" y="1589228"/>
                </a:lnTo>
                <a:lnTo>
                  <a:pt x="2127211" y="1585865"/>
                </a:lnTo>
                <a:lnTo>
                  <a:pt x="2130480" y="1585865"/>
                </a:lnTo>
                <a:lnTo>
                  <a:pt x="2130480" y="1582459"/>
                </a:lnTo>
                <a:lnTo>
                  <a:pt x="2133671" y="1582459"/>
                </a:lnTo>
                <a:lnTo>
                  <a:pt x="2136939" y="1582459"/>
                </a:lnTo>
                <a:lnTo>
                  <a:pt x="2140078" y="1582480"/>
                </a:lnTo>
                <a:lnTo>
                  <a:pt x="2140078" y="1579074"/>
                </a:lnTo>
                <a:lnTo>
                  <a:pt x="2143294" y="1579074"/>
                </a:lnTo>
                <a:lnTo>
                  <a:pt x="2146537" y="1579074"/>
                </a:lnTo>
                <a:lnTo>
                  <a:pt x="2149779" y="1579074"/>
                </a:lnTo>
                <a:lnTo>
                  <a:pt x="2149779" y="1575711"/>
                </a:lnTo>
                <a:lnTo>
                  <a:pt x="2152996" y="1575711"/>
                </a:lnTo>
                <a:lnTo>
                  <a:pt x="2156239" y="1575711"/>
                </a:lnTo>
                <a:lnTo>
                  <a:pt x="2156239" y="1572327"/>
                </a:lnTo>
                <a:lnTo>
                  <a:pt x="2159455" y="1572327"/>
                </a:lnTo>
                <a:lnTo>
                  <a:pt x="2162724" y="1572327"/>
                </a:lnTo>
                <a:lnTo>
                  <a:pt x="2162724" y="1568963"/>
                </a:lnTo>
                <a:lnTo>
                  <a:pt x="2165940" y="1568963"/>
                </a:lnTo>
                <a:lnTo>
                  <a:pt x="2165940" y="1565558"/>
                </a:lnTo>
                <a:lnTo>
                  <a:pt x="2169157" y="1565558"/>
                </a:lnTo>
                <a:lnTo>
                  <a:pt x="2172399" y="1565558"/>
                </a:lnTo>
                <a:lnTo>
                  <a:pt x="2175616" y="1565558"/>
                </a:lnTo>
                <a:lnTo>
                  <a:pt x="2178858" y="1565558"/>
                </a:lnTo>
                <a:lnTo>
                  <a:pt x="2178858" y="1562173"/>
                </a:lnTo>
                <a:lnTo>
                  <a:pt x="2182023" y="1562173"/>
                </a:lnTo>
                <a:lnTo>
                  <a:pt x="2185266" y="1562173"/>
                </a:lnTo>
                <a:lnTo>
                  <a:pt x="2188482" y="1562173"/>
                </a:lnTo>
                <a:lnTo>
                  <a:pt x="2188482" y="1555405"/>
                </a:lnTo>
                <a:lnTo>
                  <a:pt x="2191751" y="1555405"/>
                </a:lnTo>
                <a:lnTo>
                  <a:pt x="2194942" y="1555405"/>
                </a:lnTo>
                <a:lnTo>
                  <a:pt x="2198210" y="1555405"/>
                </a:lnTo>
                <a:lnTo>
                  <a:pt x="2201401" y="1555405"/>
                </a:lnTo>
                <a:lnTo>
                  <a:pt x="2201401" y="1551999"/>
                </a:lnTo>
                <a:lnTo>
                  <a:pt x="2204644" y="1551999"/>
                </a:lnTo>
                <a:lnTo>
                  <a:pt x="2207886" y="1551999"/>
                </a:lnTo>
                <a:lnTo>
                  <a:pt x="2211103" y="1551999"/>
                </a:lnTo>
                <a:lnTo>
                  <a:pt x="2214371" y="1551999"/>
                </a:lnTo>
                <a:lnTo>
                  <a:pt x="2214371" y="1548593"/>
                </a:lnTo>
                <a:lnTo>
                  <a:pt x="2217588" y="1548593"/>
                </a:lnTo>
                <a:lnTo>
                  <a:pt x="2220830" y="1548593"/>
                </a:lnTo>
                <a:lnTo>
                  <a:pt x="2220830" y="1545251"/>
                </a:lnTo>
                <a:lnTo>
                  <a:pt x="2223995" y="1545251"/>
                </a:lnTo>
                <a:lnTo>
                  <a:pt x="2227185" y="1545251"/>
                </a:lnTo>
                <a:lnTo>
                  <a:pt x="2230428" y="1545251"/>
                </a:lnTo>
                <a:lnTo>
                  <a:pt x="2233671" y="1545251"/>
                </a:lnTo>
                <a:lnTo>
                  <a:pt x="2236913" y="1545251"/>
                </a:lnTo>
                <a:lnTo>
                  <a:pt x="2240130" y="1545251"/>
                </a:lnTo>
                <a:lnTo>
                  <a:pt x="2243372" y="1545251"/>
                </a:lnTo>
                <a:lnTo>
                  <a:pt x="2243372" y="1541845"/>
                </a:lnTo>
                <a:lnTo>
                  <a:pt x="2246589" y="1541845"/>
                </a:lnTo>
                <a:lnTo>
                  <a:pt x="2249857" y="1541845"/>
                </a:lnTo>
                <a:lnTo>
                  <a:pt x="2253048" y="1541845"/>
                </a:lnTo>
                <a:lnTo>
                  <a:pt x="2253048" y="1538440"/>
                </a:lnTo>
                <a:lnTo>
                  <a:pt x="2256317" y="1538440"/>
                </a:lnTo>
                <a:lnTo>
                  <a:pt x="2256317" y="1535055"/>
                </a:lnTo>
                <a:lnTo>
                  <a:pt x="2259533" y="1535055"/>
                </a:lnTo>
                <a:lnTo>
                  <a:pt x="2262750" y="1535055"/>
                </a:lnTo>
                <a:lnTo>
                  <a:pt x="2265915" y="1535055"/>
                </a:lnTo>
                <a:lnTo>
                  <a:pt x="2269157" y="1535055"/>
                </a:lnTo>
                <a:lnTo>
                  <a:pt x="2272374" y="1535055"/>
                </a:lnTo>
                <a:lnTo>
                  <a:pt x="2272374" y="1531628"/>
                </a:lnTo>
                <a:lnTo>
                  <a:pt x="2275642" y="1531628"/>
                </a:lnTo>
                <a:lnTo>
                  <a:pt x="2278833" y="1531628"/>
                </a:lnTo>
                <a:lnTo>
                  <a:pt x="2282075" y="1531628"/>
                </a:lnTo>
                <a:lnTo>
                  <a:pt x="2285318" y="1531628"/>
                </a:lnTo>
                <a:lnTo>
                  <a:pt x="2285318" y="1528244"/>
                </a:lnTo>
                <a:lnTo>
                  <a:pt x="2288535" y="1528244"/>
                </a:lnTo>
                <a:lnTo>
                  <a:pt x="2291803" y="1528244"/>
                </a:lnTo>
                <a:lnTo>
                  <a:pt x="2294994" y="1528244"/>
                </a:lnTo>
                <a:lnTo>
                  <a:pt x="2298236" y="1528244"/>
                </a:lnTo>
                <a:lnTo>
                  <a:pt x="2301479" y="1528244"/>
                </a:lnTo>
                <a:lnTo>
                  <a:pt x="2304695" y="1528265"/>
                </a:lnTo>
                <a:lnTo>
                  <a:pt x="2307860" y="1528265"/>
                </a:lnTo>
                <a:lnTo>
                  <a:pt x="2311077" y="1528265"/>
                </a:lnTo>
                <a:lnTo>
                  <a:pt x="2314319" y="1528265"/>
                </a:lnTo>
                <a:lnTo>
                  <a:pt x="2317562" y="1528265"/>
                </a:lnTo>
                <a:lnTo>
                  <a:pt x="2320778" y="1528265"/>
                </a:lnTo>
                <a:lnTo>
                  <a:pt x="2324021" y="1528265"/>
                </a:lnTo>
                <a:lnTo>
                  <a:pt x="2327263" y="1528265"/>
                </a:lnTo>
                <a:lnTo>
                  <a:pt x="2330480" y="1528265"/>
                </a:lnTo>
                <a:lnTo>
                  <a:pt x="2333722" y="1528265"/>
                </a:lnTo>
                <a:lnTo>
                  <a:pt x="2336939" y="1528286"/>
                </a:lnTo>
                <a:lnTo>
                  <a:pt x="2336939" y="1524860"/>
                </a:lnTo>
                <a:lnTo>
                  <a:pt x="2340182" y="1524860"/>
                </a:lnTo>
                <a:lnTo>
                  <a:pt x="2343424" y="1524881"/>
                </a:lnTo>
                <a:lnTo>
                  <a:pt x="2343424" y="1521433"/>
                </a:lnTo>
                <a:lnTo>
                  <a:pt x="2346589" y="1521433"/>
                </a:lnTo>
                <a:lnTo>
                  <a:pt x="2349806" y="1521433"/>
                </a:lnTo>
                <a:lnTo>
                  <a:pt x="2353023" y="1521433"/>
                </a:lnTo>
                <a:lnTo>
                  <a:pt x="2353023" y="1518006"/>
                </a:lnTo>
                <a:lnTo>
                  <a:pt x="2356265" y="1518006"/>
                </a:lnTo>
                <a:lnTo>
                  <a:pt x="2359508" y="1518006"/>
                </a:lnTo>
                <a:lnTo>
                  <a:pt x="2359508" y="1514537"/>
                </a:lnTo>
                <a:lnTo>
                  <a:pt x="2362724" y="1514537"/>
                </a:lnTo>
                <a:lnTo>
                  <a:pt x="2365967" y="1514558"/>
                </a:lnTo>
                <a:lnTo>
                  <a:pt x="2369209" y="1514558"/>
                </a:lnTo>
                <a:lnTo>
                  <a:pt x="2372426" y="1514558"/>
                </a:lnTo>
                <a:lnTo>
                  <a:pt x="2375694" y="1514558"/>
                </a:lnTo>
                <a:lnTo>
                  <a:pt x="2375694" y="1511174"/>
                </a:lnTo>
                <a:lnTo>
                  <a:pt x="2378885" y="1511174"/>
                </a:lnTo>
                <a:lnTo>
                  <a:pt x="2378885" y="1507704"/>
                </a:lnTo>
                <a:lnTo>
                  <a:pt x="2382127" y="1507704"/>
                </a:lnTo>
                <a:lnTo>
                  <a:pt x="2385370" y="1507704"/>
                </a:lnTo>
                <a:lnTo>
                  <a:pt x="2385370" y="1504235"/>
                </a:lnTo>
                <a:lnTo>
                  <a:pt x="2388508" y="1504257"/>
                </a:lnTo>
                <a:lnTo>
                  <a:pt x="2388508" y="1500788"/>
                </a:lnTo>
                <a:lnTo>
                  <a:pt x="2391751" y="1500788"/>
                </a:lnTo>
                <a:lnTo>
                  <a:pt x="2394994" y="1500788"/>
                </a:lnTo>
                <a:lnTo>
                  <a:pt x="2398236" y="1500788"/>
                </a:lnTo>
                <a:lnTo>
                  <a:pt x="2401453" y="1500788"/>
                </a:lnTo>
                <a:lnTo>
                  <a:pt x="2404695" y="1500809"/>
                </a:lnTo>
                <a:lnTo>
                  <a:pt x="2407912" y="1500809"/>
                </a:lnTo>
                <a:lnTo>
                  <a:pt x="2411180" y="1500809"/>
                </a:lnTo>
                <a:lnTo>
                  <a:pt x="2414371" y="1500809"/>
                </a:lnTo>
                <a:lnTo>
                  <a:pt x="2414371" y="1497339"/>
                </a:lnTo>
                <a:lnTo>
                  <a:pt x="2417614" y="1497339"/>
                </a:lnTo>
                <a:lnTo>
                  <a:pt x="2420856" y="1497361"/>
                </a:lnTo>
                <a:lnTo>
                  <a:pt x="2420856" y="1490443"/>
                </a:lnTo>
                <a:lnTo>
                  <a:pt x="2424073" y="1490443"/>
                </a:lnTo>
                <a:lnTo>
                  <a:pt x="2427315" y="1490443"/>
                </a:lnTo>
                <a:lnTo>
                  <a:pt x="2430480" y="1490443"/>
                </a:lnTo>
                <a:lnTo>
                  <a:pt x="2430480" y="1486996"/>
                </a:lnTo>
                <a:lnTo>
                  <a:pt x="2433697" y="1486996"/>
                </a:lnTo>
                <a:lnTo>
                  <a:pt x="2436965" y="1486996"/>
                </a:lnTo>
                <a:lnTo>
                  <a:pt x="2440156" y="1486996"/>
                </a:lnTo>
                <a:lnTo>
                  <a:pt x="2443424" y="1486996"/>
                </a:lnTo>
                <a:lnTo>
                  <a:pt x="2446615" y="1486996"/>
                </a:lnTo>
                <a:lnTo>
                  <a:pt x="2446615" y="1483484"/>
                </a:lnTo>
                <a:lnTo>
                  <a:pt x="2449858" y="1483506"/>
                </a:lnTo>
                <a:lnTo>
                  <a:pt x="2449858" y="1479973"/>
                </a:lnTo>
                <a:lnTo>
                  <a:pt x="2453100" y="1479973"/>
                </a:lnTo>
                <a:lnTo>
                  <a:pt x="2456317" y="1479973"/>
                </a:lnTo>
                <a:lnTo>
                  <a:pt x="2459559" y="1479973"/>
                </a:lnTo>
                <a:lnTo>
                  <a:pt x="2462802" y="1479973"/>
                </a:lnTo>
                <a:lnTo>
                  <a:pt x="2466018" y="1479973"/>
                </a:lnTo>
                <a:lnTo>
                  <a:pt x="2466018" y="1476525"/>
                </a:lnTo>
                <a:lnTo>
                  <a:pt x="2469235" y="1476525"/>
                </a:lnTo>
                <a:lnTo>
                  <a:pt x="2469235" y="1472971"/>
                </a:lnTo>
                <a:lnTo>
                  <a:pt x="2472374" y="1472971"/>
                </a:lnTo>
                <a:lnTo>
                  <a:pt x="2475642" y="1472971"/>
                </a:lnTo>
                <a:lnTo>
                  <a:pt x="2478859" y="1472971"/>
                </a:lnTo>
                <a:lnTo>
                  <a:pt x="2478859" y="1469481"/>
                </a:lnTo>
                <a:lnTo>
                  <a:pt x="2482101" y="1469502"/>
                </a:lnTo>
                <a:lnTo>
                  <a:pt x="2485344" y="1469502"/>
                </a:lnTo>
                <a:lnTo>
                  <a:pt x="2485344" y="1465970"/>
                </a:lnTo>
                <a:lnTo>
                  <a:pt x="2488561" y="1465970"/>
                </a:lnTo>
                <a:lnTo>
                  <a:pt x="2491804" y="1465970"/>
                </a:lnTo>
                <a:lnTo>
                  <a:pt x="2495046" y="1465970"/>
                </a:lnTo>
                <a:lnTo>
                  <a:pt x="2498263" y="1465970"/>
                </a:lnTo>
                <a:lnTo>
                  <a:pt x="2501479" y="1465991"/>
                </a:lnTo>
                <a:lnTo>
                  <a:pt x="2504748" y="1465991"/>
                </a:lnTo>
                <a:lnTo>
                  <a:pt x="2504748" y="1462416"/>
                </a:lnTo>
                <a:lnTo>
                  <a:pt x="2507964" y="1462437"/>
                </a:lnTo>
                <a:lnTo>
                  <a:pt x="2511233" y="1462437"/>
                </a:lnTo>
                <a:lnTo>
                  <a:pt x="2514372" y="1462437"/>
                </a:lnTo>
                <a:lnTo>
                  <a:pt x="2514372" y="1458883"/>
                </a:lnTo>
                <a:lnTo>
                  <a:pt x="2517588" y="1458883"/>
                </a:lnTo>
                <a:lnTo>
                  <a:pt x="2520857" y="1458883"/>
                </a:lnTo>
                <a:lnTo>
                  <a:pt x="2524047" y="1458883"/>
                </a:lnTo>
                <a:lnTo>
                  <a:pt x="2527290" y="1458883"/>
                </a:lnTo>
                <a:lnTo>
                  <a:pt x="2530532" y="1458883"/>
                </a:lnTo>
                <a:lnTo>
                  <a:pt x="2530532" y="1455308"/>
                </a:lnTo>
                <a:lnTo>
                  <a:pt x="2533749" y="1455308"/>
                </a:lnTo>
                <a:lnTo>
                  <a:pt x="2533749" y="1451776"/>
                </a:lnTo>
                <a:lnTo>
                  <a:pt x="2537017" y="1451776"/>
                </a:lnTo>
                <a:lnTo>
                  <a:pt x="2540208" y="1451776"/>
                </a:lnTo>
                <a:lnTo>
                  <a:pt x="2543476" y="1451797"/>
                </a:lnTo>
                <a:lnTo>
                  <a:pt x="2543476" y="1448222"/>
                </a:lnTo>
                <a:lnTo>
                  <a:pt x="2546693" y="1448243"/>
                </a:lnTo>
                <a:lnTo>
                  <a:pt x="2546693" y="1444605"/>
                </a:lnTo>
                <a:lnTo>
                  <a:pt x="2549935" y="1444605"/>
                </a:lnTo>
                <a:lnTo>
                  <a:pt x="2553075" y="1444605"/>
                </a:lnTo>
                <a:lnTo>
                  <a:pt x="2556291" y="1444626"/>
                </a:lnTo>
                <a:lnTo>
                  <a:pt x="2559534" y="1444626"/>
                </a:lnTo>
                <a:lnTo>
                  <a:pt x="2559534" y="1441009"/>
                </a:lnTo>
                <a:lnTo>
                  <a:pt x="2562776" y="1441009"/>
                </a:lnTo>
                <a:lnTo>
                  <a:pt x="2565993" y="1441009"/>
                </a:lnTo>
                <a:lnTo>
                  <a:pt x="2569235" y="1441030"/>
                </a:lnTo>
                <a:lnTo>
                  <a:pt x="2572478" y="1441030"/>
                </a:lnTo>
                <a:lnTo>
                  <a:pt x="2575694" y="1441030"/>
                </a:lnTo>
                <a:lnTo>
                  <a:pt x="2578937" y="1441030"/>
                </a:lnTo>
                <a:lnTo>
                  <a:pt x="2578937" y="1437413"/>
                </a:lnTo>
                <a:lnTo>
                  <a:pt x="2582153" y="1437413"/>
                </a:lnTo>
                <a:lnTo>
                  <a:pt x="2582153" y="1433796"/>
                </a:lnTo>
                <a:lnTo>
                  <a:pt x="2585396" y="1433796"/>
                </a:lnTo>
                <a:lnTo>
                  <a:pt x="2588638" y="1433817"/>
                </a:lnTo>
                <a:lnTo>
                  <a:pt x="2588638" y="1430221"/>
                </a:lnTo>
                <a:lnTo>
                  <a:pt x="2591856" y="1430221"/>
                </a:lnTo>
                <a:lnTo>
                  <a:pt x="2591856" y="1426562"/>
                </a:lnTo>
                <a:lnTo>
                  <a:pt x="2595020" y="1426562"/>
                </a:lnTo>
                <a:lnTo>
                  <a:pt x="2598262" y="1426562"/>
                </a:lnTo>
                <a:lnTo>
                  <a:pt x="2598262" y="1422944"/>
                </a:lnTo>
                <a:lnTo>
                  <a:pt x="2601479" y="1422944"/>
                </a:lnTo>
                <a:lnTo>
                  <a:pt x="2604721" y="1422944"/>
                </a:lnTo>
                <a:lnTo>
                  <a:pt x="2607938" y="1422944"/>
                </a:lnTo>
                <a:lnTo>
                  <a:pt x="2607938" y="1419285"/>
                </a:lnTo>
                <a:lnTo>
                  <a:pt x="2611155" y="1419285"/>
                </a:lnTo>
                <a:lnTo>
                  <a:pt x="2614423" y="1419285"/>
                </a:lnTo>
                <a:lnTo>
                  <a:pt x="2617640" y="1419285"/>
                </a:lnTo>
                <a:lnTo>
                  <a:pt x="2620882" y="1419285"/>
                </a:lnTo>
                <a:lnTo>
                  <a:pt x="2624099" y="1419285"/>
                </a:lnTo>
                <a:lnTo>
                  <a:pt x="2627341" y="1419285"/>
                </a:lnTo>
                <a:lnTo>
                  <a:pt x="2630584" y="1419306"/>
                </a:lnTo>
                <a:lnTo>
                  <a:pt x="2633801" y="1419306"/>
                </a:lnTo>
                <a:lnTo>
                  <a:pt x="2636965" y="1419306"/>
                </a:lnTo>
                <a:lnTo>
                  <a:pt x="2636965" y="1411987"/>
                </a:lnTo>
                <a:lnTo>
                  <a:pt x="2640208" y="1411987"/>
                </a:lnTo>
                <a:lnTo>
                  <a:pt x="2640208" y="1408286"/>
                </a:lnTo>
                <a:lnTo>
                  <a:pt x="2643424" y="1408286"/>
                </a:lnTo>
                <a:lnTo>
                  <a:pt x="2643424" y="1404626"/>
                </a:lnTo>
                <a:lnTo>
                  <a:pt x="2646667" y="1404626"/>
                </a:lnTo>
                <a:lnTo>
                  <a:pt x="2646667" y="1400988"/>
                </a:lnTo>
                <a:lnTo>
                  <a:pt x="2649884" y="1400988"/>
                </a:lnTo>
                <a:lnTo>
                  <a:pt x="2649884" y="1393605"/>
                </a:lnTo>
                <a:lnTo>
                  <a:pt x="2653127" y="1393605"/>
                </a:lnTo>
                <a:lnTo>
                  <a:pt x="2656369" y="1393605"/>
                </a:lnTo>
                <a:lnTo>
                  <a:pt x="2659586" y="1393605"/>
                </a:lnTo>
                <a:lnTo>
                  <a:pt x="2662828" y="1393605"/>
                </a:lnTo>
                <a:lnTo>
                  <a:pt x="2666071" y="1393626"/>
                </a:lnTo>
                <a:lnTo>
                  <a:pt x="2669287" y="1393626"/>
                </a:lnTo>
                <a:lnTo>
                  <a:pt x="2672530" y="1393626"/>
                </a:lnTo>
                <a:lnTo>
                  <a:pt x="2675746" y="1393626"/>
                </a:lnTo>
                <a:lnTo>
                  <a:pt x="2678911" y="1393626"/>
                </a:lnTo>
                <a:lnTo>
                  <a:pt x="2682154" y="1393626"/>
                </a:lnTo>
                <a:lnTo>
                  <a:pt x="2685345" y="1393626"/>
                </a:lnTo>
                <a:lnTo>
                  <a:pt x="2688613" y="1393626"/>
                </a:lnTo>
                <a:lnTo>
                  <a:pt x="2691804" y="1393626"/>
                </a:lnTo>
                <a:lnTo>
                  <a:pt x="2695072" y="1393648"/>
                </a:lnTo>
                <a:lnTo>
                  <a:pt x="2698315" y="1393648"/>
                </a:lnTo>
                <a:lnTo>
                  <a:pt x="2698315" y="1389882"/>
                </a:lnTo>
                <a:lnTo>
                  <a:pt x="2701531" y="1389882"/>
                </a:lnTo>
                <a:lnTo>
                  <a:pt x="2704774" y="1389882"/>
                </a:lnTo>
                <a:lnTo>
                  <a:pt x="2708016" y="1389882"/>
                </a:lnTo>
                <a:lnTo>
                  <a:pt x="2711233" y="1389882"/>
                </a:lnTo>
                <a:lnTo>
                  <a:pt x="2714449" y="1389904"/>
                </a:lnTo>
                <a:lnTo>
                  <a:pt x="2717588" y="1389904"/>
                </a:lnTo>
                <a:lnTo>
                  <a:pt x="2720857" y="1389904"/>
                </a:lnTo>
                <a:lnTo>
                  <a:pt x="2724099" y="1389904"/>
                </a:lnTo>
                <a:lnTo>
                  <a:pt x="2727342" y="1389904"/>
                </a:lnTo>
                <a:lnTo>
                  <a:pt x="2730558" y="1389904"/>
                </a:lnTo>
                <a:lnTo>
                  <a:pt x="2730558" y="1386138"/>
                </a:lnTo>
                <a:lnTo>
                  <a:pt x="2733827" y="1386138"/>
                </a:lnTo>
                <a:lnTo>
                  <a:pt x="2737017" y="1386138"/>
                </a:lnTo>
                <a:lnTo>
                  <a:pt x="2737017" y="1382373"/>
                </a:lnTo>
                <a:lnTo>
                  <a:pt x="2740260" y="1382373"/>
                </a:lnTo>
                <a:lnTo>
                  <a:pt x="2743476" y="1382373"/>
                </a:lnTo>
                <a:lnTo>
                  <a:pt x="2746719" y="1382373"/>
                </a:lnTo>
                <a:lnTo>
                  <a:pt x="2749961" y="1382373"/>
                </a:lnTo>
                <a:lnTo>
                  <a:pt x="2753179" y="1382373"/>
                </a:lnTo>
                <a:lnTo>
                  <a:pt x="2753179" y="1378566"/>
                </a:lnTo>
                <a:lnTo>
                  <a:pt x="2756421" y="1378587"/>
                </a:lnTo>
                <a:lnTo>
                  <a:pt x="2756421" y="1374779"/>
                </a:lnTo>
                <a:lnTo>
                  <a:pt x="2759586" y="1374779"/>
                </a:lnTo>
                <a:lnTo>
                  <a:pt x="2762802" y="1374779"/>
                </a:lnTo>
                <a:lnTo>
                  <a:pt x="2766045" y="1374779"/>
                </a:lnTo>
                <a:lnTo>
                  <a:pt x="2769261" y="1374779"/>
                </a:lnTo>
                <a:lnTo>
                  <a:pt x="2772504" y="1374779"/>
                </a:lnTo>
                <a:lnTo>
                  <a:pt x="2772504" y="1370993"/>
                </a:lnTo>
                <a:lnTo>
                  <a:pt x="2775746" y="1370993"/>
                </a:lnTo>
                <a:lnTo>
                  <a:pt x="2778937" y="1370993"/>
                </a:lnTo>
                <a:lnTo>
                  <a:pt x="2778937" y="1367185"/>
                </a:lnTo>
                <a:lnTo>
                  <a:pt x="2782205" y="1367185"/>
                </a:lnTo>
                <a:lnTo>
                  <a:pt x="2785397" y="1367185"/>
                </a:lnTo>
                <a:lnTo>
                  <a:pt x="2785397" y="1363378"/>
                </a:lnTo>
                <a:lnTo>
                  <a:pt x="2788664" y="1363378"/>
                </a:lnTo>
                <a:lnTo>
                  <a:pt x="2791882" y="1363378"/>
                </a:lnTo>
                <a:lnTo>
                  <a:pt x="2791882" y="1355699"/>
                </a:lnTo>
                <a:lnTo>
                  <a:pt x="2795124" y="1355720"/>
                </a:lnTo>
                <a:lnTo>
                  <a:pt x="2798341" y="1355720"/>
                </a:lnTo>
                <a:lnTo>
                  <a:pt x="2798341" y="1351849"/>
                </a:lnTo>
                <a:lnTo>
                  <a:pt x="2801505" y="1351849"/>
                </a:lnTo>
                <a:lnTo>
                  <a:pt x="2801505" y="1348042"/>
                </a:lnTo>
                <a:lnTo>
                  <a:pt x="2804722" y="1348042"/>
                </a:lnTo>
                <a:lnTo>
                  <a:pt x="2804722" y="1344192"/>
                </a:lnTo>
                <a:lnTo>
                  <a:pt x="2807990" y="1344192"/>
                </a:lnTo>
                <a:lnTo>
                  <a:pt x="2811181" y="1344192"/>
                </a:lnTo>
                <a:lnTo>
                  <a:pt x="2814450" y="1344192"/>
                </a:lnTo>
                <a:lnTo>
                  <a:pt x="2817666" y="1344192"/>
                </a:lnTo>
                <a:lnTo>
                  <a:pt x="2820909" y="1344192"/>
                </a:lnTo>
                <a:lnTo>
                  <a:pt x="2824125" y="1344192"/>
                </a:lnTo>
                <a:lnTo>
                  <a:pt x="2827368" y="1344213"/>
                </a:lnTo>
                <a:lnTo>
                  <a:pt x="2827368" y="1340342"/>
                </a:lnTo>
                <a:lnTo>
                  <a:pt x="2830585" y="1340342"/>
                </a:lnTo>
                <a:lnTo>
                  <a:pt x="2830585" y="1336408"/>
                </a:lnTo>
                <a:lnTo>
                  <a:pt x="2833853" y="1336429"/>
                </a:lnTo>
                <a:lnTo>
                  <a:pt x="2833853" y="1332558"/>
                </a:lnTo>
                <a:lnTo>
                  <a:pt x="2837070" y="1332558"/>
                </a:lnTo>
                <a:lnTo>
                  <a:pt x="2837070" y="1328687"/>
                </a:lnTo>
                <a:lnTo>
                  <a:pt x="2840312" y="1328687"/>
                </a:lnTo>
                <a:lnTo>
                  <a:pt x="2843477" y="1328687"/>
                </a:lnTo>
                <a:lnTo>
                  <a:pt x="2846693" y="1328687"/>
                </a:lnTo>
                <a:lnTo>
                  <a:pt x="2849936" y="1328687"/>
                </a:lnTo>
                <a:lnTo>
                  <a:pt x="2853153" y="1328687"/>
                </a:lnTo>
                <a:lnTo>
                  <a:pt x="2856395" y="1328687"/>
                </a:lnTo>
                <a:lnTo>
                  <a:pt x="2856395" y="1324774"/>
                </a:lnTo>
                <a:lnTo>
                  <a:pt x="2859663" y="1324774"/>
                </a:lnTo>
                <a:lnTo>
                  <a:pt x="2862854" y="1324774"/>
                </a:lnTo>
                <a:lnTo>
                  <a:pt x="2866097" y="1324774"/>
                </a:lnTo>
                <a:lnTo>
                  <a:pt x="2869339" y="1324774"/>
                </a:lnTo>
                <a:lnTo>
                  <a:pt x="2872556" y="1324795"/>
                </a:lnTo>
                <a:lnTo>
                  <a:pt x="2875798" y="1324795"/>
                </a:lnTo>
                <a:lnTo>
                  <a:pt x="2875798" y="1320881"/>
                </a:lnTo>
                <a:lnTo>
                  <a:pt x="2879015" y="1320881"/>
                </a:lnTo>
                <a:lnTo>
                  <a:pt x="2882257" y="1320881"/>
                </a:lnTo>
                <a:lnTo>
                  <a:pt x="2885422" y="1320881"/>
                </a:lnTo>
                <a:lnTo>
                  <a:pt x="2888639" y="1320881"/>
                </a:lnTo>
                <a:lnTo>
                  <a:pt x="2891881" y="1320881"/>
                </a:lnTo>
                <a:lnTo>
                  <a:pt x="2895098" y="1320881"/>
                </a:lnTo>
                <a:lnTo>
                  <a:pt x="2898315" y="1320881"/>
                </a:lnTo>
                <a:lnTo>
                  <a:pt x="2901584" y="1320881"/>
                </a:lnTo>
                <a:lnTo>
                  <a:pt x="2904774" y="1320903"/>
                </a:lnTo>
                <a:lnTo>
                  <a:pt x="2908043" y="1320903"/>
                </a:lnTo>
                <a:lnTo>
                  <a:pt x="2911259" y="1320903"/>
                </a:lnTo>
                <a:lnTo>
                  <a:pt x="2914502" y="1320903"/>
                </a:lnTo>
                <a:lnTo>
                  <a:pt x="2917718" y="1320903"/>
                </a:lnTo>
                <a:lnTo>
                  <a:pt x="2917718" y="1316841"/>
                </a:lnTo>
                <a:lnTo>
                  <a:pt x="2920960" y="1316841"/>
                </a:lnTo>
                <a:lnTo>
                  <a:pt x="2924125" y="1316841"/>
                </a:lnTo>
                <a:lnTo>
                  <a:pt x="2927368" y="1316841"/>
                </a:lnTo>
                <a:lnTo>
                  <a:pt x="2927368" y="1312843"/>
                </a:lnTo>
                <a:lnTo>
                  <a:pt x="2930559" y="1312843"/>
                </a:lnTo>
                <a:lnTo>
                  <a:pt x="2930559" y="1308803"/>
                </a:lnTo>
                <a:lnTo>
                  <a:pt x="2933827" y="1308803"/>
                </a:lnTo>
                <a:lnTo>
                  <a:pt x="2937044" y="1308803"/>
                </a:lnTo>
                <a:lnTo>
                  <a:pt x="2937044" y="1304742"/>
                </a:lnTo>
                <a:lnTo>
                  <a:pt x="2940287" y="1304742"/>
                </a:lnTo>
                <a:lnTo>
                  <a:pt x="2943529" y="1304742"/>
                </a:lnTo>
                <a:lnTo>
                  <a:pt x="2946745" y="1304742"/>
                </a:lnTo>
                <a:lnTo>
                  <a:pt x="2949987" y="1304742"/>
                </a:lnTo>
                <a:lnTo>
                  <a:pt x="2953230" y="1304742"/>
                </a:lnTo>
                <a:lnTo>
                  <a:pt x="2953230" y="1300638"/>
                </a:lnTo>
                <a:lnTo>
                  <a:pt x="2956447" y="1300638"/>
                </a:lnTo>
                <a:lnTo>
                  <a:pt x="2959690" y="1300638"/>
                </a:lnTo>
                <a:lnTo>
                  <a:pt x="2962906" y="1300638"/>
                </a:lnTo>
                <a:lnTo>
                  <a:pt x="2962906" y="1296513"/>
                </a:lnTo>
                <a:lnTo>
                  <a:pt x="2966071" y="1296513"/>
                </a:lnTo>
                <a:lnTo>
                  <a:pt x="2969314" y="1296513"/>
                </a:lnTo>
                <a:lnTo>
                  <a:pt x="2972530" y="1296534"/>
                </a:lnTo>
                <a:lnTo>
                  <a:pt x="2975773" y="1296534"/>
                </a:lnTo>
                <a:lnTo>
                  <a:pt x="2975773" y="1292431"/>
                </a:lnTo>
                <a:lnTo>
                  <a:pt x="2979015" y="1292431"/>
                </a:lnTo>
                <a:lnTo>
                  <a:pt x="2982232" y="1292431"/>
                </a:lnTo>
                <a:lnTo>
                  <a:pt x="2985474" y="1292431"/>
                </a:lnTo>
                <a:lnTo>
                  <a:pt x="2988691" y="1292431"/>
                </a:lnTo>
                <a:lnTo>
                  <a:pt x="2988691" y="1288264"/>
                </a:lnTo>
                <a:lnTo>
                  <a:pt x="2991908" y="1288264"/>
                </a:lnTo>
                <a:lnTo>
                  <a:pt x="2995176" y="1288264"/>
                </a:lnTo>
                <a:lnTo>
                  <a:pt x="2998367" y="1288264"/>
                </a:lnTo>
                <a:lnTo>
                  <a:pt x="2998367" y="1284075"/>
                </a:lnTo>
                <a:lnTo>
                  <a:pt x="3001635" y="1284075"/>
                </a:lnTo>
                <a:lnTo>
                  <a:pt x="3004852" y="1284075"/>
                </a:lnTo>
                <a:lnTo>
                  <a:pt x="3004852" y="1279908"/>
                </a:lnTo>
                <a:lnTo>
                  <a:pt x="3008017" y="1279908"/>
                </a:lnTo>
                <a:lnTo>
                  <a:pt x="3011259" y="1279908"/>
                </a:lnTo>
                <a:lnTo>
                  <a:pt x="3014476" y="1279908"/>
                </a:lnTo>
                <a:lnTo>
                  <a:pt x="3017718" y="1279908"/>
                </a:lnTo>
                <a:lnTo>
                  <a:pt x="3020961" y="1279908"/>
                </a:lnTo>
                <a:lnTo>
                  <a:pt x="3024151" y="1279908"/>
                </a:lnTo>
                <a:lnTo>
                  <a:pt x="3027420" y="1279929"/>
                </a:lnTo>
                <a:lnTo>
                  <a:pt x="3030611" y="1279929"/>
                </a:lnTo>
                <a:lnTo>
                  <a:pt x="3033879" y="1279929"/>
                </a:lnTo>
                <a:lnTo>
                  <a:pt x="3037096" y="1279929"/>
                </a:lnTo>
                <a:lnTo>
                  <a:pt x="3040339" y="1279929"/>
                </a:lnTo>
                <a:lnTo>
                  <a:pt x="3043555" y="1279929"/>
                </a:lnTo>
                <a:lnTo>
                  <a:pt x="3046824" y="1279929"/>
                </a:lnTo>
                <a:lnTo>
                  <a:pt x="3049962" y="1279929"/>
                </a:lnTo>
                <a:lnTo>
                  <a:pt x="3053230" y="1279929"/>
                </a:lnTo>
                <a:lnTo>
                  <a:pt x="3053230" y="1275678"/>
                </a:lnTo>
                <a:lnTo>
                  <a:pt x="3056421" y="1275678"/>
                </a:lnTo>
                <a:lnTo>
                  <a:pt x="3059689" y="1275678"/>
                </a:lnTo>
                <a:lnTo>
                  <a:pt x="3062907" y="1275678"/>
                </a:lnTo>
                <a:lnTo>
                  <a:pt x="3066149" y="1275678"/>
                </a:lnTo>
                <a:lnTo>
                  <a:pt x="3069366" y="1275678"/>
                </a:lnTo>
                <a:lnTo>
                  <a:pt x="3072608" y="1275678"/>
                </a:lnTo>
                <a:lnTo>
                  <a:pt x="3075825" y="1275699"/>
                </a:lnTo>
                <a:lnTo>
                  <a:pt x="3079067" y="1275699"/>
                </a:lnTo>
                <a:lnTo>
                  <a:pt x="3082284" y="1275699"/>
                </a:lnTo>
                <a:lnTo>
                  <a:pt x="3085501" y="1275699"/>
                </a:lnTo>
                <a:lnTo>
                  <a:pt x="3085501" y="1271404"/>
                </a:lnTo>
                <a:lnTo>
                  <a:pt x="3088769" y="1271404"/>
                </a:lnTo>
                <a:lnTo>
                  <a:pt x="3091907" y="1271404"/>
                </a:lnTo>
                <a:lnTo>
                  <a:pt x="3091907" y="1267089"/>
                </a:lnTo>
                <a:lnTo>
                  <a:pt x="3095125" y="1267089"/>
                </a:lnTo>
                <a:lnTo>
                  <a:pt x="3098367" y="1267111"/>
                </a:lnTo>
                <a:lnTo>
                  <a:pt x="3101610" y="1267111"/>
                </a:lnTo>
                <a:lnTo>
                  <a:pt x="3101610" y="1258374"/>
                </a:lnTo>
                <a:lnTo>
                  <a:pt x="3104852" y="1258396"/>
                </a:lnTo>
                <a:lnTo>
                  <a:pt x="3104852" y="1254017"/>
                </a:lnTo>
                <a:lnTo>
                  <a:pt x="3108069" y="1254017"/>
                </a:lnTo>
                <a:lnTo>
                  <a:pt x="3111311" y="1254017"/>
                </a:lnTo>
                <a:lnTo>
                  <a:pt x="3114554" y="1254017"/>
                </a:lnTo>
                <a:lnTo>
                  <a:pt x="3117744" y="1254017"/>
                </a:lnTo>
                <a:lnTo>
                  <a:pt x="3121013" y="1254017"/>
                </a:lnTo>
                <a:lnTo>
                  <a:pt x="3124203" y="1254017"/>
                </a:lnTo>
                <a:lnTo>
                  <a:pt x="3124203" y="1249596"/>
                </a:lnTo>
                <a:lnTo>
                  <a:pt x="3127472" y="1249617"/>
                </a:lnTo>
                <a:lnTo>
                  <a:pt x="3127472" y="1245217"/>
                </a:lnTo>
                <a:lnTo>
                  <a:pt x="3130611" y="1245217"/>
                </a:lnTo>
                <a:lnTo>
                  <a:pt x="3130611" y="1240796"/>
                </a:lnTo>
                <a:lnTo>
                  <a:pt x="3133828" y="1240796"/>
                </a:lnTo>
                <a:lnTo>
                  <a:pt x="3137070" y="1240796"/>
                </a:lnTo>
                <a:lnTo>
                  <a:pt x="3140287" y="1240796"/>
                </a:lnTo>
                <a:lnTo>
                  <a:pt x="3143529" y="1240796"/>
                </a:lnTo>
                <a:lnTo>
                  <a:pt x="3146772" y="1240796"/>
                </a:lnTo>
                <a:lnTo>
                  <a:pt x="3149962" y="1240817"/>
                </a:lnTo>
                <a:lnTo>
                  <a:pt x="3153231" y="1240817"/>
                </a:lnTo>
                <a:lnTo>
                  <a:pt x="3156473" y="1240817"/>
                </a:lnTo>
                <a:lnTo>
                  <a:pt x="3156473" y="1236418"/>
                </a:lnTo>
                <a:lnTo>
                  <a:pt x="3159716" y="1236418"/>
                </a:lnTo>
                <a:lnTo>
                  <a:pt x="3162958" y="1236418"/>
                </a:lnTo>
                <a:lnTo>
                  <a:pt x="3166201" y="1236418"/>
                </a:lnTo>
                <a:lnTo>
                  <a:pt x="3166201" y="1231954"/>
                </a:lnTo>
                <a:lnTo>
                  <a:pt x="3169417" y="1231954"/>
                </a:lnTo>
                <a:lnTo>
                  <a:pt x="3172582" y="1231954"/>
                </a:lnTo>
                <a:lnTo>
                  <a:pt x="3175799" y="1231954"/>
                </a:lnTo>
                <a:lnTo>
                  <a:pt x="3179041" y="1231954"/>
                </a:lnTo>
                <a:lnTo>
                  <a:pt x="3182258" y="1231954"/>
                </a:lnTo>
                <a:lnTo>
                  <a:pt x="3185500" y="1231975"/>
                </a:lnTo>
                <a:lnTo>
                  <a:pt x="3188717" y="1231975"/>
                </a:lnTo>
                <a:lnTo>
                  <a:pt x="3188717" y="1227512"/>
                </a:lnTo>
                <a:lnTo>
                  <a:pt x="3191959" y="1227512"/>
                </a:lnTo>
                <a:lnTo>
                  <a:pt x="3195176" y="1227512"/>
                </a:lnTo>
                <a:lnTo>
                  <a:pt x="3198444" y="1227512"/>
                </a:lnTo>
                <a:lnTo>
                  <a:pt x="3198444" y="1223007"/>
                </a:lnTo>
                <a:lnTo>
                  <a:pt x="3201635" y="1223007"/>
                </a:lnTo>
                <a:lnTo>
                  <a:pt x="3204904" y="1223007"/>
                </a:lnTo>
                <a:lnTo>
                  <a:pt x="3208094" y="1223007"/>
                </a:lnTo>
                <a:lnTo>
                  <a:pt x="3211363" y="1223007"/>
                </a:lnTo>
                <a:lnTo>
                  <a:pt x="3214502" y="1223007"/>
                </a:lnTo>
                <a:lnTo>
                  <a:pt x="3217744" y="1223007"/>
                </a:lnTo>
                <a:lnTo>
                  <a:pt x="3220961" y="1223007"/>
                </a:lnTo>
                <a:lnTo>
                  <a:pt x="3220961" y="1213911"/>
                </a:lnTo>
                <a:lnTo>
                  <a:pt x="3224230" y="1213911"/>
                </a:lnTo>
                <a:lnTo>
                  <a:pt x="3224230" y="1209342"/>
                </a:lnTo>
                <a:lnTo>
                  <a:pt x="3227420" y="1209342"/>
                </a:lnTo>
                <a:lnTo>
                  <a:pt x="3230689" y="1209342"/>
                </a:lnTo>
                <a:lnTo>
                  <a:pt x="3233880" y="1209342"/>
                </a:lnTo>
                <a:lnTo>
                  <a:pt x="3237122" y="1209342"/>
                </a:lnTo>
                <a:lnTo>
                  <a:pt x="3240365" y="1209342"/>
                </a:lnTo>
                <a:lnTo>
                  <a:pt x="3243581" y="1209342"/>
                </a:lnTo>
                <a:lnTo>
                  <a:pt x="3246824" y="1209342"/>
                </a:lnTo>
                <a:lnTo>
                  <a:pt x="3250040" y="1209363"/>
                </a:lnTo>
                <a:lnTo>
                  <a:pt x="3253283" y="1209363"/>
                </a:lnTo>
                <a:lnTo>
                  <a:pt x="3256473" y="1209363"/>
                </a:lnTo>
                <a:lnTo>
                  <a:pt x="3259664" y="1209363"/>
                </a:lnTo>
                <a:lnTo>
                  <a:pt x="3262907" y="1209363"/>
                </a:lnTo>
                <a:lnTo>
                  <a:pt x="3262907" y="1204730"/>
                </a:lnTo>
                <a:lnTo>
                  <a:pt x="3266175" y="1204752"/>
                </a:lnTo>
                <a:lnTo>
                  <a:pt x="3266175" y="1200140"/>
                </a:lnTo>
                <a:lnTo>
                  <a:pt x="3269392" y="1200140"/>
                </a:lnTo>
                <a:lnTo>
                  <a:pt x="3272634" y="1200140"/>
                </a:lnTo>
                <a:lnTo>
                  <a:pt x="3275825" y="1200140"/>
                </a:lnTo>
                <a:lnTo>
                  <a:pt x="3275825" y="1195486"/>
                </a:lnTo>
                <a:lnTo>
                  <a:pt x="3279093" y="1195486"/>
                </a:lnTo>
                <a:lnTo>
                  <a:pt x="3282310" y="1195486"/>
                </a:lnTo>
                <a:lnTo>
                  <a:pt x="3282310" y="1190875"/>
                </a:lnTo>
                <a:lnTo>
                  <a:pt x="3285553" y="1190875"/>
                </a:lnTo>
                <a:lnTo>
                  <a:pt x="3288769" y="1190875"/>
                </a:lnTo>
                <a:lnTo>
                  <a:pt x="3292038" y="1190875"/>
                </a:lnTo>
                <a:lnTo>
                  <a:pt x="3295228" y="1190896"/>
                </a:lnTo>
                <a:lnTo>
                  <a:pt x="3298419" y="1190896"/>
                </a:lnTo>
                <a:lnTo>
                  <a:pt x="3301610" y="1190896"/>
                </a:lnTo>
                <a:lnTo>
                  <a:pt x="3301610" y="1186179"/>
                </a:lnTo>
                <a:lnTo>
                  <a:pt x="3304878" y="1186179"/>
                </a:lnTo>
                <a:lnTo>
                  <a:pt x="3308095" y="1186179"/>
                </a:lnTo>
                <a:lnTo>
                  <a:pt x="3311337" y="1186179"/>
                </a:lnTo>
                <a:lnTo>
                  <a:pt x="3314554" y="1186179"/>
                </a:lnTo>
                <a:lnTo>
                  <a:pt x="3314554" y="1181483"/>
                </a:lnTo>
                <a:lnTo>
                  <a:pt x="3317822" y="1181483"/>
                </a:lnTo>
                <a:lnTo>
                  <a:pt x="3321013" y="1181483"/>
                </a:lnTo>
                <a:lnTo>
                  <a:pt x="3324281" y="1181483"/>
                </a:lnTo>
                <a:lnTo>
                  <a:pt x="3327472" y="1181483"/>
                </a:lnTo>
                <a:lnTo>
                  <a:pt x="3330714" y="1181483"/>
                </a:lnTo>
                <a:lnTo>
                  <a:pt x="3330714" y="1176724"/>
                </a:lnTo>
                <a:lnTo>
                  <a:pt x="3333957" y="1176724"/>
                </a:lnTo>
                <a:lnTo>
                  <a:pt x="3337122" y="1176724"/>
                </a:lnTo>
                <a:lnTo>
                  <a:pt x="3340339" y="1176724"/>
                </a:lnTo>
                <a:lnTo>
                  <a:pt x="3343582" y="1176724"/>
                </a:lnTo>
                <a:lnTo>
                  <a:pt x="3346797" y="1176724"/>
                </a:lnTo>
                <a:lnTo>
                  <a:pt x="3350067" y="1176745"/>
                </a:lnTo>
                <a:lnTo>
                  <a:pt x="3350067" y="1171985"/>
                </a:lnTo>
                <a:lnTo>
                  <a:pt x="3353257" y="1171985"/>
                </a:lnTo>
                <a:lnTo>
                  <a:pt x="3356499" y="1171985"/>
                </a:lnTo>
                <a:lnTo>
                  <a:pt x="3359742" y="1171985"/>
                </a:lnTo>
                <a:lnTo>
                  <a:pt x="3359742" y="1167163"/>
                </a:lnTo>
                <a:lnTo>
                  <a:pt x="3362958" y="1167163"/>
                </a:lnTo>
                <a:lnTo>
                  <a:pt x="3366201" y="1167184"/>
                </a:lnTo>
                <a:lnTo>
                  <a:pt x="3369417" y="1167184"/>
                </a:lnTo>
                <a:lnTo>
                  <a:pt x="3372660" y="1167184"/>
                </a:lnTo>
                <a:lnTo>
                  <a:pt x="3372660" y="1162319"/>
                </a:lnTo>
                <a:lnTo>
                  <a:pt x="3375903" y="1162319"/>
                </a:lnTo>
                <a:lnTo>
                  <a:pt x="3379067" y="1162319"/>
                </a:lnTo>
                <a:lnTo>
                  <a:pt x="3379067" y="1157496"/>
                </a:lnTo>
                <a:lnTo>
                  <a:pt x="3382336" y="1157496"/>
                </a:lnTo>
                <a:lnTo>
                  <a:pt x="3385553" y="1157517"/>
                </a:lnTo>
                <a:lnTo>
                  <a:pt x="3388770" y="1157517"/>
                </a:lnTo>
                <a:lnTo>
                  <a:pt x="3392012" y="1157517"/>
                </a:lnTo>
                <a:lnTo>
                  <a:pt x="3392012" y="1152609"/>
                </a:lnTo>
                <a:lnTo>
                  <a:pt x="3395228" y="1152609"/>
                </a:lnTo>
                <a:lnTo>
                  <a:pt x="3398471" y="1152609"/>
                </a:lnTo>
                <a:lnTo>
                  <a:pt x="3401713" y="1152609"/>
                </a:lnTo>
                <a:lnTo>
                  <a:pt x="3404930" y="1152609"/>
                </a:lnTo>
                <a:lnTo>
                  <a:pt x="3408173" y="1152609"/>
                </a:lnTo>
                <a:lnTo>
                  <a:pt x="3411389" y="1152609"/>
                </a:lnTo>
                <a:lnTo>
                  <a:pt x="3411389" y="1147744"/>
                </a:lnTo>
                <a:lnTo>
                  <a:pt x="3414606" y="1147744"/>
                </a:lnTo>
                <a:lnTo>
                  <a:pt x="3417874" y="1147766"/>
                </a:lnTo>
                <a:lnTo>
                  <a:pt x="3420987" y="1147766"/>
                </a:lnTo>
                <a:lnTo>
                  <a:pt x="3420987" y="1142837"/>
                </a:lnTo>
                <a:lnTo>
                  <a:pt x="3424256" y="1142858"/>
                </a:lnTo>
                <a:lnTo>
                  <a:pt x="3427472" y="1142858"/>
                </a:lnTo>
                <a:lnTo>
                  <a:pt x="3430715" y="1142858"/>
                </a:lnTo>
                <a:lnTo>
                  <a:pt x="3433931" y="1142858"/>
                </a:lnTo>
                <a:lnTo>
                  <a:pt x="3433931" y="1137971"/>
                </a:lnTo>
                <a:lnTo>
                  <a:pt x="3437174" y="1137971"/>
                </a:lnTo>
                <a:lnTo>
                  <a:pt x="3440391" y="1137971"/>
                </a:lnTo>
                <a:lnTo>
                  <a:pt x="3443659" y="1137971"/>
                </a:lnTo>
                <a:lnTo>
                  <a:pt x="3446850" y="1137971"/>
                </a:lnTo>
                <a:lnTo>
                  <a:pt x="3446850" y="1133064"/>
                </a:lnTo>
                <a:lnTo>
                  <a:pt x="3450092" y="1133064"/>
                </a:lnTo>
                <a:lnTo>
                  <a:pt x="3453335" y="1133064"/>
                </a:lnTo>
                <a:lnTo>
                  <a:pt x="3456551" y="1133064"/>
                </a:lnTo>
                <a:lnTo>
                  <a:pt x="3459794" y="1133064"/>
                </a:lnTo>
                <a:lnTo>
                  <a:pt x="3459794" y="1128072"/>
                </a:lnTo>
                <a:lnTo>
                  <a:pt x="3462933" y="1128072"/>
                </a:lnTo>
                <a:lnTo>
                  <a:pt x="3466149" y="1128093"/>
                </a:lnTo>
                <a:lnTo>
                  <a:pt x="3469418" y="1128093"/>
                </a:lnTo>
                <a:lnTo>
                  <a:pt x="3472609" y="1128093"/>
                </a:lnTo>
                <a:lnTo>
                  <a:pt x="3475877" y="1128093"/>
                </a:lnTo>
                <a:lnTo>
                  <a:pt x="3479094" y="1128093"/>
                </a:lnTo>
                <a:lnTo>
                  <a:pt x="3482337" y="1128093"/>
                </a:lnTo>
                <a:lnTo>
                  <a:pt x="3485604" y="1128093"/>
                </a:lnTo>
                <a:lnTo>
                  <a:pt x="3488822" y="1128093"/>
                </a:lnTo>
                <a:lnTo>
                  <a:pt x="3488822" y="1123101"/>
                </a:lnTo>
                <a:lnTo>
                  <a:pt x="3492064" y="1123101"/>
                </a:lnTo>
                <a:lnTo>
                  <a:pt x="3495307" y="1123122"/>
                </a:lnTo>
                <a:lnTo>
                  <a:pt x="3498522" y="1123122"/>
                </a:lnTo>
                <a:lnTo>
                  <a:pt x="3501687" y="1123122"/>
                </a:lnTo>
                <a:lnTo>
                  <a:pt x="3504878" y="1123122"/>
                </a:lnTo>
                <a:lnTo>
                  <a:pt x="3504878" y="1118045"/>
                </a:lnTo>
                <a:lnTo>
                  <a:pt x="3508147" y="1118045"/>
                </a:lnTo>
                <a:lnTo>
                  <a:pt x="3511364" y="1118045"/>
                </a:lnTo>
                <a:lnTo>
                  <a:pt x="3514580" y="1118045"/>
                </a:lnTo>
                <a:lnTo>
                  <a:pt x="3517822" y="1118045"/>
                </a:lnTo>
                <a:lnTo>
                  <a:pt x="3517822" y="1112947"/>
                </a:lnTo>
                <a:lnTo>
                  <a:pt x="3521040" y="1112969"/>
                </a:lnTo>
                <a:lnTo>
                  <a:pt x="3524282" y="1112969"/>
                </a:lnTo>
                <a:lnTo>
                  <a:pt x="3527525" y="1112969"/>
                </a:lnTo>
                <a:lnTo>
                  <a:pt x="3530740" y="1112969"/>
                </a:lnTo>
                <a:lnTo>
                  <a:pt x="3534010" y="1112969"/>
                </a:lnTo>
                <a:lnTo>
                  <a:pt x="3537252" y="1112969"/>
                </a:lnTo>
                <a:lnTo>
                  <a:pt x="3540468" y="1112969"/>
                </a:lnTo>
                <a:lnTo>
                  <a:pt x="3543608" y="1112969"/>
                </a:lnTo>
                <a:lnTo>
                  <a:pt x="3543608" y="1107807"/>
                </a:lnTo>
                <a:lnTo>
                  <a:pt x="3546824" y="1107807"/>
                </a:lnTo>
                <a:lnTo>
                  <a:pt x="3546824" y="1102688"/>
                </a:lnTo>
                <a:lnTo>
                  <a:pt x="3550067" y="1102688"/>
                </a:lnTo>
                <a:lnTo>
                  <a:pt x="3553309" y="1102688"/>
                </a:lnTo>
                <a:lnTo>
                  <a:pt x="3556526" y="1102688"/>
                </a:lnTo>
                <a:lnTo>
                  <a:pt x="3559768" y="1102688"/>
                </a:lnTo>
                <a:lnTo>
                  <a:pt x="3563011" y="1102688"/>
                </a:lnTo>
                <a:lnTo>
                  <a:pt x="3566227" y="1102710"/>
                </a:lnTo>
                <a:lnTo>
                  <a:pt x="3569470" y="1102710"/>
                </a:lnTo>
                <a:lnTo>
                  <a:pt x="3572686" y="1102710"/>
                </a:lnTo>
                <a:lnTo>
                  <a:pt x="3572686" y="1097485"/>
                </a:lnTo>
                <a:lnTo>
                  <a:pt x="3575929" y="1097506"/>
                </a:lnTo>
                <a:lnTo>
                  <a:pt x="3579146" y="1097506"/>
                </a:lnTo>
                <a:lnTo>
                  <a:pt x="3582362" y="1097506"/>
                </a:lnTo>
                <a:lnTo>
                  <a:pt x="3585553" y="1097506"/>
                </a:lnTo>
                <a:lnTo>
                  <a:pt x="3585553" y="1092302"/>
                </a:lnTo>
                <a:lnTo>
                  <a:pt x="3588769" y="1092302"/>
                </a:lnTo>
                <a:lnTo>
                  <a:pt x="3592012" y="1092302"/>
                </a:lnTo>
                <a:lnTo>
                  <a:pt x="3595281" y="1092302"/>
                </a:lnTo>
                <a:lnTo>
                  <a:pt x="3598471" y="1092302"/>
                </a:lnTo>
                <a:lnTo>
                  <a:pt x="3601739" y="1092302"/>
                </a:lnTo>
                <a:lnTo>
                  <a:pt x="3604956" y="1092302"/>
                </a:lnTo>
                <a:lnTo>
                  <a:pt x="3608173" y="1092302"/>
                </a:lnTo>
                <a:lnTo>
                  <a:pt x="3611415" y="1092302"/>
                </a:lnTo>
                <a:lnTo>
                  <a:pt x="3614632" y="1092302"/>
                </a:lnTo>
                <a:lnTo>
                  <a:pt x="3614632" y="1087099"/>
                </a:lnTo>
                <a:lnTo>
                  <a:pt x="3617874" y="1087120"/>
                </a:lnTo>
                <a:lnTo>
                  <a:pt x="3621117" y="1087120"/>
                </a:lnTo>
                <a:lnTo>
                  <a:pt x="3624334" y="1087120"/>
                </a:lnTo>
                <a:lnTo>
                  <a:pt x="3627524" y="1087120"/>
                </a:lnTo>
                <a:lnTo>
                  <a:pt x="3630741" y="1087120"/>
                </a:lnTo>
                <a:lnTo>
                  <a:pt x="3633983" y="1087120"/>
                </a:lnTo>
                <a:lnTo>
                  <a:pt x="3637200" y="1087120"/>
                </a:lnTo>
                <a:lnTo>
                  <a:pt x="3640417" y="1087120"/>
                </a:lnTo>
                <a:lnTo>
                  <a:pt x="3643660" y="1087120"/>
                </a:lnTo>
                <a:lnTo>
                  <a:pt x="3646902" y="1087141"/>
                </a:lnTo>
                <a:lnTo>
                  <a:pt x="3650119" y="1087141"/>
                </a:lnTo>
                <a:lnTo>
                  <a:pt x="3653361" y="1087141"/>
                </a:lnTo>
                <a:lnTo>
                  <a:pt x="3656577" y="1087141"/>
                </a:lnTo>
                <a:lnTo>
                  <a:pt x="3659820" y="1087141"/>
                </a:lnTo>
                <a:lnTo>
                  <a:pt x="3663063" y="1087141"/>
                </a:lnTo>
                <a:lnTo>
                  <a:pt x="3666280" y="1087141"/>
                </a:lnTo>
                <a:lnTo>
                  <a:pt x="3669444" y="1087141"/>
                </a:lnTo>
                <a:lnTo>
                  <a:pt x="3672687" y="1087141"/>
                </a:lnTo>
                <a:lnTo>
                  <a:pt x="3675903" y="1087141"/>
                </a:lnTo>
                <a:lnTo>
                  <a:pt x="3679145" y="1087162"/>
                </a:lnTo>
                <a:lnTo>
                  <a:pt x="3682363" y="1087162"/>
                </a:lnTo>
                <a:lnTo>
                  <a:pt x="3685605" y="1087162"/>
                </a:lnTo>
                <a:lnTo>
                  <a:pt x="3688848" y="1087162"/>
                </a:lnTo>
                <a:lnTo>
                  <a:pt x="3692064" y="1087162"/>
                </a:lnTo>
                <a:lnTo>
                  <a:pt x="3695307" y="1087162"/>
                </a:lnTo>
                <a:lnTo>
                  <a:pt x="3698549" y="1087162"/>
                </a:lnTo>
                <a:lnTo>
                  <a:pt x="3701766" y="1087162"/>
                </a:lnTo>
                <a:lnTo>
                  <a:pt x="3705008" y="1087162"/>
                </a:lnTo>
                <a:lnTo>
                  <a:pt x="3708173" y="1087183"/>
                </a:lnTo>
                <a:lnTo>
                  <a:pt x="3711416" y="1087183"/>
                </a:lnTo>
                <a:lnTo>
                  <a:pt x="3714658" y="1087183"/>
                </a:lnTo>
                <a:lnTo>
                  <a:pt x="3714658" y="1081641"/>
                </a:lnTo>
                <a:lnTo>
                  <a:pt x="3717875" y="1081641"/>
                </a:lnTo>
                <a:lnTo>
                  <a:pt x="3721117" y="1081641"/>
                </a:lnTo>
                <a:lnTo>
                  <a:pt x="3724334" y="1081662"/>
                </a:lnTo>
                <a:lnTo>
                  <a:pt x="3727576" y="1081662"/>
                </a:lnTo>
                <a:lnTo>
                  <a:pt x="3730819" y="1081662"/>
                </a:lnTo>
                <a:lnTo>
                  <a:pt x="3734009" y="1081662"/>
                </a:lnTo>
                <a:lnTo>
                  <a:pt x="3737252" y="1081662"/>
                </a:lnTo>
                <a:lnTo>
                  <a:pt x="3740494" y="1081662"/>
                </a:lnTo>
                <a:lnTo>
                  <a:pt x="3743711" y="1081662"/>
                </a:lnTo>
                <a:lnTo>
                  <a:pt x="3746954" y="1081662"/>
                </a:lnTo>
                <a:lnTo>
                  <a:pt x="3750119" y="1081662"/>
                </a:lnTo>
                <a:lnTo>
                  <a:pt x="3753361" y="1081662"/>
                </a:lnTo>
                <a:lnTo>
                  <a:pt x="3756578" y="1081662"/>
                </a:lnTo>
                <a:lnTo>
                  <a:pt x="3759794" y="1081662"/>
                </a:lnTo>
                <a:lnTo>
                  <a:pt x="3763037" y="1081662"/>
                </a:lnTo>
                <a:lnTo>
                  <a:pt x="3766279" y="1081662"/>
                </a:lnTo>
                <a:lnTo>
                  <a:pt x="3769497" y="1081704"/>
                </a:lnTo>
                <a:lnTo>
                  <a:pt x="3769497" y="1064951"/>
                </a:lnTo>
                <a:lnTo>
                  <a:pt x="3772739" y="1064951"/>
                </a:lnTo>
                <a:lnTo>
                  <a:pt x="3775955" y="1064951"/>
                </a:lnTo>
                <a:lnTo>
                  <a:pt x="3779197" y="1064951"/>
                </a:lnTo>
                <a:lnTo>
                  <a:pt x="3782440" y="1064973"/>
                </a:lnTo>
                <a:lnTo>
                  <a:pt x="3782440" y="1059325"/>
                </a:lnTo>
                <a:lnTo>
                  <a:pt x="3785657" y="1059346"/>
                </a:lnTo>
                <a:lnTo>
                  <a:pt x="3788900" y="1059346"/>
                </a:lnTo>
                <a:lnTo>
                  <a:pt x="3792038" y="1059346"/>
                </a:lnTo>
                <a:lnTo>
                  <a:pt x="3795255" y="1059346"/>
                </a:lnTo>
                <a:lnTo>
                  <a:pt x="3798497" y="1059346"/>
                </a:lnTo>
                <a:lnTo>
                  <a:pt x="3801714" y="1059346"/>
                </a:lnTo>
                <a:lnTo>
                  <a:pt x="3801714" y="1048071"/>
                </a:lnTo>
                <a:lnTo>
                  <a:pt x="3804983" y="1048071"/>
                </a:lnTo>
                <a:lnTo>
                  <a:pt x="3804983" y="1042423"/>
                </a:lnTo>
                <a:lnTo>
                  <a:pt x="3808225" y="1042423"/>
                </a:lnTo>
                <a:lnTo>
                  <a:pt x="3811468" y="1042423"/>
                </a:lnTo>
                <a:lnTo>
                  <a:pt x="3814710" y="1042423"/>
                </a:lnTo>
                <a:lnTo>
                  <a:pt x="3817927" y="1042423"/>
                </a:lnTo>
                <a:lnTo>
                  <a:pt x="3821169" y="1042423"/>
                </a:lnTo>
                <a:lnTo>
                  <a:pt x="3824412" y="1042423"/>
                </a:lnTo>
                <a:lnTo>
                  <a:pt x="3827603" y="1042423"/>
                </a:lnTo>
                <a:lnTo>
                  <a:pt x="3830871" y="1042423"/>
                </a:lnTo>
                <a:lnTo>
                  <a:pt x="3834010" y="1042423"/>
                </a:lnTo>
                <a:lnTo>
                  <a:pt x="3837226" y="1042445"/>
                </a:lnTo>
                <a:lnTo>
                  <a:pt x="3840468" y="1042445"/>
                </a:lnTo>
                <a:lnTo>
                  <a:pt x="3843686" y="1042445"/>
                </a:lnTo>
                <a:lnTo>
                  <a:pt x="3846928" y="1042445"/>
                </a:lnTo>
                <a:lnTo>
                  <a:pt x="3850171" y="1042445"/>
                </a:lnTo>
                <a:lnTo>
                  <a:pt x="3853387" y="1042445"/>
                </a:lnTo>
                <a:lnTo>
                  <a:pt x="3856656" y="1042445"/>
                </a:lnTo>
                <a:lnTo>
                  <a:pt x="3859846" y="1042445"/>
                </a:lnTo>
                <a:lnTo>
                  <a:pt x="3863115" y="1042445"/>
                </a:lnTo>
                <a:lnTo>
                  <a:pt x="3866331" y="1042466"/>
                </a:lnTo>
                <a:lnTo>
                  <a:pt x="3869574" y="1042466"/>
                </a:lnTo>
                <a:lnTo>
                  <a:pt x="3872791" y="1042466"/>
                </a:lnTo>
                <a:lnTo>
                  <a:pt x="3872791" y="1036585"/>
                </a:lnTo>
                <a:lnTo>
                  <a:pt x="3875955" y="1036585"/>
                </a:lnTo>
                <a:lnTo>
                  <a:pt x="3879172" y="1036606"/>
                </a:lnTo>
                <a:lnTo>
                  <a:pt x="3882414" y="1036606"/>
                </a:lnTo>
                <a:lnTo>
                  <a:pt x="3885631" y="1036606"/>
                </a:lnTo>
                <a:lnTo>
                  <a:pt x="3885631" y="1024824"/>
                </a:lnTo>
                <a:lnTo>
                  <a:pt x="3888874" y="1024824"/>
                </a:lnTo>
                <a:lnTo>
                  <a:pt x="3892090" y="1024824"/>
                </a:lnTo>
                <a:lnTo>
                  <a:pt x="3895333" y="1024824"/>
                </a:lnTo>
                <a:lnTo>
                  <a:pt x="3898549" y="1024824"/>
                </a:lnTo>
                <a:lnTo>
                  <a:pt x="3898549" y="1018922"/>
                </a:lnTo>
                <a:lnTo>
                  <a:pt x="3901818" y="1018922"/>
                </a:lnTo>
                <a:lnTo>
                  <a:pt x="3905009" y="1018922"/>
                </a:lnTo>
                <a:lnTo>
                  <a:pt x="3908252" y="1018944"/>
                </a:lnTo>
                <a:lnTo>
                  <a:pt x="3911494" y="1018944"/>
                </a:lnTo>
                <a:lnTo>
                  <a:pt x="3914658" y="1018944"/>
                </a:lnTo>
                <a:lnTo>
                  <a:pt x="3917901" y="1018944"/>
                </a:lnTo>
                <a:lnTo>
                  <a:pt x="3917901" y="1012957"/>
                </a:lnTo>
                <a:lnTo>
                  <a:pt x="3921117" y="1012957"/>
                </a:lnTo>
                <a:lnTo>
                  <a:pt x="3924360" y="1012979"/>
                </a:lnTo>
                <a:lnTo>
                  <a:pt x="3924360" y="1006950"/>
                </a:lnTo>
                <a:lnTo>
                  <a:pt x="3927577" y="1006950"/>
                </a:lnTo>
                <a:lnTo>
                  <a:pt x="3927577" y="1001006"/>
                </a:lnTo>
                <a:lnTo>
                  <a:pt x="3930820" y="1001006"/>
                </a:lnTo>
                <a:lnTo>
                  <a:pt x="3934062" y="1001006"/>
                </a:lnTo>
                <a:lnTo>
                  <a:pt x="3934062" y="994977"/>
                </a:lnTo>
                <a:lnTo>
                  <a:pt x="3937278" y="994977"/>
                </a:lnTo>
                <a:lnTo>
                  <a:pt x="3940520" y="994999"/>
                </a:lnTo>
                <a:lnTo>
                  <a:pt x="3943763" y="994999"/>
                </a:lnTo>
                <a:lnTo>
                  <a:pt x="3943763" y="988991"/>
                </a:lnTo>
                <a:lnTo>
                  <a:pt x="3946980" y="988991"/>
                </a:lnTo>
                <a:lnTo>
                  <a:pt x="3950223" y="988991"/>
                </a:lnTo>
                <a:lnTo>
                  <a:pt x="3953413" y="988991"/>
                </a:lnTo>
                <a:lnTo>
                  <a:pt x="3956604" y="988991"/>
                </a:lnTo>
                <a:lnTo>
                  <a:pt x="3959847" y="988991"/>
                </a:lnTo>
                <a:lnTo>
                  <a:pt x="3963063" y="988991"/>
                </a:lnTo>
                <a:lnTo>
                  <a:pt x="3966306" y="989012"/>
                </a:lnTo>
                <a:lnTo>
                  <a:pt x="3969548" y="989012"/>
                </a:lnTo>
                <a:lnTo>
                  <a:pt x="3972765" y="989012"/>
                </a:lnTo>
                <a:lnTo>
                  <a:pt x="3976008" y="989012"/>
                </a:lnTo>
                <a:lnTo>
                  <a:pt x="3979223" y="989012"/>
                </a:lnTo>
                <a:lnTo>
                  <a:pt x="3979223" y="982920"/>
                </a:lnTo>
                <a:lnTo>
                  <a:pt x="3982466" y="982920"/>
                </a:lnTo>
                <a:lnTo>
                  <a:pt x="3985683" y="982920"/>
                </a:lnTo>
                <a:lnTo>
                  <a:pt x="3988926" y="982941"/>
                </a:lnTo>
                <a:lnTo>
                  <a:pt x="3992142" y="982941"/>
                </a:lnTo>
                <a:lnTo>
                  <a:pt x="3995385" y="982941"/>
                </a:lnTo>
                <a:lnTo>
                  <a:pt x="3995385" y="976828"/>
                </a:lnTo>
                <a:lnTo>
                  <a:pt x="3998549" y="976828"/>
                </a:lnTo>
                <a:lnTo>
                  <a:pt x="4001791" y="976849"/>
                </a:lnTo>
                <a:lnTo>
                  <a:pt x="4005009" y="976849"/>
                </a:lnTo>
                <a:lnTo>
                  <a:pt x="4005009" y="970673"/>
                </a:lnTo>
                <a:lnTo>
                  <a:pt x="4008251" y="970673"/>
                </a:lnTo>
                <a:lnTo>
                  <a:pt x="4011468" y="970673"/>
                </a:lnTo>
                <a:lnTo>
                  <a:pt x="4011468" y="964496"/>
                </a:lnTo>
                <a:lnTo>
                  <a:pt x="4014710" y="964517"/>
                </a:lnTo>
                <a:lnTo>
                  <a:pt x="4017927" y="964517"/>
                </a:lnTo>
                <a:lnTo>
                  <a:pt x="4021169" y="964517"/>
                </a:lnTo>
                <a:lnTo>
                  <a:pt x="4021169" y="958362"/>
                </a:lnTo>
                <a:lnTo>
                  <a:pt x="4024386" y="958362"/>
                </a:lnTo>
                <a:lnTo>
                  <a:pt x="4027654" y="958362"/>
                </a:lnTo>
                <a:lnTo>
                  <a:pt x="4030871" y="958362"/>
                </a:lnTo>
                <a:lnTo>
                  <a:pt x="4034139" y="958362"/>
                </a:lnTo>
                <a:lnTo>
                  <a:pt x="4037357" y="958362"/>
                </a:lnTo>
                <a:lnTo>
                  <a:pt x="4040522" y="958362"/>
                </a:lnTo>
                <a:lnTo>
                  <a:pt x="4043737" y="958362"/>
                </a:lnTo>
                <a:lnTo>
                  <a:pt x="4046980" y="958362"/>
                </a:lnTo>
                <a:lnTo>
                  <a:pt x="4050197" y="958362"/>
                </a:lnTo>
                <a:lnTo>
                  <a:pt x="4053465" y="958362"/>
                </a:lnTo>
                <a:lnTo>
                  <a:pt x="4053465" y="952121"/>
                </a:lnTo>
                <a:lnTo>
                  <a:pt x="4056656" y="952121"/>
                </a:lnTo>
                <a:lnTo>
                  <a:pt x="4059925" y="952121"/>
                </a:lnTo>
                <a:lnTo>
                  <a:pt x="4063115" y="952121"/>
                </a:lnTo>
                <a:lnTo>
                  <a:pt x="4066357" y="952121"/>
                </a:lnTo>
                <a:lnTo>
                  <a:pt x="4069600" y="952121"/>
                </a:lnTo>
                <a:lnTo>
                  <a:pt x="4072817" y="952121"/>
                </a:lnTo>
                <a:lnTo>
                  <a:pt x="4076060" y="952121"/>
                </a:lnTo>
                <a:lnTo>
                  <a:pt x="4079275" y="952121"/>
                </a:lnTo>
                <a:lnTo>
                  <a:pt x="4082440" y="952143"/>
                </a:lnTo>
                <a:lnTo>
                  <a:pt x="4085683" y="952143"/>
                </a:lnTo>
                <a:lnTo>
                  <a:pt x="4088900" y="952143"/>
                </a:lnTo>
                <a:lnTo>
                  <a:pt x="4088900" y="939345"/>
                </a:lnTo>
                <a:lnTo>
                  <a:pt x="4092143" y="939345"/>
                </a:lnTo>
                <a:lnTo>
                  <a:pt x="4095385" y="939345"/>
                </a:lnTo>
                <a:lnTo>
                  <a:pt x="4098602" y="939366"/>
                </a:lnTo>
                <a:lnTo>
                  <a:pt x="4101844" y="939366"/>
                </a:lnTo>
                <a:lnTo>
                  <a:pt x="4105061" y="939366"/>
                </a:lnTo>
                <a:lnTo>
                  <a:pt x="4108303" y="939366"/>
                </a:lnTo>
                <a:lnTo>
                  <a:pt x="4111520" y="939366"/>
                </a:lnTo>
                <a:lnTo>
                  <a:pt x="4114763" y="939366"/>
                </a:lnTo>
                <a:lnTo>
                  <a:pt x="4114763" y="932851"/>
                </a:lnTo>
                <a:lnTo>
                  <a:pt x="4117978" y="932851"/>
                </a:lnTo>
                <a:lnTo>
                  <a:pt x="4121143" y="932851"/>
                </a:lnTo>
                <a:lnTo>
                  <a:pt x="4124386" y="932851"/>
                </a:lnTo>
                <a:lnTo>
                  <a:pt x="4127629" y="932851"/>
                </a:lnTo>
                <a:lnTo>
                  <a:pt x="4127629" y="926294"/>
                </a:lnTo>
                <a:lnTo>
                  <a:pt x="4130819" y="926294"/>
                </a:lnTo>
                <a:lnTo>
                  <a:pt x="4134088" y="926294"/>
                </a:lnTo>
                <a:lnTo>
                  <a:pt x="4137331" y="926294"/>
                </a:lnTo>
                <a:lnTo>
                  <a:pt x="4140573" y="926315"/>
                </a:lnTo>
                <a:lnTo>
                  <a:pt x="4143789" y="926315"/>
                </a:lnTo>
                <a:lnTo>
                  <a:pt x="4147058" y="926315"/>
                </a:lnTo>
                <a:lnTo>
                  <a:pt x="4150249" y="926315"/>
                </a:lnTo>
                <a:lnTo>
                  <a:pt x="4153517" y="926315"/>
                </a:lnTo>
                <a:lnTo>
                  <a:pt x="4156708" y="926315"/>
                </a:lnTo>
                <a:lnTo>
                  <a:pt x="4156708" y="919673"/>
                </a:lnTo>
                <a:lnTo>
                  <a:pt x="4159950" y="919673"/>
                </a:lnTo>
                <a:lnTo>
                  <a:pt x="4163115" y="919694"/>
                </a:lnTo>
                <a:lnTo>
                  <a:pt x="4166332" y="919694"/>
                </a:lnTo>
                <a:lnTo>
                  <a:pt x="4169549" y="919694"/>
                </a:lnTo>
                <a:lnTo>
                  <a:pt x="4169549" y="912988"/>
                </a:lnTo>
                <a:lnTo>
                  <a:pt x="4172791" y="912988"/>
                </a:lnTo>
                <a:lnTo>
                  <a:pt x="4176007" y="912988"/>
                </a:lnTo>
                <a:lnTo>
                  <a:pt x="4179302" y="913010"/>
                </a:lnTo>
                <a:lnTo>
                  <a:pt x="4179302" y="906283"/>
                </a:lnTo>
                <a:lnTo>
                  <a:pt x="4182492" y="906283"/>
                </a:lnTo>
                <a:lnTo>
                  <a:pt x="4185762" y="906283"/>
                </a:lnTo>
                <a:lnTo>
                  <a:pt x="4185762" y="899514"/>
                </a:lnTo>
                <a:lnTo>
                  <a:pt x="4188977" y="899535"/>
                </a:lnTo>
                <a:lnTo>
                  <a:pt x="4192194" y="899535"/>
                </a:lnTo>
                <a:lnTo>
                  <a:pt x="4195437" y="899535"/>
                </a:lnTo>
                <a:lnTo>
                  <a:pt x="4198653" y="899535"/>
                </a:lnTo>
                <a:lnTo>
                  <a:pt x="4201896" y="899535"/>
                </a:lnTo>
                <a:lnTo>
                  <a:pt x="4205061" y="899535"/>
                </a:lnTo>
                <a:lnTo>
                  <a:pt x="4205061" y="892703"/>
                </a:lnTo>
                <a:lnTo>
                  <a:pt x="4208251" y="892703"/>
                </a:lnTo>
                <a:lnTo>
                  <a:pt x="4211520" y="892703"/>
                </a:lnTo>
                <a:lnTo>
                  <a:pt x="4214736" y="892703"/>
                </a:lnTo>
                <a:lnTo>
                  <a:pt x="4214736" y="885786"/>
                </a:lnTo>
                <a:lnTo>
                  <a:pt x="4217979" y="885786"/>
                </a:lnTo>
                <a:lnTo>
                  <a:pt x="4221195" y="885807"/>
                </a:lnTo>
                <a:lnTo>
                  <a:pt x="4224413" y="885807"/>
                </a:lnTo>
                <a:lnTo>
                  <a:pt x="4227655" y="885807"/>
                </a:lnTo>
                <a:lnTo>
                  <a:pt x="4230898" y="885807"/>
                </a:lnTo>
                <a:lnTo>
                  <a:pt x="4234140" y="885807"/>
                </a:lnTo>
                <a:lnTo>
                  <a:pt x="4237357" y="885807"/>
                </a:lnTo>
                <a:lnTo>
                  <a:pt x="4240625" y="885807"/>
                </a:lnTo>
                <a:lnTo>
                  <a:pt x="4243816" y="885807"/>
                </a:lnTo>
                <a:lnTo>
                  <a:pt x="4247006" y="885807"/>
                </a:lnTo>
                <a:lnTo>
                  <a:pt x="4247006" y="878826"/>
                </a:lnTo>
                <a:lnTo>
                  <a:pt x="4250223" y="878826"/>
                </a:lnTo>
                <a:lnTo>
                  <a:pt x="4253466" y="878826"/>
                </a:lnTo>
                <a:lnTo>
                  <a:pt x="4256708" y="878826"/>
                </a:lnTo>
                <a:lnTo>
                  <a:pt x="4259925" y="878826"/>
                </a:lnTo>
                <a:lnTo>
                  <a:pt x="4263141" y="878826"/>
                </a:lnTo>
                <a:lnTo>
                  <a:pt x="4263141" y="871655"/>
                </a:lnTo>
                <a:lnTo>
                  <a:pt x="4266384" y="871655"/>
                </a:lnTo>
                <a:lnTo>
                  <a:pt x="4269601" y="871655"/>
                </a:lnTo>
                <a:lnTo>
                  <a:pt x="4272869" y="871655"/>
                </a:lnTo>
                <a:lnTo>
                  <a:pt x="4276060" y="871655"/>
                </a:lnTo>
                <a:lnTo>
                  <a:pt x="4276060" y="864379"/>
                </a:lnTo>
                <a:lnTo>
                  <a:pt x="4279328" y="864379"/>
                </a:lnTo>
                <a:lnTo>
                  <a:pt x="4279328" y="857145"/>
                </a:lnTo>
                <a:lnTo>
                  <a:pt x="4282545" y="857145"/>
                </a:lnTo>
                <a:lnTo>
                  <a:pt x="4285709" y="857145"/>
                </a:lnTo>
                <a:lnTo>
                  <a:pt x="4288926" y="857145"/>
                </a:lnTo>
                <a:lnTo>
                  <a:pt x="4292169" y="857145"/>
                </a:lnTo>
                <a:lnTo>
                  <a:pt x="4295385" y="857145"/>
                </a:lnTo>
                <a:lnTo>
                  <a:pt x="4295385" y="849762"/>
                </a:lnTo>
                <a:lnTo>
                  <a:pt x="4298654" y="849762"/>
                </a:lnTo>
                <a:lnTo>
                  <a:pt x="4301844" y="849762"/>
                </a:lnTo>
                <a:lnTo>
                  <a:pt x="4305113" y="849762"/>
                </a:lnTo>
                <a:lnTo>
                  <a:pt x="4308329" y="849762"/>
                </a:lnTo>
                <a:lnTo>
                  <a:pt x="4311572" y="849783"/>
                </a:lnTo>
                <a:lnTo>
                  <a:pt x="4314789" y="849783"/>
                </a:lnTo>
                <a:lnTo>
                  <a:pt x="4318005" y="849783"/>
                </a:lnTo>
                <a:lnTo>
                  <a:pt x="4318005" y="842316"/>
                </a:lnTo>
                <a:lnTo>
                  <a:pt x="4321247" y="842316"/>
                </a:lnTo>
                <a:lnTo>
                  <a:pt x="4321247" y="834849"/>
                </a:lnTo>
                <a:lnTo>
                  <a:pt x="4324490" y="834849"/>
                </a:lnTo>
                <a:lnTo>
                  <a:pt x="4324490" y="827340"/>
                </a:lnTo>
                <a:lnTo>
                  <a:pt x="4327629" y="827340"/>
                </a:lnTo>
                <a:lnTo>
                  <a:pt x="4330897" y="827340"/>
                </a:lnTo>
                <a:lnTo>
                  <a:pt x="4334088" y="827340"/>
                </a:lnTo>
                <a:lnTo>
                  <a:pt x="4337357" y="827340"/>
                </a:lnTo>
                <a:lnTo>
                  <a:pt x="4340573" y="827340"/>
                </a:lnTo>
                <a:lnTo>
                  <a:pt x="4340573" y="819767"/>
                </a:lnTo>
                <a:lnTo>
                  <a:pt x="4343816" y="819767"/>
                </a:lnTo>
                <a:lnTo>
                  <a:pt x="4347032" y="819767"/>
                </a:lnTo>
                <a:lnTo>
                  <a:pt x="4350275" y="819788"/>
                </a:lnTo>
                <a:lnTo>
                  <a:pt x="4353492" y="819788"/>
                </a:lnTo>
                <a:lnTo>
                  <a:pt x="4356760" y="819788"/>
                </a:lnTo>
                <a:lnTo>
                  <a:pt x="4359977" y="819788"/>
                </a:lnTo>
                <a:lnTo>
                  <a:pt x="4363220" y="819788"/>
                </a:lnTo>
                <a:lnTo>
                  <a:pt x="4366462" y="819788"/>
                </a:lnTo>
                <a:lnTo>
                  <a:pt x="4366462" y="812110"/>
                </a:lnTo>
                <a:lnTo>
                  <a:pt x="4369627" y="812110"/>
                </a:lnTo>
                <a:lnTo>
                  <a:pt x="4372843" y="812131"/>
                </a:lnTo>
                <a:lnTo>
                  <a:pt x="4376085" y="812131"/>
                </a:lnTo>
                <a:lnTo>
                  <a:pt x="4376085" y="804410"/>
                </a:lnTo>
                <a:lnTo>
                  <a:pt x="4379303" y="804410"/>
                </a:lnTo>
                <a:lnTo>
                  <a:pt x="4382545" y="804410"/>
                </a:lnTo>
                <a:lnTo>
                  <a:pt x="4385761" y="804410"/>
                </a:lnTo>
                <a:lnTo>
                  <a:pt x="4389003" y="804410"/>
                </a:lnTo>
                <a:lnTo>
                  <a:pt x="4392246" y="804431"/>
                </a:lnTo>
                <a:lnTo>
                  <a:pt x="4395437" y="804431"/>
                </a:lnTo>
                <a:lnTo>
                  <a:pt x="4398706" y="804431"/>
                </a:lnTo>
                <a:lnTo>
                  <a:pt x="4401896" y="804431"/>
                </a:lnTo>
                <a:lnTo>
                  <a:pt x="4401896" y="796541"/>
                </a:lnTo>
                <a:lnTo>
                  <a:pt x="4405165" y="796541"/>
                </a:lnTo>
                <a:lnTo>
                  <a:pt x="4408381" y="796541"/>
                </a:lnTo>
                <a:lnTo>
                  <a:pt x="4408381" y="788651"/>
                </a:lnTo>
                <a:lnTo>
                  <a:pt x="4411546" y="788651"/>
                </a:lnTo>
                <a:lnTo>
                  <a:pt x="4414763" y="788651"/>
                </a:lnTo>
                <a:lnTo>
                  <a:pt x="4418031" y="788651"/>
                </a:lnTo>
                <a:lnTo>
                  <a:pt x="4421221" y="788651"/>
                </a:lnTo>
                <a:lnTo>
                  <a:pt x="4424491" y="788651"/>
                </a:lnTo>
                <a:lnTo>
                  <a:pt x="4427681" y="788651"/>
                </a:lnTo>
                <a:lnTo>
                  <a:pt x="4430949" y="788651"/>
                </a:lnTo>
                <a:lnTo>
                  <a:pt x="4434166" y="788672"/>
                </a:lnTo>
                <a:lnTo>
                  <a:pt x="4437409" y="788672"/>
                </a:lnTo>
                <a:lnTo>
                  <a:pt x="4440625" y="788672"/>
                </a:lnTo>
                <a:lnTo>
                  <a:pt x="4443842" y="788672"/>
                </a:lnTo>
                <a:lnTo>
                  <a:pt x="4447084" y="788672"/>
                </a:lnTo>
                <a:lnTo>
                  <a:pt x="4450327" y="788672"/>
                </a:lnTo>
                <a:lnTo>
                  <a:pt x="4453466" y="788672"/>
                </a:lnTo>
                <a:lnTo>
                  <a:pt x="4456734" y="788672"/>
                </a:lnTo>
                <a:lnTo>
                  <a:pt x="4459977" y="788672"/>
                </a:lnTo>
                <a:lnTo>
                  <a:pt x="4463219" y="788672"/>
                </a:lnTo>
                <a:lnTo>
                  <a:pt x="4466436" y="788694"/>
                </a:lnTo>
                <a:lnTo>
                  <a:pt x="4469652" y="788694"/>
                </a:lnTo>
                <a:lnTo>
                  <a:pt x="4472895" y="788694"/>
                </a:lnTo>
                <a:lnTo>
                  <a:pt x="4476137" y="788694"/>
                </a:lnTo>
                <a:lnTo>
                  <a:pt x="4479355" y="788694"/>
                </a:lnTo>
                <a:lnTo>
                  <a:pt x="4482597" y="788694"/>
                </a:lnTo>
                <a:lnTo>
                  <a:pt x="4485840" y="788694"/>
                </a:lnTo>
                <a:lnTo>
                  <a:pt x="4489056" y="788694"/>
                </a:lnTo>
                <a:lnTo>
                  <a:pt x="4492195" y="788694"/>
                </a:lnTo>
                <a:lnTo>
                  <a:pt x="4495437" y="788715"/>
                </a:lnTo>
                <a:lnTo>
                  <a:pt x="4498654" y="788715"/>
                </a:lnTo>
                <a:lnTo>
                  <a:pt x="4501923" y="788715"/>
                </a:lnTo>
                <a:lnTo>
                  <a:pt x="4505139" y="788715"/>
                </a:lnTo>
                <a:lnTo>
                  <a:pt x="4508382" y="788715"/>
                </a:lnTo>
                <a:lnTo>
                  <a:pt x="4511598" y="788715"/>
                </a:lnTo>
                <a:lnTo>
                  <a:pt x="4514840" y="788715"/>
                </a:lnTo>
                <a:lnTo>
                  <a:pt x="4518083" y="788715"/>
                </a:lnTo>
                <a:lnTo>
                  <a:pt x="4521300" y="788715"/>
                </a:lnTo>
                <a:lnTo>
                  <a:pt x="4524543" y="788715"/>
                </a:lnTo>
                <a:lnTo>
                  <a:pt x="4524543" y="780021"/>
                </a:lnTo>
                <a:lnTo>
                  <a:pt x="4527785" y="780021"/>
                </a:lnTo>
                <a:lnTo>
                  <a:pt x="4531001" y="780021"/>
                </a:lnTo>
                <a:lnTo>
                  <a:pt x="4534141" y="780021"/>
                </a:lnTo>
                <a:lnTo>
                  <a:pt x="4534141" y="771137"/>
                </a:lnTo>
                <a:lnTo>
                  <a:pt x="4537357" y="771137"/>
                </a:lnTo>
                <a:lnTo>
                  <a:pt x="4540600" y="771137"/>
                </a:lnTo>
                <a:lnTo>
                  <a:pt x="4543842" y="771137"/>
                </a:lnTo>
                <a:lnTo>
                  <a:pt x="4547059" y="771137"/>
                </a:lnTo>
                <a:lnTo>
                  <a:pt x="4550301" y="771137"/>
                </a:lnTo>
                <a:lnTo>
                  <a:pt x="4553544" y="771137"/>
                </a:lnTo>
                <a:lnTo>
                  <a:pt x="4556761" y="771137"/>
                </a:lnTo>
                <a:lnTo>
                  <a:pt x="4560003" y="771137"/>
                </a:lnTo>
                <a:lnTo>
                  <a:pt x="4560003" y="762125"/>
                </a:lnTo>
                <a:lnTo>
                  <a:pt x="4563219" y="762125"/>
                </a:lnTo>
                <a:lnTo>
                  <a:pt x="4566462" y="762125"/>
                </a:lnTo>
                <a:lnTo>
                  <a:pt x="4569704" y="762125"/>
                </a:lnTo>
                <a:lnTo>
                  <a:pt x="4572921" y="762125"/>
                </a:lnTo>
                <a:lnTo>
                  <a:pt x="4576112" y="762125"/>
                </a:lnTo>
                <a:lnTo>
                  <a:pt x="4579302" y="762125"/>
                </a:lnTo>
                <a:lnTo>
                  <a:pt x="4582571" y="762125"/>
                </a:lnTo>
                <a:lnTo>
                  <a:pt x="4585787" y="762125"/>
                </a:lnTo>
                <a:lnTo>
                  <a:pt x="4589030" y="762125"/>
                </a:lnTo>
                <a:lnTo>
                  <a:pt x="4592247" y="762146"/>
                </a:lnTo>
                <a:lnTo>
                  <a:pt x="4595515" y="762146"/>
                </a:lnTo>
                <a:lnTo>
                  <a:pt x="4595515" y="752924"/>
                </a:lnTo>
                <a:lnTo>
                  <a:pt x="4598706" y="752924"/>
                </a:lnTo>
                <a:lnTo>
                  <a:pt x="4601948" y="752924"/>
                </a:lnTo>
                <a:lnTo>
                  <a:pt x="4605165" y="752924"/>
                </a:lnTo>
                <a:lnTo>
                  <a:pt x="4608407" y="752945"/>
                </a:lnTo>
                <a:lnTo>
                  <a:pt x="4611676" y="752945"/>
                </a:lnTo>
                <a:lnTo>
                  <a:pt x="4614892" y="752945"/>
                </a:lnTo>
                <a:lnTo>
                  <a:pt x="4614892" y="743574"/>
                </a:lnTo>
                <a:lnTo>
                  <a:pt x="4618032" y="743574"/>
                </a:lnTo>
                <a:lnTo>
                  <a:pt x="4621300" y="743574"/>
                </a:lnTo>
                <a:lnTo>
                  <a:pt x="4624490" y="743595"/>
                </a:lnTo>
                <a:lnTo>
                  <a:pt x="4624490" y="734161"/>
                </a:lnTo>
                <a:lnTo>
                  <a:pt x="4627733" y="734161"/>
                </a:lnTo>
                <a:lnTo>
                  <a:pt x="4630950" y="734161"/>
                </a:lnTo>
                <a:lnTo>
                  <a:pt x="4634192" y="734161"/>
                </a:lnTo>
                <a:lnTo>
                  <a:pt x="4637435" y="734161"/>
                </a:lnTo>
                <a:lnTo>
                  <a:pt x="4640651" y="734182"/>
                </a:lnTo>
                <a:lnTo>
                  <a:pt x="4643894" y="734182"/>
                </a:lnTo>
                <a:lnTo>
                  <a:pt x="4647110" y="734182"/>
                </a:lnTo>
                <a:lnTo>
                  <a:pt x="4650353" y="734182"/>
                </a:lnTo>
                <a:lnTo>
                  <a:pt x="4653595" y="734182"/>
                </a:lnTo>
                <a:lnTo>
                  <a:pt x="4656813" y="734182"/>
                </a:lnTo>
                <a:lnTo>
                  <a:pt x="4656813" y="724410"/>
                </a:lnTo>
                <a:lnTo>
                  <a:pt x="4659977" y="724410"/>
                </a:lnTo>
                <a:lnTo>
                  <a:pt x="4663219" y="724410"/>
                </a:lnTo>
                <a:lnTo>
                  <a:pt x="4666436" y="724410"/>
                </a:lnTo>
                <a:lnTo>
                  <a:pt x="4669678" y="724410"/>
                </a:lnTo>
                <a:lnTo>
                  <a:pt x="4672896" y="724410"/>
                </a:lnTo>
                <a:lnTo>
                  <a:pt x="4676138" y="724410"/>
                </a:lnTo>
                <a:lnTo>
                  <a:pt x="4679381" y="724410"/>
                </a:lnTo>
                <a:lnTo>
                  <a:pt x="4682623" y="724410"/>
                </a:lnTo>
                <a:lnTo>
                  <a:pt x="4682623" y="714404"/>
                </a:lnTo>
                <a:lnTo>
                  <a:pt x="4685866" y="714404"/>
                </a:lnTo>
                <a:lnTo>
                  <a:pt x="4689108" y="714404"/>
                </a:lnTo>
                <a:lnTo>
                  <a:pt x="4692325" y="714404"/>
                </a:lnTo>
                <a:lnTo>
                  <a:pt x="4695541" y="714404"/>
                </a:lnTo>
                <a:lnTo>
                  <a:pt x="4695541" y="704293"/>
                </a:lnTo>
                <a:lnTo>
                  <a:pt x="4698706" y="704293"/>
                </a:lnTo>
                <a:lnTo>
                  <a:pt x="4701949" y="704293"/>
                </a:lnTo>
                <a:lnTo>
                  <a:pt x="4705191" y="704293"/>
                </a:lnTo>
                <a:lnTo>
                  <a:pt x="4708408" y="704293"/>
                </a:lnTo>
                <a:lnTo>
                  <a:pt x="4708408" y="694013"/>
                </a:lnTo>
                <a:lnTo>
                  <a:pt x="4711650" y="694013"/>
                </a:lnTo>
                <a:lnTo>
                  <a:pt x="4714867" y="694013"/>
                </a:lnTo>
                <a:lnTo>
                  <a:pt x="4718109" y="694013"/>
                </a:lnTo>
                <a:lnTo>
                  <a:pt x="4721326" y="694013"/>
                </a:lnTo>
                <a:lnTo>
                  <a:pt x="4721326" y="683648"/>
                </a:lnTo>
                <a:lnTo>
                  <a:pt x="4724542" y="683648"/>
                </a:lnTo>
                <a:lnTo>
                  <a:pt x="4727785" y="683648"/>
                </a:lnTo>
                <a:lnTo>
                  <a:pt x="4731027" y="683648"/>
                </a:lnTo>
                <a:lnTo>
                  <a:pt x="4734244" y="683648"/>
                </a:lnTo>
                <a:lnTo>
                  <a:pt x="4737487" y="683669"/>
                </a:lnTo>
                <a:lnTo>
                  <a:pt x="4740652" y="683669"/>
                </a:lnTo>
                <a:lnTo>
                  <a:pt x="4743868" y="683669"/>
                </a:lnTo>
                <a:lnTo>
                  <a:pt x="4747111" y="683669"/>
                </a:lnTo>
                <a:lnTo>
                  <a:pt x="4750327" y="683669"/>
                </a:lnTo>
                <a:lnTo>
                  <a:pt x="4753570" y="683669"/>
                </a:lnTo>
                <a:lnTo>
                  <a:pt x="4756812" y="683669"/>
                </a:lnTo>
                <a:lnTo>
                  <a:pt x="4760030" y="683669"/>
                </a:lnTo>
                <a:lnTo>
                  <a:pt x="4763272" y="683669"/>
                </a:lnTo>
                <a:lnTo>
                  <a:pt x="4766488" y="683669"/>
                </a:lnTo>
                <a:lnTo>
                  <a:pt x="4769730" y="683690"/>
                </a:lnTo>
                <a:lnTo>
                  <a:pt x="4772973" y="683690"/>
                </a:lnTo>
                <a:lnTo>
                  <a:pt x="4776190" y="683690"/>
                </a:lnTo>
                <a:lnTo>
                  <a:pt x="4776190" y="672881"/>
                </a:lnTo>
                <a:lnTo>
                  <a:pt x="4779433" y="672881"/>
                </a:lnTo>
                <a:lnTo>
                  <a:pt x="4782571" y="672881"/>
                </a:lnTo>
                <a:lnTo>
                  <a:pt x="4785840" y="672881"/>
                </a:lnTo>
                <a:lnTo>
                  <a:pt x="4789083" y="672902"/>
                </a:lnTo>
                <a:lnTo>
                  <a:pt x="4792298" y="672902"/>
                </a:lnTo>
                <a:lnTo>
                  <a:pt x="4795541" y="672902"/>
                </a:lnTo>
                <a:lnTo>
                  <a:pt x="4798783" y="672902"/>
                </a:lnTo>
                <a:lnTo>
                  <a:pt x="4802001" y="672902"/>
                </a:lnTo>
                <a:lnTo>
                  <a:pt x="4805243" y="672902"/>
                </a:lnTo>
                <a:lnTo>
                  <a:pt x="4808460" y="672902"/>
                </a:lnTo>
                <a:lnTo>
                  <a:pt x="4811702" y="672902"/>
                </a:lnTo>
                <a:lnTo>
                  <a:pt x="4814918" y="672902"/>
                </a:lnTo>
                <a:lnTo>
                  <a:pt x="4818161" y="672923"/>
                </a:lnTo>
                <a:lnTo>
                  <a:pt x="4821378" y="672923"/>
                </a:lnTo>
                <a:lnTo>
                  <a:pt x="4824543" y="672923"/>
                </a:lnTo>
                <a:lnTo>
                  <a:pt x="4827786" y="672923"/>
                </a:lnTo>
                <a:lnTo>
                  <a:pt x="4831028" y="672923"/>
                </a:lnTo>
                <a:lnTo>
                  <a:pt x="4834244" y="672923"/>
                </a:lnTo>
                <a:lnTo>
                  <a:pt x="4837486" y="672923"/>
                </a:lnTo>
                <a:lnTo>
                  <a:pt x="4840729" y="672923"/>
                </a:lnTo>
                <a:lnTo>
                  <a:pt x="4843946" y="672923"/>
                </a:lnTo>
                <a:lnTo>
                  <a:pt x="4847163" y="672923"/>
                </a:lnTo>
                <a:lnTo>
                  <a:pt x="4850405" y="672944"/>
                </a:lnTo>
                <a:lnTo>
                  <a:pt x="4853622" y="672944"/>
                </a:lnTo>
                <a:lnTo>
                  <a:pt x="4856890" y="672944"/>
                </a:lnTo>
                <a:lnTo>
                  <a:pt x="4860081" y="672944"/>
                </a:lnTo>
                <a:lnTo>
                  <a:pt x="4863349" y="672944"/>
                </a:lnTo>
                <a:lnTo>
                  <a:pt x="4863349" y="661162"/>
                </a:lnTo>
                <a:lnTo>
                  <a:pt x="4866488" y="661162"/>
                </a:lnTo>
                <a:lnTo>
                  <a:pt x="4869705" y="661162"/>
                </a:lnTo>
                <a:lnTo>
                  <a:pt x="4872947" y="661162"/>
                </a:lnTo>
                <a:lnTo>
                  <a:pt x="4876164" y="661162"/>
                </a:lnTo>
                <a:lnTo>
                  <a:pt x="4879407" y="661162"/>
                </a:lnTo>
                <a:lnTo>
                  <a:pt x="4882649" y="661162"/>
                </a:lnTo>
                <a:lnTo>
                  <a:pt x="4885866" y="661162"/>
                </a:lnTo>
                <a:lnTo>
                  <a:pt x="4889108" y="661162"/>
                </a:lnTo>
                <a:lnTo>
                  <a:pt x="4892325" y="661162"/>
                </a:lnTo>
                <a:lnTo>
                  <a:pt x="4895567" y="661183"/>
                </a:lnTo>
                <a:lnTo>
                  <a:pt x="4898810" y="661183"/>
                </a:lnTo>
                <a:lnTo>
                  <a:pt x="4902052" y="661183"/>
                </a:lnTo>
                <a:lnTo>
                  <a:pt x="4905217" y="661183"/>
                </a:lnTo>
                <a:lnTo>
                  <a:pt x="4908434" y="661183"/>
                </a:lnTo>
                <a:lnTo>
                  <a:pt x="4911650" y="661183"/>
                </a:lnTo>
                <a:lnTo>
                  <a:pt x="4914893" y="661183"/>
                </a:lnTo>
                <a:lnTo>
                  <a:pt x="4918110" y="661183"/>
                </a:lnTo>
                <a:lnTo>
                  <a:pt x="4918110" y="648640"/>
                </a:lnTo>
                <a:lnTo>
                  <a:pt x="4921353" y="648640"/>
                </a:lnTo>
                <a:lnTo>
                  <a:pt x="4924595" y="648640"/>
                </a:lnTo>
                <a:lnTo>
                  <a:pt x="4927812" y="648640"/>
                </a:lnTo>
                <a:lnTo>
                  <a:pt x="4931054" y="648640"/>
                </a:lnTo>
                <a:lnTo>
                  <a:pt x="4934323" y="648640"/>
                </a:lnTo>
                <a:lnTo>
                  <a:pt x="4937539" y="648661"/>
                </a:lnTo>
                <a:lnTo>
                  <a:pt x="4940756" y="648661"/>
                </a:lnTo>
                <a:lnTo>
                  <a:pt x="4940756" y="635927"/>
                </a:lnTo>
                <a:lnTo>
                  <a:pt x="4943998" y="635927"/>
                </a:lnTo>
                <a:lnTo>
                  <a:pt x="4947137" y="635927"/>
                </a:lnTo>
                <a:lnTo>
                  <a:pt x="4950379" y="635948"/>
                </a:lnTo>
                <a:lnTo>
                  <a:pt x="4953596" y="635948"/>
                </a:lnTo>
                <a:lnTo>
                  <a:pt x="4953596" y="623002"/>
                </a:lnTo>
                <a:lnTo>
                  <a:pt x="4956838" y="623002"/>
                </a:lnTo>
                <a:lnTo>
                  <a:pt x="4960081" y="623002"/>
                </a:lnTo>
                <a:lnTo>
                  <a:pt x="4963298" y="623023"/>
                </a:lnTo>
                <a:lnTo>
                  <a:pt x="4966541" y="623023"/>
                </a:lnTo>
                <a:lnTo>
                  <a:pt x="4969756" y="623023"/>
                </a:lnTo>
                <a:lnTo>
                  <a:pt x="4972974" y="623023"/>
                </a:lnTo>
                <a:lnTo>
                  <a:pt x="4976241" y="623023"/>
                </a:lnTo>
                <a:lnTo>
                  <a:pt x="4979433" y="623023"/>
                </a:lnTo>
                <a:lnTo>
                  <a:pt x="4982701" y="623023"/>
                </a:lnTo>
                <a:lnTo>
                  <a:pt x="4985892" y="623023"/>
                </a:lnTo>
                <a:lnTo>
                  <a:pt x="4989083" y="623023"/>
                </a:lnTo>
                <a:lnTo>
                  <a:pt x="4992325" y="623044"/>
                </a:lnTo>
                <a:lnTo>
                  <a:pt x="4995542" y="623044"/>
                </a:lnTo>
                <a:lnTo>
                  <a:pt x="4998784" y="623044"/>
                </a:lnTo>
                <a:lnTo>
                  <a:pt x="4998784" y="609507"/>
                </a:lnTo>
                <a:lnTo>
                  <a:pt x="5002027" y="609507"/>
                </a:lnTo>
                <a:lnTo>
                  <a:pt x="5005244" y="609507"/>
                </a:lnTo>
                <a:lnTo>
                  <a:pt x="5008512" y="609507"/>
                </a:lnTo>
                <a:lnTo>
                  <a:pt x="5011702" y="609507"/>
                </a:lnTo>
                <a:lnTo>
                  <a:pt x="5014972" y="609507"/>
                </a:lnTo>
                <a:lnTo>
                  <a:pt x="5018187" y="609507"/>
                </a:lnTo>
                <a:lnTo>
                  <a:pt x="5021430" y="609528"/>
                </a:lnTo>
                <a:lnTo>
                  <a:pt x="5024647" y="609528"/>
                </a:lnTo>
                <a:lnTo>
                  <a:pt x="5024647" y="595630"/>
                </a:lnTo>
                <a:lnTo>
                  <a:pt x="5027863" y="595630"/>
                </a:lnTo>
                <a:lnTo>
                  <a:pt x="5031028" y="595630"/>
                </a:lnTo>
                <a:lnTo>
                  <a:pt x="5034297" y="595630"/>
                </a:lnTo>
                <a:lnTo>
                  <a:pt x="5037487" y="595630"/>
                </a:lnTo>
                <a:lnTo>
                  <a:pt x="5040755" y="595630"/>
                </a:lnTo>
                <a:lnTo>
                  <a:pt x="5043972" y="595651"/>
                </a:lnTo>
                <a:lnTo>
                  <a:pt x="5047189" y="595651"/>
                </a:lnTo>
                <a:lnTo>
                  <a:pt x="5050431" y="595651"/>
                </a:lnTo>
                <a:lnTo>
                  <a:pt x="5053648" y="595651"/>
                </a:lnTo>
                <a:lnTo>
                  <a:pt x="5056890" y="595651"/>
                </a:lnTo>
                <a:lnTo>
                  <a:pt x="5060133" y="595651"/>
                </a:lnTo>
                <a:lnTo>
                  <a:pt x="5063350" y="595651"/>
                </a:lnTo>
                <a:lnTo>
                  <a:pt x="5066567" y="595651"/>
                </a:lnTo>
                <a:lnTo>
                  <a:pt x="5069758" y="595651"/>
                </a:lnTo>
                <a:lnTo>
                  <a:pt x="5072973" y="595673"/>
                </a:lnTo>
                <a:lnTo>
                  <a:pt x="5076216" y="595673"/>
                </a:lnTo>
                <a:lnTo>
                  <a:pt x="5079433" y="595673"/>
                </a:lnTo>
                <a:lnTo>
                  <a:pt x="5082676" y="595673"/>
                </a:lnTo>
                <a:lnTo>
                  <a:pt x="5085918" y="595673"/>
                </a:lnTo>
                <a:lnTo>
                  <a:pt x="5089135" y="595673"/>
                </a:lnTo>
                <a:lnTo>
                  <a:pt x="5092351" y="595673"/>
                </a:lnTo>
                <a:lnTo>
                  <a:pt x="5095593" y="595673"/>
                </a:lnTo>
                <a:lnTo>
                  <a:pt x="5098811" y="595673"/>
                </a:lnTo>
                <a:lnTo>
                  <a:pt x="5102079" y="595673"/>
                </a:lnTo>
                <a:lnTo>
                  <a:pt x="5105269" y="595694"/>
                </a:lnTo>
                <a:lnTo>
                  <a:pt x="5108538" y="595694"/>
                </a:lnTo>
                <a:lnTo>
                  <a:pt x="5111729" y="595694"/>
                </a:lnTo>
                <a:lnTo>
                  <a:pt x="5114945" y="595694"/>
                </a:lnTo>
                <a:lnTo>
                  <a:pt x="5118188" y="595694"/>
                </a:lnTo>
                <a:lnTo>
                  <a:pt x="5118188" y="580506"/>
                </a:lnTo>
                <a:lnTo>
                  <a:pt x="5121404" y="580527"/>
                </a:lnTo>
                <a:lnTo>
                  <a:pt x="5124621" y="580527"/>
                </a:lnTo>
                <a:lnTo>
                  <a:pt x="5127889" y="580527"/>
                </a:lnTo>
                <a:lnTo>
                  <a:pt x="5131080" y="580527"/>
                </a:lnTo>
                <a:lnTo>
                  <a:pt x="5134349" y="580527"/>
                </a:lnTo>
                <a:lnTo>
                  <a:pt x="5137565" y="580527"/>
                </a:lnTo>
                <a:lnTo>
                  <a:pt x="5140808" y="580527"/>
                </a:lnTo>
                <a:lnTo>
                  <a:pt x="5144024" y="580527"/>
                </a:lnTo>
                <a:lnTo>
                  <a:pt x="5147267" y="580527"/>
                </a:lnTo>
                <a:lnTo>
                  <a:pt x="5150484" y="580527"/>
                </a:lnTo>
                <a:lnTo>
                  <a:pt x="5153674" y="580548"/>
                </a:lnTo>
                <a:lnTo>
                  <a:pt x="5156865" y="580548"/>
                </a:lnTo>
                <a:lnTo>
                  <a:pt x="5160133" y="580548"/>
                </a:lnTo>
                <a:lnTo>
                  <a:pt x="5163350" y="580548"/>
                </a:lnTo>
                <a:lnTo>
                  <a:pt x="5166592" y="580548"/>
                </a:lnTo>
                <a:lnTo>
                  <a:pt x="5169809" y="580548"/>
                </a:lnTo>
                <a:lnTo>
                  <a:pt x="5173052" y="580548"/>
                </a:lnTo>
                <a:lnTo>
                  <a:pt x="5176268" y="580548"/>
                </a:lnTo>
                <a:lnTo>
                  <a:pt x="5176268" y="564408"/>
                </a:lnTo>
                <a:lnTo>
                  <a:pt x="5179510" y="564408"/>
                </a:lnTo>
                <a:lnTo>
                  <a:pt x="5182727" y="564408"/>
                </a:lnTo>
                <a:lnTo>
                  <a:pt x="5185970" y="564430"/>
                </a:lnTo>
                <a:lnTo>
                  <a:pt x="5189186" y="564430"/>
                </a:lnTo>
                <a:lnTo>
                  <a:pt x="5192403" y="564430"/>
                </a:lnTo>
                <a:lnTo>
                  <a:pt x="5195568" y="564430"/>
                </a:lnTo>
                <a:lnTo>
                  <a:pt x="5198810" y="564430"/>
                </a:lnTo>
                <a:lnTo>
                  <a:pt x="5202028" y="564430"/>
                </a:lnTo>
                <a:lnTo>
                  <a:pt x="5205295" y="564430"/>
                </a:lnTo>
                <a:lnTo>
                  <a:pt x="5205295" y="547697"/>
                </a:lnTo>
                <a:lnTo>
                  <a:pt x="5208513" y="547697"/>
                </a:lnTo>
                <a:lnTo>
                  <a:pt x="5211755" y="547697"/>
                </a:lnTo>
                <a:lnTo>
                  <a:pt x="5214971" y="547697"/>
                </a:lnTo>
                <a:lnTo>
                  <a:pt x="5218188" y="547697"/>
                </a:lnTo>
                <a:lnTo>
                  <a:pt x="5221456" y="547697"/>
                </a:lnTo>
                <a:lnTo>
                  <a:pt x="5224673" y="547697"/>
                </a:lnTo>
                <a:lnTo>
                  <a:pt x="5227941" y="547697"/>
                </a:lnTo>
              </a:path>
            </a:pathLst>
          </a:custGeom>
          <a:noFill/>
          <a:ln w="21908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52" name="legend_finerenone">
            <a:extLst>
              <a:ext uri="{FF2B5EF4-FFF2-40B4-BE49-F238E27FC236}">
                <a16:creationId xmlns:a16="http://schemas.microsoft.com/office/drawing/2014/main" id="{B3607424-8707-4922-8B35-DCECF9FFA532}"/>
              </a:ext>
            </a:extLst>
          </p:cNvPr>
          <p:cNvSpPr>
            <a:spLocks noGrp="1"/>
          </p:cNvSpPr>
          <p:nvPr/>
        </p:nvSpPr>
        <p:spPr>
          <a:xfrm>
            <a:off x="1981200" y="2805661"/>
            <a:ext cx="266700" cy="95"/>
          </a:xfrm>
          <a:prstGeom prst="line">
            <a:avLst/>
          </a:prstGeom>
          <a:noFill/>
          <a:ln w="23813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53" name="legend_finerenone_label">
            <a:extLst>
              <a:ext uri="{FF2B5EF4-FFF2-40B4-BE49-F238E27FC236}">
                <a16:creationId xmlns:a16="http://schemas.microsoft.com/office/drawing/2014/main" id="{4C4862C3-B8D9-4112-9897-1886B0F29E4E}"/>
              </a:ext>
            </a:extLst>
          </p:cNvPr>
          <p:cNvSpPr>
            <a:spLocks noGrp="1"/>
          </p:cNvSpPr>
          <p:nvPr/>
        </p:nvSpPr>
        <p:spPr>
          <a:xfrm>
            <a:off x="2324100" y="2681824"/>
            <a:ext cx="1219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54" name="legend_placebo">
            <a:extLst>
              <a:ext uri="{FF2B5EF4-FFF2-40B4-BE49-F238E27FC236}">
                <a16:creationId xmlns:a16="http://schemas.microsoft.com/office/drawing/2014/main" id="{73D8235D-1E13-43A3-BB2D-B0E01E22209A}"/>
              </a:ext>
            </a:extLst>
          </p:cNvPr>
          <p:cNvSpPr>
            <a:spLocks noGrp="1"/>
          </p:cNvSpPr>
          <p:nvPr/>
        </p:nvSpPr>
        <p:spPr>
          <a:xfrm>
            <a:off x="3829050" y="2805661"/>
            <a:ext cx="266700" cy="95"/>
          </a:xfrm>
          <a:prstGeom prst="line">
            <a:avLst/>
          </a:prstGeom>
          <a:noFill/>
          <a:ln w="23813">
            <a:solidFill>
              <a:srgbClr val="7F7F7F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55" name="legend_placebo_label">
            <a:extLst>
              <a:ext uri="{FF2B5EF4-FFF2-40B4-BE49-F238E27FC236}">
                <a16:creationId xmlns:a16="http://schemas.microsoft.com/office/drawing/2014/main" id="{0E4129A2-31B5-44EB-82FD-0C6C3A7FF191}"/>
              </a:ext>
            </a:extLst>
          </p:cNvPr>
          <p:cNvSpPr>
            <a:spLocks noGrp="1"/>
          </p:cNvSpPr>
          <p:nvPr/>
        </p:nvSpPr>
        <p:spPr>
          <a:xfrm>
            <a:off x="4171950" y="2681824"/>
            <a:ext cx="10096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56" name="x_axis_title">
            <a:extLst>
              <a:ext uri="{FF2B5EF4-FFF2-40B4-BE49-F238E27FC236}">
                <a16:creationId xmlns:a16="http://schemas.microsoft.com/office/drawing/2014/main" id="{9651992F-61B9-45DB-B5A9-5509DE1596A7}"/>
              </a:ext>
            </a:extLst>
          </p:cNvPr>
          <p:cNvSpPr>
            <a:spLocks noGrp="1"/>
          </p:cNvSpPr>
          <p:nvPr/>
        </p:nvSpPr>
        <p:spPr>
          <a:xfrm>
            <a:off x="1924050" y="5999854"/>
            <a:ext cx="4591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Месяцы после рандомизации</a:t>
            </a:r>
          </a:p>
        </p:txBody>
      </p:sp>
      <p:sp>
        <p:nvSpPr>
          <p:cNvPr id="62" name="event_fractions_label">
            <a:extLst>
              <a:ext uri="{FF2B5EF4-FFF2-40B4-BE49-F238E27FC236}">
                <a16:creationId xmlns:a16="http://schemas.microsoft.com/office/drawing/2014/main" id="{A7377125-048A-4CF1-AE56-9594E5E80A48}"/>
              </a:ext>
            </a:extLst>
          </p:cNvPr>
          <p:cNvSpPr>
            <a:spLocks noGrp="1"/>
          </p:cNvSpPr>
          <p:nvPr/>
        </p:nvSpPr>
        <p:spPr>
          <a:xfrm>
            <a:off x="7600950" y="2200275"/>
            <a:ext cx="40767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Доля пациентов с событием за всё исследование</a:t>
            </a:r>
          </a:p>
        </p:txBody>
      </p:sp>
      <p:sp>
        <p:nvSpPr>
          <p:cNvPr id="63" name="finerenone_event_rate">
            <a:extLst>
              <a:ext uri="{FF2B5EF4-FFF2-40B4-BE49-F238E27FC236}">
                <a16:creationId xmlns:a16="http://schemas.microsoft.com/office/drawing/2014/main" id="{4C8B5220-FBDE-4E96-8A17-8634801F7E1C}"/>
              </a:ext>
            </a:extLst>
          </p:cNvPr>
          <p:cNvSpPr>
            <a:spLocks noGrp="1"/>
          </p:cNvSpPr>
          <p:nvPr/>
        </p:nvSpPr>
        <p:spPr>
          <a:xfrm>
            <a:off x="7715250" y="2514600"/>
            <a:ext cx="18383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12,4%</a:t>
            </a:r>
          </a:p>
        </p:txBody>
      </p:sp>
      <p:sp>
        <p:nvSpPr>
          <p:cNvPr id="64" name="placebo_event_rate">
            <a:extLst>
              <a:ext uri="{FF2B5EF4-FFF2-40B4-BE49-F238E27FC236}">
                <a16:creationId xmlns:a16="http://schemas.microsoft.com/office/drawing/2014/main" id="{8E1FDBA0-8026-4B4F-B718-84E467B52D13}"/>
              </a:ext>
            </a:extLst>
          </p:cNvPr>
          <p:cNvSpPr>
            <a:spLocks noGrp="1"/>
          </p:cNvSpPr>
          <p:nvPr/>
        </p:nvSpPr>
        <p:spPr>
          <a:xfrm>
            <a:off x="9906000" y="2514600"/>
            <a:ext cx="1676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14,2%</a:t>
            </a:r>
          </a:p>
        </p:txBody>
      </p:sp>
      <p:sp>
        <p:nvSpPr>
          <p:cNvPr id="65" name="finerenone_group">
            <a:extLst>
              <a:ext uri="{FF2B5EF4-FFF2-40B4-BE49-F238E27FC236}">
                <a16:creationId xmlns:a16="http://schemas.microsoft.com/office/drawing/2014/main" id="{D8572532-8C3D-4D72-AF63-345DFE4C5F02}"/>
              </a:ext>
            </a:extLst>
          </p:cNvPr>
          <p:cNvSpPr>
            <a:spLocks noGrp="1"/>
          </p:cNvSpPr>
          <p:nvPr/>
        </p:nvSpPr>
        <p:spPr>
          <a:xfrm>
            <a:off x="7715250" y="2844800"/>
            <a:ext cx="18669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66" name="placebo_group">
            <a:extLst>
              <a:ext uri="{FF2B5EF4-FFF2-40B4-BE49-F238E27FC236}">
                <a16:creationId xmlns:a16="http://schemas.microsoft.com/office/drawing/2014/main" id="{08340018-F9A7-4539-A722-18B4618BDDE2}"/>
              </a:ext>
            </a:extLst>
          </p:cNvPr>
          <p:cNvSpPr>
            <a:spLocks noGrp="1"/>
          </p:cNvSpPr>
          <p:nvPr/>
        </p:nvSpPr>
        <p:spPr>
          <a:xfrm>
            <a:off x="9906000" y="2844800"/>
            <a:ext cx="16573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67" name="hazard_ratio">
            <a:extLst>
              <a:ext uri="{FF2B5EF4-FFF2-40B4-BE49-F238E27FC236}">
                <a16:creationId xmlns:a16="http://schemas.microsoft.com/office/drawing/2014/main" id="{9EDC416F-AA55-4367-B233-F9559A7A0D4B}"/>
              </a:ext>
            </a:extLst>
          </p:cNvPr>
          <p:cNvSpPr>
            <a:spLocks noGrp="1"/>
          </p:cNvSpPr>
          <p:nvPr/>
        </p:nvSpPr>
        <p:spPr>
          <a:xfrm>
            <a:off x="7600950" y="3251200"/>
            <a:ext cx="41243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Результат: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отношение рисков </a:t>
            </a: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0,87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(95% ДИ 0,76–0,98),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p=0,03; риск ниже на 13% (относительное снижение).</a:t>
            </a:r>
          </a:p>
        </p:txBody>
      </p:sp>
      <p:sp>
        <p:nvSpPr>
          <p:cNvPr id="68" name="nnt">
            <a:extLst>
              <a:ext uri="{FF2B5EF4-FFF2-40B4-BE49-F238E27FC236}">
                <a16:creationId xmlns:a16="http://schemas.microsoft.com/office/drawing/2014/main" id="{3C50FABC-966A-4988-8181-FB2DE8D37580}"/>
              </a:ext>
            </a:extLst>
          </p:cNvPr>
          <p:cNvSpPr>
            <a:spLocks noGrp="1"/>
          </p:cNvSpPr>
          <p:nvPr/>
        </p:nvSpPr>
        <p:spPr>
          <a:xfrm>
            <a:off x="7600950" y="3784600"/>
            <a:ext cx="4124325" cy="44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Чтобы предотвратить 1 событие за 3,5 года,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нужно лечить 47 пациентов (95% ДИ 26–226).</a:t>
            </a:r>
          </a:p>
        </p:txBody>
      </p:sp>
      <p:sp>
        <p:nvSpPr>
          <p:cNvPr id="69" name="heart_failure_result">
            <a:extLst>
              <a:ext uri="{FF2B5EF4-FFF2-40B4-BE49-F238E27FC236}">
                <a16:creationId xmlns:a16="http://schemas.microsoft.com/office/drawing/2014/main" id="{0C0B3ABD-4C7C-4E35-BF61-8953C2AD995E}"/>
              </a:ext>
            </a:extLst>
          </p:cNvPr>
          <p:cNvSpPr>
            <a:spLocks noGrp="1"/>
          </p:cNvSpPr>
          <p:nvPr/>
        </p:nvSpPr>
        <p:spPr>
          <a:xfrm>
            <a:off x="7600950" y="4318000"/>
            <a:ext cx="4124325" cy="1244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Разница в основном за счёт госпитализаций по поводу сердечной недостаточности: отношение рисков 0,71 (95% ДИ 0,56–0,90), анализ отдельного компонента.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Ограничение: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снижение других компонентов не доказано. В местной инструкции нет показания при сердечной недостаточности.</a:t>
            </a:r>
          </a:p>
        </p:txBody>
      </p:sp>
      <p:sp>
        <p:nvSpPr>
          <p:cNvPr id="71" name="hyperkalemia">
            <a:extLst>
              <a:ext uri="{FF2B5EF4-FFF2-40B4-BE49-F238E27FC236}">
                <a16:creationId xmlns:a16="http://schemas.microsoft.com/office/drawing/2014/main" id="{99FC6011-1B92-4CF4-ACE5-7BFB9A003DD4}"/>
              </a:ext>
            </a:extLst>
          </p:cNvPr>
          <p:cNvSpPr>
            <a:spLocks noGrp="1"/>
          </p:cNvSpPr>
          <p:nvPr/>
        </p:nvSpPr>
        <p:spPr>
          <a:xfrm>
            <a:off x="7600950" y="5588000"/>
            <a:ext cx="4124325" cy="660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Безопасность: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гиперкалиемия (</a:t>
            </a: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 10,8%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, </a:t>
            </a: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 5,3%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);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окончательная отмена из-за гиперкалиемии (</a:t>
            </a: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 1,2%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, </a:t>
            </a: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 0,4%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).</a:t>
            </a:r>
          </a:p>
        </p:txBody>
      </p:sp>
      <p:sp>
        <p:nvSpPr>
          <p:cNvPr id="123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рСКФ: расчётная скорость клубочковой фильтрации; АПФ: ангиотензинпревращающий фермент; БРА: блокатор рецепторов ангиотензина II; ДИ: доверительный интервал. Гиперкалиемия по сообщениям исследователей.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Pitt B, et al. N Engl J Med. 2021;385:2252–2263.</a:t>
            </a:r>
          </a:p>
        </p:txBody>
      </p:sp>
      <p:pic>
        <p:nvPicPr>
          <p:cNvPr id="124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145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37C2FE-9BDB-4C0A-B713-14BAFF5A805B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FIDELITY: относительное снижение риска сердечно-сосудистого исхода на 14% и почечного на 23%</a:t>
            </a:r>
          </a:p>
        </p:txBody>
      </p:sp>
      <p:sp>
        <p:nvSpPr>
          <p:cNvPr id="23" name="study_population">
            <a:extLst>
              <a:ext uri="{FF2B5EF4-FFF2-40B4-BE49-F238E27FC236}">
                <a16:creationId xmlns:a16="http://schemas.microsoft.com/office/drawing/2014/main" id="{1F13DC36-1E36-4E44-BD38-C4DF3C616CF4}"/>
              </a:ext>
            </a:extLst>
          </p:cNvPr>
          <p:cNvSpPr>
            <a:spLocks noGrp="1"/>
          </p:cNvSpPr>
          <p:nvPr/>
        </p:nvSpPr>
        <p:spPr>
          <a:xfrm>
            <a:off x="457200" y="635000"/>
            <a:ext cx="112776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Кто участвовал: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13 026 пациентов с хронической болезнью почек и сахарным диабетом 2 типа из FIDELIO-DKD и FIGARO-DKD.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Наблюдение: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медиана 3,0 года. Заранее запланированный поисковый анализ объединённых индивидуальных данных.</a:t>
            </a:r>
          </a:p>
        </p:txBody>
      </p:sp>
      <p:sp>
        <p:nvSpPr>
          <p:cNvPr id="24" name="cv_heading">
            <a:extLst>
              <a:ext uri="{FF2B5EF4-FFF2-40B4-BE49-F238E27FC236}">
                <a16:creationId xmlns:a16="http://schemas.microsoft.com/office/drawing/2014/main" id="{0ADCD665-9F89-4F32-80D1-2821F7779FEC}"/>
              </a:ext>
            </a:extLst>
          </p:cNvPr>
          <p:cNvSpPr>
            <a:spLocks noGrp="1"/>
          </p:cNvSpPr>
          <p:nvPr/>
        </p:nvSpPr>
        <p:spPr>
          <a:xfrm>
            <a:off x="457200" y="1133475"/>
            <a:ext cx="5524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Комбинированный сердечно-сосудистый исход</a:t>
            </a:r>
          </a:p>
        </p:txBody>
      </p:sp>
      <p:sp>
        <p:nvSpPr>
          <p:cNvPr id="25" name="cv_definition">
            <a:extLst>
              <a:ext uri="{FF2B5EF4-FFF2-40B4-BE49-F238E27FC236}">
                <a16:creationId xmlns:a16="http://schemas.microsoft.com/office/drawing/2014/main" id="{CC9B654C-C03B-4C4C-B089-568C564365AE}"/>
              </a:ext>
            </a:extLst>
          </p:cNvPr>
          <p:cNvSpPr>
            <a:spLocks noGrp="1"/>
          </p:cNvSpPr>
          <p:nvPr/>
        </p:nvSpPr>
        <p:spPr>
          <a:xfrm>
            <a:off x="457200" y="1447800"/>
            <a:ext cx="552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Сердечно-сосудистая смерть, нефатальный инфаркт,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нефатальный инсульт или госпитализация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 поводу сердечной недостаточности.</a:t>
            </a:r>
          </a:p>
        </p:txBody>
      </p:sp>
      <p:sp>
        <p:nvSpPr>
          <p:cNvPr id="26" name="cv_y_axis_title">
            <a:extLst>
              <a:ext uri="{FF2B5EF4-FFF2-40B4-BE49-F238E27FC236}">
                <a16:creationId xmlns:a16="http://schemas.microsoft.com/office/drawing/2014/main" id="{B2E88527-9466-4CB5-BFC4-AD348B22CCC2}"/>
              </a:ext>
            </a:extLst>
          </p:cNvPr>
          <p:cNvSpPr>
            <a:spLocks noGrp="1"/>
          </p:cNvSpPr>
          <p:nvPr/>
        </p:nvSpPr>
        <p:spPr>
          <a:xfrm>
            <a:off x="457200" y="2148390"/>
            <a:ext cx="4095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Накопленная частота событий, %</a:t>
            </a:r>
          </a:p>
        </p:txBody>
      </p:sp>
      <p:sp>
        <p:nvSpPr>
          <p:cNvPr id="27" name="cv_tick_y_0">
            <a:extLst>
              <a:ext uri="{FF2B5EF4-FFF2-40B4-BE49-F238E27FC236}">
                <a16:creationId xmlns:a16="http://schemas.microsoft.com/office/drawing/2014/main" id="{0AA445D6-E9EB-4E78-B742-B511771D0C4F}"/>
              </a:ext>
            </a:extLst>
          </p:cNvPr>
          <p:cNvSpPr>
            <a:spLocks noGrp="1"/>
          </p:cNvSpPr>
          <p:nvPr/>
        </p:nvSpPr>
        <p:spPr>
          <a:xfrm>
            <a:off x="1724025" y="4222536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8" name="cv_y_0">
            <a:extLst>
              <a:ext uri="{FF2B5EF4-FFF2-40B4-BE49-F238E27FC236}">
                <a16:creationId xmlns:a16="http://schemas.microsoft.com/office/drawing/2014/main" id="{E4773DEC-7072-4A6E-AF1D-63A41C176499}"/>
              </a:ext>
            </a:extLst>
          </p:cNvPr>
          <p:cNvSpPr>
            <a:spLocks noGrp="1"/>
          </p:cNvSpPr>
          <p:nvPr/>
        </p:nvSpPr>
        <p:spPr>
          <a:xfrm>
            <a:off x="1371600" y="4110076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29" name="cv_grid_5">
            <a:extLst>
              <a:ext uri="{FF2B5EF4-FFF2-40B4-BE49-F238E27FC236}">
                <a16:creationId xmlns:a16="http://schemas.microsoft.com/office/drawing/2014/main" id="{4DC00A90-176D-46FF-B445-754C9AA39B20}"/>
              </a:ext>
            </a:extLst>
          </p:cNvPr>
          <p:cNvSpPr>
            <a:spLocks noGrp="1"/>
          </p:cNvSpPr>
          <p:nvPr/>
        </p:nvSpPr>
        <p:spPr>
          <a:xfrm>
            <a:off x="1771650" y="3894132"/>
            <a:ext cx="3962400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0" name="cv_tick_y_5">
            <a:extLst>
              <a:ext uri="{FF2B5EF4-FFF2-40B4-BE49-F238E27FC236}">
                <a16:creationId xmlns:a16="http://schemas.microsoft.com/office/drawing/2014/main" id="{013CE0F5-E574-4E38-BF82-5DBB47DBBD91}"/>
              </a:ext>
            </a:extLst>
          </p:cNvPr>
          <p:cNvSpPr>
            <a:spLocks noGrp="1"/>
          </p:cNvSpPr>
          <p:nvPr/>
        </p:nvSpPr>
        <p:spPr>
          <a:xfrm>
            <a:off x="1724025" y="3894132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1" name="cv_y_5">
            <a:extLst>
              <a:ext uri="{FF2B5EF4-FFF2-40B4-BE49-F238E27FC236}">
                <a16:creationId xmlns:a16="http://schemas.microsoft.com/office/drawing/2014/main" id="{3C48EFDA-5E9D-4227-8B09-B9922B4C8091}"/>
              </a:ext>
            </a:extLst>
          </p:cNvPr>
          <p:cNvSpPr>
            <a:spLocks noGrp="1"/>
          </p:cNvSpPr>
          <p:nvPr/>
        </p:nvSpPr>
        <p:spPr>
          <a:xfrm>
            <a:off x="1371600" y="3781672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</a:t>
            </a:r>
          </a:p>
        </p:txBody>
      </p:sp>
      <p:sp>
        <p:nvSpPr>
          <p:cNvPr id="32" name="cv_grid_10">
            <a:extLst>
              <a:ext uri="{FF2B5EF4-FFF2-40B4-BE49-F238E27FC236}">
                <a16:creationId xmlns:a16="http://schemas.microsoft.com/office/drawing/2014/main" id="{95CA9955-2524-4FCF-B976-958CBC50FC9D}"/>
              </a:ext>
            </a:extLst>
          </p:cNvPr>
          <p:cNvSpPr>
            <a:spLocks noGrp="1"/>
          </p:cNvSpPr>
          <p:nvPr/>
        </p:nvSpPr>
        <p:spPr>
          <a:xfrm>
            <a:off x="1771650" y="3565729"/>
            <a:ext cx="3962400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3" name="cv_tick_y_10">
            <a:extLst>
              <a:ext uri="{FF2B5EF4-FFF2-40B4-BE49-F238E27FC236}">
                <a16:creationId xmlns:a16="http://schemas.microsoft.com/office/drawing/2014/main" id="{E06FAFD2-839D-4BD9-B3FC-68FA543F1273}"/>
              </a:ext>
            </a:extLst>
          </p:cNvPr>
          <p:cNvSpPr>
            <a:spLocks noGrp="1"/>
          </p:cNvSpPr>
          <p:nvPr/>
        </p:nvSpPr>
        <p:spPr>
          <a:xfrm>
            <a:off x="1724025" y="3565729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4" name="cv_y_10">
            <a:extLst>
              <a:ext uri="{FF2B5EF4-FFF2-40B4-BE49-F238E27FC236}">
                <a16:creationId xmlns:a16="http://schemas.microsoft.com/office/drawing/2014/main" id="{D0A85F6D-A368-4100-BF8B-911958CF22A1}"/>
              </a:ext>
            </a:extLst>
          </p:cNvPr>
          <p:cNvSpPr>
            <a:spLocks noGrp="1"/>
          </p:cNvSpPr>
          <p:nvPr/>
        </p:nvSpPr>
        <p:spPr>
          <a:xfrm>
            <a:off x="1371600" y="3453269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10</a:t>
            </a:r>
          </a:p>
        </p:txBody>
      </p:sp>
      <p:sp>
        <p:nvSpPr>
          <p:cNvPr id="35" name="cv_grid_15">
            <a:extLst>
              <a:ext uri="{FF2B5EF4-FFF2-40B4-BE49-F238E27FC236}">
                <a16:creationId xmlns:a16="http://schemas.microsoft.com/office/drawing/2014/main" id="{F7C5DF81-9B31-46AA-A47C-D892C5A82958}"/>
              </a:ext>
            </a:extLst>
          </p:cNvPr>
          <p:cNvSpPr>
            <a:spLocks noGrp="1"/>
          </p:cNvSpPr>
          <p:nvPr/>
        </p:nvSpPr>
        <p:spPr>
          <a:xfrm>
            <a:off x="1771650" y="3237325"/>
            <a:ext cx="3962400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6" name="cv_tick_y_15">
            <a:extLst>
              <a:ext uri="{FF2B5EF4-FFF2-40B4-BE49-F238E27FC236}">
                <a16:creationId xmlns:a16="http://schemas.microsoft.com/office/drawing/2014/main" id="{D3F5BB17-4E75-4320-9B9F-1A3D96BFDDEC}"/>
              </a:ext>
            </a:extLst>
          </p:cNvPr>
          <p:cNvSpPr>
            <a:spLocks noGrp="1"/>
          </p:cNvSpPr>
          <p:nvPr/>
        </p:nvSpPr>
        <p:spPr>
          <a:xfrm>
            <a:off x="1724025" y="3237325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7" name="cv_y_15">
            <a:extLst>
              <a:ext uri="{FF2B5EF4-FFF2-40B4-BE49-F238E27FC236}">
                <a16:creationId xmlns:a16="http://schemas.microsoft.com/office/drawing/2014/main" id="{6518AC5D-E89E-4A03-B2FD-43A0ADD91E09}"/>
              </a:ext>
            </a:extLst>
          </p:cNvPr>
          <p:cNvSpPr>
            <a:spLocks noGrp="1"/>
          </p:cNvSpPr>
          <p:nvPr/>
        </p:nvSpPr>
        <p:spPr>
          <a:xfrm>
            <a:off x="1371600" y="3124865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15</a:t>
            </a:r>
          </a:p>
        </p:txBody>
      </p:sp>
      <p:sp>
        <p:nvSpPr>
          <p:cNvPr id="38" name="cv_grid_20">
            <a:extLst>
              <a:ext uri="{FF2B5EF4-FFF2-40B4-BE49-F238E27FC236}">
                <a16:creationId xmlns:a16="http://schemas.microsoft.com/office/drawing/2014/main" id="{4A922427-930C-4512-A533-FCF7B0EFA01E}"/>
              </a:ext>
            </a:extLst>
          </p:cNvPr>
          <p:cNvSpPr>
            <a:spLocks noGrp="1"/>
          </p:cNvSpPr>
          <p:nvPr/>
        </p:nvSpPr>
        <p:spPr>
          <a:xfrm>
            <a:off x="1771650" y="2908922"/>
            <a:ext cx="3962400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9" name="cv_tick_y_20">
            <a:extLst>
              <a:ext uri="{FF2B5EF4-FFF2-40B4-BE49-F238E27FC236}">
                <a16:creationId xmlns:a16="http://schemas.microsoft.com/office/drawing/2014/main" id="{F5938F2E-E68A-4E9B-A6F9-AAD9D688CBB2}"/>
              </a:ext>
            </a:extLst>
          </p:cNvPr>
          <p:cNvSpPr>
            <a:spLocks noGrp="1"/>
          </p:cNvSpPr>
          <p:nvPr/>
        </p:nvSpPr>
        <p:spPr>
          <a:xfrm>
            <a:off x="1724025" y="2908922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0" name="cv_y_20">
            <a:extLst>
              <a:ext uri="{FF2B5EF4-FFF2-40B4-BE49-F238E27FC236}">
                <a16:creationId xmlns:a16="http://schemas.microsoft.com/office/drawing/2014/main" id="{EFE20440-CB82-41CE-A9CD-C8336F91C2F6}"/>
              </a:ext>
            </a:extLst>
          </p:cNvPr>
          <p:cNvSpPr>
            <a:spLocks noGrp="1"/>
          </p:cNvSpPr>
          <p:nvPr/>
        </p:nvSpPr>
        <p:spPr>
          <a:xfrm>
            <a:off x="1371600" y="2796462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20</a:t>
            </a:r>
          </a:p>
        </p:txBody>
      </p:sp>
      <p:sp>
        <p:nvSpPr>
          <p:cNvPr id="41" name="cv_grid_25">
            <a:extLst>
              <a:ext uri="{FF2B5EF4-FFF2-40B4-BE49-F238E27FC236}">
                <a16:creationId xmlns:a16="http://schemas.microsoft.com/office/drawing/2014/main" id="{87934A55-6F81-43E8-8337-510D3D52EA93}"/>
              </a:ext>
            </a:extLst>
          </p:cNvPr>
          <p:cNvSpPr>
            <a:spLocks noGrp="1"/>
          </p:cNvSpPr>
          <p:nvPr/>
        </p:nvSpPr>
        <p:spPr>
          <a:xfrm>
            <a:off x="1771650" y="2580519"/>
            <a:ext cx="3962400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2" name="cv_tick_y_25">
            <a:extLst>
              <a:ext uri="{FF2B5EF4-FFF2-40B4-BE49-F238E27FC236}">
                <a16:creationId xmlns:a16="http://schemas.microsoft.com/office/drawing/2014/main" id="{AD8E7D92-0133-4F29-83FD-E3FC70B67FE8}"/>
              </a:ext>
            </a:extLst>
          </p:cNvPr>
          <p:cNvSpPr>
            <a:spLocks noGrp="1"/>
          </p:cNvSpPr>
          <p:nvPr/>
        </p:nvSpPr>
        <p:spPr>
          <a:xfrm>
            <a:off x="1724025" y="2580519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3" name="cv_y_25">
            <a:extLst>
              <a:ext uri="{FF2B5EF4-FFF2-40B4-BE49-F238E27FC236}">
                <a16:creationId xmlns:a16="http://schemas.microsoft.com/office/drawing/2014/main" id="{C50F08EF-3343-490C-8437-664E0BC6A12F}"/>
              </a:ext>
            </a:extLst>
          </p:cNvPr>
          <p:cNvSpPr>
            <a:spLocks noGrp="1"/>
          </p:cNvSpPr>
          <p:nvPr/>
        </p:nvSpPr>
        <p:spPr>
          <a:xfrm>
            <a:off x="1371600" y="2468059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25</a:t>
            </a:r>
          </a:p>
        </p:txBody>
      </p:sp>
      <p:sp>
        <p:nvSpPr>
          <p:cNvPr id="44" name="cv_y_axis">
            <a:extLst>
              <a:ext uri="{FF2B5EF4-FFF2-40B4-BE49-F238E27FC236}">
                <a16:creationId xmlns:a16="http://schemas.microsoft.com/office/drawing/2014/main" id="{62C0F3D7-25C8-4AFE-BB1C-676EA189A336}"/>
              </a:ext>
            </a:extLst>
          </p:cNvPr>
          <p:cNvSpPr>
            <a:spLocks noGrp="1"/>
          </p:cNvSpPr>
          <p:nvPr/>
        </p:nvSpPr>
        <p:spPr>
          <a:xfrm>
            <a:off x="1771650" y="2580500"/>
            <a:ext cx="95" cy="1642017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5" name="cv_x_axis">
            <a:extLst>
              <a:ext uri="{FF2B5EF4-FFF2-40B4-BE49-F238E27FC236}">
                <a16:creationId xmlns:a16="http://schemas.microsoft.com/office/drawing/2014/main" id="{567E716F-CC6A-4AF5-B34C-11E9ECA6878E}"/>
              </a:ext>
            </a:extLst>
          </p:cNvPr>
          <p:cNvSpPr>
            <a:spLocks noGrp="1"/>
          </p:cNvSpPr>
          <p:nvPr/>
        </p:nvSpPr>
        <p:spPr>
          <a:xfrm>
            <a:off x="1771650" y="4222536"/>
            <a:ext cx="3962400" cy="95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6" name="cv_tick_x_0">
            <a:extLst>
              <a:ext uri="{FF2B5EF4-FFF2-40B4-BE49-F238E27FC236}">
                <a16:creationId xmlns:a16="http://schemas.microsoft.com/office/drawing/2014/main" id="{B639A337-10CB-47DE-80D6-20D81A529302}"/>
              </a:ext>
            </a:extLst>
          </p:cNvPr>
          <p:cNvSpPr>
            <a:spLocks noGrp="1"/>
          </p:cNvSpPr>
          <p:nvPr/>
        </p:nvSpPr>
        <p:spPr>
          <a:xfrm>
            <a:off x="1771650" y="4231810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7" name="cv_month_0">
            <a:extLst>
              <a:ext uri="{FF2B5EF4-FFF2-40B4-BE49-F238E27FC236}">
                <a16:creationId xmlns:a16="http://schemas.microsoft.com/office/drawing/2014/main" id="{D84F4BF7-3972-467C-B1C6-A881BE623050}"/>
              </a:ext>
            </a:extLst>
          </p:cNvPr>
          <p:cNvSpPr>
            <a:spLocks noGrp="1"/>
          </p:cNvSpPr>
          <p:nvPr/>
        </p:nvSpPr>
        <p:spPr>
          <a:xfrm>
            <a:off x="1571625" y="4374917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48" name="cv_tick_x_6">
            <a:extLst>
              <a:ext uri="{FF2B5EF4-FFF2-40B4-BE49-F238E27FC236}">
                <a16:creationId xmlns:a16="http://schemas.microsoft.com/office/drawing/2014/main" id="{0C9D770E-64CF-4A20-94FE-1D0AB1465EE6}"/>
              </a:ext>
            </a:extLst>
          </p:cNvPr>
          <p:cNvSpPr>
            <a:spLocks noGrp="1"/>
          </p:cNvSpPr>
          <p:nvPr/>
        </p:nvSpPr>
        <p:spPr>
          <a:xfrm>
            <a:off x="2152650" y="4231810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9" name="cv_month_6">
            <a:extLst>
              <a:ext uri="{FF2B5EF4-FFF2-40B4-BE49-F238E27FC236}">
                <a16:creationId xmlns:a16="http://schemas.microsoft.com/office/drawing/2014/main" id="{39BCA952-3AA3-4779-A3E5-40FBAC246C54}"/>
              </a:ext>
            </a:extLst>
          </p:cNvPr>
          <p:cNvSpPr>
            <a:spLocks noGrp="1"/>
          </p:cNvSpPr>
          <p:nvPr/>
        </p:nvSpPr>
        <p:spPr>
          <a:xfrm>
            <a:off x="1952625" y="4374917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6</a:t>
            </a:r>
          </a:p>
        </p:txBody>
      </p:sp>
      <p:sp>
        <p:nvSpPr>
          <p:cNvPr id="50" name="cv_tick_x_12">
            <a:extLst>
              <a:ext uri="{FF2B5EF4-FFF2-40B4-BE49-F238E27FC236}">
                <a16:creationId xmlns:a16="http://schemas.microsoft.com/office/drawing/2014/main" id="{AEC1C0A8-5AAB-456D-8961-9B5EEA457D0F}"/>
              </a:ext>
            </a:extLst>
          </p:cNvPr>
          <p:cNvSpPr>
            <a:spLocks noGrp="1"/>
          </p:cNvSpPr>
          <p:nvPr/>
        </p:nvSpPr>
        <p:spPr>
          <a:xfrm>
            <a:off x="2647950" y="4231810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51" name="cv_month_12">
            <a:extLst>
              <a:ext uri="{FF2B5EF4-FFF2-40B4-BE49-F238E27FC236}">
                <a16:creationId xmlns:a16="http://schemas.microsoft.com/office/drawing/2014/main" id="{0E73D3E2-2492-4993-AF10-ABE3077F7731}"/>
              </a:ext>
            </a:extLst>
          </p:cNvPr>
          <p:cNvSpPr>
            <a:spLocks noGrp="1"/>
          </p:cNvSpPr>
          <p:nvPr/>
        </p:nvSpPr>
        <p:spPr>
          <a:xfrm>
            <a:off x="2447925" y="4374917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12</a:t>
            </a:r>
          </a:p>
        </p:txBody>
      </p:sp>
      <p:sp>
        <p:nvSpPr>
          <p:cNvPr id="52" name="cv_tick_x_18">
            <a:extLst>
              <a:ext uri="{FF2B5EF4-FFF2-40B4-BE49-F238E27FC236}">
                <a16:creationId xmlns:a16="http://schemas.microsoft.com/office/drawing/2014/main" id="{2F9AC574-A269-4661-8CF0-236A8D49867A}"/>
              </a:ext>
            </a:extLst>
          </p:cNvPr>
          <p:cNvSpPr>
            <a:spLocks noGrp="1"/>
          </p:cNvSpPr>
          <p:nvPr/>
        </p:nvSpPr>
        <p:spPr>
          <a:xfrm>
            <a:off x="3143250" y="4231810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53" name="cv_month_18">
            <a:extLst>
              <a:ext uri="{FF2B5EF4-FFF2-40B4-BE49-F238E27FC236}">
                <a16:creationId xmlns:a16="http://schemas.microsoft.com/office/drawing/2014/main" id="{054E9582-F0B3-4C7E-AA15-23089E541E73}"/>
              </a:ext>
            </a:extLst>
          </p:cNvPr>
          <p:cNvSpPr>
            <a:spLocks noGrp="1"/>
          </p:cNvSpPr>
          <p:nvPr/>
        </p:nvSpPr>
        <p:spPr>
          <a:xfrm>
            <a:off x="2943225" y="4374917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18</a:t>
            </a:r>
          </a:p>
        </p:txBody>
      </p:sp>
      <p:sp>
        <p:nvSpPr>
          <p:cNvPr id="54" name="cv_tick_x_24">
            <a:extLst>
              <a:ext uri="{FF2B5EF4-FFF2-40B4-BE49-F238E27FC236}">
                <a16:creationId xmlns:a16="http://schemas.microsoft.com/office/drawing/2014/main" id="{353A238E-FFBF-48AF-8995-427DAB50B53B}"/>
              </a:ext>
            </a:extLst>
          </p:cNvPr>
          <p:cNvSpPr>
            <a:spLocks noGrp="1"/>
          </p:cNvSpPr>
          <p:nvPr/>
        </p:nvSpPr>
        <p:spPr>
          <a:xfrm>
            <a:off x="3638550" y="4231810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55" name="cv_month_24">
            <a:extLst>
              <a:ext uri="{FF2B5EF4-FFF2-40B4-BE49-F238E27FC236}">
                <a16:creationId xmlns:a16="http://schemas.microsoft.com/office/drawing/2014/main" id="{0E96F753-D872-4847-890D-17E1AE10FCA2}"/>
              </a:ext>
            </a:extLst>
          </p:cNvPr>
          <p:cNvSpPr>
            <a:spLocks noGrp="1"/>
          </p:cNvSpPr>
          <p:nvPr/>
        </p:nvSpPr>
        <p:spPr>
          <a:xfrm>
            <a:off x="3438525" y="4374917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24</a:t>
            </a:r>
          </a:p>
        </p:txBody>
      </p:sp>
      <p:sp>
        <p:nvSpPr>
          <p:cNvPr id="56" name="cv_tick_x_30">
            <a:extLst>
              <a:ext uri="{FF2B5EF4-FFF2-40B4-BE49-F238E27FC236}">
                <a16:creationId xmlns:a16="http://schemas.microsoft.com/office/drawing/2014/main" id="{D062E7B0-0990-4F28-8F63-6C7D5E59975F}"/>
              </a:ext>
            </a:extLst>
          </p:cNvPr>
          <p:cNvSpPr>
            <a:spLocks noGrp="1"/>
          </p:cNvSpPr>
          <p:nvPr/>
        </p:nvSpPr>
        <p:spPr>
          <a:xfrm>
            <a:off x="4133850" y="4231810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57" name="cv_month_30">
            <a:extLst>
              <a:ext uri="{FF2B5EF4-FFF2-40B4-BE49-F238E27FC236}">
                <a16:creationId xmlns:a16="http://schemas.microsoft.com/office/drawing/2014/main" id="{E48EDC8A-FC5E-4098-BD58-0D9BF6B6FFA3}"/>
              </a:ext>
            </a:extLst>
          </p:cNvPr>
          <p:cNvSpPr>
            <a:spLocks noGrp="1"/>
          </p:cNvSpPr>
          <p:nvPr/>
        </p:nvSpPr>
        <p:spPr>
          <a:xfrm>
            <a:off x="3933825" y="4374917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58" name="cv_tick_x_36">
            <a:extLst>
              <a:ext uri="{FF2B5EF4-FFF2-40B4-BE49-F238E27FC236}">
                <a16:creationId xmlns:a16="http://schemas.microsoft.com/office/drawing/2014/main" id="{DD2E2661-CAE9-4B5A-9BA0-5EED8E273036}"/>
              </a:ext>
            </a:extLst>
          </p:cNvPr>
          <p:cNvSpPr>
            <a:spLocks noGrp="1"/>
          </p:cNvSpPr>
          <p:nvPr/>
        </p:nvSpPr>
        <p:spPr>
          <a:xfrm>
            <a:off x="4629150" y="4231810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59" name="cv_month_36">
            <a:extLst>
              <a:ext uri="{FF2B5EF4-FFF2-40B4-BE49-F238E27FC236}">
                <a16:creationId xmlns:a16="http://schemas.microsoft.com/office/drawing/2014/main" id="{8E343563-03C9-433F-BF20-C8BFD3E1B70E}"/>
              </a:ext>
            </a:extLst>
          </p:cNvPr>
          <p:cNvSpPr>
            <a:spLocks noGrp="1"/>
          </p:cNvSpPr>
          <p:nvPr/>
        </p:nvSpPr>
        <p:spPr>
          <a:xfrm>
            <a:off x="4429125" y="4374917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36</a:t>
            </a:r>
          </a:p>
        </p:txBody>
      </p:sp>
      <p:sp>
        <p:nvSpPr>
          <p:cNvPr id="60" name="cv_tick_x_42">
            <a:extLst>
              <a:ext uri="{FF2B5EF4-FFF2-40B4-BE49-F238E27FC236}">
                <a16:creationId xmlns:a16="http://schemas.microsoft.com/office/drawing/2014/main" id="{482FAB19-DADA-4ED7-BBF1-2924C3FDCE22}"/>
              </a:ext>
            </a:extLst>
          </p:cNvPr>
          <p:cNvSpPr>
            <a:spLocks noGrp="1"/>
          </p:cNvSpPr>
          <p:nvPr/>
        </p:nvSpPr>
        <p:spPr>
          <a:xfrm>
            <a:off x="5124450" y="4231810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61" name="cv_month_42">
            <a:extLst>
              <a:ext uri="{FF2B5EF4-FFF2-40B4-BE49-F238E27FC236}">
                <a16:creationId xmlns:a16="http://schemas.microsoft.com/office/drawing/2014/main" id="{B77A12FE-0A74-4A2B-9454-E0F996C4D9F1}"/>
              </a:ext>
            </a:extLst>
          </p:cNvPr>
          <p:cNvSpPr>
            <a:spLocks noGrp="1"/>
          </p:cNvSpPr>
          <p:nvPr/>
        </p:nvSpPr>
        <p:spPr>
          <a:xfrm>
            <a:off x="4924425" y="4374917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42</a:t>
            </a:r>
          </a:p>
        </p:txBody>
      </p:sp>
      <p:sp>
        <p:nvSpPr>
          <p:cNvPr id="62" name="cv_tick_x_48">
            <a:extLst>
              <a:ext uri="{FF2B5EF4-FFF2-40B4-BE49-F238E27FC236}">
                <a16:creationId xmlns:a16="http://schemas.microsoft.com/office/drawing/2014/main" id="{DC02CC9A-C19D-4211-ACE8-E3EEA3DE0095}"/>
              </a:ext>
            </a:extLst>
          </p:cNvPr>
          <p:cNvSpPr>
            <a:spLocks noGrp="1"/>
          </p:cNvSpPr>
          <p:nvPr/>
        </p:nvSpPr>
        <p:spPr>
          <a:xfrm>
            <a:off x="5619750" y="4231810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63" name="cv_month_48">
            <a:extLst>
              <a:ext uri="{FF2B5EF4-FFF2-40B4-BE49-F238E27FC236}">
                <a16:creationId xmlns:a16="http://schemas.microsoft.com/office/drawing/2014/main" id="{953B77A0-5330-4E77-B954-AB7BB042F8B6}"/>
              </a:ext>
            </a:extLst>
          </p:cNvPr>
          <p:cNvSpPr>
            <a:spLocks noGrp="1"/>
          </p:cNvSpPr>
          <p:nvPr/>
        </p:nvSpPr>
        <p:spPr>
          <a:xfrm>
            <a:off x="5419725" y="4374917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48</a:t>
            </a:r>
          </a:p>
        </p:txBody>
      </p:sp>
      <p:sp>
        <p:nvSpPr>
          <p:cNvPr id="64" name="published_curve_cv_Плацебо">
            <a:extLst>
              <a:ext uri="{FF2B5EF4-FFF2-40B4-BE49-F238E27FC236}">
                <a16:creationId xmlns:a16="http://schemas.microsoft.com/office/drawing/2014/main" id="{7FF5BE60-9CDC-47A6-8176-F7ADEFCCEEE1}"/>
              </a:ext>
            </a:extLst>
          </p:cNvPr>
          <p:cNvSpPr>
            <a:spLocks noGrp="1"/>
          </p:cNvSpPr>
          <p:nvPr/>
        </p:nvSpPr>
        <p:spPr>
          <a:xfrm>
            <a:off x="1771650" y="2580500"/>
            <a:ext cx="3962400" cy="1642017"/>
          </a:xfrm>
          <a:custGeom>
            <a:avLst/>
            <a:gdLst/>
            <a:ahLst/>
            <a:cxnLst/>
            <a:rect l="0" t="0" r="0" b="0"/>
            <a:pathLst>
              <a:path w="3962400" h="1181100">
                <a:moveTo>
                  <a:pt x="0" y="1178980"/>
                </a:moveTo>
                <a:lnTo>
                  <a:pt x="2717" y="1178980"/>
                </a:lnTo>
                <a:lnTo>
                  <a:pt x="2717" y="1178245"/>
                </a:lnTo>
                <a:lnTo>
                  <a:pt x="5434" y="1178245"/>
                </a:lnTo>
                <a:lnTo>
                  <a:pt x="5434" y="1176793"/>
                </a:lnTo>
                <a:lnTo>
                  <a:pt x="8151" y="1176793"/>
                </a:lnTo>
                <a:lnTo>
                  <a:pt x="8151" y="1176059"/>
                </a:lnTo>
                <a:lnTo>
                  <a:pt x="13553" y="1176059"/>
                </a:lnTo>
                <a:lnTo>
                  <a:pt x="13553" y="1175341"/>
                </a:lnTo>
                <a:lnTo>
                  <a:pt x="16270" y="1175341"/>
                </a:lnTo>
                <a:lnTo>
                  <a:pt x="16270" y="1174607"/>
                </a:lnTo>
                <a:lnTo>
                  <a:pt x="21704" y="1174607"/>
                </a:lnTo>
                <a:lnTo>
                  <a:pt x="21704" y="1173889"/>
                </a:lnTo>
                <a:lnTo>
                  <a:pt x="24421" y="1173889"/>
                </a:lnTo>
                <a:lnTo>
                  <a:pt x="24421" y="1172436"/>
                </a:lnTo>
                <a:lnTo>
                  <a:pt x="29855" y="1172436"/>
                </a:lnTo>
                <a:lnTo>
                  <a:pt x="29855" y="1171702"/>
                </a:lnTo>
                <a:lnTo>
                  <a:pt x="32572" y="1171702"/>
                </a:lnTo>
                <a:lnTo>
                  <a:pt x="32572" y="1170984"/>
                </a:lnTo>
                <a:lnTo>
                  <a:pt x="35289" y="1170984"/>
                </a:lnTo>
                <a:lnTo>
                  <a:pt x="35289" y="1170250"/>
                </a:lnTo>
                <a:lnTo>
                  <a:pt x="38006" y="1170250"/>
                </a:lnTo>
                <a:lnTo>
                  <a:pt x="38006" y="1168080"/>
                </a:lnTo>
                <a:lnTo>
                  <a:pt x="40723" y="1168080"/>
                </a:lnTo>
                <a:lnTo>
                  <a:pt x="40723" y="1166627"/>
                </a:lnTo>
                <a:lnTo>
                  <a:pt x="56994" y="1166627"/>
                </a:lnTo>
                <a:lnTo>
                  <a:pt x="56994" y="1165893"/>
                </a:lnTo>
                <a:lnTo>
                  <a:pt x="59710" y="1165893"/>
                </a:lnTo>
                <a:lnTo>
                  <a:pt x="59710" y="1163723"/>
                </a:lnTo>
                <a:lnTo>
                  <a:pt x="62428" y="1163723"/>
                </a:lnTo>
                <a:lnTo>
                  <a:pt x="62428" y="1162271"/>
                </a:lnTo>
                <a:lnTo>
                  <a:pt x="65144" y="1162271"/>
                </a:lnTo>
                <a:lnTo>
                  <a:pt x="65144" y="1161536"/>
                </a:lnTo>
                <a:lnTo>
                  <a:pt x="67829" y="1161536"/>
                </a:lnTo>
                <a:lnTo>
                  <a:pt x="67829" y="1160818"/>
                </a:lnTo>
                <a:lnTo>
                  <a:pt x="73264" y="1160818"/>
                </a:lnTo>
                <a:lnTo>
                  <a:pt x="73264" y="1158648"/>
                </a:lnTo>
                <a:lnTo>
                  <a:pt x="75981" y="1158648"/>
                </a:lnTo>
                <a:lnTo>
                  <a:pt x="75981" y="1157914"/>
                </a:lnTo>
                <a:lnTo>
                  <a:pt x="78698" y="1157914"/>
                </a:lnTo>
                <a:lnTo>
                  <a:pt x="78698" y="1156462"/>
                </a:lnTo>
                <a:lnTo>
                  <a:pt x="84132" y="1156462"/>
                </a:lnTo>
                <a:lnTo>
                  <a:pt x="84132" y="1155727"/>
                </a:lnTo>
                <a:lnTo>
                  <a:pt x="92282" y="1155727"/>
                </a:lnTo>
                <a:lnTo>
                  <a:pt x="92282" y="1155010"/>
                </a:lnTo>
                <a:lnTo>
                  <a:pt x="97717" y="1155010"/>
                </a:lnTo>
                <a:lnTo>
                  <a:pt x="97717" y="1154291"/>
                </a:lnTo>
                <a:lnTo>
                  <a:pt x="100402" y="1154291"/>
                </a:lnTo>
                <a:lnTo>
                  <a:pt x="100402" y="1153557"/>
                </a:lnTo>
                <a:lnTo>
                  <a:pt x="103119" y="1153557"/>
                </a:lnTo>
                <a:lnTo>
                  <a:pt x="103119" y="1152823"/>
                </a:lnTo>
                <a:lnTo>
                  <a:pt x="105836" y="1152823"/>
                </a:lnTo>
                <a:lnTo>
                  <a:pt x="105836" y="1152105"/>
                </a:lnTo>
                <a:lnTo>
                  <a:pt x="108553" y="1152105"/>
                </a:lnTo>
                <a:lnTo>
                  <a:pt x="108553" y="1151371"/>
                </a:lnTo>
                <a:lnTo>
                  <a:pt x="113987" y="1151371"/>
                </a:lnTo>
                <a:lnTo>
                  <a:pt x="113987" y="1149918"/>
                </a:lnTo>
                <a:lnTo>
                  <a:pt x="116704" y="1149918"/>
                </a:lnTo>
                <a:lnTo>
                  <a:pt x="116704" y="1149201"/>
                </a:lnTo>
                <a:lnTo>
                  <a:pt x="122138" y="1149201"/>
                </a:lnTo>
                <a:lnTo>
                  <a:pt x="122138" y="1148466"/>
                </a:lnTo>
                <a:lnTo>
                  <a:pt x="124823" y="1148466"/>
                </a:lnTo>
                <a:lnTo>
                  <a:pt x="124823" y="1147748"/>
                </a:lnTo>
                <a:lnTo>
                  <a:pt x="127572" y="1147748"/>
                </a:lnTo>
                <a:lnTo>
                  <a:pt x="127572" y="1147014"/>
                </a:lnTo>
                <a:lnTo>
                  <a:pt x="130257" y="1147014"/>
                </a:lnTo>
                <a:lnTo>
                  <a:pt x="130257" y="1146280"/>
                </a:lnTo>
                <a:lnTo>
                  <a:pt x="132974" y="1146280"/>
                </a:lnTo>
                <a:lnTo>
                  <a:pt x="132974" y="1145562"/>
                </a:lnTo>
                <a:lnTo>
                  <a:pt x="135691" y="1145562"/>
                </a:lnTo>
                <a:lnTo>
                  <a:pt x="135691" y="1144827"/>
                </a:lnTo>
                <a:lnTo>
                  <a:pt x="138408" y="1144827"/>
                </a:lnTo>
                <a:lnTo>
                  <a:pt x="138408" y="1144093"/>
                </a:lnTo>
                <a:lnTo>
                  <a:pt x="141125" y="1144093"/>
                </a:lnTo>
                <a:lnTo>
                  <a:pt x="141125" y="1143391"/>
                </a:lnTo>
                <a:lnTo>
                  <a:pt x="146559" y="1143391"/>
                </a:lnTo>
                <a:lnTo>
                  <a:pt x="146559" y="1142657"/>
                </a:lnTo>
                <a:lnTo>
                  <a:pt x="154710" y="1142657"/>
                </a:lnTo>
                <a:lnTo>
                  <a:pt x="154710" y="1141205"/>
                </a:lnTo>
                <a:lnTo>
                  <a:pt x="157395" y="1141205"/>
                </a:lnTo>
                <a:lnTo>
                  <a:pt x="157395" y="1140471"/>
                </a:lnTo>
                <a:lnTo>
                  <a:pt x="165546" y="1140471"/>
                </a:lnTo>
                <a:lnTo>
                  <a:pt x="165546" y="1139035"/>
                </a:lnTo>
                <a:lnTo>
                  <a:pt x="176414" y="1139035"/>
                </a:lnTo>
                <a:lnTo>
                  <a:pt x="176414" y="1138301"/>
                </a:lnTo>
                <a:lnTo>
                  <a:pt x="179131" y="1138301"/>
                </a:lnTo>
                <a:lnTo>
                  <a:pt x="179131" y="1135396"/>
                </a:lnTo>
                <a:lnTo>
                  <a:pt x="181816" y="1135396"/>
                </a:lnTo>
                <a:lnTo>
                  <a:pt x="181816" y="1134662"/>
                </a:lnTo>
                <a:lnTo>
                  <a:pt x="189967" y="1134662"/>
                </a:lnTo>
                <a:lnTo>
                  <a:pt x="189967" y="1133210"/>
                </a:lnTo>
                <a:lnTo>
                  <a:pt x="192684" y="1133210"/>
                </a:lnTo>
                <a:lnTo>
                  <a:pt x="192684" y="1131757"/>
                </a:lnTo>
                <a:lnTo>
                  <a:pt x="195402" y="1131757"/>
                </a:lnTo>
                <a:lnTo>
                  <a:pt x="195402" y="1131039"/>
                </a:lnTo>
                <a:lnTo>
                  <a:pt x="222540" y="1131039"/>
                </a:lnTo>
                <a:lnTo>
                  <a:pt x="222540" y="1129571"/>
                </a:lnTo>
                <a:lnTo>
                  <a:pt x="227974" y="1129571"/>
                </a:lnTo>
                <a:lnTo>
                  <a:pt x="227974" y="1128853"/>
                </a:lnTo>
                <a:lnTo>
                  <a:pt x="233408" y="1128853"/>
                </a:lnTo>
                <a:lnTo>
                  <a:pt x="233408" y="1128118"/>
                </a:lnTo>
                <a:lnTo>
                  <a:pt x="236124" y="1128118"/>
                </a:lnTo>
                <a:lnTo>
                  <a:pt x="236124" y="1127384"/>
                </a:lnTo>
                <a:lnTo>
                  <a:pt x="238810" y="1127384"/>
                </a:lnTo>
                <a:lnTo>
                  <a:pt x="238810" y="1126682"/>
                </a:lnTo>
                <a:lnTo>
                  <a:pt x="241559" y="1126682"/>
                </a:lnTo>
                <a:lnTo>
                  <a:pt x="241559" y="1124496"/>
                </a:lnTo>
                <a:lnTo>
                  <a:pt x="246961" y="1124496"/>
                </a:lnTo>
                <a:lnTo>
                  <a:pt x="246961" y="1123762"/>
                </a:lnTo>
                <a:lnTo>
                  <a:pt x="249678" y="1123762"/>
                </a:lnTo>
                <a:lnTo>
                  <a:pt x="249678" y="1123027"/>
                </a:lnTo>
                <a:lnTo>
                  <a:pt x="257829" y="1123027"/>
                </a:lnTo>
                <a:lnTo>
                  <a:pt x="257829" y="1122309"/>
                </a:lnTo>
                <a:lnTo>
                  <a:pt x="260546" y="1122309"/>
                </a:lnTo>
                <a:lnTo>
                  <a:pt x="260546" y="1120857"/>
                </a:lnTo>
                <a:lnTo>
                  <a:pt x="263263" y="1120857"/>
                </a:lnTo>
                <a:lnTo>
                  <a:pt x="263263" y="1119405"/>
                </a:lnTo>
                <a:lnTo>
                  <a:pt x="265980" y="1119405"/>
                </a:lnTo>
                <a:lnTo>
                  <a:pt x="265980" y="1118687"/>
                </a:lnTo>
                <a:lnTo>
                  <a:pt x="268697" y="1118687"/>
                </a:lnTo>
                <a:lnTo>
                  <a:pt x="268697" y="1116501"/>
                </a:lnTo>
                <a:lnTo>
                  <a:pt x="271382" y="1116501"/>
                </a:lnTo>
                <a:lnTo>
                  <a:pt x="271382" y="1115782"/>
                </a:lnTo>
                <a:lnTo>
                  <a:pt x="274099" y="1115782"/>
                </a:lnTo>
                <a:lnTo>
                  <a:pt x="274099" y="1115048"/>
                </a:lnTo>
                <a:lnTo>
                  <a:pt x="276816" y="1115048"/>
                </a:lnTo>
                <a:lnTo>
                  <a:pt x="276816" y="1113596"/>
                </a:lnTo>
                <a:lnTo>
                  <a:pt x="279533" y="1113596"/>
                </a:lnTo>
                <a:lnTo>
                  <a:pt x="279533" y="1112144"/>
                </a:lnTo>
                <a:lnTo>
                  <a:pt x="284967" y="1112144"/>
                </a:lnTo>
                <a:lnTo>
                  <a:pt x="284967" y="1111409"/>
                </a:lnTo>
                <a:lnTo>
                  <a:pt x="287684" y="1111409"/>
                </a:lnTo>
                <a:lnTo>
                  <a:pt x="287684" y="1110675"/>
                </a:lnTo>
                <a:lnTo>
                  <a:pt x="290401" y="1110675"/>
                </a:lnTo>
                <a:lnTo>
                  <a:pt x="290401" y="1109973"/>
                </a:lnTo>
                <a:lnTo>
                  <a:pt x="295803" y="1109973"/>
                </a:lnTo>
                <a:lnTo>
                  <a:pt x="295803" y="1109239"/>
                </a:lnTo>
                <a:lnTo>
                  <a:pt x="298552" y="1109239"/>
                </a:lnTo>
                <a:lnTo>
                  <a:pt x="298552" y="1108505"/>
                </a:lnTo>
                <a:lnTo>
                  <a:pt x="301237" y="1108505"/>
                </a:lnTo>
                <a:lnTo>
                  <a:pt x="301237" y="1107787"/>
                </a:lnTo>
                <a:lnTo>
                  <a:pt x="306671" y="1107787"/>
                </a:lnTo>
                <a:lnTo>
                  <a:pt x="306671" y="1107053"/>
                </a:lnTo>
                <a:lnTo>
                  <a:pt x="312105" y="1107053"/>
                </a:lnTo>
                <a:lnTo>
                  <a:pt x="312105" y="1106318"/>
                </a:lnTo>
                <a:lnTo>
                  <a:pt x="320256" y="1106318"/>
                </a:lnTo>
                <a:lnTo>
                  <a:pt x="320256" y="1105601"/>
                </a:lnTo>
                <a:lnTo>
                  <a:pt x="325690" y="1105601"/>
                </a:lnTo>
                <a:lnTo>
                  <a:pt x="325690" y="1104866"/>
                </a:lnTo>
                <a:lnTo>
                  <a:pt x="328375" y="1104866"/>
                </a:lnTo>
                <a:lnTo>
                  <a:pt x="328375" y="1102696"/>
                </a:lnTo>
                <a:lnTo>
                  <a:pt x="333809" y="1102696"/>
                </a:lnTo>
                <a:lnTo>
                  <a:pt x="333809" y="1101962"/>
                </a:lnTo>
                <a:lnTo>
                  <a:pt x="341960" y="1101962"/>
                </a:lnTo>
                <a:lnTo>
                  <a:pt x="341960" y="1101244"/>
                </a:lnTo>
                <a:lnTo>
                  <a:pt x="344678" y="1101244"/>
                </a:lnTo>
                <a:lnTo>
                  <a:pt x="344678" y="1100509"/>
                </a:lnTo>
                <a:lnTo>
                  <a:pt x="347394" y="1100509"/>
                </a:lnTo>
                <a:lnTo>
                  <a:pt x="347394" y="1098323"/>
                </a:lnTo>
                <a:lnTo>
                  <a:pt x="350112" y="1098323"/>
                </a:lnTo>
                <a:lnTo>
                  <a:pt x="350112" y="1097589"/>
                </a:lnTo>
                <a:lnTo>
                  <a:pt x="352828" y="1097589"/>
                </a:lnTo>
                <a:lnTo>
                  <a:pt x="352828" y="1096153"/>
                </a:lnTo>
                <a:lnTo>
                  <a:pt x="358231" y="1096153"/>
                </a:lnTo>
                <a:lnTo>
                  <a:pt x="358231" y="1095435"/>
                </a:lnTo>
                <a:lnTo>
                  <a:pt x="366382" y="1095435"/>
                </a:lnTo>
                <a:lnTo>
                  <a:pt x="366382" y="1094701"/>
                </a:lnTo>
                <a:lnTo>
                  <a:pt x="369099" y="1094701"/>
                </a:lnTo>
                <a:lnTo>
                  <a:pt x="369099" y="1093966"/>
                </a:lnTo>
                <a:lnTo>
                  <a:pt x="371816" y="1093966"/>
                </a:lnTo>
                <a:lnTo>
                  <a:pt x="371816" y="1092514"/>
                </a:lnTo>
                <a:lnTo>
                  <a:pt x="374533" y="1092514"/>
                </a:lnTo>
                <a:lnTo>
                  <a:pt x="374533" y="1091796"/>
                </a:lnTo>
                <a:lnTo>
                  <a:pt x="377250" y="1091796"/>
                </a:lnTo>
                <a:lnTo>
                  <a:pt x="377250" y="1091078"/>
                </a:lnTo>
                <a:lnTo>
                  <a:pt x="385369" y="1091078"/>
                </a:lnTo>
                <a:lnTo>
                  <a:pt x="385369" y="1090344"/>
                </a:lnTo>
                <a:lnTo>
                  <a:pt x="388086" y="1090344"/>
                </a:lnTo>
                <a:lnTo>
                  <a:pt x="388086" y="1089609"/>
                </a:lnTo>
                <a:lnTo>
                  <a:pt x="393520" y="1089609"/>
                </a:lnTo>
                <a:lnTo>
                  <a:pt x="393520" y="1088892"/>
                </a:lnTo>
                <a:lnTo>
                  <a:pt x="398954" y="1088892"/>
                </a:lnTo>
                <a:lnTo>
                  <a:pt x="398954" y="1088157"/>
                </a:lnTo>
                <a:lnTo>
                  <a:pt x="407105" y="1088157"/>
                </a:lnTo>
                <a:lnTo>
                  <a:pt x="407105" y="1087423"/>
                </a:lnTo>
                <a:lnTo>
                  <a:pt x="409790" y="1087423"/>
                </a:lnTo>
                <a:lnTo>
                  <a:pt x="409790" y="1086705"/>
                </a:lnTo>
                <a:lnTo>
                  <a:pt x="412539" y="1086705"/>
                </a:lnTo>
                <a:lnTo>
                  <a:pt x="412539" y="1085971"/>
                </a:lnTo>
                <a:lnTo>
                  <a:pt x="423375" y="1085971"/>
                </a:lnTo>
                <a:lnTo>
                  <a:pt x="423375" y="1084535"/>
                </a:lnTo>
                <a:lnTo>
                  <a:pt x="426092" y="1084535"/>
                </a:lnTo>
                <a:lnTo>
                  <a:pt x="426092" y="1081614"/>
                </a:lnTo>
                <a:lnTo>
                  <a:pt x="431526" y="1081614"/>
                </a:lnTo>
                <a:lnTo>
                  <a:pt x="431526" y="1080162"/>
                </a:lnTo>
                <a:lnTo>
                  <a:pt x="436960" y="1080162"/>
                </a:lnTo>
                <a:lnTo>
                  <a:pt x="436960" y="1079427"/>
                </a:lnTo>
                <a:lnTo>
                  <a:pt x="439645" y="1079427"/>
                </a:lnTo>
                <a:lnTo>
                  <a:pt x="439645" y="1078693"/>
                </a:lnTo>
                <a:lnTo>
                  <a:pt x="442362" y="1078693"/>
                </a:lnTo>
                <a:lnTo>
                  <a:pt x="442362" y="1077975"/>
                </a:lnTo>
                <a:lnTo>
                  <a:pt x="447796" y="1077975"/>
                </a:lnTo>
                <a:lnTo>
                  <a:pt x="447796" y="1077241"/>
                </a:lnTo>
                <a:lnTo>
                  <a:pt x="450513" y="1077241"/>
                </a:lnTo>
                <a:lnTo>
                  <a:pt x="450513" y="1076523"/>
                </a:lnTo>
                <a:lnTo>
                  <a:pt x="453230" y="1076523"/>
                </a:lnTo>
                <a:lnTo>
                  <a:pt x="453230" y="1075805"/>
                </a:lnTo>
                <a:lnTo>
                  <a:pt x="455947" y="1075805"/>
                </a:lnTo>
                <a:lnTo>
                  <a:pt x="455947" y="1075071"/>
                </a:lnTo>
                <a:lnTo>
                  <a:pt x="458664" y="1075071"/>
                </a:lnTo>
                <a:lnTo>
                  <a:pt x="458664" y="1074353"/>
                </a:lnTo>
                <a:lnTo>
                  <a:pt x="461381" y="1074353"/>
                </a:lnTo>
                <a:lnTo>
                  <a:pt x="461381" y="1073618"/>
                </a:lnTo>
                <a:lnTo>
                  <a:pt x="472217" y="1073618"/>
                </a:lnTo>
                <a:lnTo>
                  <a:pt x="472217" y="1072166"/>
                </a:lnTo>
                <a:lnTo>
                  <a:pt x="474934" y="1072166"/>
                </a:lnTo>
                <a:lnTo>
                  <a:pt x="474934" y="1070698"/>
                </a:lnTo>
                <a:lnTo>
                  <a:pt x="477651" y="1070698"/>
                </a:lnTo>
                <a:lnTo>
                  <a:pt x="477651" y="1068527"/>
                </a:lnTo>
                <a:lnTo>
                  <a:pt x="480368" y="1068527"/>
                </a:lnTo>
                <a:lnTo>
                  <a:pt x="480368" y="1067809"/>
                </a:lnTo>
                <a:lnTo>
                  <a:pt x="485802" y="1067809"/>
                </a:lnTo>
                <a:lnTo>
                  <a:pt x="485802" y="1067075"/>
                </a:lnTo>
                <a:lnTo>
                  <a:pt x="488520" y="1067075"/>
                </a:lnTo>
                <a:lnTo>
                  <a:pt x="488520" y="1066341"/>
                </a:lnTo>
                <a:lnTo>
                  <a:pt x="491236" y="1066341"/>
                </a:lnTo>
                <a:lnTo>
                  <a:pt x="491236" y="1065623"/>
                </a:lnTo>
                <a:lnTo>
                  <a:pt x="496639" y="1065623"/>
                </a:lnTo>
                <a:lnTo>
                  <a:pt x="496639" y="1064889"/>
                </a:lnTo>
                <a:lnTo>
                  <a:pt x="499355" y="1064889"/>
                </a:lnTo>
                <a:lnTo>
                  <a:pt x="499355" y="1064154"/>
                </a:lnTo>
                <a:lnTo>
                  <a:pt x="504790" y="1064154"/>
                </a:lnTo>
                <a:lnTo>
                  <a:pt x="504790" y="1061968"/>
                </a:lnTo>
                <a:lnTo>
                  <a:pt x="510224" y="1061968"/>
                </a:lnTo>
                <a:lnTo>
                  <a:pt x="510224" y="1060516"/>
                </a:lnTo>
                <a:lnTo>
                  <a:pt x="515658" y="1060516"/>
                </a:lnTo>
                <a:lnTo>
                  <a:pt x="515658" y="1059080"/>
                </a:lnTo>
                <a:lnTo>
                  <a:pt x="518375" y="1059080"/>
                </a:lnTo>
                <a:lnTo>
                  <a:pt x="518375" y="1056893"/>
                </a:lnTo>
                <a:lnTo>
                  <a:pt x="521092" y="1056893"/>
                </a:lnTo>
                <a:lnTo>
                  <a:pt x="521092" y="1055424"/>
                </a:lnTo>
                <a:lnTo>
                  <a:pt x="526526" y="1055424"/>
                </a:lnTo>
                <a:lnTo>
                  <a:pt x="526526" y="1053972"/>
                </a:lnTo>
                <a:lnTo>
                  <a:pt x="529211" y="1053972"/>
                </a:lnTo>
                <a:lnTo>
                  <a:pt x="529211" y="1051786"/>
                </a:lnTo>
                <a:lnTo>
                  <a:pt x="531928" y="1051786"/>
                </a:lnTo>
                <a:lnTo>
                  <a:pt x="531928" y="1051084"/>
                </a:lnTo>
                <a:lnTo>
                  <a:pt x="534645" y="1051084"/>
                </a:lnTo>
                <a:lnTo>
                  <a:pt x="534645" y="1049616"/>
                </a:lnTo>
                <a:lnTo>
                  <a:pt x="540079" y="1049616"/>
                </a:lnTo>
                <a:lnTo>
                  <a:pt x="540079" y="1048898"/>
                </a:lnTo>
                <a:lnTo>
                  <a:pt x="542796" y="1048898"/>
                </a:lnTo>
                <a:lnTo>
                  <a:pt x="542796" y="1048163"/>
                </a:lnTo>
                <a:lnTo>
                  <a:pt x="548230" y="1048163"/>
                </a:lnTo>
                <a:lnTo>
                  <a:pt x="548230" y="1046711"/>
                </a:lnTo>
                <a:lnTo>
                  <a:pt x="550947" y="1046711"/>
                </a:lnTo>
                <a:lnTo>
                  <a:pt x="550947" y="1044524"/>
                </a:lnTo>
                <a:lnTo>
                  <a:pt x="553632" y="1044524"/>
                </a:lnTo>
                <a:lnTo>
                  <a:pt x="553632" y="1043056"/>
                </a:lnTo>
                <a:lnTo>
                  <a:pt x="556349" y="1043056"/>
                </a:lnTo>
                <a:lnTo>
                  <a:pt x="556349" y="1041620"/>
                </a:lnTo>
                <a:lnTo>
                  <a:pt x="561783" y="1041620"/>
                </a:lnTo>
                <a:lnTo>
                  <a:pt x="561783" y="1040168"/>
                </a:lnTo>
                <a:lnTo>
                  <a:pt x="564500" y="1040168"/>
                </a:lnTo>
                <a:lnTo>
                  <a:pt x="564500" y="1039434"/>
                </a:lnTo>
                <a:lnTo>
                  <a:pt x="567217" y="1039434"/>
                </a:lnTo>
                <a:lnTo>
                  <a:pt x="567217" y="1037247"/>
                </a:lnTo>
                <a:lnTo>
                  <a:pt x="575368" y="1037247"/>
                </a:lnTo>
                <a:lnTo>
                  <a:pt x="575368" y="1036513"/>
                </a:lnTo>
                <a:lnTo>
                  <a:pt x="578085" y="1036513"/>
                </a:lnTo>
                <a:lnTo>
                  <a:pt x="578085" y="1035795"/>
                </a:lnTo>
                <a:lnTo>
                  <a:pt x="580802" y="1035795"/>
                </a:lnTo>
                <a:lnTo>
                  <a:pt x="580802" y="1035060"/>
                </a:lnTo>
                <a:lnTo>
                  <a:pt x="583519" y="1035060"/>
                </a:lnTo>
                <a:lnTo>
                  <a:pt x="583519" y="1034343"/>
                </a:lnTo>
                <a:lnTo>
                  <a:pt x="588921" y="1034343"/>
                </a:lnTo>
                <a:lnTo>
                  <a:pt x="588921" y="1033608"/>
                </a:lnTo>
                <a:lnTo>
                  <a:pt x="591638" y="1033608"/>
                </a:lnTo>
                <a:lnTo>
                  <a:pt x="591638" y="1032890"/>
                </a:lnTo>
                <a:lnTo>
                  <a:pt x="594355" y="1032890"/>
                </a:lnTo>
                <a:lnTo>
                  <a:pt x="594355" y="1032172"/>
                </a:lnTo>
                <a:lnTo>
                  <a:pt x="597072" y="1032172"/>
                </a:lnTo>
                <a:lnTo>
                  <a:pt x="597072" y="1029986"/>
                </a:lnTo>
                <a:lnTo>
                  <a:pt x="599789" y="1029986"/>
                </a:lnTo>
                <a:lnTo>
                  <a:pt x="599789" y="1029252"/>
                </a:lnTo>
                <a:lnTo>
                  <a:pt x="602506" y="1029252"/>
                </a:lnTo>
                <a:lnTo>
                  <a:pt x="602506" y="1027799"/>
                </a:lnTo>
                <a:lnTo>
                  <a:pt x="618777" y="1027799"/>
                </a:lnTo>
                <a:lnTo>
                  <a:pt x="618777" y="1027065"/>
                </a:lnTo>
                <a:lnTo>
                  <a:pt x="621494" y="1027065"/>
                </a:lnTo>
                <a:lnTo>
                  <a:pt x="621494" y="1025613"/>
                </a:lnTo>
                <a:lnTo>
                  <a:pt x="624210" y="1025613"/>
                </a:lnTo>
                <a:lnTo>
                  <a:pt x="624210" y="1024878"/>
                </a:lnTo>
                <a:lnTo>
                  <a:pt x="635078" y="1024878"/>
                </a:lnTo>
                <a:lnTo>
                  <a:pt x="635078" y="1024144"/>
                </a:lnTo>
                <a:lnTo>
                  <a:pt x="637763" y="1024144"/>
                </a:lnTo>
                <a:lnTo>
                  <a:pt x="637763" y="1022692"/>
                </a:lnTo>
                <a:lnTo>
                  <a:pt x="640512" y="1022692"/>
                </a:lnTo>
                <a:lnTo>
                  <a:pt x="640512" y="1021256"/>
                </a:lnTo>
                <a:lnTo>
                  <a:pt x="648632" y="1021256"/>
                </a:lnTo>
                <a:lnTo>
                  <a:pt x="648632" y="1019788"/>
                </a:lnTo>
                <a:lnTo>
                  <a:pt x="651349" y="1019788"/>
                </a:lnTo>
                <a:lnTo>
                  <a:pt x="651349" y="1019069"/>
                </a:lnTo>
                <a:lnTo>
                  <a:pt x="654066" y="1019069"/>
                </a:lnTo>
                <a:lnTo>
                  <a:pt x="654066" y="1018335"/>
                </a:lnTo>
                <a:lnTo>
                  <a:pt x="664934" y="1018335"/>
                </a:lnTo>
                <a:lnTo>
                  <a:pt x="664934" y="1016883"/>
                </a:lnTo>
                <a:lnTo>
                  <a:pt x="667619" y="1016883"/>
                </a:lnTo>
                <a:lnTo>
                  <a:pt x="667619" y="1015431"/>
                </a:lnTo>
                <a:lnTo>
                  <a:pt x="673053" y="1015431"/>
                </a:lnTo>
                <a:lnTo>
                  <a:pt x="673053" y="1014697"/>
                </a:lnTo>
                <a:lnTo>
                  <a:pt x="675770" y="1014697"/>
                </a:lnTo>
                <a:lnTo>
                  <a:pt x="675770" y="1013244"/>
                </a:lnTo>
                <a:lnTo>
                  <a:pt x="681204" y="1013244"/>
                </a:lnTo>
                <a:lnTo>
                  <a:pt x="681204" y="1012510"/>
                </a:lnTo>
                <a:lnTo>
                  <a:pt x="689355" y="1012510"/>
                </a:lnTo>
                <a:lnTo>
                  <a:pt x="689355" y="1011776"/>
                </a:lnTo>
                <a:lnTo>
                  <a:pt x="694789" y="1011776"/>
                </a:lnTo>
                <a:lnTo>
                  <a:pt x="694789" y="1010323"/>
                </a:lnTo>
                <a:lnTo>
                  <a:pt x="697474" y="1010323"/>
                </a:lnTo>
                <a:lnTo>
                  <a:pt x="697474" y="1009589"/>
                </a:lnTo>
                <a:lnTo>
                  <a:pt x="700191" y="1009589"/>
                </a:lnTo>
                <a:lnTo>
                  <a:pt x="700191" y="1008871"/>
                </a:lnTo>
                <a:lnTo>
                  <a:pt x="702908" y="1008871"/>
                </a:lnTo>
                <a:lnTo>
                  <a:pt x="702908" y="1008137"/>
                </a:lnTo>
                <a:lnTo>
                  <a:pt x="711059" y="1008137"/>
                </a:lnTo>
                <a:lnTo>
                  <a:pt x="711059" y="1007403"/>
                </a:lnTo>
                <a:lnTo>
                  <a:pt x="724612" y="1007403"/>
                </a:lnTo>
                <a:lnTo>
                  <a:pt x="724612" y="1006685"/>
                </a:lnTo>
                <a:lnTo>
                  <a:pt x="727361" y="1006685"/>
                </a:lnTo>
                <a:lnTo>
                  <a:pt x="727361" y="1005950"/>
                </a:lnTo>
                <a:lnTo>
                  <a:pt x="730046" y="1005950"/>
                </a:lnTo>
                <a:lnTo>
                  <a:pt x="730046" y="1005216"/>
                </a:lnTo>
                <a:lnTo>
                  <a:pt x="732763" y="1005216"/>
                </a:lnTo>
                <a:lnTo>
                  <a:pt x="732763" y="1003046"/>
                </a:lnTo>
                <a:lnTo>
                  <a:pt x="738197" y="1003046"/>
                </a:lnTo>
                <a:lnTo>
                  <a:pt x="738197" y="1002328"/>
                </a:lnTo>
                <a:lnTo>
                  <a:pt x="740914" y="1002328"/>
                </a:lnTo>
                <a:lnTo>
                  <a:pt x="740914" y="1001594"/>
                </a:lnTo>
                <a:lnTo>
                  <a:pt x="746348" y="1001594"/>
                </a:lnTo>
                <a:lnTo>
                  <a:pt x="746348" y="1000859"/>
                </a:lnTo>
                <a:lnTo>
                  <a:pt x="749066" y="1000859"/>
                </a:lnTo>
                <a:lnTo>
                  <a:pt x="749066" y="999407"/>
                </a:lnTo>
                <a:lnTo>
                  <a:pt x="751782" y="999407"/>
                </a:lnTo>
                <a:lnTo>
                  <a:pt x="751782" y="998689"/>
                </a:lnTo>
                <a:lnTo>
                  <a:pt x="754467" y="998689"/>
                </a:lnTo>
                <a:lnTo>
                  <a:pt x="754467" y="997955"/>
                </a:lnTo>
                <a:lnTo>
                  <a:pt x="757185" y="997955"/>
                </a:lnTo>
                <a:lnTo>
                  <a:pt x="757185" y="997220"/>
                </a:lnTo>
                <a:lnTo>
                  <a:pt x="759901" y="997220"/>
                </a:lnTo>
                <a:lnTo>
                  <a:pt x="759901" y="995034"/>
                </a:lnTo>
                <a:lnTo>
                  <a:pt x="762619" y="995034"/>
                </a:lnTo>
                <a:lnTo>
                  <a:pt x="762619" y="994316"/>
                </a:lnTo>
                <a:lnTo>
                  <a:pt x="765336" y="994316"/>
                </a:lnTo>
                <a:lnTo>
                  <a:pt x="765336" y="992848"/>
                </a:lnTo>
                <a:lnTo>
                  <a:pt x="776204" y="992848"/>
                </a:lnTo>
                <a:lnTo>
                  <a:pt x="776204" y="992129"/>
                </a:lnTo>
                <a:lnTo>
                  <a:pt x="787039" y="992129"/>
                </a:lnTo>
                <a:lnTo>
                  <a:pt x="787039" y="991395"/>
                </a:lnTo>
                <a:lnTo>
                  <a:pt x="792474" y="991395"/>
                </a:lnTo>
                <a:lnTo>
                  <a:pt x="792474" y="989943"/>
                </a:lnTo>
                <a:lnTo>
                  <a:pt x="808776" y="989943"/>
                </a:lnTo>
                <a:lnTo>
                  <a:pt x="808776" y="989209"/>
                </a:lnTo>
                <a:lnTo>
                  <a:pt x="814178" y="989209"/>
                </a:lnTo>
                <a:lnTo>
                  <a:pt x="814178" y="987757"/>
                </a:lnTo>
                <a:lnTo>
                  <a:pt x="816895" y="987757"/>
                </a:lnTo>
                <a:lnTo>
                  <a:pt x="816895" y="987022"/>
                </a:lnTo>
                <a:lnTo>
                  <a:pt x="819612" y="987022"/>
                </a:lnTo>
                <a:lnTo>
                  <a:pt x="819612" y="986304"/>
                </a:lnTo>
                <a:lnTo>
                  <a:pt x="822329" y="986304"/>
                </a:lnTo>
                <a:lnTo>
                  <a:pt x="822329" y="985570"/>
                </a:lnTo>
                <a:lnTo>
                  <a:pt x="830480" y="985570"/>
                </a:lnTo>
                <a:lnTo>
                  <a:pt x="830480" y="984118"/>
                </a:lnTo>
                <a:lnTo>
                  <a:pt x="833197" y="984118"/>
                </a:lnTo>
                <a:lnTo>
                  <a:pt x="833197" y="983400"/>
                </a:lnTo>
                <a:lnTo>
                  <a:pt x="835914" y="983400"/>
                </a:lnTo>
                <a:lnTo>
                  <a:pt x="835914" y="982665"/>
                </a:lnTo>
                <a:lnTo>
                  <a:pt x="838599" y="982665"/>
                </a:lnTo>
                <a:lnTo>
                  <a:pt x="838599" y="980479"/>
                </a:lnTo>
                <a:lnTo>
                  <a:pt x="844033" y="980479"/>
                </a:lnTo>
                <a:lnTo>
                  <a:pt x="844033" y="979027"/>
                </a:lnTo>
                <a:lnTo>
                  <a:pt x="846750" y="979027"/>
                </a:lnTo>
                <a:lnTo>
                  <a:pt x="846750" y="978292"/>
                </a:lnTo>
                <a:lnTo>
                  <a:pt x="857618" y="978292"/>
                </a:lnTo>
                <a:lnTo>
                  <a:pt x="857618" y="977574"/>
                </a:lnTo>
                <a:lnTo>
                  <a:pt x="863052" y="977574"/>
                </a:lnTo>
                <a:lnTo>
                  <a:pt x="863052" y="976106"/>
                </a:lnTo>
                <a:lnTo>
                  <a:pt x="873888" y="976106"/>
                </a:lnTo>
                <a:lnTo>
                  <a:pt x="873888" y="974654"/>
                </a:lnTo>
                <a:lnTo>
                  <a:pt x="876605" y="974654"/>
                </a:lnTo>
                <a:lnTo>
                  <a:pt x="876605" y="973919"/>
                </a:lnTo>
                <a:lnTo>
                  <a:pt x="879322" y="973919"/>
                </a:lnTo>
                <a:lnTo>
                  <a:pt x="879322" y="972467"/>
                </a:lnTo>
                <a:lnTo>
                  <a:pt x="882039" y="972467"/>
                </a:lnTo>
                <a:lnTo>
                  <a:pt x="882039" y="971733"/>
                </a:lnTo>
                <a:lnTo>
                  <a:pt x="884756" y="971733"/>
                </a:lnTo>
                <a:lnTo>
                  <a:pt x="884756" y="971015"/>
                </a:lnTo>
                <a:lnTo>
                  <a:pt x="892908" y="971015"/>
                </a:lnTo>
                <a:lnTo>
                  <a:pt x="892908" y="969563"/>
                </a:lnTo>
                <a:lnTo>
                  <a:pt x="895593" y="969563"/>
                </a:lnTo>
                <a:lnTo>
                  <a:pt x="895593" y="968828"/>
                </a:lnTo>
                <a:lnTo>
                  <a:pt x="898309" y="968828"/>
                </a:lnTo>
                <a:lnTo>
                  <a:pt x="898309" y="968094"/>
                </a:lnTo>
                <a:lnTo>
                  <a:pt x="901027" y="968094"/>
                </a:lnTo>
                <a:lnTo>
                  <a:pt x="901027" y="967376"/>
                </a:lnTo>
                <a:lnTo>
                  <a:pt x="906461" y="967376"/>
                </a:lnTo>
                <a:lnTo>
                  <a:pt x="906461" y="966642"/>
                </a:lnTo>
                <a:lnTo>
                  <a:pt x="914612" y="966642"/>
                </a:lnTo>
                <a:lnTo>
                  <a:pt x="914612" y="965908"/>
                </a:lnTo>
                <a:lnTo>
                  <a:pt x="920046" y="965908"/>
                </a:lnTo>
                <a:lnTo>
                  <a:pt x="920046" y="963721"/>
                </a:lnTo>
                <a:lnTo>
                  <a:pt x="925480" y="963721"/>
                </a:lnTo>
                <a:lnTo>
                  <a:pt x="925480" y="963003"/>
                </a:lnTo>
                <a:lnTo>
                  <a:pt x="928165" y="963003"/>
                </a:lnTo>
                <a:lnTo>
                  <a:pt x="928165" y="962269"/>
                </a:lnTo>
                <a:lnTo>
                  <a:pt x="930914" y="962269"/>
                </a:lnTo>
                <a:lnTo>
                  <a:pt x="930914" y="961534"/>
                </a:lnTo>
                <a:lnTo>
                  <a:pt x="933599" y="961534"/>
                </a:lnTo>
                <a:lnTo>
                  <a:pt x="933599" y="960817"/>
                </a:lnTo>
                <a:lnTo>
                  <a:pt x="936316" y="960817"/>
                </a:lnTo>
                <a:lnTo>
                  <a:pt x="936316" y="960082"/>
                </a:lnTo>
                <a:lnTo>
                  <a:pt x="939033" y="960082"/>
                </a:lnTo>
                <a:lnTo>
                  <a:pt x="939033" y="958630"/>
                </a:lnTo>
                <a:lnTo>
                  <a:pt x="944435" y="958630"/>
                </a:lnTo>
                <a:lnTo>
                  <a:pt x="944435" y="956443"/>
                </a:lnTo>
                <a:lnTo>
                  <a:pt x="947184" y="956443"/>
                </a:lnTo>
                <a:lnTo>
                  <a:pt x="947184" y="955709"/>
                </a:lnTo>
                <a:lnTo>
                  <a:pt x="949869" y="955709"/>
                </a:lnTo>
                <a:lnTo>
                  <a:pt x="949869" y="954991"/>
                </a:lnTo>
                <a:lnTo>
                  <a:pt x="952618" y="954991"/>
                </a:lnTo>
                <a:lnTo>
                  <a:pt x="952618" y="953523"/>
                </a:lnTo>
                <a:lnTo>
                  <a:pt x="963454" y="953523"/>
                </a:lnTo>
                <a:lnTo>
                  <a:pt x="963454" y="952070"/>
                </a:lnTo>
                <a:lnTo>
                  <a:pt x="966171" y="952070"/>
                </a:lnTo>
                <a:lnTo>
                  <a:pt x="966171" y="950618"/>
                </a:lnTo>
                <a:lnTo>
                  <a:pt x="968888" y="950618"/>
                </a:lnTo>
                <a:lnTo>
                  <a:pt x="968888" y="949884"/>
                </a:lnTo>
                <a:lnTo>
                  <a:pt x="971605" y="949884"/>
                </a:lnTo>
                <a:lnTo>
                  <a:pt x="971605" y="948448"/>
                </a:lnTo>
                <a:lnTo>
                  <a:pt x="974322" y="948448"/>
                </a:lnTo>
                <a:lnTo>
                  <a:pt x="974322" y="946979"/>
                </a:lnTo>
                <a:lnTo>
                  <a:pt x="977039" y="946979"/>
                </a:lnTo>
                <a:lnTo>
                  <a:pt x="977039" y="945527"/>
                </a:lnTo>
                <a:lnTo>
                  <a:pt x="979724" y="945527"/>
                </a:lnTo>
                <a:lnTo>
                  <a:pt x="979724" y="944793"/>
                </a:lnTo>
                <a:lnTo>
                  <a:pt x="982473" y="944793"/>
                </a:lnTo>
                <a:lnTo>
                  <a:pt x="982473" y="944075"/>
                </a:lnTo>
                <a:lnTo>
                  <a:pt x="985158" y="944075"/>
                </a:lnTo>
                <a:lnTo>
                  <a:pt x="985158" y="943324"/>
                </a:lnTo>
                <a:lnTo>
                  <a:pt x="987875" y="943324"/>
                </a:lnTo>
                <a:lnTo>
                  <a:pt x="987875" y="942590"/>
                </a:lnTo>
                <a:lnTo>
                  <a:pt x="990592" y="942590"/>
                </a:lnTo>
                <a:lnTo>
                  <a:pt x="990592" y="941154"/>
                </a:lnTo>
                <a:lnTo>
                  <a:pt x="993309" y="941154"/>
                </a:lnTo>
                <a:lnTo>
                  <a:pt x="993309" y="939702"/>
                </a:lnTo>
                <a:lnTo>
                  <a:pt x="996026" y="939702"/>
                </a:lnTo>
                <a:lnTo>
                  <a:pt x="996026" y="938249"/>
                </a:lnTo>
                <a:lnTo>
                  <a:pt x="998743" y="938249"/>
                </a:lnTo>
                <a:lnTo>
                  <a:pt x="998743" y="937515"/>
                </a:lnTo>
                <a:lnTo>
                  <a:pt x="1001428" y="937515"/>
                </a:lnTo>
                <a:lnTo>
                  <a:pt x="1001428" y="936063"/>
                </a:lnTo>
                <a:lnTo>
                  <a:pt x="1012328" y="936063"/>
                </a:lnTo>
                <a:lnTo>
                  <a:pt x="1012328" y="934594"/>
                </a:lnTo>
                <a:lnTo>
                  <a:pt x="1015013" y="934594"/>
                </a:lnTo>
                <a:lnTo>
                  <a:pt x="1015013" y="933877"/>
                </a:lnTo>
                <a:lnTo>
                  <a:pt x="1017762" y="933877"/>
                </a:lnTo>
                <a:lnTo>
                  <a:pt x="1017762" y="933142"/>
                </a:lnTo>
                <a:lnTo>
                  <a:pt x="1020447" y="933142"/>
                </a:lnTo>
                <a:lnTo>
                  <a:pt x="1020447" y="932408"/>
                </a:lnTo>
                <a:lnTo>
                  <a:pt x="1023164" y="932408"/>
                </a:lnTo>
                <a:lnTo>
                  <a:pt x="1023164" y="930956"/>
                </a:lnTo>
                <a:lnTo>
                  <a:pt x="1028598" y="930956"/>
                </a:lnTo>
                <a:lnTo>
                  <a:pt x="1028598" y="930222"/>
                </a:lnTo>
                <a:lnTo>
                  <a:pt x="1034032" y="930222"/>
                </a:lnTo>
                <a:lnTo>
                  <a:pt x="1034032" y="929503"/>
                </a:lnTo>
                <a:lnTo>
                  <a:pt x="1036717" y="929503"/>
                </a:lnTo>
                <a:lnTo>
                  <a:pt x="1036717" y="928769"/>
                </a:lnTo>
                <a:lnTo>
                  <a:pt x="1039435" y="928769"/>
                </a:lnTo>
                <a:lnTo>
                  <a:pt x="1039435" y="927317"/>
                </a:lnTo>
                <a:lnTo>
                  <a:pt x="1044869" y="927317"/>
                </a:lnTo>
                <a:lnTo>
                  <a:pt x="1044869" y="925848"/>
                </a:lnTo>
                <a:lnTo>
                  <a:pt x="1050303" y="925848"/>
                </a:lnTo>
                <a:lnTo>
                  <a:pt x="1050303" y="925130"/>
                </a:lnTo>
                <a:lnTo>
                  <a:pt x="1055737" y="925130"/>
                </a:lnTo>
                <a:lnTo>
                  <a:pt x="1055737" y="923678"/>
                </a:lnTo>
                <a:lnTo>
                  <a:pt x="1058453" y="923678"/>
                </a:lnTo>
                <a:lnTo>
                  <a:pt x="1058453" y="922944"/>
                </a:lnTo>
                <a:lnTo>
                  <a:pt x="1063888" y="922944"/>
                </a:lnTo>
                <a:lnTo>
                  <a:pt x="1063888" y="922210"/>
                </a:lnTo>
                <a:lnTo>
                  <a:pt x="1066573" y="922210"/>
                </a:lnTo>
                <a:lnTo>
                  <a:pt x="1066573" y="919305"/>
                </a:lnTo>
                <a:lnTo>
                  <a:pt x="1069322" y="919305"/>
                </a:lnTo>
                <a:lnTo>
                  <a:pt x="1069322" y="918571"/>
                </a:lnTo>
                <a:lnTo>
                  <a:pt x="1072007" y="918571"/>
                </a:lnTo>
                <a:lnTo>
                  <a:pt x="1072007" y="917119"/>
                </a:lnTo>
                <a:lnTo>
                  <a:pt x="1074724" y="917119"/>
                </a:lnTo>
                <a:lnTo>
                  <a:pt x="1074724" y="915650"/>
                </a:lnTo>
                <a:lnTo>
                  <a:pt x="1077441" y="915650"/>
                </a:lnTo>
                <a:lnTo>
                  <a:pt x="1077441" y="914198"/>
                </a:lnTo>
                <a:lnTo>
                  <a:pt x="1082843" y="914198"/>
                </a:lnTo>
                <a:lnTo>
                  <a:pt x="1082843" y="913463"/>
                </a:lnTo>
                <a:lnTo>
                  <a:pt x="1085592" y="913463"/>
                </a:lnTo>
                <a:lnTo>
                  <a:pt x="1085592" y="912746"/>
                </a:lnTo>
                <a:lnTo>
                  <a:pt x="1091026" y="912746"/>
                </a:lnTo>
                <a:lnTo>
                  <a:pt x="1091026" y="912011"/>
                </a:lnTo>
                <a:lnTo>
                  <a:pt x="1096428" y="912011"/>
                </a:lnTo>
                <a:lnTo>
                  <a:pt x="1096428" y="911277"/>
                </a:lnTo>
                <a:lnTo>
                  <a:pt x="1101862" y="911277"/>
                </a:lnTo>
                <a:lnTo>
                  <a:pt x="1101862" y="910559"/>
                </a:lnTo>
                <a:lnTo>
                  <a:pt x="1104579" y="910559"/>
                </a:lnTo>
                <a:lnTo>
                  <a:pt x="1104579" y="909825"/>
                </a:lnTo>
                <a:lnTo>
                  <a:pt x="1110013" y="909825"/>
                </a:lnTo>
                <a:lnTo>
                  <a:pt x="1110013" y="908372"/>
                </a:lnTo>
                <a:lnTo>
                  <a:pt x="1115447" y="908372"/>
                </a:lnTo>
                <a:lnTo>
                  <a:pt x="1115447" y="907638"/>
                </a:lnTo>
                <a:lnTo>
                  <a:pt x="1118132" y="907638"/>
                </a:lnTo>
                <a:lnTo>
                  <a:pt x="1118132" y="906920"/>
                </a:lnTo>
                <a:lnTo>
                  <a:pt x="1120881" y="906920"/>
                </a:lnTo>
                <a:lnTo>
                  <a:pt x="1120881" y="906186"/>
                </a:lnTo>
                <a:lnTo>
                  <a:pt x="1123566" y="906186"/>
                </a:lnTo>
                <a:lnTo>
                  <a:pt x="1123566" y="903999"/>
                </a:lnTo>
                <a:lnTo>
                  <a:pt x="1126283" y="903999"/>
                </a:lnTo>
                <a:lnTo>
                  <a:pt x="1126283" y="903265"/>
                </a:lnTo>
                <a:lnTo>
                  <a:pt x="1131717" y="903265"/>
                </a:lnTo>
                <a:lnTo>
                  <a:pt x="1131717" y="902547"/>
                </a:lnTo>
                <a:lnTo>
                  <a:pt x="1137151" y="902547"/>
                </a:lnTo>
                <a:lnTo>
                  <a:pt x="1137151" y="901079"/>
                </a:lnTo>
                <a:lnTo>
                  <a:pt x="1139868" y="901079"/>
                </a:lnTo>
                <a:lnTo>
                  <a:pt x="1139868" y="900361"/>
                </a:lnTo>
                <a:lnTo>
                  <a:pt x="1142585" y="900361"/>
                </a:lnTo>
                <a:lnTo>
                  <a:pt x="1142585" y="899626"/>
                </a:lnTo>
                <a:lnTo>
                  <a:pt x="1145302" y="899626"/>
                </a:lnTo>
                <a:lnTo>
                  <a:pt x="1145302" y="898892"/>
                </a:lnTo>
                <a:lnTo>
                  <a:pt x="1147987" y="898892"/>
                </a:lnTo>
                <a:lnTo>
                  <a:pt x="1147987" y="898174"/>
                </a:lnTo>
                <a:lnTo>
                  <a:pt x="1150736" y="898174"/>
                </a:lnTo>
                <a:lnTo>
                  <a:pt x="1150736" y="895988"/>
                </a:lnTo>
                <a:lnTo>
                  <a:pt x="1156170" y="895988"/>
                </a:lnTo>
                <a:lnTo>
                  <a:pt x="1156170" y="895253"/>
                </a:lnTo>
                <a:lnTo>
                  <a:pt x="1158855" y="895253"/>
                </a:lnTo>
                <a:lnTo>
                  <a:pt x="1158855" y="894535"/>
                </a:lnTo>
                <a:lnTo>
                  <a:pt x="1161573" y="894535"/>
                </a:lnTo>
                <a:lnTo>
                  <a:pt x="1161573" y="893801"/>
                </a:lnTo>
                <a:lnTo>
                  <a:pt x="1164289" y="893801"/>
                </a:lnTo>
                <a:lnTo>
                  <a:pt x="1164289" y="893067"/>
                </a:lnTo>
                <a:lnTo>
                  <a:pt x="1167006" y="893067"/>
                </a:lnTo>
                <a:lnTo>
                  <a:pt x="1167006" y="891615"/>
                </a:lnTo>
                <a:lnTo>
                  <a:pt x="1169692" y="891615"/>
                </a:lnTo>
                <a:lnTo>
                  <a:pt x="1169692" y="890880"/>
                </a:lnTo>
                <a:lnTo>
                  <a:pt x="1172440" y="890880"/>
                </a:lnTo>
                <a:lnTo>
                  <a:pt x="1172440" y="890162"/>
                </a:lnTo>
                <a:lnTo>
                  <a:pt x="1177874" y="890162"/>
                </a:lnTo>
                <a:lnTo>
                  <a:pt x="1177874" y="889428"/>
                </a:lnTo>
                <a:lnTo>
                  <a:pt x="1188711" y="889428"/>
                </a:lnTo>
                <a:lnTo>
                  <a:pt x="1188711" y="888694"/>
                </a:lnTo>
                <a:lnTo>
                  <a:pt x="1191460" y="888694"/>
                </a:lnTo>
                <a:lnTo>
                  <a:pt x="1191460" y="887976"/>
                </a:lnTo>
                <a:lnTo>
                  <a:pt x="1202295" y="887976"/>
                </a:lnTo>
                <a:lnTo>
                  <a:pt x="1202295" y="886507"/>
                </a:lnTo>
                <a:lnTo>
                  <a:pt x="1207730" y="886507"/>
                </a:lnTo>
                <a:lnTo>
                  <a:pt x="1207730" y="885055"/>
                </a:lnTo>
                <a:lnTo>
                  <a:pt x="1215849" y="885055"/>
                </a:lnTo>
                <a:lnTo>
                  <a:pt x="1215849" y="883603"/>
                </a:lnTo>
                <a:lnTo>
                  <a:pt x="1234868" y="883603"/>
                </a:lnTo>
                <a:lnTo>
                  <a:pt x="1234868" y="882134"/>
                </a:lnTo>
                <a:lnTo>
                  <a:pt x="1240270" y="882134"/>
                </a:lnTo>
                <a:lnTo>
                  <a:pt x="1240270" y="881416"/>
                </a:lnTo>
                <a:lnTo>
                  <a:pt x="1245704" y="881416"/>
                </a:lnTo>
                <a:lnTo>
                  <a:pt x="1245704" y="880682"/>
                </a:lnTo>
                <a:lnTo>
                  <a:pt x="1248421" y="880682"/>
                </a:lnTo>
                <a:lnTo>
                  <a:pt x="1248421" y="879948"/>
                </a:lnTo>
                <a:lnTo>
                  <a:pt x="1251138" y="879948"/>
                </a:lnTo>
                <a:lnTo>
                  <a:pt x="1251138" y="879230"/>
                </a:lnTo>
                <a:lnTo>
                  <a:pt x="1256572" y="879230"/>
                </a:lnTo>
                <a:lnTo>
                  <a:pt x="1256572" y="878495"/>
                </a:lnTo>
                <a:lnTo>
                  <a:pt x="1264723" y="878495"/>
                </a:lnTo>
                <a:lnTo>
                  <a:pt x="1264723" y="877043"/>
                </a:lnTo>
                <a:lnTo>
                  <a:pt x="1270125" y="877043"/>
                </a:lnTo>
                <a:lnTo>
                  <a:pt x="1270125" y="876309"/>
                </a:lnTo>
                <a:lnTo>
                  <a:pt x="1272874" y="876309"/>
                </a:lnTo>
                <a:lnTo>
                  <a:pt x="1272874" y="875591"/>
                </a:lnTo>
                <a:lnTo>
                  <a:pt x="1275559" y="875591"/>
                </a:lnTo>
                <a:lnTo>
                  <a:pt x="1275559" y="874857"/>
                </a:lnTo>
                <a:lnTo>
                  <a:pt x="1278308" y="874857"/>
                </a:lnTo>
                <a:lnTo>
                  <a:pt x="1278308" y="874122"/>
                </a:lnTo>
                <a:lnTo>
                  <a:pt x="1280993" y="874122"/>
                </a:lnTo>
                <a:lnTo>
                  <a:pt x="1280993" y="873404"/>
                </a:lnTo>
                <a:lnTo>
                  <a:pt x="1286427" y="873404"/>
                </a:lnTo>
                <a:lnTo>
                  <a:pt x="1286427" y="872670"/>
                </a:lnTo>
                <a:lnTo>
                  <a:pt x="1291829" y="872670"/>
                </a:lnTo>
                <a:lnTo>
                  <a:pt x="1291829" y="871936"/>
                </a:lnTo>
                <a:lnTo>
                  <a:pt x="1294578" y="871936"/>
                </a:lnTo>
                <a:lnTo>
                  <a:pt x="1294578" y="870483"/>
                </a:lnTo>
                <a:lnTo>
                  <a:pt x="1299980" y="870483"/>
                </a:lnTo>
                <a:lnTo>
                  <a:pt x="1299980" y="869031"/>
                </a:lnTo>
                <a:lnTo>
                  <a:pt x="1302697" y="869031"/>
                </a:lnTo>
                <a:lnTo>
                  <a:pt x="1302697" y="868297"/>
                </a:lnTo>
                <a:lnTo>
                  <a:pt x="1308131" y="868297"/>
                </a:lnTo>
                <a:lnTo>
                  <a:pt x="1308131" y="866845"/>
                </a:lnTo>
                <a:lnTo>
                  <a:pt x="1310849" y="866845"/>
                </a:lnTo>
                <a:lnTo>
                  <a:pt x="1310849" y="865376"/>
                </a:lnTo>
                <a:lnTo>
                  <a:pt x="1316282" y="865376"/>
                </a:lnTo>
                <a:lnTo>
                  <a:pt x="1316282" y="864658"/>
                </a:lnTo>
                <a:lnTo>
                  <a:pt x="1327119" y="864658"/>
                </a:lnTo>
                <a:lnTo>
                  <a:pt x="1327119" y="863924"/>
                </a:lnTo>
                <a:lnTo>
                  <a:pt x="1332553" y="863924"/>
                </a:lnTo>
                <a:lnTo>
                  <a:pt x="1332553" y="863206"/>
                </a:lnTo>
                <a:lnTo>
                  <a:pt x="1335269" y="863206"/>
                </a:lnTo>
                <a:lnTo>
                  <a:pt x="1335269" y="861737"/>
                </a:lnTo>
                <a:lnTo>
                  <a:pt x="1340704" y="861737"/>
                </a:lnTo>
                <a:lnTo>
                  <a:pt x="1340704" y="858099"/>
                </a:lnTo>
                <a:lnTo>
                  <a:pt x="1356974" y="858099"/>
                </a:lnTo>
                <a:lnTo>
                  <a:pt x="1356974" y="857365"/>
                </a:lnTo>
                <a:lnTo>
                  <a:pt x="1359723" y="857365"/>
                </a:lnTo>
                <a:lnTo>
                  <a:pt x="1359723" y="856646"/>
                </a:lnTo>
                <a:lnTo>
                  <a:pt x="1367842" y="856646"/>
                </a:lnTo>
                <a:lnTo>
                  <a:pt x="1367842" y="854460"/>
                </a:lnTo>
                <a:lnTo>
                  <a:pt x="1370559" y="854460"/>
                </a:lnTo>
                <a:lnTo>
                  <a:pt x="1370559" y="853726"/>
                </a:lnTo>
                <a:lnTo>
                  <a:pt x="1375993" y="853726"/>
                </a:lnTo>
                <a:lnTo>
                  <a:pt x="1375993" y="852273"/>
                </a:lnTo>
                <a:lnTo>
                  <a:pt x="1378678" y="852273"/>
                </a:lnTo>
                <a:lnTo>
                  <a:pt x="1378678" y="850821"/>
                </a:lnTo>
                <a:lnTo>
                  <a:pt x="1381427" y="850821"/>
                </a:lnTo>
                <a:lnTo>
                  <a:pt x="1381427" y="850087"/>
                </a:lnTo>
                <a:lnTo>
                  <a:pt x="1394980" y="850087"/>
                </a:lnTo>
                <a:lnTo>
                  <a:pt x="1394980" y="849353"/>
                </a:lnTo>
                <a:lnTo>
                  <a:pt x="1397697" y="849353"/>
                </a:lnTo>
                <a:lnTo>
                  <a:pt x="1397697" y="848635"/>
                </a:lnTo>
                <a:lnTo>
                  <a:pt x="1400414" y="848635"/>
                </a:lnTo>
                <a:lnTo>
                  <a:pt x="1400414" y="847150"/>
                </a:lnTo>
                <a:lnTo>
                  <a:pt x="1408533" y="847150"/>
                </a:lnTo>
                <a:lnTo>
                  <a:pt x="1408533" y="846432"/>
                </a:lnTo>
                <a:lnTo>
                  <a:pt x="1413967" y="846432"/>
                </a:lnTo>
                <a:lnTo>
                  <a:pt x="1413967" y="845697"/>
                </a:lnTo>
                <a:lnTo>
                  <a:pt x="1416684" y="845697"/>
                </a:lnTo>
                <a:lnTo>
                  <a:pt x="1416684" y="843511"/>
                </a:lnTo>
                <a:lnTo>
                  <a:pt x="1430237" y="843511"/>
                </a:lnTo>
                <a:lnTo>
                  <a:pt x="1430237" y="840590"/>
                </a:lnTo>
                <a:lnTo>
                  <a:pt x="1435671" y="840590"/>
                </a:lnTo>
                <a:lnTo>
                  <a:pt x="1435671" y="839872"/>
                </a:lnTo>
                <a:lnTo>
                  <a:pt x="1441138" y="839872"/>
                </a:lnTo>
                <a:lnTo>
                  <a:pt x="1441138" y="838420"/>
                </a:lnTo>
                <a:lnTo>
                  <a:pt x="1443822" y="838420"/>
                </a:lnTo>
                <a:lnTo>
                  <a:pt x="1443822" y="837669"/>
                </a:lnTo>
                <a:lnTo>
                  <a:pt x="1446572" y="837669"/>
                </a:lnTo>
                <a:lnTo>
                  <a:pt x="1446572" y="836935"/>
                </a:lnTo>
                <a:lnTo>
                  <a:pt x="1449257" y="836935"/>
                </a:lnTo>
                <a:lnTo>
                  <a:pt x="1449257" y="835483"/>
                </a:lnTo>
                <a:lnTo>
                  <a:pt x="1451973" y="835483"/>
                </a:lnTo>
                <a:lnTo>
                  <a:pt x="1451973" y="834748"/>
                </a:lnTo>
                <a:lnTo>
                  <a:pt x="1454691" y="834748"/>
                </a:lnTo>
                <a:lnTo>
                  <a:pt x="1454691" y="833296"/>
                </a:lnTo>
                <a:lnTo>
                  <a:pt x="1462841" y="833296"/>
                </a:lnTo>
                <a:lnTo>
                  <a:pt x="1462841" y="832562"/>
                </a:lnTo>
                <a:lnTo>
                  <a:pt x="1468276" y="832562"/>
                </a:lnTo>
                <a:lnTo>
                  <a:pt x="1468276" y="831844"/>
                </a:lnTo>
                <a:lnTo>
                  <a:pt x="1473678" y="831844"/>
                </a:lnTo>
                <a:lnTo>
                  <a:pt x="1473678" y="831110"/>
                </a:lnTo>
                <a:lnTo>
                  <a:pt x="1481797" y="831110"/>
                </a:lnTo>
                <a:lnTo>
                  <a:pt x="1481797" y="830376"/>
                </a:lnTo>
                <a:lnTo>
                  <a:pt x="1484546" y="830376"/>
                </a:lnTo>
                <a:lnTo>
                  <a:pt x="1484546" y="829641"/>
                </a:lnTo>
                <a:lnTo>
                  <a:pt x="1487263" y="829641"/>
                </a:lnTo>
                <a:lnTo>
                  <a:pt x="1487263" y="827455"/>
                </a:lnTo>
                <a:lnTo>
                  <a:pt x="1489979" y="827455"/>
                </a:lnTo>
                <a:lnTo>
                  <a:pt x="1489979" y="826720"/>
                </a:lnTo>
                <a:lnTo>
                  <a:pt x="1492697" y="826720"/>
                </a:lnTo>
                <a:lnTo>
                  <a:pt x="1492697" y="825986"/>
                </a:lnTo>
                <a:lnTo>
                  <a:pt x="1500816" y="825986"/>
                </a:lnTo>
                <a:lnTo>
                  <a:pt x="1500816" y="824518"/>
                </a:lnTo>
                <a:lnTo>
                  <a:pt x="1503533" y="824518"/>
                </a:lnTo>
                <a:lnTo>
                  <a:pt x="1503533" y="823800"/>
                </a:lnTo>
                <a:lnTo>
                  <a:pt x="1506250" y="823800"/>
                </a:lnTo>
                <a:lnTo>
                  <a:pt x="1506250" y="823065"/>
                </a:lnTo>
                <a:lnTo>
                  <a:pt x="1508967" y="823065"/>
                </a:lnTo>
                <a:lnTo>
                  <a:pt x="1508967" y="822331"/>
                </a:lnTo>
                <a:lnTo>
                  <a:pt x="1511652" y="822331"/>
                </a:lnTo>
                <a:lnTo>
                  <a:pt x="1511652" y="820862"/>
                </a:lnTo>
                <a:lnTo>
                  <a:pt x="1517086" y="820862"/>
                </a:lnTo>
                <a:lnTo>
                  <a:pt x="1517086" y="820128"/>
                </a:lnTo>
                <a:lnTo>
                  <a:pt x="1522520" y="820128"/>
                </a:lnTo>
                <a:lnTo>
                  <a:pt x="1522520" y="818676"/>
                </a:lnTo>
                <a:lnTo>
                  <a:pt x="1525237" y="818676"/>
                </a:lnTo>
                <a:lnTo>
                  <a:pt x="1525237" y="817942"/>
                </a:lnTo>
                <a:lnTo>
                  <a:pt x="1536105" y="817942"/>
                </a:lnTo>
                <a:lnTo>
                  <a:pt x="1536105" y="817207"/>
                </a:lnTo>
                <a:lnTo>
                  <a:pt x="1538822" y="817207"/>
                </a:lnTo>
                <a:lnTo>
                  <a:pt x="1538822" y="815739"/>
                </a:lnTo>
                <a:lnTo>
                  <a:pt x="1541539" y="815739"/>
                </a:lnTo>
                <a:lnTo>
                  <a:pt x="1541539" y="815005"/>
                </a:lnTo>
                <a:lnTo>
                  <a:pt x="1544256" y="815005"/>
                </a:lnTo>
                <a:lnTo>
                  <a:pt x="1544256" y="813536"/>
                </a:lnTo>
                <a:lnTo>
                  <a:pt x="1549690" y="813536"/>
                </a:lnTo>
                <a:lnTo>
                  <a:pt x="1549690" y="812802"/>
                </a:lnTo>
                <a:lnTo>
                  <a:pt x="1552375" y="812802"/>
                </a:lnTo>
                <a:lnTo>
                  <a:pt x="1552375" y="812068"/>
                </a:lnTo>
                <a:lnTo>
                  <a:pt x="1557809" y="812068"/>
                </a:lnTo>
                <a:lnTo>
                  <a:pt x="1557809" y="811333"/>
                </a:lnTo>
                <a:lnTo>
                  <a:pt x="1563243" y="811333"/>
                </a:lnTo>
                <a:lnTo>
                  <a:pt x="1563243" y="809848"/>
                </a:lnTo>
                <a:lnTo>
                  <a:pt x="1565960" y="809848"/>
                </a:lnTo>
                <a:lnTo>
                  <a:pt x="1565960" y="806911"/>
                </a:lnTo>
                <a:lnTo>
                  <a:pt x="1568645" y="806911"/>
                </a:lnTo>
                <a:lnTo>
                  <a:pt x="1568645" y="806177"/>
                </a:lnTo>
                <a:lnTo>
                  <a:pt x="1571394" y="806177"/>
                </a:lnTo>
                <a:lnTo>
                  <a:pt x="1571394" y="805443"/>
                </a:lnTo>
                <a:lnTo>
                  <a:pt x="1576796" y="805443"/>
                </a:lnTo>
                <a:lnTo>
                  <a:pt x="1576796" y="804708"/>
                </a:lnTo>
                <a:lnTo>
                  <a:pt x="1579545" y="804708"/>
                </a:lnTo>
                <a:lnTo>
                  <a:pt x="1579545" y="803974"/>
                </a:lnTo>
                <a:lnTo>
                  <a:pt x="1584980" y="803974"/>
                </a:lnTo>
                <a:lnTo>
                  <a:pt x="1584980" y="803240"/>
                </a:lnTo>
                <a:lnTo>
                  <a:pt x="1587664" y="803240"/>
                </a:lnTo>
                <a:lnTo>
                  <a:pt x="1587664" y="802489"/>
                </a:lnTo>
                <a:lnTo>
                  <a:pt x="1590381" y="802489"/>
                </a:lnTo>
                <a:lnTo>
                  <a:pt x="1590381" y="801755"/>
                </a:lnTo>
                <a:lnTo>
                  <a:pt x="1593099" y="801755"/>
                </a:lnTo>
                <a:lnTo>
                  <a:pt x="1593099" y="801021"/>
                </a:lnTo>
                <a:lnTo>
                  <a:pt x="1595815" y="801021"/>
                </a:lnTo>
                <a:lnTo>
                  <a:pt x="1595815" y="799552"/>
                </a:lnTo>
                <a:lnTo>
                  <a:pt x="1598500" y="799552"/>
                </a:lnTo>
                <a:lnTo>
                  <a:pt x="1598500" y="798801"/>
                </a:lnTo>
                <a:lnTo>
                  <a:pt x="1606683" y="798801"/>
                </a:lnTo>
                <a:lnTo>
                  <a:pt x="1606683" y="798067"/>
                </a:lnTo>
                <a:lnTo>
                  <a:pt x="1609369" y="798067"/>
                </a:lnTo>
                <a:lnTo>
                  <a:pt x="1609369" y="797317"/>
                </a:lnTo>
                <a:lnTo>
                  <a:pt x="1617520" y="797317"/>
                </a:lnTo>
                <a:lnTo>
                  <a:pt x="1617520" y="795848"/>
                </a:lnTo>
                <a:lnTo>
                  <a:pt x="1622954" y="795848"/>
                </a:lnTo>
                <a:lnTo>
                  <a:pt x="1622954" y="793612"/>
                </a:lnTo>
                <a:lnTo>
                  <a:pt x="1633790" y="793612"/>
                </a:lnTo>
                <a:lnTo>
                  <a:pt x="1633790" y="792878"/>
                </a:lnTo>
                <a:lnTo>
                  <a:pt x="1636539" y="792878"/>
                </a:lnTo>
                <a:lnTo>
                  <a:pt x="1636539" y="791377"/>
                </a:lnTo>
                <a:lnTo>
                  <a:pt x="1639224" y="791377"/>
                </a:lnTo>
                <a:lnTo>
                  <a:pt x="1639224" y="790626"/>
                </a:lnTo>
                <a:lnTo>
                  <a:pt x="1641941" y="790626"/>
                </a:lnTo>
                <a:lnTo>
                  <a:pt x="1641941" y="789892"/>
                </a:lnTo>
                <a:lnTo>
                  <a:pt x="1644658" y="789892"/>
                </a:lnTo>
                <a:lnTo>
                  <a:pt x="1644658" y="789141"/>
                </a:lnTo>
                <a:lnTo>
                  <a:pt x="1647375" y="789141"/>
                </a:lnTo>
                <a:lnTo>
                  <a:pt x="1647375" y="787640"/>
                </a:lnTo>
                <a:lnTo>
                  <a:pt x="1663645" y="787640"/>
                </a:lnTo>
                <a:lnTo>
                  <a:pt x="1663645" y="785388"/>
                </a:lnTo>
                <a:lnTo>
                  <a:pt x="1666394" y="785388"/>
                </a:lnTo>
                <a:lnTo>
                  <a:pt x="1666394" y="783137"/>
                </a:lnTo>
                <a:lnTo>
                  <a:pt x="1690783" y="783137"/>
                </a:lnTo>
                <a:lnTo>
                  <a:pt x="1690783" y="782386"/>
                </a:lnTo>
                <a:lnTo>
                  <a:pt x="1693532" y="782386"/>
                </a:lnTo>
                <a:lnTo>
                  <a:pt x="1693532" y="780869"/>
                </a:lnTo>
                <a:lnTo>
                  <a:pt x="1707117" y="780869"/>
                </a:lnTo>
                <a:lnTo>
                  <a:pt x="1707117" y="780102"/>
                </a:lnTo>
                <a:lnTo>
                  <a:pt x="1709802" y="780102"/>
                </a:lnTo>
                <a:lnTo>
                  <a:pt x="1709802" y="779351"/>
                </a:lnTo>
                <a:lnTo>
                  <a:pt x="1712519" y="779351"/>
                </a:lnTo>
                <a:lnTo>
                  <a:pt x="1712519" y="777834"/>
                </a:lnTo>
                <a:lnTo>
                  <a:pt x="1720638" y="777834"/>
                </a:lnTo>
                <a:lnTo>
                  <a:pt x="1720638" y="777083"/>
                </a:lnTo>
                <a:lnTo>
                  <a:pt x="1726073" y="777083"/>
                </a:lnTo>
                <a:lnTo>
                  <a:pt x="1726073" y="775549"/>
                </a:lnTo>
                <a:lnTo>
                  <a:pt x="1728822" y="775549"/>
                </a:lnTo>
                <a:lnTo>
                  <a:pt x="1728822" y="773265"/>
                </a:lnTo>
                <a:lnTo>
                  <a:pt x="1734223" y="773265"/>
                </a:lnTo>
                <a:lnTo>
                  <a:pt x="1734223" y="772498"/>
                </a:lnTo>
                <a:lnTo>
                  <a:pt x="1736941" y="772498"/>
                </a:lnTo>
                <a:lnTo>
                  <a:pt x="1736941" y="771747"/>
                </a:lnTo>
                <a:lnTo>
                  <a:pt x="1739657" y="771747"/>
                </a:lnTo>
                <a:lnTo>
                  <a:pt x="1739657" y="770980"/>
                </a:lnTo>
                <a:lnTo>
                  <a:pt x="1745092" y="770980"/>
                </a:lnTo>
                <a:lnTo>
                  <a:pt x="1745092" y="770213"/>
                </a:lnTo>
                <a:lnTo>
                  <a:pt x="1750525" y="770213"/>
                </a:lnTo>
                <a:lnTo>
                  <a:pt x="1750525" y="768679"/>
                </a:lnTo>
                <a:lnTo>
                  <a:pt x="1758677" y="768679"/>
                </a:lnTo>
                <a:lnTo>
                  <a:pt x="1758677" y="767913"/>
                </a:lnTo>
                <a:lnTo>
                  <a:pt x="1764079" y="767913"/>
                </a:lnTo>
                <a:lnTo>
                  <a:pt x="1764079" y="765612"/>
                </a:lnTo>
                <a:lnTo>
                  <a:pt x="1766796" y="765612"/>
                </a:lnTo>
                <a:lnTo>
                  <a:pt x="1766796" y="764845"/>
                </a:lnTo>
                <a:lnTo>
                  <a:pt x="1769513" y="764845"/>
                </a:lnTo>
                <a:lnTo>
                  <a:pt x="1769513" y="764062"/>
                </a:lnTo>
                <a:lnTo>
                  <a:pt x="1772230" y="764062"/>
                </a:lnTo>
                <a:lnTo>
                  <a:pt x="1772230" y="763295"/>
                </a:lnTo>
                <a:lnTo>
                  <a:pt x="1780381" y="763295"/>
                </a:lnTo>
                <a:lnTo>
                  <a:pt x="1780381" y="762528"/>
                </a:lnTo>
                <a:lnTo>
                  <a:pt x="1783066" y="762528"/>
                </a:lnTo>
                <a:lnTo>
                  <a:pt x="1783066" y="761761"/>
                </a:lnTo>
                <a:lnTo>
                  <a:pt x="1788500" y="761761"/>
                </a:lnTo>
                <a:lnTo>
                  <a:pt x="1788500" y="758661"/>
                </a:lnTo>
                <a:lnTo>
                  <a:pt x="1791217" y="758661"/>
                </a:lnTo>
                <a:lnTo>
                  <a:pt x="1791217" y="757894"/>
                </a:lnTo>
                <a:lnTo>
                  <a:pt x="1799368" y="757894"/>
                </a:lnTo>
                <a:lnTo>
                  <a:pt x="1799368" y="757110"/>
                </a:lnTo>
                <a:lnTo>
                  <a:pt x="1804802" y="757110"/>
                </a:lnTo>
                <a:lnTo>
                  <a:pt x="1804802" y="756344"/>
                </a:lnTo>
                <a:lnTo>
                  <a:pt x="1807487" y="756344"/>
                </a:lnTo>
                <a:lnTo>
                  <a:pt x="1807487" y="754793"/>
                </a:lnTo>
                <a:lnTo>
                  <a:pt x="1810236" y="754793"/>
                </a:lnTo>
                <a:lnTo>
                  <a:pt x="1810236" y="754010"/>
                </a:lnTo>
                <a:lnTo>
                  <a:pt x="1812921" y="754010"/>
                </a:lnTo>
                <a:lnTo>
                  <a:pt x="1812921" y="753243"/>
                </a:lnTo>
                <a:lnTo>
                  <a:pt x="1815638" y="753243"/>
                </a:lnTo>
                <a:lnTo>
                  <a:pt x="1815638" y="751677"/>
                </a:lnTo>
                <a:lnTo>
                  <a:pt x="1818355" y="751677"/>
                </a:lnTo>
                <a:lnTo>
                  <a:pt x="1818355" y="750127"/>
                </a:lnTo>
                <a:lnTo>
                  <a:pt x="1821072" y="750127"/>
                </a:lnTo>
                <a:lnTo>
                  <a:pt x="1821072" y="749360"/>
                </a:lnTo>
                <a:lnTo>
                  <a:pt x="1826506" y="749360"/>
                </a:lnTo>
                <a:lnTo>
                  <a:pt x="1826506" y="747810"/>
                </a:lnTo>
                <a:lnTo>
                  <a:pt x="1829191" y="747810"/>
                </a:lnTo>
                <a:lnTo>
                  <a:pt x="1829191" y="747026"/>
                </a:lnTo>
                <a:lnTo>
                  <a:pt x="1831940" y="747026"/>
                </a:lnTo>
                <a:lnTo>
                  <a:pt x="1831940" y="746243"/>
                </a:lnTo>
                <a:lnTo>
                  <a:pt x="1837342" y="746243"/>
                </a:lnTo>
                <a:lnTo>
                  <a:pt x="1837342" y="744693"/>
                </a:lnTo>
                <a:lnTo>
                  <a:pt x="1840091" y="744693"/>
                </a:lnTo>
                <a:lnTo>
                  <a:pt x="1840091" y="743910"/>
                </a:lnTo>
                <a:lnTo>
                  <a:pt x="1842777" y="743910"/>
                </a:lnTo>
                <a:lnTo>
                  <a:pt x="1842777" y="743143"/>
                </a:lnTo>
                <a:lnTo>
                  <a:pt x="1856361" y="743143"/>
                </a:lnTo>
                <a:lnTo>
                  <a:pt x="1856361" y="741576"/>
                </a:lnTo>
                <a:lnTo>
                  <a:pt x="1869915" y="741576"/>
                </a:lnTo>
                <a:lnTo>
                  <a:pt x="1869915" y="740793"/>
                </a:lnTo>
                <a:lnTo>
                  <a:pt x="1872631" y="740793"/>
                </a:lnTo>
                <a:lnTo>
                  <a:pt x="1872631" y="739210"/>
                </a:lnTo>
                <a:lnTo>
                  <a:pt x="1875348" y="739210"/>
                </a:lnTo>
                <a:lnTo>
                  <a:pt x="1875348" y="738427"/>
                </a:lnTo>
                <a:lnTo>
                  <a:pt x="1878065" y="738427"/>
                </a:lnTo>
                <a:lnTo>
                  <a:pt x="1878065" y="737644"/>
                </a:lnTo>
                <a:lnTo>
                  <a:pt x="1880783" y="737644"/>
                </a:lnTo>
                <a:lnTo>
                  <a:pt x="1880783" y="736861"/>
                </a:lnTo>
                <a:lnTo>
                  <a:pt x="1883499" y="736861"/>
                </a:lnTo>
                <a:lnTo>
                  <a:pt x="1883499" y="736077"/>
                </a:lnTo>
                <a:lnTo>
                  <a:pt x="1886217" y="736077"/>
                </a:lnTo>
                <a:lnTo>
                  <a:pt x="1886217" y="735278"/>
                </a:lnTo>
                <a:lnTo>
                  <a:pt x="1888902" y="735278"/>
                </a:lnTo>
                <a:lnTo>
                  <a:pt x="1888902" y="734495"/>
                </a:lnTo>
                <a:lnTo>
                  <a:pt x="1891651" y="734495"/>
                </a:lnTo>
                <a:lnTo>
                  <a:pt x="1891651" y="732912"/>
                </a:lnTo>
                <a:lnTo>
                  <a:pt x="1894336" y="732912"/>
                </a:lnTo>
                <a:lnTo>
                  <a:pt x="1894336" y="732129"/>
                </a:lnTo>
                <a:lnTo>
                  <a:pt x="1899770" y="732129"/>
                </a:lnTo>
                <a:lnTo>
                  <a:pt x="1899770" y="731345"/>
                </a:lnTo>
                <a:lnTo>
                  <a:pt x="1918789" y="731345"/>
                </a:lnTo>
                <a:lnTo>
                  <a:pt x="1918789" y="729746"/>
                </a:lnTo>
                <a:lnTo>
                  <a:pt x="1926940" y="729746"/>
                </a:lnTo>
                <a:lnTo>
                  <a:pt x="1926940" y="728963"/>
                </a:lnTo>
                <a:lnTo>
                  <a:pt x="1929625" y="728963"/>
                </a:lnTo>
                <a:lnTo>
                  <a:pt x="1929625" y="727364"/>
                </a:lnTo>
                <a:lnTo>
                  <a:pt x="1932342" y="727364"/>
                </a:lnTo>
                <a:lnTo>
                  <a:pt x="1932342" y="726564"/>
                </a:lnTo>
                <a:lnTo>
                  <a:pt x="1940493" y="726564"/>
                </a:lnTo>
                <a:lnTo>
                  <a:pt x="1940493" y="725765"/>
                </a:lnTo>
                <a:lnTo>
                  <a:pt x="1945895" y="725765"/>
                </a:lnTo>
                <a:lnTo>
                  <a:pt x="1945895" y="724965"/>
                </a:lnTo>
                <a:lnTo>
                  <a:pt x="1948644" y="724965"/>
                </a:lnTo>
                <a:lnTo>
                  <a:pt x="1948644" y="724166"/>
                </a:lnTo>
                <a:lnTo>
                  <a:pt x="1962197" y="724166"/>
                </a:lnTo>
                <a:lnTo>
                  <a:pt x="1962197" y="723350"/>
                </a:lnTo>
                <a:lnTo>
                  <a:pt x="1964914" y="723350"/>
                </a:lnTo>
                <a:lnTo>
                  <a:pt x="1964914" y="722550"/>
                </a:lnTo>
                <a:lnTo>
                  <a:pt x="1967631" y="722550"/>
                </a:lnTo>
                <a:lnTo>
                  <a:pt x="1967631" y="720935"/>
                </a:lnTo>
                <a:lnTo>
                  <a:pt x="1970348" y="720935"/>
                </a:lnTo>
                <a:lnTo>
                  <a:pt x="1970348" y="720119"/>
                </a:lnTo>
                <a:lnTo>
                  <a:pt x="1981184" y="720119"/>
                </a:lnTo>
                <a:lnTo>
                  <a:pt x="1981184" y="719320"/>
                </a:lnTo>
                <a:lnTo>
                  <a:pt x="1983933" y="719320"/>
                </a:lnTo>
                <a:lnTo>
                  <a:pt x="1983933" y="717688"/>
                </a:lnTo>
                <a:lnTo>
                  <a:pt x="1986619" y="717688"/>
                </a:lnTo>
                <a:lnTo>
                  <a:pt x="1986619" y="716072"/>
                </a:lnTo>
                <a:lnTo>
                  <a:pt x="1992052" y="716072"/>
                </a:lnTo>
                <a:lnTo>
                  <a:pt x="1992052" y="715256"/>
                </a:lnTo>
                <a:lnTo>
                  <a:pt x="1997454" y="715256"/>
                </a:lnTo>
                <a:lnTo>
                  <a:pt x="1997454" y="714441"/>
                </a:lnTo>
                <a:lnTo>
                  <a:pt x="2000203" y="714441"/>
                </a:lnTo>
                <a:lnTo>
                  <a:pt x="2000203" y="713641"/>
                </a:lnTo>
                <a:lnTo>
                  <a:pt x="2005606" y="713641"/>
                </a:lnTo>
                <a:lnTo>
                  <a:pt x="2005606" y="712825"/>
                </a:lnTo>
                <a:lnTo>
                  <a:pt x="2021907" y="712825"/>
                </a:lnTo>
                <a:lnTo>
                  <a:pt x="2021907" y="711993"/>
                </a:lnTo>
                <a:lnTo>
                  <a:pt x="2024625" y="711993"/>
                </a:lnTo>
                <a:lnTo>
                  <a:pt x="2024625" y="711177"/>
                </a:lnTo>
                <a:lnTo>
                  <a:pt x="2030059" y="711177"/>
                </a:lnTo>
                <a:lnTo>
                  <a:pt x="2030059" y="710361"/>
                </a:lnTo>
                <a:lnTo>
                  <a:pt x="2032744" y="710361"/>
                </a:lnTo>
                <a:lnTo>
                  <a:pt x="2032744" y="709545"/>
                </a:lnTo>
                <a:lnTo>
                  <a:pt x="2035493" y="709545"/>
                </a:lnTo>
                <a:lnTo>
                  <a:pt x="2035493" y="708713"/>
                </a:lnTo>
                <a:lnTo>
                  <a:pt x="2043612" y="708713"/>
                </a:lnTo>
                <a:lnTo>
                  <a:pt x="2043612" y="707065"/>
                </a:lnTo>
                <a:lnTo>
                  <a:pt x="2046328" y="707065"/>
                </a:lnTo>
                <a:lnTo>
                  <a:pt x="2046328" y="706249"/>
                </a:lnTo>
                <a:lnTo>
                  <a:pt x="2054480" y="706249"/>
                </a:lnTo>
                <a:lnTo>
                  <a:pt x="2054480" y="705417"/>
                </a:lnTo>
                <a:lnTo>
                  <a:pt x="2057197" y="705417"/>
                </a:lnTo>
                <a:lnTo>
                  <a:pt x="2057197" y="704585"/>
                </a:lnTo>
                <a:lnTo>
                  <a:pt x="2062599" y="704585"/>
                </a:lnTo>
                <a:lnTo>
                  <a:pt x="2062599" y="703753"/>
                </a:lnTo>
                <a:lnTo>
                  <a:pt x="2065348" y="703753"/>
                </a:lnTo>
                <a:lnTo>
                  <a:pt x="2065348" y="702920"/>
                </a:lnTo>
                <a:lnTo>
                  <a:pt x="2068033" y="702920"/>
                </a:lnTo>
                <a:lnTo>
                  <a:pt x="2068033" y="702088"/>
                </a:lnTo>
                <a:lnTo>
                  <a:pt x="2070750" y="702088"/>
                </a:lnTo>
                <a:lnTo>
                  <a:pt x="2070750" y="701256"/>
                </a:lnTo>
                <a:lnTo>
                  <a:pt x="2073467" y="701256"/>
                </a:lnTo>
                <a:lnTo>
                  <a:pt x="2073467" y="700424"/>
                </a:lnTo>
                <a:lnTo>
                  <a:pt x="2078901" y="700424"/>
                </a:lnTo>
                <a:lnTo>
                  <a:pt x="2078901" y="699592"/>
                </a:lnTo>
                <a:lnTo>
                  <a:pt x="2089737" y="699592"/>
                </a:lnTo>
                <a:lnTo>
                  <a:pt x="2089737" y="698760"/>
                </a:lnTo>
                <a:lnTo>
                  <a:pt x="2092454" y="698760"/>
                </a:lnTo>
                <a:lnTo>
                  <a:pt x="2092454" y="697911"/>
                </a:lnTo>
                <a:lnTo>
                  <a:pt x="2097888" y="697911"/>
                </a:lnTo>
                <a:lnTo>
                  <a:pt x="2097888" y="697079"/>
                </a:lnTo>
                <a:lnTo>
                  <a:pt x="2108756" y="697079"/>
                </a:lnTo>
                <a:lnTo>
                  <a:pt x="2108756" y="696231"/>
                </a:lnTo>
                <a:lnTo>
                  <a:pt x="2116907" y="696231"/>
                </a:lnTo>
                <a:lnTo>
                  <a:pt x="2116907" y="695382"/>
                </a:lnTo>
                <a:lnTo>
                  <a:pt x="2122342" y="695382"/>
                </a:lnTo>
                <a:lnTo>
                  <a:pt x="2122342" y="693685"/>
                </a:lnTo>
                <a:lnTo>
                  <a:pt x="2125026" y="693685"/>
                </a:lnTo>
                <a:lnTo>
                  <a:pt x="2125026" y="692853"/>
                </a:lnTo>
                <a:lnTo>
                  <a:pt x="2127743" y="692853"/>
                </a:lnTo>
                <a:lnTo>
                  <a:pt x="2127743" y="692004"/>
                </a:lnTo>
                <a:lnTo>
                  <a:pt x="2130461" y="692004"/>
                </a:lnTo>
                <a:lnTo>
                  <a:pt x="2130461" y="691156"/>
                </a:lnTo>
                <a:lnTo>
                  <a:pt x="2133177" y="691156"/>
                </a:lnTo>
                <a:lnTo>
                  <a:pt x="2133177" y="690307"/>
                </a:lnTo>
                <a:lnTo>
                  <a:pt x="2135862" y="690307"/>
                </a:lnTo>
                <a:lnTo>
                  <a:pt x="2135862" y="689442"/>
                </a:lnTo>
                <a:lnTo>
                  <a:pt x="2146763" y="689442"/>
                </a:lnTo>
                <a:lnTo>
                  <a:pt x="2146763" y="688594"/>
                </a:lnTo>
                <a:lnTo>
                  <a:pt x="2149448" y="688594"/>
                </a:lnTo>
                <a:lnTo>
                  <a:pt x="2149448" y="687745"/>
                </a:lnTo>
                <a:lnTo>
                  <a:pt x="2154882" y="687745"/>
                </a:lnTo>
                <a:lnTo>
                  <a:pt x="2154882" y="686880"/>
                </a:lnTo>
                <a:lnTo>
                  <a:pt x="2160316" y="686880"/>
                </a:lnTo>
                <a:lnTo>
                  <a:pt x="2160316" y="686016"/>
                </a:lnTo>
                <a:lnTo>
                  <a:pt x="2176586" y="686016"/>
                </a:lnTo>
                <a:lnTo>
                  <a:pt x="2176586" y="683438"/>
                </a:lnTo>
                <a:lnTo>
                  <a:pt x="2179335" y="683438"/>
                </a:lnTo>
                <a:lnTo>
                  <a:pt x="2179335" y="681708"/>
                </a:lnTo>
                <a:lnTo>
                  <a:pt x="2182020" y="681708"/>
                </a:lnTo>
                <a:lnTo>
                  <a:pt x="2182020" y="680843"/>
                </a:lnTo>
                <a:lnTo>
                  <a:pt x="2184737" y="680843"/>
                </a:lnTo>
                <a:lnTo>
                  <a:pt x="2184737" y="679978"/>
                </a:lnTo>
                <a:lnTo>
                  <a:pt x="2187486" y="679978"/>
                </a:lnTo>
                <a:lnTo>
                  <a:pt x="2187486" y="679113"/>
                </a:lnTo>
                <a:lnTo>
                  <a:pt x="2190170" y="679113"/>
                </a:lnTo>
                <a:lnTo>
                  <a:pt x="2190170" y="678232"/>
                </a:lnTo>
                <a:lnTo>
                  <a:pt x="2192888" y="678232"/>
                </a:lnTo>
                <a:lnTo>
                  <a:pt x="2192888" y="677368"/>
                </a:lnTo>
                <a:lnTo>
                  <a:pt x="2198322" y="677368"/>
                </a:lnTo>
                <a:lnTo>
                  <a:pt x="2198322" y="673892"/>
                </a:lnTo>
                <a:lnTo>
                  <a:pt x="2203756" y="673892"/>
                </a:lnTo>
                <a:lnTo>
                  <a:pt x="2203756" y="673027"/>
                </a:lnTo>
                <a:lnTo>
                  <a:pt x="2211875" y="673027"/>
                </a:lnTo>
                <a:lnTo>
                  <a:pt x="2211875" y="672146"/>
                </a:lnTo>
                <a:lnTo>
                  <a:pt x="2228177" y="672146"/>
                </a:lnTo>
                <a:lnTo>
                  <a:pt x="2228177" y="671265"/>
                </a:lnTo>
                <a:lnTo>
                  <a:pt x="2236296" y="671265"/>
                </a:lnTo>
                <a:lnTo>
                  <a:pt x="2236296" y="668638"/>
                </a:lnTo>
                <a:lnTo>
                  <a:pt x="2239045" y="668638"/>
                </a:lnTo>
                <a:lnTo>
                  <a:pt x="2239045" y="665994"/>
                </a:lnTo>
                <a:lnTo>
                  <a:pt x="2241730" y="665994"/>
                </a:lnTo>
                <a:lnTo>
                  <a:pt x="2241730" y="665113"/>
                </a:lnTo>
                <a:lnTo>
                  <a:pt x="2247165" y="665113"/>
                </a:lnTo>
                <a:lnTo>
                  <a:pt x="2247165" y="664216"/>
                </a:lnTo>
                <a:lnTo>
                  <a:pt x="2252598" y="664216"/>
                </a:lnTo>
                <a:lnTo>
                  <a:pt x="2252598" y="663335"/>
                </a:lnTo>
                <a:lnTo>
                  <a:pt x="2260749" y="663335"/>
                </a:lnTo>
                <a:lnTo>
                  <a:pt x="2260749" y="662437"/>
                </a:lnTo>
                <a:lnTo>
                  <a:pt x="2271585" y="662437"/>
                </a:lnTo>
                <a:lnTo>
                  <a:pt x="2271585" y="661540"/>
                </a:lnTo>
                <a:lnTo>
                  <a:pt x="2279736" y="661540"/>
                </a:lnTo>
                <a:lnTo>
                  <a:pt x="2279736" y="658864"/>
                </a:lnTo>
                <a:lnTo>
                  <a:pt x="2282453" y="658864"/>
                </a:lnTo>
                <a:lnTo>
                  <a:pt x="2282453" y="657966"/>
                </a:lnTo>
                <a:lnTo>
                  <a:pt x="2285171" y="657966"/>
                </a:lnTo>
                <a:lnTo>
                  <a:pt x="2285171" y="657053"/>
                </a:lnTo>
                <a:lnTo>
                  <a:pt x="2290605" y="657053"/>
                </a:lnTo>
                <a:lnTo>
                  <a:pt x="2290605" y="656155"/>
                </a:lnTo>
                <a:lnTo>
                  <a:pt x="2293290" y="656155"/>
                </a:lnTo>
                <a:lnTo>
                  <a:pt x="2293290" y="654344"/>
                </a:lnTo>
                <a:lnTo>
                  <a:pt x="2298724" y="654344"/>
                </a:lnTo>
                <a:lnTo>
                  <a:pt x="2298724" y="653430"/>
                </a:lnTo>
                <a:lnTo>
                  <a:pt x="2301441" y="653430"/>
                </a:lnTo>
                <a:lnTo>
                  <a:pt x="2301441" y="652533"/>
                </a:lnTo>
                <a:lnTo>
                  <a:pt x="2304158" y="652533"/>
                </a:lnTo>
                <a:lnTo>
                  <a:pt x="2304158" y="651619"/>
                </a:lnTo>
                <a:lnTo>
                  <a:pt x="2312309" y="651619"/>
                </a:lnTo>
                <a:lnTo>
                  <a:pt x="2312309" y="650705"/>
                </a:lnTo>
                <a:lnTo>
                  <a:pt x="2315026" y="650705"/>
                </a:lnTo>
                <a:lnTo>
                  <a:pt x="2315026" y="649791"/>
                </a:lnTo>
                <a:lnTo>
                  <a:pt x="2317743" y="649791"/>
                </a:lnTo>
                <a:lnTo>
                  <a:pt x="2317743" y="647964"/>
                </a:lnTo>
                <a:lnTo>
                  <a:pt x="2336730" y="647964"/>
                </a:lnTo>
                <a:lnTo>
                  <a:pt x="2336730" y="647050"/>
                </a:lnTo>
                <a:lnTo>
                  <a:pt x="2339447" y="647050"/>
                </a:lnTo>
                <a:lnTo>
                  <a:pt x="2339447" y="645206"/>
                </a:lnTo>
                <a:lnTo>
                  <a:pt x="2342164" y="645206"/>
                </a:lnTo>
                <a:lnTo>
                  <a:pt x="2342164" y="643378"/>
                </a:lnTo>
                <a:lnTo>
                  <a:pt x="2347598" y="643378"/>
                </a:lnTo>
                <a:lnTo>
                  <a:pt x="2347598" y="641518"/>
                </a:lnTo>
                <a:lnTo>
                  <a:pt x="2350283" y="641518"/>
                </a:lnTo>
                <a:lnTo>
                  <a:pt x="2350283" y="640604"/>
                </a:lnTo>
                <a:lnTo>
                  <a:pt x="2355717" y="640604"/>
                </a:lnTo>
                <a:lnTo>
                  <a:pt x="2355717" y="639675"/>
                </a:lnTo>
                <a:lnTo>
                  <a:pt x="2361151" y="639675"/>
                </a:lnTo>
                <a:lnTo>
                  <a:pt x="2361151" y="638761"/>
                </a:lnTo>
                <a:lnTo>
                  <a:pt x="2363868" y="638761"/>
                </a:lnTo>
                <a:lnTo>
                  <a:pt x="2363868" y="637831"/>
                </a:lnTo>
                <a:lnTo>
                  <a:pt x="2372019" y="637831"/>
                </a:lnTo>
                <a:lnTo>
                  <a:pt x="2372019" y="636884"/>
                </a:lnTo>
                <a:lnTo>
                  <a:pt x="2374704" y="636884"/>
                </a:lnTo>
                <a:lnTo>
                  <a:pt x="2374704" y="635024"/>
                </a:lnTo>
                <a:lnTo>
                  <a:pt x="2377453" y="635024"/>
                </a:lnTo>
                <a:lnTo>
                  <a:pt x="2377453" y="634094"/>
                </a:lnTo>
                <a:lnTo>
                  <a:pt x="2382855" y="634094"/>
                </a:lnTo>
                <a:lnTo>
                  <a:pt x="2382855" y="632217"/>
                </a:lnTo>
                <a:lnTo>
                  <a:pt x="2388289" y="632217"/>
                </a:lnTo>
                <a:lnTo>
                  <a:pt x="2388289" y="631287"/>
                </a:lnTo>
                <a:lnTo>
                  <a:pt x="2415427" y="631287"/>
                </a:lnTo>
                <a:lnTo>
                  <a:pt x="2415427" y="629378"/>
                </a:lnTo>
                <a:lnTo>
                  <a:pt x="2418145" y="629378"/>
                </a:lnTo>
                <a:lnTo>
                  <a:pt x="2418145" y="628432"/>
                </a:lnTo>
                <a:lnTo>
                  <a:pt x="2426264" y="628432"/>
                </a:lnTo>
                <a:lnTo>
                  <a:pt x="2426264" y="627469"/>
                </a:lnTo>
                <a:lnTo>
                  <a:pt x="2434447" y="627469"/>
                </a:lnTo>
                <a:lnTo>
                  <a:pt x="2434447" y="626506"/>
                </a:lnTo>
                <a:lnTo>
                  <a:pt x="2437132" y="626506"/>
                </a:lnTo>
                <a:lnTo>
                  <a:pt x="2437132" y="624581"/>
                </a:lnTo>
                <a:lnTo>
                  <a:pt x="2439848" y="624581"/>
                </a:lnTo>
                <a:lnTo>
                  <a:pt x="2439848" y="623618"/>
                </a:lnTo>
                <a:lnTo>
                  <a:pt x="2448000" y="623618"/>
                </a:lnTo>
                <a:lnTo>
                  <a:pt x="2448000" y="622656"/>
                </a:lnTo>
                <a:lnTo>
                  <a:pt x="2453434" y="622656"/>
                </a:lnTo>
                <a:lnTo>
                  <a:pt x="2453434" y="621677"/>
                </a:lnTo>
                <a:lnTo>
                  <a:pt x="2456151" y="621677"/>
                </a:lnTo>
                <a:lnTo>
                  <a:pt x="2456151" y="620714"/>
                </a:lnTo>
                <a:lnTo>
                  <a:pt x="2472421" y="620714"/>
                </a:lnTo>
                <a:lnTo>
                  <a:pt x="2472421" y="619735"/>
                </a:lnTo>
                <a:lnTo>
                  <a:pt x="2483257" y="619735"/>
                </a:lnTo>
                <a:lnTo>
                  <a:pt x="2483257" y="617760"/>
                </a:lnTo>
                <a:lnTo>
                  <a:pt x="2488691" y="617760"/>
                </a:lnTo>
                <a:lnTo>
                  <a:pt x="2488691" y="616765"/>
                </a:lnTo>
                <a:lnTo>
                  <a:pt x="2504993" y="616765"/>
                </a:lnTo>
                <a:lnTo>
                  <a:pt x="2504993" y="615753"/>
                </a:lnTo>
                <a:lnTo>
                  <a:pt x="2518546" y="615753"/>
                </a:lnTo>
                <a:lnTo>
                  <a:pt x="2518546" y="614742"/>
                </a:lnTo>
                <a:lnTo>
                  <a:pt x="2523980" y="614742"/>
                </a:lnTo>
                <a:lnTo>
                  <a:pt x="2523980" y="613730"/>
                </a:lnTo>
                <a:lnTo>
                  <a:pt x="2526697" y="613730"/>
                </a:lnTo>
                <a:lnTo>
                  <a:pt x="2526697" y="612718"/>
                </a:lnTo>
                <a:lnTo>
                  <a:pt x="2532131" y="612718"/>
                </a:lnTo>
                <a:lnTo>
                  <a:pt x="2532131" y="611690"/>
                </a:lnTo>
                <a:lnTo>
                  <a:pt x="2537565" y="611690"/>
                </a:lnTo>
                <a:lnTo>
                  <a:pt x="2537565" y="610678"/>
                </a:lnTo>
                <a:lnTo>
                  <a:pt x="2542968" y="610678"/>
                </a:lnTo>
                <a:lnTo>
                  <a:pt x="2542968" y="609651"/>
                </a:lnTo>
                <a:lnTo>
                  <a:pt x="2545717" y="609651"/>
                </a:lnTo>
                <a:lnTo>
                  <a:pt x="2545717" y="607611"/>
                </a:lnTo>
                <a:lnTo>
                  <a:pt x="2548401" y="607611"/>
                </a:lnTo>
                <a:lnTo>
                  <a:pt x="2548401" y="605555"/>
                </a:lnTo>
                <a:lnTo>
                  <a:pt x="2551150" y="605555"/>
                </a:lnTo>
                <a:lnTo>
                  <a:pt x="2551150" y="603499"/>
                </a:lnTo>
                <a:lnTo>
                  <a:pt x="2553836" y="603499"/>
                </a:lnTo>
                <a:lnTo>
                  <a:pt x="2553836" y="602471"/>
                </a:lnTo>
                <a:lnTo>
                  <a:pt x="2556552" y="602471"/>
                </a:lnTo>
                <a:lnTo>
                  <a:pt x="2556552" y="600398"/>
                </a:lnTo>
                <a:lnTo>
                  <a:pt x="2564671" y="600398"/>
                </a:lnTo>
                <a:lnTo>
                  <a:pt x="2564671" y="599371"/>
                </a:lnTo>
                <a:lnTo>
                  <a:pt x="2572855" y="599371"/>
                </a:lnTo>
                <a:lnTo>
                  <a:pt x="2572855" y="598326"/>
                </a:lnTo>
                <a:lnTo>
                  <a:pt x="2575539" y="598326"/>
                </a:lnTo>
                <a:lnTo>
                  <a:pt x="2575539" y="597298"/>
                </a:lnTo>
                <a:lnTo>
                  <a:pt x="2581006" y="597298"/>
                </a:lnTo>
                <a:lnTo>
                  <a:pt x="2581006" y="596254"/>
                </a:lnTo>
                <a:lnTo>
                  <a:pt x="2583690" y="596254"/>
                </a:lnTo>
                <a:lnTo>
                  <a:pt x="2583690" y="595210"/>
                </a:lnTo>
                <a:lnTo>
                  <a:pt x="2594558" y="595210"/>
                </a:lnTo>
                <a:lnTo>
                  <a:pt x="2594558" y="593088"/>
                </a:lnTo>
                <a:lnTo>
                  <a:pt x="2599961" y="593088"/>
                </a:lnTo>
                <a:lnTo>
                  <a:pt x="2599961" y="589923"/>
                </a:lnTo>
                <a:lnTo>
                  <a:pt x="2610829" y="589923"/>
                </a:lnTo>
                <a:lnTo>
                  <a:pt x="2610829" y="585631"/>
                </a:lnTo>
                <a:lnTo>
                  <a:pt x="2613546" y="585631"/>
                </a:lnTo>
                <a:lnTo>
                  <a:pt x="2613546" y="584571"/>
                </a:lnTo>
                <a:lnTo>
                  <a:pt x="2621697" y="584571"/>
                </a:lnTo>
                <a:lnTo>
                  <a:pt x="2621697" y="582417"/>
                </a:lnTo>
                <a:lnTo>
                  <a:pt x="2627131" y="582417"/>
                </a:lnTo>
                <a:lnTo>
                  <a:pt x="2627131" y="581340"/>
                </a:lnTo>
                <a:lnTo>
                  <a:pt x="2629848" y="581340"/>
                </a:lnTo>
                <a:lnTo>
                  <a:pt x="2629848" y="580263"/>
                </a:lnTo>
                <a:lnTo>
                  <a:pt x="2635250" y="580263"/>
                </a:lnTo>
                <a:lnTo>
                  <a:pt x="2635250" y="579186"/>
                </a:lnTo>
                <a:lnTo>
                  <a:pt x="2637999" y="579186"/>
                </a:lnTo>
                <a:lnTo>
                  <a:pt x="2637999" y="577016"/>
                </a:lnTo>
                <a:lnTo>
                  <a:pt x="2640684" y="577016"/>
                </a:lnTo>
                <a:lnTo>
                  <a:pt x="2640684" y="575939"/>
                </a:lnTo>
                <a:lnTo>
                  <a:pt x="2643401" y="575939"/>
                </a:lnTo>
                <a:lnTo>
                  <a:pt x="2643401" y="573769"/>
                </a:lnTo>
                <a:lnTo>
                  <a:pt x="2651552" y="573769"/>
                </a:lnTo>
                <a:lnTo>
                  <a:pt x="2651552" y="572675"/>
                </a:lnTo>
                <a:lnTo>
                  <a:pt x="2654269" y="572675"/>
                </a:lnTo>
                <a:lnTo>
                  <a:pt x="2654269" y="571582"/>
                </a:lnTo>
                <a:lnTo>
                  <a:pt x="2656954" y="571582"/>
                </a:lnTo>
                <a:lnTo>
                  <a:pt x="2656954" y="570489"/>
                </a:lnTo>
                <a:lnTo>
                  <a:pt x="2662388" y="570489"/>
                </a:lnTo>
                <a:lnTo>
                  <a:pt x="2662388" y="569396"/>
                </a:lnTo>
                <a:lnTo>
                  <a:pt x="2670539" y="569396"/>
                </a:lnTo>
                <a:lnTo>
                  <a:pt x="2670539" y="568286"/>
                </a:lnTo>
                <a:lnTo>
                  <a:pt x="2673288" y="568286"/>
                </a:lnTo>
                <a:lnTo>
                  <a:pt x="2673288" y="567193"/>
                </a:lnTo>
                <a:lnTo>
                  <a:pt x="2684124" y="567193"/>
                </a:lnTo>
                <a:lnTo>
                  <a:pt x="2684124" y="566083"/>
                </a:lnTo>
                <a:lnTo>
                  <a:pt x="2689559" y="566083"/>
                </a:lnTo>
                <a:lnTo>
                  <a:pt x="2689559" y="563848"/>
                </a:lnTo>
                <a:lnTo>
                  <a:pt x="2692243" y="563848"/>
                </a:lnTo>
                <a:lnTo>
                  <a:pt x="2692243" y="562738"/>
                </a:lnTo>
                <a:lnTo>
                  <a:pt x="2697678" y="562738"/>
                </a:lnTo>
                <a:lnTo>
                  <a:pt x="2697678" y="561612"/>
                </a:lnTo>
                <a:lnTo>
                  <a:pt x="2705829" y="561612"/>
                </a:lnTo>
                <a:lnTo>
                  <a:pt x="2705829" y="560486"/>
                </a:lnTo>
                <a:lnTo>
                  <a:pt x="2724848" y="560486"/>
                </a:lnTo>
                <a:lnTo>
                  <a:pt x="2724848" y="559360"/>
                </a:lnTo>
                <a:lnTo>
                  <a:pt x="2727532" y="559360"/>
                </a:lnTo>
                <a:lnTo>
                  <a:pt x="2727532" y="558218"/>
                </a:lnTo>
                <a:lnTo>
                  <a:pt x="2730250" y="558218"/>
                </a:lnTo>
                <a:lnTo>
                  <a:pt x="2730250" y="557076"/>
                </a:lnTo>
                <a:lnTo>
                  <a:pt x="2732967" y="557076"/>
                </a:lnTo>
                <a:lnTo>
                  <a:pt x="2732967" y="555934"/>
                </a:lnTo>
                <a:lnTo>
                  <a:pt x="2735684" y="555934"/>
                </a:lnTo>
                <a:lnTo>
                  <a:pt x="2735684" y="554792"/>
                </a:lnTo>
                <a:lnTo>
                  <a:pt x="2738369" y="554792"/>
                </a:lnTo>
                <a:lnTo>
                  <a:pt x="2738369" y="553649"/>
                </a:lnTo>
                <a:lnTo>
                  <a:pt x="2743803" y="553649"/>
                </a:lnTo>
                <a:lnTo>
                  <a:pt x="2743803" y="552491"/>
                </a:lnTo>
                <a:lnTo>
                  <a:pt x="2749237" y="552491"/>
                </a:lnTo>
                <a:lnTo>
                  <a:pt x="2749237" y="551348"/>
                </a:lnTo>
                <a:lnTo>
                  <a:pt x="2754703" y="551348"/>
                </a:lnTo>
                <a:lnTo>
                  <a:pt x="2754703" y="550190"/>
                </a:lnTo>
                <a:lnTo>
                  <a:pt x="2765539" y="550190"/>
                </a:lnTo>
                <a:lnTo>
                  <a:pt x="2765539" y="547856"/>
                </a:lnTo>
                <a:lnTo>
                  <a:pt x="2800828" y="547856"/>
                </a:lnTo>
                <a:lnTo>
                  <a:pt x="2800828" y="546665"/>
                </a:lnTo>
                <a:lnTo>
                  <a:pt x="2808947" y="546665"/>
                </a:lnTo>
                <a:lnTo>
                  <a:pt x="2808947" y="545474"/>
                </a:lnTo>
                <a:lnTo>
                  <a:pt x="2814381" y="545474"/>
                </a:lnTo>
                <a:lnTo>
                  <a:pt x="2814381" y="541868"/>
                </a:lnTo>
                <a:lnTo>
                  <a:pt x="2827966" y="541868"/>
                </a:lnTo>
                <a:lnTo>
                  <a:pt x="2827966" y="538246"/>
                </a:lnTo>
                <a:lnTo>
                  <a:pt x="2836085" y="538246"/>
                </a:lnTo>
                <a:lnTo>
                  <a:pt x="2836085" y="537038"/>
                </a:lnTo>
                <a:lnTo>
                  <a:pt x="2841552" y="537038"/>
                </a:lnTo>
                <a:lnTo>
                  <a:pt x="2841552" y="535814"/>
                </a:lnTo>
                <a:lnTo>
                  <a:pt x="2846954" y="535814"/>
                </a:lnTo>
                <a:lnTo>
                  <a:pt x="2846954" y="534591"/>
                </a:lnTo>
                <a:lnTo>
                  <a:pt x="2863256" y="534591"/>
                </a:lnTo>
                <a:lnTo>
                  <a:pt x="2863256" y="533367"/>
                </a:lnTo>
                <a:lnTo>
                  <a:pt x="2871375" y="533367"/>
                </a:lnTo>
                <a:lnTo>
                  <a:pt x="2871375" y="532127"/>
                </a:lnTo>
                <a:lnTo>
                  <a:pt x="2876777" y="532127"/>
                </a:lnTo>
                <a:lnTo>
                  <a:pt x="2876777" y="530887"/>
                </a:lnTo>
                <a:lnTo>
                  <a:pt x="2879526" y="530887"/>
                </a:lnTo>
                <a:lnTo>
                  <a:pt x="2879526" y="529663"/>
                </a:lnTo>
                <a:lnTo>
                  <a:pt x="2895796" y="529663"/>
                </a:lnTo>
                <a:lnTo>
                  <a:pt x="2895796" y="527166"/>
                </a:lnTo>
                <a:lnTo>
                  <a:pt x="2909381" y="527166"/>
                </a:lnTo>
                <a:lnTo>
                  <a:pt x="2909381" y="525910"/>
                </a:lnTo>
                <a:lnTo>
                  <a:pt x="2914815" y="525910"/>
                </a:lnTo>
                <a:lnTo>
                  <a:pt x="2914815" y="524653"/>
                </a:lnTo>
                <a:lnTo>
                  <a:pt x="2922934" y="524653"/>
                </a:lnTo>
                <a:lnTo>
                  <a:pt x="2922934" y="523380"/>
                </a:lnTo>
                <a:lnTo>
                  <a:pt x="2928400" y="523380"/>
                </a:lnTo>
                <a:lnTo>
                  <a:pt x="2928400" y="522108"/>
                </a:lnTo>
                <a:lnTo>
                  <a:pt x="2931085" y="522108"/>
                </a:lnTo>
                <a:lnTo>
                  <a:pt x="2931085" y="519546"/>
                </a:lnTo>
                <a:lnTo>
                  <a:pt x="2933802" y="519546"/>
                </a:lnTo>
                <a:lnTo>
                  <a:pt x="2933802" y="518273"/>
                </a:lnTo>
                <a:lnTo>
                  <a:pt x="2939237" y="518273"/>
                </a:lnTo>
                <a:lnTo>
                  <a:pt x="2939237" y="516984"/>
                </a:lnTo>
                <a:lnTo>
                  <a:pt x="2947356" y="516984"/>
                </a:lnTo>
                <a:lnTo>
                  <a:pt x="2947356" y="515695"/>
                </a:lnTo>
                <a:lnTo>
                  <a:pt x="2950104" y="515695"/>
                </a:lnTo>
                <a:lnTo>
                  <a:pt x="2950104" y="514406"/>
                </a:lnTo>
                <a:lnTo>
                  <a:pt x="2955506" y="514406"/>
                </a:lnTo>
                <a:lnTo>
                  <a:pt x="2955506" y="513101"/>
                </a:lnTo>
                <a:lnTo>
                  <a:pt x="2958223" y="513101"/>
                </a:lnTo>
                <a:lnTo>
                  <a:pt x="2958223" y="511795"/>
                </a:lnTo>
                <a:lnTo>
                  <a:pt x="2960940" y="511795"/>
                </a:lnTo>
                <a:lnTo>
                  <a:pt x="2960940" y="510474"/>
                </a:lnTo>
                <a:lnTo>
                  <a:pt x="2988078" y="510474"/>
                </a:lnTo>
                <a:lnTo>
                  <a:pt x="2988078" y="506508"/>
                </a:lnTo>
                <a:lnTo>
                  <a:pt x="2990796" y="506508"/>
                </a:lnTo>
                <a:lnTo>
                  <a:pt x="2990796" y="505187"/>
                </a:lnTo>
                <a:lnTo>
                  <a:pt x="2996230" y="505187"/>
                </a:lnTo>
                <a:lnTo>
                  <a:pt x="2996230" y="503849"/>
                </a:lnTo>
                <a:lnTo>
                  <a:pt x="2998915" y="503849"/>
                </a:lnTo>
                <a:lnTo>
                  <a:pt x="2998915" y="502527"/>
                </a:lnTo>
                <a:lnTo>
                  <a:pt x="3007065" y="502527"/>
                </a:lnTo>
                <a:lnTo>
                  <a:pt x="3007065" y="501189"/>
                </a:lnTo>
                <a:lnTo>
                  <a:pt x="3012500" y="501189"/>
                </a:lnTo>
                <a:lnTo>
                  <a:pt x="3012500" y="499851"/>
                </a:lnTo>
                <a:lnTo>
                  <a:pt x="3015217" y="499851"/>
                </a:lnTo>
                <a:lnTo>
                  <a:pt x="3015217" y="497175"/>
                </a:lnTo>
                <a:lnTo>
                  <a:pt x="3053223" y="497175"/>
                </a:lnTo>
                <a:lnTo>
                  <a:pt x="3053223" y="495788"/>
                </a:lnTo>
                <a:lnTo>
                  <a:pt x="3058625" y="495788"/>
                </a:lnTo>
                <a:lnTo>
                  <a:pt x="3058625" y="494417"/>
                </a:lnTo>
                <a:lnTo>
                  <a:pt x="3066808" y="494417"/>
                </a:lnTo>
                <a:lnTo>
                  <a:pt x="3066808" y="493014"/>
                </a:lnTo>
                <a:lnTo>
                  <a:pt x="3069493" y="493014"/>
                </a:lnTo>
                <a:lnTo>
                  <a:pt x="3069493" y="490240"/>
                </a:lnTo>
                <a:lnTo>
                  <a:pt x="3083079" y="490240"/>
                </a:lnTo>
                <a:lnTo>
                  <a:pt x="3083079" y="488837"/>
                </a:lnTo>
                <a:lnTo>
                  <a:pt x="3085763" y="488837"/>
                </a:lnTo>
                <a:lnTo>
                  <a:pt x="3085763" y="486014"/>
                </a:lnTo>
                <a:lnTo>
                  <a:pt x="3088512" y="486014"/>
                </a:lnTo>
                <a:lnTo>
                  <a:pt x="3088512" y="484610"/>
                </a:lnTo>
                <a:lnTo>
                  <a:pt x="3102097" y="484610"/>
                </a:lnTo>
                <a:lnTo>
                  <a:pt x="3102097" y="483191"/>
                </a:lnTo>
                <a:lnTo>
                  <a:pt x="3112933" y="483191"/>
                </a:lnTo>
                <a:lnTo>
                  <a:pt x="3112933" y="481755"/>
                </a:lnTo>
                <a:lnTo>
                  <a:pt x="3115618" y="481755"/>
                </a:lnTo>
                <a:lnTo>
                  <a:pt x="3115618" y="480319"/>
                </a:lnTo>
                <a:lnTo>
                  <a:pt x="3134638" y="480319"/>
                </a:lnTo>
                <a:lnTo>
                  <a:pt x="3134638" y="478867"/>
                </a:lnTo>
                <a:lnTo>
                  <a:pt x="3140072" y="478867"/>
                </a:lnTo>
                <a:lnTo>
                  <a:pt x="3140072" y="477415"/>
                </a:lnTo>
                <a:lnTo>
                  <a:pt x="3178046" y="477415"/>
                </a:lnTo>
                <a:lnTo>
                  <a:pt x="3178046" y="475930"/>
                </a:lnTo>
                <a:lnTo>
                  <a:pt x="3186197" y="475930"/>
                </a:lnTo>
                <a:lnTo>
                  <a:pt x="3186197" y="474428"/>
                </a:lnTo>
                <a:lnTo>
                  <a:pt x="3188914" y="474428"/>
                </a:lnTo>
                <a:lnTo>
                  <a:pt x="3188914" y="472927"/>
                </a:lnTo>
                <a:lnTo>
                  <a:pt x="3205216" y="472927"/>
                </a:lnTo>
                <a:lnTo>
                  <a:pt x="3205216" y="471426"/>
                </a:lnTo>
                <a:lnTo>
                  <a:pt x="3213335" y="471426"/>
                </a:lnTo>
                <a:lnTo>
                  <a:pt x="3213335" y="469909"/>
                </a:lnTo>
                <a:lnTo>
                  <a:pt x="3218769" y="469909"/>
                </a:lnTo>
                <a:lnTo>
                  <a:pt x="3218769" y="466874"/>
                </a:lnTo>
                <a:lnTo>
                  <a:pt x="3229605" y="466874"/>
                </a:lnTo>
                <a:lnTo>
                  <a:pt x="3229605" y="465356"/>
                </a:lnTo>
                <a:lnTo>
                  <a:pt x="3232322" y="465356"/>
                </a:lnTo>
                <a:lnTo>
                  <a:pt x="3232322" y="463822"/>
                </a:lnTo>
                <a:lnTo>
                  <a:pt x="3237756" y="463822"/>
                </a:lnTo>
                <a:lnTo>
                  <a:pt x="3237756" y="462288"/>
                </a:lnTo>
                <a:lnTo>
                  <a:pt x="3240505" y="462288"/>
                </a:lnTo>
                <a:lnTo>
                  <a:pt x="3240505" y="460755"/>
                </a:lnTo>
                <a:lnTo>
                  <a:pt x="3245908" y="460755"/>
                </a:lnTo>
                <a:lnTo>
                  <a:pt x="3245908" y="459221"/>
                </a:lnTo>
                <a:lnTo>
                  <a:pt x="3248624" y="459221"/>
                </a:lnTo>
                <a:lnTo>
                  <a:pt x="3248624" y="457687"/>
                </a:lnTo>
                <a:lnTo>
                  <a:pt x="3251342" y="457687"/>
                </a:lnTo>
                <a:lnTo>
                  <a:pt x="3251342" y="456137"/>
                </a:lnTo>
                <a:lnTo>
                  <a:pt x="3270328" y="456137"/>
                </a:lnTo>
                <a:lnTo>
                  <a:pt x="3270328" y="454570"/>
                </a:lnTo>
                <a:lnTo>
                  <a:pt x="3273046" y="454570"/>
                </a:lnTo>
                <a:lnTo>
                  <a:pt x="3273046" y="453004"/>
                </a:lnTo>
                <a:lnTo>
                  <a:pt x="3281197" y="453004"/>
                </a:lnTo>
                <a:lnTo>
                  <a:pt x="3281197" y="449838"/>
                </a:lnTo>
                <a:lnTo>
                  <a:pt x="3292065" y="449838"/>
                </a:lnTo>
                <a:lnTo>
                  <a:pt x="3292065" y="448239"/>
                </a:lnTo>
                <a:lnTo>
                  <a:pt x="3297467" y="448239"/>
                </a:lnTo>
                <a:lnTo>
                  <a:pt x="3297467" y="446640"/>
                </a:lnTo>
                <a:lnTo>
                  <a:pt x="3305618" y="446640"/>
                </a:lnTo>
                <a:lnTo>
                  <a:pt x="3305618" y="443425"/>
                </a:lnTo>
                <a:lnTo>
                  <a:pt x="3321920" y="443425"/>
                </a:lnTo>
                <a:lnTo>
                  <a:pt x="3321920" y="441810"/>
                </a:lnTo>
                <a:lnTo>
                  <a:pt x="3324605" y="441810"/>
                </a:lnTo>
                <a:lnTo>
                  <a:pt x="3324605" y="440178"/>
                </a:lnTo>
                <a:lnTo>
                  <a:pt x="3332756" y="440178"/>
                </a:lnTo>
                <a:lnTo>
                  <a:pt x="3332756" y="438547"/>
                </a:lnTo>
                <a:lnTo>
                  <a:pt x="3343624" y="438547"/>
                </a:lnTo>
                <a:lnTo>
                  <a:pt x="3343624" y="436899"/>
                </a:lnTo>
                <a:lnTo>
                  <a:pt x="3346309" y="436899"/>
                </a:lnTo>
                <a:lnTo>
                  <a:pt x="3346309" y="435267"/>
                </a:lnTo>
                <a:lnTo>
                  <a:pt x="3368045" y="435267"/>
                </a:lnTo>
                <a:lnTo>
                  <a:pt x="3368045" y="433586"/>
                </a:lnTo>
                <a:lnTo>
                  <a:pt x="3416888" y="433586"/>
                </a:lnTo>
                <a:lnTo>
                  <a:pt x="3416888" y="431873"/>
                </a:lnTo>
                <a:lnTo>
                  <a:pt x="3425039" y="431873"/>
                </a:lnTo>
                <a:lnTo>
                  <a:pt x="3425039" y="430127"/>
                </a:lnTo>
                <a:lnTo>
                  <a:pt x="3427724" y="430127"/>
                </a:lnTo>
                <a:lnTo>
                  <a:pt x="3427724" y="428381"/>
                </a:lnTo>
                <a:lnTo>
                  <a:pt x="3441309" y="428381"/>
                </a:lnTo>
                <a:lnTo>
                  <a:pt x="3441309" y="426602"/>
                </a:lnTo>
                <a:lnTo>
                  <a:pt x="3463013" y="426602"/>
                </a:lnTo>
                <a:lnTo>
                  <a:pt x="3463013" y="424824"/>
                </a:lnTo>
                <a:lnTo>
                  <a:pt x="3487434" y="424824"/>
                </a:lnTo>
                <a:lnTo>
                  <a:pt x="3487434" y="422996"/>
                </a:lnTo>
                <a:lnTo>
                  <a:pt x="3514572" y="422996"/>
                </a:lnTo>
                <a:lnTo>
                  <a:pt x="3514572" y="421136"/>
                </a:lnTo>
                <a:lnTo>
                  <a:pt x="3528157" y="421136"/>
                </a:lnTo>
                <a:lnTo>
                  <a:pt x="3528157" y="419260"/>
                </a:lnTo>
                <a:lnTo>
                  <a:pt x="3539026" y="419260"/>
                </a:lnTo>
                <a:lnTo>
                  <a:pt x="3539026" y="417350"/>
                </a:lnTo>
                <a:lnTo>
                  <a:pt x="3552611" y="417350"/>
                </a:lnTo>
                <a:lnTo>
                  <a:pt x="3552611" y="415425"/>
                </a:lnTo>
                <a:lnTo>
                  <a:pt x="3555295" y="415425"/>
                </a:lnTo>
                <a:lnTo>
                  <a:pt x="3555295" y="413499"/>
                </a:lnTo>
                <a:lnTo>
                  <a:pt x="3560730" y="413499"/>
                </a:lnTo>
                <a:lnTo>
                  <a:pt x="3560730" y="411558"/>
                </a:lnTo>
                <a:lnTo>
                  <a:pt x="3568881" y="411558"/>
                </a:lnTo>
                <a:lnTo>
                  <a:pt x="3568881" y="409583"/>
                </a:lnTo>
                <a:lnTo>
                  <a:pt x="3577000" y="409583"/>
                </a:lnTo>
                <a:lnTo>
                  <a:pt x="3577000" y="407593"/>
                </a:lnTo>
                <a:lnTo>
                  <a:pt x="3579717" y="407593"/>
                </a:lnTo>
                <a:lnTo>
                  <a:pt x="3579717" y="405585"/>
                </a:lnTo>
                <a:lnTo>
                  <a:pt x="3590585" y="405585"/>
                </a:lnTo>
                <a:lnTo>
                  <a:pt x="3590585" y="403562"/>
                </a:lnTo>
                <a:lnTo>
                  <a:pt x="3598736" y="403562"/>
                </a:lnTo>
                <a:lnTo>
                  <a:pt x="3598736" y="401506"/>
                </a:lnTo>
                <a:lnTo>
                  <a:pt x="3606855" y="401506"/>
                </a:lnTo>
                <a:lnTo>
                  <a:pt x="3606855" y="399434"/>
                </a:lnTo>
                <a:lnTo>
                  <a:pt x="3625874" y="399434"/>
                </a:lnTo>
                <a:lnTo>
                  <a:pt x="3625874" y="397296"/>
                </a:lnTo>
                <a:lnTo>
                  <a:pt x="3642144" y="397296"/>
                </a:lnTo>
                <a:lnTo>
                  <a:pt x="3642144" y="395126"/>
                </a:lnTo>
                <a:lnTo>
                  <a:pt x="3661163" y="395126"/>
                </a:lnTo>
                <a:lnTo>
                  <a:pt x="3661163" y="392907"/>
                </a:lnTo>
                <a:lnTo>
                  <a:pt x="3666566" y="392907"/>
                </a:lnTo>
                <a:lnTo>
                  <a:pt x="3666566" y="390688"/>
                </a:lnTo>
                <a:lnTo>
                  <a:pt x="3726276" y="390688"/>
                </a:lnTo>
                <a:lnTo>
                  <a:pt x="3726276" y="388306"/>
                </a:lnTo>
                <a:lnTo>
                  <a:pt x="3750697" y="388306"/>
                </a:lnTo>
                <a:lnTo>
                  <a:pt x="3750697" y="385842"/>
                </a:lnTo>
                <a:lnTo>
                  <a:pt x="3785986" y="385842"/>
                </a:lnTo>
                <a:lnTo>
                  <a:pt x="3785986" y="383263"/>
                </a:lnTo>
                <a:lnTo>
                  <a:pt x="3802289" y="383263"/>
                </a:lnTo>
                <a:lnTo>
                  <a:pt x="3802289" y="380603"/>
                </a:lnTo>
                <a:lnTo>
                  <a:pt x="3821243" y="380603"/>
                </a:lnTo>
                <a:lnTo>
                  <a:pt x="3821243" y="377879"/>
                </a:lnTo>
                <a:lnTo>
                  <a:pt x="3826678" y="377879"/>
                </a:lnTo>
                <a:lnTo>
                  <a:pt x="3826678" y="375137"/>
                </a:lnTo>
                <a:lnTo>
                  <a:pt x="3856533" y="375137"/>
                </a:lnTo>
                <a:lnTo>
                  <a:pt x="3856533" y="372298"/>
                </a:lnTo>
                <a:lnTo>
                  <a:pt x="3861967" y="372298"/>
                </a:lnTo>
                <a:lnTo>
                  <a:pt x="3861967" y="369443"/>
                </a:lnTo>
                <a:lnTo>
                  <a:pt x="3878237" y="369443"/>
                </a:lnTo>
                <a:lnTo>
                  <a:pt x="3878237" y="366506"/>
                </a:lnTo>
                <a:lnTo>
                  <a:pt x="3886388" y="366506"/>
                </a:lnTo>
                <a:lnTo>
                  <a:pt x="3886388" y="363552"/>
                </a:lnTo>
                <a:lnTo>
                  <a:pt x="3913526" y="363552"/>
                </a:lnTo>
                <a:lnTo>
                  <a:pt x="3913526" y="360435"/>
                </a:lnTo>
                <a:lnTo>
                  <a:pt x="3932545" y="360435"/>
                </a:lnTo>
                <a:lnTo>
                  <a:pt x="3932545" y="357172"/>
                </a:lnTo>
                <a:lnTo>
                  <a:pt x="3946131" y="357172"/>
                </a:lnTo>
                <a:lnTo>
                  <a:pt x="3946131" y="353843"/>
                </a:lnTo>
                <a:lnTo>
                  <a:pt x="3962400" y="353843"/>
                </a:lnTo>
              </a:path>
            </a:pathLst>
          </a:custGeom>
          <a:noFill/>
          <a:ln w="20003">
            <a:solidFill>
              <a:srgbClr val="7F7F7F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65" name="published_curve_cv_Финеренон">
            <a:extLst>
              <a:ext uri="{FF2B5EF4-FFF2-40B4-BE49-F238E27FC236}">
                <a16:creationId xmlns:a16="http://schemas.microsoft.com/office/drawing/2014/main" id="{674455AD-2D15-4648-AA2B-CC16317A6F02}"/>
              </a:ext>
            </a:extLst>
          </p:cNvPr>
          <p:cNvSpPr>
            <a:spLocks noGrp="1"/>
          </p:cNvSpPr>
          <p:nvPr/>
        </p:nvSpPr>
        <p:spPr>
          <a:xfrm>
            <a:off x="1771650" y="2580500"/>
            <a:ext cx="3962400" cy="1642017"/>
          </a:xfrm>
          <a:custGeom>
            <a:avLst/>
            <a:gdLst/>
            <a:ahLst/>
            <a:cxnLst/>
            <a:rect l="0" t="0" r="0" b="0"/>
            <a:pathLst>
              <a:path w="3962400" h="1181100">
                <a:moveTo>
                  <a:pt x="0" y="1178980"/>
                </a:moveTo>
                <a:lnTo>
                  <a:pt x="2717" y="1178980"/>
                </a:lnTo>
                <a:lnTo>
                  <a:pt x="2717" y="1178245"/>
                </a:lnTo>
                <a:lnTo>
                  <a:pt x="8151" y="1178245"/>
                </a:lnTo>
                <a:lnTo>
                  <a:pt x="8151" y="1177527"/>
                </a:lnTo>
                <a:lnTo>
                  <a:pt x="13553" y="1177527"/>
                </a:lnTo>
                <a:lnTo>
                  <a:pt x="13553" y="1176793"/>
                </a:lnTo>
                <a:lnTo>
                  <a:pt x="21704" y="1176793"/>
                </a:lnTo>
                <a:lnTo>
                  <a:pt x="21704" y="1176059"/>
                </a:lnTo>
                <a:lnTo>
                  <a:pt x="27138" y="1176059"/>
                </a:lnTo>
                <a:lnTo>
                  <a:pt x="27138" y="1175357"/>
                </a:lnTo>
                <a:lnTo>
                  <a:pt x="32572" y="1175357"/>
                </a:lnTo>
                <a:lnTo>
                  <a:pt x="32572" y="1173187"/>
                </a:lnTo>
                <a:lnTo>
                  <a:pt x="35289" y="1173187"/>
                </a:lnTo>
                <a:lnTo>
                  <a:pt x="35289" y="1171718"/>
                </a:lnTo>
                <a:lnTo>
                  <a:pt x="46125" y="1171718"/>
                </a:lnTo>
                <a:lnTo>
                  <a:pt x="46125" y="1171000"/>
                </a:lnTo>
                <a:lnTo>
                  <a:pt x="48842" y="1171000"/>
                </a:lnTo>
                <a:lnTo>
                  <a:pt x="48842" y="1170266"/>
                </a:lnTo>
                <a:lnTo>
                  <a:pt x="54276" y="1170266"/>
                </a:lnTo>
                <a:lnTo>
                  <a:pt x="54276" y="1168830"/>
                </a:lnTo>
                <a:lnTo>
                  <a:pt x="62428" y="1168830"/>
                </a:lnTo>
                <a:lnTo>
                  <a:pt x="62428" y="1168096"/>
                </a:lnTo>
                <a:lnTo>
                  <a:pt x="67829" y="1168096"/>
                </a:lnTo>
                <a:lnTo>
                  <a:pt x="67829" y="1166660"/>
                </a:lnTo>
                <a:lnTo>
                  <a:pt x="70578" y="1166660"/>
                </a:lnTo>
                <a:lnTo>
                  <a:pt x="70578" y="1165191"/>
                </a:lnTo>
                <a:lnTo>
                  <a:pt x="73264" y="1165191"/>
                </a:lnTo>
                <a:lnTo>
                  <a:pt x="73264" y="1164473"/>
                </a:lnTo>
                <a:lnTo>
                  <a:pt x="78698" y="1164473"/>
                </a:lnTo>
                <a:lnTo>
                  <a:pt x="78698" y="1163021"/>
                </a:lnTo>
                <a:lnTo>
                  <a:pt x="81414" y="1163021"/>
                </a:lnTo>
                <a:lnTo>
                  <a:pt x="81414" y="1161569"/>
                </a:lnTo>
                <a:lnTo>
                  <a:pt x="89566" y="1161569"/>
                </a:lnTo>
                <a:lnTo>
                  <a:pt x="89566" y="1160851"/>
                </a:lnTo>
                <a:lnTo>
                  <a:pt x="92282" y="1160851"/>
                </a:lnTo>
                <a:lnTo>
                  <a:pt x="92282" y="1160133"/>
                </a:lnTo>
                <a:lnTo>
                  <a:pt x="95000" y="1160133"/>
                </a:lnTo>
                <a:lnTo>
                  <a:pt x="95000" y="1159399"/>
                </a:lnTo>
                <a:lnTo>
                  <a:pt x="97717" y="1159399"/>
                </a:lnTo>
                <a:lnTo>
                  <a:pt x="97717" y="1157229"/>
                </a:lnTo>
                <a:lnTo>
                  <a:pt x="100402" y="1157229"/>
                </a:lnTo>
                <a:lnTo>
                  <a:pt x="100402" y="1156494"/>
                </a:lnTo>
                <a:lnTo>
                  <a:pt x="105836" y="1156494"/>
                </a:lnTo>
                <a:lnTo>
                  <a:pt x="105836" y="1155776"/>
                </a:lnTo>
                <a:lnTo>
                  <a:pt x="132974" y="1155776"/>
                </a:lnTo>
                <a:lnTo>
                  <a:pt x="132974" y="1153606"/>
                </a:lnTo>
                <a:lnTo>
                  <a:pt x="143842" y="1153606"/>
                </a:lnTo>
                <a:lnTo>
                  <a:pt x="143842" y="1152872"/>
                </a:lnTo>
                <a:lnTo>
                  <a:pt x="146559" y="1152872"/>
                </a:lnTo>
                <a:lnTo>
                  <a:pt x="146559" y="1152154"/>
                </a:lnTo>
                <a:lnTo>
                  <a:pt x="149276" y="1152154"/>
                </a:lnTo>
                <a:lnTo>
                  <a:pt x="149276" y="1151420"/>
                </a:lnTo>
                <a:lnTo>
                  <a:pt x="154710" y="1151420"/>
                </a:lnTo>
                <a:lnTo>
                  <a:pt x="154710" y="1150702"/>
                </a:lnTo>
                <a:lnTo>
                  <a:pt x="157395" y="1150702"/>
                </a:lnTo>
                <a:lnTo>
                  <a:pt x="157395" y="1149984"/>
                </a:lnTo>
                <a:lnTo>
                  <a:pt x="160112" y="1149984"/>
                </a:lnTo>
                <a:lnTo>
                  <a:pt x="160112" y="1149249"/>
                </a:lnTo>
                <a:lnTo>
                  <a:pt x="165546" y="1149249"/>
                </a:lnTo>
                <a:lnTo>
                  <a:pt x="165546" y="1147797"/>
                </a:lnTo>
                <a:lnTo>
                  <a:pt x="168263" y="1147797"/>
                </a:lnTo>
                <a:lnTo>
                  <a:pt x="168263" y="1147079"/>
                </a:lnTo>
                <a:lnTo>
                  <a:pt x="170980" y="1147079"/>
                </a:lnTo>
                <a:lnTo>
                  <a:pt x="170980" y="1146345"/>
                </a:lnTo>
                <a:lnTo>
                  <a:pt x="176414" y="1146345"/>
                </a:lnTo>
                <a:lnTo>
                  <a:pt x="176414" y="1144893"/>
                </a:lnTo>
                <a:lnTo>
                  <a:pt x="189967" y="1144893"/>
                </a:lnTo>
                <a:lnTo>
                  <a:pt x="189967" y="1144158"/>
                </a:lnTo>
                <a:lnTo>
                  <a:pt x="192684" y="1144158"/>
                </a:lnTo>
                <a:lnTo>
                  <a:pt x="192684" y="1143457"/>
                </a:lnTo>
                <a:lnTo>
                  <a:pt x="198118" y="1143457"/>
                </a:lnTo>
                <a:lnTo>
                  <a:pt x="198118" y="1142722"/>
                </a:lnTo>
                <a:lnTo>
                  <a:pt x="203552" y="1142722"/>
                </a:lnTo>
                <a:lnTo>
                  <a:pt x="203552" y="1141270"/>
                </a:lnTo>
                <a:lnTo>
                  <a:pt x="211704" y="1141270"/>
                </a:lnTo>
                <a:lnTo>
                  <a:pt x="211704" y="1139100"/>
                </a:lnTo>
                <a:lnTo>
                  <a:pt x="214389" y="1139100"/>
                </a:lnTo>
                <a:lnTo>
                  <a:pt x="214389" y="1137632"/>
                </a:lnTo>
                <a:lnTo>
                  <a:pt x="217106" y="1137632"/>
                </a:lnTo>
                <a:lnTo>
                  <a:pt x="217106" y="1136930"/>
                </a:lnTo>
                <a:lnTo>
                  <a:pt x="219823" y="1136930"/>
                </a:lnTo>
                <a:lnTo>
                  <a:pt x="219823" y="1135461"/>
                </a:lnTo>
                <a:lnTo>
                  <a:pt x="222540" y="1135461"/>
                </a:lnTo>
                <a:lnTo>
                  <a:pt x="222540" y="1134743"/>
                </a:lnTo>
                <a:lnTo>
                  <a:pt x="236124" y="1134743"/>
                </a:lnTo>
                <a:lnTo>
                  <a:pt x="236124" y="1134025"/>
                </a:lnTo>
                <a:lnTo>
                  <a:pt x="238842" y="1134025"/>
                </a:lnTo>
                <a:lnTo>
                  <a:pt x="238842" y="1133291"/>
                </a:lnTo>
                <a:lnTo>
                  <a:pt x="249678" y="1133291"/>
                </a:lnTo>
                <a:lnTo>
                  <a:pt x="249678" y="1132573"/>
                </a:lnTo>
                <a:lnTo>
                  <a:pt x="271382" y="1132573"/>
                </a:lnTo>
                <a:lnTo>
                  <a:pt x="271382" y="1131839"/>
                </a:lnTo>
                <a:lnTo>
                  <a:pt x="274099" y="1131839"/>
                </a:lnTo>
                <a:lnTo>
                  <a:pt x="274099" y="1129669"/>
                </a:lnTo>
                <a:lnTo>
                  <a:pt x="284967" y="1129669"/>
                </a:lnTo>
                <a:lnTo>
                  <a:pt x="284967" y="1128934"/>
                </a:lnTo>
                <a:lnTo>
                  <a:pt x="287684" y="1128934"/>
                </a:lnTo>
                <a:lnTo>
                  <a:pt x="287684" y="1128216"/>
                </a:lnTo>
                <a:lnTo>
                  <a:pt x="290401" y="1128216"/>
                </a:lnTo>
                <a:lnTo>
                  <a:pt x="290401" y="1127482"/>
                </a:lnTo>
                <a:lnTo>
                  <a:pt x="293118" y="1127482"/>
                </a:lnTo>
                <a:lnTo>
                  <a:pt x="293118" y="1126748"/>
                </a:lnTo>
                <a:lnTo>
                  <a:pt x="295803" y="1126748"/>
                </a:lnTo>
                <a:lnTo>
                  <a:pt x="295803" y="1125312"/>
                </a:lnTo>
                <a:lnTo>
                  <a:pt x="301237" y="1125312"/>
                </a:lnTo>
                <a:lnTo>
                  <a:pt x="301237" y="1124578"/>
                </a:lnTo>
                <a:lnTo>
                  <a:pt x="306671" y="1124578"/>
                </a:lnTo>
                <a:lnTo>
                  <a:pt x="306671" y="1123860"/>
                </a:lnTo>
                <a:lnTo>
                  <a:pt x="309388" y="1123860"/>
                </a:lnTo>
                <a:lnTo>
                  <a:pt x="309388" y="1122407"/>
                </a:lnTo>
                <a:lnTo>
                  <a:pt x="312105" y="1122407"/>
                </a:lnTo>
                <a:lnTo>
                  <a:pt x="312105" y="1121689"/>
                </a:lnTo>
                <a:lnTo>
                  <a:pt x="314822" y="1121689"/>
                </a:lnTo>
                <a:lnTo>
                  <a:pt x="314822" y="1120955"/>
                </a:lnTo>
                <a:lnTo>
                  <a:pt x="317539" y="1120955"/>
                </a:lnTo>
                <a:lnTo>
                  <a:pt x="317539" y="1120221"/>
                </a:lnTo>
                <a:lnTo>
                  <a:pt x="320256" y="1120221"/>
                </a:lnTo>
                <a:lnTo>
                  <a:pt x="320256" y="1119519"/>
                </a:lnTo>
                <a:lnTo>
                  <a:pt x="322973" y="1119519"/>
                </a:lnTo>
                <a:lnTo>
                  <a:pt x="322973" y="1118051"/>
                </a:lnTo>
                <a:lnTo>
                  <a:pt x="325690" y="1118051"/>
                </a:lnTo>
                <a:lnTo>
                  <a:pt x="325690" y="1115880"/>
                </a:lnTo>
                <a:lnTo>
                  <a:pt x="328375" y="1115880"/>
                </a:lnTo>
                <a:lnTo>
                  <a:pt x="328375" y="1115163"/>
                </a:lnTo>
                <a:lnTo>
                  <a:pt x="331092" y="1115163"/>
                </a:lnTo>
                <a:lnTo>
                  <a:pt x="331092" y="1114428"/>
                </a:lnTo>
                <a:lnTo>
                  <a:pt x="339244" y="1114428"/>
                </a:lnTo>
                <a:lnTo>
                  <a:pt x="339244" y="1113710"/>
                </a:lnTo>
                <a:lnTo>
                  <a:pt x="341960" y="1113710"/>
                </a:lnTo>
                <a:lnTo>
                  <a:pt x="341960" y="1111540"/>
                </a:lnTo>
                <a:lnTo>
                  <a:pt x="347394" y="1111540"/>
                </a:lnTo>
                <a:lnTo>
                  <a:pt x="347394" y="1110806"/>
                </a:lnTo>
                <a:lnTo>
                  <a:pt x="352828" y="1110806"/>
                </a:lnTo>
                <a:lnTo>
                  <a:pt x="352828" y="1110071"/>
                </a:lnTo>
                <a:lnTo>
                  <a:pt x="358231" y="1110071"/>
                </a:lnTo>
                <a:lnTo>
                  <a:pt x="358231" y="1109353"/>
                </a:lnTo>
                <a:lnTo>
                  <a:pt x="363665" y="1109353"/>
                </a:lnTo>
                <a:lnTo>
                  <a:pt x="363665" y="1108635"/>
                </a:lnTo>
                <a:lnTo>
                  <a:pt x="366382" y="1108635"/>
                </a:lnTo>
                <a:lnTo>
                  <a:pt x="366382" y="1106449"/>
                </a:lnTo>
                <a:lnTo>
                  <a:pt x="371816" y="1106449"/>
                </a:lnTo>
                <a:lnTo>
                  <a:pt x="371816" y="1104997"/>
                </a:lnTo>
                <a:lnTo>
                  <a:pt x="379967" y="1104997"/>
                </a:lnTo>
                <a:lnTo>
                  <a:pt x="379967" y="1102827"/>
                </a:lnTo>
                <a:lnTo>
                  <a:pt x="385369" y="1102827"/>
                </a:lnTo>
                <a:lnTo>
                  <a:pt x="385369" y="1102092"/>
                </a:lnTo>
                <a:lnTo>
                  <a:pt x="388086" y="1102092"/>
                </a:lnTo>
                <a:lnTo>
                  <a:pt x="388086" y="1101358"/>
                </a:lnTo>
                <a:lnTo>
                  <a:pt x="396237" y="1101358"/>
                </a:lnTo>
                <a:lnTo>
                  <a:pt x="396237" y="1100640"/>
                </a:lnTo>
                <a:lnTo>
                  <a:pt x="398954" y="1100640"/>
                </a:lnTo>
                <a:lnTo>
                  <a:pt x="398954" y="1099922"/>
                </a:lnTo>
                <a:lnTo>
                  <a:pt x="401671" y="1099922"/>
                </a:lnTo>
                <a:lnTo>
                  <a:pt x="401671" y="1098470"/>
                </a:lnTo>
                <a:lnTo>
                  <a:pt x="407105" y="1098470"/>
                </a:lnTo>
                <a:lnTo>
                  <a:pt x="407105" y="1097001"/>
                </a:lnTo>
                <a:lnTo>
                  <a:pt x="409790" y="1097001"/>
                </a:lnTo>
                <a:lnTo>
                  <a:pt x="409790" y="1095565"/>
                </a:lnTo>
                <a:lnTo>
                  <a:pt x="412539" y="1095565"/>
                </a:lnTo>
                <a:lnTo>
                  <a:pt x="412539" y="1093379"/>
                </a:lnTo>
                <a:lnTo>
                  <a:pt x="417941" y="1093379"/>
                </a:lnTo>
                <a:lnTo>
                  <a:pt x="417941" y="1092644"/>
                </a:lnTo>
                <a:lnTo>
                  <a:pt x="420658" y="1092644"/>
                </a:lnTo>
                <a:lnTo>
                  <a:pt x="420658" y="1091926"/>
                </a:lnTo>
                <a:lnTo>
                  <a:pt x="423375" y="1091926"/>
                </a:lnTo>
                <a:lnTo>
                  <a:pt x="423375" y="1091209"/>
                </a:lnTo>
                <a:lnTo>
                  <a:pt x="428809" y="1091209"/>
                </a:lnTo>
                <a:lnTo>
                  <a:pt x="428809" y="1089756"/>
                </a:lnTo>
                <a:lnTo>
                  <a:pt x="442362" y="1089756"/>
                </a:lnTo>
                <a:lnTo>
                  <a:pt x="442362" y="1088304"/>
                </a:lnTo>
                <a:lnTo>
                  <a:pt x="445079" y="1088304"/>
                </a:lnTo>
                <a:lnTo>
                  <a:pt x="445079" y="1087586"/>
                </a:lnTo>
                <a:lnTo>
                  <a:pt x="450513" y="1087586"/>
                </a:lnTo>
                <a:lnTo>
                  <a:pt x="450513" y="1086852"/>
                </a:lnTo>
                <a:lnTo>
                  <a:pt x="453230" y="1086852"/>
                </a:lnTo>
                <a:lnTo>
                  <a:pt x="453230" y="1086118"/>
                </a:lnTo>
                <a:lnTo>
                  <a:pt x="458664" y="1086118"/>
                </a:lnTo>
                <a:lnTo>
                  <a:pt x="458664" y="1085400"/>
                </a:lnTo>
                <a:lnTo>
                  <a:pt x="466815" y="1085400"/>
                </a:lnTo>
                <a:lnTo>
                  <a:pt x="466815" y="1084665"/>
                </a:lnTo>
                <a:lnTo>
                  <a:pt x="474934" y="1084665"/>
                </a:lnTo>
                <a:lnTo>
                  <a:pt x="474934" y="1083213"/>
                </a:lnTo>
                <a:lnTo>
                  <a:pt x="477651" y="1083213"/>
                </a:lnTo>
                <a:lnTo>
                  <a:pt x="477651" y="1082495"/>
                </a:lnTo>
                <a:lnTo>
                  <a:pt x="483086" y="1082495"/>
                </a:lnTo>
                <a:lnTo>
                  <a:pt x="483086" y="1081777"/>
                </a:lnTo>
                <a:lnTo>
                  <a:pt x="493954" y="1081777"/>
                </a:lnTo>
                <a:lnTo>
                  <a:pt x="493954" y="1081043"/>
                </a:lnTo>
                <a:lnTo>
                  <a:pt x="502073" y="1081043"/>
                </a:lnTo>
                <a:lnTo>
                  <a:pt x="502073" y="1079591"/>
                </a:lnTo>
                <a:lnTo>
                  <a:pt x="504790" y="1079591"/>
                </a:lnTo>
                <a:lnTo>
                  <a:pt x="504790" y="1078138"/>
                </a:lnTo>
                <a:lnTo>
                  <a:pt x="512941" y="1078138"/>
                </a:lnTo>
                <a:lnTo>
                  <a:pt x="512941" y="1077420"/>
                </a:lnTo>
                <a:lnTo>
                  <a:pt x="515658" y="1077420"/>
                </a:lnTo>
                <a:lnTo>
                  <a:pt x="515658" y="1075952"/>
                </a:lnTo>
                <a:lnTo>
                  <a:pt x="518375" y="1075952"/>
                </a:lnTo>
                <a:lnTo>
                  <a:pt x="518375" y="1075234"/>
                </a:lnTo>
                <a:lnTo>
                  <a:pt x="521092" y="1075234"/>
                </a:lnTo>
                <a:lnTo>
                  <a:pt x="521092" y="1074500"/>
                </a:lnTo>
                <a:lnTo>
                  <a:pt x="523809" y="1074500"/>
                </a:lnTo>
                <a:lnTo>
                  <a:pt x="523809" y="1073782"/>
                </a:lnTo>
                <a:lnTo>
                  <a:pt x="529211" y="1073782"/>
                </a:lnTo>
                <a:lnTo>
                  <a:pt x="529211" y="1072329"/>
                </a:lnTo>
                <a:lnTo>
                  <a:pt x="531928" y="1072329"/>
                </a:lnTo>
                <a:lnTo>
                  <a:pt x="531928" y="1070143"/>
                </a:lnTo>
                <a:lnTo>
                  <a:pt x="545513" y="1070143"/>
                </a:lnTo>
                <a:lnTo>
                  <a:pt x="545513" y="1069425"/>
                </a:lnTo>
                <a:lnTo>
                  <a:pt x="550947" y="1069425"/>
                </a:lnTo>
                <a:lnTo>
                  <a:pt x="550947" y="1067973"/>
                </a:lnTo>
                <a:lnTo>
                  <a:pt x="553632" y="1067973"/>
                </a:lnTo>
                <a:lnTo>
                  <a:pt x="553632" y="1066520"/>
                </a:lnTo>
                <a:lnTo>
                  <a:pt x="559066" y="1066520"/>
                </a:lnTo>
                <a:lnTo>
                  <a:pt x="559066" y="1065052"/>
                </a:lnTo>
                <a:lnTo>
                  <a:pt x="567217" y="1065052"/>
                </a:lnTo>
                <a:lnTo>
                  <a:pt x="567217" y="1064350"/>
                </a:lnTo>
                <a:lnTo>
                  <a:pt x="575368" y="1064350"/>
                </a:lnTo>
                <a:lnTo>
                  <a:pt x="575368" y="1063616"/>
                </a:lnTo>
                <a:lnTo>
                  <a:pt x="578085" y="1063616"/>
                </a:lnTo>
                <a:lnTo>
                  <a:pt x="578085" y="1062164"/>
                </a:lnTo>
                <a:lnTo>
                  <a:pt x="580802" y="1062164"/>
                </a:lnTo>
                <a:lnTo>
                  <a:pt x="580802" y="1061429"/>
                </a:lnTo>
                <a:lnTo>
                  <a:pt x="588921" y="1061429"/>
                </a:lnTo>
                <a:lnTo>
                  <a:pt x="588921" y="1059994"/>
                </a:lnTo>
                <a:lnTo>
                  <a:pt x="591638" y="1059994"/>
                </a:lnTo>
                <a:lnTo>
                  <a:pt x="591638" y="1059259"/>
                </a:lnTo>
                <a:lnTo>
                  <a:pt x="594355" y="1059259"/>
                </a:lnTo>
                <a:lnTo>
                  <a:pt x="594355" y="1057807"/>
                </a:lnTo>
                <a:lnTo>
                  <a:pt x="599789" y="1057807"/>
                </a:lnTo>
                <a:lnTo>
                  <a:pt x="599789" y="1057073"/>
                </a:lnTo>
                <a:lnTo>
                  <a:pt x="610625" y="1057073"/>
                </a:lnTo>
                <a:lnTo>
                  <a:pt x="610625" y="1056355"/>
                </a:lnTo>
                <a:lnTo>
                  <a:pt x="613374" y="1056355"/>
                </a:lnTo>
                <a:lnTo>
                  <a:pt x="613374" y="1055637"/>
                </a:lnTo>
                <a:lnTo>
                  <a:pt x="618777" y="1055637"/>
                </a:lnTo>
                <a:lnTo>
                  <a:pt x="618777" y="1054185"/>
                </a:lnTo>
                <a:lnTo>
                  <a:pt x="624210" y="1054185"/>
                </a:lnTo>
                <a:lnTo>
                  <a:pt x="624210" y="1053450"/>
                </a:lnTo>
                <a:lnTo>
                  <a:pt x="629644" y="1053450"/>
                </a:lnTo>
                <a:lnTo>
                  <a:pt x="629644" y="1052716"/>
                </a:lnTo>
                <a:lnTo>
                  <a:pt x="640512" y="1052716"/>
                </a:lnTo>
                <a:lnTo>
                  <a:pt x="640512" y="1052014"/>
                </a:lnTo>
                <a:lnTo>
                  <a:pt x="643197" y="1052014"/>
                </a:lnTo>
                <a:lnTo>
                  <a:pt x="643197" y="1050546"/>
                </a:lnTo>
                <a:lnTo>
                  <a:pt x="645915" y="1050546"/>
                </a:lnTo>
                <a:lnTo>
                  <a:pt x="645915" y="1048359"/>
                </a:lnTo>
                <a:lnTo>
                  <a:pt x="648632" y="1048359"/>
                </a:lnTo>
                <a:lnTo>
                  <a:pt x="648632" y="1046923"/>
                </a:lnTo>
                <a:lnTo>
                  <a:pt x="654066" y="1046923"/>
                </a:lnTo>
                <a:lnTo>
                  <a:pt x="654066" y="1046189"/>
                </a:lnTo>
                <a:lnTo>
                  <a:pt x="656783" y="1046189"/>
                </a:lnTo>
                <a:lnTo>
                  <a:pt x="656783" y="1045471"/>
                </a:lnTo>
                <a:lnTo>
                  <a:pt x="659500" y="1045471"/>
                </a:lnTo>
                <a:lnTo>
                  <a:pt x="659500" y="1044737"/>
                </a:lnTo>
                <a:lnTo>
                  <a:pt x="667619" y="1044737"/>
                </a:lnTo>
                <a:lnTo>
                  <a:pt x="667619" y="1042550"/>
                </a:lnTo>
                <a:lnTo>
                  <a:pt x="670336" y="1042550"/>
                </a:lnTo>
                <a:lnTo>
                  <a:pt x="670336" y="1041816"/>
                </a:lnTo>
                <a:lnTo>
                  <a:pt x="673053" y="1041816"/>
                </a:lnTo>
                <a:lnTo>
                  <a:pt x="673053" y="1041114"/>
                </a:lnTo>
                <a:lnTo>
                  <a:pt x="681204" y="1041114"/>
                </a:lnTo>
                <a:lnTo>
                  <a:pt x="681204" y="1040380"/>
                </a:lnTo>
                <a:lnTo>
                  <a:pt x="683921" y="1040380"/>
                </a:lnTo>
                <a:lnTo>
                  <a:pt x="683921" y="1039646"/>
                </a:lnTo>
                <a:lnTo>
                  <a:pt x="686638" y="1039646"/>
                </a:lnTo>
                <a:lnTo>
                  <a:pt x="686638" y="1038928"/>
                </a:lnTo>
                <a:lnTo>
                  <a:pt x="694789" y="1038928"/>
                </a:lnTo>
                <a:lnTo>
                  <a:pt x="694789" y="1038193"/>
                </a:lnTo>
                <a:lnTo>
                  <a:pt x="697474" y="1038193"/>
                </a:lnTo>
                <a:lnTo>
                  <a:pt x="697474" y="1037459"/>
                </a:lnTo>
                <a:lnTo>
                  <a:pt x="705625" y="1037459"/>
                </a:lnTo>
                <a:lnTo>
                  <a:pt x="705625" y="1036757"/>
                </a:lnTo>
                <a:lnTo>
                  <a:pt x="713776" y="1036757"/>
                </a:lnTo>
                <a:lnTo>
                  <a:pt x="713776" y="1036023"/>
                </a:lnTo>
                <a:lnTo>
                  <a:pt x="716493" y="1036023"/>
                </a:lnTo>
                <a:lnTo>
                  <a:pt x="716493" y="1034571"/>
                </a:lnTo>
                <a:lnTo>
                  <a:pt x="721927" y="1034571"/>
                </a:lnTo>
                <a:lnTo>
                  <a:pt x="721927" y="1033837"/>
                </a:lnTo>
                <a:lnTo>
                  <a:pt x="730046" y="1033837"/>
                </a:lnTo>
                <a:lnTo>
                  <a:pt x="730046" y="1033102"/>
                </a:lnTo>
                <a:lnTo>
                  <a:pt x="732763" y="1033102"/>
                </a:lnTo>
                <a:lnTo>
                  <a:pt x="732763" y="1032385"/>
                </a:lnTo>
                <a:lnTo>
                  <a:pt x="735480" y="1032385"/>
                </a:lnTo>
                <a:lnTo>
                  <a:pt x="735480" y="1030932"/>
                </a:lnTo>
                <a:lnTo>
                  <a:pt x="738197" y="1030932"/>
                </a:lnTo>
                <a:lnTo>
                  <a:pt x="738197" y="1030214"/>
                </a:lnTo>
                <a:lnTo>
                  <a:pt x="743631" y="1030214"/>
                </a:lnTo>
                <a:lnTo>
                  <a:pt x="743631" y="1029480"/>
                </a:lnTo>
                <a:lnTo>
                  <a:pt x="757185" y="1029480"/>
                </a:lnTo>
                <a:lnTo>
                  <a:pt x="757185" y="1028762"/>
                </a:lnTo>
                <a:lnTo>
                  <a:pt x="759901" y="1028762"/>
                </a:lnTo>
                <a:lnTo>
                  <a:pt x="759901" y="1028028"/>
                </a:lnTo>
                <a:lnTo>
                  <a:pt x="762619" y="1028028"/>
                </a:lnTo>
                <a:lnTo>
                  <a:pt x="762619" y="1026576"/>
                </a:lnTo>
                <a:lnTo>
                  <a:pt x="770770" y="1026576"/>
                </a:lnTo>
                <a:lnTo>
                  <a:pt x="770770" y="1025123"/>
                </a:lnTo>
                <a:lnTo>
                  <a:pt x="773487" y="1025123"/>
                </a:lnTo>
                <a:lnTo>
                  <a:pt x="773487" y="1023671"/>
                </a:lnTo>
                <a:lnTo>
                  <a:pt x="781606" y="1023671"/>
                </a:lnTo>
                <a:lnTo>
                  <a:pt x="781606" y="1022219"/>
                </a:lnTo>
                <a:lnTo>
                  <a:pt x="784323" y="1022219"/>
                </a:lnTo>
                <a:lnTo>
                  <a:pt x="784323" y="1020048"/>
                </a:lnTo>
                <a:lnTo>
                  <a:pt x="787039" y="1020048"/>
                </a:lnTo>
                <a:lnTo>
                  <a:pt x="787039" y="1019314"/>
                </a:lnTo>
                <a:lnTo>
                  <a:pt x="797908" y="1019314"/>
                </a:lnTo>
                <a:lnTo>
                  <a:pt x="797908" y="1017128"/>
                </a:lnTo>
                <a:lnTo>
                  <a:pt x="814178" y="1017128"/>
                </a:lnTo>
                <a:lnTo>
                  <a:pt x="814178" y="1015692"/>
                </a:lnTo>
                <a:lnTo>
                  <a:pt x="819612" y="1015692"/>
                </a:lnTo>
                <a:lnTo>
                  <a:pt x="819612" y="1014957"/>
                </a:lnTo>
                <a:lnTo>
                  <a:pt x="822329" y="1014957"/>
                </a:lnTo>
                <a:lnTo>
                  <a:pt x="822329" y="1014223"/>
                </a:lnTo>
                <a:lnTo>
                  <a:pt x="841348" y="1014223"/>
                </a:lnTo>
                <a:lnTo>
                  <a:pt x="841348" y="1013505"/>
                </a:lnTo>
                <a:lnTo>
                  <a:pt x="852184" y="1013505"/>
                </a:lnTo>
                <a:lnTo>
                  <a:pt x="852184" y="1012771"/>
                </a:lnTo>
                <a:lnTo>
                  <a:pt x="854901" y="1012771"/>
                </a:lnTo>
                <a:lnTo>
                  <a:pt x="854901" y="1012037"/>
                </a:lnTo>
                <a:lnTo>
                  <a:pt x="857618" y="1012037"/>
                </a:lnTo>
                <a:lnTo>
                  <a:pt x="857618" y="1010584"/>
                </a:lnTo>
                <a:lnTo>
                  <a:pt x="860335" y="1010584"/>
                </a:lnTo>
                <a:lnTo>
                  <a:pt x="860335" y="1009867"/>
                </a:lnTo>
                <a:lnTo>
                  <a:pt x="865769" y="1009867"/>
                </a:lnTo>
                <a:lnTo>
                  <a:pt x="865769" y="1009148"/>
                </a:lnTo>
                <a:lnTo>
                  <a:pt x="868454" y="1009148"/>
                </a:lnTo>
                <a:lnTo>
                  <a:pt x="868454" y="1008414"/>
                </a:lnTo>
                <a:lnTo>
                  <a:pt x="873888" y="1008414"/>
                </a:lnTo>
                <a:lnTo>
                  <a:pt x="873888" y="1007696"/>
                </a:lnTo>
                <a:lnTo>
                  <a:pt x="876605" y="1007696"/>
                </a:lnTo>
                <a:lnTo>
                  <a:pt x="876605" y="1006962"/>
                </a:lnTo>
                <a:lnTo>
                  <a:pt x="879322" y="1006962"/>
                </a:lnTo>
                <a:lnTo>
                  <a:pt x="879322" y="1006228"/>
                </a:lnTo>
                <a:lnTo>
                  <a:pt x="890190" y="1006228"/>
                </a:lnTo>
                <a:lnTo>
                  <a:pt x="890190" y="1005510"/>
                </a:lnTo>
                <a:lnTo>
                  <a:pt x="898309" y="1005510"/>
                </a:lnTo>
                <a:lnTo>
                  <a:pt x="898309" y="1004776"/>
                </a:lnTo>
                <a:lnTo>
                  <a:pt x="901027" y="1004776"/>
                </a:lnTo>
                <a:lnTo>
                  <a:pt x="901027" y="1004057"/>
                </a:lnTo>
                <a:lnTo>
                  <a:pt x="909178" y="1004057"/>
                </a:lnTo>
                <a:lnTo>
                  <a:pt x="909178" y="1001871"/>
                </a:lnTo>
                <a:lnTo>
                  <a:pt x="911895" y="1001871"/>
                </a:lnTo>
                <a:lnTo>
                  <a:pt x="911895" y="1001153"/>
                </a:lnTo>
                <a:lnTo>
                  <a:pt x="920046" y="1001153"/>
                </a:lnTo>
                <a:lnTo>
                  <a:pt x="920046" y="1000419"/>
                </a:lnTo>
                <a:lnTo>
                  <a:pt x="922731" y="1000419"/>
                </a:lnTo>
                <a:lnTo>
                  <a:pt x="922731" y="999701"/>
                </a:lnTo>
                <a:lnTo>
                  <a:pt x="925480" y="999701"/>
                </a:lnTo>
                <a:lnTo>
                  <a:pt x="925480" y="998248"/>
                </a:lnTo>
                <a:lnTo>
                  <a:pt x="928165" y="998248"/>
                </a:lnTo>
                <a:lnTo>
                  <a:pt x="928165" y="996062"/>
                </a:lnTo>
                <a:lnTo>
                  <a:pt x="933599" y="996062"/>
                </a:lnTo>
                <a:lnTo>
                  <a:pt x="933599" y="995328"/>
                </a:lnTo>
                <a:lnTo>
                  <a:pt x="936316" y="995328"/>
                </a:lnTo>
                <a:lnTo>
                  <a:pt x="936316" y="994610"/>
                </a:lnTo>
                <a:lnTo>
                  <a:pt x="941750" y="994610"/>
                </a:lnTo>
                <a:lnTo>
                  <a:pt x="941750" y="993892"/>
                </a:lnTo>
                <a:lnTo>
                  <a:pt x="947184" y="993892"/>
                </a:lnTo>
                <a:lnTo>
                  <a:pt x="947184" y="993157"/>
                </a:lnTo>
                <a:lnTo>
                  <a:pt x="949869" y="993157"/>
                </a:lnTo>
                <a:lnTo>
                  <a:pt x="949869" y="992439"/>
                </a:lnTo>
                <a:lnTo>
                  <a:pt x="955303" y="992439"/>
                </a:lnTo>
                <a:lnTo>
                  <a:pt x="955303" y="991705"/>
                </a:lnTo>
                <a:lnTo>
                  <a:pt x="958020" y="991705"/>
                </a:lnTo>
                <a:lnTo>
                  <a:pt x="958020" y="990971"/>
                </a:lnTo>
                <a:lnTo>
                  <a:pt x="960737" y="990971"/>
                </a:lnTo>
                <a:lnTo>
                  <a:pt x="960737" y="990253"/>
                </a:lnTo>
                <a:lnTo>
                  <a:pt x="963454" y="990253"/>
                </a:lnTo>
                <a:lnTo>
                  <a:pt x="963454" y="989519"/>
                </a:lnTo>
                <a:lnTo>
                  <a:pt x="977039" y="989519"/>
                </a:lnTo>
                <a:lnTo>
                  <a:pt x="977039" y="988784"/>
                </a:lnTo>
                <a:lnTo>
                  <a:pt x="982473" y="988784"/>
                </a:lnTo>
                <a:lnTo>
                  <a:pt x="982473" y="988083"/>
                </a:lnTo>
                <a:lnTo>
                  <a:pt x="990592" y="988083"/>
                </a:lnTo>
                <a:lnTo>
                  <a:pt x="990592" y="986614"/>
                </a:lnTo>
                <a:lnTo>
                  <a:pt x="993309" y="986614"/>
                </a:lnTo>
                <a:lnTo>
                  <a:pt x="993309" y="985896"/>
                </a:lnTo>
                <a:lnTo>
                  <a:pt x="998743" y="985896"/>
                </a:lnTo>
                <a:lnTo>
                  <a:pt x="998743" y="985162"/>
                </a:lnTo>
                <a:lnTo>
                  <a:pt x="1006894" y="985162"/>
                </a:lnTo>
                <a:lnTo>
                  <a:pt x="1006894" y="983710"/>
                </a:lnTo>
                <a:lnTo>
                  <a:pt x="1009579" y="983710"/>
                </a:lnTo>
                <a:lnTo>
                  <a:pt x="1009579" y="982992"/>
                </a:lnTo>
                <a:lnTo>
                  <a:pt x="1012328" y="982992"/>
                </a:lnTo>
                <a:lnTo>
                  <a:pt x="1012328" y="981539"/>
                </a:lnTo>
                <a:lnTo>
                  <a:pt x="1015013" y="981539"/>
                </a:lnTo>
                <a:lnTo>
                  <a:pt x="1015013" y="980805"/>
                </a:lnTo>
                <a:lnTo>
                  <a:pt x="1023164" y="980805"/>
                </a:lnTo>
                <a:lnTo>
                  <a:pt x="1023164" y="980087"/>
                </a:lnTo>
                <a:lnTo>
                  <a:pt x="1025882" y="980087"/>
                </a:lnTo>
                <a:lnTo>
                  <a:pt x="1025882" y="979353"/>
                </a:lnTo>
                <a:lnTo>
                  <a:pt x="1031283" y="979353"/>
                </a:lnTo>
                <a:lnTo>
                  <a:pt x="1031283" y="978619"/>
                </a:lnTo>
                <a:lnTo>
                  <a:pt x="1036717" y="978619"/>
                </a:lnTo>
                <a:lnTo>
                  <a:pt x="1036717" y="977901"/>
                </a:lnTo>
                <a:lnTo>
                  <a:pt x="1039435" y="977901"/>
                </a:lnTo>
                <a:lnTo>
                  <a:pt x="1039435" y="977167"/>
                </a:lnTo>
                <a:lnTo>
                  <a:pt x="1042151" y="977167"/>
                </a:lnTo>
                <a:lnTo>
                  <a:pt x="1042151" y="976448"/>
                </a:lnTo>
                <a:lnTo>
                  <a:pt x="1044869" y="976448"/>
                </a:lnTo>
                <a:lnTo>
                  <a:pt x="1044869" y="974996"/>
                </a:lnTo>
                <a:lnTo>
                  <a:pt x="1047585" y="974996"/>
                </a:lnTo>
                <a:lnTo>
                  <a:pt x="1047585" y="972810"/>
                </a:lnTo>
                <a:lnTo>
                  <a:pt x="1050303" y="972810"/>
                </a:lnTo>
                <a:lnTo>
                  <a:pt x="1050303" y="970623"/>
                </a:lnTo>
                <a:lnTo>
                  <a:pt x="1058453" y="970623"/>
                </a:lnTo>
                <a:lnTo>
                  <a:pt x="1058453" y="969889"/>
                </a:lnTo>
                <a:lnTo>
                  <a:pt x="1061139" y="969889"/>
                </a:lnTo>
                <a:lnTo>
                  <a:pt x="1061139" y="968453"/>
                </a:lnTo>
                <a:lnTo>
                  <a:pt x="1069322" y="968453"/>
                </a:lnTo>
                <a:lnTo>
                  <a:pt x="1069322" y="966267"/>
                </a:lnTo>
                <a:lnTo>
                  <a:pt x="1074724" y="966267"/>
                </a:lnTo>
                <a:lnTo>
                  <a:pt x="1074724" y="965532"/>
                </a:lnTo>
                <a:lnTo>
                  <a:pt x="1082843" y="965532"/>
                </a:lnTo>
                <a:lnTo>
                  <a:pt x="1082843" y="964814"/>
                </a:lnTo>
                <a:lnTo>
                  <a:pt x="1093743" y="964814"/>
                </a:lnTo>
                <a:lnTo>
                  <a:pt x="1093743" y="964080"/>
                </a:lnTo>
                <a:lnTo>
                  <a:pt x="1101862" y="964080"/>
                </a:lnTo>
                <a:lnTo>
                  <a:pt x="1101862" y="963362"/>
                </a:lnTo>
                <a:lnTo>
                  <a:pt x="1110013" y="963362"/>
                </a:lnTo>
                <a:lnTo>
                  <a:pt x="1110013" y="961910"/>
                </a:lnTo>
                <a:lnTo>
                  <a:pt x="1112730" y="961910"/>
                </a:lnTo>
                <a:lnTo>
                  <a:pt x="1112730" y="961192"/>
                </a:lnTo>
                <a:lnTo>
                  <a:pt x="1115447" y="961192"/>
                </a:lnTo>
                <a:lnTo>
                  <a:pt x="1115447" y="960458"/>
                </a:lnTo>
                <a:lnTo>
                  <a:pt x="1120881" y="960458"/>
                </a:lnTo>
                <a:lnTo>
                  <a:pt x="1120881" y="959005"/>
                </a:lnTo>
                <a:lnTo>
                  <a:pt x="1126283" y="959005"/>
                </a:lnTo>
                <a:lnTo>
                  <a:pt x="1126283" y="957537"/>
                </a:lnTo>
                <a:lnTo>
                  <a:pt x="1131717" y="957537"/>
                </a:lnTo>
                <a:lnTo>
                  <a:pt x="1131717" y="956084"/>
                </a:lnTo>
                <a:lnTo>
                  <a:pt x="1137151" y="956084"/>
                </a:lnTo>
                <a:lnTo>
                  <a:pt x="1137151" y="954649"/>
                </a:lnTo>
                <a:lnTo>
                  <a:pt x="1139868" y="954649"/>
                </a:lnTo>
                <a:lnTo>
                  <a:pt x="1139868" y="953914"/>
                </a:lnTo>
                <a:lnTo>
                  <a:pt x="1142585" y="953914"/>
                </a:lnTo>
                <a:lnTo>
                  <a:pt x="1142585" y="951728"/>
                </a:lnTo>
                <a:lnTo>
                  <a:pt x="1147987" y="951728"/>
                </a:lnTo>
                <a:lnTo>
                  <a:pt x="1147987" y="950993"/>
                </a:lnTo>
                <a:lnTo>
                  <a:pt x="1156170" y="950993"/>
                </a:lnTo>
                <a:lnTo>
                  <a:pt x="1156170" y="950292"/>
                </a:lnTo>
                <a:lnTo>
                  <a:pt x="1158855" y="950292"/>
                </a:lnTo>
                <a:lnTo>
                  <a:pt x="1158855" y="949541"/>
                </a:lnTo>
                <a:lnTo>
                  <a:pt x="1161573" y="949541"/>
                </a:lnTo>
                <a:lnTo>
                  <a:pt x="1161573" y="948823"/>
                </a:lnTo>
                <a:lnTo>
                  <a:pt x="1167006" y="948823"/>
                </a:lnTo>
                <a:lnTo>
                  <a:pt x="1167006" y="948105"/>
                </a:lnTo>
                <a:lnTo>
                  <a:pt x="1172440" y="948105"/>
                </a:lnTo>
                <a:lnTo>
                  <a:pt x="1172440" y="946637"/>
                </a:lnTo>
                <a:lnTo>
                  <a:pt x="1177874" y="946637"/>
                </a:lnTo>
                <a:lnTo>
                  <a:pt x="1177874" y="945919"/>
                </a:lnTo>
                <a:lnTo>
                  <a:pt x="1180592" y="945919"/>
                </a:lnTo>
                <a:lnTo>
                  <a:pt x="1180592" y="944450"/>
                </a:lnTo>
                <a:lnTo>
                  <a:pt x="1183277" y="944450"/>
                </a:lnTo>
                <a:lnTo>
                  <a:pt x="1183277" y="943732"/>
                </a:lnTo>
                <a:lnTo>
                  <a:pt x="1186026" y="943732"/>
                </a:lnTo>
                <a:lnTo>
                  <a:pt x="1186026" y="941562"/>
                </a:lnTo>
                <a:lnTo>
                  <a:pt x="1188711" y="941562"/>
                </a:lnTo>
                <a:lnTo>
                  <a:pt x="1188711" y="940828"/>
                </a:lnTo>
                <a:lnTo>
                  <a:pt x="1194145" y="940828"/>
                </a:lnTo>
                <a:lnTo>
                  <a:pt x="1194145" y="940093"/>
                </a:lnTo>
                <a:lnTo>
                  <a:pt x="1196862" y="940093"/>
                </a:lnTo>
                <a:lnTo>
                  <a:pt x="1196862" y="938641"/>
                </a:lnTo>
                <a:lnTo>
                  <a:pt x="1199579" y="938641"/>
                </a:lnTo>
                <a:lnTo>
                  <a:pt x="1199579" y="937923"/>
                </a:lnTo>
                <a:lnTo>
                  <a:pt x="1202295" y="937923"/>
                </a:lnTo>
                <a:lnTo>
                  <a:pt x="1202295" y="936471"/>
                </a:lnTo>
                <a:lnTo>
                  <a:pt x="1210415" y="936471"/>
                </a:lnTo>
                <a:lnTo>
                  <a:pt x="1210415" y="935019"/>
                </a:lnTo>
                <a:lnTo>
                  <a:pt x="1221283" y="935019"/>
                </a:lnTo>
                <a:lnTo>
                  <a:pt x="1221283" y="934284"/>
                </a:lnTo>
                <a:lnTo>
                  <a:pt x="1232151" y="934284"/>
                </a:lnTo>
                <a:lnTo>
                  <a:pt x="1232151" y="933567"/>
                </a:lnTo>
                <a:lnTo>
                  <a:pt x="1237585" y="933567"/>
                </a:lnTo>
                <a:lnTo>
                  <a:pt x="1237585" y="932832"/>
                </a:lnTo>
                <a:lnTo>
                  <a:pt x="1245704" y="932832"/>
                </a:lnTo>
                <a:lnTo>
                  <a:pt x="1245704" y="930646"/>
                </a:lnTo>
                <a:lnTo>
                  <a:pt x="1248421" y="930646"/>
                </a:lnTo>
                <a:lnTo>
                  <a:pt x="1248421" y="929911"/>
                </a:lnTo>
                <a:lnTo>
                  <a:pt x="1251138" y="929911"/>
                </a:lnTo>
                <a:lnTo>
                  <a:pt x="1251138" y="929210"/>
                </a:lnTo>
                <a:lnTo>
                  <a:pt x="1253855" y="929210"/>
                </a:lnTo>
                <a:lnTo>
                  <a:pt x="1253855" y="928475"/>
                </a:lnTo>
                <a:lnTo>
                  <a:pt x="1256572" y="928475"/>
                </a:lnTo>
                <a:lnTo>
                  <a:pt x="1256572" y="927741"/>
                </a:lnTo>
                <a:lnTo>
                  <a:pt x="1259289" y="927741"/>
                </a:lnTo>
                <a:lnTo>
                  <a:pt x="1259289" y="926289"/>
                </a:lnTo>
                <a:lnTo>
                  <a:pt x="1261974" y="926289"/>
                </a:lnTo>
                <a:lnTo>
                  <a:pt x="1261974" y="925555"/>
                </a:lnTo>
                <a:lnTo>
                  <a:pt x="1264723" y="925555"/>
                </a:lnTo>
                <a:lnTo>
                  <a:pt x="1264723" y="924102"/>
                </a:lnTo>
                <a:lnTo>
                  <a:pt x="1267440" y="924102"/>
                </a:lnTo>
                <a:lnTo>
                  <a:pt x="1267440" y="923368"/>
                </a:lnTo>
                <a:lnTo>
                  <a:pt x="1270125" y="923368"/>
                </a:lnTo>
                <a:lnTo>
                  <a:pt x="1270125" y="921932"/>
                </a:lnTo>
                <a:lnTo>
                  <a:pt x="1275559" y="921932"/>
                </a:lnTo>
                <a:lnTo>
                  <a:pt x="1275559" y="920480"/>
                </a:lnTo>
                <a:lnTo>
                  <a:pt x="1278308" y="920480"/>
                </a:lnTo>
                <a:lnTo>
                  <a:pt x="1278308" y="919746"/>
                </a:lnTo>
                <a:lnTo>
                  <a:pt x="1280993" y="919746"/>
                </a:lnTo>
                <a:lnTo>
                  <a:pt x="1280993" y="919011"/>
                </a:lnTo>
                <a:lnTo>
                  <a:pt x="1286427" y="919011"/>
                </a:lnTo>
                <a:lnTo>
                  <a:pt x="1286427" y="918293"/>
                </a:lnTo>
                <a:lnTo>
                  <a:pt x="1291829" y="918293"/>
                </a:lnTo>
                <a:lnTo>
                  <a:pt x="1291829" y="917559"/>
                </a:lnTo>
                <a:lnTo>
                  <a:pt x="1294578" y="917559"/>
                </a:lnTo>
                <a:lnTo>
                  <a:pt x="1294578" y="916107"/>
                </a:lnTo>
                <a:lnTo>
                  <a:pt x="1299980" y="916107"/>
                </a:lnTo>
                <a:lnTo>
                  <a:pt x="1299980" y="915389"/>
                </a:lnTo>
                <a:lnTo>
                  <a:pt x="1302697" y="915389"/>
                </a:lnTo>
                <a:lnTo>
                  <a:pt x="1302697" y="913937"/>
                </a:lnTo>
                <a:lnTo>
                  <a:pt x="1305415" y="913937"/>
                </a:lnTo>
                <a:lnTo>
                  <a:pt x="1305415" y="913203"/>
                </a:lnTo>
                <a:lnTo>
                  <a:pt x="1310849" y="913203"/>
                </a:lnTo>
                <a:lnTo>
                  <a:pt x="1310849" y="912484"/>
                </a:lnTo>
                <a:lnTo>
                  <a:pt x="1321685" y="912484"/>
                </a:lnTo>
                <a:lnTo>
                  <a:pt x="1321685" y="911750"/>
                </a:lnTo>
                <a:lnTo>
                  <a:pt x="1335269" y="911750"/>
                </a:lnTo>
                <a:lnTo>
                  <a:pt x="1335269" y="911016"/>
                </a:lnTo>
                <a:lnTo>
                  <a:pt x="1337987" y="911016"/>
                </a:lnTo>
                <a:lnTo>
                  <a:pt x="1337987" y="910298"/>
                </a:lnTo>
                <a:lnTo>
                  <a:pt x="1348823" y="910298"/>
                </a:lnTo>
                <a:lnTo>
                  <a:pt x="1348823" y="908846"/>
                </a:lnTo>
                <a:lnTo>
                  <a:pt x="1354257" y="908846"/>
                </a:lnTo>
                <a:lnTo>
                  <a:pt x="1354257" y="908111"/>
                </a:lnTo>
                <a:lnTo>
                  <a:pt x="1356974" y="908111"/>
                </a:lnTo>
                <a:lnTo>
                  <a:pt x="1356974" y="907393"/>
                </a:lnTo>
                <a:lnTo>
                  <a:pt x="1365125" y="907393"/>
                </a:lnTo>
                <a:lnTo>
                  <a:pt x="1365125" y="905941"/>
                </a:lnTo>
                <a:lnTo>
                  <a:pt x="1384112" y="905941"/>
                </a:lnTo>
                <a:lnTo>
                  <a:pt x="1384112" y="904473"/>
                </a:lnTo>
                <a:lnTo>
                  <a:pt x="1411282" y="904473"/>
                </a:lnTo>
                <a:lnTo>
                  <a:pt x="1411282" y="903020"/>
                </a:lnTo>
                <a:lnTo>
                  <a:pt x="1413967" y="903020"/>
                </a:lnTo>
                <a:lnTo>
                  <a:pt x="1413967" y="902286"/>
                </a:lnTo>
                <a:lnTo>
                  <a:pt x="1419401" y="902286"/>
                </a:lnTo>
                <a:lnTo>
                  <a:pt x="1419401" y="900834"/>
                </a:lnTo>
                <a:lnTo>
                  <a:pt x="1422118" y="900834"/>
                </a:lnTo>
                <a:lnTo>
                  <a:pt x="1422118" y="899382"/>
                </a:lnTo>
                <a:lnTo>
                  <a:pt x="1427552" y="899382"/>
                </a:lnTo>
                <a:lnTo>
                  <a:pt x="1427552" y="897929"/>
                </a:lnTo>
                <a:lnTo>
                  <a:pt x="1430237" y="897929"/>
                </a:lnTo>
                <a:lnTo>
                  <a:pt x="1430237" y="895743"/>
                </a:lnTo>
                <a:lnTo>
                  <a:pt x="1435671" y="895743"/>
                </a:lnTo>
                <a:lnTo>
                  <a:pt x="1435671" y="895009"/>
                </a:lnTo>
                <a:lnTo>
                  <a:pt x="1438389" y="895009"/>
                </a:lnTo>
                <a:lnTo>
                  <a:pt x="1438389" y="892088"/>
                </a:lnTo>
                <a:lnTo>
                  <a:pt x="1441138" y="892088"/>
                </a:lnTo>
                <a:lnTo>
                  <a:pt x="1441138" y="890635"/>
                </a:lnTo>
                <a:lnTo>
                  <a:pt x="1443822" y="890635"/>
                </a:lnTo>
                <a:lnTo>
                  <a:pt x="1443822" y="889183"/>
                </a:lnTo>
                <a:lnTo>
                  <a:pt x="1454691" y="889183"/>
                </a:lnTo>
                <a:lnTo>
                  <a:pt x="1454691" y="886997"/>
                </a:lnTo>
                <a:lnTo>
                  <a:pt x="1460092" y="886997"/>
                </a:lnTo>
                <a:lnTo>
                  <a:pt x="1460092" y="886263"/>
                </a:lnTo>
                <a:lnTo>
                  <a:pt x="1462841" y="886263"/>
                </a:lnTo>
                <a:lnTo>
                  <a:pt x="1462841" y="884810"/>
                </a:lnTo>
                <a:lnTo>
                  <a:pt x="1470961" y="884810"/>
                </a:lnTo>
                <a:lnTo>
                  <a:pt x="1470961" y="884076"/>
                </a:lnTo>
                <a:lnTo>
                  <a:pt x="1487263" y="884076"/>
                </a:lnTo>
                <a:lnTo>
                  <a:pt x="1487263" y="883358"/>
                </a:lnTo>
                <a:lnTo>
                  <a:pt x="1489979" y="883358"/>
                </a:lnTo>
                <a:lnTo>
                  <a:pt x="1489979" y="882607"/>
                </a:lnTo>
                <a:lnTo>
                  <a:pt x="1500816" y="882607"/>
                </a:lnTo>
                <a:lnTo>
                  <a:pt x="1500816" y="881873"/>
                </a:lnTo>
                <a:lnTo>
                  <a:pt x="1503533" y="881873"/>
                </a:lnTo>
                <a:lnTo>
                  <a:pt x="1503533" y="881155"/>
                </a:lnTo>
                <a:lnTo>
                  <a:pt x="1508967" y="881155"/>
                </a:lnTo>
                <a:lnTo>
                  <a:pt x="1508967" y="880421"/>
                </a:lnTo>
                <a:lnTo>
                  <a:pt x="1517086" y="880421"/>
                </a:lnTo>
                <a:lnTo>
                  <a:pt x="1517086" y="879687"/>
                </a:lnTo>
                <a:lnTo>
                  <a:pt x="1522520" y="879687"/>
                </a:lnTo>
                <a:lnTo>
                  <a:pt x="1522520" y="878969"/>
                </a:lnTo>
                <a:lnTo>
                  <a:pt x="1530671" y="878969"/>
                </a:lnTo>
                <a:lnTo>
                  <a:pt x="1530671" y="878218"/>
                </a:lnTo>
                <a:lnTo>
                  <a:pt x="1536105" y="878218"/>
                </a:lnTo>
                <a:lnTo>
                  <a:pt x="1536105" y="876766"/>
                </a:lnTo>
                <a:lnTo>
                  <a:pt x="1541539" y="876766"/>
                </a:lnTo>
                <a:lnTo>
                  <a:pt x="1541539" y="876015"/>
                </a:lnTo>
                <a:lnTo>
                  <a:pt x="1544256" y="876015"/>
                </a:lnTo>
                <a:lnTo>
                  <a:pt x="1544256" y="875297"/>
                </a:lnTo>
                <a:lnTo>
                  <a:pt x="1549690" y="875297"/>
                </a:lnTo>
                <a:lnTo>
                  <a:pt x="1549690" y="874563"/>
                </a:lnTo>
                <a:lnTo>
                  <a:pt x="1552375" y="874563"/>
                </a:lnTo>
                <a:lnTo>
                  <a:pt x="1552375" y="873812"/>
                </a:lnTo>
                <a:lnTo>
                  <a:pt x="1560526" y="873812"/>
                </a:lnTo>
                <a:lnTo>
                  <a:pt x="1560526" y="873094"/>
                </a:lnTo>
                <a:lnTo>
                  <a:pt x="1571394" y="873094"/>
                </a:lnTo>
                <a:lnTo>
                  <a:pt x="1571394" y="872344"/>
                </a:lnTo>
                <a:lnTo>
                  <a:pt x="1574111" y="872344"/>
                </a:lnTo>
                <a:lnTo>
                  <a:pt x="1574111" y="871609"/>
                </a:lnTo>
                <a:lnTo>
                  <a:pt x="1582231" y="871609"/>
                </a:lnTo>
                <a:lnTo>
                  <a:pt x="1582231" y="869407"/>
                </a:lnTo>
                <a:lnTo>
                  <a:pt x="1593099" y="869407"/>
                </a:lnTo>
                <a:lnTo>
                  <a:pt x="1593099" y="868656"/>
                </a:lnTo>
                <a:lnTo>
                  <a:pt x="1598500" y="868656"/>
                </a:lnTo>
                <a:lnTo>
                  <a:pt x="1598500" y="867922"/>
                </a:lnTo>
                <a:lnTo>
                  <a:pt x="1603934" y="867922"/>
                </a:lnTo>
                <a:lnTo>
                  <a:pt x="1603934" y="867187"/>
                </a:lnTo>
                <a:lnTo>
                  <a:pt x="1606683" y="867187"/>
                </a:lnTo>
                <a:lnTo>
                  <a:pt x="1606683" y="866437"/>
                </a:lnTo>
                <a:lnTo>
                  <a:pt x="1628388" y="866437"/>
                </a:lnTo>
                <a:lnTo>
                  <a:pt x="1628388" y="865702"/>
                </a:lnTo>
                <a:lnTo>
                  <a:pt x="1633790" y="865702"/>
                </a:lnTo>
                <a:lnTo>
                  <a:pt x="1633790" y="864952"/>
                </a:lnTo>
                <a:lnTo>
                  <a:pt x="1644658" y="864952"/>
                </a:lnTo>
                <a:lnTo>
                  <a:pt x="1644658" y="864201"/>
                </a:lnTo>
                <a:lnTo>
                  <a:pt x="1650092" y="864201"/>
                </a:lnTo>
                <a:lnTo>
                  <a:pt x="1650092" y="863467"/>
                </a:lnTo>
                <a:lnTo>
                  <a:pt x="1655494" y="863467"/>
                </a:lnTo>
                <a:lnTo>
                  <a:pt x="1655494" y="862700"/>
                </a:lnTo>
                <a:lnTo>
                  <a:pt x="1663645" y="862700"/>
                </a:lnTo>
                <a:lnTo>
                  <a:pt x="1663645" y="861966"/>
                </a:lnTo>
                <a:lnTo>
                  <a:pt x="1666394" y="861966"/>
                </a:lnTo>
                <a:lnTo>
                  <a:pt x="1666394" y="861215"/>
                </a:lnTo>
                <a:lnTo>
                  <a:pt x="1669079" y="861215"/>
                </a:lnTo>
                <a:lnTo>
                  <a:pt x="1669079" y="858964"/>
                </a:lnTo>
                <a:lnTo>
                  <a:pt x="1671828" y="858964"/>
                </a:lnTo>
                <a:lnTo>
                  <a:pt x="1671828" y="858213"/>
                </a:lnTo>
                <a:lnTo>
                  <a:pt x="1685381" y="858213"/>
                </a:lnTo>
                <a:lnTo>
                  <a:pt x="1685381" y="856712"/>
                </a:lnTo>
                <a:lnTo>
                  <a:pt x="1696217" y="856712"/>
                </a:lnTo>
                <a:lnTo>
                  <a:pt x="1696217" y="855945"/>
                </a:lnTo>
                <a:lnTo>
                  <a:pt x="1701651" y="855945"/>
                </a:lnTo>
                <a:lnTo>
                  <a:pt x="1701651" y="855194"/>
                </a:lnTo>
                <a:lnTo>
                  <a:pt x="1720638" y="855194"/>
                </a:lnTo>
                <a:lnTo>
                  <a:pt x="1720638" y="854443"/>
                </a:lnTo>
                <a:lnTo>
                  <a:pt x="1723387" y="854443"/>
                </a:lnTo>
                <a:lnTo>
                  <a:pt x="1723387" y="853677"/>
                </a:lnTo>
                <a:lnTo>
                  <a:pt x="1726073" y="853677"/>
                </a:lnTo>
                <a:lnTo>
                  <a:pt x="1726073" y="851409"/>
                </a:lnTo>
                <a:lnTo>
                  <a:pt x="1728822" y="851409"/>
                </a:lnTo>
                <a:lnTo>
                  <a:pt x="1728822" y="849875"/>
                </a:lnTo>
                <a:lnTo>
                  <a:pt x="1731506" y="849875"/>
                </a:lnTo>
                <a:lnTo>
                  <a:pt x="1731506" y="849108"/>
                </a:lnTo>
                <a:lnTo>
                  <a:pt x="1734223" y="849108"/>
                </a:lnTo>
                <a:lnTo>
                  <a:pt x="1734223" y="846056"/>
                </a:lnTo>
                <a:lnTo>
                  <a:pt x="1739657" y="846056"/>
                </a:lnTo>
                <a:lnTo>
                  <a:pt x="1739657" y="843772"/>
                </a:lnTo>
                <a:lnTo>
                  <a:pt x="1742342" y="843772"/>
                </a:lnTo>
                <a:lnTo>
                  <a:pt x="1742342" y="842238"/>
                </a:lnTo>
                <a:lnTo>
                  <a:pt x="1750525" y="842238"/>
                </a:lnTo>
                <a:lnTo>
                  <a:pt x="1750525" y="839954"/>
                </a:lnTo>
                <a:lnTo>
                  <a:pt x="1753243" y="839954"/>
                </a:lnTo>
                <a:lnTo>
                  <a:pt x="1753243" y="839187"/>
                </a:lnTo>
                <a:lnTo>
                  <a:pt x="1758677" y="839187"/>
                </a:lnTo>
                <a:lnTo>
                  <a:pt x="1758677" y="838436"/>
                </a:lnTo>
                <a:lnTo>
                  <a:pt x="1769513" y="838436"/>
                </a:lnTo>
                <a:lnTo>
                  <a:pt x="1769513" y="837653"/>
                </a:lnTo>
                <a:lnTo>
                  <a:pt x="1774947" y="837653"/>
                </a:lnTo>
                <a:lnTo>
                  <a:pt x="1774947" y="836886"/>
                </a:lnTo>
                <a:lnTo>
                  <a:pt x="1777632" y="836886"/>
                </a:lnTo>
                <a:lnTo>
                  <a:pt x="1777632" y="835336"/>
                </a:lnTo>
                <a:lnTo>
                  <a:pt x="1780381" y="835336"/>
                </a:lnTo>
                <a:lnTo>
                  <a:pt x="1780381" y="834585"/>
                </a:lnTo>
                <a:lnTo>
                  <a:pt x="1785783" y="834585"/>
                </a:lnTo>
                <a:lnTo>
                  <a:pt x="1785783" y="833802"/>
                </a:lnTo>
                <a:lnTo>
                  <a:pt x="1788500" y="833802"/>
                </a:lnTo>
                <a:lnTo>
                  <a:pt x="1788500" y="833035"/>
                </a:lnTo>
                <a:lnTo>
                  <a:pt x="1791217" y="833035"/>
                </a:lnTo>
                <a:lnTo>
                  <a:pt x="1791217" y="831501"/>
                </a:lnTo>
                <a:lnTo>
                  <a:pt x="1796651" y="831501"/>
                </a:lnTo>
                <a:lnTo>
                  <a:pt x="1796651" y="830718"/>
                </a:lnTo>
                <a:lnTo>
                  <a:pt x="1799368" y="830718"/>
                </a:lnTo>
                <a:lnTo>
                  <a:pt x="1799368" y="829951"/>
                </a:lnTo>
                <a:lnTo>
                  <a:pt x="1807487" y="829951"/>
                </a:lnTo>
                <a:lnTo>
                  <a:pt x="1807487" y="827618"/>
                </a:lnTo>
                <a:lnTo>
                  <a:pt x="1812921" y="827618"/>
                </a:lnTo>
                <a:lnTo>
                  <a:pt x="1812921" y="826068"/>
                </a:lnTo>
                <a:lnTo>
                  <a:pt x="1815638" y="826068"/>
                </a:lnTo>
                <a:lnTo>
                  <a:pt x="1815638" y="825301"/>
                </a:lnTo>
                <a:lnTo>
                  <a:pt x="1818355" y="825301"/>
                </a:lnTo>
                <a:lnTo>
                  <a:pt x="1818355" y="824518"/>
                </a:lnTo>
                <a:lnTo>
                  <a:pt x="1821072" y="824518"/>
                </a:lnTo>
                <a:lnTo>
                  <a:pt x="1821072" y="823751"/>
                </a:lnTo>
                <a:lnTo>
                  <a:pt x="1826506" y="823751"/>
                </a:lnTo>
                <a:lnTo>
                  <a:pt x="1826506" y="822200"/>
                </a:lnTo>
                <a:lnTo>
                  <a:pt x="1829191" y="822200"/>
                </a:lnTo>
                <a:lnTo>
                  <a:pt x="1829191" y="821417"/>
                </a:lnTo>
                <a:lnTo>
                  <a:pt x="1831940" y="821417"/>
                </a:lnTo>
                <a:lnTo>
                  <a:pt x="1831940" y="820634"/>
                </a:lnTo>
                <a:lnTo>
                  <a:pt x="1840091" y="820634"/>
                </a:lnTo>
                <a:lnTo>
                  <a:pt x="1840091" y="819084"/>
                </a:lnTo>
                <a:lnTo>
                  <a:pt x="1842777" y="819084"/>
                </a:lnTo>
                <a:lnTo>
                  <a:pt x="1842777" y="818301"/>
                </a:lnTo>
                <a:lnTo>
                  <a:pt x="1848210" y="818301"/>
                </a:lnTo>
                <a:lnTo>
                  <a:pt x="1848210" y="817517"/>
                </a:lnTo>
                <a:lnTo>
                  <a:pt x="1850927" y="817517"/>
                </a:lnTo>
                <a:lnTo>
                  <a:pt x="1850927" y="816734"/>
                </a:lnTo>
                <a:lnTo>
                  <a:pt x="1861795" y="816734"/>
                </a:lnTo>
                <a:lnTo>
                  <a:pt x="1861795" y="815951"/>
                </a:lnTo>
                <a:lnTo>
                  <a:pt x="1864480" y="815951"/>
                </a:lnTo>
                <a:lnTo>
                  <a:pt x="1864480" y="815168"/>
                </a:lnTo>
                <a:lnTo>
                  <a:pt x="1867229" y="815168"/>
                </a:lnTo>
                <a:lnTo>
                  <a:pt x="1867229" y="814385"/>
                </a:lnTo>
                <a:lnTo>
                  <a:pt x="1869915" y="814385"/>
                </a:lnTo>
                <a:lnTo>
                  <a:pt x="1869915" y="813601"/>
                </a:lnTo>
                <a:lnTo>
                  <a:pt x="1883499" y="813601"/>
                </a:lnTo>
                <a:lnTo>
                  <a:pt x="1883499" y="812818"/>
                </a:lnTo>
                <a:lnTo>
                  <a:pt x="1886217" y="812818"/>
                </a:lnTo>
                <a:lnTo>
                  <a:pt x="1886217" y="811252"/>
                </a:lnTo>
                <a:lnTo>
                  <a:pt x="1894336" y="811252"/>
                </a:lnTo>
                <a:lnTo>
                  <a:pt x="1894336" y="810468"/>
                </a:lnTo>
                <a:lnTo>
                  <a:pt x="1897085" y="810468"/>
                </a:lnTo>
                <a:lnTo>
                  <a:pt x="1897085" y="809685"/>
                </a:lnTo>
                <a:lnTo>
                  <a:pt x="1902487" y="809685"/>
                </a:lnTo>
                <a:lnTo>
                  <a:pt x="1902487" y="808886"/>
                </a:lnTo>
                <a:lnTo>
                  <a:pt x="1905204" y="808886"/>
                </a:lnTo>
                <a:lnTo>
                  <a:pt x="1905204" y="808102"/>
                </a:lnTo>
                <a:lnTo>
                  <a:pt x="1910606" y="808102"/>
                </a:lnTo>
                <a:lnTo>
                  <a:pt x="1910606" y="806519"/>
                </a:lnTo>
                <a:lnTo>
                  <a:pt x="1913355" y="806519"/>
                </a:lnTo>
                <a:lnTo>
                  <a:pt x="1913355" y="805736"/>
                </a:lnTo>
                <a:lnTo>
                  <a:pt x="1921506" y="805736"/>
                </a:lnTo>
                <a:lnTo>
                  <a:pt x="1921506" y="804937"/>
                </a:lnTo>
                <a:lnTo>
                  <a:pt x="1929625" y="804937"/>
                </a:lnTo>
                <a:lnTo>
                  <a:pt x="1929625" y="804137"/>
                </a:lnTo>
                <a:lnTo>
                  <a:pt x="1935059" y="804137"/>
                </a:lnTo>
                <a:lnTo>
                  <a:pt x="1935059" y="803354"/>
                </a:lnTo>
                <a:lnTo>
                  <a:pt x="1945895" y="803354"/>
                </a:lnTo>
                <a:lnTo>
                  <a:pt x="1945895" y="802554"/>
                </a:lnTo>
                <a:lnTo>
                  <a:pt x="1964914" y="802554"/>
                </a:lnTo>
                <a:lnTo>
                  <a:pt x="1964914" y="800139"/>
                </a:lnTo>
                <a:lnTo>
                  <a:pt x="1967631" y="800139"/>
                </a:lnTo>
                <a:lnTo>
                  <a:pt x="1967631" y="798524"/>
                </a:lnTo>
                <a:lnTo>
                  <a:pt x="1970348" y="798524"/>
                </a:lnTo>
                <a:lnTo>
                  <a:pt x="1970348" y="796109"/>
                </a:lnTo>
                <a:lnTo>
                  <a:pt x="1973065" y="796109"/>
                </a:lnTo>
                <a:lnTo>
                  <a:pt x="1973065" y="795309"/>
                </a:lnTo>
                <a:lnTo>
                  <a:pt x="1978499" y="795309"/>
                </a:lnTo>
                <a:lnTo>
                  <a:pt x="1978499" y="794494"/>
                </a:lnTo>
                <a:lnTo>
                  <a:pt x="1983933" y="794494"/>
                </a:lnTo>
                <a:lnTo>
                  <a:pt x="1983933" y="793694"/>
                </a:lnTo>
                <a:lnTo>
                  <a:pt x="1997454" y="793694"/>
                </a:lnTo>
                <a:lnTo>
                  <a:pt x="1997454" y="792878"/>
                </a:lnTo>
                <a:lnTo>
                  <a:pt x="2000203" y="792878"/>
                </a:lnTo>
                <a:lnTo>
                  <a:pt x="2000203" y="792062"/>
                </a:lnTo>
                <a:lnTo>
                  <a:pt x="2005606" y="792062"/>
                </a:lnTo>
                <a:lnTo>
                  <a:pt x="2005606" y="791247"/>
                </a:lnTo>
                <a:lnTo>
                  <a:pt x="2008322" y="791247"/>
                </a:lnTo>
                <a:lnTo>
                  <a:pt x="2008322" y="788815"/>
                </a:lnTo>
                <a:lnTo>
                  <a:pt x="2030059" y="788815"/>
                </a:lnTo>
                <a:lnTo>
                  <a:pt x="2030059" y="787183"/>
                </a:lnTo>
                <a:lnTo>
                  <a:pt x="2035493" y="787183"/>
                </a:lnTo>
                <a:lnTo>
                  <a:pt x="2035493" y="785535"/>
                </a:lnTo>
                <a:lnTo>
                  <a:pt x="2040895" y="785535"/>
                </a:lnTo>
                <a:lnTo>
                  <a:pt x="2040895" y="784719"/>
                </a:lnTo>
                <a:lnTo>
                  <a:pt x="2043612" y="784719"/>
                </a:lnTo>
                <a:lnTo>
                  <a:pt x="2043612" y="783887"/>
                </a:lnTo>
                <a:lnTo>
                  <a:pt x="2057197" y="783887"/>
                </a:lnTo>
                <a:lnTo>
                  <a:pt x="2057197" y="783071"/>
                </a:lnTo>
                <a:lnTo>
                  <a:pt x="2059914" y="783071"/>
                </a:lnTo>
                <a:lnTo>
                  <a:pt x="2059914" y="781407"/>
                </a:lnTo>
                <a:lnTo>
                  <a:pt x="2062599" y="781407"/>
                </a:lnTo>
                <a:lnTo>
                  <a:pt x="2062599" y="780575"/>
                </a:lnTo>
                <a:lnTo>
                  <a:pt x="2068033" y="780575"/>
                </a:lnTo>
                <a:lnTo>
                  <a:pt x="2068033" y="779743"/>
                </a:lnTo>
                <a:lnTo>
                  <a:pt x="2073467" y="779743"/>
                </a:lnTo>
                <a:lnTo>
                  <a:pt x="2073467" y="778910"/>
                </a:lnTo>
                <a:lnTo>
                  <a:pt x="2076184" y="778910"/>
                </a:lnTo>
                <a:lnTo>
                  <a:pt x="2076184" y="778078"/>
                </a:lnTo>
                <a:lnTo>
                  <a:pt x="2084303" y="778078"/>
                </a:lnTo>
                <a:lnTo>
                  <a:pt x="2084303" y="776414"/>
                </a:lnTo>
                <a:lnTo>
                  <a:pt x="2089737" y="776414"/>
                </a:lnTo>
                <a:lnTo>
                  <a:pt x="2089737" y="773917"/>
                </a:lnTo>
                <a:lnTo>
                  <a:pt x="2100637" y="773917"/>
                </a:lnTo>
                <a:lnTo>
                  <a:pt x="2100637" y="773069"/>
                </a:lnTo>
                <a:lnTo>
                  <a:pt x="2103322" y="773069"/>
                </a:lnTo>
                <a:lnTo>
                  <a:pt x="2103322" y="772237"/>
                </a:lnTo>
                <a:lnTo>
                  <a:pt x="2106039" y="772237"/>
                </a:lnTo>
                <a:lnTo>
                  <a:pt x="2106039" y="771388"/>
                </a:lnTo>
                <a:lnTo>
                  <a:pt x="2114158" y="771388"/>
                </a:lnTo>
                <a:lnTo>
                  <a:pt x="2114158" y="769708"/>
                </a:lnTo>
                <a:lnTo>
                  <a:pt x="2127743" y="769708"/>
                </a:lnTo>
                <a:lnTo>
                  <a:pt x="2127743" y="768010"/>
                </a:lnTo>
                <a:lnTo>
                  <a:pt x="2130461" y="768010"/>
                </a:lnTo>
                <a:lnTo>
                  <a:pt x="2130461" y="767178"/>
                </a:lnTo>
                <a:lnTo>
                  <a:pt x="2138611" y="767178"/>
                </a:lnTo>
                <a:lnTo>
                  <a:pt x="2138611" y="766313"/>
                </a:lnTo>
                <a:lnTo>
                  <a:pt x="2141329" y="766313"/>
                </a:lnTo>
                <a:lnTo>
                  <a:pt x="2141329" y="765465"/>
                </a:lnTo>
                <a:lnTo>
                  <a:pt x="2152197" y="765465"/>
                </a:lnTo>
                <a:lnTo>
                  <a:pt x="2152197" y="763768"/>
                </a:lnTo>
                <a:lnTo>
                  <a:pt x="2163032" y="763768"/>
                </a:lnTo>
                <a:lnTo>
                  <a:pt x="2163032" y="762903"/>
                </a:lnTo>
                <a:lnTo>
                  <a:pt x="2165750" y="762903"/>
                </a:lnTo>
                <a:lnTo>
                  <a:pt x="2165750" y="762055"/>
                </a:lnTo>
                <a:lnTo>
                  <a:pt x="2168467" y="762055"/>
                </a:lnTo>
                <a:lnTo>
                  <a:pt x="2168467" y="761190"/>
                </a:lnTo>
                <a:lnTo>
                  <a:pt x="2171151" y="761190"/>
                </a:lnTo>
                <a:lnTo>
                  <a:pt x="2171151" y="760325"/>
                </a:lnTo>
                <a:lnTo>
                  <a:pt x="2176586" y="760325"/>
                </a:lnTo>
                <a:lnTo>
                  <a:pt x="2176586" y="759460"/>
                </a:lnTo>
                <a:lnTo>
                  <a:pt x="2179335" y="759460"/>
                </a:lnTo>
                <a:lnTo>
                  <a:pt x="2179335" y="757747"/>
                </a:lnTo>
                <a:lnTo>
                  <a:pt x="2184737" y="757747"/>
                </a:lnTo>
                <a:lnTo>
                  <a:pt x="2184737" y="755152"/>
                </a:lnTo>
                <a:lnTo>
                  <a:pt x="2192888" y="755152"/>
                </a:lnTo>
                <a:lnTo>
                  <a:pt x="2192888" y="753407"/>
                </a:lnTo>
                <a:lnTo>
                  <a:pt x="2209190" y="753407"/>
                </a:lnTo>
                <a:lnTo>
                  <a:pt x="2209190" y="751660"/>
                </a:lnTo>
                <a:lnTo>
                  <a:pt x="2211875" y="751660"/>
                </a:lnTo>
                <a:lnTo>
                  <a:pt x="2211875" y="750796"/>
                </a:lnTo>
                <a:lnTo>
                  <a:pt x="2217309" y="750796"/>
                </a:lnTo>
                <a:lnTo>
                  <a:pt x="2217309" y="748168"/>
                </a:lnTo>
                <a:lnTo>
                  <a:pt x="2220026" y="748168"/>
                </a:lnTo>
                <a:lnTo>
                  <a:pt x="2220026" y="747288"/>
                </a:lnTo>
                <a:lnTo>
                  <a:pt x="2222743" y="747288"/>
                </a:lnTo>
                <a:lnTo>
                  <a:pt x="2222743" y="746423"/>
                </a:lnTo>
                <a:lnTo>
                  <a:pt x="2225460" y="746423"/>
                </a:lnTo>
                <a:lnTo>
                  <a:pt x="2225460" y="745541"/>
                </a:lnTo>
                <a:lnTo>
                  <a:pt x="2228177" y="745541"/>
                </a:lnTo>
                <a:lnTo>
                  <a:pt x="2228177" y="742898"/>
                </a:lnTo>
                <a:lnTo>
                  <a:pt x="2233611" y="742898"/>
                </a:lnTo>
                <a:lnTo>
                  <a:pt x="2233611" y="741152"/>
                </a:lnTo>
                <a:lnTo>
                  <a:pt x="2239045" y="741152"/>
                </a:lnTo>
                <a:lnTo>
                  <a:pt x="2239045" y="740271"/>
                </a:lnTo>
                <a:lnTo>
                  <a:pt x="2247165" y="740271"/>
                </a:lnTo>
                <a:lnTo>
                  <a:pt x="2247165" y="739374"/>
                </a:lnTo>
                <a:lnTo>
                  <a:pt x="2255315" y="739374"/>
                </a:lnTo>
                <a:lnTo>
                  <a:pt x="2255315" y="738492"/>
                </a:lnTo>
                <a:lnTo>
                  <a:pt x="2258000" y="738492"/>
                </a:lnTo>
                <a:lnTo>
                  <a:pt x="2258000" y="737595"/>
                </a:lnTo>
                <a:lnTo>
                  <a:pt x="2260749" y="737595"/>
                </a:lnTo>
                <a:lnTo>
                  <a:pt x="2260749" y="735816"/>
                </a:lnTo>
                <a:lnTo>
                  <a:pt x="2268868" y="735816"/>
                </a:lnTo>
                <a:lnTo>
                  <a:pt x="2268868" y="734919"/>
                </a:lnTo>
                <a:lnTo>
                  <a:pt x="2274334" y="734919"/>
                </a:lnTo>
                <a:lnTo>
                  <a:pt x="2274334" y="734038"/>
                </a:lnTo>
                <a:lnTo>
                  <a:pt x="2277019" y="734038"/>
                </a:lnTo>
                <a:lnTo>
                  <a:pt x="2277019" y="733140"/>
                </a:lnTo>
                <a:lnTo>
                  <a:pt x="2285171" y="733140"/>
                </a:lnTo>
                <a:lnTo>
                  <a:pt x="2285171" y="732243"/>
                </a:lnTo>
                <a:lnTo>
                  <a:pt x="2296039" y="732243"/>
                </a:lnTo>
                <a:lnTo>
                  <a:pt x="2296039" y="731329"/>
                </a:lnTo>
                <a:lnTo>
                  <a:pt x="2301441" y="731329"/>
                </a:lnTo>
                <a:lnTo>
                  <a:pt x="2301441" y="729518"/>
                </a:lnTo>
                <a:lnTo>
                  <a:pt x="2304158" y="729518"/>
                </a:lnTo>
                <a:lnTo>
                  <a:pt x="2304158" y="728604"/>
                </a:lnTo>
                <a:lnTo>
                  <a:pt x="2306874" y="728604"/>
                </a:lnTo>
                <a:lnTo>
                  <a:pt x="2306874" y="727707"/>
                </a:lnTo>
                <a:lnTo>
                  <a:pt x="2309560" y="727707"/>
                </a:lnTo>
                <a:lnTo>
                  <a:pt x="2309560" y="725879"/>
                </a:lnTo>
                <a:lnTo>
                  <a:pt x="2315026" y="725879"/>
                </a:lnTo>
                <a:lnTo>
                  <a:pt x="2315026" y="724051"/>
                </a:lnTo>
                <a:lnTo>
                  <a:pt x="2317743" y="724051"/>
                </a:lnTo>
                <a:lnTo>
                  <a:pt x="2317743" y="723138"/>
                </a:lnTo>
                <a:lnTo>
                  <a:pt x="2331296" y="723138"/>
                </a:lnTo>
                <a:lnTo>
                  <a:pt x="2331296" y="722208"/>
                </a:lnTo>
                <a:lnTo>
                  <a:pt x="2336730" y="722208"/>
                </a:lnTo>
                <a:lnTo>
                  <a:pt x="2336730" y="721294"/>
                </a:lnTo>
                <a:lnTo>
                  <a:pt x="2342164" y="721294"/>
                </a:lnTo>
                <a:lnTo>
                  <a:pt x="2342164" y="720380"/>
                </a:lnTo>
                <a:lnTo>
                  <a:pt x="2347598" y="720380"/>
                </a:lnTo>
                <a:lnTo>
                  <a:pt x="2347598" y="718520"/>
                </a:lnTo>
                <a:lnTo>
                  <a:pt x="2353000" y="718520"/>
                </a:lnTo>
                <a:lnTo>
                  <a:pt x="2353000" y="717606"/>
                </a:lnTo>
                <a:lnTo>
                  <a:pt x="2355717" y="717606"/>
                </a:lnTo>
                <a:lnTo>
                  <a:pt x="2355717" y="715746"/>
                </a:lnTo>
                <a:lnTo>
                  <a:pt x="2358434" y="715746"/>
                </a:lnTo>
                <a:lnTo>
                  <a:pt x="2358434" y="714816"/>
                </a:lnTo>
                <a:lnTo>
                  <a:pt x="2377453" y="714816"/>
                </a:lnTo>
                <a:lnTo>
                  <a:pt x="2377453" y="713886"/>
                </a:lnTo>
                <a:lnTo>
                  <a:pt x="2380138" y="713886"/>
                </a:lnTo>
                <a:lnTo>
                  <a:pt x="2380138" y="712956"/>
                </a:lnTo>
                <a:lnTo>
                  <a:pt x="2382855" y="712956"/>
                </a:lnTo>
                <a:lnTo>
                  <a:pt x="2382855" y="712009"/>
                </a:lnTo>
                <a:lnTo>
                  <a:pt x="2385572" y="712009"/>
                </a:lnTo>
                <a:lnTo>
                  <a:pt x="2385572" y="711063"/>
                </a:lnTo>
                <a:lnTo>
                  <a:pt x="2391007" y="711063"/>
                </a:lnTo>
                <a:lnTo>
                  <a:pt x="2391007" y="709186"/>
                </a:lnTo>
                <a:lnTo>
                  <a:pt x="2401874" y="709186"/>
                </a:lnTo>
                <a:lnTo>
                  <a:pt x="2401874" y="708240"/>
                </a:lnTo>
                <a:lnTo>
                  <a:pt x="2415427" y="708240"/>
                </a:lnTo>
                <a:lnTo>
                  <a:pt x="2415427" y="707294"/>
                </a:lnTo>
                <a:lnTo>
                  <a:pt x="2418145" y="707294"/>
                </a:lnTo>
                <a:lnTo>
                  <a:pt x="2418145" y="705384"/>
                </a:lnTo>
                <a:lnTo>
                  <a:pt x="2423578" y="705384"/>
                </a:lnTo>
                <a:lnTo>
                  <a:pt x="2423578" y="703459"/>
                </a:lnTo>
                <a:lnTo>
                  <a:pt x="2426264" y="703459"/>
                </a:lnTo>
                <a:lnTo>
                  <a:pt x="2426264" y="702496"/>
                </a:lnTo>
                <a:lnTo>
                  <a:pt x="2434447" y="702496"/>
                </a:lnTo>
                <a:lnTo>
                  <a:pt x="2434447" y="701550"/>
                </a:lnTo>
                <a:lnTo>
                  <a:pt x="2453434" y="701550"/>
                </a:lnTo>
                <a:lnTo>
                  <a:pt x="2453434" y="700571"/>
                </a:lnTo>
                <a:lnTo>
                  <a:pt x="2458868" y="700571"/>
                </a:lnTo>
                <a:lnTo>
                  <a:pt x="2458868" y="699592"/>
                </a:lnTo>
                <a:lnTo>
                  <a:pt x="2461553" y="699592"/>
                </a:lnTo>
                <a:lnTo>
                  <a:pt x="2461553" y="697617"/>
                </a:lnTo>
                <a:lnTo>
                  <a:pt x="2464302" y="697617"/>
                </a:lnTo>
                <a:lnTo>
                  <a:pt x="2464302" y="696638"/>
                </a:lnTo>
                <a:lnTo>
                  <a:pt x="2469704" y="696638"/>
                </a:lnTo>
                <a:lnTo>
                  <a:pt x="2469704" y="694680"/>
                </a:lnTo>
                <a:lnTo>
                  <a:pt x="2483257" y="694680"/>
                </a:lnTo>
                <a:lnTo>
                  <a:pt x="2483257" y="693685"/>
                </a:lnTo>
                <a:lnTo>
                  <a:pt x="2491408" y="693685"/>
                </a:lnTo>
                <a:lnTo>
                  <a:pt x="2491408" y="692690"/>
                </a:lnTo>
                <a:lnTo>
                  <a:pt x="2499559" y="692690"/>
                </a:lnTo>
                <a:lnTo>
                  <a:pt x="2499559" y="691694"/>
                </a:lnTo>
                <a:lnTo>
                  <a:pt x="2502276" y="691694"/>
                </a:lnTo>
                <a:lnTo>
                  <a:pt x="2502276" y="690682"/>
                </a:lnTo>
                <a:lnTo>
                  <a:pt x="2510427" y="690682"/>
                </a:lnTo>
                <a:lnTo>
                  <a:pt x="2510427" y="689671"/>
                </a:lnTo>
                <a:lnTo>
                  <a:pt x="2513112" y="689671"/>
                </a:lnTo>
                <a:lnTo>
                  <a:pt x="2513112" y="688659"/>
                </a:lnTo>
                <a:lnTo>
                  <a:pt x="2518546" y="688659"/>
                </a:lnTo>
                <a:lnTo>
                  <a:pt x="2518546" y="687648"/>
                </a:lnTo>
                <a:lnTo>
                  <a:pt x="2521263" y="687648"/>
                </a:lnTo>
                <a:lnTo>
                  <a:pt x="2521263" y="685624"/>
                </a:lnTo>
                <a:lnTo>
                  <a:pt x="2526697" y="685624"/>
                </a:lnTo>
                <a:lnTo>
                  <a:pt x="2526697" y="684613"/>
                </a:lnTo>
                <a:lnTo>
                  <a:pt x="2529414" y="684613"/>
                </a:lnTo>
                <a:lnTo>
                  <a:pt x="2529414" y="683601"/>
                </a:lnTo>
                <a:lnTo>
                  <a:pt x="2537565" y="683601"/>
                </a:lnTo>
                <a:lnTo>
                  <a:pt x="2537565" y="682573"/>
                </a:lnTo>
                <a:lnTo>
                  <a:pt x="2561987" y="682573"/>
                </a:lnTo>
                <a:lnTo>
                  <a:pt x="2561987" y="681529"/>
                </a:lnTo>
                <a:lnTo>
                  <a:pt x="2567420" y="681529"/>
                </a:lnTo>
                <a:lnTo>
                  <a:pt x="2567420" y="680484"/>
                </a:lnTo>
                <a:lnTo>
                  <a:pt x="2570106" y="680484"/>
                </a:lnTo>
                <a:lnTo>
                  <a:pt x="2570106" y="678412"/>
                </a:lnTo>
                <a:lnTo>
                  <a:pt x="2572855" y="678412"/>
                </a:lnTo>
                <a:lnTo>
                  <a:pt x="2572855" y="677368"/>
                </a:lnTo>
                <a:lnTo>
                  <a:pt x="2594558" y="677368"/>
                </a:lnTo>
                <a:lnTo>
                  <a:pt x="2594558" y="676323"/>
                </a:lnTo>
                <a:lnTo>
                  <a:pt x="2597276" y="676323"/>
                </a:lnTo>
                <a:lnTo>
                  <a:pt x="2597276" y="675263"/>
                </a:lnTo>
                <a:lnTo>
                  <a:pt x="2599961" y="675263"/>
                </a:lnTo>
                <a:lnTo>
                  <a:pt x="2599961" y="672081"/>
                </a:lnTo>
                <a:lnTo>
                  <a:pt x="2608144" y="672081"/>
                </a:lnTo>
                <a:lnTo>
                  <a:pt x="2608144" y="669943"/>
                </a:lnTo>
                <a:lnTo>
                  <a:pt x="2610829" y="669943"/>
                </a:lnTo>
                <a:lnTo>
                  <a:pt x="2610829" y="667806"/>
                </a:lnTo>
                <a:lnTo>
                  <a:pt x="2627131" y="667806"/>
                </a:lnTo>
                <a:lnTo>
                  <a:pt x="2627131" y="666729"/>
                </a:lnTo>
                <a:lnTo>
                  <a:pt x="2629848" y="666729"/>
                </a:lnTo>
                <a:lnTo>
                  <a:pt x="2629848" y="665652"/>
                </a:lnTo>
                <a:lnTo>
                  <a:pt x="2632565" y="665652"/>
                </a:lnTo>
                <a:lnTo>
                  <a:pt x="2632565" y="664575"/>
                </a:lnTo>
                <a:lnTo>
                  <a:pt x="2654269" y="664575"/>
                </a:lnTo>
                <a:lnTo>
                  <a:pt x="2654269" y="663482"/>
                </a:lnTo>
                <a:lnTo>
                  <a:pt x="2659703" y="663482"/>
                </a:lnTo>
                <a:lnTo>
                  <a:pt x="2659703" y="661295"/>
                </a:lnTo>
                <a:lnTo>
                  <a:pt x="2662388" y="661295"/>
                </a:lnTo>
                <a:lnTo>
                  <a:pt x="2662388" y="660202"/>
                </a:lnTo>
                <a:lnTo>
                  <a:pt x="2675973" y="660202"/>
                </a:lnTo>
                <a:lnTo>
                  <a:pt x="2675973" y="659108"/>
                </a:lnTo>
                <a:lnTo>
                  <a:pt x="2681407" y="659108"/>
                </a:lnTo>
                <a:lnTo>
                  <a:pt x="2681407" y="657999"/>
                </a:lnTo>
                <a:lnTo>
                  <a:pt x="2689559" y="657999"/>
                </a:lnTo>
                <a:lnTo>
                  <a:pt x="2689559" y="656889"/>
                </a:lnTo>
                <a:lnTo>
                  <a:pt x="2694992" y="656889"/>
                </a:lnTo>
                <a:lnTo>
                  <a:pt x="2694992" y="655780"/>
                </a:lnTo>
                <a:lnTo>
                  <a:pt x="2708546" y="655780"/>
                </a:lnTo>
                <a:lnTo>
                  <a:pt x="2708546" y="652418"/>
                </a:lnTo>
                <a:lnTo>
                  <a:pt x="2711262" y="652418"/>
                </a:lnTo>
                <a:lnTo>
                  <a:pt x="2711262" y="651292"/>
                </a:lnTo>
                <a:lnTo>
                  <a:pt x="2724848" y="651292"/>
                </a:lnTo>
                <a:lnTo>
                  <a:pt x="2724848" y="650166"/>
                </a:lnTo>
                <a:lnTo>
                  <a:pt x="2738369" y="650166"/>
                </a:lnTo>
                <a:lnTo>
                  <a:pt x="2738369" y="649024"/>
                </a:lnTo>
                <a:lnTo>
                  <a:pt x="2741118" y="649024"/>
                </a:lnTo>
                <a:lnTo>
                  <a:pt x="2741118" y="647882"/>
                </a:lnTo>
                <a:lnTo>
                  <a:pt x="2743803" y="647882"/>
                </a:lnTo>
                <a:lnTo>
                  <a:pt x="2743803" y="646723"/>
                </a:lnTo>
                <a:lnTo>
                  <a:pt x="2746552" y="646723"/>
                </a:lnTo>
                <a:lnTo>
                  <a:pt x="2746552" y="644439"/>
                </a:lnTo>
                <a:lnTo>
                  <a:pt x="2754703" y="644439"/>
                </a:lnTo>
                <a:lnTo>
                  <a:pt x="2754703" y="643281"/>
                </a:lnTo>
                <a:lnTo>
                  <a:pt x="2760105" y="643281"/>
                </a:lnTo>
                <a:lnTo>
                  <a:pt x="2760105" y="642122"/>
                </a:lnTo>
                <a:lnTo>
                  <a:pt x="2776407" y="642122"/>
                </a:lnTo>
                <a:lnTo>
                  <a:pt x="2776407" y="640947"/>
                </a:lnTo>
                <a:lnTo>
                  <a:pt x="2787243" y="640947"/>
                </a:lnTo>
                <a:lnTo>
                  <a:pt x="2787243" y="639772"/>
                </a:lnTo>
                <a:lnTo>
                  <a:pt x="2800828" y="639772"/>
                </a:lnTo>
                <a:lnTo>
                  <a:pt x="2800828" y="638597"/>
                </a:lnTo>
                <a:lnTo>
                  <a:pt x="2814381" y="638597"/>
                </a:lnTo>
                <a:lnTo>
                  <a:pt x="2814381" y="637406"/>
                </a:lnTo>
                <a:lnTo>
                  <a:pt x="2817098" y="637406"/>
                </a:lnTo>
                <a:lnTo>
                  <a:pt x="2817098" y="636199"/>
                </a:lnTo>
                <a:lnTo>
                  <a:pt x="2825217" y="636199"/>
                </a:lnTo>
                <a:lnTo>
                  <a:pt x="2825217" y="634991"/>
                </a:lnTo>
                <a:lnTo>
                  <a:pt x="2836085" y="634991"/>
                </a:lnTo>
                <a:lnTo>
                  <a:pt x="2836085" y="633784"/>
                </a:lnTo>
                <a:lnTo>
                  <a:pt x="2841552" y="633784"/>
                </a:lnTo>
                <a:lnTo>
                  <a:pt x="2841552" y="632577"/>
                </a:lnTo>
                <a:lnTo>
                  <a:pt x="2852388" y="632577"/>
                </a:lnTo>
                <a:lnTo>
                  <a:pt x="2852388" y="631353"/>
                </a:lnTo>
                <a:lnTo>
                  <a:pt x="2868658" y="631353"/>
                </a:lnTo>
                <a:lnTo>
                  <a:pt x="2868658" y="630129"/>
                </a:lnTo>
                <a:lnTo>
                  <a:pt x="2871375" y="630129"/>
                </a:lnTo>
                <a:lnTo>
                  <a:pt x="2871375" y="628889"/>
                </a:lnTo>
                <a:lnTo>
                  <a:pt x="2876777" y="628889"/>
                </a:lnTo>
                <a:lnTo>
                  <a:pt x="2876777" y="627665"/>
                </a:lnTo>
                <a:lnTo>
                  <a:pt x="2882242" y="627665"/>
                </a:lnTo>
                <a:lnTo>
                  <a:pt x="2882242" y="626425"/>
                </a:lnTo>
                <a:lnTo>
                  <a:pt x="2887677" y="626425"/>
                </a:lnTo>
                <a:lnTo>
                  <a:pt x="2887677" y="625185"/>
                </a:lnTo>
                <a:lnTo>
                  <a:pt x="2898513" y="625185"/>
                </a:lnTo>
                <a:lnTo>
                  <a:pt x="2898513" y="623945"/>
                </a:lnTo>
                <a:lnTo>
                  <a:pt x="2909381" y="623945"/>
                </a:lnTo>
                <a:lnTo>
                  <a:pt x="2909381" y="622688"/>
                </a:lnTo>
                <a:lnTo>
                  <a:pt x="2914815" y="622688"/>
                </a:lnTo>
                <a:lnTo>
                  <a:pt x="2914815" y="621415"/>
                </a:lnTo>
                <a:lnTo>
                  <a:pt x="2933802" y="621415"/>
                </a:lnTo>
                <a:lnTo>
                  <a:pt x="2933802" y="620143"/>
                </a:lnTo>
                <a:lnTo>
                  <a:pt x="2947356" y="620143"/>
                </a:lnTo>
                <a:lnTo>
                  <a:pt x="2947356" y="617564"/>
                </a:lnTo>
                <a:lnTo>
                  <a:pt x="2950104" y="617564"/>
                </a:lnTo>
                <a:lnTo>
                  <a:pt x="2950104" y="616275"/>
                </a:lnTo>
                <a:lnTo>
                  <a:pt x="2955506" y="616275"/>
                </a:lnTo>
                <a:lnTo>
                  <a:pt x="2955506" y="614970"/>
                </a:lnTo>
                <a:lnTo>
                  <a:pt x="2958223" y="614970"/>
                </a:lnTo>
                <a:lnTo>
                  <a:pt x="2958223" y="613664"/>
                </a:lnTo>
                <a:lnTo>
                  <a:pt x="2969091" y="613664"/>
                </a:lnTo>
                <a:lnTo>
                  <a:pt x="2969091" y="612343"/>
                </a:lnTo>
                <a:lnTo>
                  <a:pt x="2979959" y="612343"/>
                </a:lnTo>
                <a:lnTo>
                  <a:pt x="2979959" y="611037"/>
                </a:lnTo>
                <a:lnTo>
                  <a:pt x="2982644" y="611037"/>
                </a:lnTo>
                <a:lnTo>
                  <a:pt x="2982644" y="609716"/>
                </a:lnTo>
                <a:lnTo>
                  <a:pt x="2998915" y="609716"/>
                </a:lnTo>
                <a:lnTo>
                  <a:pt x="2998915" y="607056"/>
                </a:lnTo>
                <a:lnTo>
                  <a:pt x="3004349" y="607056"/>
                </a:lnTo>
                <a:lnTo>
                  <a:pt x="3004349" y="605718"/>
                </a:lnTo>
                <a:lnTo>
                  <a:pt x="3015217" y="605718"/>
                </a:lnTo>
                <a:lnTo>
                  <a:pt x="3015217" y="604380"/>
                </a:lnTo>
                <a:lnTo>
                  <a:pt x="3023368" y="604380"/>
                </a:lnTo>
                <a:lnTo>
                  <a:pt x="3023368" y="603026"/>
                </a:lnTo>
                <a:lnTo>
                  <a:pt x="3039638" y="603026"/>
                </a:lnTo>
                <a:lnTo>
                  <a:pt x="3039638" y="601671"/>
                </a:lnTo>
                <a:lnTo>
                  <a:pt x="3088512" y="601671"/>
                </a:lnTo>
                <a:lnTo>
                  <a:pt x="3088512" y="600268"/>
                </a:lnTo>
                <a:lnTo>
                  <a:pt x="3091198" y="600268"/>
                </a:lnTo>
                <a:lnTo>
                  <a:pt x="3091198" y="598848"/>
                </a:lnTo>
                <a:lnTo>
                  <a:pt x="3096631" y="598848"/>
                </a:lnTo>
                <a:lnTo>
                  <a:pt x="3096631" y="597445"/>
                </a:lnTo>
                <a:lnTo>
                  <a:pt x="3118367" y="597445"/>
                </a:lnTo>
                <a:lnTo>
                  <a:pt x="3118367" y="594590"/>
                </a:lnTo>
                <a:lnTo>
                  <a:pt x="3123801" y="594590"/>
                </a:lnTo>
                <a:lnTo>
                  <a:pt x="3123801" y="593153"/>
                </a:lnTo>
                <a:lnTo>
                  <a:pt x="3126486" y="593153"/>
                </a:lnTo>
                <a:lnTo>
                  <a:pt x="3126486" y="591718"/>
                </a:lnTo>
                <a:lnTo>
                  <a:pt x="3148223" y="591718"/>
                </a:lnTo>
                <a:lnTo>
                  <a:pt x="3148223" y="590249"/>
                </a:lnTo>
                <a:lnTo>
                  <a:pt x="3169927" y="590249"/>
                </a:lnTo>
                <a:lnTo>
                  <a:pt x="3169927" y="584358"/>
                </a:lnTo>
                <a:lnTo>
                  <a:pt x="3180763" y="584358"/>
                </a:lnTo>
                <a:lnTo>
                  <a:pt x="3180763" y="582857"/>
                </a:lnTo>
                <a:lnTo>
                  <a:pt x="3197065" y="582857"/>
                </a:lnTo>
                <a:lnTo>
                  <a:pt x="3197065" y="579855"/>
                </a:lnTo>
                <a:lnTo>
                  <a:pt x="3199782" y="579855"/>
                </a:lnTo>
                <a:lnTo>
                  <a:pt x="3199782" y="578354"/>
                </a:lnTo>
                <a:lnTo>
                  <a:pt x="3207901" y="578354"/>
                </a:lnTo>
                <a:lnTo>
                  <a:pt x="3207901" y="576836"/>
                </a:lnTo>
                <a:lnTo>
                  <a:pt x="3210618" y="576836"/>
                </a:lnTo>
                <a:lnTo>
                  <a:pt x="3210618" y="575335"/>
                </a:lnTo>
                <a:lnTo>
                  <a:pt x="3216052" y="575335"/>
                </a:lnTo>
                <a:lnTo>
                  <a:pt x="3216052" y="573801"/>
                </a:lnTo>
                <a:lnTo>
                  <a:pt x="3226921" y="573801"/>
                </a:lnTo>
                <a:lnTo>
                  <a:pt x="3226921" y="572267"/>
                </a:lnTo>
                <a:lnTo>
                  <a:pt x="3232322" y="572267"/>
                </a:lnTo>
                <a:lnTo>
                  <a:pt x="3232322" y="570750"/>
                </a:lnTo>
                <a:lnTo>
                  <a:pt x="3251342" y="570750"/>
                </a:lnTo>
                <a:lnTo>
                  <a:pt x="3251342" y="567633"/>
                </a:lnTo>
                <a:lnTo>
                  <a:pt x="3256775" y="567633"/>
                </a:lnTo>
                <a:lnTo>
                  <a:pt x="3256775" y="566067"/>
                </a:lnTo>
                <a:lnTo>
                  <a:pt x="3262209" y="566067"/>
                </a:lnTo>
                <a:lnTo>
                  <a:pt x="3262209" y="562917"/>
                </a:lnTo>
                <a:lnTo>
                  <a:pt x="3267611" y="562917"/>
                </a:lnTo>
                <a:lnTo>
                  <a:pt x="3267611" y="559752"/>
                </a:lnTo>
                <a:lnTo>
                  <a:pt x="3270328" y="559752"/>
                </a:lnTo>
                <a:lnTo>
                  <a:pt x="3270328" y="558186"/>
                </a:lnTo>
                <a:lnTo>
                  <a:pt x="3273046" y="558186"/>
                </a:lnTo>
                <a:lnTo>
                  <a:pt x="3273046" y="556586"/>
                </a:lnTo>
                <a:lnTo>
                  <a:pt x="3278480" y="556586"/>
                </a:lnTo>
                <a:lnTo>
                  <a:pt x="3278480" y="555004"/>
                </a:lnTo>
                <a:lnTo>
                  <a:pt x="3289316" y="555004"/>
                </a:lnTo>
                <a:lnTo>
                  <a:pt x="3289316" y="553388"/>
                </a:lnTo>
                <a:lnTo>
                  <a:pt x="3294749" y="553388"/>
                </a:lnTo>
                <a:lnTo>
                  <a:pt x="3294749" y="551773"/>
                </a:lnTo>
                <a:lnTo>
                  <a:pt x="3300184" y="551773"/>
                </a:lnTo>
                <a:lnTo>
                  <a:pt x="3300184" y="550174"/>
                </a:lnTo>
                <a:lnTo>
                  <a:pt x="3302901" y="550174"/>
                </a:lnTo>
                <a:lnTo>
                  <a:pt x="3302901" y="548558"/>
                </a:lnTo>
                <a:lnTo>
                  <a:pt x="3308335" y="548558"/>
                </a:lnTo>
                <a:lnTo>
                  <a:pt x="3308335" y="546927"/>
                </a:lnTo>
                <a:lnTo>
                  <a:pt x="3316454" y="546927"/>
                </a:lnTo>
                <a:lnTo>
                  <a:pt x="3316454" y="545311"/>
                </a:lnTo>
                <a:lnTo>
                  <a:pt x="3343624" y="545311"/>
                </a:lnTo>
                <a:lnTo>
                  <a:pt x="3343624" y="543647"/>
                </a:lnTo>
                <a:lnTo>
                  <a:pt x="3346309" y="543647"/>
                </a:lnTo>
                <a:lnTo>
                  <a:pt x="3346309" y="538686"/>
                </a:lnTo>
                <a:lnTo>
                  <a:pt x="3351743" y="538686"/>
                </a:lnTo>
                <a:lnTo>
                  <a:pt x="3351743" y="537022"/>
                </a:lnTo>
                <a:lnTo>
                  <a:pt x="3359894" y="537022"/>
                </a:lnTo>
                <a:lnTo>
                  <a:pt x="3359894" y="535341"/>
                </a:lnTo>
                <a:lnTo>
                  <a:pt x="3368045" y="535341"/>
                </a:lnTo>
                <a:lnTo>
                  <a:pt x="3368045" y="533660"/>
                </a:lnTo>
                <a:lnTo>
                  <a:pt x="3373479" y="533660"/>
                </a:lnTo>
                <a:lnTo>
                  <a:pt x="3373479" y="531963"/>
                </a:lnTo>
                <a:lnTo>
                  <a:pt x="3381598" y="531963"/>
                </a:lnTo>
                <a:lnTo>
                  <a:pt x="3381598" y="530267"/>
                </a:lnTo>
                <a:lnTo>
                  <a:pt x="3395184" y="530267"/>
                </a:lnTo>
                <a:lnTo>
                  <a:pt x="3395184" y="528553"/>
                </a:lnTo>
                <a:lnTo>
                  <a:pt x="3397869" y="528553"/>
                </a:lnTo>
                <a:lnTo>
                  <a:pt x="3397869" y="526824"/>
                </a:lnTo>
                <a:lnTo>
                  <a:pt x="3408769" y="526824"/>
                </a:lnTo>
                <a:lnTo>
                  <a:pt x="3408769" y="525094"/>
                </a:lnTo>
                <a:lnTo>
                  <a:pt x="3422322" y="525094"/>
                </a:lnTo>
                <a:lnTo>
                  <a:pt x="3422322" y="523348"/>
                </a:lnTo>
                <a:lnTo>
                  <a:pt x="3438591" y="523348"/>
                </a:lnTo>
                <a:lnTo>
                  <a:pt x="3438591" y="519807"/>
                </a:lnTo>
                <a:lnTo>
                  <a:pt x="3460328" y="519807"/>
                </a:lnTo>
                <a:lnTo>
                  <a:pt x="3460328" y="517996"/>
                </a:lnTo>
                <a:lnTo>
                  <a:pt x="3471164" y="517996"/>
                </a:lnTo>
                <a:lnTo>
                  <a:pt x="3471164" y="516152"/>
                </a:lnTo>
                <a:lnTo>
                  <a:pt x="3487434" y="516152"/>
                </a:lnTo>
                <a:lnTo>
                  <a:pt x="3487434" y="514308"/>
                </a:lnTo>
                <a:lnTo>
                  <a:pt x="3495617" y="514308"/>
                </a:lnTo>
                <a:lnTo>
                  <a:pt x="3495617" y="512448"/>
                </a:lnTo>
                <a:lnTo>
                  <a:pt x="3506453" y="512448"/>
                </a:lnTo>
                <a:lnTo>
                  <a:pt x="3506453" y="510555"/>
                </a:lnTo>
                <a:lnTo>
                  <a:pt x="3514572" y="510555"/>
                </a:lnTo>
                <a:lnTo>
                  <a:pt x="3514572" y="508679"/>
                </a:lnTo>
                <a:lnTo>
                  <a:pt x="3520006" y="508679"/>
                </a:lnTo>
                <a:lnTo>
                  <a:pt x="3520006" y="506770"/>
                </a:lnTo>
                <a:lnTo>
                  <a:pt x="3522724" y="506770"/>
                </a:lnTo>
                <a:lnTo>
                  <a:pt x="3522724" y="504860"/>
                </a:lnTo>
                <a:lnTo>
                  <a:pt x="3536308" y="504860"/>
                </a:lnTo>
                <a:lnTo>
                  <a:pt x="3536308" y="502935"/>
                </a:lnTo>
                <a:lnTo>
                  <a:pt x="3544427" y="502935"/>
                </a:lnTo>
                <a:lnTo>
                  <a:pt x="3544427" y="500993"/>
                </a:lnTo>
                <a:lnTo>
                  <a:pt x="3566132" y="500993"/>
                </a:lnTo>
                <a:lnTo>
                  <a:pt x="3566132" y="499002"/>
                </a:lnTo>
                <a:lnTo>
                  <a:pt x="3571566" y="499002"/>
                </a:lnTo>
                <a:lnTo>
                  <a:pt x="3571566" y="496995"/>
                </a:lnTo>
                <a:lnTo>
                  <a:pt x="3579717" y="496995"/>
                </a:lnTo>
                <a:lnTo>
                  <a:pt x="3579717" y="494972"/>
                </a:lnTo>
                <a:lnTo>
                  <a:pt x="3585150" y="494972"/>
                </a:lnTo>
                <a:lnTo>
                  <a:pt x="3585150" y="492916"/>
                </a:lnTo>
                <a:lnTo>
                  <a:pt x="3596019" y="492916"/>
                </a:lnTo>
                <a:lnTo>
                  <a:pt x="3596019" y="490844"/>
                </a:lnTo>
                <a:lnTo>
                  <a:pt x="3598736" y="490844"/>
                </a:lnTo>
                <a:lnTo>
                  <a:pt x="3598736" y="488739"/>
                </a:lnTo>
                <a:lnTo>
                  <a:pt x="3612289" y="488739"/>
                </a:lnTo>
                <a:lnTo>
                  <a:pt x="3612289" y="486618"/>
                </a:lnTo>
                <a:lnTo>
                  <a:pt x="3631276" y="486618"/>
                </a:lnTo>
                <a:lnTo>
                  <a:pt x="3631276" y="484447"/>
                </a:lnTo>
                <a:lnTo>
                  <a:pt x="3634025" y="484447"/>
                </a:lnTo>
                <a:lnTo>
                  <a:pt x="3634025" y="482277"/>
                </a:lnTo>
                <a:lnTo>
                  <a:pt x="3636711" y="482277"/>
                </a:lnTo>
                <a:lnTo>
                  <a:pt x="3636711" y="480091"/>
                </a:lnTo>
                <a:lnTo>
                  <a:pt x="3639460" y="480091"/>
                </a:lnTo>
                <a:lnTo>
                  <a:pt x="3639460" y="477904"/>
                </a:lnTo>
                <a:lnTo>
                  <a:pt x="3650295" y="477904"/>
                </a:lnTo>
                <a:lnTo>
                  <a:pt x="3650295" y="475718"/>
                </a:lnTo>
                <a:lnTo>
                  <a:pt x="3671999" y="475718"/>
                </a:lnTo>
                <a:lnTo>
                  <a:pt x="3671999" y="473466"/>
                </a:lnTo>
                <a:lnTo>
                  <a:pt x="3680150" y="473466"/>
                </a:lnTo>
                <a:lnTo>
                  <a:pt x="3680150" y="471181"/>
                </a:lnTo>
                <a:lnTo>
                  <a:pt x="3701854" y="471181"/>
                </a:lnTo>
                <a:lnTo>
                  <a:pt x="3701854" y="468848"/>
                </a:lnTo>
                <a:lnTo>
                  <a:pt x="3707289" y="468848"/>
                </a:lnTo>
                <a:lnTo>
                  <a:pt x="3707289" y="466498"/>
                </a:lnTo>
                <a:lnTo>
                  <a:pt x="3791389" y="466498"/>
                </a:lnTo>
                <a:lnTo>
                  <a:pt x="3791389" y="463822"/>
                </a:lnTo>
                <a:lnTo>
                  <a:pt x="3804973" y="463822"/>
                </a:lnTo>
                <a:lnTo>
                  <a:pt x="3804973" y="461097"/>
                </a:lnTo>
                <a:lnTo>
                  <a:pt x="3807722" y="461097"/>
                </a:lnTo>
                <a:lnTo>
                  <a:pt x="3807722" y="458356"/>
                </a:lnTo>
                <a:lnTo>
                  <a:pt x="3813124" y="458356"/>
                </a:lnTo>
                <a:lnTo>
                  <a:pt x="3813124" y="455598"/>
                </a:lnTo>
                <a:lnTo>
                  <a:pt x="3834829" y="455598"/>
                </a:lnTo>
                <a:lnTo>
                  <a:pt x="3834829" y="452759"/>
                </a:lnTo>
                <a:lnTo>
                  <a:pt x="3864684" y="452759"/>
                </a:lnTo>
                <a:lnTo>
                  <a:pt x="3864684" y="449806"/>
                </a:lnTo>
                <a:lnTo>
                  <a:pt x="3880986" y="449806"/>
                </a:lnTo>
                <a:lnTo>
                  <a:pt x="3880986" y="446787"/>
                </a:lnTo>
                <a:lnTo>
                  <a:pt x="3889137" y="446787"/>
                </a:lnTo>
                <a:lnTo>
                  <a:pt x="3889137" y="443736"/>
                </a:lnTo>
                <a:lnTo>
                  <a:pt x="3916244" y="443736"/>
                </a:lnTo>
                <a:lnTo>
                  <a:pt x="3916244" y="440521"/>
                </a:lnTo>
                <a:lnTo>
                  <a:pt x="3929828" y="440521"/>
                </a:lnTo>
                <a:lnTo>
                  <a:pt x="3929828" y="437225"/>
                </a:lnTo>
                <a:lnTo>
                  <a:pt x="3937947" y="437225"/>
                </a:lnTo>
                <a:lnTo>
                  <a:pt x="3937947" y="433863"/>
                </a:lnTo>
                <a:lnTo>
                  <a:pt x="3948815" y="433863"/>
                </a:lnTo>
                <a:lnTo>
                  <a:pt x="3948815" y="430437"/>
                </a:lnTo>
                <a:lnTo>
                  <a:pt x="3959651" y="430437"/>
                </a:lnTo>
                <a:lnTo>
                  <a:pt x="3959651" y="426978"/>
                </a:lnTo>
                <a:lnTo>
                  <a:pt x="3965086" y="426978"/>
                </a:lnTo>
              </a:path>
            </a:pathLst>
          </a:custGeom>
          <a:noFill/>
          <a:ln w="20003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66" name="cv_legend_finerenone">
            <a:extLst>
              <a:ext uri="{FF2B5EF4-FFF2-40B4-BE49-F238E27FC236}">
                <a16:creationId xmlns:a16="http://schemas.microsoft.com/office/drawing/2014/main" id="{46E5EBF7-3263-4ED4-80FF-E867E389834F}"/>
              </a:ext>
            </a:extLst>
          </p:cNvPr>
          <p:cNvSpPr>
            <a:spLocks noGrp="1"/>
          </p:cNvSpPr>
          <p:nvPr/>
        </p:nvSpPr>
        <p:spPr>
          <a:xfrm>
            <a:off x="1809750" y="2739424"/>
            <a:ext cx="228600" cy="95"/>
          </a:xfrm>
          <a:prstGeom prst="line">
            <a:avLst/>
          </a:prstGeom>
          <a:noFill/>
          <a:ln w="21908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67" name="cv_legend_finerenone_label">
            <a:extLst>
              <a:ext uri="{FF2B5EF4-FFF2-40B4-BE49-F238E27FC236}">
                <a16:creationId xmlns:a16="http://schemas.microsoft.com/office/drawing/2014/main" id="{DA9AFFD2-1F17-4EF2-8ADD-F64E0531FCDC}"/>
              </a:ext>
            </a:extLst>
          </p:cNvPr>
          <p:cNvSpPr>
            <a:spLocks noGrp="1"/>
          </p:cNvSpPr>
          <p:nvPr/>
        </p:nvSpPr>
        <p:spPr>
          <a:xfrm>
            <a:off x="2105025" y="2613721"/>
            <a:ext cx="1228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68" name="cv_legend_placebo">
            <a:extLst>
              <a:ext uri="{FF2B5EF4-FFF2-40B4-BE49-F238E27FC236}">
                <a16:creationId xmlns:a16="http://schemas.microsoft.com/office/drawing/2014/main" id="{99D9DCAA-69F3-47CE-9CF7-59B41776A841}"/>
              </a:ext>
            </a:extLst>
          </p:cNvPr>
          <p:cNvSpPr>
            <a:spLocks noGrp="1"/>
          </p:cNvSpPr>
          <p:nvPr/>
        </p:nvSpPr>
        <p:spPr>
          <a:xfrm>
            <a:off x="3581400" y="2739424"/>
            <a:ext cx="228600" cy="95"/>
          </a:xfrm>
          <a:prstGeom prst="line">
            <a:avLst/>
          </a:prstGeom>
          <a:noFill/>
          <a:ln w="21908">
            <a:solidFill>
              <a:srgbClr val="7F7F7F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69" name="cv_legend_placebo_label">
            <a:extLst>
              <a:ext uri="{FF2B5EF4-FFF2-40B4-BE49-F238E27FC236}">
                <a16:creationId xmlns:a16="http://schemas.microsoft.com/office/drawing/2014/main" id="{04956019-A245-401C-8F10-51942A68D631}"/>
              </a:ext>
            </a:extLst>
          </p:cNvPr>
          <p:cNvSpPr>
            <a:spLocks noGrp="1"/>
          </p:cNvSpPr>
          <p:nvPr/>
        </p:nvSpPr>
        <p:spPr>
          <a:xfrm>
            <a:off x="3876675" y="2613721"/>
            <a:ext cx="1057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70" name="cv_x_axis_title">
            <a:extLst>
              <a:ext uri="{FF2B5EF4-FFF2-40B4-BE49-F238E27FC236}">
                <a16:creationId xmlns:a16="http://schemas.microsoft.com/office/drawing/2014/main" id="{3EB2407F-5181-40D5-9A5C-C0E59B89B214}"/>
              </a:ext>
            </a:extLst>
          </p:cNvPr>
          <p:cNvSpPr>
            <a:spLocks noGrp="1"/>
          </p:cNvSpPr>
          <p:nvPr/>
        </p:nvSpPr>
        <p:spPr>
          <a:xfrm>
            <a:off x="1771650" y="4690868"/>
            <a:ext cx="3962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Месяцы после рандомизации</a:t>
            </a:r>
          </a:p>
        </p:txBody>
      </p:sp>
      <p:sp>
        <p:nvSpPr>
          <p:cNvPr id="75" name="cv_event_fractions">
            <a:extLst>
              <a:ext uri="{FF2B5EF4-FFF2-40B4-BE49-F238E27FC236}">
                <a16:creationId xmlns:a16="http://schemas.microsoft.com/office/drawing/2014/main" id="{168BC4AA-0A2F-45B9-8F22-8787BDBC6585}"/>
              </a:ext>
            </a:extLst>
          </p:cNvPr>
          <p:cNvSpPr>
            <a:spLocks noGrp="1"/>
          </p:cNvSpPr>
          <p:nvPr/>
        </p:nvSpPr>
        <p:spPr>
          <a:xfrm>
            <a:off x="457200" y="5057775"/>
            <a:ext cx="5524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Доля с событием за всё исследование: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</a:t>
            </a: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 12,7%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, </a:t>
            </a: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 14,4%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.</a:t>
            </a:r>
          </a:p>
        </p:txBody>
      </p:sp>
      <p:sp>
        <p:nvSpPr>
          <p:cNvPr id="76" name="cv_hazard_ratio">
            <a:extLst>
              <a:ext uri="{FF2B5EF4-FFF2-40B4-BE49-F238E27FC236}">
                <a16:creationId xmlns:a16="http://schemas.microsoft.com/office/drawing/2014/main" id="{52124178-3DA0-4FC0-9E59-7760B978ABD0}"/>
              </a:ext>
            </a:extLst>
          </p:cNvPr>
          <p:cNvSpPr>
            <a:spLocks noGrp="1"/>
          </p:cNvSpPr>
          <p:nvPr/>
        </p:nvSpPr>
        <p:spPr>
          <a:xfrm>
            <a:off x="457200" y="5276850"/>
            <a:ext cx="5524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Отношение рисков 0,86 (95% ДИ 0,78–0,95), p=0,0018.</a:t>
            </a:r>
          </a:p>
        </p:txBody>
      </p:sp>
      <p:sp>
        <p:nvSpPr>
          <p:cNvPr id="77" name="cv_nnt">
            <a:extLst>
              <a:ext uri="{FF2B5EF4-FFF2-40B4-BE49-F238E27FC236}">
                <a16:creationId xmlns:a16="http://schemas.microsoft.com/office/drawing/2014/main" id="{85C5D3CA-C4AC-4E68-A5DC-C86E7835FF0A}"/>
              </a:ext>
            </a:extLst>
          </p:cNvPr>
          <p:cNvSpPr>
            <a:spLocks noGrp="1"/>
          </p:cNvSpPr>
          <p:nvPr/>
        </p:nvSpPr>
        <p:spPr>
          <a:xfrm>
            <a:off x="457200" y="5505450"/>
            <a:ext cx="552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Чтобы предотвратить 1 событие за 3 года,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нужно лечить 46 пациентов (95% ДИ 29–109).</a:t>
            </a:r>
          </a:p>
        </p:txBody>
      </p:sp>
      <p:sp>
        <p:nvSpPr>
          <p:cNvPr id="78" name="renal_heading">
            <a:extLst>
              <a:ext uri="{FF2B5EF4-FFF2-40B4-BE49-F238E27FC236}">
                <a16:creationId xmlns:a16="http://schemas.microsoft.com/office/drawing/2014/main" id="{689CEAD6-7766-44EB-A47E-AF844E60B13D}"/>
              </a:ext>
            </a:extLst>
          </p:cNvPr>
          <p:cNvSpPr>
            <a:spLocks noGrp="1"/>
          </p:cNvSpPr>
          <p:nvPr/>
        </p:nvSpPr>
        <p:spPr>
          <a:xfrm>
            <a:off x="6324600" y="1133475"/>
            <a:ext cx="55245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Комбинированный почечный исход</a:t>
            </a:r>
          </a:p>
        </p:txBody>
      </p:sp>
      <p:sp>
        <p:nvSpPr>
          <p:cNvPr id="79" name="renal_definition">
            <a:extLst>
              <a:ext uri="{FF2B5EF4-FFF2-40B4-BE49-F238E27FC236}">
                <a16:creationId xmlns:a16="http://schemas.microsoft.com/office/drawing/2014/main" id="{8DB20603-31CC-4888-A878-A50E11311423}"/>
              </a:ext>
            </a:extLst>
          </p:cNvPr>
          <p:cNvSpPr>
            <a:spLocks noGrp="1"/>
          </p:cNvSpPr>
          <p:nvPr/>
        </p:nvSpPr>
        <p:spPr>
          <a:xfrm>
            <a:off x="6324600" y="1447800"/>
            <a:ext cx="55245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Почечная недостаточность, снижение рСКФ на </a:t>
            </a: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≥57%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сохраняющееся не менее 4 недель,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или смерть от почечных причин.</a:t>
            </a:r>
          </a:p>
        </p:txBody>
      </p:sp>
      <p:sp>
        <p:nvSpPr>
          <p:cNvPr id="80" name="renal_y_axis_title">
            <a:extLst>
              <a:ext uri="{FF2B5EF4-FFF2-40B4-BE49-F238E27FC236}">
                <a16:creationId xmlns:a16="http://schemas.microsoft.com/office/drawing/2014/main" id="{AE3D6B77-70FF-4DDC-9F18-473DD93286EB}"/>
              </a:ext>
            </a:extLst>
          </p:cNvPr>
          <p:cNvSpPr>
            <a:spLocks noGrp="1"/>
          </p:cNvSpPr>
          <p:nvPr/>
        </p:nvSpPr>
        <p:spPr>
          <a:xfrm>
            <a:off x="6324600" y="2148390"/>
            <a:ext cx="4095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Накопленная частота событий, %</a:t>
            </a:r>
          </a:p>
        </p:txBody>
      </p:sp>
      <p:sp>
        <p:nvSpPr>
          <p:cNvPr id="81" name="renal_tick_y_0">
            <a:extLst>
              <a:ext uri="{FF2B5EF4-FFF2-40B4-BE49-F238E27FC236}">
                <a16:creationId xmlns:a16="http://schemas.microsoft.com/office/drawing/2014/main" id="{21E1A23D-B039-4E39-B1D7-2E96DA6ADCDC}"/>
              </a:ext>
            </a:extLst>
          </p:cNvPr>
          <p:cNvSpPr>
            <a:spLocks noGrp="1"/>
          </p:cNvSpPr>
          <p:nvPr/>
        </p:nvSpPr>
        <p:spPr>
          <a:xfrm>
            <a:off x="7591425" y="4222536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2" name="renal_y_0">
            <a:extLst>
              <a:ext uri="{FF2B5EF4-FFF2-40B4-BE49-F238E27FC236}">
                <a16:creationId xmlns:a16="http://schemas.microsoft.com/office/drawing/2014/main" id="{BC796A6A-A586-4D56-A59C-8A3866E40EBB}"/>
              </a:ext>
            </a:extLst>
          </p:cNvPr>
          <p:cNvSpPr>
            <a:spLocks noGrp="1"/>
          </p:cNvSpPr>
          <p:nvPr/>
        </p:nvSpPr>
        <p:spPr>
          <a:xfrm>
            <a:off x="7239000" y="4110076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83" name="renal_grid_5">
            <a:extLst>
              <a:ext uri="{FF2B5EF4-FFF2-40B4-BE49-F238E27FC236}">
                <a16:creationId xmlns:a16="http://schemas.microsoft.com/office/drawing/2014/main" id="{77DDEB32-F49E-4A79-9CA3-D83A76219699}"/>
              </a:ext>
            </a:extLst>
          </p:cNvPr>
          <p:cNvSpPr>
            <a:spLocks noGrp="1"/>
          </p:cNvSpPr>
          <p:nvPr/>
        </p:nvSpPr>
        <p:spPr>
          <a:xfrm>
            <a:off x="7639050" y="3894132"/>
            <a:ext cx="3962400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4" name="renal_tick_y_5">
            <a:extLst>
              <a:ext uri="{FF2B5EF4-FFF2-40B4-BE49-F238E27FC236}">
                <a16:creationId xmlns:a16="http://schemas.microsoft.com/office/drawing/2014/main" id="{147F9920-804B-49E7-836C-3A676ED26BAB}"/>
              </a:ext>
            </a:extLst>
          </p:cNvPr>
          <p:cNvSpPr>
            <a:spLocks noGrp="1"/>
          </p:cNvSpPr>
          <p:nvPr/>
        </p:nvSpPr>
        <p:spPr>
          <a:xfrm>
            <a:off x="7591425" y="3894132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5" name="renal_y_5">
            <a:extLst>
              <a:ext uri="{FF2B5EF4-FFF2-40B4-BE49-F238E27FC236}">
                <a16:creationId xmlns:a16="http://schemas.microsoft.com/office/drawing/2014/main" id="{29BEFC5E-E9F0-44FF-A8DD-EBE45C6FC823}"/>
              </a:ext>
            </a:extLst>
          </p:cNvPr>
          <p:cNvSpPr>
            <a:spLocks noGrp="1"/>
          </p:cNvSpPr>
          <p:nvPr/>
        </p:nvSpPr>
        <p:spPr>
          <a:xfrm>
            <a:off x="7239000" y="3781672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</a:t>
            </a:r>
          </a:p>
        </p:txBody>
      </p:sp>
      <p:sp>
        <p:nvSpPr>
          <p:cNvPr id="86" name="renal_grid_10">
            <a:extLst>
              <a:ext uri="{FF2B5EF4-FFF2-40B4-BE49-F238E27FC236}">
                <a16:creationId xmlns:a16="http://schemas.microsoft.com/office/drawing/2014/main" id="{5AC08EA0-F316-4563-AC4A-C0B05FD7C69A}"/>
              </a:ext>
            </a:extLst>
          </p:cNvPr>
          <p:cNvSpPr>
            <a:spLocks noGrp="1"/>
          </p:cNvSpPr>
          <p:nvPr/>
        </p:nvSpPr>
        <p:spPr>
          <a:xfrm>
            <a:off x="7639050" y="3565729"/>
            <a:ext cx="3962400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7" name="renal_tick_y_10">
            <a:extLst>
              <a:ext uri="{FF2B5EF4-FFF2-40B4-BE49-F238E27FC236}">
                <a16:creationId xmlns:a16="http://schemas.microsoft.com/office/drawing/2014/main" id="{1236F5DE-917E-40C9-86AE-C1040D16992C}"/>
              </a:ext>
            </a:extLst>
          </p:cNvPr>
          <p:cNvSpPr>
            <a:spLocks noGrp="1"/>
          </p:cNvSpPr>
          <p:nvPr/>
        </p:nvSpPr>
        <p:spPr>
          <a:xfrm>
            <a:off x="7591425" y="3565729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8" name="renal_y_10">
            <a:extLst>
              <a:ext uri="{FF2B5EF4-FFF2-40B4-BE49-F238E27FC236}">
                <a16:creationId xmlns:a16="http://schemas.microsoft.com/office/drawing/2014/main" id="{DBC09E46-FD43-4B3A-BD3C-FC60E34F7C1F}"/>
              </a:ext>
            </a:extLst>
          </p:cNvPr>
          <p:cNvSpPr>
            <a:spLocks noGrp="1"/>
          </p:cNvSpPr>
          <p:nvPr/>
        </p:nvSpPr>
        <p:spPr>
          <a:xfrm>
            <a:off x="7239000" y="3453269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10</a:t>
            </a:r>
          </a:p>
        </p:txBody>
      </p:sp>
      <p:sp>
        <p:nvSpPr>
          <p:cNvPr id="89" name="renal_grid_15">
            <a:extLst>
              <a:ext uri="{FF2B5EF4-FFF2-40B4-BE49-F238E27FC236}">
                <a16:creationId xmlns:a16="http://schemas.microsoft.com/office/drawing/2014/main" id="{7D357061-2864-4E8A-963E-8A5C731FE6F2}"/>
              </a:ext>
            </a:extLst>
          </p:cNvPr>
          <p:cNvSpPr>
            <a:spLocks noGrp="1"/>
          </p:cNvSpPr>
          <p:nvPr/>
        </p:nvSpPr>
        <p:spPr>
          <a:xfrm>
            <a:off x="7639050" y="3237325"/>
            <a:ext cx="3962400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0" name="renal_tick_y_15">
            <a:extLst>
              <a:ext uri="{FF2B5EF4-FFF2-40B4-BE49-F238E27FC236}">
                <a16:creationId xmlns:a16="http://schemas.microsoft.com/office/drawing/2014/main" id="{8DC43521-E98E-4A40-BB7C-221ED8A2B125}"/>
              </a:ext>
            </a:extLst>
          </p:cNvPr>
          <p:cNvSpPr>
            <a:spLocks noGrp="1"/>
          </p:cNvSpPr>
          <p:nvPr/>
        </p:nvSpPr>
        <p:spPr>
          <a:xfrm>
            <a:off x="7591425" y="3237325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1" name="renal_y_15">
            <a:extLst>
              <a:ext uri="{FF2B5EF4-FFF2-40B4-BE49-F238E27FC236}">
                <a16:creationId xmlns:a16="http://schemas.microsoft.com/office/drawing/2014/main" id="{AAD67E61-CEDF-450B-B80C-1F6B17F42687}"/>
              </a:ext>
            </a:extLst>
          </p:cNvPr>
          <p:cNvSpPr>
            <a:spLocks noGrp="1"/>
          </p:cNvSpPr>
          <p:nvPr/>
        </p:nvSpPr>
        <p:spPr>
          <a:xfrm>
            <a:off x="7239000" y="3124865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15</a:t>
            </a:r>
          </a:p>
        </p:txBody>
      </p:sp>
      <p:sp>
        <p:nvSpPr>
          <p:cNvPr id="92" name="renal_grid_20">
            <a:extLst>
              <a:ext uri="{FF2B5EF4-FFF2-40B4-BE49-F238E27FC236}">
                <a16:creationId xmlns:a16="http://schemas.microsoft.com/office/drawing/2014/main" id="{B6510C65-4127-460B-9CB3-CD48F9CF995B}"/>
              </a:ext>
            </a:extLst>
          </p:cNvPr>
          <p:cNvSpPr>
            <a:spLocks noGrp="1"/>
          </p:cNvSpPr>
          <p:nvPr/>
        </p:nvSpPr>
        <p:spPr>
          <a:xfrm>
            <a:off x="7639050" y="2908922"/>
            <a:ext cx="3962400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3" name="renal_tick_y_20">
            <a:extLst>
              <a:ext uri="{FF2B5EF4-FFF2-40B4-BE49-F238E27FC236}">
                <a16:creationId xmlns:a16="http://schemas.microsoft.com/office/drawing/2014/main" id="{BC18373B-1DD6-497B-B3D8-3C8F0ADE960D}"/>
              </a:ext>
            </a:extLst>
          </p:cNvPr>
          <p:cNvSpPr>
            <a:spLocks noGrp="1"/>
          </p:cNvSpPr>
          <p:nvPr/>
        </p:nvSpPr>
        <p:spPr>
          <a:xfrm>
            <a:off x="7591425" y="2908922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4" name="renal_y_20">
            <a:extLst>
              <a:ext uri="{FF2B5EF4-FFF2-40B4-BE49-F238E27FC236}">
                <a16:creationId xmlns:a16="http://schemas.microsoft.com/office/drawing/2014/main" id="{62B6A391-8552-408F-B777-D1AF4BE46771}"/>
              </a:ext>
            </a:extLst>
          </p:cNvPr>
          <p:cNvSpPr>
            <a:spLocks noGrp="1"/>
          </p:cNvSpPr>
          <p:nvPr/>
        </p:nvSpPr>
        <p:spPr>
          <a:xfrm>
            <a:off x="7239000" y="2796462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20</a:t>
            </a:r>
          </a:p>
        </p:txBody>
      </p:sp>
      <p:sp>
        <p:nvSpPr>
          <p:cNvPr id="95" name="renal_grid_25">
            <a:extLst>
              <a:ext uri="{FF2B5EF4-FFF2-40B4-BE49-F238E27FC236}">
                <a16:creationId xmlns:a16="http://schemas.microsoft.com/office/drawing/2014/main" id="{816CEC8D-FF22-4A5C-8AEB-7E64C89FA498}"/>
              </a:ext>
            </a:extLst>
          </p:cNvPr>
          <p:cNvSpPr>
            <a:spLocks noGrp="1"/>
          </p:cNvSpPr>
          <p:nvPr/>
        </p:nvSpPr>
        <p:spPr>
          <a:xfrm>
            <a:off x="7639050" y="2580519"/>
            <a:ext cx="3962400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6" name="renal_tick_y_25">
            <a:extLst>
              <a:ext uri="{FF2B5EF4-FFF2-40B4-BE49-F238E27FC236}">
                <a16:creationId xmlns:a16="http://schemas.microsoft.com/office/drawing/2014/main" id="{6D04B77F-2600-41B3-A4CA-25A86A667DD3}"/>
              </a:ext>
            </a:extLst>
          </p:cNvPr>
          <p:cNvSpPr>
            <a:spLocks noGrp="1"/>
          </p:cNvSpPr>
          <p:nvPr/>
        </p:nvSpPr>
        <p:spPr>
          <a:xfrm>
            <a:off x="7591425" y="2580519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7" name="renal_y_25">
            <a:extLst>
              <a:ext uri="{FF2B5EF4-FFF2-40B4-BE49-F238E27FC236}">
                <a16:creationId xmlns:a16="http://schemas.microsoft.com/office/drawing/2014/main" id="{6E8EF418-E306-425A-93BB-8B6C0C1BB0C6}"/>
              </a:ext>
            </a:extLst>
          </p:cNvPr>
          <p:cNvSpPr>
            <a:spLocks noGrp="1"/>
          </p:cNvSpPr>
          <p:nvPr/>
        </p:nvSpPr>
        <p:spPr>
          <a:xfrm>
            <a:off x="7239000" y="2468059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25</a:t>
            </a:r>
          </a:p>
        </p:txBody>
      </p:sp>
      <p:sp>
        <p:nvSpPr>
          <p:cNvPr id="98" name="renal_y_axis">
            <a:extLst>
              <a:ext uri="{FF2B5EF4-FFF2-40B4-BE49-F238E27FC236}">
                <a16:creationId xmlns:a16="http://schemas.microsoft.com/office/drawing/2014/main" id="{7CE1F7F1-5194-40F4-8025-83550E95C1AF}"/>
              </a:ext>
            </a:extLst>
          </p:cNvPr>
          <p:cNvSpPr>
            <a:spLocks noGrp="1"/>
          </p:cNvSpPr>
          <p:nvPr/>
        </p:nvSpPr>
        <p:spPr>
          <a:xfrm>
            <a:off x="7639050" y="2580500"/>
            <a:ext cx="95" cy="1642017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9" name="renal_x_axis">
            <a:extLst>
              <a:ext uri="{FF2B5EF4-FFF2-40B4-BE49-F238E27FC236}">
                <a16:creationId xmlns:a16="http://schemas.microsoft.com/office/drawing/2014/main" id="{67E1925A-4AD3-424E-9A9E-6AC1214AE5A2}"/>
              </a:ext>
            </a:extLst>
          </p:cNvPr>
          <p:cNvSpPr>
            <a:spLocks noGrp="1"/>
          </p:cNvSpPr>
          <p:nvPr/>
        </p:nvSpPr>
        <p:spPr>
          <a:xfrm>
            <a:off x="7639050" y="4222536"/>
            <a:ext cx="3962400" cy="95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0" name="renal_tick_x_0">
            <a:extLst>
              <a:ext uri="{FF2B5EF4-FFF2-40B4-BE49-F238E27FC236}">
                <a16:creationId xmlns:a16="http://schemas.microsoft.com/office/drawing/2014/main" id="{91283EDF-5DD8-49C4-8A7B-E9F253828AA1}"/>
              </a:ext>
            </a:extLst>
          </p:cNvPr>
          <p:cNvSpPr>
            <a:spLocks noGrp="1"/>
          </p:cNvSpPr>
          <p:nvPr/>
        </p:nvSpPr>
        <p:spPr>
          <a:xfrm>
            <a:off x="7639050" y="4231810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1" name="renal_month_0">
            <a:extLst>
              <a:ext uri="{FF2B5EF4-FFF2-40B4-BE49-F238E27FC236}">
                <a16:creationId xmlns:a16="http://schemas.microsoft.com/office/drawing/2014/main" id="{AB95BC87-2363-419B-8FE2-B05B58773A30}"/>
              </a:ext>
            </a:extLst>
          </p:cNvPr>
          <p:cNvSpPr>
            <a:spLocks noGrp="1"/>
          </p:cNvSpPr>
          <p:nvPr/>
        </p:nvSpPr>
        <p:spPr>
          <a:xfrm>
            <a:off x="7439025" y="4374917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102" name="renal_tick_x_6">
            <a:extLst>
              <a:ext uri="{FF2B5EF4-FFF2-40B4-BE49-F238E27FC236}">
                <a16:creationId xmlns:a16="http://schemas.microsoft.com/office/drawing/2014/main" id="{7DB8D5AB-85F0-424F-84E5-95986241D675}"/>
              </a:ext>
            </a:extLst>
          </p:cNvPr>
          <p:cNvSpPr>
            <a:spLocks noGrp="1"/>
          </p:cNvSpPr>
          <p:nvPr/>
        </p:nvSpPr>
        <p:spPr>
          <a:xfrm>
            <a:off x="8134350" y="4231810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3" name="renal_month_6">
            <a:extLst>
              <a:ext uri="{FF2B5EF4-FFF2-40B4-BE49-F238E27FC236}">
                <a16:creationId xmlns:a16="http://schemas.microsoft.com/office/drawing/2014/main" id="{B701D4BB-AB6E-48D3-97FC-4893853C9985}"/>
              </a:ext>
            </a:extLst>
          </p:cNvPr>
          <p:cNvSpPr>
            <a:spLocks noGrp="1"/>
          </p:cNvSpPr>
          <p:nvPr/>
        </p:nvSpPr>
        <p:spPr>
          <a:xfrm>
            <a:off x="7934325" y="4374917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6</a:t>
            </a:r>
          </a:p>
        </p:txBody>
      </p:sp>
      <p:sp>
        <p:nvSpPr>
          <p:cNvPr id="104" name="renal_tick_x_12">
            <a:extLst>
              <a:ext uri="{FF2B5EF4-FFF2-40B4-BE49-F238E27FC236}">
                <a16:creationId xmlns:a16="http://schemas.microsoft.com/office/drawing/2014/main" id="{C1F206AC-359F-40D7-97EC-CBFA74852A56}"/>
              </a:ext>
            </a:extLst>
          </p:cNvPr>
          <p:cNvSpPr>
            <a:spLocks noGrp="1"/>
          </p:cNvSpPr>
          <p:nvPr/>
        </p:nvSpPr>
        <p:spPr>
          <a:xfrm>
            <a:off x="8629650" y="4231810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5" name="renal_month_12">
            <a:extLst>
              <a:ext uri="{FF2B5EF4-FFF2-40B4-BE49-F238E27FC236}">
                <a16:creationId xmlns:a16="http://schemas.microsoft.com/office/drawing/2014/main" id="{CE2BF1A7-BF9D-4899-93F4-FCD614707D67}"/>
              </a:ext>
            </a:extLst>
          </p:cNvPr>
          <p:cNvSpPr>
            <a:spLocks noGrp="1"/>
          </p:cNvSpPr>
          <p:nvPr/>
        </p:nvSpPr>
        <p:spPr>
          <a:xfrm>
            <a:off x="8429625" y="4374917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12</a:t>
            </a:r>
          </a:p>
        </p:txBody>
      </p:sp>
      <p:sp>
        <p:nvSpPr>
          <p:cNvPr id="106" name="renal_tick_x_18">
            <a:extLst>
              <a:ext uri="{FF2B5EF4-FFF2-40B4-BE49-F238E27FC236}">
                <a16:creationId xmlns:a16="http://schemas.microsoft.com/office/drawing/2014/main" id="{0C065FEF-E579-40D4-A193-9280818F354D}"/>
              </a:ext>
            </a:extLst>
          </p:cNvPr>
          <p:cNvSpPr>
            <a:spLocks noGrp="1"/>
          </p:cNvSpPr>
          <p:nvPr/>
        </p:nvSpPr>
        <p:spPr>
          <a:xfrm>
            <a:off x="9124950" y="4231810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7" name="renal_month_18">
            <a:extLst>
              <a:ext uri="{FF2B5EF4-FFF2-40B4-BE49-F238E27FC236}">
                <a16:creationId xmlns:a16="http://schemas.microsoft.com/office/drawing/2014/main" id="{C17120E0-3B66-4A4D-8E74-79C3F8C93B41}"/>
              </a:ext>
            </a:extLst>
          </p:cNvPr>
          <p:cNvSpPr>
            <a:spLocks noGrp="1"/>
          </p:cNvSpPr>
          <p:nvPr/>
        </p:nvSpPr>
        <p:spPr>
          <a:xfrm>
            <a:off x="8924925" y="4374917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18</a:t>
            </a:r>
          </a:p>
        </p:txBody>
      </p:sp>
      <p:sp>
        <p:nvSpPr>
          <p:cNvPr id="108" name="renal_tick_x_24">
            <a:extLst>
              <a:ext uri="{FF2B5EF4-FFF2-40B4-BE49-F238E27FC236}">
                <a16:creationId xmlns:a16="http://schemas.microsoft.com/office/drawing/2014/main" id="{A6CD069B-D07C-4A14-9786-B2854D42686D}"/>
              </a:ext>
            </a:extLst>
          </p:cNvPr>
          <p:cNvSpPr>
            <a:spLocks noGrp="1"/>
          </p:cNvSpPr>
          <p:nvPr/>
        </p:nvSpPr>
        <p:spPr>
          <a:xfrm>
            <a:off x="9620250" y="4231810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9" name="renal_month_24">
            <a:extLst>
              <a:ext uri="{FF2B5EF4-FFF2-40B4-BE49-F238E27FC236}">
                <a16:creationId xmlns:a16="http://schemas.microsoft.com/office/drawing/2014/main" id="{DC8FA910-3A4D-408C-BB9A-0A616E42E62E}"/>
              </a:ext>
            </a:extLst>
          </p:cNvPr>
          <p:cNvSpPr>
            <a:spLocks noGrp="1"/>
          </p:cNvSpPr>
          <p:nvPr/>
        </p:nvSpPr>
        <p:spPr>
          <a:xfrm>
            <a:off x="9420225" y="4374917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24</a:t>
            </a:r>
          </a:p>
        </p:txBody>
      </p:sp>
      <p:sp>
        <p:nvSpPr>
          <p:cNvPr id="110" name="renal_tick_x_30">
            <a:extLst>
              <a:ext uri="{FF2B5EF4-FFF2-40B4-BE49-F238E27FC236}">
                <a16:creationId xmlns:a16="http://schemas.microsoft.com/office/drawing/2014/main" id="{1313BD64-7F1E-4C5D-8844-D6A27C264264}"/>
              </a:ext>
            </a:extLst>
          </p:cNvPr>
          <p:cNvSpPr>
            <a:spLocks noGrp="1"/>
          </p:cNvSpPr>
          <p:nvPr/>
        </p:nvSpPr>
        <p:spPr>
          <a:xfrm>
            <a:off x="10115550" y="4231810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1" name="renal_month_30">
            <a:extLst>
              <a:ext uri="{FF2B5EF4-FFF2-40B4-BE49-F238E27FC236}">
                <a16:creationId xmlns:a16="http://schemas.microsoft.com/office/drawing/2014/main" id="{2D58ACCF-70C3-4940-8FBF-35BD85646B7E}"/>
              </a:ext>
            </a:extLst>
          </p:cNvPr>
          <p:cNvSpPr>
            <a:spLocks noGrp="1"/>
          </p:cNvSpPr>
          <p:nvPr/>
        </p:nvSpPr>
        <p:spPr>
          <a:xfrm>
            <a:off x="9915525" y="4374917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112" name="renal_tick_x_36">
            <a:extLst>
              <a:ext uri="{FF2B5EF4-FFF2-40B4-BE49-F238E27FC236}">
                <a16:creationId xmlns:a16="http://schemas.microsoft.com/office/drawing/2014/main" id="{C88787A3-DDA7-4F08-A345-DC8B84241617}"/>
              </a:ext>
            </a:extLst>
          </p:cNvPr>
          <p:cNvSpPr>
            <a:spLocks noGrp="1"/>
          </p:cNvSpPr>
          <p:nvPr/>
        </p:nvSpPr>
        <p:spPr>
          <a:xfrm>
            <a:off x="10610850" y="4231810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3" name="renal_month_36">
            <a:extLst>
              <a:ext uri="{FF2B5EF4-FFF2-40B4-BE49-F238E27FC236}">
                <a16:creationId xmlns:a16="http://schemas.microsoft.com/office/drawing/2014/main" id="{A863450E-A7C2-4E33-A193-F6773097E8A2}"/>
              </a:ext>
            </a:extLst>
          </p:cNvPr>
          <p:cNvSpPr>
            <a:spLocks noGrp="1"/>
          </p:cNvSpPr>
          <p:nvPr/>
        </p:nvSpPr>
        <p:spPr>
          <a:xfrm>
            <a:off x="10410825" y="4374917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36</a:t>
            </a:r>
          </a:p>
        </p:txBody>
      </p:sp>
      <p:sp>
        <p:nvSpPr>
          <p:cNvPr id="114" name="renal_tick_x_42">
            <a:extLst>
              <a:ext uri="{FF2B5EF4-FFF2-40B4-BE49-F238E27FC236}">
                <a16:creationId xmlns:a16="http://schemas.microsoft.com/office/drawing/2014/main" id="{7208727D-67FD-4FDA-AACF-1A1A2109EE3F}"/>
              </a:ext>
            </a:extLst>
          </p:cNvPr>
          <p:cNvSpPr>
            <a:spLocks noGrp="1"/>
          </p:cNvSpPr>
          <p:nvPr/>
        </p:nvSpPr>
        <p:spPr>
          <a:xfrm>
            <a:off x="11106150" y="4231810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5" name="renal_month_42">
            <a:extLst>
              <a:ext uri="{FF2B5EF4-FFF2-40B4-BE49-F238E27FC236}">
                <a16:creationId xmlns:a16="http://schemas.microsoft.com/office/drawing/2014/main" id="{59D56040-6483-48FC-BD7B-7BFD0EB3FF34}"/>
              </a:ext>
            </a:extLst>
          </p:cNvPr>
          <p:cNvSpPr>
            <a:spLocks noGrp="1"/>
          </p:cNvSpPr>
          <p:nvPr/>
        </p:nvSpPr>
        <p:spPr>
          <a:xfrm>
            <a:off x="10906125" y="4374917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42</a:t>
            </a:r>
          </a:p>
        </p:txBody>
      </p:sp>
      <p:sp>
        <p:nvSpPr>
          <p:cNvPr id="116" name="renal_tick_x_48">
            <a:extLst>
              <a:ext uri="{FF2B5EF4-FFF2-40B4-BE49-F238E27FC236}">
                <a16:creationId xmlns:a16="http://schemas.microsoft.com/office/drawing/2014/main" id="{219D5F5B-B589-4F75-BB17-FB6B438C4FDA}"/>
              </a:ext>
            </a:extLst>
          </p:cNvPr>
          <p:cNvSpPr>
            <a:spLocks noGrp="1"/>
          </p:cNvSpPr>
          <p:nvPr/>
        </p:nvSpPr>
        <p:spPr>
          <a:xfrm>
            <a:off x="11601450" y="4231810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7" name="renal_month_48">
            <a:extLst>
              <a:ext uri="{FF2B5EF4-FFF2-40B4-BE49-F238E27FC236}">
                <a16:creationId xmlns:a16="http://schemas.microsoft.com/office/drawing/2014/main" id="{AF090085-C360-4306-81D0-ACC1D6BF372E}"/>
              </a:ext>
            </a:extLst>
          </p:cNvPr>
          <p:cNvSpPr>
            <a:spLocks noGrp="1"/>
          </p:cNvSpPr>
          <p:nvPr/>
        </p:nvSpPr>
        <p:spPr>
          <a:xfrm>
            <a:off x="11401425" y="4374917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48</a:t>
            </a:r>
          </a:p>
        </p:txBody>
      </p:sp>
      <p:sp>
        <p:nvSpPr>
          <p:cNvPr id="118" name="published_curve_renal_Плацебо">
            <a:extLst>
              <a:ext uri="{FF2B5EF4-FFF2-40B4-BE49-F238E27FC236}">
                <a16:creationId xmlns:a16="http://schemas.microsoft.com/office/drawing/2014/main" id="{BCAA58EC-3760-4C2C-B865-3D6570D5F5DC}"/>
              </a:ext>
            </a:extLst>
          </p:cNvPr>
          <p:cNvSpPr>
            <a:spLocks noGrp="1"/>
          </p:cNvSpPr>
          <p:nvPr/>
        </p:nvSpPr>
        <p:spPr>
          <a:xfrm>
            <a:off x="7639050" y="2580500"/>
            <a:ext cx="3962400" cy="1642017"/>
          </a:xfrm>
          <a:custGeom>
            <a:avLst/>
            <a:gdLst/>
            <a:ahLst/>
            <a:cxnLst/>
            <a:rect l="0" t="0" r="0" b="0"/>
            <a:pathLst>
              <a:path w="3962400" h="1181100">
                <a:moveTo>
                  <a:pt x="160" y="1180888"/>
                </a:moveTo>
                <a:lnTo>
                  <a:pt x="211887" y="1180888"/>
                </a:lnTo>
                <a:lnTo>
                  <a:pt x="211887" y="1180156"/>
                </a:lnTo>
                <a:lnTo>
                  <a:pt x="304193" y="1180156"/>
                </a:lnTo>
                <a:lnTo>
                  <a:pt x="304193" y="1179423"/>
                </a:lnTo>
                <a:lnTo>
                  <a:pt x="320499" y="1179423"/>
                </a:lnTo>
                <a:lnTo>
                  <a:pt x="320499" y="1178690"/>
                </a:lnTo>
                <a:lnTo>
                  <a:pt x="323185" y="1178690"/>
                </a:lnTo>
                <a:lnTo>
                  <a:pt x="323185" y="1177957"/>
                </a:lnTo>
                <a:lnTo>
                  <a:pt x="325934" y="1177957"/>
                </a:lnTo>
                <a:lnTo>
                  <a:pt x="325934" y="1177224"/>
                </a:lnTo>
                <a:lnTo>
                  <a:pt x="350362" y="1177224"/>
                </a:lnTo>
                <a:lnTo>
                  <a:pt x="350362" y="1175743"/>
                </a:lnTo>
                <a:lnTo>
                  <a:pt x="496926" y="1175743"/>
                </a:lnTo>
                <a:lnTo>
                  <a:pt x="496926" y="1174994"/>
                </a:lnTo>
                <a:lnTo>
                  <a:pt x="515951" y="1174994"/>
                </a:lnTo>
                <a:lnTo>
                  <a:pt x="515951" y="1174245"/>
                </a:lnTo>
                <a:lnTo>
                  <a:pt x="532225" y="1174245"/>
                </a:lnTo>
                <a:lnTo>
                  <a:pt x="532225" y="1173512"/>
                </a:lnTo>
                <a:lnTo>
                  <a:pt x="548499" y="1173512"/>
                </a:lnTo>
                <a:lnTo>
                  <a:pt x="548499" y="1172763"/>
                </a:lnTo>
                <a:lnTo>
                  <a:pt x="572959" y="1172763"/>
                </a:lnTo>
                <a:lnTo>
                  <a:pt x="572959" y="1172030"/>
                </a:lnTo>
                <a:lnTo>
                  <a:pt x="583798" y="1172030"/>
                </a:lnTo>
                <a:lnTo>
                  <a:pt x="583798" y="1171281"/>
                </a:lnTo>
                <a:lnTo>
                  <a:pt x="589234" y="1171281"/>
                </a:lnTo>
                <a:lnTo>
                  <a:pt x="589234" y="1170532"/>
                </a:lnTo>
                <a:lnTo>
                  <a:pt x="624532" y="1170532"/>
                </a:lnTo>
                <a:lnTo>
                  <a:pt x="624532" y="1169799"/>
                </a:lnTo>
                <a:lnTo>
                  <a:pt x="629967" y="1169799"/>
                </a:lnTo>
                <a:lnTo>
                  <a:pt x="629967" y="1169050"/>
                </a:lnTo>
                <a:lnTo>
                  <a:pt x="638120" y="1169050"/>
                </a:lnTo>
                <a:lnTo>
                  <a:pt x="638120" y="1168318"/>
                </a:lnTo>
                <a:lnTo>
                  <a:pt x="643524" y="1168318"/>
                </a:lnTo>
                <a:lnTo>
                  <a:pt x="643524" y="1167569"/>
                </a:lnTo>
                <a:lnTo>
                  <a:pt x="646241" y="1167569"/>
                </a:lnTo>
                <a:lnTo>
                  <a:pt x="646241" y="1166820"/>
                </a:lnTo>
                <a:lnTo>
                  <a:pt x="648959" y="1166820"/>
                </a:lnTo>
                <a:lnTo>
                  <a:pt x="648959" y="1165338"/>
                </a:lnTo>
                <a:lnTo>
                  <a:pt x="651677" y="1165338"/>
                </a:lnTo>
                <a:lnTo>
                  <a:pt x="651677" y="1163840"/>
                </a:lnTo>
                <a:lnTo>
                  <a:pt x="659830" y="1163840"/>
                </a:lnTo>
                <a:lnTo>
                  <a:pt x="659830" y="1163107"/>
                </a:lnTo>
                <a:lnTo>
                  <a:pt x="662548" y="1163107"/>
                </a:lnTo>
                <a:lnTo>
                  <a:pt x="662548" y="1162358"/>
                </a:lnTo>
                <a:lnTo>
                  <a:pt x="670669" y="1162358"/>
                </a:lnTo>
                <a:lnTo>
                  <a:pt x="670669" y="1160860"/>
                </a:lnTo>
                <a:lnTo>
                  <a:pt x="678823" y="1160860"/>
                </a:lnTo>
                <a:lnTo>
                  <a:pt x="678823" y="1160111"/>
                </a:lnTo>
                <a:lnTo>
                  <a:pt x="681540" y="1160111"/>
                </a:lnTo>
                <a:lnTo>
                  <a:pt x="681540" y="1159378"/>
                </a:lnTo>
                <a:lnTo>
                  <a:pt x="705968" y="1159378"/>
                </a:lnTo>
                <a:lnTo>
                  <a:pt x="705968" y="1158613"/>
                </a:lnTo>
                <a:lnTo>
                  <a:pt x="708685" y="1158613"/>
                </a:lnTo>
                <a:lnTo>
                  <a:pt x="708685" y="1157864"/>
                </a:lnTo>
                <a:lnTo>
                  <a:pt x="711403" y="1157864"/>
                </a:lnTo>
                <a:lnTo>
                  <a:pt x="711403" y="1157131"/>
                </a:lnTo>
                <a:lnTo>
                  <a:pt x="724992" y="1157131"/>
                </a:lnTo>
                <a:lnTo>
                  <a:pt x="724992" y="1155633"/>
                </a:lnTo>
                <a:lnTo>
                  <a:pt x="790153" y="1155633"/>
                </a:lnTo>
                <a:lnTo>
                  <a:pt x="790153" y="1154884"/>
                </a:lnTo>
                <a:lnTo>
                  <a:pt x="798274" y="1154884"/>
                </a:lnTo>
                <a:lnTo>
                  <a:pt x="798274" y="1154135"/>
                </a:lnTo>
                <a:lnTo>
                  <a:pt x="809113" y="1154135"/>
                </a:lnTo>
                <a:lnTo>
                  <a:pt x="809113" y="1153386"/>
                </a:lnTo>
                <a:lnTo>
                  <a:pt x="825387" y="1153386"/>
                </a:lnTo>
                <a:lnTo>
                  <a:pt x="825387" y="1152637"/>
                </a:lnTo>
                <a:lnTo>
                  <a:pt x="838975" y="1152637"/>
                </a:lnTo>
                <a:lnTo>
                  <a:pt x="838975" y="1151888"/>
                </a:lnTo>
                <a:lnTo>
                  <a:pt x="860685" y="1151888"/>
                </a:lnTo>
                <a:lnTo>
                  <a:pt x="860685" y="1151139"/>
                </a:lnTo>
                <a:lnTo>
                  <a:pt x="863435" y="1151139"/>
                </a:lnTo>
                <a:lnTo>
                  <a:pt x="863435" y="1150406"/>
                </a:lnTo>
                <a:lnTo>
                  <a:pt x="893298" y="1150406"/>
                </a:lnTo>
                <a:lnTo>
                  <a:pt x="893298" y="1149641"/>
                </a:lnTo>
                <a:lnTo>
                  <a:pt x="923161" y="1149641"/>
                </a:lnTo>
                <a:lnTo>
                  <a:pt x="923161" y="1148892"/>
                </a:lnTo>
                <a:lnTo>
                  <a:pt x="925847" y="1148892"/>
                </a:lnTo>
                <a:lnTo>
                  <a:pt x="925847" y="1148143"/>
                </a:lnTo>
                <a:lnTo>
                  <a:pt x="931282" y="1148143"/>
                </a:lnTo>
                <a:lnTo>
                  <a:pt x="931282" y="1147394"/>
                </a:lnTo>
                <a:lnTo>
                  <a:pt x="958428" y="1147394"/>
                </a:lnTo>
                <a:lnTo>
                  <a:pt x="958428" y="1146645"/>
                </a:lnTo>
                <a:lnTo>
                  <a:pt x="963895" y="1146645"/>
                </a:lnTo>
                <a:lnTo>
                  <a:pt x="963895" y="1145896"/>
                </a:lnTo>
                <a:lnTo>
                  <a:pt x="966581" y="1145896"/>
                </a:lnTo>
                <a:lnTo>
                  <a:pt x="966581" y="1145147"/>
                </a:lnTo>
                <a:lnTo>
                  <a:pt x="969298" y="1145147"/>
                </a:lnTo>
                <a:lnTo>
                  <a:pt x="969298" y="1144398"/>
                </a:lnTo>
                <a:lnTo>
                  <a:pt x="972016" y="1144398"/>
                </a:lnTo>
                <a:lnTo>
                  <a:pt x="972016" y="1142900"/>
                </a:lnTo>
                <a:lnTo>
                  <a:pt x="974733" y="1142900"/>
                </a:lnTo>
                <a:lnTo>
                  <a:pt x="974733" y="1142134"/>
                </a:lnTo>
                <a:lnTo>
                  <a:pt x="977452" y="1142134"/>
                </a:lnTo>
                <a:lnTo>
                  <a:pt x="977452" y="1139138"/>
                </a:lnTo>
                <a:lnTo>
                  <a:pt x="982854" y="1139138"/>
                </a:lnTo>
                <a:lnTo>
                  <a:pt x="982854" y="1138373"/>
                </a:lnTo>
                <a:lnTo>
                  <a:pt x="988290" y="1138373"/>
                </a:lnTo>
                <a:lnTo>
                  <a:pt x="988290" y="1137640"/>
                </a:lnTo>
                <a:lnTo>
                  <a:pt x="991008" y="1137640"/>
                </a:lnTo>
                <a:lnTo>
                  <a:pt x="991008" y="1136875"/>
                </a:lnTo>
                <a:lnTo>
                  <a:pt x="996443" y="1136875"/>
                </a:lnTo>
                <a:lnTo>
                  <a:pt x="996443" y="1135377"/>
                </a:lnTo>
                <a:lnTo>
                  <a:pt x="999161" y="1135377"/>
                </a:lnTo>
                <a:lnTo>
                  <a:pt x="999161" y="1133879"/>
                </a:lnTo>
                <a:lnTo>
                  <a:pt x="1010032" y="1133879"/>
                </a:lnTo>
                <a:lnTo>
                  <a:pt x="1010032" y="1133113"/>
                </a:lnTo>
                <a:lnTo>
                  <a:pt x="1015468" y="1133113"/>
                </a:lnTo>
                <a:lnTo>
                  <a:pt x="1015468" y="1132365"/>
                </a:lnTo>
                <a:lnTo>
                  <a:pt x="1023589" y="1132365"/>
                </a:lnTo>
                <a:lnTo>
                  <a:pt x="1023589" y="1131599"/>
                </a:lnTo>
                <a:lnTo>
                  <a:pt x="1026306" y="1131599"/>
                </a:lnTo>
                <a:lnTo>
                  <a:pt x="1026306" y="1130866"/>
                </a:lnTo>
                <a:lnTo>
                  <a:pt x="1029025" y="1130866"/>
                </a:lnTo>
                <a:lnTo>
                  <a:pt x="1029025" y="1130101"/>
                </a:lnTo>
                <a:lnTo>
                  <a:pt x="1037177" y="1130101"/>
                </a:lnTo>
                <a:lnTo>
                  <a:pt x="1037177" y="1129352"/>
                </a:lnTo>
                <a:lnTo>
                  <a:pt x="1048016" y="1129352"/>
                </a:lnTo>
                <a:lnTo>
                  <a:pt x="1048016" y="1128603"/>
                </a:lnTo>
                <a:lnTo>
                  <a:pt x="1050766" y="1128603"/>
                </a:lnTo>
                <a:lnTo>
                  <a:pt x="1050766" y="1127838"/>
                </a:lnTo>
                <a:lnTo>
                  <a:pt x="1067040" y="1127838"/>
                </a:lnTo>
                <a:lnTo>
                  <a:pt x="1067040" y="1127089"/>
                </a:lnTo>
                <a:lnTo>
                  <a:pt x="1075162" y="1127089"/>
                </a:lnTo>
                <a:lnTo>
                  <a:pt x="1075162" y="1126323"/>
                </a:lnTo>
                <a:lnTo>
                  <a:pt x="1083315" y="1126323"/>
                </a:lnTo>
                <a:lnTo>
                  <a:pt x="1083315" y="1125591"/>
                </a:lnTo>
                <a:lnTo>
                  <a:pt x="1091467" y="1125591"/>
                </a:lnTo>
                <a:lnTo>
                  <a:pt x="1091467" y="1124825"/>
                </a:lnTo>
                <a:lnTo>
                  <a:pt x="1102338" y="1124825"/>
                </a:lnTo>
                <a:lnTo>
                  <a:pt x="1102338" y="1123327"/>
                </a:lnTo>
                <a:lnTo>
                  <a:pt x="1121299" y="1123327"/>
                </a:lnTo>
                <a:lnTo>
                  <a:pt x="1121299" y="1122578"/>
                </a:lnTo>
                <a:lnTo>
                  <a:pt x="1129452" y="1122578"/>
                </a:lnTo>
                <a:lnTo>
                  <a:pt x="1129452" y="1121813"/>
                </a:lnTo>
                <a:lnTo>
                  <a:pt x="1202734" y="1121813"/>
                </a:lnTo>
                <a:lnTo>
                  <a:pt x="1202734" y="1121048"/>
                </a:lnTo>
                <a:lnTo>
                  <a:pt x="1219041" y="1121048"/>
                </a:lnTo>
                <a:lnTo>
                  <a:pt x="1219041" y="1120299"/>
                </a:lnTo>
                <a:lnTo>
                  <a:pt x="1262492" y="1120299"/>
                </a:lnTo>
                <a:lnTo>
                  <a:pt x="1262492" y="1119550"/>
                </a:lnTo>
                <a:lnTo>
                  <a:pt x="1281484" y="1119550"/>
                </a:lnTo>
                <a:lnTo>
                  <a:pt x="1281484" y="1118801"/>
                </a:lnTo>
                <a:lnTo>
                  <a:pt x="1292355" y="1118801"/>
                </a:lnTo>
                <a:lnTo>
                  <a:pt x="1292355" y="1117286"/>
                </a:lnTo>
                <a:lnTo>
                  <a:pt x="1305911" y="1117286"/>
                </a:lnTo>
                <a:lnTo>
                  <a:pt x="1305911" y="1116521"/>
                </a:lnTo>
                <a:lnTo>
                  <a:pt x="1308630" y="1116521"/>
                </a:lnTo>
                <a:lnTo>
                  <a:pt x="1308630" y="1114241"/>
                </a:lnTo>
                <a:lnTo>
                  <a:pt x="1311347" y="1114241"/>
                </a:lnTo>
                <a:lnTo>
                  <a:pt x="1311347" y="1112727"/>
                </a:lnTo>
                <a:lnTo>
                  <a:pt x="1314064" y="1112727"/>
                </a:lnTo>
                <a:lnTo>
                  <a:pt x="1314064" y="1111213"/>
                </a:lnTo>
                <a:lnTo>
                  <a:pt x="1316783" y="1111213"/>
                </a:lnTo>
                <a:lnTo>
                  <a:pt x="1316783" y="1110447"/>
                </a:lnTo>
                <a:lnTo>
                  <a:pt x="1330339" y="1110447"/>
                </a:lnTo>
                <a:lnTo>
                  <a:pt x="1330339" y="1108933"/>
                </a:lnTo>
                <a:lnTo>
                  <a:pt x="1333056" y="1108933"/>
                </a:lnTo>
                <a:lnTo>
                  <a:pt x="1333056" y="1106637"/>
                </a:lnTo>
                <a:lnTo>
                  <a:pt x="1335775" y="1106637"/>
                </a:lnTo>
                <a:lnTo>
                  <a:pt x="1335775" y="1105123"/>
                </a:lnTo>
                <a:lnTo>
                  <a:pt x="1338492" y="1105123"/>
                </a:lnTo>
                <a:lnTo>
                  <a:pt x="1338492" y="1104341"/>
                </a:lnTo>
                <a:lnTo>
                  <a:pt x="1341178" y="1104341"/>
                </a:lnTo>
                <a:lnTo>
                  <a:pt x="1341178" y="1103592"/>
                </a:lnTo>
                <a:lnTo>
                  <a:pt x="1343928" y="1103592"/>
                </a:lnTo>
                <a:lnTo>
                  <a:pt x="1343928" y="1102827"/>
                </a:lnTo>
                <a:lnTo>
                  <a:pt x="1362920" y="1102827"/>
                </a:lnTo>
                <a:lnTo>
                  <a:pt x="1362920" y="1102061"/>
                </a:lnTo>
                <a:lnTo>
                  <a:pt x="1368355" y="1102061"/>
                </a:lnTo>
                <a:lnTo>
                  <a:pt x="1368355" y="1100547"/>
                </a:lnTo>
                <a:lnTo>
                  <a:pt x="1376476" y="1100547"/>
                </a:lnTo>
                <a:lnTo>
                  <a:pt x="1376476" y="1099766"/>
                </a:lnTo>
                <a:lnTo>
                  <a:pt x="1392783" y="1099766"/>
                </a:lnTo>
                <a:lnTo>
                  <a:pt x="1392783" y="1099017"/>
                </a:lnTo>
                <a:lnTo>
                  <a:pt x="1395500" y="1099017"/>
                </a:lnTo>
                <a:lnTo>
                  <a:pt x="1395500" y="1098235"/>
                </a:lnTo>
                <a:lnTo>
                  <a:pt x="1398218" y="1098235"/>
                </a:lnTo>
                <a:lnTo>
                  <a:pt x="1398218" y="1097486"/>
                </a:lnTo>
                <a:lnTo>
                  <a:pt x="1403653" y="1097486"/>
                </a:lnTo>
                <a:lnTo>
                  <a:pt x="1403653" y="1096720"/>
                </a:lnTo>
                <a:lnTo>
                  <a:pt x="1411774" y="1096720"/>
                </a:lnTo>
                <a:lnTo>
                  <a:pt x="1411774" y="1095190"/>
                </a:lnTo>
                <a:lnTo>
                  <a:pt x="1444387" y="1095190"/>
                </a:lnTo>
                <a:lnTo>
                  <a:pt x="1444387" y="1093659"/>
                </a:lnTo>
                <a:lnTo>
                  <a:pt x="1447073" y="1093659"/>
                </a:lnTo>
                <a:lnTo>
                  <a:pt x="1447073" y="1092878"/>
                </a:lnTo>
                <a:lnTo>
                  <a:pt x="1455226" y="1092878"/>
                </a:lnTo>
                <a:lnTo>
                  <a:pt x="1455226" y="1092129"/>
                </a:lnTo>
                <a:lnTo>
                  <a:pt x="1463347" y="1092129"/>
                </a:lnTo>
                <a:lnTo>
                  <a:pt x="1463347" y="1091347"/>
                </a:lnTo>
                <a:lnTo>
                  <a:pt x="1466097" y="1091347"/>
                </a:lnTo>
                <a:lnTo>
                  <a:pt x="1466097" y="1090598"/>
                </a:lnTo>
                <a:lnTo>
                  <a:pt x="1474218" y="1090598"/>
                </a:lnTo>
                <a:lnTo>
                  <a:pt x="1474218" y="1089816"/>
                </a:lnTo>
                <a:lnTo>
                  <a:pt x="1485089" y="1089816"/>
                </a:lnTo>
                <a:lnTo>
                  <a:pt x="1485089" y="1088286"/>
                </a:lnTo>
                <a:lnTo>
                  <a:pt x="1487807" y="1088286"/>
                </a:lnTo>
                <a:lnTo>
                  <a:pt x="1487807" y="1087537"/>
                </a:lnTo>
                <a:lnTo>
                  <a:pt x="1490525" y="1087537"/>
                </a:lnTo>
                <a:lnTo>
                  <a:pt x="1490525" y="1086755"/>
                </a:lnTo>
                <a:lnTo>
                  <a:pt x="1509517" y="1086755"/>
                </a:lnTo>
                <a:lnTo>
                  <a:pt x="1509517" y="1086006"/>
                </a:lnTo>
                <a:lnTo>
                  <a:pt x="1523105" y="1086006"/>
                </a:lnTo>
                <a:lnTo>
                  <a:pt x="1523105" y="1084459"/>
                </a:lnTo>
                <a:lnTo>
                  <a:pt x="1552968" y="1084459"/>
                </a:lnTo>
                <a:lnTo>
                  <a:pt x="1552968" y="1083678"/>
                </a:lnTo>
                <a:lnTo>
                  <a:pt x="1580113" y="1083678"/>
                </a:lnTo>
                <a:lnTo>
                  <a:pt x="1580113" y="1082912"/>
                </a:lnTo>
                <a:lnTo>
                  <a:pt x="1596388" y="1082912"/>
                </a:lnTo>
                <a:lnTo>
                  <a:pt x="1596388" y="1081366"/>
                </a:lnTo>
                <a:lnTo>
                  <a:pt x="1599105" y="1081366"/>
                </a:lnTo>
                <a:lnTo>
                  <a:pt x="1599105" y="1079037"/>
                </a:lnTo>
                <a:lnTo>
                  <a:pt x="1604541" y="1079037"/>
                </a:lnTo>
                <a:lnTo>
                  <a:pt x="1604541" y="1077490"/>
                </a:lnTo>
                <a:lnTo>
                  <a:pt x="1607226" y="1077490"/>
                </a:lnTo>
                <a:lnTo>
                  <a:pt x="1607226" y="1076709"/>
                </a:lnTo>
                <a:lnTo>
                  <a:pt x="1615380" y="1076709"/>
                </a:lnTo>
                <a:lnTo>
                  <a:pt x="1615380" y="1075162"/>
                </a:lnTo>
                <a:lnTo>
                  <a:pt x="1618097" y="1075162"/>
                </a:lnTo>
                <a:lnTo>
                  <a:pt x="1618097" y="1071254"/>
                </a:lnTo>
                <a:lnTo>
                  <a:pt x="1620815" y="1071254"/>
                </a:lnTo>
                <a:lnTo>
                  <a:pt x="1620815" y="1070488"/>
                </a:lnTo>
                <a:lnTo>
                  <a:pt x="1623533" y="1070488"/>
                </a:lnTo>
                <a:lnTo>
                  <a:pt x="1623533" y="1069691"/>
                </a:lnTo>
                <a:lnTo>
                  <a:pt x="1626251" y="1069691"/>
                </a:lnTo>
                <a:lnTo>
                  <a:pt x="1626251" y="1068144"/>
                </a:lnTo>
                <a:lnTo>
                  <a:pt x="1628968" y="1068144"/>
                </a:lnTo>
                <a:lnTo>
                  <a:pt x="1628968" y="1065783"/>
                </a:lnTo>
                <a:lnTo>
                  <a:pt x="1631686" y="1065783"/>
                </a:lnTo>
                <a:lnTo>
                  <a:pt x="1631686" y="1065017"/>
                </a:lnTo>
                <a:lnTo>
                  <a:pt x="1637089" y="1065017"/>
                </a:lnTo>
                <a:lnTo>
                  <a:pt x="1637089" y="1061875"/>
                </a:lnTo>
                <a:lnTo>
                  <a:pt x="1639839" y="1061875"/>
                </a:lnTo>
                <a:lnTo>
                  <a:pt x="1639839" y="1061077"/>
                </a:lnTo>
                <a:lnTo>
                  <a:pt x="1642525" y="1061077"/>
                </a:lnTo>
                <a:lnTo>
                  <a:pt x="1642525" y="1060295"/>
                </a:lnTo>
                <a:lnTo>
                  <a:pt x="1645242" y="1060295"/>
                </a:lnTo>
                <a:lnTo>
                  <a:pt x="1645242" y="1058732"/>
                </a:lnTo>
                <a:lnTo>
                  <a:pt x="1653396" y="1058732"/>
                </a:lnTo>
                <a:lnTo>
                  <a:pt x="1653396" y="1056371"/>
                </a:lnTo>
                <a:lnTo>
                  <a:pt x="1656113" y="1056371"/>
                </a:lnTo>
                <a:lnTo>
                  <a:pt x="1656113" y="1055557"/>
                </a:lnTo>
                <a:lnTo>
                  <a:pt x="1658799" y="1055557"/>
                </a:lnTo>
                <a:lnTo>
                  <a:pt x="1658799" y="1053977"/>
                </a:lnTo>
                <a:lnTo>
                  <a:pt x="1666953" y="1053977"/>
                </a:lnTo>
                <a:lnTo>
                  <a:pt x="1666953" y="1053196"/>
                </a:lnTo>
                <a:lnTo>
                  <a:pt x="1672388" y="1053196"/>
                </a:lnTo>
                <a:lnTo>
                  <a:pt x="1672388" y="1052398"/>
                </a:lnTo>
                <a:lnTo>
                  <a:pt x="1705000" y="1052398"/>
                </a:lnTo>
                <a:lnTo>
                  <a:pt x="1705000" y="1051600"/>
                </a:lnTo>
                <a:lnTo>
                  <a:pt x="1707686" y="1051600"/>
                </a:lnTo>
                <a:lnTo>
                  <a:pt x="1707686" y="1050786"/>
                </a:lnTo>
                <a:lnTo>
                  <a:pt x="1710403" y="1050786"/>
                </a:lnTo>
                <a:lnTo>
                  <a:pt x="1710403" y="1050004"/>
                </a:lnTo>
                <a:lnTo>
                  <a:pt x="1713122" y="1050004"/>
                </a:lnTo>
                <a:lnTo>
                  <a:pt x="1713122" y="1049206"/>
                </a:lnTo>
                <a:lnTo>
                  <a:pt x="1715839" y="1049206"/>
                </a:lnTo>
                <a:lnTo>
                  <a:pt x="1715839" y="1048392"/>
                </a:lnTo>
                <a:lnTo>
                  <a:pt x="1729395" y="1048392"/>
                </a:lnTo>
                <a:lnTo>
                  <a:pt x="1729395" y="1046780"/>
                </a:lnTo>
                <a:lnTo>
                  <a:pt x="1732114" y="1046780"/>
                </a:lnTo>
                <a:lnTo>
                  <a:pt x="1732114" y="1045982"/>
                </a:lnTo>
                <a:lnTo>
                  <a:pt x="1751138" y="1045982"/>
                </a:lnTo>
                <a:lnTo>
                  <a:pt x="1751138" y="1045184"/>
                </a:lnTo>
                <a:lnTo>
                  <a:pt x="1759259" y="1045184"/>
                </a:lnTo>
                <a:lnTo>
                  <a:pt x="1759259" y="1044370"/>
                </a:lnTo>
                <a:lnTo>
                  <a:pt x="1770130" y="1044370"/>
                </a:lnTo>
                <a:lnTo>
                  <a:pt x="1770130" y="1043556"/>
                </a:lnTo>
                <a:lnTo>
                  <a:pt x="1824420" y="1043556"/>
                </a:lnTo>
                <a:lnTo>
                  <a:pt x="1824420" y="1042742"/>
                </a:lnTo>
                <a:lnTo>
                  <a:pt x="1838008" y="1042742"/>
                </a:lnTo>
                <a:lnTo>
                  <a:pt x="1838008" y="1041911"/>
                </a:lnTo>
                <a:lnTo>
                  <a:pt x="1846129" y="1041911"/>
                </a:lnTo>
                <a:lnTo>
                  <a:pt x="1846129" y="1040283"/>
                </a:lnTo>
                <a:lnTo>
                  <a:pt x="1870557" y="1040283"/>
                </a:lnTo>
                <a:lnTo>
                  <a:pt x="1870557" y="1038606"/>
                </a:lnTo>
                <a:lnTo>
                  <a:pt x="1878710" y="1038606"/>
                </a:lnTo>
                <a:lnTo>
                  <a:pt x="1878710" y="1037792"/>
                </a:lnTo>
                <a:lnTo>
                  <a:pt x="1889581" y="1037792"/>
                </a:lnTo>
                <a:lnTo>
                  <a:pt x="1889581" y="1036945"/>
                </a:lnTo>
                <a:lnTo>
                  <a:pt x="1903138" y="1036945"/>
                </a:lnTo>
                <a:lnTo>
                  <a:pt x="1903138" y="1036115"/>
                </a:lnTo>
                <a:lnTo>
                  <a:pt x="1908573" y="1036115"/>
                </a:lnTo>
                <a:lnTo>
                  <a:pt x="1908573" y="1035284"/>
                </a:lnTo>
                <a:lnTo>
                  <a:pt x="1927566" y="1035284"/>
                </a:lnTo>
                <a:lnTo>
                  <a:pt x="1927566" y="1034437"/>
                </a:lnTo>
                <a:lnTo>
                  <a:pt x="1930315" y="1034437"/>
                </a:lnTo>
                <a:lnTo>
                  <a:pt x="1930315" y="1033591"/>
                </a:lnTo>
                <a:lnTo>
                  <a:pt x="1933001" y="1033591"/>
                </a:lnTo>
                <a:lnTo>
                  <a:pt x="1933001" y="1031930"/>
                </a:lnTo>
                <a:lnTo>
                  <a:pt x="1935718" y="1031930"/>
                </a:lnTo>
                <a:lnTo>
                  <a:pt x="1935718" y="1030236"/>
                </a:lnTo>
                <a:lnTo>
                  <a:pt x="1941154" y="1030236"/>
                </a:lnTo>
                <a:lnTo>
                  <a:pt x="1941154" y="1026003"/>
                </a:lnTo>
                <a:lnTo>
                  <a:pt x="1943871" y="1026003"/>
                </a:lnTo>
                <a:lnTo>
                  <a:pt x="1943871" y="1024309"/>
                </a:lnTo>
                <a:lnTo>
                  <a:pt x="1946590" y="1024309"/>
                </a:lnTo>
                <a:lnTo>
                  <a:pt x="1946590" y="1021753"/>
                </a:lnTo>
                <a:lnTo>
                  <a:pt x="1949275" y="1021753"/>
                </a:lnTo>
                <a:lnTo>
                  <a:pt x="1949275" y="1020906"/>
                </a:lnTo>
                <a:lnTo>
                  <a:pt x="1954711" y="1020906"/>
                </a:lnTo>
                <a:lnTo>
                  <a:pt x="1954711" y="1019213"/>
                </a:lnTo>
                <a:lnTo>
                  <a:pt x="1957428" y="1019213"/>
                </a:lnTo>
                <a:lnTo>
                  <a:pt x="1957428" y="1018350"/>
                </a:lnTo>
                <a:lnTo>
                  <a:pt x="1960146" y="1018350"/>
                </a:lnTo>
                <a:lnTo>
                  <a:pt x="1960146" y="1012374"/>
                </a:lnTo>
                <a:lnTo>
                  <a:pt x="1962863" y="1012374"/>
                </a:lnTo>
                <a:lnTo>
                  <a:pt x="1962863" y="1011511"/>
                </a:lnTo>
                <a:lnTo>
                  <a:pt x="1965582" y="1011511"/>
                </a:lnTo>
                <a:lnTo>
                  <a:pt x="1965582" y="1007212"/>
                </a:lnTo>
                <a:lnTo>
                  <a:pt x="1968299" y="1007212"/>
                </a:lnTo>
                <a:lnTo>
                  <a:pt x="1968299" y="1006349"/>
                </a:lnTo>
                <a:lnTo>
                  <a:pt x="1971017" y="1006349"/>
                </a:lnTo>
                <a:lnTo>
                  <a:pt x="1971017" y="1004639"/>
                </a:lnTo>
                <a:lnTo>
                  <a:pt x="1973735" y="1004639"/>
                </a:lnTo>
                <a:lnTo>
                  <a:pt x="1973735" y="999461"/>
                </a:lnTo>
                <a:lnTo>
                  <a:pt x="1976453" y="999461"/>
                </a:lnTo>
                <a:lnTo>
                  <a:pt x="1976453" y="996888"/>
                </a:lnTo>
                <a:lnTo>
                  <a:pt x="1979138" y="996888"/>
                </a:lnTo>
                <a:lnTo>
                  <a:pt x="1979138" y="996026"/>
                </a:lnTo>
                <a:lnTo>
                  <a:pt x="1981887" y="996026"/>
                </a:lnTo>
                <a:lnTo>
                  <a:pt x="1981887" y="995162"/>
                </a:lnTo>
                <a:lnTo>
                  <a:pt x="1984574" y="995162"/>
                </a:lnTo>
                <a:lnTo>
                  <a:pt x="1984574" y="994299"/>
                </a:lnTo>
                <a:lnTo>
                  <a:pt x="1987323" y="994299"/>
                </a:lnTo>
                <a:lnTo>
                  <a:pt x="1987323" y="993437"/>
                </a:lnTo>
                <a:lnTo>
                  <a:pt x="1990009" y="993437"/>
                </a:lnTo>
                <a:lnTo>
                  <a:pt x="1990009" y="992573"/>
                </a:lnTo>
                <a:lnTo>
                  <a:pt x="2017186" y="992573"/>
                </a:lnTo>
                <a:lnTo>
                  <a:pt x="2017186" y="990815"/>
                </a:lnTo>
                <a:lnTo>
                  <a:pt x="2019872" y="990815"/>
                </a:lnTo>
                <a:lnTo>
                  <a:pt x="2019872" y="989935"/>
                </a:lnTo>
                <a:lnTo>
                  <a:pt x="2038896" y="989935"/>
                </a:lnTo>
                <a:lnTo>
                  <a:pt x="2038896" y="989073"/>
                </a:lnTo>
                <a:lnTo>
                  <a:pt x="2060605" y="989073"/>
                </a:lnTo>
                <a:lnTo>
                  <a:pt x="2060605" y="988177"/>
                </a:lnTo>
                <a:lnTo>
                  <a:pt x="2068759" y="988177"/>
                </a:lnTo>
                <a:lnTo>
                  <a:pt x="2068759" y="987298"/>
                </a:lnTo>
                <a:lnTo>
                  <a:pt x="2074194" y="987298"/>
                </a:lnTo>
                <a:lnTo>
                  <a:pt x="2074194" y="986402"/>
                </a:lnTo>
                <a:lnTo>
                  <a:pt x="2095904" y="986402"/>
                </a:lnTo>
                <a:lnTo>
                  <a:pt x="2095904" y="985507"/>
                </a:lnTo>
                <a:lnTo>
                  <a:pt x="2150194" y="985507"/>
                </a:lnTo>
                <a:lnTo>
                  <a:pt x="2150194" y="984595"/>
                </a:lnTo>
                <a:lnTo>
                  <a:pt x="2152881" y="984595"/>
                </a:lnTo>
                <a:lnTo>
                  <a:pt x="2152881" y="983667"/>
                </a:lnTo>
                <a:lnTo>
                  <a:pt x="2166469" y="983667"/>
                </a:lnTo>
                <a:lnTo>
                  <a:pt x="2166469" y="982755"/>
                </a:lnTo>
                <a:lnTo>
                  <a:pt x="2207203" y="982755"/>
                </a:lnTo>
                <a:lnTo>
                  <a:pt x="2207203" y="981826"/>
                </a:lnTo>
                <a:lnTo>
                  <a:pt x="2220759" y="981826"/>
                </a:lnTo>
                <a:lnTo>
                  <a:pt x="2220759" y="980898"/>
                </a:lnTo>
                <a:lnTo>
                  <a:pt x="2237066" y="980898"/>
                </a:lnTo>
                <a:lnTo>
                  <a:pt x="2237066" y="979954"/>
                </a:lnTo>
                <a:lnTo>
                  <a:pt x="2242502" y="979954"/>
                </a:lnTo>
                <a:lnTo>
                  <a:pt x="2242502" y="978098"/>
                </a:lnTo>
                <a:lnTo>
                  <a:pt x="2245187" y="978098"/>
                </a:lnTo>
                <a:lnTo>
                  <a:pt x="2245187" y="977153"/>
                </a:lnTo>
                <a:lnTo>
                  <a:pt x="2261461" y="977153"/>
                </a:lnTo>
                <a:lnTo>
                  <a:pt x="2261461" y="976209"/>
                </a:lnTo>
                <a:lnTo>
                  <a:pt x="2264211" y="976209"/>
                </a:lnTo>
                <a:lnTo>
                  <a:pt x="2264211" y="971438"/>
                </a:lnTo>
                <a:lnTo>
                  <a:pt x="2266896" y="971438"/>
                </a:lnTo>
                <a:lnTo>
                  <a:pt x="2266896" y="969533"/>
                </a:lnTo>
                <a:lnTo>
                  <a:pt x="2269615" y="969533"/>
                </a:lnTo>
                <a:lnTo>
                  <a:pt x="2269615" y="968572"/>
                </a:lnTo>
                <a:lnTo>
                  <a:pt x="2275049" y="968572"/>
                </a:lnTo>
                <a:lnTo>
                  <a:pt x="2275049" y="967611"/>
                </a:lnTo>
                <a:lnTo>
                  <a:pt x="2277799" y="967611"/>
                </a:lnTo>
                <a:lnTo>
                  <a:pt x="2277799" y="965706"/>
                </a:lnTo>
                <a:lnTo>
                  <a:pt x="2280485" y="965706"/>
                </a:lnTo>
                <a:lnTo>
                  <a:pt x="2280485" y="963769"/>
                </a:lnTo>
                <a:lnTo>
                  <a:pt x="2283203" y="963769"/>
                </a:lnTo>
                <a:lnTo>
                  <a:pt x="2283203" y="959926"/>
                </a:lnTo>
                <a:lnTo>
                  <a:pt x="2285920" y="959926"/>
                </a:lnTo>
                <a:lnTo>
                  <a:pt x="2285920" y="957027"/>
                </a:lnTo>
                <a:lnTo>
                  <a:pt x="2288639" y="957027"/>
                </a:lnTo>
                <a:lnTo>
                  <a:pt x="2288639" y="956066"/>
                </a:lnTo>
                <a:lnTo>
                  <a:pt x="2296760" y="956066"/>
                </a:lnTo>
                <a:lnTo>
                  <a:pt x="2296760" y="954113"/>
                </a:lnTo>
                <a:lnTo>
                  <a:pt x="2299509" y="954113"/>
                </a:lnTo>
                <a:lnTo>
                  <a:pt x="2299509" y="953119"/>
                </a:lnTo>
                <a:lnTo>
                  <a:pt x="2302195" y="953119"/>
                </a:lnTo>
                <a:lnTo>
                  <a:pt x="2302195" y="951182"/>
                </a:lnTo>
                <a:lnTo>
                  <a:pt x="2313065" y="951182"/>
                </a:lnTo>
                <a:lnTo>
                  <a:pt x="2313065" y="949211"/>
                </a:lnTo>
                <a:lnTo>
                  <a:pt x="2315784" y="949211"/>
                </a:lnTo>
                <a:lnTo>
                  <a:pt x="2315784" y="948218"/>
                </a:lnTo>
                <a:lnTo>
                  <a:pt x="2318501" y="948218"/>
                </a:lnTo>
                <a:lnTo>
                  <a:pt x="2318501" y="947225"/>
                </a:lnTo>
                <a:lnTo>
                  <a:pt x="2329372" y="947225"/>
                </a:lnTo>
                <a:lnTo>
                  <a:pt x="2329372" y="946232"/>
                </a:lnTo>
                <a:lnTo>
                  <a:pt x="2351082" y="946232"/>
                </a:lnTo>
                <a:lnTo>
                  <a:pt x="2351082" y="945255"/>
                </a:lnTo>
                <a:lnTo>
                  <a:pt x="2356485" y="945255"/>
                </a:lnTo>
                <a:lnTo>
                  <a:pt x="2356485" y="944245"/>
                </a:lnTo>
                <a:lnTo>
                  <a:pt x="2364670" y="944245"/>
                </a:lnTo>
                <a:lnTo>
                  <a:pt x="2364670" y="943235"/>
                </a:lnTo>
                <a:lnTo>
                  <a:pt x="2378195" y="943235"/>
                </a:lnTo>
                <a:lnTo>
                  <a:pt x="2378195" y="942226"/>
                </a:lnTo>
                <a:lnTo>
                  <a:pt x="2394501" y="942226"/>
                </a:lnTo>
                <a:lnTo>
                  <a:pt x="2394501" y="941233"/>
                </a:lnTo>
                <a:lnTo>
                  <a:pt x="2397219" y="941233"/>
                </a:lnTo>
                <a:lnTo>
                  <a:pt x="2397219" y="940207"/>
                </a:lnTo>
                <a:lnTo>
                  <a:pt x="2399937" y="940207"/>
                </a:lnTo>
                <a:lnTo>
                  <a:pt x="2399937" y="939181"/>
                </a:lnTo>
                <a:lnTo>
                  <a:pt x="2405373" y="939181"/>
                </a:lnTo>
                <a:lnTo>
                  <a:pt x="2405373" y="938155"/>
                </a:lnTo>
                <a:lnTo>
                  <a:pt x="2408058" y="938155"/>
                </a:lnTo>
                <a:lnTo>
                  <a:pt x="2408058" y="937129"/>
                </a:lnTo>
                <a:lnTo>
                  <a:pt x="2416243" y="937129"/>
                </a:lnTo>
                <a:lnTo>
                  <a:pt x="2416243" y="936103"/>
                </a:lnTo>
                <a:lnTo>
                  <a:pt x="2418929" y="936103"/>
                </a:lnTo>
                <a:lnTo>
                  <a:pt x="2418929" y="935078"/>
                </a:lnTo>
                <a:lnTo>
                  <a:pt x="2427082" y="935078"/>
                </a:lnTo>
                <a:lnTo>
                  <a:pt x="2427082" y="934035"/>
                </a:lnTo>
                <a:lnTo>
                  <a:pt x="2435203" y="934035"/>
                </a:lnTo>
                <a:lnTo>
                  <a:pt x="2435203" y="932993"/>
                </a:lnTo>
                <a:lnTo>
                  <a:pt x="2484090" y="932993"/>
                </a:lnTo>
                <a:lnTo>
                  <a:pt x="2484090" y="931951"/>
                </a:lnTo>
                <a:lnTo>
                  <a:pt x="2489526" y="931951"/>
                </a:lnTo>
                <a:lnTo>
                  <a:pt x="2489526" y="929818"/>
                </a:lnTo>
                <a:lnTo>
                  <a:pt x="2492243" y="929818"/>
                </a:lnTo>
                <a:lnTo>
                  <a:pt x="2492243" y="928743"/>
                </a:lnTo>
                <a:lnTo>
                  <a:pt x="2505800" y="928743"/>
                </a:lnTo>
                <a:lnTo>
                  <a:pt x="2505800" y="927669"/>
                </a:lnTo>
                <a:lnTo>
                  <a:pt x="2511235" y="927669"/>
                </a:lnTo>
                <a:lnTo>
                  <a:pt x="2511235" y="926578"/>
                </a:lnTo>
                <a:lnTo>
                  <a:pt x="2530260" y="926578"/>
                </a:lnTo>
                <a:lnTo>
                  <a:pt x="2530260" y="925503"/>
                </a:lnTo>
                <a:lnTo>
                  <a:pt x="2532945" y="925503"/>
                </a:lnTo>
                <a:lnTo>
                  <a:pt x="2532945" y="924396"/>
                </a:lnTo>
                <a:lnTo>
                  <a:pt x="2551969" y="924396"/>
                </a:lnTo>
                <a:lnTo>
                  <a:pt x="2551969" y="923305"/>
                </a:lnTo>
                <a:lnTo>
                  <a:pt x="2565525" y="923305"/>
                </a:lnTo>
                <a:lnTo>
                  <a:pt x="2565525" y="922181"/>
                </a:lnTo>
                <a:lnTo>
                  <a:pt x="2576397" y="922181"/>
                </a:lnTo>
                <a:lnTo>
                  <a:pt x="2576397" y="921074"/>
                </a:lnTo>
                <a:lnTo>
                  <a:pt x="2579114" y="921074"/>
                </a:lnTo>
                <a:lnTo>
                  <a:pt x="2579114" y="919934"/>
                </a:lnTo>
                <a:lnTo>
                  <a:pt x="2581832" y="919934"/>
                </a:lnTo>
                <a:lnTo>
                  <a:pt x="2581832" y="918827"/>
                </a:lnTo>
                <a:lnTo>
                  <a:pt x="2587235" y="918827"/>
                </a:lnTo>
                <a:lnTo>
                  <a:pt x="2587235" y="916580"/>
                </a:lnTo>
                <a:lnTo>
                  <a:pt x="2589985" y="916580"/>
                </a:lnTo>
                <a:lnTo>
                  <a:pt x="2589985" y="915440"/>
                </a:lnTo>
                <a:lnTo>
                  <a:pt x="2603542" y="915440"/>
                </a:lnTo>
                <a:lnTo>
                  <a:pt x="2603542" y="913160"/>
                </a:lnTo>
                <a:lnTo>
                  <a:pt x="2608946" y="913160"/>
                </a:lnTo>
                <a:lnTo>
                  <a:pt x="2608946" y="910881"/>
                </a:lnTo>
                <a:lnTo>
                  <a:pt x="2611695" y="910881"/>
                </a:lnTo>
                <a:lnTo>
                  <a:pt x="2611695" y="909725"/>
                </a:lnTo>
                <a:lnTo>
                  <a:pt x="2614381" y="909725"/>
                </a:lnTo>
                <a:lnTo>
                  <a:pt x="2614381" y="908569"/>
                </a:lnTo>
                <a:lnTo>
                  <a:pt x="2617098" y="908569"/>
                </a:lnTo>
                <a:lnTo>
                  <a:pt x="2617098" y="907412"/>
                </a:lnTo>
                <a:lnTo>
                  <a:pt x="2619816" y="907412"/>
                </a:lnTo>
                <a:lnTo>
                  <a:pt x="2619816" y="903928"/>
                </a:lnTo>
                <a:lnTo>
                  <a:pt x="2622534" y="903928"/>
                </a:lnTo>
                <a:lnTo>
                  <a:pt x="2622534" y="902772"/>
                </a:lnTo>
                <a:lnTo>
                  <a:pt x="2625251" y="902772"/>
                </a:lnTo>
                <a:lnTo>
                  <a:pt x="2625251" y="899287"/>
                </a:lnTo>
                <a:lnTo>
                  <a:pt x="2627969" y="899287"/>
                </a:lnTo>
                <a:lnTo>
                  <a:pt x="2627969" y="895803"/>
                </a:lnTo>
                <a:lnTo>
                  <a:pt x="2630687" y="895803"/>
                </a:lnTo>
                <a:lnTo>
                  <a:pt x="2630687" y="893458"/>
                </a:lnTo>
                <a:lnTo>
                  <a:pt x="2633405" y="893458"/>
                </a:lnTo>
                <a:lnTo>
                  <a:pt x="2633405" y="892285"/>
                </a:lnTo>
                <a:lnTo>
                  <a:pt x="2638808" y="892285"/>
                </a:lnTo>
                <a:lnTo>
                  <a:pt x="2638808" y="891113"/>
                </a:lnTo>
                <a:lnTo>
                  <a:pt x="2655114" y="891113"/>
                </a:lnTo>
                <a:lnTo>
                  <a:pt x="2655114" y="889941"/>
                </a:lnTo>
                <a:lnTo>
                  <a:pt x="2663267" y="889941"/>
                </a:lnTo>
                <a:lnTo>
                  <a:pt x="2663267" y="888736"/>
                </a:lnTo>
                <a:lnTo>
                  <a:pt x="2671421" y="888736"/>
                </a:lnTo>
                <a:lnTo>
                  <a:pt x="2671421" y="887547"/>
                </a:lnTo>
                <a:lnTo>
                  <a:pt x="2682259" y="887547"/>
                </a:lnTo>
                <a:lnTo>
                  <a:pt x="2682259" y="883981"/>
                </a:lnTo>
                <a:lnTo>
                  <a:pt x="2684978" y="883981"/>
                </a:lnTo>
                <a:lnTo>
                  <a:pt x="2684978" y="881587"/>
                </a:lnTo>
                <a:lnTo>
                  <a:pt x="2701252" y="881587"/>
                </a:lnTo>
                <a:lnTo>
                  <a:pt x="2701252" y="880366"/>
                </a:lnTo>
                <a:lnTo>
                  <a:pt x="2706687" y="880366"/>
                </a:lnTo>
                <a:lnTo>
                  <a:pt x="2706687" y="879161"/>
                </a:lnTo>
                <a:lnTo>
                  <a:pt x="2725680" y="879161"/>
                </a:lnTo>
                <a:lnTo>
                  <a:pt x="2725680" y="877924"/>
                </a:lnTo>
                <a:lnTo>
                  <a:pt x="2736550" y="877924"/>
                </a:lnTo>
                <a:lnTo>
                  <a:pt x="2736550" y="876702"/>
                </a:lnTo>
                <a:lnTo>
                  <a:pt x="2760977" y="876702"/>
                </a:lnTo>
                <a:lnTo>
                  <a:pt x="2760977" y="875449"/>
                </a:lnTo>
                <a:lnTo>
                  <a:pt x="2777252" y="875449"/>
                </a:lnTo>
                <a:lnTo>
                  <a:pt x="2777252" y="874179"/>
                </a:lnTo>
                <a:lnTo>
                  <a:pt x="2812550" y="874179"/>
                </a:lnTo>
                <a:lnTo>
                  <a:pt x="2812550" y="872908"/>
                </a:lnTo>
                <a:lnTo>
                  <a:pt x="2823421" y="872908"/>
                </a:lnTo>
                <a:lnTo>
                  <a:pt x="2823421" y="871606"/>
                </a:lnTo>
                <a:lnTo>
                  <a:pt x="2883147" y="871606"/>
                </a:lnTo>
                <a:lnTo>
                  <a:pt x="2883147" y="870287"/>
                </a:lnTo>
                <a:lnTo>
                  <a:pt x="2910292" y="870287"/>
                </a:lnTo>
                <a:lnTo>
                  <a:pt x="2910292" y="867584"/>
                </a:lnTo>
                <a:lnTo>
                  <a:pt x="2913010" y="867584"/>
                </a:lnTo>
                <a:lnTo>
                  <a:pt x="2913010" y="862178"/>
                </a:lnTo>
                <a:lnTo>
                  <a:pt x="2915696" y="862178"/>
                </a:lnTo>
                <a:lnTo>
                  <a:pt x="2915696" y="860826"/>
                </a:lnTo>
                <a:lnTo>
                  <a:pt x="2923881" y="860826"/>
                </a:lnTo>
                <a:lnTo>
                  <a:pt x="2923881" y="858091"/>
                </a:lnTo>
                <a:lnTo>
                  <a:pt x="2929284" y="858091"/>
                </a:lnTo>
                <a:lnTo>
                  <a:pt x="2929284" y="855355"/>
                </a:lnTo>
                <a:lnTo>
                  <a:pt x="2932034" y="855355"/>
                </a:lnTo>
                <a:lnTo>
                  <a:pt x="2932034" y="852603"/>
                </a:lnTo>
                <a:lnTo>
                  <a:pt x="2937438" y="852603"/>
                </a:lnTo>
                <a:lnTo>
                  <a:pt x="2937438" y="851236"/>
                </a:lnTo>
                <a:lnTo>
                  <a:pt x="2942872" y="851236"/>
                </a:lnTo>
                <a:lnTo>
                  <a:pt x="2942872" y="849835"/>
                </a:lnTo>
                <a:lnTo>
                  <a:pt x="2948308" y="849835"/>
                </a:lnTo>
                <a:lnTo>
                  <a:pt x="2948308" y="845667"/>
                </a:lnTo>
                <a:lnTo>
                  <a:pt x="2953744" y="845667"/>
                </a:lnTo>
                <a:lnTo>
                  <a:pt x="2953744" y="844250"/>
                </a:lnTo>
                <a:lnTo>
                  <a:pt x="2956429" y="844250"/>
                </a:lnTo>
                <a:lnTo>
                  <a:pt x="2956429" y="842833"/>
                </a:lnTo>
                <a:lnTo>
                  <a:pt x="2970018" y="842833"/>
                </a:lnTo>
                <a:lnTo>
                  <a:pt x="2970018" y="841417"/>
                </a:lnTo>
                <a:lnTo>
                  <a:pt x="2978171" y="841417"/>
                </a:lnTo>
                <a:lnTo>
                  <a:pt x="2978171" y="840000"/>
                </a:lnTo>
                <a:lnTo>
                  <a:pt x="3035180" y="840000"/>
                </a:lnTo>
                <a:lnTo>
                  <a:pt x="3035180" y="837053"/>
                </a:lnTo>
                <a:lnTo>
                  <a:pt x="3054172" y="837053"/>
                </a:lnTo>
                <a:lnTo>
                  <a:pt x="3054172" y="835555"/>
                </a:lnTo>
                <a:lnTo>
                  <a:pt x="3065042" y="835555"/>
                </a:lnTo>
                <a:lnTo>
                  <a:pt x="3065042" y="834057"/>
                </a:lnTo>
                <a:lnTo>
                  <a:pt x="3067760" y="834057"/>
                </a:lnTo>
                <a:lnTo>
                  <a:pt x="3067760" y="831061"/>
                </a:lnTo>
                <a:lnTo>
                  <a:pt x="3081317" y="831061"/>
                </a:lnTo>
                <a:lnTo>
                  <a:pt x="3081317" y="829546"/>
                </a:lnTo>
                <a:lnTo>
                  <a:pt x="3084034" y="829546"/>
                </a:lnTo>
                <a:lnTo>
                  <a:pt x="3084034" y="828032"/>
                </a:lnTo>
                <a:lnTo>
                  <a:pt x="3100309" y="828032"/>
                </a:lnTo>
                <a:lnTo>
                  <a:pt x="3100309" y="826501"/>
                </a:lnTo>
                <a:lnTo>
                  <a:pt x="3151914" y="826501"/>
                </a:lnTo>
                <a:lnTo>
                  <a:pt x="3151914" y="824922"/>
                </a:lnTo>
                <a:lnTo>
                  <a:pt x="3225196" y="824922"/>
                </a:lnTo>
                <a:lnTo>
                  <a:pt x="3225196" y="823277"/>
                </a:lnTo>
                <a:lnTo>
                  <a:pt x="3227913" y="823277"/>
                </a:lnTo>
                <a:lnTo>
                  <a:pt x="3227913" y="820004"/>
                </a:lnTo>
                <a:lnTo>
                  <a:pt x="3230631" y="820004"/>
                </a:lnTo>
                <a:lnTo>
                  <a:pt x="3230631" y="816715"/>
                </a:lnTo>
                <a:lnTo>
                  <a:pt x="3233317" y="816715"/>
                </a:lnTo>
                <a:lnTo>
                  <a:pt x="3233317" y="815071"/>
                </a:lnTo>
                <a:lnTo>
                  <a:pt x="3238784" y="815071"/>
                </a:lnTo>
                <a:lnTo>
                  <a:pt x="3238784" y="811749"/>
                </a:lnTo>
                <a:lnTo>
                  <a:pt x="3241470" y="811749"/>
                </a:lnTo>
                <a:lnTo>
                  <a:pt x="3241470" y="810088"/>
                </a:lnTo>
                <a:lnTo>
                  <a:pt x="3249656" y="810088"/>
                </a:lnTo>
                <a:lnTo>
                  <a:pt x="3249656" y="808427"/>
                </a:lnTo>
                <a:lnTo>
                  <a:pt x="3252341" y="808427"/>
                </a:lnTo>
                <a:lnTo>
                  <a:pt x="3252341" y="803412"/>
                </a:lnTo>
                <a:lnTo>
                  <a:pt x="3255058" y="803412"/>
                </a:lnTo>
                <a:lnTo>
                  <a:pt x="3255058" y="801735"/>
                </a:lnTo>
                <a:lnTo>
                  <a:pt x="3257776" y="801735"/>
                </a:lnTo>
                <a:lnTo>
                  <a:pt x="3257776" y="800041"/>
                </a:lnTo>
                <a:lnTo>
                  <a:pt x="3265929" y="800041"/>
                </a:lnTo>
                <a:lnTo>
                  <a:pt x="3265929" y="798348"/>
                </a:lnTo>
                <a:lnTo>
                  <a:pt x="3271365" y="798348"/>
                </a:lnTo>
                <a:lnTo>
                  <a:pt x="3271365" y="794945"/>
                </a:lnTo>
                <a:lnTo>
                  <a:pt x="3274050" y="794945"/>
                </a:lnTo>
                <a:lnTo>
                  <a:pt x="3274050" y="791525"/>
                </a:lnTo>
                <a:lnTo>
                  <a:pt x="3282204" y="791525"/>
                </a:lnTo>
                <a:lnTo>
                  <a:pt x="3282204" y="789799"/>
                </a:lnTo>
                <a:lnTo>
                  <a:pt x="3290357" y="789799"/>
                </a:lnTo>
                <a:lnTo>
                  <a:pt x="3290357" y="788073"/>
                </a:lnTo>
                <a:lnTo>
                  <a:pt x="3328342" y="788073"/>
                </a:lnTo>
                <a:lnTo>
                  <a:pt x="3328342" y="784507"/>
                </a:lnTo>
                <a:lnTo>
                  <a:pt x="3339211" y="784507"/>
                </a:lnTo>
                <a:lnTo>
                  <a:pt x="3339211" y="782716"/>
                </a:lnTo>
                <a:lnTo>
                  <a:pt x="3344647" y="782716"/>
                </a:lnTo>
                <a:lnTo>
                  <a:pt x="3344647" y="780909"/>
                </a:lnTo>
                <a:lnTo>
                  <a:pt x="3347365" y="780909"/>
                </a:lnTo>
                <a:lnTo>
                  <a:pt x="3347365" y="779117"/>
                </a:lnTo>
                <a:lnTo>
                  <a:pt x="3382663" y="779117"/>
                </a:lnTo>
                <a:lnTo>
                  <a:pt x="3382663" y="777261"/>
                </a:lnTo>
                <a:lnTo>
                  <a:pt x="3431519" y="777261"/>
                </a:lnTo>
                <a:lnTo>
                  <a:pt x="3431519" y="775356"/>
                </a:lnTo>
                <a:lnTo>
                  <a:pt x="3472221" y="775356"/>
                </a:lnTo>
                <a:lnTo>
                  <a:pt x="3472221" y="773386"/>
                </a:lnTo>
                <a:lnTo>
                  <a:pt x="3502083" y="773386"/>
                </a:lnTo>
                <a:lnTo>
                  <a:pt x="3502083" y="771383"/>
                </a:lnTo>
                <a:lnTo>
                  <a:pt x="3507518" y="771383"/>
                </a:lnTo>
                <a:lnTo>
                  <a:pt x="3507518" y="769364"/>
                </a:lnTo>
                <a:lnTo>
                  <a:pt x="3534664" y="769364"/>
                </a:lnTo>
                <a:lnTo>
                  <a:pt x="3534664" y="767312"/>
                </a:lnTo>
                <a:lnTo>
                  <a:pt x="3556406" y="767312"/>
                </a:lnTo>
                <a:lnTo>
                  <a:pt x="3556406" y="763144"/>
                </a:lnTo>
                <a:lnTo>
                  <a:pt x="3559091" y="763144"/>
                </a:lnTo>
                <a:lnTo>
                  <a:pt x="3559091" y="758943"/>
                </a:lnTo>
                <a:lnTo>
                  <a:pt x="3575398" y="758943"/>
                </a:lnTo>
                <a:lnTo>
                  <a:pt x="3575398" y="754660"/>
                </a:lnTo>
                <a:lnTo>
                  <a:pt x="3578115" y="754660"/>
                </a:lnTo>
                <a:lnTo>
                  <a:pt x="3578115" y="752478"/>
                </a:lnTo>
                <a:lnTo>
                  <a:pt x="3580802" y="752478"/>
                </a:lnTo>
                <a:lnTo>
                  <a:pt x="3580802" y="748114"/>
                </a:lnTo>
                <a:lnTo>
                  <a:pt x="3583551" y="748114"/>
                </a:lnTo>
                <a:lnTo>
                  <a:pt x="3583551" y="745932"/>
                </a:lnTo>
                <a:lnTo>
                  <a:pt x="3586269" y="745932"/>
                </a:lnTo>
                <a:lnTo>
                  <a:pt x="3586269" y="741536"/>
                </a:lnTo>
                <a:lnTo>
                  <a:pt x="3588955" y="741536"/>
                </a:lnTo>
                <a:lnTo>
                  <a:pt x="3588955" y="737123"/>
                </a:lnTo>
                <a:lnTo>
                  <a:pt x="3591704" y="737123"/>
                </a:lnTo>
                <a:lnTo>
                  <a:pt x="3591704" y="734925"/>
                </a:lnTo>
                <a:lnTo>
                  <a:pt x="3594390" y="734925"/>
                </a:lnTo>
                <a:lnTo>
                  <a:pt x="3594390" y="732710"/>
                </a:lnTo>
                <a:lnTo>
                  <a:pt x="3610664" y="732710"/>
                </a:lnTo>
                <a:lnTo>
                  <a:pt x="3610664" y="730431"/>
                </a:lnTo>
                <a:lnTo>
                  <a:pt x="3613414" y="730431"/>
                </a:lnTo>
                <a:lnTo>
                  <a:pt x="3613414" y="725871"/>
                </a:lnTo>
                <a:lnTo>
                  <a:pt x="3616100" y="725871"/>
                </a:lnTo>
                <a:lnTo>
                  <a:pt x="3616100" y="723559"/>
                </a:lnTo>
                <a:lnTo>
                  <a:pt x="3651398" y="723559"/>
                </a:lnTo>
                <a:lnTo>
                  <a:pt x="3651398" y="721166"/>
                </a:lnTo>
                <a:lnTo>
                  <a:pt x="3654115" y="721166"/>
                </a:lnTo>
                <a:lnTo>
                  <a:pt x="3654115" y="718756"/>
                </a:lnTo>
                <a:lnTo>
                  <a:pt x="3694849" y="718756"/>
                </a:lnTo>
                <a:lnTo>
                  <a:pt x="3694849" y="716215"/>
                </a:lnTo>
                <a:lnTo>
                  <a:pt x="3708406" y="716215"/>
                </a:lnTo>
                <a:lnTo>
                  <a:pt x="3708406" y="713659"/>
                </a:lnTo>
                <a:lnTo>
                  <a:pt x="3882148" y="713659"/>
                </a:lnTo>
                <a:lnTo>
                  <a:pt x="3882148" y="710370"/>
                </a:lnTo>
                <a:lnTo>
                  <a:pt x="3895736" y="710370"/>
                </a:lnTo>
                <a:lnTo>
                  <a:pt x="3895736" y="707015"/>
                </a:lnTo>
                <a:lnTo>
                  <a:pt x="3906576" y="707015"/>
                </a:lnTo>
                <a:lnTo>
                  <a:pt x="3906576" y="703564"/>
                </a:lnTo>
                <a:lnTo>
                  <a:pt x="3917414" y="703564"/>
                </a:lnTo>
                <a:lnTo>
                  <a:pt x="3917414" y="696480"/>
                </a:lnTo>
                <a:lnTo>
                  <a:pt x="3928285" y="696480"/>
                </a:lnTo>
                <a:lnTo>
                  <a:pt x="3928285" y="692800"/>
                </a:lnTo>
                <a:lnTo>
                  <a:pt x="3960866" y="692800"/>
                </a:lnTo>
              </a:path>
            </a:pathLst>
          </a:custGeom>
          <a:noFill/>
          <a:ln w="20003">
            <a:solidFill>
              <a:srgbClr val="7F7F7F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9" name="published_curve_renal_Финеренон">
            <a:extLst>
              <a:ext uri="{FF2B5EF4-FFF2-40B4-BE49-F238E27FC236}">
                <a16:creationId xmlns:a16="http://schemas.microsoft.com/office/drawing/2014/main" id="{1DE52530-01DC-45C9-9B1B-B0340968763E}"/>
              </a:ext>
            </a:extLst>
          </p:cNvPr>
          <p:cNvSpPr>
            <a:spLocks noGrp="1"/>
          </p:cNvSpPr>
          <p:nvPr/>
        </p:nvSpPr>
        <p:spPr>
          <a:xfrm>
            <a:off x="7639050" y="2580500"/>
            <a:ext cx="3962400" cy="1642017"/>
          </a:xfrm>
          <a:custGeom>
            <a:avLst/>
            <a:gdLst/>
            <a:ahLst/>
            <a:cxnLst/>
            <a:rect l="0" t="0" r="0" b="0"/>
            <a:pathLst>
              <a:path w="3962400" h="1181100">
                <a:moveTo>
                  <a:pt x="160" y="1180888"/>
                </a:moveTo>
                <a:lnTo>
                  <a:pt x="78878" y="1180888"/>
                </a:lnTo>
                <a:lnTo>
                  <a:pt x="78878" y="1180156"/>
                </a:lnTo>
                <a:lnTo>
                  <a:pt x="306910" y="1180156"/>
                </a:lnTo>
                <a:lnTo>
                  <a:pt x="306910" y="1179439"/>
                </a:lnTo>
                <a:lnTo>
                  <a:pt x="323185" y="1179439"/>
                </a:lnTo>
                <a:lnTo>
                  <a:pt x="323185" y="1178690"/>
                </a:lnTo>
                <a:lnTo>
                  <a:pt x="353047" y="1178690"/>
                </a:lnTo>
                <a:lnTo>
                  <a:pt x="353047" y="1177957"/>
                </a:lnTo>
                <a:lnTo>
                  <a:pt x="477935" y="1177957"/>
                </a:lnTo>
                <a:lnTo>
                  <a:pt x="477935" y="1177208"/>
                </a:lnTo>
                <a:lnTo>
                  <a:pt x="483370" y="1177208"/>
                </a:lnTo>
                <a:lnTo>
                  <a:pt x="483370" y="1176459"/>
                </a:lnTo>
                <a:lnTo>
                  <a:pt x="534975" y="1176459"/>
                </a:lnTo>
                <a:lnTo>
                  <a:pt x="534975" y="1175727"/>
                </a:lnTo>
                <a:lnTo>
                  <a:pt x="553935" y="1175727"/>
                </a:lnTo>
                <a:lnTo>
                  <a:pt x="553935" y="1174977"/>
                </a:lnTo>
                <a:lnTo>
                  <a:pt x="559370" y="1174977"/>
                </a:lnTo>
                <a:lnTo>
                  <a:pt x="559370" y="1174229"/>
                </a:lnTo>
                <a:lnTo>
                  <a:pt x="578362" y="1174229"/>
                </a:lnTo>
                <a:lnTo>
                  <a:pt x="578362" y="1173496"/>
                </a:lnTo>
                <a:lnTo>
                  <a:pt x="591951" y="1173496"/>
                </a:lnTo>
                <a:lnTo>
                  <a:pt x="591951" y="1172747"/>
                </a:lnTo>
                <a:lnTo>
                  <a:pt x="624532" y="1172747"/>
                </a:lnTo>
                <a:lnTo>
                  <a:pt x="624532" y="1172014"/>
                </a:lnTo>
                <a:lnTo>
                  <a:pt x="627250" y="1172014"/>
                </a:lnTo>
                <a:lnTo>
                  <a:pt x="627250" y="1171265"/>
                </a:lnTo>
                <a:lnTo>
                  <a:pt x="643524" y="1171265"/>
                </a:lnTo>
                <a:lnTo>
                  <a:pt x="643524" y="1170532"/>
                </a:lnTo>
                <a:lnTo>
                  <a:pt x="648959" y="1170532"/>
                </a:lnTo>
                <a:lnTo>
                  <a:pt x="648959" y="1169018"/>
                </a:lnTo>
                <a:lnTo>
                  <a:pt x="662548" y="1169018"/>
                </a:lnTo>
                <a:lnTo>
                  <a:pt x="662548" y="1168285"/>
                </a:lnTo>
                <a:lnTo>
                  <a:pt x="673419" y="1168285"/>
                </a:lnTo>
                <a:lnTo>
                  <a:pt x="673419" y="1167536"/>
                </a:lnTo>
                <a:lnTo>
                  <a:pt x="678823" y="1167536"/>
                </a:lnTo>
                <a:lnTo>
                  <a:pt x="678823" y="1166803"/>
                </a:lnTo>
                <a:lnTo>
                  <a:pt x="681540" y="1166803"/>
                </a:lnTo>
                <a:lnTo>
                  <a:pt x="681540" y="1166054"/>
                </a:lnTo>
                <a:lnTo>
                  <a:pt x="684257" y="1166054"/>
                </a:lnTo>
                <a:lnTo>
                  <a:pt x="684257" y="1165289"/>
                </a:lnTo>
                <a:lnTo>
                  <a:pt x="738516" y="1165289"/>
                </a:lnTo>
                <a:lnTo>
                  <a:pt x="738516" y="1164556"/>
                </a:lnTo>
                <a:lnTo>
                  <a:pt x="743984" y="1164556"/>
                </a:lnTo>
                <a:lnTo>
                  <a:pt x="743984" y="1163807"/>
                </a:lnTo>
                <a:lnTo>
                  <a:pt x="773814" y="1163807"/>
                </a:lnTo>
                <a:lnTo>
                  <a:pt x="773814" y="1163058"/>
                </a:lnTo>
                <a:lnTo>
                  <a:pt x="898734" y="1163058"/>
                </a:lnTo>
                <a:lnTo>
                  <a:pt x="898734" y="1162309"/>
                </a:lnTo>
                <a:lnTo>
                  <a:pt x="950306" y="1162309"/>
                </a:lnTo>
                <a:lnTo>
                  <a:pt x="950306" y="1161544"/>
                </a:lnTo>
                <a:lnTo>
                  <a:pt x="955741" y="1161544"/>
                </a:lnTo>
                <a:lnTo>
                  <a:pt x="955741" y="1160811"/>
                </a:lnTo>
                <a:lnTo>
                  <a:pt x="972016" y="1160811"/>
                </a:lnTo>
                <a:lnTo>
                  <a:pt x="972016" y="1158564"/>
                </a:lnTo>
                <a:lnTo>
                  <a:pt x="977452" y="1158564"/>
                </a:lnTo>
                <a:lnTo>
                  <a:pt x="977452" y="1157066"/>
                </a:lnTo>
                <a:lnTo>
                  <a:pt x="982854" y="1157066"/>
                </a:lnTo>
                <a:lnTo>
                  <a:pt x="982854" y="1154803"/>
                </a:lnTo>
                <a:lnTo>
                  <a:pt x="985604" y="1154803"/>
                </a:lnTo>
                <a:lnTo>
                  <a:pt x="985604" y="1154054"/>
                </a:lnTo>
                <a:lnTo>
                  <a:pt x="991008" y="1154054"/>
                </a:lnTo>
                <a:lnTo>
                  <a:pt x="991008" y="1153305"/>
                </a:lnTo>
                <a:lnTo>
                  <a:pt x="993726" y="1153305"/>
                </a:lnTo>
                <a:lnTo>
                  <a:pt x="993726" y="1152556"/>
                </a:lnTo>
                <a:lnTo>
                  <a:pt x="996443" y="1152556"/>
                </a:lnTo>
                <a:lnTo>
                  <a:pt x="996443" y="1151790"/>
                </a:lnTo>
                <a:lnTo>
                  <a:pt x="999161" y="1151790"/>
                </a:lnTo>
                <a:lnTo>
                  <a:pt x="999161" y="1151041"/>
                </a:lnTo>
                <a:lnTo>
                  <a:pt x="1001878" y="1151041"/>
                </a:lnTo>
                <a:lnTo>
                  <a:pt x="1001878" y="1150292"/>
                </a:lnTo>
                <a:lnTo>
                  <a:pt x="1007314" y="1150292"/>
                </a:lnTo>
                <a:lnTo>
                  <a:pt x="1007314" y="1149543"/>
                </a:lnTo>
                <a:lnTo>
                  <a:pt x="1010032" y="1149543"/>
                </a:lnTo>
                <a:lnTo>
                  <a:pt x="1010032" y="1147280"/>
                </a:lnTo>
                <a:lnTo>
                  <a:pt x="1031742" y="1147280"/>
                </a:lnTo>
                <a:lnTo>
                  <a:pt x="1031742" y="1146531"/>
                </a:lnTo>
                <a:lnTo>
                  <a:pt x="1069726" y="1146531"/>
                </a:lnTo>
                <a:lnTo>
                  <a:pt x="1069726" y="1145782"/>
                </a:lnTo>
                <a:lnTo>
                  <a:pt x="1086000" y="1145782"/>
                </a:lnTo>
                <a:lnTo>
                  <a:pt x="1086000" y="1144251"/>
                </a:lnTo>
                <a:lnTo>
                  <a:pt x="1105024" y="1144251"/>
                </a:lnTo>
                <a:lnTo>
                  <a:pt x="1105024" y="1143502"/>
                </a:lnTo>
                <a:lnTo>
                  <a:pt x="1107742" y="1143502"/>
                </a:lnTo>
                <a:lnTo>
                  <a:pt x="1107742" y="1142737"/>
                </a:lnTo>
                <a:lnTo>
                  <a:pt x="1110460" y="1142737"/>
                </a:lnTo>
                <a:lnTo>
                  <a:pt x="1110460" y="1141988"/>
                </a:lnTo>
                <a:lnTo>
                  <a:pt x="1132169" y="1141988"/>
                </a:lnTo>
                <a:lnTo>
                  <a:pt x="1132169" y="1141222"/>
                </a:lnTo>
                <a:lnTo>
                  <a:pt x="1140323" y="1141222"/>
                </a:lnTo>
                <a:lnTo>
                  <a:pt x="1140323" y="1140490"/>
                </a:lnTo>
                <a:lnTo>
                  <a:pt x="1216322" y="1140490"/>
                </a:lnTo>
                <a:lnTo>
                  <a:pt x="1216322" y="1139724"/>
                </a:lnTo>
                <a:lnTo>
                  <a:pt x="1221758" y="1139724"/>
                </a:lnTo>
                <a:lnTo>
                  <a:pt x="1221758" y="1138975"/>
                </a:lnTo>
                <a:lnTo>
                  <a:pt x="1238033" y="1138975"/>
                </a:lnTo>
                <a:lnTo>
                  <a:pt x="1238033" y="1138210"/>
                </a:lnTo>
                <a:lnTo>
                  <a:pt x="1240782" y="1138210"/>
                </a:lnTo>
                <a:lnTo>
                  <a:pt x="1240782" y="1137445"/>
                </a:lnTo>
                <a:lnTo>
                  <a:pt x="1243467" y="1137445"/>
                </a:lnTo>
                <a:lnTo>
                  <a:pt x="1243467" y="1136696"/>
                </a:lnTo>
                <a:lnTo>
                  <a:pt x="1276081" y="1136696"/>
                </a:lnTo>
                <a:lnTo>
                  <a:pt x="1276081" y="1135930"/>
                </a:lnTo>
                <a:lnTo>
                  <a:pt x="1278766" y="1135930"/>
                </a:lnTo>
                <a:lnTo>
                  <a:pt x="1278766" y="1135181"/>
                </a:lnTo>
                <a:lnTo>
                  <a:pt x="1292355" y="1135181"/>
                </a:lnTo>
                <a:lnTo>
                  <a:pt x="1292355" y="1133667"/>
                </a:lnTo>
                <a:lnTo>
                  <a:pt x="1295040" y="1133667"/>
                </a:lnTo>
                <a:lnTo>
                  <a:pt x="1295040" y="1132136"/>
                </a:lnTo>
                <a:lnTo>
                  <a:pt x="1305911" y="1132136"/>
                </a:lnTo>
                <a:lnTo>
                  <a:pt x="1305911" y="1131371"/>
                </a:lnTo>
                <a:lnTo>
                  <a:pt x="1308630" y="1131371"/>
                </a:lnTo>
                <a:lnTo>
                  <a:pt x="1308630" y="1130622"/>
                </a:lnTo>
                <a:lnTo>
                  <a:pt x="1314064" y="1130622"/>
                </a:lnTo>
                <a:lnTo>
                  <a:pt x="1314064" y="1127561"/>
                </a:lnTo>
                <a:lnTo>
                  <a:pt x="1316783" y="1127561"/>
                </a:lnTo>
                <a:lnTo>
                  <a:pt x="1316783" y="1126812"/>
                </a:lnTo>
                <a:lnTo>
                  <a:pt x="1322218" y="1126812"/>
                </a:lnTo>
                <a:lnTo>
                  <a:pt x="1322218" y="1126047"/>
                </a:lnTo>
                <a:lnTo>
                  <a:pt x="1335775" y="1126047"/>
                </a:lnTo>
                <a:lnTo>
                  <a:pt x="1335775" y="1125281"/>
                </a:lnTo>
                <a:lnTo>
                  <a:pt x="1341178" y="1125281"/>
                </a:lnTo>
                <a:lnTo>
                  <a:pt x="1341178" y="1124516"/>
                </a:lnTo>
                <a:lnTo>
                  <a:pt x="1365637" y="1124516"/>
                </a:lnTo>
                <a:lnTo>
                  <a:pt x="1365637" y="1122236"/>
                </a:lnTo>
                <a:lnTo>
                  <a:pt x="1379226" y="1122236"/>
                </a:lnTo>
                <a:lnTo>
                  <a:pt x="1379226" y="1121455"/>
                </a:lnTo>
                <a:lnTo>
                  <a:pt x="1384629" y="1121455"/>
                </a:lnTo>
                <a:lnTo>
                  <a:pt x="1384629" y="1120706"/>
                </a:lnTo>
                <a:lnTo>
                  <a:pt x="1387347" y="1120706"/>
                </a:lnTo>
                <a:lnTo>
                  <a:pt x="1387347" y="1119940"/>
                </a:lnTo>
                <a:lnTo>
                  <a:pt x="1406339" y="1119940"/>
                </a:lnTo>
                <a:lnTo>
                  <a:pt x="1406339" y="1117644"/>
                </a:lnTo>
                <a:lnTo>
                  <a:pt x="1409089" y="1117644"/>
                </a:lnTo>
                <a:lnTo>
                  <a:pt x="1409089" y="1116879"/>
                </a:lnTo>
                <a:lnTo>
                  <a:pt x="1411774" y="1116879"/>
                </a:lnTo>
                <a:lnTo>
                  <a:pt x="1411774" y="1116114"/>
                </a:lnTo>
                <a:lnTo>
                  <a:pt x="1417210" y="1116114"/>
                </a:lnTo>
                <a:lnTo>
                  <a:pt x="1417210" y="1115349"/>
                </a:lnTo>
                <a:lnTo>
                  <a:pt x="1428081" y="1115349"/>
                </a:lnTo>
                <a:lnTo>
                  <a:pt x="1428081" y="1114583"/>
                </a:lnTo>
                <a:lnTo>
                  <a:pt x="1433485" y="1114583"/>
                </a:lnTo>
                <a:lnTo>
                  <a:pt x="1433485" y="1113818"/>
                </a:lnTo>
                <a:lnTo>
                  <a:pt x="1452509" y="1113818"/>
                </a:lnTo>
                <a:lnTo>
                  <a:pt x="1452509" y="1113053"/>
                </a:lnTo>
                <a:lnTo>
                  <a:pt x="1495960" y="1113053"/>
                </a:lnTo>
                <a:lnTo>
                  <a:pt x="1495960" y="1112287"/>
                </a:lnTo>
                <a:lnTo>
                  <a:pt x="1528508" y="1112287"/>
                </a:lnTo>
                <a:lnTo>
                  <a:pt x="1528508" y="1110740"/>
                </a:lnTo>
                <a:lnTo>
                  <a:pt x="1558403" y="1110740"/>
                </a:lnTo>
                <a:lnTo>
                  <a:pt x="1558403" y="1109975"/>
                </a:lnTo>
                <a:lnTo>
                  <a:pt x="1580113" y="1109975"/>
                </a:lnTo>
                <a:lnTo>
                  <a:pt x="1580113" y="1109194"/>
                </a:lnTo>
                <a:lnTo>
                  <a:pt x="1590952" y="1109194"/>
                </a:lnTo>
                <a:lnTo>
                  <a:pt x="1590952" y="1108412"/>
                </a:lnTo>
                <a:lnTo>
                  <a:pt x="1593669" y="1108412"/>
                </a:lnTo>
                <a:lnTo>
                  <a:pt x="1593669" y="1107647"/>
                </a:lnTo>
                <a:lnTo>
                  <a:pt x="1596388" y="1107647"/>
                </a:lnTo>
                <a:lnTo>
                  <a:pt x="1596388" y="1106865"/>
                </a:lnTo>
                <a:lnTo>
                  <a:pt x="1599105" y="1106865"/>
                </a:lnTo>
                <a:lnTo>
                  <a:pt x="1599105" y="1106084"/>
                </a:lnTo>
                <a:lnTo>
                  <a:pt x="1604541" y="1106084"/>
                </a:lnTo>
                <a:lnTo>
                  <a:pt x="1604541" y="1105302"/>
                </a:lnTo>
                <a:lnTo>
                  <a:pt x="1609976" y="1105302"/>
                </a:lnTo>
                <a:lnTo>
                  <a:pt x="1609976" y="1104537"/>
                </a:lnTo>
                <a:lnTo>
                  <a:pt x="1612661" y="1104537"/>
                </a:lnTo>
                <a:lnTo>
                  <a:pt x="1612661" y="1103739"/>
                </a:lnTo>
                <a:lnTo>
                  <a:pt x="1618097" y="1103739"/>
                </a:lnTo>
                <a:lnTo>
                  <a:pt x="1618097" y="1101410"/>
                </a:lnTo>
                <a:lnTo>
                  <a:pt x="1620815" y="1101410"/>
                </a:lnTo>
                <a:lnTo>
                  <a:pt x="1620815" y="1099065"/>
                </a:lnTo>
                <a:lnTo>
                  <a:pt x="1623533" y="1099065"/>
                </a:lnTo>
                <a:lnTo>
                  <a:pt x="1623533" y="1097486"/>
                </a:lnTo>
                <a:lnTo>
                  <a:pt x="1626251" y="1097486"/>
                </a:lnTo>
                <a:lnTo>
                  <a:pt x="1626251" y="1095923"/>
                </a:lnTo>
                <a:lnTo>
                  <a:pt x="1628968" y="1095923"/>
                </a:lnTo>
                <a:lnTo>
                  <a:pt x="1628968" y="1094343"/>
                </a:lnTo>
                <a:lnTo>
                  <a:pt x="1631686" y="1094343"/>
                </a:lnTo>
                <a:lnTo>
                  <a:pt x="1631686" y="1093545"/>
                </a:lnTo>
                <a:lnTo>
                  <a:pt x="1634404" y="1093545"/>
                </a:lnTo>
                <a:lnTo>
                  <a:pt x="1634404" y="1091201"/>
                </a:lnTo>
                <a:lnTo>
                  <a:pt x="1637089" y="1091201"/>
                </a:lnTo>
                <a:lnTo>
                  <a:pt x="1637089" y="1089621"/>
                </a:lnTo>
                <a:lnTo>
                  <a:pt x="1642525" y="1089621"/>
                </a:lnTo>
                <a:lnTo>
                  <a:pt x="1642525" y="1088840"/>
                </a:lnTo>
                <a:lnTo>
                  <a:pt x="1645242" y="1088840"/>
                </a:lnTo>
                <a:lnTo>
                  <a:pt x="1645242" y="1086446"/>
                </a:lnTo>
                <a:lnTo>
                  <a:pt x="1647960" y="1086446"/>
                </a:lnTo>
                <a:lnTo>
                  <a:pt x="1647960" y="1085664"/>
                </a:lnTo>
                <a:lnTo>
                  <a:pt x="1650678" y="1085664"/>
                </a:lnTo>
                <a:lnTo>
                  <a:pt x="1650678" y="1084866"/>
                </a:lnTo>
                <a:lnTo>
                  <a:pt x="1656113" y="1084866"/>
                </a:lnTo>
                <a:lnTo>
                  <a:pt x="1656113" y="1083287"/>
                </a:lnTo>
                <a:lnTo>
                  <a:pt x="1658799" y="1083287"/>
                </a:lnTo>
                <a:lnTo>
                  <a:pt x="1658799" y="1081707"/>
                </a:lnTo>
                <a:lnTo>
                  <a:pt x="1664266" y="1081707"/>
                </a:lnTo>
                <a:lnTo>
                  <a:pt x="1664266" y="1080112"/>
                </a:lnTo>
                <a:lnTo>
                  <a:pt x="1669702" y="1080112"/>
                </a:lnTo>
                <a:lnTo>
                  <a:pt x="1669702" y="1079314"/>
                </a:lnTo>
                <a:lnTo>
                  <a:pt x="1680541" y="1079314"/>
                </a:lnTo>
                <a:lnTo>
                  <a:pt x="1680541" y="1078516"/>
                </a:lnTo>
                <a:lnTo>
                  <a:pt x="1694098" y="1078516"/>
                </a:lnTo>
                <a:lnTo>
                  <a:pt x="1694098" y="1077718"/>
                </a:lnTo>
                <a:lnTo>
                  <a:pt x="1710403" y="1077718"/>
                </a:lnTo>
                <a:lnTo>
                  <a:pt x="1710403" y="1076920"/>
                </a:lnTo>
                <a:lnTo>
                  <a:pt x="1713122" y="1076920"/>
                </a:lnTo>
                <a:lnTo>
                  <a:pt x="1713122" y="1075308"/>
                </a:lnTo>
                <a:lnTo>
                  <a:pt x="1742985" y="1075308"/>
                </a:lnTo>
                <a:lnTo>
                  <a:pt x="1742985" y="1074510"/>
                </a:lnTo>
                <a:lnTo>
                  <a:pt x="1780968" y="1074510"/>
                </a:lnTo>
                <a:lnTo>
                  <a:pt x="1780968" y="1073696"/>
                </a:lnTo>
                <a:lnTo>
                  <a:pt x="1786404" y="1073696"/>
                </a:lnTo>
                <a:lnTo>
                  <a:pt x="1786404" y="1072882"/>
                </a:lnTo>
                <a:lnTo>
                  <a:pt x="1791871" y="1072882"/>
                </a:lnTo>
                <a:lnTo>
                  <a:pt x="1791871" y="1072068"/>
                </a:lnTo>
                <a:lnTo>
                  <a:pt x="1810832" y="1072068"/>
                </a:lnTo>
                <a:lnTo>
                  <a:pt x="1810832" y="1070423"/>
                </a:lnTo>
                <a:lnTo>
                  <a:pt x="1829856" y="1070423"/>
                </a:lnTo>
                <a:lnTo>
                  <a:pt x="1829856" y="1069609"/>
                </a:lnTo>
                <a:lnTo>
                  <a:pt x="1848848" y="1069609"/>
                </a:lnTo>
                <a:lnTo>
                  <a:pt x="1848848" y="1068762"/>
                </a:lnTo>
                <a:lnTo>
                  <a:pt x="1884146" y="1068762"/>
                </a:lnTo>
                <a:lnTo>
                  <a:pt x="1884146" y="1067932"/>
                </a:lnTo>
                <a:lnTo>
                  <a:pt x="1892267" y="1067932"/>
                </a:lnTo>
                <a:lnTo>
                  <a:pt x="1892267" y="1067118"/>
                </a:lnTo>
                <a:lnTo>
                  <a:pt x="1927566" y="1067118"/>
                </a:lnTo>
                <a:lnTo>
                  <a:pt x="1927566" y="1066271"/>
                </a:lnTo>
                <a:lnTo>
                  <a:pt x="1935718" y="1066271"/>
                </a:lnTo>
                <a:lnTo>
                  <a:pt x="1935718" y="1065424"/>
                </a:lnTo>
                <a:lnTo>
                  <a:pt x="1941154" y="1065424"/>
                </a:lnTo>
                <a:lnTo>
                  <a:pt x="1941154" y="1063731"/>
                </a:lnTo>
                <a:lnTo>
                  <a:pt x="1943871" y="1063731"/>
                </a:lnTo>
                <a:lnTo>
                  <a:pt x="1943871" y="1062884"/>
                </a:lnTo>
                <a:lnTo>
                  <a:pt x="1952025" y="1062884"/>
                </a:lnTo>
                <a:lnTo>
                  <a:pt x="1952025" y="1062021"/>
                </a:lnTo>
                <a:lnTo>
                  <a:pt x="1954711" y="1062021"/>
                </a:lnTo>
                <a:lnTo>
                  <a:pt x="1954711" y="1060328"/>
                </a:lnTo>
                <a:lnTo>
                  <a:pt x="1957428" y="1060328"/>
                </a:lnTo>
                <a:lnTo>
                  <a:pt x="1957428" y="1058618"/>
                </a:lnTo>
                <a:lnTo>
                  <a:pt x="1960146" y="1058618"/>
                </a:lnTo>
                <a:lnTo>
                  <a:pt x="1960146" y="1055182"/>
                </a:lnTo>
                <a:lnTo>
                  <a:pt x="1962863" y="1055182"/>
                </a:lnTo>
                <a:lnTo>
                  <a:pt x="1962863" y="1054335"/>
                </a:lnTo>
                <a:lnTo>
                  <a:pt x="1965582" y="1054335"/>
                </a:lnTo>
                <a:lnTo>
                  <a:pt x="1965582" y="1052626"/>
                </a:lnTo>
                <a:lnTo>
                  <a:pt x="1968299" y="1052626"/>
                </a:lnTo>
                <a:lnTo>
                  <a:pt x="1968299" y="1050884"/>
                </a:lnTo>
                <a:lnTo>
                  <a:pt x="1976453" y="1050884"/>
                </a:lnTo>
                <a:lnTo>
                  <a:pt x="1976453" y="1050020"/>
                </a:lnTo>
                <a:lnTo>
                  <a:pt x="1990009" y="1050020"/>
                </a:lnTo>
                <a:lnTo>
                  <a:pt x="1990009" y="1049158"/>
                </a:lnTo>
                <a:lnTo>
                  <a:pt x="1992727" y="1049158"/>
                </a:lnTo>
                <a:lnTo>
                  <a:pt x="1992727" y="1047415"/>
                </a:lnTo>
                <a:lnTo>
                  <a:pt x="1998162" y="1047415"/>
                </a:lnTo>
                <a:lnTo>
                  <a:pt x="1998162" y="1046536"/>
                </a:lnTo>
                <a:lnTo>
                  <a:pt x="2000880" y="1046536"/>
                </a:lnTo>
                <a:lnTo>
                  <a:pt x="2000880" y="1045673"/>
                </a:lnTo>
                <a:lnTo>
                  <a:pt x="2003598" y="1045673"/>
                </a:lnTo>
                <a:lnTo>
                  <a:pt x="2003598" y="1044810"/>
                </a:lnTo>
                <a:lnTo>
                  <a:pt x="2011751" y="1044810"/>
                </a:lnTo>
                <a:lnTo>
                  <a:pt x="2011751" y="1043931"/>
                </a:lnTo>
                <a:lnTo>
                  <a:pt x="2014436" y="1043931"/>
                </a:lnTo>
                <a:lnTo>
                  <a:pt x="2014436" y="1043051"/>
                </a:lnTo>
                <a:lnTo>
                  <a:pt x="2030743" y="1043051"/>
                </a:lnTo>
                <a:lnTo>
                  <a:pt x="2030743" y="1042172"/>
                </a:lnTo>
                <a:lnTo>
                  <a:pt x="2049735" y="1042172"/>
                </a:lnTo>
                <a:lnTo>
                  <a:pt x="2049735" y="1041276"/>
                </a:lnTo>
                <a:lnTo>
                  <a:pt x="2052484" y="1041276"/>
                </a:lnTo>
                <a:lnTo>
                  <a:pt x="2052484" y="1040397"/>
                </a:lnTo>
                <a:lnTo>
                  <a:pt x="2063324" y="1040397"/>
                </a:lnTo>
                <a:lnTo>
                  <a:pt x="2063324" y="1039502"/>
                </a:lnTo>
                <a:lnTo>
                  <a:pt x="2066041" y="1039502"/>
                </a:lnTo>
                <a:lnTo>
                  <a:pt x="2066041" y="1038622"/>
                </a:lnTo>
                <a:lnTo>
                  <a:pt x="2074194" y="1038622"/>
                </a:lnTo>
                <a:lnTo>
                  <a:pt x="2074194" y="1037727"/>
                </a:lnTo>
                <a:lnTo>
                  <a:pt x="2076880" y="1037727"/>
                </a:lnTo>
                <a:lnTo>
                  <a:pt x="2076880" y="1036831"/>
                </a:lnTo>
                <a:lnTo>
                  <a:pt x="2079597" y="1036831"/>
                </a:lnTo>
                <a:lnTo>
                  <a:pt x="2079597" y="1035935"/>
                </a:lnTo>
                <a:lnTo>
                  <a:pt x="2095904" y="1035935"/>
                </a:lnTo>
                <a:lnTo>
                  <a:pt x="2095904" y="1035024"/>
                </a:lnTo>
                <a:lnTo>
                  <a:pt x="2133888" y="1035024"/>
                </a:lnTo>
                <a:lnTo>
                  <a:pt x="2133888" y="1034112"/>
                </a:lnTo>
                <a:lnTo>
                  <a:pt x="2139324" y="1034112"/>
                </a:lnTo>
                <a:lnTo>
                  <a:pt x="2139324" y="1033200"/>
                </a:lnTo>
                <a:lnTo>
                  <a:pt x="2180026" y="1033200"/>
                </a:lnTo>
                <a:lnTo>
                  <a:pt x="2180026" y="1032272"/>
                </a:lnTo>
                <a:lnTo>
                  <a:pt x="2190928" y="1032272"/>
                </a:lnTo>
                <a:lnTo>
                  <a:pt x="2190928" y="1031327"/>
                </a:lnTo>
                <a:lnTo>
                  <a:pt x="2220759" y="1031327"/>
                </a:lnTo>
                <a:lnTo>
                  <a:pt x="2220759" y="1030399"/>
                </a:lnTo>
                <a:lnTo>
                  <a:pt x="2245187" y="1030399"/>
                </a:lnTo>
                <a:lnTo>
                  <a:pt x="2245187" y="1029455"/>
                </a:lnTo>
                <a:lnTo>
                  <a:pt x="2247904" y="1029455"/>
                </a:lnTo>
                <a:lnTo>
                  <a:pt x="2247904" y="1026589"/>
                </a:lnTo>
                <a:lnTo>
                  <a:pt x="2250622" y="1026589"/>
                </a:lnTo>
                <a:lnTo>
                  <a:pt x="2250622" y="1025645"/>
                </a:lnTo>
                <a:lnTo>
                  <a:pt x="2258775" y="1025645"/>
                </a:lnTo>
                <a:lnTo>
                  <a:pt x="2258775" y="1023723"/>
                </a:lnTo>
                <a:lnTo>
                  <a:pt x="2261461" y="1023723"/>
                </a:lnTo>
                <a:lnTo>
                  <a:pt x="2261461" y="1022762"/>
                </a:lnTo>
                <a:lnTo>
                  <a:pt x="2264211" y="1022762"/>
                </a:lnTo>
                <a:lnTo>
                  <a:pt x="2264211" y="1020841"/>
                </a:lnTo>
                <a:lnTo>
                  <a:pt x="2266896" y="1020841"/>
                </a:lnTo>
                <a:lnTo>
                  <a:pt x="2266896" y="1018936"/>
                </a:lnTo>
                <a:lnTo>
                  <a:pt x="2272332" y="1018936"/>
                </a:lnTo>
                <a:lnTo>
                  <a:pt x="2272332" y="1016998"/>
                </a:lnTo>
                <a:lnTo>
                  <a:pt x="2275049" y="1016998"/>
                </a:lnTo>
                <a:lnTo>
                  <a:pt x="2275049" y="1016038"/>
                </a:lnTo>
                <a:lnTo>
                  <a:pt x="2280485" y="1016038"/>
                </a:lnTo>
                <a:lnTo>
                  <a:pt x="2280485" y="1014100"/>
                </a:lnTo>
                <a:lnTo>
                  <a:pt x="2283203" y="1014100"/>
                </a:lnTo>
                <a:lnTo>
                  <a:pt x="2283203" y="1009264"/>
                </a:lnTo>
                <a:lnTo>
                  <a:pt x="2285920" y="1009264"/>
                </a:lnTo>
                <a:lnTo>
                  <a:pt x="2285920" y="1007310"/>
                </a:lnTo>
                <a:lnTo>
                  <a:pt x="2291324" y="1007310"/>
                </a:lnTo>
                <a:lnTo>
                  <a:pt x="2291324" y="1006333"/>
                </a:lnTo>
                <a:lnTo>
                  <a:pt x="2296760" y="1006333"/>
                </a:lnTo>
                <a:lnTo>
                  <a:pt x="2296760" y="1005339"/>
                </a:lnTo>
                <a:lnTo>
                  <a:pt x="2299509" y="1005339"/>
                </a:lnTo>
                <a:lnTo>
                  <a:pt x="2299509" y="1003385"/>
                </a:lnTo>
                <a:lnTo>
                  <a:pt x="2302195" y="1003385"/>
                </a:lnTo>
                <a:lnTo>
                  <a:pt x="2302195" y="1001415"/>
                </a:lnTo>
                <a:lnTo>
                  <a:pt x="2334776" y="1001415"/>
                </a:lnTo>
                <a:lnTo>
                  <a:pt x="2334776" y="1000422"/>
                </a:lnTo>
                <a:lnTo>
                  <a:pt x="2337493" y="1000422"/>
                </a:lnTo>
                <a:lnTo>
                  <a:pt x="2337493" y="999445"/>
                </a:lnTo>
                <a:lnTo>
                  <a:pt x="2345646" y="999445"/>
                </a:lnTo>
                <a:lnTo>
                  <a:pt x="2345646" y="998435"/>
                </a:lnTo>
                <a:lnTo>
                  <a:pt x="2356485" y="998435"/>
                </a:lnTo>
                <a:lnTo>
                  <a:pt x="2356485" y="997426"/>
                </a:lnTo>
                <a:lnTo>
                  <a:pt x="2364670" y="997426"/>
                </a:lnTo>
                <a:lnTo>
                  <a:pt x="2364670" y="996416"/>
                </a:lnTo>
                <a:lnTo>
                  <a:pt x="2454227" y="996416"/>
                </a:lnTo>
                <a:lnTo>
                  <a:pt x="2454227" y="994299"/>
                </a:lnTo>
                <a:lnTo>
                  <a:pt x="2465067" y="994299"/>
                </a:lnTo>
                <a:lnTo>
                  <a:pt x="2465067" y="993241"/>
                </a:lnTo>
                <a:lnTo>
                  <a:pt x="2489526" y="993241"/>
                </a:lnTo>
                <a:lnTo>
                  <a:pt x="2489526" y="992150"/>
                </a:lnTo>
                <a:lnTo>
                  <a:pt x="2532945" y="992150"/>
                </a:lnTo>
                <a:lnTo>
                  <a:pt x="2532945" y="991059"/>
                </a:lnTo>
                <a:lnTo>
                  <a:pt x="2581832" y="991059"/>
                </a:lnTo>
                <a:lnTo>
                  <a:pt x="2581832" y="987656"/>
                </a:lnTo>
                <a:lnTo>
                  <a:pt x="2587235" y="987656"/>
                </a:lnTo>
                <a:lnTo>
                  <a:pt x="2587235" y="983097"/>
                </a:lnTo>
                <a:lnTo>
                  <a:pt x="2592670" y="983097"/>
                </a:lnTo>
                <a:lnTo>
                  <a:pt x="2592670" y="981973"/>
                </a:lnTo>
                <a:lnTo>
                  <a:pt x="2595389" y="981973"/>
                </a:lnTo>
                <a:lnTo>
                  <a:pt x="2595389" y="979677"/>
                </a:lnTo>
                <a:lnTo>
                  <a:pt x="2598106" y="979677"/>
                </a:lnTo>
                <a:lnTo>
                  <a:pt x="2598106" y="978537"/>
                </a:lnTo>
                <a:lnTo>
                  <a:pt x="2600824" y="978537"/>
                </a:lnTo>
                <a:lnTo>
                  <a:pt x="2600824" y="975085"/>
                </a:lnTo>
                <a:lnTo>
                  <a:pt x="2603542" y="975085"/>
                </a:lnTo>
                <a:lnTo>
                  <a:pt x="2603542" y="972806"/>
                </a:lnTo>
                <a:lnTo>
                  <a:pt x="2606260" y="972806"/>
                </a:lnTo>
                <a:lnTo>
                  <a:pt x="2606260" y="970477"/>
                </a:lnTo>
                <a:lnTo>
                  <a:pt x="2611695" y="970477"/>
                </a:lnTo>
                <a:lnTo>
                  <a:pt x="2611695" y="969321"/>
                </a:lnTo>
                <a:lnTo>
                  <a:pt x="2617098" y="969321"/>
                </a:lnTo>
                <a:lnTo>
                  <a:pt x="2617098" y="968165"/>
                </a:lnTo>
                <a:lnTo>
                  <a:pt x="2622534" y="968165"/>
                </a:lnTo>
                <a:lnTo>
                  <a:pt x="2622534" y="966976"/>
                </a:lnTo>
                <a:lnTo>
                  <a:pt x="2625251" y="966976"/>
                </a:lnTo>
                <a:lnTo>
                  <a:pt x="2625251" y="965804"/>
                </a:lnTo>
                <a:lnTo>
                  <a:pt x="2627969" y="965804"/>
                </a:lnTo>
                <a:lnTo>
                  <a:pt x="2627969" y="964631"/>
                </a:lnTo>
                <a:lnTo>
                  <a:pt x="2630687" y="964631"/>
                </a:lnTo>
                <a:lnTo>
                  <a:pt x="2630687" y="963443"/>
                </a:lnTo>
                <a:lnTo>
                  <a:pt x="2638808" y="963443"/>
                </a:lnTo>
                <a:lnTo>
                  <a:pt x="2638808" y="962254"/>
                </a:lnTo>
                <a:lnTo>
                  <a:pt x="2641558" y="962254"/>
                </a:lnTo>
                <a:lnTo>
                  <a:pt x="2641558" y="961066"/>
                </a:lnTo>
                <a:lnTo>
                  <a:pt x="2644243" y="961066"/>
                </a:lnTo>
                <a:lnTo>
                  <a:pt x="2644243" y="959860"/>
                </a:lnTo>
                <a:lnTo>
                  <a:pt x="2655114" y="959860"/>
                </a:lnTo>
                <a:lnTo>
                  <a:pt x="2655114" y="958672"/>
                </a:lnTo>
                <a:lnTo>
                  <a:pt x="2663267" y="958672"/>
                </a:lnTo>
                <a:lnTo>
                  <a:pt x="2663267" y="957467"/>
                </a:lnTo>
                <a:lnTo>
                  <a:pt x="2674106" y="957467"/>
                </a:lnTo>
                <a:lnTo>
                  <a:pt x="2674106" y="956262"/>
                </a:lnTo>
                <a:lnTo>
                  <a:pt x="2676857" y="956262"/>
                </a:lnTo>
                <a:lnTo>
                  <a:pt x="2676857" y="953836"/>
                </a:lnTo>
                <a:lnTo>
                  <a:pt x="2684978" y="953836"/>
                </a:lnTo>
                <a:lnTo>
                  <a:pt x="2684978" y="952615"/>
                </a:lnTo>
                <a:lnTo>
                  <a:pt x="2687695" y="952615"/>
                </a:lnTo>
                <a:lnTo>
                  <a:pt x="2687695" y="951410"/>
                </a:lnTo>
                <a:lnTo>
                  <a:pt x="2703969" y="951410"/>
                </a:lnTo>
                <a:lnTo>
                  <a:pt x="2703969" y="950172"/>
                </a:lnTo>
                <a:lnTo>
                  <a:pt x="2725680" y="950172"/>
                </a:lnTo>
                <a:lnTo>
                  <a:pt x="2725680" y="948935"/>
                </a:lnTo>
                <a:lnTo>
                  <a:pt x="2731115" y="948935"/>
                </a:lnTo>
                <a:lnTo>
                  <a:pt x="2731115" y="947681"/>
                </a:lnTo>
                <a:lnTo>
                  <a:pt x="2741985" y="947681"/>
                </a:lnTo>
                <a:lnTo>
                  <a:pt x="2741985" y="946427"/>
                </a:lnTo>
                <a:lnTo>
                  <a:pt x="2774566" y="946427"/>
                </a:lnTo>
                <a:lnTo>
                  <a:pt x="2774566" y="945141"/>
                </a:lnTo>
                <a:lnTo>
                  <a:pt x="2817985" y="945141"/>
                </a:lnTo>
                <a:lnTo>
                  <a:pt x="2817985" y="943822"/>
                </a:lnTo>
                <a:lnTo>
                  <a:pt x="2858719" y="943822"/>
                </a:lnTo>
                <a:lnTo>
                  <a:pt x="2858719" y="942486"/>
                </a:lnTo>
                <a:lnTo>
                  <a:pt x="2891300" y="942486"/>
                </a:lnTo>
                <a:lnTo>
                  <a:pt x="2891300" y="941119"/>
                </a:lnTo>
                <a:lnTo>
                  <a:pt x="2904856" y="941119"/>
                </a:lnTo>
                <a:lnTo>
                  <a:pt x="2904856" y="939751"/>
                </a:lnTo>
                <a:lnTo>
                  <a:pt x="2910292" y="939751"/>
                </a:lnTo>
                <a:lnTo>
                  <a:pt x="2910292" y="935631"/>
                </a:lnTo>
                <a:lnTo>
                  <a:pt x="2913010" y="935631"/>
                </a:lnTo>
                <a:lnTo>
                  <a:pt x="2913010" y="934247"/>
                </a:lnTo>
                <a:lnTo>
                  <a:pt x="2915696" y="934247"/>
                </a:lnTo>
                <a:lnTo>
                  <a:pt x="2915696" y="932879"/>
                </a:lnTo>
                <a:lnTo>
                  <a:pt x="2929284" y="932879"/>
                </a:lnTo>
                <a:lnTo>
                  <a:pt x="2929284" y="931463"/>
                </a:lnTo>
                <a:lnTo>
                  <a:pt x="2932034" y="931463"/>
                </a:lnTo>
                <a:lnTo>
                  <a:pt x="2932034" y="928646"/>
                </a:lnTo>
                <a:lnTo>
                  <a:pt x="2934719" y="928646"/>
                </a:lnTo>
                <a:lnTo>
                  <a:pt x="2934719" y="927245"/>
                </a:lnTo>
                <a:lnTo>
                  <a:pt x="2964583" y="927245"/>
                </a:lnTo>
                <a:lnTo>
                  <a:pt x="2964583" y="924363"/>
                </a:lnTo>
                <a:lnTo>
                  <a:pt x="2967300" y="924363"/>
                </a:lnTo>
                <a:lnTo>
                  <a:pt x="2967300" y="919999"/>
                </a:lnTo>
                <a:lnTo>
                  <a:pt x="2978171" y="919999"/>
                </a:lnTo>
                <a:lnTo>
                  <a:pt x="2978171" y="918550"/>
                </a:lnTo>
                <a:lnTo>
                  <a:pt x="2997163" y="918550"/>
                </a:lnTo>
                <a:lnTo>
                  <a:pt x="2997163" y="915603"/>
                </a:lnTo>
                <a:lnTo>
                  <a:pt x="3002566" y="915603"/>
                </a:lnTo>
                <a:lnTo>
                  <a:pt x="3002566" y="914121"/>
                </a:lnTo>
                <a:lnTo>
                  <a:pt x="3043301" y="914121"/>
                </a:lnTo>
                <a:lnTo>
                  <a:pt x="3043301" y="912623"/>
                </a:lnTo>
                <a:lnTo>
                  <a:pt x="3048736" y="912623"/>
                </a:lnTo>
                <a:lnTo>
                  <a:pt x="3048736" y="911092"/>
                </a:lnTo>
                <a:lnTo>
                  <a:pt x="3056889" y="911092"/>
                </a:lnTo>
                <a:lnTo>
                  <a:pt x="3056889" y="909578"/>
                </a:lnTo>
                <a:lnTo>
                  <a:pt x="3062325" y="909578"/>
                </a:lnTo>
                <a:lnTo>
                  <a:pt x="3062325" y="908048"/>
                </a:lnTo>
                <a:lnTo>
                  <a:pt x="3151914" y="908048"/>
                </a:lnTo>
                <a:lnTo>
                  <a:pt x="3151914" y="906436"/>
                </a:lnTo>
                <a:lnTo>
                  <a:pt x="3176340" y="906436"/>
                </a:lnTo>
                <a:lnTo>
                  <a:pt x="3176340" y="904807"/>
                </a:lnTo>
                <a:lnTo>
                  <a:pt x="3211608" y="904807"/>
                </a:lnTo>
                <a:lnTo>
                  <a:pt x="3211608" y="903163"/>
                </a:lnTo>
                <a:lnTo>
                  <a:pt x="3227913" y="903163"/>
                </a:lnTo>
                <a:lnTo>
                  <a:pt x="3227913" y="899808"/>
                </a:lnTo>
                <a:lnTo>
                  <a:pt x="3230631" y="899808"/>
                </a:lnTo>
                <a:lnTo>
                  <a:pt x="3230631" y="898115"/>
                </a:lnTo>
                <a:lnTo>
                  <a:pt x="3236067" y="898115"/>
                </a:lnTo>
                <a:lnTo>
                  <a:pt x="3236067" y="894728"/>
                </a:lnTo>
                <a:lnTo>
                  <a:pt x="3244220" y="894728"/>
                </a:lnTo>
                <a:lnTo>
                  <a:pt x="3244220" y="893018"/>
                </a:lnTo>
                <a:lnTo>
                  <a:pt x="3249656" y="893018"/>
                </a:lnTo>
                <a:lnTo>
                  <a:pt x="3249656" y="891325"/>
                </a:lnTo>
                <a:lnTo>
                  <a:pt x="3252341" y="891325"/>
                </a:lnTo>
                <a:lnTo>
                  <a:pt x="3252341" y="889615"/>
                </a:lnTo>
                <a:lnTo>
                  <a:pt x="3255058" y="889615"/>
                </a:lnTo>
                <a:lnTo>
                  <a:pt x="3255058" y="887889"/>
                </a:lnTo>
                <a:lnTo>
                  <a:pt x="3257776" y="887889"/>
                </a:lnTo>
                <a:lnTo>
                  <a:pt x="3257776" y="884437"/>
                </a:lnTo>
                <a:lnTo>
                  <a:pt x="3260494" y="884437"/>
                </a:lnTo>
                <a:lnTo>
                  <a:pt x="3260494" y="880985"/>
                </a:lnTo>
                <a:lnTo>
                  <a:pt x="3265929" y="880985"/>
                </a:lnTo>
                <a:lnTo>
                  <a:pt x="3265929" y="875791"/>
                </a:lnTo>
                <a:lnTo>
                  <a:pt x="3268615" y="875791"/>
                </a:lnTo>
                <a:lnTo>
                  <a:pt x="3268615" y="874048"/>
                </a:lnTo>
                <a:lnTo>
                  <a:pt x="3271365" y="874048"/>
                </a:lnTo>
                <a:lnTo>
                  <a:pt x="3271365" y="872306"/>
                </a:lnTo>
                <a:lnTo>
                  <a:pt x="3284921" y="872306"/>
                </a:lnTo>
                <a:lnTo>
                  <a:pt x="3284921" y="870547"/>
                </a:lnTo>
                <a:lnTo>
                  <a:pt x="3306631" y="870547"/>
                </a:lnTo>
                <a:lnTo>
                  <a:pt x="3306631" y="868756"/>
                </a:lnTo>
                <a:lnTo>
                  <a:pt x="3317502" y="868756"/>
                </a:lnTo>
                <a:lnTo>
                  <a:pt x="3317502" y="866965"/>
                </a:lnTo>
                <a:lnTo>
                  <a:pt x="3347365" y="866965"/>
                </a:lnTo>
                <a:lnTo>
                  <a:pt x="3347365" y="863301"/>
                </a:lnTo>
                <a:lnTo>
                  <a:pt x="3420648" y="863301"/>
                </a:lnTo>
                <a:lnTo>
                  <a:pt x="3420648" y="861380"/>
                </a:lnTo>
                <a:lnTo>
                  <a:pt x="3423365" y="861380"/>
                </a:lnTo>
                <a:lnTo>
                  <a:pt x="3423365" y="859442"/>
                </a:lnTo>
                <a:lnTo>
                  <a:pt x="3553688" y="859442"/>
                </a:lnTo>
                <a:lnTo>
                  <a:pt x="3553688" y="853010"/>
                </a:lnTo>
                <a:lnTo>
                  <a:pt x="3556406" y="853010"/>
                </a:lnTo>
                <a:lnTo>
                  <a:pt x="3556406" y="850845"/>
                </a:lnTo>
                <a:lnTo>
                  <a:pt x="3569962" y="850845"/>
                </a:lnTo>
                <a:lnTo>
                  <a:pt x="3569962" y="848630"/>
                </a:lnTo>
                <a:lnTo>
                  <a:pt x="3575398" y="848630"/>
                </a:lnTo>
                <a:lnTo>
                  <a:pt x="3575398" y="846416"/>
                </a:lnTo>
                <a:lnTo>
                  <a:pt x="3580802" y="846416"/>
                </a:lnTo>
                <a:lnTo>
                  <a:pt x="3580802" y="844152"/>
                </a:lnTo>
                <a:lnTo>
                  <a:pt x="3583551" y="844152"/>
                </a:lnTo>
                <a:lnTo>
                  <a:pt x="3583551" y="841889"/>
                </a:lnTo>
                <a:lnTo>
                  <a:pt x="3591704" y="841889"/>
                </a:lnTo>
                <a:lnTo>
                  <a:pt x="3591704" y="835001"/>
                </a:lnTo>
                <a:lnTo>
                  <a:pt x="3597139" y="835001"/>
                </a:lnTo>
                <a:lnTo>
                  <a:pt x="3597139" y="832689"/>
                </a:lnTo>
                <a:lnTo>
                  <a:pt x="3599825" y="832689"/>
                </a:lnTo>
                <a:lnTo>
                  <a:pt x="3599825" y="830312"/>
                </a:lnTo>
                <a:lnTo>
                  <a:pt x="3621535" y="830312"/>
                </a:lnTo>
                <a:lnTo>
                  <a:pt x="3621535" y="827918"/>
                </a:lnTo>
                <a:lnTo>
                  <a:pt x="3629688" y="827918"/>
                </a:lnTo>
                <a:lnTo>
                  <a:pt x="3629688" y="823082"/>
                </a:lnTo>
                <a:lnTo>
                  <a:pt x="3640527" y="823082"/>
                </a:lnTo>
                <a:lnTo>
                  <a:pt x="3640527" y="820623"/>
                </a:lnTo>
                <a:lnTo>
                  <a:pt x="3664987" y="820623"/>
                </a:lnTo>
                <a:lnTo>
                  <a:pt x="3664987" y="818116"/>
                </a:lnTo>
                <a:lnTo>
                  <a:pt x="3683979" y="818116"/>
                </a:lnTo>
                <a:lnTo>
                  <a:pt x="3683979" y="815543"/>
                </a:lnTo>
                <a:lnTo>
                  <a:pt x="3757293" y="815543"/>
                </a:lnTo>
                <a:lnTo>
                  <a:pt x="3757293" y="812693"/>
                </a:lnTo>
                <a:lnTo>
                  <a:pt x="3795277" y="812693"/>
                </a:lnTo>
                <a:lnTo>
                  <a:pt x="3795277" y="809648"/>
                </a:lnTo>
                <a:lnTo>
                  <a:pt x="3871277" y="809648"/>
                </a:lnTo>
                <a:lnTo>
                  <a:pt x="3871277" y="806294"/>
                </a:lnTo>
                <a:lnTo>
                  <a:pt x="3898455" y="806294"/>
                </a:lnTo>
                <a:lnTo>
                  <a:pt x="3898455" y="802761"/>
                </a:lnTo>
                <a:lnTo>
                  <a:pt x="3901140" y="802761"/>
                </a:lnTo>
                <a:lnTo>
                  <a:pt x="3901140" y="799211"/>
                </a:lnTo>
                <a:lnTo>
                  <a:pt x="3917414" y="799211"/>
                </a:lnTo>
                <a:lnTo>
                  <a:pt x="3917414" y="791851"/>
                </a:lnTo>
                <a:lnTo>
                  <a:pt x="3920164" y="791851"/>
                </a:lnTo>
                <a:lnTo>
                  <a:pt x="3920164" y="788122"/>
                </a:lnTo>
                <a:lnTo>
                  <a:pt x="3960866" y="788122"/>
                </a:lnTo>
              </a:path>
            </a:pathLst>
          </a:custGeom>
          <a:noFill/>
          <a:ln w="20003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0" name="renal_legend_finerenone">
            <a:extLst>
              <a:ext uri="{FF2B5EF4-FFF2-40B4-BE49-F238E27FC236}">
                <a16:creationId xmlns:a16="http://schemas.microsoft.com/office/drawing/2014/main" id="{876A6304-433F-4643-97D2-9AAA3D25D937}"/>
              </a:ext>
            </a:extLst>
          </p:cNvPr>
          <p:cNvSpPr>
            <a:spLocks noGrp="1"/>
          </p:cNvSpPr>
          <p:nvPr/>
        </p:nvSpPr>
        <p:spPr>
          <a:xfrm>
            <a:off x="7791450" y="2739424"/>
            <a:ext cx="228600" cy="95"/>
          </a:xfrm>
          <a:prstGeom prst="line">
            <a:avLst/>
          </a:prstGeom>
          <a:noFill/>
          <a:ln w="21908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1" name="renal_legend_finerenone_label">
            <a:extLst>
              <a:ext uri="{FF2B5EF4-FFF2-40B4-BE49-F238E27FC236}">
                <a16:creationId xmlns:a16="http://schemas.microsoft.com/office/drawing/2014/main" id="{383BB1A4-8F3E-48BA-B676-49C954FA7F3D}"/>
              </a:ext>
            </a:extLst>
          </p:cNvPr>
          <p:cNvSpPr>
            <a:spLocks noGrp="1"/>
          </p:cNvSpPr>
          <p:nvPr/>
        </p:nvSpPr>
        <p:spPr>
          <a:xfrm>
            <a:off x="8086725" y="2613721"/>
            <a:ext cx="1228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122" name="renal_legend_placebo">
            <a:extLst>
              <a:ext uri="{FF2B5EF4-FFF2-40B4-BE49-F238E27FC236}">
                <a16:creationId xmlns:a16="http://schemas.microsoft.com/office/drawing/2014/main" id="{FF5DF6E9-1162-4E09-94BF-B78E80C51ED8}"/>
              </a:ext>
            </a:extLst>
          </p:cNvPr>
          <p:cNvSpPr>
            <a:spLocks noGrp="1"/>
          </p:cNvSpPr>
          <p:nvPr/>
        </p:nvSpPr>
        <p:spPr>
          <a:xfrm>
            <a:off x="9563100" y="2739424"/>
            <a:ext cx="228600" cy="95"/>
          </a:xfrm>
          <a:prstGeom prst="line">
            <a:avLst/>
          </a:prstGeom>
          <a:noFill/>
          <a:ln w="21908">
            <a:solidFill>
              <a:srgbClr val="7F7F7F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3" name="renal_legend_placebo_label">
            <a:extLst>
              <a:ext uri="{FF2B5EF4-FFF2-40B4-BE49-F238E27FC236}">
                <a16:creationId xmlns:a16="http://schemas.microsoft.com/office/drawing/2014/main" id="{C2487629-14FD-4B6F-9AD7-59693F383C8E}"/>
              </a:ext>
            </a:extLst>
          </p:cNvPr>
          <p:cNvSpPr>
            <a:spLocks noGrp="1"/>
          </p:cNvSpPr>
          <p:nvPr/>
        </p:nvSpPr>
        <p:spPr>
          <a:xfrm>
            <a:off x="9858375" y="2613721"/>
            <a:ext cx="1057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124" name="renal_x_axis_title">
            <a:extLst>
              <a:ext uri="{FF2B5EF4-FFF2-40B4-BE49-F238E27FC236}">
                <a16:creationId xmlns:a16="http://schemas.microsoft.com/office/drawing/2014/main" id="{4C72D6E4-353B-4613-9C5A-EBCD58C08D6A}"/>
              </a:ext>
            </a:extLst>
          </p:cNvPr>
          <p:cNvSpPr>
            <a:spLocks noGrp="1"/>
          </p:cNvSpPr>
          <p:nvPr/>
        </p:nvSpPr>
        <p:spPr>
          <a:xfrm>
            <a:off x="7639050" y="4690868"/>
            <a:ext cx="3962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Месяцы после рандомизации</a:t>
            </a:r>
          </a:p>
        </p:txBody>
      </p:sp>
      <p:sp>
        <p:nvSpPr>
          <p:cNvPr id="129" name="renal_event_fractions">
            <a:extLst>
              <a:ext uri="{FF2B5EF4-FFF2-40B4-BE49-F238E27FC236}">
                <a16:creationId xmlns:a16="http://schemas.microsoft.com/office/drawing/2014/main" id="{BAB6A7B4-6CC5-4673-A6AE-A88D1A0D2C22}"/>
              </a:ext>
            </a:extLst>
          </p:cNvPr>
          <p:cNvSpPr>
            <a:spLocks noGrp="1"/>
          </p:cNvSpPr>
          <p:nvPr/>
        </p:nvSpPr>
        <p:spPr>
          <a:xfrm>
            <a:off x="6324600" y="5057775"/>
            <a:ext cx="5524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Доля с событием за всё исследование: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</a:t>
            </a: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 5,5%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, </a:t>
            </a: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 7,1%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.</a:t>
            </a:r>
          </a:p>
        </p:txBody>
      </p:sp>
      <p:sp>
        <p:nvSpPr>
          <p:cNvPr id="130" name="renal_hazard_ratio">
            <a:extLst>
              <a:ext uri="{FF2B5EF4-FFF2-40B4-BE49-F238E27FC236}">
                <a16:creationId xmlns:a16="http://schemas.microsoft.com/office/drawing/2014/main" id="{0CADD6F6-8510-4B47-90ED-64BBF8C33176}"/>
              </a:ext>
            </a:extLst>
          </p:cNvPr>
          <p:cNvSpPr>
            <a:spLocks noGrp="1"/>
          </p:cNvSpPr>
          <p:nvPr/>
        </p:nvSpPr>
        <p:spPr>
          <a:xfrm>
            <a:off x="6324600" y="5276850"/>
            <a:ext cx="5524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Отношение рисков 0,77 (95% ДИ 0,67–0,88), p=0,0002.</a:t>
            </a:r>
          </a:p>
        </p:txBody>
      </p:sp>
      <p:sp>
        <p:nvSpPr>
          <p:cNvPr id="131" name="renal_nnt">
            <a:extLst>
              <a:ext uri="{FF2B5EF4-FFF2-40B4-BE49-F238E27FC236}">
                <a16:creationId xmlns:a16="http://schemas.microsoft.com/office/drawing/2014/main" id="{FD3BFCA1-62EF-43D1-BAA8-C42D1C2EC9E7}"/>
              </a:ext>
            </a:extLst>
          </p:cNvPr>
          <p:cNvSpPr>
            <a:spLocks noGrp="1"/>
          </p:cNvSpPr>
          <p:nvPr/>
        </p:nvSpPr>
        <p:spPr>
          <a:xfrm>
            <a:off x="6324600" y="5505450"/>
            <a:ext cx="5524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Чтобы предотвратить 1 событие за 3 года,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нужно лечить 60 пациентов (95% ДИ 38–142).</a:t>
            </a:r>
          </a:p>
        </p:txBody>
      </p:sp>
      <p:sp>
        <p:nvSpPr>
          <p:cNvPr id="132" name="column_separator">
            <a:extLst>
              <a:ext uri="{FF2B5EF4-FFF2-40B4-BE49-F238E27FC236}">
                <a16:creationId xmlns:a16="http://schemas.microsoft.com/office/drawing/2014/main" id="{B90D2C8F-1C47-48B5-B6DD-8BF8C24ED20B}"/>
              </a:ext>
            </a:extLst>
          </p:cNvPr>
          <p:cNvSpPr>
            <a:spLocks noGrp="1"/>
          </p:cNvSpPr>
          <p:nvPr/>
        </p:nvSpPr>
        <p:spPr>
          <a:xfrm>
            <a:off x="6076950" y="1133475"/>
            <a:ext cx="95" cy="4781550"/>
          </a:xfrm>
          <a:prstGeom prst="line">
            <a:avLst/>
          </a:prstGeom>
          <a:noFill/>
          <a:ln w="9525">
            <a:solidFill>
              <a:srgbClr val="D9E0E4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3" name="context_and_safety">
            <a:extLst>
              <a:ext uri="{FF2B5EF4-FFF2-40B4-BE49-F238E27FC236}">
                <a16:creationId xmlns:a16="http://schemas.microsoft.com/office/drawing/2014/main" id="{671FE087-2D5B-492C-911B-4190A75E25C6}"/>
              </a:ext>
            </a:extLst>
          </p:cNvPr>
          <p:cNvSpPr>
            <a:spLocks noGrp="1"/>
          </p:cNvSpPr>
          <p:nvPr/>
        </p:nvSpPr>
        <p:spPr>
          <a:xfrm>
            <a:off x="457200" y="5994400"/>
            <a:ext cx="115062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Абсолютная разница по накопленной частоте к 3 годам: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2,2% (сердечно-сосудистый исход) и 1,7% (почечный); относительное снижение риска 14% и 23%.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Безопасность: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гиперкалиемия (</a:t>
            </a: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 14,0%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, </a:t>
            </a: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 6,9%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), окончательная отмена из-за неё (</a:t>
            </a: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 1,7%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, </a:t>
            </a: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 0,6%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).</a:t>
            </a:r>
          </a:p>
        </p:txBody>
      </p:sp>
      <p:sp>
        <p:nvSpPr>
          <p:cNvPr id="241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рСКФ: расчётная скорость клубочковой фильтрации; НГЛТ2: натрий-глюкозный котранспортёр 2 типа; ДИ: доверительный интервал. Гиперкалиемия по сообщениям исследователей.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Agarwal R, et al. Eur Heart J. 2022;43:474–484 (CC BY-NC 4.0).</a:t>
            </a:r>
          </a:p>
        </p:txBody>
      </p:sp>
      <p:pic>
        <p:nvPicPr>
          <p:cNvPr id="242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40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8CD3DF-F817-4BE8-A79C-D52A6E91FDC1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FIDELITY: к 4-му месяцу АКО в группе финеренона на 32% ниже, чем в группе плацебо</a:t>
            </a:r>
          </a:p>
        </p:txBody>
      </p:sp>
      <p:sp>
        <p:nvSpPr>
          <p:cNvPr id="14" name="population">
            <a:extLst>
              <a:ext uri="{FF2B5EF4-FFF2-40B4-BE49-F238E27FC236}">
                <a16:creationId xmlns:a16="http://schemas.microsoft.com/office/drawing/2014/main" id="{9A3252D9-B888-4A98-85DD-FC9CB2B67802}"/>
              </a:ext>
            </a:extLst>
          </p:cNvPr>
          <p:cNvSpPr>
            <a:spLocks noGrp="1"/>
          </p:cNvSpPr>
          <p:nvPr/>
        </p:nvSpPr>
        <p:spPr>
          <a:xfrm>
            <a:off x="457200" y="781050"/>
            <a:ext cx="108966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Кто участвовал: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13 026 пациентов с хронической болезнью почек и сахарным диабетом 2 типа.</a:t>
            </a:r>
          </a:p>
        </p:txBody>
      </p:sp>
      <p:sp>
        <p:nvSpPr>
          <p:cNvPr id="15" name="background_therapy">
            <a:extLst>
              <a:ext uri="{FF2B5EF4-FFF2-40B4-BE49-F238E27FC236}">
                <a16:creationId xmlns:a16="http://schemas.microsoft.com/office/drawing/2014/main" id="{F5E99050-2F4D-41FE-94AE-D2D405B4F13A}"/>
              </a:ext>
            </a:extLst>
          </p:cNvPr>
          <p:cNvSpPr>
            <a:spLocks noGrp="1"/>
          </p:cNvSpPr>
          <p:nvPr/>
        </p:nvSpPr>
        <p:spPr>
          <a:xfrm>
            <a:off x="457200" y="1038225"/>
            <a:ext cx="108966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Что сравнивали: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финеренон или плацебо на фоне ингибитора АПФ или БРА в максимально переносимой дозе.</a:t>
            </a:r>
          </a:p>
        </p:txBody>
      </p:sp>
      <p:sp>
        <p:nvSpPr>
          <p:cNvPr id="16" name="marker_definition">
            <a:extLst>
              <a:ext uri="{FF2B5EF4-FFF2-40B4-BE49-F238E27FC236}">
                <a16:creationId xmlns:a16="http://schemas.microsoft.com/office/drawing/2014/main" id="{BB9A799A-FA2C-4300-8D68-009749A397E1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08966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АКО: отношение альбумина к креатинину мочи, показатель потери альбумина с мочой.</a:t>
            </a:r>
          </a:p>
        </p:txBody>
      </p:sp>
      <p:sp>
        <p:nvSpPr>
          <p:cNvPr id="17" name="left_heading">
            <a:extLst>
              <a:ext uri="{FF2B5EF4-FFF2-40B4-BE49-F238E27FC236}">
                <a16:creationId xmlns:a16="http://schemas.microsoft.com/office/drawing/2014/main" id="{929E3DDB-26C0-492A-A72C-2B7416440FEC}"/>
              </a:ext>
            </a:extLst>
          </p:cNvPr>
          <p:cNvSpPr>
            <a:spLocks noGrp="1"/>
          </p:cNvSpPr>
          <p:nvPr/>
        </p:nvSpPr>
        <p:spPr>
          <a:xfrm>
            <a:off x="457200" y="1905000"/>
            <a:ext cx="43815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Относительная разница с плацебо по АКО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 4-му месяцу:</a:t>
            </a:r>
          </a:p>
        </p:txBody>
      </p:sp>
      <p:sp>
        <p:nvSpPr>
          <p:cNvPr id="18" name="placebo_adjusted_uacr_reduction">
            <a:extLst>
              <a:ext uri="{FF2B5EF4-FFF2-40B4-BE49-F238E27FC236}">
                <a16:creationId xmlns:a16="http://schemas.microsoft.com/office/drawing/2014/main" id="{951EC1D7-8469-49C8-A8FD-45127F284AA5}"/>
              </a:ext>
            </a:extLst>
          </p:cNvPr>
          <p:cNvSpPr>
            <a:spLocks noGrp="1"/>
          </p:cNvSpPr>
          <p:nvPr/>
        </p:nvSpPr>
        <p:spPr>
          <a:xfrm>
            <a:off x="457200" y="2438400"/>
            <a:ext cx="43815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2800" b="1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−32%</a:t>
            </a:r>
          </a:p>
        </p:txBody>
      </p:sp>
      <p:sp>
        <p:nvSpPr>
          <p:cNvPr id="19" name="mean_change_explanation">
            <a:extLst>
              <a:ext uri="{FF2B5EF4-FFF2-40B4-BE49-F238E27FC236}">
                <a16:creationId xmlns:a16="http://schemas.microsoft.com/office/drawing/2014/main" id="{4CAB5978-13A9-4148-85A1-DAB8594BD3C6}"/>
              </a:ext>
            </a:extLst>
          </p:cNvPr>
          <p:cNvSpPr>
            <a:spLocks noGrp="1"/>
          </p:cNvSpPr>
          <p:nvPr/>
        </p:nvSpPr>
        <p:spPr>
          <a:xfrm>
            <a:off x="457200" y="2997200"/>
            <a:ext cx="43815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 поправкой на исходный уровень АКО.</a:t>
            </a:r>
          </a:p>
        </p:txBody>
      </p:sp>
      <p:sp>
        <p:nvSpPr>
          <p:cNvPr id="20" name="ratio_detail">
            <a:extLst>
              <a:ext uri="{FF2B5EF4-FFF2-40B4-BE49-F238E27FC236}">
                <a16:creationId xmlns:a16="http://schemas.microsoft.com/office/drawing/2014/main" id="{D5503542-ADFC-456C-BF7C-A4D253C828D2}"/>
              </a:ext>
            </a:extLst>
          </p:cNvPr>
          <p:cNvSpPr>
            <a:spLocks noGrp="1"/>
          </p:cNvSpPr>
          <p:nvPr/>
        </p:nvSpPr>
        <p:spPr>
          <a:xfrm>
            <a:off x="457200" y="3327400"/>
            <a:ext cx="4381500" cy="635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Как считали: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отношение изменений АКО,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финеренон к плацебо: 0,68 (95% ДИ 0,66–0,70);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1 − 0,68 = 0,32.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="4914900" y="1857375"/>
          <a:ext cx="6819900" cy="2676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secondary_analysis_label">
            <a:extLst>
              <a:ext uri="{FF2B5EF4-FFF2-40B4-BE49-F238E27FC236}">
                <a16:creationId xmlns:a16="http://schemas.microsoft.com/office/drawing/2014/main" id="{40967ABC-63D8-4DE4-9621-E0F4D665AD02}"/>
              </a:ext>
            </a:extLst>
          </p:cNvPr>
          <p:cNvSpPr>
            <a:spLocks noGrp="1"/>
          </p:cNvSpPr>
          <p:nvPr/>
        </p:nvSpPr>
        <p:spPr>
          <a:xfrm>
            <a:off x="5305425" y="4533900"/>
            <a:ext cx="6429375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Доля пациентов, у которых АКО снизилось на ≥30%: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финеренон 53,2%, плацебо 27,0% (апостериорный анализ, 12 512 пациентов).</a:t>
            </a:r>
          </a:p>
        </p:txBody>
      </p:sp>
      <p:sp>
        <p:nvSpPr>
          <p:cNvPr id="23" name="interpretation">
            <a:extLst>
              <a:ext uri="{FF2B5EF4-FFF2-40B4-BE49-F238E27FC236}">
                <a16:creationId xmlns:a16="http://schemas.microsoft.com/office/drawing/2014/main" id="{871D3FF8-D7C7-42D0-9CB9-A6CF9C450E5E}"/>
              </a:ext>
            </a:extLst>
          </p:cNvPr>
          <p:cNvSpPr>
            <a:spLocks noGrp="1"/>
          </p:cNvSpPr>
          <p:nvPr/>
        </p:nvSpPr>
        <p:spPr>
          <a:xfrm>
            <a:off x="457200" y="5095875"/>
            <a:ext cx="10896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Снижение АКО: ранний маркер на уровне групп; отражает почечный эффект лучше, чем сердечно-сосудистый.</a:t>
            </a:r>
          </a:p>
        </p:txBody>
      </p:sp>
      <p:sp>
        <p:nvSpPr>
          <p:cNvPr id="24" name="individual_limit">
            <a:extLst>
              <a:ext uri="{FF2B5EF4-FFF2-40B4-BE49-F238E27FC236}">
                <a16:creationId xmlns:a16="http://schemas.microsoft.com/office/drawing/2014/main" id="{0C886217-54F0-4339-84CC-D850868F26F2}"/>
              </a:ext>
            </a:extLst>
          </p:cNvPr>
          <p:cNvSpPr>
            <a:spLocks noGrp="1"/>
          </p:cNvSpPr>
          <p:nvPr/>
        </p:nvSpPr>
        <p:spPr>
          <a:xfrm>
            <a:off x="457200" y="5476875"/>
            <a:ext cx="108966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Ограничение: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по величине снижения АКО нельзя рассчитать, на сколько процентов снизится риск почечных и сердечно-сосудистых исходов у конкретного пациента.</a:t>
            </a:r>
          </a:p>
        </p:txBody>
      </p:sp>
      <p:sp>
        <p:nvSpPr>
          <p:cNvPr id="25" name="monitoring">
            <a:extLst>
              <a:ext uri="{FF2B5EF4-FFF2-40B4-BE49-F238E27FC236}">
                <a16:creationId xmlns:a16="http://schemas.microsoft.com/office/drawing/2014/main" id="{ADF8BE48-006B-4523-A1B5-116A24A19F99}"/>
              </a:ext>
            </a:extLst>
          </p:cNvPr>
          <p:cNvSpPr>
            <a:spLocks noGrp="1"/>
          </p:cNvSpPr>
          <p:nvPr/>
        </p:nvSpPr>
        <p:spPr>
          <a:xfrm>
            <a:off x="457200" y="6096000"/>
            <a:ext cx="10896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Функцию почек и калий продолжают контролировать.</a:t>
            </a:r>
          </a:p>
        </p:txBody>
      </p:sp>
      <p:sp>
        <p:nvSpPr>
          <p:cNvPr id="37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АКО: отношение альбумина к креатинину мочи; АПФ: ангиотензинпревращающий фермент; БРА: блокатор рецепторов ангиотензина II; ДИ: доверительный интервал.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Agarwal R, et al. Eur Heart J. 2022;43:474–484. Agarwal R, et al. Ann Intern Med. 2023;176:1606–1616. KDIGO 2024 Clinical Practice Guideline for CKD. Kidney Int. 2024;105(4S):S117–S314.</a:t>
            </a:r>
          </a:p>
        </p:txBody>
      </p:sp>
      <p:pic>
        <p:nvPicPr>
          <p:cNvPr id="38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877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47BC36-2FE3-4B05-ABD4-8BA3B190B057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CONFIDENCE: одновременное начало финеренона и эмпаглифлозина снижало АКО сильнее монотерапии</a:t>
            </a:r>
          </a:p>
        </p:txBody>
      </p:sp>
      <p:sp>
        <p:nvSpPr>
          <p:cNvPr id="11" name="population">
            <a:extLst>
              <a:ext uri="{FF2B5EF4-FFF2-40B4-BE49-F238E27FC236}">
                <a16:creationId xmlns:a16="http://schemas.microsoft.com/office/drawing/2014/main" id="{F6583A90-277F-45E8-9290-F957410B2A23}"/>
              </a:ext>
            </a:extLst>
          </p:cNvPr>
          <p:cNvSpPr>
            <a:spLocks noGrp="1"/>
          </p:cNvSpPr>
          <p:nvPr/>
        </p:nvSpPr>
        <p:spPr>
          <a:xfrm>
            <a:off x="457200" y="762000"/>
            <a:ext cx="112776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Кто участвовал: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800 пациентов с хронической болезнью почек и сахарным диабетом 2 типа; двойное слепое исследование II фазы, 180 дней.</a:t>
            </a:r>
          </a:p>
        </p:txBody>
      </p:sp>
      <p:sp>
        <p:nvSpPr>
          <p:cNvPr id="12" name="inclusion">
            <a:extLst>
              <a:ext uri="{FF2B5EF4-FFF2-40B4-BE49-F238E27FC236}">
                <a16:creationId xmlns:a16="http://schemas.microsoft.com/office/drawing/2014/main" id="{C8D3A62D-499F-45B9-B8FE-4D5E0D93A232}"/>
              </a:ext>
            </a:extLst>
          </p:cNvPr>
          <p:cNvSpPr>
            <a:spLocks noGrp="1"/>
          </p:cNvSpPr>
          <p:nvPr/>
        </p:nvSpPr>
        <p:spPr>
          <a:xfrm>
            <a:off x="457200" y="981075"/>
            <a:ext cx="112776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Критерии включения: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рСКФ 30–90 мл/мин/1,73 м², АКО 100–5000 мг/г, калий ≤4,8 ммоль/л; ингибитор АПФ или БРА в максимально переносимой дозе.</a:t>
            </a:r>
          </a:p>
        </p:txBody>
      </p:sp>
      <p:sp>
        <p:nvSpPr>
          <p:cNvPr id="13" name="background">
            <a:extLst>
              <a:ext uri="{FF2B5EF4-FFF2-40B4-BE49-F238E27FC236}">
                <a16:creationId xmlns:a16="http://schemas.microsoft.com/office/drawing/2014/main" id="{22D4A775-998D-47D3-AAD0-2DF0304EA94E}"/>
              </a:ext>
            </a:extLst>
          </p:cNvPr>
          <p:cNvSpPr>
            <a:spLocks noGrp="1"/>
          </p:cNvSpPr>
          <p:nvPr/>
        </p:nvSpPr>
        <p:spPr>
          <a:xfrm>
            <a:off x="457200" y="1200150"/>
            <a:ext cx="112776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Результат: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к 180-му дню АКО снизилось на 52% (комбинация), 32% (финеренон) и 29% (эмпаглифлозин); комбинация против каждой: p&lt;0,001.</a:t>
            </a:r>
          </a:p>
        </p:txBody>
      </p:sp>
      <p:sp>
        <p:nvSpPr>
          <p:cNvPr id="14" name="legend_finerenone">
            <a:extLst>
              <a:ext uri="{FF2B5EF4-FFF2-40B4-BE49-F238E27FC236}">
                <a16:creationId xmlns:a16="http://schemas.microsoft.com/office/drawing/2014/main" id="{39E964D8-8A13-453D-8385-C98F1F4A2CF5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314325" cy="95"/>
          </a:xfrm>
          <a:custGeom>
            <a:avLst/>
            <a:gdLst/>
            <a:ahLst/>
            <a:cxnLst/>
            <a:rect l="0" t="0" r="0" b="0"/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23813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5" name="legend_label_finerenone">
            <a:extLst>
              <a:ext uri="{FF2B5EF4-FFF2-40B4-BE49-F238E27FC236}">
                <a16:creationId xmlns:a16="http://schemas.microsoft.com/office/drawing/2014/main" id="{4FC832A5-1337-4C4C-B5CB-2E4D9FD3AC65}"/>
              </a:ext>
            </a:extLst>
          </p:cNvPr>
          <p:cNvSpPr>
            <a:spLocks noGrp="1"/>
          </p:cNvSpPr>
          <p:nvPr/>
        </p:nvSpPr>
        <p:spPr>
          <a:xfrm>
            <a:off x="866775" y="1428750"/>
            <a:ext cx="4619625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16" name="legend_empagliflozin">
            <a:extLst>
              <a:ext uri="{FF2B5EF4-FFF2-40B4-BE49-F238E27FC236}">
                <a16:creationId xmlns:a16="http://schemas.microsoft.com/office/drawing/2014/main" id="{3C8F80B8-4222-484D-B05F-BA5B01089765}"/>
              </a:ext>
            </a:extLst>
          </p:cNvPr>
          <p:cNvSpPr>
            <a:spLocks noGrp="1"/>
          </p:cNvSpPr>
          <p:nvPr/>
        </p:nvSpPr>
        <p:spPr>
          <a:xfrm>
            <a:off x="3219450" y="1552575"/>
            <a:ext cx="314325" cy="95"/>
          </a:xfrm>
          <a:custGeom>
            <a:avLst/>
            <a:gdLst/>
            <a:ahLst/>
            <a:cxnLst/>
            <a:rect l="0" t="0" r="0" b="0"/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23813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7" name="legend_label_empagliflozin">
            <a:extLst>
              <a:ext uri="{FF2B5EF4-FFF2-40B4-BE49-F238E27FC236}">
                <a16:creationId xmlns:a16="http://schemas.microsoft.com/office/drawing/2014/main" id="{0D56EE0B-C281-463C-B8BC-FBD1A7DA7B4C}"/>
              </a:ext>
            </a:extLst>
          </p:cNvPr>
          <p:cNvSpPr>
            <a:spLocks noGrp="1"/>
          </p:cNvSpPr>
          <p:nvPr/>
        </p:nvSpPr>
        <p:spPr>
          <a:xfrm>
            <a:off x="3629025" y="1428750"/>
            <a:ext cx="4619625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Эмпаглифлозин</a:t>
            </a:r>
          </a:p>
        </p:txBody>
      </p:sp>
      <p:sp>
        <p:nvSpPr>
          <p:cNvPr id="18" name="legend_combination">
            <a:extLst>
              <a:ext uri="{FF2B5EF4-FFF2-40B4-BE49-F238E27FC236}">
                <a16:creationId xmlns:a16="http://schemas.microsoft.com/office/drawing/2014/main" id="{83CD1A72-75FA-4957-8307-007837C38EEC}"/>
              </a:ext>
            </a:extLst>
          </p:cNvPr>
          <p:cNvSpPr>
            <a:spLocks noGrp="1"/>
          </p:cNvSpPr>
          <p:nvPr/>
        </p:nvSpPr>
        <p:spPr>
          <a:xfrm>
            <a:off x="6667500" y="1552575"/>
            <a:ext cx="314325" cy="95"/>
          </a:xfrm>
          <a:custGeom>
            <a:avLst/>
            <a:gdLst/>
            <a:ahLst/>
            <a:cxnLst/>
            <a:rect l="0" t="0" r="0" b="0"/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23813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9" name="legend_label_combination">
            <a:extLst>
              <a:ext uri="{FF2B5EF4-FFF2-40B4-BE49-F238E27FC236}">
                <a16:creationId xmlns:a16="http://schemas.microsoft.com/office/drawing/2014/main" id="{C7224C47-A1D0-466E-A51F-E322B533D223}"/>
              </a:ext>
            </a:extLst>
          </p:cNvPr>
          <p:cNvSpPr>
            <a:spLocks noGrp="1"/>
          </p:cNvSpPr>
          <p:nvPr/>
        </p:nvSpPr>
        <p:spPr>
          <a:xfrm>
            <a:off x="7077075" y="1428750"/>
            <a:ext cx="4619625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Финеренон + эмпаглифлозин</a:t>
            </a:r>
          </a:p>
        </p:txBody>
      </p:sp>
      <p:sp>
        <p:nvSpPr>
          <p:cNvPr id="20" name="A_heading">
            <a:extLst>
              <a:ext uri="{FF2B5EF4-FFF2-40B4-BE49-F238E27FC236}">
                <a16:creationId xmlns:a16="http://schemas.microsoft.com/office/drawing/2014/main" id="{CAD48CD6-E69D-4CF0-AD97-A89B59F752D9}"/>
              </a:ext>
            </a:extLst>
          </p:cNvPr>
          <p:cNvSpPr>
            <a:spLocks noGrp="1"/>
          </p:cNvSpPr>
          <p:nvPr/>
        </p:nvSpPr>
        <p:spPr>
          <a:xfrm>
            <a:off x="457200" y="1714500"/>
            <a:ext cx="54673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Изменение АКО</a:t>
            </a:r>
          </a:p>
        </p:txBody>
      </p:sp>
      <p:sp>
        <p:nvSpPr>
          <p:cNvPr id="21" name="A_y_title">
            <a:extLst>
              <a:ext uri="{FF2B5EF4-FFF2-40B4-BE49-F238E27FC236}">
                <a16:creationId xmlns:a16="http://schemas.microsoft.com/office/drawing/2014/main" id="{37CFEB57-70BF-4C9C-81B1-8720CC011739}"/>
              </a:ext>
            </a:extLst>
          </p:cNvPr>
          <p:cNvSpPr>
            <a:spLocks noGrp="1"/>
          </p:cNvSpPr>
          <p:nvPr/>
        </p:nvSpPr>
        <p:spPr>
          <a:xfrm>
            <a:off x="457200" y="2005967"/>
            <a:ext cx="54673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Отношение АКО к исходному уровню (1,0 = исходный), среднее МНК</a:t>
            </a:r>
          </a:p>
        </p:txBody>
      </p:sp>
      <p:sp>
        <p:nvSpPr>
          <p:cNvPr id="22" name="A_y_axis_upper">
            <a:extLst>
              <a:ext uri="{FF2B5EF4-FFF2-40B4-BE49-F238E27FC236}">
                <a16:creationId xmlns:a16="http://schemas.microsoft.com/office/drawing/2014/main" id="{DA01B338-A01C-4E14-90CA-F9353BC04B68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95" cy="2167648"/>
          </a:xfrm>
          <a:custGeom>
            <a:avLst/>
            <a:gdLst/>
            <a:ahLst/>
            <a:cxnLst/>
            <a:rect l="0" t="0" r="0" b="0"/>
            <a:pathLst>
              <a:path w="95" h="1692757">
                <a:moveTo>
                  <a:pt x="0" y="0"/>
                </a:moveTo>
                <a:lnTo>
                  <a:pt x="0" y="1692757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3" name="A_y_axis_lower">
            <a:extLst>
              <a:ext uri="{FF2B5EF4-FFF2-40B4-BE49-F238E27FC236}">
                <a16:creationId xmlns:a16="http://schemas.microsoft.com/office/drawing/2014/main" id="{8E208E84-647C-4946-8A56-54B764E35899}"/>
              </a:ext>
            </a:extLst>
          </p:cNvPr>
          <p:cNvSpPr>
            <a:spLocks noGrp="1"/>
          </p:cNvSpPr>
          <p:nvPr/>
        </p:nvSpPr>
        <p:spPr>
          <a:xfrm>
            <a:off x="1885950" y="4725678"/>
            <a:ext cx="95" cy="149814"/>
          </a:xfrm>
          <a:custGeom>
            <a:avLst/>
            <a:gdLst/>
            <a:ahLst/>
            <a:cxnLst/>
            <a:rect l="0" t="0" r="0" b="0"/>
            <a:pathLst>
              <a:path w="95" h="116993">
                <a:moveTo>
                  <a:pt x="0" y="0"/>
                </a:moveTo>
                <a:lnTo>
                  <a:pt x="0" y="116993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4" name="A_axis_break_1">
            <a:extLst>
              <a:ext uri="{FF2B5EF4-FFF2-40B4-BE49-F238E27FC236}">
                <a16:creationId xmlns:a16="http://schemas.microsoft.com/office/drawing/2014/main" id="{5CFF154A-E6C8-4914-861E-81606C43D318}"/>
              </a:ext>
            </a:extLst>
          </p:cNvPr>
          <p:cNvSpPr>
            <a:spLocks noGrp="1"/>
          </p:cNvSpPr>
          <p:nvPr/>
        </p:nvSpPr>
        <p:spPr>
          <a:xfrm>
            <a:off x="1828800" y="4603706"/>
            <a:ext cx="114300" cy="121971"/>
          </a:xfrm>
          <a:custGeom>
            <a:avLst/>
            <a:gdLst/>
            <a:ahLst/>
            <a:cxnLst/>
            <a:rect l="0" t="0" r="0" b="0"/>
            <a:pathLst>
              <a:path w="114300" h="95250">
                <a:moveTo>
                  <a:pt x="0" y="95250"/>
                </a:moveTo>
                <a:lnTo>
                  <a:pt x="114300" y="0"/>
                </a:lnTo>
              </a:path>
            </a:pathLst>
          </a:custGeom>
          <a:noFill/>
          <a:ln w="11430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5" name="A_axis_break_2">
            <a:extLst>
              <a:ext uri="{FF2B5EF4-FFF2-40B4-BE49-F238E27FC236}">
                <a16:creationId xmlns:a16="http://schemas.microsoft.com/office/drawing/2014/main" id="{145BA233-9289-426D-9C7B-6F31A5FE94F4}"/>
              </a:ext>
            </a:extLst>
          </p:cNvPr>
          <p:cNvSpPr>
            <a:spLocks noGrp="1"/>
          </p:cNvSpPr>
          <p:nvPr/>
        </p:nvSpPr>
        <p:spPr>
          <a:xfrm>
            <a:off x="1828800" y="4664692"/>
            <a:ext cx="114300" cy="121971"/>
          </a:xfrm>
          <a:custGeom>
            <a:avLst/>
            <a:gdLst/>
            <a:ahLst/>
            <a:cxnLst/>
            <a:rect l="0" t="0" r="0" b="0"/>
            <a:pathLst>
              <a:path w="114300" h="95250">
                <a:moveTo>
                  <a:pt x="0" y="95250"/>
                </a:moveTo>
                <a:lnTo>
                  <a:pt x="114300" y="0"/>
                </a:lnTo>
              </a:path>
            </a:pathLst>
          </a:custGeom>
          <a:noFill/>
          <a:ln w="11430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6" name="A_x_axis">
            <a:extLst>
              <a:ext uri="{FF2B5EF4-FFF2-40B4-BE49-F238E27FC236}">
                <a16:creationId xmlns:a16="http://schemas.microsoft.com/office/drawing/2014/main" id="{73164EE2-3AEA-45D0-8C6A-C46B8C6C78DC}"/>
              </a:ext>
            </a:extLst>
          </p:cNvPr>
          <p:cNvSpPr>
            <a:spLocks noGrp="1"/>
          </p:cNvSpPr>
          <p:nvPr/>
        </p:nvSpPr>
        <p:spPr>
          <a:xfrm>
            <a:off x="1885950" y="4875505"/>
            <a:ext cx="3886200" cy="95"/>
          </a:xfrm>
          <a:custGeom>
            <a:avLst/>
            <a:gdLst/>
            <a:ahLst/>
            <a:cxnLst/>
            <a:rect l="0" t="0" r="0" b="0"/>
            <a:pathLst>
              <a:path w="3886200" h="95">
                <a:moveTo>
                  <a:pt x="0" y="0"/>
                </a:moveTo>
                <a:lnTo>
                  <a:pt x="3886200" y="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7" name="A_ytick_1.2">
            <a:extLst>
              <a:ext uri="{FF2B5EF4-FFF2-40B4-BE49-F238E27FC236}">
                <a16:creationId xmlns:a16="http://schemas.microsoft.com/office/drawing/2014/main" id="{B010960A-DD22-40AC-9956-2289AF1ADD91}"/>
              </a:ext>
            </a:extLst>
          </p:cNvPr>
          <p:cNvSpPr>
            <a:spLocks noGrp="1"/>
          </p:cNvSpPr>
          <p:nvPr/>
        </p:nvSpPr>
        <p:spPr>
          <a:xfrm>
            <a:off x="1838325" y="2436071"/>
            <a:ext cx="47625" cy="95"/>
          </a:xfrm>
          <a:custGeom>
            <a:avLst/>
            <a:gdLst/>
            <a:ahLst/>
            <a:cxnLst/>
            <a:rect l="0" t="0" r="0" b="0"/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8" name="A_ylabel_1.2">
            <a:extLst>
              <a:ext uri="{FF2B5EF4-FFF2-40B4-BE49-F238E27FC236}">
                <a16:creationId xmlns:a16="http://schemas.microsoft.com/office/drawing/2014/main" id="{63C6C5E4-91B5-4FED-8444-DF23C97A2C77}"/>
              </a:ext>
            </a:extLst>
          </p:cNvPr>
          <p:cNvSpPr>
            <a:spLocks noGrp="1"/>
          </p:cNvSpPr>
          <p:nvPr/>
        </p:nvSpPr>
        <p:spPr>
          <a:xfrm>
            <a:off x="1362075" y="2332619"/>
            <a:ext cx="4381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1,2</a:t>
            </a:r>
          </a:p>
        </p:txBody>
      </p:sp>
      <p:sp>
        <p:nvSpPr>
          <p:cNvPr id="29" name="A_ytick_1">
            <a:extLst>
              <a:ext uri="{FF2B5EF4-FFF2-40B4-BE49-F238E27FC236}">
                <a16:creationId xmlns:a16="http://schemas.microsoft.com/office/drawing/2014/main" id="{3899488E-5B5E-4F57-BAE8-4E7CF84F0650}"/>
              </a:ext>
            </a:extLst>
          </p:cNvPr>
          <p:cNvSpPr>
            <a:spLocks noGrp="1"/>
          </p:cNvSpPr>
          <p:nvPr/>
        </p:nvSpPr>
        <p:spPr>
          <a:xfrm>
            <a:off x="1838325" y="2938953"/>
            <a:ext cx="47625" cy="95"/>
          </a:xfrm>
          <a:custGeom>
            <a:avLst/>
            <a:gdLst/>
            <a:ahLst/>
            <a:cxnLst/>
            <a:rect l="0" t="0" r="0" b="0"/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0" name="A_ylabel_1">
            <a:extLst>
              <a:ext uri="{FF2B5EF4-FFF2-40B4-BE49-F238E27FC236}">
                <a16:creationId xmlns:a16="http://schemas.microsoft.com/office/drawing/2014/main" id="{44F22C6A-7466-4D50-874C-103DC33B3064}"/>
              </a:ext>
            </a:extLst>
          </p:cNvPr>
          <p:cNvSpPr>
            <a:spLocks noGrp="1"/>
          </p:cNvSpPr>
          <p:nvPr/>
        </p:nvSpPr>
        <p:spPr>
          <a:xfrm>
            <a:off x="1362075" y="2835501"/>
            <a:ext cx="4381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1,0</a:t>
            </a:r>
          </a:p>
        </p:txBody>
      </p:sp>
      <p:sp>
        <p:nvSpPr>
          <p:cNvPr id="31" name="A_ytick_0.8">
            <a:extLst>
              <a:ext uri="{FF2B5EF4-FFF2-40B4-BE49-F238E27FC236}">
                <a16:creationId xmlns:a16="http://schemas.microsoft.com/office/drawing/2014/main" id="{DC127FC2-26CB-4BE0-BE1F-2DA99EA23E2B}"/>
              </a:ext>
            </a:extLst>
          </p:cNvPr>
          <p:cNvSpPr>
            <a:spLocks noGrp="1"/>
          </p:cNvSpPr>
          <p:nvPr/>
        </p:nvSpPr>
        <p:spPr>
          <a:xfrm>
            <a:off x="1838325" y="3441819"/>
            <a:ext cx="47625" cy="95"/>
          </a:xfrm>
          <a:custGeom>
            <a:avLst/>
            <a:gdLst/>
            <a:ahLst/>
            <a:cxnLst/>
            <a:rect l="0" t="0" r="0" b="0"/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2" name="A_ylabel_0.8">
            <a:extLst>
              <a:ext uri="{FF2B5EF4-FFF2-40B4-BE49-F238E27FC236}">
                <a16:creationId xmlns:a16="http://schemas.microsoft.com/office/drawing/2014/main" id="{55EF28D7-211A-462E-B7C5-4D9BCB3AABB6}"/>
              </a:ext>
            </a:extLst>
          </p:cNvPr>
          <p:cNvSpPr>
            <a:spLocks noGrp="1"/>
          </p:cNvSpPr>
          <p:nvPr/>
        </p:nvSpPr>
        <p:spPr>
          <a:xfrm>
            <a:off x="1362075" y="3338366"/>
            <a:ext cx="4381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0,8</a:t>
            </a:r>
          </a:p>
        </p:txBody>
      </p:sp>
      <p:sp>
        <p:nvSpPr>
          <p:cNvPr id="33" name="A_ytick_0.6">
            <a:extLst>
              <a:ext uri="{FF2B5EF4-FFF2-40B4-BE49-F238E27FC236}">
                <a16:creationId xmlns:a16="http://schemas.microsoft.com/office/drawing/2014/main" id="{612204B1-9BDA-4831-A1F2-8534A377B8C5}"/>
              </a:ext>
            </a:extLst>
          </p:cNvPr>
          <p:cNvSpPr>
            <a:spLocks noGrp="1"/>
          </p:cNvSpPr>
          <p:nvPr/>
        </p:nvSpPr>
        <p:spPr>
          <a:xfrm>
            <a:off x="1838325" y="3944681"/>
            <a:ext cx="47625" cy="95"/>
          </a:xfrm>
          <a:custGeom>
            <a:avLst/>
            <a:gdLst/>
            <a:ahLst/>
            <a:cxnLst/>
            <a:rect l="0" t="0" r="0" b="0"/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4" name="A_ylabel_0.6">
            <a:extLst>
              <a:ext uri="{FF2B5EF4-FFF2-40B4-BE49-F238E27FC236}">
                <a16:creationId xmlns:a16="http://schemas.microsoft.com/office/drawing/2014/main" id="{16E66FDF-B8E4-43E6-9D94-E74A9EB8E5E7}"/>
              </a:ext>
            </a:extLst>
          </p:cNvPr>
          <p:cNvSpPr>
            <a:spLocks noGrp="1"/>
          </p:cNvSpPr>
          <p:nvPr/>
        </p:nvSpPr>
        <p:spPr>
          <a:xfrm>
            <a:off x="1362075" y="3841229"/>
            <a:ext cx="4381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0,6</a:t>
            </a:r>
          </a:p>
        </p:txBody>
      </p:sp>
      <p:sp>
        <p:nvSpPr>
          <p:cNvPr id="35" name="A_ytick_0.4">
            <a:extLst>
              <a:ext uri="{FF2B5EF4-FFF2-40B4-BE49-F238E27FC236}">
                <a16:creationId xmlns:a16="http://schemas.microsoft.com/office/drawing/2014/main" id="{B4F7E8AD-6258-4F95-BCE3-B1F691D8DA35}"/>
              </a:ext>
            </a:extLst>
          </p:cNvPr>
          <p:cNvSpPr>
            <a:spLocks noGrp="1"/>
          </p:cNvSpPr>
          <p:nvPr/>
        </p:nvSpPr>
        <p:spPr>
          <a:xfrm>
            <a:off x="1838325" y="4447570"/>
            <a:ext cx="47625" cy="95"/>
          </a:xfrm>
          <a:custGeom>
            <a:avLst/>
            <a:gdLst/>
            <a:ahLst/>
            <a:cxnLst/>
            <a:rect l="0" t="0" r="0" b="0"/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6" name="A_ylabel_0.4">
            <a:extLst>
              <a:ext uri="{FF2B5EF4-FFF2-40B4-BE49-F238E27FC236}">
                <a16:creationId xmlns:a16="http://schemas.microsoft.com/office/drawing/2014/main" id="{00A62147-969D-418B-B106-367AFEA951D5}"/>
              </a:ext>
            </a:extLst>
          </p:cNvPr>
          <p:cNvSpPr>
            <a:spLocks noGrp="1"/>
          </p:cNvSpPr>
          <p:nvPr/>
        </p:nvSpPr>
        <p:spPr>
          <a:xfrm>
            <a:off x="1362075" y="4344118"/>
            <a:ext cx="4381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0,4</a:t>
            </a:r>
          </a:p>
        </p:txBody>
      </p:sp>
      <p:sp>
        <p:nvSpPr>
          <p:cNvPr id="37" name="A_ytick_0">
            <a:extLst>
              <a:ext uri="{FF2B5EF4-FFF2-40B4-BE49-F238E27FC236}">
                <a16:creationId xmlns:a16="http://schemas.microsoft.com/office/drawing/2014/main" id="{5AEEF340-9264-43A2-B488-3151B7FE45A6}"/>
              </a:ext>
            </a:extLst>
          </p:cNvPr>
          <p:cNvSpPr>
            <a:spLocks noGrp="1"/>
          </p:cNvSpPr>
          <p:nvPr/>
        </p:nvSpPr>
        <p:spPr>
          <a:xfrm>
            <a:off x="1838325" y="4875505"/>
            <a:ext cx="47625" cy="95"/>
          </a:xfrm>
          <a:custGeom>
            <a:avLst/>
            <a:gdLst/>
            <a:ahLst/>
            <a:cxnLst/>
            <a:rect l="0" t="0" r="0" b="0"/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8" name="A_ylabel_0">
            <a:extLst>
              <a:ext uri="{FF2B5EF4-FFF2-40B4-BE49-F238E27FC236}">
                <a16:creationId xmlns:a16="http://schemas.microsoft.com/office/drawing/2014/main" id="{53D4209A-1771-4D50-88DC-2CEA43D735BC}"/>
              </a:ext>
            </a:extLst>
          </p:cNvPr>
          <p:cNvSpPr>
            <a:spLocks noGrp="1"/>
          </p:cNvSpPr>
          <p:nvPr/>
        </p:nvSpPr>
        <p:spPr>
          <a:xfrm>
            <a:off x="1362075" y="4772053"/>
            <a:ext cx="4381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0,0</a:t>
            </a:r>
          </a:p>
        </p:txBody>
      </p:sp>
      <p:sp>
        <p:nvSpPr>
          <p:cNvPr id="39" name="A_xtick_0">
            <a:extLst>
              <a:ext uri="{FF2B5EF4-FFF2-40B4-BE49-F238E27FC236}">
                <a16:creationId xmlns:a16="http://schemas.microsoft.com/office/drawing/2014/main" id="{0B1DB35F-BB64-414A-A464-E11A121AE5BA}"/>
              </a:ext>
            </a:extLst>
          </p:cNvPr>
          <p:cNvSpPr>
            <a:spLocks noGrp="1"/>
          </p:cNvSpPr>
          <p:nvPr/>
        </p:nvSpPr>
        <p:spPr>
          <a:xfrm>
            <a:off x="2183151" y="4880836"/>
            <a:ext cx="95" cy="38100"/>
          </a:xfrm>
          <a:custGeom>
            <a:avLst/>
            <a:gdLst/>
            <a:ahLst/>
            <a:cxnLst/>
            <a:rect l="0" t="0" r="0" b="0"/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0" name="A_day_0">
            <a:extLst>
              <a:ext uri="{FF2B5EF4-FFF2-40B4-BE49-F238E27FC236}">
                <a16:creationId xmlns:a16="http://schemas.microsoft.com/office/drawing/2014/main" id="{E39724F9-AAD3-4A69-9598-296A7DC71FCD}"/>
              </a:ext>
            </a:extLst>
          </p:cNvPr>
          <p:cNvSpPr>
            <a:spLocks noGrp="1"/>
          </p:cNvSpPr>
          <p:nvPr/>
        </p:nvSpPr>
        <p:spPr>
          <a:xfrm>
            <a:off x="1983126" y="4968544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41" name="A_xtick_14">
            <a:extLst>
              <a:ext uri="{FF2B5EF4-FFF2-40B4-BE49-F238E27FC236}">
                <a16:creationId xmlns:a16="http://schemas.microsoft.com/office/drawing/2014/main" id="{1B54DEA8-6C9E-4B2E-B142-CC30DEB09864}"/>
              </a:ext>
            </a:extLst>
          </p:cNvPr>
          <p:cNvSpPr>
            <a:spLocks noGrp="1"/>
          </p:cNvSpPr>
          <p:nvPr/>
        </p:nvSpPr>
        <p:spPr>
          <a:xfrm>
            <a:off x="2539210" y="4880836"/>
            <a:ext cx="95" cy="38100"/>
          </a:xfrm>
          <a:custGeom>
            <a:avLst/>
            <a:gdLst/>
            <a:ahLst/>
            <a:cxnLst/>
            <a:rect l="0" t="0" r="0" b="0"/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2" name="A_day_14">
            <a:extLst>
              <a:ext uri="{FF2B5EF4-FFF2-40B4-BE49-F238E27FC236}">
                <a16:creationId xmlns:a16="http://schemas.microsoft.com/office/drawing/2014/main" id="{4DD327E6-7B0B-4A83-AA9A-B30045F7892B}"/>
              </a:ext>
            </a:extLst>
          </p:cNvPr>
          <p:cNvSpPr>
            <a:spLocks noGrp="1"/>
          </p:cNvSpPr>
          <p:nvPr/>
        </p:nvSpPr>
        <p:spPr>
          <a:xfrm>
            <a:off x="2339185" y="4968544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14</a:t>
            </a:r>
          </a:p>
        </p:txBody>
      </p:sp>
      <p:sp>
        <p:nvSpPr>
          <p:cNvPr id="43" name="A_xtick_30">
            <a:extLst>
              <a:ext uri="{FF2B5EF4-FFF2-40B4-BE49-F238E27FC236}">
                <a16:creationId xmlns:a16="http://schemas.microsoft.com/office/drawing/2014/main" id="{6A9FDA59-1F73-49A3-8500-0C712E046889}"/>
              </a:ext>
            </a:extLst>
          </p:cNvPr>
          <p:cNvSpPr>
            <a:spLocks noGrp="1"/>
          </p:cNvSpPr>
          <p:nvPr/>
        </p:nvSpPr>
        <p:spPr>
          <a:xfrm>
            <a:off x="3001044" y="4880836"/>
            <a:ext cx="95" cy="38100"/>
          </a:xfrm>
          <a:custGeom>
            <a:avLst/>
            <a:gdLst/>
            <a:ahLst/>
            <a:cxnLst/>
            <a:rect l="0" t="0" r="0" b="0"/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4" name="A_day_30">
            <a:extLst>
              <a:ext uri="{FF2B5EF4-FFF2-40B4-BE49-F238E27FC236}">
                <a16:creationId xmlns:a16="http://schemas.microsoft.com/office/drawing/2014/main" id="{F479CB77-B16F-45A9-A267-1B43EA9C6639}"/>
              </a:ext>
            </a:extLst>
          </p:cNvPr>
          <p:cNvSpPr>
            <a:spLocks noGrp="1"/>
          </p:cNvSpPr>
          <p:nvPr/>
        </p:nvSpPr>
        <p:spPr>
          <a:xfrm>
            <a:off x="2801019" y="4968544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45" name="A_xtick_60">
            <a:extLst>
              <a:ext uri="{FF2B5EF4-FFF2-40B4-BE49-F238E27FC236}">
                <a16:creationId xmlns:a16="http://schemas.microsoft.com/office/drawing/2014/main" id="{7B107944-A5F2-4CF5-9E79-5675524ED2BD}"/>
              </a:ext>
            </a:extLst>
          </p:cNvPr>
          <p:cNvSpPr>
            <a:spLocks noGrp="1"/>
          </p:cNvSpPr>
          <p:nvPr/>
        </p:nvSpPr>
        <p:spPr>
          <a:xfrm>
            <a:off x="3462901" y="4880836"/>
            <a:ext cx="95" cy="38100"/>
          </a:xfrm>
          <a:custGeom>
            <a:avLst/>
            <a:gdLst/>
            <a:ahLst/>
            <a:cxnLst/>
            <a:rect l="0" t="0" r="0" b="0"/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6" name="A_day_60">
            <a:extLst>
              <a:ext uri="{FF2B5EF4-FFF2-40B4-BE49-F238E27FC236}">
                <a16:creationId xmlns:a16="http://schemas.microsoft.com/office/drawing/2014/main" id="{9F4F2FF8-05A6-439C-B9AB-9689408C1167}"/>
              </a:ext>
            </a:extLst>
          </p:cNvPr>
          <p:cNvSpPr>
            <a:spLocks noGrp="1"/>
          </p:cNvSpPr>
          <p:nvPr/>
        </p:nvSpPr>
        <p:spPr>
          <a:xfrm>
            <a:off x="3262876" y="4968544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60</a:t>
            </a:r>
          </a:p>
        </p:txBody>
      </p:sp>
      <p:sp>
        <p:nvSpPr>
          <p:cNvPr id="47" name="A_xtick_90">
            <a:extLst>
              <a:ext uri="{FF2B5EF4-FFF2-40B4-BE49-F238E27FC236}">
                <a16:creationId xmlns:a16="http://schemas.microsoft.com/office/drawing/2014/main" id="{F08F020B-5E02-4A26-8890-4F98E377E198}"/>
              </a:ext>
            </a:extLst>
          </p:cNvPr>
          <p:cNvSpPr>
            <a:spLocks noGrp="1"/>
          </p:cNvSpPr>
          <p:nvPr/>
        </p:nvSpPr>
        <p:spPr>
          <a:xfrm>
            <a:off x="3924758" y="4880836"/>
            <a:ext cx="95" cy="38100"/>
          </a:xfrm>
          <a:custGeom>
            <a:avLst/>
            <a:gdLst/>
            <a:ahLst/>
            <a:cxnLst/>
            <a:rect l="0" t="0" r="0" b="0"/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8" name="A_day_90">
            <a:extLst>
              <a:ext uri="{FF2B5EF4-FFF2-40B4-BE49-F238E27FC236}">
                <a16:creationId xmlns:a16="http://schemas.microsoft.com/office/drawing/2014/main" id="{77E0CBF4-B8EF-4D13-B9EA-EBFB9C5D8813}"/>
              </a:ext>
            </a:extLst>
          </p:cNvPr>
          <p:cNvSpPr>
            <a:spLocks noGrp="1"/>
          </p:cNvSpPr>
          <p:nvPr/>
        </p:nvSpPr>
        <p:spPr>
          <a:xfrm>
            <a:off x="3724733" y="4968544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90</a:t>
            </a:r>
          </a:p>
        </p:txBody>
      </p:sp>
      <p:sp>
        <p:nvSpPr>
          <p:cNvPr id="49" name="A_xtick_120">
            <a:extLst>
              <a:ext uri="{FF2B5EF4-FFF2-40B4-BE49-F238E27FC236}">
                <a16:creationId xmlns:a16="http://schemas.microsoft.com/office/drawing/2014/main" id="{A91BF059-B9C9-42B3-A414-9B3F0407EC62}"/>
              </a:ext>
            </a:extLst>
          </p:cNvPr>
          <p:cNvSpPr>
            <a:spLocks noGrp="1"/>
          </p:cNvSpPr>
          <p:nvPr/>
        </p:nvSpPr>
        <p:spPr>
          <a:xfrm>
            <a:off x="4386597" y="4880836"/>
            <a:ext cx="95" cy="38100"/>
          </a:xfrm>
          <a:custGeom>
            <a:avLst/>
            <a:gdLst/>
            <a:ahLst/>
            <a:cxnLst/>
            <a:rect l="0" t="0" r="0" b="0"/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50" name="A_day_120">
            <a:extLst>
              <a:ext uri="{FF2B5EF4-FFF2-40B4-BE49-F238E27FC236}">
                <a16:creationId xmlns:a16="http://schemas.microsoft.com/office/drawing/2014/main" id="{9427FC1A-9711-415A-9418-44E5052F66D6}"/>
              </a:ext>
            </a:extLst>
          </p:cNvPr>
          <p:cNvSpPr>
            <a:spLocks noGrp="1"/>
          </p:cNvSpPr>
          <p:nvPr/>
        </p:nvSpPr>
        <p:spPr>
          <a:xfrm>
            <a:off x="4186572" y="4968544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120</a:t>
            </a:r>
          </a:p>
        </p:txBody>
      </p:sp>
      <p:sp>
        <p:nvSpPr>
          <p:cNvPr id="51" name="A_xtick_150">
            <a:extLst>
              <a:ext uri="{FF2B5EF4-FFF2-40B4-BE49-F238E27FC236}">
                <a16:creationId xmlns:a16="http://schemas.microsoft.com/office/drawing/2014/main" id="{90337C07-7EDC-4A2F-B62C-098338C18BFD}"/>
              </a:ext>
            </a:extLst>
          </p:cNvPr>
          <p:cNvSpPr>
            <a:spLocks noGrp="1"/>
          </p:cNvSpPr>
          <p:nvPr/>
        </p:nvSpPr>
        <p:spPr>
          <a:xfrm>
            <a:off x="4848447" y="4880836"/>
            <a:ext cx="95" cy="38100"/>
          </a:xfrm>
          <a:custGeom>
            <a:avLst/>
            <a:gdLst/>
            <a:ahLst/>
            <a:cxnLst/>
            <a:rect l="0" t="0" r="0" b="0"/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52" name="A_day_150">
            <a:extLst>
              <a:ext uri="{FF2B5EF4-FFF2-40B4-BE49-F238E27FC236}">
                <a16:creationId xmlns:a16="http://schemas.microsoft.com/office/drawing/2014/main" id="{0227066A-6213-42FA-B658-D7F039C34A5D}"/>
              </a:ext>
            </a:extLst>
          </p:cNvPr>
          <p:cNvSpPr>
            <a:spLocks noGrp="1"/>
          </p:cNvSpPr>
          <p:nvPr/>
        </p:nvSpPr>
        <p:spPr>
          <a:xfrm>
            <a:off x="4648422" y="4968544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150</a:t>
            </a:r>
          </a:p>
        </p:txBody>
      </p:sp>
      <p:sp>
        <p:nvSpPr>
          <p:cNvPr id="53" name="A_xtick_180">
            <a:extLst>
              <a:ext uri="{FF2B5EF4-FFF2-40B4-BE49-F238E27FC236}">
                <a16:creationId xmlns:a16="http://schemas.microsoft.com/office/drawing/2014/main" id="{EE0E67EF-413A-4BBB-8610-D8078BB7C88F}"/>
              </a:ext>
            </a:extLst>
          </p:cNvPr>
          <p:cNvSpPr>
            <a:spLocks noGrp="1"/>
          </p:cNvSpPr>
          <p:nvPr/>
        </p:nvSpPr>
        <p:spPr>
          <a:xfrm>
            <a:off x="5310284" y="4880836"/>
            <a:ext cx="95" cy="38100"/>
          </a:xfrm>
          <a:custGeom>
            <a:avLst/>
            <a:gdLst/>
            <a:ahLst/>
            <a:cxnLst/>
            <a:rect l="0" t="0" r="0" b="0"/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54" name="A_day_180">
            <a:extLst>
              <a:ext uri="{FF2B5EF4-FFF2-40B4-BE49-F238E27FC236}">
                <a16:creationId xmlns:a16="http://schemas.microsoft.com/office/drawing/2014/main" id="{641DECAA-E2D3-4376-B77F-C39557946785}"/>
              </a:ext>
            </a:extLst>
          </p:cNvPr>
          <p:cNvSpPr>
            <a:spLocks noGrp="1"/>
          </p:cNvSpPr>
          <p:nvPr/>
        </p:nvSpPr>
        <p:spPr>
          <a:xfrm>
            <a:off x="5110259" y="4968544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180</a:t>
            </a:r>
          </a:p>
        </p:txBody>
      </p:sp>
      <p:sp>
        <p:nvSpPr>
          <p:cNvPr id="55" name="A_xtick_210">
            <a:extLst>
              <a:ext uri="{FF2B5EF4-FFF2-40B4-BE49-F238E27FC236}">
                <a16:creationId xmlns:a16="http://schemas.microsoft.com/office/drawing/2014/main" id="{94A4EA99-C3DD-4C04-8520-A537DDC3C097}"/>
              </a:ext>
            </a:extLst>
          </p:cNvPr>
          <p:cNvSpPr>
            <a:spLocks noGrp="1"/>
          </p:cNvSpPr>
          <p:nvPr/>
        </p:nvSpPr>
        <p:spPr>
          <a:xfrm>
            <a:off x="5772150" y="4880836"/>
            <a:ext cx="95" cy="38100"/>
          </a:xfrm>
          <a:custGeom>
            <a:avLst/>
            <a:gdLst/>
            <a:ahLst/>
            <a:cxnLst/>
            <a:rect l="0" t="0" r="0" b="0"/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56" name="A_day_210">
            <a:extLst>
              <a:ext uri="{FF2B5EF4-FFF2-40B4-BE49-F238E27FC236}">
                <a16:creationId xmlns:a16="http://schemas.microsoft.com/office/drawing/2014/main" id="{21EDABB5-2C01-4AD8-8D2D-3560CB752E63}"/>
              </a:ext>
            </a:extLst>
          </p:cNvPr>
          <p:cNvSpPr>
            <a:spLocks noGrp="1"/>
          </p:cNvSpPr>
          <p:nvPr/>
        </p:nvSpPr>
        <p:spPr>
          <a:xfrm>
            <a:off x="5572125" y="4968544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210</a:t>
            </a:r>
          </a:p>
        </p:txBody>
      </p:sp>
      <p:sp>
        <p:nvSpPr>
          <p:cNvPr id="58" name="A_days_title">
            <a:extLst>
              <a:ext uri="{FF2B5EF4-FFF2-40B4-BE49-F238E27FC236}">
                <a16:creationId xmlns:a16="http://schemas.microsoft.com/office/drawing/2014/main" id="{72193ACB-9E2C-4789-ACFE-8FEA818AC940}"/>
              </a:ext>
            </a:extLst>
          </p:cNvPr>
          <p:cNvSpPr>
            <a:spLocks noGrp="1"/>
          </p:cNvSpPr>
          <p:nvPr/>
        </p:nvSpPr>
        <p:spPr>
          <a:xfrm>
            <a:off x="3695700" y="5285671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Дни</a:t>
            </a:r>
          </a:p>
        </p:txBody>
      </p:sp>
      <p:sp>
        <p:nvSpPr>
          <p:cNvPr id="59" name="published_A_empagliflozin_marker_103">
            <a:extLst>
              <a:ext uri="{FF2B5EF4-FFF2-40B4-BE49-F238E27FC236}">
                <a16:creationId xmlns:a16="http://schemas.microsoft.com/office/drawing/2014/main" id="{20FDE606-C0A1-41E6-9634-09F5053F5361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92310" y="688770"/>
                </a:moveTo>
                <a:lnTo>
                  <a:pt x="692185" y="690836"/>
                </a:lnTo>
                <a:lnTo>
                  <a:pt x="691815" y="692857"/>
                </a:lnTo>
                <a:lnTo>
                  <a:pt x="691210" y="694825"/>
                </a:lnTo>
                <a:lnTo>
                  <a:pt x="690380" y="696734"/>
                </a:lnTo>
                <a:lnTo>
                  <a:pt x="689335" y="698577"/>
                </a:lnTo>
                <a:lnTo>
                  <a:pt x="688084" y="700349"/>
                </a:lnTo>
                <a:lnTo>
                  <a:pt x="686637" y="702042"/>
                </a:lnTo>
                <a:lnTo>
                  <a:pt x="685004" y="703650"/>
                </a:lnTo>
                <a:lnTo>
                  <a:pt x="683194" y="705167"/>
                </a:lnTo>
                <a:lnTo>
                  <a:pt x="681218" y="706585"/>
                </a:lnTo>
                <a:lnTo>
                  <a:pt x="679084" y="707900"/>
                </a:lnTo>
                <a:lnTo>
                  <a:pt x="676804" y="709103"/>
                </a:lnTo>
                <a:lnTo>
                  <a:pt x="674385" y="710190"/>
                </a:lnTo>
                <a:lnTo>
                  <a:pt x="671839" y="711152"/>
                </a:lnTo>
                <a:lnTo>
                  <a:pt x="669174" y="711984"/>
                </a:lnTo>
                <a:lnTo>
                  <a:pt x="666401" y="712679"/>
                </a:lnTo>
                <a:lnTo>
                  <a:pt x="663528" y="713231"/>
                </a:lnTo>
                <a:lnTo>
                  <a:pt x="660567" y="713634"/>
                </a:lnTo>
                <a:lnTo>
                  <a:pt x="657527" y="713880"/>
                </a:lnTo>
                <a:lnTo>
                  <a:pt x="654416" y="713964"/>
                </a:lnTo>
                <a:lnTo>
                  <a:pt x="651302" y="713880"/>
                </a:lnTo>
                <a:lnTo>
                  <a:pt x="648259" y="713634"/>
                </a:lnTo>
                <a:lnTo>
                  <a:pt x="645294" y="713231"/>
                </a:lnTo>
                <a:lnTo>
                  <a:pt x="642420" y="712679"/>
                </a:lnTo>
                <a:lnTo>
                  <a:pt x="639644" y="711984"/>
                </a:lnTo>
                <a:lnTo>
                  <a:pt x="636977" y="711152"/>
                </a:lnTo>
                <a:lnTo>
                  <a:pt x="634429" y="710190"/>
                </a:lnTo>
                <a:lnTo>
                  <a:pt x="632009" y="709103"/>
                </a:lnTo>
                <a:lnTo>
                  <a:pt x="629727" y="707900"/>
                </a:lnTo>
                <a:lnTo>
                  <a:pt x="627593" y="706585"/>
                </a:lnTo>
                <a:lnTo>
                  <a:pt x="625615" y="705167"/>
                </a:lnTo>
                <a:lnTo>
                  <a:pt x="623805" y="703650"/>
                </a:lnTo>
                <a:lnTo>
                  <a:pt x="622172" y="702042"/>
                </a:lnTo>
                <a:lnTo>
                  <a:pt x="620724" y="700349"/>
                </a:lnTo>
                <a:lnTo>
                  <a:pt x="619473" y="698577"/>
                </a:lnTo>
                <a:lnTo>
                  <a:pt x="618428" y="696734"/>
                </a:lnTo>
                <a:lnTo>
                  <a:pt x="617598" y="694825"/>
                </a:lnTo>
                <a:lnTo>
                  <a:pt x="616993" y="692857"/>
                </a:lnTo>
                <a:lnTo>
                  <a:pt x="616623" y="690836"/>
                </a:lnTo>
                <a:lnTo>
                  <a:pt x="616497" y="688770"/>
                </a:lnTo>
                <a:lnTo>
                  <a:pt x="616623" y="686703"/>
                </a:lnTo>
                <a:lnTo>
                  <a:pt x="616993" y="684683"/>
                </a:lnTo>
                <a:lnTo>
                  <a:pt x="617598" y="682715"/>
                </a:lnTo>
                <a:lnTo>
                  <a:pt x="618428" y="680806"/>
                </a:lnTo>
                <a:lnTo>
                  <a:pt x="619473" y="678962"/>
                </a:lnTo>
                <a:lnTo>
                  <a:pt x="620724" y="677191"/>
                </a:lnTo>
                <a:lnTo>
                  <a:pt x="622172" y="675498"/>
                </a:lnTo>
                <a:lnTo>
                  <a:pt x="623805" y="673889"/>
                </a:lnTo>
                <a:lnTo>
                  <a:pt x="625615" y="672373"/>
                </a:lnTo>
                <a:lnTo>
                  <a:pt x="627593" y="670954"/>
                </a:lnTo>
                <a:lnTo>
                  <a:pt x="629727" y="669640"/>
                </a:lnTo>
                <a:lnTo>
                  <a:pt x="632009" y="668436"/>
                </a:lnTo>
                <a:lnTo>
                  <a:pt x="634429" y="667350"/>
                </a:lnTo>
                <a:lnTo>
                  <a:pt x="636977" y="666388"/>
                </a:lnTo>
                <a:lnTo>
                  <a:pt x="639644" y="665555"/>
                </a:lnTo>
                <a:lnTo>
                  <a:pt x="642420" y="664860"/>
                </a:lnTo>
                <a:lnTo>
                  <a:pt x="645294" y="664308"/>
                </a:lnTo>
                <a:lnTo>
                  <a:pt x="648259" y="663906"/>
                </a:lnTo>
                <a:lnTo>
                  <a:pt x="651302" y="663659"/>
                </a:lnTo>
                <a:lnTo>
                  <a:pt x="654416" y="663576"/>
                </a:lnTo>
                <a:lnTo>
                  <a:pt x="657527" y="663659"/>
                </a:lnTo>
                <a:lnTo>
                  <a:pt x="660567" y="663906"/>
                </a:lnTo>
                <a:lnTo>
                  <a:pt x="663528" y="664308"/>
                </a:lnTo>
                <a:lnTo>
                  <a:pt x="666401" y="664860"/>
                </a:lnTo>
                <a:lnTo>
                  <a:pt x="669174" y="665555"/>
                </a:lnTo>
                <a:lnTo>
                  <a:pt x="671839" y="666388"/>
                </a:lnTo>
                <a:lnTo>
                  <a:pt x="674385" y="667350"/>
                </a:lnTo>
                <a:lnTo>
                  <a:pt x="676804" y="668436"/>
                </a:lnTo>
                <a:lnTo>
                  <a:pt x="679084" y="669640"/>
                </a:lnTo>
                <a:lnTo>
                  <a:pt x="681218" y="670954"/>
                </a:lnTo>
                <a:lnTo>
                  <a:pt x="683194" y="672373"/>
                </a:lnTo>
                <a:lnTo>
                  <a:pt x="685004" y="673889"/>
                </a:lnTo>
                <a:lnTo>
                  <a:pt x="686637" y="675498"/>
                </a:lnTo>
                <a:lnTo>
                  <a:pt x="688084" y="677191"/>
                </a:lnTo>
                <a:lnTo>
                  <a:pt x="689335" y="678962"/>
                </a:lnTo>
                <a:lnTo>
                  <a:pt x="690380" y="680806"/>
                </a:lnTo>
                <a:lnTo>
                  <a:pt x="691210" y="682715"/>
                </a:lnTo>
                <a:lnTo>
                  <a:pt x="691815" y="684683"/>
                </a:lnTo>
                <a:lnTo>
                  <a:pt x="692185" y="686703"/>
                </a:lnTo>
                <a:lnTo>
                  <a:pt x="692310" y="688770"/>
                </a:lnTo>
              </a:path>
            </a:pathLst>
          </a:custGeom>
          <a:solidFill>
            <a:srgbClr val="0F9ED5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60" name="published_A_empagliflozin_marker_104">
            <a:extLst>
              <a:ext uri="{FF2B5EF4-FFF2-40B4-BE49-F238E27FC236}">
                <a16:creationId xmlns:a16="http://schemas.microsoft.com/office/drawing/2014/main" id="{45C8163F-2342-4A6D-A54E-AEE574F5824A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153745" y="688771"/>
                </a:moveTo>
                <a:lnTo>
                  <a:pt x="1153619" y="690837"/>
                </a:lnTo>
                <a:lnTo>
                  <a:pt x="1153249" y="692858"/>
                </a:lnTo>
                <a:lnTo>
                  <a:pt x="1152644" y="694826"/>
                </a:lnTo>
                <a:lnTo>
                  <a:pt x="1151814" y="696735"/>
                </a:lnTo>
                <a:lnTo>
                  <a:pt x="1150769" y="698578"/>
                </a:lnTo>
                <a:lnTo>
                  <a:pt x="1149518" y="700350"/>
                </a:lnTo>
                <a:lnTo>
                  <a:pt x="1148071" y="702043"/>
                </a:lnTo>
                <a:lnTo>
                  <a:pt x="1146438" y="703651"/>
                </a:lnTo>
                <a:lnTo>
                  <a:pt x="1144629" y="705168"/>
                </a:lnTo>
                <a:lnTo>
                  <a:pt x="1142652" y="706586"/>
                </a:lnTo>
                <a:lnTo>
                  <a:pt x="1140519" y="707901"/>
                </a:lnTo>
                <a:lnTo>
                  <a:pt x="1138238" y="709104"/>
                </a:lnTo>
                <a:lnTo>
                  <a:pt x="1135819" y="710191"/>
                </a:lnTo>
                <a:lnTo>
                  <a:pt x="1133273" y="711153"/>
                </a:lnTo>
                <a:lnTo>
                  <a:pt x="1130608" y="711985"/>
                </a:lnTo>
                <a:lnTo>
                  <a:pt x="1127835" y="712680"/>
                </a:lnTo>
                <a:lnTo>
                  <a:pt x="1124963" y="713233"/>
                </a:lnTo>
                <a:lnTo>
                  <a:pt x="1122002" y="713635"/>
                </a:lnTo>
                <a:lnTo>
                  <a:pt x="1118961" y="713881"/>
                </a:lnTo>
                <a:lnTo>
                  <a:pt x="1115851" y="713965"/>
                </a:lnTo>
                <a:lnTo>
                  <a:pt x="1112737" y="713881"/>
                </a:lnTo>
                <a:lnTo>
                  <a:pt x="1109693" y="713635"/>
                </a:lnTo>
                <a:lnTo>
                  <a:pt x="1106729" y="713233"/>
                </a:lnTo>
                <a:lnTo>
                  <a:pt x="1103854" y="712680"/>
                </a:lnTo>
                <a:lnTo>
                  <a:pt x="1101079" y="711985"/>
                </a:lnTo>
                <a:lnTo>
                  <a:pt x="1098412" y="711153"/>
                </a:lnTo>
                <a:lnTo>
                  <a:pt x="1095864" y="710191"/>
                </a:lnTo>
                <a:lnTo>
                  <a:pt x="1093444" y="709104"/>
                </a:lnTo>
                <a:lnTo>
                  <a:pt x="1091162" y="707901"/>
                </a:lnTo>
                <a:lnTo>
                  <a:pt x="1089027" y="706586"/>
                </a:lnTo>
                <a:lnTo>
                  <a:pt x="1087050" y="705168"/>
                </a:lnTo>
                <a:lnTo>
                  <a:pt x="1085240" y="703651"/>
                </a:lnTo>
                <a:lnTo>
                  <a:pt x="1083606" y="702043"/>
                </a:lnTo>
                <a:lnTo>
                  <a:pt x="1082159" y="700350"/>
                </a:lnTo>
                <a:lnTo>
                  <a:pt x="1080908" y="698578"/>
                </a:lnTo>
                <a:lnTo>
                  <a:pt x="1079862" y="696735"/>
                </a:lnTo>
                <a:lnTo>
                  <a:pt x="1079032" y="694826"/>
                </a:lnTo>
                <a:lnTo>
                  <a:pt x="1078427" y="692858"/>
                </a:lnTo>
                <a:lnTo>
                  <a:pt x="1078057" y="690837"/>
                </a:lnTo>
                <a:lnTo>
                  <a:pt x="1077932" y="688771"/>
                </a:lnTo>
                <a:lnTo>
                  <a:pt x="1078057" y="686704"/>
                </a:lnTo>
                <a:lnTo>
                  <a:pt x="1078427" y="684684"/>
                </a:lnTo>
                <a:lnTo>
                  <a:pt x="1079032" y="682716"/>
                </a:lnTo>
                <a:lnTo>
                  <a:pt x="1079862" y="680807"/>
                </a:lnTo>
                <a:lnTo>
                  <a:pt x="1080908" y="678963"/>
                </a:lnTo>
                <a:lnTo>
                  <a:pt x="1082159" y="677192"/>
                </a:lnTo>
                <a:lnTo>
                  <a:pt x="1083606" y="675499"/>
                </a:lnTo>
                <a:lnTo>
                  <a:pt x="1085240" y="673891"/>
                </a:lnTo>
                <a:lnTo>
                  <a:pt x="1087050" y="672374"/>
                </a:lnTo>
                <a:lnTo>
                  <a:pt x="1089027" y="670955"/>
                </a:lnTo>
                <a:lnTo>
                  <a:pt x="1091162" y="669641"/>
                </a:lnTo>
                <a:lnTo>
                  <a:pt x="1093444" y="668437"/>
                </a:lnTo>
                <a:lnTo>
                  <a:pt x="1095864" y="667351"/>
                </a:lnTo>
                <a:lnTo>
                  <a:pt x="1098412" y="666389"/>
                </a:lnTo>
                <a:lnTo>
                  <a:pt x="1101079" y="665556"/>
                </a:lnTo>
                <a:lnTo>
                  <a:pt x="1103854" y="664861"/>
                </a:lnTo>
                <a:lnTo>
                  <a:pt x="1106729" y="664309"/>
                </a:lnTo>
                <a:lnTo>
                  <a:pt x="1109693" y="663907"/>
                </a:lnTo>
                <a:lnTo>
                  <a:pt x="1112737" y="663660"/>
                </a:lnTo>
                <a:lnTo>
                  <a:pt x="1115851" y="663577"/>
                </a:lnTo>
                <a:lnTo>
                  <a:pt x="1118961" y="663660"/>
                </a:lnTo>
                <a:lnTo>
                  <a:pt x="1122002" y="663907"/>
                </a:lnTo>
                <a:lnTo>
                  <a:pt x="1124963" y="664309"/>
                </a:lnTo>
                <a:lnTo>
                  <a:pt x="1127835" y="664861"/>
                </a:lnTo>
                <a:lnTo>
                  <a:pt x="1130608" y="665556"/>
                </a:lnTo>
                <a:lnTo>
                  <a:pt x="1133273" y="666389"/>
                </a:lnTo>
                <a:lnTo>
                  <a:pt x="1135819" y="667351"/>
                </a:lnTo>
                <a:lnTo>
                  <a:pt x="1138238" y="668437"/>
                </a:lnTo>
                <a:lnTo>
                  <a:pt x="1140519" y="669641"/>
                </a:lnTo>
                <a:lnTo>
                  <a:pt x="1142652" y="670955"/>
                </a:lnTo>
                <a:lnTo>
                  <a:pt x="1144629" y="672374"/>
                </a:lnTo>
                <a:lnTo>
                  <a:pt x="1146438" y="673891"/>
                </a:lnTo>
                <a:lnTo>
                  <a:pt x="1148071" y="675499"/>
                </a:lnTo>
                <a:lnTo>
                  <a:pt x="1149518" y="677192"/>
                </a:lnTo>
                <a:lnTo>
                  <a:pt x="1150769" y="678963"/>
                </a:lnTo>
                <a:lnTo>
                  <a:pt x="1151814" y="680807"/>
                </a:lnTo>
                <a:lnTo>
                  <a:pt x="1152644" y="682716"/>
                </a:lnTo>
                <a:lnTo>
                  <a:pt x="1153249" y="684684"/>
                </a:lnTo>
                <a:lnTo>
                  <a:pt x="1153619" y="686704"/>
                </a:lnTo>
                <a:lnTo>
                  <a:pt x="1153745" y="688771"/>
                </a:lnTo>
              </a:path>
            </a:pathLst>
          </a:custGeom>
          <a:solidFill>
            <a:srgbClr val="0F9ED5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61" name="published_A_empagliflozin_marker_105">
            <a:extLst>
              <a:ext uri="{FF2B5EF4-FFF2-40B4-BE49-F238E27FC236}">
                <a16:creationId xmlns:a16="http://schemas.microsoft.com/office/drawing/2014/main" id="{F3B964D0-CF0B-433C-A7D2-F5A831975FEC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2076697" y="852294"/>
                </a:moveTo>
                <a:lnTo>
                  <a:pt x="2076571" y="854360"/>
                </a:lnTo>
                <a:lnTo>
                  <a:pt x="2076201" y="856380"/>
                </a:lnTo>
                <a:lnTo>
                  <a:pt x="2075596" y="858348"/>
                </a:lnTo>
                <a:lnTo>
                  <a:pt x="2074767" y="860256"/>
                </a:lnTo>
                <a:lnTo>
                  <a:pt x="2073721" y="862099"/>
                </a:lnTo>
                <a:lnTo>
                  <a:pt x="2072470" y="863869"/>
                </a:lnTo>
                <a:lnTo>
                  <a:pt x="2071024" y="865561"/>
                </a:lnTo>
                <a:lnTo>
                  <a:pt x="2069391" y="867168"/>
                </a:lnTo>
                <a:lnTo>
                  <a:pt x="2067581" y="868683"/>
                </a:lnTo>
                <a:lnTo>
                  <a:pt x="2065605" y="870101"/>
                </a:lnTo>
                <a:lnTo>
                  <a:pt x="2063471" y="871414"/>
                </a:lnTo>
                <a:lnTo>
                  <a:pt x="2061190" y="872616"/>
                </a:lnTo>
                <a:lnTo>
                  <a:pt x="2058772" y="873701"/>
                </a:lnTo>
                <a:lnTo>
                  <a:pt x="2056225" y="874663"/>
                </a:lnTo>
                <a:lnTo>
                  <a:pt x="2053560" y="875494"/>
                </a:lnTo>
                <a:lnTo>
                  <a:pt x="2050787" y="876188"/>
                </a:lnTo>
                <a:lnTo>
                  <a:pt x="2047915" y="876740"/>
                </a:lnTo>
                <a:lnTo>
                  <a:pt x="2044954" y="877142"/>
                </a:lnTo>
                <a:lnTo>
                  <a:pt x="2041913" y="877387"/>
                </a:lnTo>
                <a:lnTo>
                  <a:pt x="2038803" y="877471"/>
                </a:lnTo>
                <a:lnTo>
                  <a:pt x="2035689" y="877387"/>
                </a:lnTo>
                <a:lnTo>
                  <a:pt x="2032645" y="877142"/>
                </a:lnTo>
                <a:lnTo>
                  <a:pt x="2029681" y="876740"/>
                </a:lnTo>
                <a:lnTo>
                  <a:pt x="2026806" y="876188"/>
                </a:lnTo>
                <a:lnTo>
                  <a:pt x="2024031" y="875494"/>
                </a:lnTo>
                <a:lnTo>
                  <a:pt x="2021364" y="874663"/>
                </a:lnTo>
                <a:lnTo>
                  <a:pt x="2018816" y="873701"/>
                </a:lnTo>
                <a:lnTo>
                  <a:pt x="2016396" y="872616"/>
                </a:lnTo>
                <a:lnTo>
                  <a:pt x="2014114" y="871414"/>
                </a:lnTo>
                <a:lnTo>
                  <a:pt x="2011979" y="870101"/>
                </a:lnTo>
                <a:lnTo>
                  <a:pt x="2010002" y="868683"/>
                </a:lnTo>
                <a:lnTo>
                  <a:pt x="2008192" y="867168"/>
                </a:lnTo>
                <a:lnTo>
                  <a:pt x="2006558" y="865561"/>
                </a:lnTo>
                <a:lnTo>
                  <a:pt x="2005111" y="863869"/>
                </a:lnTo>
                <a:lnTo>
                  <a:pt x="2003860" y="862099"/>
                </a:lnTo>
                <a:lnTo>
                  <a:pt x="2002814" y="860256"/>
                </a:lnTo>
                <a:lnTo>
                  <a:pt x="2001984" y="858348"/>
                </a:lnTo>
                <a:lnTo>
                  <a:pt x="2001379" y="856380"/>
                </a:lnTo>
                <a:lnTo>
                  <a:pt x="2001009" y="854360"/>
                </a:lnTo>
                <a:lnTo>
                  <a:pt x="2000884" y="852294"/>
                </a:lnTo>
                <a:lnTo>
                  <a:pt x="2001009" y="850227"/>
                </a:lnTo>
                <a:lnTo>
                  <a:pt x="2001379" y="848207"/>
                </a:lnTo>
                <a:lnTo>
                  <a:pt x="2001984" y="846239"/>
                </a:lnTo>
                <a:lnTo>
                  <a:pt x="2002814" y="844330"/>
                </a:lnTo>
                <a:lnTo>
                  <a:pt x="2003860" y="842486"/>
                </a:lnTo>
                <a:lnTo>
                  <a:pt x="2005111" y="840715"/>
                </a:lnTo>
                <a:lnTo>
                  <a:pt x="2006558" y="839022"/>
                </a:lnTo>
                <a:lnTo>
                  <a:pt x="2008192" y="837413"/>
                </a:lnTo>
                <a:lnTo>
                  <a:pt x="2010002" y="835897"/>
                </a:lnTo>
                <a:lnTo>
                  <a:pt x="2011979" y="834478"/>
                </a:lnTo>
                <a:lnTo>
                  <a:pt x="2014114" y="833164"/>
                </a:lnTo>
                <a:lnTo>
                  <a:pt x="2016396" y="831960"/>
                </a:lnTo>
                <a:lnTo>
                  <a:pt x="2018816" y="830874"/>
                </a:lnTo>
                <a:lnTo>
                  <a:pt x="2021364" y="829911"/>
                </a:lnTo>
                <a:lnTo>
                  <a:pt x="2024031" y="829079"/>
                </a:lnTo>
                <a:lnTo>
                  <a:pt x="2026806" y="828384"/>
                </a:lnTo>
                <a:lnTo>
                  <a:pt x="2029681" y="827832"/>
                </a:lnTo>
                <a:lnTo>
                  <a:pt x="2032645" y="827430"/>
                </a:lnTo>
                <a:lnTo>
                  <a:pt x="2035689" y="827183"/>
                </a:lnTo>
                <a:lnTo>
                  <a:pt x="2038803" y="827100"/>
                </a:lnTo>
                <a:lnTo>
                  <a:pt x="2041913" y="827183"/>
                </a:lnTo>
                <a:lnTo>
                  <a:pt x="2044954" y="827430"/>
                </a:lnTo>
                <a:lnTo>
                  <a:pt x="2047915" y="827832"/>
                </a:lnTo>
                <a:lnTo>
                  <a:pt x="2050787" y="828384"/>
                </a:lnTo>
                <a:lnTo>
                  <a:pt x="2053560" y="829079"/>
                </a:lnTo>
                <a:lnTo>
                  <a:pt x="2056225" y="829911"/>
                </a:lnTo>
                <a:lnTo>
                  <a:pt x="2058772" y="830874"/>
                </a:lnTo>
                <a:lnTo>
                  <a:pt x="2061190" y="831960"/>
                </a:lnTo>
                <a:lnTo>
                  <a:pt x="2063471" y="833164"/>
                </a:lnTo>
                <a:lnTo>
                  <a:pt x="2065605" y="834478"/>
                </a:lnTo>
                <a:lnTo>
                  <a:pt x="2067581" y="835897"/>
                </a:lnTo>
                <a:lnTo>
                  <a:pt x="2069391" y="837413"/>
                </a:lnTo>
                <a:lnTo>
                  <a:pt x="2071024" y="839022"/>
                </a:lnTo>
                <a:lnTo>
                  <a:pt x="2072470" y="840715"/>
                </a:lnTo>
                <a:lnTo>
                  <a:pt x="2073721" y="842486"/>
                </a:lnTo>
                <a:lnTo>
                  <a:pt x="2074767" y="844330"/>
                </a:lnTo>
                <a:lnTo>
                  <a:pt x="2075596" y="846239"/>
                </a:lnTo>
                <a:lnTo>
                  <a:pt x="2076201" y="848207"/>
                </a:lnTo>
                <a:lnTo>
                  <a:pt x="2076571" y="850227"/>
                </a:lnTo>
                <a:lnTo>
                  <a:pt x="2076697" y="852294"/>
                </a:lnTo>
              </a:path>
            </a:pathLst>
          </a:custGeom>
          <a:solidFill>
            <a:srgbClr val="0F9ED5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62" name="published_A_empagliflozin_marker_106">
            <a:extLst>
              <a:ext uri="{FF2B5EF4-FFF2-40B4-BE49-F238E27FC236}">
                <a16:creationId xmlns:a16="http://schemas.microsoft.com/office/drawing/2014/main" id="{9F0A08A0-2447-432E-A176-49C8BC0DDC4E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462255" y="960449"/>
                </a:moveTo>
                <a:lnTo>
                  <a:pt x="3462129" y="962516"/>
                </a:lnTo>
                <a:lnTo>
                  <a:pt x="3461759" y="964536"/>
                </a:lnTo>
                <a:lnTo>
                  <a:pt x="3461154" y="966504"/>
                </a:lnTo>
                <a:lnTo>
                  <a:pt x="3460325" y="968413"/>
                </a:lnTo>
                <a:lnTo>
                  <a:pt x="3459279" y="970257"/>
                </a:lnTo>
                <a:lnTo>
                  <a:pt x="3458028" y="972028"/>
                </a:lnTo>
                <a:lnTo>
                  <a:pt x="3456582" y="973721"/>
                </a:lnTo>
                <a:lnTo>
                  <a:pt x="3454948" y="975329"/>
                </a:lnTo>
                <a:lnTo>
                  <a:pt x="3453139" y="976846"/>
                </a:lnTo>
                <a:lnTo>
                  <a:pt x="3451162" y="978265"/>
                </a:lnTo>
                <a:lnTo>
                  <a:pt x="3449029" y="979579"/>
                </a:lnTo>
                <a:lnTo>
                  <a:pt x="3446748" y="980783"/>
                </a:lnTo>
                <a:lnTo>
                  <a:pt x="3444330" y="981869"/>
                </a:lnTo>
                <a:lnTo>
                  <a:pt x="3441783" y="982831"/>
                </a:lnTo>
                <a:lnTo>
                  <a:pt x="3439118" y="983663"/>
                </a:lnTo>
                <a:lnTo>
                  <a:pt x="3436345" y="984359"/>
                </a:lnTo>
                <a:lnTo>
                  <a:pt x="3433473" y="984911"/>
                </a:lnTo>
                <a:lnTo>
                  <a:pt x="3430512" y="985313"/>
                </a:lnTo>
                <a:lnTo>
                  <a:pt x="3427471" y="985559"/>
                </a:lnTo>
                <a:lnTo>
                  <a:pt x="3424361" y="985643"/>
                </a:lnTo>
                <a:lnTo>
                  <a:pt x="3421247" y="985559"/>
                </a:lnTo>
                <a:lnTo>
                  <a:pt x="3418203" y="985313"/>
                </a:lnTo>
                <a:lnTo>
                  <a:pt x="3415239" y="984911"/>
                </a:lnTo>
                <a:lnTo>
                  <a:pt x="3412364" y="984359"/>
                </a:lnTo>
                <a:lnTo>
                  <a:pt x="3409589" y="983663"/>
                </a:lnTo>
                <a:lnTo>
                  <a:pt x="3406922" y="982831"/>
                </a:lnTo>
                <a:lnTo>
                  <a:pt x="3404374" y="981869"/>
                </a:lnTo>
                <a:lnTo>
                  <a:pt x="3401954" y="980783"/>
                </a:lnTo>
                <a:lnTo>
                  <a:pt x="3399672" y="979579"/>
                </a:lnTo>
                <a:lnTo>
                  <a:pt x="3397537" y="978265"/>
                </a:lnTo>
                <a:lnTo>
                  <a:pt x="3395560" y="976846"/>
                </a:lnTo>
                <a:lnTo>
                  <a:pt x="3393749" y="975329"/>
                </a:lnTo>
                <a:lnTo>
                  <a:pt x="3392116" y="973721"/>
                </a:lnTo>
                <a:lnTo>
                  <a:pt x="3390669" y="972028"/>
                </a:lnTo>
                <a:lnTo>
                  <a:pt x="3389417" y="970257"/>
                </a:lnTo>
                <a:lnTo>
                  <a:pt x="3388372" y="968413"/>
                </a:lnTo>
                <a:lnTo>
                  <a:pt x="3387542" y="966504"/>
                </a:lnTo>
                <a:lnTo>
                  <a:pt x="3386937" y="964536"/>
                </a:lnTo>
                <a:lnTo>
                  <a:pt x="3386567" y="962516"/>
                </a:lnTo>
                <a:lnTo>
                  <a:pt x="3386442" y="960449"/>
                </a:lnTo>
                <a:lnTo>
                  <a:pt x="3386567" y="958382"/>
                </a:lnTo>
                <a:lnTo>
                  <a:pt x="3386937" y="956362"/>
                </a:lnTo>
                <a:lnTo>
                  <a:pt x="3387542" y="954394"/>
                </a:lnTo>
                <a:lnTo>
                  <a:pt x="3388372" y="952485"/>
                </a:lnTo>
                <a:lnTo>
                  <a:pt x="3389417" y="950641"/>
                </a:lnTo>
                <a:lnTo>
                  <a:pt x="3390669" y="948870"/>
                </a:lnTo>
                <a:lnTo>
                  <a:pt x="3392116" y="947177"/>
                </a:lnTo>
                <a:lnTo>
                  <a:pt x="3393749" y="945569"/>
                </a:lnTo>
                <a:lnTo>
                  <a:pt x="3395560" y="944052"/>
                </a:lnTo>
                <a:lnTo>
                  <a:pt x="3397537" y="942633"/>
                </a:lnTo>
                <a:lnTo>
                  <a:pt x="3399672" y="941319"/>
                </a:lnTo>
                <a:lnTo>
                  <a:pt x="3401954" y="940116"/>
                </a:lnTo>
                <a:lnTo>
                  <a:pt x="3404374" y="939029"/>
                </a:lnTo>
                <a:lnTo>
                  <a:pt x="3406922" y="938067"/>
                </a:lnTo>
                <a:lnTo>
                  <a:pt x="3409589" y="937235"/>
                </a:lnTo>
                <a:lnTo>
                  <a:pt x="3412364" y="936540"/>
                </a:lnTo>
                <a:lnTo>
                  <a:pt x="3415239" y="935987"/>
                </a:lnTo>
                <a:lnTo>
                  <a:pt x="3418203" y="935585"/>
                </a:lnTo>
                <a:lnTo>
                  <a:pt x="3421247" y="935339"/>
                </a:lnTo>
                <a:lnTo>
                  <a:pt x="3424361" y="935255"/>
                </a:lnTo>
                <a:lnTo>
                  <a:pt x="3427471" y="935339"/>
                </a:lnTo>
                <a:lnTo>
                  <a:pt x="3430512" y="935585"/>
                </a:lnTo>
                <a:lnTo>
                  <a:pt x="3433473" y="935987"/>
                </a:lnTo>
                <a:lnTo>
                  <a:pt x="3436345" y="936540"/>
                </a:lnTo>
                <a:lnTo>
                  <a:pt x="3439118" y="937235"/>
                </a:lnTo>
                <a:lnTo>
                  <a:pt x="3441783" y="938067"/>
                </a:lnTo>
                <a:lnTo>
                  <a:pt x="3444330" y="939029"/>
                </a:lnTo>
                <a:lnTo>
                  <a:pt x="3446748" y="940116"/>
                </a:lnTo>
                <a:lnTo>
                  <a:pt x="3449029" y="941319"/>
                </a:lnTo>
                <a:lnTo>
                  <a:pt x="3451162" y="942633"/>
                </a:lnTo>
                <a:lnTo>
                  <a:pt x="3453139" y="944052"/>
                </a:lnTo>
                <a:lnTo>
                  <a:pt x="3454948" y="945569"/>
                </a:lnTo>
                <a:lnTo>
                  <a:pt x="3456582" y="947177"/>
                </a:lnTo>
                <a:lnTo>
                  <a:pt x="3458028" y="948870"/>
                </a:lnTo>
                <a:lnTo>
                  <a:pt x="3459279" y="950641"/>
                </a:lnTo>
                <a:lnTo>
                  <a:pt x="3460325" y="952485"/>
                </a:lnTo>
                <a:lnTo>
                  <a:pt x="3461154" y="954394"/>
                </a:lnTo>
                <a:lnTo>
                  <a:pt x="3461759" y="956362"/>
                </a:lnTo>
                <a:lnTo>
                  <a:pt x="3462129" y="958382"/>
                </a:lnTo>
                <a:lnTo>
                  <a:pt x="3462255" y="960449"/>
                </a:lnTo>
              </a:path>
            </a:pathLst>
          </a:custGeom>
          <a:solidFill>
            <a:srgbClr val="0F9ED5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63" name="published_A_empagliflozin_marker_107">
            <a:extLst>
              <a:ext uri="{FF2B5EF4-FFF2-40B4-BE49-F238E27FC236}">
                <a16:creationId xmlns:a16="http://schemas.microsoft.com/office/drawing/2014/main" id="{6A7438D5-0CFF-44AF-B714-C8F817D53380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923327" y="606686"/>
                </a:moveTo>
                <a:lnTo>
                  <a:pt x="3923201" y="608753"/>
                </a:lnTo>
                <a:lnTo>
                  <a:pt x="3922831" y="610773"/>
                </a:lnTo>
                <a:lnTo>
                  <a:pt x="3922227" y="612741"/>
                </a:lnTo>
                <a:lnTo>
                  <a:pt x="3921397" y="614650"/>
                </a:lnTo>
                <a:lnTo>
                  <a:pt x="3920351" y="616494"/>
                </a:lnTo>
                <a:lnTo>
                  <a:pt x="3919100" y="618265"/>
                </a:lnTo>
                <a:lnTo>
                  <a:pt x="3917653" y="619958"/>
                </a:lnTo>
                <a:lnTo>
                  <a:pt x="3916019" y="621566"/>
                </a:lnTo>
                <a:lnTo>
                  <a:pt x="3914209" y="623083"/>
                </a:lnTo>
                <a:lnTo>
                  <a:pt x="3912232" y="624502"/>
                </a:lnTo>
                <a:lnTo>
                  <a:pt x="3910097" y="625816"/>
                </a:lnTo>
                <a:lnTo>
                  <a:pt x="3907815" y="627020"/>
                </a:lnTo>
                <a:lnTo>
                  <a:pt x="3905395" y="628106"/>
                </a:lnTo>
                <a:lnTo>
                  <a:pt x="3902847" y="629068"/>
                </a:lnTo>
                <a:lnTo>
                  <a:pt x="3900180" y="629900"/>
                </a:lnTo>
                <a:lnTo>
                  <a:pt x="3897404" y="630596"/>
                </a:lnTo>
                <a:lnTo>
                  <a:pt x="3894530" y="631148"/>
                </a:lnTo>
                <a:lnTo>
                  <a:pt x="3891566" y="631550"/>
                </a:lnTo>
                <a:lnTo>
                  <a:pt x="3888522" y="631796"/>
                </a:lnTo>
                <a:lnTo>
                  <a:pt x="3885408" y="631880"/>
                </a:lnTo>
                <a:lnTo>
                  <a:pt x="3882298" y="631796"/>
                </a:lnTo>
                <a:lnTo>
                  <a:pt x="3879257" y="631550"/>
                </a:lnTo>
                <a:lnTo>
                  <a:pt x="3876296" y="631148"/>
                </a:lnTo>
                <a:lnTo>
                  <a:pt x="3873424" y="630596"/>
                </a:lnTo>
                <a:lnTo>
                  <a:pt x="3870650" y="629900"/>
                </a:lnTo>
                <a:lnTo>
                  <a:pt x="3867986" y="629068"/>
                </a:lnTo>
                <a:lnTo>
                  <a:pt x="3865439" y="628106"/>
                </a:lnTo>
                <a:lnTo>
                  <a:pt x="3863021" y="627020"/>
                </a:lnTo>
                <a:lnTo>
                  <a:pt x="3860740" y="625816"/>
                </a:lnTo>
                <a:lnTo>
                  <a:pt x="3858606" y="624502"/>
                </a:lnTo>
                <a:lnTo>
                  <a:pt x="3856630" y="623083"/>
                </a:lnTo>
                <a:lnTo>
                  <a:pt x="3854820" y="621566"/>
                </a:lnTo>
                <a:lnTo>
                  <a:pt x="3853187" y="619958"/>
                </a:lnTo>
                <a:lnTo>
                  <a:pt x="3851740" y="618265"/>
                </a:lnTo>
                <a:lnTo>
                  <a:pt x="3850489" y="616494"/>
                </a:lnTo>
                <a:lnTo>
                  <a:pt x="3849444" y="614650"/>
                </a:lnTo>
                <a:lnTo>
                  <a:pt x="3848614" y="612741"/>
                </a:lnTo>
                <a:lnTo>
                  <a:pt x="3848009" y="610773"/>
                </a:lnTo>
                <a:lnTo>
                  <a:pt x="3847639" y="608753"/>
                </a:lnTo>
                <a:lnTo>
                  <a:pt x="3847514" y="606686"/>
                </a:lnTo>
                <a:lnTo>
                  <a:pt x="3847639" y="604619"/>
                </a:lnTo>
                <a:lnTo>
                  <a:pt x="3848009" y="602599"/>
                </a:lnTo>
                <a:lnTo>
                  <a:pt x="3848614" y="600631"/>
                </a:lnTo>
                <a:lnTo>
                  <a:pt x="3849444" y="598722"/>
                </a:lnTo>
                <a:lnTo>
                  <a:pt x="3850489" y="596878"/>
                </a:lnTo>
                <a:lnTo>
                  <a:pt x="3851740" y="595107"/>
                </a:lnTo>
                <a:lnTo>
                  <a:pt x="3853187" y="593414"/>
                </a:lnTo>
                <a:lnTo>
                  <a:pt x="3854820" y="591806"/>
                </a:lnTo>
                <a:lnTo>
                  <a:pt x="3856630" y="590289"/>
                </a:lnTo>
                <a:lnTo>
                  <a:pt x="3858606" y="588870"/>
                </a:lnTo>
                <a:lnTo>
                  <a:pt x="3860740" y="587556"/>
                </a:lnTo>
                <a:lnTo>
                  <a:pt x="3863021" y="586352"/>
                </a:lnTo>
                <a:lnTo>
                  <a:pt x="3865439" y="585266"/>
                </a:lnTo>
                <a:lnTo>
                  <a:pt x="3867986" y="584304"/>
                </a:lnTo>
                <a:lnTo>
                  <a:pt x="3870650" y="583472"/>
                </a:lnTo>
                <a:lnTo>
                  <a:pt x="3873424" y="582776"/>
                </a:lnTo>
                <a:lnTo>
                  <a:pt x="3876296" y="582224"/>
                </a:lnTo>
                <a:lnTo>
                  <a:pt x="3879257" y="581822"/>
                </a:lnTo>
                <a:lnTo>
                  <a:pt x="3882298" y="581576"/>
                </a:lnTo>
                <a:lnTo>
                  <a:pt x="3885408" y="581492"/>
                </a:lnTo>
                <a:lnTo>
                  <a:pt x="3888522" y="581576"/>
                </a:lnTo>
                <a:lnTo>
                  <a:pt x="3891566" y="581822"/>
                </a:lnTo>
                <a:lnTo>
                  <a:pt x="3894530" y="582224"/>
                </a:lnTo>
                <a:lnTo>
                  <a:pt x="3897404" y="582776"/>
                </a:lnTo>
                <a:lnTo>
                  <a:pt x="3900180" y="583472"/>
                </a:lnTo>
                <a:lnTo>
                  <a:pt x="3902847" y="584304"/>
                </a:lnTo>
                <a:lnTo>
                  <a:pt x="3905395" y="585266"/>
                </a:lnTo>
                <a:lnTo>
                  <a:pt x="3907815" y="586352"/>
                </a:lnTo>
                <a:lnTo>
                  <a:pt x="3910097" y="587556"/>
                </a:lnTo>
                <a:lnTo>
                  <a:pt x="3912232" y="588870"/>
                </a:lnTo>
                <a:lnTo>
                  <a:pt x="3914209" y="590289"/>
                </a:lnTo>
                <a:lnTo>
                  <a:pt x="3916019" y="591806"/>
                </a:lnTo>
                <a:lnTo>
                  <a:pt x="3917653" y="593414"/>
                </a:lnTo>
                <a:lnTo>
                  <a:pt x="3919100" y="595107"/>
                </a:lnTo>
                <a:lnTo>
                  <a:pt x="3920351" y="596878"/>
                </a:lnTo>
                <a:lnTo>
                  <a:pt x="3921397" y="598722"/>
                </a:lnTo>
                <a:lnTo>
                  <a:pt x="3922227" y="600631"/>
                </a:lnTo>
                <a:lnTo>
                  <a:pt x="3922831" y="602599"/>
                </a:lnTo>
                <a:lnTo>
                  <a:pt x="3923201" y="604619"/>
                </a:lnTo>
                <a:lnTo>
                  <a:pt x="3923327" y="606686"/>
                </a:lnTo>
              </a:path>
            </a:pathLst>
          </a:custGeom>
          <a:solidFill>
            <a:srgbClr val="0F9ED5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64" name="published_A_empagliflozin_curve_108">
            <a:extLst>
              <a:ext uri="{FF2B5EF4-FFF2-40B4-BE49-F238E27FC236}">
                <a16:creationId xmlns:a16="http://schemas.microsoft.com/office/drawing/2014/main" id="{C2CBDC56-2B17-4E2A-91EF-6901D677B308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298765" y="394877"/>
                </a:moveTo>
                <a:lnTo>
                  <a:pt x="653061" y="688766"/>
                </a:lnTo>
                <a:moveTo>
                  <a:pt x="653061" y="688766"/>
                </a:moveTo>
                <a:lnTo>
                  <a:pt x="1115833" y="688766"/>
                </a:lnTo>
                <a:moveTo>
                  <a:pt x="1115833" y="688766"/>
                </a:moveTo>
                <a:lnTo>
                  <a:pt x="2038763" y="852291"/>
                </a:lnTo>
                <a:moveTo>
                  <a:pt x="2038763" y="852291"/>
                </a:moveTo>
                <a:lnTo>
                  <a:pt x="3424338" y="960434"/>
                </a:lnTo>
                <a:moveTo>
                  <a:pt x="3424338" y="960434"/>
                </a:moveTo>
                <a:lnTo>
                  <a:pt x="3885426" y="606685"/>
                </a:lnTo>
              </a:path>
            </a:pathLst>
          </a:custGeom>
          <a:noFill/>
          <a:ln w="21031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65" name="published_A_empagliflozin_error_bar_109">
            <a:extLst>
              <a:ext uri="{FF2B5EF4-FFF2-40B4-BE49-F238E27FC236}">
                <a16:creationId xmlns:a16="http://schemas.microsoft.com/office/drawing/2014/main" id="{475CA737-9C98-4DE7-A1E8-823ED04891BF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835203" y="863558"/>
                </a:moveTo>
                <a:lnTo>
                  <a:pt x="3936286" y="863558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66" name="published_A_empagliflozin_error_bar_110">
            <a:extLst>
              <a:ext uri="{FF2B5EF4-FFF2-40B4-BE49-F238E27FC236}">
                <a16:creationId xmlns:a16="http://schemas.microsoft.com/office/drawing/2014/main" id="{3E246F40-8782-4877-AFAC-B720B134B77B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835203" y="396809"/>
                </a:moveTo>
                <a:lnTo>
                  <a:pt x="3936286" y="396809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67" name="published_A_empagliflozin_error_bar_111">
            <a:extLst>
              <a:ext uri="{FF2B5EF4-FFF2-40B4-BE49-F238E27FC236}">
                <a16:creationId xmlns:a16="http://schemas.microsoft.com/office/drawing/2014/main" id="{CD776036-6953-4B0F-9242-B37AFB1986E9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885730" y="396809"/>
                </a:moveTo>
                <a:lnTo>
                  <a:pt x="3885730" y="863545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68" name="published_A_empagliflozin_error_bar_112">
            <a:extLst>
              <a:ext uri="{FF2B5EF4-FFF2-40B4-BE49-F238E27FC236}">
                <a16:creationId xmlns:a16="http://schemas.microsoft.com/office/drawing/2014/main" id="{F65F23B6-E756-42D8-81A7-59EB2B2531F7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373807" y="1109487"/>
                </a:moveTo>
                <a:lnTo>
                  <a:pt x="3474890" y="1109487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69" name="published_A_empagliflozin_error_bar_113">
            <a:extLst>
              <a:ext uri="{FF2B5EF4-FFF2-40B4-BE49-F238E27FC236}">
                <a16:creationId xmlns:a16="http://schemas.microsoft.com/office/drawing/2014/main" id="{F409CCA1-968E-471C-8404-5AFFA2B1941C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373807" y="806261"/>
                </a:moveTo>
                <a:lnTo>
                  <a:pt x="3474890" y="806261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70" name="published_A_empagliflozin_error_bar_114">
            <a:extLst>
              <a:ext uri="{FF2B5EF4-FFF2-40B4-BE49-F238E27FC236}">
                <a16:creationId xmlns:a16="http://schemas.microsoft.com/office/drawing/2014/main" id="{CB689EA9-F674-42A2-ABBF-A9F64DB553CA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424344" y="806261"/>
                </a:moveTo>
                <a:lnTo>
                  <a:pt x="3424344" y="1109489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71" name="published_A_empagliflozin_error_bar_115">
            <a:extLst>
              <a:ext uri="{FF2B5EF4-FFF2-40B4-BE49-F238E27FC236}">
                <a16:creationId xmlns:a16="http://schemas.microsoft.com/office/drawing/2014/main" id="{B04CB086-0DA6-4859-9DD5-373B002A3CDF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988251" y="1003906"/>
                </a:moveTo>
                <a:lnTo>
                  <a:pt x="2089335" y="1003906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72" name="published_A_empagliflozin_error_bar_116">
            <a:extLst>
              <a:ext uri="{FF2B5EF4-FFF2-40B4-BE49-F238E27FC236}">
                <a16:creationId xmlns:a16="http://schemas.microsoft.com/office/drawing/2014/main" id="{82E5FD72-BEB1-4F33-808D-206934B34CBB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988251" y="687804"/>
                </a:moveTo>
                <a:lnTo>
                  <a:pt x="2089335" y="687804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73" name="published_A_empagliflozin_error_bar_117">
            <a:extLst>
              <a:ext uri="{FF2B5EF4-FFF2-40B4-BE49-F238E27FC236}">
                <a16:creationId xmlns:a16="http://schemas.microsoft.com/office/drawing/2014/main" id="{07B144F5-150C-492C-A3E1-E1C471D460E1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2038782" y="687804"/>
                </a:moveTo>
                <a:lnTo>
                  <a:pt x="2038782" y="1003896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74" name="published_A_empagliflozin_error_bar_118">
            <a:extLst>
              <a:ext uri="{FF2B5EF4-FFF2-40B4-BE49-F238E27FC236}">
                <a16:creationId xmlns:a16="http://schemas.microsoft.com/office/drawing/2014/main" id="{D8F3D618-D445-4ADB-A610-78BA8E8B15CB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064555" y="863720"/>
                </a:moveTo>
                <a:lnTo>
                  <a:pt x="1165638" y="863720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75" name="published_A_empagliflozin_error_bar_119">
            <a:extLst>
              <a:ext uri="{FF2B5EF4-FFF2-40B4-BE49-F238E27FC236}">
                <a16:creationId xmlns:a16="http://schemas.microsoft.com/office/drawing/2014/main" id="{C7C91429-99BA-4379-8C14-CC707AD94AAE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064555" y="522672"/>
                </a:moveTo>
                <a:lnTo>
                  <a:pt x="1165638" y="522672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76" name="published_A_empagliflozin_error_bar_120">
            <a:extLst>
              <a:ext uri="{FF2B5EF4-FFF2-40B4-BE49-F238E27FC236}">
                <a16:creationId xmlns:a16="http://schemas.microsoft.com/office/drawing/2014/main" id="{BFF5B553-6CD6-4795-B7D7-D2B987F795B9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115089" y="522672"/>
                </a:moveTo>
                <a:lnTo>
                  <a:pt x="1115089" y="863724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77" name="published_A_empagliflozin_error_bar_121">
            <a:extLst>
              <a:ext uri="{FF2B5EF4-FFF2-40B4-BE49-F238E27FC236}">
                <a16:creationId xmlns:a16="http://schemas.microsoft.com/office/drawing/2014/main" id="{099534FD-877D-49C9-9048-CF8750494CFE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02529" y="857764"/>
                </a:moveTo>
                <a:lnTo>
                  <a:pt x="703613" y="857764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78" name="published_A_empagliflozin_error_bar_122">
            <a:extLst>
              <a:ext uri="{FF2B5EF4-FFF2-40B4-BE49-F238E27FC236}">
                <a16:creationId xmlns:a16="http://schemas.microsoft.com/office/drawing/2014/main" id="{5D423250-141F-4CAC-A849-9255314D217A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02529" y="506898"/>
                </a:moveTo>
                <a:lnTo>
                  <a:pt x="703613" y="506898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79" name="published_A_empagliflozin_error_bar_123">
            <a:extLst>
              <a:ext uri="{FF2B5EF4-FFF2-40B4-BE49-F238E27FC236}">
                <a16:creationId xmlns:a16="http://schemas.microsoft.com/office/drawing/2014/main" id="{9F578057-8AE8-4C38-924A-9D252698E826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53061" y="506898"/>
                </a:moveTo>
                <a:lnTo>
                  <a:pt x="653061" y="857773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0" name="published_A_finerenone_curve_124">
            <a:extLst>
              <a:ext uri="{FF2B5EF4-FFF2-40B4-BE49-F238E27FC236}">
                <a16:creationId xmlns:a16="http://schemas.microsoft.com/office/drawing/2014/main" id="{4A5A5F24-D9A3-4007-B47C-6283DEC76DFE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298765" y="394877"/>
                </a:moveTo>
                <a:lnTo>
                  <a:pt x="654394" y="588341"/>
                </a:lnTo>
                <a:moveTo>
                  <a:pt x="654394" y="588341"/>
                </a:moveTo>
                <a:lnTo>
                  <a:pt x="1115833" y="726757"/>
                </a:lnTo>
                <a:moveTo>
                  <a:pt x="1115833" y="726757"/>
                </a:moveTo>
                <a:lnTo>
                  <a:pt x="2038763" y="913438"/>
                </a:lnTo>
                <a:moveTo>
                  <a:pt x="2038763" y="913438"/>
                </a:moveTo>
                <a:lnTo>
                  <a:pt x="3424338" y="1013879"/>
                </a:lnTo>
                <a:moveTo>
                  <a:pt x="3424338" y="1013879"/>
                </a:moveTo>
                <a:lnTo>
                  <a:pt x="3885426" y="683286"/>
                </a:lnTo>
              </a:path>
            </a:pathLst>
          </a:custGeom>
          <a:noFill/>
          <a:ln w="21031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1" name="published_A_finerenone_error_bar_125">
            <a:extLst>
              <a:ext uri="{FF2B5EF4-FFF2-40B4-BE49-F238E27FC236}">
                <a16:creationId xmlns:a16="http://schemas.microsoft.com/office/drawing/2014/main" id="{C2CF0C7D-E5B0-425F-AF27-DC23B958223B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835203" y="486297"/>
                </a:moveTo>
                <a:lnTo>
                  <a:pt x="3936286" y="486297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2" name="published_A_finerenone_error_bar_126">
            <a:extLst>
              <a:ext uri="{FF2B5EF4-FFF2-40B4-BE49-F238E27FC236}">
                <a16:creationId xmlns:a16="http://schemas.microsoft.com/office/drawing/2014/main" id="{9189FDB4-BDD5-41CD-A511-C3E73DC3BACD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835203" y="786303"/>
                </a:moveTo>
                <a:lnTo>
                  <a:pt x="3936286" y="786303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3" name="published_A_finerenone_error_bar_127">
            <a:extLst>
              <a:ext uri="{FF2B5EF4-FFF2-40B4-BE49-F238E27FC236}">
                <a16:creationId xmlns:a16="http://schemas.microsoft.com/office/drawing/2014/main" id="{B711A435-2193-40E4-B8D9-B21FC902C83E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885730" y="486297"/>
                </a:moveTo>
                <a:lnTo>
                  <a:pt x="3885730" y="786284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4" name="published_A_finerenone_error_bar_128">
            <a:extLst>
              <a:ext uri="{FF2B5EF4-FFF2-40B4-BE49-F238E27FC236}">
                <a16:creationId xmlns:a16="http://schemas.microsoft.com/office/drawing/2014/main" id="{2CA19FFA-AC9F-4BA9-9962-AB4423B23F6F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373807" y="863880"/>
                </a:moveTo>
                <a:lnTo>
                  <a:pt x="3474890" y="863880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5" name="published_A_finerenone_error_bar_129">
            <a:extLst>
              <a:ext uri="{FF2B5EF4-FFF2-40B4-BE49-F238E27FC236}">
                <a16:creationId xmlns:a16="http://schemas.microsoft.com/office/drawing/2014/main" id="{B416C343-B38E-4F05-A66F-846A5E526B36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373807" y="1153264"/>
                </a:moveTo>
                <a:lnTo>
                  <a:pt x="3474890" y="1153264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6" name="published_A_finerenone_error_bar_130">
            <a:extLst>
              <a:ext uri="{FF2B5EF4-FFF2-40B4-BE49-F238E27FC236}">
                <a16:creationId xmlns:a16="http://schemas.microsoft.com/office/drawing/2014/main" id="{57402997-112C-43DD-A76F-6358598947D1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424344" y="863880"/>
                </a:moveTo>
                <a:lnTo>
                  <a:pt x="3424344" y="1153257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7" name="published_A_finerenone_error_bar_131">
            <a:extLst>
              <a:ext uri="{FF2B5EF4-FFF2-40B4-BE49-F238E27FC236}">
                <a16:creationId xmlns:a16="http://schemas.microsoft.com/office/drawing/2014/main" id="{911A0DA3-61ED-4CCC-8085-2535C6B9C32A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988251" y="752506"/>
                </a:moveTo>
                <a:lnTo>
                  <a:pt x="2089335" y="752506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8" name="published_A_finerenone_error_bar_132">
            <a:extLst>
              <a:ext uri="{FF2B5EF4-FFF2-40B4-BE49-F238E27FC236}">
                <a16:creationId xmlns:a16="http://schemas.microsoft.com/office/drawing/2014/main" id="{5E905D03-9FFE-4D61-9186-BEBEA4D97071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988251" y="1058143"/>
                </a:moveTo>
                <a:lnTo>
                  <a:pt x="2089335" y="1058143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9" name="published_A_finerenone_error_bar_133">
            <a:extLst>
              <a:ext uri="{FF2B5EF4-FFF2-40B4-BE49-F238E27FC236}">
                <a16:creationId xmlns:a16="http://schemas.microsoft.com/office/drawing/2014/main" id="{AC87FEE5-9EEA-48FF-97B1-2BC62A6C6C48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2038782" y="752506"/>
                </a:moveTo>
                <a:lnTo>
                  <a:pt x="2038782" y="1058139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0" name="published_A_finerenone_error_bar_134">
            <a:extLst>
              <a:ext uri="{FF2B5EF4-FFF2-40B4-BE49-F238E27FC236}">
                <a16:creationId xmlns:a16="http://schemas.microsoft.com/office/drawing/2014/main" id="{D6885A94-797A-40F8-A6B8-A49F57952104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064555" y="546976"/>
                </a:moveTo>
                <a:lnTo>
                  <a:pt x="1165638" y="546976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1" name="published_A_finerenone_error_bar_135">
            <a:extLst>
              <a:ext uri="{FF2B5EF4-FFF2-40B4-BE49-F238E27FC236}">
                <a16:creationId xmlns:a16="http://schemas.microsoft.com/office/drawing/2014/main" id="{E9B39D35-65B8-4A19-8D29-CF0F7FA1C1DC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064555" y="887702"/>
                </a:moveTo>
                <a:lnTo>
                  <a:pt x="1165638" y="887702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2" name="published_A_finerenone_error_bar_136">
            <a:extLst>
              <a:ext uri="{FF2B5EF4-FFF2-40B4-BE49-F238E27FC236}">
                <a16:creationId xmlns:a16="http://schemas.microsoft.com/office/drawing/2014/main" id="{A6B2500C-A90E-4370-9618-767DF473226F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115089" y="546976"/>
                </a:moveTo>
                <a:lnTo>
                  <a:pt x="1115089" y="887693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3" name="published_A_finerenone_error_bar_137">
            <a:extLst>
              <a:ext uri="{FF2B5EF4-FFF2-40B4-BE49-F238E27FC236}">
                <a16:creationId xmlns:a16="http://schemas.microsoft.com/office/drawing/2014/main" id="{9101961C-05C3-4629-9C17-0AF0DA37A74E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02529" y="398101"/>
                </a:moveTo>
                <a:lnTo>
                  <a:pt x="703613" y="398101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4" name="published_A_finerenone_error_bar_138">
            <a:extLst>
              <a:ext uri="{FF2B5EF4-FFF2-40B4-BE49-F238E27FC236}">
                <a16:creationId xmlns:a16="http://schemas.microsoft.com/office/drawing/2014/main" id="{032E6905-1323-47C8-BD3F-803E3417E286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02529" y="768921"/>
                </a:moveTo>
                <a:lnTo>
                  <a:pt x="703613" y="768921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5" name="published_A_finerenone_error_bar_139">
            <a:extLst>
              <a:ext uri="{FF2B5EF4-FFF2-40B4-BE49-F238E27FC236}">
                <a16:creationId xmlns:a16="http://schemas.microsoft.com/office/drawing/2014/main" id="{8E82A52E-D724-4D02-9E70-F19B6443E0D5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53061" y="398101"/>
                </a:moveTo>
                <a:lnTo>
                  <a:pt x="653061" y="768923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6" name="published_A_finerenone_marker_140">
            <a:extLst>
              <a:ext uri="{FF2B5EF4-FFF2-40B4-BE49-F238E27FC236}">
                <a16:creationId xmlns:a16="http://schemas.microsoft.com/office/drawing/2014/main" id="{4C62DB5F-D9C9-4289-96FE-00B19F1FB780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92310" y="588339"/>
                </a:moveTo>
                <a:lnTo>
                  <a:pt x="692185" y="590405"/>
                </a:lnTo>
                <a:lnTo>
                  <a:pt x="691815" y="592425"/>
                </a:lnTo>
                <a:lnTo>
                  <a:pt x="691210" y="594393"/>
                </a:lnTo>
                <a:lnTo>
                  <a:pt x="690380" y="596301"/>
                </a:lnTo>
                <a:lnTo>
                  <a:pt x="689335" y="598144"/>
                </a:lnTo>
                <a:lnTo>
                  <a:pt x="688084" y="599914"/>
                </a:lnTo>
                <a:lnTo>
                  <a:pt x="686637" y="601606"/>
                </a:lnTo>
                <a:lnTo>
                  <a:pt x="685004" y="603213"/>
                </a:lnTo>
                <a:lnTo>
                  <a:pt x="683194" y="604728"/>
                </a:lnTo>
                <a:lnTo>
                  <a:pt x="681218" y="606146"/>
                </a:lnTo>
                <a:lnTo>
                  <a:pt x="679084" y="607459"/>
                </a:lnTo>
                <a:lnTo>
                  <a:pt x="676804" y="608661"/>
                </a:lnTo>
                <a:lnTo>
                  <a:pt x="674385" y="609746"/>
                </a:lnTo>
                <a:lnTo>
                  <a:pt x="671839" y="610708"/>
                </a:lnTo>
                <a:lnTo>
                  <a:pt x="669174" y="611539"/>
                </a:lnTo>
                <a:lnTo>
                  <a:pt x="666401" y="612233"/>
                </a:lnTo>
                <a:lnTo>
                  <a:pt x="663528" y="612785"/>
                </a:lnTo>
                <a:lnTo>
                  <a:pt x="660567" y="613187"/>
                </a:lnTo>
                <a:lnTo>
                  <a:pt x="657527" y="613432"/>
                </a:lnTo>
                <a:lnTo>
                  <a:pt x="654416" y="613516"/>
                </a:lnTo>
                <a:lnTo>
                  <a:pt x="651302" y="613432"/>
                </a:lnTo>
                <a:lnTo>
                  <a:pt x="648259" y="613187"/>
                </a:lnTo>
                <a:lnTo>
                  <a:pt x="645294" y="612785"/>
                </a:lnTo>
                <a:lnTo>
                  <a:pt x="642420" y="612233"/>
                </a:lnTo>
                <a:lnTo>
                  <a:pt x="639644" y="611539"/>
                </a:lnTo>
                <a:lnTo>
                  <a:pt x="636977" y="610708"/>
                </a:lnTo>
                <a:lnTo>
                  <a:pt x="634429" y="609746"/>
                </a:lnTo>
                <a:lnTo>
                  <a:pt x="632009" y="608661"/>
                </a:lnTo>
                <a:lnTo>
                  <a:pt x="629727" y="607459"/>
                </a:lnTo>
                <a:lnTo>
                  <a:pt x="627593" y="606146"/>
                </a:lnTo>
                <a:lnTo>
                  <a:pt x="625615" y="604728"/>
                </a:lnTo>
                <a:lnTo>
                  <a:pt x="623805" y="603213"/>
                </a:lnTo>
                <a:lnTo>
                  <a:pt x="622172" y="601606"/>
                </a:lnTo>
                <a:lnTo>
                  <a:pt x="620724" y="599914"/>
                </a:lnTo>
                <a:lnTo>
                  <a:pt x="619473" y="598144"/>
                </a:lnTo>
                <a:lnTo>
                  <a:pt x="618428" y="596301"/>
                </a:lnTo>
                <a:lnTo>
                  <a:pt x="617598" y="594393"/>
                </a:lnTo>
                <a:lnTo>
                  <a:pt x="616993" y="592425"/>
                </a:lnTo>
                <a:lnTo>
                  <a:pt x="616623" y="590405"/>
                </a:lnTo>
                <a:lnTo>
                  <a:pt x="616497" y="588339"/>
                </a:lnTo>
                <a:lnTo>
                  <a:pt x="616623" y="586272"/>
                </a:lnTo>
                <a:lnTo>
                  <a:pt x="616993" y="584251"/>
                </a:lnTo>
                <a:lnTo>
                  <a:pt x="617598" y="582283"/>
                </a:lnTo>
                <a:lnTo>
                  <a:pt x="618428" y="580374"/>
                </a:lnTo>
                <a:lnTo>
                  <a:pt x="619473" y="578531"/>
                </a:lnTo>
                <a:lnTo>
                  <a:pt x="620724" y="576759"/>
                </a:lnTo>
                <a:lnTo>
                  <a:pt x="622172" y="575066"/>
                </a:lnTo>
                <a:lnTo>
                  <a:pt x="623805" y="573458"/>
                </a:lnTo>
                <a:lnTo>
                  <a:pt x="625615" y="571942"/>
                </a:lnTo>
                <a:lnTo>
                  <a:pt x="627593" y="570523"/>
                </a:lnTo>
                <a:lnTo>
                  <a:pt x="629727" y="569209"/>
                </a:lnTo>
                <a:lnTo>
                  <a:pt x="632009" y="568005"/>
                </a:lnTo>
                <a:lnTo>
                  <a:pt x="634429" y="566919"/>
                </a:lnTo>
                <a:lnTo>
                  <a:pt x="636977" y="565956"/>
                </a:lnTo>
                <a:lnTo>
                  <a:pt x="639644" y="565124"/>
                </a:lnTo>
                <a:lnTo>
                  <a:pt x="642420" y="564429"/>
                </a:lnTo>
                <a:lnTo>
                  <a:pt x="645294" y="563877"/>
                </a:lnTo>
                <a:lnTo>
                  <a:pt x="648259" y="563474"/>
                </a:lnTo>
                <a:lnTo>
                  <a:pt x="651302" y="563228"/>
                </a:lnTo>
                <a:lnTo>
                  <a:pt x="654416" y="563145"/>
                </a:lnTo>
                <a:lnTo>
                  <a:pt x="657527" y="563228"/>
                </a:lnTo>
                <a:lnTo>
                  <a:pt x="660567" y="563474"/>
                </a:lnTo>
                <a:lnTo>
                  <a:pt x="663528" y="563877"/>
                </a:lnTo>
                <a:lnTo>
                  <a:pt x="666401" y="564429"/>
                </a:lnTo>
                <a:lnTo>
                  <a:pt x="669174" y="565124"/>
                </a:lnTo>
                <a:lnTo>
                  <a:pt x="671839" y="565956"/>
                </a:lnTo>
                <a:lnTo>
                  <a:pt x="674385" y="566919"/>
                </a:lnTo>
                <a:lnTo>
                  <a:pt x="676804" y="568005"/>
                </a:lnTo>
                <a:lnTo>
                  <a:pt x="679084" y="569209"/>
                </a:lnTo>
                <a:lnTo>
                  <a:pt x="681218" y="570523"/>
                </a:lnTo>
                <a:lnTo>
                  <a:pt x="683194" y="571942"/>
                </a:lnTo>
                <a:lnTo>
                  <a:pt x="685004" y="573458"/>
                </a:lnTo>
                <a:lnTo>
                  <a:pt x="686637" y="575066"/>
                </a:lnTo>
                <a:lnTo>
                  <a:pt x="688084" y="576759"/>
                </a:lnTo>
                <a:lnTo>
                  <a:pt x="689335" y="578531"/>
                </a:lnTo>
                <a:lnTo>
                  <a:pt x="690380" y="580374"/>
                </a:lnTo>
                <a:lnTo>
                  <a:pt x="691210" y="582283"/>
                </a:lnTo>
                <a:lnTo>
                  <a:pt x="691815" y="584251"/>
                </a:lnTo>
                <a:lnTo>
                  <a:pt x="692185" y="586272"/>
                </a:lnTo>
                <a:lnTo>
                  <a:pt x="692310" y="588339"/>
                </a:lnTo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7" name="published_A_finerenone_marker_141">
            <a:extLst>
              <a:ext uri="{FF2B5EF4-FFF2-40B4-BE49-F238E27FC236}">
                <a16:creationId xmlns:a16="http://schemas.microsoft.com/office/drawing/2014/main" id="{E5F89B99-F78D-4A86-8FAC-2614B891F969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153745" y="726754"/>
                </a:moveTo>
                <a:lnTo>
                  <a:pt x="1153619" y="728820"/>
                </a:lnTo>
                <a:lnTo>
                  <a:pt x="1153249" y="730841"/>
                </a:lnTo>
                <a:lnTo>
                  <a:pt x="1152644" y="732809"/>
                </a:lnTo>
                <a:lnTo>
                  <a:pt x="1151814" y="734718"/>
                </a:lnTo>
                <a:lnTo>
                  <a:pt x="1150769" y="736561"/>
                </a:lnTo>
                <a:lnTo>
                  <a:pt x="1149518" y="738333"/>
                </a:lnTo>
                <a:lnTo>
                  <a:pt x="1148071" y="740026"/>
                </a:lnTo>
                <a:lnTo>
                  <a:pt x="1146438" y="741634"/>
                </a:lnTo>
                <a:lnTo>
                  <a:pt x="1144629" y="743150"/>
                </a:lnTo>
                <a:lnTo>
                  <a:pt x="1142652" y="744569"/>
                </a:lnTo>
                <a:lnTo>
                  <a:pt x="1140519" y="745884"/>
                </a:lnTo>
                <a:lnTo>
                  <a:pt x="1138238" y="747087"/>
                </a:lnTo>
                <a:lnTo>
                  <a:pt x="1135819" y="748173"/>
                </a:lnTo>
                <a:lnTo>
                  <a:pt x="1133273" y="749136"/>
                </a:lnTo>
                <a:lnTo>
                  <a:pt x="1130608" y="749968"/>
                </a:lnTo>
                <a:lnTo>
                  <a:pt x="1127835" y="750663"/>
                </a:lnTo>
                <a:lnTo>
                  <a:pt x="1124963" y="751215"/>
                </a:lnTo>
                <a:lnTo>
                  <a:pt x="1122002" y="751618"/>
                </a:lnTo>
                <a:lnTo>
                  <a:pt x="1118961" y="751864"/>
                </a:lnTo>
                <a:lnTo>
                  <a:pt x="1115851" y="751947"/>
                </a:lnTo>
                <a:lnTo>
                  <a:pt x="1112737" y="751864"/>
                </a:lnTo>
                <a:lnTo>
                  <a:pt x="1109693" y="751618"/>
                </a:lnTo>
                <a:lnTo>
                  <a:pt x="1106729" y="751215"/>
                </a:lnTo>
                <a:lnTo>
                  <a:pt x="1103854" y="750663"/>
                </a:lnTo>
                <a:lnTo>
                  <a:pt x="1101079" y="749968"/>
                </a:lnTo>
                <a:lnTo>
                  <a:pt x="1098412" y="749136"/>
                </a:lnTo>
                <a:lnTo>
                  <a:pt x="1095864" y="748173"/>
                </a:lnTo>
                <a:lnTo>
                  <a:pt x="1093444" y="747087"/>
                </a:lnTo>
                <a:lnTo>
                  <a:pt x="1091162" y="745884"/>
                </a:lnTo>
                <a:lnTo>
                  <a:pt x="1089027" y="744569"/>
                </a:lnTo>
                <a:lnTo>
                  <a:pt x="1087050" y="743150"/>
                </a:lnTo>
                <a:lnTo>
                  <a:pt x="1085240" y="741634"/>
                </a:lnTo>
                <a:lnTo>
                  <a:pt x="1083606" y="740026"/>
                </a:lnTo>
                <a:lnTo>
                  <a:pt x="1082159" y="738333"/>
                </a:lnTo>
                <a:lnTo>
                  <a:pt x="1080908" y="736561"/>
                </a:lnTo>
                <a:lnTo>
                  <a:pt x="1079862" y="734718"/>
                </a:lnTo>
                <a:lnTo>
                  <a:pt x="1079032" y="732809"/>
                </a:lnTo>
                <a:lnTo>
                  <a:pt x="1078427" y="730841"/>
                </a:lnTo>
                <a:lnTo>
                  <a:pt x="1078057" y="728820"/>
                </a:lnTo>
                <a:lnTo>
                  <a:pt x="1077932" y="726754"/>
                </a:lnTo>
                <a:lnTo>
                  <a:pt x="1078057" y="724687"/>
                </a:lnTo>
                <a:lnTo>
                  <a:pt x="1078427" y="722666"/>
                </a:lnTo>
                <a:lnTo>
                  <a:pt x="1079032" y="720698"/>
                </a:lnTo>
                <a:lnTo>
                  <a:pt x="1079862" y="718789"/>
                </a:lnTo>
                <a:lnTo>
                  <a:pt x="1080908" y="716946"/>
                </a:lnTo>
                <a:lnTo>
                  <a:pt x="1082159" y="715174"/>
                </a:lnTo>
                <a:lnTo>
                  <a:pt x="1083606" y="713481"/>
                </a:lnTo>
                <a:lnTo>
                  <a:pt x="1085240" y="711873"/>
                </a:lnTo>
                <a:lnTo>
                  <a:pt x="1087050" y="710357"/>
                </a:lnTo>
                <a:lnTo>
                  <a:pt x="1089027" y="708938"/>
                </a:lnTo>
                <a:lnTo>
                  <a:pt x="1091162" y="707623"/>
                </a:lnTo>
                <a:lnTo>
                  <a:pt x="1093444" y="706420"/>
                </a:lnTo>
                <a:lnTo>
                  <a:pt x="1095864" y="705334"/>
                </a:lnTo>
                <a:lnTo>
                  <a:pt x="1098412" y="704371"/>
                </a:lnTo>
                <a:lnTo>
                  <a:pt x="1101079" y="703539"/>
                </a:lnTo>
                <a:lnTo>
                  <a:pt x="1103854" y="702844"/>
                </a:lnTo>
                <a:lnTo>
                  <a:pt x="1106729" y="702292"/>
                </a:lnTo>
                <a:lnTo>
                  <a:pt x="1109693" y="701889"/>
                </a:lnTo>
                <a:lnTo>
                  <a:pt x="1112737" y="701643"/>
                </a:lnTo>
                <a:lnTo>
                  <a:pt x="1115851" y="701560"/>
                </a:lnTo>
                <a:lnTo>
                  <a:pt x="1118961" y="701643"/>
                </a:lnTo>
                <a:lnTo>
                  <a:pt x="1122002" y="701889"/>
                </a:lnTo>
                <a:lnTo>
                  <a:pt x="1124963" y="702292"/>
                </a:lnTo>
                <a:lnTo>
                  <a:pt x="1127835" y="702844"/>
                </a:lnTo>
                <a:lnTo>
                  <a:pt x="1130608" y="703539"/>
                </a:lnTo>
                <a:lnTo>
                  <a:pt x="1133273" y="704371"/>
                </a:lnTo>
                <a:lnTo>
                  <a:pt x="1135819" y="705334"/>
                </a:lnTo>
                <a:lnTo>
                  <a:pt x="1138238" y="706420"/>
                </a:lnTo>
                <a:lnTo>
                  <a:pt x="1140519" y="707623"/>
                </a:lnTo>
                <a:lnTo>
                  <a:pt x="1142652" y="708938"/>
                </a:lnTo>
                <a:lnTo>
                  <a:pt x="1144629" y="710357"/>
                </a:lnTo>
                <a:lnTo>
                  <a:pt x="1146438" y="711873"/>
                </a:lnTo>
                <a:lnTo>
                  <a:pt x="1148071" y="713481"/>
                </a:lnTo>
                <a:lnTo>
                  <a:pt x="1149518" y="715174"/>
                </a:lnTo>
                <a:lnTo>
                  <a:pt x="1150769" y="716946"/>
                </a:lnTo>
                <a:lnTo>
                  <a:pt x="1151814" y="718789"/>
                </a:lnTo>
                <a:lnTo>
                  <a:pt x="1152644" y="720698"/>
                </a:lnTo>
                <a:lnTo>
                  <a:pt x="1153249" y="722666"/>
                </a:lnTo>
                <a:lnTo>
                  <a:pt x="1153619" y="724687"/>
                </a:lnTo>
                <a:lnTo>
                  <a:pt x="1153745" y="726754"/>
                </a:lnTo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8" name="published_A_finerenone_marker_142">
            <a:extLst>
              <a:ext uri="{FF2B5EF4-FFF2-40B4-BE49-F238E27FC236}">
                <a16:creationId xmlns:a16="http://schemas.microsoft.com/office/drawing/2014/main" id="{C36D7552-60C0-4F32-A13C-6010B551F1F9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2076697" y="913453"/>
                </a:moveTo>
                <a:lnTo>
                  <a:pt x="2076571" y="915520"/>
                </a:lnTo>
                <a:lnTo>
                  <a:pt x="2076201" y="917540"/>
                </a:lnTo>
                <a:lnTo>
                  <a:pt x="2075596" y="919507"/>
                </a:lnTo>
                <a:lnTo>
                  <a:pt x="2074767" y="921416"/>
                </a:lnTo>
                <a:lnTo>
                  <a:pt x="2073721" y="923258"/>
                </a:lnTo>
                <a:lnTo>
                  <a:pt x="2072470" y="925029"/>
                </a:lnTo>
                <a:lnTo>
                  <a:pt x="2071024" y="926721"/>
                </a:lnTo>
                <a:lnTo>
                  <a:pt x="2069391" y="928328"/>
                </a:lnTo>
                <a:lnTo>
                  <a:pt x="2067581" y="929843"/>
                </a:lnTo>
                <a:lnTo>
                  <a:pt x="2065605" y="931260"/>
                </a:lnTo>
                <a:lnTo>
                  <a:pt x="2063471" y="932574"/>
                </a:lnTo>
                <a:lnTo>
                  <a:pt x="2061190" y="933776"/>
                </a:lnTo>
                <a:lnTo>
                  <a:pt x="2058772" y="934861"/>
                </a:lnTo>
                <a:lnTo>
                  <a:pt x="2056225" y="935822"/>
                </a:lnTo>
                <a:lnTo>
                  <a:pt x="2053560" y="936653"/>
                </a:lnTo>
                <a:lnTo>
                  <a:pt x="2050787" y="937348"/>
                </a:lnTo>
                <a:lnTo>
                  <a:pt x="2047915" y="937899"/>
                </a:lnTo>
                <a:lnTo>
                  <a:pt x="2044954" y="938301"/>
                </a:lnTo>
                <a:lnTo>
                  <a:pt x="2041913" y="938547"/>
                </a:lnTo>
                <a:lnTo>
                  <a:pt x="2038803" y="938630"/>
                </a:lnTo>
                <a:lnTo>
                  <a:pt x="2035689" y="938547"/>
                </a:lnTo>
                <a:lnTo>
                  <a:pt x="2032645" y="938301"/>
                </a:lnTo>
                <a:lnTo>
                  <a:pt x="2029681" y="937899"/>
                </a:lnTo>
                <a:lnTo>
                  <a:pt x="2026806" y="937348"/>
                </a:lnTo>
                <a:lnTo>
                  <a:pt x="2024031" y="936653"/>
                </a:lnTo>
                <a:lnTo>
                  <a:pt x="2021364" y="935822"/>
                </a:lnTo>
                <a:lnTo>
                  <a:pt x="2018816" y="934861"/>
                </a:lnTo>
                <a:lnTo>
                  <a:pt x="2016396" y="933776"/>
                </a:lnTo>
                <a:lnTo>
                  <a:pt x="2014114" y="932574"/>
                </a:lnTo>
                <a:lnTo>
                  <a:pt x="2011979" y="931260"/>
                </a:lnTo>
                <a:lnTo>
                  <a:pt x="2010002" y="929843"/>
                </a:lnTo>
                <a:lnTo>
                  <a:pt x="2008192" y="928328"/>
                </a:lnTo>
                <a:lnTo>
                  <a:pt x="2006558" y="926721"/>
                </a:lnTo>
                <a:lnTo>
                  <a:pt x="2005111" y="925029"/>
                </a:lnTo>
                <a:lnTo>
                  <a:pt x="2003860" y="923258"/>
                </a:lnTo>
                <a:lnTo>
                  <a:pt x="2002814" y="921416"/>
                </a:lnTo>
                <a:lnTo>
                  <a:pt x="2001984" y="919507"/>
                </a:lnTo>
                <a:lnTo>
                  <a:pt x="2001379" y="917540"/>
                </a:lnTo>
                <a:lnTo>
                  <a:pt x="2001009" y="915520"/>
                </a:lnTo>
                <a:lnTo>
                  <a:pt x="2000884" y="913453"/>
                </a:lnTo>
                <a:lnTo>
                  <a:pt x="2001009" y="911387"/>
                </a:lnTo>
                <a:lnTo>
                  <a:pt x="2001379" y="909366"/>
                </a:lnTo>
                <a:lnTo>
                  <a:pt x="2001984" y="907398"/>
                </a:lnTo>
                <a:lnTo>
                  <a:pt x="2002814" y="905489"/>
                </a:lnTo>
                <a:lnTo>
                  <a:pt x="2003860" y="903646"/>
                </a:lnTo>
                <a:lnTo>
                  <a:pt x="2005111" y="901874"/>
                </a:lnTo>
                <a:lnTo>
                  <a:pt x="2006558" y="900181"/>
                </a:lnTo>
                <a:lnTo>
                  <a:pt x="2008192" y="898573"/>
                </a:lnTo>
                <a:lnTo>
                  <a:pt x="2010002" y="897056"/>
                </a:lnTo>
                <a:lnTo>
                  <a:pt x="2011979" y="895638"/>
                </a:lnTo>
                <a:lnTo>
                  <a:pt x="2014114" y="894323"/>
                </a:lnTo>
                <a:lnTo>
                  <a:pt x="2016396" y="893120"/>
                </a:lnTo>
                <a:lnTo>
                  <a:pt x="2018816" y="892033"/>
                </a:lnTo>
                <a:lnTo>
                  <a:pt x="2021364" y="891071"/>
                </a:lnTo>
                <a:lnTo>
                  <a:pt x="2024031" y="890239"/>
                </a:lnTo>
                <a:lnTo>
                  <a:pt x="2026806" y="889544"/>
                </a:lnTo>
                <a:lnTo>
                  <a:pt x="2029681" y="888992"/>
                </a:lnTo>
                <a:lnTo>
                  <a:pt x="2032645" y="888589"/>
                </a:lnTo>
                <a:lnTo>
                  <a:pt x="2035689" y="888343"/>
                </a:lnTo>
                <a:lnTo>
                  <a:pt x="2038803" y="888259"/>
                </a:lnTo>
                <a:lnTo>
                  <a:pt x="2041913" y="888343"/>
                </a:lnTo>
                <a:lnTo>
                  <a:pt x="2044954" y="888589"/>
                </a:lnTo>
                <a:lnTo>
                  <a:pt x="2047915" y="888992"/>
                </a:lnTo>
                <a:lnTo>
                  <a:pt x="2050787" y="889544"/>
                </a:lnTo>
                <a:lnTo>
                  <a:pt x="2053560" y="890239"/>
                </a:lnTo>
                <a:lnTo>
                  <a:pt x="2056225" y="891071"/>
                </a:lnTo>
                <a:lnTo>
                  <a:pt x="2058772" y="892033"/>
                </a:lnTo>
                <a:lnTo>
                  <a:pt x="2061190" y="893120"/>
                </a:lnTo>
                <a:lnTo>
                  <a:pt x="2063471" y="894323"/>
                </a:lnTo>
                <a:lnTo>
                  <a:pt x="2065605" y="895638"/>
                </a:lnTo>
                <a:lnTo>
                  <a:pt x="2067581" y="897056"/>
                </a:lnTo>
                <a:lnTo>
                  <a:pt x="2069391" y="898573"/>
                </a:lnTo>
                <a:lnTo>
                  <a:pt x="2071024" y="900181"/>
                </a:lnTo>
                <a:lnTo>
                  <a:pt x="2072470" y="901874"/>
                </a:lnTo>
                <a:lnTo>
                  <a:pt x="2073721" y="903646"/>
                </a:lnTo>
                <a:lnTo>
                  <a:pt x="2074767" y="905489"/>
                </a:lnTo>
                <a:lnTo>
                  <a:pt x="2075596" y="907398"/>
                </a:lnTo>
                <a:lnTo>
                  <a:pt x="2076201" y="909366"/>
                </a:lnTo>
                <a:lnTo>
                  <a:pt x="2076571" y="911387"/>
                </a:lnTo>
                <a:lnTo>
                  <a:pt x="2076697" y="913453"/>
                </a:lnTo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9" name="published_A_finerenone_marker_143">
            <a:extLst>
              <a:ext uri="{FF2B5EF4-FFF2-40B4-BE49-F238E27FC236}">
                <a16:creationId xmlns:a16="http://schemas.microsoft.com/office/drawing/2014/main" id="{A307673A-0B40-4165-AF68-37085F916B21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462255" y="1013884"/>
                </a:moveTo>
                <a:lnTo>
                  <a:pt x="3462129" y="1015951"/>
                </a:lnTo>
                <a:lnTo>
                  <a:pt x="3461759" y="1017971"/>
                </a:lnTo>
                <a:lnTo>
                  <a:pt x="3461154" y="1019939"/>
                </a:lnTo>
                <a:lnTo>
                  <a:pt x="3460325" y="1021848"/>
                </a:lnTo>
                <a:lnTo>
                  <a:pt x="3459279" y="1023692"/>
                </a:lnTo>
                <a:lnTo>
                  <a:pt x="3458028" y="1025463"/>
                </a:lnTo>
                <a:lnTo>
                  <a:pt x="3456582" y="1027156"/>
                </a:lnTo>
                <a:lnTo>
                  <a:pt x="3454948" y="1028764"/>
                </a:lnTo>
                <a:lnTo>
                  <a:pt x="3453139" y="1030281"/>
                </a:lnTo>
                <a:lnTo>
                  <a:pt x="3451162" y="1031700"/>
                </a:lnTo>
                <a:lnTo>
                  <a:pt x="3449029" y="1033014"/>
                </a:lnTo>
                <a:lnTo>
                  <a:pt x="3446748" y="1034218"/>
                </a:lnTo>
                <a:lnTo>
                  <a:pt x="3444330" y="1035304"/>
                </a:lnTo>
                <a:lnTo>
                  <a:pt x="3441783" y="1036266"/>
                </a:lnTo>
                <a:lnTo>
                  <a:pt x="3439118" y="1037099"/>
                </a:lnTo>
                <a:lnTo>
                  <a:pt x="3436345" y="1037794"/>
                </a:lnTo>
                <a:lnTo>
                  <a:pt x="3433473" y="1038346"/>
                </a:lnTo>
                <a:lnTo>
                  <a:pt x="3430512" y="1038748"/>
                </a:lnTo>
                <a:lnTo>
                  <a:pt x="3427471" y="1038995"/>
                </a:lnTo>
                <a:lnTo>
                  <a:pt x="3424361" y="1039078"/>
                </a:lnTo>
                <a:lnTo>
                  <a:pt x="3421247" y="1038995"/>
                </a:lnTo>
                <a:lnTo>
                  <a:pt x="3418203" y="1038748"/>
                </a:lnTo>
                <a:lnTo>
                  <a:pt x="3415239" y="1038346"/>
                </a:lnTo>
                <a:lnTo>
                  <a:pt x="3412364" y="1037794"/>
                </a:lnTo>
                <a:lnTo>
                  <a:pt x="3409589" y="1037099"/>
                </a:lnTo>
                <a:lnTo>
                  <a:pt x="3406922" y="1036266"/>
                </a:lnTo>
                <a:lnTo>
                  <a:pt x="3404374" y="1035304"/>
                </a:lnTo>
                <a:lnTo>
                  <a:pt x="3401954" y="1034218"/>
                </a:lnTo>
                <a:lnTo>
                  <a:pt x="3399672" y="1033014"/>
                </a:lnTo>
                <a:lnTo>
                  <a:pt x="3397537" y="1031700"/>
                </a:lnTo>
                <a:lnTo>
                  <a:pt x="3395560" y="1030281"/>
                </a:lnTo>
                <a:lnTo>
                  <a:pt x="3393749" y="1028764"/>
                </a:lnTo>
                <a:lnTo>
                  <a:pt x="3392116" y="1027156"/>
                </a:lnTo>
                <a:lnTo>
                  <a:pt x="3390669" y="1025463"/>
                </a:lnTo>
                <a:lnTo>
                  <a:pt x="3389417" y="1023692"/>
                </a:lnTo>
                <a:lnTo>
                  <a:pt x="3388372" y="1021848"/>
                </a:lnTo>
                <a:lnTo>
                  <a:pt x="3387542" y="1019939"/>
                </a:lnTo>
                <a:lnTo>
                  <a:pt x="3386937" y="1017971"/>
                </a:lnTo>
                <a:lnTo>
                  <a:pt x="3386567" y="1015951"/>
                </a:lnTo>
                <a:lnTo>
                  <a:pt x="3386442" y="1013884"/>
                </a:lnTo>
                <a:lnTo>
                  <a:pt x="3386567" y="1011818"/>
                </a:lnTo>
                <a:lnTo>
                  <a:pt x="3386937" y="1009797"/>
                </a:lnTo>
                <a:lnTo>
                  <a:pt x="3387542" y="1007829"/>
                </a:lnTo>
                <a:lnTo>
                  <a:pt x="3388372" y="1005920"/>
                </a:lnTo>
                <a:lnTo>
                  <a:pt x="3389417" y="1004077"/>
                </a:lnTo>
                <a:lnTo>
                  <a:pt x="3390669" y="1002305"/>
                </a:lnTo>
                <a:lnTo>
                  <a:pt x="3392116" y="1000612"/>
                </a:lnTo>
                <a:lnTo>
                  <a:pt x="3393749" y="999004"/>
                </a:lnTo>
                <a:lnTo>
                  <a:pt x="3395560" y="997488"/>
                </a:lnTo>
                <a:lnTo>
                  <a:pt x="3397537" y="996069"/>
                </a:lnTo>
                <a:lnTo>
                  <a:pt x="3399672" y="994754"/>
                </a:lnTo>
                <a:lnTo>
                  <a:pt x="3401954" y="993551"/>
                </a:lnTo>
                <a:lnTo>
                  <a:pt x="3404374" y="992465"/>
                </a:lnTo>
                <a:lnTo>
                  <a:pt x="3406922" y="991502"/>
                </a:lnTo>
                <a:lnTo>
                  <a:pt x="3409589" y="990670"/>
                </a:lnTo>
                <a:lnTo>
                  <a:pt x="3412364" y="989975"/>
                </a:lnTo>
                <a:lnTo>
                  <a:pt x="3415239" y="989423"/>
                </a:lnTo>
                <a:lnTo>
                  <a:pt x="3418203" y="989020"/>
                </a:lnTo>
                <a:lnTo>
                  <a:pt x="3421247" y="988774"/>
                </a:lnTo>
                <a:lnTo>
                  <a:pt x="3424361" y="988691"/>
                </a:lnTo>
                <a:lnTo>
                  <a:pt x="3427471" y="988774"/>
                </a:lnTo>
                <a:lnTo>
                  <a:pt x="3430512" y="989020"/>
                </a:lnTo>
                <a:lnTo>
                  <a:pt x="3433473" y="989423"/>
                </a:lnTo>
                <a:lnTo>
                  <a:pt x="3436345" y="989975"/>
                </a:lnTo>
                <a:lnTo>
                  <a:pt x="3439118" y="990670"/>
                </a:lnTo>
                <a:lnTo>
                  <a:pt x="3441783" y="991502"/>
                </a:lnTo>
                <a:lnTo>
                  <a:pt x="3444330" y="992465"/>
                </a:lnTo>
                <a:lnTo>
                  <a:pt x="3446748" y="993551"/>
                </a:lnTo>
                <a:lnTo>
                  <a:pt x="3449029" y="994754"/>
                </a:lnTo>
                <a:lnTo>
                  <a:pt x="3451162" y="996069"/>
                </a:lnTo>
                <a:lnTo>
                  <a:pt x="3453139" y="997488"/>
                </a:lnTo>
                <a:lnTo>
                  <a:pt x="3454948" y="999004"/>
                </a:lnTo>
                <a:lnTo>
                  <a:pt x="3456582" y="1000612"/>
                </a:lnTo>
                <a:lnTo>
                  <a:pt x="3458028" y="1002305"/>
                </a:lnTo>
                <a:lnTo>
                  <a:pt x="3459279" y="1004077"/>
                </a:lnTo>
                <a:lnTo>
                  <a:pt x="3460325" y="1005920"/>
                </a:lnTo>
                <a:lnTo>
                  <a:pt x="3461154" y="1007829"/>
                </a:lnTo>
                <a:lnTo>
                  <a:pt x="3461759" y="1009797"/>
                </a:lnTo>
                <a:lnTo>
                  <a:pt x="3462129" y="1011818"/>
                </a:lnTo>
                <a:lnTo>
                  <a:pt x="3462255" y="1013884"/>
                </a:lnTo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0" name="published_A_finerenone_marker_144">
            <a:extLst>
              <a:ext uri="{FF2B5EF4-FFF2-40B4-BE49-F238E27FC236}">
                <a16:creationId xmlns:a16="http://schemas.microsoft.com/office/drawing/2014/main" id="{333D2B5F-2599-4EA8-90CD-0C17B9EBBC00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923327" y="683298"/>
                </a:moveTo>
                <a:lnTo>
                  <a:pt x="3923201" y="685365"/>
                </a:lnTo>
                <a:lnTo>
                  <a:pt x="3922831" y="687385"/>
                </a:lnTo>
                <a:lnTo>
                  <a:pt x="3922227" y="689352"/>
                </a:lnTo>
                <a:lnTo>
                  <a:pt x="3921397" y="691260"/>
                </a:lnTo>
                <a:lnTo>
                  <a:pt x="3920351" y="693103"/>
                </a:lnTo>
                <a:lnTo>
                  <a:pt x="3919100" y="694874"/>
                </a:lnTo>
                <a:lnTo>
                  <a:pt x="3917653" y="696565"/>
                </a:lnTo>
                <a:lnTo>
                  <a:pt x="3916019" y="698172"/>
                </a:lnTo>
                <a:lnTo>
                  <a:pt x="3914209" y="699688"/>
                </a:lnTo>
                <a:lnTo>
                  <a:pt x="3912232" y="701105"/>
                </a:lnTo>
                <a:lnTo>
                  <a:pt x="3910097" y="702419"/>
                </a:lnTo>
                <a:lnTo>
                  <a:pt x="3907815" y="703621"/>
                </a:lnTo>
                <a:lnTo>
                  <a:pt x="3905395" y="704706"/>
                </a:lnTo>
                <a:lnTo>
                  <a:pt x="3902847" y="705667"/>
                </a:lnTo>
                <a:lnTo>
                  <a:pt x="3900180" y="706498"/>
                </a:lnTo>
                <a:lnTo>
                  <a:pt x="3897404" y="707193"/>
                </a:lnTo>
                <a:lnTo>
                  <a:pt x="3894530" y="707744"/>
                </a:lnTo>
                <a:lnTo>
                  <a:pt x="3891566" y="708146"/>
                </a:lnTo>
                <a:lnTo>
                  <a:pt x="3888522" y="708392"/>
                </a:lnTo>
                <a:lnTo>
                  <a:pt x="3885408" y="708475"/>
                </a:lnTo>
                <a:lnTo>
                  <a:pt x="3882298" y="708392"/>
                </a:lnTo>
                <a:lnTo>
                  <a:pt x="3879257" y="708146"/>
                </a:lnTo>
                <a:lnTo>
                  <a:pt x="3876296" y="707744"/>
                </a:lnTo>
                <a:lnTo>
                  <a:pt x="3873424" y="707193"/>
                </a:lnTo>
                <a:lnTo>
                  <a:pt x="3870650" y="706498"/>
                </a:lnTo>
                <a:lnTo>
                  <a:pt x="3867986" y="705667"/>
                </a:lnTo>
                <a:lnTo>
                  <a:pt x="3865439" y="704706"/>
                </a:lnTo>
                <a:lnTo>
                  <a:pt x="3863021" y="703621"/>
                </a:lnTo>
                <a:lnTo>
                  <a:pt x="3860740" y="702419"/>
                </a:lnTo>
                <a:lnTo>
                  <a:pt x="3858606" y="701105"/>
                </a:lnTo>
                <a:lnTo>
                  <a:pt x="3856630" y="699688"/>
                </a:lnTo>
                <a:lnTo>
                  <a:pt x="3854820" y="698172"/>
                </a:lnTo>
                <a:lnTo>
                  <a:pt x="3853187" y="696565"/>
                </a:lnTo>
                <a:lnTo>
                  <a:pt x="3851740" y="694874"/>
                </a:lnTo>
                <a:lnTo>
                  <a:pt x="3850489" y="693103"/>
                </a:lnTo>
                <a:lnTo>
                  <a:pt x="3849444" y="691260"/>
                </a:lnTo>
                <a:lnTo>
                  <a:pt x="3848614" y="689352"/>
                </a:lnTo>
                <a:lnTo>
                  <a:pt x="3848009" y="687385"/>
                </a:lnTo>
                <a:lnTo>
                  <a:pt x="3847639" y="685365"/>
                </a:lnTo>
                <a:lnTo>
                  <a:pt x="3847514" y="683298"/>
                </a:lnTo>
                <a:lnTo>
                  <a:pt x="3847639" y="681231"/>
                </a:lnTo>
                <a:lnTo>
                  <a:pt x="3848009" y="679211"/>
                </a:lnTo>
                <a:lnTo>
                  <a:pt x="3848614" y="677243"/>
                </a:lnTo>
                <a:lnTo>
                  <a:pt x="3849444" y="675334"/>
                </a:lnTo>
                <a:lnTo>
                  <a:pt x="3850489" y="673490"/>
                </a:lnTo>
                <a:lnTo>
                  <a:pt x="3851740" y="671719"/>
                </a:lnTo>
                <a:lnTo>
                  <a:pt x="3853187" y="670026"/>
                </a:lnTo>
                <a:lnTo>
                  <a:pt x="3854820" y="668418"/>
                </a:lnTo>
                <a:lnTo>
                  <a:pt x="3856630" y="666901"/>
                </a:lnTo>
                <a:lnTo>
                  <a:pt x="3858606" y="665482"/>
                </a:lnTo>
                <a:lnTo>
                  <a:pt x="3860740" y="664168"/>
                </a:lnTo>
                <a:lnTo>
                  <a:pt x="3863021" y="662964"/>
                </a:lnTo>
                <a:lnTo>
                  <a:pt x="3865439" y="661878"/>
                </a:lnTo>
                <a:lnTo>
                  <a:pt x="3867986" y="660916"/>
                </a:lnTo>
                <a:lnTo>
                  <a:pt x="3870650" y="660084"/>
                </a:lnTo>
                <a:lnTo>
                  <a:pt x="3873424" y="659388"/>
                </a:lnTo>
                <a:lnTo>
                  <a:pt x="3876296" y="658836"/>
                </a:lnTo>
                <a:lnTo>
                  <a:pt x="3879257" y="658434"/>
                </a:lnTo>
                <a:lnTo>
                  <a:pt x="3882298" y="658188"/>
                </a:lnTo>
                <a:lnTo>
                  <a:pt x="3885408" y="658104"/>
                </a:lnTo>
                <a:lnTo>
                  <a:pt x="3888522" y="658188"/>
                </a:lnTo>
                <a:lnTo>
                  <a:pt x="3891566" y="658434"/>
                </a:lnTo>
                <a:lnTo>
                  <a:pt x="3894530" y="658836"/>
                </a:lnTo>
                <a:lnTo>
                  <a:pt x="3897404" y="659388"/>
                </a:lnTo>
                <a:lnTo>
                  <a:pt x="3900180" y="660084"/>
                </a:lnTo>
                <a:lnTo>
                  <a:pt x="3902847" y="660916"/>
                </a:lnTo>
                <a:lnTo>
                  <a:pt x="3905395" y="661878"/>
                </a:lnTo>
                <a:lnTo>
                  <a:pt x="3907815" y="662964"/>
                </a:lnTo>
                <a:lnTo>
                  <a:pt x="3910097" y="664168"/>
                </a:lnTo>
                <a:lnTo>
                  <a:pt x="3912232" y="665482"/>
                </a:lnTo>
                <a:lnTo>
                  <a:pt x="3914209" y="666901"/>
                </a:lnTo>
                <a:lnTo>
                  <a:pt x="3916019" y="668418"/>
                </a:lnTo>
                <a:lnTo>
                  <a:pt x="3917653" y="670026"/>
                </a:lnTo>
                <a:lnTo>
                  <a:pt x="3919100" y="671719"/>
                </a:lnTo>
                <a:lnTo>
                  <a:pt x="3920351" y="673490"/>
                </a:lnTo>
                <a:lnTo>
                  <a:pt x="3921397" y="675334"/>
                </a:lnTo>
                <a:lnTo>
                  <a:pt x="3922227" y="677243"/>
                </a:lnTo>
                <a:lnTo>
                  <a:pt x="3922831" y="679211"/>
                </a:lnTo>
                <a:lnTo>
                  <a:pt x="3923201" y="681231"/>
                </a:lnTo>
                <a:lnTo>
                  <a:pt x="3923327" y="683298"/>
                </a:lnTo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1" name="published_A_combination_error_bar_145">
            <a:extLst>
              <a:ext uri="{FF2B5EF4-FFF2-40B4-BE49-F238E27FC236}">
                <a16:creationId xmlns:a16="http://schemas.microsoft.com/office/drawing/2014/main" id="{99480314-E209-4A72-8545-1A77A0C62322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835203" y="915060"/>
                </a:moveTo>
                <a:lnTo>
                  <a:pt x="3936286" y="915060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2" name="published_A_combination_error_bar_146">
            <a:extLst>
              <a:ext uri="{FF2B5EF4-FFF2-40B4-BE49-F238E27FC236}">
                <a16:creationId xmlns:a16="http://schemas.microsoft.com/office/drawing/2014/main" id="{1281CBE0-7CB5-4BDA-BADB-39FA0D41E25F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835203" y="571277"/>
                </a:moveTo>
                <a:lnTo>
                  <a:pt x="3936286" y="571277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3" name="published_A_combination_error_bar_147">
            <a:extLst>
              <a:ext uri="{FF2B5EF4-FFF2-40B4-BE49-F238E27FC236}">
                <a16:creationId xmlns:a16="http://schemas.microsoft.com/office/drawing/2014/main" id="{5E2BDA28-B873-426D-8BD0-71617FC56844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885730" y="571277"/>
                </a:moveTo>
                <a:lnTo>
                  <a:pt x="3885730" y="915052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4" name="published_A_combination_error_bar_148">
            <a:extLst>
              <a:ext uri="{FF2B5EF4-FFF2-40B4-BE49-F238E27FC236}">
                <a16:creationId xmlns:a16="http://schemas.microsoft.com/office/drawing/2014/main" id="{A7320242-394E-49D6-B359-AD890DE1029F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373807" y="1500590"/>
                </a:moveTo>
                <a:lnTo>
                  <a:pt x="3474890" y="1500590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5" name="published_A_combination_error_bar_149">
            <a:extLst>
              <a:ext uri="{FF2B5EF4-FFF2-40B4-BE49-F238E27FC236}">
                <a16:creationId xmlns:a16="http://schemas.microsoft.com/office/drawing/2014/main" id="{F554A013-61D5-490F-A0AA-3CBCA3B7D2ED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373807" y="1307131"/>
                </a:moveTo>
                <a:lnTo>
                  <a:pt x="3474890" y="1307131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6" name="published_A_combination_error_bar_150">
            <a:extLst>
              <a:ext uri="{FF2B5EF4-FFF2-40B4-BE49-F238E27FC236}">
                <a16:creationId xmlns:a16="http://schemas.microsoft.com/office/drawing/2014/main" id="{C651A05C-55B9-4549-BFA2-BC5CDE211D4D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424344" y="1307131"/>
                </a:moveTo>
                <a:lnTo>
                  <a:pt x="3424344" y="1500595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7" name="published_A_combination_error_bar_151">
            <a:extLst>
              <a:ext uri="{FF2B5EF4-FFF2-40B4-BE49-F238E27FC236}">
                <a16:creationId xmlns:a16="http://schemas.microsoft.com/office/drawing/2014/main" id="{DC683CB7-1CAE-4888-A8A1-4AA92ED70EF6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988251" y="1460352"/>
                </a:moveTo>
                <a:lnTo>
                  <a:pt x="2089335" y="1460352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8" name="published_A_combination_error_bar_152">
            <a:extLst>
              <a:ext uri="{FF2B5EF4-FFF2-40B4-BE49-F238E27FC236}">
                <a16:creationId xmlns:a16="http://schemas.microsoft.com/office/drawing/2014/main" id="{3E4F79D7-68DD-4D62-9D90-239566868B51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988251" y="1249190"/>
                </a:moveTo>
                <a:lnTo>
                  <a:pt x="2089335" y="1249190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9" name="published_A_combination_error_bar_153">
            <a:extLst>
              <a:ext uri="{FF2B5EF4-FFF2-40B4-BE49-F238E27FC236}">
                <a16:creationId xmlns:a16="http://schemas.microsoft.com/office/drawing/2014/main" id="{A4A74616-E578-4CC5-90F8-79CBB4F41994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2038782" y="1249190"/>
                </a:moveTo>
                <a:lnTo>
                  <a:pt x="2038782" y="1460347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0" name="published_A_combination_error_bar_154">
            <a:extLst>
              <a:ext uri="{FF2B5EF4-FFF2-40B4-BE49-F238E27FC236}">
                <a16:creationId xmlns:a16="http://schemas.microsoft.com/office/drawing/2014/main" id="{35E53E70-14F0-4464-9E85-C4FEB8F7B3A8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064555" y="1202836"/>
                </a:moveTo>
                <a:lnTo>
                  <a:pt x="1165638" y="1202836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1" name="published_A_combination_error_bar_155">
            <a:extLst>
              <a:ext uri="{FF2B5EF4-FFF2-40B4-BE49-F238E27FC236}">
                <a16:creationId xmlns:a16="http://schemas.microsoft.com/office/drawing/2014/main" id="{DD3F7BFB-B368-4A55-BB83-9B75280627DC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064555" y="991672"/>
                </a:moveTo>
                <a:lnTo>
                  <a:pt x="1165638" y="991672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2" name="published_A_combination_error_bar_156">
            <a:extLst>
              <a:ext uri="{FF2B5EF4-FFF2-40B4-BE49-F238E27FC236}">
                <a16:creationId xmlns:a16="http://schemas.microsoft.com/office/drawing/2014/main" id="{48CCB0C3-CFA1-4A30-ADA9-2E90B55ABE19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115089" y="991672"/>
                </a:moveTo>
                <a:lnTo>
                  <a:pt x="1115089" y="1202829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3" name="published_A_combination_error_bar_157">
            <a:extLst>
              <a:ext uri="{FF2B5EF4-FFF2-40B4-BE49-F238E27FC236}">
                <a16:creationId xmlns:a16="http://schemas.microsoft.com/office/drawing/2014/main" id="{05697248-C9B7-43B0-A5CA-E2AE184D357F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02529" y="1114636"/>
                </a:moveTo>
                <a:lnTo>
                  <a:pt x="703613" y="1114636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4" name="published_A_combination_error_bar_158">
            <a:extLst>
              <a:ext uri="{FF2B5EF4-FFF2-40B4-BE49-F238E27FC236}">
                <a16:creationId xmlns:a16="http://schemas.microsoft.com/office/drawing/2014/main" id="{F382A173-BAE7-48A5-AC3E-509A715CC1C8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02529" y="839095"/>
                </a:moveTo>
                <a:lnTo>
                  <a:pt x="703613" y="839095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5" name="published_A_combination_error_bar_159">
            <a:extLst>
              <a:ext uri="{FF2B5EF4-FFF2-40B4-BE49-F238E27FC236}">
                <a16:creationId xmlns:a16="http://schemas.microsoft.com/office/drawing/2014/main" id="{5A27CEC8-39DA-475A-AEBF-35ABFC949310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53061" y="839095"/>
                </a:moveTo>
                <a:lnTo>
                  <a:pt x="653061" y="1114639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6" name="published_A_combination_curve_160">
            <a:extLst>
              <a:ext uri="{FF2B5EF4-FFF2-40B4-BE49-F238E27FC236}">
                <a16:creationId xmlns:a16="http://schemas.microsoft.com/office/drawing/2014/main" id="{88C03A42-9C4C-4F7D-A1F0-37ADEDA9124C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298765" y="394877"/>
                </a:moveTo>
                <a:lnTo>
                  <a:pt x="654394" y="983306"/>
                </a:lnTo>
                <a:moveTo>
                  <a:pt x="654394" y="983306"/>
                </a:moveTo>
                <a:lnTo>
                  <a:pt x="1115833" y="1077281"/>
                </a:lnTo>
                <a:moveTo>
                  <a:pt x="1115833" y="1077281"/>
                </a:moveTo>
                <a:lnTo>
                  <a:pt x="2038763" y="1364420"/>
                </a:lnTo>
                <a:moveTo>
                  <a:pt x="2038763" y="1364420"/>
                </a:moveTo>
                <a:lnTo>
                  <a:pt x="3424338" y="1409478"/>
                </a:lnTo>
                <a:moveTo>
                  <a:pt x="3424338" y="1409478"/>
                </a:moveTo>
                <a:lnTo>
                  <a:pt x="3885426" y="755392"/>
                </a:lnTo>
              </a:path>
            </a:pathLst>
          </a:custGeom>
          <a:noFill/>
          <a:ln w="21031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7" name="published_A_combination_marker_161">
            <a:extLst>
              <a:ext uri="{FF2B5EF4-FFF2-40B4-BE49-F238E27FC236}">
                <a16:creationId xmlns:a16="http://schemas.microsoft.com/office/drawing/2014/main" id="{D9FAB807-CD49-4B4D-9A7B-36A537275E3B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36674" y="394877"/>
                </a:moveTo>
                <a:lnTo>
                  <a:pt x="336549" y="396944"/>
                </a:lnTo>
                <a:lnTo>
                  <a:pt x="336179" y="398964"/>
                </a:lnTo>
                <a:lnTo>
                  <a:pt x="335574" y="400932"/>
                </a:lnTo>
                <a:lnTo>
                  <a:pt x="334744" y="402841"/>
                </a:lnTo>
                <a:lnTo>
                  <a:pt x="333698" y="404685"/>
                </a:lnTo>
                <a:lnTo>
                  <a:pt x="332447" y="406456"/>
                </a:lnTo>
                <a:lnTo>
                  <a:pt x="331000" y="408149"/>
                </a:lnTo>
                <a:lnTo>
                  <a:pt x="329366" y="409758"/>
                </a:lnTo>
                <a:lnTo>
                  <a:pt x="327556" y="411274"/>
                </a:lnTo>
                <a:lnTo>
                  <a:pt x="325579" y="412693"/>
                </a:lnTo>
                <a:lnTo>
                  <a:pt x="323444" y="414007"/>
                </a:lnTo>
                <a:lnTo>
                  <a:pt x="321162" y="415211"/>
                </a:lnTo>
                <a:lnTo>
                  <a:pt x="318742" y="416297"/>
                </a:lnTo>
                <a:lnTo>
                  <a:pt x="316194" y="417259"/>
                </a:lnTo>
                <a:lnTo>
                  <a:pt x="313527" y="418092"/>
                </a:lnTo>
                <a:lnTo>
                  <a:pt x="310752" y="418787"/>
                </a:lnTo>
                <a:lnTo>
                  <a:pt x="307877" y="419339"/>
                </a:lnTo>
                <a:lnTo>
                  <a:pt x="304913" y="419741"/>
                </a:lnTo>
                <a:lnTo>
                  <a:pt x="301869" y="419988"/>
                </a:lnTo>
                <a:lnTo>
                  <a:pt x="298755" y="420071"/>
                </a:lnTo>
                <a:lnTo>
                  <a:pt x="295645" y="419988"/>
                </a:lnTo>
                <a:lnTo>
                  <a:pt x="292604" y="419741"/>
                </a:lnTo>
                <a:lnTo>
                  <a:pt x="289643" y="419339"/>
                </a:lnTo>
                <a:lnTo>
                  <a:pt x="286771" y="418787"/>
                </a:lnTo>
                <a:lnTo>
                  <a:pt x="283998" y="418092"/>
                </a:lnTo>
                <a:lnTo>
                  <a:pt x="281333" y="417259"/>
                </a:lnTo>
                <a:lnTo>
                  <a:pt x="278787" y="416297"/>
                </a:lnTo>
                <a:lnTo>
                  <a:pt x="276368" y="415211"/>
                </a:lnTo>
                <a:lnTo>
                  <a:pt x="274087" y="414007"/>
                </a:lnTo>
                <a:lnTo>
                  <a:pt x="271954" y="412693"/>
                </a:lnTo>
                <a:lnTo>
                  <a:pt x="269977" y="411274"/>
                </a:lnTo>
                <a:lnTo>
                  <a:pt x="268168" y="409758"/>
                </a:lnTo>
                <a:lnTo>
                  <a:pt x="266535" y="408149"/>
                </a:lnTo>
                <a:lnTo>
                  <a:pt x="265088" y="406456"/>
                </a:lnTo>
                <a:lnTo>
                  <a:pt x="263837" y="404685"/>
                </a:lnTo>
                <a:lnTo>
                  <a:pt x="262792" y="402841"/>
                </a:lnTo>
                <a:lnTo>
                  <a:pt x="261962" y="400932"/>
                </a:lnTo>
                <a:lnTo>
                  <a:pt x="261357" y="398964"/>
                </a:lnTo>
                <a:lnTo>
                  <a:pt x="260987" y="396944"/>
                </a:lnTo>
                <a:lnTo>
                  <a:pt x="260861" y="394877"/>
                </a:lnTo>
                <a:lnTo>
                  <a:pt x="260987" y="392811"/>
                </a:lnTo>
                <a:lnTo>
                  <a:pt x="261357" y="390790"/>
                </a:lnTo>
                <a:lnTo>
                  <a:pt x="261962" y="388822"/>
                </a:lnTo>
                <a:lnTo>
                  <a:pt x="262792" y="386913"/>
                </a:lnTo>
                <a:lnTo>
                  <a:pt x="263837" y="385070"/>
                </a:lnTo>
                <a:lnTo>
                  <a:pt x="265088" y="383298"/>
                </a:lnTo>
                <a:lnTo>
                  <a:pt x="266535" y="381605"/>
                </a:lnTo>
                <a:lnTo>
                  <a:pt x="268168" y="379997"/>
                </a:lnTo>
                <a:lnTo>
                  <a:pt x="269977" y="378480"/>
                </a:lnTo>
                <a:lnTo>
                  <a:pt x="271954" y="377062"/>
                </a:lnTo>
                <a:lnTo>
                  <a:pt x="274087" y="375747"/>
                </a:lnTo>
                <a:lnTo>
                  <a:pt x="276368" y="374544"/>
                </a:lnTo>
                <a:lnTo>
                  <a:pt x="278787" y="373457"/>
                </a:lnTo>
                <a:lnTo>
                  <a:pt x="281333" y="372495"/>
                </a:lnTo>
                <a:lnTo>
                  <a:pt x="283998" y="371663"/>
                </a:lnTo>
                <a:lnTo>
                  <a:pt x="286771" y="370968"/>
                </a:lnTo>
                <a:lnTo>
                  <a:pt x="289643" y="370416"/>
                </a:lnTo>
                <a:lnTo>
                  <a:pt x="292604" y="370013"/>
                </a:lnTo>
                <a:lnTo>
                  <a:pt x="295645" y="369767"/>
                </a:lnTo>
                <a:lnTo>
                  <a:pt x="298755" y="369683"/>
                </a:lnTo>
                <a:lnTo>
                  <a:pt x="301869" y="369767"/>
                </a:lnTo>
                <a:lnTo>
                  <a:pt x="304913" y="370013"/>
                </a:lnTo>
                <a:lnTo>
                  <a:pt x="307877" y="370416"/>
                </a:lnTo>
                <a:lnTo>
                  <a:pt x="310752" y="370968"/>
                </a:lnTo>
                <a:lnTo>
                  <a:pt x="313527" y="371663"/>
                </a:lnTo>
                <a:lnTo>
                  <a:pt x="316194" y="372495"/>
                </a:lnTo>
                <a:lnTo>
                  <a:pt x="318742" y="373457"/>
                </a:lnTo>
                <a:lnTo>
                  <a:pt x="321162" y="374544"/>
                </a:lnTo>
                <a:lnTo>
                  <a:pt x="323444" y="375747"/>
                </a:lnTo>
                <a:lnTo>
                  <a:pt x="325579" y="377062"/>
                </a:lnTo>
                <a:lnTo>
                  <a:pt x="327556" y="378480"/>
                </a:lnTo>
                <a:lnTo>
                  <a:pt x="329366" y="379997"/>
                </a:lnTo>
                <a:lnTo>
                  <a:pt x="331000" y="381605"/>
                </a:lnTo>
                <a:lnTo>
                  <a:pt x="332447" y="383298"/>
                </a:lnTo>
                <a:lnTo>
                  <a:pt x="333698" y="385070"/>
                </a:lnTo>
                <a:lnTo>
                  <a:pt x="334744" y="386913"/>
                </a:lnTo>
                <a:lnTo>
                  <a:pt x="335574" y="388822"/>
                </a:lnTo>
                <a:lnTo>
                  <a:pt x="336179" y="390790"/>
                </a:lnTo>
                <a:lnTo>
                  <a:pt x="336549" y="392811"/>
                </a:lnTo>
                <a:lnTo>
                  <a:pt x="336674" y="394877"/>
                </a:lnTo>
              </a:path>
            </a:pathLst>
          </a:custGeom>
          <a:solidFill>
            <a:srgbClr val="4EA72E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8" name="published_A_combination_marker_162">
            <a:extLst>
              <a:ext uri="{FF2B5EF4-FFF2-40B4-BE49-F238E27FC236}">
                <a16:creationId xmlns:a16="http://schemas.microsoft.com/office/drawing/2014/main" id="{E0A8F920-1FEA-48C9-A07B-FA94A02139A8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92310" y="983305"/>
                </a:moveTo>
                <a:lnTo>
                  <a:pt x="692185" y="985371"/>
                </a:lnTo>
                <a:lnTo>
                  <a:pt x="691815" y="987391"/>
                </a:lnTo>
                <a:lnTo>
                  <a:pt x="691210" y="989359"/>
                </a:lnTo>
                <a:lnTo>
                  <a:pt x="690380" y="991267"/>
                </a:lnTo>
                <a:lnTo>
                  <a:pt x="689335" y="993110"/>
                </a:lnTo>
                <a:lnTo>
                  <a:pt x="688084" y="994880"/>
                </a:lnTo>
                <a:lnTo>
                  <a:pt x="686637" y="996572"/>
                </a:lnTo>
                <a:lnTo>
                  <a:pt x="685004" y="998179"/>
                </a:lnTo>
                <a:lnTo>
                  <a:pt x="683194" y="999694"/>
                </a:lnTo>
                <a:lnTo>
                  <a:pt x="681218" y="1001112"/>
                </a:lnTo>
                <a:lnTo>
                  <a:pt x="679084" y="1002425"/>
                </a:lnTo>
                <a:lnTo>
                  <a:pt x="676804" y="1003627"/>
                </a:lnTo>
                <a:lnTo>
                  <a:pt x="674385" y="1004712"/>
                </a:lnTo>
                <a:lnTo>
                  <a:pt x="671839" y="1005674"/>
                </a:lnTo>
                <a:lnTo>
                  <a:pt x="669174" y="1006505"/>
                </a:lnTo>
                <a:lnTo>
                  <a:pt x="666401" y="1007199"/>
                </a:lnTo>
                <a:lnTo>
                  <a:pt x="663528" y="1007751"/>
                </a:lnTo>
                <a:lnTo>
                  <a:pt x="660567" y="1008152"/>
                </a:lnTo>
                <a:lnTo>
                  <a:pt x="657527" y="1008398"/>
                </a:lnTo>
                <a:lnTo>
                  <a:pt x="654416" y="1008482"/>
                </a:lnTo>
                <a:lnTo>
                  <a:pt x="651302" y="1008398"/>
                </a:lnTo>
                <a:lnTo>
                  <a:pt x="648259" y="1008152"/>
                </a:lnTo>
                <a:lnTo>
                  <a:pt x="645294" y="1007751"/>
                </a:lnTo>
                <a:lnTo>
                  <a:pt x="642420" y="1007199"/>
                </a:lnTo>
                <a:lnTo>
                  <a:pt x="639644" y="1006505"/>
                </a:lnTo>
                <a:lnTo>
                  <a:pt x="636977" y="1005674"/>
                </a:lnTo>
                <a:lnTo>
                  <a:pt x="634429" y="1004712"/>
                </a:lnTo>
                <a:lnTo>
                  <a:pt x="632009" y="1003627"/>
                </a:lnTo>
                <a:lnTo>
                  <a:pt x="629727" y="1002425"/>
                </a:lnTo>
                <a:lnTo>
                  <a:pt x="627593" y="1001112"/>
                </a:lnTo>
                <a:lnTo>
                  <a:pt x="625615" y="999694"/>
                </a:lnTo>
                <a:lnTo>
                  <a:pt x="623805" y="998179"/>
                </a:lnTo>
                <a:lnTo>
                  <a:pt x="622172" y="996572"/>
                </a:lnTo>
                <a:lnTo>
                  <a:pt x="620724" y="994880"/>
                </a:lnTo>
                <a:lnTo>
                  <a:pt x="619473" y="993110"/>
                </a:lnTo>
                <a:lnTo>
                  <a:pt x="618428" y="991267"/>
                </a:lnTo>
                <a:lnTo>
                  <a:pt x="617598" y="989359"/>
                </a:lnTo>
                <a:lnTo>
                  <a:pt x="616993" y="987391"/>
                </a:lnTo>
                <a:lnTo>
                  <a:pt x="616623" y="985371"/>
                </a:lnTo>
                <a:lnTo>
                  <a:pt x="616497" y="983305"/>
                </a:lnTo>
                <a:lnTo>
                  <a:pt x="616623" y="981238"/>
                </a:lnTo>
                <a:lnTo>
                  <a:pt x="616993" y="979217"/>
                </a:lnTo>
                <a:lnTo>
                  <a:pt x="617598" y="977249"/>
                </a:lnTo>
                <a:lnTo>
                  <a:pt x="618428" y="975340"/>
                </a:lnTo>
                <a:lnTo>
                  <a:pt x="619473" y="973497"/>
                </a:lnTo>
                <a:lnTo>
                  <a:pt x="620724" y="971726"/>
                </a:lnTo>
                <a:lnTo>
                  <a:pt x="622172" y="970033"/>
                </a:lnTo>
                <a:lnTo>
                  <a:pt x="623805" y="968424"/>
                </a:lnTo>
                <a:lnTo>
                  <a:pt x="625615" y="966908"/>
                </a:lnTo>
                <a:lnTo>
                  <a:pt x="627593" y="965489"/>
                </a:lnTo>
                <a:lnTo>
                  <a:pt x="629727" y="964175"/>
                </a:lnTo>
                <a:lnTo>
                  <a:pt x="632009" y="962971"/>
                </a:lnTo>
                <a:lnTo>
                  <a:pt x="634429" y="961885"/>
                </a:lnTo>
                <a:lnTo>
                  <a:pt x="636977" y="960922"/>
                </a:lnTo>
                <a:lnTo>
                  <a:pt x="639644" y="960090"/>
                </a:lnTo>
                <a:lnTo>
                  <a:pt x="642420" y="959395"/>
                </a:lnTo>
                <a:lnTo>
                  <a:pt x="645294" y="958843"/>
                </a:lnTo>
                <a:lnTo>
                  <a:pt x="648259" y="958441"/>
                </a:lnTo>
                <a:lnTo>
                  <a:pt x="651302" y="958194"/>
                </a:lnTo>
                <a:lnTo>
                  <a:pt x="654416" y="958111"/>
                </a:lnTo>
                <a:lnTo>
                  <a:pt x="657527" y="958194"/>
                </a:lnTo>
                <a:lnTo>
                  <a:pt x="660567" y="958441"/>
                </a:lnTo>
                <a:lnTo>
                  <a:pt x="663528" y="958843"/>
                </a:lnTo>
                <a:lnTo>
                  <a:pt x="666401" y="959395"/>
                </a:lnTo>
                <a:lnTo>
                  <a:pt x="669174" y="960090"/>
                </a:lnTo>
                <a:lnTo>
                  <a:pt x="671839" y="960922"/>
                </a:lnTo>
                <a:lnTo>
                  <a:pt x="674385" y="961885"/>
                </a:lnTo>
                <a:lnTo>
                  <a:pt x="676804" y="962971"/>
                </a:lnTo>
                <a:lnTo>
                  <a:pt x="679084" y="964175"/>
                </a:lnTo>
                <a:lnTo>
                  <a:pt x="681218" y="965489"/>
                </a:lnTo>
                <a:lnTo>
                  <a:pt x="683194" y="966908"/>
                </a:lnTo>
                <a:lnTo>
                  <a:pt x="685004" y="968424"/>
                </a:lnTo>
                <a:lnTo>
                  <a:pt x="686637" y="970033"/>
                </a:lnTo>
                <a:lnTo>
                  <a:pt x="688084" y="971726"/>
                </a:lnTo>
                <a:lnTo>
                  <a:pt x="689335" y="973497"/>
                </a:lnTo>
                <a:lnTo>
                  <a:pt x="690380" y="975340"/>
                </a:lnTo>
                <a:lnTo>
                  <a:pt x="691210" y="977249"/>
                </a:lnTo>
                <a:lnTo>
                  <a:pt x="691815" y="979217"/>
                </a:lnTo>
                <a:lnTo>
                  <a:pt x="692185" y="981238"/>
                </a:lnTo>
                <a:lnTo>
                  <a:pt x="692310" y="983305"/>
                </a:lnTo>
              </a:path>
            </a:pathLst>
          </a:custGeom>
          <a:solidFill>
            <a:srgbClr val="4EA72E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9" name="published_A_combination_marker_163">
            <a:extLst>
              <a:ext uri="{FF2B5EF4-FFF2-40B4-BE49-F238E27FC236}">
                <a16:creationId xmlns:a16="http://schemas.microsoft.com/office/drawing/2014/main" id="{A0262E9C-D2C0-4278-B25A-E3B6DE1E8A34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153745" y="1077298"/>
                </a:moveTo>
                <a:lnTo>
                  <a:pt x="1153619" y="1079365"/>
                </a:lnTo>
                <a:lnTo>
                  <a:pt x="1153249" y="1081386"/>
                </a:lnTo>
                <a:lnTo>
                  <a:pt x="1152644" y="1083354"/>
                </a:lnTo>
                <a:lnTo>
                  <a:pt x="1151814" y="1085262"/>
                </a:lnTo>
                <a:lnTo>
                  <a:pt x="1150769" y="1087106"/>
                </a:lnTo>
                <a:lnTo>
                  <a:pt x="1149518" y="1088877"/>
                </a:lnTo>
                <a:lnTo>
                  <a:pt x="1148071" y="1090570"/>
                </a:lnTo>
                <a:lnTo>
                  <a:pt x="1146438" y="1092179"/>
                </a:lnTo>
                <a:lnTo>
                  <a:pt x="1144629" y="1093695"/>
                </a:lnTo>
                <a:lnTo>
                  <a:pt x="1142652" y="1095114"/>
                </a:lnTo>
                <a:lnTo>
                  <a:pt x="1140519" y="1096428"/>
                </a:lnTo>
                <a:lnTo>
                  <a:pt x="1138238" y="1097632"/>
                </a:lnTo>
                <a:lnTo>
                  <a:pt x="1135819" y="1098718"/>
                </a:lnTo>
                <a:lnTo>
                  <a:pt x="1133273" y="1099680"/>
                </a:lnTo>
                <a:lnTo>
                  <a:pt x="1130608" y="1100513"/>
                </a:lnTo>
                <a:lnTo>
                  <a:pt x="1127835" y="1101208"/>
                </a:lnTo>
                <a:lnTo>
                  <a:pt x="1124963" y="1101760"/>
                </a:lnTo>
                <a:lnTo>
                  <a:pt x="1122002" y="1102162"/>
                </a:lnTo>
                <a:lnTo>
                  <a:pt x="1118961" y="1102409"/>
                </a:lnTo>
                <a:lnTo>
                  <a:pt x="1115851" y="1102492"/>
                </a:lnTo>
                <a:lnTo>
                  <a:pt x="1112737" y="1102409"/>
                </a:lnTo>
                <a:lnTo>
                  <a:pt x="1109693" y="1102162"/>
                </a:lnTo>
                <a:lnTo>
                  <a:pt x="1106729" y="1101760"/>
                </a:lnTo>
                <a:lnTo>
                  <a:pt x="1103854" y="1101208"/>
                </a:lnTo>
                <a:lnTo>
                  <a:pt x="1101079" y="1100513"/>
                </a:lnTo>
                <a:lnTo>
                  <a:pt x="1098412" y="1099680"/>
                </a:lnTo>
                <a:lnTo>
                  <a:pt x="1095864" y="1098718"/>
                </a:lnTo>
                <a:lnTo>
                  <a:pt x="1093444" y="1097632"/>
                </a:lnTo>
                <a:lnTo>
                  <a:pt x="1091162" y="1096428"/>
                </a:lnTo>
                <a:lnTo>
                  <a:pt x="1089027" y="1095114"/>
                </a:lnTo>
                <a:lnTo>
                  <a:pt x="1087050" y="1093695"/>
                </a:lnTo>
                <a:lnTo>
                  <a:pt x="1085240" y="1092179"/>
                </a:lnTo>
                <a:lnTo>
                  <a:pt x="1083606" y="1090570"/>
                </a:lnTo>
                <a:lnTo>
                  <a:pt x="1082159" y="1088877"/>
                </a:lnTo>
                <a:lnTo>
                  <a:pt x="1080908" y="1087106"/>
                </a:lnTo>
                <a:lnTo>
                  <a:pt x="1079862" y="1085262"/>
                </a:lnTo>
                <a:lnTo>
                  <a:pt x="1079032" y="1083354"/>
                </a:lnTo>
                <a:lnTo>
                  <a:pt x="1078427" y="1081386"/>
                </a:lnTo>
                <a:lnTo>
                  <a:pt x="1078057" y="1079365"/>
                </a:lnTo>
                <a:lnTo>
                  <a:pt x="1077932" y="1077298"/>
                </a:lnTo>
                <a:lnTo>
                  <a:pt x="1078057" y="1075232"/>
                </a:lnTo>
                <a:lnTo>
                  <a:pt x="1078427" y="1073211"/>
                </a:lnTo>
                <a:lnTo>
                  <a:pt x="1079032" y="1071243"/>
                </a:lnTo>
                <a:lnTo>
                  <a:pt x="1079862" y="1069334"/>
                </a:lnTo>
                <a:lnTo>
                  <a:pt x="1080908" y="1067491"/>
                </a:lnTo>
                <a:lnTo>
                  <a:pt x="1082159" y="1065719"/>
                </a:lnTo>
                <a:lnTo>
                  <a:pt x="1083606" y="1064026"/>
                </a:lnTo>
                <a:lnTo>
                  <a:pt x="1085240" y="1062418"/>
                </a:lnTo>
                <a:lnTo>
                  <a:pt x="1087050" y="1060902"/>
                </a:lnTo>
                <a:lnTo>
                  <a:pt x="1089027" y="1059483"/>
                </a:lnTo>
                <a:lnTo>
                  <a:pt x="1091162" y="1058168"/>
                </a:lnTo>
                <a:lnTo>
                  <a:pt x="1093444" y="1056965"/>
                </a:lnTo>
                <a:lnTo>
                  <a:pt x="1095864" y="1055879"/>
                </a:lnTo>
                <a:lnTo>
                  <a:pt x="1098412" y="1054916"/>
                </a:lnTo>
                <a:lnTo>
                  <a:pt x="1101079" y="1054084"/>
                </a:lnTo>
                <a:lnTo>
                  <a:pt x="1103854" y="1053389"/>
                </a:lnTo>
                <a:lnTo>
                  <a:pt x="1106729" y="1052837"/>
                </a:lnTo>
                <a:lnTo>
                  <a:pt x="1109693" y="1052434"/>
                </a:lnTo>
                <a:lnTo>
                  <a:pt x="1112737" y="1052188"/>
                </a:lnTo>
                <a:lnTo>
                  <a:pt x="1115851" y="1052105"/>
                </a:lnTo>
                <a:lnTo>
                  <a:pt x="1118961" y="1052188"/>
                </a:lnTo>
                <a:lnTo>
                  <a:pt x="1122002" y="1052434"/>
                </a:lnTo>
                <a:lnTo>
                  <a:pt x="1124963" y="1052837"/>
                </a:lnTo>
                <a:lnTo>
                  <a:pt x="1127835" y="1053389"/>
                </a:lnTo>
                <a:lnTo>
                  <a:pt x="1130608" y="1054084"/>
                </a:lnTo>
                <a:lnTo>
                  <a:pt x="1133273" y="1054916"/>
                </a:lnTo>
                <a:lnTo>
                  <a:pt x="1135819" y="1055879"/>
                </a:lnTo>
                <a:lnTo>
                  <a:pt x="1138238" y="1056965"/>
                </a:lnTo>
                <a:lnTo>
                  <a:pt x="1140519" y="1058168"/>
                </a:lnTo>
                <a:lnTo>
                  <a:pt x="1142652" y="1059483"/>
                </a:lnTo>
                <a:lnTo>
                  <a:pt x="1144629" y="1060902"/>
                </a:lnTo>
                <a:lnTo>
                  <a:pt x="1146438" y="1062418"/>
                </a:lnTo>
                <a:lnTo>
                  <a:pt x="1148071" y="1064026"/>
                </a:lnTo>
                <a:lnTo>
                  <a:pt x="1149518" y="1065719"/>
                </a:lnTo>
                <a:lnTo>
                  <a:pt x="1150769" y="1067491"/>
                </a:lnTo>
                <a:lnTo>
                  <a:pt x="1151814" y="1069334"/>
                </a:lnTo>
                <a:lnTo>
                  <a:pt x="1152644" y="1071243"/>
                </a:lnTo>
                <a:lnTo>
                  <a:pt x="1153249" y="1073211"/>
                </a:lnTo>
                <a:lnTo>
                  <a:pt x="1153619" y="1075232"/>
                </a:lnTo>
                <a:lnTo>
                  <a:pt x="1153745" y="1077298"/>
                </a:lnTo>
              </a:path>
            </a:pathLst>
          </a:custGeom>
          <a:solidFill>
            <a:srgbClr val="4EA72E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0" name="published_A_combination_marker_164">
            <a:extLst>
              <a:ext uri="{FF2B5EF4-FFF2-40B4-BE49-F238E27FC236}">
                <a16:creationId xmlns:a16="http://schemas.microsoft.com/office/drawing/2014/main" id="{82373287-64FE-404F-8026-EC79420603F2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2038788" y="1389616"/>
                </a:moveTo>
                <a:lnTo>
                  <a:pt x="2035677" y="1389532"/>
                </a:lnTo>
                <a:lnTo>
                  <a:pt x="2032636" y="1389287"/>
                </a:lnTo>
                <a:lnTo>
                  <a:pt x="2029674" y="1388885"/>
                </a:lnTo>
                <a:lnTo>
                  <a:pt x="2026801" y="1388333"/>
                </a:lnTo>
                <a:lnTo>
                  <a:pt x="2024027" y="1387639"/>
                </a:lnTo>
                <a:lnTo>
                  <a:pt x="2021360" y="1386807"/>
                </a:lnTo>
                <a:lnTo>
                  <a:pt x="2018812" y="1385846"/>
                </a:lnTo>
                <a:lnTo>
                  <a:pt x="2016392" y="1384760"/>
                </a:lnTo>
                <a:lnTo>
                  <a:pt x="2014109" y="1383558"/>
                </a:lnTo>
                <a:lnTo>
                  <a:pt x="2011974" y="1382244"/>
                </a:lnTo>
                <a:lnTo>
                  <a:pt x="2009995" y="1380826"/>
                </a:lnTo>
                <a:lnTo>
                  <a:pt x="2008184" y="1379309"/>
                </a:lnTo>
                <a:lnTo>
                  <a:pt x="2006549" y="1377702"/>
                </a:lnTo>
                <a:lnTo>
                  <a:pt x="2005101" y="1376009"/>
                </a:lnTo>
                <a:lnTo>
                  <a:pt x="2003848" y="1374237"/>
                </a:lnTo>
                <a:lnTo>
                  <a:pt x="2002802" y="1372393"/>
                </a:lnTo>
                <a:lnTo>
                  <a:pt x="2001971" y="1370483"/>
                </a:lnTo>
                <a:lnTo>
                  <a:pt x="2001365" y="1368513"/>
                </a:lnTo>
                <a:lnTo>
                  <a:pt x="2000995" y="1366491"/>
                </a:lnTo>
                <a:lnTo>
                  <a:pt x="2000869" y="1364422"/>
                </a:lnTo>
                <a:lnTo>
                  <a:pt x="2000995" y="1362356"/>
                </a:lnTo>
                <a:lnTo>
                  <a:pt x="2001365" y="1360335"/>
                </a:lnTo>
                <a:lnTo>
                  <a:pt x="2001971" y="1358368"/>
                </a:lnTo>
                <a:lnTo>
                  <a:pt x="2002802" y="1356460"/>
                </a:lnTo>
                <a:lnTo>
                  <a:pt x="2003848" y="1354617"/>
                </a:lnTo>
                <a:lnTo>
                  <a:pt x="2005101" y="1352846"/>
                </a:lnTo>
                <a:lnTo>
                  <a:pt x="2006549" y="1351155"/>
                </a:lnTo>
                <a:lnTo>
                  <a:pt x="2008184" y="1349548"/>
                </a:lnTo>
                <a:lnTo>
                  <a:pt x="2009995" y="1348032"/>
                </a:lnTo>
                <a:lnTo>
                  <a:pt x="2011974" y="1346615"/>
                </a:lnTo>
                <a:lnTo>
                  <a:pt x="2014109" y="1345302"/>
                </a:lnTo>
                <a:lnTo>
                  <a:pt x="2016392" y="1344099"/>
                </a:lnTo>
                <a:lnTo>
                  <a:pt x="2018812" y="1343014"/>
                </a:lnTo>
                <a:lnTo>
                  <a:pt x="2021360" y="1342053"/>
                </a:lnTo>
                <a:lnTo>
                  <a:pt x="2024027" y="1341222"/>
                </a:lnTo>
                <a:lnTo>
                  <a:pt x="2026801" y="1340527"/>
                </a:lnTo>
                <a:lnTo>
                  <a:pt x="2029674" y="1339976"/>
                </a:lnTo>
                <a:lnTo>
                  <a:pt x="2032636" y="1339574"/>
                </a:lnTo>
                <a:lnTo>
                  <a:pt x="2035677" y="1339328"/>
                </a:lnTo>
                <a:lnTo>
                  <a:pt x="2038788" y="1339245"/>
                </a:lnTo>
                <a:lnTo>
                  <a:pt x="2041898" y="1339328"/>
                </a:lnTo>
                <a:lnTo>
                  <a:pt x="2044939" y="1339574"/>
                </a:lnTo>
                <a:lnTo>
                  <a:pt x="2047900" y="1339976"/>
                </a:lnTo>
                <a:lnTo>
                  <a:pt x="2050772" y="1340527"/>
                </a:lnTo>
                <a:lnTo>
                  <a:pt x="2053545" y="1341222"/>
                </a:lnTo>
                <a:lnTo>
                  <a:pt x="2056210" y="1342053"/>
                </a:lnTo>
                <a:lnTo>
                  <a:pt x="2058757" y="1343014"/>
                </a:lnTo>
                <a:lnTo>
                  <a:pt x="2061175" y="1344099"/>
                </a:lnTo>
                <a:lnTo>
                  <a:pt x="2063456" y="1345302"/>
                </a:lnTo>
                <a:lnTo>
                  <a:pt x="2065589" y="1346615"/>
                </a:lnTo>
                <a:lnTo>
                  <a:pt x="2067566" y="1348032"/>
                </a:lnTo>
                <a:lnTo>
                  <a:pt x="2069375" y="1349548"/>
                </a:lnTo>
                <a:lnTo>
                  <a:pt x="2071009" y="1351155"/>
                </a:lnTo>
                <a:lnTo>
                  <a:pt x="2072455" y="1352846"/>
                </a:lnTo>
                <a:lnTo>
                  <a:pt x="2073706" y="1354617"/>
                </a:lnTo>
                <a:lnTo>
                  <a:pt x="2074752" y="1356460"/>
                </a:lnTo>
                <a:lnTo>
                  <a:pt x="2075581" y="1358368"/>
                </a:lnTo>
                <a:lnTo>
                  <a:pt x="2076186" y="1360335"/>
                </a:lnTo>
                <a:lnTo>
                  <a:pt x="2076556" y="1362356"/>
                </a:lnTo>
                <a:lnTo>
                  <a:pt x="2076682" y="1364422"/>
                </a:lnTo>
                <a:lnTo>
                  <a:pt x="2076556" y="1366491"/>
                </a:lnTo>
                <a:lnTo>
                  <a:pt x="2076186" y="1368513"/>
                </a:lnTo>
                <a:lnTo>
                  <a:pt x="2075581" y="1370483"/>
                </a:lnTo>
                <a:lnTo>
                  <a:pt x="2074752" y="1372393"/>
                </a:lnTo>
                <a:lnTo>
                  <a:pt x="2073706" y="1374237"/>
                </a:lnTo>
                <a:lnTo>
                  <a:pt x="2072455" y="1376009"/>
                </a:lnTo>
                <a:lnTo>
                  <a:pt x="2071009" y="1377702"/>
                </a:lnTo>
                <a:lnTo>
                  <a:pt x="2069375" y="1379309"/>
                </a:lnTo>
                <a:lnTo>
                  <a:pt x="2067566" y="1380826"/>
                </a:lnTo>
                <a:lnTo>
                  <a:pt x="2065589" y="1382244"/>
                </a:lnTo>
                <a:lnTo>
                  <a:pt x="2063456" y="1383558"/>
                </a:lnTo>
                <a:lnTo>
                  <a:pt x="2061175" y="1384760"/>
                </a:lnTo>
                <a:lnTo>
                  <a:pt x="2058757" y="1385846"/>
                </a:lnTo>
                <a:lnTo>
                  <a:pt x="2056210" y="1386807"/>
                </a:lnTo>
                <a:lnTo>
                  <a:pt x="2053545" y="1387639"/>
                </a:lnTo>
                <a:lnTo>
                  <a:pt x="2050772" y="1388333"/>
                </a:lnTo>
                <a:lnTo>
                  <a:pt x="2047900" y="1388885"/>
                </a:lnTo>
                <a:lnTo>
                  <a:pt x="2044939" y="1389287"/>
                </a:lnTo>
                <a:lnTo>
                  <a:pt x="2041898" y="1389532"/>
                </a:lnTo>
                <a:lnTo>
                  <a:pt x="2038788" y="1389616"/>
                </a:lnTo>
              </a:path>
            </a:pathLst>
          </a:custGeom>
          <a:solidFill>
            <a:srgbClr val="4EA72E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1" name="published_A_combination_marker_165">
            <a:extLst>
              <a:ext uri="{FF2B5EF4-FFF2-40B4-BE49-F238E27FC236}">
                <a16:creationId xmlns:a16="http://schemas.microsoft.com/office/drawing/2014/main" id="{754138BC-9AB4-4D75-A15B-8C6FEC0600AA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424346" y="1434678"/>
                </a:moveTo>
                <a:lnTo>
                  <a:pt x="3421235" y="1434595"/>
                </a:lnTo>
                <a:lnTo>
                  <a:pt x="3418194" y="1434349"/>
                </a:lnTo>
                <a:lnTo>
                  <a:pt x="3415232" y="1433947"/>
                </a:lnTo>
                <a:lnTo>
                  <a:pt x="3412359" y="1433396"/>
                </a:lnTo>
                <a:lnTo>
                  <a:pt x="3409584" y="1432701"/>
                </a:lnTo>
                <a:lnTo>
                  <a:pt x="3406918" y="1431870"/>
                </a:lnTo>
                <a:lnTo>
                  <a:pt x="3404370" y="1430909"/>
                </a:lnTo>
                <a:lnTo>
                  <a:pt x="3401950" y="1429824"/>
                </a:lnTo>
                <a:lnTo>
                  <a:pt x="3399667" y="1428622"/>
                </a:lnTo>
                <a:lnTo>
                  <a:pt x="3397532" y="1427309"/>
                </a:lnTo>
                <a:lnTo>
                  <a:pt x="3395553" y="1425891"/>
                </a:lnTo>
                <a:lnTo>
                  <a:pt x="3393742" y="1424376"/>
                </a:lnTo>
                <a:lnTo>
                  <a:pt x="3392107" y="1422769"/>
                </a:lnTo>
                <a:lnTo>
                  <a:pt x="3390659" y="1421077"/>
                </a:lnTo>
                <a:lnTo>
                  <a:pt x="3389406" y="1419306"/>
                </a:lnTo>
                <a:lnTo>
                  <a:pt x="3388360" y="1417464"/>
                </a:lnTo>
                <a:lnTo>
                  <a:pt x="3387529" y="1415555"/>
                </a:lnTo>
                <a:lnTo>
                  <a:pt x="3386923" y="1413588"/>
                </a:lnTo>
                <a:lnTo>
                  <a:pt x="3386553" y="1411568"/>
                </a:lnTo>
                <a:lnTo>
                  <a:pt x="3386427" y="1409501"/>
                </a:lnTo>
                <a:lnTo>
                  <a:pt x="3386553" y="1407432"/>
                </a:lnTo>
                <a:lnTo>
                  <a:pt x="3386923" y="1405410"/>
                </a:lnTo>
                <a:lnTo>
                  <a:pt x="3387529" y="1403441"/>
                </a:lnTo>
                <a:lnTo>
                  <a:pt x="3388360" y="1401531"/>
                </a:lnTo>
                <a:lnTo>
                  <a:pt x="3389406" y="1399686"/>
                </a:lnTo>
                <a:lnTo>
                  <a:pt x="3390659" y="1397915"/>
                </a:lnTo>
                <a:lnTo>
                  <a:pt x="3392107" y="1396222"/>
                </a:lnTo>
                <a:lnTo>
                  <a:pt x="3393742" y="1394614"/>
                </a:lnTo>
                <a:lnTo>
                  <a:pt x="3395553" y="1393097"/>
                </a:lnTo>
                <a:lnTo>
                  <a:pt x="3397532" y="1391679"/>
                </a:lnTo>
                <a:lnTo>
                  <a:pt x="3399667" y="1390366"/>
                </a:lnTo>
                <a:lnTo>
                  <a:pt x="3401950" y="1389163"/>
                </a:lnTo>
                <a:lnTo>
                  <a:pt x="3404370" y="1388077"/>
                </a:lnTo>
                <a:lnTo>
                  <a:pt x="3406918" y="1387116"/>
                </a:lnTo>
                <a:lnTo>
                  <a:pt x="3409584" y="1386285"/>
                </a:lnTo>
                <a:lnTo>
                  <a:pt x="3412359" y="1385590"/>
                </a:lnTo>
                <a:lnTo>
                  <a:pt x="3415232" y="1385039"/>
                </a:lnTo>
                <a:lnTo>
                  <a:pt x="3418194" y="1384637"/>
                </a:lnTo>
                <a:lnTo>
                  <a:pt x="3421235" y="1384391"/>
                </a:lnTo>
                <a:lnTo>
                  <a:pt x="3424346" y="1384307"/>
                </a:lnTo>
                <a:lnTo>
                  <a:pt x="3427456" y="1384391"/>
                </a:lnTo>
                <a:lnTo>
                  <a:pt x="3430497" y="1384637"/>
                </a:lnTo>
                <a:lnTo>
                  <a:pt x="3433459" y="1385039"/>
                </a:lnTo>
                <a:lnTo>
                  <a:pt x="3436333" y="1385590"/>
                </a:lnTo>
                <a:lnTo>
                  <a:pt x="3439107" y="1386285"/>
                </a:lnTo>
                <a:lnTo>
                  <a:pt x="3441774" y="1387116"/>
                </a:lnTo>
                <a:lnTo>
                  <a:pt x="3444322" y="1388077"/>
                </a:lnTo>
                <a:lnTo>
                  <a:pt x="3446742" y="1389163"/>
                </a:lnTo>
                <a:lnTo>
                  <a:pt x="3449025" y="1390366"/>
                </a:lnTo>
                <a:lnTo>
                  <a:pt x="3451160" y="1391679"/>
                </a:lnTo>
                <a:lnTo>
                  <a:pt x="3453138" y="1393097"/>
                </a:lnTo>
                <a:lnTo>
                  <a:pt x="3454950" y="1394614"/>
                </a:lnTo>
                <a:lnTo>
                  <a:pt x="3456585" y="1396222"/>
                </a:lnTo>
                <a:lnTo>
                  <a:pt x="3458033" y="1397915"/>
                </a:lnTo>
                <a:lnTo>
                  <a:pt x="3459285" y="1399686"/>
                </a:lnTo>
                <a:lnTo>
                  <a:pt x="3460332" y="1401531"/>
                </a:lnTo>
                <a:lnTo>
                  <a:pt x="3461163" y="1403441"/>
                </a:lnTo>
                <a:lnTo>
                  <a:pt x="3461768" y="1405410"/>
                </a:lnTo>
                <a:lnTo>
                  <a:pt x="3462139" y="1407432"/>
                </a:lnTo>
                <a:lnTo>
                  <a:pt x="3462265" y="1409501"/>
                </a:lnTo>
                <a:lnTo>
                  <a:pt x="3462139" y="1411568"/>
                </a:lnTo>
                <a:lnTo>
                  <a:pt x="3461768" y="1413588"/>
                </a:lnTo>
                <a:lnTo>
                  <a:pt x="3461163" y="1415555"/>
                </a:lnTo>
                <a:lnTo>
                  <a:pt x="3460332" y="1417464"/>
                </a:lnTo>
                <a:lnTo>
                  <a:pt x="3459285" y="1419306"/>
                </a:lnTo>
                <a:lnTo>
                  <a:pt x="3458033" y="1421077"/>
                </a:lnTo>
                <a:lnTo>
                  <a:pt x="3456585" y="1422769"/>
                </a:lnTo>
                <a:lnTo>
                  <a:pt x="3454950" y="1424376"/>
                </a:lnTo>
                <a:lnTo>
                  <a:pt x="3453138" y="1425891"/>
                </a:lnTo>
                <a:lnTo>
                  <a:pt x="3451160" y="1427309"/>
                </a:lnTo>
                <a:lnTo>
                  <a:pt x="3449025" y="1428622"/>
                </a:lnTo>
                <a:lnTo>
                  <a:pt x="3446742" y="1429824"/>
                </a:lnTo>
                <a:lnTo>
                  <a:pt x="3444322" y="1430909"/>
                </a:lnTo>
                <a:lnTo>
                  <a:pt x="3441774" y="1431870"/>
                </a:lnTo>
                <a:lnTo>
                  <a:pt x="3439107" y="1432701"/>
                </a:lnTo>
                <a:lnTo>
                  <a:pt x="3436333" y="1433396"/>
                </a:lnTo>
                <a:lnTo>
                  <a:pt x="3433459" y="1433947"/>
                </a:lnTo>
                <a:lnTo>
                  <a:pt x="3430497" y="1434349"/>
                </a:lnTo>
                <a:lnTo>
                  <a:pt x="3427456" y="1434595"/>
                </a:lnTo>
                <a:lnTo>
                  <a:pt x="3424346" y="1434678"/>
                </a:lnTo>
              </a:path>
            </a:pathLst>
          </a:custGeom>
          <a:solidFill>
            <a:srgbClr val="4EA72E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2" name="published_A_combination_marker_166">
            <a:extLst>
              <a:ext uri="{FF2B5EF4-FFF2-40B4-BE49-F238E27FC236}">
                <a16:creationId xmlns:a16="http://schemas.microsoft.com/office/drawing/2014/main" id="{0E6CA2A4-01A4-46A4-ABF8-9D99484897D5}"/>
              </a:ext>
            </a:extLst>
          </p:cNvPr>
          <p:cNvSpPr>
            <a:spLocks noGrp="1"/>
          </p:cNvSpPr>
          <p:nvPr/>
        </p:nvSpPr>
        <p:spPr>
          <a:xfrm>
            <a:off x="188595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885418" y="780587"/>
                </a:moveTo>
                <a:lnTo>
                  <a:pt x="3882308" y="780504"/>
                </a:lnTo>
                <a:lnTo>
                  <a:pt x="3879266" y="780258"/>
                </a:lnTo>
                <a:lnTo>
                  <a:pt x="3876304" y="779856"/>
                </a:lnTo>
                <a:lnTo>
                  <a:pt x="3873431" y="779305"/>
                </a:lnTo>
                <a:lnTo>
                  <a:pt x="3870657" y="778610"/>
                </a:lnTo>
                <a:lnTo>
                  <a:pt x="3867990" y="777779"/>
                </a:lnTo>
                <a:lnTo>
                  <a:pt x="3865442" y="776817"/>
                </a:lnTo>
                <a:lnTo>
                  <a:pt x="3863022" y="775732"/>
                </a:lnTo>
                <a:lnTo>
                  <a:pt x="3860739" y="774529"/>
                </a:lnTo>
                <a:lnTo>
                  <a:pt x="3858604" y="773216"/>
                </a:lnTo>
                <a:lnTo>
                  <a:pt x="3856626" y="771797"/>
                </a:lnTo>
                <a:lnTo>
                  <a:pt x="3854814" y="770281"/>
                </a:lnTo>
                <a:lnTo>
                  <a:pt x="3853179" y="768673"/>
                </a:lnTo>
                <a:lnTo>
                  <a:pt x="3851731" y="766980"/>
                </a:lnTo>
                <a:lnTo>
                  <a:pt x="3850478" y="765208"/>
                </a:lnTo>
                <a:lnTo>
                  <a:pt x="3849432" y="763364"/>
                </a:lnTo>
                <a:lnTo>
                  <a:pt x="3848601" y="761454"/>
                </a:lnTo>
                <a:lnTo>
                  <a:pt x="3847995" y="759485"/>
                </a:lnTo>
                <a:lnTo>
                  <a:pt x="3847625" y="757463"/>
                </a:lnTo>
                <a:lnTo>
                  <a:pt x="3847499" y="755394"/>
                </a:lnTo>
                <a:lnTo>
                  <a:pt x="3847625" y="753327"/>
                </a:lnTo>
                <a:lnTo>
                  <a:pt x="3847995" y="751307"/>
                </a:lnTo>
                <a:lnTo>
                  <a:pt x="3848601" y="749339"/>
                </a:lnTo>
                <a:lnTo>
                  <a:pt x="3849432" y="747431"/>
                </a:lnTo>
                <a:lnTo>
                  <a:pt x="3850478" y="745589"/>
                </a:lnTo>
                <a:lnTo>
                  <a:pt x="3851731" y="743818"/>
                </a:lnTo>
                <a:lnTo>
                  <a:pt x="3853179" y="742126"/>
                </a:lnTo>
                <a:lnTo>
                  <a:pt x="3854814" y="740519"/>
                </a:lnTo>
                <a:lnTo>
                  <a:pt x="3856626" y="739004"/>
                </a:lnTo>
                <a:lnTo>
                  <a:pt x="3858604" y="737586"/>
                </a:lnTo>
                <a:lnTo>
                  <a:pt x="3860739" y="736273"/>
                </a:lnTo>
                <a:lnTo>
                  <a:pt x="3863022" y="735071"/>
                </a:lnTo>
                <a:lnTo>
                  <a:pt x="3865442" y="733986"/>
                </a:lnTo>
                <a:lnTo>
                  <a:pt x="3867990" y="733025"/>
                </a:lnTo>
                <a:lnTo>
                  <a:pt x="3870657" y="732194"/>
                </a:lnTo>
                <a:lnTo>
                  <a:pt x="3873431" y="731499"/>
                </a:lnTo>
                <a:lnTo>
                  <a:pt x="3876304" y="730948"/>
                </a:lnTo>
                <a:lnTo>
                  <a:pt x="3879266" y="730546"/>
                </a:lnTo>
                <a:lnTo>
                  <a:pt x="3882308" y="730300"/>
                </a:lnTo>
                <a:lnTo>
                  <a:pt x="3885418" y="730217"/>
                </a:lnTo>
                <a:lnTo>
                  <a:pt x="3888529" y="730300"/>
                </a:lnTo>
                <a:lnTo>
                  <a:pt x="3891570" y="730546"/>
                </a:lnTo>
                <a:lnTo>
                  <a:pt x="3894532" y="730948"/>
                </a:lnTo>
                <a:lnTo>
                  <a:pt x="3897405" y="731499"/>
                </a:lnTo>
                <a:lnTo>
                  <a:pt x="3900180" y="732194"/>
                </a:lnTo>
                <a:lnTo>
                  <a:pt x="3902846" y="733025"/>
                </a:lnTo>
                <a:lnTo>
                  <a:pt x="3905394" y="733986"/>
                </a:lnTo>
                <a:lnTo>
                  <a:pt x="3907814" y="735071"/>
                </a:lnTo>
                <a:lnTo>
                  <a:pt x="3910097" y="736273"/>
                </a:lnTo>
                <a:lnTo>
                  <a:pt x="3912232" y="737586"/>
                </a:lnTo>
                <a:lnTo>
                  <a:pt x="3914211" y="739004"/>
                </a:lnTo>
                <a:lnTo>
                  <a:pt x="3916022" y="740519"/>
                </a:lnTo>
                <a:lnTo>
                  <a:pt x="3917657" y="742126"/>
                </a:lnTo>
                <a:lnTo>
                  <a:pt x="3919105" y="743818"/>
                </a:lnTo>
                <a:lnTo>
                  <a:pt x="3920358" y="745589"/>
                </a:lnTo>
                <a:lnTo>
                  <a:pt x="3921404" y="747431"/>
                </a:lnTo>
                <a:lnTo>
                  <a:pt x="3922235" y="749339"/>
                </a:lnTo>
                <a:lnTo>
                  <a:pt x="3922841" y="751307"/>
                </a:lnTo>
                <a:lnTo>
                  <a:pt x="3923211" y="753327"/>
                </a:lnTo>
                <a:lnTo>
                  <a:pt x="3923337" y="755394"/>
                </a:lnTo>
                <a:lnTo>
                  <a:pt x="3923211" y="757463"/>
                </a:lnTo>
                <a:lnTo>
                  <a:pt x="3922841" y="759485"/>
                </a:lnTo>
                <a:lnTo>
                  <a:pt x="3922235" y="761454"/>
                </a:lnTo>
                <a:lnTo>
                  <a:pt x="3921404" y="763364"/>
                </a:lnTo>
                <a:lnTo>
                  <a:pt x="3920358" y="765208"/>
                </a:lnTo>
                <a:lnTo>
                  <a:pt x="3919105" y="766980"/>
                </a:lnTo>
                <a:lnTo>
                  <a:pt x="3917657" y="768673"/>
                </a:lnTo>
                <a:lnTo>
                  <a:pt x="3916022" y="770281"/>
                </a:lnTo>
                <a:lnTo>
                  <a:pt x="3914211" y="771797"/>
                </a:lnTo>
                <a:lnTo>
                  <a:pt x="3912232" y="773216"/>
                </a:lnTo>
                <a:lnTo>
                  <a:pt x="3910097" y="774529"/>
                </a:lnTo>
                <a:lnTo>
                  <a:pt x="3907814" y="775732"/>
                </a:lnTo>
                <a:lnTo>
                  <a:pt x="3905394" y="776817"/>
                </a:lnTo>
                <a:lnTo>
                  <a:pt x="3902846" y="777779"/>
                </a:lnTo>
                <a:lnTo>
                  <a:pt x="3900180" y="778610"/>
                </a:lnTo>
                <a:lnTo>
                  <a:pt x="3897405" y="779305"/>
                </a:lnTo>
                <a:lnTo>
                  <a:pt x="3894532" y="779856"/>
                </a:lnTo>
                <a:lnTo>
                  <a:pt x="3891570" y="780258"/>
                </a:lnTo>
                <a:lnTo>
                  <a:pt x="3888529" y="780504"/>
                </a:lnTo>
                <a:lnTo>
                  <a:pt x="3885418" y="780587"/>
                </a:lnTo>
              </a:path>
            </a:pathLst>
          </a:custGeom>
          <a:solidFill>
            <a:srgbClr val="4EA72E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7" name="B_heading">
            <a:extLst>
              <a:ext uri="{FF2B5EF4-FFF2-40B4-BE49-F238E27FC236}">
                <a16:creationId xmlns:a16="http://schemas.microsoft.com/office/drawing/2014/main" id="{5EB8956D-8E5B-4F0E-A5CD-F5A51AC6C1ED}"/>
              </a:ext>
            </a:extLst>
          </p:cNvPr>
          <p:cNvSpPr>
            <a:spLocks noGrp="1"/>
          </p:cNvSpPr>
          <p:nvPr/>
        </p:nvSpPr>
        <p:spPr>
          <a:xfrm>
            <a:off x="6267450" y="1714500"/>
            <a:ext cx="54673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Изменение калия сыворотки</a:t>
            </a:r>
          </a:p>
        </p:txBody>
      </p:sp>
      <p:sp>
        <p:nvSpPr>
          <p:cNvPr id="128" name="B_y_title">
            <a:extLst>
              <a:ext uri="{FF2B5EF4-FFF2-40B4-BE49-F238E27FC236}">
                <a16:creationId xmlns:a16="http://schemas.microsoft.com/office/drawing/2014/main" id="{442F5F13-60B3-4411-8838-EDB9E0B6AE2D}"/>
              </a:ext>
            </a:extLst>
          </p:cNvPr>
          <p:cNvSpPr>
            <a:spLocks noGrp="1"/>
          </p:cNvSpPr>
          <p:nvPr/>
        </p:nvSpPr>
        <p:spPr>
          <a:xfrm>
            <a:off x="6267450" y="2005967"/>
            <a:ext cx="54673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Среднее изменение калия сыворотки от исходного уровня, ммоль/л</a:t>
            </a:r>
          </a:p>
        </p:txBody>
      </p:sp>
      <p:sp>
        <p:nvSpPr>
          <p:cNvPr id="129" name="B_y_axis">
            <a:extLst>
              <a:ext uri="{FF2B5EF4-FFF2-40B4-BE49-F238E27FC236}">
                <a16:creationId xmlns:a16="http://schemas.microsoft.com/office/drawing/2014/main" id="{B8B9A6C4-0CFB-42D1-8949-04DB10B32255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95" cy="2439434"/>
          </a:xfrm>
          <a:custGeom>
            <a:avLst/>
            <a:gdLst/>
            <a:ahLst/>
            <a:cxnLst/>
            <a:rect l="0" t="0" r="0" b="0"/>
            <a:pathLst>
              <a:path w="95" h="1905000">
                <a:moveTo>
                  <a:pt x="0" y="0"/>
                </a:moveTo>
                <a:lnTo>
                  <a:pt x="0" y="190500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0" name="B_zero_0">
            <a:extLst>
              <a:ext uri="{FF2B5EF4-FFF2-40B4-BE49-F238E27FC236}">
                <a16:creationId xmlns:a16="http://schemas.microsoft.com/office/drawing/2014/main" id="{07E95C39-C2CB-476F-AA56-CE75838AB229}"/>
              </a:ext>
            </a:extLst>
          </p:cNvPr>
          <p:cNvSpPr>
            <a:spLocks noGrp="1"/>
          </p:cNvSpPr>
          <p:nvPr/>
        </p:nvSpPr>
        <p:spPr>
          <a:xfrm>
            <a:off x="76962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1" name="B_zero_12">
            <a:extLst>
              <a:ext uri="{FF2B5EF4-FFF2-40B4-BE49-F238E27FC236}">
                <a16:creationId xmlns:a16="http://schemas.microsoft.com/office/drawing/2014/main" id="{AD63227C-70A5-4C57-8256-D1AE83DEC880}"/>
              </a:ext>
            </a:extLst>
          </p:cNvPr>
          <p:cNvSpPr>
            <a:spLocks noGrp="1"/>
          </p:cNvSpPr>
          <p:nvPr/>
        </p:nvSpPr>
        <p:spPr>
          <a:xfrm>
            <a:off x="78105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2" name="B_zero_24">
            <a:extLst>
              <a:ext uri="{FF2B5EF4-FFF2-40B4-BE49-F238E27FC236}">
                <a16:creationId xmlns:a16="http://schemas.microsoft.com/office/drawing/2014/main" id="{FBEB2437-9FD7-434B-9967-B97A71BF1D9D}"/>
              </a:ext>
            </a:extLst>
          </p:cNvPr>
          <p:cNvSpPr>
            <a:spLocks noGrp="1"/>
          </p:cNvSpPr>
          <p:nvPr/>
        </p:nvSpPr>
        <p:spPr>
          <a:xfrm>
            <a:off x="79248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3" name="B_zero_36">
            <a:extLst>
              <a:ext uri="{FF2B5EF4-FFF2-40B4-BE49-F238E27FC236}">
                <a16:creationId xmlns:a16="http://schemas.microsoft.com/office/drawing/2014/main" id="{60D0A417-9208-464A-AD1E-8F52047B4357}"/>
              </a:ext>
            </a:extLst>
          </p:cNvPr>
          <p:cNvSpPr>
            <a:spLocks noGrp="1"/>
          </p:cNvSpPr>
          <p:nvPr/>
        </p:nvSpPr>
        <p:spPr>
          <a:xfrm>
            <a:off x="80391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4" name="B_zero_48">
            <a:extLst>
              <a:ext uri="{FF2B5EF4-FFF2-40B4-BE49-F238E27FC236}">
                <a16:creationId xmlns:a16="http://schemas.microsoft.com/office/drawing/2014/main" id="{560F583D-ED87-49DE-8B31-3BC2C2C6DD2A}"/>
              </a:ext>
            </a:extLst>
          </p:cNvPr>
          <p:cNvSpPr>
            <a:spLocks noGrp="1"/>
          </p:cNvSpPr>
          <p:nvPr/>
        </p:nvSpPr>
        <p:spPr>
          <a:xfrm>
            <a:off x="81534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5" name="B_zero_60">
            <a:extLst>
              <a:ext uri="{FF2B5EF4-FFF2-40B4-BE49-F238E27FC236}">
                <a16:creationId xmlns:a16="http://schemas.microsoft.com/office/drawing/2014/main" id="{6AD92085-92DD-427F-9910-FC103CB29EDC}"/>
              </a:ext>
            </a:extLst>
          </p:cNvPr>
          <p:cNvSpPr>
            <a:spLocks noGrp="1"/>
          </p:cNvSpPr>
          <p:nvPr/>
        </p:nvSpPr>
        <p:spPr>
          <a:xfrm>
            <a:off x="82677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6" name="B_zero_72">
            <a:extLst>
              <a:ext uri="{FF2B5EF4-FFF2-40B4-BE49-F238E27FC236}">
                <a16:creationId xmlns:a16="http://schemas.microsoft.com/office/drawing/2014/main" id="{5BD374C7-4F8F-4D4F-AA86-0E00BCC7E9EE}"/>
              </a:ext>
            </a:extLst>
          </p:cNvPr>
          <p:cNvSpPr>
            <a:spLocks noGrp="1"/>
          </p:cNvSpPr>
          <p:nvPr/>
        </p:nvSpPr>
        <p:spPr>
          <a:xfrm>
            <a:off x="83820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7" name="B_zero_84">
            <a:extLst>
              <a:ext uri="{FF2B5EF4-FFF2-40B4-BE49-F238E27FC236}">
                <a16:creationId xmlns:a16="http://schemas.microsoft.com/office/drawing/2014/main" id="{577DEB49-1222-4E64-8509-855220F4BFB9}"/>
              </a:ext>
            </a:extLst>
          </p:cNvPr>
          <p:cNvSpPr>
            <a:spLocks noGrp="1"/>
          </p:cNvSpPr>
          <p:nvPr/>
        </p:nvSpPr>
        <p:spPr>
          <a:xfrm>
            <a:off x="84963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8" name="B_zero_96">
            <a:extLst>
              <a:ext uri="{FF2B5EF4-FFF2-40B4-BE49-F238E27FC236}">
                <a16:creationId xmlns:a16="http://schemas.microsoft.com/office/drawing/2014/main" id="{7B83B19D-65A0-425C-83D4-3DF30E455164}"/>
              </a:ext>
            </a:extLst>
          </p:cNvPr>
          <p:cNvSpPr>
            <a:spLocks noGrp="1"/>
          </p:cNvSpPr>
          <p:nvPr/>
        </p:nvSpPr>
        <p:spPr>
          <a:xfrm>
            <a:off x="86106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9" name="B_zero_108">
            <a:extLst>
              <a:ext uri="{FF2B5EF4-FFF2-40B4-BE49-F238E27FC236}">
                <a16:creationId xmlns:a16="http://schemas.microsoft.com/office/drawing/2014/main" id="{D8EE3870-6829-4A7D-8557-771742F07A93}"/>
              </a:ext>
            </a:extLst>
          </p:cNvPr>
          <p:cNvSpPr>
            <a:spLocks noGrp="1"/>
          </p:cNvSpPr>
          <p:nvPr/>
        </p:nvSpPr>
        <p:spPr>
          <a:xfrm>
            <a:off x="87249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40" name="B_zero_120">
            <a:extLst>
              <a:ext uri="{FF2B5EF4-FFF2-40B4-BE49-F238E27FC236}">
                <a16:creationId xmlns:a16="http://schemas.microsoft.com/office/drawing/2014/main" id="{7B1832DB-8A5B-4114-9448-33827445D61C}"/>
              </a:ext>
            </a:extLst>
          </p:cNvPr>
          <p:cNvSpPr>
            <a:spLocks noGrp="1"/>
          </p:cNvSpPr>
          <p:nvPr/>
        </p:nvSpPr>
        <p:spPr>
          <a:xfrm>
            <a:off x="88392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41" name="B_zero_132">
            <a:extLst>
              <a:ext uri="{FF2B5EF4-FFF2-40B4-BE49-F238E27FC236}">
                <a16:creationId xmlns:a16="http://schemas.microsoft.com/office/drawing/2014/main" id="{CD493F79-9F7B-492C-837E-C83F752EED71}"/>
              </a:ext>
            </a:extLst>
          </p:cNvPr>
          <p:cNvSpPr>
            <a:spLocks noGrp="1"/>
          </p:cNvSpPr>
          <p:nvPr/>
        </p:nvSpPr>
        <p:spPr>
          <a:xfrm>
            <a:off x="89535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42" name="B_zero_144">
            <a:extLst>
              <a:ext uri="{FF2B5EF4-FFF2-40B4-BE49-F238E27FC236}">
                <a16:creationId xmlns:a16="http://schemas.microsoft.com/office/drawing/2014/main" id="{01F282AA-B7E1-4501-935E-BB9F968ECB23}"/>
              </a:ext>
            </a:extLst>
          </p:cNvPr>
          <p:cNvSpPr>
            <a:spLocks noGrp="1"/>
          </p:cNvSpPr>
          <p:nvPr/>
        </p:nvSpPr>
        <p:spPr>
          <a:xfrm>
            <a:off x="90678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43" name="B_zero_156">
            <a:extLst>
              <a:ext uri="{FF2B5EF4-FFF2-40B4-BE49-F238E27FC236}">
                <a16:creationId xmlns:a16="http://schemas.microsoft.com/office/drawing/2014/main" id="{20DDDD5E-9726-43EF-9DB0-008ED9DD9981}"/>
              </a:ext>
            </a:extLst>
          </p:cNvPr>
          <p:cNvSpPr>
            <a:spLocks noGrp="1"/>
          </p:cNvSpPr>
          <p:nvPr/>
        </p:nvSpPr>
        <p:spPr>
          <a:xfrm>
            <a:off x="91821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44" name="B_zero_168">
            <a:extLst>
              <a:ext uri="{FF2B5EF4-FFF2-40B4-BE49-F238E27FC236}">
                <a16:creationId xmlns:a16="http://schemas.microsoft.com/office/drawing/2014/main" id="{0647DC05-C3DA-44C9-A4B7-6540018884F8}"/>
              </a:ext>
            </a:extLst>
          </p:cNvPr>
          <p:cNvSpPr>
            <a:spLocks noGrp="1"/>
          </p:cNvSpPr>
          <p:nvPr/>
        </p:nvSpPr>
        <p:spPr>
          <a:xfrm>
            <a:off x="92964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45" name="B_zero_180">
            <a:extLst>
              <a:ext uri="{FF2B5EF4-FFF2-40B4-BE49-F238E27FC236}">
                <a16:creationId xmlns:a16="http://schemas.microsoft.com/office/drawing/2014/main" id="{3EA2DFED-CCAC-43E9-AEDB-849229AFCCE4}"/>
              </a:ext>
            </a:extLst>
          </p:cNvPr>
          <p:cNvSpPr>
            <a:spLocks noGrp="1"/>
          </p:cNvSpPr>
          <p:nvPr/>
        </p:nvSpPr>
        <p:spPr>
          <a:xfrm>
            <a:off x="94107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46" name="B_zero_192">
            <a:extLst>
              <a:ext uri="{FF2B5EF4-FFF2-40B4-BE49-F238E27FC236}">
                <a16:creationId xmlns:a16="http://schemas.microsoft.com/office/drawing/2014/main" id="{A5EDFD34-D014-41DF-9F2A-480923DD3C0B}"/>
              </a:ext>
            </a:extLst>
          </p:cNvPr>
          <p:cNvSpPr>
            <a:spLocks noGrp="1"/>
          </p:cNvSpPr>
          <p:nvPr/>
        </p:nvSpPr>
        <p:spPr>
          <a:xfrm>
            <a:off x="95250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47" name="B_zero_204">
            <a:extLst>
              <a:ext uri="{FF2B5EF4-FFF2-40B4-BE49-F238E27FC236}">
                <a16:creationId xmlns:a16="http://schemas.microsoft.com/office/drawing/2014/main" id="{DB2FB82D-1D35-4EF7-9438-7E6542AA0FA5}"/>
              </a:ext>
            </a:extLst>
          </p:cNvPr>
          <p:cNvSpPr>
            <a:spLocks noGrp="1"/>
          </p:cNvSpPr>
          <p:nvPr/>
        </p:nvSpPr>
        <p:spPr>
          <a:xfrm>
            <a:off x="96393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48" name="B_zero_216">
            <a:extLst>
              <a:ext uri="{FF2B5EF4-FFF2-40B4-BE49-F238E27FC236}">
                <a16:creationId xmlns:a16="http://schemas.microsoft.com/office/drawing/2014/main" id="{C0B8DD0B-D994-4261-AAB6-8F7129A7218B}"/>
              </a:ext>
            </a:extLst>
          </p:cNvPr>
          <p:cNvSpPr>
            <a:spLocks noGrp="1"/>
          </p:cNvSpPr>
          <p:nvPr/>
        </p:nvSpPr>
        <p:spPr>
          <a:xfrm>
            <a:off x="97536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49" name="B_zero_228">
            <a:extLst>
              <a:ext uri="{FF2B5EF4-FFF2-40B4-BE49-F238E27FC236}">
                <a16:creationId xmlns:a16="http://schemas.microsoft.com/office/drawing/2014/main" id="{30A8A489-DC70-49B9-9BB2-B4735CA161D1}"/>
              </a:ext>
            </a:extLst>
          </p:cNvPr>
          <p:cNvSpPr>
            <a:spLocks noGrp="1"/>
          </p:cNvSpPr>
          <p:nvPr/>
        </p:nvSpPr>
        <p:spPr>
          <a:xfrm>
            <a:off x="98679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50" name="B_zero_240">
            <a:extLst>
              <a:ext uri="{FF2B5EF4-FFF2-40B4-BE49-F238E27FC236}">
                <a16:creationId xmlns:a16="http://schemas.microsoft.com/office/drawing/2014/main" id="{11687C7B-1A69-4367-B488-DE28EED81647}"/>
              </a:ext>
            </a:extLst>
          </p:cNvPr>
          <p:cNvSpPr>
            <a:spLocks noGrp="1"/>
          </p:cNvSpPr>
          <p:nvPr/>
        </p:nvSpPr>
        <p:spPr>
          <a:xfrm>
            <a:off x="99822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51" name="B_zero_252">
            <a:extLst>
              <a:ext uri="{FF2B5EF4-FFF2-40B4-BE49-F238E27FC236}">
                <a16:creationId xmlns:a16="http://schemas.microsoft.com/office/drawing/2014/main" id="{5EC07625-04D6-42F9-9C0A-4909CD7DBAC2}"/>
              </a:ext>
            </a:extLst>
          </p:cNvPr>
          <p:cNvSpPr>
            <a:spLocks noGrp="1"/>
          </p:cNvSpPr>
          <p:nvPr/>
        </p:nvSpPr>
        <p:spPr>
          <a:xfrm>
            <a:off x="100965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52" name="B_zero_264">
            <a:extLst>
              <a:ext uri="{FF2B5EF4-FFF2-40B4-BE49-F238E27FC236}">
                <a16:creationId xmlns:a16="http://schemas.microsoft.com/office/drawing/2014/main" id="{5076AEF3-555E-4266-9CA6-06135A4B82E1}"/>
              </a:ext>
            </a:extLst>
          </p:cNvPr>
          <p:cNvSpPr>
            <a:spLocks noGrp="1"/>
          </p:cNvSpPr>
          <p:nvPr/>
        </p:nvSpPr>
        <p:spPr>
          <a:xfrm>
            <a:off x="102108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53" name="B_zero_276">
            <a:extLst>
              <a:ext uri="{FF2B5EF4-FFF2-40B4-BE49-F238E27FC236}">
                <a16:creationId xmlns:a16="http://schemas.microsoft.com/office/drawing/2014/main" id="{2EE1FD5C-09BA-4EBC-84DD-FCF1F317D130}"/>
              </a:ext>
            </a:extLst>
          </p:cNvPr>
          <p:cNvSpPr>
            <a:spLocks noGrp="1"/>
          </p:cNvSpPr>
          <p:nvPr/>
        </p:nvSpPr>
        <p:spPr>
          <a:xfrm>
            <a:off x="103251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54" name="B_zero_288">
            <a:extLst>
              <a:ext uri="{FF2B5EF4-FFF2-40B4-BE49-F238E27FC236}">
                <a16:creationId xmlns:a16="http://schemas.microsoft.com/office/drawing/2014/main" id="{3B109997-A8DE-45B0-8C19-1ACE7233F241}"/>
              </a:ext>
            </a:extLst>
          </p:cNvPr>
          <p:cNvSpPr>
            <a:spLocks noGrp="1"/>
          </p:cNvSpPr>
          <p:nvPr/>
        </p:nvSpPr>
        <p:spPr>
          <a:xfrm>
            <a:off x="104394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55" name="B_zero_300">
            <a:extLst>
              <a:ext uri="{FF2B5EF4-FFF2-40B4-BE49-F238E27FC236}">
                <a16:creationId xmlns:a16="http://schemas.microsoft.com/office/drawing/2014/main" id="{D2C2F21E-0721-495C-94C3-A3F35ADDCBD7}"/>
              </a:ext>
            </a:extLst>
          </p:cNvPr>
          <p:cNvSpPr>
            <a:spLocks noGrp="1"/>
          </p:cNvSpPr>
          <p:nvPr/>
        </p:nvSpPr>
        <p:spPr>
          <a:xfrm>
            <a:off x="105537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56" name="B_zero_312">
            <a:extLst>
              <a:ext uri="{FF2B5EF4-FFF2-40B4-BE49-F238E27FC236}">
                <a16:creationId xmlns:a16="http://schemas.microsoft.com/office/drawing/2014/main" id="{98C87979-DBFD-4147-B242-C2BFC1D47AEB}"/>
              </a:ext>
            </a:extLst>
          </p:cNvPr>
          <p:cNvSpPr>
            <a:spLocks noGrp="1"/>
          </p:cNvSpPr>
          <p:nvPr/>
        </p:nvSpPr>
        <p:spPr>
          <a:xfrm>
            <a:off x="106680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57" name="B_zero_324">
            <a:extLst>
              <a:ext uri="{FF2B5EF4-FFF2-40B4-BE49-F238E27FC236}">
                <a16:creationId xmlns:a16="http://schemas.microsoft.com/office/drawing/2014/main" id="{F4B41532-0EA4-4834-96CE-DB55A2A225F0}"/>
              </a:ext>
            </a:extLst>
          </p:cNvPr>
          <p:cNvSpPr>
            <a:spLocks noGrp="1"/>
          </p:cNvSpPr>
          <p:nvPr/>
        </p:nvSpPr>
        <p:spPr>
          <a:xfrm>
            <a:off x="107823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58" name="B_zero_336">
            <a:extLst>
              <a:ext uri="{FF2B5EF4-FFF2-40B4-BE49-F238E27FC236}">
                <a16:creationId xmlns:a16="http://schemas.microsoft.com/office/drawing/2014/main" id="{774B147C-D464-471E-9374-08E6A078BFEC}"/>
              </a:ext>
            </a:extLst>
          </p:cNvPr>
          <p:cNvSpPr>
            <a:spLocks noGrp="1"/>
          </p:cNvSpPr>
          <p:nvPr/>
        </p:nvSpPr>
        <p:spPr>
          <a:xfrm>
            <a:off x="108966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59" name="B_zero_348">
            <a:extLst>
              <a:ext uri="{FF2B5EF4-FFF2-40B4-BE49-F238E27FC236}">
                <a16:creationId xmlns:a16="http://schemas.microsoft.com/office/drawing/2014/main" id="{9A97A7A0-3528-41F6-AE5B-A7405483FC78}"/>
              </a:ext>
            </a:extLst>
          </p:cNvPr>
          <p:cNvSpPr>
            <a:spLocks noGrp="1"/>
          </p:cNvSpPr>
          <p:nvPr/>
        </p:nvSpPr>
        <p:spPr>
          <a:xfrm>
            <a:off x="110109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60" name="B_zero_360">
            <a:extLst>
              <a:ext uri="{FF2B5EF4-FFF2-40B4-BE49-F238E27FC236}">
                <a16:creationId xmlns:a16="http://schemas.microsoft.com/office/drawing/2014/main" id="{121B6D16-4505-48CF-8145-3543DF1F839E}"/>
              </a:ext>
            </a:extLst>
          </p:cNvPr>
          <p:cNvSpPr>
            <a:spLocks noGrp="1"/>
          </p:cNvSpPr>
          <p:nvPr/>
        </p:nvSpPr>
        <p:spPr>
          <a:xfrm>
            <a:off x="111252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61" name="B_zero_372">
            <a:extLst>
              <a:ext uri="{FF2B5EF4-FFF2-40B4-BE49-F238E27FC236}">
                <a16:creationId xmlns:a16="http://schemas.microsoft.com/office/drawing/2014/main" id="{32917A53-5383-4CEF-B076-F8794702E63F}"/>
              </a:ext>
            </a:extLst>
          </p:cNvPr>
          <p:cNvSpPr>
            <a:spLocks noGrp="1"/>
          </p:cNvSpPr>
          <p:nvPr/>
        </p:nvSpPr>
        <p:spPr>
          <a:xfrm>
            <a:off x="112395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62" name="B_zero_384">
            <a:extLst>
              <a:ext uri="{FF2B5EF4-FFF2-40B4-BE49-F238E27FC236}">
                <a16:creationId xmlns:a16="http://schemas.microsoft.com/office/drawing/2014/main" id="{75E120FF-0BD2-4D0D-8DAF-D6F4303CEE3C}"/>
              </a:ext>
            </a:extLst>
          </p:cNvPr>
          <p:cNvSpPr>
            <a:spLocks noGrp="1"/>
          </p:cNvSpPr>
          <p:nvPr/>
        </p:nvSpPr>
        <p:spPr>
          <a:xfrm>
            <a:off x="113538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63" name="B_zero_396">
            <a:extLst>
              <a:ext uri="{FF2B5EF4-FFF2-40B4-BE49-F238E27FC236}">
                <a16:creationId xmlns:a16="http://schemas.microsoft.com/office/drawing/2014/main" id="{A9CED29E-45BA-42E2-A900-A1AE0C656B4B}"/>
              </a:ext>
            </a:extLst>
          </p:cNvPr>
          <p:cNvSpPr>
            <a:spLocks noGrp="1"/>
          </p:cNvSpPr>
          <p:nvPr/>
        </p:nvSpPr>
        <p:spPr>
          <a:xfrm>
            <a:off x="11468100" y="4604468"/>
            <a:ext cx="66675" cy="95"/>
          </a:xfrm>
          <a:custGeom>
            <a:avLst/>
            <a:gdLst/>
            <a:ahLst/>
            <a:cxnLst/>
            <a:rect l="0" t="0" r="0" b="0"/>
            <a:pathLst>
              <a:path w="66675" h="95">
                <a:moveTo>
                  <a:pt x="0" y="0"/>
                </a:moveTo>
                <a:lnTo>
                  <a:pt x="66675" y="0"/>
                </a:lnTo>
              </a:path>
            </a:pathLst>
          </a:custGeom>
          <a:noFill/>
          <a:ln w="8096">
            <a:solidFill>
              <a:srgbClr val="55555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64" name="B_x_axis">
            <a:extLst>
              <a:ext uri="{FF2B5EF4-FFF2-40B4-BE49-F238E27FC236}">
                <a16:creationId xmlns:a16="http://schemas.microsoft.com/office/drawing/2014/main" id="{729735B8-57BF-4C5B-950C-F912E8AA1838}"/>
              </a:ext>
            </a:extLst>
          </p:cNvPr>
          <p:cNvSpPr>
            <a:spLocks noGrp="1"/>
          </p:cNvSpPr>
          <p:nvPr/>
        </p:nvSpPr>
        <p:spPr>
          <a:xfrm>
            <a:off x="7696200" y="4875505"/>
            <a:ext cx="3886200" cy="95"/>
          </a:xfrm>
          <a:custGeom>
            <a:avLst/>
            <a:gdLst/>
            <a:ahLst/>
            <a:cxnLst/>
            <a:rect l="0" t="0" r="0" b="0"/>
            <a:pathLst>
              <a:path w="3886200" h="95">
                <a:moveTo>
                  <a:pt x="0" y="0"/>
                </a:moveTo>
                <a:lnTo>
                  <a:pt x="3886200" y="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65" name="B_ytick_0.4">
            <a:extLst>
              <a:ext uri="{FF2B5EF4-FFF2-40B4-BE49-F238E27FC236}">
                <a16:creationId xmlns:a16="http://schemas.microsoft.com/office/drawing/2014/main" id="{6BE594D7-B305-4C1B-9376-31809DE34250}"/>
              </a:ext>
            </a:extLst>
          </p:cNvPr>
          <p:cNvSpPr>
            <a:spLocks noGrp="1"/>
          </p:cNvSpPr>
          <p:nvPr/>
        </p:nvSpPr>
        <p:spPr>
          <a:xfrm>
            <a:off x="7648575" y="2436071"/>
            <a:ext cx="47625" cy="95"/>
          </a:xfrm>
          <a:custGeom>
            <a:avLst/>
            <a:gdLst/>
            <a:ahLst/>
            <a:cxnLst/>
            <a:rect l="0" t="0" r="0" b="0"/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66" name="B_ylabel_0.4">
            <a:extLst>
              <a:ext uri="{FF2B5EF4-FFF2-40B4-BE49-F238E27FC236}">
                <a16:creationId xmlns:a16="http://schemas.microsoft.com/office/drawing/2014/main" id="{1FC54EA5-099C-41BC-BF90-04B4473DB221}"/>
              </a:ext>
            </a:extLst>
          </p:cNvPr>
          <p:cNvSpPr>
            <a:spLocks noGrp="1"/>
          </p:cNvSpPr>
          <p:nvPr/>
        </p:nvSpPr>
        <p:spPr>
          <a:xfrm>
            <a:off x="7172325" y="2332619"/>
            <a:ext cx="4381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0,40</a:t>
            </a:r>
          </a:p>
        </p:txBody>
      </p:sp>
      <p:sp>
        <p:nvSpPr>
          <p:cNvPr id="167" name="B_ytick_0.35">
            <a:extLst>
              <a:ext uri="{FF2B5EF4-FFF2-40B4-BE49-F238E27FC236}">
                <a16:creationId xmlns:a16="http://schemas.microsoft.com/office/drawing/2014/main" id="{7D1AC402-3E39-4314-A0E5-511FEB73999E}"/>
              </a:ext>
            </a:extLst>
          </p:cNvPr>
          <p:cNvSpPr>
            <a:spLocks noGrp="1"/>
          </p:cNvSpPr>
          <p:nvPr/>
        </p:nvSpPr>
        <p:spPr>
          <a:xfrm>
            <a:off x="7648575" y="2707130"/>
            <a:ext cx="47625" cy="95"/>
          </a:xfrm>
          <a:custGeom>
            <a:avLst/>
            <a:gdLst/>
            <a:ahLst/>
            <a:cxnLst/>
            <a:rect l="0" t="0" r="0" b="0"/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68" name="B_ylabel_0.35">
            <a:extLst>
              <a:ext uri="{FF2B5EF4-FFF2-40B4-BE49-F238E27FC236}">
                <a16:creationId xmlns:a16="http://schemas.microsoft.com/office/drawing/2014/main" id="{39221637-946C-49AE-90A1-70EFCE57363E}"/>
              </a:ext>
            </a:extLst>
          </p:cNvPr>
          <p:cNvSpPr>
            <a:spLocks noGrp="1"/>
          </p:cNvSpPr>
          <p:nvPr/>
        </p:nvSpPr>
        <p:spPr>
          <a:xfrm>
            <a:off x="7172325" y="2603678"/>
            <a:ext cx="4381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0,35</a:t>
            </a:r>
          </a:p>
        </p:txBody>
      </p:sp>
      <p:sp>
        <p:nvSpPr>
          <p:cNvPr id="169" name="B_ytick_0.3">
            <a:extLst>
              <a:ext uri="{FF2B5EF4-FFF2-40B4-BE49-F238E27FC236}">
                <a16:creationId xmlns:a16="http://schemas.microsoft.com/office/drawing/2014/main" id="{57018649-F6A3-452D-A5B7-DED589F6CCBB}"/>
              </a:ext>
            </a:extLst>
          </p:cNvPr>
          <p:cNvSpPr>
            <a:spLocks noGrp="1"/>
          </p:cNvSpPr>
          <p:nvPr/>
        </p:nvSpPr>
        <p:spPr>
          <a:xfrm>
            <a:off x="7648575" y="2978177"/>
            <a:ext cx="47625" cy="95"/>
          </a:xfrm>
          <a:custGeom>
            <a:avLst/>
            <a:gdLst/>
            <a:ahLst/>
            <a:cxnLst/>
            <a:rect l="0" t="0" r="0" b="0"/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70" name="B_ylabel_0.3">
            <a:extLst>
              <a:ext uri="{FF2B5EF4-FFF2-40B4-BE49-F238E27FC236}">
                <a16:creationId xmlns:a16="http://schemas.microsoft.com/office/drawing/2014/main" id="{A3CD25D5-8D85-4389-BB97-B1B37EA9FC77}"/>
              </a:ext>
            </a:extLst>
          </p:cNvPr>
          <p:cNvSpPr>
            <a:spLocks noGrp="1"/>
          </p:cNvSpPr>
          <p:nvPr/>
        </p:nvSpPr>
        <p:spPr>
          <a:xfrm>
            <a:off x="7172325" y="2874725"/>
            <a:ext cx="4381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0,30</a:t>
            </a:r>
          </a:p>
        </p:txBody>
      </p:sp>
      <p:sp>
        <p:nvSpPr>
          <p:cNvPr id="171" name="B_ytick_0.25">
            <a:extLst>
              <a:ext uri="{FF2B5EF4-FFF2-40B4-BE49-F238E27FC236}">
                <a16:creationId xmlns:a16="http://schemas.microsoft.com/office/drawing/2014/main" id="{D504972A-914D-4511-B40E-88C594B7A399}"/>
              </a:ext>
            </a:extLst>
          </p:cNvPr>
          <p:cNvSpPr>
            <a:spLocks noGrp="1"/>
          </p:cNvSpPr>
          <p:nvPr/>
        </p:nvSpPr>
        <p:spPr>
          <a:xfrm>
            <a:off x="7648575" y="3249221"/>
            <a:ext cx="47625" cy="95"/>
          </a:xfrm>
          <a:custGeom>
            <a:avLst/>
            <a:gdLst/>
            <a:ahLst/>
            <a:cxnLst/>
            <a:rect l="0" t="0" r="0" b="0"/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72" name="B_ylabel_0.25">
            <a:extLst>
              <a:ext uri="{FF2B5EF4-FFF2-40B4-BE49-F238E27FC236}">
                <a16:creationId xmlns:a16="http://schemas.microsoft.com/office/drawing/2014/main" id="{1D870E04-CDD8-4698-BF86-C7A96E8E7B27}"/>
              </a:ext>
            </a:extLst>
          </p:cNvPr>
          <p:cNvSpPr>
            <a:spLocks noGrp="1"/>
          </p:cNvSpPr>
          <p:nvPr/>
        </p:nvSpPr>
        <p:spPr>
          <a:xfrm>
            <a:off x="7172325" y="3145769"/>
            <a:ext cx="4381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0,25</a:t>
            </a:r>
          </a:p>
        </p:txBody>
      </p:sp>
      <p:sp>
        <p:nvSpPr>
          <p:cNvPr id="173" name="B_ytick_0.2">
            <a:extLst>
              <a:ext uri="{FF2B5EF4-FFF2-40B4-BE49-F238E27FC236}">
                <a16:creationId xmlns:a16="http://schemas.microsoft.com/office/drawing/2014/main" id="{DE428CCE-B4CD-4C87-BEC7-088A07728A32}"/>
              </a:ext>
            </a:extLst>
          </p:cNvPr>
          <p:cNvSpPr>
            <a:spLocks noGrp="1"/>
          </p:cNvSpPr>
          <p:nvPr/>
        </p:nvSpPr>
        <p:spPr>
          <a:xfrm>
            <a:off x="7648575" y="3520266"/>
            <a:ext cx="47625" cy="95"/>
          </a:xfrm>
          <a:custGeom>
            <a:avLst/>
            <a:gdLst/>
            <a:ahLst/>
            <a:cxnLst/>
            <a:rect l="0" t="0" r="0" b="0"/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74" name="B_ylabel_0.2">
            <a:extLst>
              <a:ext uri="{FF2B5EF4-FFF2-40B4-BE49-F238E27FC236}">
                <a16:creationId xmlns:a16="http://schemas.microsoft.com/office/drawing/2014/main" id="{5B1D167A-D644-493B-B997-648BE700327B}"/>
              </a:ext>
            </a:extLst>
          </p:cNvPr>
          <p:cNvSpPr>
            <a:spLocks noGrp="1"/>
          </p:cNvSpPr>
          <p:nvPr/>
        </p:nvSpPr>
        <p:spPr>
          <a:xfrm>
            <a:off x="7172325" y="3416814"/>
            <a:ext cx="4381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0,20</a:t>
            </a:r>
          </a:p>
        </p:txBody>
      </p:sp>
      <p:sp>
        <p:nvSpPr>
          <p:cNvPr id="175" name="B_ytick_0.15">
            <a:extLst>
              <a:ext uri="{FF2B5EF4-FFF2-40B4-BE49-F238E27FC236}">
                <a16:creationId xmlns:a16="http://schemas.microsoft.com/office/drawing/2014/main" id="{177F7E1B-76F9-4FD2-9EE3-63D39F2E4303}"/>
              </a:ext>
            </a:extLst>
          </p:cNvPr>
          <p:cNvSpPr>
            <a:spLocks noGrp="1"/>
          </p:cNvSpPr>
          <p:nvPr/>
        </p:nvSpPr>
        <p:spPr>
          <a:xfrm>
            <a:off x="7648575" y="3791303"/>
            <a:ext cx="47625" cy="95"/>
          </a:xfrm>
          <a:custGeom>
            <a:avLst/>
            <a:gdLst/>
            <a:ahLst/>
            <a:cxnLst/>
            <a:rect l="0" t="0" r="0" b="0"/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76" name="B_ylabel_0.15">
            <a:extLst>
              <a:ext uri="{FF2B5EF4-FFF2-40B4-BE49-F238E27FC236}">
                <a16:creationId xmlns:a16="http://schemas.microsoft.com/office/drawing/2014/main" id="{8DAAA288-DB39-4CD5-9C8C-8BD7B06A4F96}"/>
              </a:ext>
            </a:extLst>
          </p:cNvPr>
          <p:cNvSpPr>
            <a:spLocks noGrp="1"/>
          </p:cNvSpPr>
          <p:nvPr/>
        </p:nvSpPr>
        <p:spPr>
          <a:xfrm>
            <a:off x="7172325" y="3687851"/>
            <a:ext cx="4381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0,15</a:t>
            </a:r>
          </a:p>
        </p:txBody>
      </p:sp>
      <p:sp>
        <p:nvSpPr>
          <p:cNvPr id="177" name="B_ytick_0.1">
            <a:extLst>
              <a:ext uri="{FF2B5EF4-FFF2-40B4-BE49-F238E27FC236}">
                <a16:creationId xmlns:a16="http://schemas.microsoft.com/office/drawing/2014/main" id="{0C1DA47A-9401-48E4-A0B3-C31D6CE427B2}"/>
              </a:ext>
            </a:extLst>
          </p:cNvPr>
          <p:cNvSpPr>
            <a:spLocks noGrp="1"/>
          </p:cNvSpPr>
          <p:nvPr/>
        </p:nvSpPr>
        <p:spPr>
          <a:xfrm>
            <a:off x="7648575" y="4062354"/>
            <a:ext cx="47625" cy="95"/>
          </a:xfrm>
          <a:custGeom>
            <a:avLst/>
            <a:gdLst/>
            <a:ahLst/>
            <a:cxnLst/>
            <a:rect l="0" t="0" r="0" b="0"/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78" name="B_ylabel_0.1">
            <a:extLst>
              <a:ext uri="{FF2B5EF4-FFF2-40B4-BE49-F238E27FC236}">
                <a16:creationId xmlns:a16="http://schemas.microsoft.com/office/drawing/2014/main" id="{53F8310A-223C-4ACB-8F3E-A385057884D1}"/>
              </a:ext>
            </a:extLst>
          </p:cNvPr>
          <p:cNvSpPr>
            <a:spLocks noGrp="1"/>
          </p:cNvSpPr>
          <p:nvPr/>
        </p:nvSpPr>
        <p:spPr>
          <a:xfrm>
            <a:off x="7172325" y="3958902"/>
            <a:ext cx="4381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0,10</a:t>
            </a:r>
          </a:p>
        </p:txBody>
      </p:sp>
      <p:sp>
        <p:nvSpPr>
          <p:cNvPr id="179" name="B_ytick_0.05">
            <a:extLst>
              <a:ext uri="{FF2B5EF4-FFF2-40B4-BE49-F238E27FC236}">
                <a16:creationId xmlns:a16="http://schemas.microsoft.com/office/drawing/2014/main" id="{8289C5E9-727F-4519-9417-0D32E11CF7E1}"/>
              </a:ext>
            </a:extLst>
          </p:cNvPr>
          <p:cNvSpPr>
            <a:spLocks noGrp="1"/>
          </p:cNvSpPr>
          <p:nvPr/>
        </p:nvSpPr>
        <p:spPr>
          <a:xfrm>
            <a:off x="7648575" y="4333414"/>
            <a:ext cx="47625" cy="95"/>
          </a:xfrm>
          <a:custGeom>
            <a:avLst/>
            <a:gdLst/>
            <a:ahLst/>
            <a:cxnLst/>
            <a:rect l="0" t="0" r="0" b="0"/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80" name="B_ylabel_0.05">
            <a:extLst>
              <a:ext uri="{FF2B5EF4-FFF2-40B4-BE49-F238E27FC236}">
                <a16:creationId xmlns:a16="http://schemas.microsoft.com/office/drawing/2014/main" id="{4215E310-CF64-4AE5-88F0-EE2E2C4886A2}"/>
              </a:ext>
            </a:extLst>
          </p:cNvPr>
          <p:cNvSpPr>
            <a:spLocks noGrp="1"/>
          </p:cNvSpPr>
          <p:nvPr/>
        </p:nvSpPr>
        <p:spPr>
          <a:xfrm>
            <a:off x="7172325" y="4229962"/>
            <a:ext cx="4381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0,05</a:t>
            </a:r>
          </a:p>
        </p:txBody>
      </p:sp>
      <p:sp>
        <p:nvSpPr>
          <p:cNvPr id="181" name="B_ytick_0">
            <a:extLst>
              <a:ext uri="{FF2B5EF4-FFF2-40B4-BE49-F238E27FC236}">
                <a16:creationId xmlns:a16="http://schemas.microsoft.com/office/drawing/2014/main" id="{4827C46F-DB80-4B3E-82CF-0D66C3C648BA}"/>
              </a:ext>
            </a:extLst>
          </p:cNvPr>
          <p:cNvSpPr>
            <a:spLocks noGrp="1"/>
          </p:cNvSpPr>
          <p:nvPr/>
        </p:nvSpPr>
        <p:spPr>
          <a:xfrm>
            <a:off x="7648575" y="4604468"/>
            <a:ext cx="47625" cy="95"/>
          </a:xfrm>
          <a:custGeom>
            <a:avLst/>
            <a:gdLst/>
            <a:ahLst/>
            <a:cxnLst/>
            <a:rect l="0" t="0" r="0" b="0"/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82" name="B_ylabel_0">
            <a:extLst>
              <a:ext uri="{FF2B5EF4-FFF2-40B4-BE49-F238E27FC236}">
                <a16:creationId xmlns:a16="http://schemas.microsoft.com/office/drawing/2014/main" id="{B43AE44B-3998-4AC0-B165-2C591B2DC379}"/>
              </a:ext>
            </a:extLst>
          </p:cNvPr>
          <p:cNvSpPr>
            <a:spLocks noGrp="1"/>
          </p:cNvSpPr>
          <p:nvPr/>
        </p:nvSpPr>
        <p:spPr>
          <a:xfrm>
            <a:off x="7172325" y="4501016"/>
            <a:ext cx="4381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0,00</a:t>
            </a:r>
          </a:p>
        </p:txBody>
      </p:sp>
      <p:sp>
        <p:nvSpPr>
          <p:cNvPr id="183" name="B_ytick_-0.05">
            <a:extLst>
              <a:ext uri="{FF2B5EF4-FFF2-40B4-BE49-F238E27FC236}">
                <a16:creationId xmlns:a16="http://schemas.microsoft.com/office/drawing/2014/main" id="{81870A68-5D93-4B9D-8E3C-01858395E259}"/>
              </a:ext>
            </a:extLst>
          </p:cNvPr>
          <p:cNvSpPr>
            <a:spLocks noGrp="1"/>
          </p:cNvSpPr>
          <p:nvPr/>
        </p:nvSpPr>
        <p:spPr>
          <a:xfrm>
            <a:off x="7648575" y="4875505"/>
            <a:ext cx="47625" cy="95"/>
          </a:xfrm>
          <a:custGeom>
            <a:avLst/>
            <a:gdLst/>
            <a:ahLst/>
            <a:cxnLst/>
            <a:rect l="0" t="0" r="0" b="0"/>
            <a:pathLst>
              <a:path w="47625" h="95">
                <a:moveTo>
                  <a:pt x="0" y="0"/>
                </a:moveTo>
                <a:lnTo>
                  <a:pt x="47625" y="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84" name="B_ylabel_-0.05">
            <a:extLst>
              <a:ext uri="{FF2B5EF4-FFF2-40B4-BE49-F238E27FC236}">
                <a16:creationId xmlns:a16="http://schemas.microsoft.com/office/drawing/2014/main" id="{313BC9E5-1B92-42AA-A475-61E45D7AB9E7}"/>
              </a:ext>
            </a:extLst>
          </p:cNvPr>
          <p:cNvSpPr>
            <a:spLocks noGrp="1"/>
          </p:cNvSpPr>
          <p:nvPr/>
        </p:nvSpPr>
        <p:spPr>
          <a:xfrm>
            <a:off x="7172325" y="4772053"/>
            <a:ext cx="43815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−0,05</a:t>
            </a:r>
          </a:p>
        </p:txBody>
      </p:sp>
      <p:sp>
        <p:nvSpPr>
          <p:cNvPr id="185" name="B_xtick_0">
            <a:extLst>
              <a:ext uri="{FF2B5EF4-FFF2-40B4-BE49-F238E27FC236}">
                <a16:creationId xmlns:a16="http://schemas.microsoft.com/office/drawing/2014/main" id="{3C504914-A781-42ED-9156-25DADFD81318}"/>
              </a:ext>
            </a:extLst>
          </p:cNvPr>
          <p:cNvSpPr>
            <a:spLocks noGrp="1"/>
          </p:cNvSpPr>
          <p:nvPr/>
        </p:nvSpPr>
        <p:spPr>
          <a:xfrm>
            <a:off x="7993401" y="4880836"/>
            <a:ext cx="95" cy="38100"/>
          </a:xfrm>
          <a:custGeom>
            <a:avLst/>
            <a:gdLst/>
            <a:ahLst/>
            <a:cxnLst/>
            <a:rect l="0" t="0" r="0" b="0"/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86" name="B_day_0">
            <a:extLst>
              <a:ext uri="{FF2B5EF4-FFF2-40B4-BE49-F238E27FC236}">
                <a16:creationId xmlns:a16="http://schemas.microsoft.com/office/drawing/2014/main" id="{578571CB-4107-4C03-AB14-E70EFA56DF29}"/>
              </a:ext>
            </a:extLst>
          </p:cNvPr>
          <p:cNvSpPr>
            <a:spLocks noGrp="1"/>
          </p:cNvSpPr>
          <p:nvPr/>
        </p:nvSpPr>
        <p:spPr>
          <a:xfrm>
            <a:off x="7793376" y="4968544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187" name="B_xtick_14">
            <a:extLst>
              <a:ext uri="{FF2B5EF4-FFF2-40B4-BE49-F238E27FC236}">
                <a16:creationId xmlns:a16="http://schemas.microsoft.com/office/drawing/2014/main" id="{0140553D-7AFA-4B28-9AFF-E635B079C668}"/>
              </a:ext>
            </a:extLst>
          </p:cNvPr>
          <p:cNvSpPr>
            <a:spLocks noGrp="1"/>
          </p:cNvSpPr>
          <p:nvPr/>
        </p:nvSpPr>
        <p:spPr>
          <a:xfrm>
            <a:off x="8349458" y="4880836"/>
            <a:ext cx="95" cy="38100"/>
          </a:xfrm>
          <a:custGeom>
            <a:avLst/>
            <a:gdLst/>
            <a:ahLst/>
            <a:cxnLst/>
            <a:rect l="0" t="0" r="0" b="0"/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88" name="B_day_14">
            <a:extLst>
              <a:ext uri="{FF2B5EF4-FFF2-40B4-BE49-F238E27FC236}">
                <a16:creationId xmlns:a16="http://schemas.microsoft.com/office/drawing/2014/main" id="{D62DFCF7-E1C1-4C5C-ACA1-1159D7BDA6E6}"/>
              </a:ext>
            </a:extLst>
          </p:cNvPr>
          <p:cNvSpPr>
            <a:spLocks noGrp="1"/>
          </p:cNvSpPr>
          <p:nvPr/>
        </p:nvSpPr>
        <p:spPr>
          <a:xfrm>
            <a:off x="8149433" y="4968544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14</a:t>
            </a:r>
          </a:p>
        </p:txBody>
      </p:sp>
      <p:sp>
        <p:nvSpPr>
          <p:cNvPr id="189" name="B_xtick_30">
            <a:extLst>
              <a:ext uri="{FF2B5EF4-FFF2-40B4-BE49-F238E27FC236}">
                <a16:creationId xmlns:a16="http://schemas.microsoft.com/office/drawing/2014/main" id="{C35C65DB-1A34-4927-ABAE-DFAEF55A3B75}"/>
              </a:ext>
            </a:extLst>
          </p:cNvPr>
          <p:cNvSpPr>
            <a:spLocks noGrp="1"/>
          </p:cNvSpPr>
          <p:nvPr/>
        </p:nvSpPr>
        <p:spPr>
          <a:xfrm>
            <a:off x="8811292" y="4880836"/>
            <a:ext cx="95" cy="38100"/>
          </a:xfrm>
          <a:custGeom>
            <a:avLst/>
            <a:gdLst/>
            <a:ahLst/>
            <a:cxnLst/>
            <a:rect l="0" t="0" r="0" b="0"/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90" name="B_day_30">
            <a:extLst>
              <a:ext uri="{FF2B5EF4-FFF2-40B4-BE49-F238E27FC236}">
                <a16:creationId xmlns:a16="http://schemas.microsoft.com/office/drawing/2014/main" id="{88DE141B-D4B8-4928-8F75-1AB74FC25F0D}"/>
              </a:ext>
            </a:extLst>
          </p:cNvPr>
          <p:cNvSpPr>
            <a:spLocks noGrp="1"/>
          </p:cNvSpPr>
          <p:nvPr/>
        </p:nvSpPr>
        <p:spPr>
          <a:xfrm>
            <a:off x="8611267" y="4968544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191" name="B_xtick_60">
            <a:extLst>
              <a:ext uri="{FF2B5EF4-FFF2-40B4-BE49-F238E27FC236}">
                <a16:creationId xmlns:a16="http://schemas.microsoft.com/office/drawing/2014/main" id="{A8CECD97-6F53-4461-B367-6849712C8EB4}"/>
              </a:ext>
            </a:extLst>
          </p:cNvPr>
          <p:cNvSpPr>
            <a:spLocks noGrp="1"/>
          </p:cNvSpPr>
          <p:nvPr/>
        </p:nvSpPr>
        <p:spPr>
          <a:xfrm>
            <a:off x="9273152" y="4880836"/>
            <a:ext cx="95" cy="38100"/>
          </a:xfrm>
          <a:custGeom>
            <a:avLst/>
            <a:gdLst/>
            <a:ahLst/>
            <a:cxnLst/>
            <a:rect l="0" t="0" r="0" b="0"/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92" name="B_day_60">
            <a:extLst>
              <a:ext uri="{FF2B5EF4-FFF2-40B4-BE49-F238E27FC236}">
                <a16:creationId xmlns:a16="http://schemas.microsoft.com/office/drawing/2014/main" id="{3E77DAAE-ABE3-4A3D-A71A-AFADB17F9BC0}"/>
              </a:ext>
            </a:extLst>
          </p:cNvPr>
          <p:cNvSpPr>
            <a:spLocks noGrp="1"/>
          </p:cNvSpPr>
          <p:nvPr/>
        </p:nvSpPr>
        <p:spPr>
          <a:xfrm>
            <a:off x="9073127" y="4968544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60</a:t>
            </a:r>
          </a:p>
        </p:txBody>
      </p:sp>
      <p:sp>
        <p:nvSpPr>
          <p:cNvPr id="193" name="B_xtick_90">
            <a:extLst>
              <a:ext uri="{FF2B5EF4-FFF2-40B4-BE49-F238E27FC236}">
                <a16:creationId xmlns:a16="http://schemas.microsoft.com/office/drawing/2014/main" id="{F40C7997-6F0E-4F85-B360-C3B3E8C64F5D}"/>
              </a:ext>
            </a:extLst>
          </p:cNvPr>
          <p:cNvSpPr>
            <a:spLocks noGrp="1"/>
          </p:cNvSpPr>
          <p:nvPr/>
        </p:nvSpPr>
        <p:spPr>
          <a:xfrm>
            <a:off x="9735009" y="4880836"/>
            <a:ext cx="95" cy="38100"/>
          </a:xfrm>
          <a:custGeom>
            <a:avLst/>
            <a:gdLst/>
            <a:ahLst/>
            <a:cxnLst/>
            <a:rect l="0" t="0" r="0" b="0"/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94" name="B_day_90">
            <a:extLst>
              <a:ext uri="{FF2B5EF4-FFF2-40B4-BE49-F238E27FC236}">
                <a16:creationId xmlns:a16="http://schemas.microsoft.com/office/drawing/2014/main" id="{4B3BDA42-BC54-4DBE-A8D8-25AE5820538D}"/>
              </a:ext>
            </a:extLst>
          </p:cNvPr>
          <p:cNvSpPr>
            <a:spLocks noGrp="1"/>
          </p:cNvSpPr>
          <p:nvPr/>
        </p:nvSpPr>
        <p:spPr>
          <a:xfrm>
            <a:off x="9534984" y="4968544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90</a:t>
            </a:r>
          </a:p>
        </p:txBody>
      </p:sp>
      <p:sp>
        <p:nvSpPr>
          <p:cNvPr id="195" name="B_xtick_120">
            <a:extLst>
              <a:ext uri="{FF2B5EF4-FFF2-40B4-BE49-F238E27FC236}">
                <a16:creationId xmlns:a16="http://schemas.microsoft.com/office/drawing/2014/main" id="{A2AE06A1-75CE-4C0C-8525-A894E305495E}"/>
              </a:ext>
            </a:extLst>
          </p:cNvPr>
          <p:cNvSpPr>
            <a:spLocks noGrp="1"/>
          </p:cNvSpPr>
          <p:nvPr/>
        </p:nvSpPr>
        <p:spPr>
          <a:xfrm>
            <a:off x="10196846" y="4880836"/>
            <a:ext cx="95" cy="38100"/>
          </a:xfrm>
          <a:custGeom>
            <a:avLst/>
            <a:gdLst/>
            <a:ahLst/>
            <a:cxnLst/>
            <a:rect l="0" t="0" r="0" b="0"/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96" name="B_day_120">
            <a:extLst>
              <a:ext uri="{FF2B5EF4-FFF2-40B4-BE49-F238E27FC236}">
                <a16:creationId xmlns:a16="http://schemas.microsoft.com/office/drawing/2014/main" id="{076E194C-0A6A-4DE8-9420-550C24CBFE0B}"/>
              </a:ext>
            </a:extLst>
          </p:cNvPr>
          <p:cNvSpPr>
            <a:spLocks noGrp="1"/>
          </p:cNvSpPr>
          <p:nvPr/>
        </p:nvSpPr>
        <p:spPr>
          <a:xfrm>
            <a:off x="9996821" y="4968544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120</a:t>
            </a:r>
          </a:p>
        </p:txBody>
      </p:sp>
      <p:sp>
        <p:nvSpPr>
          <p:cNvPr id="197" name="B_xtick_150">
            <a:extLst>
              <a:ext uri="{FF2B5EF4-FFF2-40B4-BE49-F238E27FC236}">
                <a16:creationId xmlns:a16="http://schemas.microsoft.com/office/drawing/2014/main" id="{5D6723BF-B6B3-4713-9695-96F948C91A22}"/>
              </a:ext>
            </a:extLst>
          </p:cNvPr>
          <p:cNvSpPr>
            <a:spLocks noGrp="1"/>
          </p:cNvSpPr>
          <p:nvPr/>
        </p:nvSpPr>
        <p:spPr>
          <a:xfrm>
            <a:off x="10658698" y="4880836"/>
            <a:ext cx="95" cy="38100"/>
          </a:xfrm>
          <a:custGeom>
            <a:avLst/>
            <a:gdLst/>
            <a:ahLst/>
            <a:cxnLst/>
            <a:rect l="0" t="0" r="0" b="0"/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98" name="B_day_150">
            <a:extLst>
              <a:ext uri="{FF2B5EF4-FFF2-40B4-BE49-F238E27FC236}">
                <a16:creationId xmlns:a16="http://schemas.microsoft.com/office/drawing/2014/main" id="{80A7C451-1784-4CD7-9397-4392F5745ACF}"/>
              </a:ext>
            </a:extLst>
          </p:cNvPr>
          <p:cNvSpPr>
            <a:spLocks noGrp="1"/>
          </p:cNvSpPr>
          <p:nvPr/>
        </p:nvSpPr>
        <p:spPr>
          <a:xfrm>
            <a:off x="10458673" y="4968544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150</a:t>
            </a:r>
          </a:p>
        </p:txBody>
      </p:sp>
      <p:sp>
        <p:nvSpPr>
          <p:cNvPr id="199" name="B_xtick_180">
            <a:extLst>
              <a:ext uri="{FF2B5EF4-FFF2-40B4-BE49-F238E27FC236}">
                <a16:creationId xmlns:a16="http://schemas.microsoft.com/office/drawing/2014/main" id="{66E90455-69A7-404D-8605-DE0359D034D9}"/>
              </a:ext>
            </a:extLst>
          </p:cNvPr>
          <p:cNvSpPr>
            <a:spLocks noGrp="1"/>
          </p:cNvSpPr>
          <p:nvPr/>
        </p:nvSpPr>
        <p:spPr>
          <a:xfrm>
            <a:off x="11120533" y="4880836"/>
            <a:ext cx="95" cy="38100"/>
          </a:xfrm>
          <a:custGeom>
            <a:avLst/>
            <a:gdLst/>
            <a:ahLst/>
            <a:cxnLst/>
            <a:rect l="0" t="0" r="0" b="0"/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00" name="B_day_180">
            <a:extLst>
              <a:ext uri="{FF2B5EF4-FFF2-40B4-BE49-F238E27FC236}">
                <a16:creationId xmlns:a16="http://schemas.microsoft.com/office/drawing/2014/main" id="{4DAC940D-D7CD-4907-ABF4-FBE5B1448951}"/>
              </a:ext>
            </a:extLst>
          </p:cNvPr>
          <p:cNvSpPr>
            <a:spLocks noGrp="1"/>
          </p:cNvSpPr>
          <p:nvPr/>
        </p:nvSpPr>
        <p:spPr>
          <a:xfrm>
            <a:off x="10920508" y="4968544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180</a:t>
            </a:r>
          </a:p>
        </p:txBody>
      </p:sp>
      <p:sp>
        <p:nvSpPr>
          <p:cNvPr id="201" name="B_xtick_210">
            <a:extLst>
              <a:ext uri="{FF2B5EF4-FFF2-40B4-BE49-F238E27FC236}">
                <a16:creationId xmlns:a16="http://schemas.microsoft.com/office/drawing/2014/main" id="{3DEDFD26-48A7-4F8C-8830-AA4517972375}"/>
              </a:ext>
            </a:extLst>
          </p:cNvPr>
          <p:cNvSpPr>
            <a:spLocks noGrp="1"/>
          </p:cNvSpPr>
          <p:nvPr/>
        </p:nvSpPr>
        <p:spPr>
          <a:xfrm>
            <a:off x="11582400" y="4880836"/>
            <a:ext cx="95" cy="38100"/>
          </a:xfrm>
          <a:custGeom>
            <a:avLst/>
            <a:gdLst/>
            <a:ahLst/>
            <a:cxnLst/>
            <a:rect l="0" t="0" r="0" b="0"/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53606B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02" name="B_day_210">
            <a:extLst>
              <a:ext uri="{FF2B5EF4-FFF2-40B4-BE49-F238E27FC236}">
                <a16:creationId xmlns:a16="http://schemas.microsoft.com/office/drawing/2014/main" id="{D6ED95C2-08C0-42A3-A450-9A69450D73CA}"/>
              </a:ext>
            </a:extLst>
          </p:cNvPr>
          <p:cNvSpPr>
            <a:spLocks noGrp="1"/>
          </p:cNvSpPr>
          <p:nvPr/>
        </p:nvSpPr>
        <p:spPr>
          <a:xfrm>
            <a:off x="11382375" y="4968544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210</a:t>
            </a:r>
          </a:p>
        </p:txBody>
      </p:sp>
      <p:sp>
        <p:nvSpPr>
          <p:cNvPr id="204" name="B_days_title">
            <a:extLst>
              <a:ext uri="{FF2B5EF4-FFF2-40B4-BE49-F238E27FC236}">
                <a16:creationId xmlns:a16="http://schemas.microsoft.com/office/drawing/2014/main" id="{4F3F32A5-A871-4C39-BC6E-40CA3F753053}"/>
              </a:ext>
            </a:extLst>
          </p:cNvPr>
          <p:cNvSpPr>
            <a:spLocks noGrp="1"/>
          </p:cNvSpPr>
          <p:nvPr/>
        </p:nvSpPr>
        <p:spPr>
          <a:xfrm>
            <a:off x="9505950" y="5285671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Дни</a:t>
            </a:r>
          </a:p>
        </p:txBody>
      </p:sp>
      <p:sp>
        <p:nvSpPr>
          <p:cNvPr id="205" name="published_B_empagliflozin_marker_167">
            <a:extLst>
              <a:ext uri="{FF2B5EF4-FFF2-40B4-BE49-F238E27FC236}">
                <a16:creationId xmlns:a16="http://schemas.microsoft.com/office/drawing/2014/main" id="{DB93EEF5-9074-452B-87CB-BC7BC2FF2683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29953" y="1696354"/>
                </a:moveTo>
                <a:lnTo>
                  <a:pt x="329827" y="1698421"/>
                </a:lnTo>
                <a:lnTo>
                  <a:pt x="329457" y="1700441"/>
                </a:lnTo>
                <a:lnTo>
                  <a:pt x="328852" y="1702409"/>
                </a:lnTo>
                <a:lnTo>
                  <a:pt x="328022" y="1704317"/>
                </a:lnTo>
                <a:lnTo>
                  <a:pt x="326977" y="1706159"/>
                </a:lnTo>
                <a:lnTo>
                  <a:pt x="325726" y="1707930"/>
                </a:lnTo>
                <a:lnTo>
                  <a:pt x="324278" y="1709622"/>
                </a:lnTo>
                <a:lnTo>
                  <a:pt x="322645" y="1711229"/>
                </a:lnTo>
                <a:lnTo>
                  <a:pt x="320835" y="1712744"/>
                </a:lnTo>
                <a:lnTo>
                  <a:pt x="318857" y="1714162"/>
                </a:lnTo>
                <a:lnTo>
                  <a:pt x="316723" y="1715475"/>
                </a:lnTo>
                <a:lnTo>
                  <a:pt x="314441" y="1716677"/>
                </a:lnTo>
                <a:lnTo>
                  <a:pt x="312021" y="1717762"/>
                </a:lnTo>
                <a:lnTo>
                  <a:pt x="309472" y="1718723"/>
                </a:lnTo>
                <a:lnTo>
                  <a:pt x="306806" y="1719555"/>
                </a:lnTo>
                <a:lnTo>
                  <a:pt x="304030" y="1720249"/>
                </a:lnTo>
                <a:lnTo>
                  <a:pt x="301156" y="1720800"/>
                </a:lnTo>
                <a:lnTo>
                  <a:pt x="298191" y="1721202"/>
                </a:lnTo>
                <a:lnTo>
                  <a:pt x="295148" y="1721448"/>
                </a:lnTo>
                <a:lnTo>
                  <a:pt x="292034" y="1721531"/>
                </a:lnTo>
                <a:lnTo>
                  <a:pt x="288924" y="1721448"/>
                </a:lnTo>
                <a:lnTo>
                  <a:pt x="285883" y="1721202"/>
                </a:lnTo>
                <a:lnTo>
                  <a:pt x="282922" y="1720800"/>
                </a:lnTo>
                <a:lnTo>
                  <a:pt x="280049" y="1720249"/>
                </a:lnTo>
                <a:lnTo>
                  <a:pt x="277276" y="1719555"/>
                </a:lnTo>
                <a:lnTo>
                  <a:pt x="274611" y="1718723"/>
                </a:lnTo>
                <a:lnTo>
                  <a:pt x="272065" y="1717762"/>
                </a:lnTo>
                <a:lnTo>
                  <a:pt x="269646" y="1716677"/>
                </a:lnTo>
                <a:lnTo>
                  <a:pt x="267365" y="1715475"/>
                </a:lnTo>
                <a:lnTo>
                  <a:pt x="265232" y="1714162"/>
                </a:lnTo>
                <a:lnTo>
                  <a:pt x="263255" y="1712744"/>
                </a:lnTo>
                <a:lnTo>
                  <a:pt x="261446" y="1711229"/>
                </a:lnTo>
                <a:lnTo>
                  <a:pt x="259813" y="1709622"/>
                </a:lnTo>
                <a:lnTo>
                  <a:pt x="258366" y="1707930"/>
                </a:lnTo>
                <a:lnTo>
                  <a:pt x="257115" y="1706159"/>
                </a:lnTo>
                <a:lnTo>
                  <a:pt x="256070" y="1704317"/>
                </a:lnTo>
                <a:lnTo>
                  <a:pt x="255240" y="1702409"/>
                </a:lnTo>
                <a:lnTo>
                  <a:pt x="254635" y="1700441"/>
                </a:lnTo>
                <a:lnTo>
                  <a:pt x="254265" y="1698421"/>
                </a:lnTo>
                <a:lnTo>
                  <a:pt x="254140" y="1696354"/>
                </a:lnTo>
                <a:lnTo>
                  <a:pt x="254265" y="1694288"/>
                </a:lnTo>
                <a:lnTo>
                  <a:pt x="254635" y="1692267"/>
                </a:lnTo>
                <a:lnTo>
                  <a:pt x="255240" y="1690299"/>
                </a:lnTo>
                <a:lnTo>
                  <a:pt x="256070" y="1688390"/>
                </a:lnTo>
                <a:lnTo>
                  <a:pt x="257115" y="1686547"/>
                </a:lnTo>
                <a:lnTo>
                  <a:pt x="258366" y="1684775"/>
                </a:lnTo>
                <a:lnTo>
                  <a:pt x="259813" y="1683082"/>
                </a:lnTo>
                <a:lnTo>
                  <a:pt x="261446" y="1681474"/>
                </a:lnTo>
                <a:lnTo>
                  <a:pt x="263255" y="1679958"/>
                </a:lnTo>
                <a:lnTo>
                  <a:pt x="265232" y="1678539"/>
                </a:lnTo>
                <a:lnTo>
                  <a:pt x="267365" y="1677224"/>
                </a:lnTo>
                <a:lnTo>
                  <a:pt x="269646" y="1676021"/>
                </a:lnTo>
                <a:lnTo>
                  <a:pt x="272065" y="1674935"/>
                </a:lnTo>
                <a:lnTo>
                  <a:pt x="274611" y="1673972"/>
                </a:lnTo>
                <a:lnTo>
                  <a:pt x="277276" y="1673140"/>
                </a:lnTo>
                <a:lnTo>
                  <a:pt x="280049" y="1672445"/>
                </a:lnTo>
                <a:lnTo>
                  <a:pt x="282922" y="1671893"/>
                </a:lnTo>
                <a:lnTo>
                  <a:pt x="285883" y="1671490"/>
                </a:lnTo>
                <a:lnTo>
                  <a:pt x="288924" y="1671244"/>
                </a:lnTo>
                <a:lnTo>
                  <a:pt x="292034" y="1671161"/>
                </a:lnTo>
                <a:lnTo>
                  <a:pt x="295148" y="1671244"/>
                </a:lnTo>
                <a:lnTo>
                  <a:pt x="298191" y="1671490"/>
                </a:lnTo>
                <a:lnTo>
                  <a:pt x="301156" y="1671893"/>
                </a:lnTo>
                <a:lnTo>
                  <a:pt x="304030" y="1672445"/>
                </a:lnTo>
                <a:lnTo>
                  <a:pt x="306806" y="1673140"/>
                </a:lnTo>
                <a:lnTo>
                  <a:pt x="309472" y="1673972"/>
                </a:lnTo>
                <a:lnTo>
                  <a:pt x="312021" y="1674935"/>
                </a:lnTo>
                <a:lnTo>
                  <a:pt x="314441" y="1676021"/>
                </a:lnTo>
                <a:lnTo>
                  <a:pt x="316723" y="1677224"/>
                </a:lnTo>
                <a:lnTo>
                  <a:pt x="318857" y="1678539"/>
                </a:lnTo>
                <a:lnTo>
                  <a:pt x="320835" y="1679958"/>
                </a:lnTo>
                <a:lnTo>
                  <a:pt x="322645" y="1681474"/>
                </a:lnTo>
                <a:lnTo>
                  <a:pt x="324278" y="1683082"/>
                </a:lnTo>
                <a:lnTo>
                  <a:pt x="325726" y="1684775"/>
                </a:lnTo>
                <a:lnTo>
                  <a:pt x="326977" y="1686547"/>
                </a:lnTo>
                <a:lnTo>
                  <a:pt x="328022" y="1688390"/>
                </a:lnTo>
                <a:lnTo>
                  <a:pt x="328852" y="1690299"/>
                </a:lnTo>
                <a:lnTo>
                  <a:pt x="329457" y="1692267"/>
                </a:lnTo>
                <a:lnTo>
                  <a:pt x="329827" y="1694288"/>
                </a:lnTo>
                <a:lnTo>
                  <a:pt x="329953" y="1696354"/>
                </a:lnTo>
              </a:path>
            </a:pathLst>
          </a:custGeom>
          <a:solidFill>
            <a:srgbClr val="0F9ED5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06" name="published_B_empagliflozin_marker_168">
            <a:extLst>
              <a:ext uri="{FF2B5EF4-FFF2-40B4-BE49-F238E27FC236}">
                <a16:creationId xmlns:a16="http://schemas.microsoft.com/office/drawing/2014/main" id="{11D91611-44C5-4A6D-A32E-9A96B5992BD1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91164" y="1651777"/>
                </a:moveTo>
                <a:lnTo>
                  <a:pt x="691038" y="1653844"/>
                </a:lnTo>
                <a:lnTo>
                  <a:pt x="690668" y="1655864"/>
                </a:lnTo>
                <a:lnTo>
                  <a:pt x="690063" y="1657832"/>
                </a:lnTo>
                <a:lnTo>
                  <a:pt x="689233" y="1659741"/>
                </a:lnTo>
                <a:lnTo>
                  <a:pt x="688188" y="1661585"/>
                </a:lnTo>
                <a:lnTo>
                  <a:pt x="686937" y="1663356"/>
                </a:lnTo>
                <a:lnTo>
                  <a:pt x="685489" y="1665049"/>
                </a:lnTo>
                <a:lnTo>
                  <a:pt x="683856" y="1666657"/>
                </a:lnTo>
                <a:lnTo>
                  <a:pt x="682045" y="1668174"/>
                </a:lnTo>
                <a:lnTo>
                  <a:pt x="680068" y="1669593"/>
                </a:lnTo>
                <a:lnTo>
                  <a:pt x="677934" y="1670907"/>
                </a:lnTo>
                <a:lnTo>
                  <a:pt x="675651" y="1672111"/>
                </a:lnTo>
                <a:lnTo>
                  <a:pt x="673231" y="1673197"/>
                </a:lnTo>
                <a:lnTo>
                  <a:pt x="670683" y="1674159"/>
                </a:lnTo>
                <a:lnTo>
                  <a:pt x="668016" y="1674991"/>
                </a:lnTo>
                <a:lnTo>
                  <a:pt x="665241" y="1675687"/>
                </a:lnTo>
                <a:lnTo>
                  <a:pt x="662366" y="1676239"/>
                </a:lnTo>
                <a:lnTo>
                  <a:pt x="659402" y="1676641"/>
                </a:lnTo>
                <a:lnTo>
                  <a:pt x="656358" y="1676887"/>
                </a:lnTo>
                <a:lnTo>
                  <a:pt x="653245" y="1676971"/>
                </a:lnTo>
                <a:lnTo>
                  <a:pt x="650134" y="1676887"/>
                </a:lnTo>
                <a:lnTo>
                  <a:pt x="647094" y="1676641"/>
                </a:lnTo>
                <a:lnTo>
                  <a:pt x="644132" y="1676239"/>
                </a:lnTo>
                <a:lnTo>
                  <a:pt x="641260" y="1675687"/>
                </a:lnTo>
                <a:lnTo>
                  <a:pt x="638487" y="1674991"/>
                </a:lnTo>
                <a:lnTo>
                  <a:pt x="635822" y="1674159"/>
                </a:lnTo>
                <a:lnTo>
                  <a:pt x="633276" y="1673197"/>
                </a:lnTo>
                <a:lnTo>
                  <a:pt x="630857" y="1672111"/>
                </a:lnTo>
                <a:lnTo>
                  <a:pt x="628576" y="1670907"/>
                </a:lnTo>
                <a:lnTo>
                  <a:pt x="626443" y="1669593"/>
                </a:lnTo>
                <a:lnTo>
                  <a:pt x="624466" y="1668174"/>
                </a:lnTo>
                <a:lnTo>
                  <a:pt x="622657" y="1666657"/>
                </a:lnTo>
                <a:lnTo>
                  <a:pt x="621024" y="1665049"/>
                </a:lnTo>
                <a:lnTo>
                  <a:pt x="619577" y="1663356"/>
                </a:lnTo>
                <a:lnTo>
                  <a:pt x="618326" y="1661585"/>
                </a:lnTo>
                <a:lnTo>
                  <a:pt x="617280" y="1659741"/>
                </a:lnTo>
                <a:lnTo>
                  <a:pt x="616451" y="1657832"/>
                </a:lnTo>
                <a:lnTo>
                  <a:pt x="615846" y="1655864"/>
                </a:lnTo>
                <a:lnTo>
                  <a:pt x="615476" y="1653844"/>
                </a:lnTo>
                <a:lnTo>
                  <a:pt x="615350" y="1651777"/>
                </a:lnTo>
                <a:lnTo>
                  <a:pt x="615476" y="1649711"/>
                </a:lnTo>
                <a:lnTo>
                  <a:pt x="615846" y="1647691"/>
                </a:lnTo>
                <a:lnTo>
                  <a:pt x="616451" y="1645723"/>
                </a:lnTo>
                <a:lnTo>
                  <a:pt x="617280" y="1643815"/>
                </a:lnTo>
                <a:lnTo>
                  <a:pt x="618326" y="1641972"/>
                </a:lnTo>
                <a:lnTo>
                  <a:pt x="619577" y="1640202"/>
                </a:lnTo>
                <a:lnTo>
                  <a:pt x="621024" y="1638510"/>
                </a:lnTo>
                <a:lnTo>
                  <a:pt x="622657" y="1636903"/>
                </a:lnTo>
                <a:lnTo>
                  <a:pt x="624466" y="1635387"/>
                </a:lnTo>
                <a:lnTo>
                  <a:pt x="626443" y="1633970"/>
                </a:lnTo>
                <a:lnTo>
                  <a:pt x="628576" y="1632657"/>
                </a:lnTo>
                <a:lnTo>
                  <a:pt x="630857" y="1631454"/>
                </a:lnTo>
                <a:lnTo>
                  <a:pt x="633276" y="1630369"/>
                </a:lnTo>
                <a:lnTo>
                  <a:pt x="635822" y="1629408"/>
                </a:lnTo>
                <a:lnTo>
                  <a:pt x="638487" y="1628577"/>
                </a:lnTo>
                <a:lnTo>
                  <a:pt x="641260" y="1627883"/>
                </a:lnTo>
                <a:lnTo>
                  <a:pt x="644132" y="1627331"/>
                </a:lnTo>
                <a:lnTo>
                  <a:pt x="647094" y="1626929"/>
                </a:lnTo>
                <a:lnTo>
                  <a:pt x="650134" y="1626683"/>
                </a:lnTo>
                <a:lnTo>
                  <a:pt x="653245" y="1626600"/>
                </a:lnTo>
                <a:lnTo>
                  <a:pt x="656358" y="1626683"/>
                </a:lnTo>
                <a:lnTo>
                  <a:pt x="659402" y="1626929"/>
                </a:lnTo>
                <a:lnTo>
                  <a:pt x="662366" y="1627331"/>
                </a:lnTo>
                <a:lnTo>
                  <a:pt x="665241" y="1627883"/>
                </a:lnTo>
                <a:lnTo>
                  <a:pt x="668016" y="1628577"/>
                </a:lnTo>
                <a:lnTo>
                  <a:pt x="670683" y="1629408"/>
                </a:lnTo>
                <a:lnTo>
                  <a:pt x="673231" y="1630369"/>
                </a:lnTo>
                <a:lnTo>
                  <a:pt x="675651" y="1631454"/>
                </a:lnTo>
                <a:lnTo>
                  <a:pt x="677934" y="1632657"/>
                </a:lnTo>
                <a:lnTo>
                  <a:pt x="680068" y="1633970"/>
                </a:lnTo>
                <a:lnTo>
                  <a:pt x="682045" y="1635387"/>
                </a:lnTo>
                <a:lnTo>
                  <a:pt x="683856" y="1636903"/>
                </a:lnTo>
                <a:lnTo>
                  <a:pt x="685489" y="1638510"/>
                </a:lnTo>
                <a:lnTo>
                  <a:pt x="686937" y="1640202"/>
                </a:lnTo>
                <a:lnTo>
                  <a:pt x="688188" y="1641972"/>
                </a:lnTo>
                <a:lnTo>
                  <a:pt x="689233" y="1643815"/>
                </a:lnTo>
                <a:lnTo>
                  <a:pt x="690063" y="1645723"/>
                </a:lnTo>
                <a:lnTo>
                  <a:pt x="690668" y="1647691"/>
                </a:lnTo>
                <a:lnTo>
                  <a:pt x="691038" y="1649711"/>
                </a:lnTo>
                <a:lnTo>
                  <a:pt x="691164" y="1651777"/>
                </a:lnTo>
              </a:path>
            </a:pathLst>
          </a:custGeom>
          <a:solidFill>
            <a:srgbClr val="0F9ED5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07" name="published_B_empagliflozin_marker_169">
            <a:extLst>
              <a:ext uri="{FF2B5EF4-FFF2-40B4-BE49-F238E27FC236}">
                <a16:creationId xmlns:a16="http://schemas.microsoft.com/office/drawing/2014/main" id="{E60C0A4D-4484-4F36-8297-64CA8CA03676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153006" y="1609371"/>
                </a:moveTo>
                <a:lnTo>
                  <a:pt x="1152880" y="1611438"/>
                </a:lnTo>
                <a:lnTo>
                  <a:pt x="1152510" y="1613458"/>
                </a:lnTo>
                <a:lnTo>
                  <a:pt x="1151906" y="1615426"/>
                </a:lnTo>
                <a:lnTo>
                  <a:pt x="1151076" y="1617335"/>
                </a:lnTo>
                <a:lnTo>
                  <a:pt x="1150030" y="1619179"/>
                </a:lnTo>
                <a:lnTo>
                  <a:pt x="1148780" y="1620950"/>
                </a:lnTo>
                <a:lnTo>
                  <a:pt x="1147333" y="1622643"/>
                </a:lnTo>
                <a:lnTo>
                  <a:pt x="1145700" y="1624251"/>
                </a:lnTo>
                <a:lnTo>
                  <a:pt x="1143890" y="1625768"/>
                </a:lnTo>
                <a:lnTo>
                  <a:pt x="1141914" y="1627187"/>
                </a:lnTo>
                <a:lnTo>
                  <a:pt x="1139780" y="1628501"/>
                </a:lnTo>
                <a:lnTo>
                  <a:pt x="1137499" y="1629704"/>
                </a:lnTo>
                <a:lnTo>
                  <a:pt x="1135081" y="1630791"/>
                </a:lnTo>
                <a:lnTo>
                  <a:pt x="1132534" y="1631753"/>
                </a:lnTo>
                <a:lnTo>
                  <a:pt x="1129869" y="1632585"/>
                </a:lnTo>
                <a:lnTo>
                  <a:pt x="1127096" y="1633281"/>
                </a:lnTo>
                <a:lnTo>
                  <a:pt x="1124224" y="1633833"/>
                </a:lnTo>
                <a:lnTo>
                  <a:pt x="1121263" y="1634235"/>
                </a:lnTo>
                <a:lnTo>
                  <a:pt x="1118222" y="1634481"/>
                </a:lnTo>
                <a:lnTo>
                  <a:pt x="1115112" y="1634565"/>
                </a:lnTo>
                <a:lnTo>
                  <a:pt x="1111998" y="1634481"/>
                </a:lnTo>
                <a:lnTo>
                  <a:pt x="1108954" y="1634235"/>
                </a:lnTo>
                <a:lnTo>
                  <a:pt x="1105990" y="1633833"/>
                </a:lnTo>
                <a:lnTo>
                  <a:pt x="1103116" y="1633281"/>
                </a:lnTo>
                <a:lnTo>
                  <a:pt x="1100340" y="1632585"/>
                </a:lnTo>
                <a:lnTo>
                  <a:pt x="1097673" y="1631753"/>
                </a:lnTo>
                <a:lnTo>
                  <a:pt x="1095125" y="1630791"/>
                </a:lnTo>
                <a:lnTo>
                  <a:pt x="1092705" y="1629704"/>
                </a:lnTo>
                <a:lnTo>
                  <a:pt x="1090423" y="1628501"/>
                </a:lnTo>
                <a:lnTo>
                  <a:pt x="1088288" y="1627187"/>
                </a:lnTo>
                <a:lnTo>
                  <a:pt x="1086311" y="1625768"/>
                </a:lnTo>
                <a:lnTo>
                  <a:pt x="1084501" y="1624251"/>
                </a:lnTo>
                <a:lnTo>
                  <a:pt x="1082867" y="1622643"/>
                </a:lnTo>
                <a:lnTo>
                  <a:pt x="1081420" y="1620950"/>
                </a:lnTo>
                <a:lnTo>
                  <a:pt x="1080168" y="1619179"/>
                </a:lnTo>
                <a:lnTo>
                  <a:pt x="1079123" y="1617335"/>
                </a:lnTo>
                <a:lnTo>
                  <a:pt x="1078293" y="1615426"/>
                </a:lnTo>
                <a:lnTo>
                  <a:pt x="1077688" y="1613458"/>
                </a:lnTo>
                <a:lnTo>
                  <a:pt x="1077318" y="1611438"/>
                </a:lnTo>
                <a:lnTo>
                  <a:pt x="1077193" y="1609371"/>
                </a:lnTo>
                <a:lnTo>
                  <a:pt x="1077318" y="1607305"/>
                </a:lnTo>
                <a:lnTo>
                  <a:pt x="1077688" y="1605284"/>
                </a:lnTo>
                <a:lnTo>
                  <a:pt x="1078293" y="1603317"/>
                </a:lnTo>
                <a:lnTo>
                  <a:pt x="1079123" y="1601409"/>
                </a:lnTo>
                <a:lnTo>
                  <a:pt x="1080168" y="1599566"/>
                </a:lnTo>
                <a:lnTo>
                  <a:pt x="1081420" y="1597796"/>
                </a:lnTo>
                <a:lnTo>
                  <a:pt x="1082867" y="1596104"/>
                </a:lnTo>
                <a:lnTo>
                  <a:pt x="1084501" y="1594497"/>
                </a:lnTo>
                <a:lnTo>
                  <a:pt x="1086311" y="1592981"/>
                </a:lnTo>
                <a:lnTo>
                  <a:pt x="1088288" y="1591564"/>
                </a:lnTo>
                <a:lnTo>
                  <a:pt x="1090423" y="1590251"/>
                </a:lnTo>
                <a:lnTo>
                  <a:pt x="1092705" y="1589048"/>
                </a:lnTo>
                <a:lnTo>
                  <a:pt x="1095125" y="1587963"/>
                </a:lnTo>
                <a:lnTo>
                  <a:pt x="1097673" y="1587002"/>
                </a:lnTo>
                <a:lnTo>
                  <a:pt x="1100340" y="1586171"/>
                </a:lnTo>
                <a:lnTo>
                  <a:pt x="1103116" y="1585476"/>
                </a:lnTo>
                <a:lnTo>
                  <a:pt x="1105990" y="1584925"/>
                </a:lnTo>
                <a:lnTo>
                  <a:pt x="1108954" y="1584523"/>
                </a:lnTo>
                <a:lnTo>
                  <a:pt x="1111998" y="1584277"/>
                </a:lnTo>
                <a:lnTo>
                  <a:pt x="1115112" y="1584194"/>
                </a:lnTo>
                <a:lnTo>
                  <a:pt x="1118222" y="1584277"/>
                </a:lnTo>
                <a:lnTo>
                  <a:pt x="1121263" y="1584523"/>
                </a:lnTo>
                <a:lnTo>
                  <a:pt x="1124224" y="1584925"/>
                </a:lnTo>
                <a:lnTo>
                  <a:pt x="1127096" y="1585476"/>
                </a:lnTo>
                <a:lnTo>
                  <a:pt x="1129869" y="1586171"/>
                </a:lnTo>
                <a:lnTo>
                  <a:pt x="1132534" y="1587002"/>
                </a:lnTo>
                <a:lnTo>
                  <a:pt x="1135081" y="1587963"/>
                </a:lnTo>
                <a:lnTo>
                  <a:pt x="1137499" y="1589048"/>
                </a:lnTo>
                <a:lnTo>
                  <a:pt x="1139780" y="1590251"/>
                </a:lnTo>
                <a:lnTo>
                  <a:pt x="1141914" y="1591564"/>
                </a:lnTo>
                <a:lnTo>
                  <a:pt x="1143890" y="1592981"/>
                </a:lnTo>
                <a:lnTo>
                  <a:pt x="1145700" y="1594497"/>
                </a:lnTo>
                <a:lnTo>
                  <a:pt x="1147333" y="1596104"/>
                </a:lnTo>
                <a:lnTo>
                  <a:pt x="1148780" y="1597796"/>
                </a:lnTo>
                <a:lnTo>
                  <a:pt x="1150030" y="1599566"/>
                </a:lnTo>
                <a:lnTo>
                  <a:pt x="1151076" y="1601409"/>
                </a:lnTo>
                <a:lnTo>
                  <a:pt x="1151906" y="1603317"/>
                </a:lnTo>
                <a:lnTo>
                  <a:pt x="1152510" y="1605284"/>
                </a:lnTo>
                <a:lnTo>
                  <a:pt x="1152880" y="1607305"/>
                </a:lnTo>
                <a:lnTo>
                  <a:pt x="1153006" y="1609371"/>
                </a:lnTo>
              </a:path>
            </a:pathLst>
          </a:custGeom>
          <a:solidFill>
            <a:srgbClr val="0F9ED5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08" name="published_B_empagliflozin_marker_170">
            <a:extLst>
              <a:ext uri="{FF2B5EF4-FFF2-40B4-BE49-F238E27FC236}">
                <a16:creationId xmlns:a16="http://schemas.microsoft.com/office/drawing/2014/main" id="{FE7060F8-BFDB-4D81-9587-104FCF9F5934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2076700" y="1525077"/>
                </a:moveTo>
                <a:lnTo>
                  <a:pt x="2076575" y="1527143"/>
                </a:lnTo>
                <a:lnTo>
                  <a:pt x="2076205" y="1529163"/>
                </a:lnTo>
                <a:lnTo>
                  <a:pt x="2075600" y="1531131"/>
                </a:lnTo>
                <a:lnTo>
                  <a:pt x="2074770" y="1533039"/>
                </a:lnTo>
                <a:lnTo>
                  <a:pt x="2073725" y="1534882"/>
                </a:lnTo>
                <a:lnTo>
                  <a:pt x="2072473" y="1536652"/>
                </a:lnTo>
                <a:lnTo>
                  <a:pt x="2071026" y="1538344"/>
                </a:lnTo>
                <a:lnTo>
                  <a:pt x="2069393" y="1539951"/>
                </a:lnTo>
                <a:lnTo>
                  <a:pt x="2067582" y="1541466"/>
                </a:lnTo>
                <a:lnTo>
                  <a:pt x="2065605" y="1542884"/>
                </a:lnTo>
                <a:lnTo>
                  <a:pt x="2063471" y="1544197"/>
                </a:lnTo>
                <a:lnTo>
                  <a:pt x="2061188" y="1545399"/>
                </a:lnTo>
                <a:lnTo>
                  <a:pt x="2058768" y="1546484"/>
                </a:lnTo>
                <a:lnTo>
                  <a:pt x="2056220" y="1547446"/>
                </a:lnTo>
                <a:lnTo>
                  <a:pt x="2053553" y="1548277"/>
                </a:lnTo>
                <a:lnTo>
                  <a:pt x="2050778" y="1548971"/>
                </a:lnTo>
                <a:lnTo>
                  <a:pt x="2047903" y="1549523"/>
                </a:lnTo>
                <a:lnTo>
                  <a:pt x="2044939" y="1549925"/>
                </a:lnTo>
                <a:lnTo>
                  <a:pt x="2041895" y="1550170"/>
                </a:lnTo>
                <a:lnTo>
                  <a:pt x="2038782" y="1550254"/>
                </a:lnTo>
                <a:lnTo>
                  <a:pt x="2035671" y="1550170"/>
                </a:lnTo>
                <a:lnTo>
                  <a:pt x="2032631" y="1549925"/>
                </a:lnTo>
                <a:lnTo>
                  <a:pt x="2029669" y="1549523"/>
                </a:lnTo>
                <a:lnTo>
                  <a:pt x="2026797" y="1548971"/>
                </a:lnTo>
                <a:lnTo>
                  <a:pt x="2024024" y="1548277"/>
                </a:lnTo>
                <a:lnTo>
                  <a:pt x="2021359" y="1547446"/>
                </a:lnTo>
                <a:lnTo>
                  <a:pt x="2018813" y="1546484"/>
                </a:lnTo>
                <a:lnTo>
                  <a:pt x="2016394" y="1545399"/>
                </a:lnTo>
                <a:lnTo>
                  <a:pt x="2014113" y="1544197"/>
                </a:lnTo>
                <a:lnTo>
                  <a:pt x="2011980" y="1542884"/>
                </a:lnTo>
                <a:lnTo>
                  <a:pt x="2010003" y="1541466"/>
                </a:lnTo>
                <a:lnTo>
                  <a:pt x="2008194" y="1539951"/>
                </a:lnTo>
                <a:lnTo>
                  <a:pt x="2006560" y="1538344"/>
                </a:lnTo>
                <a:lnTo>
                  <a:pt x="2005114" y="1536652"/>
                </a:lnTo>
                <a:lnTo>
                  <a:pt x="2003863" y="1534882"/>
                </a:lnTo>
                <a:lnTo>
                  <a:pt x="2002817" y="1533039"/>
                </a:lnTo>
                <a:lnTo>
                  <a:pt x="2001988" y="1531131"/>
                </a:lnTo>
                <a:lnTo>
                  <a:pt x="2001383" y="1529163"/>
                </a:lnTo>
                <a:lnTo>
                  <a:pt x="2001013" y="1527143"/>
                </a:lnTo>
                <a:lnTo>
                  <a:pt x="2000887" y="1525077"/>
                </a:lnTo>
                <a:lnTo>
                  <a:pt x="2001013" y="1523010"/>
                </a:lnTo>
                <a:lnTo>
                  <a:pt x="2001383" y="1520989"/>
                </a:lnTo>
                <a:lnTo>
                  <a:pt x="2001988" y="1519021"/>
                </a:lnTo>
                <a:lnTo>
                  <a:pt x="2002817" y="1517112"/>
                </a:lnTo>
                <a:lnTo>
                  <a:pt x="2003863" y="1515269"/>
                </a:lnTo>
                <a:lnTo>
                  <a:pt x="2005114" y="1513498"/>
                </a:lnTo>
                <a:lnTo>
                  <a:pt x="2006560" y="1511805"/>
                </a:lnTo>
                <a:lnTo>
                  <a:pt x="2008194" y="1510196"/>
                </a:lnTo>
                <a:lnTo>
                  <a:pt x="2010003" y="1508680"/>
                </a:lnTo>
                <a:lnTo>
                  <a:pt x="2011980" y="1507261"/>
                </a:lnTo>
                <a:lnTo>
                  <a:pt x="2014113" y="1505947"/>
                </a:lnTo>
                <a:lnTo>
                  <a:pt x="2016394" y="1504743"/>
                </a:lnTo>
                <a:lnTo>
                  <a:pt x="2018813" y="1503657"/>
                </a:lnTo>
                <a:lnTo>
                  <a:pt x="2021359" y="1502695"/>
                </a:lnTo>
                <a:lnTo>
                  <a:pt x="2024024" y="1501862"/>
                </a:lnTo>
                <a:lnTo>
                  <a:pt x="2026797" y="1501167"/>
                </a:lnTo>
                <a:lnTo>
                  <a:pt x="2029669" y="1500615"/>
                </a:lnTo>
                <a:lnTo>
                  <a:pt x="2032631" y="1500213"/>
                </a:lnTo>
                <a:lnTo>
                  <a:pt x="2035671" y="1499966"/>
                </a:lnTo>
                <a:lnTo>
                  <a:pt x="2038782" y="1499883"/>
                </a:lnTo>
                <a:lnTo>
                  <a:pt x="2041895" y="1499966"/>
                </a:lnTo>
                <a:lnTo>
                  <a:pt x="2044939" y="1500213"/>
                </a:lnTo>
                <a:lnTo>
                  <a:pt x="2047903" y="1500615"/>
                </a:lnTo>
                <a:lnTo>
                  <a:pt x="2050778" y="1501167"/>
                </a:lnTo>
                <a:lnTo>
                  <a:pt x="2053553" y="1501862"/>
                </a:lnTo>
                <a:lnTo>
                  <a:pt x="2056220" y="1502695"/>
                </a:lnTo>
                <a:lnTo>
                  <a:pt x="2058768" y="1503657"/>
                </a:lnTo>
                <a:lnTo>
                  <a:pt x="2061188" y="1504743"/>
                </a:lnTo>
                <a:lnTo>
                  <a:pt x="2063471" y="1505947"/>
                </a:lnTo>
                <a:lnTo>
                  <a:pt x="2065605" y="1507261"/>
                </a:lnTo>
                <a:lnTo>
                  <a:pt x="2067582" y="1508680"/>
                </a:lnTo>
                <a:lnTo>
                  <a:pt x="2069393" y="1510196"/>
                </a:lnTo>
                <a:lnTo>
                  <a:pt x="2071026" y="1511805"/>
                </a:lnTo>
                <a:lnTo>
                  <a:pt x="2072473" y="1513498"/>
                </a:lnTo>
                <a:lnTo>
                  <a:pt x="2073725" y="1515269"/>
                </a:lnTo>
                <a:lnTo>
                  <a:pt x="2074770" y="1517112"/>
                </a:lnTo>
                <a:lnTo>
                  <a:pt x="2075600" y="1519021"/>
                </a:lnTo>
                <a:lnTo>
                  <a:pt x="2076205" y="1520989"/>
                </a:lnTo>
                <a:lnTo>
                  <a:pt x="2076575" y="1523010"/>
                </a:lnTo>
                <a:lnTo>
                  <a:pt x="2076700" y="1525077"/>
                </a:lnTo>
              </a:path>
            </a:pathLst>
          </a:custGeom>
          <a:solidFill>
            <a:srgbClr val="0F9ED5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09" name="published_B_empagliflozin_marker_171">
            <a:extLst>
              <a:ext uri="{FF2B5EF4-FFF2-40B4-BE49-F238E27FC236}">
                <a16:creationId xmlns:a16="http://schemas.microsoft.com/office/drawing/2014/main" id="{A0BAC9C5-62F7-4123-9FE2-7246AA7DC514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455650" y="1525077"/>
                </a:moveTo>
                <a:lnTo>
                  <a:pt x="3455546" y="1526784"/>
                </a:lnTo>
                <a:lnTo>
                  <a:pt x="3455239" y="1528453"/>
                </a:lnTo>
                <a:lnTo>
                  <a:pt x="3454739" y="1530078"/>
                </a:lnTo>
                <a:lnTo>
                  <a:pt x="3454052" y="1531655"/>
                </a:lnTo>
                <a:lnTo>
                  <a:pt x="3453187" y="1533178"/>
                </a:lnTo>
                <a:lnTo>
                  <a:pt x="3452152" y="1534642"/>
                </a:lnTo>
                <a:lnTo>
                  <a:pt x="3450954" y="1536041"/>
                </a:lnTo>
                <a:lnTo>
                  <a:pt x="3449603" y="1537370"/>
                </a:lnTo>
                <a:lnTo>
                  <a:pt x="3448106" y="1538623"/>
                </a:lnTo>
                <a:lnTo>
                  <a:pt x="3446471" y="1539795"/>
                </a:lnTo>
                <a:lnTo>
                  <a:pt x="3444707" y="1540881"/>
                </a:lnTo>
                <a:lnTo>
                  <a:pt x="3442820" y="1541876"/>
                </a:lnTo>
                <a:lnTo>
                  <a:pt x="3440821" y="1542774"/>
                </a:lnTo>
                <a:lnTo>
                  <a:pt x="3438715" y="1543569"/>
                </a:lnTo>
                <a:lnTo>
                  <a:pt x="3436512" y="1544257"/>
                </a:lnTo>
                <a:lnTo>
                  <a:pt x="3434220" y="1544832"/>
                </a:lnTo>
                <a:lnTo>
                  <a:pt x="3431846" y="1545288"/>
                </a:lnTo>
                <a:lnTo>
                  <a:pt x="3429400" y="1545621"/>
                </a:lnTo>
                <a:lnTo>
                  <a:pt x="3426888" y="1545824"/>
                </a:lnTo>
                <a:lnTo>
                  <a:pt x="3424319" y="1545893"/>
                </a:lnTo>
                <a:lnTo>
                  <a:pt x="3421746" y="1545824"/>
                </a:lnTo>
                <a:lnTo>
                  <a:pt x="3419232" y="1545621"/>
                </a:lnTo>
                <a:lnTo>
                  <a:pt x="3416784" y="1545288"/>
                </a:lnTo>
                <a:lnTo>
                  <a:pt x="3414410" y="1544832"/>
                </a:lnTo>
                <a:lnTo>
                  <a:pt x="3412118" y="1544257"/>
                </a:lnTo>
                <a:lnTo>
                  <a:pt x="3409916" y="1543569"/>
                </a:lnTo>
                <a:lnTo>
                  <a:pt x="3407812" y="1542774"/>
                </a:lnTo>
                <a:lnTo>
                  <a:pt x="3405815" y="1541876"/>
                </a:lnTo>
                <a:lnTo>
                  <a:pt x="3403931" y="1540881"/>
                </a:lnTo>
                <a:lnTo>
                  <a:pt x="3402169" y="1539795"/>
                </a:lnTo>
                <a:lnTo>
                  <a:pt x="3400537" y="1538623"/>
                </a:lnTo>
                <a:lnTo>
                  <a:pt x="3399043" y="1537370"/>
                </a:lnTo>
                <a:lnTo>
                  <a:pt x="3397695" y="1536041"/>
                </a:lnTo>
                <a:lnTo>
                  <a:pt x="3396500" y="1534642"/>
                </a:lnTo>
                <a:lnTo>
                  <a:pt x="3395468" y="1533178"/>
                </a:lnTo>
                <a:lnTo>
                  <a:pt x="3394605" y="1531655"/>
                </a:lnTo>
                <a:lnTo>
                  <a:pt x="3393921" y="1530078"/>
                </a:lnTo>
                <a:lnTo>
                  <a:pt x="3393422" y="1528453"/>
                </a:lnTo>
                <a:lnTo>
                  <a:pt x="3393116" y="1526784"/>
                </a:lnTo>
                <a:lnTo>
                  <a:pt x="3393013" y="1525077"/>
                </a:lnTo>
                <a:lnTo>
                  <a:pt x="3393116" y="1523370"/>
                </a:lnTo>
                <a:lnTo>
                  <a:pt x="3393422" y="1521701"/>
                </a:lnTo>
                <a:lnTo>
                  <a:pt x="3393921" y="1520075"/>
                </a:lnTo>
                <a:lnTo>
                  <a:pt x="3394605" y="1518498"/>
                </a:lnTo>
                <a:lnTo>
                  <a:pt x="3395468" y="1516975"/>
                </a:lnTo>
                <a:lnTo>
                  <a:pt x="3396500" y="1515511"/>
                </a:lnTo>
                <a:lnTo>
                  <a:pt x="3397695" y="1514112"/>
                </a:lnTo>
                <a:lnTo>
                  <a:pt x="3399043" y="1512784"/>
                </a:lnTo>
                <a:lnTo>
                  <a:pt x="3400537" y="1511530"/>
                </a:lnTo>
                <a:lnTo>
                  <a:pt x="3402169" y="1510358"/>
                </a:lnTo>
                <a:lnTo>
                  <a:pt x="3403931" y="1509272"/>
                </a:lnTo>
                <a:lnTo>
                  <a:pt x="3405815" y="1508277"/>
                </a:lnTo>
                <a:lnTo>
                  <a:pt x="3407812" y="1507379"/>
                </a:lnTo>
                <a:lnTo>
                  <a:pt x="3409916" y="1506584"/>
                </a:lnTo>
                <a:lnTo>
                  <a:pt x="3412118" y="1505896"/>
                </a:lnTo>
                <a:lnTo>
                  <a:pt x="3414410" y="1505321"/>
                </a:lnTo>
                <a:lnTo>
                  <a:pt x="3416784" y="1504865"/>
                </a:lnTo>
                <a:lnTo>
                  <a:pt x="3419232" y="1504532"/>
                </a:lnTo>
                <a:lnTo>
                  <a:pt x="3421746" y="1504329"/>
                </a:lnTo>
                <a:lnTo>
                  <a:pt x="3424319" y="1504260"/>
                </a:lnTo>
                <a:lnTo>
                  <a:pt x="3426888" y="1504329"/>
                </a:lnTo>
                <a:lnTo>
                  <a:pt x="3429400" y="1504532"/>
                </a:lnTo>
                <a:lnTo>
                  <a:pt x="3431846" y="1504865"/>
                </a:lnTo>
                <a:lnTo>
                  <a:pt x="3434220" y="1505321"/>
                </a:lnTo>
                <a:lnTo>
                  <a:pt x="3436512" y="1505896"/>
                </a:lnTo>
                <a:lnTo>
                  <a:pt x="3438715" y="1506584"/>
                </a:lnTo>
                <a:lnTo>
                  <a:pt x="3440821" y="1507379"/>
                </a:lnTo>
                <a:lnTo>
                  <a:pt x="3442820" y="1508277"/>
                </a:lnTo>
                <a:lnTo>
                  <a:pt x="3444707" y="1509272"/>
                </a:lnTo>
                <a:lnTo>
                  <a:pt x="3446471" y="1510358"/>
                </a:lnTo>
                <a:lnTo>
                  <a:pt x="3448106" y="1511530"/>
                </a:lnTo>
                <a:lnTo>
                  <a:pt x="3449603" y="1512784"/>
                </a:lnTo>
                <a:lnTo>
                  <a:pt x="3450954" y="1514112"/>
                </a:lnTo>
                <a:lnTo>
                  <a:pt x="3452152" y="1515511"/>
                </a:lnTo>
                <a:lnTo>
                  <a:pt x="3453187" y="1516975"/>
                </a:lnTo>
                <a:lnTo>
                  <a:pt x="3454052" y="1518498"/>
                </a:lnTo>
                <a:lnTo>
                  <a:pt x="3454739" y="1520075"/>
                </a:lnTo>
                <a:lnTo>
                  <a:pt x="3455239" y="1521701"/>
                </a:lnTo>
                <a:lnTo>
                  <a:pt x="3455546" y="1523370"/>
                </a:lnTo>
                <a:lnTo>
                  <a:pt x="3455650" y="1525077"/>
                </a:lnTo>
              </a:path>
            </a:pathLst>
          </a:custGeom>
          <a:solidFill>
            <a:srgbClr val="0F9ED5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10" name="published_B_empagliflozin_marker_172">
            <a:extLst>
              <a:ext uri="{FF2B5EF4-FFF2-40B4-BE49-F238E27FC236}">
                <a16:creationId xmlns:a16="http://schemas.microsoft.com/office/drawing/2014/main" id="{D2803C2D-E11F-41B1-A3D6-2FE229E95393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917519" y="1656721"/>
                </a:moveTo>
                <a:lnTo>
                  <a:pt x="3917416" y="1658428"/>
                </a:lnTo>
                <a:lnTo>
                  <a:pt x="3917109" y="1660097"/>
                </a:lnTo>
                <a:lnTo>
                  <a:pt x="3916609" y="1661722"/>
                </a:lnTo>
                <a:lnTo>
                  <a:pt x="3915922" y="1663299"/>
                </a:lnTo>
                <a:lnTo>
                  <a:pt x="3915057" y="1664822"/>
                </a:lnTo>
                <a:lnTo>
                  <a:pt x="3914022" y="1666286"/>
                </a:lnTo>
                <a:lnTo>
                  <a:pt x="3912825" y="1667685"/>
                </a:lnTo>
                <a:lnTo>
                  <a:pt x="3911474" y="1669014"/>
                </a:lnTo>
                <a:lnTo>
                  <a:pt x="3909977" y="1670267"/>
                </a:lnTo>
                <a:lnTo>
                  <a:pt x="3908342" y="1671439"/>
                </a:lnTo>
                <a:lnTo>
                  <a:pt x="3906577" y="1672526"/>
                </a:lnTo>
                <a:lnTo>
                  <a:pt x="3904691" y="1673520"/>
                </a:lnTo>
                <a:lnTo>
                  <a:pt x="3902691" y="1674418"/>
                </a:lnTo>
                <a:lnTo>
                  <a:pt x="3900586" y="1675213"/>
                </a:lnTo>
                <a:lnTo>
                  <a:pt x="3898383" y="1675901"/>
                </a:lnTo>
                <a:lnTo>
                  <a:pt x="3896091" y="1676476"/>
                </a:lnTo>
                <a:lnTo>
                  <a:pt x="3893717" y="1676932"/>
                </a:lnTo>
                <a:lnTo>
                  <a:pt x="3891270" y="1677265"/>
                </a:lnTo>
                <a:lnTo>
                  <a:pt x="3888758" y="1677468"/>
                </a:lnTo>
                <a:lnTo>
                  <a:pt x="3886189" y="1677537"/>
                </a:lnTo>
                <a:lnTo>
                  <a:pt x="3883617" y="1677468"/>
                </a:lnTo>
                <a:lnTo>
                  <a:pt x="3881103" y="1677265"/>
                </a:lnTo>
                <a:lnTo>
                  <a:pt x="3878654" y="1676932"/>
                </a:lnTo>
                <a:lnTo>
                  <a:pt x="3876280" y="1676476"/>
                </a:lnTo>
                <a:lnTo>
                  <a:pt x="3873988" y="1675901"/>
                </a:lnTo>
                <a:lnTo>
                  <a:pt x="3871786" y="1675213"/>
                </a:lnTo>
                <a:lnTo>
                  <a:pt x="3869682" y="1674418"/>
                </a:lnTo>
                <a:lnTo>
                  <a:pt x="3867684" y="1673520"/>
                </a:lnTo>
                <a:lnTo>
                  <a:pt x="3865800" y="1672526"/>
                </a:lnTo>
                <a:lnTo>
                  <a:pt x="3864039" y="1671439"/>
                </a:lnTo>
                <a:lnTo>
                  <a:pt x="3862406" y="1670267"/>
                </a:lnTo>
                <a:lnTo>
                  <a:pt x="3860912" y="1669014"/>
                </a:lnTo>
                <a:lnTo>
                  <a:pt x="3859564" y="1667685"/>
                </a:lnTo>
                <a:lnTo>
                  <a:pt x="3858370" y="1666286"/>
                </a:lnTo>
                <a:lnTo>
                  <a:pt x="3857337" y="1664822"/>
                </a:lnTo>
                <a:lnTo>
                  <a:pt x="3856475" y="1663299"/>
                </a:lnTo>
                <a:lnTo>
                  <a:pt x="3855790" y="1661722"/>
                </a:lnTo>
                <a:lnTo>
                  <a:pt x="3855291" y="1660097"/>
                </a:lnTo>
                <a:lnTo>
                  <a:pt x="3854986" y="1658428"/>
                </a:lnTo>
                <a:lnTo>
                  <a:pt x="3854882" y="1656721"/>
                </a:lnTo>
                <a:lnTo>
                  <a:pt x="3854986" y="1655014"/>
                </a:lnTo>
                <a:lnTo>
                  <a:pt x="3855291" y="1653345"/>
                </a:lnTo>
                <a:lnTo>
                  <a:pt x="3855790" y="1651719"/>
                </a:lnTo>
                <a:lnTo>
                  <a:pt x="3856475" y="1650142"/>
                </a:lnTo>
                <a:lnTo>
                  <a:pt x="3857337" y="1648619"/>
                </a:lnTo>
                <a:lnTo>
                  <a:pt x="3858370" y="1647155"/>
                </a:lnTo>
                <a:lnTo>
                  <a:pt x="3859564" y="1645756"/>
                </a:lnTo>
                <a:lnTo>
                  <a:pt x="3860912" y="1644428"/>
                </a:lnTo>
                <a:lnTo>
                  <a:pt x="3862406" y="1643174"/>
                </a:lnTo>
                <a:lnTo>
                  <a:pt x="3864039" y="1642002"/>
                </a:lnTo>
                <a:lnTo>
                  <a:pt x="3865800" y="1640916"/>
                </a:lnTo>
                <a:lnTo>
                  <a:pt x="3867684" y="1639921"/>
                </a:lnTo>
                <a:lnTo>
                  <a:pt x="3869682" y="1639023"/>
                </a:lnTo>
                <a:lnTo>
                  <a:pt x="3871786" y="1638228"/>
                </a:lnTo>
                <a:lnTo>
                  <a:pt x="3873988" y="1637540"/>
                </a:lnTo>
                <a:lnTo>
                  <a:pt x="3876280" y="1636966"/>
                </a:lnTo>
                <a:lnTo>
                  <a:pt x="3878654" y="1636509"/>
                </a:lnTo>
                <a:lnTo>
                  <a:pt x="3881103" y="1636177"/>
                </a:lnTo>
                <a:lnTo>
                  <a:pt x="3883617" y="1635973"/>
                </a:lnTo>
                <a:lnTo>
                  <a:pt x="3886189" y="1635904"/>
                </a:lnTo>
                <a:lnTo>
                  <a:pt x="3888758" y="1635973"/>
                </a:lnTo>
                <a:lnTo>
                  <a:pt x="3891270" y="1636177"/>
                </a:lnTo>
                <a:lnTo>
                  <a:pt x="3893717" y="1636509"/>
                </a:lnTo>
                <a:lnTo>
                  <a:pt x="3896091" y="1636966"/>
                </a:lnTo>
                <a:lnTo>
                  <a:pt x="3898383" y="1637540"/>
                </a:lnTo>
                <a:lnTo>
                  <a:pt x="3900586" y="1638228"/>
                </a:lnTo>
                <a:lnTo>
                  <a:pt x="3902691" y="1639023"/>
                </a:lnTo>
                <a:lnTo>
                  <a:pt x="3904691" y="1639921"/>
                </a:lnTo>
                <a:lnTo>
                  <a:pt x="3906577" y="1640916"/>
                </a:lnTo>
                <a:lnTo>
                  <a:pt x="3908342" y="1642002"/>
                </a:lnTo>
                <a:lnTo>
                  <a:pt x="3909977" y="1643174"/>
                </a:lnTo>
                <a:lnTo>
                  <a:pt x="3911474" y="1644428"/>
                </a:lnTo>
                <a:lnTo>
                  <a:pt x="3912825" y="1645756"/>
                </a:lnTo>
                <a:lnTo>
                  <a:pt x="3914022" y="1647155"/>
                </a:lnTo>
                <a:lnTo>
                  <a:pt x="3915057" y="1648619"/>
                </a:lnTo>
                <a:lnTo>
                  <a:pt x="3915922" y="1650142"/>
                </a:lnTo>
                <a:lnTo>
                  <a:pt x="3916609" y="1651719"/>
                </a:lnTo>
                <a:lnTo>
                  <a:pt x="3917109" y="1653345"/>
                </a:lnTo>
                <a:lnTo>
                  <a:pt x="3917416" y="1655014"/>
                </a:lnTo>
                <a:lnTo>
                  <a:pt x="3917519" y="1656721"/>
                </a:lnTo>
              </a:path>
            </a:pathLst>
          </a:custGeom>
          <a:solidFill>
            <a:srgbClr val="0F9ED5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11" name="published_B_empagliflozin_curve_173">
            <a:extLst>
              <a:ext uri="{FF2B5EF4-FFF2-40B4-BE49-F238E27FC236}">
                <a16:creationId xmlns:a16="http://schemas.microsoft.com/office/drawing/2014/main" id="{F92BFCE1-9529-425C-B960-CFE2ED4510B0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292044" y="1696354"/>
                </a:moveTo>
                <a:lnTo>
                  <a:pt x="653230" y="1651781"/>
                </a:lnTo>
                <a:moveTo>
                  <a:pt x="653230" y="1651781"/>
                </a:moveTo>
                <a:lnTo>
                  <a:pt x="1115097" y="1609379"/>
                </a:lnTo>
                <a:moveTo>
                  <a:pt x="1115097" y="1609379"/>
                </a:moveTo>
                <a:lnTo>
                  <a:pt x="2038782" y="1525595"/>
                </a:lnTo>
                <a:moveTo>
                  <a:pt x="2038782" y="1525595"/>
                </a:moveTo>
                <a:lnTo>
                  <a:pt x="3424333" y="1525077"/>
                </a:lnTo>
                <a:moveTo>
                  <a:pt x="3424333" y="1525077"/>
                </a:moveTo>
                <a:lnTo>
                  <a:pt x="3886175" y="1663993"/>
                </a:lnTo>
              </a:path>
            </a:pathLst>
          </a:custGeom>
          <a:noFill/>
          <a:ln w="21031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12" name="published_B_empagliflozin_error_bar_174">
            <a:extLst>
              <a:ext uri="{FF2B5EF4-FFF2-40B4-BE49-F238E27FC236}">
                <a16:creationId xmlns:a16="http://schemas.microsoft.com/office/drawing/2014/main" id="{E2A6C839-EEC7-40F2-8D80-652E4C7F0849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02718" y="1850289"/>
                </a:moveTo>
                <a:lnTo>
                  <a:pt x="703801" y="1850289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13" name="published_B_empagliflozin_error_bar_175">
            <a:extLst>
              <a:ext uri="{FF2B5EF4-FFF2-40B4-BE49-F238E27FC236}">
                <a16:creationId xmlns:a16="http://schemas.microsoft.com/office/drawing/2014/main" id="{9E343952-A2A6-464D-9743-C840F759D36A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02718" y="1455350"/>
                </a:moveTo>
                <a:lnTo>
                  <a:pt x="703801" y="1455350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14" name="published_B_empagliflozin_error_bar_176">
            <a:extLst>
              <a:ext uri="{FF2B5EF4-FFF2-40B4-BE49-F238E27FC236}">
                <a16:creationId xmlns:a16="http://schemas.microsoft.com/office/drawing/2014/main" id="{C8E42805-828E-4456-BA8F-B5FB3842EE98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53248" y="1455350"/>
                </a:moveTo>
                <a:lnTo>
                  <a:pt x="653248" y="1850297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15" name="published_B_empagliflozin_error_bar_177">
            <a:extLst>
              <a:ext uri="{FF2B5EF4-FFF2-40B4-BE49-F238E27FC236}">
                <a16:creationId xmlns:a16="http://schemas.microsoft.com/office/drawing/2014/main" id="{056E02F9-9F86-4679-8F2B-3FEDDB86D486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064562" y="1838841"/>
                </a:moveTo>
                <a:lnTo>
                  <a:pt x="1165646" y="1838841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16" name="published_B_empagliflozin_error_bar_178">
            <a:extLst>
              <a:ext uri="{FF2B5EF4-FFF2-40B4-BE49-F238E27FC236}">
                <a16:creationId xmlns:a16="http://schemas.microsoft.com/office/drawing/2014/main" id="{7E6B2956-0024-4A70-B993-904A03EDBA9C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064562" y="1381461"/>
                </a:moveTo>
                <a:lnTo>
                  <a:pt x="1165646" y="1381461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17" name="published_B_empagliflozin_error_bar_179">
            <a:extLst>
              <a:ext uri="{FF2B5EF4-FFF2-40B4-BE49-F238E27FC236}">
                <a16:creationId xmlns:a16="http://schemas.microsoft.com/office/drawing/2014/main" id="{66472CA9-9931-44CB-8DBB-CF88A0923DF4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115095" y="1381461"/>
                </a:moveTo>
                <a:lnTo>
                  <a:pt x="1115095" y="1838842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18" name="published_B_empagliflozin_error_bar_180">
            <a:extLst>
              <a:ext uri="{FF2B5EF4-FFF2-40B4-BE49-F238E27FC236}">
                <a16:creationId xmlns:a16="http://schemas.microsoft.com/office/drawing/2014/main" id="{511E8ABE-A8CD-4C9B-93AA-3BE28A82983C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988255" y="1772240"/>
                </a:moveTo>
                <a:lnTo>
                  <a:pt x="2089338" y="1772240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19" name="published_B_empagliflozin_error_bar_181">
            <a:extLst>
              <a:ext uri="{FF2B5EF4-FFF2-40B4-BE49-F238E27FC236}">
                <a16:creationId xmlns:a16="http://schemas.microsoft.com/office/drawing/2014/main" id="{017A3364-DA23-4F36-B34A-74371F1A444A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988255" y="1276872"/>
                </a:moveTo>
                <a:lnTo>
                  <a:pt x="2089338" y="1276872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20" name="published_B_empagliflozin_error_bar_182">
            <a:extLst>
              <a:ext uri="{FF2B5EF4-FFF2-40B4-BE49-F238E27FC236}">
                <a16:creationId xmlns:a16="http://schemas.microsoft.com/office/drawing/2014/main" id="{28127443-1073-4E39-A015-0C94FEDDD7CF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2038787" y="1276872"/>
                </a:moveTo>
                <a:lnTo>
                  <a:pt x="2038787" y="1772243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21" name="published_B_empagliflozin_error_bar_183">
            <a:extLst>
              <a:ext uri="{FF2B5EF4-FFF2-40B4-BE49-F238E27FC236}">
                <a16:creationId xmlns:a16="http://schemas.microsoft.com/office/drawing/2014/main" id="{61D0C382-C656-4499-8E1E-A2A20A30EC2C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373792" y="1767036"/>
                </a:moveTo>
                <a:lnTo>
                  <a:pt x="3474875" y="1767036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22" name="published_B_empagliflozin_error_bar_184">
            <a:extLst>
              <a:ext uri="{FF2B5EF4-FFF2-40B4-BE49-F238E27FC236}">
                <a16:creationId xmlns:a16="http://schemas.microsoft.com/office/drawing/2014/main" id="{40FE5114-C470-432A-A3C3-A4B359F538AB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373792" y="1284155"/>
                </a:moveTo>
                <a:lnTo>
                  <a:pt x="3474875" y="1284155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23" name="published_B_empagliflozin_error_bar_185">
            <a:extLst>
              <a:ext uri="{FF2B5EF4-FFF2-40B4-BE49-F238E27FC236}">
                <a16:creationId xmlns:a16="http://schemas.microsoft.com/office/drawing/2014/main" id="{1ADEB894-8442-486B-87A8-55EF2C97E8B4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424321" y="1284155"/>
                </a:moveTo>
                <a:lnTo>
                  <a:pt x="3424321" y="1767047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24" name="published_B_empagliflozin_error_bar_186">
            <a:extLst>
              <a:ext uri="{FF2B5EF4-FFF2-40B4-BE49-F238E27FC236}">
                <a16:creationId xmlns:a16="http://schemas.microsoft.com/office/drawing/2014/main" id="{AE3DE926-0840-4CDB-89BE-DB0290ABB0E8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835659" y="1885676"/>
                </a:moveTo>
                <a:lnTo>
                  <a:pt x="3936744" y="1885676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25" name="published_B_empagliflozin_error_bar_187">
            <a:extLst>
              <a:ext uri="{FF2B5EF4-FFF2-40B4-BE49-F238E27FC236}">
                <a16:creationId xmlns:a16="http://schemas.microsoft.com/office/drawing/2014/main" id="{182E0D0D-4FA0-4101-87D4-897B3D41FE3D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835659" y="1417366"/>
                </a:moveTo>
                <a:lnTo>
                  <a:pt x="3936744" y="1417366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26" name="published_B_empagliflozin_error_bar_188">
            <a:extLst>
              <a:ext uri="{FF2B5EF4-FFF2-40B4-BE49-F238E27FC236}">
                <a16:creationId xmlns:a16="http://schemas.microsoft.com/office/drawing/2014/main" id="{CFD32A90-51A9-4AFA-9CFC-D56E531B02C7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886191" y="1417366"/>
                </a:moveTo>
                <a:lnTo>
                  <a:pt x="3886191" y="1885673"/>
                </a:lnTo>
              </a:path>
            </a:pathLst>
          </a:custGeom>
          <a:noFill/>
          <a:ln w="10526">
            <a:solidFill>
              <a:srgbClr val="0F9ED5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27" name="published_B_finerenone_error_bar_189">
            <a:extLst>
              <a:ext uri="{FF2B5EF4-FFF2-40B4-BE49-F238E27FC236}">
                <a16:creationId xmlns:a16="http://schemas.microsoft.com/office/drawing/2014/main" id="{C0218E64-1F1D-4D5C-BF1F-579FD17730FB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02718" y="662867"/>
                </a:moveTo>
                <a:lnTo>
                  <a:pt x="703801" y="662867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28" name="published_B_finerenone_error_bar_190">
            <a:extLst>
              <a:ext uri="{FF2B5EF4-FFF2-40B4-BE49-F238E27FC236}">
                <a16:creationId xmlns:a16="http://schemas.microsoft.com/office/drawing/2014/main" id="{CF4DCF5C-A5EA-40FC-90F2-C042C887BD48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02718" y="1116606"/>
                </a:moveTo>
                <a:lnTo>
                  <a:pt x="703801" y="1116606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29" name="published_B_finerenone_error_bar_191">
            <a:extLst>
              <a:ext uri="{FF2B5EF4-FFF2-40B4-BE49-F238E27FC236}">
                <a16:creationId xmlns:a16="http://schemas.microsoft.com/office/drawing/2014/main" id="{DE0120EB-0370-4DDB-BD43-0523F411DFA8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53248" y="662867"/>
                </a:moveTo>
                <a:lnTo>
                  <a:pt x="653248" y="1116606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30" name="published_B_finerenone_error_bar_192">
            <a:extLst>
              <a:ext uri="{FF2B5EF4-FFF2-40B4-BE49-F238E27FC236}">
                <a16:creationId xmlns:a16="http://schemas.microsoft.com/office/drawing/2014/main" id="{4ACFA6EB-5EEC-42E9-88E8-05E63E28AE71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064562" y="754445"/>
                </a:moveTo>
                <a:lnTo>
                  <a:pt x="1165646" y="754445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31" name="published_B_finerenone_error_bar_193">
            <a:extLst>
              <a:ext uri="{FF2B5EF4-FFF2-40B4-BE49-F238E27FC236}">
                <a16:creationId xmlns:a16="http://schemas.microsoft.com/office/drawing/2014/main" id="{F74DF0F3-1E3B-4019-9736-4A4C144180EE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064562" y="1279992"/>
                </a:moveTo>
                <a:lnTo>
                  <a:pt x="1165646" y="1279992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32" name="published_B_finerenone_error_bar_194">
            <a:extLst>
              <a:ext uri="{FF2B5EF4-FFF2-40B4-BE49-F238E27FC236}">
                <a16:creationId xmlns:a16="http://schemas.microsoft.com/office/drawing/2014/main" id="{B6E1EC96-303A-43A9-8A21-4647A12BF760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115095" y="754445"/>
                </a:moveTo>
                <a:lnTo>
                  <a:pt x="1115095" y="1280006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33" name="published_B_finerenone_error_bar_195">
            <a:extLst>
              <a:ext uri="{FF2B5EF4-FFF2-40B4-BE49-F238E27FC236}">
                <a16:creationId xmlns:a16="http://schemas.microsoft.com/office/drawing/2014/main" id="{D5138F7F-A2CF-486E-8488-C166F42FD2F5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988255" y="569204"/>
                </a:moveTo>
                <a:lnTo>
                  <a:pt x="2089338" y="569204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34" name="published_B_finerenone_error_bar_196">
            <a:extLst>
              <a:ext uri="{FF2B5EF4-FFF2-40B4-BE49-F238E27FC236}">
                <a16:creationId xmlns:a16="http://schemas.microsoft.com/office/drawing/2014/main" id="{35C83E20-F87E-418C-AF4B-C1B2949F2029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988255" y="1128053"/>
                </a:moveTo>
                <a:lnTo>
                  <a:pt x="2089338" y="1128053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35" name="published_B_finerenone_error_bar_197">
            <a:extLst>
              <a:ext uri="{FF2B5EF4-FFF2-40B4-BE49-F238E27FC236}">
                <a16:creationId xmlns:a16="http://schemas.microsoft.com/office/drawing/2014/main" id="{82F25CF8-4FAB-4FCB-9159-F820729DD75C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2038787" y="569204"/>
                </a:moveTo>
                <a:lnTo>
                  <a:pt x="2038787" y="1128044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36" name="published_B_finerenone_error_bar_198">
            <a:extLst>
              <a:ext uri="{FF2B5EF4-FFF2-40B4-BE49-F238E27FC236}">
                <a16:creationId xmlns:a16="http://schemas.microsoft.com/office/drawing/2014/main" id="{D4BB584E-711B-48A2-82C7-D75AE71D8084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373792" y="700330"/>
                </a:moveTo>
                <a:lnTo>
                  <a:pt x="3474875" y="700330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37" name="published_B_finerenone_error_bar_199">
            <a:extLst>
              <a:ext uri="{FF2B5EF4-FFF2-40B4-BE49-F238E27FC236}">
                <a16:creationId xmlns:a16="http://schemas.microsoft.com/office/drawing/2014/main" id="{BA953E30-5395-4F7F-AE80-8F1DDDD4CE21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373792" y="1248773"/>
                </a:moveTo>
                <a:lnTo>
                  <a:pt x="3474875" y="1248773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38" name="published_B_finerenone_error_bar_200">
            <a:extLst>
              <a:ext uri="{FF2B5EF4-FFF2-40B4-BE49-F238E27FC236}">
                <a16:creationId xmlns:a16="http://schemas.microsoft.com/office/drawing/2014/main" id="{529E803D-E1F6-463D-9B30-6BC49CC1A371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424321" y="700330"/>
                </a:moveTo>
                <a:lnTo>
                  <a:pt x="3424321" y="1248779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39" name="published_B_finerenone_error_bar_201">
            <a:extLst>
              <a:ext uri="{FF2B5EF4-FFF2-40B4-BE49-F238E27FC236}">
                <a16:creationId xmlns:a16="http://schemas.microsoft.com/office/drawing/2014/main" id="{320382CB-2AC6-4C4A-BB33-074C189007EB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835659" y="1370535"/>
                </a:moveTo>
                <a:lnTo>
                  <a:pt x="3936744" y="1370535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40" name="published_B_finerenone_error_bar_202">
            <a:extLst>
              <a:ext uri="{FF2B5EF4-FFF2-40B4-BE49-F238E27FC236}">
                <a16:creationId xmlns:a16="http://schemas.microsoft.com/office/drawing/2014/main" id="{A42164D2-882A-457F-B33D-6DE46758A258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835659" y="1849250"/>
                </a:moveTo>
                <a:lnTo>
                  <a:pt x="3936744" y="1849250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41" name="published_B_finerenone_error_bar_203">
            <a:extLst>
              <a:ext uri="{FF2B5EF4-FFF2-40B4-BE49-F238E27FC236}">
                <a16:creationId xmlns:a16="http://schemas.microsoft.com/office/drawing/2014/main" id="{0C6ED532-393A-4FFD-89AF-AE30FF1BBC1B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886191" y="1370535"/>
                </a:moveTo>
                <a:lnTo>
                  <a:pt x="3886191" y="1849267"/>
                </a:lnTo>
              </a:path>
            </a:pathLst>
          </a:custGeom>
          <a:noFill/>
          <a:ln w="10526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42" name="published_B_finerenone_marker_204">
            <a:extLst>
              <a:ext uri="{FF2B5EF4-FFF2-40B4-BE49-F238E27FC236}">
                <a16:creationId xmlns:a16="http://schemas.microsoft.com/office/drawing/2014/main" id="{59D13792-D336-44C4-B616-FF277B148035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917519" y="1611715"/>
                </a:moveTo>
                <a:lnTo>
                  <a:pt x="3917416" y="1613422"/>
                </a:lnTo>
                <a:lnTo>
                  <a:pt x="3917109" y="1615091"/>
                </a:lnTo>
                <a:lnTo>
                  <a:pt x="3916609" y="1616717"/>
                </a:lnTo>
                <a:lnTo>
                  <a:pt x="3915922" y="1618294"/>
                </a:lnTo>
                <a:lnTo>
                  <a:pt x="3915057" y="1619817"/>
                </a:lnTo>
                <a:lnTo>
                  <a:pt x="3914022" y="1621281"/>
                </a:lnTo>
                <a:lnTo>
                  <a:pt x="3912825" y="1622680"/>
                </a:lnTo>
                <a:lnTo>
                  <a:pt x="3911474" y="1624008"/>
                </a:lnTo>
                <a:lnTo>
                  <a:pt x="3909977" y="1625262"/>
                </a:lnTo>
                <a:lnTo>
                  <a:pt x="3908342" y="1626434"/>
                </a:lnTo>
                <a:lnTo>
                  <a:pt x="3906577" y="1627520"/>
                </a:lnTo>
                <a:lnTo>
                  <a:pt x="3904691" y="1628515"/>
                </a:lnTo>
                <a:lnTo>
                  <a:pt x="3902691" y="1629413"/>
                </a:lnTo>
                <a:lnTo>
                  <a:pt x="3900586" y="1630208"/>
                </a:lnTo>
                <a:lnTo>
                  <a:pt x="3898383" y="1630896"/>
                </a:lnTo>
                <a:lnTo>
                  <a:pt x="3896091" y="1631470"/>
                </a:lnTo>
                <a:lnTo>
                  <a:pt x="3893717" y="1631927"/>
                </a:lnTo>
                <a:lnTo>
                  <a:pt x="3891270" y="1632259"/>
                </a:lnTo>
                <a:lnTo>
                  <a:pt x="3888758" y="1632463"/>
                </a:lnTo>
                <a:lnTo>
                  <a:pt x="3886189" y="1632532"/>
                </a:lnTo>
                <a:lnTo>
                  <a:pt x="3883617" y="1632463"/>
                </a:lnTo>
                <a:lnTo>
                  <a:pt x="3881103" y="1632259"/>
                </a:lnTo>
                <a:lnTo>
                  <a:pt x="3878654" y="1631927"/>
                </a:lnTo>
                <a:lnTo>
                  <a:pt x="3876280" y="1631470"/>
                </a:lnTo>
                <a:lnTo>
                  <a:pt x="3873988" y="1630896"/>
                </a:lnTo>
                <a:lnTo>
                  <a:pt x="3871786" y="1630208"/>
                </a:lnTo>
                <a:lnTo>
                  <a:pt x="3869682" y="1629413"/>
                </a:lnTo>
                <a:lnTo>
                  <a:pt x="3867684" y="1628515"/>
                </a:lnTo>
                <a:lnTo>
                  <a:pt x="3865800" y="1627520"/>
                </a:lnTo>
                <a:lnTo>
                  <a:pt x="3864039" y="1626434"/>
                </a:lnTo>
                <a:lnTo>
                  <a:pt x="3862406" y="1625262"/>
                </a:lnTo>
                <a:lnTo>
                  <a:pt x="3860912" y="1624008"/>
                </a:lnTo>
                <a:lnTo>
                  <a:pt x="3859564" y="1622680"/>
                </a:lnTo>
                <a:lnTo>
                  <a:pt x="3858370" y="1621281"/>
                </a:lnTo>
                <a:lnTo>
                  <a:pt x="3857337" y="1619817"/>
                </a:lnTo>
                <a:lnTo>
                  <a:pt x="3856475" y="1618294"/>
                </a:lnTo>
                <a:lnTo>
                  <a:pt x="3855790" y="1616717"/>
                </a:lnTo>
                <a:lnTo>
                  <a:pt x="3855291" y="1615091"/>
                </a:lnTo>
                <a:lnTo>
                  <a:pt x="3854986" y="1613422"/>
                </a:lnTo>
                <a:lnTo>
                  <a:pt x="3854882" y="1611715"/>
                </a:lnTo>
                <a:lnTo>
                  <a:pt x="3854986" y="1610008"/>
                </a:lnTo>
                <a:lnTo>
                  <a:pt x="3855291" y="1608339"/>
                </a:lnTo>
                <a:lnTo>
                  <a:pt x="3855790" y="1606714"/>
                </a:lnTo>
                <a:lnTo>
                  <a:pt x="3856475" y="1605137"/>
                </a:lnTo>
                <a:lnTo>
                  <a:pt x="3857337" y="1603614"/>
                </a:lnTo>
                <a:lnTo>
                  <a:pt x="3858370" y="1602150"/>
                </a:lnTo>
                <a:lnTo>
                  <a:pt x="3859564" y="1600751"/>
                </a:lnTo>
                <a:lnTo>
                  <a:pt x="3860912" y="1599422"/>
                </a:lnTo>
                <a:lnTo>
                  <a:pt x="3862406" y="1598169"/>
                </a:lnTo>
                <a:lnTo>
                  <a:pt x="3864039" y="1596997"/>
                </a:lnTo>
                <a:lnTo>
                  <a:pt x="3865800" y="1595910"/>
                </a:lnTo>
                <a:lnTo>
                  <a:pt x="3867684" y="1594916"/>
                </a:lnTo>
                <a:lnTo>
                  <a:pt x="3869682" y="1594018"/>
                </a:lnTo>
                <a:lnTo>
                  <a:pt x="3871786" y="1593223"/>
                </a:lnTo>
                <a:lnTo>
                  <a:pt x="3873988" y="1592535"/>
                </a:lnTo>
                <a:lnTo>
                  <a:pt x="3876280" y="1591960"/>
                </a:lnTo>
                <a:lnTo>
                  <a:pt x="3878654" y="1591504"/>
                </a:lnTo>
                <a:lnTo>
                  <a:pt x="3881103" y="1591171"/>
                </a:lnTo>
                <a:lnTo>
                  <a:pt x="3883617" y="1590968"/>
                </a:lnTo>
                <a:lnTo>
                  <a:pt x="3886189" y="1590899"/>
                </a:lnTo>
                <a:lnTo>
                  <a:pt x="3888758" y="1590968"/>
                </a:lnTo>
                <a:lnTo>
                  <a:pt x="3891270" y="1591171"/>
                </a:lnTo>
                <a:lnTo>
                  <a:pt x="3893717" y="1591504"/>
                </a:lnTo>
                <a:lnTo>
                  <a:pt x="3896091" y="1591960"/>
                </a:lnTo>
                <a:lnTo>
                  <a:pt x="3898383" y="1592535"/>
                </a:lnTo>
                <a:lnTo>
                  <a:pt x="3900586" y="1593223"/>
                </a:lnTo>
                <a:lnTo>
                  <a:pt x="3902691" y="1594018"/>
                </a:lnTo>
                <a:lnTo>
                  <a:pt x="3904691" y="1594916"/>
                </a:lnTo>
                <a:lnTo>
                  <a:pt x="3906577" y="1595910"/>
                </a:lnTo>
                <a:lnTo>
                  <a:pt x="3908342" y="1596997"/>
                </a:lnTo>
                <a:lnTo>
                  <a:pt x="3909977" y="1598169"/>
                </a:lnTo>
                <a:lnTo>
                  <a:pt x="3911474" y="1599422"/>
                </a:lnTo>
                <a:lnTo>
                  <a:pt x="3912825" y="1600751"/>
                </a:lnTo>
                <a:lnTo>
                  <a:pt x="3914022" y="1602150"/>
                </a:lnTo>
                <a:lnTo>
                  <a:pt x="3915057" y="1603614"/>
                </a:lnTo>
                <a:lnTo>
                  <a:pt x="3915922" y="1605137"/>
                </a:lnTo>
                <a:lnTo>
                  <a:pt x="3916609" y="1606714"/>
                </a:lnTo>
                <a:lnTo>
                  <a:pt x="3917109" y="1608339"/>
                </a:lnTo>
                <a:lnTo>
                  <a:pt x="3917416" y="1610008"/>
                </a:lnTo>
                <a:lnTo>
                  <a:pt x="3917519" y="1611715"/>
                </a:lnTo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43" name="published_B_finerenone_curve_205">
            <a:extLst>
              <a:ext uri="{FF2B5EF4-FFF2-40B4-BE49-F238E27FC236}">
                <a16:creationId xmlns:a16="http://schemas.microsoft.com/office/drawing/2014/main" id="{39AB58D2-314D-4307-AC6F-6E1A2F3F8D14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292044" y="1696354"/>
                </a:moveTo>
                <a:lnTo>
                  <a:pt x="653230" y="889736"/>
                </a:lnTo>
                <a:moveTo>
                  <a:pt x="653230" y="889736"/>
                </a:moveTo>
                <a:lnTo>
                  <a:pt x="1115097" y="1016457"/>
                </a:lnTo>
                <a:moveTo>
                  <a:pt x="1115097" y="1016457"/>
                </a:moveTo>
                <a:lnTo>
                  <a:pt x="2038782" y="849155"/>
                </a:lnTo>
                <a:moveTo>
                  <a:pt x="2038782" y="849155"/>
                </a:moveTo>
                <a:lnTo>
                  <a:pt x="3424333" y="974038"/>
                </a:lnTo>
                <a:moveTo>
                  <a:pt x="3424333" y="974038"/>
                </a:moveTo>
                <a:lnTo>
                  <a:pt x="3886175" y="1611718"/>
                </a:lnTo>
              </a:path>
            </a:pathLst>
          </a:custGeom>
          <a:noFill/>
          <a:ln w="21031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44" name="published_B_finerenone_marker_206">
            <a:extLst>
              <a:ext uri="{FF2B5EF4-FFF2-40B4-BE49-F238E27FC236}">
                <a16:creationId xmlns:a16="http://schemas.microsoft.com/office/drawing/2014/main" id="{1154E413-640C-4D27-B169-13B5258D7823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91164" y="889736"/>
                </a:moveTo>
                <a:lnTo>
                  <a:pt x="691038" y="891803"/>
                </a:lnTo>
                <a:lnTo>
                  <a:pt x="690668" y="893823"/>
                </a:lnTo>
                <a:lnTo>
                  <a:pt x="690063" y="895790"/>
                </a:lnTo>
                <a:lnTo>
                  <a:pt x="689233" y="897698"/>
                </a:lnTo>
                <a:lnTo>
                  <a:pt x="688188" y="899541"/>
                </a:lnTo>
                <a:lnTo>
                  <a:pt x="686937" y="901311"/>
                </a:lnTo>
                <a:lnTo>
                  <a:pt x="685489" y="903003"/>
                </a:lnTo>
                <a:lnTo>
                  <a:pt x="683856" y="904610"/>
                </a:lnTo>
                <a:lnTo>
                  <a:pt x="682045" y="906126"/>
                </a:lnTo>
                <a:lnTo>
                  <a:pt x="680068" y="907543"/>
                </a:lnTo>
                <a:lnTo>
                  <a:pt x="677934" y="908856"/>
                </a:lnTo>
                <a:lnTo>
                  <a:pt x="675651" y="910059"/>
                </a:lnTo>
                <a:lnTo>
                  <a:pt x="673231" y="911144"/>
                </a:lnTo>
                <a:lnTo>
                  <a:pt x="670683" y="912105"/>
                </a:lnTo>
                <a:lnTo>
                  <a:pt x="668016" y="912936"/>
                </a:lnTo>
                <a:lnTo>
                  <a:pt x="665241" y="913631"/>
                </a:lnTo>
                <a:lnTo>
                  <a:pt x="662366" y="914182"/>
                </a:lnTo>
                <a:lnTo>
                  <a:pt x="659402" y="914584"/>
                </a:lnTo>
                <a:lnTo>
                  <a:pt x="656358" y="914830"/>
                </a:lnTo>
                <a:lnTo>
                  <a:pt x="653245" y="914913"/>
                </a:lnTo>
                <a:lnTo>
                  <a:pt x="650134" y="914830"/>
                </a:lnTo>
                <a:lnTo>
                  <a:pt x="647094" y="914584"/>
                </a:lnTo>
                <a:lnTo>
                  <a:pt x="644132" y="914182"/>
                </a:lnTo>
                <a:lnTo>
                  <a:pt x="641260" y="913631"/>
                </a:lnTo>
                <a:lnTo>
                  <a:pt x="638487" y="912936"/>
                </a:lnTo>
                <a:lnTo>
                  <a:pt x="635822" y="912105"/>
                </a:lnTo>
                <a:lnTo>
                  <a:pt x="633276" y="911144"/>
                </a:lnTo>
                <a:lnTo>
                  <a:pt x="630857" y="910059"/>
                </a:lnTo>
                <a:lnTo>
                  <a:pt x="628576" y="908856"/>
                </a:lnTo>
                <a:lnTo>
                  <a:pt x="626443" y="907543"/>
                </a:lnTo>
                <a:lnTo>
                  <a:pt x="624466" y="906126"/>
                </a:lnTo>
                <a:lnTo>
                  <a:pt x="622657" y="904610"/>
                </a:lnTo>
                <a:lnTo>
                  <a:pt x="621024" y="903003"/>
                </a:lnTo>
                <a:lnTo>
                  <a:pt x="619577" y="901311"/>
                </a:lnTo>
                <a:lnTo>
                  <a:pt x="618326" y="899541"/>
                </a:lnTo>
                <a:lnTo>
                  <a:pt x="617280" y="897698"/>
                </a:lnTo>
                <a:lnTo>
                  <a:pt x="616451" y="895790"/>
                </a:lnTo>
                <a:lnTo>
                  <a:pt x="615846" y="893823"/>
                </a:lnTo>
                <a:lnTo>
                  <a:pt x="615476" y="891803"/>
                </a:lnTo>
                <a:lnTo>
                  <a:pt x="615350" y="889736"/>
                </a:lnTo>
                <a:lnTo>
                  <a:pt x="615476" y="887669"/>
                </a:lnTo>
                <a:lnTo>
                  <a:pt x="615846" y="885649"/>
                </a:lnTo>
                <a:lnTo>
                  <a:pt x="616451" y="883681"/>
                </a:lnTo>
                <a:lnTo>
                  <a:pt x="617280" y="881772"/>
                </a:lnTo>
                <a:lnTo>
                  <a:pt x="618326" y="879928"/>
                </a:lnTo>
                <a:lnTo>
                  <a:pt x="619577" y="878157"/>
                </a:lnTo>
                <a:lnTo>
                  <a:pt x="621024" y="876464"/>
                </a:lnTo>
                <a:lnTo>
                  <a:pt x="622657" y="874856"/>
                </a:lnTo>
                <a:lnTo>
                  <a:pt x="624466" y="873339"/>
                </a:lnTo>
                <a:lnTo>
                  <a:pt x="626443" y="871920"/>
                </a:lnTo>
                <a:lnTo>
                  <a:pt x="628576" y="870606"/>
                </a:lnTo>
                <a:lnTo>
                  <a:pt x="630857" y="869403"/>
                </a:lnTo>
                <a:lnTo>
                  <a:pt x="633276" y="868316"/>
                </a:lnTo>
                <a:lnTo>
                  <a:pt x="635822" y="867354"/>
                </a:lnTo>
                <a:lnTo>
                  <a:pt x="638487" y="866522"/>
                </a:lnTo>
                <a:lnTo>
                  <a:pt x="641260" y="865826"/>
                </a:lnTo>
                <a:lnTo>
                  <a:pt x="644132" y="865274"/>
                </a:lnTo>
                <a:lnTo>
                  <a:pt x="647094" y="864872"/>
                </a:lnTo>
                <a:lnTo>
                  <a:pt x="650134" y="864626"/>
                </a:lnTo>
                <a:lnTo>
                  <a:pt x="653245" y="864542"/>
                </a:lnTo>
                <a:lnTo>
                  <a:pt x="656358" y="864626"/>
                </a:lnTo>
                <a:lnTo>
                  <a:pt x="659402" y="864872"/>
                </a:lnTo>
                <a:lnTo>
                  <a:pt x="662366" y="865274"/>
                </a:lnTo>
                <a:lnTo>
                  <a:pt x="665241" y="865826"/>
                </a:lnTo>
                <a:lnTo>
                  <a:pt x="668016" y="866522"/>
                </a:lnTo>
                <a:lnTo>
                  <a:pt x="670683" y="867354"/>
                </a:lnTo>
                <a:lnTo>
                  <a:pt x="673231" y="868316"/>
                </a:lnTo>
                <a:lnTo>
                  <a:pt x="675651" y="869403"/>
                </a:lnTo>
                <a:lnTo>
                  <a:pt x="677934" y="870606"/>
                </a:lnTo>
                <a:lnTo>
                  <a:pt x="680068" y="871920"/>
                </a:lnTo>
                <a:lnTo>
                  <a:pt x="682045" y="873339"/>
                </a:lnTo>
                <a:lnTo>
                  <a:pt x="683856" y="874856"/>
                </a:lnTo>
                <a:lnTo>
                  <a:pt x="685489" y="876464"/>
                </a:lnTo>
                <a:lnTo>
                  <a:pt x="686937" y="878157"/>
                </a:lnTo>
                <a:lnTo>
                  <a:pt x="688188" y="879928"/>
                </a:lnTo>
                <a:lnTo>
                  <a:pt x="689233" y="881772"/>
                </a:lnTo>
                <a:lnTo>
                  <a:pt x="690063" y="883681"/>
                </a:lnTo>
                <a:lnTo>
                  <a:pt x="690668" y="885649"/>
                </a:lnTo>
                <a:lnTo>
                  <a:pt x="691038" y="887669"/>
                </a:lnTo>
                <a:lnTo>
                  <a:pt x="691164" y="889736"/>
                </a:lnTo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45" name="published_B_finerenone_marker_207">
            <a:extLst>
              <a:ext uri="{FF2B5EF4-FFF2-40B4-BE49-F238E27FC236}">
                <a16:creationId xmlns:a16="http://schemas.microsoft.com/office/drawing/2014/main" id="{31328314-BD7E-4475-BA00-E0E3CB848A6B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153006" y="1016441"/>
                </a:moveTo>
                <a:lnTo>
                  <a:pt x="1152880" y="1018507"/>
                </a:lnTo>
                <a:lnTo>
                  <a:pt x="1152510" y="1020528"/>
                </a:lnTo>
                <a:lnTo>
                  <a:pt x="1151906" y="1022496"/>
                </a:lnTo>
                <a:lnTo>
                  <a:pt x="1151076" y="1024405"/>
                </a:lnTo>
                <a:lnTo>
                  <a:pt x="1150030" y="1026248"/>
                </a:lnTo>
                <a:lnTo>
                  <a:pt x="1148780" y="1028020"/>
                </a:lnTo>
                <a:lnTo>
                  <a:pt x="1147333" y="1029713"/>
                </a:lnTo>
                <a:lnTo>
                  <a:pt x="1145700" y="1031321"/>
                </a:lnTo>
                <a:lnTo>
                  <a:pt x="1143890" y="1032838"/>
                </a:lnTo>
                <a:lnTo>
                  <a:pt x="1141914" y="1034256"/>
                </a:lnTo>
                <a:lnTo>
                  <a:pt x="1139780" y="1035571"/>
                </a:lnTo>
                <a:lnTo>
                  <a:pt x="1137499" y="1036774"/>
                </a:lnTo>
                <a:lnTo>
                  <a:pt x="1135081" y="1037860"/>
                </a:lnTo>
                <a:lnTo>
                  <a:pt x="1132534" y="1038823"/>
                </a:lnTo>
                <a:lnTo>
                  <a:pt x="1129869" y="1039655"/>
                </a:lnTo>
                <a:lnTo>
                  <a:pt x="1127096" y="1040350"/>
                </a:lnTo>
                <a:lnTo>
                  <a:pt x="1124224" y="1040902"/>
                </a:lnTo>
                <a:lnTo>
                  <a:pt x="1121263" y="1041305"/>
                </a:lnTo>
                <a:lnTo>
                  <a:pt x="1118222" y="1041551"/>
                </a:lnTo>
                <a:lnTo>
                  <a:pt x="1115112" y="1041634"/>
                </a:lnTo>
                <a:lnTo>
                  <a:pt x="1111998" y="1041551"/>
                </a:lnTo>
                <a:lnTo>
                  <a:pt x="1108954" y="1041305"/>
                </a:lnTo>
                <a:lnTo>
                  <a:pt x="1105990" y="1040902"/>
                </a:lnTo>
                <a:lnTo>
                  <a:pt x="1103116" y="1040350"/>
                </a:lnTo>
                <a:lnTo>
                  <a:pt x="1100340" y="1039655"/>
                </a:lnTo>
                <a:lnTo>
                  <a:pt x="1097673" y="1038823"/>
                </a:lnTo>
                <a:lnTo>
                  <a:pt x="1095125" y="1037860"/>
                </a:lnTo>
                <a:lnTo>
                  <a:pt x="1092705" y="1036774"/>
                </a:lnTo>
                <a:lnTo>
                  <a:pt x="1090423" y="1035571"/>
                </a:lnTo>
                <a:lnTo>
                  <a:pt x="1088288" y="1034256"/>
                </a:lnTo>
                <a:lnTo>
                  <a:pt x="1086311" y="1032838"/>
                </a:lnTo>
                <a:lnTo>
                  <a:pt x="1084501" y="1031321"/>
                </a:lnTo>
                <a:lnTo>
                  <a:pt x="1082867" y="1029713"/>
                </a:lnTo>
                <a:lnTo>
                  <a:pt x="1081420" y="1028020"/>
                </a:lnTo>
                <a:lnTo>
                  <a:pt x="1080168" y="1026248"/>
                </a:lnTo>
                <a:lnTo>
                  <a:pt x="1079123" y="1024405"/>
                </a:lnTo>
                <a:lnTo>
                  <a:pt x="1078293" y="1022496"/>
                </a:lnTo>
                <a:lnTo>
                  <a:pt x="1077688" y="1020528"/>
                </a:lnTo>
                <a:lnTo>
                  <a:pt x="1077318" y="1018507"/>
                </a:lnTo>
                <a:lnTo>
                  <a:pt x="1077193" y="1016441"/>
                </a:lnTo>
                <a:lnTo>
                  <a:pt x="1077318" y="1014374"/>
                </a:lnTo>
                <a:lnTo>
                  <a:pt x="1077688" y="1012354"/>
                </a:lnTo>
                <a:lnTo>
                  <a:pt x="1078293" y="1010386"/>
                </a:lnTo>
                <a:lnTo>
                  <a:pt x="1079123" y="1008477"/>
                </a:lnTo>
                <a:lnTo>
                  <a:pt x="1080168" y="1006633"/>
                </a:lnTo>
                <a:lnTo>
                  <a:pt x="1081420" y="1004862"/>
                </a:lnTo>
                <a:lnTo>
                  <a:pt x="1082867" y="1003169"/>
                </a:lnTo>
                <a:lnTo>
                  <a:pt x="1084501" y="1001561"/>
                </a:lnTo>
                <a:lnTo>
                  <a:pt x="1086311" y="1000044"/>
                </a:lnTo>
                <a:lnTo>
                  <a:pt x="1088288" y="998625"/>
                </a:lnTo>
                <a:lnTo>
                  <a:pt x="1090423" y="997311"/>
                </a:lnTo>
                <a:lnTo>
                  <a:pt x="1092705" y="996107"/>
                </a:lnTo>
                <a:lnTo>
                  <a:pt x="1095125" y="995021"/>
                </a:lnTo>
                <a:lnTo>
                  <a:pt x="1097673" y="994059"/>
                </a:lnTo>
                <a:lnTo>
                  <a:pt x="1100340" y="993227"/>
                </a:lnTo>
                <a:lnTo>
                  <a:pt x="1103116" y="992531"/>
                </a:lnTo>
                <a:lnTo>
                  <a:pt x="1105990" y="991979"/>
                </a:lnTo>
                <a:lnTo>
                  <a:pt x="1108954" y="991577"/>
                </a:lnTo>
                <a:lnTo>
                  <a:pt x="1111998" y="991331"/>
                </a:lnTo>
                <a:lnTo>
                  <a:pt x="1115112" y="991247"/>
                </a:lnTo>
                <a:lnTo>
                  <a:pt x="1118222" y="991331"/>
                </a:lnTo>
                <a:lnTo>
                  <a:pt x="1121263" y="991577"/>
                </a:lnTo>
                <a:lnTo>
                  <a:pt x="1124224" y="991979"/>
                </a:lnTo>
                <a:lnTo>
                  <a:pt x="1127096" y="992531"/>
                </a:lnTo>
                <a:lnTo>
                  <a:pt x="1129869" y="993227"/>
                </a:lnTo>
                <a:lnTo>
                  <a:pt x="1132534" y="994059"/>
                </a:lnTo>
                <a:lnTo>
                  <a:pt x="1135081" y="995021"/>
                </a:lnTo>
                <a:lnTo>
                  <a:pt x="1137499" y="996107"/>
                </a:lnTo>
                <a:lnTo>
                  <a:pt x="1139780" y="997311"/>
                </a:lnTo>
                <a:lnTo>
                  <a:pt x="1141914" y="998625"/>
                </a:lnTo>
                <a:lnTo>
                  <a:pt x="1143890" y="1000044"/>
                </a:lnTo>
                <a:lnTo>
                  <a:pt x="1145700" y="1001561"/>
                </a:lnTo>
                <a:lnTo>
                  <a:pt x="1147333" y="1003169"/>
                </a:lnTo>
                <a:lnTo>
                  <a:pt x="1148780" y="1004862"/>
                </a:lnTo>
                <a:lnTo>
                  <a:pt x="1150030" y="1006633"/>
                </a:lnTo>
                <a:lnTo>
                  <a:pt x="1151076" y="1008477"/>
                </a:lnTo>
                <a:lnTo>
                  <a:pt x="1151906" y="1010386"/>
                </a:lnTo>
                <a:lnTo>
                  <a:pt x="1152510" y="1012354"/>
                </a:lnTo>
                <a:lnTo>
                  <a:pt x="1152880" y="1014374"/>
                </a:lnTo>
                <a:lnTo>
                  <a:pt x="1153006" y="1016441"/>
                </a:lnTo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46" name="published_B_finerenone_marker_208">
            <a:extLst>
              <a:ext uri="{FF2B5EF4-FFF2-40B4-BE49-F238E27FC236}">
                <a16:creationId xmlns:a16="http://schemas.microsoft.com/office/drawing/2014/main" id="{21189844-965C-4D82-8F5D-E64BD53D11B0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2076700" y="847068"/>
                </a:moveTo>
                <a:lnTo>
                  <a:pt x="2076575" y="849134"/>
                </a:lnTo>
                <a:lnTo>
                  <a:pt x="2076205" y="851155"/>
                </a:lnTo>
                <a:lnTo>
                  <a:pt x="2075600" y="853123"/>
                </a:lnTo>
                <a:lnTo>
                  <a:pt x="2074770" y="855032"/>
                </a:lnTo>
                <a:lnTo>
                  <a:pt x="2073725" y="856875"/>
                </a:lnTo>
                <a:lnTo>
                  <a:pt x="2072473" y="858647"/>
                </a:lnTo>
                <a:lnTo>
                  <a:pt x="2071026" y="860340"/>
                </a:lnTo>
                <a:lnTo>
                  <a:pt x="2069393" y="861948"/>
                </a:lnTo>
                <a:lnTo>
                  <a:pt x="2067582" y="863465"/>
                </a:lnTo>
                <a:lnTo>
                  <a:pt x="2065605" y="864883"/>
                </a:lnTo>
                <a:lnTo>
                  <a:pt x="2063471" y="866198"/>
                </a:lnTo>
                <a:lnTo>
                  <a:pt x="2061188" y="867401"/>
                </a:lnTo>
                <a:lnTo>
                  <a:pt x="2058768" y="868487"/>
                </a:lnTo>
                <a:lnTo>
                  <a:pt x="2056220" y="869450"/>
                </a:lnTo>
                <a:lnTo>
                  <a:pt x="2053553" y="870282"/>
                </a:lnTo>
                <a:lnTo>
                  <a:pt x="2050778" y="870977"/>
                </a:lnTo>
                <a:lnTo>
                  <a:pt x="2047903" y="871529"/>
                </a:lnTo>
                <a:lnTo>
                  <a:pt x="2044939" y="871932"/>
                </a:lnTo>
                <a:lnTo>
                  <a:pt x="2041895" y="872178"/>
                </a:lnTo>
                <a:lnTo>
                  <a:pt x="2038782" y="872261"/>
                </a:lnTo>
                <a:lnTo>
                  <a:pt x="2035671" y="872178"/>
                </a:lnTo>
                <a:lnTo>
                  <a:pt x="2032631" y="871932"/>
                </a:lnTo>
                <a:lnTo>
                  <a:pt x="2029669" y="871529"/>
                </a:lnTo>
                <a:lnTo>
                  <a:pt x="2026797" y="870977"/>
                </a:lnTo>
                <a:lnTo>
                  <a:pt x="2024024" y="870282"/>
                </a:lnTo>
                <a:lnTo>
                  <a:pt x="2021359" y="869450"/>
                </a:lnTo>
                <a:lnTo>
                  <a:pt x="2018813" y="868487"/>
                </a:lnTo>
                <a:lnTo>
                  <a:pt x="2016394" y="867401"/>
                </a:lnTo>
                <a:lnTo>
                  <a:pt x="2014113" y="866198"/>
                </a:lnTo>
                <a:lnTo>
                  <a:pt x="2011980" y="864883"/>
                </a:lnTo>
                <a:lnTo>
                  <a:pt x="2010003" y="863465"/>
                </a:lnTo>
                <a:lnTo>
                  <a:pt x="2008194" y="861948"/>
                </a:lnTo>
                <a:lnTo>
                  <a:pt x="2006560" y="860340"/>
                </a:lnTo>
                <a:lnTo>
                  <a:pt x="2005114" y="858647"/>
                </a:lnTo>
                <a:lnTo>
                  <a:pt x="2003863" y="856875"/>
                </a:lnTo>
                <a:lnTo>
                  <a:pt x="2002817" y="855032"/>
                </a:lnTo>
                <a:lnTo>
                  <a:pt x="2001988" y="853123"/>
                </a:lnTo>
                <a:lnTo>
                  <a:pt x="2001383" y="851155"/>
                </a:lnTo>
                <a:lnTo>
                  <a:pt x="2001013" y="849134"/>
                </a:lnTo>
                <a:lnTo>
                  <a:pt x="2000887" y="847068"/>
                </a:lnTo>
                <a:lnTo>
                  <a:pt x="2001013" y="845001"/>
                </a:lnTo>
                <a:lnTo>
                  <a:pt x="2001383" y="842981"/>
                </a:lnTo>
                <a:lnTo>
                  <a:pt x="2001988" y="841013"/>
                </a:lnTo>
                <a:lnTo>
                  <a:pt x="2002817" y="839104"/>
                </a:lnTo>
                <a:lnTo>
                  <a:pt x="2003863" y="837260"/>
                </a:lnTo>
                <a:lnTo>
                  <a:pt x="2005114" y="835489"/>
                </a:lnTo>
                <a:lnTo>
                  <a:pt x="2006560" y="833796"/>
                </a:lnTo>
                <a:lnTo>
                  <a:pt x="2008194" y="832187"/>
                </a:lnTo>
                <a:lnTo>
                  <a:pt x="2010003" y="830671"/>
                </a:lnTo>
                <a:lnTo>
                  <a:pt x="2011980" y="829252"/>
                </a:lnTo>
                <a:lnTo>
                  <a:pt x="2014113" y="827938"/>
                </a:lnTo>
                <a:lnTo>
                  <a:pt x="2016394" y="826734"/>
                </a:lnTo>
                <a:lnTo>
                  <a:pt x="2018813" y="825648"/>
                </a:lnTo>
                <a:lnTo>
                  <a:pt x="2021359" y="824686"/>
                </a:lnTo>
                <a:lnTo>
                  <a:pt x="2024024" y="823853"/>
                </a:lnTo>
                <a:lnTo>
                  <a:pt x="2026797" y="823158"/>
                </a:lnTo>
                <a:lnTo>
                  <a:pt x="2029669" y="822606"/>
                </a:lnTo>
                <a:lnTo>
                  <a:pt x="2032631" y="822204"/>
                </a:lnTo>
                <a:lnTo>
                  <a:pt x="2035671" y="821957"/>
                </a:lnTo>
                <a:lnTo>
                  <a:pt x="2038782" y="821874"/>
                </a:lnTo>
                <a:lnTo>
                  <a:pt x="2041895" y="821957"/>
                </a:lnTo>
                <a:lnTo>
                  <a:pt x="2044939" y="822204"/>
                </a:lnTo>
                <a:lnTo>
                  <a:pt x="2047903" y="822606"/>
                </a:lnTo>
                <a:lnTo>
                  <a:pt x="2050778" y="823158"/>
                </a:lnTo>
                <a:lnTo>
                  <a:pt x="2053553" y="823853"/>
                </a:lnTo>
                <a:lnTo>
                  <a:pt x="2056220" y="824686"/>
                </a:lnTo>
                <a:lnTo>
                  <a:pt x="2058768" y="825648"/>
                </a:lnTo>
                <a:lnTo>
                  <a:pt x="2061188" y="826734"/>
                </a:lnTo>
                <a:lnTo>
                  <a:pt x="2063471" y="827938"/>
                </a:lnTo>
                <a:lnTo>
                  <a:pt x="2065605" y="829252"/>
                </a:lnTo>
                <a:lnTo>
                  <a:pt x="2067582" y="830671"/>
                </a:lnTo>
                <a:lnTo>
                  <a:pt x="2069393" y="832187"/>
                </a:lnTo>
                <a:lnTo>
                  <a:pt x="2071026" y="833796"/>
                </a:lnTo>
                <a:lnTo>
                  <a:pt x="2072473" y="835489"/>
                </a:lnTo>
                <a:lnTo>
                  <a:pt x="2073725" y="837260"/>
                </a:lnTo>
                <a:lnTo>
                  <a:pt x="2074770" y="839104"/>
                </a:lnTo>
                <a:lnTo>
                  <a:pt x="2075600" y="841013"/>
                </a:lnTo>
                <a:lnTo>
                  <a:pt x="2076205" y="842981"/>
                </a:lnTo>
                <a:lnTo>
                  <a:pt x="2076575" y="845001"/>
                </a:lnTo>
                <a:lnTo>
                  <a:pt x="2076700" y="847068"/>
                </a:lnTo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47" name="published_B_finerenone_marker_209">
            <a:extLst>
              <a:ext uri="{FF2B5EF4-FFF2-40B4-BE49-F238E27FC236}">
                <a16:creationId xmlns:a16="http://schemas.microsoft.com/office/drawing/2014/main" id="{ED2B5B83-6CAF-4716-9639-D32C2DA5F7A6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462235" y="974031"/>
                </a:moveTo>
                <a:lnTo>
                  <a:pt x="3462110" y="976098"/>
                </a:lnTo>
                <a:lnTo>
                  <a:pt x="3461740" y="978119"/>
                </a:lnTo>
                <a:lnTo>
                  <a:pt x="3461135" y="980087"/>
                </a:lnTo>
                <a:lnTo>
                  <a:pt x="3460305" y="981996"/>
                </a:lnTo>
                <a:lnTo>
                  <a:pt x="3459259" y="983839"/>
                </a:lnTo>
                <a:lnTo>
                  <a:pt x="3458008" y="985611"/>
                </a:lnTo>
                <a:lnTo>
                  <a:pt x="3456561" y="987304"/>
                </a:lnTo>
                <a:lnTo>
                  <a:pt x="3454927" y="988912"/>
                </a:lnTo>
                <a:lnTo>
                  <a:pt x="3453117" y="990428"/>
                </a:lnTo>
                <a:lnTo>
                  <a:pt x="3451140" y="991847"/>
                </a:lnTo>
                <a:lnTo>
                  <a:pt x="3449005" y="993161"/>
                </a:lnTo>
                <a:lnTo>
                  <a:pt x="3446723" y="994365"/>
                </a:lnTo>
                <a:lnTo>
                  <a:pt x="3444303" y="995451"/>
                </a:lnTo>
                <a:lnTo>
                  <a:pt x="3441755" y="996414"/>
                </a:lnTo>
                <a:lnTo>
                  <a:pt x="3439088" y="997246"/>
                </a:lnTo>
                <a:lnTo>
                  <a:pt x="3436313" y="997941"/>
                </a:lnTo>
                <a:lnTo>
                  <a:pt x="3433438" y="998493"/>
                </a:lnTo>
                <a:lnTo>
                  <a:pt x="3430474" y="998895"/>
                </a:lnTo>
                <a:lnTo>
                  <a:pt x="3427430" y="999142"/>
                </a:lnTo>
                <a:lnTo>
                  <a:pt x="3424316" y="999225"/>
                </a:lnTo>
                <a:lnTo>
                  <a:pt x="3421206" y="999142"/>
                </a:lnTo>
                <a:lnTo>
                  <a:pt x="3418165" y="998895"/>
                </a:lnTo>
                <a:lnTo>
                  <a:pt x="3415204" y="998493"/>
                </a:lnTo>
                <a:lnTo>
                  <a:pt x="3412332" y="997941"/>
                </a:lnTo>
                <a:lnTo>
                  <a:pt x="3409559" y="997246"/>
                </a:lnTo>
                <a:lnTo>
                  <a:pt x="3406894" y="996414"/>
                </a:lnTo>
                <a:lnTo>
                  <a:pt x="3404347" y="995451"/>
                </a:lnTo>
                <a:lnTo>
                  <a:pt x="3401929" y="994365"/>
                </a:lnTo>
                <a:lnTo>
                  <a:pt x="3399648" y="993161"/>
                </a:lnTo>
                <a:lnTo>
                  <a:pt x="3397514" y="991847"/>
                </a:lnTo>
                <a:lnTo>
                  <a:pt x="3395538" y="990428"/>
                </a:lnTo>
                <a:lnTo>
                  <a:pt x="3393728" y="988912"/>
                </a:lnTo>
                <a:lnTo>
                  <a:pt x="3392095" y="987304"/>
                </a:lnTo>
                <a:lnTo>
                  <a:pt x="3390648" y="985611"/>
                </a:lnTo>
                <a:lnTo>
                  <a:pt x="3389397" y="983839"/>
                </a:lnTo>
                <a:lnTo>
                  <a:pt x="3388352" y="981996"/>
                </a:lnTo>
                <a:lnTo>
                  <a:pt x="3387522" y="980087"/>
                </a:lnTo>
                <a:lnTo>
                  <a:pt x="3386917" y="978119"/>
                </a:lnTo>
                <a:lnTo>
                  <a:pt x="3386547" y="976098"/>
                </a:lnTo>
                <a:lnTo>
                  <a:pt x="3386422" y="974031"/>
                </a:lnTo>
                <a:lnTo>
                  <a:pt x="3386547" y="971965"/>
                </a:lnTo>
                <a:lnTo>
                  <a:pt x="3386917" y="969944"/>
                </a:lnTo>
                <a:lnTo>
                  <a:pt x="3387522" y="967976"/>
                </a:lnTo>
                <a:lnTo>
                  <a:pt x="3388352" y="966067"/>
                </a:lnTo>
                <a:lnTo>
                  <a:pt x="3389397" y="964224"/>
                </a:lnTo>
                <a:lnTo>
                  <a:pt x="3390648" y="962452"/>
                </a:lnTo>
                <a:lnTo>
                  <a:pt x="3392095" y="960759"/>
                </a:lnTo>
                <a:lnTo>
                  <a:pt x="3393728" y="959151"/>
                </a:lnTo>
                <a:lnTo>
                  <a:pt x="3395538" y="957635"/>
                </a:lnTo>
                <a:lnTo>
                  <a:pt x="3397514" y="956216"/>
                </a:lnTo>
                <a:lnTo>
                  <a:pt x="3399648" y="954901"/>
                </a:lnTo>
                <a:lnTo>
                  <a:pt x="3401929" y="953698"/>
                </a:lnTo>
                <a:lnTo>
                  <a:pt x="3404347" y="952612"/>
                </a:lnTo>
                <a:lnTo>
                  <a:pt x="3406894" y="951649"/>
                </a:lnTo>
                <a:lnTo>
                  <a:pt x="3409559" y="950817"/>
                </a:lnTo>
                <a:lnTo>
                  <a:pt x="3412332" y="950122"/>
                </a:lnTo>
                <a:lnTo>
                  <a:pt x="3415204" y="949570"/>
                </a:lnTo>
                <a:lnTo>
                  <a:pt x="3418165" y="949167"/>
                </a:lnTo>
                <a:lnTo>
                  <a:pt x="3421206" y="948921"/>
                </a:lnTo>
                <a:lnTo>
                  <a:pt x="3424316" y="948838"/>
                </a:lnTo>
                <a:lnTo>
                  <a:pt x="3427430" y="948921"/>
                </a:lnTo>
                <a:lnTo>
                  <a:pt x="3430474" y="949167"/>
                </a:lnTo>
                <a:lnTo>
                  <a:pt x="3433438" y="949570"/>
                </a:lnTo>
                <a:lnTo>
                  <a:pt x="3436313" y="950122"/>
                </a:lnTo>
                <a:lnTo>
                  <a:pt x="3439088" y="950817"/>
                </a:lnTo>
                <a:lnTo>
                  <a:pt x="3441755" y="951649"/>
                </a:lnTo>
                <a:lnTo>
                  <a:pt x="3444303" y="952612"/>
                </a:lnTo>
                <a:lnTo>
                  <a:pt x="3446723" y="953698"/>
                </a:lnTo>
                <a:lnTo>
                  <a:pt x="3449005" y="954901"/>
                </a:lnTo>
                <a:lnTo>
                  <a:pt x="3451140" y="956216"/>
                </a:lnTo>
                <a:lnTo>
                  <a:pt x="3453117" y="957635"/>
                </a:lnTo>
                <a:lnTo>
                  <a:pt x="3454927" y="959151"/>
                </a:lnTo>
                <a:lnTo>
                  <a:pt x="3456561" y="960759"/>
                </a:lnTo>
                <a:lnTo>
                  <a:pt x="3458008" y="962452"/>
                </a:lnTo>
                <a:lnTo>
                  <a:pt x="3459259" y="964224"/>
                </a:lnTo>
                <a:lnTo>
                  <a:pt x="3460305" y="966067"/>
                </a:lnTo>
                <a:lnTo>
                  <a:pt x="3461135" y="967976"/>
                </a:lnTo>
                <a:lnTo>
                  <a:pt x="3461740" y="969944"/>
                </a:lnTo>
                <a:lnTo>
                  <a:pt x="3462110" y="971965"/>
                </a:lnTo>
                <a:lnTo>
                  <a:pt x="3462235" y="974031"/>
                </a:lnTo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48" name="published_B_finerenone_marker_210">
            <a:extLst>
              <a:ext uri="{FF2B5EF4-FFF2-40B4-BE49-F238E27FC236}">
                <a16:creationId xmlns:a16="http://schemas.microsoft.com/office/drawing/2014/main" id="{E07E7374-E415-42DF-A338-9C24F69E3381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29953" y="1696354"/>
                </a:moveTo>
                <a:lnTo>
                  <a:pt x="329827" y="1698421"/>
                </a:lnTo>
                <a:lnTo>
                  <a:pt x="329457" y="1700441"/>
                </a:lnTo>
                <a:lnTo>
                  <a:pt x="328852" y="1702409"/>
                </a:lnTo>
                <a:lnTo>
                  <a:pt x="328022" y="1704317"/>
                </a:lnTo>
                <a:lnTo>
                  <a:pt x="326977" y="1706159"/>
                </a:lnTo>
                <a:lnTo>
                  <a:pt x="325726" y="1707930"/>
                </a:lnTo>
                <a:lnTo>
                  <a:pt x="324278" y="1709622"/>
                </a:lnTo>
                <a:lnTo>
                  <a:pt x="322645" y="1711229"/>
                </a:lnTo>
                <a:lnTo>
                  <a:pt x="320835" y="1712744"/>
                </a:lnTo>
                <a:lnTo>
                  <a:pt x="318857" y="1714162"/>
                </a:lnTo>
                <a:lnTo>
                  <a:pt x="316723" y="1715475"/>
                </a:lnTo>
                <a:lnTo>
                  <a:pt x="314441" y="1716677"/>
                </a:lnTo>
                <a:lnTo>
                  <a:pt x="312021" y="1717762"/>
                </a:lnTo>
                <a:lnTo>
                  <a:pt x="309472" y="1718723"/>
                </a:lnTo>
                <a:lnTo>
                  <a:pt x="306806" y="1719555"/>
                </a:lnTo>
                <a:lnTo>
                  <a:pt x="304030" y="1720249"/>
                </a:lnTo>
                <a:lnTo>
                  <a:pt x="301156" y="1720800"/>
                </a:lnTo>
                <a:lnTo>
                  <a:pt x="298191" y="1721202"/>
                </a:lnTo>
                <a:lnTo>
                  <a:pt x="295148" y="1721448"/>
                </a:lnTo>
                <a:lnTo>
                  <a:pt x="292034" y="1721531"/>
                </a:lnTo>
                <a:lnTo>
                  <a:pt x="288924" y="1721448"/>
                </a:lnTo>
                <a:lnTo>
                  <a:pt x="285883" y="1721202"/>
                </a:lnTo>
                <a:lnTo>
                  <a:pt x="282922" y="1720800"/>
                </a:lnTo>
                <a:lnTo>
                  <a:pt x="280049" y="1720249"/>
                </a:lnTo>
                <a:lnTo>
                  <a:pt x="277276" y="1719555"/>
                </a:lnTo>
                <a:lnTo>
                  <a:pt x="274611" y="1718723"/>
                </a:lnTo>
                <a:lnTo>
                  <a:pt x="272065" y="1717762"/>
                </a:lnTo>
                <a:lnTo>
                  <a:pt x="269646" y="1716677"/>
                </a:lnTo>
                <a:lnTo>
                  <a:pt x="267365" y="1715475"/>
                </a:lnTo>
                <a:lnTo>
                  <a:pt x="265232" y="1714162"/>
                </a:lnTo>
                <a:lnTo>
                  <a:pt x="263255" y="1712744"/>
                </a:lnTo>
                <a:lnTo>
                  <a:pt x="261446" y="1711229"/>
                </a:lnTo>
                <a:lnTo>
                  <a:pt x="259813" y="1709622"/>
                </a:lnTo>
                <a:lnTo>
                  <a:pt x="258366" y="1707930"/>
                </a:lnTo>
                <a:lnTo>
                  <a:pt x="257115" y="1706159"/>
                </a:lnTo>
                <a:lnTo>
                  <a:pt x="256070" y="1704317"/>
                </a:lnTo>
                <a:lnTo>
                  <a:pt x="255240" y="1702409"/>
                </a:lnTo>
                <a:lnTo>
                  <a:pt x="254635" y="1700441"/>
                </a:lnTo>
                <a:lnTo>
                  <a:pt x="254265" y="1698421"/>
                </a:lnTo>
                <a:lnTo>
                  <a:pt x="254140" y="1696354"/>
                </a:lnTo>
                <a:lnTo>
                  <a:pt x="254265" y="1694288"/>
                </a:lnTo>
                <a:lnTo>
                  <a:pt x="254635" y="1692267"/>
                </a:lnTo>
                <a:lnTo>
                  <a:pt x="255240" y="1690299"/>
                </a:lnTo>
                <a:lnTo>
                  <a:pt x="256070" y="1688390"/>
                </a:lnTo>
                <a:lnTo>
                  <a:pt x="257115" y="1686547"/>
                </a:lnTo>
                <a:lnTo>
                  <a:pt x="258366" y="1684775"/>
                </a:lnTo>
                <a:lnTo>
                  <a:pt x="259813" y="1683082"/>
                </a:lnTo>
                <a:lnTo>
                  <a:pt x="261446" y="1681474"/>
                </a:lnTo>
                <a:lnTo>
                  <a:pt x="263255" y="1679958"/>
                </a:lnTo>
                <a:lnTo>
                  <a:pt x="265232" y="1678539"/>
                </a:lnTo>
                <a:lnTo>
                  <a:pt x="267365" y="1677224"/>
                </a:lnTo>
                <a:lnTo>
                  <a:pt x="269646" y="1676021"/>
                </a:lnTo>
                <a:lnTo>
                  <a:pt x="272065" y="1674935"/>
                </a:lnTo>
                <a:lnTo>
                  <a:pt x="274611" y="1673972"/>
                </a:lnTo>
                <a:lnTo>
                  <a:pt x="277276" y="1673140"/>
                </a:lnTo>
                <a:lnTo>
                  <a:pt x="280049" y="1672445"/>
                </a:lnTo>
                <a:lnTo>
                  <a:pt x="282922" y="1671893"/>
                </a:lnTo>
                <a:lnTo>
                  <a:pt x="285883" y="1671490"/>
                </a:lnTo>
                <a:lnTo>
                  <a:pt x="288924" y="1671244"/>
                </a:lnTo>
                <a:lnTo>
                  <a:pt x="292034" y="1671161"/>
                </a:lnTo>
                <a:lnTo>
                  <a:pt x="295148" y="1671244"/>
                </a:lnTo>
                <a:lnTo>
                  <a:pt x="298191" y="1671490"/>
                </a:lnTo>
                <a:lnTo>
                  <a:pt x="301156" y="1671893"/>
                </a:lnTo>
                <a:lnTo>
                  <a:pt x="304030" y="1672445"/>
                </a:lnTo>
                <a:lnTo>
                  <a:pt x="306806" y="1673140"/>
                </a:lnTo>
                <a:lnTo>
                  <a:pt x="309472" y="1673972"/>
                </a:lnTo>
                <a:lnTo>
                  <a:pt x="312021" y="1674935"/>
                </a:lnTo>
                <a:lnTo>
                  <a:pt x="314441" y="1676021"/>
                </a:lnTo>
                <a:lnTo>
                  <a:pt x="316723" y="1677224"/>
                </a:lnTo>
                <a:lnTo>
                  <a:pt x="318857" y="1678539"/>
                </a:lnTo>
                <a:lnTo>
                  <a:pt x="320835" y="1679958"/>
                </a:lnTo>
                <a:lnTo>
                  <a:pt x="322645" y="1681474"/>
                </a:lnTo>
                <a:lnTo>
                  <a:pt x="324278" y="1683082"/>
                </a:lnTo>
                <a:lnTo>
                  <a:pt x="325726" y="1684775"/>
                </a:lnTo>
                <a:lnTo>
                  <a:pt x="326977" y="1686547"/>
                </a:lnTo>
                <a:lnTo>
                  <a:pt x="328022" y="1688390"/>
                </a:lnTo>
                <a:lnTo>
                  <a:pt x="328852" y="1690299"/>
                </a:lnTo>
                <a:lnTo>
                  <a:pt x="329457" y="1692267"/>
                </a:lnTo>
                <a:lnTo>
                  <a:pt x="329827" y="1694288"/>
                </a:lnTo>
                <a:lnTo>
                  <a:pt x="329953" y="1696354"/>
                </a:lnTo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49" name="published_B_combination_error_bar_211">
            <a:extLst>
              <a:ext uri="{FF2B5EF4-FFF2-40B4-BE49-F238E27FC236}">
                <a16:creationId xmlns:a16="http://schemas.microsoft.com/office/drawing/2014/main" id="{C2C5459A-B93B-4E6E-8464-50AECBCB193D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02718" y="767978"/>
                </a:moveTo>
                <a:lnTo>
                  <a:pt x="703801" y="767978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50" name="published_B_combination_error_bar_212">
            <a:extLst>
              <a:ext uri="{FF2B5EF4-FFF2-40B4-BE49-F238E27FC236}">
                <a16:creationId xmlns:a16="http://schemas.microsoft.com/office/drawing/2014/main" id="{F4E96A5F-6972-4F36-A7A6-FBF286DA9307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02718" y="336092"/>
                </a:moveTo>
                <a:lnTo>
                  <a:pt x="703801" y="336092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51" name="published_B_combination_error_bar_213">
            <a:extLst>
              <a:ext uri="{FF2B5EF4-FFF2-40B4-BE49-F238E27FC236}">
                <a16:creationId xmlns:a16="http://schemas.microsoft.com/office/drawing/2014/main" id="{D6C3F087-8A34-4B14-A8CA-3F77725DA24A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53248" y="336092"/>
                </a:moveTo>
                <a:lnTo>
                  <a:pt x="653248" y="767994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52" name="published_B_combination_error_bar_214">
            <a:extLst>
              <a:ext uri="{FF2B5EF4-FFF2-40B4-BE49-F238E27FC236}">
                <a16:creationId xmlns:a16="http://schemas.microsoft.com/office/drawing/2014/main" id="{97456B91-1F28-4D85-B96A-27274CA8A3E7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064562" y="900141"/>
                </a:moveTo>
                <a:lnTo>
                  <a:pt x="1165646" y="900141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53" name="published_B_combination_error_bar_215">
            <a:extLst>
              <a:ext uri="{FF2B5EF4-FFF2-40B4-BE49-F238E27FC236}">
                <a16:creationId xmlns:a16="http://schemas.microsoft.com/office/drawing/2014/main" id="{5560386F-8A64-4B43-8FD9-D77DBE07DB83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064562" y="454727"/>
                </a:moveTo>
                <a:lnTo>
                  <a:pt x="1165646" y="454727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54" name="published_B_combination_error_bar_216">
            <a:extLst>
              <a:ext uri="{FF2B5EF4-FFF2-40B4-BE49-F238E27FC236}">
                <a16:creationId xmlns:a16="http://schemas.microsoft.com/office/drawing/2014/main" id="{963726B5-2515-47C4-A8A2-451B1384F95B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115095" y="454727"/>
                </a:moveTo>
                <a:lnTo>
                  <a:pt x="1115095" y="900146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55" name="published_B_combination_error_bar_217">
            <a:extLst>
              <a:ext uri="{FF2B5EF4-FFF2-40B4-BE49-F238E27FC236}">
                <a16:creationId xmlns:a16="http://schemas.microsoft.com/office/drawing/2014/main" id="{455E8405-0213-4412-A45D-85A18D49C45D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988255" y="849149"/>
                </a:moveTo>
                <a:lnTo>
                  <a:pt x="2089338" y="849149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56" name="published_B_combination_error_bar_218">
            <a:extLst>
              <a:ext uri="{FF2B5EF4-FFF2-40B4-BE49-F238E27FC236}">
                <a16:creationId xmlns:a16="http://schemas.microsoft.com/office/drawing/2014/main" id="{66B88356-8DC2-4D89-954B-2ED96A64CD4C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988255" y="338172"/>
                </a:moveTo>
                <a:lnTo>
                  <a:pt x="2089338" y="338172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57" name="published_B_combination_error_bar_219">
            <a:extLst>
              <a:ext uri="{FF2B5EF4-FFF2-40B4-BE49-F238E27FC236}">
                <a16:creationId xmlns:a16="http://schemas.microsoft.com/office/drawing/2014/main" id="{810E9C2C-DF05-4C1C-A286-5B7639A07E23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2038787" y="338172"/>
                </a:moveTo>
                <a:lnTo>
                  <a:pt x="2038787" y="849148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58" name="published_B_combination_error_bar_220">
            <a:extLst>
              <a:ext uri="{FF2B5EF4-FFF2-40B4-BE49-F238E27FC236}">
                <a16:creationId xmlns:a16="http://schemas.microsoft.com/office/drawing/2014/main" id="{F6E89F67-F122-4C60-B272-1A6FB5D7B13A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373792" y="883493"/>
                </a:moveTo>
                <a:lnTo>
                  <a:pt x="3474875" y="883493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59" name="published_B_combination_error_bar_221">
            <a:extLst>
              <a:ext uri="{FF2B5EF4-FFF2-40B4-BE49-F238E27FC236}">
                <a16:creationId xmlns:a16="http://schemas.microsoft.com/office/drawing/2014/main" id="{B4BD2FAC-E20A-4445-96A6-15C91705C7EF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373792" y="304871"/>
                </a:moveTo>
                <a:lnTo>
                  <a:pt x="3474875" y="304871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60" name="published_B_combination_error_bar_222">
            <a:extLst>
              <a:ext uri="{FF2B5EF4-FFF2-40B4-BE49-F238E27FC236}">
                <a16:creationId xmlns:a16="http://schemas.microsoft.com/office/drawing/2014/main" id="{DA28168C-C244-48E0-A418-B5DD583ADA2B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424321" y="304871"/>
                </a:moveTo>
                <a:lnTo>
                  <a:pt x="3424321" y="883492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61" name="published_B_combination_error_bar_223">
            <a:extLst>
              <a:ext uri="{FF2B5EF4-FFF2-40B4-BE49-F238E27FC236}">
                <a16:creationId xmlns:a16="http://schemas.microsoft.com/office/drawing/2014/main" id="{24BB0D5F-16C9-480E-93FD-E2903B9AD85B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835659" y="1678579"/>
                </a:moveTo>
                <a:lnTo>
                  <a:pt x="3936744" y="1678579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62" name="published_B_combination_error_bar_224">
            <a:extLst>
              <a:ext uri="{FF2B5EF4-FFF2-40B4-BE49-F238E27FC236}">
                <a16:creationId xmlns:a16="http://schemas.microsoft.com/office/drawing/2014/main" id="{C55D3EA8-2450-49CE-9FCF-9E17A25E6BC7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835659" y="1202982"/>
                </a:moveTo>
                <a:lnTo>
                  <a:pt x="3936744" y="1202982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63" name="published_B_combination_error_bar_225">
            <a:extLst>
              <a:ext uri="{FF2B5EF4-FFF2-40B4-BE49-F238E27FC236}">
                <a16:creationId xmlns:a16="http://schemas.microsoft.com/office/drawing/2014/main" id="{888047AE-D11B-481D-96FB-82B8FDB9F5B2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886191" y="1202982"/>
                </a:moveTo>
                <a:lnTo>
                  <a:pt x="3886191" y="1678590"/>
                </a:lnTo>
              </a:path>
            </a:pathLst>
          </a:custGeom>
          <a:noFill/>
          <a:ln w="10526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64" name="published_B_combination_curve_226">
            <a:extLst>
              <a:ext uri="{FF2B5EF4-FFF2-40B4-BE49-F238E27FC236}">
                <a16:creationId xmlns:a16="http://schemas.microsoft.com/office/drawing/2014/main" id="{EE92954F-D4BD-4E13-AE0C-E7C7E4E87B3F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292044" y="1696354"/>
                </a:moveTo>
                <a:lnTo>
                  <a:pt x="653230" y="551007"/>
                </a:lnTo>
                <a:moveTo>
                  <a:pt x="653230" y="551007"/>
                </a:moveTo>
                <a:lnTo>
                  <a:pt x="1115097" y="676909"/>
                </a:lnTo>
                <a:moveTo>
                  <a:pt x="1115097" y="676909"/>
                </a:moveTo>
                <a:lnTo>
                  <a:pt x="2038782" y="593659"/>
                </a:lnTo>
                <a:moveTo>
                  <a:pt x="2038782" y="593659"/>
                </a:moveTo>
                <a:lnTo>
                  <a:pt x="3424333" y="593659"/>
                </a:lnTo>
                <a:moveTo>
                  <a:pt x="3424333" y="593659"/>
                </a:moveTo>
                <a:lnTo>
                  <a:pt x="3886175" y="1440791"/>
                </a:lnTo>
              </a:path>
            </a:pathLst>
          </a:custGeom>
          <a:noFill/>
          <a:ln w="21031">
            <a:solidFill>
              <a:srgbClr val="4EA72E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65" name="published_B_combination_marker_227">
            <a:extLst>
              <a:ext uri="{FF2B5EF4-FFF2-40B4-BE49-F238E27FC236}">
                <a16:creationId xmlns:a16="http://schemas.microsoft.com/office/drawing/2014/main" id="{8DAEFEA0-89FB-4FD8-B2D7-35F57E046A5A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917519" y="1440780"/>
                </a:moveTo>
                <a:lnTo>
                  <a:pt x="3917416" y="1442487"/>
                </a:lnTo>
                <a:lnTo>
                  <a:pt x="3917109" y="1444156"/>
                </a:lnTo>
                <a:lnTo>
                  <a:pt x="3916609" y="1445782"/>
                </a:lnTo>
                <a:lnTo>
                  <a:pt x="3915922" y="1447359"/>
                </a:lnTo>
                <a:lnTo>
                  <a:pt x="3915057" y="1448882"/>
                </a:lnTo>
                <a:lnTo>
                  <a:pt x="3914022" y="1450346"/>
                </a:lnTo>
                <a:lnTo>
                  <a:pt x="3912825" y="1451744"/>
                </a:lnTo>
                <a:lnTo>
                  <a:pt x="3911474" y="1453073"/>
                </a:lnTo>
                <a:lnTo>
                  <a:pt x="3909977" y="1454326"/>
                </a:lnTo>
                <a:lnTo>
                  <a:pt x="3908342" y="1455499"/>
                </a:lnTo>
                <a:lnTo>
                  <a:pt x="3906577" y="1456585"/>
                </a:lnTo>
                <a:lnTo>
                  <a:pt x="3904691" y="1457580"/>
                </a:lnTo>
                <a:lnTo>
                  <a:pt x="3902691" y="1458477"/>
                </a:lnTo>
                <a:lnTo>
                  <a:pt x="3900586" y="1459273"/>
                </a:lnTo>
                <a:lnTo>
                  <a:pt x="3898383" y="1459961"/>
                </a:lnTo>
                <a:lnTo>
                  <a:pt x="3896091" y="1460535"/>
                </a:lnTo>
                <a:lnTo>
                  <a:pt x="3893717" y="1460992"/>
                </a:lnTo>
                <a:lnTo>
                  <a:pt x="3891270" y="1461324"/>
                </a:lnTo>
                <a:lnTo>
                  <a:pt x="3888758" y="1461528"/>
                </a:lnTo>
                <a:lnTo>
                  <a:pt x="3886189" y="1461597"/>
                </a:lnTo>
                <a:lnTo>
                  <a:pt x="3883617" y="1461528"/>
                </a:lnTo>
                <a:lnTo>
                  <a:pt x="3881103" y="1461324"/>
                </a:lnTo>
                <a:lnTo>
                  <a:pt x="3878654" y="1460992"/>
                </a:lnTo>
                <a:lnTo>
                  <a:pt x="3876280" y="1460535"/>
                </a:lnTo>
                <a:lnTo>
                  <a:pt x="3873988" y="1459961"/>
                </a:lnTo>
                <a:lnTo>
                  <a:pt x="3871786" y="1459273"/>
                </a:lnTo>
                <a:lnTo>
                  <a:pt x="3869682" y="1458477"/>
                </a:lnTo>
                <a:lnTo>
                  <a:pt x="3867684" y="1457580"/>
                </a:lnTo>
                <a:lnTo>
                  <a:pt x="3865800" y="1456585"/>
                </a:lnTo>
                <a:lnTo>
                  <a:pt x="3864039" y="1455499"/>
                </a:lnTo>
                <a:lnTo>
                  <a:pt x="3862406" y="1454326"/>
                </a:lnTo>
                <a:lnTo>
                  <a:pt x="3860912" y="1453073"/>
                </a:lnTo>
                <a:lnTo>
                  <a:pt x="3859564" y="1451744"/>
                </a:lnTo>
                <a:lnTo>
                  <a:pt x="3858370" y="1450346"/>
                </a:lnTo>
                <a:lnTo>
                  <a:pt x="3857337" y="1448882"/>
                </a:lnTo>
                <a:lnTo>
                  <a:pt x="3856475" y="1447359"/>
                </a:lnTo>
                <a:lnTo>
                  <a:pt x="3855790" y="1445782"/>
                </a:lnTo>
                <a:lnTo>
                  <a:pt x="3855291" y="1444156"/>
                </a:lnTo>
                <a:lnTo>
                  <a:pt x="3854986" y="1442487"/>
                </a:lnTo>
                <a:lnTo>
                  <a:pt x="3854882" y="1440780"/>
                </a:lnTo>
                <a:lnTo>
                  <a:pt x="3854986" y="1439073"/>
                </a:lnTo>
                <a:lnTo>
                  <a:pt x="3855291" y="1437404"/>
                </a:lnTo>
                <a:lnTo>
                  <a:pt x="3855790" y="1435778"/>
                </a:lnTo>
                <a:lnTo>
                  <a:pt x="3856475" y="1434201"/>
                </a:lnTo>
                <a:lnTo>
                  <a:pt x="3857337" y="1432678"/>
                </a:lnTo>
                <a:lnTo>
                  <a:pt x="3858370" y="1431215"/>
                </a:lnTo>
                <a:lnTo>
                  <a:pt x="3859564" y="1429816"/>
                </a:lnTo>
                <a:lnTo>
                  <a:pt x="3860912" y="1428487"/>
                </a:lnTo>
                <a:lnTo>
                  <a:pt x="3862406" y="1427234"/>
                </a:lnTo>
                <a:lnTo>
                  <a:pt x="3864039" y="1426061"/>
                </a:lnTo>
                <a:lnTo>
                  <a:pt x="3865800" y="1424975"/>
                </a:lnTo>
                <a:lnTo>
                  <a:pt x="3867684" y="1423981"/>
                </a:lnTo>
                <a:lnTo>
                  <a:pt x="3869682" y="1423083"/>
                </a:lnTo>
                <a:lnTo>
                  <a:pt x="3871786" y="1422287"/>
                </a:lnTo>
                <a:lnTo>
                  <a:pt x="3873988" y="1421600"/>
                </a:lnTo>
                <a:lnTo>
                  <a:pt x="3876280" y="1421025"/>
                </a:lnTo>
                <a:lnTo>
                  <a:pt x="3878654" y="1420569"/>
                </a:lnTo>
                <a:lnTo>
                  <a:pt x="3881103" y="1420236"/>
                </a:lnTo>
                <a:lnTo>
                  <a:pt x="3883617" y="1420033"/>
                </a:lnTo>
                <a:lnTo>
                  <a:pt x="3886189" y="1419964"/>
                </a:lnTo>
                <a:lnTo>
                  <a:pt x="3888758" y="1420033"/>
                </a:lnTo>
                <a:lnTo>
                  <a:pt x="3891270" y="1420236"/>
                </a:lnTo>
                <a:lnTo>
                  <a:pt x="3893717" y="1420569"/>
                </a:lnTo>
                <a:lnTo>
                  <a:pt x="3896091" y="1421025"/>
                </a:lnTo>
                <a:lnTo>
                  <a:pt x="3898383" y="1421600"/>
                </a:lnTo>
                <a:lnTo>
                  <a:pt x="3900586" y="1422287"/>
                </a:lnTo>
                <a:lnTo>
                  <a:pt x="3902691" y="1423083"/>
                </a:lnTo>
                <a:lnTo>
                  <a:pt x="3904691" y="1423981"/>
                </a:lnTo>
                <a:lnTo>
                  <a:pt x="3906577" y="1424975"/>
                </a:lnTo>
                <a:lnTo>
                  <a:pt x="3908342" y="1426061"/>
                </a:lnTo>
                <a:lnTo>
                  <a:pt x="3909977" y="1427234"/>
                </a:lnTo>
                <a:lnTo>
                  <a:pt x="3911474" y="1428487"/>
                </a:lnTo>
                <a:lnTo>
                  <a:pt x="3912825" y="1429816"/>
                </a:lnTo>
                <a:lnTo>
                  <a:pt x="3914022" y="1431215"/>
                </a:lnTo>
                <a:lnTo>
                  <a:pt x="3915057" y="1432678"/>
                </a:lnTo>
                <a:lnTo>
                  <a:pt x="3915922" y="1434201"/>
                </a:lnTo>
                <a:lnTo>
                  <a:pt x="3916609" y="1435778"/>
                </a:lnTo>
                <a:lnTo>
                  <a:pt x="3917109" y="1437404"/>
                </a:lnTo>
                <a:lnTo>
                  <a:pt x="3917416" y="1439073"/>
                </a:lnTo>
                <a:lnTo>
                  <a:pt x="3917519" y="1440780"/>
                </a:lnTo>
              </a:path>
            </a:pathLst>
          </a:custGeom>
          <a:solidFill>
            <a:srgbClr val="4EA72E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66" name="published_B_combination_marker_228">
            <a:extLst>
              <a:ext uri="{FF2B5EF4-FFF2-40B4-BE49-F238E27FC236}">
                <a16:creationId xmlns:a16="http://schemas.microsoft.com/office/drawing/2014/main" id="{DAC76743-B3E2-45D7-ADB1-7372CCEF2AA4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23370" y="1696354"/>
                </a:moveTo>
                <a:lnTo>
                  <a:pt x="323266" y="1698061"/>
                </a:lnTo>
                <a:lnTo>
                  <a:pt x="322960" y="1699730"/>
                </a:lnTo>
                <a:lnTo>
                  <a:pt x="322459" y="1701356"/>
                </a:lnTo>
                <a:lnTo>
                  <a:pt x="321773" y="1702933"/>
                </a:lnTo>
                <a:lnTo>
                  <a:pt x="320907" y="1704456"/>
                </a:lnTo>
                <a:lnTo>
                  <a:pt x="319872" y="1705920"/>
                </a:lnTo>
                <a:lnTo>
                  <a:pt x="318675" y="1707319"/>
                </a:lnTo>
                <a:lnTo>
                  <a:pt x="317324" y="1708647"/>
                </a:lnTo>
                <a:lnTo>
                  <a:pt x="315827" y="1709901"/>
                </a:lnTo>
                <a:lnTo>
                  <a:pt x="314192" y="1711073"/>
                </a:lnTo>
                <a:lnTo>
                  <a:pt x="312427" y="1712159"/>
                </a:lnTo>
                <a:lnTo>
                  <a:pt x="310541" y="1713154"/>
                </a:lnTo>
                <a:lnTo>
                  <a:pt x="308541" y="1714052"/>
                </a:lnTo>
                <a:lnTo>
                  <a:pt x="306436" y="1714847"/>
                </a:lnTo>
                <a:lnTo>
                  <a:pt x="304233" y="1715535"/>
                </a:lnTo>
                <a:lnTo>
                  <a:pt x="301941" y="1716110"/>
                </a:lnTo>
                <a:lnTo>
                  <a:pt x="299567" y="1716566"/>
                </a:lnTo>
                <a:lnTo>
                  <a:pt x="297120" y="1716898"/>
                </a:lnTo>
                <a:lnTo>
                  <a:pt x="294608" y="1717102"/>
                </a:lnTo>
                <a:lnTo>
                  <a:pt x="292039" y="1717171"/>
                </a:lnTo>
                <a:lnTo>
                  <a:pt x="289467" y="1717102"/>
                </a:lnTo>
                <a:lnTo>
                  <a:pt x="286953" y="1716898"/>
                </a:lnTo>
                <a:lnTo>
                  <a:pt x="284505" y="1716566"/>
                </a:lnTo>
                <a:lnTo>
                  <a:pt x="282131" y="1716110"/>
                </a:lnTo>
                <a:lnTo>
                  <a:pt x="279839" y="1715535"/>
                </a:lnTo>
                <a:lnTo>
                  <a:pt x="277637" y="1714847"/>
                </a:lnTo>
                <a:lnTo>
                  <a:pt x="275533" y="1714052"/>
                </a:lnTo>
                <a:lnTo>
                  <a:pt x="273535" y="1713154"/>
                </a:lnTo>
                <a:lnTo>
                  <a:pt x="271651" y="1712159"/>
                </a:lnTo>
                <a:lnTo>
                  <a:pt x="269890" y="1711073"/>
                </a:lnTo>
                <a:lnTo>
                  <a:pt x="268258" y="1709901"/>
                </a:lnTo>
                <a:lnTo>
                  <a:pt x="266764" y="1708647"/>
                </a:lnTo>
                <a:lnTo>
                  <a:pt x="265415" y="1707319"/>
                </a:lnTo>
                <a:lnTo>
                  <a:pt x="264221" y="1705920"/>
                </a:lnTo>
                <a:lnTo>
                  <a:pt x="263189" y="1704456"/>
                </a:lnTo>
                <a:lnTo>
                  <a:pt x="262326" y="1702933"/>
                </a:lnTo>
                <a:lnTo>
                  <a:pt x="261641" y="1701356"/>
                </a:lnTo>
                <a:lnTo>
                  <a:pt x="261142" y="1699730"/>
                </a:lnTo>
                <a:lnTo>
                  <a:pt x="260837" y="1698061"/>
                </a:lnTo>
                <a:lnTo>
                  <a:pt x="260734" y="1696354"/>
                </a:lnTo>
                <a:lnTo>
                  <a:pt x="260837" y="1694647"/>
                </a:lnTo>
                <a:lnTo>
                  <a:pt x="261142" y="1692978"/>
                </a:lnTo>
                <a:lnTo>
                  <a:pt x="261641" y="1691353"/>
                </a:lnTo>
                <a:lnTo>
                  <a:pt x="262326" y="1689776"/>
                </a:lnTo>
                <a:lnTo>
                  <a:pt x="263189" y="1688253"/>
                </a:lnTo>
                <a:lnTo>
                  <a:pt x="264221" y="1686789"/>
                </a:lnTo>
                <a:lnTo>
                  <a:pt x="265415" y="1685390"/>
                </a:lnTo>
                <a:lnTo>
                  <a:pt x="266764" y="1684061"/>
                </a:lnTo>
                <a:lnTo>
                  <a:pt x="268258" y="1682808"/>
                </a:lnTo>
                <a:lnTo>
                  <a:pt x="269890" y="1681636"/>
                </a:lnTo>
                <a:lnTo>
                  <a:pt x="271651" y="1680549"/>
                </a:lnTo>
                <a:lnTo>
                  <a:pt x="273535" y="1679555"/>
                </a:lnTo>
                <a:lnTo>
                  <a:pt x="275533" y="1678657"/>
                </a:lnTo>
                <a:lnTo>
                  <a:pt x="277637" y="1677862"/>
                </a:lnTo>
                <a:lnTo>
                  <a:pt x="279839" y="1677174"/>
                </a:lnTo>
                <a:lnTo>
                  <a:pt x="282131" y="1676599"/>
                </a:lnTo>
                <a:lnTo>
                  <a:pt x="284505" y="1676143"/>
                </a:lnTo>
                <a:lnTo>
                  <a:pt x="286953" y="1675810"/>
                </a:lnTo>
                <a:lnTo>
                  <a:pt x="289467" y="1675607"/>
                </a:lnTo>
                <a:lnTo>
                  <a:pt x="292039" y="1675538"/>
                </a:lnTo>
                <a:lnTo>
                  <a:pt x="294608" y="1675607"/>
                </a:lnTo>
                <a:lnTo>
                  <a:pt x="297120" y="1675810"/>
                </a:lnTo>
                <a:lnTo>
                  <a:pt x="299567" y="1676143"/>
                </a:lnTo>
                <a:lnTo>
                  <a:pt x="301941" y="1676599"/>
                </a:lnTo>
                <a:lnTo>
                  <a:pt x="304233" y="1677174"/>
                </a:lnTo>
                <a:lnTo>
                  <a:pt x="306436" y="1677862"/>
                </a:lnTo>
                <a:lnTo>
                  <a:pt x="308541" y="1678657"/>
                </a:lnTo>
                <a:lnTo>
                  <a:pt x="310541" y="1679555"/>
                </a:lnTo>
                <a:lnTo>
                  <a:pt x="312427" y="1680549"/>
                </a:lnTo>
                <a:lnTo>
                  <a:pt x="314192" y="1681636"/>
                </a:lnTo>
                <a:lnTo>
                  <a:pt x="315827" y="1682808"/>
                </a:lnTo>
                <a:lnTo>
                  <a:pt x="317324" y="1684061"/>
                </a:lnTo>
                <a:lnTo>
                  <a:pt x="318675" y="1685390"/>
                </a:lnTo>
                <a:lnTo>
                  <a:pt x="319872" y="1686789"/>
                </a:lnTo>
                <a:lnTo>
                  <a:pt x="320907" y="1688253"/>
                </a:lnTo>
                <a:lnTo>
                  <a:pt x="321773" y="1689776"/>
                </a:lnTo>
                <a:lnTo>
                  <a:pt x="322459" y="1691353"/>
                </a:lnTo>
                <a:lnTo>
                  <a:pt x="322960" y="1692978"/>
                </a:lnTo>
                <a:lnTo>
                  <a:pt x="323266" y="1694647"/>
                </a:lnTo>
                <a:lnTo>
                  <a:pt x="323370" y="1696354"/>
                </a:lnTo>
              </a:path>
            </a:pathLst>
          </a:custGeom>
          <a:solidFill>
            <a:srgbClr val="4EA72E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67" name="published_B_combination_marker_229">
            <a:extLst>
              <a:ext uri="{FF2B5EF4-FFF2-40B4-BE49-F238E27FC236}">
                <a16:creationId xmlns:a16="http://schemas.microsoft.com/office/drawing/2014/main" id="{0053F862-86A3-4D52-BE2B-7A2F45A88184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691164" y="550994"/>
                </a:moveTo>
                <a:lnTo>
                  <a:pt x="691038" y="553061"/>
                </a:lnTo>
                <a:lnTo>
                  <a:pt x="690668" y="555081"/>
                </a:lnTo>
                <a:lnTo>
                  <a:pt x="690063" y="557048"/>
                </a:lnTo>
                <a:lnTo>
                  <a:pt x="689233" y="558957"/>
                </a:lnTo>
                <a:lnTo>
                  <a:pt x="688188" y="560799"/>
                </a:lnTo>
                <a:lnTo>
                  <a:pt x="686937" y="562570"/>
                </a:lnTo>
                <a:lnTo>
                  <a:pt x="685489" y="564262"/>
                </a:lnTo>
                <a:lnTo>
                  <a:pt x="683856" y="565869"/>
                </a:lnTo>
                <a:lnTo>
                  <a:pt x="682045" y="567384"/>
                </a:lnTo>
                <a:lnTo>
                  <a:pt x="680068" y="568801"/>
                </a:lnTo>
                <a:lnTo>
                  <a:pt x="677934" y="570115"/>
                </a:lnTo>
                <a:lnTo>
                  <a:pt x="675651" y="571317"/>
                </a:lnTo>
                <a:lnTo>
                  <a:pt x="673231" y="572402"/>
                </a:lnTo>
                <a:lnTo>
                  <a:pt x="670683" y="573363"/>
                </a:lnTo>
                <a:lnTo>
                  <a:pt x="668016" y="574194"/>
                </a:lnTo>
                <a:lnTo>
                  <a:pt x="665241" y="574889"/>
                </a:lnTo>
                <a:lnTo>
                  <a:pt x="662366" y="575440"/>
                </a:lnTo>
                <a:lnTo>
                  <a:pt x="659402" y="575842"/>
                </a:lnTo>
                <a:lnTo>
                  <a:pt x="656358" y="576088"/>
                </a:lnTo>
                <a:lnTo>
                  <a:pt x="653245" y="576171"/>
                </a:lnTo>
                <a:lnTo>
                  <a:pt x="650134" y="576088"/>
                </a:lnTo>
                <a:lnTo>
                  <a:pt x="647094" y="575842"/>
                </a:lnTo>
                <a:lnTo>
                  <a:pt x="644132" y="575440"/>
                </a:lnTo>
                <a:lnTo>
                  <a:pt x="641260" y="574889"/>
                </a:lnTo>
                <a:lnTo>
                  <a:pt x="638487" y="574194"/>
                </a:lnTo>
                <a:lnTo>
                  <a:pt x="635822" y="573363"/>
                </a:lnTo>
                <a:lnTo>
                  <a:pt x="633276" y="572402"/>
                </a:lnTo>
                <a:lnTo>
                  <a:pt x="630857" y="571317"/>
                </a:lnTo>
                <a:lnTo>
                  <a:pt x="628576" y="570115"/>
                </a:lnTo>
                <a:lnTo>
                  <a:pt x="626443" y="568801"/>
                </a:lnTo>
                <a:lnTo>
                  <a:pt x="624466" y="567384"/>
                </a:lnTo>
                <a:lnTo>
                  <a:pt x="622657" y="565869"/>
                </a:lnTo>
                <a:lnTo>
                  <a:pt x="621024" y="564262"/>
                </a:lnTo>
                <a:lnTo>
                  <a:pt x="619577" y="562570"/>
                </a:lnTo>
                <a:lnTo>
                  <a:pt x="618326" y="560799"/>
                </a:lnTo>
                <a:lnTo>
                  <a:pt x="617280" y="558957"/>
                </a:lnTo>
                <a:lnTo>
                  <a:pt x="616451" y="557048"/>
                </a:lnTo>
                <a:lnTo>
                  <a:pt x="615846" y="555081"/>
                </a:lnTo>
                <a:lnTo>
                  <a:pt x="615476" y="553061"/>
                </a:lnTo>
                <a:lnTo>
                  <a:pt x="615350" y="550994"/>
                </a:lnTo>
                <a:lnTo>
                  <a:pt x="615476" y="548928"/>
                </a:lnTo>
                <a:lnTo>
                  <a:pt x="615846" y="546907"/>
                </a:lnTo>
                <a:lnTo>
                  <a:pt x="616451" y="544939"/>
                </a:lnTo>
                <a:lnTo>
                  <a:pt x="617280" y="543030"/>
                </a:lnTo>
                <a:lnTo>
                  <a:pt x="618326" y="541187"/>
                </a:lnTo>
                <a:lnTo>
                  <a:pt x="619577" y="539415"/>
                </a:lnTo>
                <a:lnTo>
                  <a:pt x="621024" y="537722"/>
                </a:lnTo>
                <a:lnTo>
                  <a:pt x="622657" y="536114"/>
                </a:lnTo>
                <a:lnTo>
                  <a:pt x="624466" y="534597"/>
                </a:lnTo>
                <a:lnTo>
                  <a:pt x="626443" y="533178"/>
                </a:lnTo>
                <a:lnTo>
                  <a:pt x="628576" y="531864"/>
                </a:lnTo>
                <a:lnTo>
                  <a:pt x="630857" y="530661"/>
                </a:lnTo>
                <a:lnTo>
                  <a:pt x="633276" y="529574"/>
                </a:lnTo>
                <a:lnTo>
                  <a:pt x="635822" y="528612"/>
                </a:lnTo>
                <a:lnTo>
                  <a:pt x="638487" y="527780"/>
                </a:lnTo>
                <a:lnTo>
                  <a:pt x="641260" y="527084"/>
                </a:lnTo>
                <a:lnTo>
                  <a:pt x="644132" y="526532"/>
                </a:lnTo>
                <a:lnTo>
                  <a:pt x="647094" y="526130"/>
                </a:lnTo>
                <a:lnTo>
                  <a:pt x="650134" y="525884"/>
                </a:lnTo>
                <a:lnTo>
                  <a:pt x="653245" y="525800"/>
                </a:lnTo>
                <a:lnTo>
                  <a:pt x="656358" y="525884"/>
                </a:lnTo>
                <a:lnTo>
                  <a:pt x="659402" y="526130"/>
                </a:lnTo>
                <a:lnTo>
                  <a:pt x="662366" y="526532"/>
                </a:lnTo>
                <a:lnTo>
                  <a:pt x="665241" y="527084"/>
                </a:lnTo>
                <a:lnTo>
                  <a:pt x="668016" y="527780"/>
                </a:lnTo>
                <a:lnTo>
                  <a:pt x="670683" y="528612"/>
                </a:lnTo>
                <a:lnTo>
                  <a:pt x="673231" y="529574"/>
                </a:lnTo>
                <a:lnTo>
                  <a:pt x="675651" y="530661"/>
                </a:lnTo>
                <a:lnTo>
                  <a:pt x="677934" y="531864"/>
                </a:lnTo>
                <a:lnTo>
                  <a:pt x="680068" y="533178"/>
                </a:lnTo>
                <a:lnTo>
                  <a:pt x="682045" y="534597"/>
                </a:lnTo>
                <a:lnTo>
                  <a:pt x="683856" y="536114"/>
                </a:lnTo>
                <a:lnTo>
                  <a:pt x="685489" y="537722"/>
                </a:lnTo>
                <a:lnTo>
                  <a:pt x="686937" y="539415"/>
                </a:lnTo>
                <a:lnTo>
                  <a:pt x="688188" y="541187"/>
                </a:lnTo>
                <a:lnTo>
                  <a:pt x="689233" y="543030"/>
                </a:lnTo>
                <a:lnTo>
                  <a:pt x="690063" y="544939"/>
                </a:lnTo>
                <a:lnTo>
                  <a:pt x="690668" y="546907"/>
                </a:lnTo>
                <a:lnTo>
                  <a:pt x="691038" y="548928"/>
                </a:lnTo>
                <a:lnTo>
                  <a:pt x="691164" y="550994"/>
                </a:lnTo>
              </a:path>
            </a:pathLst>
          </a:custGeom>
          <a:solidFill>
            <a:srgbClr val="4EA72E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68" name="published_B_combination_marker_230">
            <a:extLst>
              <a:ext uri="{FF2B5EF4-FFF2-40B4-BE49-F238E27FC236}">
                <a16:creationId xmlns:a16="http://schemas.microsoft.com/office/drawing/2014/main" id="{7720268B-316D-497A-B455-BE54D513721A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1153006" y="676916"/>
                </a:moveTo>
                <a:lnTo>
                  <a:pt x="1152880" y="678982"/>
                </a:lnTo>
                <a:lnTo>
                  <a:pt x="1152510" y="681003"/>
                </a:lnTo>
                <a:lnTo>
                  <a:pt x="1151906" y="682971"/>
                </a:lnTo>
                <a:lnTo>
                  <a:pt x="1151076" y="684880"/>
                </a:lnTo>
                <a:lnTo>
                  <a:pt x="1150030" y="686723"/>
                </a:lnTo>
                <a:lnTo>
                  <a:pt x="1148780" y="688495"/>
                </a:lnTo>
                <a:lnTo>
                  <a:pt x="1147333" y="690188"/>
                </a:lnTo>
                <a:lnTo>
                  <a:pt x="1145700" y="691796"/>
                </a:lnTo>
                <a:lnTo>
                  <a:pt x="1143890" y="693313"/>
                </a:lnTo>
                <a:lnTo>
                  <a:pt x="1141914" y="694731"/>
                </a:lnTo>
                <a:lnTo>
                  <a:pt x="1139780" y="696046"/>
                </a:lnTo>
                <a:lnTo>
                  <a:pt x="1137499" y="697249"/>
                </a:lnTo>
                <a:lnTo>
                  <a:pt x="1135081" y="698336"/>
                </a:lnTo>
                <a:lnTo>
                  <a:pt x="1132534" y="699298"/>
                </a:lnTo>
                <a:lnTo>
                  <a:pt x="1129869" y="700130"/>
                </a:lnTo>
                <a:lnTo>
                  <a:pt x="1127096" y="700825"/>
                </a:lnTo>
                <a:lnTo>
                  <a:pt x="1124224" y="701378"/>
                </a:lnTo>
                <a:lnTo>
                  <a:pt x="1121263" y="701780"/>
                </a:lnTo>
                <a:lnTo>
                  <a:pt x="1118222" y="702026"/>
                </a:lnTo>
                <a:lnTo>
                  <a:pt x="1115112" y="702110"/>
                </a:lnTo>
                <a:lnTo>
                  <a:pt x="1111998" y="702026"/>
                </a:lnTo>
                <a:lnTo>
                  <a:pt x="1108954" y="701780"/>
                </a:lnTo>
                <a:lnTo>
                  <a:pt x="1105990" y="701378"/>
                </a:lnTo>
                <a:lnTo>
                  <a:pt x="1103116" y="700825"/>
                </a:lnTo>
                <a:lnTo>
                  <a:pt x="1100340" y="700130"/>
                </a:lnTo>
                <a:lnTo>
                  <a:pt x="1097673" y="699298"/>
                </a:lnTo>
                <a:lnTo>
                  <a:pt x="1095125" y="698336"/>
                </a:lnTo>
                <a:lnTo>
                  <a:pt x="1092705" y="697249"/>
                </a:lnTo>
                <a:lnTo>
                  <a:pt x="1090423" y="696046"/>
                </a:lnTo>
                <a:lnTo>
                  <a:pt x="1088288" y="694731"/>
                </a:lnTo>
                <a:lnTo>
                  <a:pt x="1086311" y="693313"/>
                </a:lnTo>
                <a:lnTo>
                  <a:pt x="1084501" y="691796"/>
                </a:lnTo>
                <a:lnTo>
                  <a:pt x="1082867" y="690188"/>
                </a:lnTo>
                <a:lnTo>
                  <a:pt x="1081420" y="688495"/>
                </a:lnTo>
                <a:lnTo>
                  <a:pt x="1080168" y="686723"/>
                </a:lnTo>
                <a:lnTo>
                  <a:pt x="1079123" y="684880"/>
                </a:lnTo>
                <a:lnTo>
                  <a:pt x="1078293" y="682971"/>
                </a:lnTo>
                <a:lnTo>
                  <a:pt x="1077688" y="681003"/>
                </a:lnTo>
                <a:lnTo>
                  <a:pt x="1077318" y="678982"/>
                </a:lnTo>
                <a:lnTo>
                  <a:pt x="1077193" y="676916"/>
                </a:lnTo>
                <a:lnTo>
                  <a:pt x="1077318" y="674849"/>
                </a:lnTo>
                <a:lnTo>
                  <a:pt x="1077688" y="672829"/>
                </a:lnTo>
                <a:lnTo>
                  <a:pt x="1078293" y="670862"/>
                </a:lnTo>
                <a:lnTo>
                  <a:pt x="1079123" y="668953"/>
                </a:lnTo>
                <a:lnTo>
                  <a:pt x="1080168" y="667111"/>
                </a:lnTo>
                <a:lnTo>
                  <a:pt x="1081420" y="665340"/>
                </a:lnTo>
                <a:lnTo>
                  <a:pt x="1082867" y="663648"/>
                </a:lnTo>
                <a:lnTo>
                  <a:pt x="1084501" y="662041"/>
                </a:lnTo>
                <a:lnTo>
                  <a:pt x="1086311" y="660526"/>
                </a:lnTo>
                <a:lnTo>
                  <a:pt x="1088288" y="659108"/>
                </a:lnTo>
                <a:lnTo>
                  <a:pt x="1090423" y="657795"/>
                </a:lnTo>
                <a:lnTo>
                  <a:pt x="1092705" y="656593"/>
                </a:lnTo>
                <a:lnTo>
                  <a:pt x="1095125" y="655508"/>
                </a:lnTo>
                <a:lnTo>
                  <a:pt x="1097673" y="654547"/>
                </a:lnTo>
                <a:lnTo>
                  <a:pt x="1100340" y="653715"/>
                </a:lnTo>
                <a:lnTo>
                  <a:pt x="1103116" y="653021"/>
                </a:lnTo>
                <a:lnTo>
                  <a:pt x="1105990" y="652470"/>
                </a:lnTo>
                <a:lnTo>
                  <a:pt x="1108954" y="652068"/>
                </a:lnTo>
                <a:lnTo>
                  <a:pt x="1111998" y="651822"/>
                </a:lnTo>
                <a:lnTo>
                  <a:pt x="1115112" y="651739"/>
                </a:lnTo>
                <a:lnTo>
                  <a:pt x="1118222" y="651822"/>
                </a:lnTo>
                <a:lnTo>
                  <a:pt x="1121263" y="652068"/>
                </a:lnTo>
                <a:lnTo>
                  <a:pt x="1124224" y="652470"/>
                </a:lnTo>
                <a:lnTo>
                  <a:pt x="1127096" y="653021"/>
                </a:lnTo>
                <a:lnTo>
                  <a:pt x="1129869" y="653715"/>
                </a:lnTo>
                <a:lnTo>
                  <a:pt x="1132534" y="654547"/>
                </a:lnTo>
                <a:lnTo>
                  <a:pt x="1135081" y="655508"/>
                </a:lnTo>
                <a:lnTo>
                  <a:pt x="1137499" y="656593"/>
                </a:lnTo>
                <a:lnTo>
                  <a:pt x="1139780" y="657795"/>
                </a:lnTo>
                <a:lnTo>
                  <a:pt x="1141914" y="659108"/>
                </a:lnTo>
                <a:lnTo>
                  <a:pt x="1143890" y="660526"/>
                </a:lnTo>
                <a:lnTo>
                  <a:pt x="1145700" y="662041"/>
                </a:lnTo>
                <a:lnTo>
                  <a:pt x="1147333" y="663648"/>
                </a:lnTo>
                <a:lnTo>
                  <a:pt x="1148780" y="665340"/>
                </a:lnTo>
                <a:lnTo>
                  <a:pt x="1150030" y="667111"/>
                </a:lnTo>
                <a:lnTo>
                  <a:pt x="1151076" y="668953"/>
                </a:lnTo>
                <a:lnTo>
                  <a:pt x="1151906" y="670862"/>
                </a:lnTo>
                <a:lnTo>
                  <a:pt x="1152510" y="672829"/>
                </a:lnTo>
                <a:lnTo>
                  <a:pt x="1152880" y="674849"/>
                </a:lnTo>
                <a:lnTo>
                  <a:pt x="1153006" y="676916"/>
                </a:lnTo>
              </a:path>
            </a:pathLst>
          </a:custGeom>
          <a:solidFill>
            <a:srgbClr val="4EA72E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69" name="published_B_combination_marker_231">
            <a:extLst>
              <a:ext uri="{FF2B5EF4-FFF2-40B4-BE49-F238E27FC236}">
                <a16:creationId xmlns:a16="http://schemas.microsoft.com/office/drawing/2014/main" id="{818B9244-4816-4D79-84CF-A66E14DD7025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3462235" y="593661"/>
                </a:moveTo>
                <a:lnTo>
                  <a:pt x="3462110" y="595728"/>
                </a:lnTo>
                <a:lnTo>
                  <a:pt x="3461740" y="597749"/>
                </a:lnTo>
                <a:lnTo>
                  <a:pt x="3461135" y="599717"/>
                </a:lnTo>
                <a:lnTo>
                  <a:pt x="3460305" y="601626"/>
                </a:lnTo>
                <a:lnTo>
                  <a:pt x="3459259" y="603469"/>
                </a:lnTo>
                <a:lnTo>
                  <a:pt x="3458008" y="605241"/>
                </a:lnTo>
                <a:lnTo>
                  <a:pt x="3456561" y="606934"/>
                </a:lnTo>
                <a:lnTo>
                  <a:pt x="3454927" y="608542"/>
                </a:lnTo>
                <a:lnTo>
                  <a:pt x="3453117" y="610058"/>
                </a:lnTo>
                <a:lnTo>
                  <a:pt x="3451140" y="611477"/>
                </a:lnTo>
                <a:lnTo>
                  <a:pt x="3449005" y="612791"/>
                </a:lnTo>
                <a:lnTo>
                  <a:pt x="3446723" y="613995"/>
                </a:lnTo>
                <a:lnTo>
                  <a:pt x="3444303" y="615081"/>
                </a:lnTo>
                <a:lnTo>
                  <a:pt x="3441755" y="616044"/>
                </a:lnTo>
                <a:lnTo>
                  <a:pt x="3439088" y="616876"/>
                </a:lnTo>
                <a:lnTo>
                  <a:pt x="3436313" y="617571"/>
                </a:lnTo>
                <a:lnTo>
                  <a:pt x="3433438" y="618123"/>
                </a:lnTo>
                <a:lnTo>
                  <a:pt x="3430474" y="618526"/>
                </a:lnTo>
                <a:lnTo>
                  <a:pt x="3427430" y="618772"/>
                </a:lnTo>
                <a:lnTo>
                  <a:pt x="3424316" y="618855"/>
                </a:lnTo>
                <a:lnTo>
                  <a:pt x="3421206" y="618772"/>
                </a:lnTo>
                <a:lnTo>
                  <a:pt x="3418165" y="618526"/>
                </a:lnTo>
                <a:lnTo>
                  <a:pt x="3415204" y="618123"/>
                </a:lnTo>
                <a:lnTo>
                  <a:pt x="3412332" y="617571"/>
                </a:lnTo>
                <a:lnTo>
                  <a:pt x="3409559" y="616876"/>
                </a:lnTo>
                <a:lnTo>
                  <a:pt x="3406894" y="616044"/>
                </a:lnTo>
                <a:lnTo>
                  <a:pt x="3404347" y="615081"/>
                </a:lnTo>
                <a:lnTo>
                  <a:pt x="3401929" y="613995"/>
                </a:lnTo>
                <a:lnTo>
                  <a:pt x="3399648" y="612791"/>
                </a:lnTo>
                <a:lnTo>
                  <a:pt x="3397514" y="611477"/>
                </a:lnTo>
                <a:lnTo>
                  <a:pt x="3395538" y="610058"/>
                </a:lnTo>
                <a:lnTo>
                  <a:pt x="3393728" y="608542"/>
                </a:lnTo>
                <a:lnTo>
                  <a:pt x="3392095" y="606934"/>
                </a:lnTo>
                <a:lnTo>
                  <a:pt x="3390648" y="605241"/>
                </a:lnTo>
                <a:lnTo>
                  <a:pt x="3389397" y="603469"/>
                </a:lnTo>
                <a:lnTo>
                  <a:pt x="3388352" y="601626"/>
                </a:lnTo>
                <a:lnTo>
                  <a:pt x="3387522" y="599717"/>
                </a:lnTo>
                <a:lnTo>
                  <a:pt x="3386917" y="597749"/>
                </a:lnTo>
                <a:lnTo>
                  <a:pt x="3386547" y="595728"/>
                </a:lnTo>
                <a:lnTo>
                  <a:pt x="3386422" y="593661"/>
                </a:lnTo>
                <a:lnTo>
                  <a:pt x="3386547" y="591595"/>
                </a:lnTo>
                <a:lnTo>
                  <a:pt x="3386917" y="589574"/>
                </a:lnTo>
                <a:lnTo>
                  <a:pt x="3387522" y="587606"/>
                </a:lnTo>
                <a:lnTo>
                  <a:pt x="3388352" y="585697"/>
                </a:lnTo>
                <a:lnTo>
                  <a:pt x="3389397" y="583854"/>
                </a:lnTo>
                <a:lnTo>
                  <a:pt x="3390648" y="582082"/>
                </a:lnTo>
                <a:lnTo>
                  <a:pt x="3392095" y="580389"/>
                </a:lnTo>
                <a:lnTo>
                  <a:pt x="3393728" y="578781"/>
                </a:lnTo>
                <a:lnTo>
                  <a:pt x="3395538" y="577265"/>
                </a:lnTo>
                <a:lnTo>
                  <a:pt x="3397514" y="575846"/>
                </a:lnTo>
                <a:lnTo>
                  <a:pt x="3399648" y="574531"/>
                </a:lnTo>
                <a:lnTo>
                  <a:pt x="3401929" y="573328"/>
                </a:lnTo>
                <a:lnTo>
                  <a:pt x="3404347" y="572242"/>
                </a:lnTo>
                <a:lnTo>
                  <a:pt x="3406894" y="571279"/>
                </a:lnTo>
                <a:lnTo>
                  <a:pt x="3409559" y="570447"/>
                </a:lnTo>
                <a:lnTo>
                  <a:pt x="3412332" y="569752"/>
                </a:lnTo>
                <a:lnTo>
                  <a:pt x="3415204" y="569200"/>
                </a:lnTo>
                <a:lnTo>
                  <a:pt x="3418165" y="568797"/>
                </a:lnTo>
                <a:lnTo>
                  <a:pt x="3421206" y="568551"/>
                </a:lnTo>
                <a:lnTo>
                  <a:pt x="3424316" y="568468"/>
                </a:lnTo>
                <a:lnTo>
                  <a:pt x="3427430" y="568551"/>
                </a:lnTo>
                <a:lnTo>
                  <a:pt x="3430474" y="568797"/>
                </a:lnTo>
                <a:lnTo>
                  <a:pt x="3433438" y="569200"/>
                </a:lnTo>
                <a:lnTo>
                  <a:pt x="3436313" y="569752"/>
                </a:lnTo>
                <a:lnTo>
                  <a:pt x="3439088" y="570447"/>
                </a:lnTo>
                <a:lnTo>
                  <a:pt x="3441755" y="571279"/>
                </a:lnTo>
                <a:lnTo>
                  <a:pt x="3444303" y="572242"/>
                </a:lnTo>
                <a:lnTo>
                  <a:pt x="3446723" y="573328"/>
                </a:lnTo>
                <a:lnTo>
                  <a:pt x="3449005" y="574531"/>
                </a:lnTo>
                <a:lnTo>
                  <a:pt x="3451140" y="575846"/>
                </a:lnTo>
                <a:lnTo>
                  <a:pt x="3453117" y="577265"/>
                </a:lnTo>
                <a:lnTo>
                  <a:pt x="3454927" y="578781"/>
                </a:lnTo>
                <a:lnTo>
                  <a:pt x="3456561" y="580389"/>
                </a:lnTo>
                <a:lnTo>
                  <a:pt x="3458008" y="582082"/>
                </a:lnTo>
                <a:lnTo>
                  <a:pt x="3459259" y="583854"/>
                </a:lnTo>
                <a:lnTo>
                  <a:pt x="3460305" y="585697"/>
                </a:lnTo>
                <a:lnTo>
                  <a:pt x="3461135" y="587606"/>
                </a:lnTo>
                <a:lnTo>
                  <a:pt x="3461740" y="589574"/>
                </a:lnTo>
                <a:lnTo>
                  <a:pt x="3462110" y="591595"/>
                </a:lnTo>
                <a:lnTo>
                  <a:pt x="3462235" y="593661"/>
                </a:lnTo>
              </a:path>
            </a:pathLst>
          </a:custGeom>
          <a:solidFill>
            <a:srgbClr val="4EA72E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70" name="published_B_combination_marker_232">
            <a:extLst>
              <a:ext uri="{FF2B5EF4-FFF2-40B4-BE49-F238E27FC236}">
                <a16:creationId xmlns:a16="http://schemas.microsoft.com/office/drawing/2014/main" id="{570DC5B6-F560-43C0-AEB1-F59FFB4F05D9}"/>
              </a:ext>
            </a:extLst>
          </p:cNvPr>
          <p:cNvSpPr>
            <a:spLocks noGrp="1"/>
          </p:cNvSpPr>
          <p:nvPr/>
        </p:nvSpPr>
        <p:spPr>
          <a:xfrm>
            <a:off x="7696200" y="2436058"/>
            <a:ext cx="3886200" cy="2439434"/>
          </a:xfrm>
          <a:custGeom>
            <a:avLst/>
            <a:gdLst/>
            <a:ahLst/>
            <a:cxnLst/>
            <a:rect l="0" t="0" r="0" b="0"/>
            <a:pathLst>
              <a:path w="3886200" h="1905000">
                <a:moveTo>
                  <a:pt x="2076700" y="594702"/>
                </a:moveTo>
                <a:lnTo>
                  <a:pt x="2076575" y="596768"/>
                </a:lnTo>
                <a:lnTo>
                  <a:pt x="2076205" y="598789"/>
                </a:lnTo>
                <a:lnTo>
                  <a:pt x="2075600" y="600757"/>
                </a:lnTo>
                <a:lnTo>
                  <a:pt x="2074770" y="602666"/>
                </a:lnTo>
                <a:lnTo>
                  <a:pt x="2073725" y="604509"/>
                </a:lnTo>
                <a:lnTo>
                  <a:pt x="2072473" y="606281"/>
                </a:lnTo>
                <a:lnTo>
                  <a:pt x="2071026" y="607974"/>
                </a:lnTo>
                <a:lnTo>
                  <a:pt x="2069393" y="609582"/>
                </a:lnTo>
                <a:lnTo>
                  <a:pt x="2067582" y="611098"/>
                </a:lnTo>
                <a:lnTo>
                  <a:pt x="2065605" y="612517"/>
                </a:lnTo>
                <a:lnTo>
                  <a:pt x="2063471" y="613832"/>
                </a:lnTo>
                <a:lnTo>
                  <a:pt x="2061188" y="615035"/>
                </a:lnTo>
                <a:lnTo>
                  <a:pt x="2058768" y="616121"/>
                </a:lnTo>
                <a:lnTo>
                  <a:pt x="2056220" y="617084"/>
                </a:lnTo>
                <a:lnTo>
                  <a:pt x="2053553" y="617916"/>
                </a:lnTo>
                <a:lnTo>
                  <a:pt x="2050778" y="618611"/>
                </a:lnTo>
                <a:lnTo>
                  <a:pt x="2047903" y="619163"/>
                </a:lnTo>
                <a:lnTo>
                  <a:pt x="2044939" y="619566"/>
                </a:lnTo>
                <a:lnTo>
                  <a:pt x="2041895" y="619812"/>
                </a:lnTo>
                <a:lnTo>
                  <a:pt x="2038782" y="619895"/>
                </a:lnTo>
                <a:lnTo>
                  <a:pt x="2035671" y="619812"/>
                </a:lnTo>
                <a:lnTo>
                  <a:pt x="2032631" y="619566"/>
                </a:lnTo>
                <a:lnTo>
                  <a:pt x="2029669" y="619163"/>
                </a:lnTo>
                <a:lnTo>
                  <a:pt x="2026797" y="618611"/>
                </a:lnTo>
                <a:lnTo>
                  <a:pt x="2024024" y="617916"/>
                </a:lnTo>
                <a:lnTo>
                  <a:pt x="2021359" y="617084"/>
                </a:lnTo>
                <a:lnTo>
                  <a:pt x="2018813" y="616121"/>
                </a:lnTo>
                <a:lnTo>
                  <a:pt x="2016394" y="615035"/>
                </a:lnTo>
                <a:lnTo>
                  <a:pt x="2014113" y="613832"/>
                </a:lnTo>
                <a:lnTo>
                  <a:pt x="2011980" y="612517"/>
                </a:lnTo>
                <a:lnTo>
                  <a:pt x="2010003" y="611098"/>
                </a:lnTo>
                <a:lnTo>
                  <a:pt x="2008194" y="609582"/>
                </a:lnTo>
                <a:lnTo>
                  <a:pt x="2006560" y="607974"/>
                </a:lnTo>
                <a:lnTo>
                  <a:pt x="2005114" y="606281"/>
                </a:lnTo>
                <a:lnTo>
                  <a:pt x="2003863" y="604509"/>
                </a:lnTo>
                <a:lnTo>
                  <a:pt x="2002817" y="602666"/>
                </a:lnTo>
                <a:lnTo>
                  <a:pt x="2001988" y="600757"/>
                </a:lnTo>
                <a:lnTo>
                  <a:pt x="2001383" y="598789"/>
                </a:lnTo>
                <a:lnTo>
                  <a:pt x="2001013" y="596768"/>
                </a:lnTo>
                <a:lnTo>
                  <a:pt x="2000887" y="594702"/>
                </a:lnTo>
                <a:lnTo>
                  <a:pt x="2001013" y="592635"/>
                </a:lnTo>
                <a:lnTo>
                  <a:pt x="2001383" y="590614"/>
                </a:lnTo>
                <a:lnTo>
                  <a:pt x="2001988" y="588646"/>
                </a:lnTo>
                <a:lnTo>
                  <a:pt x="2002817" y="586737"/>
                </a:lnTo>
                <a:lnTo>
                  <a:pt x="2003863" y="584894"/>
                </a:lnTo>
                <a:lnTo>
                  <a:pt x="2005114" y="583122"/>
                </a:lnTo>
                <a:lnTo>
                  <a:pt x="2006560" y="581429"/>
                </a:lnTo>
                <a:lnTo>
                  <a:pt x="2008194" y="579821"/>
                </a:lnTo>
                <a:lnTo>
                  <a:pt x="2010003" y="578305"/>
                </a:lnTo>
                <a:lnTo>
                  <a:pt x="2011980" y="576886"/>
                </a:lnTo>
                <a:lnTo>
                  <a:pt x="2014113" y="575571"/>
                </a:lnTo>
                <a:lnTo>
                  <a:pt x="2016394" y="574368"/>
                </a:lnTo>
                <a:lnTo>
                  <a:pt x="2018813" y="573282"/>
                </a:lnTo>
                <a:lnTo>
                  <a:pt x="2021359" y="572319"/>
                </a:lnTo>
                <a:lnTo>
                  <a:pt x="2024024" y="571487"/>
                </a:lnTo>
                <a:lnTo>
                  <a:pt x="2026797" y="570792"/>
                </a:lnTo>
                <a:lnTo>
                  <a:pt x="2029669" y="570240"/>
                </a:lnTo>
                <a:lnTo>
                  <a:pt x="2032631" y="569837"/>
                </a:lnTo>
                <a:lnTo>
                  <a:pt x="2035671" y="569591"/>
                </a:lnTo>
                <a:lnTo>
                  <a:pt x="2038782" y="569508"/>
                </a:lnTo>
                <a:lnTo>
                  <a:pt x="2041895" y="569591"/>
                </a:lnTo>
                <a:lnTo>
                  <a:pt x="2044939" y="569837"/>
                </a:lnTo>
                <a:lnTo>
                  <a:pt x="2047903" y="570240"/>
                </a:lnTo>
                <a:lnTo>
                  <a:pt x="2050778" y="570792"/>
                </a:lnTo>
                <a:lnTo>
                  <a:pt x="2053553" y="571487"/>
                </a:lnTo>
                <a:lnTo>
                  <a:pt x="2056220" y="572319"/>
                </a:lnTo>
                <a:lnTo>
                  <a:pt x="2058768" y="573282"/>
                </a:lnTo>
                <a:lnTo>
                  <a:pt x="2061188" y="574368"/>
                </a:lnTo>
                <a:lnTo>
                  <a:pt x="2063471" y="575571"/>
                </a:lnTo>
                <a:lnTo>
                  <a:pt x="2065605" y="576886"/>
                </a:lnTo>
                <a:lnTo>
                  <a:pt x="2067582" y="578305"/>
                </a:lnTo>
                <a:lnTo>
                  <a:pt x="2069393" y="579821"/>
                </a:lnTo>
                <a:lnTo>
                  <a:pt x="2071026" y="581429"/>
                </a:lnTo>
                <a:lnTo>
                  <a:pt x="2072473" y="583122"/>
                </a:lnTo>
                <a:lnTo>
                  <a:pt x="2073725" y="584894"/>
                </a:lnTo>
                <a:lnTo>
                  <a:pt x="2074770" y="586737"/>
                </a:lnTo>
                <a:lnTo>
                  <a:pt x="2075600" y="588646"/>
                </a:lnTo>
                <a:lnTo>
                  <a:pt x="2076205" y="590614"/>
                </a:lnTo>
                <a:lnTo>
                  <a:pt x="2076575" y="592635"/>
                </a:lnTo>
                <a:lnTo>
                  <a:pt x="2076700" y="594702"/>
                </a:lnTo>
              </a:path>
            </a:pathLst>
          </a:custGeom>
          <a:solidFill>
            <a:srgbClr val="4EA72E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75" name="withdrawal">
            <a:extLst>
              <a:ext uri="{FF2B5EF4-FFF2-40B4-BE49-F238E27FC236}">
                <a16:creationId xmlns:a16="http://schemas.microsoft.com/office/drawing/2014/main" id="{5CD40ABB-CE95-438F-AD0D-BFC9FBF339A6}"/>
              </a:ext>
            </a:extLst>
          </p:cNvPr>
          <p:cNvSpPr>
            <a:spLocks noGrp="1"/>
          </p:cNvSpPr>
          <p:nvPr/>
        </p:nvSpPr>
        <p:spPr>
          <a:xfrm>
            <a:off x="457200" y="5613400"/>
            <a:ext cx="112776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Изменение калия: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различие комбинации и финеренона статистически незначимо (p=0,91). На обоих графиках день 180: отмена, день 210: +30 дней.</a:t>
            </a:r>
          </a:p>
        </p:txBody>
      </p:sp>
      <p:sp>
        <p:nvSpPr>
          <p:cNvPr id="276" name="safety">
            <a:extLst>
              <a:ext uri="{FF2B5EF4-FFF2-40B4-BE49-F238E27FC236}">
                <a16:creationId xmlns:a16="http://schemas.microsoft.com/office/drawing/2014/main" id="{1ECA04EE-3F19-4C2B-860A-E14C8D9CDC88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12776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Безопасность: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калий &gt;5,5 ммоль/л хотя бы раз: финеренон 18,8%, комбинация 15,1% (различие статистически незначимо, p=0,85), эмпаглифлозин 9,7%.</a:t>
            </a:r>
          </a:p>
        </p:txBody>
      </p:sp>
      <p:sp>
        <p:nvSpPr>
          <p:cNvPr id="277" name="surrogate">
            <a:extLst>
              <a:ext uri="{FF2B5EF4-FFF2-40B4-BE49-F238E27FC236}">
                <a16:creationId xmlns:a16="http://schemas.microsoft.com/office/drawing/2014/main" id="{2305A115-1DCC-441B-8E2B-F8689157C88E}"/>
              </a:ext>
            </a:extLst>
          </p:cNvPr>
          <p:cNvSpPr>
            <a:spLocks noGrp="1"/>
          </p:cNvSpPr>
          <p:nvPr/>
        </p:nvSpPr>
        <p:spPr>
          <a:xfrm>
            <a:off x="457200" y="6045200"/>
            <a:ext cx="11277600" cy="215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Ограничение: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суррогатная конечная точка (АКО); 180 дней мало, чтобы оценить различия по почечным и сердечно-сосудистым исходам.</a:t>
            </a:r>
          </a:p>
        </p:txBody>
      </p:sp>
      <p:sp>
        <p:nvSpPr>
          <p:cNvPr id="542" name="Источники"/>
          <p:cNvSpPr txBox="1"/>
          <p:nvPr/>
        </p:nvSpPr>
        <p:spPr>
          <a:xfrm>
            <a:off x="457200" y="6383020"/>
            <a:ext cx="10795000" cy="3987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АКО: отношение альбумина к креатинину мочи; рСКФ: расчётная скорость клубочковой фильтрации; АПФ: ангиотензинпревращающий фермент; БРА: блокатор рецепторов ангиотензина II; МНК: метод наименьших квадратов (оценка по статистической модели). Доли пациентов с калием &gt;5,5 ммоль/л и значения p для калия: вторичный анализ CONFIDENCE, 2026.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Agarwal R, et al. N Engl J Med. 2025;393:533–543. Agarwal R, et al. J Am Coll Cardiol. 2026;87:772–784. ClinicalTrials.gov NCT05254002.</a:t>
            </a:r>
          </a:p>
        </p:txBody>
      </p:sp>
      <p:pic>
        <p:nvPicPr>
          <p:cNvPr id="543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07998"/>
      </p:ext>
    </p:extLst>
  </p:cSld>
  <p:clrMapOvr>
    <a:masterClrMapping/>
  </p:clrMapOvr>
</p:sld>
</file>

<file path=ppt/slides/slide24.xml><?xml version="1.0" encoding="utf-8"?>
<p:sld xmlns:p="http://schemas.openxmlformats.org/presentationml/2006/main">
  <p:cSld>
    <p:bg>
      <p:bgPr>
        <ns0:solidFill xmlns:ns0="http://schemas.openxmlformats.org/drawingml/2006/main">
          <ns0:srgbClr val="FFFFFF"/>
        </ns0:solidFill>
        <ns1:effectLst xmlns:ns1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Main_title">
            <a:extLst xmlns:a="http://schemas.openxmlformats.org/drawingml/2006/main">
              <a:ext uri="{FF2B5EF4-FFF2-40B4-BE49-F238E27FC236}">
                <a16:creationId xmlns:a16="http://schemas.microsoft.com/office/drawing/2014/main" id="{34CF4BBF-B11A-4F36-973F-B1C35274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400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ADA 2026: рекомендации по финеренону при диабете 2 типа и ХБП</a:t>
            </a:r>
          </a:p>
        </p:txBody>
      </p:sp>
      <p:sp xmlns:a="http://schemas.openxmlformats.org/drawingml/2006/main">
        <p:nvSpPr>
          <p:cNvPr id="17" name="Контекст"/>
          <p:cNvSpPr txBox="1"/>
          <p:nvPr/>
        </p:nvSpPr>
        <p:spPr>
          <a:xfrm>
            <a:off x="457200" y="965200"/>
            <a:ext cx="112776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Американская диабетическая ассоциация, 2026. Сахарный диабет 2 типа, ХБП и альбуминурия.</a:t>
            </a:r>
          </a:p>
        </p:txBody>
      </p:sp>
      <p:sp xmlns:a="http://schemas.openxmlformats.org/drawingml/2006/main">
        <p:nvSpPr>
          <p:cNvPr id="18" name="Полоса_36"/>
          <p:cNvSpPr/>
          <p:nvPr/>
        </p:nvSpPr>
        <p:spPr>
          <a:xfrm>
            <a:off x="457200" y="13716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A02B93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Рекомендация 11.8, уровень доказательств A</a:t>
            </a:r>
          </a:p>
        </p:txBody>
      </p:sp>
      <p:sp xmlns:a="http://schemas.openxmlformats.org/drawingml/2006/main">
        <p:nvSpPr>
          <p:cNvPr id="19" name="Карточка_36"/>
          <p:cNvSpPr/>
          <p:nvPr/>
        </p:nvSpPr>
        <p:spPr>
          <a:xfrm>
            <a:off x="457200" y="1854200"/>
            <a:ext cx="5486400" cy="2489200"/>
          </a:xfrm>
          <a:prstGeom prst="roundRect">
            <a:avLst>
              <a:gd name="adj" fmla="val 40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 xmlns:a="http://schemas.openxmlformats.org/drawingml/2006/main">
        <p:nvSpPr>
          <p:cNvPr id="20" name="Текст_36"/>
          <p:cNvSpPr txBox="1"/>
          <p:nvPr/>
        </p:nvSpPr>
        <p:spPr>
          <a:xfrm>
            <a:off x="685800" y="2006600"/>
            <a:ext cx="50292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При ХБП с альбуминурией ADA рекомендует нестероидный антагонист минералокортикоидного рецептора с доказанной в исследованиях эффективностью (финеренон) для снижения риска прогрессирования ХБП и сердечно-сосудистых событий.</a:t>
            </a:r>
          </a:p>
        </p:txBody>
      </p:sp>
      <p:cxnSp xmlns:a="http://schemas.openxmlformats.org/drawingml/2006/main">
        <p:nvCxnSpPr>
          <p:cNvPr id="21" name="Разделитель_36"/>
          <p:cNvCxnSpPr/>
          <p:nvPr/>
        </p:nvCxnSpPr>
        <p:spPr>
          <a:xfrm>
            <a:off x="685800" y="3378200"/>
            <a:ext cx="5029200" cy="0"/>
          </a:xfrm>
          <a:prstGeom prst="line">
            <a:avLst/>
          </a:prstGeom>
          <a:ln w="12700">
            <a:solidFill>
              <a:srgbClr val="BFBFBF"/>
            </a:solidFill>
          </a:ln>
        </p:spPr>
      </p:cxnSp>
      <p:sp xmlns:a="http://schemas.openxmlformats.org/drawingml/2006/main">
        <p:nvSpPr>
          <p:cNvPr id="22" name="Условие_36"/>
          <p:cNvSpPr txBox="1"/>
          <p:nvPr/>
        </p:nvSpPr>
        <p:spPr>
          <a:xfrm>
            <a:off x="685800" y="3479800"/>
            <a:ext cx="5029200" cy="787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404040"/>
                </a:solidFill>
                <a:latin typeface="Arial Narrow"/>
                <a:cs typeface="Arial Narrow"/>
              </a:rPr>
              <a:t>Условие:</a:t>
            </a:r>
            <a:r>
              <a:rPr sz="1600" b="0">
                <a:solidFill>
                  <a:srgbClr val="404040"/>
                </a:solidFill>
                <a:latin typeface="Arial Narrow"/>
                <a:cs typeface="Arial Narrow"/>
              </a:rPr>
              <a:t> рСКФ ≥25 мл/мин/1,73 м²; после начала лечения контролируют калий.</a:t>
            </a:r>
          </a:p>
        </p:txBody>
      </p:sp>
      <p:sp xmlns:a="http://schemas.openxmlformats.org/drawingml/2006/main">
        <p:nvSpPr>
          <p:cNvPr id="23" name="Полоса_492"/>
          <p:cNvSpPr/>
          <p:nvPr/>
        </p:nvSpPr>
        <p:spPr>
          <a:xfrm>
            <a:off x="6248400" y="13716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Рекомендация 11.9, уровень доказательств B</a:t>
            </a:r>
          </a:p>
        </p:txBody>
      </p:sp>
      <p:sp xmlns:a="http://schemas.openxmlformats.org/drawingml/2006/main">
        <p:nvSpPr>
          <p:cNvPr id="24" name="Карточка_492"/>
          <p:cNvSpPr/>
          <p:nvPr/>
        </p:nvSpPr>
        <p:spPr>
          <a:xfrm>
            <a:off x="6248400" y="1854200"/>
            <a:ext cx="5486400" cy="2489200"/>
          </a:xfrm>
          <a:prstGeom prst="roundRect">
            <a:avLst>
              <a:gd name="adj" fmla="val 40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 xmlns:a="http://schemas.openxmlformats.org/drawingml/2006/main">
        <p:nvSpPr>
          <p:cNvPr id="25" name="Текст_492"/>
          <p:cNvSpPr txBox="1"/>
          <p:nvPr/>
        </p:nvSpPr>
        <p:spPr>
          <a:xfrm>
            <a:off x="6477000" y="2006600"/>
            <a:ext cx="5029200" cy="127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Одновременное начало финеренона и ингибитора НГЛТ2 можно рассмотреть у взрослых с диабетом 2 типа при АКО ≥100 мг/г и рСКФ 30–90 мл/мин/1,73 м² на фоне ингибитора АПФ или БРА.</a:t>
            </a:r>
          </a:p>
        </p:txBody>
      </p:sp>
      <p:cxnSp xmlns:a="http://schemas.openxmlformats.org/drawingml/2006/main">
        <p:nvCxnSpPr>
          <p:cNvPr id="26" name="Разделитель_492"/>
          <p:cNvCxnSpPr/>
          <p:nvPr/>
        </p:nvCxnSpPr>
        <p:spPr>
          <a:xfrm>
            <a:off x="6477000" y="3378200"/>
            <a:ext cx="5029200" cy="0"/>
          </a:xfrm>
          <a:prstGeom prst="line">
            <a:avLst/>
          </a:prstGeom>
          <a:ln w="12700">
            <a:solidFill>
              <a:srgbClr val="BFBFBF"/>
            </a:solidFill>
          </a:ln>
        </p:spPr>
      </p:cxnSp>
      <p:sp xmlns:a="http://schemas.openxmlformats.org/drawingml/2006/main">
        <p:nvSpPr>
          <p:cNvPr id="27" name="Условие_492"/>
          <p:cNvSpPr txBox="1"/>
          <p:nvPr/>
        </p:nvSpPr>
        <p:spPr>
          <a:xfrm>
            <a:off x="6477000" y="3479800"/>
            <a:ext cx="5029200" cy="787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404040"/>
                </a:solidFill>
                <a:latin typeface="Arial Narrow"/>
                <a:cs typeface="Arial Narrow"/>
              </a:rPr>
              <a:t>Основание:</a:t>
            </a:r>
            <a:r>
              <a:rPr sz="1600" b="0">
                <a:solidFill>
                  <a:srgbClr val="404040"/>
                </a:solidFill>
                <a:latin typeface="Arial Narrow"/>
                <a:cs typeface="Arial Narrow"/>
              </a:rPr>
              <a:t> снижение альбуминурии в исследовании CONFIDENCE. Влияние на клинические исходы не установлено.</a:t>
            </a:r>
          </a:p>
        </p:txBody>
      </p:sp>
      <p:sp xmlns:a="http://schemas.openxmlformats.org/drawingml/2006/main">
        <p:nvSpPr>
          <p:cNvPr id="28" name="Местная_инструкция_фон"/>
          <p:cNvSpPr/>
          <p:nvPr/>
        </p:nvSpPr>
        <p:spPr>
          <a:xfrm>
            <a:off x="457200" y="4546600"/>
            <a:ext cx="11277600" cy="7620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 xmlns:a="http://schemas.openxmlformats.org/drawingml/2006/main">
        <p:nvSpPr>
          <p:cNvPr id="29" name="Местная_инструкция"/>
          <p:cNvSpPr txBox="1"/>
          <p:nvPr/>
        </p:nvSpPr>
        <p:spPr>
          <a:xfrm>
            <a:off x="685800" y="4546600"/>
            <a:ext cx="108204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Местная инструкция: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Финеренон-Орвилле показан взрослым с ХБП, связанной с сахарным диабетом 2 типа. Зарубежные рекомендации не расширяют это показание. Пороги калия и рСКФ для начала лечения: слайд 32.</a:t>
            </a:r>
          </a:p>
        </p:txBody>
      </p:sp>
      <p:sp xmlns:a="http://schemas.openxmlformats.org/drawingml/2006/main">
        <p:nvSpPr>
          <p:cNvPr id="30" name="Источники"/>
          <p:cNvSpPr txBox="1"/>
          <p:nvPr/>
        </p:nvSpPr>
        <p:spPr>
          <a:xfrm>
            <a:off x="457200" y="6258560"/>
            <a:ext cx="10795000" cy="52324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НГЛТ2: натрий-глюкозный котранспортёр 2 типа; АКО: отношение альбумина к креатинину мочи; рСКФ: расчётная скорость клубочковой фильтрации; АПФ: ангиотензинпревращающий фермент; БРА: блокатор рецепторов ангиотензина II; ХБП: хроническая болезнь почек; ADA: Американская диабетическая ассоциация.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American Diabetes Association Professional Practice Committee. Standards of Care in Diabetes-2026. Diabetes Care. 2026;49(Suppl 1):S246–S260.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Финеренон-Орвилле. Инструкция по медицинскому применению.</a:t>
            </a:r>
          </a:p>
        </p:txBody>
      </p:sp>
      <p:pic xmlns:a="http://schemas.openxmlformats.org/drawingml/2006/main" xmlns:r="http://schemas.openxmlformats.org/officeDocument/2006/relationships">
        <p:nvPicPr>
          <p:cNvPr id="31" name="Логотип Орвилле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234705"/>
      </p:ext>
    </p:extLst>
  </p:cSld>
</p:sld>
</file>

<file path=ppt/slides/slide25.xml><?xml version="1.0" encoding="utf-8"?>
<p:sld xmlns:p="http://schemas.openxmlformats.org/presentationml/2006/main">
  <p:cSld>
    <p:bg>
      <p:bgPr>
        <ns0:solidFill xmlns:ns0="http://schemas.openxmlformats.org/drawingml/2006/main">
          <ns0:srgbClr val="FFFFFF"/>
        </ns0:solidFill>
        <ns1:effectLst xmlns:ns1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Title">
            <a:extLst xmlns:a="http://schemas.openxmlformats.org/drawingml/2006/main">
              <a:ext uri="{FF2B5EF4-FFF2-40B4-BE49-F238E27FC236}">
                <a16:creationId xmlns:a16="http://schemas.microsoft.com/office/drawing/2014/main" id="{EEE2B2B1-E3F9-4C48-B619-2A9AE28F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400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Можно ли заменить ингибитор НГЛТ2 финереноном?</a:t>
            </a:r>
          </a:p>
        </p:txBody>
      </p:sp>
      <p:sp xmlns:a="http://schemas.openxmlformats.org/drawingml/2006/main">
        <p:nvSpPr>
          <p:cNvPr id="14" name="Прямой ответ"/>
          <p:cNvSpPr txBox="1"/>
          <p:nvPr/>
        </p:nvSpPr>
        <p:spPr>
          <a:xfrm>
            <a:off x="457200" y="914400"/>
            <a:ext cx="11277600" cy="55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800" b="1">
                <a:solidFill>
                  <a:srgbClr val="7030A0"/>
                </a:solidFill>
                <a:latin typeface="Arial Narrow"/>
                <a:cs typeface="Arial Narrow"/>
              </a:rPr>
              <a:t>Нет.</a:t>
            </a:r>
            <a:r>
              <a:rPr sz="1800" b="0">
                <a:solidFill>
                  <a:srgbClr val="7030A0"/>
                </a:solidFill>
                <a:latin typeface="Arial Narrow"/>
                <a:cs typeface="Arial Narrow"/>
              </a:rPr>
              <a:t> У препаратов разные мишени, они не заменяют друг друга. Назначение финеренона не требует отмены ингибитора НГЛТ2.</a:t>
            </a:r>
          </a:p>
        </p:txBody>
      </p:sp>
      <p:sp xmlns:a="http://schemas.openxmlformats.org/drawingml/2006/main">
        <p:nvSpPr>
          <p:cNvPr id="15" name="Ветка_36"/>
          <p:cNvSpPr/>
          <p:nvPr/>
        </p:nvSpPr>
        <p:spPr>
          <a:xfrm>
            <a:off x="457200" y="1549400"/>
            <a:ext cx="5486400" cy="406400"/>
          </a:xfrm>
          <a:prstGeom prst="roundRect">
            <a:avLst>
              <a:gd name="adj" fmla="val 25000"/>
            </a:avLst>
          </a:prstGeom>
          <a:solidFill>
            <a:srgbClr val="4EA72E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Ингибитор НГЛТ2 показан и переносится</a:t>
            </a:r>
          </a:p>
        </p:txBody>
      </p:sp>
      <p:sp xmlns:a="http://schemas.openxmlformats.org/drawingml/2006/main">
        <p:nvSpPr>
          <p:cNvPr id="16" name="Ветка_текст_фон_36"/>
          <p:cNvSpPr/>
          <p:nvPr/>
        </p:nvSpPr>
        <p:spPr>
          <a:xfrm>
            <a:off x="457200" y="2006600"/>
            <a:ext cx="5486400" cy="9906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 xmlns:a="http://schemas.openxmlformats.org/drawingml/2006/main">
        <p:nvSpPr>
          <p:cNvPr id="17" name="Решение_36"/>
          <p:cNvSpPr txBox="1"/>
          <p:nvPr/>
        </p:nvSpPr>
        <p:spPr>
          <a:xfrm>
            <a:off x="685800" y="2057400"/>
            <a:ext cx="5029200" cy="889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Что делает врач: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 если есть показания, может добавить финеренон к текущей терапии.</a:t>
            </a:r>
          </a:p>
        </p:txBody>
      </p:sp>
      <p:sp xmlns:a="http://schemas.openxmlformats.org/drawingml/2006/main">
        <p:nvSpPr>
          <p:cNvPr id="18" name="Ветка_492"/>
          <p:cNvSpPr/>
          <p:nvPr/>
        </p:nvSpPr>
        <p:spPr>
          <a:xfrm>
            <a:off x="6248400" y="1549400"/>
            <a:ext cx="5486400" cy="4064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Ингибитор НГЛТ2 не переносится или противопоказан</a:t>
            </a:r>
          </a:p>
        </p:txBody>
      </p:sp>
      <p:sp xmlns:a="http://schemas.openxmlformats.org/drawingml/2006/main">
        <p:nvSpPr>
          <p:cNvPr id="19" name="Ветка_текст_фон_492"/>
          <p:cNvSpPr/>
          <p:nvPr/>
        </p:nvSpPr>
        <p:spPr>
          <a:xfrm>
            <a:off x="6248400" y="2006600"/>
            <a:ext cx="5486400" cy="9906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 xmlns:a="http://schemas.openxmlformats.org/drawingml/2006/main">
        <p:nvSpPr>
          <p:cNvPr id="20" name="Решение_492"/>
          <p:cNvSpPr txBox="1"/>
          <p:nvPr/>
        </p:nvSpPr>
        <p:spPr>
          <a:xfrm>
            <a:off x="6477000" y="2057400"/>
            <a:ext cx="5029200" cy="889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Что делает врач: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 может назначить финеренон на фоне ингибитора АПФ или БРА, проверив противопоказания, калий и рСКФ.</a:t>
            </a:r>
          </a:p>
        </p:txBody>
      </p:sp>
      <p:sp xmlns:a="http://schemas.openxmlformats.org/drawingml/2006/main">
        <p:nvSpPr>
          <p:cNvPr id="21" name="Схема_заголовок"/>
          <p:cNvSpPr txBox="1"/>
          <p:nvPr/>
        </p:nvSpPr>
        <p:spPr>
          <a:xfrm>
            <a:off x="457200" y="3175000"/>
            <a:ext cx="112776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KDIGO: препараты для защиты почек добавляют к базовой терапии</a:t>
            </a:r>
          </a:p>
        </p:txBody>
      </p:sp>
      <p:sp xmlns:a="http://schemas.openxmlformats.org/drawingml/2006/main">
        <p:nvSpPr>
          <p:cNvPr id="22" name="Слой_284"/>
          <p:cNvSpPr/>
          <p:nvPr/>
        </p:nvSpPr>
        <p:spPr>
          <a:xfrm>
            <a:off x="1905000" y="3606800"/>
            <a:ext cx="8382000" cy="482600"/>
          </a:xfrm>
          <a:prstGeom prst="roundRect">
            <a:avLst>
              <a:gd name="adj" fmla="val 21052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Финеренон: при диабете 2 типа, АКО ≥30 мг/г, рСКФ ≥25 мл/мин/1,73 м² и нормальном калии</a:t>
            </a:r>
          </a:p>
        </p:txBody>
      </p:sp>
      <p:sp xmlns:a="http://schemas.openxmlformats.org/drawingml/2006/main">
        <p:nvSpPr>
          <p:cNvPr id="23" name="Слой_328"/>
          <p:cNvSpPr/>
          <p:nvPr/>
        </p:nvSpPr>
        <p:spPr>
          <a:xfrm>
            <a:off x="1905000" y="4165600"/>
            <a:ext cx="8382000" cy="482600"/>
          </a:xfrm>
          <a:prstGeom prst="roundRect">
            <a:avLst>
              <a:gd name="adj" fmla="val 21052"/>
            </a:avLst>
          </a:prstGeom>
          <a:solidFill>
            <a:srgbClr val="4EA72E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Ингибитор НГЛТ2: при рСКФ ≥20 мл/мин/1,73 м²</a:t>
            </a:r>
          </a:p>
        </p:txBody>
      </p:sp>
      <p:sp xmlns:a="http://schemas.openxmlformats.org/drawingml/2006/main">
        <p:nvSpPr>
          <p:cNvPr id="24" name="Слой_372"/>
          <p:cNvSpPr/>
          <p:nvPr/>
        </p:nvSpPr>
        <p:spPr>
          <a:xfrm>
            <a:off x="1905000" y="4724400"/>
            <a:ext cx="8382000" cy="482600"/>
          </a:xfrm>
          <a:prstGeom prst="roundRect">
            <a:avLst>
              <a:gd name="adj" fmla="val 21052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Ингибитор АПФ или БРА в максимально переносимой дозе при альбуминурии</a:t>
            </a:r>
          </a:p>
        </p:txBody>
      </p:sp>
      <p:sp xmlns:a="http://schemas.openxmlformats.org/drawingml/2006/main">
        <p:nvSpPr>
          <p:cNvPr id="25" name="Стрелка_добавление"/>
          <p:cNvSpPr/>
          <p:nvPr/>
        </p:nvSpPr>
        <p:spPr>
          <a:xfrm>
            <a:off x="1219200" y="3606800"/>
            <a:ext cx="431800" cy="1600200"/>
          </a:xfrm>
          <a:prstGeom prst="upArrow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 xmlns:a="http://schemas.openxmlformats.org/drawingml/2006/main">
        <p:nvSpPr>
          <p:cNvPr id="26" name="Подпись_добавление"/>
          <p:cNvSpPr txBox="1"/>
          <p:nvPr/>
        </p:nvSpPr>
        <p:spPr>
          <a:xfrm>
            <a:off x="10541000" y="3606800"/>
            <a:ext cx="1193800" cy="160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404040"/>
                </a:solidFill>
                <a:latin typeface="Arial Narrow"/>
                <a:cs typeface="Arial Narrow"/>
              </a:rPr>
              <a:t>Добавляют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404040"/>
                </a:solidFill>
                <a:latin typeface="Arial Narrow"/>
                <a:cs typeface="Arial Narrow"/>
              </a:rPr>
              <a:t>по показаниям</a:t>
            </a:r>
          </a:p>
        </p:txBody>
      </p:sp>
      <p:sp xmlns:a="http://schemas.openxmlformats.org/drawingml/2006/main">
        <p:nvSpPr>
          <p:cNvPr id="27" name="Решение_врача"/>
          <p:cNvSpPr txBox="1"/>
          <p:nvPr/>
        </p:nvSpPr>
        <p:spPr>
          <a:xfrm>
            <a:off x="457200" y="5664200"/>
            <a:ext cx="112776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Решение о лечении принимает врач.</a:t>
            </a:r>
          </a:p>
        </p:txBody>
      </p:sp>
      <p:sp xmlns:a="http://schemas.openxmlformats.org/drawingml/2006/main">
        <p:nvSpPr>
          <p:cNvPr id="28" name="Источники"/>
          <p:cNvSpPr txBox="1"/>
          <p:nvPr/>
        </p:nvSpPr>
        <p:spPr>
          <a:xfrm>
            <a:off x="457200" y="6383020"/>
            <a:ext cx="10795000" cy="3987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НГЛТ2: натрий-глюкозный котранспортёр 2 типа; АПФ: ангиотензинпревращающий фермент; БРА: блокатор рецепторов ангиотензина II; рСКФ: расчётная скорость клубочковой фильтрации; АКО: отношение альбумина к креатинину мочи. Применение препарата сверяют с действующей местной инструкцией; ХБП: хроническая болезнь почек.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KDIGO 2024 Clinical Practice Guideline for CKD. Kidney Int. 2024;105(4S):S117–S314. KDIGO 2022 Clinical Practice Guideline for Diabetes Management in CKD. Kidney Int. 2022;102(5S):S1–S127.</a:t>
            </a:r>
          </a:p>
        </p:txBody>
      </p:sp>
      <p:pic xmlns:a="http://schemas.openxmlformats.org/drawingml/2006/main" xmlns:r="http://schemas.openxmlformats.org/officeDocument/2006/relationships">
        <p:nvPicPr>
          <p:cNvPr id="29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 xmlns:a="http://schemas.openxmlformats.org/drawingml/2006/main">
        <p:nvSpPr>
          <p:cNvPr id="30" name="Местная_инструкция_25"/>
          <p:cNvSpPr txBox="1"/>
          <p:nvPr/>
        </p:nvSpPr>
        <p:spPr>
          <a:xfrm>
            <a:off x="457200" y="5308600"/>
            <a:ext cx="112776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Местная инструкция: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Финеренон-Орвилле показан взрослым с ХБП, связанной с сахарным диабетом 2 типа.</a:t>
            </a:r>
          </a:p>
        </p:txBody>
      </p:sp>
    </p:spTree>
    <p:extLst>
      <p:ext uri="{BB962C8B-B14F-4D97-AF65-F5344CB8AC3E}">
        <p14:creationId xmlns:p14="http://schemas.microsoft.com/office/powerpoint/2010/main" val="1785976172"/>
      </p:ext>
    </p:extLst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Карточка_финеренон"/>
          <p:cNvSpPr/>
          <p:nvPr/>
        </p:nvSpPr>
        <p:spPr>
          <a:xfrm>
            <a:off x="2120900" y="1955800"/>
            <a:ext cx="4191000" cy="19050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16" name="Карточка_спиронолактон"/>
          <p:cNvSpPr/>
          <p:nvPr/>
        </p:nvSpPr>
        <p:spPr>
          <a:xfrm>
            <a:off x="7543800" y="1955800"/>
            <a:ext cx="4191000" cy="19050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" name="Main_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>
                <a:solidFill>
                  <a:srgbClr val="7030A0"/>
                </a:solidFill>
                <a:latin typeface="Arial Narrow"/>
                <a:cs typeface="Arial Narrow"/>
              </a:rPr>
              <a:t>Финеренон и спиронолактон блокируют один рецептор, но изучены у разных пациентов</a:t>
            </a:r>
          </a:p>
        </p:txBody>
      </p:sp>
      <p:pic>
        <p:nvPicPr>
          <p:cNvPr id="6" name="Picture 5" descr="S08_01_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500" y="1905000"/>
            <a:ext cx="850900" cy="1117600"/>
          </a:xfrm>
          <a:prstGeom prst="rect">
            <a:avLst/>
          </a:prstGeom>
        </p:spPr>
      </p:pic>
      <p:sp>
        <p:nvSpPr>
          <p:cNvPr id="8" name="Text_7"/>
          <p:cNvSpPr txBox="1"/>
          <p:nvPr/>
        </p:nvSpPr>
        <p:spPr>
          <a:xfrm>
            <a:off x="2273300" y="2057400"/>
            <a:ext cx="3886200" cy="1752600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Класс:</a:t>
            </a: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 нестероидный селективный антагонист МКР.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Доказанная польза:</a:t>
            </a: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 ниже риск почечных и сердечно-сосудистых событий у взрослых с ХБП и диабетом 2 типа.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7696200" y="2057400"/>
            <a:ext cx="3886200" cy="1752600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Класс:</a:t>
            </a: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 стероидный антагонист МКР с антиандрогенным действием.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Доказанная польза:</a:t>
            </a: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 ниже смертность при тяжёлой сердечной недостаточности со сниженной фракцией выброса.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457200" y="4086225"/>
            <a:ext cx="11277600" cy="733425"/>
          </a:xfrm>
          <a:prstGeom prst="rect">
            <a:avLst/>
          </a:prstGeom>
          <a:noFill/>
        </p:spPr>
        <p:txBody>
          <a:bodyPr wrap="square" lIns="0" tIns="10972" rIns="0" bIns="1097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1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Выбор препарата:</a:t>
            </a: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 врач учитывает диагноз, инструкцию и данные исследований в этой группе пациентов. Разная селективность не означает доказанного преимущества по исходам. При лечении любым из двух препаратов контролируют калий.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457200" y="5048250"/>
            <a:ext cx="11277600" cy="742950"/>
          </a:xfrm>
          <a:prstGeom prst="rect">
            <a:avLst/>
          </a:prstGeom>
          <a:noFill/>
        </p:spPr>
        <p:txBody>
          <a:bodyPr wrap="square" lIns="0" tIns="10972" rIns="0" bIns="1097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100" b="1" u="none">
                <a:solidFill>
                  <a:srgbClr val="7030A0"/>
                </a:solidFill>
                <a:latin typeface="Arial"/>
              </a:defRPr>
            </a:pPr>
            <a:r>
              <a:rPr lang="ru-RU" sz="1800" b="1" u="none">
                <a:solidFill>
                  <a:srgbClr val="7030A0"/>
                </a:solidFill>
                <a:latin typeface="Arial Narrow"/>
                <a:cs typeface="Arial Narrow"/>
              </a:rPr>
              <a:t>Сочетание:</a:t>
            </a:r>
            <a:r>
              <a:rPr lang="ru-RU" sz="1800" b="0" u="none">
                <a:solidFill>
                  <a:srgbClr val="7030A0"/>
                </a:solidFill>
                <a:latin typeface="Arial Narrow"/>
                <a:cs typeface="Arial Narrow"/>
              </a:rPr>
              <a:t> совместное применение финеренона и спиронолактона не рекомендуется.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100" b="1" u="none">
                <a:solidFill>
                  <a:srgbClr val="7030A0"/>
                </a:solidFill>
                <a:latin typeface="Arial"/>
              </a:defRPr>
            </a:pPr>
            <a:r>
              <a:rPr lang="ru-RU" sz="1800" b="1" u="none">
                <a:solidFill>
                  <a:srgbClr val="7030A0"/>
                </a:solidFill>
                <a:latin typeface="Arial Narrow"/>
                <a:cs typeface="Arial Narrow"/>
              </a:rPr>
              <a:t>Прямое сравнение:</a:t>
            </a:r>
            <a:r>
              <a:rPr lang="ru-RU" sz="1800" b="0" u="none">
                <a:solidFill>
                  <a:srgbClr val="7030A0"/>
                </a:solidFill>
                <a:latin typeface="Arial Narrow"/>
                <a:cs typeface="Arial Narrow"/>
              </a:rPr>
              <a:t> крупных исследований с клиническими исходами нет.</a:t>
            </a:r>
          </a:p>
        </p:txBody>
      </p:sp>
      <p:sp>
        <p:nvSpPr>
          <p:cNvPr id="13" name="Полоса_финеренон"/>
          <p:cNvSpPr/>
          <p:nvPr/>
        </p:nvSpPr>
        <p:spPr>
          <a:xfrm>
            <a:off x="2120900" y="1498600"/>
            <a:ext cx="4191000" cy="406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Финеренон</a:t>
            </a:r>
          </a:p>
        </p:txBody>
      </p:sp>
      <p:sp>
        <p:nvSpPr>
          <p:cNvPr id="14" name="Полоса_спиронолактон"/>
          <p:cNvSpPr/>
          <p:nvPr/>
        </p:nvSpPr>
        <p:spPr>
          <a:xfrm>
            <a:off x="7543800" y="1498600"/>
            <a:ext cx="4191000" cy="406400"/>
          </a:xfrm>
          <a:prstGeom prst="roundRect">
            <a:avLst>
              <a:gd name="adj" fmla="val 25000"/>
            </a:avLst>
          </a:prstGeom>
          <a:solidFill>
            <a:srgbClr val="7F7F7F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Спиронолактон</a:t>
            </a:r>
          </a:p>
        </p:txBody>
      </p:sp>
      <p:pic>
        <p:nvPicPr>
          <p:cNvPr id="17" name="Почка_финеренон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55" y="1905000"/>
            <a:ext cx="735489" cy="1117600"/>
          </a:xfrm>
          <a:prstGeom prst="rect">
            <a:avLst/>
          </a:prstGeom>
        </p:spPr>
      </p:pic>
      <p:pic>
        <p:nvPicPr>
          <p:cNvPr id="18" name="Сердце_финеренон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025" y="1981200"/>
            <a:ext cx="774949" cy="1016000"/>
          </a:xfrm>
          <a:prstGeom prst="rect">
            <a:avLst/>
          </a:prstGeom>
        </p:spPr>
      </p:pic>
      <p:sp>
        <p:nvSpPr>
          <p:cNvPr id="19" name="Источники"/>
          <p:cNvSpPr txBox="1"/>
          <p:nvPr/>
        </p:nvSpPr>
        <p:spPr>
          <a:xfrm>
            <a:off x="457200" y="6383020"/>
            <a:ext cx="10795000" cy="3987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МКР: минералокортикоидный рецептор.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Agarwal R, et al. Eur Heart J. 2022;43:474–484. Pitt B, et al. N Engl J Med. 1999;341:709–717.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Финеренон-Орвилле. Инструкция по медицинскому применению.</a:t>
            </a:r>
          </a:p>
        </p:txBody>
      </p:sp>
      <p:pic>
        <p:nvPicPr>
          <p:cNvPr id="20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Информативный 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7030A0"/>
                </a:solidFill>
                <a:latin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Финеренон может повышать калий в крови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7030A0"/>
                </a:solidFill>
                <a:latin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через блокаду минералокортикоидного рецептора</a:t>
            </a:r>
          </a:p>
        </p:txBody>
      </p:sp>
      <p:sp>
        <p:nvSpPr>
          <p:cNvPr id="3" name="Просвет собирательной трубочки"/>
          <p:cNvSpPr/>
          <p:nvPr/>
        </p:nvSpPr>
        <p:spPr>
          <a:xfrm>
            <a:off x="457200" y="1792224"/>
            <a:ext cx="1024128" cy="3529584"/>
          </a:xfrm>
          <a:prstGeom prst="rect">
            <a:avLst/>
          </a:prstGeom>
          <a:solidFill>
            <a:srgbClr val="EF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4" name="Интерстиций со стороны крови"/>
          <p:cNvSpPr/>
          <p:nvPr/>
        </p:nvSpPr>
        <p:spPr>
          <a:xfrm>
            <a:off x="5806440" y="1792224"/>
            <a:ext cx="1517904" cy="3529584"/>
          </a:xfrm>
          <a:prstGeom prst="rect">
            <a:avLst/>
          </a:prstGeom>
          <a:solidFill>
            <a:srgbClr val="F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5" name="Просвет трубочки"/>
          <p:cNvSpPr txBox="1"/>
          <p:nvPr/>
        </p:nvSpPr>
        <p:spPr>
          <a:xfrm>
            <a:off x="475488" y="1298448"/>
            <a:ext cx="1152144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0000"/>
                </a:solidFill>
                <a:latin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Просвет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0000"/>
                </a:solidFill>
                <a:latin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трубочки</a:t>
            </a:r>
          </a:p>
        </p:txBody>
      </p:sp>
      <p:sp>
        <p:nvSpPr>
          <p:cNvPr id="6" name="Главная клетка собирательной трубочки"/>
          <p:cNvSpPr txBox="1"/>
          <p:nvPr/>
        </p:nvSpPr>
        <p:spPr>
          <a:xfrm>
            <a:off x="1792224" y="1261872"/>
            <a:ext cx="3749039" cy="51206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Главная клетка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собирательной трубочки</a:t>
            </a:r>
          </a:p>
        </p:txBody>
      </p:sp>
      <p:sp>
        <p:nvSpPr>
          <p:cNvPr id="7" name="Межклеточная жидкость"/>
          <p:cNvSpPr txBox="1"/>
          <p:nvPr/>
        </p:nvSpPr>
        <p:spPr>
          <a:xfrm>
            <a:off x="5852160" y="1280160"/>
            <a:ext cx="1472184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Межклеточная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жидкость</a:t>
            </a:r>
          </a:p>
        </p:txBody>
      </p:sp>
      <p:sp>
        <p:nvSpPr>
          <p:cNvPr id="8" name="Клетка: исходный редактируемый контур"/>
          <p:cNvSpPr/>
          <p:nvPr/>
        </p:nvSpPr>
        <p:spPr>
          <a:xfrm>
            <a:off x="1408176" y="1810512"/>
            <a:ext cx="4480560" cy="353872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5" y="10"/>
                </a:moveTo>
                <a:cubicBezTo>
                  <a:pt x="285" y="-10"/>
                  <a:pt x="670" y="18"/>
                  <a:pt x="906" y="5"/>
                </a:cubicBezTo>
                <a:cubicBezTo>
                  <a:pt x="982" y="8"/>
                  <a:pt x="1003" y="59"/>
                  <a:pt x="994" y="145"/>
                </a:cubicBezTo>
                <a:cubicBezTo>
                  <a:pt x="978" y="290"/>
                  <a:pt x="1003" y="386"/>
                  <a:pt x="991" y="520"/>
                </a:cubicBezTo>
                <a:cubicBezTo>
                  <a:pt x="981" y="650"/>
                  <a:pt x="1000" y="760"/>
                  <a:pt x="985" y="898"/>
                </a:cubicBezTo>
                <a:cubicBezTo>
                  <a:pt x="983" y="978"/>
                  <a:pt x="940" y="993"/>
                  <a:pt x="867" y="992"/>
                </a:cubicBezTo>
                <a:cubicBezTo>
                  <a:pt x="610" y="980"/>
                  <a:pt x="347" y="1004"/>
                  <a:pt x="90" y="984"/>
                </a:cubicBezTo>
                <a:cubicBezTo>
                  <a:pt x="22" y="974"/>
                  <a:pt x="7" y="935"/>
                  <a:pt x="12" y="872"/>
                </a:cubicBezTo>
                <a:cubicBezTo>
                  <a:pt x="26" y="745"/>
                  <a:pt x="-6" y="650"/>
                  <a:pt x="9" y="529"/>
                </a:cubicBezTo>
                <a:cubicBezTo>
                  <a:pt x="23" y="382"/>
                  <a:pt x="-6" y="231"/>
                  <a:pt x="11" y="137"/>
                </a:cubicBezTo>
                <a:cubicBezTo>
                  <a:pt x="15" y="64"/>
                  <a:pt x="15" y="22"/>
                  <a:pt x="75" y="10"/>
                </a:cubicBezTo>
                <a:close/>
              </a:path>
            </a:pathLst>
          </a:custGeom>
          <a:gradFill rotWithShape="1">
            <a:gsLst>
              <a:gs pos="0">
                <a:srgbClr val="FFF0D9"/>
              </a:gs>
              <a:gs pos="36000">
                <a:srgbClr val="FFF9F0"/>
              </a:gs>
              <a:gs pos="80000">
                <a:srgbClr val="FFF7EC"/>
              </a:gs>
              <a:gs pos="100000">
                <a:srgbClr val="F9E7CE"/>
              </a:gs>
            </a:gsLst>
            <a:lin ang="0" scaled="1"/>
          </a:gradFill>
          <a:ln w="26670">
            <a:solidFill>
              <a:srgbClr val="CFA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9" name="Внутренняя граница мембраны"/>
          <p:cNvSpPr/>
          <p:nvPr/>
        </p:nvSpPr>
        <p:spPr>
          <a:xfrm>
            <a:off x="1463040" y="1865376"/>
            <a:ext cx="4370832" cy="34290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5" y="10"/>
                </a:moveTo>
                <a:cubicBezTo>
                  <a:pt x="285" y="-10"/>
                  <a:pt x="670" y="18"/>
                  <a:pt x="906" y="5"/>
                </a:cubicBezTo>
                <a:cubicBezTo>
                  <a:pt x="982" y="8"/>
                  <a:pt x="1003" y="59"/>
                  <a:pt x="994" y="145"/>
                </a:cubicBezTo>
                <a:cubicBezTo>
                  <a:pt x="978" y="290"/>
                  <a:pt x="1003" y="386"/>
                  <a:pt x="991" y="520"/>
                </a:cubicBezTo>
                <a:cubicBezTo>
                  <a:pt x="981" y="650"/>
                  <a:pt x="1000" y="760"/>
                  <a:pt x="985" y="898"/>
                </a:cubicBezTo>
                <a:cubicBezTo>
                  <a:pt x="983" y="978"/>
                  <a:pt x="940" y="993"/>
                  <a:pt x="867" y="992"/>
                </a:cubicBezTo>
                <a:cubicBezTo>
                  <a:pt x="610" y="980"/>
                  <a:pt x="347" y="1004"/>
                  <a:pt x="90" y="984"/>
                </a:cubicBezTo>
                <a:cubicBezTo>
                  <a:pt x="22" y="974"/>
                  <a:pt x="7" y="935"/>
                  <a:pt x="12" y="872"/>
                </a:cubicBezTo>
                <a:cubicBezTo>
                  <a:pt x="26" y="745"/>
                  <a:pt x="-6" y="650"/>
                  <a:pt x="9" y="529"/>
                </a:cubicBezTo>
                <a:cubicBezTo>
                  <a:pt x="23" y="382"/>
                  <a:pt x="-6" y="231"/>
                  <a:pt x="11" y="137"/>
                </a:cubicBezTo>
                <a:cubicBezTo>
                  <a:pt x="15" y="64"/>
                  <a:pt x="15" y="22"/>
                  <a:pt x="75" y="10"/>
                </a:cubicBezTo>
                <a:close/>
              </a:path>
            </a:pathLst>
          </a:custGeom>
          <a:noFill/>
          <a:ln w="14604">
            <a:solidFill>
              <a:srgbClr val="E7CD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10" name="Митохондрия: контекст"/>
          <p:cNvSpPr/>
          <p:nvPr/>
        </p:nvSpPr>
        <p:spPr>
          <a:xfrm>
            <a:off x="1783080" y="2039112"/>
            <a:ext cx="576072" cy="28346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210"/>
                </a:moveTo>
                <a:cubicBezTo>
                  <a:pt x="220" y="15"/>
                  <a:pt x="725" y="-35"/>
                  <a:pt x="915" y="270"/>
                </a:cubicBezTo>
                <a:cubicBezTo>
                  <a:pt x="1040" y="470"/>
                  <a:pt x="890" y="870"/>
                  <a:pt x="620" y="945"/>
                </a:cubicBezTo>
                <a:cubicBezTo>
                  <a:pt x="280" y="1040"/>
                  <a:pt x="5" y="860"/>
                  <a:pt x="25" y="570"/>
                </a:cubicBezTo>
                <a:cubicBezTo>
                  <a:pt x="35" y="410"/>
                  <a:pt x="50" y="290"/>
                  <a:pt x="90" y="210"/>
                </a:cubicBezTo>
                <a:close/>
              </a:path>
            </a:pathLst>
          </a:custGeom>
          <a:gradFill rotWithShape="1">
            <a:gsLst>
              <a:gs pos="0">
                <a:srgbClr val="FBE8C9"/>
              </a:gs>
              <a:gs pos="100000">
                <a:srgbClr val="F3C793"/>
              </a:gs>
            </a:gsLst>
            <a:lin ang="2700000" scaled="1"/>
          </a:gradFill>
          <a:ln w="10795">
            <a:solidFill>
              <a:srgbClr val="DDB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11" name="Кристы: контекст"/>
          <p:cNvSpPr/>
          <p:nvPr/>
        </p:nvSpPr>
        <p:spPr>
          <a:xfrm>
            <a:off x="1783080" y="2039112"/>
            <a:ext cx="576072" cy="28346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80" y="580"/>
                </a:moveTo>
                <a:cubicBezTo>
                  <a:pt x="140" y="360"/>
                  <a:pt x="260" y="240"/>
                  <a:pt x="340" y="250"/>
                </a:cubicBezTo>
                <a:cubicBezTo>
                  <a:pt x="430" y="260"/>
                  <a:pt x="280" y="700"/>
                  <a:pt x="400" y="750"/>
                </a:cubicBezTo>
                <a:cubicBezTo>
                  <a:pt x="530" y="795"/>
                  <a:pt x="475" y="280"/>
                  <a:pt x="580" y="260"/>
                </a:cubicBezTo>
                <a:cubicBezTo>
                  <a:pt x="700" y="210"/>
                  <a:pt x="620" y="730"/>
                  <a:pt x="740" y="680"/>
                </a:cubicBezTo>
                <a:cubicBezTo>
                  <a:pt x="800" y="650"/>
                  <a:pt x="860" y="455"/>
                  <a:pt x="815" y="360"/>
                </a:cubicBezTo>
              </a:path>
            </a:pathLst>
          </a:custGeom>
          <a:noFill/>
          <a:ln w="12700">
            <a:solidFill>
              <a:srgbClr val="D7A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12" name="Ядро"/>
          <p:cNvSpPr/>
          <p:nvPr/>
        </p:nvSpPr>
        <p:spPr>
          <a:xfrm>
            <a:off x="2551176" y="2020824"/>
            <a:ext cx="1664208" cy="1115568"/>
          </a:xfrm>
          <a:prstGeom prst="ellipse">
            <a:avLst/>
          </a:prstGeom>
          <a:gradFill rotWithShape="1">
            <a:gsLst>
              <a:gs pos="0">
                <a:srgbClr val="F5EEF9"/>
              </a:gs>
              <a:gs pos="70000">
                <a:srgbClr val="E3D4F0"/>
              </a:gs>
              <a:gs pos="100000">
                <a:srgbClr val="D8C3EB"/>
              </a:gs>
            </a:gsLst>
            <a:lin ang="5400000" scaled="1"/>
          </a:gradFill>
          <a:ln w="18415">
            <a:solidFill>
              <a:srgbClr val="785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13" name="Ядерная оболочка"/>
          <p:cNvSpPr/>
          <p:nvPr/>
        </p:nvSpPr>
        <p:spPr>
          <a:xfrm>
            <a:off x="2596896" y="2057400"/>
            <a:ext cx="1572768" cy="1042415"/>
          </a:xfrm>
          <a:prstGeom prst="ellipse">
            <a:avLst/>
          </a:prstGeom>
          <a:noFill/>
          <a:ln w="9525">
            <a:solidFill>
              <a:srgbClr val="C9A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14" name="Ядро"/>
          <p:cNvSpPr txBox="1"/>
          <p:nvPr/>
        </p:nvSpPr>
        <p:spPr>
          <a:xfrm>
            <a:off x="2642616" y="2139696"/>
            <a:ext cx="1481328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000000"/>
                </a:solidFill>
                <a:latin typeface="Arial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Ядро</a:t>
            </a:r>
          </a:p>
        </p:txBody>
      </p:sp>
      <p:cxnSp>
        <p:nvCxnSpPr>
          <p:cNvPr id="15" name="Цепь ДНК"/>
          <p:cNvCxnSpPr/>
          <p:nvPr/>
        </p:nvCxnSpPr>
        <p:spPr>
          <a:xfrm>
            <a:off x="2798064" y="2576322"/>
            <a:ext cx="11658" cy="1670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Цепь ДНК"/>
          <p:cNvCxnSpPr/>
          <p:nvPr/>
        </p:nvCxnSpPr>
        <p:spPr>
          <a:xfrm>
            <a:off x="2809722" y="2593027"/>
            <a:ext cx="11658" cy="1611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Цепь ДНК"/>
          <p:cNvCxnSpPr/>
          <p:nvPr/>
        </p:nvCxnSpPr>
        <p:spPr>
          <a:xfrm>
            <a:off x="2821380" y="2609141"/>
            <a:ext cx="11658" cy="1495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Цепь ДНК"/>
          <p:cNvCxnSpPr/>
          <p:nvPr/>
        </p:nvCxnSpPr>
        <p:spPr>
          <a:xfrm>
            <a:off x="2833039" y="2624092"/>
            <a:ext cx="11658" cy="1325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Цепь ДНК"/>
          <p:cNvCxnSpPr/>
          <p:nvPr/>
        </p:nvCxnSpPr>
        <p:spPr>
          <a:xfrm>
            <a:off x="2844698" y="2637351"/>
            <a:ext cx="11658" cy="1109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Цепь ДНК"/>
          <p:cNvCxnSpPr/>
          <p:nvPr/>
        </p:nvCxnSpPr>
        <p:spPr>
          <a:xfrm>
            <a:off x="2856357" y="2648448"/>
            <a:ext cx="11658" cy="854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Цепь ДНК"/>
          <p:cNvCxnSpPr/>
          <p:nvPr/>
        </p:nvCxnSpPr>
        <p:spPr>
          <a:xfrm>
            <a:off x="2868015" y="2656990"/>
            <a:ext cx="11658" cy="568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Цепь ДНК"/>
          <p:cNvCxnSpPr/>
          <p:nvPr/>
        </p:nvCxnSpPr>
        <p:spPr>
          <a:xfrm>
            <a:off x="2879673" y="2662674"/>
            <a:ext cx="11658" cy="262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Цепь ДНК"/>
          <p:cNvCxnSpPr/>
          <p:nvPr/>
        </p:nvCxnSpPr>
        <p:spPr>
          <a:xfrm flipV="1">
            <a:off x="2891332" y="2664772"/>
            <a:ext cx="11658" cy="527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Цепь ДНК"/>
          <p:cNvCxnSpPr/>
          <p:nvPr/>
        </p:nvCxnSpPr>
        <p:spPr>
          <a:xfrm flipV="1">
            <a:off x="2902991" y="2661111"/>
            <a:ext cx="11658" cy="3660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Цепь ДНК"/>
          <p:cNvCxnSpPr/>
          <p:nvPr/>
        </p:nvCxnSpPr>
        <p:spPr>
          <a:xfrm flipV="1">
            <a:off x="2914650" y="2654448"/>
            <a:ext cx="11658" cy="666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Цепь ДНК"/>
          <p:cNvCxnSpPr/>
          <p:nvPr/>
        </p:nvCxnSpPr>
        <p:spPr>
          <a:xfrm flipV="1">
            <a:off x="2926308" y="2645016"/>
            <a:ext cx="11658" cy="943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Цепь ДНК"/>
          <p:cNvCxnSpPr/>
          <p:nvPr/>
        </p:nvCxnSpPr>
        <p:spPr>
          <a:xfrm flipV="1">
            <a:off x="2937966" y="2633150"/>
            <a:ext cx="11658" cy="1186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Цепь ДНК"/>
          <p:cNvCxnSpPr/>
          <p:nvPr/>
        </p:nvCxnSpPr>
        <p:spPr>
          <a:xfrm flipV="1">
            <a:off x="2949625" y="2619272"/>
            <a:ext cx="11658" cy="13877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Цепь ДНК"/>
          <p:cNvCxnSpPr/>
          <p:nvPr/>
        </p:nvCxnSpPr>
        <p:spPr>
          <a:xfrm flipV="1">
            <a:off x="2961284" y="2603871"/>
            <a:ext cx="11658" cy="15400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Цепь ДНК"/>
          <p:cNvCxnSpPr/>
          <p:nvPr/>
        </p:nvCxnSpPr>
        <p:spPr>
          <a:xfrm flipV="1">
            <a:off x="2972943" y="2587495"/>
            <a:ext cx="11658" cy="1637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Цепь ДНК"/>
          <p:cNvCxnSpPr/>
          <p:nvPr/>
        </p:nvCxnSpPr>
        <p:spPr>
          <a:xfrm flipV="1">
            <a:off x="2984600" y="2570723"/>
            <a:ext cx="11658" cy="1677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Цепь ДНК"/>
          <p:cNvCxnSpPr/>
          <p:nvPr/>
        </p:nvCxnSpPr>
        <p:spPr>
          <a:xfrm flipV="1">
            <a:off x="2996259" y="2554149"/>
            <a:ext cx="11658" cy="1657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Цепь ДНК"/>
          <p:cNvCxnSpPr/>
          <p:nvPr/>
        </p:nvCxnSpPr>
        <p:spPr>
          <a:xfrm flipV="1">
            <a:off x="3007918" y="2538361"/>
            <a:ext cx="11658" cy="1578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Цепь ДНК"/>
          <p:cNvCxnSpPr/>
          <p:nvPr/>
        </p:nvCxnSpPr>
        <p:spPr>
          <a:xfrm flipV="1">
            <a:off x="3019577" y="2523918"/>
            <a:ext cx="11658" cy="1444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Цепь ДНК"/>
          <p:cNvCxnSpPr/>
          <p:nvPr/>
        </p:nvCxnSpPr>
        <p:spPr>
          <a:xfrm flipV="1">
            <a:off x="3031236" y="2511331"/>
            <a:ext cx="11658" cy="1258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Цепь ДНК"/>
          <p:cNvCxnSpPr/>
          <p:nvPr/>
        </p:nvCxnSpPr>
        <p:spPr>
          <a:xfrm flipV="1">
            <a:off x="3042894" y="2501046"/>
            <a:ext cx="11658" cy="1028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Цепь ДНК"/>
          <p:cNvCxnSpPr/>
          <p:nvPr/>
        </p:nvCxnSpPr>
        <p:spPr>
          <a:xfrm flipV="1">
            <a:off x="3054552" y="2493428"/>
            <a:ext cx="11658" cy="761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Цепь ДНК"/>
          <p:cNvCxnSpPr/>
          <p:nvPr/>
        </p:nvCxnSpPr>
        <p:spPr>
          <a:xfrm flipV="1">
            <a:off x="3066211" y="2488746"/>
            <a:ext cx="11658" cy="468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Цепь ДНК"/>
          <p:cNvCxnSpPr/>
          <p:nvPr/>
        </p:nvCxnSpPr>
        <p:spPr>
          <a:xfrm flipV="1">
            <a:off x="3077870" y="2487168"/>
            <a:ext cx="11658" cy="157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Цепь ДНК"/>
          <p:cNvCxnSpPr/>
          <p:nvPr/>
        </p:nvCxnSpPr>
        <p:spPr>
          <a:xfrm>
            <a:off x="3089529" y="2487168"/>
            <a:ext cx="11658" cy="157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Цепь ДНК"/>
          <p:cNvCxnSpPr/>
          <p:nvPr/>
        </p:nvCxnSpPr>
        <p:spPr>
          <a:xfrm>
            <a:off x="3101187" y="2488746"/>
            <a:ext cx="11658" cy="468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Цепь ДНК"/>
          <p:cNvCxnSpPr/>
          <p:nvPr/>
        </p:nvCxnSpPr>
        <p:spPr>
          <a:xfrm>
            <a:off x="3112845" y="2493428"/>
            <a:ext cx="11658" cy="761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Цепь ДНК"/>
          <p:cNvCxnSpPr/>
          <p:nvPr/>
        </p:nvCxnSpPr>
        <p:spPr>
          <a:xfrm>
            <a:off x="3124504" y="2501046"/>
            <a:ext cx="11658" cy="1028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Цепь ДНК"/>
          <p:cNvCxnSpPr/>
          <p:nvPr/>
        </p:nvCxnSpPr>
        <p:spPr>
          <a:xfrm>
            <a:off x="3136163" y="2511331"/>
            <a:ext cx="11658" cy="1258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Цепь ДНК"/>
          <p:cNvCxnSpPr/>
          <p:nvPr/>
        </p:nvCxnSpPr>
        <p:spPr>
          <a:xfrm>
            <a:off x="3147822" y="2523918"/>
            <a:ext cx="11658" cy="1444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Цепь ДНК"/>
          <p:cNvCxnSpPr/>
          <p:nvPr/>
        </p:nvCxnSpPr>
        <p:spPr>
          <a:xfrm>
            <a:off x="3159480" y="2538361"/>
            <a:ext cx="11658" cy="1578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Цепь ДНК"/>
          <p:cNvCxnSpPr/>
          <p:nvPr/>
        </p:nvCxnSpPr>
        <p:spPr>
          <a:xfrm>
            <a:off x="3171138" y="2554149"/>
            <a:ext cx="11658" cy="1657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Цепь ДНК"/>
          <p:cNvCxnSpPr/>
          <p:nvPr/>
        </p:nvCxnSpPr>
        <p:spPr>
          <a:xfrm>
            <a:off x="3182797" y="2570723"/>
            <a:ext cx="11658" cy="1677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Цепь ДНК"/>
          <p:cNvCxnSpPr/>
          <p:nvPr/>
        </p:nvCxnSpPr>
        <p:spPr>
          <a:xfrm>
            <a:off x="3194456" y="2587495"/>
            <a:ext cx="11658" cy="1637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Цепь ДНК"/>
          <p:cNvCxnSpPr/>
          <p:nvPr/>
        </p:nvCxnSpPr>
        <p:spPr>
          <a:xfrm>
            <a:off x="3206114" y="2603871"/>
            <a:ext cx="11658" cy="15400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Цепь ДНК"/>
          <p:cNvCxnSpPr/>
          <p:nvPr/>
        </p:nvCxnSpPr>
        <p:spPr>
          <a:xfrm>
            <a:off x="3217772" y="2619272"/>
            <a:ext cx="11658" cy="13877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Цепь ДНК"/>
          <p:cNvCxnSpPr/>
          <p:nvPr/>
        </p:nvCxnSpPr>
        <p:spPr>
          <a:xfrm>
            <a:off x="3229431" y="2633150"/>
            <a:ext cx="11658" cy="1186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Цепь ДНК"/>
          <p:cNvCxnSpPr/>
          <p:nvPr/>
        </p:nvCxnSpPr>
        <p:spPr>
          <a:xfrm>
            <a:off x="3241090" y="2645016"/>
            <a:ext cx="11658" cy="943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Цепь ДНК"/>
          <p:cNvCxnSpPr/>
          <p:nvPr/>
        </p:nvCxnSpPr>
        <p:spPr>
          <a:xfrm>
            <a:off x="3252749" y="2654448"/>
            <a:ext cx="11658" cy="666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Цепь ДНК"/>
          <p:cNvCxnSpPr/>
          <p:nvPr/>
        </p:nvCxnSpPr>
        <p:spPr>
          <a:xfrm>
            <a:off x="3264408" y="2661111"/>
            <a:ext cx="11658" cy="3660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Цепь ДНК"/>
          <p:cNvCxnSpPr/>
          <p:nvPr/>
        </p:nvCxnSpPr>
        <p:spPr>
          <a:xfrm>
            <a:off x="3276066" y="2664772"/>
            <a:ext cx="11658" cy="527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Цепь ДНК"/>
          <p:cNvCxnSpPr/>
          <p:nvPr/>
        </p:nvCxnSpPr>
        <p:spPr>
          <a:xfrm flipV="1">
            <a:off x="3287724" y="2662674"/>
            <a:ext cx="11658" cy="262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Цепь ДНК"/>
          <p:cNvCxnSpPr/>
          <p:nvPr/>
        </p:nvCxnSpPr>
        <p:spPr>
          <a:xfrm flipV="1">
            <a:off x="3299383" y="2656990"/>
            <a:ext cx="11658" cy="568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Цепь ДНК"/>
          <p:cNvCxnSpPr/>
          <p:nvPr/>
        </p:nvCxnSpPr>
        <p:spPr>
          <a:xfrm flipV="1">
            <a:off x="3311042" y="2648448"/>
            <a:ext cx="11658" cy="854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Цепь ДНК"/>
          <p:cNvCxnSpPr/>
          <p:nvPr/>
        </p:nvCxnSpPr>
        <p:spPr>
          <a:xfrm flipV="1">
            <a:off x="3322701" y="2637351"/>
            <a:ext cx="11658" cy="1109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Цепь ДНК"/>
          <p:cNvCxnSpPr/>
          <p:nvPr/>
        </p:nvCxnSpPr>
        <p:spPr>
          <a:xfrm flipV="1">
            <a:off x="3334359" y="2624092"/>
            <a:ext cx="11658" cy="1325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Цепь ДНК"/>
          <p:cNvCxnSpPr/>
          <p:nvPr/>
        </p:nvCxnSpPr>
        <p:spPr>
          <a:xfrm flipV="1">
            <a:off x="3346017" y="2609141"/>
            <a:ext cx="11658" cy="1495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Цепь ДНК"/>
          <p:cNvCxnSpPr/>
          <p:nvPr/>
        </p:nvCxnSpPr>
        <p:spPr>
          <a:xfrm flipV="1">
            <a:off x="3357676" y="2593027"/>
            <a:ext cx="11658" cy="1611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Цепь ДНК"/>
          <p:cNvCxnSpPr/>
          <p:nvPr/>
        </p:nvCxnSpPr>
        <p:spPr>
          <a:xfrm flipV="1">
            <a:off x="3369335" y="2576322"/>
            <a:ext cx="11658" cy="1670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Цепь ДНК"/>
          <p:cNvCxnSpPr/>
          <p:nvPr/>
        </p:nvCxnSpPr>
        <p:spPr>
          <a:xfrm flipV="1">
            <a:off x="3380994" y="2559615"/>
            <a:ext cx="11658" cy="1670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Цепь ДНК"/>
          <p:cNvCxnSpPr/>
          <p:nvPr/>
        </p:nvCxnSpPr>
        <p:spPr>
          <a:xfrm flipV="1">
            <a:off x="3392652" y="2543502"/>
            <a:ext cx="11658" cy="1611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Цепь ДНК"/>
          <p:cNvCxnSpPr/>
          <p:nvPr/>
        </p:nvCxnSpPr>
        <p:spPr>
          <a:xfrm flipV="1">
            <a:off x="3404310" y="2528550"/>
            <a:ext cx="11658" cy="1495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Цепь ДНК"/>
          <p:cNvCxnSpPr/>
          <p:nvPr/>
        </p:nvCxnSpPr>
        <p:spPr>
          <a:xfrm flipV="1">
            <a:off x="3415969" y="2515291"/>
            <a:ext cx="11658" cy="1325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Цепь ДНК"/>
          <p:cNvCxnSpPr/>
          <p:nvPr/>
        </p:nvCxnSpPr>
        <p:spPr>
          <a:xfrm flipV="1">
            <a:off x="3427628" y="2504194"/>
            <a:ext cx="11658" cy="1109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Цепь ДНК"/>
          <p:cNvCxnSpPr/>
          <p:nvPr/>
        </p:nvCxnSpPr>
        <p:spPr>
          <a:xfrm flipV="1">
            <a:off x="3439286" y="2495652"/>
            <a:ext cx="11658" cy="854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Цепь ДНК"/>
          <p:cNvCxnSpPr/>
          <p:nvPr/>
        </p:nvCxnSpPr>
        <p:spPr>
          <a:xfrm flipV="1">
            <a:off x="3450944" y="2489968"/>
            <a:ext cx="11658" cy="568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Цепь ДНК"/>
          <p:cNvCxnSpPr/>
          <p:nvPr/>
        </p:nvCxnSpPr>
        <p:spPr>
          <a:xfrm flipV="1">
            <a:off x="3462603" y="2487343"/>
            <a:ext cx="11658" cy="262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Цепь ДНК"/>
          <p:cNvCxnSpPr/>
          <p:nvPr/>
        </p:nvCxnSpPr>
        <p:spPr>
          <a:xfrm>
            <a:off x="3474262" y="2487343"/>
            <a:ext cx="11658" cy="527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Цепь ДНК"/>
          <p:cNvCxnSpPr/>
          <p:nvPr/>
        </p:nvCxnSpPr>
        <p:spPr>
          <a:xfrm>
            <a:off x="3485921" y="2487870"/>
            <a:ext cx="11658" cy="3660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Цепь ДНК"/>
          <p:cNvCxnSpPr/>
          <p:nvPr/>
        </p:nvCxnSpPr>
        <p:spPr>
          <a:xfrm>
            <a:off x="3497579" y="2491531"/>
            <a:ext cx="11658" cy="666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Цепь ДНК"/>
          <p:cNvCxnSpPr/>
          <p:nvPr/>
        </p:nvCxnSpPr>
        <p:spPr>
          <a:xfrm>
            <a:off x="3509237" y="2498195"/>
            <a:ext cx="11658" cy="943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Цепь ДНК"/>
          <p:cNvCxnSpPr/>
          <p:nvPr/>
        </p:nvCxnSpPr>
        <p:spPr>
          <a:xfrm>
            <a:off x="3520896" y="2507627"/>
            <a:ext cx="11658" cy="1186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Цепь ДНК"/>
          <p:cNvCxnSpPr/>
          <p:nvPr/>
        </p:nvCxnSpPr>
        <p:spPr>
          <a:xfrm>
            <a:off x="3532555" y="2519493"/>
            <a:ext cx="11658" cy="13877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Цепь ДНК"/>
          <p:cNvCxnSpPr/>
          <p:nvPr/>
        </p:nvCxnSpPr>
        <p:spPr>
          <a:xfrm>
            <a:off x="3544214" y="2533371"/>
            <a:ext cx="11658" cy="15400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Цепь ДНК"/>
          <p:cNvCxnSpPr/>
          <p:nvPr/>
        </p:nvCxnSpPr>
        <p:spPr>
          <a:xfrm>
            <a:off x="3555873" y="2548771"/>
            <a:ext cx="11658" cy="1637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Цепь ДНК"/>
          <p:cNvCxnSpPr/>
          <p:nvPr/>
        </p:nvCxnSpPr>
        <p:spPr>
          <a:xfrm>
            <a:off x="3567531" y="2565147"/>
            <a:ext cx="11658" cy="1677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Цепь ДНК"/>
          <p:cNvCxnSpPr/>
          <p:nvPr/>
        </p:nvCxnSpPr>
        <p:spPr>
          <a:xfrm>
            <a:off x="3579189" y="2581920"/>
            <a:ext cx="11658" cy="1657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Цепь ДНК"/>
          <p:cNvCxnSpPr/>
          <p:nvPr/>
        </p:nvCxnSpPr>
        <p:spPr>
          <a:xfrm>
            <a:off x="3590848" y="2598493"/>
            <a:ext cx="11658" cy="1578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Цепь ДНК"/>
          <p:cNvCxnSpPr/>
          <p:nvPr/>
        </p:nvCxnSpPr>
        <p:spPr>
          <a:xfrm>
            <a:off x="3602507" y="2614281"/>
            <a:ext cx="11658" cy="1444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Цепь ДНК"/>
          <p:cNvCxnSpPr/>
          <p:nvPr/>
        </p:nvCxnSpPr>
        <p:spPr>
          <a:xfrm>
            <a:off x="3614165" y="2628725"/>
            <a:ext cx="11658" cy="1258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Цепь ДНК"/>
          <p:cNvCxnSpPr/>
          <p:nvPr/>
        </p:nvCxnSpPr>
        <p:spPr>
          <a:xfrm>
            <a:off x="3625823" y="2641311"/>
            <a:ext cx="11658" cy="1028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Цепь ДНК"/>
          <p:cNvCxnSpPr/>
          <p:nvPr/>
        </p:nvCxnSpPr>
        <p:spPr>
          <a:xfrm>
            <a:off x="3637482" y="2651596"/>
            <a:ext cx="11658" cy="761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Цепь ДНК"/>
          <p:cNvCxnSpPr/>
          <p:nvPr/>
        </p:nvCxnSpPr>
        <p:spPr>
          <a:xfrm>
            <a:off x="3649141" y="2659214"/>
            <a:ext cx="11658" cy="468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Цепь ДНК"/>
          <p:cNvCxnSpPr/>
          <p:nvPr/>
        </p:nvCxnSpPr>
        <p:spPr>
          <a:xfrm>
            <a:off x="3660800" y="2663896"/>
            <a:ext cx="11658" cy="157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Цепь ДНК"/>
          <p:cNvCxnSpPr/>
          <p:nvPr/>
        </p:nvCxnSpPr>
        <p:spPr>
          <a:xfrm flipV="1">
            <a:off x="3672458" y="2663896"/>
            <a:ext cx="11658" cy="157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Цепь ДНК"/>
          <p:cNvCxnSpPr/>
          <p:nvPr/>
        </p:nvCxnSpPr>
        <p:spPr>
          <a:xfrm flipV="1">
            <a:off x="3684117" y="2659214"/>
            <a:ext cx="11658" cy="468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Цепь ДНК"/>
          <p:cNvCxnSpPr/>
          <p:nvPr/>
        </p:nvCxnSpPr>
        <p:spPr>
          <a:xfrm flipV="1">
            <a:off x="3695775" y="2651596"/>
            <a:ext cx="11658" cy="761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Цепь ДНК"/>
          <p:cNvCxnSpPr/>
          <p:nvPr/>
        </p:nvCxnSpPr>
        <p:spPr>
          <a:xfrm flipV="1">
            <a:off x="3707434" y="2641311"/>
            <a:ext cx="11658" cy="1028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Цепь ДНК"/>
          <p:cNvCxnSpPr/>
          <p:nvPr/>
        </p:nvCxnSpPr>
        <p:spPr>
          <a:xfrm flipV="1">
            <a:off x="3719093" y="2628725"/>
            <a:ext cx="11658" cy="1258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Цепь ДНК"/>
          <p:cNvCxnSpPr/>
          <p:nvPr/>
        </p:nvCxnSpPr>
        <p:spPr>
          <a:xfrm flipV="1">
            <a:off x="3730752" y="2614281"/>
            <a:ext cx="11658" cy="1444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Цепь ДНК"/>
          <p:cNvCxnSpPr/>
          <p:nvPr/>
        </p:nvCxnSpPr>
        <p:spPr>
          <a:xfrm flipV="1">
            <a:off x="3742410" y="2598493"/>
            <a:ext cx="11658" cy="1578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Цепь ДНК"/>
          <p:cNvCxnSpPr/>
          <p:nvPr/>
        </p:nvCxnSpPr>
        <p:spPr>
          <a:xfrm flipV="1">
            <a:off x="3754068" y="2581920"/>
            <a:ext cx="11658" cy="1657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Цепь ДНК"/>
          <p:cNvCxnSpPr/>
          <p:nvPr/>
        </p:nvCxnSpPr>
        <p:spPr>
          <a:xfrm flipV="1">
            <a:off x="3765727" y="2565147"/>
            <a:ext cx="11658" cy="1677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Цепь ДНК"/>
          <p:cNvCxnSpPr/>
          <p:nvPr/>
        </p:nvCxnSpPr>
        <p:spPr>
          <a:xfrm flipV="1">
            <a:off x="3777386" y="2548771"/>
            <a:ext cx="11658" cy="1637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Цепь ДНК"/>
          <p:cNvCxnSpPr/>
          <p:nvPr/>
        </p:nvCxnSpPr>
        <p:spPr>
          <a:xfrm flipV="1">
            <a:off x="3789045" y="2533371"/>
            <a:ext cx="11658" cy="15400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Цепь ДНК"/>
          <p:cNvCxnSpPr/>
          <p:nvPr/>
        </p:nvCxnSpPr>
        <p:spPr>
          <a:xfrm flipV="1">
            <a:off x="3800703" y="2519493"/>
            <a:ext cx="11658" cy="13877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Цепь ДНК"/>
          <p:cNvCxnSpPr/>
          <p:nvPr/>
        </p:nvCxnSpPr>
        <p:spPr>
          <a:xfrm flipV="1">
            <a:off x="3812361" y="2507627"/>
            <a:ext cx="11658" cy="1186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Цепь ДНК"/>
          <p:cNvCxnSpPr/>
          <p:nvPr/>
        </p:nvCxnSpPr>
        <p:spPr>
          <a:xfrm flipV="1">
            <a:off x="3824020" y="2498195"/>
            <a:ext cx="11658" cy="943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Цепь ДНК"/>
          <p:cNvCxnSpPr/>
          <p:nvPr/>
        </p:nvCxnSpPr>
        <p:spPr>
          <a:xfrm flipV="1">
            <a:off x="3835679" y="2491531"/>
            <a:ext cx="11658" cy="666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Цепь ДНК"/>
          <p:cNvCxnSpPr/>
          <p:nvPr/>
        </p:nvCxnSpPr>
        <p:spPr>
          <a:xfrm flipV="1">
            <a:off x="3847338" y="2487870"/>
            <a:ext cx="11658" cy="3660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Цепь ДНК"/>
          <p:cNvCxnSpPr/>
          <p:nvPr/>
        </p:nvCxnSpPr>
        <p:spPr>
          <a:xfrm flipV="1">
            <a:off x="3858996" y="2487343"/>
            <a:ext cx="11658" cy="527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Цепь ДНК"/>
          <p:cNvCxnSpPr/>
          <p:nvPr/>
        </p:nvCxnSpPr>
        <p:spPr>
          <a:xfrm>
            <a:off x="3870654" y="2487343"/>
            <a:ext cx="11658" cy="262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Цепь ДНК"/>
          <p:cNvCxnSpPr/>
          <p:nvPr/>
        </p:nvCxnSpPr>
        <p:spPr>
          <a:xfrm>
            <a:off x="3882313" y="2489968"/>
            <a:ext cx="11658" cy="568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Цепь ДНК"/>
          <p:cNvCxnSpPr/>
          <p:nvPr/>
        </p:nvCxnSpPr>
        <p:spPr>
          <a:xfrm>
            <a:off x="3893972" y="2495652"/>
            <a:ext cx="11658" cy="854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Цепь ДНК"/>
          <p:cNvCxnSpPr/>
          <p:nvPr/>
        </p:nvCxnSpPr>
        <p:spPr>
          <a:xfrm>
            <a:off x="3905631" y="2504194"/>
            <a:ext cx="11658" cy="1109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Цепь ДНК"/>
          <p:cNvCxnSpPr/>
          <p:nvPr/>
        </p:nvCxnSpPr>
        <p:spPr>
          <a:xfrm>
            <a:off x="3917289" y="2515291"/>
            <a:ext cx="11658" cy="1325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Цепь ДНК"/>
          <p:cNvCxnSpPr/>
          <p:nvPr/>
        </p:nvCxnSpPr>
        <p:spPr>
          <a:xfrm>
            <a:off x="3928947" y="2528550"/>
            <a:ext cx="11658" cy="1495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Цепь ДНК"/>
          <p:cNvCxnSpPr/>
          <p:nvPr/>
        </p:nvCxnSpPr>
        <p:spPr>
          <a:xfrm>
            <a:off x="3940606" y="2543502"/>
            <a:ext cx="11658" cy="1611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Цепь ДНК"/>
          <p:cNvCxnSpPr/>
          <p:nvPr/>
        </p:nvCxnSpPr>
        <p:spPr>
          <a:xfrm>
            <a:off x="3952265" y="2559615"/>
            <a:ext cx="11658" cy="1670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Цепь ДНК"/>
          <p:cNvCxnSpPr/>
          <p:nvPr/>
        </p:nvCxnSpPr>
        <p:spPr>
          <a:xfrm flipV="1">
            <a:off x="2798064" y="2559615"/>
            <a:ext cx="11658" cy="1670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Цепь ДНК"/>
          <p:cNvCxnSpPr/>
          <p:nvPr/>
        </p:nvCxnSpPr>
        <p:spPr>
          <a:xfrm flipV="1">
            <a:off x="2809722" y="2543502"/>
            <a:ext cx="11658" cy="1611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Цепь ДНК"/>
          <p:cNvCxnSpPr/>
          <p:nvPr/>
        </p:nvCxnSpPr>
        <p:spPr>
          <a:xfrm flipV="1">
            <a:off x="2821380" y="2528550"/>
            <a:ext cx="11658" cy="1495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Цепь ДНК"/>
          <p:cNvCxnSpPr/>
          <p:nvPr/>
        </p:nvCxnSpPr>
        <p:spPr>
          <a:xfrm flipV="1">
            <a:off x="2833039" y="2515291"/>
            <a:ext cx="11658" cy="1325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Цепь ДНК"/>
          <p:cNvCxnSpPr/>
          <p:nvPr/>
        </p:nvCxnSpPr>
        <p:spPr>
          <a:xfrm flipV="1">
            <a:off x="2844698" y="2504194"/>
            <a:ext cx="11658" cy="1109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Цепь ДНК"/>
          <p:cNvCxnSpPr/>
          <p:nvPr/>
        </p:nvCxnSpPr>
        <p:spPr>
          <a:xfrm flipV="1">
            <a:off x="2856357" y="2495652"/>
            <a:ext cx="11658" cy="854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Цепь ДНК"/>
          <p:cNvCxnSpPr/>
          <p:nvPr/>
        </p:nvCxnSpPr>
        <p:spPr>
          <a:xfrm flipV="1">
            <a:off x="2868015" y="2489968"/>
            <a:ext cx="11658" cy="568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Цепь ДНК"/>
          <p:cNvCxnSpPr/>
          <p:nvPr/>
        </p:nvCxnSpPr>
        <p:spPr>
          <a:xfrm flipV="1">
            <a:off x="2879673" y="2487343"/>
            <a:ext cx="11658" cy="262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Цепь ДНК"/>
          <p:cNvCxnSpPr/>
          <p:nvPr/>
        </p:nvCxnSpPr>
        <p:spPr>
          <a:xfrm>
            <a:off x="2891332" y="2487343"/>
            <a:ext cx="11658" cy="527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Цепь ДНК"/>
          <p:cNvCxnSpPr/>
          <p:nvPr/>
        </p:nvCxnSpPr>
        <p:spPr>
          <a:xfrm>
            <a:off x="2902991" y="2487870"/>
            <a:ext cx="11658" cy="3660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Цепь ДНК"/>
          <p:cNvCxnSpPr/>
          <p:nvPr/>
        </p:nvCxnSpPr>
        <p:spPr>
          <a:xfrm>
            <a:off x="2914650" y="2491531"/>
            <a:ext cx="11658" cy="666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Цепь ДНК"/>
          <p:cNvCxnSpPr/>
          <p:nvPr/>
        </p:nvCxnSpPr>
        <p:spPr>
          <a:xfrm>
            <a:off x="2926308" y="2498195"/>
            <a:ext cx="11658" cy="943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Цепь ДНК"/>
          <p:cNvCxnSpPr/>
          <p:nvPr/>
        </p:nvCxnSpPr>
        <p:spPr>
          <a:xfrm>
            <a:off x="2937966" y="2507627"/>
            <a:ext cx="11658" cy="1186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Цепь ДНК"/>
          <p:cNvCxnSpPr/>
          <p:nvPr/>
        </p:nvCxnSpPr>
        <p:spPr>
          <a:xfrm>
            <a:off x="2949625" y="2519493"/>
            <a:ext cx="11658" cy="13877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Цепь ДНК"/>
          <p:cNvCxnSpPr/>
          <p:nvPr/>
        </p:nvCxnSpPr>
        <p:spPr>
          <a:xfrm>
            <a:off x="2961284" y="2533371"/>
            <a:ext cx="11658" cy="15400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Цепь ДНК"/>
          <p:cNvCxnSpPr/>
          <p:nvPr/>
        </p:nvCxnSpPr>
        <p:spPr>
          <a:xfrm>
            <a:off x="2972943" y="2548771"/>
            <a:ext cx="11658" cy="1637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Цепь ДНК"/>
          <p:cNvCxnSpPr/>
          <p:nvPr/>
        </p:nvCxnSpPr>
        <p:spPr>
          <a:xfrm>
            <a:off x="2984600" y="2565147"/>
            <a:ext cx="11658" cy="1677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Цепь ДНК"/>
          <p:cNvCxnSpPr/>
          <p:nvPr/>
        </p:nvCxnSpPr>
        <p:spPr>
          <a:xfrm>
            <a:off x="2996259" y="2581920"/>
            <a:ext cx="11658" cy="1657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Цепь ДНК"/>
          <p:cNvCxnSpPr/>
          <p:nvPr/>
        </p:nvCxnSpPr>
        <p:spPr>
          <a:xfrm>
            <a:off x="3007918" y="2598493"/>
            <a:ext cx="11658" cy="1578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Цепь ДНК"/>
          <p:cNvCxnSpPr/>
          <p:nvPr/>
        </p:nvCxnSpPr>
        <p:spPr>
          <a:xfrm>
            <a:off x="3019577" y="2614281"/>
            <a:ext cx="11658" cy="1444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Цепь ДНК"/>
          <p:cNvCxnSpPr/>
          <p:nvPr/>
        </p:nvCxnSpPr>
        <p:spPr>
          <a:xfrm>
            <a:off x="3031236" y="2628725"/>
            <a:ext cx="11658" cy="1258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Цепь ДНК"/>
          <p:cNvCxnSpPr/>
          <p:nvPr/>
        </p:nvCxnSpPr>
        <p:spPr>
          <a:xfrm>
            <a:off x="3042894" y="2641311"/>
            <a:ext cx="11658" cy="1028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Цепь ДНК"/>
          <p:cNvCxnSpPr/>
          <p:nvPr/>
        </p:nvCxnSpPr>
        <p:spPr>
          <a:xfrm>
            <a:off x="3054552" y="2651596"/>
            <a:ext cx="11658" cy="761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Цепь ДНК"/>
          <p:cNvCxnSpPr/>
          <p:nvPr/>
        </p:nvCxnSpPr>
        <p:spPr>
          <a:xfrm>
            <a:off x="3066211" y="2659214"/>
            <a:ext cx="11658" cy="468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Цепь ДНК"/>
          <p:cNvCxnSpPr/>
          <p:nvPr/>
        </p:nvCxnSpPr>
        <p:spPr>
          <a:xfrm>
            <a:off x="3077870" y="2663896"/>
            <a:ext cx="11658" cy="157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Цепь ДНК"/>
          <p:cNvCxnSpPr/>
          <p:nvPr/>
        </p:nvCxnSpPr>
        <p:spPr>
          <a:xfrm flipV="1">
            <a:off x="3089529" y="2663896"/>
            <a:ext cx="11658" cy="157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Цепь ДНК"/>
          <p:cNvCxnSpPr/>
          <p:nvPr/>
        </p:nvCxnSpPr>
        <p:spPr>
          <a:xfrm flipV="1">
            <a:off x="3101187" y="2659214"/>
            <a:ext cx="11658" cy="468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Цепь ДНК"/>
          <p:cNvCxnSpPr/>
          <p:nvPr/>
        </p:nvCxnSpPr>
        <p:spPr>
          <a:xfrm flipV="1">
            <a:off x="3112845" y="2651596"/>
            <a:ext cx="11658" cy="761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Цепь ДНК"/>
          <p:cNvCxnSpPr/>
          <p:nvPr/>
        </p:nvCxnSpPr>
        <p:spPr>
          <a:xfrm flipV="1">
            <a:off x="3124504" y="2641311"/>
            <a:ext cx="11658" cy="1028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Цепь ДНК"/>
          <p:cNvCxnSpPr/>
          <p:nvPr/>
        </p:nvCxnSpPr>
        <p:spPr>
          <a:xfrm flipV="1">
            <a:off x="3136163" y="2628725"/>
            <a:ext cx="11658" cy="1258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Цепь ДНК"/>
          <p:cNvCxnSpPr/>
          <p:nvPr/>
        </p:nvCxnSpPr>
        <p:spPr>
          <a:xfrm flipV="1">
            <a:off x="3147822" y="2614281"/>
            <a:ext cx="11658" cy="1444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Цепь ДНК"/>
          <p:cNvCxnSpPr/>
          <p:nvPr/>
        </p:nvCxnSpPr>
        <p:spPr>
          <a:xfrm flipV="1">
            <a:off x="3159480" y="2598493"/>
            <a:ext cx="11658" cy="1578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Цепь ДНК"/>
          <p:cNvCxnSpPr/>
          <p:nvPr/>
        </p:nvCxnSpPr>
        <p:spPr>
          <a:xfrm flipV="1">
            <a:off x="3171138" y="2581920"/>
            <a:ext cx="11658" cy="1657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Цепь ДНК"/>
          <p:cNvCxnSpPr/>
          <p:nvPr/>
        </p:nvCxnSpPr>
        <p:spPr>
          <a:xfrm flipV="1">
            <a:off x="3182797" y="2565147"/>
            <a:ext cx="11658" cy="1677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Цепь ДНК"/>
          <p:cNvCxnSpPr/>
          <p:nvPr/>
        </p:nvCxnSpPr>
        <p:spPr>
          <a:xfrm flipV="1">
            <a:off x="3194456" y="2548771"/>
            <a:ext cx="11658" cy="1637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Цепь ДНК"/>
          <p:cNvCxnSpPr/>
          <p:nvPr/>
        </p:nvCxnSpPr>
        <p:spPr>
          <a:xfrm flipV="1">
            <a:off x="3206114" y="2533371"/>
            <a:ext cx="11658" cy="15400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Цепь ДНК"/>
          <p:cNvCxnSpPr/>
          <p:nvPr/>
        </p:nvCxnSpPr>
        <p:spPr>
          <a:xfrm flipV="1">
            <a:off x="3217772" y="2519493"/>
            <a:ext cx="11658" cy="13877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Цепь ДНК"/>
          <p:cNvCxnSpPr/>
          <p:nvPr/>
        </p:nvCxnSpPr>
        <p:spPr>
          <a:xfrm flipV="1">
            <a:off x="3229431" y="2507627"/>
            <a:ext cx="11658" cy="1186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Цепь ДНК"/>
          <p:cNvCxnSpPr/>
          <p:nvPr/>
        </p:nvCxnSpPr>
        <p:spPr>
          <a:xfrm flipV="1">
            <a:off x="3241090" y="2498195"/>
            <a:ext cx="11658" cy="943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Цепь ДНК"/>
          <p:cNvCxnSpPr/>
          <p:nvPr/>
        </p:nvCxnSpPr>
        <p:spPr>
          <a:xfrm flipV="1">
            <a:off x="3252749" y="2491531"/>
            <a:ext cx="11658" cy="666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Цепь ДНК"/>
          <p:cNvCxnSpPr/>
          <p:nvPr/>
        </p:nvCxnSpPr>
        <p:spPr>
          <a:xfrm flipV="1">
            <a:off x="3264408" y="2487870"/>
            <a:ext cx="11658" cy="3660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Цепь ДНК"/>
          <p:cNvCxnSpPr/>
          <p:nvPr/>
        </p:nvCxnSpPr>
        <p:spPr>
          <a:xfrm flipV="1">
            <a:off x="3276066" y="2487343"/>
            <a:ext cx="11658" cy="527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Цепь ДНК"/>
          <p:cNvCxnSpPr/>
          <p:nvPr/>
        </p:nvCxnSpPr>
        <p:spPr>
          <a:xfrm>
            <a:off x="3287724" y="2487343"/>
            <a:ext cx="11658" cy="262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Цепь ДНК"/>
          <p:cNvCxnSpPr/>
          <p:nvPr/>
        </p:nvCxnSpPr>
        <p:spPr>
          <a:xfrm>
            <a:off x="3299383" y="2489968"/>
            <a:ext cx="11658" cy="568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Цепь ДНК"/>
          <p:cNvCxnSpPr/>
          <p:nvPr/>
        </p:nvCxnSpPr>
        <p:spPr>
          <a:xfrm>
            <a:off x="3311042" y="2495652"/>
            <a:ext cx="11658" cy="854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Цепь ДНК"/>
          <p:cNvCxnSpPr/>
          <p:nvPr/>
        </p:nvCxnSpPr>
        <p:spPr>
          <a:xfrm>
            <a:off x="3322701" y="2504194"/>
            <a:ext cx="11658" cy="1109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Цепь ДНК"/>
          <p:cNvCxnSpPr/>
          <p:nvPr/>
        </p:nvCxnSpPr>
        <p:spPr>
          <a:xfrm>
            <a:off x="3334359" y="2515291"/>
            <a:ext cx="11658" cy="1325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Цепь ДНК"/>
          <p:cNvCxnSpPr/>
          <p:nvPr/>
        </p:nvCxnSpPr>
        <p:spPr>
          <a:xfrm>
            <a:off x="3346017" y="2528550"/>
            <a:ext cx="11658" cy="1495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Цепь ДНК"/>
          <p:cNvCxnSpPr/>
          <p:nvPr/>
        </p:nvCxnSpPr>
        <p:spPr>
          <a:xfrm>
            <a:off x="3357676" y="2543502"/>
            <a:ext cx="11658" cy="1611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Цепь ДНК"/>
          <p:cNvCxnSpPr/>
          <p:nvPr/>
        </p:nvCxnSpPr>
        <p:spPr>
          <a:xfrm>
            <a:off x="3369335" y="2559615"/>
            <a:ext cx="11658" cy="1670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Цепь ДНК"/>
          <p:cNvCxnSpPr/>
          <p:nvPr/>
        </p:nvCxnSpPr>
        <p:spPr>
          <a:xfrm>
            <a:off x="3380994" y="2576322"/>
            <a:ext cx="11658" cy="1670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Цепь ДНК"/>
          <p:cNvCxnSpPr/>
          <p:nvPr/>
        </p:nvCxnSpPr>
        <p:spPr>
          <a:xfrm>
            <a:off x="3392652" y="2593027"/>
            <a:ext cx="11658" cy="1611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Цепь ДНК"/>
          <p:cNvCxnSpPr/>
          <p:nvPr/>
        </p:nvCxnSpPr>
        <p:spPr>
          <a:xfrm>
            <a:off x="3404310" y="2609141"/>
            <a:ext cx="11658" cy="1495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Цепь ДНК"/>
          <p:cNvCxnSpPr/>
          <p:nvPr/>
        </p:nvCxnSpPr>
        <p:spPr>
          <a:xfrm>
            <a:off x="3415969" y="2624092"/>
            <a:ext cx="11658" cy="1325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Цепь ДНК"/>
          <p:cNvCxnSpPr/>
          <p:nvPr/>
        </p:nvCxnSpPr>
        <p:spPr>
          <a:xfrm>
            <a:off x="3427628" y="2637351"/>
            <a:ext cx="11658" cy="1109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Цепь ДНК"/>
          <p:cNvCxnSpPr/>
          <p:nvPr/>
        </p:nvCxnSpPr>
        <p:spPr>
          <a:xfrm>
            <a:off x="3439286" y="2648448"/>
            <a:ext cx="11658" cy="854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Цепь ДНК"/>
          <p:cNvCxnSpPr/>
          <p:nvPr/>
        </p:nvCxnSpPr>
        <p:spPr>
          <a:xfrm>
            <a:off x="3450944" y="2656990"/>
            <a:ext cx="11658" cy="568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Цепь ДНК"/>
          <p:cNvCxnSpPr/>
          <p:nvPr/>
        </p:nvCxnSpPr>
        <p:spPr>
          <a:xfrm>
            <a:off x="3462603" y="2662674"/>
            <a:ext cx="11658" cy="262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Цепь ДНК"/>
          <p:cNvCxnSpPr/>
          <p:nvPr/>
        </p:nvCxnSpPr>
        <p:spPr>
          <a:xfrm flipV="1">
            <a:off x="3474262" y="2664772"/>
            <a:ext cx="11658" cy="527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Цепь ДНК"/>
          <p:cNvCxnSpPr/>
          <p:nvPr/>
        </p:nvCxnSpPr>
        <p:spPr>
          <a:xfrm flipV="1">
            <a:off x="3485921" y="2661111"/>
            <a:ext cx="11658" cy="3660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Цепь ДНК"/>
          <p:cNvCxnSpPr/>
          <p:nvPr/>
        </p:nvCxnSpPr>
        <p:spPr>
          <a:xfrm flipV="1">
            <a:off x="3497579" y="2654448"/>
            <a:ext cx="11658" cy="666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Цепь ДНК"/>
          <p:cNvCxnSpPr/>
          <p:nvPr/>
        </p:nvCxnSpPr>
        <p:spPr>
          <a:xfrm flipV="1">
            <a:off x="3509237" y="2645016"/>
            <a:ext cx="11658" cy="943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Цепь ДНК"/>
          <p:cNvCxnSpPr/>
          <p:nvPr/>
        </p:nvCxnSpPr>
        <p:spPr>
          <a:xfrm flipV="1">
            <a:off x="3520896" y="2633150"/>
            <a:ext cx="11658" cy="1186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Цепь ДНК"/>
          <p:cNvCxnSpPr/>
          <p:nvPr/>
        </p:nvCxnSpPr>
        <p:spPr>
          <a:xfrm flipV="1">
            <a:off x="3532555" y="2619272"/>
            <a:ext cx="11658" cy="13877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Цепь ДНК"/>
          <p:cNvCxnSpPr/>
          <p:nvPr/>
        </p:nvCxnSpPr>
        <p:spPr>
          <a:xfrm flipV="1">
            <a:off x="3544214" y="2603871"/>
            <a:ext cx="11658" cy="15400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Цепь ДНК"/>
          <p:cNvCxnSpPr/>
          <p:nvPr/>
        </p:nvCxnSpPr>
        <p:spPr>
          <a:xfrm flipV="1">
            <a:off x="3555873" y="2587495"/>
            <a:ext cx="11658" cy="1637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Цепь ДНК"/>
          <p:cNvCxnSpPr/>
          <p:nvPr/>
        </p:nvCxnSpPr>
        <p:spPr>
          <a:xfrm flipV="1">
            <a:off x="3567531" y="2570723"/>
            <a:ext cx="11658" cy="1677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Цепь ДНК"/>
          <p:cNvCxnSpPr/>
          <p:nvPr/>
        </p:nvCxnSpPr>
        <p:spPr>
          <a:xfrm flipV="1">
            <a:off x="3579189" y="2554149"/>
            <a:ext cx="11658" cy="1657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Цепь ДНК"/>
          <p:cNvCxnSpPr/>
          <p:nvPr/>
        </p:nvCxnSpPr>
        <p:spPr>
          <a:xfrm flipV="1">
            <a:off x="3590848" y="2538361"/>
            <a:ext cx="11658" cy="1578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Цепь ДНК"/>
          <p:cNvCxnSpPr/>
          <p:nvPr/>
        </p:nvCxnSpPr>
        <p:spPr>
          <a:xfrm flipV="1">
            <a:off x="3602507" y="2523918"/>
            <a:ext cx="11658" cy="1444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Цепь ДНК"/>
          <p:cNvCxnSpPr/>
          <p:nvPr/>
        </p:nvCxnSpPr>
        <p:spPr>
          <a:xfrm flipV="1">
            <a:off x="3614165" y="2511331"/>
            <a:ext cx="11658" cy="1258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Цепь ДНК"/>
          <p:cNvCxnSpPr/>
          <p:nvPr/>
        </p:nvCxnSpPr>
        <p:spPr>
          <a:xfrm flipV="1">
            <a:off x="3625823" y="2501046"/>
            <a:ext cx="11658" cy="1028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Цепь ДНК"/>
          <p:cNvCxnSpPr/>
          <p:nvPr/>
        </p:nvCxnSpPr>
        <p:spPr>
          <a:xfrm flipV="1">
            <a:off x="3637482" y="2493428"/>
            <a:ext cx="11658" cy="761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Цепь ДНК"/>
          <p:cNvCxnSpPr/>
          <p:nvPr/>
        </p:nvCxnSpPr>
        <p:spPr>
          <a:xfrm flipV="1">
            <a:off x="3649141" y="2488746"/>
            <a:ext cx="11658" cy="468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Цепь ДНК"/>
          <p:cNvCxnSpPr/>
          <p:nvPr/>
        </p:nvCxnSpPr>
        <p:spPr>
          <a:xfrm flipV="1">
            <a:off x="3660800" y="2487168"/>
            <a:ext cx="11658" cy="157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Цепь ДНК"/>
          <p:cNvCxnSpPr/>
          <p:nvPr/>
        </p:nvCxnSpPr>
        <p:spPr>
          <a:xfrm>
            <a:off x="3672458" y="2487168"/>
            <a:ext cx="11658" cy="157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Цепь ДНК"/>
          <p:cNvCxnSpPr/>
          <p:nvPr/>
        </p:nvCxnSpPr>
        <p:spPr>
          <a:xfrm>
            <a:off x="3684117" y="2488746"/>
            <a:ext cx="11658" cy="468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Цепь ДНК"/>
          <p:cNvCxnSpPr/>
          <p:nvPr/>
        </p:nvCxnSpPr>
        <p:spPr>
          <a:xfrm>
            <a:off x="3695775" y="2493428"/>
            <a:ext cx="11658" cy="761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Цепь ДНК"/>
          <p:cNvCxnSpPr/>
          <p:nvPr/>
        </p:nvCxnSpPr>
        <p:spPr>
          <a:xfrm>
            <a:off x="3707434" y="2501046"/>
            <a:ext cx="11658" cy="1028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Цепь ДНК"/>
          <p:cNvCxnSpPr/>
          <p:nvPr/>
        </p:nvCxnSpPr>
        <p:spPr>
          <a:xfrm>
            <a:off x="3719093" y="2511331"/>
            <a:ext cx="11658" cy="1258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Цепь ДНК"/>
          <p:cNvCxnSpPr/>
          <p:nvPr/>
        </p:nvCxnSpPr>
        <p:spPr>
          <a:xfrm>
            <a:off x="3730752" y="2523918"/>
            <a:ext cx="11658" cy="1444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Цепь ДНК"/>
          <p:cNvCxnSpPr/>
          <p:nvPr/>
        </p:nvCxnSpPr>
        <p:spPr>
          <a:xfrm>
            <a:off x="3742410" y="2538361"/>
            <a:ext cx="11658" cy="1578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Цепь ДНК"/>
          <p:cNvCxnSpPr/>
          <p:nvPr/>
        </p:nvCxnSpPr>
        <p:spPr>
          <a:xfrm>
            <a:off x="3754068" y="2554149"/>
            <a:ext cx="11658" cy="1657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Цепь ДНК"/>
          <p:cNvCxnSpPr/>
          <p:nvPr/>
        </p:nvCxnSpPr>
        <p:spPr>
          <a:xfrm>
            <a:off x="3765727" y="2570723"/>
            <a:ext cx="11658" cy="1677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Цепь ДНК"/>
          <p:cNvCxnSpPr/>
          <p:nvPr/>
        </p:nvCxnSpPr>
        <p:spPr>
          <a:xfrm>
            <a:off x="3777386" y="2587495"/>
            <a:ext cx="11658" cy="1637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Цепь ДНК"/>
          <p:cNvCxnSpPr/>
          <p:nvPr/>
        </p:nvCxnSpPr>
        <p:spPr>
          <a:xfrm>
            <a:off x="3789045" y="2603871"/>
            <a:ext cx="11658" cy="15400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Цепь ДНК"/>
          <p:cNvCxnSpPr/>
          <p:nvPr/>
        </p:nvCxnSpPr>
        <p:spPr>
          <a:xfrm>
            <a:off x="3800703" y="2619272"/>
            <a:ext cx="11658" cy="13877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Цепь ДНК"/>
          <p:cNvCxnSpPr/>
          <p:nvPr/>
        </p:nvCxnSpPr>
        <p:spPr>
          <a:xfrm>
            <a:off x="3812361" y="2633150"/>
            <a:ext cx="11658" cy="1186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Цепь ДНК"/>
          <p:cNvCxnSpPr/>
          <p:nvPr/>
        </p:nvCxnSpPr>
        <p:spPr>
          <a:xfrm>
            <a:off x="3824020" y="2645016"/>
            <a:ext cx="11658" cy="943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Цепь ДНК"/>
          <p:cNvCxnSpPr/>
          <p:nvPr/>
        </p:nvCxnSpPr>
        <p:spPr>
          <a:xfrm>
            <a:off x="3835679" y="2654448"/>
            <a:ext cx="11658" cy="666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Цепь ДНК"/>
          <p:cNvCxnSpPr/>
          <p:nvPr/>
        </p:nvCxnSpPr>
        <p:spPr>
          <a:xfrm>
            <a:off x="3847338" y="2661111"/>
            <a:ext cx="11658" cy="3660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Цепь ДНК"/>
          <p:cNvCxnSpPr/>
          <p:nvPr/>
        </p:nvCxnSpPr>
        <p:spPr>
          <a:xfrm>
            <a:off x="3858996" y="2664772"/>
            <a:ext cx="11658" cy="527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Цепь ДНК"/>
          <p:cNvCxnSpPr/>
          <p:nvPr/>
        </p:nvCxnSpPr>
        <p:spPr>
          <a:xfrm flipV="1">
            <a:off x="3870654" y="2662674"/>
            <a:ext cx="11658" cy="262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Цепь ДНК"/>
          <p:cNvCxnSpPr/>
          <p:nvPr/>
        </p:nvCxnSpPr>
        <p:spPr>
          <a:xfrm flipV="1">
            <a:off x="3882313" y="2656990"/>
            <a:ext cx="11658" cy="568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Цепь ДНК"/>
          <p:cNvCxnSpPr/>
          <p:nvPr/>
        </p:nvCxnSpPr>
        <p:spPr>
          <a:xfrm flipV="1">
            <a:off x="3893972" y="2648448"/>
            <a:ext cx="11658" cy="854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Цепь ДНК"/>
          <p:cNvCxnSpPr/>
          <p:nvPr/>
        </p:nvCxnSpPr>
        <p:spPr>
          <a:xfrm flipV="1">
            <a:off x="3905631" y="2637351"/>
            <a:ext cx="11658" cy="1109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Цепь ДНК"/>
          <p:cNvCxnSpPr/>
          <p:nvPr/>
        </p:nvCxnSpPr>
        <p:spPr>
          <a:xfrm flipV="1">
            <a:off x="3917289" y="2624092"/>
            <a:ext cx="11658" cy="1325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Цепь ДНК"/>
          <p:cNvCxnSpPr/>
          <p:nvPr/>
        </p:nvCxnSpPr>
        <p:spPr>
          <a:xfrm flipV="1">
            <a:off x="3928947" y="2609141"/>
            <a:ext cx="11658" cy="1495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Цепь ДНК"/>
          <p:cNvCxnSpPr/>
          <p:nvPr/>
        </p:nvCxnSpPr>
        <p:spPr>
          <a:xfrm flipV="1">
            <a:off x="3940606" y="2593027"/>
            <a:ext cx="11658" cy="1611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Цепь ДНК"/>
          <p:cNvCxnSpPr/>
          <p:nvPr/>
        </p:nvCxnSpPr>
        <p:spPr>
          <a:xfrm flipV="1">
            <a:off x="3952265" y="2576322"/>
            <a:ext cx="11658" cy="1670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Пары оснований ДНК"/>
          <p:cNvCxnSpPr/>
          <p:nvPr/>
        </p:nvCxnSpPr>
        <p:spPr>
          <a:xfrm>
            <a:off x="2798064" y="2576322"/>
            <a:ext cx="91" cy="91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Пары оснований ДНК"/>
          <p:cNvCxnSpPr/>
          <p:nvPr/>
        </p:nvCxnSpPr>
        <p:spPr>
          <a:xfrm flipV="1">
            <a:off x="2870930" y="2493954"/>
            <a:ext cx="91" cy="164735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Пары оснований ДНК"/>
          <p:cNvCxnSpPr/>
          <p:nvPr/>
        </p:nvCxnSpPr>
        <p:spPr>
          <a:xfrm flipV="1">
            <a:off x="2943796" y="2513280"/>
            <a:ext cx="91" cy="126083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Пары оснований ДНК"/>
          <p:cNvCxnSpPr/>
          <p:nvPr/>
        </p:nvCxnSpPr>
        <p:spPr>
          <a:xfrm>
            <a:off x="3016662" y="2542203"/>
            <a:ext cx="91" cy="68235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Пары оснований ДНК"/>
          <p:cNvCxnSpPr/>
          <p:nvPr/>
        </p:nvCxnSpPr>
        <p:spPr>
          <a:xfrm>
            <a:off x="3089529" y="2487168"/>
            <a:ext cx="91" cy="178308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Пары оснований ДНК"/>
          <p:cNvCxnSpPr/>
          <p:nvPr/>
        </p:nvCxnSpPr>
        <p:spPr>
          <a:xfrm>
            <a:off x="3162395" y="2542203"/>
            <a:ext cx="91" cy="68235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Пары оснований ДНК"/>
          <p:cNvCxnSpPr/>
          <p:nvPr/>
        </p:nvCxnSpPr>
        <p:spPr>
          <a:xfrm flipV="1">
            <a:off x="3235261" y="2513280"/>
            <a:ext cx="91" cy="126083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Пары оснований ДНК"/>
          <p:cNvCxnSpPr/>
          <p:nvPr/>
        </p:nvCxnSpPr>
        <p:spPr>
          <a:xfrm flipV="1">
            <a:off x="3308127" y="2493954"/>
            <a:ext cx="91" cy="164735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Пары оснований ДНК"/>
          <p:cNvCxnSpPr/>
          <p:nvPr/>
        </p:nvCxnSpPr>
        <p:spPr>
          <a:xfrm>
            <a:off x="3380994" y="2576322"/>
            <a:ext cx="91" cy="91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Пары оснований ДНК"/>
          <p:cNvCxnSpPr/>
          <p:nvPr/>
        </p:nvCxnSpPr>
        <p:spPr>
          <a:xfrm>
            <a:off x="3453860" y="2493954"/>
            <a:ext cx="91" cy="164735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Пары оснований ДНК"/>
          <p:cNvCxnSpPr/>
          <p:nvPr/>
        </p:nvCxnSpPr>
        <p:spPr>
          <a:xfrm>
            <a:off x="3526726" y="2513280"/>
            <a:ext cx="91" cy="126083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Пары оснований ДНК"/>
          <p:cNvCxnSpPr/>
          <p:nvPr/>
        </p:nvCxnSpPr>
        <p:spPr>
          <a:xfrm flipV="1">
            <a:off x="3599592" y="2542203"/>
            <a:ext cx="91" cy="68235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Пары оснований ДНК"/>
          <p:cNvCxnSpPr/>
          <p:nvPr/>
        </p:nvCxnSpPr>
        <p:spPr>
          <a:xfrm flipV="1">
            <a:off x="3672458" y="2487168"/>
            <a:ext cx="91" cy="178308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Пары оснований ДНК"/>
          <p:cNvCxnSpPr/>
          <p:nvPr/>
        </p:nvCxnSpPr>
        <p:spPr>
          <a:xfrm flipV="1">
            <a:off x="3745325" y="2542203"/>
            <a:ext cx="91" cy="68235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Пары оснований ДНК"/>
          <p:cNvCxnSpPr/>
          <p:nvPr/>
        </p:nvCxnSpPr>
        <p:spPr>
          <a:xfrm>
            <a:off x="3818191" y="2513280"/>
            <a:ext cx="91" cy="126083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Пары оснований ДНК"/>
          <p:cNvCxnSpPr/>
          <p:nvPr/>
        </p:nvCxnSpPr>
        <p:spPr>
          <a:xfrm>
            <a:off x="3891057" y="2493954"/>
            <a:ext cx="91" cy="164735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Пары оснований ДНК"/>
          <p:cNvCxnSpPr/>
          <p:nvPr/>
        </p:nvCxnSpPr>
        <p:spPr>
          <a:xfrm>
            <a:off x="3963924" y="2576322"/>
            <a:ext cx="91" cy="91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Работа генов"/>
          <p:cNvSpPr txBox="1"/>
          <p:nvPr/>
        </p:nvSpPr>
        <p:spPr>
          <a:xfrm>
            <a:off x="2615184" y="2788920"/>
            <a:ext cx="1536192" cy="2468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950A5"/>
                </a:solidFill>
                <a:latin typeface="Arial"/>
              </a:defRPr>
            </a:pPr>
            <a:r>
              <a:rPr sz="1400" b="0">
                <a:solidFill>
                  <a:srgbClr val="7950A5"/>
                </a:solidFill>
                <a:latin typeface="Arial Narrow"/>
                <a:cs typeface="Arial Narrow"/>
              </a:rPr>
              <a:t>Регуляция генов</a:t>
            </a:r>
          </a:p>
        </p:txBody>
      </p:sp>
      <p:sp>
        <p:nvSpPr>
          <p:cNvPr id="233" name="Минералокортикоидный рецептор"/>
          <p:cNvSpPr/>
          <p:nvPr/>
        </p:nvSpPr>
        <p:spPr>
          <a:xfrm>
            <a:off x="4855464" y="2286000"/>
            <a:ext cx="566928" cy="60350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70" y="500"/>
                </a:moveTo>
                <a:lnTo>
                  <a:pt x="962" y="524"/>
                </a:lnTo>
                <a:lnTo>
                  <a:pt x="951" y="547"/>
                </a:lnTo>
                <a:lnTo>
                  <a:pt x="937" y="569"/>
                </a:lnTo>
                <a:lnTo>
                  <a:pt x="922" y="590"/>
                </a:lnTo>
                <a:lnTo>
                  <a:pt x="906" y="609"/>
                </a:lnTo>
                <a:lnTo>
                  <a:pt x="891" y="627"/>
                </a:lnTo>
                <a:lnTo>
                  <a:pt x="877" y="645"/>
                </a:lnTo>
                <a:lnTo>
                  <a:pt x="864" y="662"/>
                </a:lnTo>
                <a:lnTo>
                  <a:pt x="853" y="680"/>
                </a:lnTo>
                <a:lnTo>
                  <a:pt x="844" y="698"/>
                </a:lnTo>
                <a:lnTo>
                  <a:pt x="836" y="718"/>
                </a:lnTo>
                <a:lnTo>
                  <a:pt x="830" y="739"/>
                </a:lnTo>
                <a:lnTo>
                  <a:pt x="824" y="762"/>
                </a:lnTo>
                <a:lnTo>
                  <a:pt x="817" y="786"/>
                </a:lnTo>
                <a:lnTo>
                  <a:pt x="810" y="810"/>
                </a:lnTo>
                <a:lnTo>
                  <a:pt x="801" y="834"/>
                </a:lnTo>
                <a:lnTo>
                  <a:pt x="790" y="858"/>
                </a:lnTo>
                <a:lnTo>
                  <a:pt x="776" y="879"/>
                </a:lnTo>
                <a:lnTo>
                  <a:pt x="759" y="899"/>
                </a:lnTo>
                <a:lnTo>
                  <a:pt x="739" y="915"/>
                </a:lnTo>
                <a:lnTo>
                  <a:pt x="717" y="927"/>
                </a:lnTo>
                <a:lnTo>
                  <a:pt x="693" y="935"/>
                </a:lnTo>
                <a:lnTo>
                  <a:pt x="668" y="938"/>
                </a:lnTo>
                <a:lnTo>
                  <a:pt x="642" y="937"/>
                </a:lnTo>
                <a:lnTo>
                  <a:pt x="616" y="932"/>
                </a:lnTo>
                <a:lnTo>
                  <a:pt x="590" y="924"/>
                </a:lnTo>
                <a:lnTo>
                  <a:pt x="565" y="913"/>
                </a:lnTo>
                <a:lnTo>
                  <a:pt x="542" y="902"/>
                </a:lnTo>
                <a:lnTo>
                  <a:pt x="520" y="890"/>
                </a:lnTo>
                <a:lnTo>
                  <a:pt x="500" y="879"/>
                </a:lnTo>
                <a:lnTo>
                  <a:pt x="481" y="869"/>
                </a:lnTo>
                <a:lnTo>
                  <a:pt x="462" y="862"/>
                </a:lnTo>
                <a:lnTo>
                  <a:pt x="443" y="858"/>
                </a:lnTo>
                <a:lnTo>
                  <a:pt x="424" y="856"/>
                </a:lnTo>
                <a:lnTo>
                  <a:pt x="404" y="858"/>
                </a:lnTo>
                <a:lnTo>
                  <a:pt x="383" y="861"/>
                </a:lnTo>
                <a:lnTo>
                  <a:pt x="359" y="866"/>
                </a:lnTo>
                <a:lnTo>
                  <a:pt x="335" y="872"/>
                </a:lnTo>
                <a:lnTo>
                  <a:pt x="308" y="877"/>
                </a:lnTo>
                <a:lnTo>
                  <a:pt x="280" y="880"/>
                </a:lnTo>
                <a:lnTo>
                  <a:pt x="252" y="881"/>
                </a:lnTo>
                <a:lnTo>
                  <a:pt x="224" y="879"/>
                </a:lnTo>
                <a:lnTo>
                  <a:pt x="197" y="874"/>
                </a:lnTo>
                <a:lnTo>
                  <a:pt x="172" y="864"/>
                </a:lnTo>
                <a:lnTo>
                  <a:pt x="150" y="850"/>
                </a:lnTo>
                <a:lnTo>
                  <a:pt x="132" y="832"/>
                </a:lnTo>
                <a:lnTo>
                  <a:pt x="117" y="810"/>
                </a:lnTo>
                <a:lnTo>
                  <a:pt x="106" y="786"/>
                </a:lnTo>
                <a:lnTo>
                  <a:pt x="100" y="760"/>
                </a:lnTo>
                <a:lnTo>
                  <a:pt x="97" y="733"/>
                </a:lnTo>
                <a:lnTo>
                  <a:pt x="97" y="705"/>
                </a:lnTo>
                <a:lnTo>
                  <a:pt x="100" y="678"/>
                </a:lnTo>
                <a:lnTo>
                  <a:pt x="104" y="652"/>
                </a:lnTo>
                <a:lnTo>
                  <a:pt x="109" y="627"/>
                </a:lnTo>
                <a:lnTo>
                  <a:pt x="114" y="604"/>
                </a:lnTo>
                <a:lnTo>
                  <a:pt x="117" y="581"/>
                </a:lnTo>
                <a:lnTo>
                  <a:pt x="118" y="560"/>
                </a:lnTo>
                <a:lnTo>
                  <a:pt x="118" y="540"/>
                </a:lnTo>
                <a:lnTo>
                  <a:pt x="115" y="520"/>
                </a:lnTo>
                <a:lnTo>
                  <a:pt x="110" y="500"/>
                </a:lnTo>
                <a:lnTo>
                  <a:pt x="103" y="479"/>
                </a:lnTo>
                <a:lnTo>
                  <a:pt x="95" y="457"/>
                </a:lnTo>
                <a:lnTo>
                  <a:pt x="88" y="435"/>
                </a:lnTo>
                <a:lnTo>
                  <a:pt x="81" y="411"/>
                </a:lnTo>
                <a:lnTo>
                  <a:pt x="76" y="386"/>
                </a:lnTo>
                <a:lnTo>
                  <a:pt x="73" y="361"/>
                </a:lnTo>
                <a:lnTo>
                  <a:pt x="74" y="336"/>
                </a:lnTo>
                <a:lnTo>
                  <a:pt x="78" y="312"/>
                </a:lnTo>
                <a:lnTo>
                  <a:pt x="87" y="289"/>
                </a:lnTo>
                <a:lnTo>
                  <a:pt x="99" y="268"/>
                </a:lnTo>
                <a:lnTo>
                  <a:pt x="115" y="250"/>
                </a:lnTo>
                <a:lnTo>
                  <a:pt x="134" y="234"/>
                </a:lnTo>
                <a:lnTo>
                  <a:pt x="155" y="221"/>
                </a:lnTo>
                <a:lnTo>
                  <a:pt x="178" y="210"/>
                </a:lnTo>
                <a:lnTo>
                  <a:pt x="202" y="202"/>
                </a:lnTo>
                <a:lnTo>
                  <a:pt x="225" y="195"/>
                </a:lnTo>
                <a:lnTo>
                  <a:pt x="248" y="189"/>
                </a:lnTo>
                <a:lnTo>
                  <a:pt x="270" y="184"/>
                </a:lnTo>
                <a:lnTo>
                  <a:pt x="291" y="178"/>
                </a:lnTo>
                <a:lnTo>
                  <a:pt x="309" y="170"/>
                </a:lnTo>
                <a:lnTo>
                  <a:pt x="327" y="161"/>
                </a:lnTo>
                <a:lnTo>
                  <a:pt x="344" y="149"/>
                </a:lnTo>
                <a:lnTo>
                  <a:pt x="360" y="135"/>
                </a:lnTo>
                <a:lnTo>
                  <a:pt x="376" y="119"/>
                </a:lnTo>
                <a:lnTo>
                  <a:pt x="393" y="101"/>
                </a:lnTo>
                <a:lnTo>
                  <a:pt x="411" y="82"/>
                </a:lnTo>
                <a:lnTo>
                  <a:pt x="431" y="64"/>
                </a:lnTo>
                <a:lnTo>
                  <a:pt x="452" y="46"/>
                </a:lnTo>
                <a:lnTo>
                  <a:pt x="475" y="31"/>
                </a:lnTo>
                <a:lnTo>
                  <a:pt x="500" y="19"/>
                </a:lnTo>
                <a:lnTo>
                  <a:pt x="526" y="10"/>
                </a:lnTo>
                <a:lnTo>
                  <a:pt x="552" y="7"/>
                </a:lnTo>
                <a:lnTo>
                  <a:pt x="578" y="8"/>
                </a:lnTo>
                <a:lnTo>
                  <a:pt x="603" y="15"/>
                </a:lnTo>
                <a:lnTo>
                  <a:pt x="627" y="27"/>
                </a:lnTo>
                <a:lnTo>
                  <a:pt x="648" y="43"/>
                </a:lnTo>
                <a:lnTo>
                  <a:pt x="668" y="63"/>
                </a:lnTo>
                <a:lnTo>
                  <a:pt x="684" y="86"/>
                </a:lnTo>
                <a:lnTo>
                  <a:pt x="699" y="110"/>
                </a:lnTo>
                <a:lnTo>
                  <a:pt x="710" y="136"/>
                </a:lnTo>
                <a:lnTo>
                  <a:pt x="721" y="160"/>
                </a:lnTo>
                <a:lnTo>
                  <a:pt x="730" y="184"/>
                </a:lnTo>
                <a:lnTo>
                  <a:pt x="739" y="205"/>
                </a:lnTo>
                <a:lnTo>
                  <a:pt x="748" y="225"/>
                </a:lnTo>
                <a:lnTo>
                  <a:pt x="758" y="242"/>
                </a:lnTo>
                <a:lnTo>
                  <a:pt x="771" y="256"/>
                </a:lnTo>
                <a:lnTo>
                  <a:pt x="785" y="269"/>
                </a:lnTo>
                <a:lnTo>
                  <a:pt x="802" y="281"/>
                </a:lnTo>
                <a:lnTo>
                  <a:pt x="821" y="292"/>
                </a:lnTo>
                <a:lnTo>
                  <a:pt x="841" y="303"/>
                </a:lnTo>
                <a:lnTo>
                  <a:pt x="863" y="315"/>
                </a:lnTo>
                <a:lnTo>
                  <a:pt x="886" y="328"/>
                </a:lnTo>
                <a:lnTo>
                  <a:pt x="907" y="344"/>
                </a:lnTo>
                <a:lnTo>
                  <a:pt x="927" y="361"/>
                </a:lnTo>
                <a:lnTo>
                  <a:pt x="944" y="381"/>
                </a:lnTo>
                <a:lnTo>
                  <a:pt x="958" y="403"/>
                </a:lnTo>
                <a:lnTo>
                  <a:pt x="968" y="426"/>
                </a:lnTo>
                <a:lnTo>
                  <a:pt x="973" y="450"/>
                </a:lnTo>
                <a:lnTo>
                  <a:pt x="974" y="475"/>
                </a:lnTo>
                <a:lnTo>
                  <a:pt x="970" y="500"/>
                </a:lnTo>
                <a:close/>
              </a:path>
            </a:pathLst>
          </a:custGeom>
          <a:gradFill rotWithShape="1">
            <a:gsLst>
              <a:gs pos="0">
                <a:srgbClr val="C4AAE3"/>
              </a:gs>
              <a:gs pos="42000">
                <a:srgbClr val="976ACA"/>
              </a:gs>
              <a:gs pos="100000">
                <a:srgbClr val="624086"/>
              </a:gs>
            </a:gsLst>
            <a:lin ang="2700000" scaled="1"/>
          </a:gradFill>
          <a:ln w="9525">
            <a:solidFill>
              <a:srgbClr val="785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234" name="Финеренон, связанный с рецептором: условный символ"/>
          <p:cNvSpPr/>
          <p:nvPr/>
        </p:nvSpPr>
        <p:spPr>
          <a:xfrm>
            <a:off x="5221224" y="2450592"/>
            <a:ext cx="192024" cy="192024"/>
          </a:xfrm>
          <a:prstGeom prst="ellipse">
            <a:avLst/>
          </a:prstGeom>
          <a:solidFill>
            <a:srgbClr val="00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235" name="Финеренон"/>
          <p:cNvSpPr txBox="1"/>
          <p:nvPr/>
        </p:nvSpPr>
        <p:spPr>
          <a:xfrm>
            <a:off x="4498848" y="1981200"/>
            <a:ext cx="1554480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08793"/>
                </a:solidFill>
                <a:latin typeface="Arial"/>
              </a:defRPr>
            </a:pPr>
            <a:r>
              <a:rPr sz="1700" b="1">
                <a:solidFill>
                  <a:srgbClr val="008793"/>
                </a:solidFill>
                <a:latin typeface="Arial Narrow"/>
                <a:cs typeface="Arial Narrow"/>
              </a:rPr>
              <a:t>Финеренон</a:t>
            </a:r>
          </a:p>
        </p:txBody>
      </p:sp>
      <p:cxnSp>
        <p:nvCxnSpPr>
          <p:cNvPr id="236" name="Подпись связанного препарата"/>
          <p:cNvCxnSpPr/>
          <p:nvPr/>
        </p:nvCxnSpPr>
        <p:spPr>
          <a:xfrm>
            <a:off x="5230368" y="2203704"/>
            <a:ext cx="64008" cy="219456"/>
          </a:xfrm>
          <a:prstGeom prst="line">
            <a:avLst/>
          </a:prstGeom>
          <a:ln w="12700">
            <a:solidFill>
              <a:srgbClr val="0087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Рецептор"/>
          <p:cNvSpPr txBox="1"/>
          <p:nvPr/>
        </p:nvSpPr>
        <p:spPr>
          <a:xfrm>
            <a:off x="4581144" y="2898648"/>
            <a:ext cx="1188720" cy="26517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7950A5"/>
                </a:solidFill>
                <a:latin typeface="Arial"/>
              </a:defRPr>
            </a:pPr>
            <a:r>
              <a:rPr sz="1400" b="1">
                <a:solidFill>
                  <a:srgbClr val="7950A5"/>
                </a:solidFill>
                <a:latin typeface="Arial Narrow"/>
                <a:cs typeface="Arial Narrow"/>
              </a:rPr>
              <a:t>МКР</a:t>
            </a:r>
          </a:p>
        </p:txBody>
      </p:sp>
      <p:cxnSp>
        <p:nvCxnSpPr>
          <p:cNvPr id="238" name="Ослабляемый рецепторный сигнал, не весь синтез РНК"/>
          <p:cNvCxnSpPr/>
          <p:nvPr/>
        </p:nvCxnSpPr>
        <p:spPr>
          <a:xfrm flipH="1">
            <a:off x="4279392" y="2706624"/>
            <a:ext cx="512064" cy="0"/>
          </a:xfrm>
          <a:prstGeom prst="line">
            <a:avLst/>
          </a:prstGeom>
          <a:ln w="16510">
            <a:solidFill>
              <a:srgbClr val="7950A5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Торможение рецепторного сигнала"/>
          <p:cNvCxnSpPr/>
          <p:nvPr/>
        </p:nvCxnSpPr>
        <p:spPr>
          <a:xfrm>
            <a:off x="4626864" y="2560320"/>
            <a:ext cx="0" cy="292608"/>
          </a:xfrm>
          <a:prstGeom prst="line">
            <a:avLst/>
          </a:prstGeom>
          <a:ln w="35560">
            <a:solidFill>
              <a:srgbClr val="0087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Ослабляется сигнал альдостерона и стимуляция транспорта натрия"/>
          <p:cNvSpPr txBox="1"/>
          <p:nvPr/>
        </p:nvSpPr>
        <p:spPr>
          <a:xfrm>
            <a:off x="1847088" y="3264408"/>
            <a:ext cx="3794760" cy="47548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Ослабляется сигнал альдостерона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и стимуляция транспорта натрия</a:t>
            </a:r>
          </a:p>
        </p:txBody>
      </p:sp>
      <p:sp>
        <p:nvSpPr>
          <p:cNvPr id="241" name="Апикальный натриевый канал: верхняя часть"/>
          <p:cNvSpPr/>
          <p:nvPr/>
        </p:nvSpPr>
        <p:spPr>
          <a:xfrm>
            <a:off x="1243584" y="3895344"/>
            <a:ext cx="393192" cy="1920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0E8DAC"/>
              </a:gs>
              <a:gs pos="100000">
                <a:srgbClr val="0E8DAC"/>
              </a:gs>
            </a:gsLst>
            <a:lin ang="5400000" scaled="1"/>
          </a:gradFill>
          <a:ln w="8890">
            <a:solidFill>
              <a:srgbClr val="0E8D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242" name="Апикальный натриевый канал: нижняя часть"/>
          <p:cNvSpPr/>
          <p:nvPr/>
        </p:nvSpPr>
        <p:spPr>
          <a:xfrm rot="10800000">
            <a:off x="1243584" y="4187952"/>
            <a:ext cx="393192" cy="1920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0E8DAC"/>
              </a:gs>
              <a:gs pos="100000">
                <a:srgbClr val="0E8DAC"/>
              </a:gs>
            </a:gsLst>
            <a:lin ang="5400000" scaled="1"/>
          </a:gradFill>
          <a:ln w="8890">
            <a:solidFill>
              <a:srgbClr val="0E8D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243" name="Апикальный калиевый канал: верхняя часть"/>
          <p:cNvSpPr/>
          <p:nvPr/>
        </p:nvSpPr>
        <p:spPr>
          <a:xfrm>
            <a:off x="1243584" y="4599432"/>
            <a:ext cx="393192" cy="1920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C2752A"/>
              </a:gs>
              <a:gs pos="100000">
                <a:srgbClr val="C2752A"/>
              </a:gs>
            </a:gsLst>
            <a:lin ang="5400000" scaled="1"/>
          </a:gradFill>
          <a:ln w="8890">
            <a:solidFill>
              <a:srgbClr val="C27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244" name="Апикальный калиевый канал: нижняя часть"/>
          <p:cNvSpPr/>
          <p:nvPr/>
        </p:nvSpPr>
        <p:spPr>
          <a:xfrm rot="10800000">
            <a:off x="1243584" y="4892040"/>
            <a:ext cx="393192" cy="1920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C2752A"/>
              </a:gs>
              <a:gs pos="100000">
                <a:srgbClr val="C2752A"/>
              </a:gs>
            </a:gsLst>
            <a:lin ang="5400000" scaled="1"/>
          </a:gradFill>
          <a:ln w="8890">
            <a:solidFill>
              <a:srgbClr val="C27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245" name="Натрий-калиевый насос в базолатеральной мембране"/>
          <p:cNvSpPr/>
          <p:nvPr/>
        </p:nvSpPr>
        <p:spPr>
          <a:xfrm>
            <a:off x="5605272" y="3867912"/>
            <a:ext cx="502920" cy="125272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410" y="0"/>
                </a:moveTo>
                <a:cubicBezTo>
                  <a:pt x="770" y="-8"/>
                  <a:pt x="910" y="95"/>
                  <a:pt x="850" y="228"/>
                </a:cubicBezTo>
                <a:cubicBezTo>
                  <a:pt x="785" y="356"/>
                  <a:pt x="967" y="384"/>
                  <a:pt x="965" y="515"/>
                </a:cubicBezTo>
                <a:cubicBezTo>
                  <a:pt x="970" y="677"/>
                  <a:pt x="800" y="733"/>
                  <a:pt x="797" y="900"/>
                </a:cubicBezTo>
                <a:cubicBezTo>
                  <a:pt x="735" y="1020"/>
                  <a:pt x="448" y="1030"/>
                  <a:pt x="312" y="937"/>
                </a:cubicBezTo>
                <a:cubicBezTo>
                  <a:pt x="174" y="845"/>
                  <a:pt x="280" y="722"/>
                  <a:pt x="223" y="647"/>
                </a:cubicBezTo>
                <a:cubicBezTo>
                  <a:pt x="9" y="571"/>
                  <a:pt x="-15" y="405"/>
                  <a:pt x="169" y="306"/>
                </a:cubicBezTo>
                <a:cubicBezTo>
                  <a:pt x="298" y="230"/>
                  <a:pt x="202" y="111"/>
                  <a:pt x="410" y="0"/>
                </a:cubicBezTo>
                <a:close/>
              </a:path>
            </a:pathLst>
          </a:custGeom>
          <a:gradFill rotWithShape="1">
            <a:gsLst>
              <a:gs pos="0">
                <a:srgbClr val="E7DEEE"/>
              </a:gs>
              <a:gs pos="37000">
                <a:srgbClr val="BEAFCF"/>
              </a:gs>
              <a:gs pos="100000">
                <a:srgbClr val="9885AC"/>
              </a:gs>
            </a:gsLst>
            <a:lin ang="0" scaled="1"/>
          </a:gradFill>
          <a:ln w="12700">
            <a:solidFill>
              <a:srgbClr val="8472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246" name="Натрий"/>
          <p:cNvSpPr txBox="1"/>
          <p:nvPr/>
        </p:nvSpPr>
        <p:spPr>
          <a:xfrm>
            <a:off x="512064" y="3276600"/>
            <a:ext cx="91440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88FAA"/>
                </a:solidFill>
                <a:latin typeface="Arial"/>
              </a:defRPr>
            </a:pPr>
            <a:r>
              <a:rPr sz="1400" b="1">
                <a:solidFill>
                  <a:srgbClr val="088FAA"/>
                </a:solidFill>
                <a:latin typeface="Arial Narrow"/>
                <a:cs typeface="Arial Narrow"/>
              </a:rPr>
              <a:t>Меньше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88FAA"/>
                </a:solidFill>
                <a:latin typeface="Arial"/>
              </a:defRPr>
            </a:pPr>
            <a:r>
              <a:rPr sz="1400" b="1">
                <a:solidFill>
                  <a:srgbClr val="088FAA"/>
                </a:solidFill>
                <a:latin typeface="Arial Narrow"/>
                <a:cs typeface="Arial Narrow"/>
              </a:rPr>
              <a:t>натрия</a:t>
            </a:r>
          </a:p>
        </p:txBody>
      </p:sp>
      <p:sp>
        <p:nvSpPr>
          <p:cNvPr id="247" name="Натриевый канал"/>
          <p:cNvSpPr txBox="1"/>
          <p:nvPr/>
        </p:nvSpPr>
        <p:spPr>
          <a:xfrm>
            <a:off x="1901952" y="3803904"/>
            <a:ext cx="2322576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88FAA"/>
                </a:solidFill>
                <a:latin typeface="Arial"/>
              </a:defRPr>
            </a:pPr>
            <a:r>
              <a:rPr sz="1400" b="1">
                <a:solidFill>
                  <a:srgbClr val="088FAA"/>
                </a:solidFill>
                <a:latin typeface="Arial Narrow"/>
                <a:cs typeface="Arial Narrow"/>
              </a:rPr>
              <a:t>Натриевый канал</a:t>
            </a:r>
          </a:p>
        </p:txBody>
      </p:sp>
      <p:sp>
        <p:nvSpPr>
          <p:cNvPr id="248" name="Далее в кровь"/>
          <p:cNvSpPr txBox="1"/>
          <p:nvPr/>
        </p:nvSpPr>
        <p:spPr>
          <a:xfrm>
            <a:off x="6309360" y="3685032"/>
            <a:ext cx="950976" cy="43891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88FAA"/>
                </a:solidFill>
                <a:latin typeface="Arial"/>
              </a:defRPr>
            </a:pPr>
            <a:r>
              <a:rPr sz="1400" b="1">
                <a:solidFill>
                  <a:srgbClr val="088FAA"/>
                </a:solidFill>
                <a:latin typeface="Arial Narrow"/>
                <a:cs typeface="Arial Narrow"/>
              </a:rPr>
              <a:t>Далее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88FAA"/>
                </a:solidFill>
                <a:latin typeface="Arial"/>
              </a:defRPr>
            </a:pPr>
            <a:r>
              <a:rPr sz="1400" b="1">
                <a:solidFill>
                  <a:srgbClr val="088FAA"/>
                </a:solidFill>
                <a:latin typeface="Arial Narrow"/>
                <a:cs typeface="Arial Narrow"/>
              </a:rPr>
              <a:t>в кровь</a:t>
            </a:r>
          </a:p>
        </p:txBody>
      </p:sp>
      <p:cxnSp>
        <p:nvCxnSpPr>
          <p:cNvPr id="249" name="Натрий: просвет → канал → цитоплазма → насос"/>
          <p:cNvCxnSpPr/>
          <p:nvPr/>
        </p:nvCxnSpPr>
        <p:spPr>
          <a:xfrm>
            <a:off x="768096" y="4142232"/>
            <a:ext cx="4837176" cy="0"/>
          </a:xfrm>
          <a:prstGeom prst="line">
            <a:avLst/>
          </a:prstGeom>
          <a:ln w="15875">
            <a:solidFill>
              <a:srgbClr val="088FAA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Натрий: насос → интерстиций; далее в кровь"/>
          <p:cNvCxnSpPr/>
          <p:nvPr/>
        </p:nvCxnSpPr>
        <p:spPr>
          <a:xfrm>
            <a:off x="6062472" y="4142232"/>
            <a:ext cx="978408" cy="0"/>
          </a:xfrm>
          <a:prstGeom prst="line">
            <a:avLst/>
          </a:prstGeom>
          <a:ln w="27940">
            <a:solidFill>
              <a:srgbClr val="088FAA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Калиевый канал"/>
          <p:cNvSpPr txBox="1"/>
          <p:nvPr/>
        </p:nvSpPr>
        <p:spPr>
          <a:xfrm>
            <a:off x="1901952" y="4517136"/>
            <a:ext cx="2322576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C77422"/>
                </a:solidFill>
                <a:latin typeface="Arial"/>
              </a:defRPr>
            </a:pPr>
            <a:r>
              <a:rPr sz="1400" b="1">
                <a:solidFill>
                  <a:srgbClr val="C77422"/>
                </a:solidFill>
                <a:latin typeface="Arial Narrow"/>
                <a:cs typeface="Arial Narrow"/>
              </a:rPr>
              <a:t>Калиевый канал</a:t>
            </a:r>
          </a:p>
        </p:txBody>
      </p:sp>
      <p:sp>
        <p:nvSpPr>
          <p:cNvPr id="252" name="Калий"/>
          <p:cNvSpPr txBox="1"/>
          <p:nvPr/>
        </p:nvSpPr>
        <p:spPr>
          <a:xfrm>
            <a:off x="6291072" y="4992624"/>
            <a:ext cx="96012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C77422"/>
                </a:solidFill>
                <a:latin typeface="Arial"/>
              </a:defRPr>
            </a:pPr>
            <a:r>
              <a:rPr sz="1400" b="1">
                <a:solidFill>
                  <a:srgbClr val="C77422"/>
                </a:solidFill>
                <a:latin typeface="Arial Narrow"/>
                <a:cs typeface="Arial Narrow"/>
              </a:rPr>
              <a:t>Калий</a:t>
            </a:r>
          </a:p>
        </p:txBody>
      </p:sp>
      <p:sp>
        <p:nvSpPr>
          <p:cNvPr id="253" name="В просвет"/>
          <p:cNvSpPr txBox="1"/>
          <p:nvPr/>
        </p:nvSpPr>
        <p:spPr>
          <a:xfrm>
            <a:off x="475488" y="5105400"/>
            <a:ext cx="914400" cy="660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77422"/>
                </a:solidFill>
                <a:latin typeface="Arial"/>
              </a:defRPr>
            </a:pPr>
            <a:r>
              <a:rPr sz="1400" b="1">
                <a:solidFill>
                  <a:srgbClr val="C77422"/>
                </a:solidFill>
                <a:latin typeface="Arial Narrow"/>
                <a:cs typeface="Arial Narrow"/>
              </a:rPr>
              <a:t>Меньше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77422"/>
                </a:solidFill>
                <a:latin typeface="Arial"/>
              </a:defRPr>
            </a:pPr>
            <a:r>
              <a:rPr sz="1400" b="1">
                <a:solidFill>
                  <a:srgbClr val="C77422"/>
                </a:solidFill>
                <a:latin typeface="Arial Narrow"/>
                <a:cs typeface="Arial Narrow"/>
              </a:rPr>
              <a:t>калия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77422"/>
                </a:solidFill>
                <a:latin typeface="Arial"/>
              </a:defRPr>
            </a:pPr>
            <a:r>
              <a:rPr sz="1400" b="1">
                <a:solidFill>
                  <a:srgbClr val="C77422"/>
                </a:solidFill>
                <a:latin typeface="Arial Narrow"/>
                <a:cs typeface="Arial Narrow"/>
              </a:rPr>
              <a:t>в просвет</a:t>
            </a:r>
          </a:p>
        </p:txBody>
      </p:sp>
      <p:cxnSp>
        <p:nvCxnSpPr>
          <p:cNvPr id="254" name="Калий: интерстиций → насос"/>
          <p:cNvCxnSpPr/>
          <p:nvPr/>
        </p:nvCxnSpPr>
        <p:spPr>
          <a:xfrm flipH="1">
            <a:off x="6080760" y="4846320"/>
            <a:ext cx="960120" cy="0"/>
          </a:xfrm>
          <a:prstGeom prst="line">
            <a:avLst/>
          </a:prstGeom>
          <a:ln w="27940">
            <a:solidFill>
              <a:srgbClr val="C7742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Калий: цитоплазма → отдельный канал → просвет"/>
          <p:cNvCxnSpPr/>
          <p:nvPr/>
        </p:nvCxnSpPr>
        <p:spPr>
          <a:xfrm flipH="1">
            <a:off x="768096" y="4846320"/>
            <a:ext cx="4882896" cy="0"/>
          </a:xfrm>
          <a:prstGeom prst="line">
            <a:avLst/>
          </a:prstGeom>
          <a:ln w="15875">
            <a:solidFill>
              <a:srgbClr val="C77422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Натрий-калиевый насос"/>
          <p:cNvSpPr txBox="1"/>
          <p:nvPr/>
        </p:nvSpPr>
        <p:spPr>
          <a:xfrm>
            <a:off x="4507992" y="5367528"/>
            <a:ext cx="2825496" cy="2926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Натрий-калиевый насос</a:t>
            </a:r>
          </a:p>
        </p:txBody>
      </p:sp>
      <p:sp>
        <p:nvSpPr>
          <p:cNvPr id="257" name="Меньше натрия всасывается через канал: слабее электрическая движущая сила для секреции калия."/>
          <p:cNvSpPr txBox="1"/>
          <p:nvPr/>
        </p:nvSpPr>
        <p:spPr>
          <a:xfrm>
            <a:off x="502920" y="5816600"/>
            <a:ext cx="7013448" cy="521207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Через канал всасывается меньше натрия, поэтому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слабее электрическая движущая сила для секреции калия.</a:t>
            </a:r>
          </a:p>
        </p:txBody>
      </p:sp>
      <p:sp>
        <p:nvSpPr>
          <p:cNvPr id="258" name="Риск выше"/>
          <p:cNvSpPr txBox="1"/>
          <p:nvPr/>
        </p:nvSpPr>
        <p:spPr>
          <a:xfrm>
            <a:off x="7696200" y="1320800"/>
            <a:ext cx="4038600" cy="27372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7030A0"/>
                </a:solidFill>
                <a:latin typeface="Arial"/>
              </a:defRPr>
            </a:pPr>
            <a:r>
              <a:rPr sz="1800" b="1">
                <a:solidFill>
                  <a:srgbClr val="7030A0"/>
                </a:solidFill>
                <a:latin typeface="Arial Narrow"/>
                <a:cs typeface="Arial Narrow"/>
              </a:rPr>
              <a:t>Факторы риска гиперкалиемии</a:t>
            </a:r>
          </a:p>
        </p:txBody>
      </p:sp>
      <p:sp>
        <p:nvSpPr>
          <p:cNvPr id="259" name="Более высокий исходный калий"/>
          <p:cNvSpPr txBox="1"/>
          <p:nvPr/>
        </p:nvSpPr>
        <p:spPr>
          <a:xfrm>
            <a:off x="7696200" y="1645328"/>
            <a:ext cx="4038600" cy="1349816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 marL="230400" indent="-23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770" b="0">
                <a:solidFill>
                  <a:srgbClr val="000000"/>
                </a:solidFill>
                <a:latin typeface="Arial"/>
              </a:defRP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Более высокий исходный калий</a:t>
            </a:r>
          </a:p>
          <a:p>
            <a:pPr algn="l" marL="230400" indent="-23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770" b="0">
                <a:solidFill>
                  <a:srgbClr val="000000"/>
                </a:solidFill>
                <a:latin typeface="Arial"/>
              </a:defRP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Сниженная функция почек</a:t>
            </a:r>
          </a:p>
          <a:p>
            <a:pPr algn="l" marL="230400" indent="-23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770" b="0">
                <a:solidFill>
                  <a:srgbClr val="000000"/>
                </a:solidFill>
                <a:latin typeface="Arial"/>
              </a:defRP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Более высокая альбуминурия</a:t>
            </a:r>
          </a:p>
          <a:p>
            <a:pPr algn="l" marL="230400" indent="-23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770" b="0">
                <a:solidFill>
                  <a:srgbClr val="000000"/>
                </a:solidFill>
                <a:latin typeface="Arial"/>
              </a:defRP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Женский пол</a:t>
            </a:r>
          </a:p>
          <a:p>
            <a:pPr algn="l" marL="230400" indent="-23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770" b="0">
                <a:solidFill>
                  <a:srgbClr val="000000"/>
                </a:solidFill>
                <a:latin typeface="Arial"/>
              </a:defRP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Приём β-адреноблокаторов</a:t>
            </a:r>
          </a:p>
          <a:p>
            <a:pPr algn="l" marL="230400" indent="-230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770" b="0">
                <a:solidFill>
                  <a:srgbClr val="000000"/>
                </a:solidFill>
                <a:latin typeface="Arial"/>
              </a:defRPr>
              <a:buFont typeface="Arial"/>
              <a:buChar char="•"/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Более молодой возраст</a:t>
            </a:r>
          </a:p>
        </p:txBody>
      </p:sp>
      <p:sp>
        <p:nvSpPr>
          <p:cNvPr id="263" name="Связь выявлена в FIDELIO-DKD."/>
          <p:cNvSpPr txBox="1"/>
          <p:nvPr/>
        </p:nvSpPr>
        <p:spPr>
          <a:xfrm>
            <a:off x="7696200" y="3096745"/>
            <a:ext cx="4038600" cy="1377408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30" b="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Факторы выявлены в FIDELIO-DKD. На фоне диуретиков и ингибиторов НГЛТ2 риск был ниже (наблюдение, не рандомизированное сравнение).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30" b="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В CONFIDENCE добавление эмпаглифлозина статистически значимо не снизило риск гиперкалиемии (p=0,85): калий контролируют так же, как при монотерапии финереноном.</a:t>
            </a:r>
          </a:p>
        </p:txBody>
      </p:sp>
      <p:sp>
        <p:nvSpPr>
          <p:cNvPr id="264" name="Острое заболевание, обезвоживание или лекарства, повышающие калий либо концентрацию финеренона"/>
          <p:cNvSpPr txBox="1"/>
          <p:nvPr/>
        </p:nvSpPr>
        <p:spPr>
          <a:xfrm>
            <a:off x="7696200" y="4575754"/>
            <a:ext cx="4038600" cy="6462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700" b="0">
                <a:solidFill>
                  <a:srgbClr val="000000"/>
                </a:solidFill>
                <a:latin typeface="Arial"/>
              </a:defRPr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Также повышают риск: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острое заболевание, обезвоживание, лекарства, повышающие калий или концентрацию финеренона (слайды 30 и 31).</a:t>
            </a:r>
          </a:p>
        </p:txBody>
      </p:sp>
      <p:sp>
        <p:nvSpPr>
          <p:cNvPr id="265" name="Калий выше нормы: гиперкалиемия. Нужен контроль калия и функции почек до начала и во время лечения."/>
          <p:cNvSpPr txBox="1"/>
          <p:nvPr/>
        </p:nvSpPr>
        <p:spPr>
          <a:xfrm>
            <a:off x="7696200" y="5323574"/>
            <a:ext cx="4038600" cy="6462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Калий выше нормы называют гиперкалиемией. Нужен контроль калия и функции почек до начала и во время лечения.</a:t>
            </a:r>
          </a:p>
        </p:txBody>
      </p:sp>
      <p:sp>
        <p:nvSpPr>
          <p:cNvPr id="266" name="Альдостерон_точка"/>
          <p:cNvSpPr/>
          <p:nvPr/>
        </p:nvSpPr>
        <p:spPr>
          <a:xfrm>
            <a:off x="6604000" y="2387600"/>
            <a:ext cx="127000" cy="127000"/>
          </a:xfrm>
          <a:prstGeom prst="ellipse">
            <a:avLst/>
          </a:prstGeom>
          <a:solidFill>
            <a:srgbClr val="C79849"/>
          </a:solidFill>
          <a:ln>
            <a:noFill/>
          </a:ln>
          <a:effectLst/>
        </p:spPr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267" name="Метка_альдостерон"/>
          <p:cNvSpPr txBox="1"/>
          <p:nvPr/>
        </p:nvSpPr>
        <p:spPr>
          <a:xfrm>
            <a:off x="6172200" y="2108200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C79849"/>
                </a:solidFill>
                <a:latin typeface="Arial Narrow"/>
                <a:cs typeface="Arial Narrow"/>
              </a:rPr>
              <a:t>Альдостерон</a:t>
            </a:r>
          </a:p>
        </p:txBody>
      </p:sp>
      <p:cxnSp>
        <p:nvCxnSpPr>
          <p:cNvPr id="268" name="Путь_альдостерона"/>
          <p:cNvCxnSpPr/>
          <p:nvPr/>
        </p:nvCxnSpPr>
        <p:spPr>
          <a:xfrm flipH="1">
            <a:off x="5549900" y="2451100"/>
            <a:ext cx="1028700" cy="25400"/>
          </a:xfrm>
          <a:prstGeom prst="line">
            <a:avLst/>
          </a:prstGeom>
          <a:ln w="15875">
            <a:solidFill>
              <a:srgbClr val="C79849"/>
            </a:solidFill>
          </a:ln>
        </p:spPr>
      </p:cxnSp>
      <p:cxnSp>
        <p:nvCxnSpPr>
          <p:cNvPr id="269" name="Блок_альдостерона"/>
          <p:cNvCxnSpPr/>
          <p:nvPr/>
        </p:nvCxnSpPr>
        <p:spPr>
          <a:xfrm>
            <a:off x="5549900" y="2362200"/>
            <a:ext cx="0" cy="228600"/>
          </a:xfrm>
          <a:prstGeom prst="line">
            <a:avLst/>
          </a:prstGeom>
          <a:ln w="31750">
            <a:solidFill>
              <a:srgbClr val="B5323C"/>
            </a:solidFill>
          </a:ln>
        </p:spPr>
      </p:cxnSp>
      <p:sp>
        <p:nvSpPr>
          <p:cNvPr id="270" name="Источники"/>
          <p:cNvSpPr txBox="1"/>
          <p:nvPr/>
        </p:nvSpPr>
        <p:spPr>
          <a:xfrm>
            <a:off x="457200" y="6383020"/>
            <a:ext cx="10795000" cy="3987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НГЛТ2: натрий-глюкозный котранспортёр 2 типа; МКР: минералокортикоидный рецептор.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Agarwal R, et al. J Am Soc Nephrol. 2022;33:225–237. Agarwal R, et al. N Engl J Med. 2025;393:533–543. Sørensen MV, et al. JCI Insight. 2019;4:e126910. Czogalla J, et al. Pflügers Arch. 2016;468:849–858. Kerendia (finerenone). Summary of Product Characteristics. EMA. Agarwal R, et al. J Am Coll Cardiol. 2026;87:772–784.</a:t>
            </a:r>
          </a:p>
        </p:txBody>
      </p:sp>
      <p:pic>
        <p:nvPicPr>
          <p:cNvPr id="271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Сочетания с финереноном: что противопоказано,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что не рекомендуется и когда нужен контроль калия</a:t>
            </a:r>
          </a:p>
        </p:txBody>
      </p:sp>
      <p:sp>
        <p:nvSpPr>
          <p:cNvPr id="21" name="Источники"/>
          <p:cNvSpPr txBox="1"/>
          <p:nvPr/>
        </p:nvSpPr>
        <p:spPr>
          <a:xfrm>
            <a:off x="457200" y="6383020"/>
            <a:ext cx="10795000" cy="3987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АПФ: ангиотензинпревращающий фермент; БРА: блокатор рецепторов ангиотензина II; МКР: минералокортикоидный рецептор; НПВП: нестероидные противовоспалительные препараты.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KDIGO 2024 Clinical Practice Guideline for CKD. Kidney Int. 2024;105(4S):S117–S314. Kerendia (finerenone). Summary of Product Characteristics. EMA.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Финеренон-Орвилле. Инструкция по медицинскому применению.</a:t>
            </a:r>
          </a:p>
        </p:txBody>
      </p:sp>
      <p:pic>
        <p:nvPicPr>
          <p:cNvPr id="22" name="Логотип Орвилле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23" name="Светофор_полоса_1"/>
          <p:cNvSpPr/>
          <p:nvPr/>
        </p:nvSpPr>
        <p:spPr>
          <a:xfrm>
            <a:off x="457200" y="1016000"/>
            <a:ext cx="3657600" cy="406400"/>
          </a:xfrm>
          <a:prstGeom prst="roundRect">
            <a:avLst>
              <a:gd name="adj" fmla="val 25000"/>
            </a:avLst>
          </a:prstGeom>
          <a:solidFill>
            <a:srgbClr val="B5323C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Противопоказано</a:t>
            </a:r>
          </a:p>
        </p:txBody>
      </p:sp>
      <p:sp>
        <p:nvSpPr>
          <p:cNvPr id="24" name="Светофор_фон_1"/>
          <p:cNvSpPr/>
          <p:nvPr/>
        </p:nvSpPr>
        <p:spPr>
          <a:xfrm>
            <a:off x="457200" y="1473200"/>
            <a:ext cx="3657600" cy="3258433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5" name="Светофор_текст_1"/>
          <p:cNvSpPr txBox="1"/>
          <p:nvPr/>
        </p:nvSpPr>
        <p:spPr>
          <a:xfrm>
            <a:off x="609600" y="1574800"/>
            <a:ext cx="3352800" cy="30806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Сильные ингибиторы CYP3A4: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кларитромицин, кетоконазол, итраконазол, ритонавир</a:t>
            </a:r>
          </a:p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Почему: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концентрация финеренона выше, риск гиперкалиемии повышается.</a:t>
            </a:r>
          </a:p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Что делает врач: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не назначает вместе с финереноном.</a:t>
            </a:r>
          </a:p>
        </p:txBody>
      </p:sp>
      <p:sp>
        <p:nvSpPr>
          <p:cNvPr id="26" name="Светофор_полоса_2"/>
          <p:cNvSpPr/>
          <p:nvPr/>
        </p:nvSpPr>
        <p:spPr>
          <a:xfrm>
            <a:off x="4267200" y="1016000"/>
            <a:ext cx="3657600" cy="4064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Не рекомендуется</a:t>
            </a:r>
          </a:p>
        </p:txBody>
      </p:sp>
      <p:sp>
        <p:nvSpPr>
          <p:cNvPr id="27" name="Светофор_фон_2"/>
          <p:cNvSpPr/>
          <p:nvPr/>
        </p:nvSpPr>
        <p:spPr>
          <a:xfrm>
            <a:off x="4267200" y="1473200"/>
            <a:ext cx="3657600" cy="3258433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8" name="Светофор_текст_2"/>
          <p:cNvSpPr txBox="1"/>
          <p:nvPr/>
        </p:nvSpPr>
        <p:spPr>
          <a:xfrm>
            <a:off x="4419600" y="1574800"/>
            <a:ext cx="3352800" cy="30806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Другие антагонисты МКР: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спиронолактон, эплеренон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Калийсберегающие диуретики: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амилорид, триамтерен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Сильные и умеренные индукторы CYP3A4: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рифампицин, карбамазепин, зверобой, эфавиренз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Грейпфрут и грейпфрутовый сок: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исключают на время лечения</a:t>
            </a:r>
          </a:p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Что делает врач: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избегает этих сочетаний.</a:t>
            </a:r>
          </a:p>
        </p:txBody>
      </p:sp>
      <p:sp>
        <p:nvSpPr>
          <p:cNvPr id="29" name="Светофор_полоса_3"/>
          <p:cNvSpPr/>
          <p:nvPr/>
        </p:nvSpPr>
        <p:spPr>
          <a:xfrm>
            <a:off x="8077200" y="1016000"/>
            <a:ext cx="3657600" cy="406400"/>
          </a:xfrm>
          <a:prstGeom prst="roundRect">
            <a:avLst>
              <a:gd name="adj" fmla="val 25000"/>
            </a:avLst>
          </a:prstGeom>
          <a:solidFill>
            <a:srgbClr val="B8860B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С контролем калия</a:t>
            </a:r>
          </a:p>
        </p:txBody>
      </p:sp>
      <p:sp>
        <p:nvSpPr>
          <p:cNvPr id="30" name="Светофор_фон_3"/>
          <p:cNvSpPr/>
          <p:nvPr/>
        </p:nvSpPr>
        <p:spPr>
          <a:xfrm>
            <a:off x="8077200" y="1473200"/>
            <a:ext cx="3657600" cy="3258433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31" name="Светофор_текст_3"/>
          <p:cNvSpPr txBox="1"/>
          <p:nvPr/>
        </p:nvSpPr>
        <p:spPr>
          <a:xfrm>
            <a:off x="8229600" y="1574800"/>
            <a:ext cx="3352800" cy="30806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Препараты калия и калийсодержащие заменители соли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Триметоприм, в том числе в составе ко-тримоксазола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НПВП: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ибупрофен, диклофенак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Умеренные и слабые ингибиторы CYP3A4: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эритромицин, верапамил, флувоксамин</a:t>
            </a:r>
          </a:p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Что делает врач: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оценивает необходимость сочетания, контролирует калий, а при приёме НПВП также функцию почек.</a:t>
            </a:r>
          </a:p>
        </p:txBody>
      </p:sp>
      <p:sp>
        <p:nvSpPr>
          <p:cNvPr id="32" name="Светофор_вывод"/>
          <p:cNvSpPr txBox="1"/>
          <p:nvPr/>
        </p:nvSpPr>
        <p:spPr>
          <a:xfrm>
            <a:off x="457200" y="4934833"/>
            <a:ext cx="112776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Фоновая терапия: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по KDIGO, если есть показания, финеренон добавляют к ингибитору АПФ или БРА в максимально переносимой дозе. Калий и функцию почек продолжают контролировать.</a:t>
            </a:r>
          </a:p>
        </p:txBody>
      </p:sp>
      <p:sp>
        <p:nvSpPr>
          <p:cNvPr id="33" name="Значок_1"/>
          <p:cNvSpPr/>
          <p:nvPr/>
        </p:nvSpPr>
        <p:spPr>
          <a:xfrm>
            <a:off x="3683000" y="1066800"/>
            <a:ext cx="304800" cy="304800"/>
          </a:xfrm>
          <a:prstGeom prst="noSmoking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Значок_2"/>
          <p:cNvSpPr/>
          <p:nvPr/>
        </p:nvSpPr>
        <p:spPr>
          <a:xfrm>
            <a:off x="7480300" y="1054100"/>
            <a:ext cx="342900" cy="317500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76200" bIns="0" wrap="none"/>
          <a:lstStyle/>
          <a:p>
            <a:pPr algn="ctr"/>
            <a:r>
              <a:rPr sz="1400" b="1">
                <a:solidFill>
                  <a:srgbClr val="E97132"/>
                </a:solidFill>
                <a:latin typeface="Arial Narrow"/>
                <a:cs typeface="Arial Narrow"/>
              </a:rPr>
              <a:t>!</a:t>
            </a:r>
          </a:p>
        </p:txBody>
      </p:sp>
      <p:sp>
        <p:nvSpPr>
          <p:cNvPr id="35" name="Значок_3"/>
          <p:cNvSpPr/>
          <p:nvPr/>
        </p:nvSpPr>
        <p:spPr>
          <a:xfrm>
            <a:off x="11303000" y="106680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lIns="0" rIns="0" tIns="0" bIns="0" wrap="none"/>
          <a:lstStyle/>
          <a:p>
            <a:pPr algn="ctr"/>
            <a:r>
              <a:rPr sz="1300" b="1">
                <a:solidFill>
                  <a:srgbClr val="B8860B"/>
                </a:solidFill>
                <a:latin typeface="Arial Narrow"/>
                <a:cs typeface="Arial Narrow"/>
              </a:rPr>
              <a:t>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0" name="CYP3A4_фермент"/>
          <p:cNvSpPr/>
          <p:nvPr/>
        </p:nvSpPr>
        <p:spPr>
          <a:xfrm>
            <a:off x="4792915" y="1199441"/>
            <a:ext cx="2622235" cy="982787"/>
          </a:xfrm>
          <a:prstGeom prst="roundRect">
            <a:avLst>
              <a:gd name="adj" fmla="val 18091"/>
            </a:avLst>
          </a:prstGeom>
          <a:solidFill>
            <a:srgbClr val="E8E8E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2" name="Карточка_Strong_heading"/>
          <p:cNvSpPr/>
          <p:nvPr/>
        </p:nvSpPr>
        <p:spPr>
          <a:xfrm>
            <a:off x="457200" y="4114800"/>
            <a:ext cx="3657600" cy="2088088"/>
          </a:xfrm>
          <a:prstGeom prst="roundRect">
            <a:avLst>
              <a:gd name="adj" fmla="val 465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4" name="Карточка_Moderate_weak_heading"/>
          <p:cNvSpPr/>
          <p:nvPr/>
        </p:nvSpPr>
        <p:spPr>
          <a:xfrm>
            <a:off x="4267200" y="4114800"/>
            <a:ext cx="3657600" cy="2088088"/>
          </a:xfrm>
          <a:prstGeom prst="roundRect">
            <a:avLst>
              <a:gd name="adj" fmla="val 465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6" name="Карточка_Inducer_heading"/>
          <p:cNvSpPr/>
          <p:nvPr/>
        </p:nvSpPr>
        <p:spPr>
          <a:xfrm>
            <a:off x="8077200" y="4114800"/>
            <a:ext cx="3657600" cy="2088088"/>
          </a:xfrm>
          <a:prstGeom prst="roundRect">
            <a:avLst>
              <a:gd name="adj" fmla="val 465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anchor="t" tIns="0" bIns="0" lIns="0" r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Ингибиторы CYP3A4 повышают концентрацию финеренона,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а индукторы снижают её</a:t>
            </a:r>
          </a:p>
        </p:txBody>
      </p:sp>
      <p:sp>
        <p:nvSpPr>
          <p:cNvPr id="27" name="Enzyme_label"/>
          <p:cNvSpPr txBox="1"/>
          <p:nvPr/>
        </p:nvSpPr>
        <p:spPr>
          <a:xfrm>
            <a:off x="4873752" y="1370584"/>
            <a:ext cx="2395728" cy="365760"/>
          </a:xfrm>
          <a:prstGeom prst="rect">
            <a:avLst/>
          </a:prstGeom>
          <a:noFill/>
          <a:effectLst/>
        </p:spPr>
        <p:txBody>
          <a:bodyPr wrap="square" anchor="t" tIns="0" bIns="0" lIns="0" rIns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ru-RU">
                <a:solidFill>
                  <a:srgbClr val="404040"/>
                </a:solidFill>
                <a:latin typeface="Arial Narrow"/>
                <a:cs typeface="Arial Narrow"/>
              </a:rPr>
              <a:t>CYP3A4</a:t>
            </a:r>
          </a:p>
        </p:txBody>
      </p:sp>
      <p:sp>
        <p:nvSpPr>
          <p:cNvPr id="28" name="Enzyme_definition"/>
          <p:cNvSpPr txBox="1"/>
          <p:nvPr/>
        </p:nvSpPr>
        <p:spPr>
          <a:xfrm>
            <a:off x="4910328" y="1745488"/>
            <a:ext cx="2340864" cy="420624"/>
          </a:xfrm>
          <a:prstGeom prst="rect">
            <a:avLst/>
          </a:prstGeom>
          <a:noFill/>
          <a:effectLst/>
        </p:spPr>
        <p:txBody>
          <a:bodyPr wrap="square" anchor="t" tIns="0" bIns="0" lIns="0" rIns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Фермент системы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цитохрома P450</a:t>
            </a:r>
          </a:p>
        </p:txBody>
      </p:sp>
      <p:sp>
        <p:nvSpPr>
          <p:cNvPr id="29" name="Inhibition_label"/>
          <p:cNvSpPr txBox="1"/>
          <p:nvPr/>
        </p:nvSpPr>
        <p:spPr>
          <a:xfrm>
            <a:off x="594360" y="1334008"/>
            <a:ext cx="3054096" cy="338328"/>
          </a:xfrm>
          <a:prstGeom prst="rect">
            <a:avLst/>
          </a:prstGeom>
          <a:noFill/>
          <a:effectLst/>
        </p:spPr>
        <p:txBody>
          <a:bodyPr wrap="square" anchor="t" tIns="0" bIns="0" lIns="0" r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ru-RU">
                <a:solidFill>
                  <a:srgbClr val="B5323C"/>
                </a:solidFill>
                <a:latin typeface="Arial Narrow"/>
                <a:cs typeface="Arial Narrow"/>
              </a:rPr>
              <a:t>Ингибиторы</a:t>
            </a:r>
          </a:p>
        </p:txBody>
      </p:sp>
      <p:cxnSp>
        <p:nvCxnSpPr>
          <p:cNvPr id="30" name="Inhibition_link"/>
          <p:cNvCxnSpPr/>
          <p:nvPr/>
        </p:nvCxnSpPr>
        <p:spPr>
          <a:xfrm>
            <a:off x="2834640" y="1562608"/>
            <a:ext cx="1801368" cy="0"/>
          </a:xfrm>
          <a:prstGeom prst="line">
            <a:avLst/>
          </a:prstGeom>
          <a:ln w="27305">
            <a:solidFill>
              <a:srgbClr val="B532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Inhibition_terminal"/>
          <p:cNvCxnSpPr/>
          <p:nvPr/>
        </p:nvCxnSpPr>
        <p:spPr>
          <a:xfrm>
            <a:off x="4636008" y="1407160"/>
            <a:ext cx="0" cy="310896"/>
          </a:xfrm>
          <a:prstGeom prst="line">
            <a:avLst/>
          </a:prstGeom>
          <a:ln w="27305">
            <a:solidFill>
              <a:srgbClr val="B532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Inhibition_metabolism"/>
          <p:cNvSpPr txBox="1"/>
          <p:nvPr/>
        </p:nvSpPr>
        <p:spPr>
          <a:xfrm>
            <a:off x="594360" y="1827783"/>
            <a:ext cx="3611880" cy="292608"/>
          </a:xfrm>
          <a:prstGeom prst="rect">
            <a:avLst/>
          </a:prstGeom>
          <a:noFill/>
          <a:effectLst/>
        </p:spPr>
        <p:txBody>
          <a:bodyPr wrap="square" anchor="t" tIns="0" bIns="0" lIns="0" r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000000"/>
                </a:solidFill>
                <a:latin typeface="Arial Narrow"/>
                <a:cs typeface="Arial Narrow"/>
              </a:rPr>
              <a:t>Метаболизм замедляется</a:t>
            </a:r>
          </a:p>
        </p:txBody>
      </p:sp>
      <p:sp>
        <p:nvSpPr>
          <p:cNvPr id="33" name="Concentration_increase"/>
          <p:cNvSpPr/>
          <p:nvPr/>
        </p:nvSpPr>
        <p:spPr>
          <a:xfrm>
            <a:off x="594360" y="2239264"/>
            <a:ext cx="210312" cy="329184"/>
          </a:xfrm>
          <a:prstGeom prst="upArrow">
            <a:avLst/>
          </a:prstGeom>
          <a:solidFill>
            <a:srgbClr val="B53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34" name="Inhibition_result"/>
          <p:cNvSpPr txBox="1"/>
          <p:nvPr/>
        </p:nvSpPr>
        <p:spPr>
          <a:xfrm>
            <a:off x="914400" y="2248408"/>
            <a:ext cx="2907792" cy="338328"/>
          </a:xfrm>
          <a:prstGeom prst="rect">
            <a:avLst/>
          </a:prstGeom>
          <a:noFill/>
          <a:effectLst/>
        </p:spPr>
        <p:txBody>
          <a:bodyPr wrap="square" anchor="t" tIns="0" bIns="0" lIns="0" r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ru-RU">
                <a:solidFill>
                  <a:srgbClr val="B5323C"/>
                </a:solidFill>
                <a:latin typeface="Arial Narrow"/>
                <a:cs typeface="Arial Narrow"/>
              </a:rPr>
              <a:t>Концентрация выше</a:t>
            </a:r>
          </a:p>
        </p:txBody>
      </p:sp>
      <p:sp>
        <p:nvSpPr>
          <p:cNvPr id="35" name="Inhibition_clinical_context"/>
          <p:cNvSpPr txBox="1"/>
          <p:nvPr/>
        </p:nvSpPr>
        <p:spPr>
          <a:xfrm>
            <a:off x="594360" y="2678176"/>
            <a:ext cx="3218688" cy="530352"/>
          </a:xfrm>
          <a:prstGeom prst="rect">
            <a:avLst/>
          </a:prstGeom>
          <a:noFill/>
          <a:effectLst/>
        </p:spPr>
        <p:txBody>
          <a:bodyPr wrap="square" anchor="t" tIns="0" bIns="0" lIns="0" r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Риск гиперкалиемии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может повышаться</a:t>
            </a:r>
          </a:p>
        </p:txBody>
      </p:sp>
      <p:sp>
        <p:nvSpPr>
          <p:cNvPr id="36" name="Induction_label"/>
          <p:cNvSpPr txBox="1"/>
          <p:nvPr/>
        </p:nvSpPr>
        <p:spPr>
          <a:xfrm>
            <a:off x="8503920" y="1334008"/>
            <a:ext cx="3154680" cy="338328"/>
          </a:xfrm>
          <a:prstGeom prst="rect">
            <a:avLst/>
          </a:prstGeom>
          <a:noFill/>
          <a:effectLst/>
        </p:spPr>
        <p:txBody>
          <a:bodyPr wrap="square" anchor="t" tIns="0" bIns="0" lIns="0" r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ru-RU">
                <a:solidFill>
                  <a:srgbClr val="156082"/>
                </a:solidFill>
                <a:latin typeface="Arial Narrow"/>
                <a:cs typeface="Arial Narrow"/>
              </a:rPr>
              <a:t>Индукторы</a:t>
            </a:r>
          </a:p>
        </p:txBody>
      </p:sp>
      <p:cxnSp>
        <p:nvCxnSpPr>
          <p:cNvPr id="37" name="Induction_link"/>
          <p:cNvCxnSpPr/>
          <p:nvPr/>
        </p:nvCxnSpPr>
        <p:spPr>
          <a:xfrm flipH="1">
            <a:off x="7498079" y="1562608"/>
            <a:ext cx="822961" cy="0"/>
          </a:xfrm>
          <a:prstGeom prst="line">
            <a:avLst/>
          </a:prstGeom>
          <a:ln w="27305">
            <a:solidFill>
              <a:srgbClr val="15608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Induction_metabolism"/>
          <p:cNvSpPr txBox="1"/>
          <p:nvPr/>
        </p:nvSpPr>
        <p:spPr>
          <a:xfrm>
            <a:off x="8375904" y="1827783"/>
            <a:ext cx="3319272" cy="292608"/>
          </a:xfrm>
          <a:prstGeom prst="rect">
            <a:avLst/>
          </a:prstGeom>
          <a:noFill/>
          <a:effectLst/>
        </p:spPr>
        <p:txBody>
          <a:bodyPr wrap="square" anchor="t" tIns="0" bIns="0" lIns="0" r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000000"/>
                </a:solidFill>
                <a:latin typeface="Arial Narrow"/>
                <a:cs typeface="Arial Narrow"/>
              </a:rPr>
              <a:t>Метаболизм ускоряется</a:t>
            </a:r>
          </a:p>
        </p:txBody>
      </p:sp>
      <p:sp>
        <p:nvSpPr>
          <p:cNvPr id="39" name="Concentration_decrease"/>
          <p:cNvSpPr/>
          <p:nvPr/>
        </p:nvSpPr>
        <p:spPr>
          <a:xfrm>
            <a:off x="8375904" y="2239264"/>
            <a:ext cx="210312" cy="329184"/>
          </a:xfrm>
          <a:prstGeom prst="downArrow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</a:p>
        </p:txBody>
      </p:sp>
      <p:sp>
        <p:nvSpPr>
          <p:cNvPr id="40" name="Induction_result"/>
          <p:cNvSpPr txBox="1"/>
          <p:nvPr/>
        </p:nvSpPr>
        <p:spPr>
          <a:xfrm>
            <a:off x="8695944" y="2248408"/>
            <a:ext cx="2990088" cy="338328"/>
          </a:xfrm>
          <a:prstGeom prst="rect">
            <a:avLst/>
          </a:prstGeom>
          <a:noFill/>
          <a:effectLst/>
        </p:spPr>
        <p:txBody>
          <a:bodyPr wrap="square" anchor="t" tIns="0" bIns="0" lIns="0" r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ru-RU">
                <a:solidFill>
                  <a:srgbClr val="156082"/>
                </a:solidFill>
                <a:latin typeface="Arial Narrow"/>
                <a:cs typeface="Arial Narrow"/>
              </a:rPr>
              <a:t>Концентрация ниже</a:t>
            </a:r>
          </a:p>
        </p:txBody>
      </p:sp>
      <p:sp>
        <p:nvSpPr>
          <p:cNvPr id="41" name="Induction_clinical_context"/>
          <p:cNvSpPr txBox="1"/>
          <p:nvPr/>
        </p:nvSpPr>
        <p:spPr>
          <a:xfrm>
            <a:off x="8375904" y="2678176"/>
            <a:ext cx="3264408" cy="530352"/>
          </a:xfrm>
          <a:prstGeom prst="rect">
            <a:avLst/>
          </a:prstGeom>
          <a:noFill/>
          <a:effectLst/>
        </p:spPr>
        <p:txBody>
          <a:bodyPr wrap="square" anchor="t" tIns="0" bIns="0" lIns="0" r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Лечебный эффект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может ослабевать</a:t>
            </a:r>
          </a:p>
        </p:txBody>
      </p:sp>
      <p:sp>
        <p:nvSpPr>
          <p:cNvPr id="42" name="Substrate"/>
          <p:cNvSpPr txBox="1"/>
          <p:nvPr/>
        </p:nvSpPr>
        <p:spPr>
          <a:xfrm>
            <a:off x="3950208" y="2714752"/>
            <a:ext cx="1490472" cy="329184"/>
          </a:xfrm>
          <a:prstGeom prst="rect">
            <a:avLst/>
          </a:prstGeom>
          <a:noFill/>
          <a:effectLst/>
        </p:spPr>
        <p:txBody>
          <a:bodyPr wrap="square" anchor="t" tIns="0" bIns="0" lIns="0" r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</a:p>
        </p:txBody>
      </p:sp>
      <p:cxnSp>
        <p:nvCxnSpPr>
          <p:cNvPr id="43" name="Catalytic_link"/>
          <p:cNvCxnSpPr/>
          <p:nvPr/>
        </p:nvCxnSpPr>
        <p:spPr>
          <a:xfrm>
            <a:off x="6080760" y="2257552"/>
            <a:ext cx="0" cy="539496"/>
          </a:xfrm>
          <a:prstGeom prst="line">
            <a:avLst/>
          </a:prstGeom>
          <a:ln w="17780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Metabolic_conversion"/>
          <p:cNvCxnSpPr/>
          <p:nvPr/>
        </p:nvCxnSpPr>
        <p:spPr>
          <a:xfrm>
            <a:off x="5504688" y="2851912"/>
            <a:ext cx="1106424" cy="0"/>
          </a:xfrm>
          <a:prstGeom prst="line">
            <a:avLst/>
          </a:prstGeom>
          <a:ln w="25400">
            <a:solidFill>
              <a:srgbClr val="7030A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Inactive_metabolites"/>
          <p:cNvSpPr txBox="1"/>
          <p:nvPr/>
        </p:nvSpPr>
        <p:spPr>
          <a:xfrm>
            <a:off x="6766560" y="2559304"/>
            <a:ext cx="1536192" cy="566928"/>
          </a:xfrm>
          <a:prstGeom prst="rect">
            <a:avLst/>
          </a:prstGeom>
          <a:noFill/>
          <a:effectLst/>
        </p:spPr>
        <p:txBody>
          <a:bodyPr wrap="square" anchor="t" tIns="0" bIns="0" lIns="0" r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000000"/>
                </a:solidFill>
                <a:latin typeface="Arial Narrow"/>
                <a:cs typeface="Arial Narrow"/>
              </a:rPr>
              <a:t>Неактивные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000000"/>
                </a:solidFill>
                <a:latin typeface="Arial Narrow"/>
                <a:cs typeface="Arial Narrow"/>
              </a:rPr>
              <a:t>метаболиты</a:t>
            </a:r>
          </a:p>
        </p:txBody>
      </p:sp>
      <p:sp>
        <p:nvSpPr>
          <p:cNvPr id="46" name="Metabolism_location"/>
          <p:cNvSpPr txBox="1"/>
          <p:nvPr/>
        </p:nvSpPr>
        <p:spPr>
          <a:xfrm>
            <a:off x="4005072" y="3226816"/>
            <a:ext cx="4160520" cy="274320"/>
          </a:xfrm>
          <a:prstGeom prst="rect">
            <a:avLst/>
          </a:prstGeom>
          <a:noFill/>
          <a:effectLst/>
        </p:spPr>
        <p:txBody>
          <a:bodyPr wrap="square" anchor="t" tIns="0" bIns="0" lIns="0" rIns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Метаболизируется в печени и стенке кишечника</a:t>
            </a:r>
          </a:p>
        </p:txBody>
      </p:sp>
      <p:sp>
        <p:nvSpPr>
          <p:cNvPr id="50" name="Strong_examples"/>
          <p:cNvSpPr txBox="1"/>
          <p:nvPr/>
        </p:nvSpPr>
        <p:spPr>
          <a:xfrm>
            <a:off x="609600" y="4241800"/>
            <a:ext cx="3352800" cy="466872"/>
          </a:xfrm>
          <a:prstGeom prst="rect">
            <a:avLst/>
          </a:prstGeom>
          <a:noFill/>
          <a:effectLst/>
        </p:spPr>
        <p:txBody>
          <a:bodyPr wrap="square" anchor="t" tIns="0" bIns="0" lIns="0" r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Кларитромицин, кетоконазол,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итраконазол, ритонавир.</a:t>
            </a:r>
          </a:p>
        </p:txBody>
      </p:sp>
      <p:sp>
        <p:nvSpPr>
          <p:cNvPr id="51" name="Moderate_weak_examples"/>
          <p:cNvSpPr txBox="1"/>
          <p:nvPr/>
        </p:nvSpPr>
        <p:spPr>
          <a:xfrm>
            <a:off x="4419600" y="4241800"/>
            <a:ext cx="3352800" cy="466872"/>
          </a:xfrm>
          <a:prstGeom prst="rect">
            <a:avLst/>
          </a:prstGeom>
          <a:noFill/>
          <a:effectLst/>
        </p:spPr>
        <p:txBody>
          <a:bodyPr wrap="square" anchor="t" tIns="0" bIns="0" lIns="0" r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Умеренные: эритромицин, верапамил.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Слабый: флувоксамин.</a:t>
            </a:r>
          </a:p>
        </p:txBody>
      </p:sp>
      <p:sp>
        <p:nvSpPr>
          <p:cNvPr id="52" name="Inducer_examples"/>
          <p:cNvSpPr txBox="1"/>
          <p:nvPr/>
        </p:nvSpPr>
        <p:spPr>
          <a:xfrm>
            <a:off x="8229600" y="4241800"/>
            <a:ext cx="3352800" cy="687608"/>
          </a:xfrm>
          <a:prstGeom prst="rect">
            <a:avLst/>
          </a:prstGeom>
          <a:noFill/>
          <a:effectLst/>
        </p:spPr>
        <p:txBody>
          <a:bodyPr wrap="square" anchor="t" tIns="0" bIns="0" lIns="0" r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Сильные: рифампицин, карбамазепин,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зверобой.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Умеренный: эфавиренз.</a:t>
            </a:r>
          </a:p>
        </p:txBody>
      </p:sp>
      <p:sp>
        <p:nvSpPr>
          <p:cNvPr id="53" name="Strong_action"/>
          <p:cNvSpPr txBox="1"/>
          <p:nvPr/>
        </p:nvSpPr>
        <p:spPr>
          <a:xfrm>
            <a:off x="609600" y="4902200"/>
            <a:ext cx="3352800" cy="522056"/>
          </a:xfrm>
          <a:prstGeom prst="rect">
            <a:avLst/>
          </a:prstGeom>
          <a:noFill/>
          <a:effectLst/>
        </p:spPr>
        <p:txBody>
          <a:bodyPr wrap="square" anchor="t" tIns="0" bIns="0" lIns="0" r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ru-RU">
                <a:solidFill>
                  <a:srgbClr val="B5323C"/>
                </a:solidFill>
                <a:latin typeface="Arial Narrow"/>
                <a:cs typeface="Arial Narrow"/>
              </a:rPr>
              <a:t>Совместное применение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ru-RU">
                <a:solidFill>
                  <a:srgbClr val="B5323C"/>
                </a:solidFill>
                <a:latin typeface="Arial Narrow"/>
                <a:cs typeface="Arial Narrow"/>
              </a:rPr>
              <a:t>противопоказано.</a:t>
            </a:r>
          </a:p>
        </p:txBody>
      </p:sp>
      <p:sp>
        <p:nvSpPr>
          <p:cNvPr id="54" name="Moderate_weak_action"/>
          <p:cNvSpPr txBox="1"/>
          <p:nvPr/>
        </p:nvSpPr>
        <p:spPr>
          <a:xfrm>
            <a:off x="4419600" y="4902200"/>
            <a:ext cx="3352800" cy="273728"/>
          </a:xfrm>
          <a:prstGeom prst="rect">
            <a:avLst/>
          </a:prstGeom>
          <a:noFill/>
          <a:effectLst/>
        </p:spPr>
        <p:txBody>
          <a:bodyPr wrap="square" anchor="t" tIns="0" bIns="0" lIns="0" r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ru-RU">
                <a:solidFill>
                  <a:srgbClr val="E97132"/>
                </a:solidFill>
                <a:latin typeface="Arial Narrow"/>
                <a:cs typeface="Arial Narrow"/>
              </a:rPr>
              <a:t>Контроль калия</a:t>
            </a:r>
          </a:p>
        </p:txBody>
      </p:sp>
      <p:sp>
        <p:nvSpPr>
          <p:cNvPr id="55" name="Moderate_weak_monitoring"/>
          <p:cNvSpPr txBox="1"/>
          <p:nvPr/>
        </p:nvSpPr>
        <p:spPr>
          <a:xfrm>
            <a:off x="4419600" y="5232400"/>
            <a:ext cx="3352800" cy="797976"/>
          </a:xfrm>
          <a:prstGeom prst="rect">
            <a:avLst/>
          </a:prstGeom>
          <a:noFill/>
          <a:effectLst/>
        </p:spPr>
        <p:txBody>
          <a:bodyPr wrap="square" anchor="t" tIns="0" bIns="0" lIns="0" r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ru-RU">
                <a:solidFill>
                  <a:srgbClr val="000000"/>
                </a:solidFill>
                <a:latin typeface="Arial Narrow"/>
                <a:cs typeface="Arial Narrow"/>
              </a:rPr>
              <a:t>Что делает врач:</a:t>
            </a: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 проверяет калий при начале приёма или изменении дозы любого из препаратов, при необходимости корректирует дозу финеренона.</a:t>
            </a:r>
          </a:p>
        </p:txBody>
      </p:sp>
      <p:sp>
        <p:nvSpPr>
          <p:cNvPr id="56" name="Inducer_action"/>
          <p:cNvSpPr txBox="1"/>
          <p:nvPr/>
        </p:nvSpPr>
        <p:spPr>
          <a:xfrm>
            <a:off x="8229600" y="5156200"/>
            <a:ext cx="3352800" cy="522056"/>
          </a:xfrm>
          <a:prstGeom prst="rect">
            <a:avLst/>
          </a:prstGeom>
          <a:noFill/>
          <a:effectLst/>
        </p:spPr>
        <p:txBody>
          <a:bodyPr wrap="square" anchor="t" tIns="0" bIns="0" lIns="0" r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ru-RU">
                <a:solidFill>
                  <a:srgbClr val="156082"/>
                </a:solidFill>
                <a:latin typeface="Arial Narrow"/>
                <a:cs typeface="Arial Narrow"/>
              </a:rPr>
              <a:t>Совместное применение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ru-RU">
                <a:solidFill>
                  <a:srgbClr val="156082"/>
                </a:solidFill>
                <a:latin typeface="Arial Narrow"/>
                <a:cs typeface="Arial Narrow"/>
              </a:rPr>
              <a:t>не рекомендуется.</a:t>
            </a:r>
          </a:p>
        </p:txBody>
      </p:sp>
      <p:sp>
        <p:nvSpPr>
          <p:cNvPr id="57" name="Grapefruit"/>
          <p:cNvSpPr txBox="1"/>
          <p:nvPr/>
        </p:nvSpPr>
        <p:spPr>
          <a:xfrm>
            <a:off x="609600" y="5638800"/>
            <a:ext cx="3352800" cy="411688"/>
          </a:xfrm>
          <a:prstGeom prst="rect">
            <a:avLst/>
          </a:prstGeom>
          <a:noFill/>
          <a:effectLst/>
        </p:spPr>
        <p:txBody>
          <a:bodyPr wrap="square" anchor="t" tIns="0" bIns="0" lIns="0" r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Грейпфрут и грейпфрутовый сок исключают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на время лечения: они подавляют CYP3A4.</a:t>
            </a:r>
          </a:p>
        </p:txBody>
      </p:sp>
      <p:sp>
        <p:nvSpPr>
          <p:cNvPr id="58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Kerendia (finerenone). Summary of Product Characteristics. EMA. Heinig R, et al. Eur J Drug Metab Pharmacokinet. 2018;43:715–727. Wendl T, et al. CPT Pharmacometrics Syst Pharmacol. 2022;11:199–211.</a:t>
            </a:r>
          </a:p>
        </p:txBody>
      </p:sp>
      <p:pic>
        <p:nvPicPr>
          <p:cNvPr id="59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61" name="Плашка_Strong_heading"/>
          <p:cNvSpPr/>
          <p:nvPr/>
        </p:nvSpPr>
        <p:spPr>
          <a:xfrm>
            <a:off x="457200" y="3683000"/>
            <a:ext cx="3657600" cy="381000"/>
          </a:xfrm>
          <a:prstGeom prst="roundRect">
            <a:avLst>
              <a:gd name="adj" fmla="val 25000"/>
            </a:avLst>
          </a:prstGeom>
          <a:solidFill>
            <a:srgbClr val="B5323C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Сильные ингибиторы</a:t>
            </a:r>
          </a:p>
        </p:txBody>
      </p:sp>
      <p:sp>
        <p:nvSpPr>
          <p:cNvPr id="63" name="Плашка_Moderate_weak_heading"/>
          <p:cNvSpPr/>
          <p:nvPr/>
        </p:nvSpPr>
        <p:spPr>
          <a:xfrm>
            <a:off x="4267200" y="3683000"/>
            <a:ext cx="3657600" cy="3810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Умеренные и слабые ингибиторы</a:t>
            </a:r>
          </a:p>
        </p:txBody>
      </p:sp>
      <p:sp>
        <p:nvSpPr>
          <p:cNvPr id="65" name="Плашка_Inducer_heading"/>
          <p:cNvSpPr/>
          <p:nvPr/>
        </p:nvSpPr>
        <p:spPr>
          <a:xfrm>
            <a:off x="8077200" y="3683000"/>
            <a:ext cx="36576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Сильные и умеренные индукторы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Ячейка_калий_0"/>
          <p:cNvSpPr/>
          <p:nvPr/>
        </p:nvSpPr>
        <p:spPr>
          <a:xfrm>
            <a:off x="457200" y="2590800"/>
            <a:ext cx="2009073" cy="889000"/>
          </a:xfrm>
          <a:prstGeom prst="roundRect">
            <a:avLst>
              <a:gd name="adj" fmla="val 8333"/>
            </a:avLst>
          </a:prstGeom>
          <a:solidFill>
            <a:srgbClr val="4EA72E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3" name="Текст_калий_0"/>
          <p:cNvSpPr/>
          <p:nvPr/>
        </p:nvSpPr>
        <p:spPr>
          <a:xfrm>
            <a:off x="2519848" y="2590800"/>
            <a:ext cx="3321668" cy="8890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4" name="Ячейка_рскф_0"/>
          <p:cNvSpPr/>
          <p:nvPr/>
        </p:nvSpPr>
        <p:spPr>
          <a:xfrm>
            <a:off x="6350482" y="2590800"/>
            <a:ext cx="2009073" cy="889000"/>
          </a:xfrm>
          <a:prstGeom prst="roundRect">
            <a:avLst>
              <a:gd name="adj" fmla="val 8333"/>
            </a:avLst>
          </a:prstGeom>
          <a:solidFill>
            <a:srgbClr val="4EA72E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5" name="Текст_рскф_0"/>
          <p:cNvSpPr/>
          <p:nvPr/>
        </p:nvSpPr>
        <p:spPr>
          <a:xfrm>
            <a:off x="8413131" y="2590800"/>
            <a:ext cx="3321668" cy="8890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6" name="Ячейка_калий_1"/>
          <p:cNvSpPr/>
          <p:nvPr/>
        </p:nvSpPr>
        <p:spPr>
          <a:xfrm>
            <a:off x="457200" y="3530600"/>
            <a:ext cx="2009073" cy="1041400"/>
          </a:xfrm>
          <a:prstGeom prst="roundRect">
            <a:avLst>
              <a:gd name="adj" fmla="val 6818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7" name="Текст_калий_1"/>
          <p:cNvSpPr/>
          <p:nvPr/>
        </p:nvSpPr>
        <p:spPr>
          <a:xfrm>
            <a:off x="2519848" y="3530600"/>
            <a:ext cx="3321668" cy="1041400"/>
          </a:xfrm>
          <a:prstGeom prst="roundRect">
            <a:avLst>
              <a:gd name="adj" fmla="val 909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8" name="Ячейка_рскф_1"/>
          <p:cNvSpPr/>
          <p:nvPr/>
        </p:nvSpPr>
        <p:spPr>
          <a:xfrm>
            <a:off x="6350482" y="3530600"/>
            <a:ext cx="2009073" cy="1041400"/>
          </a:xfrm>
          <a:prstGeom prst="roundRect">
            <a:avLst>
              <a:gd name="adj" fmla="val 6818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9" name="Текст_рскф_1"/>
          <p:cNvSpPr/>
          <p:nvPr/>
        </p:nvSpPr>
        <p:spPr>
          <a:xfrm>
            <a:off x="8413131" y="3530600"/>
            <a:ext cx="3321668" cy="1041400"/>
          </a:xfrm>
          <a:prstGeom prst="roundRect">
            <a:avLst>
              <a:gd name="adj" fmla="val 909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30" name="Ячейка_калий_2"/>
          <p:cNvSpPr/>
          <p:nvPr/>
        </p:nvSpPr>
        <p:spPr>
          <a:xfrm>
            <a:off x="457200" y="4622800"/>
            <a:ext cx="2009073" cy="787400"/>
          </a:xfrm>
          <a:prstGeom prst="roundRect">
            <a:avLst>
              <a:gd name="adj" fmla="val 12000"/>
            </a:avLst>
          </a:prstGeom>
          <a:solidFill>
            <a:srgbClr val="B5323C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31" name="Текст_калий_2"/>
          <p:cNvSpPr/>
          <p:nvPr/>
        </p:nvSpPr>
        <p:spPr>
          <a:xfrm>
            <a:off x="2519848" y="4622800"/>
            <a:ext cx="3321668" cy="7874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32" name="Ячейка_рскф_2"/>
          <p:cNvSpPr/>
          <p:nvPr/>
        </p:nvSpPr>
        <p:spPr>
          <a:xfrm>
            <a:off x="6350482" y="4622800"/>
            <a:ext cx="2009073" cy="787400"/>
          </a:xfrm>
          <a:prstGeom prst="roundRect">
            <a:avLst>
              <a:gd name="adj" fmla="val 12000"/>
            </a:avLst>
          </a:prstGeom>
          <a:solidFill>
            <a:srgbClr val="B5323C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33" name="Текст_рскф_2"/>
          <p:cNvSpPr/>
          <p:nvPr/>
        </p:nvSpPr>
        <p:spPr>
          <a:xfrm>
            <a:off x="8413131" y="4622800"/>
            <a:ext cx="3321668" cy="7874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Перед началом лечения финереноном оценивают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калий, рСКФ и противопоказания</a:t>
            </a:r>
          </a:p>
        </p:txBody>
      </p:sp>
      <p:sp>
        <p:nvSpPr>
          <p:cNvPr id="3" name="Популяция"/>
          <p:cNvSpPr txBox="1"/>
          <p:nvPr/>
        </p:nvSpPr>
        <p:spPr>
          <a:xfrm>
            <a:off x="457200" y="1117600"/>
            <a:ext cx="10989632" cy="3333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У взрослых с хронической болезнью почек, связанной с сахарным диабетом 2 типа.</a:t>
            </a:r>
          </a:p>
        </p:txBody>
      </p:sp>
      <p:sp>
        <p:nvSpPr>
          <p:cNvPr id="4" name="Калий_название"/>
          <p:cNvSpPr txBox="1"/>
          <p:nvPr/>
        </p:nvSpPr>
        <p:spPr>
          <a:xfrm>
            <a:off x="457200" y="1600200"/>
            <a:ext cx="5123137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Калий сыворотки</a:t>
            </a:r>
          </a:p>
        </p:txBody>
      </p:sp>
      <p:sp>
        <p:nvSpPr>
          <p:cNvPr id="5" name="Калий_единицы"/>
          <p:cNvSpPr txBox="1"/>
          <p:nvPr/>
        </p:nvSpPr>
        <p:spPr>
          <a:xfrm>
            <a:off x="457200" y="1981200"/>
            <a:ext cx="5123137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ммоль/л</a:t>
            </a:r>
          </a:p>
        </p:txBody>
      </p:sp>
      <p:sp>
        <p:nvSpPr>
          <p:cNvPr id="6" name="Доза_название"/>
          <p:cNvSpPr txBox="1"/>
          <p:nvPr/>
        </p:nvSpPr>
        <p:spPr>
          <a:xfrm>
            <a:off x="6350482" y="1600200"/>
            <a:ext cx="5103047" cy="3714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Начальная доза по функции почек</a:t>
            </a:r>
          </a:p>
        </p:txBody>
      </p:sp>
      <p:sp>
        <p:nvSpPr>
          <p:cNvPr id="7" name="Функция_почек_определение"/>
          <p:cNvSpPr txBox="1"/>
          <p:nvPr/>
        </p:nvSpPr>
        <p:spPr>
          <a:xfrm>
            <a:off x="6350482" y="1981200"/>
            <a:ext cx="5504861" cy="5048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Расчётная скорость клубочковой фильтрации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(рСКФ), мл/мин/1,73 м²</a:t>
            </a:r>
          </a:p>
        </p:txBody>
      </p:sp>
      <p:sp>
        <p:nvSpPr>
          <p:cNvPr id="8" name="Калий_до_4_8"/>
          <p:cNvSpPr txBox="1"/>
          <p:nvPr/>
        </p:nvSpPr>
        <p:spPr>
          <a:xfrm>
            <a:off x="617925" y="2641600"/>
            <a:ext cx="1908619" cy="787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ru-RU">
                <a:solidFill>
                  <a:srgbClr val="FFFFFF"/>
                </a:solidFill>
                <a:latin typeface="Arial Narrow"/>
                <a:cs typeface="Arial Narrow"/>
              </a:rPr>
              <a:t>≤4,8</a:t>
            </a:r>
          </a:p>
        </p:txBody>
      </p:sp>
      <p:sp>
        <p:nvSpPr>
          <p:cNvPr id="9" name="Начало_возможно"/>
          <p:cNvSpPr txBox="1"/>
          <p:nvPr/>
        </p:nvSpPr>
        <p:spPr>
          <a:xfrm>
            <a:off x="2653787" y="2641600"/>
            <a:ext cx="3080579" cy="787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000000"/>
                </a:solidFill>
                <a:latin typeface="Arial Narrow"/>
                <a:cs typeface="Arial Narrow"/>
              </a:rPr>
              <a:t>Лечение можно начать при рСКФ ≥25 и отсутствии противопоказаний.</a:t>
            </a:r>
          </a:p>
        </p:txBody>
      </p:sp>
      <p:sp>
        <p:nvSpPr>
          <p:cNvPr id="10" name="Калий_от_4_8_до_5"/>
          <p:cNvSpPr txBox="1"/>
          <p:nvPr/>
        </p:nvSpPr>
        <p:spPr>
          <a:xfrm>
            <a:off x="617925" y="3581400"/>
            <a:ext cx="1908619" cy="939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ru-RU">
                <a:solidFill>
                  <a:srgbClr val="FFFFFF"/>
                </a:solidFill>
                <a:latin typeface="Arial Narrow"/>
                <a:cs typeface="Arial Narrow"/>
              </a:rPr>
              <a:t>&gt;4,8 и ≤5,0</a:t>
            </a:r>
          </a:p>
        </p:txBody>
      </p:sp>
      <p:sp>
        <p:nvSpPr>
          <p:cNvPr id="11" name="Начало_с_контролем"/>
          <p:cNvSpPr txBox="1"/>
          <p:nvPr/>
        </p:nvSpPr>
        <p:spPr>
          <a:xfrm>
            <a:off x="2653787" y="3581400"/>
            <a:ext cx="3080579" cy="939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000000"/>
                </a:solidFill>
                <a:latin typeface="Arial Narrow"/>
                <a:cs typeface="Arial Narrow"/>
              </a:rPr>
              <a:t>Начало лечения можно рассмотреть при дополнительном контроле калия в первые 4 недели.</a:t>
            </a:r>
          </a:p>
        </p:txBody>
      </p:sp>
      <p:sp>
        <p:nvSpPr>
          <p:cNvPr id="12" name="Калий_больше_5"/>
          <p:cNvSpPr txBox="1"/>
          <p:nvPr/>
        </p:nvSpPr>
        <p:spPr>
          <a:xfrm>
            <a:off x="617925" y="4673600"/>
            <a:ext cx="190861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ru-RU">
                <a:solidFill>
                  <a:srgbClr val="FFFFFF"/>
                </a:solidFill>
                <a:latin typeface="Arial Narrow"/>
                <a:cs typeface="Arial Narrow"/>
              </a:rPr>
              <a:t>&gt;5,0</a:t>
            </a:r>
          </a:p>
        </p:txBody>
      </p:sp>
      <p:sp>
        <p:nvSpPr>
          <p:cNvPr id="13" name="Не_начинать_по_калию"/>
          <p:cNvSpPr txBox="1"/>
          <p:nvPr/>
        </p:nvSpPr>
        <p:spPr>
          <a:xfrm>
            <a:off x="2653787" y="4673600"/>
            <a:ext cx="308057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000000"/>
                </a:solidFill>
                <a:latin typeface="Arial Narrow"/>
                <a:cs typeface="Arial Narrow"/>
              </a:rPr>
              <a:t>Лечение не начинают.</a:t>
            </a:r>
          </a:p>
        </p:txBody>
      </p:sp>
      <p:sp>
        <p:nvSpPr>
          <p:cNvPr id="14" name="Фильтрация_60"/>
          <p:cNvSpPr txBox="1"/>
          <p:nvPr/>
        </p:nvSpPr>
        <p:spPr>
          <a:xfrm>
            <a:off x="6511208" y="2641600"/>
            <a:ext cx="20593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ru-RU">
                <a:solidFill>
                  <a:srgbClr val="FFFFFF"/>
                </a:solidFill>
                <a:latin typeface="Arial Narrow"/>
                <a:cs typeface="Arial Narrow"/>
              </a:rPr>
              <a:t>≥60</a:t>
            </a:r>
          </a:p>
        </p:txBody>
      </p:sp>
      <p:sp>
        <p:nvSpPr>
          <p:cNvPr id="15" name="Доза_20"/>
          <p:cNvSpPr txBox="1"/>
          <p:nvPr/>
        </p:nvSpPr>
        <p:spPr>
          <a:xfrm>
            <a:off x="8573857" y="2641600"/>
            <a:ext cx="3080579" cy="787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20 мг один раз в сутки</a:t>
            </a:r>
          </a:p>
        </p:txBody>
      </p:sp>
      <p:sp>
        <p:nvSpPr>
          <p:cNvPr id="16" name="Фильтрация_25_60"/>
          <p:cNvSpPr txBox="1"/>
          <p:nvPr/>
        </p:nvSpPr>
        <p:spPr>
          <a:xfrm>
            <a:off x="6511208" y="3581400"/>
            <a:ext cx="20593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ru-RU">
                <a:solidFill>
                  <a:srgbClr val="FFFFFF"/>
                </a:solidFill>
                <a:latin typeface="Arial Narrow"/>
                <a:cs typeface="Arial Narrow"/>
              </a:rPr>
              <a:t>≥25 и &lt;60</a:t>
            </a:r>
          </a:p>
        </p:txBody>
      </p:sp>
      <p:sp>
        <p:nvSpPr>
          <p:cNvPr id="17" name="Доза_10"/>
          <p:cNvSpPr txBox="1"/>
          <p:nvPr/>
        </p:nvSpPr>
        <p:spPr>
          <a:xfrm>
            <a:off x="8573857" y="3581400"/>
            <a:ext cx="3080579" cy="939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10 мг один раз в сутки</a:t>
            </a:r>
          </a:p>
        </p:txBody>
      </p:sp>
      <p:sp>
        <p:nvSpPr>
          <p:cNvPr id="18" name="Фильтрация_ниже_25"/>
          <p:cNvSpPr txBox="1"/>
          <p:nvPr/>
        </p:nvSpPr>
        <p:spPr>
          <a:xfrm>
            <a:off x="6511208" y="4673600"/>
            <a:ext cx="20593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ru-RU">
                <a:solidFill>
                  <a:srgbClr val="FFFFFF"/>
                </a:solidFill>
                <a:latin typeface="Arial Narrow"/>
                <a:cs typeface="Arial Narrow"/>
              </a:rPr>
              <a:t>&lt;25</a:t>
            </a:r>
          </a:p>
        </p:txBody>
      </p:sp>
      <p:sp>
        <p:nvSpPr>
          <p:cNvPr id="19" name="Не_начинать_по_фильтрации"/>
          <p:cNvSpPr txBox="1"/>
          <p:nvPr/>
        </p:nvSpPr>
        <p:spPr>
          <a:xfrm>
            <a:off x="8573857" y="4673600"/>
            <a:ext cx="308057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Начинать лечение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 не рекомендуется.</a:t>
            </a:r>
          </a:p>
        </p:txBody>
      </p:sp>
      <p:sp>
        <p:nvSpPr>
          <p:cNvPr id="20" name="Целевая_доза"/>
          <p:cNvSpPr txBox="1"/>
          <p:nvPr/>
        </p:nvSpPr>
        <p:spPr>
          <a:xfrm>
            <a:off x="457200" y="5562600"/>
            <a:ext cx="1098963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ru-RU">
                <a:solidFill>
                  <a:srgbClr val="000000"/>
                </a:solidFill>
                <a:latin typeface="Arial Narrow"/>
                <a:cs typeface="Arial Narrow"/>
              </a:rPr>
              <a:t>Целевая доза при этом показании: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 20 мг один раз в сутки.</a:t>
            </a:r>
          </a:p>
        </p:txBody>
      </p:sp>
      <p:sp>
        <p:nvSpPr>
          <p:cNvPr id="21" name="Противопоказания"/>
          <p:cNvSpPr txBox="1"/>
          <p:nvPr/>
        </p:nvSpPr>
        <p:spPr>
          <a:xfrm>
            <a:off x="457200" y="5918200"/>
            <a:ext cx="10989632" cy="438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ru-RU">
                <a:solidFill>
                  <a:srgbClr val="000000"/>
                </a:solidFill>
                <a:latin typeface="Arial Narrow"/>
                <a:cs typeface="Arial Narrow"/>
              </a:rPr>
              <a:t>Противопоказания: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гиперчувствительность к компонентам препарата, болезнь Аддисона, одновременный приём сильных ингибиторов CYP3A4.</a:t>
            </a:r>
          </a:p>
        </p:txBody>
      </p:sp>
      <p:sp>
        <p:nvSpPr>
          <p:cNvPr id="34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Kerendia (finerenone). Summary of Product Characteristics. EMA.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Финеренон-Орвилле. Инструкция по медицинскому применению.</a:t>
            </a:r>
          </a:p>
        </p:txBody>
      </p:sp>
      <p:pic>
        <p:nvPicPr>
          <p:cNvPr id="35" name="Логотип Орвилле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36" name="Метка_ответ_1"/>
          <p:cNvSpPr txBox="1"/>
          <p:nvPr/>
        </p:nvSpPr>
        <p:spPr>
          <a:xfrm>
            <a:off x="9829800" y="304800"/>
            <a:ext cx="1905000" cy="279400"/>
          </a:xfrm>
          <a:prstGeom prst="rect">
            <a:avLst/>
          </a:prstGeom>
          <a:solidFill>
            <a:srgbClr val="F3EDF8"/>
          </a:solidFill>
        </p:spPr>
        <p:txBody>
          <a:bodyPr wrap="square" lIns="0" rIns="0" tIns="0" bIns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7030A0"/>
                </a:solidFill>
                <a:latin typeface="Arial Narrow"/>
                <a:cs typeface="Arial Narrow"/>
              </a:rPr>
              <a:t>Ответ на вопрос 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tIns="0" bIns="0" lIns="0" r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Калий и функцию почек контролируют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до начала и во время лечения финереноном</a:t>
            </a:r>
          </a:p>
        </p:txBody>
      </p:sp>
      <p:cxnSp>
        <p:nvCxnSpPr>
          <p:cNvPr id="3" name="Ось_времени"/>
          <p:cNvCxnSpPr/>
          <p:nvPr/>
        </p:nvCxnSpPr>
        <p:spPr>
          <a:xfrm>
            <a:off x="635000" y="1625600"/>
            <a:ext cx="10947400" cy="0"/>
          </a:xfrm>
          <a:prstGeom prst="line">
            <a:avLst/>
          </a:prstGeom>
          <a:ln w="38100">
            <a:solidFill>
              <a:srgbClr val="A6A6A6"/>
            </a:solidFill>
            <a:tailEnd type="triangle" w="med" len="med"/>
          </a:ln>
        </p:spPr>
      </p:cxnSp>
      <p:cxnSp>
        <p:nvCxnSpPr>
          <p:cNvPr id="4" name="Отметка_180"/>
          <p:cNvCxnSpPr/>
          <p:nvPr/>
        </p:nvCxnSpPr>
        <p:spPr>
          <a:xfrm>
            <a:off x="2286000" y="1511300"/>
            <a:ext cx="0" cy="228600"/>
          </a:xfrm>
          <a:prstGeom prst="line">
            <a:avLst/>
          </a:prstGeom>
          <a:ln w="25400">
            <a:solidFill>
              <a:srgbClr val="7F7F7F"/>
            </a:solidFill>
          </a:ln>
        </p:spPr>
      </p:cxnSp>
      <p:sp>
        <p:nvSpPr>
          <p:cNvPr id="5" name="Срок_180"/>
          <p:cNvSpPr txBox="1"/>
          <p:nvPr/>
        </p:nvSpPr>
        <p:spPr>
          <a:xfrm>
            <a:off x="762000" y="1143000"/>
            <a:ext cx="30480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404040"/>
                </a:solidFill>
                <a:latin typeface="Arial Narrow"/>
                <a:cs typeface="Arial Narrow"/>
              </a:rPr>
              <a:t>Начало</a:t>
            </a:r>
          </a:p>
        </p:txBody>
      </p:sp>
      <p:sp>
        <p:nvSpPr>
          <p:cNvPr id="6" name="Этап_180"/>
          <p:cNvSpPr/>
          <p:nvPr/>
        </p:nvSpPr>
        <p:spPr>
          <a:xfrm>
            <a:off x="508000" y="1854200"/>
            <a:ext cx="3556000" cy="406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До первой дозы</a:t>
            </a:r>
          </a:p>
        </p:txBody>
      </p:sp>
      <p:sp>
        <p:nvSpPr>
          <p:cNvPr id="7" name="Этап_фон_180"/>
          <p:cNvSpPr/>
          <p:nvPr/>
        </p:nvSpPr>
        <p:spPr>
          <a:xfrm>
            <a:off x="508000" y="2311400"/>
            <a:ext cx="3556000" cy="11684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8" name="Этап_текст_180"/>
          <p:cNvSpPr txBox="1"/>
          <p:nvPr/>
        </p:nvSpPr>
        <p:spPr>
          <a:xfrm>
            <a:off x="685800" y="2387600"/>
            <a:ext cx="3200400" cy="1041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Проверяют калий сыворотки, рСКФ, текущие лекарства и противопоказания.</a:t>
            </a:r>
          </a:p>
        </p:txBody>
      </p:sp>
      <p:cxnSp>
        <p:nvCxnSpPr>
          <p:cNvPr id="9" name="Отметка_480"/>
          <p:cNvCxnSpPr/>
          <p:nvPr/>
        </p:nvCxnSpPr>
        <p:spPr>
          <a:xfrm>
            <a:off x="6096000" y="1511300"/>
            <a:ext cx="0" cy="228600"/>
          </a:xfrm>
          <a:prstGeom prst="line">
            <a:avLst/>
          </a:prstGeom>
          <a:ln w="25400">
            <a:solidFill>
              <a:srgbClr val="7F7F7F"/>
            </a:solidFill>
          </a:ln>
        </p:spPr>
      </p:cxnSp>
      <p:sp>
        <p:nvSpPr>
          <p:cNvPr id="10" name="Срок_480"/>
          <p:cNvSpPr txBox="1"/>
          <p:nvPr/>
        </p:nvSpPr>
        <p:spPr>
          <a:xfrm>
            <a:off x="4572000" y="1143000"/>
            <a:ext cx="30480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404040"/>
                </a:solidFill>
                <a:latin typeface="Arial Narrow"/>
                <a:cs typeface="Arial Narrow"/>
              </a:rPr>
              <a:t>4 недели</a:t>
            </a:r>
          </a:p>
        </p:txBody>
      </p:sp>
      <p:sp>
        <p:nvSpPr>
          <p:cNvPr id="11" name="Этап_480"/>
          <p:cNvSpPr/>
          <p:nvPr/>
        </p:nvSpPr>
        <p:spPr>
          <a:xfrm>
            <a:off x="4318000" y="1854200"/>
            <a:ext cx="3556000" cy="406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Через 4 недели</a:t>
            </a:r>
          </a:p>
        </p:txBody>
      </p:sp>
      <p:sp>
        <p:nvSpPr>
          <p:cNvPr id="12" name="Этап_фон_480"/>
          <p:cNvSpPr/>
          <p:nvPr/>
        </p:nvSpPr>
        <p:spPr>
          <a:xfrm>
            <a:off x="4318000" y="2311400"/>
            <a:ext cx="3556000" cy="11684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13" name="Этап_текст_480"/>
          <p:cNvSpPr txBox="1"/>
          <p:nvPr/>
        </p:nvSpPr>
        <p:spPr>
          <a:xfrm>
            <a:off x="4495800" y="2387600"/>
            <a:ext cx="3200400" cy="1041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Калий и рСКФ повторяют после начала или возобновления лечения и после повышения дозы.</a:t>
            </a:r>
          </a:p>
        </p:txBody>
      </p:sp>
      <p:cxnSp>
        <p:nvCxnSpPr>
          <p:cNvPr id="14" name="Отметка_780"/>
          <p:cNvCxnSpPr/>
          <p:nvPr/>
        </p:nvCxnSpPr>
        <p:spPr>
          <a:xfrm>
            <a:off x="9906000" y="1511300"/>
            <a:ext cx="0" cy="228600"/>
          </a:xfrm>
          <a:prstGeom prst="line">
            <a:avLst/>
          </a:prstGeom>
          <a:ln w="25400">
            <a:solidFill>
              <a:srgbClr val="7F7F7F"/>
            </a:solidFill>
          </a:ln>
        </p:spPr>
      </p:cxnSp>
      <p:sp>
        <p:nvSpPr>
          <p:cNvPr id="15" name="Срок_780"/>
          <p:cNvSpPr txBox="1"/>
          <p:nvPr/>
        </p:nvSpPr>
        <p:spPr>
          <a:xfrm>
            <a:off x="8382000" y="1143000"/>
            <a:ext cx="30480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404040"/>
                </a:solidFill>
                <a:latin typeface="Arial Narrow"/>
                <a:cs typeface="Arial Narrow"/>
              </a:rPr>
              <a:t>Каждые 4 месяца¹</a:t>
            </a:r>
          </a:p>
        </p:txBody>
      </p:sp>
      <p:sp>
        <p:nvSpPr>
          <p:cNvPr id="16" name="Этап_780"/>
          <p:cNvSpPr/>
          <p:nvPr/>
        </p:nvSpPr>
        <p:spPr>
          <a:xfrm>
            <a:off x="8128000" y="1854200"/>
            <a:ext cx="3556000" cy="406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Далее регулярно</a:t>
            </a:r>
          </a:p>
        </p:txBody>
      </p:sp>
      <p:sp>
        <p:nvSpPr>
          <p:cNvPr id="17" name="Этап_фон_780"/>
          <p:cNvSpPr/>
          <p:nvPr/>
        </p:nvSpPr>
        <p:spPr>
          <a:xfrm>
            <a:off x="8128000" y="2311400"/>
            <a:ext cx="3556000" cy="11684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18" name="Этап_текст_780"/>
          <p:cNvSpPr txBox="1"/>
          <p:nvPr/>
        </p:nvSpPr>
        <p:spPr>
          <a:xfrm>
            <a:off x="8305800" y="2387600"/>
            <a:ext cx="3200400" cy="1041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Далее периодически: KDIGO 2024 предлагает каждые 4 месяца¹, при повышенном риске чаще.</a:t>
            </a:r>
          </a:p>
        </p:txBody>
      </p:sp>
      <p:sp>
        <p:nvSpPr>
          <p:cNvPr id="19" name="Внеплановый_контроль_название"/>
          <p:cNvSpPr/>
          <p:nvPr/>
        </p:nvSpPr>
        <p:spPr>
          <a:xfrm>
            <a:off x="508000" y="3708400"/>
            <a:ext cx="11176000" cy="4064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Когда анализы нужны раньше</a:t>
            </a:r>
          </a:p>
        </p:txBody>
      </p:sp>
      <p:sp>
        <p:nvSpPr>
          <p:cNvPr id="20" name="Внеплановый_фон"/>
          <p:cNvSpPr/>
          <p:nvPr/>
        </p:nvSpPr>
        <p:spPr>
          <a:xfrm>
            <a:off x="508000" y="4165600"/>
            <a:ext cx="111760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1" name="Внеплановый_контроль"/>
          <p:cNvSpPr txBox="1"/>
          <p:nvPr/>
        </p:nvSpPr>
        <p:spPr>
          <a:xfrm>
            <a:off x="736600" y="4267200"/>
            <a:ext cx="10718800" cy="1066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 исходном калии &gt;4,8 и ≤5,0 ммоль/л калий дополнительно определяют в первые 4 недели.</a:t>
            </a:r>
          </a:p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 остром заболевании, обезвоживании, ухудшении функции почек или назначении взаимодействующего препарата нужен внеплановый контроль. Срок определяет врач.</a:t>
            </a:r>
          </a:p>
        </p:txBody>
      </p:sp>
      <p:sp>
        <p:nvSpPr>
          <p:cNvPr id="22" name="Контроль_при_комбинации"/>
          <p:cNvSpPr txBox="1"/>
          <p:nvPr/>
        </p:nvSpPr>
        <p:spPr>
          <a:xfrm>
            <a:off x="508000" y="5562600"/>
            <a:ext cx="111760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 ингибитором НГЛТ2: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калий контролируют в том же режиме.</a:t>
            </a:r>
          </a:p>
        </p:txBody>
      </p:sp>
      <p:sp>
        <p:nvSpPr>
          <p:cNvPr id="23" name="Источники"/>
          <p:cNvSpPr txBox="1"/>
          <p:nvPr/>
        </p:nvSpPr>
        <p:spPr>
          <a:xfrm>
            <a:off x="457200" y="6134100"/>
            <a:ext cx="10795000" cy="6477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рСКФ: расчётная скорость клубочковой фильтрации; НГЛТ2: натрий-глюкозный котранспортёр 2 типа.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¹ Интервал 4 месяца: KDIGO 2024. В европейской инструкции: далее периодически, с учётом уровня калия и особенностей пациента. Креатинин и рСКФ определяют вместе с калием.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KDIGO 2024 Clinical Practice Guideline for CKD. Kidney Int. 2024;105(4S):S117–S314. Kerendia (finerenone). Summary of Product Characteristics. EMA. Agarwal R, et al. J Am Soc Nephrol. 2022;33:225–237. Agarwal R, et al. J Am Coll Cardiol. 2026;87:772–784.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Финеренон-Орвилле. Инструкция по медицинскому применению.</a:t>
            </a:r>
          </a:p>
        </p:txBody>
      </p:sp>
      <p:pic>
        <p:nvPicPr>
          <p:cNvPr id="24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Шаг_36"/>
          <p:cNvSpPr/>
          <p:nvPr/>
        </p:nvSpPr>
        <p:spPr>
          <a:xfrm>
            <a:off x="457200" y="4038600"/>
            <a:ext cx="3505200" cy="1383080"/>
          </a:xfrm>
          <a:prstGeom prst="roundRect">
            <a:avLst>
              <a:gd name="adj" fmla="val 734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Шаг_336"/>
          <p:cNvSpPr/>
          <p:nvPr/>
        </p:nvSpPr>
        <p:spPr>
          <a:xfrm>
            <a:off x="4267200" y="4038600"/>
            <a:ext cx="3505200" cy="1383080"/>
          </a:xfrm>
          <a:prstGeom prst="roundRect">
            <a:avLst>
              <a:gd name="adj" fmla="val 734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Срочно_рамка"/>
          <p:cNvSpPr/>
          <p:nvPr/>
        </p:nvSpPr>
        <p:spPr>
          <a:xfrm>
            <a:off x="8077200" y="4038600"/>
            <a:ext cx="3657600" cy="1383080"/>
          </a:xfrm>
          <a:prstGeom prst="roundRect">
            <a:avLst>
              <a:gd name="adj" fmla="val 7345"/>
            </a:avLst>
          </a:prstGeom>
          <a:solidFill>
            <a:srgbClr val="FFFFFF"/>
          </a:solidFill>
          <a:ln w="19050">
            <a:solidFill>
              <a:srgbClr val="B5323C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23" name="Ячейка_Порог_3"/>
          <p:cNvSpPr/>
          <p:nvPr/>
        </p:nvSpPr>
        <p:spPr>
          <a:xfrm>
            <a:off x="8077200" y="1346200"/>
            <a:ext cx="3657600" cy="558800"/>
          </a:xfrm>
          <a:prstGeom prst="roundRect">
            <a:avLst>
              <a:gd name="adj" fmla="val 13636"/>
            </a:avLst>
          </a:prstGeom>
          <a:solidFill>
            <a:srgbClr val="B5323C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4" name="Карточка_Порог_3"/>
          <p:cNvSpPr/>
          <p:nvPr/>
        </p:nvSpPr>
        <p:spPr>
          <a:xfrm>
            <a:off x="8077200" y="1905000"/>
            <a:ext cx="36576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1" name="Ячейка_Порог_2"/>
          <p:cNvSpPr/>
          <p:nvPr/>
        </p:nvSpPr>
        <p:spPr>
          <a:xfrm>
            <a:off x="4267200" y="1346200"/>
            <a:ext cx="3657600" cy="558800"/>
          </a:xfrm>
          <a:prstGeom prst="roundRect">
            <a:avLst>
              <a:gd name="adj" fmla="val 13636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2" name="Карточка_Порог_2"/>
          <p:cNvSpPr/>
          <p:nvPr/>
        </p:nvSpPr>
        <p:spPr>
          <a:xfrm>
            <a:off x="4267200" y="1905000"/>
            <a:ext cx="36576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19" name="Ячейка_Порог_1"/>
          <p:cNvSpPr/>
          <p:nvPr/>
        </p:nvSpPr>
        <p:spPr>
          <a:xfrm>
            <a:off x="457200" y="1346200"/>
            <a:ext cx="3657600" cy="558800"/>
          </a:xfrm>
          <a:prstGeom prst="roundRect">
            <a:avLst>
              <a:gd name="adj" fmla="val 13636"/>
            </a:avLst>
          </a:prstGeom>
          <a:solidFill>
            <a:srgbClr val="4EA72E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0" name="Карточка_Порог_1"/>
          <p:cNvSpPr/>
          <p:nvPr/>
        </p:nvSpPr>
        <p:spPr>
          <a:xfrm>
            <a:off x="457200" y="1905000"/>
            <a:ext cx="36576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5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Дозу финеренона корректируют по уровню калия и рСКФ</a:t>
            </a:r>
          </a:p>
        </p:txBody>
      </p:sp>
      <p:sp>
        <p:nvSpPr>
          <p:cNvPr id="6" name="Показатель"/>
          <p:cNvSpPr txBox="1"/>
          <p:nvPr/>
        </p:nvSpPr>
        <p:spPr>
          <a:xfrm>
            <a:off x="457200" y="1066800"/>
            <a:ext cx="11277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Калий сыворотки, ммоль/л</a:t>
            </a:r>
          </a:p>
        </p:txBody>
      </p:sp>
      <p:sp>
        <p:nvSpPr>
          <p:cNvPr id="7" name="Порог_1"/>
          <p:cNvSpPr txBox="1"/>
          <p:nvPr/>
        </p:nvSpPr>
        <p:spPr>
          <a:xfrm>
            <a:off x="609600" y="1346200"/>
            <a:ext cx="3352800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ru-RU">
                <a:solidFill>
                  <a:srgbClr val="FFFFFF"/>
                </a:solidFill>
                <a:latin typeface="Arial Narrow"/>
                <a:cs typeface="Arial Narrow"/>
              </a:rPr>
              <a:t>≤4,8</a:t>
            </a:r>
          </a:p>
        </p:txBody>
      </p:sp>
      <p:sp>
        <p:nvSpPr>
          <p:cNvPr id="8" name="Порог_2"/>
          <p:cNvSpPr txBox="1"/>
          <p:nvPr/>
        </p:nvSpPr>
        <p:spPr>
          <a:xfrm>
            <a:off x="4419600" y="1346200"/>
            <a:ext cx="3352800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ru-RU">
                <a:solidFill>
                  <a:srgbClr val="FFFFFF"/>
                </a:solidFill>
                <a:latin typeface="Arial Narrow"/>
                <a:cs typeface="Arial Narrow"/>
              </a:rPr>
              <a:t>&gt;4,8 и ≤5,5</a:t>
            </a:r>
          </a:p>
        </p:txBody>
      </p:sp>
      <p:sp>
        <p:nvSpPr>
          <p:cNvPr id="9" name="Порог_3"/>
          <p:cNvSpPr txBox="1"/>
          <p:nvPr/>
        </p:nvSpPr>
        <p:spPr>
          <a:xfrm>
            <a:off x="8229600" y="1346200"/>
            <a:ext cx="3352800" cy="558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ru-RU">
                <a:solidFill>
                  <a:srgbClr val="FFFFFF"/>
                </a:solidFill>
                <a:latin typeface="Arial Narrow"/>
                <a:cs typeface="Arial Narrow"/>
              </a:rPr>
              <a:t>&gt;5,5</a:t>
            </a:r>
          </a:p>
        </p:txBody>
      </p:sp>
      <p:sp>
        <p:nvSpPr>
          <p:cNvPr id="10" name="Калий_до_4_8"/>
          <p:cNvSpPr txBox="1"/>
          <p:nvPr/>
        </p:nvSpPr>
        <p:spPr>
          <a:xfrm>
            <a:off x="609600" y="2006600"/>
            <a:ext cx="3352800" cy="1038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Дозу 10 мг можно повысить до 20 мг один раз в сутки. Дозу 20 мг сохраняют.</a:t>
            </a:r>
          </a:p>
        </p:txBody>
      </p:sp>
      <p:sp>
        <p:nvSpPr>
          <p:cNvPr id="11" name="Калий_4_8_5_5"/>
          <p:cNvSpPr txBox="1"/>
          <p:nvPr/>
        </p:nvSpPr>
        <p:spPr>
          <a:xfrm>
            <a:off x="4419600" y="2006600"/>
            <a:ext cx="3352800" cy="1038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Сохраняют текущую дозу: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10 или 20 мг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один раз в сутки.</a:t>
            </a:r>
          </a:p>
        </p:txBody>
      </p:sp>
      <p:sp>
        <p:nvSpPr>
          <p:cNvPr id="12" name="Калий_выше_5_5"/>
          <p:cNvSpPr txBox="1"/>
          <p:nvPr/>
        </p:nvSpPr>
        <p:spPr>
          <a:xfrm>
            <a:off x="8229600" y="2006600"/>
            <a:ext cx="3352800" cy="1038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Финеренон временно отменяют.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Повторно определяют калий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 xml:space="preserve"> и уточняют причину повышения.</a:t>
            </a:r>
          </a:p>
        </p:txBody>
      </p:sp>
      <p:sp>
        <p:nvSpPr>
          <p:cNvPr id="13" name="Условие_по_функции_почек"/>
          <p:cNvSpPr txBox="1"/>
          <p:nvPr/>
        </p:nvSpPr>
        <p:spPr>
          <a:xfrm>
            <a:off x="457200" y="3200400"/>
            <a:ext cx="11277600" cy="5810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Исключение: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дозу 10 мг не повышают, если рСКФ снизилась более чем на 30% от предыдущего измерения. Врач оценивает причину снижения.</a:t>
            </a:r>
          </a:p>
        </p:txBody>
      </p:sp>
      <p:sp>
        <p:nvSpPr>
          <p:cNvPr id="14" name="Условие_возобновления"/>
          <p:cNvSpPr txBox="1"/>
          <p:nvPr/>
        </p:nvSpPr>
        <p:spPr>
          <a:xfrm>
            <a:off x="609600" y="4165600"/>
            <a:ext cx="3200400" cy="11290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Возобновление: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если после временной отмены калий в повторном анализе ≤5,0 ммоль/л, врач может возобновить лечение в дозе 10 мг один раз в сутки.</a:t>
            </a:r>
          </a:p>
        </p:txBody>
      </p:sp>
      <p:sp>
        <p:nvSpPr>
          <p:cNvPr id="15" name="Контроль_после_изменения"/>
          <p:cNvSpPr txBox="1"/>
          <p:nvPr/>
        </p:nvSpPr>
        <p:spPr>
          <a:xfrm>
            <a:off x="4419600" y="4165600"/>
            <a:ext cx="3200400" cy="11290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Контроль: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калий и функцию почек проверяют через 4 недели после возобновления лечения или повышения дозы, при повышенном риске раньше.</a:t>
            </a:r>
          </a:p>
        </p:txBody>
      </p:sp>
      <p:sp>
        <p:nvSpPr>
          <p:cNvPr id="25" name="Срочная_оценка"/>
          <p:cNvSpPr txBox="1"/>
          <p:nvPr/>
        </p:nvSpPr>
        <p:spPr>
          <a:xfrm>
            <a:off x="8229600" y="4165600"/>
            <a:ext cx="3352800" cy="1129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B5323C"/>
                </a:solidFill>
                <a:latin typeface="Arial Narrow"/>
                <a:cs typeface="Arial Narrow"/>
              </a:rPr>
              <a:t>Срочно:</a:t>
            </a:r>
            <a:r>
              <a:rPr sz="1600" b="0">
                <a:solidFill>
                  <a:srgbClr val="B5323C"/>
                </a:solidFill>
                <a:latin typeface="Arial Narrow"/>
                <a:cs typeface="Arial Narrow"/>
              </a:rPr>
              <a:t> при калии ≥6,0 ммоль/л или ухудшении состояния врач оценивает пациента без ожидания планового контроля, при необходимости в стационаре.</a:t>
            </a:r>
          </a:p>
        </p:txBody>
      </p:sp>
      <p:sp>
        <p:nvSpPr>
          <p:cNvPr id="26" name="Источники"/>
          <p:cNvSpPr txBox="1"/>
          <p:nvPr/>
        </p:nvSpPr>
        <p:spPr>
          <a:xfrm>
            <a:off x="457200" y="6383020"/>
            <a:ext cx="10795000" cy="3987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рСКФ: расчётная скорость клубочковой фильтрации.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Kerendia (finerenone). Summary of Product Characteristics. EMA. KDIGO 2024 Clinical Practice Guideline for CKD. Kidney Int. 2024;105(4S):S117–S314. UK Kidney Association. Clinical Practice Guideline: Treatment of Acute Hyperkalaemia in Adults. 2023.</a:t>
            </a:r>
          </a:p>
        </p:txBody>
      </p:sp>
      <p:pic>
        <p:nvPicPr>
          <p:cNvPr id="27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28" name="Метка_ответ_2"/>
          <p:cNvSpPr txBox="1"/>
          <p:nvPr/>
        </p:nvSpPr>
        <p:spPr>
          <a:xfrm>
            <a:off x="9829800" y="304800"/>
            <a:ext cx="1905000" cy="279400"/>
          </a:xfrm>
          <a:prstGeom prst="rect">
            <a:avLst/>
          </a:prstGeom>
          <a:solidFill>
            <a:srgbClr val="F3EDF8"/>
          </a:solidFill>
        </p:spPr>
        <p:txBody>
          <a:bodyPr wrap="square" lIns="0" rIns="0" tIns="0" bIns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7030A0"/>
                </a:solidFill>
                <a:latin typeface="Arial Narrow"/>
                <a:cs typeface="Arial Narrow"/>
              </a:rPr>
              <a:t>Ответ на вопрос 2</a:t>
            </a:r>
          </a:p>
        </p:txBody>
      </p:sp>
      <p:sp>
        <p:nvSpPr>
          <p:cNvPr id="32" name="Стрелка_шаг"/>
          <p:cNvSpPr/>
          <p:nvPr/>
        </p:nvSpPr>
        <p:spPr>
          <a:xfrm>
            <a:off x="3987800" y="4552340"/>
            <a:ext cx="228600" cy="35560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Безопасность и особые группы пациентов</a:t>
            </a:r>
          </a:p>
        </p:txBody>
      </p:sp>
      <p:sp>
        <p:nvSpPr>
          <p:cNvPr id="3" name="Популяция"/>
          <p:cNvSpPr txBox="1"/>
          <p:nvPr/>
        </p:nvSpPr>
        <p:spPr>
          <a:xfrm>
            <a:off x="457200" y="812800"/>
            <a:ext cx="112776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404040"/>
                </a:solidFill>
                <a:latin typeface="Arial Narrow"/>
                <a:cs typeface="Arial Narrow"/>
              </a:rPr>
              <a:t>Взрослые с ХБП, связанной с сахарным диабетом 2 типа.</a:t>
            </a:r>
          </a:p>
        </p:txBody>
      </p:sp>
      <p:sp>
        <p:nvSpPr>
          <p:cNvPr id="4" name="Безопасность_1"/>
          <p:cNvSpPr/>
          <p:nvPr/>
        </p:nvSpPr>
        <p:spPr>
          <a:xfrm>
            <a:off x="457200" y="1193800"/>
            <a:ext cx="3327400" cy="381000"/>
          </a:xfrm>
          <a:prstGeom prst="roundRect">
            <a:avLst>
              <a:gd name="adj" fmla="val 25000"/>
            </a:avLst>
          </a:prstGeom>
          <a:solidFill>
            <a:srgbClr val="B5323C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Нежелательные реакции</a:t>
            </a:r>
          </a:p>
        </p:txBody>
      </p:sp>
      <p:sp>
        <p:nvSpPr>
          <p:cNvPr id="5" name="Безопасность_фон_1"/>
          <p:cNvSpPr/>
          <p:nvPr/>
        </p:nvSpPr>
        <p:spPr>
          <a:xfrm>
            <a:off x="457200" y="1625600"/>
            <a:ext cx="3327400" cy="1935427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6" name="Безопасность_текст_1"/>
          <p:cNvSpPr txBox="1"/>
          <p:nvPr/>
        </p:nvSpPr>
        <p:spPr>
          <a:xfrm>
            <a:off x="609600" y="1701800"/>
            <a:ext cx="3022600" cy="17830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Очень часто: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гиперкалиемия.</a:t>
            </a:r>
          </a:p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Часто: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гипонатриемия, гиперурикемия, гипотензия, зуд, снижение рСКФ.</a:t>
            </a:r>
          </a:p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Нечасто: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снижение гемоглобина.</a:t>
            </a:r>
          </a:p>
        </p:txBody>
      </p:sp>
      <p:sp>
        <p:nvSpPr>
          <p:cNvPr id="7" name="Безопасность_2"/>
          <p:cNvSpPr/>
          <p:nvPr/>
        </p:nvSpPr>
        <p:spPr>
          <a:xfrm>
            <a:off x="3937000" y="1193800"/>
            <a:ext cx="3327400" cy="3810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FIDELITY: финеренон и плацебо</a:t>
            </a:r>
          </a:p>
        </p:txBody>
      </p:sp>
      <p:sp>
        <p:nvSpPr>
          <p:cNvPr id="8" name="Безопасность_фон_2"/>
          <p:cNvSpPr/>
          <p:nvPr/>
        </p:nvSpPr>
        <p:spPr>
          <a:xfrm>
            <a:off x="3937000" y="1625600"/>
            <a:ext cx="3327400" cy="1935427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9" name="Безопасность_текст_2"/>
          <p:cNvSpPr txBox="1"/>
          <p:nvPr/>
        </p:nvSpPr>
        <p:spPr>
          <a:xfrm>
            <a:off x="4089400" y="1701800"/>
            <a:ext cx="3022600" cy="17830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финеренон 14,0%, плацебо 6,9% (по сообщениям исследователей).</a:t>
            </a:r>
          </a:p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Окончательная отмена из-за неё: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финеренон 1,7%, плацебо 0,6%.</a:t>
            </a:r>
          </a:p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Острое повреждение почек: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финеренон 3,4%, плацебо 3,6%.</a:t>
            </a:r>
          </a:p>
        </p:txBody>
      </p:sp>
      <p:sp>
        <p:nvSpPr>
          <p:cNvPr id="10" name="Безопасность_3"/>
          <p:cNvSpPr/>
          <p:nvPr/>
        </p:nvSpPr>
        <p:spPr>
          <a:xfrm>
            <a:off x="7416800" y="1193800"/>
            <a:ext cx="43180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Функция почек и печени</a:t>
            </a:r>
          </a:p>
        </p:txBody>
      </p:sp>
      <p:sp>
        <p:nvSpPr>
          <p:cNvPr id="11" name="Безопасность_фон_3"/>
          <p:cNvSpPr/>
          <p:nvPr/>
        </p:nvSpPr>
        <p:spPr>
          <a:xfrm>
            <a:off x="7416800" y="1625600"/>
            <a:ext cx="4318000" cy="1935427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12" name="Безопасность_текст_3"/>
          <p:cNvSpPr txBox="1"/>
          <p:nvPr/>
        </p:nvSpPr>
        <p:spPr>
          <a:xfrm>
            <a:off x="7569200" y="1701800"/>
            <a:ext cx="4013200" cy="17830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Начинать лечение не рекомендуется при рСКФ &lt;25 мл/мин/1,73 м². При рСКФ &lt;15 лечение прекращают.</a:t>
            </a:r>
          </a:p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 печёночной недостаточности класса C по Чайлд–Пью лечение не начинают. При классе B начальную дозу не меняют, рассматривают дополнительный контроль калия.</a:t>
            </a:r>
          </a:p>
        </p:txBody>
      </p:sp>
      <p:sp>
        <p:nvSpPr>
          <p:cNvPr id="13" name="Безопасность_4"/>
          <p:cNvSpPr/>
          <p:nvPr/>
        </p:nvSpPr>
        <p:spPr>
          <a:xfrm>
            <a:off x="457200" y="3662627"/>
            <a:ext cx="3327400" cy="381000"/>
          </a:xfrm>
          <a:prstGeom prst="roundRect">
            <a:avLst>
              <a:gd name="adj" fmla="val 25000"/>
            </a:avLst>
          </a:prstGeom>
          <a:solidFill>
            <a:srgbClr val="A02B93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Беременность и лактация</a:t>
            </a:r>
          </a:p>
        </p:txBody>
      </p:sp>
      <p:sp>
        <p:nvSpPr>
          <p:cNvPr id="14" name="Безопасность_фон_4"/>
          <p:cNvSpPr/>
          <p:nvPr/>
        </p:nvSpPr>
        <p:spPr>
          <a:xfrm>
            <a:off x="457200" y="4094427"/>
            <a:ext cx="3327400" cy="2128572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15" name="Безопасность_текст_4"/>
          <p:cNvSpPr txBox="1"/>
          <p:nvPr/>
        </p:nvSpPr>
        <p:spPr>
          <a:xfrm>
            <a:off x="609600" y="4170627"/>
            <a:ext cx="3022600" cy="19761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 беременности применяют только после тщательной оценки пользы и риска.</a:t>
            </a:r>
          </a:p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Женщинам детородного возраста нужна эффективная контрацепция.</a:t>
            </a:r>
          </a:p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Грудное вскармливание прекращают или отказываются от лечения.</a:t>
            </a:r>
          </a:p>
        </p:txBody>
      </p:sp>
      <p:sp>
        <p:nvSpPr>
          <p:cNvPr id="16" name="Безопасность_5"/>
          <p:cNvSpPr/>
          <p:nvPr/>
        </p:nvSpPr>
        <p:spPr>
          <a:xfrm>
            <a:off x="3937000" y="3662627"/>
            <a:ext cx="3327400" cy="381000"/>
          </a:xfrm>
          <a:prstGeom prst="roundRect">
            <a:avLst>
              <a:gd name="adj" fmla="val 25000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Дети и пожилые</a:t>
            </a:r>
          </a:p>
        </p:txBody>
      </p:sp>
      <p:sp>
        <p:nvSpPr>
          <p:cNvPr id="17" name="Безопасность_фон_5"/>
          <p:cNvSpPr/>
          <p:nvPr/>
        </p:nvSpPr>
        <p:spPr>
          <a:xfrm>
            <a:off x="3937000" y="4094427"/>
            <a:ext cx="3327400" cy="2128572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18" name="Безопасность_текст_5"/>
          <p:cNvSpPr txBox="1"/>
          <p:nvPr/>
        </p:nvSpPr>
        <p:spPr>
          <a:xfrm>
            <a:off x="4089400" y="4170627"/>
            <a:ext cx="3022600" cy="19761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У пациентов младше 18 лет эффективность и безопасность не установлены.</a:t>
            </a:r>
          </a:p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Пожилым коррекция дозы не требуется.</a:t>
            </a:r>
          </a:p>
        </p:txBody>
      </p:sp>
      <p:sp>
        <p:nvSpPr>
          <p:cNvPr id="19" name="Безопасность_6"/>
          <p:cNvSpPr/>
          <p:nvPr/>
        </p:nvSpPr>
        <p:spPr>
          <a:xfrm>
            <a:off x="7416800" y="3662627"/>
            <a:ext cx="4318000" cy="3810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Сообщение о нежелательном явлении</a:t>
            </a:r>
          </a:p>
        </p:txBody>
      </p:sp>
      <p:sp>
        <p:nvSpPr>
          <p:cNvPr id="20" name="Безопасность_фон_6"/>
          <p:cNvSpPr/>
          <p:nvPr/>
        </p:nvSpPr>
        <p:spPr>
          <a:xfrm>
            <a:off x="7416800" y="4094427"/>
            <a:ext cx="4318000" cy="2128572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1" name="Безопасность_текст_6"/>
          <p:cNvSpPr txBox="1"/>
          <p:nvPr/>
        </p:nvSpPr>
        <p:spPr>
          <a:xfrm>
            <a:off x="7569200" y="4170627"/>
            <a:ext cx="4013200" cy="19761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Что делает представитель: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если узнал о нежелательном явлении на фоне препарата из любого источника, сообщает в отдел фармаконадзора в течение 24 часов по процедуре компании, даже если связь с препаратом не очевидна.</a:t>
            </a:r>
          </a:p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Также сообщает: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 беременности или кормлении грудью, передозировке, ошибке применения, применении вне показаний, отсутствии эффекта.</a:t>
            </a:r>
          </a:p>
          <a:p>
            <a:pPr algn="l">
              <a:lnSpc>
                <a:spcPct val="90000"/>
              </a:lnSpc>
              <a:spcAft>
                <a:spcPts val="5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Связь не оценивает, советов по лечению не даёт.</a:t>
            </a:r>
          </a:p>
        </p:txBody>
      </p:sp>
      <p:sp>
        <p:nvSpPr>
          <p:cNvPr id="22" name="Источники"/>
          <p:cNvSpPr txBox="1"/>
          <p:nvPr/>
        </p:nvSpPr>
        <p:spPr>
          <a:xfrm>
            <a:off x="457200" y="6258560"/>
            <a:ext cx="10795000" cy="52324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рСКФ: расчётная скорость клубочковой фильтрации. Порядок сообщения о нежелательных явлениях определяет процедура компании.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Kerendia (finerenone). Summary of Product Characteristics. EMA. Kerendia (finerenone). US Prescribing Information. Agarwal R, et al. Eur Heart J. 2022;43:474–484. Agarwal R, et al. J Am Soc Nephrol. 2022;33:225–237.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Финеренон-Орвилле. Инструкция по медицинскому применению.</a:t>
            </a:r>
          </a:p>
        </p:txBody>
      </p:sp>
      <p:pic>
        <p:nvPicPr>
          <p:cNvPr id="2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7030A0"/>
                </a:solidFill>
                <a:latin typeface="Arial"/>
              </a:defRPr>
              <a:buNone/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Два условных случая: какие данные врач проверяет перед началом лечения</a:t>
            </a:r>
          </a:p>
        </p:txBody>
      </p:sp>
      <p:sp>
        <p:nvSpPr>
          <p:cNvPr id="29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рСКФ: расчётная скорость клубочковой фильтрации; АКО: отношение альбумина к креатинину мочи; ХБП: хроническая болезнь почек; АПФ: ангиотензинпревращающий фермент; БРА: блокатор рецепторов ангиотензина II.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KDIGO 2024 Clinical Practice Guideline for CKD. Kidney Int. 2024;105(4S):S117–S314. Kerendia (finerenone). Summary of Product Characteristics. EMA.</a:t>
            </a:r>
          </a:p>
        </p:txBody>
      </p:sp>
      <p:pic>
        <p:nvPicPr>
          <p:cNvPr id="30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31" name="Чек_шапка_0"/>
          <p:cNvSpPr/>
          <p:nvPr/>
        </p:nvSpPr>
        <p:spPr>
          <a:xfrm>
            <a:off x="457200" y="914400"/>
            <a:ext cx="3810000" cy="355600"/>
          </a:xfrm>
          <a:prstGeom prst="roundRect">
            <a:avLst>
              <a:gd name="adj" fmla="val 25000"/>
            </a:avLst>
          </a:prstGeom>
          <a:solidFill>
            <a:srgbClr val="40404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Критерий</a:t>
            </a:r>
          </a:p>
        </p:txBody>
      </p:sp>
      <p:sp>
        <p:nvSpPr>
          <p:cNvPr id="32" name="Чек_шапка_1"/>
          <p:cNvSpPr/>
          <p:nvPr/>
        </p:nvSpPr>
        <p:spPr>
          <a:xfrm>
            <a:off x="4267200" y="914400"/>
            <a:ext cx="3733800" cy="355600"/>
          </a:xfrm>
          <a:prstGeom prst="roundRect">
            <a:avLst>
              <a:gd name="adj" fmla="val 25000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Пациент 1, 62 года</a:t>
            </a:r>
          </a:p>
        </p:txBody>
      </p:sp>
      <p:sp>
        <p:nvSpPr>
          <p:cNvPr id="33" name="Чек_шапка_2"/>
          <p:cNvSpPr/>
          <p:nvPr/>
        </p:nvSpPr>
        <p:spPr>
          <a:xfrm>
            <a:off x="8001000" y="914400"/>
            <a:ext cx="37338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Пациент 2, 58 лет</a:t>
            </a:r>
          </a:p>
        </p:txBody>
      </p:sp>
      <p:sp>
        <p:nvSpPr>
          <p:cNvPr id="34" name="Чек_критерий_фон_0"/>
          <p:cNvSpPr/>
          <p:nvPr/>
        </p:nvSpPr>
        <p:spPr>
          <a:xfrm>
            <a:off x="457200" y="1295400"/>
            <a:ext cx="3810000" cy="381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35" name="Чек_критерий_0"/>
          <p:cNvSpPr txBox="1"/>
          <p:nvPr/>
        </p:nvSpPr>
        <p:spPr>
          <a:xfrm>
            <a:off x="558800" y="12954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Диагноз: сахарный диабет 2 типа</a:t>
            </a:r>
          </a:p>
        </p:txBody>
      </p:sp>
      <p:sp>
        <p:nvSpPr>
          <p:cNvPr id="36" name="Чек_ячейка_фон_0_0"/>
          <p:cNvSpPr/>
          <p:nvPr/>
        </p:nvSpPr>
        <p:spPr>
          <a:xfrm>
            <a:off x="4292600" y="1295400"/>
            <a:ext cx="3683000" cy="3810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37" name="Чек_ячейка_0_0"/>
          <p:cNvSpPr txBox="1"/>
          <p:nvPr/>
        </p:nvSpPr>
        <p:spPr>
          <a:xfrm>
            <a:off x="4394200" y="1295400"/>
            <a:ext cx="34798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2E6B1F"/>
                </a:solidFill>
                <a:latin typeface="Arial Narrow"/>
                <a:cs typeface="Arial Narrow"/>
              </a:rPr>
              <a:t>да</a:t>
            </a:r>
          </a:p>
        </p:txBody>
      </p:sp>
      <p:sp>
        <p:nvSpPr>
          <p:cNvPr id="38" name="Чек_ячейка_фон_0_1"/>
          <p:cNvSpPr/>
          <p:nvPr/>
        </p:nvSpPr>
        <p:spPr>
          <a:xfrm>
            <a:off x="8026400" y="1295400"/>
            <a:ext cx="3683000" cy="3810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39" name="Чек_ячейка_0_1"/>
          <p:cNvSpPr txBox="1"/>
          <p:nvPr/>
        </p:nvSpPr>
        <p:spPr>
          <a:xfrm>
            <a:off x="8128000" y="1295400"/>
            <a:ext cx="34798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2E6B1F"/>
                </a:solidFill>
                <a:latin typeface="Arial Narrow"/>
                <a:cs typeface="Arial Narrow"/>
              </a:rPr>
              <a:t>да</a:t>
            </a:r>
          </a:p>
        </p:txBody>
      </p:sp>
      <p:sp>
        <p:nvSpPr>
          <p:cNvPr id="40" name="Чек_критерий_фон_1"/>
          <p:cNvSpPr/>
          <p:nvPr/>
        </p:nvSpPr>
        <p:spPr>
          <a:xfrm>
            <a:off x="457200" y="1701800"/>
            <a:ext cx="3810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41" name="Чек_критерий_1"/>
          <p:cNvSpPr txBox="1"/>
          <p:nvPr/>
        </p:nvSpPr>
        <p:spPr>
          <a:xfrm>
            <a:off x="558800" y="1701800"/>
            <a:ext cx="3657600" cy="482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АКО ≥30 мг/г не менее 3 месяцев</a:t>
            </a:r>
          </a:p>
        </p:txBody>
      </p:sp>
      <p:sp>
        <p:nvSpPr>
          <p:cNvPr id="42" name="Чек_ячейка_фон_1_0"/>
          <p:cNvSpPr/>
          <p:nvPr/>
        </p:nvSpPr>
        <p:spPr>
          <a:xfrm>
            <a:off x="4292600" y="1701800"/>
            <a:ext cx="3683000" cy="4826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43" name="Чек_ячейка_1_0"/>
          <p:cNvSpPr txBox="1"/>
          <p:nvPr/>
        </p:nvSpPr>
        <p:spPr>
          <a:xfrm>
            <a:off x="4394200" y="1701800"/>
            <a:ext cx="3479800" cy="482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2E6B1F"/>
                </a:solidFill>
                <a:latin typeface="Arial Narrow"/>
                <a:cs typeface="Arial Narrow"/>
              </a:rPr>
              <a:t>да (320 и 360 мг/г, интервал 4 месяца)</a:t>
            </a:r>
          </a:p>
        </p:txBody>
      </p:sp>
      <p:sp>
        <p:nvSpPr>
          <p:cNvPr id="44" name="Чек_ячейка_фон_1_1"/>
          <p:cNvSpPr/>
          <p:nvPr/>
        </p:nvSpPr>
        <p:spPr>
          <a:xfrm>
            <a:off x="8026400" y="1701800"/>
            <a:ext cx="3683000" cy="482600"/>
          </a:xfrm>
          <a:prstGeom prst="rect">
            <a:avLst/>
          </a:prstGeom>
          <a:solidFill>
            <a:srgbClr val="FCEBD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45" name="Чек_ячейка_1_1"/>
          <p:cNvSpPr txBox="1"/>
          <p:nvPr/>
        </p:nvSpPr>
        <p:spPr>
          <a:xfrm>
            <a:off x="8128000" y="1701800"/>
            <a:ext cx="3479800" cy="482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9A5B00"/>
                </a:solidFill>
                <a:latin typeface="Arial Narrow"/>
                <a:cs typeface="Arial Narrow"/>
              </a:rPr>
              <a:t>не подтверждено (110 мг/г однократно, при инфекции мочевых путей)</a:t>
            </a:r>
          </a:p>
        </p:txBody>
      </p:sp>
      <p:sp>
        <p:nvSpPr>
          <p:cNvPr id="46" name="Чек_критерий_фон_2"/>
          <p:cNvSpPr/>
          <p:nvPr/>
        </p:nvSpPr>
        <p:spPr>
          <a:xfrm>
            <a:off x="457200" y="2209800"/>
            <a:ext cx="3810000" cy="381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47" name="Чек_критерий_2"/>
          <p:cNvSpPr txBox="1"/>
          <p:nvPr/>
        </p:nvSpPr>
        <p:spPr>
          <a:xfrm>
            <a:off x="558800" y="22098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рСКФ ≥25 мл/мин/1,73 м²</a:t>
            </a:r>
          </a:p>
        </p:txBody>
      </p:sp>
      <p:sp>
        <p:nvSpPr>
          <p:cNvPr id="48" name="Чек_ячейка_фон_2_0"/>
          <p:cNvSpPr/>
          <p:nvPr/>
        </p:nvSpPr>
        <p:spPr>
          <a:xfrm>
            <a:off x="4292600" y="2209800"/>
            <a:ext cx="3683000" cy="3810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49" name="Чек_ячейка_2_0"/>
          <p:cNvSpPr txBox="1"/>
          <p:nvPr/>
        </p:nvSpPr>
        <p:spPr>
          <a:xfrm>
            <a:off x="4394200" y="2209800"/>
            <a:ext cx="34798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2E6B1F"/>
                </a:solidFill>
                <a:latin typeface="Arial Narrow"/>
                <a:cs typeface="Arial Narrow"/>
              </a:rPr>
              <a:t>да (48, стабильна)</a:t>
            </a:r>
          </a:p>
        </p:txBody>
      </p:sp>
      <p:sp>
        <p:nvSpPr>
          <p:cNvPr id="50" name="Чек_ячейка_фон_2_1"/>
          <p:cNvSpPr/>
          <p:nvPr/>
        </p:nvSpPr>
        <p:spPr>
          <a:xfrm>
            <a:off x="8026400" y="2209800"/>
            <a:ext cx="3683000" cy="3810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51" name="Чек_ячейка_2_1"/>
          <p:cNvSpPr txBox="1"/>
          <p:nvPr/>
        </p:nvSpPr>
        <p:spPr>
          <a:xfrm>
            <a:off x="8128000" y="2209800"/>
            <a:ext cx="34798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2E6B1F"/>
                </a:solidFill>
                <a:latin typeface="Arial Narrow"/>
                <a:cs typeface="Arial Narrow"/>
              </a:rPr>
              <a:t>да (78)</a:t>
            </a:r>
          </a:p>
        </p:txBody>
      </p:sp>
      <p:sp>
        <p:nvSpPr>
          <p:cNvPr id="52" name="Чек_критерий_фон_3"/>
          <p:cNvSpPr/>
          <p:nvPr/>
        </p:nvSpPr>
        <p:spPr>
          <a:xfrm>
            <a:off x="457200" y="2616200"/>
            <a:ext cx="3810000" cy="381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53" name="Чек_критерий_3"/>
          <p:cNvSpPr txBox="1"/>
          <p:nvPr/>
        </p:nvSpPr>
        <p:spPr>
          <a:xfrm>
            <a:off x="558800" y="26162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Калий ≤4,8 ммоль/л</a:t>
            </a:r>
          </a:p>
        </p:txBody>
      </p:sp>
      <p:sp>
        <p:nvSpPr>
          <p:cNvPr id="54" name="Чек_ячейка_фон_3_0"/>
          <p:cNvSpPr/>
          <p:nvPr/>
        </p:nvSpPr>
        <p:spPr>
          <a:xfrm>
            <a:off x="4292600" y="2616200"/>
            <a:ext cx="3683000" cy="3810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55" name="Чек_ячейка_3_0"/>
          <p:cNvSpPr txBox="1"/>
          <p:nvPr/>
        </p:nvSpPr>
        <p:spPr>
          <a:xfrm>
            <a:off x="4394200" y="2616200"/>
            <a:ext cx="34798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2E6B1F"/>
                </a:solidFill>
                <a:latin typeface="Arial Narrow"/>
                <a:cs typeface="Arial Narrow"/>
              </a:rPr>
              <a:t>да (4,6)</a:t>
            </a:r>
          </a:p>
        </p:txBody>
      </p:sp>
      <p:sp>
        <p:nvSpPr>
          <p:cNvPr id="56" name="Чек_ячейка_фон_3_1"/>
          <p:cNvSpPr/>
          <p:nvPr/>
        </p:nvSpPr>
        <p:spPr>
          <a:xfrm>
            <a:off x="8026400" y="2616200"/>
            <a:ext cx="3683000" cy="381000"/>
          </a:xfrm>
          <a:prstGeom prst="rect">
            <a:avLst/>
          </a:prstGeom>
          <a:solidFill>
            <a:srgbClr val="FCEBD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57" name="Чек_ячейка_3_1"/>
          <p:cNvSpPr txBox="1"/>
          <p:nvPr/>
        </p:nvSpPr>
        <p:spPr>
          <a:xfrm>
            <a:off x="8128000" y="2616200"/>
            <a:ext cx="34798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9A5B00"/>
                </a:solidFill>
                <a:latin typeface="Arial Narrow"/>
                <a:cs typeface="Arial Narrow"/>
              </a:rPr>
              <a:t>нет данных (калий не определён)</a:t>
            </a:r>
          </a:p>
        </p:txBody>
      </p:sp>
      <p:sp>
        <p:nvSpPr>
          <p:cNvPr id="58" name="Чек_критерий_фон_4"/>
          <p:cNvSpPr/>
          <p:nvPr/>
        </p:nvSpPr>
        <p:spPr>
          <a:xfrm>
            <a:off x="457200" y="3022600"/>
            <a:ext cx="3810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59" name="Чек_критерий_4"/>
          <p:cNvSpPr txBox="1"/>
          <p:nvPr/>
        </p:nvSpPr>
        <p:spPr>
          <a:xfrm>
            <a:off x="558800" y="3022600"/>
            <a:ext cx="3657600" cy="482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Ингибитор АПФ или БРА в максимально переносимой дозе</a:t>
            </a:r>
          </a:p>
        </p:txBody>
      </p:sp>
      <p:sp>
        <p:nvSpPr>
          <p:cNvPr id="60" name="Чек_ячейка_фон_4_0"/>
          <p:cNvSpPr/>
          <p:nvPr/>
        </p:nvSpPr>
        <p:spPr>
          <a:xfrm>
            <a:off x="4292600" y="3022600"/>
            <a:ext cx="3683000" cy="4826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61" name="Чек_ячейка_4_0"/>
          <p:cNvSpPr txBox="1"/>
          <p:nvPr/>
        </p:nvSpPr>
        <p:spPr>
          <a:xfrm>
            <a:off x="4394200" y="3022600"/>
            <a:ext cx="3479800" cy="482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2E6B1F"/>
                </a:solidFill>
                <a:latin typeface="Arial Narrow"/>
                <a:cs typeface="Arial Narrow"/>
              </a:rPr>
              <a:t>да (лозартан 100 мг/сут)</a:t>
            </a:r>
          </a:p>
        </p:txBody>
      </p:sp>
      <p:sp>
        <p:nvSpPr>
          <p:cNvPr id="62" name="Чек_ячейка_фон_4_1"/>
          <p:cNvSpPr/>
          <p:nvPr/>
        </p:nvSpPr>
        <p:spPr>
          <a:xfrm>
            <a:off x="8026400" y="3022600"/>
            <a:ext cx="3683000" cy="482600"/>
          </a:xfrm>
          <a:prstGeom prst="rect">
            <a:avLst/>
          </a:prstGeom>
          <a:solidFill>
            <a:srgbClr val="FCEBD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63" name="Чек_ячейка_4_1"/>
          <p:cNvSpPr txBox="1"/>
          <p:nvPr/>
        </p:nvSpPr>
        <p:spPr>
          <a:xfrm>
            <a:off x="8128000" y="3022600"/>
            <a:ext cx="3479800" cy="482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9A5B00"/>
                </a:solidFill>
                <a:latin typeface="Arial Narrow"/>
                <a:cs typeface="Arial Narrow"/>
              </a:rPr>
              <a:t>нет данных</a:t>
            </a:r>
          </a:p>
        </p:txBody>
      </p:sp>
      <p:sp>
        <p:nvSpPr>
          <p:cNvPr id="64" name="Чек_критерий_фон_5"/>
          <p:cNvSpPr/>
          <p:nvPr/>
        </p:nvSpPr>
        <p:spPr>
          <a:xfrm>
            <a:off x="457200" y="3530600"/>
            <a:ext cx="3810000" cy="381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65" name="Чек_критерий_5"/>
          <p:cNvSpPr txBox="1"/>
          <p:nvPr/>
        </p:nvSpPr>
        <p:spPr>
          <a:xfrm>
            <a:off x="558800" y="35306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Полный список лекарств</a:t>
            </a:r>
          </a:p>
        </p:txBody>
      </p:sp>
      <p:sp>
        <p:nvSpPr>
          <p:cNvPr id="66" name="Чек_ячейка_фон_5_0"/>
          <p:cNvSpPr/>
          <p:nvPr/>
        </p:nvSpPr>
        <p:spPr>
          <a:xfrm>
            <a:off x="4292600" y="3530600"/>
            <a:ext cx="3683000" cy="381000"/>
          </a:xfrm>
          <a:prstGeom prst="rect">
            <a:avLst/>
          </a:prstGeom>
          <a:solidFill>
            <a:srgbClr val="E2F0D9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67" name="Чек_ячейка_5_0"/>
          <p:cNvSpPr txBox="1"/>
          <p:nvPr/>
        </p:nvSpPr>
        <p:spPr>
          <a:xfrm>
            <a:off x="4394200" y="3530600"/>
            <a:ext cx="34798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2E6B1F"/>
                </a:solidFill>
                <a:latin typeface="Arial Narrow"/>
                <a:cs typeface="Arial Narrow"/>
              </a:rPr>
              <a:t>да (лозартан, эмпаглифлозин 10 мг/сут)</a:t>
            </a:r>
          </a:p>
        </p:txBody>
      </p:sp>
      <p:sp>
        <p:nvSpPr>
          <p:cNvPr id="68" name="Чек_ячейка_фон_5_1"/>
          <p:cNvSpPr/>
          <p:nvPr/>
        </p:nvSpPr>
        <p:spPr>
          <a:xfrm>
            <a:off x="8026400" y="3530600"/>
            <a:ext cx="3683000" cy="381000"/>
          </a:xfrm>
          <a:prstGeom prst="rect">
            <a:avLst/>
          </a:prstGeom>
          <a:solidFill>
            <a:srgbClr val="FCEBD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69" name="Чек_ячейка_5_1"/>
          <p:cNvSpPr txBox="1"/>
          <p:nvPr/>
        </p:nvSpPr>
        <p:spPr>
          <a:xfrm>
            <a:off x="8128000" y="3530600"/>
            <a:ext cx="34798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9A5B00"/>
                </a:solidFill>
                <a:latin typeface="Arial Narrow"/>
                <a:cs typeface="Arial Narrow"/>
              </a:rPr>
              <a:t>нет данных (не уточнён)</a:t>
            </a:r>
          </a:p>
        </p:txBody>
      </p:sp>
      <p:sp>
        <p:nvSpPr>
          <p:cNvPr id="70" name="Чек_вывод_1"/>
          <p:cNvSpPr/>
          <p:nvPr/>
        </p:nvSpPr>
        <p:spPr>
          <a:xfrm>
            <a:off x="4292600" y="4013200"/>
            <a:ext cx="3683000" cy="3556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Врач может рассмотреть начало лечения</a:t>
            </a:r>
          </a:p>
        </p:txBody>
      </p:sp>
      <p:sp>
        <p:nvSpPr>
          <p:cNvPr id="71" name="Чек_действие_фон_1"/>
          <p:cNvSpPr/>
          <p:nvPr/>
        </p:nvSpPr>
        <p:spPr>
          <a:xfrm>
            <a:off x="4292600" y="4394200"/>
            <a:ext cx="36830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72" name="Чек_действие_1"/>
          <p:cNvSpPr txBox="1"/>
          <p:nvPr/>
        </p:nvSpPr>
        <p:spPr>
          <a:xfrm>
            <a:off x="4419600" y="4445000"/>
            <a:ext cx="3429000" cy="1676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Что делает врач: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проверяет противопоказания и взаимодействия, может начать лечение в дозе 10 мг один раз в сутки (рСКФ 48). </a:t>
            </a: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Контроль: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калий и рСКФ через 4 недели.</a:t>
            </a:r>
          </a:p>
        </p:txBody>
      </p:sp>
      <p:sp>
        <p:nvSpPr>
          <p:cNvPr id="73" name="Чек_вывод_2"/>
          <p:cNvSpPr/>
          <p:nvPr/>
        </p:nvSpPr>
        <p:spPr>
          <a:xfrm>
            <a:off x="8026400" y="4013200"/>
            <a:ext cx="3683000" cy="3556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Данных для решения пока недостаточно</a:t>
            </a:r>
          </a:p>
        </p:txBody>
      </p:sp>
      <p:sp>
        <p:nvSpPr>
          <p:cNvPr id="74" name="Чек_действие_фон_2"/>
          <p:cNvSpPr/>
          <p:nvPr/>
        </p:nvSpPr>
        <p:spPr>
          <a:xfrm>
            <a:off x="8026400" y="4394200"/>
            <a:ext cx="36830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75" name="Чек_действие_2"/>
          <p:cNvSpPr txBox="1"/>
          <p:nvPr/>
        </p:nvSpPr>
        <p:spPr>
          <a:xfrm>
            <a:off x="8153400" y="4445000"/>
            <a:ext cx="3429000" cy="1676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Почему: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АКО определено однократно и во время инфекции; сохранная рСКФ не исключает ХБП. </a:t>
            </a: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Что делает врач: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после лечения инфекции повторяет АКО, подтверждает стойкость изменений (не менее 3 месяцев), определяет калий, уточняет список лекарств.</a:t>
            </a:r>
          </a:p>
        </p:txBody>
      </p:sp>
      <p:sp>
        <p:nvSpPr>
          <p:cNvPr id="76" name="Чек_пометка"/>
          <p:cNvSpPr txBox="1"/>
          <p:nvPr/>
        </p:nvSpPr>
        <p:spPr>
          <a:xfrm>
            <a:off x="457200" y="4013200"/>
            <a:ext cx="3708400" cy="2159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595959"/>
                </a:solidFill>
                <a:latin typeface="Arial Narrow"/>
                <a:cs typeface="Arial Narrow"/>
              </a:rPr>
              <a:t>Условные случаи для обучения. Представитель не оценивает конкретных пациентов и не даёт рекомендаций по их лечению; такие вопросы врача передаёт в медицинский отдел по процедуре компании.</a:t>
            </a:r>
          </a:p>
        </p:txBody>
      </p:sp>
      <p:sp>
        <p:nvSpPr>
          <p:cNvPr id="77" name="Метка_ответ_1"/>
          <p:cNvSpPr txBox="1"/>
          <p:nvPr/>
        </p:nvSpPr>
        <p:spPr>
          <a:xfrm>
            <a:off x="9829800" y="304800"/>
            <a:ext cx="1905000" cy="279400"/>
          </a:xfrm>
          <a:prstGeom prst="rect">
            <a:avLst/>
          </a:prstGeom>
          <a:solidFill>
            <a:srgbClr val="F3EDF8"/>
          </a:solidFill>
        </p:spPr>
        <p:txBody>
          <a:bodyPr wrap="square" lIns="0" rIns="0" tIns="0" bIns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7030A0"/>
                </a:solidFill>
                <a:latin typeface="Arial Narrow"/>
                <a:cs typeface="Arial Narrow"/>
              </a:rPr>
              <a:t>Ответ на вопрос 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u="none" lang="ru-RU">
                <a:solidFill>
                  <a:srgbClr val="7030A0"/>
                </a:solidFill>
                <a:latin typeface="Arial Narrow"/>
                <a:cs typeface="Arial Narrow"/>
              </a:rPr>
              <a:t>Гиперкалиемия на фоне финеренона: временная отмена и возобновление лечения</a:t>
            </a:r>
          </a:p>
        </p:txBody>
      </p:sp>
      <p:sp>
        <p:nvSpPr>
          <p:cNvPr id="3" name="Условный_случай"/>
          <p:cNvSpPr txBox="1"/>
          <p:nvPr/>
        </p:nvSpPr>
        <p:spPr>
          <a:xfrm>
            <a:off x="457200" y="838200"/>
            <a:ext cx="112776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Условный случай для обучения: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взрослый с ХБП, связанной с сахарным диабетом 2 типа, состояние стабильное.</a:t>
            </a:r>
          </a:p>
        </p:txBody>
      </p:sp>
      <p:graphicFrame>
        <p:nvGraphicFramePr>
          <p:cNvPr id="4" name="График_калия"/>
          <p:cNvGraphicFramePr>
            <a:graphicFrameLocks noGrp="1"/>
          </p:cNvGraphicFramePr>
          <p:nvPr/>
        </p:nvGraphicFramePr>
        <p:xfrm>
          <a:off x="381000" y="1219200"/>
          <a:ext cx="5588000" cy="45212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5" name="Шаг_96"/>
          <p:cNvSpPr txBox="1"/>
          <p:nvPr/>
        </p:nvSpPr>
        <p:spPr>
          <a:xfrm>
            <a:off x="6350000" y="1219200"/>
            <a:ext cx="53848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7030A0"/>
                </a:solidFill>
                <a:latin typeface="Arial Narrow"/>
                <a:cs typeface="Arial Narrow"/>
              </a:rPr>
              <a:t>До начала лечения: калий 4,5 ммоль/л, рСКФ 65</a:t>
            </a:r>
          </a:p>
        </p:txBody>
      </p:sp>
      <p:sp>
        <p:nvSpPr>
          <p:cNvPr id="6" name="Шаг_текст_96"/>
          <p:cNvSpPr txBox="1"/>
          <p:nvPr/>
        </p:nvSpPr>
        <p:spPr>
          <a:xfrm>
            <a:off x="6350000" y="1549400"/>
            <a:ext cx="5384800" cy="812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Что делает врач: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назначает финеренон 20 мг один раз в сутки (рСКФ ≥60, калий ≤4,8 ммоль/л).</a:t>
            </a:r>
          </a:p>
        </p:txBody>
      </p:sp>
      <p:sp>
        <p:nvSpPr>
          <p:cNvPr id="7" name="Шаг_170"/>
          <p:cNvSpPr txBox="1"/>
          <p:nvPr/>
        </p:nvSpPr>
        <p:spPr>
          <a:xfrm>
            <a:off x="6350000" y="2159000"/>
            <a:ext cx="53848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B5323C"/>
                </a:solidFill>
                <a:latin typeface="Arial Narrow"/>
                <a:cs typeface="Arial Narrow"/>
              </a:rPr>
              <a:t>Через 4 недели: калий 5,7 ммоль/л, рСКФ 61</a:t>
            </a:r>
          </a:p>
        </p:txBody>
      </p:sp>
      <p:sp>
        <p:nvSpPr>
          <p:cNvPr id="8" name="Шаг_текст_170"/>
          <p:cNvSpPr txBox="1"/>
          <p:nvPr/>
        </p:nvSpPr>
        <p:spPr>
          <a:xfrm>
            <a:off x="6350000" y="2489200"/>
            <a:ext cx="5384800" cy="812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Возможная причина: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недавно начат короткий курс ко-тримоксазола.</a:t>
            </a:r>
          </a:p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Что делает врач: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временно отменяет финеренон, выясняет причину и повторяет анализ.</a:t>
            </a:r>
          </a:p>
        </p:txBody>
      </p:sp>
      <p:sp>
        <p:nvSpPr>
          <p:cNvPr id="9" name="Шаг_270"/>
          <p:cNvSpPr txBox="1"/>
          <p:nvPr/>
        </p:nvSpPr>
        <p:spPr>
          <a:xfrm>
            <a:off x="6350000" y="3429000"/>
            <a:ext cx="53848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E97132"/>
                </a:solidFill>
                <a:latin typeface="Arial Narrow"/>
                <a:cs typeface="Arial Narrow"/>
              </a:rPr>
              <a:t>Повторный анализ после курса: калий 4,9 ммоль/л</a:t>
            </a:r>
          </a:p>
        </p:txBody>
      </p:sp>
      <p:sp>
        <p:nvSpPr>
          <p:cNvPr id="10" name="Шаг_текст_270"/>
          <p:cNvSpPr txBox="1"/>
          <p:nvPr/>
        </p:nvSpPr>
        <p:spPr>
          <a:xfrm>
            <a:off x="6350000" y="3759200"/>
            <a:ext cx="5384800" cy="812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Что делает врач: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может возобновить лечение в дозе 10 мг один раз в сутки. Сразу к 20 мг не возвращаются.</a:t>
            </a:r>
          </a:p>
        </p:txBody>
      </p:sp>
      <p:sp>
        <p:nvSpPr>
          <p:cNvPr id="11" name="Шаг_356"/>
          <p:cNvSpPr txBox="1"/>
          <p:nvPr/>
        </p:nvSpPr>
        <p:spPr>
          <a:xfrm>
            <a:off x="6350000" y="4521200"/>
            <a:ext cx="53848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7030A0"/>
                </a:solidFill>
                <a:latin typeface="Arial Narrow"/>
                <a:cs typeface="Arial Narrow"/>
              </a:rPr>
              <a:t>Через 4 недели после возобновления</a:t>
            </a:r>
          </a:p>
        </p:txBody>
      </p:sp>
      <p:sp>
        <p:nvSpPr>
          <p:cNvPr id="12" name="Шаг_текст_356"/>
          <p:cNvSpPr txBox="1"/>
          <p:nvPr/>
        </p:nvSpPr>
        <p:spPr>
          <a:xfrm>
            <a:off x="6350000" y="4851400"/>
            <a:ext cx="5384800" cy="812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Калий ≤4,8 ммоль/л и снижение рСКФ не более чем на 30% от предыдущего измерения: дозу можно повысить до 20 мг.</a:t>
            </a:r>
          </a:p>
        </p:txBody>
      </p:sp>
      <p:sp>
        <p:nvSpPr>
          <p:cNvPr id="13" name="Срочность"/>
          <p:cNvSpPr txBox="1"/>
          <p:nvPr/>
        </p:nvSpPr>
        <p:spPr>
          <a:xfrm>
            <a:off x="6350000" y="5461000"/>
            <a:ext cx="5384800" cy="53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Срочно: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при калии ≥6,0 ммоль/л или ухудшении состояния планового контроля не ждут.</a:t>
            </a:r>
          </a:p>
        </p:txBody>
      </p:sp>
      <p:sp>
        <p:nvSpPr>
          <p:cNvPr id="14" name="Источники"/>
          <p:cNvSpPr txBox="1"/>
          <p:nvPr/>
        </p:nvSpPr>
        <p:spPr>
          <a:xfrm>
            <a:off x="457200" y="6383020"/>
            <a:ext cx="10795000" cy="3987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рСКФ: расчётная скорость клубочковой фильтрации, мл/мин/1,73 м²; ХБП: хроническая болезнь почек.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Kerendia (finerenone). Summary of Product Characteristics. EMA. KDIGO 2024 Clinical Practice Guideline for CKD. Kidney Int. 2024;105(4S):S117–S314.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Финеренон-Орвилле. Инструкция по медицинскому применению.</a:t>
            </a:r>
          </a:p>
        </p:txBody>
      </p:sp>
      <p:pic>
        <p:nvPicPr>
          <p:cNvPr id="15" name="Логотип Орвилле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16" name="Метка_ответ_2"/>
          <p:cNvSpPr txBox="1"/>
          <p:nvPr/>
        </p:nvSpPr>
        <p:spPr>
          <a:xfrm>
            <a:off x="9829800" y="304800"/>
            <a:ext cx="1905000" cy="279400"/>
          </a:xfrm>
          <a:prstGeom prst="rect">
            <a:avLst/>
          </a:prstGeom>
          <a:solidFill>
            <a:srgbClr val="F3EDF8"/>
          </a:solidFill>
        </p:spPr>
        <p:txBody>
          <a:bodyPr wrap="square" lIns="0" rIns="0" tIns="0" bIns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7030A0"/>
                </a:solidFill>
                <a:latin typeface="Arial Narrow"/>
                <a:cs typeface="Arial Narrow"/>
              </a:rPr>
              <a:t>Ответ на вопрос 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_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>
                <a:solidFill>
                  <a:srgbClr val="7030A0"/>
                </a:solidFill>
                <a:latin typeface="Arial Narrow"/>
                <a:cs typeface="Arial Narrow"/>
              </a:rPr>
              <a:t>Итоги: что представитель знает и может объяснить врачу</a:t>
            </a:r>
          </a:p>
        </p:txBody>
      </p:sp>
      <p:sp>
        <p:nvSpPr>
          <p:cNvPr id="44" name="Источники"/>
          <p:cNvSpPr txBox="1"/>
          <p:nvPr/>
        </p:nvSpPr>
        <p:spPr>
          <a:xfrm>
            <a:off x="457200" y="6383020"/>
            <a:ext cx="10795000" cy="3987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МКР: минералокортикоидный рецептор; АКО: отношение альбумина к креатинину мочи; рСКФ: расчётная скорость клубочковой фильтрации.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Bakris GL, et al. N Engl J Med. 2020;383:2219–2229. Pitt B, et al. N Engl J Med. 2021;385:2252–2263. Agarwal R, et al. Eur Heart J. 2022;43:474–484. KDIGO 2024 Clinical Practice Guideline for CKD. Kidney Int. 2024;105(4S):S117–S314.</a:t>
            </a:r>
          </a:p>
        </p:txBody>
      </p:sp>
      <p:pic>
        <p:nvPicPr>
          <p:cNvPr id="45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46" name="Итог_полоса_1"/>
          <p:cNvSpPr/>
          <p:nvPr/>
        </p:nvSpPr>
        <p:spPr>
          <a:xfrm>
            <a:off x="457200" y="1016000"/>
            <a:ext cx="3657600" cy="3810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Показание и механизм действия</a:t>
            </a:r>
          </a:p>
        </p:txBody>
      </p:sp>
      <p:sp>
        <p:nvSpPr>
          <p:cNvPr id="47" name="Итог_фон_1"/>
          <p:cNvSpPr/>
          <p:nvPr/>
        </p:nvSpPr>
        <p:spPr>
          <a:xfrm>
            <a:off x="457200" y="1447800"/>
            <a:ext cx="3657600" cy="2897353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48" name="Итог_текст_1"/>
          <p:cNvSpPr txBox="1"/>
          <p:nvPr/>
        </p:nvSpPr>
        <p:spPr>
          <a:xfrm>
            <a:off x="635000" y="1524000"/>
            <a:ext cx="3302000" cy="274495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Показание по местной инструкции: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 взрослые с ХБП, связанной с сахарным диабетом 2 типа. В исследованиях у всех была альбуминурия (АКО ≥30 мг/г).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Механизм: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 блокирует МКР; калий может повышаться (слайды 19 и 29).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Перед началом: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 калий, рСКФ, противопоказания, фоновая терапия (слайд 32).</a:t>
            </a:r>
          </a:p>
        </p:txBody>
      </p:sp>
      <p:sp>
        <p:nvSpPr>
          <p:cNvPr id="49" name="Итог_полоса_2"/>
          <p:cNvSpPr/>
          <p:nvPr/>
        </p:nvSpPr>
        <p:spPr>
          <a:xfrm>
            <a:off x="4267200" y="1016000"/>
            <a:ext cx="3657600" cy="381000"/>
          </a:xfrm>
          <a:prstGeom prst="roundRect">
            <a:avLst>
              <a:gd name="adj" fmla="val 25000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Польза в исследованиях</a:t>
            </a:r>
          </a:p>
        </p:txBody>
      </p:sp>
      <p:sp>
        <p:nvSpPr>
          <p:cNvPr id="50" name="Итог_фон_2"/>
          <p:cNvSpPr/>
          <p:nvPr/>
        </p:nvSpPr>
        <p:spPr>
          <a:xfrm>
            <a:off x="4267200" y="1447800"/>
            <a:ext cx="3657600" cy="2897353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51" name="Итог_текст_2"/>
          <p:cNvSpPr txBox="1"/>
          <p:nvPr/>
        </p:nvSpPr>
        <p:spPr>
          <a:xfrm>
            <a:off x="4445000" y="1524000"/>
            <a:ext cx="3302000" cy="274495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Исходы: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 относительное снижение риска почечного исхода на 18% (FIDELIO-DKD) и сердечно-сосудистого на 13% (FIGARO-DKD).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Риск гиперкалиемии: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 финеренон 14,0%, плацебо 6,9% (FIDELITY).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Снижение АКО: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 показатель на уровне групп; по нему нельзя предсказать исход у конкретного пациента.</a:t>
            </a:r>
          </a:p>
        </p:txBody>
      </p:sp>
      <p:sp>
        <p:nvSpPr>
          <p:cNvPr id="52" name="Итог_полоса_3"/>
          <p:cNvSpPr/>
          <p:nvPr/>
        </p:nvSpPr>
        <p:spPr>
          <a:xfrm>
            <a:off x="8077200" y="1016000"/>
            <a:ext cx="36576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Контроль калия и функции почек</a:t>
            </a:r>
          </a:p>
        </p:txBody>
      </p:sp>
      <p:sp>
        <p:nvSpPr>
          <p:cNvPr id="53" name="Итог_фон_3"/>
          <p:cNvSpPr/>
          <p:nvPr/>
        </p:nvSpPr>
        <p:spPr>
          <a:xfrm>
            <a:off x="8077200" y="1447800"/>
            <a:ext cx="3657600" cy="2897353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54" name="Итог_текст_3"/>
          <p:cNvSpPr txBox="1"/>
          <p:nvPr/>
        </p:nvSpPr>
        <p:spPr>
          <a:xfrm>
            <a:off x="8255000" y="1524000"/>
            <a:ext cx="3302000" cy="274495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Сочетания: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 что противопоказано, не рекомендуется и когда нужен контроль калия (слайд 30).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Контроль: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 калий и рСКФ до начала, через 4 недели, далее периодически (слайд 33).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Калий &gt;5,5 ммоль/л: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 временная отмена; при калии ≤5,0 возобновление в дозе 10 мг (слайды 34 и 40).</a:t>
            </a:r>
          </a:p>
        </p:txBody>
      </p:sp>
      <p:sp>
        <p:nvSpPr>
          <p:cNvPr id="55" name="Итог_вывод"/>
          <p:cNvSpPr txBox="1"/>
          <p:nvPr/>
        </p:nvSpPr>
        <p:spPr>
          <a:xfrm>
            <a:off x="457200" y="4522953"/>
            <a:ext cx="11277600" cy="7543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Представитель объясняет данные в рамках местной инструкции и не даёт рекомендаций по лечению конкретных пациентов. Диагноз и лечение определяет врач. Вопросы вне инструкции передают в медицинский отдел, о нежелательных явлениях сообщают в отдел фармаконадзора.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8" name="Карточка_вопрос_1"/>
          <p:cNvSpPr/>
          <p:nvPr/>
        </p:nvSpPr>
        <p:spPr>
          <a:xfrm>
            <a:off x="457200" y="1143000"/>
            <a:ext cx="11277600" cy="2413000"/>
          </a:xfrm>
          <a:prstGeom prst="roundRect">
            <a:avLst>
              <a:gd name="adj" fmla="val 421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9" name="Карточка_вопрос_2"/>
          <p:cNvSpPr/>
          <p:nvPr/>
        </p:nvSpPr>
        <p:spPr>
          <a:xfrm>
            <a:off x="457200" y="3759200"/>
            <a:ext cx="11277600" cy="2413000"/>
          </a:xfrm>
          <a:prstGeom prst="roundRect">
            <a:avLst>
              <a:gd name="adj" fmla="val 421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grpSp>
        <p:nvGrpSpPr>
          <p:cNvPr id="5" name="Исходный_визуал_S13_1"/>
          <p:cNvGrpSpPr/>
          <p:nvPr/>
        </p:nvGrpSpPr>
        <p:grpSpPr>
          <a:xfrm>
            <a:off x="952500" y="1618261"/>
            <a:ext cx="1554480" cy="1157678"/>
            <a:chOff x="548640" y="4507992"/>
            <a:chExt cx="1737360" cy="1293876"/>
          </a:xfrm>
        </p:grpSpPr>
        <p:grpSp>
          <p:nvGrpSpPr>
            <p:cNvPr id="6" name="Urine_illustration_editable"/>
            <p:cNvGrpSpPr/>
            <p:nvPr/>
          </p:nvGrpSpPr>
          <p:grpSpPr>
            <a:xfrm>
              <a:off x="548640" y="4507992"/>
              <a:ext cx="1737360" cy="1293876"/>
              <a:chOff x="548640" y="4507992"/>
              <a:chExt cx="1737360" cy="1293876"/>
            </a:xfrm>
          </p:grpSpPr>
          <p:sp>
            <p:nvSpPr>
              <p:cNvPr id="7" name="Urine_cup"/>
              <p:cNvSpPr/>
              <p:nvPr/>
            </p:nvSpPr>
            <p:spPr>
              <a:xfrm>
                <a:off x="598018" y="4734763"/>
                <a:ext cx="918058" cy="106710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1167">
                    <a:moveTo>
                      <a:pt x="0" y="0"/>
                    </a:moveTo>
                    <a:lnTo>
                      <a:pt x="1004" y="0"/>
                    </a:lnTo>
                    <a:lnTo>
                      <a:pt x="875" y="1167"/>
                    </a:lnTo>
                    <a:lnTo>
                      <a:pt x="130" y="1167"/>
                    </a:lnTo>
                    <a:close/>
                  </a:path>
                </a:pathLst>
              </a:cu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8" name="Urine_urine"/>
              <p:cNvSpPr/>
              <p:nvPr/>
            </p:nvSpPr>
            <p:spPr>
              <a:xfrm>
                <a:off x="667512" y="5189220"/>
                <a:ext cx="779983" cy="533095"/>
              </a:xfrm>
              <a:custGeom>
                <a:avLst/>
                <a:gdLst/>
                <a:ahLst/>
                <a:cxnLst/>
                <a:rect l="l" t="t" r="r" b="b"/>
                <a:pathLst>
                  <a:path w="853" h="583">
                    <a:moveTo>
                      <a:pt x="0" y="0"/>
                    </a:moveTo>
                    <a:lnTo>
                      <a:pt x="853" y="0"/>
                    </a:lnTo>
                    <a:lnTo>
                      <a:pt x="788" y="583"/>
                    </a:lnTo>
                    <a:lnTo>
                      <a:pt x="64" y="583"/>
                    </a:lnTo>
                    <a:close/>
                  </a:path>
                </a:pathLst>
              </a:custGeom>
              <a:solidFill>
                <a:srgbClr val="FFF2C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9" name="Urine_surface"/>
              <p:cNvSpPr/>
              <p:nvPr/>
            </p:nvSpPr>
            <p:spPr>
              <a:xfrm>
                <a:off x="667146" y="5149900"/>
                <a:ext cx="780166" cy="128381"/>
              </a:xfrm>
              <a:prstGeom prst="ellipse">
                <a:avLst/>
              </a:prstGeom>
              <a:solidFill>
                <a:srgbClr val="EBC96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10" name="Urine_lid"/>
              <p:cNvSpPr/>
              <p:nvPr/>
            </p:nvSpPr>
            <p:spPr>
              <a:xfrm>
                <a:off x="548640" y="4507992"/>
                <a:ext cx="1017178" cy="296265"/>
              </a:xfrm>
              <a:prstGeom prst="roundRect">
                <a:avLst/>
              </a:prstGeom>
              <a:solidFill>
                <a:srgbClr val="C8104E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11" name="Urine_ridge1"/>
              <p:cNvCxnSpPr/>
              <p:nvPr/>
            </p:nvCxnSpPr>
            <p:spPr>
              <a:xfrm>
                <a:off x="62863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2" name="Urine_ridge2"/>
              <p:cNvCxnSpPr/>
              <p:nvPr/>
            </p:nvCxnSpPr>
            <p:spPr>
              <a:xfrm>
                <a:off x="70862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3" name="Urine_ridge3"/>
              <p:cNvCxnSpPr/>
              <p:nvPr/>
            </p:nvCxnSpPr>
            <p:spPr>
              <a:xfrm>
                <a:off x="78861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4" name="Urine_ridge4"/>
              <p:cNvCxnSpPr/>
              <p:nvPr/>
            </p:nvCxnSpPr>
            <p:spPr>
              <a:xfrm>
                <a:off x="868606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5" name="Urine_ridge5"/>
              <p:cNvCxnSpPr/>
              <p:nvPr/>
            </p:nvCxnSpPr>
            <p:spPr>
              <a:xfrm>
                <a:off x="94859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6" name="Urine_ridge6"/>
              <p:cNvCxnSpPr/>
              <p:nvPr/>
            </p:nvCxnSpPr>
            <p:spPr>
              <a:xfrm>
                <a:off x="1028590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7" name="Urine_ridge7"/>
              <p:cNvCxnSpPr/>
              <p:nvPr/>
            </p:nvCxnSpPr>
            <p:spPr>
              <a:xfrm>
                <a:off x="110858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8" name="Urine_ridge8"/>
              <p:cNvCxnSpPr/>
              <p:nvPr/>
            </p:nvCxnSpPr>
            <p:spPr>
              <a:xfrm>
                <a:off x="118857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9" name="Urine_ridge9"/>
              <p:cNvCxnSpPr/>
              <p:nvPr/>
            </p:nvCxnSpPr>
            <p:spPr>
              <a:xfrm>
                <a:off x="126856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20" name="Urine_ridge10"/>
              <p:cNvCxnSpPr/>
              <p:nvPr/>
            </p:nvCxnSpPr>
            <p:spPr>
              <a:xfrm>
                <a:off x="1348557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21" name="Urine_ridge11"/>
              <p:cNvCxnSpPr/>
              <p:nvPr/>
            </p:nvCxnSpPr>
            <p:spPr>
              <a:xfrm>
                <a:off x="142854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sp>
            <p:nvSpPr>
              <p:cNvPr id="22" name="Urine_label"/>
              <p:cNvSpPr/>
              <p:nvPr/>
            </p:nvSpPr>
            <p:spPr>
              <a:xfrm>
                <a:off x="775776" y="4991892"/>
                <a:ext cx="562904" cy="36539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23" name="Urine_barcode0"/>
              <p:cNvCxnSpPr/>
              <p:nvPr/>
            </p:nvCxnSpPr>
            <p:spPr>
              <a:xfrm>
                <a:off x="864656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4" name="Urine_barcode1"/>
              <p:cNvCxnSpPr/>
              <p:nvPr/>
            </p:nvCxnSpPr>
            <p:spPr>
              <a:xfrm>
                <a:off x="917984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5" name="Urine_barcode2"/>
              <p:cNvCxnSpPr/>
              <p:nvPr/>
            </p:nvCxnSpPr>
            <p:spPr>
              <a:xfrm>
                <a:off x="971312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6" name="Urine_barcode3"/>
              <p:cNvCxnSpPr/>
              <p:nvPr/>
            </p:nvCxnSpPr>
            <p:spPr>
              <a:xfrm>
                <a:off x="1024640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7" name="Urine_barcode4"/>
              <p:cNvCxnSpPr/>
              <p:nvPr/>
            </p:nvCxnSpPr>
            <p:spPr>
              <a:xfrm>
                <a:off x="1077967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8" name="Urine_barcode5"/>
              <p:cNvCxnSpPr/>
              <p:nvPr/>
            </p:nvCxnSpPr>
            <p:spPr>
              <a:xfrm>
                <a:off x="1131295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9" name="Urine_measure0"/>
              <p:cNvCxnSpPr/>
              <p:nvPr/>
            </p:nvCxnSpPr>
            <p:spPr>
              <a:xfrm>
                <a:off x="677021" y="4942514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0" name="Urine_measure1"/>
              <p:cNvCxnSpPr/>
              <p:nvPr/>
            </p:nvCxnSpPr>
            <p:spPr>
              <a:xfrm>
                <a:off x="677021" y="5110398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1" name="Urine_measure2"/>
              <p:cNvCxnSpPr/>
              <p:nvPr/>
            </p:nvCxnSpPr>
            <p:spPr>
              <a:xfrm>
                <a:off x="677021" y="5278282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2" name="Urine_measure3"/>
              <p:cNvCxnSpPr/>
              <p:nvPr/>
            </p:nvCxnSpPr>
            <p:spPr>
              <a:xfrm>
                <a:off x="677021" y="5446166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</p:grpSp>
      </p:grpSp>
      <p:sp>
        <p:nvSpPr>
          <p:cNvPr id="34" name="Text_5"/>
          <p:cNvSpPr txBox="1"/>
          <p:nvPr/>
        </p:nvSpPr>
        <p:spPr>
          <a:xfrm>
            <a:off x="3095625" y="1810799"/>
            <a:ext cx="8382000" cy="355600"/>
          </a:xfrm>
          <a:prstGeom prst="rect">
            <a:avLst/>
          </a:prstGeom>
          <a:noFill/>
        </p:spPr>
        <p:txBody>
          <a:bodyPr wrap="square" lIns="0" tIns="10972" rIns="0" bIns="1097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100" b="1" u="none">
                <a:solidFill>
                  <a:srgbClr val="7030A0"/>
                </a:solidFill>
                <a:latin typeface="Arial"/>
              </a:defRPr>
            </a:pPr>
            <a:r>
              <a:rPr lang="ru-RU" sz="1800" b="1" u="none">
                <a:solidFill>
                  <a:srgbClr val="7030A0"/>
                </a:solidFill>
                <a:latin typeface="Arial Narrow"/>
                <a:cs typeface="Arial Narrow"/>
              </a:rPr>
              <a:t>Вопрос 1.</a:t>
            </a:r>
            <a:r>
              <a:rPr lang="ru-RU" sz="1800" b="0" u="none">
                <a:solidFill>
                  <a:srgbClr val="7030A0"/>
                </a:solidFill>
                <a:latin typeface="Arial Narrow"/>
                <a:cs typeface="Arial Narrow"/>
              </a:rPr>
              <a:t> Взрослый с ХБП и диабетом 2 типа: гликемия и давление в целевом диапазоне</a:t>
            </a:r>
          </a:p>
        </p:txBody>
      </p:sp>
      <p:sp>
        <p:nvSpPr>
          <p:cNvPr id="35" name="Text_6"/>
          <p:cNvSpPr txBox="1"/>
          <p:nvPr/>
        </p:nvSpPr>
        <p:spPr>
          <a:xfrm>
            <a:off x="3095625" y="2318799"/>
            <a:ext cx="8096250" cy="594800"/>
          </a:xfrm>
          <a:prstGeom prst="rect">
            <a:avLst/>
          </a:prstGeom>
          <a:noFill/>
        </p:spPr>
        <p:txBody>
          <a:bodyPr wrap="square" lIns="0" tIns="10972" rIns="0" bIns="1097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Альбуминурия сохраняется.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Какие данные нужны, чтобы обсудить дополнительное лечение?</a:t>
            </a:r>
          </a:p>
        </p:txBody>
      </p:sp>
      <p:grpSp>
        <p:nvGrpSpPr>
          <p:cNvPr id="36" name="Исходный_визуал_S13_1"/>
          <p:cNvGrpSpPr/>
          <p:nvPr/>
        </p:nvGrpSpPr>
        <p:grpSpPr>
          <a:xfrm>
            <a:off x="1066800" y="4058920"/>
            <a:ext cx="1321266" cy="1508760"/>
            <a:chOff x="749808" y="1399032"/>
            <a:chExt cx="1536192" cy="1754184"/>
          </a:xfrm>
        </p:grpSpPr>
        <p:grpSp>
          <p:nvGrpSpPr>
            <p:cNvPr id="37" name="Blood_illustration_editable"/>
            <p:cNvGrpSpPr/>
            <p:nvPr/>
          </p:nvGrpSpPr>
          <p:grpSpPr>
            <a:xfrm>
              <a:off x="749808" y="1399032"/>
              <a:ext cx="1536192" cy="1754184"/>
              <a:chOff x="749808" y="1399032"/>
              <a:chExt cx="1536192" cy="1754184"/>
            </a:xfrm>
          </p:grpSpPr>
          <p:sp>
            <p:nvSpPr>
              <p:cNvPr id="38" name="Blood_glass"/>
              <p:cNvSpPr/>
              <p:nvPr/>
            </p:nvSpPr>
            <p:spPr>
              <a:xfrm>
                <a:off x="839510" y="1648206"/>
                <a:ext cx="468447" cy="1505010"/>
              </a:xfrm>
              <a:prstGeom prst="roundRect">
                <a:avLst>
                  <a:gd name="adj" fmla="val 32000"/>
                </a:avLst>
              </a:pr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39" name="Blood_blood"/>
              <p:cNvSpPr/>
              <p:nvPr/>
            </p:nvSpPr>
            <p:spPr>
              <a:xfrm>
                <a:off x="889345" y="2355860"/>
                <a:ext cx="368777" cy="687720"/>
              </a:xfrm>
              <a:prstGeom prst="roundRect">
                <a:avLst>
                  <a:gd name="adj" fmla="val 32000"/>
                </a:avLst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0" name="Blood_liquid_top"/>
              <p:cNvSpPr/>
              <p:nvPr/>
            </p:nvSpPr>
            <p:spPr>
              <a:xfrm>
                <a:off x="889345" y="2315992"/>
                <a:ext cx="368777" cy="348843"/>
              </a:xfrm>
              <a:prstGeom prst="rect">
                <a:avLst/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1" name="Blood_blood_surface"/>
              <p:cNvSpPr/>
              <p:nvPr/>
            </p:nvSpPr>
            <p:spPr>
              <a:xfrm>
                <a:off x="889345" y="2276124"/>
                <a:ext cx="368777" cy="109636"/>
              </a:xfrm>
              <a:prstGeom prst="ellipse">
                <a:avLst/>
              </a:prstGeom>
              <a:solidFill>
                <a:srgbClr val="CA647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2" name="Blood_label"/>
              <p:cNvSpPr/>
              <p:nvPr/>
            </p:nvSpPr>
            <p:spPr>
              <a:xfrm>
                <a:off x="859444" y="1947214"/>
                <a:ext cx="428579" cy="3488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43" name="Blood_barcode0"/>
              <p:cNvCxnSpPr/>
              <p:nvPr/>
            </p:nvCxnSpPr>
            <p:spPr>
              <a:xfrm>
                <a:off x="91924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4" name="Blood_barcode1"/>
              <p:cNvCxnSpPr/>
              <p:nvPr/>
            </p:nvCxnSpPr>
            <p:spPr>
              <a:xfrm>
                <a:off x="954130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5" name="Blood_barcode2"/>
              <p:cNvCxnSpPr/>
              <p:nvPr/>
            </p:nvCxnSpPr>
            <p:spPr>
              <a:xfrm>
                <a:off x="989015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6" name="Blood_barcode3"/>
              <p:cNvCxnSpPr/>
              <p:nvPr/>
            </p:nvCxnSpPr>
            <p:spPr>
              <a:xfrm>
                <a:off x="1023899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7" name="Blood_barcode4"/>
              <p:cNvCxnSpPr/>
              <p:nvPr/>
            </p:nvCxnSpPr>
            <p:spPr>
              <a:xfrm>
                <a:off x="1058783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8" name="Blood_barcode5"/>
              <p:cNvCxnSpPr/>
              <p:nvPr/>
            </p:nvCxnSpPr>
            <p:spPr>
              <a:xfrm>
                <a:off x="1093668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9" name="Blood_barcode6"/>
              <p:cNvCxnSpPr/>
              <p:nvPr/>
            </p:nvCxnSpPr>
            <p:spPr>
              <a:xfrm>
                <a:off x="1128552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50" name="Blood_barcode7"/>
              <p:cNvCxnSpPr/>
              <p:nvPr/>
            </p:nvCxnSpPr>
            <p:spPr>
              <a:xfrm>
                <a:off x="116343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sp>
            <p:nvSpPr>
              <p:cNvPr id="51" name="Blood_cap"/>
              <p:cNvSpPr/>
              <p:nvPr/>
            </p:nvSpPr>
            <p:spPr>
              <a:xfrm>
                <a:off x="749808" y="1399032"/>
                <a:ext cx="647852" cy="328909"/>
              </a:xfrm>
              <a:prstGeom prst="roundRect">
                <a:avLst/>
              </a:prstGeom>
              <a:solidFill>
                <a:srgbClr val="3A8E3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52" name="Blood_ridge1"/>
              <p:cNvCxnSpPr/>
              <p:nvPr/>
            </p:nvCxnSpPr>
            <p:spPr>
              <a:xfrm>
                <a:off x="827550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3" name="Blood_ridge2"/>
              <p:cNvCxnSpPr/>
              <p:nvPr/>
            </p:nvCxnSpPr>
            <p:spPr>
              <a:xfrm>
                <a:off x="905292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4" name="Blood_ridge3"/>
              <p:cNvCxnSpPr/>
              <p:nvPr/>
            </p:nvCxnSpPr>
            <p:spPr>
              <a:xfrm>
                <a:off x="98303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5" name="Blood_ridge4"/>
              <p:cNvCxnSpPr/>
              <p:nvPr/>
            </p:nvCxnSpPr>
            <p:spPr>
              <a:xfrm>
                <a:off x="1060777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6" name="Blood_ridge5"/>
              <p:cNvCxnSpPr/>
              <p:nvPr/>
            </p:nvCxnSpPr>
            <p:spPr>
              <a:xfrm>
                <a:off x="1138519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7" name="Blood_ridge6"/>
              <p:cNvCxnSpPr/>
              <p:nvPr/>
            </p:nvCxnSpPr>
            <p:spPr>
              <a:xfrm>
                <a:off x="1216261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8" name="Blood_ridge7"/>
              <p:cNvCxnSpPr/>
              <p:nvPr/>
            </p:nvCxnSpPr>
            <p:spPr>
              <a:xfrm>
                <a:off x="129400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9" name="Blood_shine"/>
              <p:cNvCxnSpPr/>
              <p:nvPr/>
            </p:nvCxnSpPr>
            <p:spPr>
              <a:xfrm>
                <a:off x="949147" y="1757842"/>
                <a:ext cx="0" cy="159471"/>
              </a:xfrm>
              <a:prstGeom prst="line">
                <a:avLst/>
              </a:prstGeom>
              <a:ln w="19050">
                <a:solidFill>
                  <a:srgbClr val="FFFFFF"/>
                </a:solidFill>
              </a:ln>
              <a:effectLst/>
            </p:spPr>
          </p:cxnSp>
        </p:grpSp>
      </p:grpSp>
      <p:sp>
        <p:nvSpPr>
          <p:cNvPr id="61" name="Text_8"/>
          <p:cNvSpPr txBox="1"/>
          <p:nvPr/>
        </p:nvSpPr>
        <p:spPr>
          <a:xfrm>
            <a:off x="3095625" y="4426999"/>
            <a:ext cx="8382000" cy="355600"/>
          </a:xfrm>
          <a:prstGeom prst="rect">
            <a:avLst/>
          </a:prstGeom>
          <a:noFill/>
        </p:spPr>
        <p:txBody>
          <a:bodyPr wrap="square" lIns="0" tIns="10972" rIns="0" bIns="1097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100" b="1" u="none">
                <a:solidFill>
                  <a:srgbClr val="7030A0"/>
                </a:solidFill>
                <a:latin typeface="Arial"/>
              </a:defRPr>
            </a:pPr>
            <a:r>
              <a:rPr lang="ru-RU" sz="1800" b="1" u="none">
                <a:solidFill>
                  <a:srgbClr val="7030A0"/>
                </a:solidFill>
                <a:latin typeface="Arial Narrow"/>
                <a:cs typeface="Arial Narrow"/>
              </a:rPr>
              <a:t>Вопрос 2.</a:t>
            </a:r>
            <a:r>
              <a:rPr lang="ru-RU" sz="1800" b="0" u="none">
                <a:solidFill>
                  <a:srgbClr val="7030A0"/>
                </a:solidFill>
                <a:latin typeface="Arial Narrow"/>
                <a:cs typeface="Arial Narrow"/>
              </a:rPr>
              <a:t> После начала финеренона повысился калий</a:t>
            </a:r>
          </a:p>
        </p:txBody>
      </p:sp>
      <p:sp>
        <p:nvSpPr>
          <p:cNvPr id="62" name="Text_9"/>
          <p:cNvSpPr txBox="1"/>
          <p:nvPr/>
        </p:nvSpPr>
        <p:spPr>
          <a:xfrm>
            <a:off x="3095625" y="4934999"/>
            <a:ext cx="8096250" cy="594800"/>
          </a:xfrm>
          <a:prstGeom prst="rect">
            <a:avLst/>
          </a:prstGeom>
          <a:noFill/>
        </p:spPr>
        <p:txBody>
          <a:bodyPr wrap="square" lIns="0" tIns="10972" rIns="0" bIns="1097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Всегда ли нужна окончательная отмена?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Когда можно возобновить лечение?</a:t>
            </a:r>
          </a:p>
        </p:txBody>
      </p:sp>
      <p:sp>
        <p:nvSpPr>
          <p:cNvPr id="63" name="Подпись_моча"/>
          <p:cNvSpPr txBox="1"/>
          <p:nvPr/>
        </p:nvSpPr>
        <p:spPr>
          <a:xfrm>
            <a:off x="660400" y="2826739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404040"/>
                </a:solidFill>
                <a:latin typeface="Arial Narrow"/>
                <a:cs typeface="Arial Narrow"/>
              </a:rPr>
              <a:t>Моча: альбумин и креатинин</a:t>
            </a:r>
          </a:p>
        </p:txBody>
      </p:sp>
      <p:sp>
        <p:nvSpPr>
          <p:cNvPr id="64" name="Подпись_кровь"/>
          <p:cNvSpPr txBox="1"/>
          <p:nvPr/>
        </p:nvSpPr>
        <p:spPr>
          <a:xfrm>
            <a:off x="660400" y="561848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404040"/>
                </a:solidFill>
                <a:latin typeface="Arial Narrow"/>
                <a:cs typeface="Arial Narrow"/>
              </a:rPr>
              <a:t>Кровь: калий и креатинин</a:t>
            </a:r>
          </a:p>
        </p:txBody>
      </p:sp>
      <p:sp>
        <p:nvSpPr>
          <p:cNvPr id="65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Два вопроса из начала обучения: ваши ответы</a:t>
            </a:r>
          </a:p>
        </p:txBody>
      </p:sp>
      <p:pic>
        <p:nvPicPr>
          <p:cNvPr id="66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67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Вопрос 1. Альбуминурия сохраняется: какие данные нужны, чтобы обсудить финеренон</a:t>
            </a:r>
          </a:p>
        </p:txBody>
      </p:sp>
      <p:sp>
        <p:nvSpPr>
          <p:cNvPr id="3" name="Вопрос"/>
          <p:cNvSpPr/>
          <p:nvPr/>
        </p:nvSpPr>
        <p:spPr>
          <a:xfrm>
            <a:off x="457200" y="914400"/>
            <a:ext cx="11277600" cy="406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Взрослый с ХБП, связанной с сахарным диабетом 2 типа: гликемия и давление под контролем, альбуминурия сохраняется</a:t>
            </a:r>
          </a:p>
        </p:txBody>
      </p:sp>
      <p:sp>
        <p:nvSpPr>
          <p:cNvPr id="4" name="Пункт_фон_1"/>
          <p:cNvSpPr/>
          <p:nvPr/>
        </p:nvSpPr>
        <p:spPr>
          <a:xfrm>
            <a:off x="457200" y="1930400"/>
            <a:ext cx="11277600" cy="6350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5" name="Пункт_1"/>
          <p:cNvSpPr txBox="1"/>
          <p:nvPr/>
        </p:nvSpPr>
        <p:spPr>
          <a:xfrm>
            <a:off x="660400" y="1930400"/>
            <a:ext cx="2997200" cy="63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7030A0"/>
                </a:solidFill>
                <a:latin typeface="Arial Narrow"/>
                <a:cs typeface="Arial Narrow"/>
              </a:rPr>
              <a:t>1. Альбуминурия подтверждена</a:t>
            </a:r>
          </a:p>
        </p:txBody>
      </p:sp>
      <p:sp>
        <p:nvSpPr>
          <p:cNvPr id="6" name="Пункт_1_текст"/>
          <p:cNvSpPr txBox="1"/>
          <p:nvPr/>
        </p:nvSpPr>
        <p:spPr>
          <a:xfrm>
            <a:off x="3759200" y="1930400"/>
            <a:ext cx="7797800" cy="63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АКО ≥30 мг/г в повторных анализах, изменения сохраняются не менее 3 месяцев, временные причины (например, инфекция) исключены.</a:t>
            </a:r>
          </a:p>
        </p:txBody>
      </p:sp>
      <p:sp>
        <p:nvSpPr>
          <p:cNvPr id="7" name="Пункт_фон_2"/>
          <p:cNvSpPr/>
          <p:nvPr/>
        </p:nvSpPr>
        <p:spPr>
          <a:xfrm>
            <a:off x="457200" y="2616200"/>
            <a:ext cx="11277600" cy="6350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8" name="Пункт_2"/>
          <p:cNvSpPr txBox="1"/>
          <p:nvPr/>
        </p:nvSpPr>
        <p:spPr>
          <a:xfrm>
            <a:off x="660400" y="2616200"/>
            <a:ext cx="2997200" cy="63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7030A0"/>
                </a:solidFill>
                <a:latin typeface="Arial Narrow"/>
                <a:cs typeface="Arial Narrow"/>
              </a:rPr>
              <a:t>2. Функция почек</a:t>
            </a:r>
          </a:p>
        </p:txBody>
      </p:sp>
      <p:sp>
        <p:nvSpPr>
          <p:cNvPr id="9" name="Пункт_2_текст"/>
          <p:cNvSpPr txBox="1"/>
          <p:nvPr/>
        </p:nvSpPr>
        <p:spPr>
          <a:xfrm>
            <a:off x="3759200" y="2616200"/>
            <a:ext cx="7797800" cy="63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рСКФ ≥25 мл/мин/1,73 м². Начальная доза 20 мг при рСКФ ≥60 и 10 мг при рСКФ ≥25 и &lt;60.</a:t>
            </a:r>
          </a:p>
        </p:txBody>
      </p:sp>
      <p:sp>
        <p:nvSpPr>
          <p:cNvPr id="10" name="Пункт_фон_3"/>
          <p:cNvSpPr/>
          <p:nvPr/>
        </p:nvSpPr>
        <p:spPr>
          <a:xfrm>
            <a:off x="457200" y="3302000"/>
            <a:ext cx="11277600" cy="6350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11" name="Пункт_3"/>
          <p:cNvSpPr txBox="1"/>
          <p:nvPr/>
        </p:nvSpPr>
        <p:spPr>
          <a:xfrm>
            <a:off x="660400" y="3302000"/>
            <a:ext cx="2997200" cy="63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7030A0"/>
                </a:solidFill>
                <a:latin typeface="Arial Narrow"/>
                <a:cs typeface="Arial Narrow"/>
              </a:rPr>
              <a:t>3. Калий сыворотки</a:t>
            </a:r>
          </a:p>
        </p:txBody>
      </p:sp>
      <p:sp>
        <p:nvSpPr>
          <p:cNvPr id="12" name="Пункт_3_текст"/>
          <p:cNvSpPr txBox="1"/>
          <p:nvPr/>
        </p:nvSpPr>
        <p:spPr>
          <a:xfrm>
            <a:off x="3759200" y="3302000"/>
            <a:ext cx="7797800" cy="63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Калий ≤4,8 ммоль/л: лечение можно начать; &gt;4,8 и ≤5,0: начало можно рассмотреть при дополнительном контроле калия в первые 4 недели; &gt;5,0: лечение не начинают.</a:t>
            </a:r>
          </a:p>
        </p:txBody>
      </p:sp>
      <p:sp>
        <p:nvSpPr>
          <p:cNvPr id="13" name="Пункт_фон_4"/>
          <p:cNvSpPr/>
          <p:nvPr/>
        </p:nvSpPr>
        <p:spPr>
          <a:xfrm>
            <a:off x="457200" y="3987800"/>
            <a:ext cx="11277600" cy="6350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14" name="Пункт_4"/>
          <p:cNvSpPr txBox="1"/>
          <p:nvPr/>
        </p:nvSpPr>
        <p:spPr>
          <a:xfrm>
            <a:off x="660400" y="3987800"/>
            <a:ext cx="2997200" cy="63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7030A0"/>
                </a:solidFill>
                <a:latin typeface="Arial Narrow"/>
                <a:cs typeface="Arial Narrow"/>
              </a:rPr>
              <a:t>4. Текущая терапия</a:t>
            </a:r>
          </a:p>
        </p:txBody>
      </p:sp>
      <p:sp>
        <p:nvSpPr>
          <p:cNvPr id="15" name="Пункт_4_текст"/>
          <p:cNvSpPr txBox="1"/>
          <p:nvPr/>
        </p:nvSpPr>
        <p:spPr>
          <a:xfrm>
            <a:off x="3759200" y="3987800"/>
            <a:ext cx="7797800" cy="635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Ингибитор АПФ или БРА в максимально переносимой дозе; принимает ли пациент ингибитор НГЛТ2. Полный список лекарств для проверки взаимодействий и противопоказаний.</a:t>
            </a:r>
          </a:p>
        </p:txBody>
      </p:sp>
      <p:sp>
        <p:nvSpPr>
          <p:cNvPr id="16" name="Пункт_фон_5"/>
          <p:cNvSpPr/>
          <p:nvPr/>
        </p:nvSpPr>
        <p:spPr>
          <a:xfrm>
            <a:off x="457200" y="4673600"/>
            <a:ext cx="11277600" cy="9652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17" name="Пункт_5"/>
          <p:cNvSpPr txBox="1"/>
          <p:nvPr/>
        </p:nvSpPr>
        <p:spPr>
          <a:xfrm>
            <a:off x="660400" y="4673600"/>
            <a:ext cx="2997200" cy="965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7030A0"/>
                </a:solidFill>
                <a:latin typeface="Arial Narrow"/>
                <a:cs typeface="Arial Narrow"/>
              </a:rPr>
              <a:t>5. Доказательная база</a:t>
            </a:r>
          </a:p>
        </p:txBody>
      </p:sp>
      <p:sp>
        <p:nvSpPr>
          <p:cNvPr id="18" name="Пункт_5_текст"/>
          <p:cNvSpPr txBox="1"/>
          <p:nvPr/>
        </p:nvSpPr>
        <p:spPr>
          <a:xfrm>
            <a:off x="3759200" y="4673600"/>
            <a:ext cx="7797800" cy="965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FIDELIO-DKD: относительное снижение риска почечного исхода на 18%; FIGARO-DKD: сердечно-сосудистого на 13%.</a:t>
            </a:r>
          </a:p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Риск гиперкалиемии: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финеренон 14,0%, плацебо 6,9%; окончательная отмена: финеренон 1,7%, плацебо 0,6% (FIDELITY).</a:t>
            </a:r>
          </a:p>
        </p:txBody>
      </p:sp>
      <p:sp>
        <p:nvSpPr>
          <p:cNvPr id="19" name="Итог"/>
          <p:cNvSpPr txBox="1"/>
          <p:nvPr/>
        </p:nvSpPr>
        <p:spPr>
          <a:xfrm>
            <a:off x="457200" y="5715000"/>
            <a:ext cx="11277600" cy="33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Решение о лечении принимает врач.</a:t>
            </a:r>
          </a:p>
        </p:txBody>
      </p:sp>
      <p:sp>
        <p:nvSpPr>
          <p:cNvPr id="20" name="Источники"/>
          <p:cNvSpPr txBox="1"/>
          <p:nvPr/>
        </p:nvSpPr>
        <p:spPr>
          <a:xfrm>
            <a:off x="457200" y="6134100"/>
            <a:ext cx="10795000" cy="6477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АКО: отношение альбумина к креатинину мочи; рСКФ: расчётная скорость клубочковой фильтрации; АПФ: ангиотензинпревращающий фермент; БРА: блокатор рецепторов ангиотензина II; НГЛТ2: натрий-глюкозный котранспортёр 2 типа; ХБП: хроническая болезнь почек.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KDIGO 2024 Clinical Practice Guideline for CKD. Kidney Int. 2024;105(4S):S117–S314. Kerendia (finerenone). Summary of Product Characteristics. EMA. Bakris GL, et al. N Engl J Med. 2020;383:2219–2229. Pitt B, et al. N Engl J Med. 2021;385:2252–2263. Agarwal R, et al. Eur Heart J. 2022;43:474–484.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Финеренон-Орвилле. Инструкция по медицинскому применению.</a:t>
            </a:r>
          </a:p>
        </p:txBody>
      </p:sp>
      <p:pic>
        <p:nvPicPr>
          <p:cNvPr id="21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22" name="Почему_обсуждать"/>
          <p:cNvSpPr txBox="1"/>
          <p:nvPr/>
        </p:nvSpPr>
        <p:spPr>
          <a:xfrm>
            <a:off x="660400" y="1371600"/>
            <a:ext cx="108966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Прогноз: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при альбуминурии риск почечных и сердечно-сосудистых осложнений выше (слайд 13).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Вопрос 2. Калий повысился: что предусматривает инструкция</a:t>
            </a:r>
          </a:p>
        </p:txBody>
      </p:sp>
      <p:sp>
        <p:nvSpPr>
          <p:cNvPr id="3" name="Подзаголовок"/>
          <p:cNvSpPr txBox="1"/>
          <p:nvPr/>
        </p:nvSpPr>
        <p:spPr>
          <a:xfrm>
            <a:off x="457200" y="914400"/>
            <a:ext cx="112776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Калий сыворотки при плановом контроле: что делает врач</a:t>
            </a:r>
          </a:p>
        </p:txBody>
      </p:sp>
      <p:graphicFrame>
        <p:nvGraphicFramePr>
          <p:cNvPr id="15" name="График_отмены"/>
          <p:cNvGraphicFramePr>
            <a:graphicFrameLocks noGrp="1"/>
          </p:cNvGraphicFramePr>
          <p:nvPr/>
        </p:nvGraphicFramePr>
        <p:xfrm>
          <a:off x="381000" y="3886200"/>
          <a:ext cx="7112000" cy="1752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Отмена_заголовок"/>
          <p:cNvSpPr txBox="1"/>
          <p:nvPr/>
        </p:nvSpPr>
        <p:spPr>
          <a:xfrm>
            <a:off x="457200" y="3606800"/>
            <a:ext cx="71120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Окончательная отмена из-за гиперкалиемии в исследованиях, % пациентов</a:t>
            </a:r>
          </a:p>
        </p:txBody>
      </p:sp>
      <p:sp>
        <p:nvSpPr>
          <p:cNvPr id="19" name="Итог"/>
          <p:cNvSpPr txBox="1"/>
          <p:nvPr/>
        </p:nvSpPr>
        <p:spPr>
          <a:xfrm>
            <a:off x="457200" y="5689600"/>
            <a:ext cx="112776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Источник алгоритма: инструкция по медицинскому применению. Решение о временной отмене и возобновлении принимает врач.</a:t>
            </a:r>
          </a:p>
        </p:txBody>
      </p:sp>
      <p:sp>
        <p:nvSpPr>
          <p:cNvPr id="20" name="Источники"/>
          <p:cNvSpPr txBox="1"/>
          <p:nvPr/>
        </p:nvSpPr>
        <p:spPr>
          <a:xfrm>
            <a:off x="457200" y="6258560"/>
            <a:ext cx="10795000" cy="52324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рСКФ: расчётная скорость клубочковой фильтрации.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Kerendia (finerenone). Summary of Product Characteristics. EMA. KDIGO 2024 Clinical Practice Guideline for CKD. Kidney Int. 2024;105(4S):S117–S314. Bakris GL, et al. N Engl J Med. 2020;383:2219–2229. Pitt B, et al. N Engl J Med. 2021;385:2252–2263. Agarwal R, et al. Eur Heart J. 2022;43:474–484.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Финеренон-Орвилле. Инструкция по медицинскому применению.</a:t>
            </a:r>
          </a:p>
        </p:txBody>
      </p:sp>
      <p:pic>
        <p:nvPicPr>
          <p:cNvPr id="21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22" name="Алгоритм_1_рамка"/>
          <p:cNvSpPr/>
          <p:nvPr/>
        </p:nvSpPr>
        <p:spPr>
          <a:xfrm>
            <a:off x="457200" y="1244600"/>
            <a:ext cx="1651000" cy="20066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25400">
            <a:solidFill>
              <a:srgbClr val="7F7F7F"/>
            </a:solidFill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3" name="Алгоритм_1"/>
          <p:cNvSpPr txBox="1"/>
          <p:nvPr/>
        </p:nvSpPr>
        <p:spPr>
          <a:xfrm>
            <a:off x="533400" y="1282700"/>
            <a:ext cx="1498600" cy="1930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Плановый контроль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калия сыворотки</a:t>
            </a:r>
          </a:p>
        </p:txBody>
      </p:sp>
      <p:sp>
        <p:nvSpPr>
          <p:cNvPr id="24" name="Алгоритм_0_рамка"/>
          <p:cNvSpPr/>
          <p:nvPr/>
        </p:nvSpPr>
        <p:spPr>
          <a:xfrm>
            <a:off x="2413000" y="1244600"/>
            <a:ext cx="93218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4EA72E"/>
            </a:solidFill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5" name="Алгоритм_0"/>
          <p:cNvSpPr txBox="1"/>
          <p:nvPr/>
        </p:nvSpPr>
        <p:spPr>
          <a:xfrm>
            <a:off x="2489200" y="1282700"/>
            <a:ext cx="91694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≤4,8 ммоль/л: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дозу 10 мг можно повысить до 20 мг, если рСКФ снизилась не более чем на 30%; дозу 20 мг сохраняют</a:t>
            </a:r>
          </a:p>
        </p:txBody>
      </p:sp>
      <p:sp>
        <p:nvSpPr>
          <p:cNvPr id="26" name="Алгоритм_2_рамка"/>
          <p:cNvSpPr/>
          <p:nvPr/>
        </p:nvSpPr>
        <p:spPr>
          <a:xfrm>
            <a:off x="2413000" y="1701800"/>
            <a:ext cx="93218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E97132"/>
            </a:solidFill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7" name="Алгоритм_2"/>
          <p:cNvSpPr txBox="1"/>
          <p:nvPr/>
        </p:nvSpPr>
        <p:spPr>
          <a:xfrm>
            <a:off x="2489200" y="1739900"/>
            <a:ext cx="91694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&gt;4,8 и ≤5,5 ммоль/л: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текущую дозу сохраняют</a:t>
            </a:r>
          </a:p>
        </p:txBody>
      </p:sp>
      <p:sp>
        <p:nvSpPr>
          <p:cNvPr id="28" name="Алгоритм_3_рамка"/>
          <p:cNvSpPr/>
          <p:nvPr/>
        </p:nvSpPr>
        <p:spPr>
          <a:xfrm>
            <a:off x="2413000" y="2159000"/>
            <a:ext cx="2197100" cy="10922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25400">
            <a:solidFill>
              <a:srgbClr val="B5323C"/>
            </a:solidFill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29" name="Алгоритм_3"/>
          <p:cNvSpPr txBox="1"/>
          <p:nvPr/>
        </p:nvSpPr>
        <p:spPr>
          <a:xfrm>
            <a:off x="2489200" y="2197100"/>
            <a:ext cx="2044700" cy="101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&gt;5,5 ммоль/л: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временная отмена, врач выясняет причину</a:t>
            </a:r>
          </a:p>
        </p:txBody>
      </p:sp>
      <p:sp>
        <p:nvSpPr>
          <p:cNvPr id="30" name="Алгоритм_4_рамка"/>
          <p:cNvSpPr/>
          <p:nvPr/>
        </p:nvSpPr>
        <p:spPr>
          <a:xfrm>
            <a:off x="4762500" y="2159000"/>
            <a:ext cx="2197100" cy="10922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25400">
            <a:solidFill>
              <a:srgbClr val="7F7F7F"/>
            </a:solidFill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31" name="Алгоритм_4"/>
          <p:cNvSpPr txBox="1"/>
          <p:nvPr/>
        </p:nvSpPr>
        <p:spPr>
          <a:xfrm>
            <a:off x="4838700" y="2197100"/>
            <a:ext cx="2044700" cy="101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Повторный анализ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калия</a:t>
            </a:r>
          </a:p>
        </p:txBody>
      </p:sp>
      <p:cxnSp>
        <p:nvCxnSpPr>
          <p:cNvPr id="32" name="Алгоритм_стрелка_4"/>
          <p:cNvCxnSpPr/>
          <p:nvPr/>
        </p:nvCxnSpPr>
        <p:spPr>
          <a:xfrm>
            <a:off x="4622800" y="2705100"/>
            <a:ext cx="127000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sp>
        <p:nvSpPr>
          <p:cNvPr id="33" name="Алгоритм_5_рамка"/>
          <p:cNvSpPr/>
          <p:nvPr/>
        </p:nvSpPr>
        <p:spPr>
          <a:xfrm>
            <a:off x="7112000" y="2159000"/>
            <a:ext cx="2197100" cy="10922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25400">
            <a:solidFill>
              <a:srgbClr val="4EA72E"/>
            </a:solidFill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34" name="Алгоритм_5"/>
          <p:cNvSpPr txBox="1"/>
          <p:nvPr/>
        </p:nvSpPr>
        <p:spPr>
          <a:xfrm>
            <a:off x="7188200" y="2197100"/>
            <a:ext cx="2044700" cy="101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Калий ≤5,0: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можно возобновить в дозе 10 мг один раз в сутки</a:t>
            </a:r>
          </a:p>
        </p:txBody>
      </p:sp>
      <p:cxnSp>
        <p:nvCxnSpPr>
          <p:cNvPr id="35" name="Алгоритм_стрелка_5"/>
          <p:cNvCxnSpPr/>
          <p:nvPr/>
        </p:nvCxnSpPr>
        <p:spPr>
          <a:xfrm>
            <a:off x="6972300" y="2705100"/>
            <a:ext cx="127000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sp>
        <p:nvSpPr>
          <p:cNvPr id="36" name="Алгоритм_6_рамка"/>
          <p:cNvSpPr/>
          <p:nvPr/>
        </p:nvSpPr>
        <p:spPr>
          <a:xfrm>
            <a:off x="9461500" y="2159000"/>
            <a:ext cx="2197100" cy="1092200"/>
          </a:xfrm>
          <a:prstGeom prst="roundRect">
            <a:avLst>
              <a:gd name="adj" fmla="val 6976"/>
            </a:avLst>
          </a:prstGeom>
          <a:solidFill>
            <a:srgbClr val="FFFFFF"/>
          </a:solidFill>
          <a:ln w="25400">
            <a:solidFill>
              <a:srgbClr val="7030A0"/>
            </a:solidFill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37" name="Алгоритм_6"/>
          <p:cNvSpPr txBox="1"/>
          <p:nvPr/>
        </p:nvSpPr>
        <p:spPr>
          <a:xfrm>
            <a:off x="9537700" y="2197100"/>
            <a:ext cx="2044700" cy="1016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Через 4 недели: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калий ≤4,8 и снижение рСКФ не более чем на 30%: дозу можно повысить до 20 мг</a:t>
            </a:r>
          </a:p>
        </p:txBody>
      </p:sp>
      <p:cxnSp>
        <p:nvCxnSpPr>
          <p:cNvPr id="38" name="Алгоритм_стрелка_6"/>
          <p:cNvCxnSpPr/>
          <p:nvPr/>
        </p:nvCxnSpPr>
        <p:spPr>
          <a:xfrm>
            <a:off x="9321800" y="2705100"/>
            <a:ext cx="127000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39" name="Алгоритм_стрелка_0"/>
          <p:cNvCxnSpPr/>
          <p:nvPr/>
        </p:nvCxnSpPr>
        <p:spPr>
          <a:xfrm>
            <a:off x="2108200" y="1435100"/>
            <a:ext cx="292100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40" name="Алгоритм_стрелка_1"/>
          <p:cNvCxnSpPr/>
          <p:nvPr/>
        </p:nvCxnSpPr>
        <p:spPr>
          <a:xfrm>
            <a:off x="2108200" y="1892300"/>
            <a:ext cx="292100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cxnSp>
        <p:nvCxnSpPr>
          <p:cNvPr id="41" name="Алгоритм_стрелка_2"/>
          <p:cNvCxnSpPr/>
          <p:nvPr/>
        </p:nvCxnSpPr>
        <p:spPr>
          <a:xfrm>
            <a:off x="2108200" y="2705100"/>
            <a:ext cx="292100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</p:cxnSp>
      <p:sp>
        <p:nvSpPr>
          <p:cNvPr id="42" name="Срочно_рамка"/>
          <p:cNvSpPr/>
          <p:nvPr/>
        </p:nvSpPr>
        <p:spPr>
          <a:xfrm>
            <a:off x="7874000" y="3683000"/>
            <a:ext cx="3860800" cy="1905000"/>
          </a:xfrm>
          <a:prstGeom prst="roundRect">
            <a:avLst>
              <a:gd name="adj" fmla="val 4000"/>
            </a:avLst>
          </a:prstGeom>
          <a:solidFill>
            <a:srgbClr val="FBEAEA"/>
          </a:solidFill>
          <a:ln w="25400">
            <a:solidFill>
              <a:srgbClr val="B5323C"/>
            </a:solidFill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43" name="Срочно"/>
          <p:cNvSpPr txBox="1"/>
          <p:nvPr/>
        </p:nvSpPr>
        <p:spPr>
          <a:xfrm>
            <a:off x="8077200" y="3759200"/>
            <a:ext cx="3454400" cy="1752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B5323C"/>
                </a:solidFill>
                <a:latin typeface="Arial Narrow"/>
                <a:cs typeface="Arial Narrow"/>
              </a:rPr>
              <a:t>Срочно: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 калии ≥6,0 ммоль/л или ухудшении состояния врач оценивает пациента без ожидания планового контроля, при необходимости в стационаре.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Контрольные вопросы для медицинских представителей</a:t>
            </a:r>
          </a:p>
        </p:txBody>
      </p:sp>
      <p:sp>
        <p:nvSpPr>
          <p:cNvPr id="28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рСКФ: расчётная скорость клубочковой фильтрации; АКО: отношение альбумина к креатинину мочи; НГЛТ2: натрий-глюкозный котранспортёр 2 типа.</a:t>
            </a:r>
          </a:p>
        </p:txBody>
      </p:sp>
      <p:pic>
        <p:nvPicPr>
          <p:cNvPr id="29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30" name="Вопрос_1_фон"/>
          <p:cNvSpPr/>
          <p:nvPr/>
        </p:nvSpPr>
        <p:spPr>
          <a:xfrm>
            <a:off x="457200" y="965200"/>
            <a:ext cx="5486400" cy="795866"/>
          </a:xfrm>
          <a:prstGeom prst="roundRect">
            <a:avLst>
              <a:gd name="adj" fmla="val 1276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31" name="Вопрос_1_номер"/>
          <p:cNvSpPr txBox="1"/>
          <p:nvPr/>
        </p:nvSpPr>
        <p:spPr>
          <a:xfrm>
            <a:off x="609600" y="965200"/>
            <a:ext cx="457200" cy="7958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2000" b="1">
                <a:solidFill>
                  <a:srgbClr val="7030A0"/>
                </a:solidFill>
                <a:latin typeface="Arial Narrow"/>
                <a:cs typeface="Arial Narrow"/>
              </a:rPr>
              <a:t>1.</a:t>
            </a:r>
          </a:p>
        </p:txBody>
      </p:sp>
      <p:sp>
        <p:nvSpPr>
          <p:cNvPr id="32" name="Вопрос_1"/>
          <p:cNvSpPr txBox="1"/>
          <p:nvPr/>
        </p:nvSpPr>
        <p:spPr>
          <a:xfrm>
            <a:off x="1092200" y="1003300"/>
            <a:ext cx="4699000" cy="719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Почему сохранная рСКФ не исключает болезнь почек?</a:t>
            </a:r>
          </a:p>
        </p:txBody>
      </p:sp>
      <p:sp>
        <p:nvSpPr>
          <p:cNvPr id="33" name="Вопрос_2_фон"/>
          <p:cNvSpPr/>
          <p:nvPr/>
        </p:nvSpPr>
        <p:spPr>
          <a:xfrm>
            <a:off x="6248400" y="965200"/>
            <a:ext cx="5486400" cy="795866"/>
          </a:xfrm>
          <a:prstGeom prst="roundRect">
            <a:avLst>
              <a:gd name="adj" fmla="val 1276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34" name="Вопрос_2_номер"/>
          <p:cNvSpPr txBox="1"/>
          <p:nvPr/>
        </p:nvSpPr>
        <p:spPr>
          <a:xfrm>
            <a:off x="6400800" y="965200"/>
            <a:ext cx="457200" cy="7958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2000" b="1">
                <a:solidFill>
                  <a:srgbClr val="7030A0"/>
                </a:solidFill>
                <a:latin typeface="Arial Narrow"/>
                <a:cs typeface="Arial Narrow"/>
              </a:rPr>
              <a:t>2.</a:t>
            </a:r>
          </a:p>
        </p:txBody>
      </p:sp>
      <p:sp>
        <p:nvSpPr>
          <p:cNvPr id="35" name="Вопрос_2"/>
          <p:cNvSpPr txBox="1"/>
          <p:nvPr/>
        </p:nvSpPr>
        <p:spPr>
          <a:xfrm>
            <a:off x="6883400" y="1003300"/>
            <a:ext cx="4699000" cy="719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Какие первичные исходы были в FIDELIO-DKD и FIGARO-DKD?</a:t>
            </a:r>
          </a:p>
        </p:txBody>
      </p:sp>
      <p:sp>
        <p:nvSpPr>
          <p:cNvPr id="36" name="Вопрос_3_фон"/>
          <p:cNvSpPr/>
          <p:nvPr/>
        </p:nvSpPr>
        <p:spPr>
          <a:xfrm>
            <a:off x="457200" y="1862666"/>
            <a:ext cx="5486400" cy="795866"/>
          </a:xfrm>
          <a:prstGeom prst="roundRect">
            <a:avLst>
              <a:gd name="adj" fmla="val 1276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37" name="Вопрос_3_номер"/>
          <p:cNvSpPr txBox="1"/>
          <p:nvPr/>
        </p:nvSpPr>
        <p:spPr>
          <a:xfrm>
            <a:off x="609600" y="1862666"/>
            <a:ext cx="457200" cy="7958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2000" b="1">
                <a:solidFill>
                  <a:srgbClr val="7030A0"/>
                </a:solidFill>
                <a:latin typeface="Arial Narrow"/>
                <a:cs typeface="Arial Narrow"/>
              </a:rPr>
              <a:t>3.</a:t>
            </a:r>
          </a:p>
        </p:txBody>
      </p:sp>
      <p:sp>
        <p:nvSpPr>
          <p:cNvPr id="38" name="Вопрос_3"/>
          <p:cNvSpPr txBox="1"/>
          <p:nvPr/>
        </p:nvSpPr>
        <p:spPr>
          <a:xfrm>
            <a:off x="1092200" y="1900766"/>
            <a:ext cx="4699000" cy="719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Врач спрашивает: АКО у пациента снизилось, значит ли это, что риск диализа стал ниже? Что ответить?</a:t>
            </a:r>
          </a:p>
        </p:txBody>
      </p:sp>
      <p:sp>
        <p:nvSpPr>
          <p:cNvPr id="39" name="Вопрос_4_фон"/>
          <p:cNvSpPr/>
          <p:nvPr/>
        </p:nvSpPr>
        <p:spPr>
          <a:xfrm>
            <a:off x="6248400" y="1862666"/>
            <a:ext cx="5486400" cy="795866"/>
          </a:xfrm>
          <a:prstGeom prst="roundRect">
            <a:avLst>
              <a:gd name="adj" fmla="val 1276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40" name="Вопрос_4_номер"/>
          <p:cNvSpPr txBox="1"/>
          <p:nvPr/>
        </p:nvSpPr>
        <p:spPr>
          <a:xfrm>
            <a:off x="6400800" y="1862666"/>
            <a:ext cx="457200" cy="7958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2000" b="1">
                <a:solidFill>
                  <a:srgbClr val="7030A0"/>
                </a:solidFill>
                <a:latin typeface="Arial Narrow"/>
                <a:cs typeface="Arial Narrow"/>
              </a:rPr>
              <a:t>4.</a:t>
            </a:r>
          </a:p>
        </p:txBody>
      </p:sp>
      <p:sp>
        <p:nvSpPr>
          <p:cNvPr id="41" name="Вопрос_4"/>
          <p:cNvSpPr txBox="1"/>
          <p:nvPr/>
        </p:nvSpPr>
        <p:spPr>
          <a:xfrm>
            <a:off x="6883400" y="1900766"/>
            <a:ext cx="4699000" cy="719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Можно ли заменить ингибитор НГЛТ2 финереноном?</a:t>
            </a:r>
          </a:p>
        </p:txBody>
      </p:sp>
      <p:sp>
        <p:nvSpPr>
          <p:cNvPr id="42" name="Вопрос_5_фон"/>
          <p:cNvSpPr/>
          <p:nvPr/>
        </p:nvSpPr>
        <p:spPr>
          <a:xfrm>
            <a:off x="457200" y="2760133"/>
            <a:ext cx="5486400" cy="795866"/>
          </a:xfrm>
          <a:prstGeom prst="roundRect">
            <a:avLst>
              <a:gd name="adj" fmla="val 1276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43" name="Вопрос_5_номер"/>
          <p:cNvSpPr txBox="1"/>
          <p:nvPr/>
        </p:nvSpPr>
        <p:spPr>
          <a:xfrm>
            <a:off x="609600" y="2760133"/>
            <a:ext cx="457200" cy="7958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2000" b="1">
                <a:solidFill>
                  <a:srgbClr val="7030A0"/>
                </a:solidFill>
                <a:latin typeface="Arial Narrow"/>
                <a:cs typeface="Arial Narrow"/>
              </a:rPr>
              <a:t>5.</a:t>
            </a:r>
          </a:p>
        </p:txBody>
      </p:sp>
      <p:sp>
        <p:nvSpPr>
          <p:cNvPr id="44" name="Вопрос_5"/>
          <p:cNvSpPr txBox="1"/>
          <p:nvPr/>
        </p:nvSpPr>
        <p:spPr>
          <a:xfrm>
            <a:off x="1092200" y="2798233"/>
            <a:ext cx="4699000" cy="719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Почему финеренон может повышать калий?</a:t>
            </a:r>
          </a:p>
        </p:txBody>
      </p:sp>
      <p:sp>
        <p:nvSpPr>
          <p:cNvPr id="45" name="Вопрос_6_фон"/>
          <p:cNvSpPr/>
          <p:nvPr/>
        </p:nvSpPr>
        <p:spPr>
          <a:xfrm>
            <a:off x="6248400" y="2760133"/>
            <a:ext cx="5486400" cy="795866"/>
          </a:xfrm>
          <a:prstGeom prst="roundRect">
            <a:avLst>
              <a:gd name="adj" fmla="val 1276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46" name="Вопрос_6_номер"/>
          <p:cNvSpPr txBox="1"/>
          <p:nvPr/>
        </p:nvSpPr>
        <p:spPr>
          <a:xfrm>
            <a:off x="6400800" y="2760133"/>
            <a:ext cx="457200" cy="7958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2000" b="1">
                <a:solidFill>
                  <a:srgbClr val="7030A0"/>
                </a:solidFill>
                <a:latin typeface="Arial Narrow"/>
                <a:cs typeface="Arial Narrow"/>
              </a:rPr>
              <a:t>6.</a:t>
            </a:r>
          </a:p>
        </p:txBody>
      </p:sp>
      <p:sp>
        <p:nvSpPr>
          <p:cNvPr id="47" name="Вопрос_6"/>
          <p:cNvSpPr txBox="1"/>
          <p:nvPr/>
        </p:nvSpPr>
        <p:spPr>
          <a:xfrm>
            <a:off x="6883400" y="2798233"/>
            <a:ext cx="4699000" cy="719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Какая начальная доза финеренона при рСКФ 48 и при рСКФ 72?</a:t>
            </a:r>
          </a:p>
        </p:txBody>
      </p:sp>
      <p:sp>
        <p:nvSpPr>
          <p:cNvPr id="48" name="Вопрос_7_фон"/>
          <p:cNvSpPr/>
          <p:nvPr/>
        </p:nvSpPr>
        <p:spPr>
          <a:xfrm>
            <a:off x="457200" y="3657600"/>
            <a:ext cx="5486400" cy="795866"/>
          </a:xfrm>
          <a:prstGeom prst="roundRect">
            <a:avLst>
              <a:gd name="adj" fmla="val 1276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49" name="Вопрос_7_номер"/>
          <p:cNvSpPr txBox="1"/>
          <p:nvPr/>
        </p:nvSpPr>
        <p:spPr>
          <a:xfrm>
            <a:off x="609600" y="3657600"/>
            <a:ext cx="457200" cy="7958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2000" b="1">
                <a:solidFill>
                  <a:srgbClr val="7030A0"/>
                </a:solidFill>
                <a:latin typeface="Arial Narrow"/>
                <a:cs typeface="Arial Narrow"/>
              </a:rPr>
              <a:t>7.</a:t>
            </a:r>
          </a:p>
        </p:txBody>
      </p:sp>
      <p:sp>
        <p:nvSpPr>
          <p:cNvPr id="50" name="Вопрос_7"/>
          <p:cNvSpPr txBox="1"/>
          <p:nvPr/>
        </p:nvSpPr>
        <p:spPr>
          <a:xfrm>
            <a:off x="1092200" y="3695700"/>
            <a:ext cx="4699000" cy="719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Когда дозу 10 мг не повышают до 20 мг, даже если калий ≤4,8 ммоль/л?</a:t>
            </a:r>
          </a:p>
        </p:txBody>
      </p:sp>
      <p:sp>
        <p:nvSpPr>
          <p:cNvPr id="51" name="Вопрос_8_фон"/>
          <p:cNvSpPr/>
          <p:nvPr/>
        </p:nvSpPr>
        <p:spPr>
          <a:xfrm>
            <a:off x="6248400" y="3657600"/>
            <a:ext cx="5486400" cy="795866"/>
          </a:xfrm>
          <a:prstGeom prst="roundRect">
            <a:avLst>
              <a:gd name="adj" fmla="val 1276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52" name="Вопрос_8_номер"/>
          <p:cNvSpPr txBox="1"/>
          <p:nvPr/>
        </p:nvSpPr>
        <p:spPr>
          <a:xfrm>
            <a:off x="6400800" y="3657600"/>
            <a:ext cx="457200" cy="7958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2000" b="1">
                <a:solidFill>
                  <a:srgbClr val="7030A0"/>
                </a:solidFill>
                <a:latin typeface="Arial Narrow"/>
                <a:cs typeface="Arial Narrow"/>
              </a:rPr>
              <a:t>8.</a:t>
            </a:r>
          </a:p>
        </p:txBody>
      </p:sp>
      <p:sp>
        <p:nvSpPr>
          <p:cNvPr id="53" name="Вопрос_8"/>
          <p:cNvSpPr txBox="1"/>
          <p:nvPr/>
        </p:nvSpPr>
        <p:spPr>
          <a:xfrm>
            <a:off x="6883400" y="3695700"/>
            <a:ext cx="4699000" cy="719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Какие сочетания с финереноном противопоказаны или не рекомендуются?</a:t>
            </a:r>
          </a:p>
        </p:txBody>
      </p:sp>
      <p:sp>
        <p:nvSpPr>
          <p:cNvPr id="54" name="Вопрос_9_фон"/>
          <p:cNvSpPr/>
          <p:nvPr/>
        </p:nvSpPr>
        <p:spPr>
          <a:xfrm>
            <a:off x="457200" y="4555066"/>
            <a:ext cx="5486400" cy="795866"/>
          </a:xfrm>
          <a:prstGeom prst="roundRect">
            <a:avLst>
              <a:gd name="adj" fmla="val 1276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55" name="Вопрос_9_номер"/>
          <p:cNvSpPr txBox="1"/>
          <p:nvPr/>
        </p:nvSpPr>
        <p:spPr>
          <a:xfrm>
            <a:off x="609600" y="4555066"/>
            <a:ext cx="457200" cy="7958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2000" b="1">
                <a:solidFill>
                  <a:srgbClr val="7030A0"/>
                </a:solidFill>
                <a:latin typeface="Arial Narrow"/>
                <a:cs typeface="Arial Narrow"/>
              </a:rPr>
              <a:t>9.</a:t>
            </a:r>
          </a:p>
        </p:txBody>
      </p:sp>
      <p:sp>
        <p:nvSpPr>
          <p:cNvPr id="56" name="Вопрос_9"/>
          <p:cNvSpPr txBox="1"/>
          <p:nvPr/>
        </p:nvSpPr>
        <p:spPr>
          <a:xfrm>
            <a:off x="1092200" y="4593166"/>
            <a:ext cx="4699000" cy="719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При каких сочетаниях нужен дополнительный контроль калия?</a:t>
            </a:r>
          </a:p>
        </p:txBody>
      </p:sp>
      <p:sp>
        <p:nvSpPr>
          <p:cNvPr id="57" name="Вопрос_10_фон"/>
          <p:cNvSpPr/>
          <p:nvPr/>
        </p:nvSpPr>
        <p:spPr>
          <a:xfrm>
            <a:off x="6248400" y="4555066"/>
            <a:ext cx="5486400" cy="795866"/>
          </a:xfrm>
          <a:prstGeom prst="roundRect">
            <a:avLst>
              <a:gd name="adj" fmla="val 1276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58" name="Вопрос_10_номер"/>
          <p:cNvSpPr txBox="1"/>
          <p:nvPr/>
        </p:nvSpPr>
        <p:spPr>
          <a:xfrm>
            <a:off x="6400800" y="4555066"/>
            <a:ext cx="457200" cy="7958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2000" b="1">
                <a:solidFill>
                  <a:srgbClr val="7030A0"/>
                </a:solidFill>
                <a:latin typeface="Arial Narrow"/>
                <a:cs typeface="Arial Narrow"/>
              </a:rPr>
              <a:t>10.</a:t>
            </a:r>
          </a:p>
        </p:txBody>
      </p:sp>
      <p:sp>
        <p:nvSpPr>
          <p:cNvPr id="59" name="Вопрос_10"/>
          <p:cNvSpPr txBox="1"/>
          <p:nvPr/>
        </p:nvSpPr>
        <p:spPr>
          <a:xfrm>
            <a:off x="6883400" y="4593166"/>
            <a:ext cx="4699000" cy="719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Врач рассказывает, что у пациента на финереноне калий 6,2 ммоль/л. Что делает представитель?</a:t>
            </a:r>
          </a:p>
        </p:txBody>
      </p:sp>
      <p:sp>
        <p:nvSpPr>
          <p:cNvPr id="60" name="Вопрос_11_фон"/>
          <p:cNvSpPr/>
          <p:nvPr/>
        </p:nvSpPr>
        <p:spPr>
          <a:xfrm>
            <a:off x="457200" y="5452533"/>
            <a:ext cx="5486400" cy="795866"/>
          </a:xfrm>
          <a:prstGeom prst="roundRect">
            <a:avLst>
              <a:gd name="adj" fmla="val 1276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61" name="Вопрос_11_номер"/>
          <p:cNvSpPr txBox="1"/>
          <p:nvPr/>
        </p:nvSpPr>
        <p:spPr>
          <a:xfrm>
            <a:off x="609600" y="5452533"/>
            <a:ext cx="457200" cy="7958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2000" b="1">
                <a:solidFill>
                  <a:srgbClr val="7030A0"/>
                </a:solidFill>
                <a:latin typeface="Arial Narrow"/>
                <a:cs typeface="Arial Narrow"/>
              </a:rPr>
              <a:t>11.</a:t>
            </a:r>
          </a:p>
        </p:txBody>
      </p:sp>
      <p:sp>
        <p:nvSpPr>
          <p:cNvPr id="62" name="Вопрос_11"/>
          <p:cNvSpPr txBox="1"/>
          <p:nvPr/>
        </p:nvSpPr>
        <p:spPr>
          <a:xfrm>
            <a:off x="1092200" y="5490633"/>
            <a:ext cx="4699000" cy="71966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Врач спрашивает о финереноне при сердечной недостаточности или диабете 1 типа. Что делает представитель?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Плитка_1"/>
          <p:cNvSpPr/>
          <p:nvPr/>
        </p:nvSpPr>
        <p:spPr>
          <a:xfrm>
            <a:off x="457200" y="1422400"/>
            <a:ext cx="2705100" cy="2235200"/>
          </a:xfrm>
          <a:prstGeom prst="roundRect">
            <a:avLst>
              <a:gd name="adj" fmla="val 454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Плитка_2"/>
          <p:cNvSpPr/>
          <p:nvPr/>
        </p:nvSpPr>
        <p:spPr>
          <a:xfrm>
            <a:off x="3314700" y="1422400"/>
            <a:ext cx="2705100" cy="2235200"/>
          </a:xfrm>
          <a:prstGeom prst="roundRect">
            <a:avLst>
              <a:gd name="adj" fmla="val 454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Плитка_3"/>
          <p:cNvSpPr/>
          <p:nvPr/>
        </p:nvSpPr>
        <p:spPr>
          <a:xfrm>
            <a:off x="6172200" y="1422400"/>
            <a:ext cx="2705100" cy="2235200"/>
          </a:xfrm>
          <a:prstGeom prst="roundRect">
            <a:avLst>
              <a:gd name="adj" fmla="val 454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Плитка_4"/>
          <p:cNvSpPr/>
          <p:nvPr/>
        </p:nvSpPr>
        <p:spPr>
          <a:xfrm>
            <a:off x="9029700" y="1422400"/>
            <a:ext cx="2705100" cy="2235200"/>
          </a:xfrm>
          <a:prstGeom prst="roundRect">
            <a:avLst>
              <a:gd name="adj" fmla="val 454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Приложение: данные вне показаний местной инструкции</a:t>
            </a:r>
          </a:p>
        </p:txBody>
      </p:sp>
      <p:sp>
        <p:nvSpPr>
          <p:cNvPr id="4" name="Комплаенс_полоса"/>
          <p:cNvSpPr/>
          <p:nvPr/>
        </p:nvSpPr>
        <p:spPr>
          <a:xfrm>
            <a:off x="457200" y="3886200"/>
            <a:ext cx="11277600" cy="431800"/>
          </a:xfrm>
          <a:prstGeom prst="roundRect">
            <a:avLst>
              <a:gd name="adj" fmla="val 23529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Только для внутреннего обучения</a:t>
            </a:r>
          </a:p>
        </p:txBody>
      </p:sp>
      <p:sp>
        <p:nvSpPr>
          <p:cNvPr id="5" name="Комплаенс_фон"/>
          <p:cNvSpPr/>
          <p:nvPr/>
        </p:nvSpPr>
        <p:spPr>
          <a:xfrm>
            <a:off x="457200" y="4368800"/>
            <a:ext cx="11277600" cy="140848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>
        <p:nvSpPr>
          <p:cNvPr id="6" name="Комплаенс"/>
          <p:cNvSpPr txBox="1"/>
          <p:nvPr/>
        </p:nvSpPr>
        <p:spPr>
          <a:xfrm>
            <a:off x="685800" y="4495800"/>
            <a:ext cx="10820400" cy="1154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Цель: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научить представителя узнавать вопросы вне показаний и правильно их передавать.</a:t>
            </a:r>
          </a:p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Правила: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слайды приложения врачам не показывают, не раздают и не пересылают. Представитель не обсуждает эти данные ни по своей инициативе, ни в ответ на вопрос врача; вопрос передаёт в медицинский отдел по процедуре компании.</a:t>
            </a:r>
          </a:p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Статус: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в инструкции Финеренон-Орвилле этих показаний нет; одобрения в других странах местное показание не расширяют. Сравнение со спиронолактоном получено в коротком исследовании II фазы, результат описательный.</a:t>
            </a:r>
          </a:p>
        </p:txBody>
      </p:sp>
      <p:pic>
        <p:nvPicPr>
          <p:cNvPr id="7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8" name="Плашка_приложение"/>
          <p:cNvSpPr txBox="1"/>
          <p:nvPr/>
        </p:nvSpPr>
        <p:spPr>
          <a:xfrm>
            <a:off x="5157342" y="12700"/>
            <a:ext cx="6577457" cy="241300"/>
          </a:xfrm>
          <a:prstGeom prst="rect">
            <a:avLst/>
          </a:prstGeom>
          <a:solidFill>
            <a:srgbClr val="E97132"/>
          </a:solidFill>
        </p:spPr>
        <p:txBody>
          <a:bodyPr wrap="none" lIns="76200" rIns="76200" tIns="0" bIns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Приложение: вне показаний местной инструкции. Только для внутреннего обучения</a:t>
            </a:r>
          </a:p>
        </p:txBody>
      </p:sp>
      <p:sp>
        <p:nvSpPr>
          <p:cNvPr id="9" name="Содержание_заголовок"/>
          <p:cNvSpPr txBox="1"/>
          <p:nvPr/>
        </p:nvSpPr>
        <p:spPr>
          <a:xfrm>
            <a:off x="457200" y="1016000"/>
            <a:ext cx="1127760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Что в приложении:</a:t>
            </a:r>
          </a:p>
        </p:txBody>
      </p:sp>
      <p:pic>
        <p:nvPicPr>
          <p:cNvPr id="11" name="Плитка_рисунок_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74800"/>
            <a:ext cx="561838" cy="736600"/>
          </a:xfrm>
          <a:prstGeom prst="rect">
            <a:avLst/>
          </a:prstGeom>
        </p:spPr>
      </p:pic>
      <p:sp>
        <p:nvSpPr>
          <p:cNvPr id="12" name="Плитка_название_1"/>
          <p:cNvSpPr txBox="1"/>
          <p:nvPr/>
        </p:nvSpPr>
        <p:spPr>
          <a:xfrm>
            <a:off x="1298438" y="1574800"/>
            <a:ext cx="1711462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ARTS, II фаза</a:t>
            </a:r>
          </a:p>
        </p:txBody>
      </p:sp>
      <p:sp>
        <p:nvSpPr>
          <p:cNvPr id="13" name="Плитка_текст_1"/>
          <p:cNvSpPr txBox="1"/>
          <p:nvPr/>
        </p:nvSpPr>
        <p:spPr>
          <a:xfrm>
            <a:off x="609600" y="2463800"/>
            <a:ext cx="2400300" cy="1092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Сравнение со спиронолактоном по частоте повышения калия при сердечной недостаточности (слайд 44)</a:t>
            </a:r>
          </a:p>
        </p:txBody>
      </p:sp>
      <p:pic>
        <p:nvPicPr>
          <p:cNvPr id="15" name="Плитка_рисунок_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100" y="1574800"/>
            <a:ext cx="484755" cy="736600"/>
          </a:xfrm>
          <a:prstGeom prst="rect">
            <a:avLst/>
          </a:prstGeom>
        </p:spPr>
      </p:pic>
      <p:sp>
        <p:nvSpPr>
          <p:cNvPr id="16" name="Плитка_название_2"/>
          <p:cNvSpPr txBox="1"/>
          <p:nvPr/>
        </p:nvSpPr>
        <p:spPr>
          <a:xfrm>
            <a:off x="4078854" y="1574800"/>
            <a:ext cx="1788545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FIND-CKD</a:t>
            </a:r>
          </a:p>
        </p:txBody>
      </p:sp>
      <p:sp>
        <p:nvSpPr>
          <p:cNvPr id="17" name="Плитка_текст_2"/>
          <p:cNvSpPr txBox="1"/>
          <p:nvPr/>
        </p:nvSpPr>
        <p:spPr>
          <a:xfrm>
            <a:off x="3467100" y="2463800"/>
            <a:ext cx="2400300" cy="1092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Хроническая болезнь почек без диабета (слайд 45)</a:t>
            </a:r>
          </a:p>
        </p:txBody>
      </p:sp>
      <p:pic>
        <p:nvPicPr>
          <p:cNvPr id="19" name="Плитка_рисунок_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1574800"/>
            <a:ext cx="484755" cy="736600"/>
          </a:xfrm>
          <a:prstGeom prst="rect">
            <a:avLst/>
          </a:prstGeom>
        </p:spPr>
      </p:pic>
      <p:sp>
        <p:nvSpPr>
          <p:cNvPr id="20" name="Плитка_название_3"/>
          <p:cNvSpPr txBox="1"/>
          <p:nvPr/>
        </p:nvSpPr>
        <p:spPr>
          <a:xfrm>
            <a:off x="6936355" y="1574800"/>
            <a:ext cx="1788545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FINE-ONE</a:t>
            </a:r>
          </a:p>
        </p:txBody>
      </p:sp>
      <p:sp>
        <p:nvSpPr>
          <p:cNvPr id="21" name="Плитка_текст_3"/>
          <p:cNvSpPr txBox="1"/>
          <p:nvPr/>
        </p:nvSpPr>
        <p:spPr>
          <a:xfrm>
            <a:off x="6324600" y="2463800"/>
            <a:ext cx="2400300" cy="1092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Диабет 1 типа и регуляторный статус в США (слайды 46 и 47)</a:t>
            </a:r>
          </a:p>
        </p:txBody>
      </p:sp>
      <p:pic>
        <p:nvPicPr>
          <p:cNvPr id="23" name="Плитка_рисунок_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100" y="1574800"/>
            <a:ext cx="561838" cy="736600"/>
          </a:xfrm>
          <a:prstGeom prst="rect">
            <a:avLst/>
          </a:prstGeom>
        </p:spPr>
      </p:pic>
      <p:sp>
        <p:nvSpPr>
          <p:cNvPr id="24" name="Плитка_название_4"/>
          <p:cNvSpPr txBox="1"/>
          <p:nvPr/>
        </p:nvSpPr>
        <p:spPr>
          <a:xfrm>
            <a:off x="9870938" y="1574800"/>
            <a:ext cx="1711462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FINEARTS-HF</a:t>
            </a:r>
          </a:p>
        </p:txBody>
      </p:sp>
      <p:sp>
        <p:nvSpPr>
          <p:cNvPr id="25" name="Плитка_текст_4"/>
          <p:cNvSpPr txBox="1"/>
          <p:nvPr/>
        </p:nvSpPr>
        <p:spPr>
          <a:xfrm>
            <a:off x="9182100" y="2463800"/>
            <a:ext cx="2400300" cy="1092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Сердечная недостаточность с фракцией выброса ≥40% (слайд 48)</a:t>
            </a:r>
          </a:p>
        </p:txBody>
      </p:sp>
      <p:sp>
        <p:nvSpPr>
          <p:cNvPr id="26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Servier Medical Art, CC BY 4.0.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Карточка_ARTS"/>
          <p:cNvSpPr/>
          <p:nvPr/>
        </p:nvSpPr>
        <p:spPr>
          <a:xfrm>
            <a:off x="7467600" y="1524000"/>
            <a:ext cx="4267200" cy="1426660"/>
          </a:xfrm>
          <a:prstGeom prst="roundRect">
            <a:avLst>
              <a:gd name="adj" fmla="val 712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Карточка_дозы"/>
          <p:cNvSpPr/>
          <p:nvPr/>
        </p:nvSpPr>
        <p:spPr>
          <a:xfrm>
            <a:off x="7467600" y="3509460"/>
            <a:ext cx="4267200" cy="916208"/>
          </a:xfrm>
          <a:prstGeom prst="roundRect">
            <a:avLst>
              <a:gd name="adj" fmla="val 1108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Карточка_ограничение"/>
          <p:cNvSpPr/>
          <p:nvPr/>
        </p:nvSpPr>
        <p:spPr>
          <a:xfrm>
            <a:off x="7467600" y="4552669"/>
            <a:ext cx="4267200" cy="1263300"/>
          </a:xfrm>
          <a:prstGeom prst="roundRect">
            <a:avLst>
              <a:gd name="adj" fmla="val 80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Карточка_вывод"/>
          <p:cNvSpPr/>
          <p:nvPr/>
        </p:nvSpPr>
        <p:spPr>
          <a:xfrm>
            <a:off x="457200" y="4679025"/>
            <a:ext cx="6858000" cy="1136944"/>
          </a:xfrm>
          <a:prstGeom prst="roundRect">
            <a:avLst>
              <a:gd name="adj" fmla="val 893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ARTS (II фаза): частота повышения калия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при финереноне и спиронолактоне</a:t>
            </a:r>
          </a:p>
        </p:txBody>
      </p:sp>
      <p:sp>
        <p:nvSpPr>
          <p:cNvPr id="4" name="Текст: Гиперкалиемия или повышение калия по сообщени"/>
          <p:cNvSpPr txBox="1"/>
          <p:nvPr/>
        </p:nvSpPr>
        <p:spPr>
          <a:xfrm>
            <a:off x="530352" y="1143000"/>
            <a:ext cx="6464808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 или повышение калия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по сообщениям исследователей, % пациентов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76072" y="1854200"/>
          <a:ext cx="6419088" cy="267242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Текст: Калий и функцию почек контролируют при примен"/>
          <p:cNvSpPr txBox="1"/>
          <p:nvPr/>
        </p:nvSpPr>
        <p:spPr>
          <a:xfrm>
            <a:off x="635000" y="4780625"/>
            <a:ext cx="6502400" cy="93374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Вывод: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долгосрочное преимущество по безопасности не установлено.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Безопасность: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в ARTS при плацебо гиперкалиемия была у 1,5%; в FIDELITY финеренон повышал риск гиперкалиемии по сравнению с плацебо. Калий и функцию почек контролируют при применении обоих препаратов.</a:t>
            </a:r>
          </a:p>
        </p:txBody>
      </p:sp>
      <p:sp>
        <p:nvSpPr>
          <p:cNvPr id="8" name="Текст: 392 пациента в анализе безопасности. Сердечна"/>
          <p:cNvSpPr txBox="1"/>
          <p:nvPr/>
        </p:nvSpPr>
        <p:spPr>
          <a:xfrm>
            <a:off x="7645400" y="1625600"/>
            <a:ext cx="3937000" cy="12234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Кто участвовал: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 392 пациента с сердечной недостаточностью со сниженной фракцией выброса и умеренным нарушением функции почек (анализ безопасности).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Наблюдение: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 лечение 4 недели.</a:t>
            </a:r>
          </a:p>
        </p:txBody>
      </p:sp>
      <p:sp>
        <p:nvSpPr>
          <p:cNvPr id="10" name="Текст: Финеренон: 2,5; 5 или 10 мг один раз в сутки "/>
          <p:cNvSpPr txBox="1"/>
          <p:nvPr/>
        </p:nvSpPr>
        <p:spPr>
          <a:xfrm>
            <a:off x="7645400" y="3611060"/>
            <a:ext cx="3937000" cy="7130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7030A0"/>
                </a:solidFill>
                <a:latin typeface="Arial Narrow"/>
                <a:cs typeface="Arial Narrow"/>
              </a:rPr>
              <a:t>Финеренон: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2,5; 5 или 10 мг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один раз в сутки либо 5 мг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дважды в сутки.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0F9ED5"/>
                </a:solidFill>
                <a:latin typeface="Arial Narrow"/>
                <a:cs typeface="Arial Narrow"/>
              </a:rPr>
              <a:t>Спиронолактон: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25–50 мг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один раз в сутки.</a:t>
            </a:r>
          </a:p>
        </p:txBody>
      </p:sp>
      <p:sp>
        <p:nvSpPr>
          <p:cNvPr id="11" name="Текст: Группы доз финеренона объединены в дополнител"/>
          <p:cNvSpPr txBox="1"/>
          <p:nvPr/>
        </p:nvSpPr>
        <p:spPr>
          <a:xfrm>
            <a:off x="7645400" y="4654269"/>
            <a:ext cx="3937000" cy="1085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Ограничение: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описательное сравнение объединённых групп доз, спиронолактон применяли открыто. Результат относится к дозам 2,5–10 мг и 4 неделям лечения; переносить его на ХБП и диабет 2 типа нельзя.</a:t>
            </a:r>
          </a:p>
        </p:txBody>
      </p:sp>
      <p:sp>
        <p:nvSpPr>
          <p:cNvPr id="12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Pitt B, et al. Eur Heart J. 2013;34:2453–2463. Agarwal R, et al. Eur Heart J. 2022;43:474–484.</a:t>
            </a:r>
          </a:p>
        </p:txBody>
      </p:sp>
      <p:pic>
        <p:nvPicPr>
          <p:cNvPr id="13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14" name="Плашка_приложение"/>
          <p:cNvSpPr txBox="1"/>
          <p:nvPr/>
        </p:nvSpPr>
        <p:spPr>
          <a:xfrm>
            <a:off x="5157342" y="12700"/>
            <a:ext cx="6577457" cy="241300"/>
          </a:xfrm>
          <a:prstGeom prst="rect">
            <a:avLst/>
          </a:prstGeom>
          <a:solidFill>
            <a:srgbClr val="E97132"/>
          </a:solidFill>
        </p:spPr>
        <p:txBody>
          <a:bodyPr wrap="none" lIns="76200" rIns="76200" tIns="0" bIns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Приложение: вне показаний местной инструкции. Только для внутреннего обучения</a:t>
            </a:r>
          </a:p>
        </p:txBody>
      </p:sp>
      <p:sp>
        <p:nvSpPr>
          <p:cNvPr id="15" name="Плашка_ARTS"/>
          <p:cNvSpPr/>
          <p:nvPr/>
        </p:nvSpPr>
        <p:spPr>
          <a:xfrm>
            <a:off x="7467600" y="1092200"/>
            <a:ext cx="42672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ARTS, часть B</a:t>
            </a:r>
          </a:p>
        </p:txBody>
      </p:sp>
      <p:sp>
        <p:nvSpPr>
          <p:cNvPr id="17" name="Плашка_дозы"/>
          <p:cNvSpPr/>
          <p:nvPr/>
        </p:nvSpPr>
        <p:spPr>
          <a:xfrm>
            <a:off x="7467600" y="3077660"/>
            <a:ext cx="42672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Изученные дозы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47BC36-2FE3-4B05-ABD4-8BA3B190B057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FIND-CKD: при ХБП без диабета финеренон замедлял снижение рСКФ</a:t>
            </a:r>
          </a:p>
        </p:txBody>
      </p:sp>
      <p:sp>
        <p:nvSpPr>
          <p:cNvPr id="11" name="population">
            <a:extLst>
              <a:ext uri="{FF2B5EF4-FFF2-40B4-BE49-F238E27FC236}">
                <a16:creationId xmlns:a16="http://schemas.microsoft.com/office/drawing/2014/main" id="{ACEF5D14-7FCF-4AB6-884A-7113EE853242}"/>
              </a:ext>
            </a:extLst>
          </p:cNvPr>
          <p:cNvSpPr>
            <a:spLocks noGrp="1"/>
          </p:cNvSpPr>
          <p:nvPr/>
        </p:nvSpPr>
        <p:spPr>
          <a:xfrm>
            <a:off x="457200" y="762000"/>
            <a:ext cx="11277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Кто участвовал: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1584 взрослых с хронической болезнью почек без диабета и с альбуминурией.</a:t>
            </a:r>
          </a:p>
        </p:txBody>
      </p:sp>
      <p:sp>
        <p:nvSpPr>
          <p:cNvPr id="12" name="eligibility">
            <a:extLst>
              <a:ext uri="{FF2B5EF4-FFF2-40B4-BE49-F238E27FC236}">
                <a16:creationId xmlns:a16="http://schemas.microsoft.com/office/drawing/2014/main" id="{442A69C6-83AB-4A31-9F74-4EBDF978025E}"/>
              </a:ext>
            </a:extLst>
          </p:cNvPr>
          <p:cNvSpPr>
            <a:spLocks noGrp="1"/>
          </p:cNvSpPr>
          <p:nvPr/>
        </p:nvSpPr>
        <p:spPr>
          <a:xfrm>
            <a:off x="457200" y="1009650"/>
            <a:ext cx="11277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Критерии включения: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рСКФ ≥25 и &lt;90 мл/мин/1,73 м², АКО 200–3500 мг/г.</a:t>
            </a:r>
          </a:p>
        </p:txBody>
      </p:sp>
      <p:sp>
        <p:nvSpPr>
          <p:cNvPr id="13" name="background">
            <a:extLst>
              <a:ext uri="{FF2B5EF4-FFF2-40B4-BE49-F238E27FC236}">
                <a16:creationId xmlns:a16="http://schemas.microsoft.com/office/drawing/2014/main" id="{71F9A861-AEC6-4581-92AE-19B471937C50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11277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Что сравнивали: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финеренон или плацебо на фоне ингибитора АПФ или БРА в максимально переносимой дозе (по протоколу).</a:t>
            </a:r>
          </a:p>
        </p:txBody>
      </p:sp>
      <p:sp>
        <p:nvSpPr>
          <p:cNvPr id="14" name="y_title">
            <a:extLst>
              <a:ext uri="{FF2B5EF4-FFF2-40B4-BE49-F238E27FC236}">
                <a16:creationId xmlns:a16="http://schemas.microsoft.com/office/drawing/2014/main" id="{6EBA6AFB-347A-4844-8BFE-9CE22024B2F0}"/>
              </a:ext>
            </a:extLst>
          </p:cNvPr>
          <p:cNvSpPr>
            <a:spLocks noGrp="1"/>
          </p:cNvSpPr>
          <p:nvPr/>
        </p:nvSpPr>
        <p:spPr>
          <a:xfrm>
            <a:off x="457200" y="1619697"/>
            <a:ext cx="82296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Среднее изменение рСКФ от исходного уровня, мл/мин/1,73 м²</a:t>
            </a:r>
          </a:p>
        </p:txBody>
      </p:sp>
      <p:sp>
        <p:nvSpPr>
          <p:cNvPr id="15" name="source_inset_background_5">
            <a:extLst>
              <a:ext uri="{FF2B5EF4-FFF2-40B4-BE49-F238E27FC236}">
                <a16:creationId xmlns:a16="http://schemas.microsoft.com/office/drawing/2014/main" id="{6EBB4F0B-7A56-4FD4-8270-5045A93F5FC3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5591175" y="-67530"/>
                </a:moveTo>
                <a:lnTo>
                  <a:pt x="7019934" y="-67530"/>
                </a:lnTo>
                <a:lnTo>
                  <a:pt x="7019934" y="1890488"/>
                </a:lnTo>
                <a:lnTo>
                  <a:pt x="5591175" y="1890488"/>
                </a:lnTo>
                <a:close/>
              </a:path>
            </a:pathLst>
          </a:custGeom>
          <a:solidFill>
            <a:srgbClr val="F2F2F3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6" name="axis_x_axis_7">
            <a:extLst>
              <a:ext uri="{FF2B5EF4-FFF2-40B4-BE49-F238E27FC236}">
                <a16:creationId xmlns:a16="http://schemas.microsoft.com/office/drawing/2014/main" id="{19982CDE-5D80-41E6-BD68-91C88D74429F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5502133" y="1904950"/>
                </a:moveTo>
                <a:lnTo>
                  <a:pt x="716" y="1904950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7" name="axis_x_axis_8">
            <a:extLst>
              <a:ext uri="{FF2B5EF4-FFF2-40B4-BE49-F238E27FC236}">
                <a16:creationId xmlns:a16="http://schemas.microsoft.com/office/drawing/2014/main" id="{CEF385DC-ECF6-438C-B258-92C561B5B85C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7019925" y="1904950"/>
                </a:moveTo>
                <a:lnTo>
                  <a:pt x="5551963" y="1904950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8" name="axis_axis_break_9">
            <a:extLst>
              <a:ext uri="{FF2B5EF4-FFF2-40B4-BE49-F238E27FC236}">
                <a16:creationId xmlns:a16="http://schemas.microsoft.com/office/drawing/2014/main" id="{941FB659-18B1-4FE0-8E9C-A0A7B971E627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5556314" y="1856398"/>
                </a:moveTo>
                <a:lnTo>
                  <a:pt x="5458054" y="1950272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9" name="axis_axis_break_10">
            <a:extLst>
              <a:ext uri="{FF2B5EF4-FFF2-40B4-BE49-F238E27FC236}">
                <a16:creationId xmlns:a16="http://schemas.microsoft.com/office/drawing/2014/main" id="{A97A8409-92BE-40A1-BAF5-4A0E4155966E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5591163" y="1861532"/>
                </a:moveTo>
                <a:lnTo>
                  <a:pt x="5492904" y="1955407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0" name="axis_y_axis_12">
            <a:extLst>
              <a:ext uri="{FF2B5EF4-FFF2-40B4-BE49-F238E27FC236}">
                <a16:creationId xmlns:a16="http://schemas.microsoft.com/office/drawing/2014/main" id="{2C969B75-F222-4C06-A831-89E0539EB7DE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0" y="1905000"/>
                </a:moveTo>
                <a:lnTo>
                  <a:pt x="0" y="0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1" name="axis_y_zero_reference_11">
            <a:extLst>
              <a:ext uri="{FF2B5EF4-FFF2-40B4-BE49-F238E27FC236}">
                <a16:creationId xmlns:a16="http://schemas.microsoft.com/office/drawing/2014/main" id="{F40E94EC-BAE5-43AD-BFF7-8DAECA022168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7019925" y="158867"/>
                </a:moveTo>
                <a:lnTo>
                  <a:pt x="6962762" y="158867"/>
                </a:lnTo>
                <a:moveTo>
                  <a:pt x="6905599" y="158867"/>
                </a:moveTo>
                <a:lnTo>
                  <a:pt x="6848436" y="158867"/>
                </a:lnTo>
                <a:moveTo>
                  <a:pt x="6791274" y="158867"/>
                </a:moveTo>
                <a:lnTo>
                  <a:pt x="6734111" y="158867"/>
                </a:lnTo>
                <a:moveTo>
                  <a:pt x="6676948" y="158867"/>
                </a:moveTo>
                <a:lnTo>
                  <a:pt x="6619785" y="158867"/>
                </a:lnTo>
                <a:moveTo>
                  <a:pt x="6562622" y="158867"/>
                </a:moveTo>
                <a:lnTo>
                  <a:pt x="6505459" y="158867"/>
                </a:lnTo>
                <a:moveTo>
                  <a:pt x="6448296" y="158867"/>
                </a:moveTo>
                <a:lnTo>
                  <a:pt x="6391134" y="158867"/>
                </a:lnTo>
                <a:moveTo>
                  <a:pt x="6333971" y="158867"/>
                </a:moveTo>
                <a:lnTo>
                  <a:pt x="6276808" y="158867"/>
                </a:lnTo>
                <a:moveTo>
                  <a:pt x="6219645" y="158867"/>
                </a:moveTo>
                <a:lnTo>
                  <a:pt x="6162482" y="158867"/>
                </a:lnTo>
                <a:moveTo>
                  <a:pt x="6105319" y="158867"/>
                </a:moveTo>
                <a:lnTo>
                  <a:pt x="6048157" y="158867"/>
                </a:lnTo>
                <a:moveTo>
                  <a:pt x="5990994" y="158867"/>
                </a:moveTo>
                <a:lnTo>
                  <a:pt x="5933831" y="158867"/>
                </a:lnTo>
                <a:moveTo>
                  <a:pt x="5876668" y="158867"/>
                </a:moveTo>
                <a:lnTo>
                  <a:pt x="5819505" y="158867"/>
                </a:lnTo>
                <a:moveTo>
                  <a:pt x="5762342" y="158867"/>
                </a:moveTo>
                <a:lnTo>
                  <a:pt x="5705179" y="158867"/>
                </a:lnTo>
                <a:moveTo>
                  <a:pt x="5648017" y="158867"/>
                </a:moveTo>
                <a:lnTo>
                  <a:pt x="5590954" y="158867"/>
                </a:lnTo>
                <a:moveTo>
                  <a:pt x="5551650" y="158867"/>
                </a:moveTo>
                <a:lnTo>
                  <a:pt x="5512347" y="158867"/>
                </a:lnTo>
                <a:moveTo>
                  <a:pt x="5473043" y="158867"/>
                </a:moveTo>
                <a:lnTo>
                  <a:pt x="5433739" y="158867"/>
                </a:lnTo>
                <a:moveTo>
                  <a:pt x="5394435" y="158867"/>
                </a:moveTo>
                <a:lnTo>
                  <a:pt x="5355131" y="158867"/>
                </a:lnTo>
                <a:moveTo>
                  <a:pt x="5315827" y="158867"/>
                </a:moveTo>
                <a:lnTo>
                  <a:pt x="5276524" y="158867"/>
                </a:lnTo>
                <a:moveTo>
                  <a:pt x="5237220" y="158867"/>
                </a:moveTo>
                <a:lnTo>
                  <a:pt x="5197916" y="158867"/>
                </a:lnTo>
                <a:moveTo>
                  <a:pt x="5158612" y="158867"/>
                </a:moveTo>
                <a:lnTo>
                  <a:pt x="5119308" y="158867"/>
                </a:lnTo>
                <a:moveTo>
                  <a:pt x="5080005" y="158867"/>
                </a:moveTo>
                <a:lnTo>
                  <a:pt x="5040701" y="158867"/>
                </a:lnTo>
                <a:moveTo>
                  <a:pt x="5001397" y="158867"/>
                </a:moveTo>
                <a:lnTo>
                  <a:pt x="4962093" y="158867"/>
                </a:lnTo>
                <a:moveTo>
                  <a:pt x="4922789" y="158867"/>
                </a:moveTo>
                <a:lnTo>
                  <a:pt x="4883486" y="158867"/>
                </a:lnTo>
                <a:moveTo>
                  <a:pt x="4844182" y="158867"/>
                </a:moveTo>
                <a:lnTo>
                  <a:pt x="4804878" y="158867"/>
                </a:lnTo>
                <a:moveTo>
                  <a:pt x="4765574" y="158867"/>
                </a:moveTo>
                <a:lnTo>
                  <a:pt x="4726270" y="158867"/>
                </a:lnTo>
                <a:moveTo>
                  <a:pt x="4686967" y="158867"/>
                </a:moveTo>
                <a:lnTo>
                  <a:pt x="4647663" y="158867"/>
                </a:lnTo>
                <a:moveTo>
                  <a:pt x="4608359" y="158867"/>
                </a:moveTo>
                <a:lnTo>
                  <a:pt x="4569055" y="158867"/>
                </a:lnTo>
                <a:moveTo>
                  <a:pt x="4529751" y="158867"/>
                </a:moveTo>
                <a:lnTo>
                  <a:pt x="4490448" y="158867"/>
                </a:lnTo>
                <a:moveTo>
                  <a:pt x="4451144" y="158867"/>
                </a:moveTo>
                <a:lnTo>
                  <a:pt x="4411840" y="158867"/>
                </a:lnTo>
                <a:moveTo>
                  <a:pt x="4372536" y="158867"/>
                </a:moveTo>
                <a:lnTo>
                  <a:pt x="4333232" y="158867"/>
                </a:lnTo>
                <a:moveTo>
                  <a:pt x="4293929" y="158867"/>
                </a:moveTo>
                <a:lnTo>
                  <a:pt x="4254625" y="158867"/>
                </a:lnTo>
                <a:moveTo>
                  <a:pt x="4215321" y="158867"/>
                </a:moveTo>
                <a:lnTo>
                  <a:pt x="4176017" y="158867"/>
                </a:lnTo>
                <a:moveTo>
                  <a:pt x="4136713" y="158867"/>
                </a:moveTo>
                <a:lnTo>
                  <a:pt x="4097410" y="158867"/>
                </a:lnTo>
                <a:moveTo>
                  <a:pt x="4058106" y="158867"/>
                </a:moveTo>
                <a:lnTo>
                  <a:pt x="4018802" y="158867"/>
                </a:lnTo>
                <a:moveTo>
                  <a:pt x="3979498" y="158867"/>
                </a:moveTo>
                <a:lnTo>
                  <a:pt x="3940194" y="158867"/>
                </a:lnTo>
                <a:moveTo>
                  <a:pt x="3900891" y="158867"/>
                </a:moveTo>
                <a:lnTo>
                  <a:pt x="3861587" y="158867"/>
                </a:lnTo>
                <a:moveTo>
                  <a:pt x="3822283" y="158867"/>
                </a:moveTo>
                <a:lnTo>
                  <a:pt x="3782979" y="158867"/>
                </a:lnTo>
                <a:moveTo>
                  <a:pt x="3743675" y="158867"/>
                </a:moveTo>
                <a:lnTo>
                  <a:pt x="3704372" y="158867"/>
                </a:lnTo>
                <a:moveTo>
                  <a:pt x="3665068" y="158867"/>
                </a:moveTo>
                <a:lnTo>
                  <a:pt x="3625764" y="158867"/>
                </a:lnTo>
                <a:moveTo>
                  <a:pt x="3586460" y="158867"/>
                </a:moveTo>
                <a:lnTo>
                  <a:pt x="3547156" y="158867"/>
                </a:lnTo>
                <a:moveTo>
                  <a:pt x="3507853" y="158867"/>
                </a:moveTo>
                <a:lnTo>
                  <a:pt x="3468549" y="158867"/>
                </a:lnTo>
                <a:moveTo>
                  <a:pt x="3429245" y="158867"/>
                </a:moveTo>
                <a:lnTo>
                  <a:pt x="3389941" y="158867"/>
                </a:lnTo>
                <a:moveTo>
                  <a:pt x="3350637" y="158867"/>
                </a:moveTo>
                <a:lnTo>
                  <a:pt x="3311334" y="158867"/>
                </a:lnTo>
                <a:moveTo>
                  <a:pt x="3272030" y="158867"/>
                </a:moveTo>
                <a:lnTo>
                  <a:pt x="3232726" y="158867"/>
                </a:lnTo>
                <a:moveTo>
                  <a:pt x="3193422" y="158867"/>
                </a:moveTo>
                <a:lnTo>
                  <a:pt x="3154118" y="158867"/>
                </a:lnTo>
                <a:moveTo>
                  <a:pt x="3114815" y="158867"/>
                </a:moveTo>
                <a:lnTo>
                  <a:pt x="3075511" y="158867"/>
                </a:lnTo>
                <a:moveTo>
                  <a:pt x="3036207" y="158867"/>
                </a:moveTo>
                <a:lnTo>
                  <a:pt x="2996903" y="158867"/>
                </a:lnTo>
                <a:moveTo>
                  <a:pt x="2957599" y="158867"/>
                </a:moveTo>
                <a:lnTo>
                  <a:pt x="2918296" y="158867"/>
                </a:lnTo>
                <a:moveTo>
                  <a:pt x="2878992" y="158867"/>
                </a:moveTo>
                <a:lnTo>
                  <a:pt x="2839688" y="158867"/>
                </a:lnTo>
                <a:moveTo>
                  <a:pt x="2800384" y="158867"/>
                </a:moveTo>
                <a:lnTo>
                  <a:pt x="2761080" y="158867"/>
                </a:lnTo>
                <a:moveTo>
                  <a:pt x="2721777" y="158867"/>
                </a:moveTo>
                <a:lnTo>
                  <a:pt x="2682473" y="158867"/>
                </a:lnTo>
                <a:moveTo>
                  <a:pt x="2643169" y="158867"/>
                </a:moveTo>
                <a:lnTo>
                  <a:pt x="2603865" y="158867"/>
                </a:lnTo>
                <a:moveTo>
                  <a:pt x="2564561" y="158867"/>
                </a:moveTo>
                <a:lnTo>
                  <a:pt x="2525258" y="158867"/>
                </a:lnTo>
                <a:moveTo>
                  <a:pt x="2485954" y="158867"/>
                </a:moveTo>
                <a:lnTo>
                  <a:pt x="2446650" y="158867"/>
                </a:lnTo>
                <a:moveTo>
                  <a:pt x="2407346" y="158867"/>
                </a:moveTo>
                <a:lnTo>
                  <a:pt x="2368042" y="158867"/>
                </a:lnTo>
                <a:moveTo>
                  <a:pt x="2328739" y="158867"/>
                </a:moveTo>
                <a:lnTo>
                  <a:pt x="2289435" y="158867"/>
                </a:lnTo>
                <a:moveTo>
                  <a:pt x="2250131" y="158867"/>
                </a:moveTo>
                <a:lnTo>
                  <a:pt x="2210827" y="158867"/>
                </a:lnTo>
                <a:moveTo>
                  <a:pt x="2171523" y="158867"/>
                </a:moveTo>
                <a:lnTo>
                  <a:pt x="2132220" y="158867"/>
                </a:lnTo>
                <a:moveTo>
                  <a:pt x="2092916" y="158867"/>
                </a:moveTo>
                <a:lnTo>
                  <a:pt x="2053612" y="158867"/>
                </a:lnTo>
                <a:moveTo>
                  <a:pt x="2014308" y="158867"/>
                </a:moveTo>
                <a:lnTo>
                  <a:pt x="1975004" y="158867"/>
                </a:lnTo>
                <a:moveTo>
                  <a:pt x="1935701" y="158867"/>
                </a:moveTo>
                <a:lnTo>
                  <a:pt x="1896397" y="158867"/>
                </a:lnTo>
                <a:moveTo>
                  <a:pt x="1857093" y="158867"/>
                </a:moveTo>
                <a:lnTo>
                  <a:pt x="1817789" y="158867"/>
                </a:lnTo>
                <a:moveTo>
                  <a:pt x="1778485" y="158867"/>
                </a:moveTo>
                <a:lnTo>
                  <a:pt x="1739182" y="158867"/>
                </a:lnTo>
                <a:moveTo>
                  <a:pt x="1699878" y="158867"/>
                </a:moveTo>
                <a:lnTo>
                  <a:pt x="1660574" y="158867"/>
                </a:lnTo>
                <a:moveTo>
                  <a:pt x="1621270" y="158867"/>
                </a:moveTo>
                <a:lnTo>
                  <a:pt x="1581966" y="158867"/>
                </a:lnTo>
                <a:moveTo>
                  <a:pt x="1542663" y="158867"/>
                </a:moveTo>
                <a:lnTo>
                  <a:pt x="1503359" y="158867"/>
                </a:lnTo>
                <a:moveTo>
                  <a:pt x="1464055" y="158867"/>
                </a:moveTo>
                <a:lnTo>
                  <a:pt x="1424751" y="158867"/>
                </a:lnTo>
                <a:moveTo>
                  <a:pt x="1385447" y="158867"/>
                </a:moveTo>
                <a:lnTo>
                  <a:pt x="1346144" y="158867"/>
                </a:lnTo>
                <a:moveTo>
                  <a:pt x="1306840" y="158867"/>
                </a:moveTo>
                <a:lnTo>
                  <a:pt x="1267536" y="158867"/>
                </a:lnTo>
                <a:moveTo>
                  <a:pt x="1228232" y="158867"/>
                </a:moveTo>
                <a:lnTo>
                  <a:pt x="1188928" y="158867"/>
                </a:lnTo>
                <a:moveTo>
                  <a:pt x="1149625" y="158867"/>
                </a:moveTo>
                <a:lnTo>
                  <a:pt x="1110321" y="158867"/>
                </a:lnTo>
                <a:moveTo>
                  <a:pt x="1071017" y="158867"/>
                </a:moveTo>
                <a:lnTo>
                  <a:pt x="1031713" y="158867"/>
                </a:lnTo>
                <a:moveTo>
                  <a:pt x="992409" y="158867"/>
                </a:moveTo>
                <a:lnTo>
                  <a:pt x="953106" y="158867"/>
                </a:lnTo>
                <a:moveTo>
                  <a:pt x="913802" y="158867"/>
                </a:moveTo>
                <a:lnTo>
                  <a:pt x="874498" y="158867"/>
                </a:lnTo>
                <a:moveTo>
                  <a:pt x="835194" y="158867"/>
                </a:moveTo>
                <a:lnTo>
                  <a:pt x="795890" y="158867"/>
                </a:lnTo>
                <a:moveTo>
                  <a:pt x="756587" y="158867"/>
                </a:moveTo>
                <a:lnTo>
                  <a:pt x="717283" y="158867"/>
                </a:lnTo>
                <a:moveTo>
                  <a:pt x="677979" y="158867"/>
                </a:moveTo>
                <a:lnTo>
                  <a:pt x="638675" y="158867"/>
                </a:lnTo>
                <a:moveTo>
                  <a:pt x="599371" y="158867"/>
                </a:moveTo>
                <a:lnTo>
                  <a:pt x="560068" y="158867"/>
                </a:lnTo>
                <a:moveTo>
                  <a:pt x="520764" y="158867"/>
                </a:moveTo>
                <a:lnTo>
                  <a:pt x="481460" y="158867"/>
                </a:lnTo>
                <a:moveTo>
                  <a:pt x="442156" y="158867"/>
                </a:moveTo>
                <a:lnTo>
                  <a:pt x="402852" y="158867"/>
                </a:lnTo>
                <a:moveTo>
                  <a:pt x="363549" y="158867"/>
                </a:moveTo>
                <a:lnTo>
                  <a:pt x="324245" y="158867"/>
                </a:lnTo>
                <a:moveTo>
                  <a:pt x="284941" y="158867"/>
                </a:moveTo>
                <a:lnTo>
                  <a:pt x="245637" y="158867"/>
                </a:lnTo>
                <a:moveTo>
                  <a:pt x="206333" y="158867"/>
                </a:moveTo>
                <a:lnTo>
                  <a:pt x="167030" y="158867"/>
                </a:lnTo>
                <a:moveTo>
                  <a:pt x="127726" y="158867"/>
                </a:moveTo>
                <a:lnTo>
                  <a:pt x="88422" y="158867"/>
                </a:lnTo>
                <a:moveTo>
                  <a:pt x="49118" y="158867"/>
                </a:moveTo>
                <a:lnTo>
                  <a:pt x="9814" y="158867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2" name="axis_month32_reference_41">
            <a:extLst>
              <a:ext uri="{FF2B5EF4-FFF2-40B4-BE49-F238E27FC236}">
                <a16:creationId xmlns:a16="http://schemas.microsoft.com/office/drawing/2014/main" id="{E5461827-9824-4784-B5B9-60BA71CB5113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3890335" y="1905000"/>
                </a:moveTo>
                <a:lnTo>
                  <a:pt x="3890335" y="1867450"/>
                </a:lnTo>
                <a:moveTo>
                  <a:pt x="3890335" y="1829900"/>
                </a:moveTo>
                <a:lnTo>
                  <a:pt x="3890335" y="1792350"/>
                </a:lnTo>
                <a:moveTo>
                  <a:pt x="3890335" y="1754800"/>
                </a:moveTo>
                <a:lnTo>
                  <a:pt x="3890335" y="1717250"/>
                </a:lnTo>
                <a:moveTo>
                  <a:pt x="3890335" y="1679700"/>
                </a:moveTo>
                <a:lnTo>
                  <a:pt x="3890335" y="1642150"/>
                </a:lnTo>
                <a:moveTo>
                  <a:pt x="3890335" y="1604600"/>
                </a:moveTo>
                <a:lnTo>
                  <a:pt x="3890335" y="1567050"/>
                </a:lnTo>
                <a:moveTo>
                  <a:pt x="3890335" y="1529500"/>
                </a:moveTo>
                <a:lnTo>
                  <a:pt x="3890335" y="1491950"/>
                </a:lnTo>
                <a:moveTo>
                  <a:pt x="3890335" y="1454400"/>
                </a:moveTo>
                <a:lnTo>
                  <a:pt x="3890335" y="1416850"/>
                </a:lnTo>
                <a:moveTo>
                  <a:pt x="3890335" y="1379300"/>
                </a:moveTo>
                <a:lnTo>
                  <a:pt x="3890335" y="1341750"/>
                </a:lnTo>
                <a:moveTo>
                  <a:pt x="3890335" y="1304200"/>
                </a:moveTo>
                <a:lnTo>
                  <a:pt x="3890335" y="1266650"/>
                </a:lnTo>
                <a:moveTo>
                  <a:pt x="3890335" y="1229100"/>
                </a:moveTo>
                <a:lnTo>
                  <a:pt x="3890335" y="1191550"/>
                </a:lnTo>
                <a:moveTo>
                  <a:pt x="3890335" y="1154000"/>
                </a:moveTo>
                <a:lnTo>
                  <a:pt x="3890335" y="1116450"/>
                </a:lnTo>
                <a:moveTo>
                  <a:pt x="3890335" y="1078900"/>
                </a:moveTo>
                <a:lnTo>
                  <a:pt x="3890335" y="1041350"/>
                </a:lnTo>
                <a:moveTo>
                  <a:pt x="3890335" y="1003800"/>
                </a:moveTo>
                <a:lnTo>
                  <a:pt x="3890335" y="966250"/>
                </a:lnTo>
                <a:moveTo>
                  <a:pt x="3890335" y="928700"/>
                </a:moveTo>
                <a:lnTo>
                  <a:pt x="3890335" y="891150"/>
                </a:lnTo>
                <a:moveTo>
                  <a:pt x="3890335" y="853600"/>
                </a:moveTo>
                <a:lnTo>
                  <a:pt x="3890335" y="816050"/>
                </a:lnTo>
                <a:moveTo>
                  <a:pt x="3890335" y="778500"/>
                </a:moveTo>
                <a:lnTo>
                  <a:pt x="3890335" y="740950"/>
                </a:lnTo>
                <a:moveTo>
                  <a:pt x="3890335" y="703400"/>
                </a:moveTo>
                <a:lnTo>
                  <a:pt x="3890335" y="665850"/>
                </a:lnTo>
                <a:moveTo>
                  <a:pt x="3890335" y="628300"/>
                </a:moveTo>
                <a:lnTo>
                  <a:pt x="3890335" y="590750"/>
                </a:lnTo>
                <a:moveTo>
                  <a:pt x="3890335" y="553200"/>
                </a:moveTo>
                <a:lnTo>
                  <a:pt x="3890335" y="515649"/>
                </a:lnTo>
                <a:moveTo>
                  <a:pt x="3890335" y="478099"/>
                </a:moveTo>
                <a:lnTo>
                  <a:pt x="3890335" y="440549"/>
                </a:lnTo>
                <a:moveTo>
                  <a:pt x="3890335" y="402999"/>
                </a:moveTo>
                <a:lnTo>
                  <a:pt x="3890335" y="365449"/>
                </a:lnTo>
                <a:moveTo>
                  <a:pt x="3890335" y="327899"/>
                </a:moveTo>
                <a:lnTo>
                  <a:pt x="3890335" y="290349"/>
                </a:lnTo>
                <a:moveTo>
                  <a:pt x="3890335" y="252799"/>
                </a:moveTo>
                <a:lnTo>
                  <a:pt x="3890335" y="215249"/>
                </a:lnTo>
                <a:moveTo>
                  <a:pt x="3890335" y="177699"/>
                </a:moveTo>
                <a:lnTo>
                  <a:pt x="3890335" y="140149"/>
                </a:lnTo>
                <a:moveTo>
                  <a:pt x="3890335" y="102599"/>
                </a:moveTo>
                <a:lnTo>
                  <a:pt x="3890335" y="65049"/>
                </a:lnTo>
                <a:moveTo>
                  <a:pt x="3890335" y="27499"/>
                </a:moveTo>
                <a:lnTo>
                  <a:pt x="3890335" y="-10051"/>
                </a:lnTo>
                <a:moveTo>
                  <a:pt x="3890335" y="-47601"/>
                </a:moveTo>
                <a:lnTo>
                  <a:pt x="3890335" y="-55111"/>
                </a:lnTo>
              </a:path>
            </a:pathLst>
          </a:custGeom>
          <a:noFill/>
          <a:ln w="9870">
            <a:solidFill>
              <a:srgbClr val="6D6E71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3" name="axis_y_tick_14">
            <a:extLst>
              <a:ext uri="{FF2B5EF4-FFF2-40B4-BE49-F238E27FC236}">
                <a16:creationId xmlns:a16="http://schemas.microsoft.com/office/drawing/2014/main" id="{7546B24D-C547-4DAE-A98B-D6F0AFD6A4ED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0" y="115"/>
                </a:moveTo>
                <a:lnTo>
                  <a:pt x="-63864" y="115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4" name="y_2">
            <a:extLst>
              <a:ext uri="{FF2B5EF4-FFF2-40B4-BE49-F238E27FC236}">
                <a16:creationId xmlns:a16="http://schemas.microsoft.com/office/drawing/2014/main" id="{C09EC7DF-7035-42DA-8F02-BD4F5824BF48}"/>
              </a:ext>
            </a:extLst>
          </p:cNvPr>
          <p:cNvSpPr>
            <a:spLocks noGrp="1"/>
          </p:cNvSpPr>
          <p:nvPr/>
        </p:nvSpPr>
        <p:spPr>
          <a:xfrm>
            <a:off x="1162050" y="1953758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2,0</a:t>
            </a:r>
          </a:p>
        </p:txBody>
      </p:sp>
      <p:sp>
        <p:nvSpPr>
          <p:cNvPr id="25" name="axis_y_tick_18">
            <a:extLst>
              <a:ext uri="{FF2B5EF4-FFF2-40B4-BE49-F238E27FC236}">
                <a16:creationId xmlns:a16="http://schemas.microsoft.com/office/drawing/2014/main" id="{7077CFCD-1D60-4E36-8228-70512DBDA874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0" y="158857"/>
                </a:moveTo>
                <a:lnTo>
                  <a:pt x="-44212" y="158857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6" name="axis_y_tick_17">
            <a:extLst>
              <a:ext uri="{FF2B5EF4-FFF2-40B4-BE49-F238E27FC236}">
                <a16:creationId xmlns:a16="http://schemas.microsoft.com/office/drawing/2014/main" id="{BB4A8562-FE65-45DC-8504-D6CC1467BED4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0" y="317594"/>
                </a:moveTo>
                <a:lnTo>
                  <a:pt x="-63864" y="317594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7" name="y_-2">
            <a:extLst>
              <a:ext uri="{FF2B5EF4-FFF2-40B4-BE49-F238E27FC236}">
                <a16:creationId xmlns:a16="http://schemas.microsoft.com/office/drawing/2014/main" id="{E7996176-DB6A-4B23-A7BA-93788E94436D}"/>
              </a:ext>
            </a:extLst>
          </p:cNvPr>
          <p:cNvSpPr>
            <a:spLocks noGrp="1"/>
          </p:cNvSpPr>
          <p:nvPr/>
        </p:nvSpPr>
        <p:spPr>
          <a:xfrm>
            <a:off x="1162050" y="2341166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−2,0</a:t>
            </a:r>
          </a:p>
        </p:txBody>
      </p:sp>
      <p:sp>
        <p:nvSpPr>
          <p:cNvPr id="28" name="axis_y_tick_16">
            <a:extLst>
              <a:ext uri="{FF2B5EF4-FFF2-40B4-BE49-F238E27FC236}">
                <a16:creationId xmlns:a16="http://schemas.microsoft.com/office/drawing/2014/main" id="{67D44A84-6D6A-49E4-ACBA-92D8A4AEA745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0" y="476338"/>
                </a:moveTo>
                <a:lnTo>
                  <a:pt x="-44212" y="476338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29" name="axis_y_tick_15">
            <a:extLst>
              <a:ext uri="{FF2B5EF4-FFF2-40B4-BE49-F238E27FC236}">
                <a16:creationId xmlns:a16="http://schemas.microsoft.com/office/drawing/2014/main" id="{C9EB138E-9538-49F5-BB03-1737A2918F28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0" y="635077"/>
                </a:moveTo>
                <a:lnTo>
                  <a:pt x="-63864" y="635077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0" name="y_-6">
            <a:extLst>
              <a:ext uri="{FF2B5EF4-FFF2-40B4-BE49-F238E27FC236}">
                <a16:creationId xmlns:a16="http://schemas.microsoft.com/office/drawing/2014/main" id="{8BF22921-1269-4CC3-94CB-73775353248C}"/>
              </a:ext>
            </a:extLst>
          </p:cNvPr>
          <p:cNvSpPr>
            <a:spLocks noGrp="1"/>
          </p:cNvSpPr>
          <p:nvPr/>
        </p:nvSpPr>
        <p:spPr>
          <a:xfrm>
            <a:off x="1162050" y="2728579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−6,0</a:t>
            </a:r>
          </a:p>
        </p:txBody>
      </p:sp>
      <p:sp>
        <p:nvSpPr>
          <p:cNvPr id="31" name="axis_y_tick_20">
            <a:extLst>
              <a:ext uri="{FF2B5EF4-FFF2-40B4-BE49-F238E27FC236}">
                <a16:creationId xmlns:a16="http://schemas.microsoft.com/office/drawing/2014/main" id="{7EC2A3B5-2118-4CC7-A655-BBF7B5451173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0" y="793820"/>
                </a:moveTo>
                <a:lnTo>
                  <a:pt x="-44212" y="793820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2" name="axis_y_tick_19">
            <a:extLst>
              <a:ext uri="{FF2B5EF4-FFF2-40B4-BE49-F238E27FC236}">
                <a16:creationId xmlns:a16="http://schemas.microsoft.com/office/drawing/2014/main" id="{1AF427F9-E3F3-4887-8F21-74F95B3433D4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0" y="952567"/>
                </a:moveTo>
                <a:lnTo>
                  <a:pt x="-63864" y="952567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3" name="y_-10">
            <a:extLst>
              <a:ext uri="{FF2B5EF4-FFF2-40B4-BE49-F238E27FC236}">
                <a16:creationId xmlns:a16="http://schemas.microsoft.com/office/drawing/2014/main" id="{FF921F66-1341-41AA-B2B4-6C39189E6C60}"/>
              </a:ext>
            </a:extLst>
          </p:cNvPr>
          <p:cNvSpPr>
            <a:spLocks noGrp="1"/>
          </p:cNvSpPr>
          <p:nvPr/>
        </p:nvSpPr>
        <p:spPr>
          <a:xfrm>
            <a:off x="1162050" y="3116001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−10,0</a:t>
            </a:r>
          </a:p>
        </p:txBody>
      </p:sp>
      <p:sp>
        <p:nvSpPr>
          <p:cNvPr id="34" name="axis_y_tick_21">
            <a:extLst>
              <a:ext uri="{FF2B5EF4-FFF2-40B4-BE49-F238E27FC236}">
                <a16:creationId xmlns:a16="http://schemas.microsoft.com/office/drawing/2014/main" id="{12CE4B12-42C0-485C-9B52-FAF0E0CE9CBF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0" y="1111302"/>
                </a:moveTo>
                <a:lnTo>
                  <a:pt x="-44212" y="1111302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5" name="axis_y_tick_22">
            <a:extLst>
              <a:ext uri="{FF2B5EF4-FFF2-40B4-BE49-F238E27FC236}">
                <a16:creationId xmlns:a16="http://schemas.microsoft.com/office/drawing/2014/main" id="{72F0E9C0-350A-456B-848A-415AEA0C13AD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0" y="1270030"/>
                </a:moveTo>
                <a:lnTo>
                  <a:pt x="-63864" y="1270030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6" name="y_-14">
            <a:extLst>
              <a:ext uri="{FF2B5EF4-FFF2-40B4-BE49-F238E27FC236}">
                <a16:creationId xmlns:a16="http://schemas.microsoft.com/office/drawing/2014/main" id="{BFBA4927-470D-4B04-841C-2CE6F21F5B3C}"/>
              </a:ext>
            </a:extLst>
          </p:cNvPr>
          <p:cNvSpPr>
            <a:spLocks noGrp="1"/>
          </p:cNvSpPr>
          <p:nvPr/>
        </p:nvSpPr>
        <p:spPr>
          <a:xfrm>
            <a:off x="1162050" y="3503390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−14,0</a:t>
            </a:r>
          </a:p>
        </p:txBody>
      </p:sp>
      <p:sp>
        <p:nvSpPr>
          <p:cNvPr id="37" name="axis_y_tick_23">
            <a:extLst>
              <a:ext uri="{FF2B5EF4-FFF2-40B4-BE49-F238E27FC236}">
                <a16:creationId xmlns:a16="http://schemas.microsoft.com/office/drawing/2014/main" id="{66E44641-3A8E-4E85-865C-3BBB5B7007FC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0" y="1428771"/>
                </a:moveTo>
                <a:lnTo>
                  <a:pt x="-44212" y="1428771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8" name="axis_y_tick_24">
            <a:extLst>
              <a:ext uri="{FF2B5EF4-FFF2-40B4-BE49-F238E27FC236}">
                <a16:creationId xmlns:a16="http://schemas.microsoft.com/office/drawing/2014/main" id="{65AE9AE9-1908-4447-972A-70D7DDE93E44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0" y="1587518"/>
                </a:moveTo>
                <a:lnTo>
                  <a:pt x="-63864" y="1587518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39" name="y_-18">
            <a:extLst>
              <a:ext uri="{FF2B5EF4-FFF2-40B4-BE49-F238E27FC236}">
                <a16:creationId xmlns:a16="http://schemas.microsoft.com/office/drawing/2014/main" id="{7842EBAC-F25C-4C1C-80A6-6BFDB30203AF}"/>
              </a:ext>
            </a:extLst>
          </p:cNvPr>
          <p:cNvSpPr>
            <a:spLocks noGrp="1"/>
          </p:cNvSpPr>
          <p:nvPr/>
        </p:nvSpPr>
        <p:spPr>
          <a:xfrm>
            <a:off x="1162050" y="3890809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−18,0</a:t>
            </a:r>
          </a:p>
        </p:txBody>
      </p:sp>
      <p:sp>
        <p:nvSpPr>
          <p:cNvPr id="40" name="axis_y_tick_25">
            <a:extLst>
              <a:ext uri="{FF2B5EF4-FFF2-40B4-BE49-F238E27FC236}">
                <a16:creationId xmlns:a16="http://schemas.microsoft.com/office/drawing/2014/main" id="{C0B2E596-41FA-4D47-AF8C-02B6061FD5E4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0" y="1746259"/>
                </a:moveTo>
                <a:lnTo>
                  <a:pt x="-44212" y="1746259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1" name="axis_y_tick_26">
            <a:extLst>
              <a:ext uri="{FF2B5EF4-FFF2-40B4-BE49-F238E27FC236}">
                <a16:creationId xmlns:a16="http://schemas.microsoft.com/office/drawing/2014/main" id="{62758482-CEED-48A6-9734-08A7863D7C30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0" y="1905000"/>
                </a:moveTo>
                <a:lnTo>
                  <a:pt x="-63864" y="1905000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2" name="y_-22">
            <a:extLst>
              <a:ext uri="{FF2B5EF4-FFF2-40B4-BE49-F238E27FC236}">
                <a16:creationId xmlns:a16="http://schemas.microsoft.com/office/drawing/2014/main" id="{4C367830-ADB2-495D-9CAA-5F435B27ABDF}"/>
              </a:ext>
            </a:extLst>
          </p:cNvPr>
          <p:cNvSpPr>
            <a:spLocks noGrp="1"/>
          </p:cNvSpPr>
          <p:nvPr/>
        </p:nvSpPr>
        <p:spPr>
          <a:xfrm>
            <a:off x="1162050" y="4278221"/>
            <a:ext cx="4953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−22,0</a:t>
            </a:r>
          </a:p>
        </p:txBody>
      </p:sp>
      <p:sp>
        <p:nvSpPr>
          <p:cNvPr id="43" name="axis_x_tick_27">
            <a:extLst>
              <a:ext uri="{FF2B5EF4-FFF2-40B4-BE49-F238E27FC236}">
                <a16:creationId xmlns:a16="http://schemas.microsoft.com/office/drawing/2014/main" id="{A132A228-2569-4F5F-BE21-78F073CB83DC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0" y="1905000"/>
                </a:moveTo>
                <a:lnTo>
                  <a:pt x="0" y="1966014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4" name="month_0">
            <a:extLst>
              <a:ext uri="{FF2B5EF4-FFF2-40B4-BE49-F238E27FC236}">
                <a16:creationId xmlns:a16="http://schemas.microsoft.com/office/drawing/2014/main" id="{2BA766C4-77F7-4C53-9771-61A35686F0F6}"/>
              </a:ext>
            </a:extLst>
          </p:cNvPr>
          <p:cNvSpPr>
            <a:spLocks noGrp="1"/>
          </p:cNvSpPr>
          <p:nvPr/>
        </p:nvSpPr>
        <p:spPr>
          <a:xfrm>
            <a:off x="1619250" y="4487435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45" name="axis_x_tick_28">
            <a:extLst>
              <a:ext uri="{FF2B5EF4-FFF2-40B4-BE49-F238E27FC236}">
                <a16:creationId xmlns:a16="http://schemas.microsoft.com/office/drawing/2014/main" id="{B563EB3A-346F-400E-AFBB-A79246C60459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118387" y="1905000"/>
                </a:moveTo>
                <a:lnTo>
                  <a:pt x="118387" y="1966014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6" name="month_1">
            <a:extLst>
              <a:ext uri="{FF2B5EF4-FFF2-40B4-BE49-F238E27FC236}">
                <a16:creationId xmlns:a16="http://schemas.microsoft.com/office/drawing/2014/main" id="{61C68885-D4BE-43C8-8060-982A5CEA77D8}"/>
              </a:ext>
            </a:extLst>
          </p:cNvPr>
          <p:cNvSpPr>
            <a:spLocks noGrp="1"/>
          </p:cNvSpPr>
          <p:nvPr/>
        </p:nvSpPr>
        <p:spPr>
          <a:xfrm>
            <a:off x="1737637" y="4487435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</a:t>
            </a:r>
          </a:p>
        </p:txBody>
      </p:sp>
      <p:sp>
        <p:nvSpPr>
          <p:cNvPr id="47" name="axis_x_tick_29">
            <a:extLst>
              <a:ext uri="{FF2B5EF4-FFF2-40B4-BE49-F238E27FC236}">
                <a16:creationId xmlns:a16="http://schemas.microsoft.com/office/drawing/2014/main" id="{75400890-5AE2-4D15-90C2-4DB82542BD76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361613" y="1905000"/>
                </a:moveTo>
                <a:lnTo>
                  <a:pt x="361613" y="1966014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48" name="month_3">
            <a:extLst>
              <a:ext uri="{FF2B5EF4-FFF2-40B4-BE49-F238E27FC236}">
                <a16:creationId xmlns:a16="http://schemas.microsoft.com/office/drawing/2014/main" id="{D2AD0475-34F1-4251-BA81-594C5CB0EE44}"/>
              </a:ext>
            </a:extLst>
          </p:cNvPr>
          <p:cNvSpPr>
            <a:spLocks noGrp="1"/>
          </p:cNvSpPr>
          <p:nvPr/>
        </p:nvSpPr>
        <p:spPr>
          <a:xfrm>
            <a:off x="1980863" y="4487435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</a:t>
            </a:r>
          </a:p>
        </p:txBody>
      </p:sp>
      <p:sp>
        <p:nvSpPr>
          <p:cNvPr id="49" name="axis_x_tick_30">
            <a:extLst>
              <a:ext uri="{FF2B5EF4-FFF2-40B4-BE49-F238E27FC236}">
                <a16:creationId xmlns:a16="http://schemas.microsoft.com/office/drawing/2014/main" id="{F805ED28-99C1-4D25-9064-CC172388EB2C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725816" y="1905000"/>
                </a:moveTo>
                <a:lnTo>
                  <a:pt x="725816" y="1966014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50" name="month_6">
            <a:extLst>
              <a:ext uri="{FF2B5EF4-FFF2-40B4-BE49-F238E27FC236}">
                <a16:creationId xmlns:a16="http://schemas.microsoft.com/office/drawing/2014/main" id="{442DF5D4-D5B8-4BCF-9A39-5C1FC34B04FA}"/>
              </a:ext>
            </a:extLst>
          </p:cNvPr>
          <p:cNvSpPr>
            <a:spLocks noGrp="1"/>
          </p:cNvSpPr>
          <p:nvPr/>
        </p:nvSpPr>
        <p:spPr>
          <a:xfrm>
            <a:off x="2345066" y="4487435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6</a:t>
            </a:r>
          </a:p>
        </p:txBody>
      </p:sp>
      <p:sp>
        <p:nvSpPr>
          <p:cNvPr id="51" name="axis_x_tick_31">
            <a:extLst>
              <a:ext uri="{FF2B5EF4-FFF2-40B4-BE49-F238E27FC236}">
                <a16:creationId xmlns:a16="http://schemas.microsoft.com/office/drawing/2014/main" id="{BF4852C6-5C9A-469D-A1B5-B4C77BEB18DF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1091961" y="1905000"/>
                </a:moveTo>
                <a:lnTo>
                  <a:pt x="1091961" y="1966014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52" name="month_9">
            <a:extLst>
              <a:ext uri="{FF2B5EF4-FFF2-40B4-BE49-F238E27FC236}">
                <a16:creationId xmlns:a16="http://schemas.microsoft.com/office/drawing/2014/main" id="{125BFEFB-8222-4389-BBAC-3DEAF91813EF}"/>
              </a:ext>
            </a:extLst>
          </p:cNvPr>
          <p:cNvSpPr>
            <a:spLocks noGrp="1"/>
          </p:cNvSpPr>
          <p:nvPr/>
        </p:nvSpPr>
        <p:spPr>
          <a:xfrm>
            <a:off x="2711211" y="4487435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9</a:t>
            </a:r>
          </a:p>
        </p:txBody>
      </p:sp>
      <p:sp>
        <p:nvSpPr>
          <p:cNvPr id="53" name="axis_x_tick_32">
            <a:extLst>
              <a:ext uri="{FF2B5EF4-FFF2-40B4-BE49-F238E27FC236}">
                <a16:creationId xmlns:a16="http://schemas.microsoft.com/office/drawing/2014/main" id="{24C5BA1D-ECA5-462D-AB7E-3A250B70A6A7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1459209" y="1905000"/>
                </a:moveTo>
                <a:lnTo>
                  <a:pt x="1459209" y="1966014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54" name="month_12">
            <a:extLst>
              <a:ext uri="{FF2B5EF4-FFF2-40B4-BE49-F238E27FC236}">
                <a16:creationId xmlns:a16="http://schemas.microsoft.com/office/drawing/2014/main" id="{320EDCD7-ED53-434F-9F94-536ED2BE92E3}"/>
              </a:ext>
            </a:extLst>
          </p:cNvPr>
          <p:cNvSpPr>
            <a:spLocks noGrp="1"/>
          </p:cNvSpPr>
          <p:nvPr/>
        </p:nvSpPr>
        <p:spPr>
          <a:xfrm>
            <a:off x="3078459" y="4487435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12</a:t>
            </a:r>
          </a:p>
        </p:txBody>
      </p:sp>
      <p:sp>
        <p:nvSpPr>
          <p:cNvPr id="55" name="axis_x_tick_33">
            <a:extLst>
              <a:ext uri="{FF2B5EF4-FFF2-40B4-BE49-F238E27FC236}">
                <a16:creationId xmlns:a16="http://schemas.microsoft.com/office/drawing/2014/main" id="{DC0A97EB-3D57-41B1-B10E-0E37BABA978F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1946076" y="1905000"/>
                </a:moveTo>
                <a:lnTo>
                  <a:pt x="1946076" y="1966014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56" name="month_16">
            <a:extLst>
              <a:ext uri="{FF2B5EF4-FFF2-40B4-BE49-F238E27FC236}">
                <a16:creationId xmlns:a16="http://schemas.microsoft.com/office/drawing/2014/main" id="{DE422055-D7A1-4F43-9C37-60DBE021CC0A}"/>
              </a:ext>
            </a:extLst>
          </p:cNvPr>
          <p:cNvSpPr>
            <a:spLocks noGrp="1"/>
          </p:cNvSpPr>
          <p:nvPr/>
        </p:nvSpPr>
        <p:spPr>
          <a:xfrm>
            <a:off x="3565326" y="4487435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16</a:t>
            </a:r>
          </a:p>
        </p:txBody>
      </p:sp>
      <p:sp>
        <p:nvSpPr>
          <p:cNvPr id="57" name="axis_x_tick_34">
            <a:extLst>
              <a:ext uri="{FF2B5EF4-FFF2-40B4-BE49-F238E27FC236}">
                <a16:creationId xmlns:a16="http://schemas.microsoft.com/office/drawing/2014/main" id="{B245221A-76C2-432F-9EB0-B408C2B1C0C0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2433210" y="1905000"/>
                </a:moveTo>
                <a:lnTo>
                  <a:pt x="2433210" y="1966014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58" name="month_20">
            <a:extLst>
              <a:ext uri="{FF2B5EF4-FFF2-40B4-BE49-F238E27FC236}">
                <a16:creationId xmlns:a16="http://schemas.microsoft.com/office/drawing/2014/main" id="{7D87C4A0-C236-4119-9734-75612839FA51}"/>
              </a:ext>
            </a:extLst>
          </p:cNvPr>
          <p:cNvSpPr>
            <a:spLocks noGrp="1"/>
          </p:cNvSpPr>
          <p:nvPr/>
        </p:nvSpPr>
        <p:spPr>
          <a:xfrm>
            <a:off x="4052460" y="4487435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20</a:t>
            </a:r>
          </a:p>
        </p:txBody>
      </p:sp>
      <p:sp>
        <p:nvSpPr>
          <p:cNvPr id="59" name="axis_x_tick_38">
            <a:extLst>
              <a:ext uri="{FF2B5EF4-FFF2-40B4-BE49-F238E27FC236}">
                <a16:creationId xmlns:a16="http://schemas.microsoft.com/office/drawing/2014/main" id="{427C35C2-E29C-4CA5-B137-D91C3E881CD4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2920118" y="1905000"/>
                </a:moveTo>
                <a:lnTo>
                  <a:pt x="2920118" y="1966014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60" name="month_24">
            <a:extLst>
              <a:ext uri="{FF2B5EF4-FFF2-40B4-BE49-F238E27FC236}">
                <a16:creationId xmlns:a16="http://schemas.microsoft.com/office/drawing/2014/main" id="{ADFEB3B0-B257-4866-BB7B-E338107A5790}"/>
              </a:ext>
            </a:extLst>
          </p:cNvPr>
          <p:cNvSpPr>
            <a:spLocks noGrp="1"/>
          </p:cNvSpPr>
          <p:nvPr/>
        </p:nvSpPr>
        <p:spPr>
          <a:xfrm>
            <a:off x="4539368" y="4487435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24</a:t>
            </a:r>
          </a:p>
        </p:txBody>
      </p:sp>
      <p:sp>
        <p:nvSpPr>
          <p:cNvPr id="61" name="axis_x_tick_36">
            <a:extLst>
              <a:ext uri="{FF2B5EF4-FFF2-40B4-BE49-F238E27FC236}">
                <a16:creationId xmlns:a16="http://schemas.microsoft.com/office/drawing/2014/main" id="{5D406430-708E-44CB-AE6F-791290C4606E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3403483" y="1905000"/>
                </a:moveTo>
                <a:lnTo>
                  <a:pt x="3403483" y="1966014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62" name="month_28">
            <a:extLst>
              <a:ext uri="{FF2B5EF4-FFF2-40B4-BE49-F238E27FC236}">
                <a16:creationId xmlns:a16="http://schemas.microsoft.com/office/drawing/2014/main" id="{7C0E9A8B-5119-4314-AFC5-D87A77E76886}"/>
              </a:ext>
            </a:extLst>
          </p:cNvPr>
          <p:cNvSpPr>
            <a:spLocks noGrp="1"/>
          </p:cNvSpPr>
          <p:nvPr/>
        </p:nvSpPr>
        <p:spPr>
          <a:xfrm>
            <a:off x="5022733" y="4487435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28</a:t>
            </a:r>
          </a:p>
        </p:txBody>
      </p:sp>
      <p:sp>
        <p:nvSpPr>
          <p:cNvPr id="63" name="axis_x_tick_35">
            <a:extLst>
              <a:ext uri="{FF2B5EF4-FFF2-40B4-BE49-F238E27FC236}">
                <a16:creationId xmlns:a16="http://schemas.microsoft.com/office/drawing/2014/main" id="{ABEF74CD-3296-4EAE-BAAE-9AD810E382C2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3890333" y="1905000"/>
                </a:moveTo>
                <a:lnTo>
                  <a:pt x="3890333" y="1966014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64" name="month_32">
            <a:extLst>
              <a:ext uri="{FF2B5EF4-FFF2-40B4-BE49-F238E27FC236}">
                <a16:creationId xmlns:a16="http://schemas.microsoft.com/office/drawing/2014/main" id="{749E47EC-003E-4F49-8508-427088C65320}"/>
              </a:ext>
            </a:extLst>
          </p:cNvPr>
          <p:cNvSpPr>
            <a:spLocks noGrp="1"/>
          </p:cNvSpPr>
          <p:nvPr/>
        </p:nvSpPr>
        <p:spPr>
          <a:xfrm>
            <a:off x="5509583" y="4487435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32</a:t>
            </a:r>
          </a:p>
        </p:txBody>
      </p:sp>
      <p:sp>
        <p:nvSpPr>
          <p:cNvPr id="65" name="axis_x_tick_40">
            <a:extLst>
              <a:ext uri="{FF2B5EF4-FFF2-40B4-BE49-F238E27FC236}">
                <a16:creationId xmlns:a16="http://schemas.microsoft.com/office/drawing/2014/main" id="{CEEDE110-AFF7-4075-BD53-455F1AF835A1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4377169" y="1905000"/>
                </a:moveTo>
                <a:lnTo>
                  <a:pt x="4377169" y="1966014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66" name="month_36">
            <a:extLst>
              <a:ext uri="{FF2B5EF4-FFF2-40B4-BE49-F238E27FC236}">
                <a16:creationId xmlns:a16="http://schemas.microsoft.com/office/drawing/2014/main" id="{01A53EA3-AC4B-435D-99D0-9735D4B66EAA}"/>
              </a:ext>
            </a:extLst>
          </p:cNvPr>
          <p:cNvSpPr>
            <a:spLocks noGrp="1"/>
          </p:cNvSpPr>
          <p:nvPr/>
        </p:nvSpPr>
        <p:spPr>
          <a:xfrm>
            <a:off x="5996419" y="4487435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36</a:t>
            </a:r>
          </a:p>
        </p:txBody>
      </p:sp>
      <p:sp>
        <p:nvSpPr>
          <p:cNvPr id="67" name="axis_x_tick_39">
            <a:extLst>
              <a:ext uri="{FF2B5EF4-FFF2-40B4-BE49-F238E27FC236}">
                <a16:creationId xmlns:a16="http://schemas.microsoft.com/office/drawing/2014/main" id="{91A549C5-4E92-43D3-BB68-82875665DA4A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4864189" y="1905000"/>
                </a:moveTo>
                <a:lnTo>
                  <a:pt x="4864189" y="1966014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68" name="month_40">
            <a:extLst>
              <a:ext uri="{FF2B5EF4-FFF2-40B4-BE49-F238E27FC236}">
                <a16:creationId xmlns:a16="http://schemas.microsoft.com/office/drawing/2014/main" id="{54A8E67B-BF7F-4977-BB07-2E9C7A5E53EA}"/>
              </a:ext>
            </a:extLst>
          </p:cNvPr>
          <p:cNvSpPr>
            <a:spLocks noGrp="1"/>
          </p:cNvSpPr>
          <p:nvPr/>
        </p:nvSpPr>
        <p:spPr>
          <a:xfrm>
            <a:off x="6483439" y="4487435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40</a:t>
            </a:r>
          </a:p>
        </p:txBody>
      </p:sp>
      <p:sp>
        <p:nvSpPr>
          <p:cNvPr id="69" name="axis_x_tick_37">
            <a:extLst>
              <a:ext uri="{FF2B5EF4-FFF2-40B4-BE49-F238E27FC236}">
                <a16:creationId xmlns:a16="http://schemas.microsoft.com/office/drawing/2014/main" id="{FFE6177B-5990-4EAD-982B-3C8547FA36D0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5351009" y="1905000"/>
                </a:moveTo>
                <a:lnTo>
                  <a:pt x="5351009" y="1966014"/>
                </a:lnTo>
              </a:path>
            </a:pathLst>
          </a:custGeom>
          <a:noFill/>
          <a:ln w="9870">
            <a:solidFill>
              <a:srgbClr val="231F2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70" name="month_44">
            <a:extLst>
              <a:ext uri="{FF2B5EF4-FFF2-40B4-BE49-F238E27FC236}">
                <a16:creationId xmlns:a16="http://schemas.microsoft.com/office/drawing/2014/main" id="{009B799B-ECD1-453E-B4F4-102A303898BF}"/>
              </a:ext>
            </a:extLst>
          </p:cNvPr>
          <p:cNvSpPr>
            <a:spLocks noGrp="1"/>
          </p:cNvSpPr>
          <p:nvPr/>
        </p:nvSpPr>
        <p:spPr>
          <a:xfrm>
            <a:off x="6970259" y="4487435"/>
            <a:ext cx="2667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44</a:t>
            </a:r>
          </a:p>
        </p:txBody>
      </p:sp>
      <p:sp>
        <p:nvSpPr>
          <p:cNvPr id="71" name="source_finerenone_main_error_bar_49">
            <a:extLst>
              <a:ext uri="{FF2B5EF4-FFF2-40B4-BE49-F238E27FC236}">
                <a16:creationId xmlns:a16="http://schemas.microsoft.com/office/drawing/2014/main" id="{C287577C-67B2-42C5-8F73-AA6498AD8FE4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54325" y="272062"/>
                </a:moveTo>
                <a:lnTo>
                  <a:pt x="132972" y="272062"/>
                </a:lnTo>
                <a:moveTo>
                  <a:pt x="54325" y="331974"/>
                </a:moveTo>
                <a:lnTo>
                  <a:pt x="132972" y="331974"/>
                </a:lnTo>
                <a:moveTo>
                  <a:pt x="91850" y="303859"/>
                </a:moveTo>
                <a:lnTo>
                  <a:pt x="91850" y="274659"/>
                </a:lnTo>
                <a:moveTo>
                  <a:pt x="91850" y="303859"/>
                </a:moveTo>
                <a:lnTo>
                  <a:pt x="91850" y="330237"/>
                </a:lnTo>
              </a:path>
            </a:pathLst>
          </a:custGeom>
          <a:noFill/>
          <a:ln w="9870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72" name="source_finerenone_main_error_bar_50">
            <a:extLst>
              <a:ext uri="{FF2B5EF4-FFF2-40B4-BE49-F238E27FC236}">
                <a16:creationId xmlns:a16="http://schemas.microsoft.com/office/drawing/2014/main" id="{86DC1254-0B50-4CA9-A798-71E8CB8DF46E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297786" y="354870"/>
                </a:moveTo>
                <a:lnTo>
                  <a:pt x="372698" y="354870"/>
                </a:lnTo>
                <a:moveTo>
                  <a:pt x="297786" y="419190"/>
                </a:moveTo>
                <a:lnTo>
                  <a:pt x="372698" y="419190"/>
                </a:lnTo>
                <a:moveTo>
                  <a:pt x="335311" y="384910"/>
                </a:moveTo>
                <a:lnTo>
                  <a:pt x="335311" y="354870"/>
                </a:lnTo>
                <a:moveTo>
                  <a:pt x="335311" y="384910"/>
                </a:moveTo>
                <a:lnTo>
                  <a:pt x="335311" y="419190"/>
                </a:lnTo>
              </a:path>
            </a:pathLst>
          </a:custGeom>
          <a:noFill/>
          <a:ln w="9870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73" name="source_finerenone_main_error_bar_51">
            <a:extLst>
              <a:ext uri="{FF2B5EF4-FFF2-40B4-BE49-F238E27FC236}">
                <a16:creationId xmlns:a16="http://schemas.microsoft.com/office/drawing/2014/main" id="{EC37C9BC-3EC8-4079-9FEC-43434766BA29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661104" y="375131"/>
                </a:moveTo>
                <a:lnTo>
                  <a:pt x="739750" y="375131"/>
                </a:lnTo>
                <a:moveTo>
                  <a:pt x="661104" y="450044"/>
                </a:moveTo>
                <a:lnTo>
                  <a:pt x="739750" y="450044"/>
                </a:lnTo>
                <a:moveTo>
                  <a:pt x="702382" y="413932"/>
                </a:moveTo>
                <a:lnTo>
                  <a:pt x="702382" y="375131"/>
                </a:lnTo>
                <a:moveTo>
                  <a:pt x="702382" y="413932"/>
                </a:moveTo>
                <a:lnTo>
                  <a:pt x="702382" y="450044"/>
                </a:lnTo>
              </a:path>
            </a:pathLst>
          </a:custGeom>
          <a:noFill/>
          <a:ln w="9870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74" name="source_finerenone_main_error_bar_52">
            <a:extLst>
              <a:ext uri="{FF2B5EF4-FFF2-40B4-BE49-F238E27FC236}">
                <a16:creationId xmlns:a16="http://schemas.microsoft.com/office/drawing/2014/main" id="{F0590CE0-C919-4D52-8F94-39C816D3E295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1028164" y="394520"/>
                </a:moveTo>
                <a:lnTo>
                  <a:pt x="1103076" y="394520"/>
                </a:lnTo>
                <a:moveTo>
                  <a:pt x="1028164" y="472908"/>
                </a:moveTo>
                <a:lnTo>
                  <a:pt x="1103076" y="472908"/>
                </a:lnTo>
                <a:moveTo>
                  <a:pt x="1065728" y="435115"/>
                </a:moveTo>
                <a:lnTo>
                  <a:pt x="1065728" y="394520"/>
                </a:lnTo>
                <a:moveTo>
                  <a:pt x="1065728" y="435115"/>
                </a:moveTo>
                <a:lnTo>
                  <a:pt x="1065728" y="472908"/>
                </a:lnTo>
              </a:path>
            </a:pathLst>
          </a:custGeom>
          <a:noFill/>
          <a:ln w="9870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75" name="source_finerenone_main_error_bar_53">
            <a:extLst>
              <a:ext uri="{FF2B5EF4-FFF2-40B4-BE49-F238E27FC236}">
                <a16:creationId xmlns:a16="http://schemas.microsoft.com/office/drawing/2014/main" id="{781523C8-174B-43A8-8E7C-37C7EDEC9C36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1394642" y="454426"/>
                </a:moveTo>
                <a:lnTo>
                  <a:pt x="1473288" y="454426"/>
                </a:lnTo>
                <a:moveTo>
                  <a:pt x="1394642" y="539016"/>
                </a:moveTo>
                <a:lnTo>
                  <a:pt x="1473288" y="539016"/>
                </a:lnTo>
                <a:moveTo>
                  <a:pt x="1432205" y="496796"/>
                </a:moveTo>
                <a:lnTo>
                  <a:pt x="1432205" y="454426"/>
                </a:lnTo>
                <a:moveTo>
                  <a:pt x="1432205" y="496796"/>
                </a:moveTo>
                <a:lnTo>
                  <a:pt x="1432205" y="539016"/>
                </a:lnTo>
              </a:path>
            </a:pathLst>
          </a:custGeom>
          <a:noFill/>
          <a:ln w="9870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76" name="source_finerenone_main_error_bar_54">
            <a:extLst>
              <a:ext uri="{FF2B5EF4-FFF2-40B4-BE49-F238E27FC236}">
                <a16:creationId xmlns:a16="http://schemas.microsoft.com/office/drawing/2014/main" id="{407CEAC5-FEA5-4DEA-A6CC-8DF5C06B7F77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1880509" y="543394"/>
                </a:moveTo>
                <a:lnTo>
                  <a:pt x="1959156" y="543394"/>
                </a:lnTo>
                <a:moveTo>
                  <a:pt x="1880509" y="640314"/>
                </a:moveTo>
                <a:lnTo>
                  <a:pt x="1959156" y="640314"/>
                </a:lnTo>
                <a:moveTo>
                  <a:pt x="1918092" y="589313"/>
                </a:moveTo>
                <a:lnTo>
                  <a:pt x="1918092" y="543394"/>
                </a:lnTo>
                <a:moveTo>
                  <a:pt x="1918092" y="589313"/>
                </a:moveTo>
                <a:lnTo>
                  <a:pt x="1918092" y="640314"/>
                </a:lnTo>
              </a:path>
            </a:pathLst>
          </a:custGeom>
          <a:noFill/>
          <a:ln w="9870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77" name="source_finerenone_main_error_bar_55">
            <a:extLst>
              <a:ext uri="{FF2B5EF4-FFF2-40B4-BE49-F238E27FC236}">
                <a16:creationId xmlns:a16="http://schemas.microsoft.com/office/drawing/2014/main" id="{AA386060-6BAB-4B62-8D6E-2251D1771343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2367428" y="589205"/>
                </a:moveTo>
                <a:lnTo>
                  <a:pt x="2446075" y="589205"/>
                </a:lnTo>
                <a:moveTo>
                  <a:pt x="2367428" y="688778"/>
                </a:moveTo>
                <a:lnTo>
                  <a:pt x="2446075" y="688778"/>
                </a:lnTo>
                <a:moveTo>
                  <a:pt x="2405051" y="643793"/>
                </a:moveTo>
                <a:lnTo>
                  <a:pt x="2405051" y="589205"/>
                </a:lnTo>
                <a:moveTo>
                  <a:pt x="2405051" y="643793"/>
                </a:moveTo>
                <a:lnTo>
                  <a:pt x="2405051" y="688778"/>
                </a:lnTo>
              </a:path>
            </a:pathLst>
          </a:custGeom>
          <a:noFill/>
          <a:ln w="9870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78" name="source_finerenone_main_error_bar_56">
            <a:extLst>
              <a:ext uri="{FF2B5EF4-FFF2-40B4-BE49-F238E27FC236}">
                <a16:creationId xmlns:a16="http://schemas.microsoft.com/office/drawing/2014/main" id="{E8870543-754F-4F5F-9A10-A2B98ABE0297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2853296" y="675526"/>
                </a:moveTo>
                <a:lnTo>
                  <a:pt x="2928208" y="675526"/>
                </a:lnTo>
                <a:moveTo>
                  <a:pt x="2853296" y="778593"/>
                </a:moveTo>
                <a:lnTo>
                  <a:pt x="2928208" y="778593"/>
                </a:lnTo>
                <a:moveTo>
                  <a:pt x="2890918" y="726714"/>
                </a:moveTo>
                <a:lnTo>
                  <a:pt x="2890918" y="675526"/>
                </a:lnTo>
                <a:moveTo>
                  <a:pt x="2890918" y="726714"/>
                </a:moveTo>
                <a:lnTo>
                  <a:pt x="2890918" y="778593"/>
                </a:lnTo>
              </a:path>
            </a:pathLst>
          </a:custGeom>
          <a:noFill/>
          <a:ln w="9870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79" name="source_finerenone_main_error_bar_57">
            <a:extLst>
              <a:ext uri="{FF2B5EF4-FFF2-40B4-BE49-F238E27FC236}">
                <a16:creationId xmlns:a16="http://schemas.microsoft.com/office/drawing/2014/main" id="{8604A54F-D36E-42CF-ABFB-E26DB58E5B80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3341269" y="768054"/>
                </a:moveTo>
                <a:lnTo>
                  <a:pt x="3416181" y="768054"/>
                </a:lnTo>
                <a:moveTo>
                  <a:pt x="3341269" y="877285"/>
                </a:moveTo>
                <a:lnTo>
                  <a:pt x="3416181" y="877285"/>
                </a:lnTo>
                <a:moveTo>
                  <a:pt x="3378891" y="822754"/>
                </a:moveTo>
                <a:lnTo>
                  <a:pt x="3378891" y="768054"/>
                </a:lnTo>
                <a:moveTo>
                  <a:pt x="3378891" y="822754"/>
                </a:moveTo>
                <a:lnTo>
                  <a:pt x="3378891" y="877285"/>
                </a:lnTo>
              </a:path>
            </a:pathLst>
          </a:custGeom>
          <a:noFill/>
          <a:ln w="9870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0" name="source_finerenone_main_error_bar_58">
            <a:extLst>
              <a:ext uri="{FF2B5EF4-FFF2-40B4-BE49-F238E27FC236}">
                <a16:creationId xmlns:a16="http://schemas.microsoft.com/office/drawing/2014/main" id="{F94F88CE-B19F-46D9-9E27-E4268485ECFE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3827136" y="836720"/>
                </a:moveTo>
                <a:lnTo>
                  <a:pt x="3902048" y="836720"/>
                </a:lnTo>
                <a:moveTo>
                  <a:pt x="3827136" y="950360"/>
                </a:moveTo>
                <a:lnTo>
                  <a:pt x="3902048" y="950360"/>
                </a:lnTo>
                <a:moveTo>
                  <a:pt x="3864778" y="897529"/>
                </a:moveTo>
                <a:lnTo>
                  <a:pt x="3864778" y="836720"/>
                </a:lnTo>
                <a:moveTo>
                  <a:pt x="3864778" y="897529"/>
                </a:moveTo>
                <a:lnTo>
                  <a:pt x="3864778" y="950360"/>
                </a:lnTo>
              </a:path>
            </a:pathLst>
          </a:custGeom>
          <a:noFill/>
          <a:ln w="9870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1" name="source_finerenone_main_error_bar_59">
            <a:extLst>
              <a:ext uri="{FF2B5EF4-FFF2-40B4-BE49-F238E27FC236}">
                <a16:creationId xmlns:a16="http://schemas.microsoft.com/office/drawing/2014/main" id="{CCFEC297-D679-4132-8B49-B82F8A34C8C6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4310309" y="915151"/>
                </a:moveTo>
                <a:lnTo>
                  <a:pt x="4388956" y="915151"/>
                </a:lnTo>
                <a:moveTo>
                  <a:pt x="4310309" y="1040206"/>
                </a:moveTo>
                <a:lnTo>
                  <a:pt x="4388956" y="1040206"/>
                </a:lnTo>
                <a:moveTo>
                  <a:pt x="4351705" y="980331"/>
                </a:moveTo>
                <a:lnTo>
                  <a:pt x="4351705" y="915151"/>
                </a:lnTo>
                <a:moveTo>
                  <a:pt x="4351705" y="980331"/>
                </a:moveTo>
                <a:lnTo>
                  <a:pt x="4351705" y="1040206"/>
                </a:lnTo>
              </a:path>
            </a:pathLst>
          </a:custGeom>
          <a:noFill/>
          <a:ln w="9870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2" name="source_finerenone_main_error_bar_60">
            <a:extLst>
              <a:ext uri="{FF2B5EF4-FFF2-40B4-BE49-F238E27FC236}">
                <a16:creationId xmlns:a16="http://schemas.microsoft.com/office/drawing/2014/main" id="{E08694EB-9DF7-475F-B7B6-55EC90FAEA5F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4795125" y="1004119"/>
                </a:moveTo>
                <a:lnTo>
                  <a:pt x="4873771" y="1004119"/>
                </a:lnTo>
                <a:moveTo>
                  <a:pt x="4795125" y="1141541"/>
                </a:moveTo>
                <a:lnTo>
                  <a:pt x="4873771" y="1141541"/>
                </a:lnTo>
                <a:moveTo>
                  <a:pt x="4836560" y="1076379"/>
                </a:moveTo>
                <a:lnTo>
                  <a:pt x="4836560" y="1004119"/>
                </a:lnTo>
                <a:moveTo>
                  <a:pt x="4836560" y="1076379"/>
                </a:moveTo>
                <a:lnTo>
                  <a:pt x="4836560" y="1141541"/>
                </a:lnTo>
              </a:path>
            </a:pathLst>
          </a:custGeom>
          <a:noFill/>
          <a:ln w="9870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3" name="source_finerenone_main_error_bar_61">
            <a:extLst>
              <a:ext uri="{FF2B5EF4-FFF2-40B4-BE49-F238E27FC236}">
                <a16:creationId xmlns:a16="http://schemas.microsoft.com/office/drawing/2014/main" id="{F51D8234-36C2-4DD8-9E43-B0A56FE78F86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5282042" y="994403"/>
                </a:moveTo>
                <a:lnTo>
                  <a:pt x="5360709" y="994403"/>
                </a:lnTo>
                <a:moveTo>
                  <a:pt x="5282042" y="1178548"/>
                </a:moveTo>
                <a:lnTo>
                  <a:pt x="5360709" y="1178548"/>
                </a:lnTo>
                <a:moveTo>
                  <a:pt x="5323477" y="1083496"/>
                </a:moveTo>
                <a:lnTo>
                  <a:pt x="5323477" y="994403"/>
                </a:lnTo>
                <a:moveTo>
                  <a:pt x="5323477" y="1083496"/>
                </a:moveTo>
                <a:lnTo>
                  <a:pt x="5323477" y="1178548"/>
                </a:lnTo>
              </a:path>
            </a:pathLst>
          </a:custGeom>
          <a:noFill/>
          <a:ln w="9870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4" name="source_finerenone_main_curve_62">
            <a:extLst>
              <a:ext uri="{FF2B5EF4-FFF2-40B4-BE49-F238E27FC236}">
                <a16:creationId xmlns:a16="http://schemas.microsoft.com/office/drawing/2014/main" id="{E1BFF758-2058-4EF2-8B22-96D51E31D32E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-1390" y="167986"/>
                </a:moveTo>
                <a:lnTo>
                  <a:pt x="91844" y="303839"/>
                </a:lnTo>
                <a:moveTo>
                  <a:pt x="91844" y="303839"/>
                </a:moveTo>
                <a:lnTo>
                  <a:pt x="335312" y="384917"/>
                </a:lnTo>
                <a:moveTo>
                  <a:pt x="335312" y="384917"/>
                </a:moveTo>
                <a:lnTo>
                  <a:pt x="702383" y="413948"/>
                </a:lnTo>
                <a:moveTo>
                  <a:pt x="702383" y="413948"/>
                </a:moveTo>
                <a:lnTo>
                  <a:pt x="1065718" y="435096"/>
                </a:lnTo>
                <a:moveTo>
                  <a:pt x="1065718" y="435096"/>
                </a:moveTo>
                <a:lnTo>
                  <a:pt x="1432202" y="496801"/>
                </a:lnTo>
                <a:moveTo>
                  <a:pt x="1432202" y="496801"/>
                </a:moveTo>
                <a:lnTo>
                  <a:pt x="1918082" y="589313"/>
                </a:lnTo>
                <a:moveTo>
                  <a:pt x="1918082" y="589313"/>
                </a:moveTo>
                <a:lnTo>
                  <a:pt x="2405039" y="643807"/>
                </a:lnTo>
                <a:moveTo>
                  <a:pt x="2405039" y="643807"/>
                </a:moveTo>
                <a:lnTo>
                  <a:pt x="2890900" y="726716"/>
                </a:lnTo>
                <a:moveTo>
                  <a:pt x="2890900" y="726716"/>
                </a:moveTo>
                <a:lnTo>
                  <a:pt x="3378874" y="822739"/>
                </a:lnTo>
                <a:moveTo>
                  <a:pt x="3378874" y="822739"/>
                </a:moveTo>
                <a:lnTo>
                  <a:pt x="3864794" y="897521"/>
                </a:lnTo>
                <a:moveTo>
                  <a:pt x="3864794" y="897521"/>
                </a:moveTo>
                <a:lnTo>
                  <a:pt x="4351711" y="980337"/>
                </a:lnTo>
                <a:moveTo>
                  <a:pt x="4351711" y="980337"/>
                </a:moveTo>
                <a:lnTo>
                  <a:pt x="4836555" y="1076379"/>
                </a:lnTo>
                <a:moveTo>
                  <a:pt x="4836555" y="1076379"/>
                </a:moveTo>
                <a:lnTo>
                  <a:pt x="5323473" y="1086075"/>
                </a:lnTo>
              </a:path>
            </a:pathLst>
          </a:custGeom>
          <a:noFill/>
          <a:ln w="19720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5" name="source_finerenone_main_marker_63">
            <a:extLst>
              <a:ext uri="{FF2B5EF4-FFF2-40B4-BE49-F238E27FC236}">
                <a16:creationId xmlns:a16="http://schemas.microsoft.com/office/drawing/2014/main" id="{E7F70D62-7A38-4511-8D15-C84E24B927FF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-37266" y="134492"/>
                </a:moveTo>
                <a:lnTo>
                  <a:pt x="25776" y="134492"/>
                </a:lnTo>
                <a:lnTo>
                  <a:pt x="25776" y="186894"/>
                </a:lnTo>
                <a:lnTo>
                  <a:pt x="-37266" y="186894"/>
                </a:lnTo>
                <a:close/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6" name="source_finerenone_main_marker_64">
            <a:extLst>
              <a:ext uri="{FF2B5EF4-FFF2-40B4-BE49-F238E27FC236}">
                <a16:creationId xmlns:a16="http://schemas.microsoft.com/office/drawing/2014/main" id="{C942CD8D-FC14-494D-9885-51CAFE769557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62225" y="277164"/>
                </a:moveTo>
                <a:lnTo>
                  <a:pt x="125268" y="277164"/>
                </a:lnTo>
                <a:lnTo>
                  <a:pt x="125268" y="329566"/>
                </a:lnTo>
                <a:lnTo>
                  <a:pt x="62225" y="329566"/>
                </a:lnTo>
                <a:close/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7" name="source_finerenone_main_marker_65">
            <a:extLst>
              <a:ext uri="{FF2B5EF4-FFF2-40B4-BE49-F238E27FC236}">
                <a16:creationId xmlns:a16="http://schemas.microsoft.com/office/drawing/2014/main" id="{35B41E5E-847D-41A6-A6EB-D7529EEB8372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304638" y="359139"/>
                </a:moveTo>
                <a:lnTo>
                  <a:pt x="367680" y="359139"/>
                </a:lnTo>
                <a:lnTo>
                  <a:pt x="367680" y="411540"/>
                </a:lnTo>
                <a:lnTo>
                  <a:pt x="304638" y="411540"/>
                </a:lnTo>
                <a:close/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8" name="source_finerenone_main_marker_66">
            <a:extLst>
              <a:ext uri="{FF2B5EF4-FFF2-40B4-BE49-F238E27FC236}">
                <a16:creationId xmlns:a16="http://schemas.microsoft.com/office/drawing/2014/main" id="{E1189E0A-F22C-4ED6-8DAC-9ED7FA2BD48A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668990" y="385573"/>
                </a:moveTo>
                <a:lnTo>
                  <a:pt x="732032" y="385573"/>
                </a:lnTo>
                <a:lnTo>
                  <a:pt x="732032" y="437975"/>
                </a:lnTo>
                <a:lnTo>
                  <a:pt x="668990" y="437975"/>
                </a:lnTo>
                <a:close/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89" name="source_finerenone_main_marker_67">
            <a:extLst>
              <a:ext uri="{FF2B5EF4-FFF2-40B4-BE49-F238E27FC236}">
                <a16:creationId xmlns:a16="http://schemas.microsoft.com/office/drawing/2014/main" id="{3DE3A375-9431-4406-ADC9-D596C18A2844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1035024" y="407561"/>
                </a:moveTo>
                <a:lnTo>
                  <a:pt x="1098066" y="407561"/>
                </a:lnTo>
                <a:lnTo>
                  <a:pt x="1098066" y="459963"/>
                </a:lnTo>
                <a:lnTo>
                  <a:pt x="1035024" y="459963"/>
                </a:lnTo>
                <a:close/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0" name="source_finerenone_main_marker_68">
            <a:extLst>
              <a:ext uri="{FF2B5EF4-FFF2-40B4-BE49-F238E27FC236}">
                <a16:creationId xmlns:a16="http://schemas.microsoft.com/office/drawing/2014/main" id="{33915D08-F12B-41E3-96F5-71D710315C55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1399376" y="470107"/>
                </a:moveTo>
                <a:lnTo>
                  <a:pt x="1462418" y="470107"/>
                </a:lnTo>
                <a:lnTo>
                  <a:pt x="1462418" y="522509"/>
                </a:lnTo>
                <a:lnTo>
                  <a:pt x="1399376" y="522509"/>
                </a:lnTo>
                <a:close/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1" name="source_finerenone_main_marker_69">
            <a:extLst>
              <a:ext uri="{FF2B5EF4-FFF2-40B4-BE49-F238E27FC236}">
                <a16:creationId xmlns:a16="http://schemas.microsoft.com/office/drawing/2014/main" id="{E9BEFF24-833D-4613-94BC-92B49DFC2F26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1886293" y="563515"/>
                </a:moveTo>
                <a:lnTo>
                  <a:pt x="1949336" y="563515"/>
                </a:lnTo>
                <a:lnTo>
                  <a:pt x="1949336" y="615917"/>
                </a:lnTo>
                <a:lnTo>
                  <a:pt x="1886293" y="615917"/>
                </a:lnTo>
                <a:close/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2" name="source_finerenone_main_marker_70">
            <a:extLst>
              <a:ext uri="{FF2B5EF4-FFF2-40B4-BE49-F238E27FC236}">
                <a16:creationId xmlns:a16="http://schemas.microsoft.com/office/drawing/2014/main" id="{9F54057B-52F5-4CCE-9A16-FB5A123783C9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2372154" y="611097"/>
                </a:moveTo>
                <a:lnTo>
                  <a:pt x="2435197" y="611097"/>
                </a:lnTo>
                <a:lnTo>
                  <a:pt x="2435197" y="663499"/>
                </a:lnTo>
                <a:lnTo>
                  <a:pt x="2372154" y="663499"/>
                </a:lnTo>
                <a:close/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3" name="source_finerenone_main_marker_71">
            <a:extLst>
              <a:ext uri="{FF2B5EF4-FFF2-40B4-BE49-F238E27FC236}">
                <a16:creationId xmlns:a16="http://schemas.microsoft.com/office/drawing/2014/main" id="{A3B6FA63-C2BD-424F-9C2E-2DBBDEE374A9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2856960" y="699144"/>
                </a:moveTo>
                <a:lnTo>
                  <a:pt x="2920002" y="699144"/>
                </a:lnTo>
                <a:lnTo>
                  <a:pt x="2920002" y="751546"/>
                </a:lnTo>
                <a:lnTo>
                  <a:pt x="2856960" y="751546"/>
                </a:lnTo>
                <a:close/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4" name="source_finerenone_main_marker_72">
            <a:extLst>
              <a:ext uri="{FF2B5EF4-FFF2-40B4-BE49-F238E27FC236}">
                <a16:creationId xmlns:a16="http://schemas.microsoft.com/office/drawing/2014/main" id="{3FBB0F1C-7FF8-41B2-B771-A4959AE2716B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3346459" y="796064"/>
                </a:moveTo>
                <a:lnTo>
                  <a:pt x="3409501" y="796064"/>
                </a:lnTo>
                <a:lnTo>
                  <a:pt x="3409501" y="848466"/>
                </a:lnTo>
                <a:lnTo>
                  <a:pt x="3346459" y="848466"/>
                </a:lnTo>
                <a:close/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5" name="source_finerenone_main_marker_73">
            <a:extLst>
              <a:ext uri="{FF2B5EF4-FFF2-40B4-BE49-F238E27FC236}">
                <a16:creationId xmlns:a16="http://schemas.microsoft.com/office/drawing/2014/main" id="{009EDF47-405A-4A3C-8B07-41F50B91397A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3832320" y="866550"/>
                </a:moveTo>
                <a:lnTo>
                  <a:pt x="3895363" y="866550"/>
                </a:lnTo>
                <a:lnTo>
                  <a:pt x="3895363" y="918952"/>
                </a:lnTo>
                <a:lnTo>
                  <a:pt x="3832320" y="918952"/>
                </a:lnTo>
                <a:close/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6" name="source_finerenone_main_marker_74">
            <a:extLst>
              <a:ext uri="{FF2B5EF4-FFF2-40B4-BE49-F238E27FC236}">
                <a16:creationId xmlns:a16="http://schemas.microsoft.com/office/drawing/2014/main" id="{629EB97F-0C59-45A5-A784-B8DDD2185EF4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4804063" y="1045333"/>
                </a:moveTo>
                <a:lnTo>
                  <a:pt x="4867105" y="1045333"/>
                </a:lnTo>
                <a:lnTo>
                  <a:pt x="4867105" y="1097735"/>
                </a:lnTo>
                <a:lnTo>
                  <a:pt x="4804063" y="1097735"/>
                </a:lnTo>
                <a:close/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7" name="source_finerenone_main_marker_75">
            <a:extLst>
              <a:ext uri="{FF2B5EF4-FFF2-40B4-BE49-F238E27FC236}">
                <a16:creationId xmlns:a16="http://schemas.microsoft.com/office/drawing/2014/main" id="{0178369C-D879-4067-8D25-BA07809F02FD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5290960" y="1059438"/>
                </a:moveTo>
                <a:lnTo>
                  <a:pt x="5354003" y="1059438"/>
                </a:lnTo>
                <a:lnTo>
                  <a:pt x="5354003" y="1111839"/>
                </a:lnTo>
                <a:lnTo>
                  <a:pt x="5290960" y="1111839"/>
                </a:lnTo>
                <a:close/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8" name="source_finerenone_main_marker_76">
            <a:extLst>
              <a:ext uri="{FF2B5EF4-FFF2-40B4-BE49-F238E27FC236}">
                <a16:creationId xmlns:a16="http://schemas.microsoft.com/office/drawing/2014/main" id="{C383F2CF-0CFD-4877-93CF-0249B2D438E3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4316011" y="943200"/>
                </a:moveTo>
                <a:lnTo>
                  <a:pt x="4379053" y="943200"/>
                </a:lnTo>
                <a:lnTo>
                  <a:pt x="4379053" y="995602"/>
                </a:lnTo>
                <a:lnTo>
                  <a:pt x="4316011" y="995602"/>
                </a:lnTo>
                <a:close/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99" name="source_finerenone_inset_error_bar_108">
            <a:extLst>
              <a:ext uri="{FF2B5EF4-FFF2-40B4-BE49-F238E27FC236}">
                <a16:creationId xmlns:a16="http://schemas.microsoft.com/office/drawing/2014/main" id="{E3C0FF52-CAAC-40EA-A1C5-91C91740BDC6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5824161" y="858161"/>
                </a:moveTo>
                <a:lnTo>
                  <a:pt x="5938515" y="858161"/>
                </a:lnTo>
                <a:moveTo>
                  <a:pt x="5824161" y="980750"/>
                </a:moveTo>
                <a:lnTo>
                  <a:pt x="5938515" y="980750"/>
                </a:lnTo>
                <a:moveTo>
                  <a:pt x="5879020" y="935391"/>
                </a:moveTo>
                <a:lnTo>
                  <a:pt x="5879020" y="858161"/>
                </a:lnTo>
                <a:moveTo>
                  <a:pt x="5879020" y="935391"/>
                </a:moveTo>
                <a:lnTo>
                  <a:pt x="5879020" y="980750"/>
                </a:lnTo>
              </a:path>
            </a:pathLst>
          </a:custGeom>
          <a:noFill/>
          <a:ln w="9870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0" name="source_finerenone_inset_error_bar_109">
            <a:extLst>
              <a:ext uri="{FF2B5EF4-FFF2-40B4-BE49-F238E27FC236}">
                <a16:creationId xmlns:a16="http://schemas.microsoft.com/office/drawing/2014/main" id="{2241A296-88E4-412E-B1A8-1725774EBC09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6531527" y="750350"/>
                </a:moveTo>
                <a:lnTo>
                  <a:pt x="6645881" y="750350"/>
                </a:lnTo>
                <a:moveTo>
                  <a:pt x="6531527" y="881681"/>
                </a:moveTo>
                <a:lnTo>
                  <a:pt x="6645881" y="881681"/>
                </a:lnTo>
                <a:moveTo>
                  <a:pt x="6586386" y="815903"/>
                </a:moveTo>
                <a:lnTo>
                  <a:pt x="6586386" y="750350"/>
                </a:lnTo>
                <a:moveTo>
                  <a:pt x="6586386" y="815903"/>
                </a:moveTo>
                <a:lnTo>
                  <a:pt x="6586386" y="881681"/>
                </a:lnTo>
              </a:path>
            </a:pathLst>
          </a:custGeom>
          <a:noFill/>
          <a:ln w="9870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1" name="source_finerenone_inset_marker_110">
            <a:extLst>
              <a:ext uri="{FF2B5EF4-FFF2-40B4-BE49-F238E27FC236}">
                <a16:creationId xmlns:a16="http://schemas.microsoft.com/office/drawing/2014/main" id="{360F6635-D008-4308-BAC7-344E68AFD33B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5832226" y="891975"/>
                </a:moveTo>
                <a:lnTo>
                  <a:pt x="5923886" y="891975"/>
                </a:lnTo>
                <a:lnTo>
                  <a:pt x="5923886" y="944358"/>
                </a:lnTo>
                <a:lnTo>
                  <a:pt x="5832226" y="944358"/>
                </a:lnTo>
                <a:close/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2" name="source_finerenone_inset_marker_111">
            <a:extLst>
              <a:ext uri="{FF2B5EF4-FFF2-40B4-BE49-F238E27FC236}">
                <a16:creationId xmlns:a16="http://schemas.microsoft.com/office/drawing/2014/main" id="{C52236C6-2ADA-4495-A5C8-4BEE639BE6CB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6540078" y="789712"/>
                </a:moveTo>
                <a:lnTo>
                  <a:pt x="6631738" y="789712"/>
                </a:lnTo>
                <a:lnTo>
                  <a:pt x="6631738" y="842113"/>
                </a:lnTo>
                <a:lnTo>
                  <a:pt x="6540078" y="842113"/>
                </a:lnTo>
                <a:close/>
              </a:path>
            </a:pathLst>
          </a:custGeom>
          <a:solidFill>
            <a:srgbClr val="7030A0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3" name="source_finerenone_inset_curve_112">
            <a:extLst>
              <a:ext uri="{FF2B5EF4-FFF2-40B4-BE49-F238E27FC236}">
                <a16:creationId xmlns:a16="http://schemas.microsoft.com/office/drawing/2014/main" id="{B2B2D99D-C8EE-485D-91DC-3570C6270937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6576967" y="808217"/>
                </a:moveTo>
                <a:lnTo>
                  <a:pt x="6493602" y="821392"/>
                </a:lnTo>
                <a:moveTo>
                  <a:pt x="6410236" y="834568"/>
                </a:moveTo>
                <a:lnTo>
                  <a:pt x="6326871" y="847744"/>
                </a:lnTo>
                <a:moveTo>
                  <a:pt x="6243506" y="860919"/>
                </a:moveTo>
                <a:lnTo>
                  <a:pt x="6160140" y="874095"/>
                </a:lnTo>
                <a:moveTo>
                  <a:pt x="6076775" y="887271"/>
                </a:moveTo>
                <a:lnTo>
                  <a:pt x="5993410" y="900446"/>
                </a:lnTo>
                <a:moveTo>
                  <a:pt x="5910044" y="913622"/>
                </a:moveTo>
                <a:lnTo>
                  <a:pt x="5881344" y="918158"/>
                </a:lnTo>
              </a:path>
            </a:pathLst>
          </a:custGeom>
          <a:noFill/>
          <a:ln w="19720">
            <a:solidFill>
              <a:srgbClr val="7030A0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4" name="source_placebo_main_error_bar_77">
            <a:extLst>
              <a:ext uri="{FF2B5EF4-FFF2-40B4-BE49-F238E27FC236}">
                <a16:creationId xmlns:a16="http://schemas.microsoft.com/office/drawing/2014/main" id="{9260C4F4-658A-413F-8900-21BAB4F5F6EF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100911" y="126699"/>
                </a:moveTo>
                <a:lnTo>
                  <a:pt x="179558" y="126699"/>
                </a:lnTo>
                <a:moveTo>
                  <a:pt x="100911" y="185751"/>
                </a:moveTo>
                <a:lnTo>
                  <a:pt x="179558" y="185751"/>
                </a:lnTo>
                <a:moveTo>
                  <a:pt x="138436" y="160213"/>
                </a:moveTo>
                <a:lnTo>
                  <a:pt x="138436" y="126699"/>
                </a:lnTo>
                <a:moveTo>
                  <a:pt x="138436" y="160213"/>
                </a:moveTo>
                <a:lnTo>
                  <a:pt x="138436" y="185751"/>
                </a:lnTo>
              </a:path>
            </a:pathLst>
          </a:custGeom>
          <a:noFill/>
          <a:ln w="9870">
            <a:solidFill>
              <a:srgbClr val="93959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5" name="source_placebo_main_error_bar_78">
            <a:extLst>
              <a:ext uri="{FF2B5EF4-FFF2-40B4-BE49-F238E27FC236}">
                <a16:creationId xmlns:a16="http://schemas.microsoft.com/office/drawing/2014/main" id="{91B66043-D610-445A-B48C-D5EC0A0441C9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348582" y="193676"/>
                </a:moveTo>
                <a:lnTo>
                  <a:pt x="423494" y="193676"/>
                </a:lnTo>
                <a:moveTo>
                  <a:pt x="348582" y="266758"/>
                </a:moveTo>
                <a:lnTo>
                  <a:pt x="423494" y="266758"/>
                </a:lnTo>
                <a:moveTo>
                  <a:pt x="386126" y="232422"/>
                </a:moveTo>
                <a:lnTo>
                  <a:pt x="386126" y="193676"/>
                </a:lnTo>
                <a:moveTo>
                  <a:pt x="386126" y="232422"/>
                </a:moveTo>
                <a:lnTo>
                  <a:pt x="386126" y="266758"/>
                </a:lnTo>
              </a:path>
            </a:pathLst>
          </a:custGeom>
          <a:noFill/>
          <a:ln w="9870">
            <a:solidFill>
              <a:srgbClr val="93959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6" name="source_placebo_main_error_bar_79">
            <a:extLst>
              <a:ext uri="{FF2B5EF4-FFF2-40B4-BE49-F238E27FC236}">
                <a16:creationId xmlns:a16="http://schemas.microsoft.com/office/drawing/2014/main" id="{D7194EC2-2428-4AA2-9327-7049784EEC6C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708741" y="236837"/>
                </a:moveTo>
                <a:lnTo>
                  <a:pt x="787388" y="236837"/>
                </a:lnTo>
                <a:moveTo>
                  <a:pt x="708741" y="316084"/>
                </a:moveTo>
                <a:lnTo>
                  <a:pt x="787388" y="316084"/>
                </a:lnTo>
                <a:moveTo>
                  <a:pt x="750020" y="280010"/>
                </a:moveTo>
                <a:lnTo>
                  <a:pt x="750020" y="236837"/>
                </a:lnTo>
                <a:moveTo>
                  <a:pt x="750020" y="280010"/>
                </a:moveTo>
                <a:lnTo>
                  <a:pt x="750020" y="316084"/>
                </a:lnTo>
              </a:path>
            </a:pathLst>
          </a:custGeom>
          <a:noFill/>
          <a:ln w="9870">
            <a:solidFill>
              <a:srgbClr val="93959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7" name="source_placebo_main_error_bar_80">
            <a:extLst>
              <a:ext uri="{FF2B5EF4-FFF2-40B4-BE49-F238E27FC236}">
                <a16:creationId xmlns:a16="http://schemas.microsoft.com/office/drawing/2014/main" id="{E0FB5C19-F821-4722-8F9C-120274F32A5F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1077910" y="327587"/>
                </a:moveTo>
                <a:lnTo>
                  <a:pt x="1152822" y="327587"/>
                </a:lnTo>
                <a:moveTo>
                  <a:pt x="1077910" y="410403"/>
                </a:moveTo>
                <a:lnTo>
                  <a:pt x="1152822" y="410403"/>
                </a:lnTo>
                <a:moveTo>
                  <a:pt x="1115473" y="373376"/>
                </a:moveTo>
                <a:lnTo>
                  <a:pt x="1115473" y="327587"/>
                </a:lnTo>
                <a:moveTo>
                  <a:pt x="1115473" y="373376"/>
                </a:moveTo>
                <a:lnTo>
                  <a:pt x="1115473" y="410403"/>
                </a:lnTo>
              </a:path>
            </a:pathLst>
          </a:custGeom>
          <a:noFill/>
          <a:ln w="9870">
            <a:solidFill>
              <a:srgbClr val="93959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8" name="source_placebo_main_error_bar_81">
            <a:extLst>
              <a:ext uri="{FF2B5EF4-FFF2-40B4-BE49-F238E27FC236}">
                <a16:creationId xmlns:a16="http://schemas.microsoft.com/office/drawing/2014/main" id="{D89765B4-5C58-4102-BB46-BEF79ABE0D3B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1443333" y="398901"/>
                </a:moveTo>
                <a:lnTo>
                  <a:pt x="1521980" y="398901"/>
                </a:lnTo>
                <a:moveTo>
                  <a:pt x="1443333" y="483473"/>
                </a:moveTo>
                <a:lnTo>
                  <a:pt x="1521980" y="483473"/>
                </a:lnTo>
                <a:moveTo>
                  <a:pt x="1480897" y="445586"/>
                </a:moveTo>
                <a:lnTo>
                  <a:pt x="1480897" y="398901"/>
                </a:lnTo>
                <a:moveTo>
                  <a:pt x="1480897" y="445586"/>
                </a:moveTo>
                <a:lnTo>
                  <a:pt x="1480897" y="483473"/>
                </a:lnTo>
              </a:path>
            </a:pathLst>
          </a:custGeom>
          <a:noFill/>
          <a:ln w="9870">
            <a:solidFill>
              <a:srgbClr val="93959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09" name="source_placebo_main_error_bar_82">
            <a:extLst>
              <a:ext uri="{FF2B5EF4-FFF2-40B4-BE49-F238E27FC236}">
                <a16:creationId xmlns:a16="http://schemas.microsoft.com/office/drawing/2014/main" id="{1147ADF5-84AC-48D4-A5CA-E5607A61322A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1929201" y="515197"/>
                </a:moveTo>
                <a:lnTo>
                  <a:pt x="2007848" y="515197"/>
                </a:lnTo>
                <a:moveTo>
                  <a:pt x="1929201" y="611239"/>
                </a:moveTo>
                <a:lnTo>
                  <a:pt x="2007848" y="611239"/>
                </a:lnTo>
                <a:moveTo>
                  <a:pt x="1966784" y="559398"/>
                </a:moveTo>
                <a:lnTo>
                  <a:pt x="1966784" y="515197"/>
                </a:lnTo>
                <a:moveTo>
                  <a:pt x="1966784" y="559398"/>
                </a:moveTo>
                <a:lnTo>
                  <a:pt x="1966784" y="611239"/>
                </a:lnTo>
              </a:path>
            </a:pathLst>
          </a:custGeom>
          <a:noFill/>
          <a:ln w="9870">
            <a:solidFill>
              <a:srgbClr val="93959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0" name="source_placebo_main_error_bar_83">
            <a:extLst>
              <a:ext uri="{FF2B5EF4-FFF2-40B4-BE49-F238E27FC236}">
                <a16:creationId xmlns:a16="http://schemas.microsoft.com/office/drawing/2014/main" id="{10E0E525-449F-49D1-BDC8-54BFB933FED0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2416120" y="614753"/>
                </a:moveTo>
                <a:lnTo>
                  <a:pt x="2494767" y="614753"/>
                </a:lnTo>
                <a:moveTo>
                  <a:pt x="2416120" y="716904"/>
                </a:moveTo>
                <a:lnTo>
                  <a:pt x="2494767" y="716904"/>
                </a:lnTo>
                <a:moveTo>
                  <a:pt x="2453743" y="669415"/>
                </a:moveTo>
                <a:lnTo>
                  <a:pt x="2453743" y="614753"/>
                </a:lnTo>
                <a:moveTo>
                  <a:pt x="2453743" y="669415"/>
                </a:moveTo>
                <a:lnTo>
                  <a:pt x="2453743" y="716904"/>
                </a:lnTo>
              </a:path>
            </a:pathLst>
          </a:custGeom>
          <a:noFill/>
          <a:ln w="9870">
            <a:solidFill>
              <a:srgbClr val="93959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1" name="source_placebo_main_error_bar_84">
            <a:extLst>
              <a:ext uri="{FF2B5EF4-FFF2-40B4-BE49-F238E27FC236}">
                <a16:creationId xmlns:a16="http://schemas.microsoft.com/office/drawing/2014/main" id="{6CD91FB7-1460-43CC-A1EA-3A3500B63DFB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2901987" y="729271"/>
                </a:moveTo>
                <a:lnTo>
                  <a:pt x="2976899" y="729271"/>
                </a:lnTo>
                <a:moveTo>
                  <a:pt x="2901987" y="839362"/>
                </a:moveTo>
                <a:lnTo>
                  <a:pt x="2976899" y="839362"/>
                </a:lnTo>
                <a:moveTo>
                  <a:pt x="2939610" y="786568"/>
                </a:moveTo>
                <a:lnTo>
                  <a:pt x="2939610" y="729271"/>
                </a:lnTo>
                <a:moveTo>
                  <a:pt x="2939610" y="786568"/>
                </a:moveTo>
                <a:lnTo>
                  <a:pt x="2939610" y="839362"/>
                </a:lnTo>
              </a:path>
            </a:pathLst>
          </a:custGeom>
          <a:noFill/>
          <a:ln w="9870">
            <a:solidFill>
              <a:srgbClr val="93959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2" name="source_placebo_main_error_bar_85">
            <a:extLst>
              <a:ext uri="{FF2B5EF4-FFF2-40B4-BE49-F238E27FC236}">
                <a16:creationId xmlns:a16="http://schemas.microsoft.com/office/drawing/2014/main" id="{010E92CD-B17E-4BBB-B381-0A6BC6FFFDC9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3387854" y="849086"/>
                </a:moveTo>
                <a:lnTo>
                  <a:pt x="3462766" y="849086"/>
                </a:lnTo>
                <a:moveTo>
                  <a:pt x="3387854" y="962726"/>
                </a:moveTo>
                <a:lnTo>
                  <a:pt x="3462766" y="962726"/>
                </a:lnTo>
                <a:moveTo>
                  <a:pt x="3425496" y="909035"/>
                </a:moveTo>
                <a:lnTo>
                  <a:pt x="3425496" y="849086"/>
                </a:lnTo>
                <a:moveTo>
                  <a:pt x="3425496" y="909035"/>
                </a:moveTo>
                <a:lnTo>
                  <a:pt x="3425496" y="962726"/>
                </a:lnTo>
              </a:path>
            </a:pathLst>
          </a:custGeom>
          <a:noFill/>
          <a:ln w="9870">
            <a:solidFill>
              <a:srgbClr val="93959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3" name="source_placebo_main_error_bar_86">
            <a:extLst>
              <a:ext uri="{FF2B5EF4-FFF2-40B4-BE49-F238E27FC236}">
                <a16:creationId xmlns:a16="http://schemas.microsoft.com/office/drawing/2014/main" id="{6D89F6AA-DB43-4C36-9F4C-B95420EEAB53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3873720" y="930982"/>
                </a:moveTo>
                <a:lnTo>
                  <a:pt x="3948632" y="930982"/>
                </a:lnTo>
                <a:moveTo>
                  <a:pt x="3873720" y="1048153"/>
                </a:moveTo>
                <a:lnTo>
                  <a:pt x="3948632" y="1048153"/>
                </a:lnTo>
                <a:moveTo>
                  <a:pt x="3911362" y="994444"/>
                </a:moveTo>
                <a:lnTo>
                  <a:pt x="3911362" y="930982"/>
                </a:lnTo>
                <a:moveTo>
                  <a:pt x="3911362" y="994444"/>
                </a:moveTo>
                <a:lnTo>
                  <a:pt x="3911362" y="1048153"/>
                </a:lnTo>
              </a:path>
            </a:pathLst>
          </a:custGeom>
          <a:noFill/>
          <a:ln w="9870">
            <a:solidFill>
              <a:srgbClr val="93959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4" name="source_placebo_main_error_bar_87">
            <a:extLst>
              <a:ext uri="{FF2B5EF4-FFF2-40B4-BE49-F238E27FC236}">
                <a16:creationId xmlns:a16="http://schemas.microsoft.com/office/drawing/2014/main" id="{77259488-53D9-42EE-A303-FE3BEFD4BC6B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4359001" y="1027892"/>
                </a:moveTo>
                <a:lnTo>
                  <a:pt x="4437648" y="1027892"/>
                </a:lnTo>
                <a:moveTo>
                  <a:pt x="4359001" y="1160027"/>
                </a:moveTo>
                <a:lnTo>
                  <a:pt x="4437648" y="1160027"/>
                </a:lnTo>
                <a:moveTo>
                  <a:pt x="4400397" y="1094903"/>
                </a:moveTo>
                <a:lnTo>
                  <a:pt x="4400397" y="1027892"/>
                </a:lnTo>
                <a:moveTo>
                  <a:pt x="4400397" y="1094903"/>
                </a:moveTo>
                <a:lnTo>
                  <a:pt x="4400397" y="1160027"/>
                </a:lnTo>
              </a:path>
            </a:pathLst>
          </a:custGeom>
          <a:noFill/>
          <a:ln w="9870">
            <a:solidFill>
              <a:srgbClr val="93959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5" name="source_placebo_main_error_bar_88">
            <a:extLst>
              <a:ext uri="{FF2B5EF4-FFF2-40B4-BE49-F238E27FC236}">
                <a16:creationId xmlns:a16="http://schemas.microsoft.com/office/drawing/2014/main" id="{76D0D2D1-1F5B-433D-A1CC-5FD7A931142C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4844868" y="1105407"/>
                </a:moveTo>
                <a:lnTo>
                  <a:pt x="4923515" y="1105407"/>
                </a:lnTo>
                <a:moveTo>
                  <a:pt x="4844868" y="1242829"/>
                </a:moveTo>
                <a:lnTo>
                  <a:pt x="4923515" y="1242829"/>
                </a:lnTo>
                <a:moveTo>
                  <a:pt x="4886303" y="1173352"/>
                </a:moveTo>
                <a:lnTo>
                  <a:pt x="4886303" y="1105407"/>
                </a:lnTo>
                <a:moveTo>
                  <a:pt x="4886303" y="1173352"/>
                </a:moveTo>
                <a:lnTo>
                  <a:pt x="4886303" y="1242829"/>
                </a:lnTo>
              </a:path>
            </a:pathLst>
          </a:custGeom>
          <a:noFill/>
          <a:ln w="9870">
            <a:solidFill>
              <a:srgbClr val="93959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6" name="source_placebo_main_error_bar_89">
            <a:extLst>
              <a:ext uri="{FF2B5EF4-FFF2-40B4-BE49-F238E27FC236}">
                <a16:creationId xmlns:a16="http://schemas.microsoft.com/office/drawing/2014/main" id="{3B3D2780-7852-49BF-B68F-F2CB41976733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5334948" y="1183838"/>
                </a:moveTo>
                <a:lnTo>
                  <a:pt x="5413594" y="1183838"/>
                </a:lnTo>
                <a:moveTo>
                  <a:pt x="5334948" y="1341511"/>
                </a:moveTo>
                <a:lnTo>
                  <a:pt x="5413594" y="1341511"/>
                </a:lnTo>
                <a:moveTo>
                  <a:pt x="5372629" y="1259723"/>
                </a:moveTo>
                <a:lnTo>
                  <a:pt x="5372629" y="1183838"/>
                </a:lnTo>
                <a:moveTo>
                  <a:pt x="5372629" y="1259723"/>
                </a:moveTo>
                <a:lnTo>
                  <a:pt x="5372629" y="1341511"/>
                </a:lnTo>
              </a:path>
            </a:pathLst>
          </a:custGeom>
          <a:noFill/>
          <a:ln w="9870">
            <a:solidFill>
              <a:srgbClr val="93959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7" name="source_placebo_main_curve_91">
            <a:extLst>
              <a:ext uri="{FF2B5EF4-FFF2-40B4-BE49-F238E27FC236}">
                <a16:creationId xmlns:a16="http://schemas.microsoft.com/office/drawing/2014/main" id="{BE785201-1E48-4F04-A551-97F7D199796A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3874" y="161987"/>
                </a:moveTo>
                <a:lnTo>
                  <a:pt x="138426" y="160156"/>
                </a:lnTo>
                <a:moveTo>
                  <a:pt x="138426" y="160156"/>
                </a:moveTo>
                <a:lnTo>
                  <a:pt x="386098" y="232435"/>
                </a:lnTo>
                <a:moveTo>
                  <a:pt x="386098" y="232435"/>
                </a:moveTo>
                <a:lnTo>
                  <a:pt x="750020" y="280017"/>
                </a:lnTo>
                <a:moveTo>
                  <a:pt x="750020" y="280017"/>
                </a:moveTo>
                <a:lnTo>
                  <a:pt x="1115467" y="373369"/>
                </a:lnTo>
                <a:moveTo>
                  <a:pt x="1115467" y="373369"/>
                </a:moveTo>
                <a:lnTo>
                  <a:pt x="1480895" y="445611"/>
                </a:lnTo>
                <a:moveTo>
                  <a:pt x="1480895" y="445611"/>
                </a:moveTo>
                <a:lnTo>
                  <a:pt x="1966776" y="559400"/>
                </a:lnTo>
                <a:moveTo>
                  <a:pt x="1966776" y="559400"/>
                </a:moveTo>
                <a:lnTo>
                  <a:pt x="2453713" y="669397"/>
                </a:lnTo>
                <a:moveTo>
                  <a:pt x="2453713" y="669397"/>
                </a:moveTo>
                <a:lnTo>
                  <a:pt x="2939594" y="786568"/>
                </a:lnTo>
                <a:moveTo>
                  <a:pt x="2939594" y="786568"/>
                </a:moveTo>
                <a:lnTo>
                  <a:pt x="3425514" y="909026"/>
                </a:lnTo>
                <a:moveTo>
                  <a:pt x="3425514" y="909026"/>
                </a:moveTo>
                <a:lnTo>
                  <a:pt x="3911356" y="994439"/>
                </a:lnTo>
              </a:path>
            </a:pathLst>
          </a:custGeom>
          <a:noFill/>
          <a:ln w="19720">
            <a:solidFill>
              <a:srgbClr val="93959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8" name="source_placebo_main_curve_90">
            <a:extLst>
              <a:ext uri="{FF2B5EF4-FFF2-40B4-BE49-F238E27FC236}">
                <a16:creationId xmlns:a16="http://schemas.microsoft.com/office/drawing/2014/main" id="{DB367A3F-1F57-4CF2-8A42-72CEF09C313C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5376148" y="1259622"/>
                </a:moveTo>
                <a:lnTo>
                  <a:pt x="4886063" y="1173257"/>
                </a:lnTo>
                <a:moveTo>
                  <a:pt x="4886063" y="1173257"/>
                </a:moveTo>
                <a:lnTo>
                  <a:pt x="4400201" y="1094813"/>
                </a:lnTo>
                <a:moveTo>
                  <a:pt x="4400201" y="1094813"/>
                </a:moveTo>
                <a:lnTo>
                  <a:pt x="3911172" y="994343"/>
                </a:lnTo>
              </a:path>
            </a:pathLst>
          </a:custGeom>
          <a:noFill/>
          <a:ln w="19720">
            <a:solidFill>
              <a:srgbClr val="93959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19" name="source_placebo_main_marker_92">
            <a:extLst>
              <a:ext uri="{FF2B5EF4-FFF2-40B4-BE49-F238E27FC236}">
                <a16:creationId xmlns:a16="http://schemas.microsoft.com/office/drawing/2014/main" id="{F0269541-3889-4750-9B1E-7CA34F7E1477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-36210" y="132774"/>
                </a:moveTo>
                <a:lnTo>
                  <a:pt x="26832" y="132774"/>
                </a:lnTo>
                <a:lnTo>
                  <a:pt x="26832" y="185157"/>
                </a:lnTo>
                <a:lnTo>
                  <a:pt x="-36210" y="185157"/>
                </a:lnTo>
                <a:close/>
              </a:path>
            </a:pathLst>
          </a:custGeom>
          <a:solidFill>
            <a:srgbClr val="939598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0" name="source_placebo_main_marker_93">
            <a:extLst>
              <a:ext uri="{FF2B5EF4-FFF2-40B4-BE49-F238E27FC236}">
                <a16:creationId xmlns:a16="http://schemas.microsoft.com/office/drawing/2014/main" id="{CDD30F31-EA45-4AE7-A959-C3DA67B0375B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109879" y="133522"/>
                </a:moveTo>
                <a:lnTo>
                  <a:pt x="172902" y="133522"/>
                </a:lnTo>
                <a:lnTo>
                  <a:pt x="172902" y="185064"/>
                </a:lnTo>
                <a:lnTo>
                  <a:pt x="109879" y="185064"/>
                </a:lnTo>
                <a:close/>
              </a:path>
            </a:pathLst>
          </a:custGeom>
          <a:solidFill>
            <a:srgbClr val="939598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1" name="source_placebo_main_marker_94">
            <a:extLst>
              <a:ext uri="{FF2B5EF4-FFF2-40B4-BE49-F238E27FC236}">
                <a16:creationId xmlns:a16="http://schemas.microsoft.com/office/drawing/2014/main" id="{2EDC2506-813B-4406-99BD-600AA7747425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353308" y="203204"/>
                </a:moveTo>
                <a:lnTo>
                  <a:pt x="416351" y="203204"/>
                </a:lnTo>
                <a:lnTo>
                  <a:pt x="416351" y="255605"/>
                </a:lnTo>
                <a:lnTo>
                  <a:pt x="353308" y="255605"/>
                </a:lnTo>
                <a:close/>
              </a:path>
            </a:pathLst>
          </a:custGeom>
          <a:solidFill>
            <a:srgbClr val="939598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2" name="source_placebo_main_marker_95">
            <a:extLst>
              <a:ext uri="{FF2B5EF4-FFF2-40B4-BE49-F238E27FC236}">
                <a16:creationId xmlns:a16="http://schemas.microsoft.com/office/drawing/2014/main" id="{B1AAC0D8-86CC-49EE-863D-7B0C224A3A0A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717699" y="249010"/>
                </a:moveTo>
                <a:lnTo>
                  <a:pt x="780722" y="249010"/>
                </a:lnTo>
                <a:lnTo>
                  <a:pt x="780722" y="301412"/>
                </a:lnTo>
                <a:lnTo>
                  <a:pt x="717699" y="301412"/>
                </a:lnTo>
                <a:close/>
              </a:path>
            </a:pathLst>
          </a:custGeom>
          <a:solidFill>
            <a:srgbClr val="939598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3" name="source_placebo_main_marker_96">
            <a:extLst>
              <a:ext uri="{FF2B5EF4-FFF2-40B4-BE49-F238E27FC236}">
                <a16:creationId xmlns:a16="http://schemas.microsoft.com/office/drawing/2014/main" id="{5D17F695-53EB-4D93-ACCD-9156F8C06367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1081582" y="341540"/>
                </a:moveTo>
                <a:lnTo>
                  <a:pt x="1144644" y="341540"/>
                </a:lnTo>
                <a:lnTo>
                  <a:pt x="1144644" y="393942"/>
                </a:lnTo>
                <a:lnTo>
                  <a:pt x="1081582" y="393942"/>
                </a:lnTo>
                <a:close/>
              </a:path>
            </a:pathLst>
          </a:custGeom>
          <a:solidFill>
            <a:srgbClr val="939598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4" name="source_placebo_main_marker_97">
            <a:extLst>
              <a:ext uri="{FF2B5EF4-FFF2-40B4-BE49-F238E27FC236}">
                <a16:creationId xmlns:a16="http://schemas.microsoft.com/office/drawing/2014/main" id="{B37FBEC7-55B4-4833-97D8-C50849F88AC2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1449121" y="414624"/>
                </a:moveTo>
                <a:lnTo>
                  <a:pt x="1512184" y="414624"/>
                </a:lnTo>
                <a:lnTo>
                  <a:pt x="1512184" y="467025"/>
                </a:lnTo>
                <a:lnTo>
                  <a:pt x="1449121" y="467025"/>
                </a:lnTo>
                <a:close/>
              </a:path>
            </a:pathLst>
          </a:custGeom>
          <a:solidFill>
            <a:srgbClr val="939598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5" name="source_placebo_main_marker_98">
            <a:extLst>
              <a:ext uri="{FF2B5EF4-FFF2-40B4-BE49-F238E27FC236}">
                <a16:creationId xmlns:a16="http://schemas.microsoft.com/office/drawing/2014/main" id="{B8FBC4ED-3E0A-49B2-8B3D-5D2541CCF457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1933946" y="535325"/>
                </a:moveTo>
                <a:lnTo>
                  <a:pt x="1996989" y="535325"/>
                </a:lnTo>
                <a:lnTo>
                  <a:pt x="1996989" y="587727"/>
                </a:lnTo>
                <a:lnTo>
                  <a:pt x="1933946" y="587727"/>
                </a:lnTo>
                <a:close/>
              </a:path>
            </a:pathLst>
          </a:custGeom>
          <a:solidFill>
            <a:srgbClr val="939598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6" name="source_placebo_main_marker_99">
            <a:extLst>
              <a:ext uri="{FF2B5EF4-FFF2-40B4-BE49-F238E27FC236}">
                <a16:creationId xmlns:a16="http://schemas.microsoft.com/office/drawing/2014/main" id="{C75FC5AE-60D1-4D72-8351-4E641CAE8F00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2420845" y="639250"/>
                </a:moveTo>
                <a:lnTo>
                  <a:pt x="2483867" y="639250"/>
                </a:lnTo>
                <a:lnTo>
                  <a:pt x="2483867" y="691633"/>
                </a:lnTo>
                <a:lnTo>
                  <a:pt x="2420845" y="691633"/>
                </a:lnTo>
                <a:close/>
              </a:path>
            </a:pathLst>
          </a:custGeom>
          <a:solidFill>
            <a:srgbClr val="939598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7" name="source_placebo_main_marker_100">
            <a:extLst>
              <a:ext uri="{FF2B5EF4-FFF2-40B4-BE49-F238E27FC236}">
                <a16:creationId xmlns:a16="http://schemas.microsoft.com/office/drawing/2014/main" id="{CB2E0583-25FA-4E77-9EC1-E9DEB0C9E326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2906706" y="756459"/>
                </a:moveTo>
                <a:lnTo>
                  <a:pt x="2969748" y="756459"/>
                </a:lnTo>
                <a:lnTo>
                  <a:pt x="2969748" y="808843"/>
                </a:lnTo>
                <a:lnTo>
                  <a:pt x="2906706" y="808843"/>
                </a:lnTo>
                <a:close/>
              </a:path>
            </a:pathLst>
          </a:custGeom>
          <a:solidFill>
            <a:srgbClr val="939598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8" name="source_placebo_main_marker_101">
            <a:extLst>
              <a:ext uri="{FF2B5EF4-FFF2-40B4-BE49-F238E27FC236}">
                <a16:creationId xmlns:a16="http://schemas.microsoft.com/office/drawing/2014/main" id="{07413FC6-7C07-4A20-BC6D-4B860FD355D3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3394092" y="878021"/>
                </a:moveTo>
                <a:lnTo>
                  <a:pt x="3457135" y="878021"/>
                </a:lnTo>
                <a:lnTo>
                  <a:pt x="3457135" y="930385"/>
                </a:lnTo>
                <a:lnTo>
                  <a:pt x="3394092" y="930385"/>
                </a:lnTo>
                <a:close/>
              </a:path>
            </a:pathLst>
          </a:custGeom>
          <a:solidFill>
            <a:srgbClr val="939598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29" name="source_placebo_main_marker_102">
            <a:extLst>
              <a:ext uri="{FF2B5EF4-FFF2-40B4-BE49-F238E27FC236}">
                <a16:creationId xmlns:a16="http://schemas.microsoft.com/office/drawing/2014/main" id="{40BDDAF7-6575-446E-8B2D-197E30B4DB54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3879954" y="962536"/>
                </a:moveTo>
                <a:lnTo>
                  <a:pt x="3943016" y="962536"/>
                </a:lnTo>
                <a:lnTo>
                  <a:pt x="3943016" y="1014919"/>
                </a:lnTo>
                <a:lnTo>
                  <a:pt x="3879954" y="1014919"/>
                </a:lnTo>
                <a:close/>
              </a:path>
            </a:pathLst>
          </a:custGeom>
          <a:solidFill>
            <a:srgbClr val="939598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0" name="source_placebo_main_marker_103">
            <a:extLst>
              <a:ext uri="{FF2B5EF4-FFF2-40B4-BE49-F238E27FC236}">
                <a16:creationId xmlns:a16="http://schemas.microsoft.com/office/drawing/2014/main" id="{520B1B8E-25FA-440E-9FDA-42CB2AF7591E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4853789" y="1147558"/>
                </a:moveTo>
                <a:lnTo>
                  <a:pt x="4916831" y="1147558"/>
                </a:lnTo>
                <a:lnTo>
                  <a:pt x="4916831" y="1199942"/>
                </a:lnTo>
                <a:lnTo>
                  <a:pt x="4853789" y="1199942"/>
                </a:lnTo>
                <a:close/>
              </a:path>
            </a:pathLst>
          </a:custGeom>
          <a:solidFill>
            <a:srgbClr val="939598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1" name="source_placebo_main_marker_104">
            <a:extLst>
              <a:ext uri="{FF2B5EF4-FFF2-40B4-BE49-F238E27FC236}">
                <a16:creationId xmlns:a16="http://schemas.microsoft.com/office/drawing/2014/main" id="{99B96461-B4AE-4CC0-90DD-E758D25310CA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5341782" y="1233923"/>
                </a:moveTo>
                <a:lnTo>
                  <a:pt x="5404824" y="1233923"/>
                </a:lnTo>
                <a:lnTo>
                  <a:pt x="5404824" y="1286325"/>
                </a:lnTo>
                <a:lnTo>
                  <a:pt x="5341782" y="1286325"/>
                </a:lnTo>
                <a:close/>
              </a:path>
            </a:pathLst>
          </a:custGeom>
          <a:solidFill>
            <a:srgbClr val="939598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2" name="source_placebo_main_marker_105">
            <a:extLst>
              <a:ext uri="{FF2B5EF4-FFF2-40B4-BE49-F238E27FC236}">
                <a16:creationId xmlns:a16="http://schemas.microsoft.com/office/drawing/2014/main" id="{15BEE3ED-A004-44FD-ACC2-434134A7C80B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4367869" y="1063827"/>
                </a:moveTo>
                <a:lnTo>
                  <a:pt x="4430911" y="1063827"/>
                </a:lnTo>
                <a:lnTo>
                  <a:pt x="4430911" y="1116229"/>
                </a:lnTo>
                <a:lnTo>
                  <a:pt x="4367869" y="1116229"/>
                </a:lnTo>
                <a:close/>
              </a:path>
            </a:pathLst>
          </a:custGeom>
          <a:solidFill>
            <a:srgbClr val="939598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3" name="source_placebo_inset_error_bar_113">
            <a:extLst>
              <a:ext uri="{FF2B5EF4-FFF2-40B4-BE49-F238E27FC236}">
                <a16:creationId xmlns:a16="http://schemas.microsoft.com/office/drawing/2014/main" id="{1196452B-D396-42FD-AB05-6DDADA3F8972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5895890" y="910711"/>
                </a:moveTo>
                <a:lnTo>
                  <a:pt x="6010244" y="910711"/>
                </a:lnTo>
                <a:moveTo>
                  <a:pt x="5895890" y="1033393"/>
                </a:moveTo>
                <a:lnTo>
                  <a:pt x="6010244" y="1033393"/>
                </a:lnTo>
                <a:moveTo>
                  <a:pt x="5950749" y="962254"/>
                </a:moveTo>
                <a:lnTo>
                  <a:pt x="5950749" y="910711"/>
                </a:lnTo>
                <a:moveTo>
                  <a:pt x="5950749" y="962254"/>
                </a:moveTo>
                <a:lnTo>
                  <a:pt x="5950749" y="1033393"/>
                </a:lnTo>
              </a:path>
            </a:pathLst>
          </a:custGeom>
          <a:noFill/>
          <a:ln w="9870">
            <a:solidFill>
              <a:srgbClr val="93959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4" name="source_placebo_inset_error_bar_114">
            <a:extLst>
              <a:ext uri="{FF2B5EF4-FFF2-40B4-BE49-F238E27FC236}">
                <a16:creationId xmlns:a16="http://schemas.microsoft.com/office/drawing/2014/main" id="{A7A2FE2D-6C9F-4056-9555-F1C60B113A0C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6602992" y="931186"/>
                </a:moveTo>
                <a:lnTo>
                  <a:pt x="6717346" y="931186"/>
                </a:lnTo>
                <a:moveTo>
                  <a:pt x="6602992" y="1062555"/>
                </a:moveTo>
                <a:lnTo>
                  <a:pt x="6717346" y="1062555"/>
                </a:lnTo>
                <a:moveTo>
                  <a:pt x="6657851" y="995843"/>
                </a:moveTo>
                <a:lnTo>
                  <a:pt x="6657851" y="931186"/>
                </a:lnTo>
                <a:moveTo>
                  <a:pt x="6657851" y="995843"/>
                </a:moveTo>
                <a:lnTo>
                  <a:pt x="6657851" y="1062555"/>
                </a:lnTo>
              </a:path>
            </a:pathLst>
          </a:custGeom>
          <a:noFill/>
          <a:ln w="9870">
            <a:solidFill>
              <a:srgbClr val="93959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5" name="source_placebo_inset_marker_115">
            <a:extLst>
              <a:ext uri="{FF2B5EF4-FFF2-40B4-BE49-F238E27FC236}">
                <a16:creationId xmlns:a16="http://schemas.microsoft.com/office/drawing/2014/main" id="{FB2FDF43-5849-4D01-B48C-5636BBE27F90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5901618" y="944378"/>
                </a:moveTo>
                <a:lnTo>
                  <a:pt x="5993277" y="944378"/>
                </a:lnTo>
                <a:lnTo>
                  <a:pt x="5993277" y="996779"/>
                </a:lnTo>
                <a:lnTo>
                  <a:pt x="5901618" y="996779"/>
                </a:lnTo>
                <a:close/>
              </a:path>
            </a:pathLst>
          </a:custGeom>
          <a:solidFill>
            <a:srgbClr val="939598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6" name="source_placebo_inset_marker_116">
            <a:extLst>
              <a:ext uri="{FF2B5EF4-FFF2-40B4-BE49-F238E27FC236}">
                <a16:creationId xmlns:a16="http://schemas.microsoft.com/office/drawing/2014/main" id="{E7F6D0CF-56C8-40BA-8E69-FCA60CC18609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6611062" y="971129"/>
                </a:moveTo>
                <a:lnTo>
                  <a:pt x="6702751" y="971129"/>
                </a:lnTo>
                <a:lnTo>
                  <a:pt x="6702751" y="1023512"/>
                </a:lnTo>
                <a:lnTo>
                  <a:pt x="6611062" y="1023512"/>
                </a:lnTo>
                <a:close/>
              </a:path>
            </a:pathLst>
          </a:custGeom>
          <a:solidFill>
            <a:srgbClr val="939598"/>
          </a:solidFill>
          <a:ln w="0">
            <a:noFill/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7" name="source_placebo_inset_curve_117">
            <a:extLst>
              <a:ext uri="{FF2B5EF4-FFF2-40B4-BE49-F238E27FC236}">
                <a16:creationId xmlns:a16="http://schemas.microsoft.com/office/drawing/2014/main" id="{E77321DE-2821-41A0-8354-50E4991803B3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6657831" y="997318"/>
                </a:moveTo>
                <a:lnTo>
                  <a:pt x="6572250" y="993840"/>
                </a:lnTo>
                <a:moveTo>
                  <a:pt x="6486669" y="990362"/>
                </a:moveTo>
                <a:lnTo>
                  <a:pt x="6401089" y="986884"/>
                </a:lnTo>
                <a:moveTo>
                  <a:pt x="6315508" y="983407"/>
                </a:moveTo>
                <a:lnTo>
                  <a:pt x="6229927" y="979929"/>
                </a:lnTo>
                <a:moveTo>
                  <a:pt x="6144347" y="976451"/>
                </a:moveTo>
                <a:lnTo>
                  <a:pt x="6058766" y="972973"/>
                </a:lnTo>
                <a:moveTo>
                  <a:pt x="5973185" y="969496"/>
                </a:moveTo>
                <a:lnTo>
                  <a:pt x="5953078" y="968679"/>
                </a:lnTo>
              </a:path>
            </a:pathLst>
          </a:custGeom>
          <a:noFill/>
          <a:ln w="19720">
            <a:solidFill>
              <a:srgbClr val="939598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8" name="source_placebo_change_bracket_106">
            <a:extLst>
              <a:ext uri="{FF2B5EF4-FFF2-40B4-BE49-F238E27FC236}">
                <a16:creationId xmlns:a16="http://schemas.microsoft.com/office/drawing/2014/main" id="{BDCD4FC8-4666-44A8-AFF8-74AEB616C5E5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6669184" y="1098764"/>
                </a:moveTo>
                <a:lnTo>
                  <a:pt x="6669184" y="1213637"/>
                </a:lnTo>
                <a:moveTo>
                  <a:pt x="6669184" y="1213637"/>
                </a:moveTo>
                <a:lnTo>
                  <a:pt x="5990340" y="1213637"/>
                </a:lnTo>
                <a:moveTo>
                  <a:pt x="5990340" y="1213637"/>
                </a:moveTo>
                <a:lnTo>
                  <a:pt x="5990340" y="1098764"/>
                </a:lnTo>
              </a:path>
            </a:pathLst>
          </a:custGeom>
          <a:noFill/>
          <a:ln w="9870">
            <a:solidFill>
              <a:srgbClr val="1D1819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39" name="source_finerenone_change_bracket_107">
            <a:extLst>
              <a:ext uri="{FF2B5EF4-FFF2-40B4-BE49-F238E27FC236}">
                <a16:creationId xmlns:a16="http://schemas.microsoft.com/office/drawing/2014/main" id="{D337A567-3A3F-4CA1-B411-5830C76D97EC}"/>
              </a:ext>
            </a:extLst>
          </p:cNvPr>
          <p:cNvSpPr>
            <a:spLocks noGrp="1"/>
          </p:cNvSpPr>
          <p:nvPr/>
        </p:nvSpPr>
        <p:spPr>
          <a:xfrm>
            <a:off x="1752600" y="2056295"/>
            <a:ext cx="7019925" cy="2324603"/>
          </a:xfrm>
          <a:custGeom>
            <a:avLst/>
            <a:gdLst/>
            <a:ahLst/>
            <a:cxnLst/>
            <a:rect l="0" t="0" r="0" b="0"/>
            <a:pathLst>
              <a:path w="7019925" h="1905000">
                <a:moveTo>
                  <a:pt x="5901697" y="732147"/>
                </a:moveTo>
                <a:lnTo>
                  <a:pt x="5901697" y="617274"/>
                </a:lnTo>
                <a:moveTo>
                  <a:pt x="5901697" y="617274"/>
                </a:moveTo>
                <a:lnTo>
                  <a:pt x="6574057" y="617274"/>
                </a:lnTo>
                <a:moveTo>
                  <a:pt x="6574057" y="617274"/>
                </a:moveTo>
                <a:lnTo>
                  <a:pt x="6574057" y="732147"/>
                </a:lnTo>
              </a:path>
            </a:pathLst>
          </a:custGeom>
          <a:noFill/>
          <a:ln w="9870">
            <a:solidFill>
              <a:srgbClr val="1D1819"/>
            </a:solidFill>
          </a:ln>
        </p:spPr>
        <p:txBody>
          <a:bodyPr/>
          <a:p>
            <a:pPr>
              <a:lnSpc>
                <a:spcPct val="90000"/>
              </a:lnSpc>
            </a:pPr>
          </a:p>
        </p:txBody>
      </p:sp>
      <p:sp>
        <p:nvSpPr>
          <p:cNvPr id="140" name="post_treatment_change_0">
            <a:extLst>
              <a:ext uri="{FF2B5EF4-FFF2-40B4-BE49-F238E27FC236}">
                <a16:creationId xmlns:a16="http://schemas.microsoft.com/office/drawing/2014/main" id="{8EF0CDCE-DF1B-4C13-9C76-56D240210699}"/>
              </a:ext>
            </a:extLst>
          </p:cNvPr>
          <p:cNvSpPr>
            <a:spLocks noGrp="1"/>
          </p:cNvSpPr>
          <p:nvPr/>
        </p:nvSpPr>
        <p:spPr>
          <a:xfrm>
            <a:off x="7657099" y="2514340"/>
            <a:ext cx="666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+1,3</a:t>
            </a:r>
          </a:p>
        </p:txBody>
      </p:sp>
      <p:sp>
        <p:nvSpPr>
          <p:cNvPr id="141" name="post_treatment_change_1">
            <a:extLst>
              <a:ext uri="{FF2B5EF4-FFF2-40B4-BE49-F238E27FC236}">
                <a16:creationId xmlns:a16="http://schemas.microsoft.com/office/drawing/2014/main" id="{64351649-010E-462E-A5C5-71263D2804C4}"/>
              </a:ext>
            </a:extLst>
          </p:cNvPr>
          <p:cNvSpPr>
            <a:spLocks noGrp="1"/>
          </p:cNvSpPr>
          <p:nvPr/>
        </p:nvSpPr>
        <p:spPr>
          <a:xfrm>
            <a:off x="7748984" y="3590850"/>
            <a:ext cx="666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−0,3</a:t>
            </a:r>
          </a:p>
        </p:txBody>
      </p:sp>
      <p:sp>
        <p:nvSpPr>
          <p:cNvPr id="142" name="line_finerenone">
            <a:extLst>
              <a:ext uri="{FF2B5EF4-FFF2-40B4-BE49-F238E27FC236}">
                <a16:creationId xmlns:a16="http://schemas.microsoft.com/office/drawing/2014/main" id="{0ACA7398-2ADA-4E66-A74C-2E9B8556C134}"/>
              </a:ext>
            </a:extLst>
          </p:cNvPr>
          <p:cNvSpPr>
            <a:spLocks noGrp="1"/>
          </p:cNvSpPr>
          <p:nvPr/>
        </p:nvSpPr>
        <p:spPr>
          <a:xfrm>
            <a:off x="5743575" y="2813721"/>
            <a:ext cx="12382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143" name="line_placebo">
            <a:extLst>
              <a:ext uri="{FF2B5EF4-FFF2-40B4-BE49-F238E27FC236}">
                <a16:creationId xmlns:a16="http://schemas.microsoft.com/office/drawing/2014/main" id="{30A6DC14-35B8-42F2-A5B1-C1B6EFAF7276}"/>
              </a:ext>
            </a:extLst>
          </p:cNvPr>
          <p:cNvSpPr>
            <a:spLocks noGrp="1"/>
          </p:cNvSpPr>
          <p:nvPr/>
        </p:nvSpPr>
        <p:spPr>
          <a:xfrm>
            <a:off x="5781675" y="3522725"/>
            <a:ext cx="1047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144" name="post_treatment_visit_0">
            <a:extLst>
              <a:ext uri="{FF2B5EF4-FFF2-40B4-BE49-F238E27FC236}">
                <a16:creationId xmlns:a16="http://schemas.microsoft.com/office/drawing/2014/main" id="{01304899-FF9E-4E33-89A4-B280348571A1}"/>
              </a:ext>
            </a:extLst>
          </p:cNvPr>
          <p:cNvSpPr>
            <a:spLocks noGrp="1"/>
          </p:cNvSpPr>
          <p:nvPr/>
        </p:nvSpPr>
        <p:spPr>
          <a:xfrm>
            <a:off x="7212597" y="4511563"/>
            <a:ext cx="8382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Конец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лечения</a:t>
            </a:r>
          </a:p>
        </p:txBody>
      </p:sp>
      <p:sp>
        <p:nvSpPr>
          <p:cNvPr id="145" name="post_treatment_visit_1">
            <a:extLst>
              <a:ext uri="{FF2B5EF4-FFF2-40B4-BE49-F238E27FC236}">
                <a16:creationId xmlns:a16="http://schemas.microsoft.com/office/drawing/2014/main" id="{084138DB-F44C-4743-A0C0-97FADAFAA4E1}"/>
              </a:ext>
            </a:extLst>
          </p:cNvPr>
          <p:cNvSpPr>
            <a:spLocks noGrp="1"/>
          </p:cNvSpPr>
          <p:nvPr/>
        </p:nvSpPr>
        <p:spPr>
          <a:xfrm>
            <a:off x="8047689" y="4511563"/>
            <a:ext cx="8382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После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отмены</a:t>
            </a:r>
          </a:p>
        </p:txBody>
      </p:sp>
      <p:sp>
        <p:nvSpPr>
          <p:cNvPr id="146" name="month_title">
            <a:extLst>
              <a:ext uri="{FF2B5EF4-FFF2-40B4-BE49-F238E27FC236}">
                <a16:creationId xmlns:a16="http://schemas.microsoft.com/office/drawing/2014/main" id="{9E35FFFB-20FC-4CA9-83E1-5B7B3BE00C12}"/>
              </a:ext>
            </a:extLst>
          </p:cNvPr>
          <p:cNvSpPr>
            <a:spLocks noGrp="1"/>
          </p:cNvSpPr>
          <p:nvPr/>
        </p:nvSpPr>
        <p:spPr>
          <a:xfrm>
            <a:off x="4124325" y="4825552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Месяцы</a:t>
            </a:r>
          </a:p>
        </p:txBody>
      </p:sp>
      <p:sp>
        <p:nvSpPr>
          <p:cNvPr id="151" name="annual_heading">
            <a:extLst>
              <a:ext uri="{FF2B5EF4-FFF2-40B4-BE49-F238E27FC236}">
                <a16:creationId xmlns:a16="http://schemas.microsoft.com/office/drawing/2014/main" id="{7412C7BD-2159-4826-BF4B-04E7E52E24E1}"/>
              </a:ext>
            </a:extLst>
          </p:cNvPr>
          <p:cNvSpPr>
            <a:spLocks noGrp="1"/>
          </p:cNvSpPr>
          <p:nvPr/>
        </p:nvSpPr>
        <p:spPr>
          <a:xfrm>
            <a:off x="9086850" y="1581150"/>
            <a:ext cx="26479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Первичный исход: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изменение рСКФ в год</a:t>
            </a:r>
          </a:p>
        </p:txBody>
      </p:sp>
      <p:sp>
        <p:nvSpPr>
          <p:cNvPr id="152" name="annual_fin_label">
            <a:extLst>
              <a:ext uri="{FF2B5EF4-FFF2-40B4-BE49-F238E27FC236}">
                <a16:creationId xmlns:a16="http://schemas.microsoft.com/office/drawing/2014/main" id="{F97C8F70-0591-4D55-B630-4E5ADD42516E}"/>
              </a:ext>
            </a:extLst>
          </p:cNvPr>
          <p:cNvSpPr>
            <a:spLocks noGrp="1"/>
          </p:cNvSpPr>
          <p:nvPr/>
        </p:nvSpPr>
        <p:spPr>
          <a:xfrm>
            <a:off x="9086850" y="2133600"/>
            <a:ext cx="2647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153" name="annual_fin_value">
            <a:extLst>
              <a:ext uri="{FF2B5EF4-FFF2-40B4-BE49-F238E27FC236}">
                <a16:creationId xmlns:a16="http://schemas.microsoft.com/office/drawing/2014/main" id="{0697F8B1-BBF4-4E3C-92BA-F7A4D7ACEA46}"/>
              </a:ext>
            </a:extLst>
          </p:cNvPr>
          <p:cNvSpPr>
            <a:spLocks noGrp="1"/>
          </p:cNvSpPr>
          <p:nvPr/>
        </p:nvSpPr>
        <p:spPr>
          <a:xfrm>
            <a:off x="9086850" y="2352675"/>
            <a:ext cx="26479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2800" b="1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−3,3</a:t>
            </a:r>
          </a:p>
        </p:txBody>
      </p:sp>
      <p:sp>
        <p:nvSpPr>
          <p:cNvPr id="154" name="annual_placebo_label">
            <a:extLst>
              <a:ext uri="{FF2B5EF4-FFF2-40B4-BE49-F238E27FC236}">
                <a16:creationId xmlns:a16="http://schemas.microsoft.com/office/drawing/2014/main" id="{FBCEAF48-13AC-481A-A290-1654DAD5506E}"/>
              </a:ext>
            </a:extLst>
          </p:cNvPr>
          <p:cNvSpPr>
            <a:spLocks noGrp="1"/>
          </p:cNvSpPr>
          <p:nvPr/>
        </p:nvSpPr>
        <p:spPr>
          <a:xfrm>
            <a:off x="9086850" y="2924175"/>
            <a:ext cx="2647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155" name="annual_placebo_value">
            <a:extLst>
              <a:ext uri="{FF2B5EF4-FFF2-40B4-BE49-F238E27FC236}">
                <a16:creationId xmlns:a16="http://schemas.microsoft.com/office/drawing/2014/main" id="{6F331584-5657-4DE9-9EB1-160833617003}"/>
              </a:ext>
            </a:extLst>
          </p:cNvPr>
          <p:cNvSpPr>
            <a:spLocks noGrp="1"/>
          </p:cNvSpPr>
          <p:nvPr/>
        </p:nvSpPr>
        <p:spPr>
          <a:xfrm>
            <a:off x="9086850" y="3143250"/>
            <a:ext cx="264795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8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−4,0</a:t>
            </a:r>
          </a:p>
        </p:txBody>
      </p:sp>
      <p:sp>
        <p:nvSpPr>
          <p:cNvPr id="156" name="annual_unit">
            <a:extLst>
              <a:ext uri="{FF2B5EF4-FFF2-40B4-BE49-F238E27FC236}">
                <a16:creationId xmlns:a16="http://schemas.microsoft.com/office/drawing/2014/main" id="{725F8AB4-AA9E-41CE-A5BE-9DD7C17AF13C}"/>
              </a:ext>
            </a:extLst>
          </p:cNvPr>
          <p:cNvSpPr>
            <a:spLocks noGrp="1"/>
          </p:cNvSpPr>
          <p:nvPr/>
        </p:nvSpPr>
        <p:spPr>
          <a:xfrm>
            <a:off x="9086850" y="3657600"/>
            <a:ext cx="26479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мл/мин/1,73 м²</a:t>
            </a:r>
          </a:p>
        </p:txBody>
      </p:sp>
      <p:sp>
        <p:nvSpPr>
          <p:cNvPr id="157" name="difference">
            <a:extLst>
              <a:ext uri="{FF2B5EF4-FFF2-40B4-BE49-F238E27FC236}">
                <a16:creationId xmlns:a16="http://schemas.microsoft.com/office/drawing/2014/main" id="{2F807BC4-0D8F-4AC6-B8C2-AD8463F38162}"/>
              </a:ext>
            </a:extLst>
          </p:cNvPr>
          <p:cNvSpPr>
            <a:spLocks noGrp="1"/>
          </p:cNvSpPr>
          <p:nvPr/>
        </p:nvSpPr>
        <p:spPr>
          <a:xfrm>
            <a:off x="9086850" y="4019550"/>
            <a:ext cx="264795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Разница 0,7</a:t>
            </a:r>
          </a:p>
        </p:txBody>
      </p:sp>
      <p:sp>
        <p:nvSpPr>
          <p:cNvPr id="158" name="difference_ci">
            <a:extLst>
              <a:ext uri="{FF2B5EF4-FFF2-40B4-BE49-F238E27FC236}">
                <a16:creationId xmlns:a16="http://schemas.microsoft.com/office/drawing/2014/main" id="{3A69B51E-74D7-4C09-BDA2-12343E69BB99}"/>
              </a:ext>
            </a:extLst>
          </p:cNvPr>
          <p:cNvSpPr>
            <a:spLocks noGrp="1"/>
          </p:cNvSpPr>
          <p:nvPr/>
        </p:nvSpPr>
        <p:spPr>
          <a:xfrm>
            <a:off x="9086850" y="4295775"/>
            <a:ext cx="26479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95% ДИ 0,3–1,1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p&lt;0,001</a:t>
            </a:r>
          </a:p>
        </p:txBody>
      </p:sp>
      <p:sp>
        <p:nvSpPr>
          <p:cNvPr id="159" name="primary_period">
            <a:extLst>
              <a:ext uri="{FF2B5EF4-FFF2-40B4-BE49-F238E27FC236}">
                <a16:creationId xmlns:a16="http://schemas.microsoft.com/office/drawing/2014/main" id="{0142854D-7EBC-44DA-B84D-2631278F16F1}"/>
              </a:ext>
            </a:extLst>
          </p:cNvPr>
          <p:cNvSpPr>
            <a:spLocks noGrp="1"/>
          </p:cNvSpPr>
          <p:nvPr/>
        </p:nvSpPr>
        <p:spPr>
          <a:xfrm>
            <a:off x="9086850" y="4829175"/>
            <a:ext cx="26479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От исходного уровня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до 32-го месяца (пунктир)</a:t>
            </a:r>
          </a:p>
        </p:txBody>
      </p:sp>
      <p:sp>
        <p:nvSpPr>
          <p:cNvPr id="160" name="clinical_result">
            <a:extLst>
              <a:ext uri="{FF2B5EF4-FFF2-40B4-BE49-F238E27FC236}">
                <a16:creationId xmlns:a16="http://schemas.microsoft.com/office/drawing/2014/main" id="{AB5A8EA3-3191-48A6-B4B6-46394015B1A6}"/>
              </a:ext>
            </a:extLst>
          </p:cNvPr>
          <p:cNvSpPr>
            <a:spLocks noGrp="1"/>
          </p:cNvSpPr>
          <p:nvPr/>
        </p:nvSpPr>
        <p:spPr>
          <a:xfrm>
            <a:off x="457200" y="5203825"/>
            <a:ext cx="685800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Вторичный комбинированный исход: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финеренон 13,9%, плацебо 16,9%.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Отношение рисков 0,77 (95% ДИ 0,60–0,99), p=0,04.</a:t>
            </a:r>
          </a:p>
        </p:txBody>
      </p:sp>
      <p:sp>
        <p:nvSpPr>
          <p:cNvPr id="161" name="clinical_definition">
            <a:extLst>
              <a:ext uri="{FF2B5EF4-FFF2-40B4-BE49-F238E27FC236}">
                <a16:creationId xmlns:a16="http://schemas.microsoft.com/office/drawing/2014/main" id="{BDB3CECC-1FD4-4984-999F-3C5EEB39CE66}"/>
              </a:ext>
            </a:extLst>
          </p:cNvPr>
          <p:cNvSpPr>
            <a:spLocks noGrp="1"/>
          </p:cNvSpPr>
          <p:nvPr/>
        </p:nvSpPr>
        <p:spPr>
          <a:xfrm>
            <a:off x="457200" y="5670550"/>
            <a:ext cx="68580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Что входит: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устойчивое снижение рСКФ на ≥57%, почечная недостаточность, госпитализация по поводу сердечной недостаточности или сердечно-сосудистая смерть.</a:t>
            </a:r>
          </a:p>
        </p:txBody>
      </p:sp>
      <p:sp>
        <p:nvSpPr>
          <p:cNvPr id="162" name="hyperkalemia">
            <a:extLst>
              <a:ext uri="{FF2B5EF4-FFF2-40B4-BE49-F238E27FC236}">
                <a16:creationId xmlns:a16="http://schemas.microsoft.com/office/drawing/2014/main" id="{CB18B2EE-A830-40B1-81F2-BE73EA86FCFC}"/>
              </a:ext>
            </a:extLst>
          </p:cNvPr>
          <p:cNvSpPr>
            <a:spLocks noGrp="1"/>
          </p:cNvSpPr>
          <p:nvPr/>
        </p:nvSpPr>
        <p:spPr>
          <a:xfrm>
            <a:off x="7524750" y="5318125"/>
            <a:ext cx="42100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Безопасность: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гиперкалиемия: финеренон 17,0%, плацебо 13,3%; окончательная отмена из-за неё: финеренон 1,5%, плацебо 0,1%.</a:t>
            </a:r>
          </a:p>
        </p:txBody>
      </p:sp>
      <p:sp>
        <p:nvSpPr>
          <p:cNvPr id="163" name="indication">
            <a:extLst>
              <a:ext uri="{FF2B5EF4-FFF2-40B4-BE49-F238E27FC236}">
                <a16:creationId xmlns:a16="http://schemas.microsoft.com/office/drawing/2014/main" id="{F524920F-EDEA-4A8A-A9DD-113F096B16AA}"/>
              </a:ext>
            </a:extLst>
          </p:cNvPr>
          <p:cNvSpPr>
            <a:spLocks noGrp="1"/>
          </p:cNvSpPr>
          <p:nvPr/>
        </p:nvSpPr>
        <p:spPr>
          <a:xfrm>
            <a:off x="7524750" y="5943600"/>
            <a:ext cx="42100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Статус:</a:t>
            </a:r>
            <a:r>
              <a:rPr sz="1400" b="0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 показания при ХБП без диабета нет в США, Евросоюзе и в инструкции Финеренон-Орвилле.</a:t>
            </a:r>
          </a:p>
        </p:txBody>
      </p:sp>
      <p:sp>
        <p:nvSpPr>
          <p:cNvPr id="305" name="Источники"/>
          <p:cNvSpPr txBox="1"/>
          <p:nvPr/>
        </p:nvSpPr>
        <p:spPr>
          <a:xfrm>
            <a:off x="457200" y="6383020"/>
            <a:ext cx="10795000" cy="3987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II; ДИ: доверительный интервал; ХБП: хроническая болезнь почек. На графике показан 95% ДИ; «после отмены»: примерно через 4 недели после окончания лечения.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Heerspink HJL, et al. N Engl J Med. 2026;395:533–545.</a:t>
            </a:r>
          </a:p>
        </p:txBody>
      </p:sp>
      <p:pic>
        <p:nvPicPr>
          <p:cNvPr id="306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307" name="Плашка_приложение"/>
          <p:cNvSpPr txBox="1"/>
          <p:nvPr/>
        </p:nvSpPr>
        <p:spPr>
          <a:xfrm>
            <a:off x="5157342" y="12700"/>
            <a:ext cx="6577457" cy="241300"/>
          </a:xfrm>
          <a:prstGeom prst="rect">
            <a:avLst/>
          </a:prstGeom>
          <a:solidFill>
            <a:srgbClr val="E97132"/>
          </a:solidFill>
        </p:spPr>
        <p:txBody>
          <a:bodyPr wrap="none" lIns="76200" rIns="76200" tIns="0" bIns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Приложение: вне показаний местной инструкции. Только для внутреннего обучения</a:t>
            </a:r>
          </a:p>
        </p:txBody>
      </p:sp>
    </p:spTree>
    <p:extLst>
      <p:ext uri="{BB962C8B-B14F-4D97-AF65-F5344CB8AC3E}">
        <p14:creationId xmlns:p14="http://schemas.microsoft.com/office/powerpoint/2010/main" val="24772460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Карточка_результат"/>
          <p:cNvSpPr/>
          <p:nvPr/>
        </p:nvSpPr>
        <p:spPr>
          <a:xfrm>
            <a:off x="7366000" y="2235200"/>
            <a:ext cx="4368800" cy="2895600"/>
          </a:xfrm>
          <a:prstGeom prst="roundRect">
            <a:avLst>
              <a:gd name="adj" fmla="val 350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" name="Main_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>
                <a:solidFill>
                  <a:srgbClr val="7030A0"/>
                </a:solidFill>
                <a:latin typeface="Arial Narrow"/>
                <a:cs typeface="Arial Narrow"/>
              </a:rPr>
              <a:t>FINE-ONE: при диабете 1 типа финеренон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>
                <a:solidFill>
                  <a:srgbClr val="7030A0"/>
                </a:solidFill>
                <a:latin typeface="Arial Narrow"/>
                <a:cs typeface="Arial Narrow"/>
              </a:rPr>
              <a:t>снижал альбуминурию сильнее плацебо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454660" y="1170432"/>
            <a:ext cx="10945368" cy="786384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Кто участвовал:</a:t>
            </a: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 242 взрослых с хронической болезнью почек и диабетом 1 типа; рСКФ ≥25 и &lt;90 мл/мин/1,73 м², АКО ≥200 и &lt;5000 мг/г.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Что сравнивали:</a:t>
            </a: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 финеренон или плацебо на фоне инсулина и ингибитора АПФ или БРА.</a:t>
            </a:r>
          </a:p>
        </p:txBody>
      </p:sp>
      <p:sp>
        <p:nvSpPr>
          <p:cNvPr id="6" name="Text_5"/>
          <p:cNvSpPr txBox="1"/>
          <p:nvPr/>
        </p:nvSpPr>
        <p:spPr>
          <a:xfrm>
            <a:off x="454660" y="2258568"/>
            <a:ext cx="6263640" cy="533400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9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Первичный исход:</a:t>
            </a: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 снижение альбуминурии от исходного уровня,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9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среднее по визитам 3 и 6 месяцев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82092" y="2816352"/>
          <a:ext cx="6080760" cy="2459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_7"/>
          <p:cNvSpPr txBox="1"/>
          <p:nvPr/>
        </p:nvSpPr>
        <p:spPr>
          <a:xfrm>
            <a:off x="7569200" y="2362200"/>
            <a:ext cx="3962400" cy="508000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4300" b="1" u="none">
                <a:solidFill>
                  <a:srgbClr val="7030A0"/>
                </a:solidFill>
                <a:latin typeface="Arial"/>
              </a:defRPr>
            </a:pPr>
            <a:r>
              <a:rPr lang="ru-RU" sz="2800" b="1" u="none">
                <a:solidFill>
                  <a:srgbClr val="7030A0"/>
                </a:solidFill>
                <a:latin typeface="Arial Narrow"/>
                <a:cs typeface="Arial Narrow"/>
              </a:rPr>
              <a:t>−25%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7569200" y="2946400"/>
            <a:ext cx="3962400" cy="1638913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Относительная разница с плацебо по первичному исходу.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Как считали:</a:t>
            </a: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 (1 − 0,34) / (1 − 0,12) = 0,66 / 0,88 = 0,75; столбики не вычитают.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Отношение геометрических средних 0,75 (95% ДИ 0,65–0,87), p&lt;0,001.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454660" y="5308600"/>
            <a:ext cx="10972800" cy="658368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Ограничение:</a:t>
            </a: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 суррогатная конечная точка; диализ и другие клинические исходы в FINE-ONE не оценивали.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Безопасность:</a:t>
            </a: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 гиперкалиемия: </a:t>
            </a:r>
            <a:r>
              <a:rPr lang="ru-RU" sz="1600" b="0">
                <a:solidFill>
                  <a:srgbClr val="7030A0"/>
                </a:solidFill>
                <a:latin typeface="Arial Narrow"/>
                <a:cs typeface="Arial Narrow"/>
              </a:rPr>
              <a:t>финеренон 10,1%</a:t>
            </a: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, </a:t>
            </a:r>
            <a:r>
              <a:rPr lang="ru-RU" sz="1600" b="0">
                <a:solidFill>
                  <a:srgbClr val="7F7F7F"/>
                </a:solidFill>
                <a:latin typeface="Arial Narrow"/>
                <a:cs typeface="Arial Narrow"/>
              </a:rPr>
              <a:t>плацебо 3,3%</a:t>
            </a: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454660" y="5943600"/>
            <a:ext cx="10789920" cy="419100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350" b="0" u="none">
                <a:solidFill>
                  <a:srgbClr val="000000"/>
                </a:solidFill>
                <a:latin typeface="Arial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cs typeface="Arial Narrow"/>
              </a:rPr>
              <a:t>Статус:</a:t>
            </a:r>
            <a:r>
              <a:rPr lang="ru-RU" sz="1400" b="0">
                <a:solidFill>
                  <a:srgbClr val="000000"/>
                </a:solidFill>
                <a:latin typeface="Arial Narrow"/>
                <a:cs typeface="Arial Narrow"/>
              </a:rPr>
              <a:t> в США одобрено показание при ХБП и диабете 1 типа (16.09.2026).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350" b="0" u="none">
                <a:solidFill>
                  <a:srgbClr val="000000"/>
                </a:solidFill>
                <a:latin typeface="Arial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cs typeface="Arial Narrow"/>
              </a:rPr>
              <a:t>Местная инструкция:</a:t>
            </a:r>
            <a:r>
              <a:rPr lang="ru-RU" sz="1400" b="0">
                <a:solidFill>
                  <a:srgbClr val="000000"/>
                </a:solidFill>
                <a:latin typeface="Arial Narrow"/>
                <a:cs typeface="Arial Narrow"/>
              </a:rPr>
              <a:t> в инструкции Финеренон-Орвилле этого показания нет.</a:t>
            </a:r>
          </a:p>
        </p:txBody>
      </p:sp>
      <p:sp>
        <p:nvSpPr>
          <p:cNvPr id="12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АПФ: ангиотензинпревращающий фермент; БРА: блокатор рецепторов ангиотензина II; рСКФ: расчётная скорость клубочковой фильтрации; АКО: отношение альбумина к креатинину мочи; ДИ: доверительный интервал; ХБП: хроническая болезнь почек.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Heerspink HJL, et al. N Engl J Med. 2026;394:947–957. FDA. Supplement Approval Letter, NDA 215341, 16.09.2026. Kerendia (finerenone). US Prescribing Information.</a:t>
            </a:r>
          </a:p>
        </p:txBody>
      </p:sp>
      <p:pic>
        <p:nvPicPr>
          <p:cNvPr id="1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14" name="Плашка_приложение"/>
          <p:cNvSpPr txBox="1"/>
          <p:nvPr/>
        </p:nvSpPr>
        <p:spPr>
          <a:xfrm>
            <a:off x="5157342" y="12700"/>
            <a:ext cx="6577457" cy="241300"/>
          </a:xfrm>
          <a:prstGeom prst="rect">
            <a:avLst/>
          </a:prstGeom>
          <a:solidFill>
            <a:srgbClr val="E97132"/>
          </a:solidFill>
        </p:spPr>
        <p:txBody>
          <a:bodyPr wrap="none" lIns="76200" rIns="76200" tIns="0" bIns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Приложение: вне показаний местной инструкции. Только для внутреннего обучения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>
  <p:cSld>
    <p:bg>
      <p:bgPr>
        <ns0:solidFill xmlns:ns0="http://schemas.openxmlformats.org/drawingml/2006/main">
          <ns0:srgbClr val="FFFFFF"/>
        </ns0:solidFill>
        <ns1:effectLst xmlns:ns1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in_title">
            <a:extLst xmlns:a="http://schemas.openxmlformats.org/drawingml/2006/main">
              <a:ext uri="{FF2B5EF4-FFF2-40B4-BE49-F238E27FC236}">
                <a16:creationId xmlns:a16="http://schemas.microsoft.com/office/drawing/2014/main" id="{151B9C7E-C6D4-415E-A353-5BE13C82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400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Диабет 1 типа: регуляторный статус в США (вне показаний местной инструкции)</a:t>
            </a:r>
          </a:p>
        </p:txBody>
      </p:sp>
      <p:sp xmlns:a="http://schemas.openxmlformats.org/drawingml/2006/main">
        <p:nvSpPr>
          <p:cNvPr id="14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АКО: отношение альбумина к креатинину мочи; рСКФ: расчётная скорость клубочковой фильтрации; FDA: Управление по контролю качества пищевых продуктов и лекарственных средств США.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FDA. Supplement Approval Letter, NDA 215341, 16.09.2026. Kerendia (finerenone). US Prescribing Information.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Финеренон-Орвилле. Инструкция по медицинскому применению.</a:t>
            </a:r>
          </a:p>
        </p:txBody>
      </p:sp>
      <p:pic xmlns:a="http://schemas.openxmlformats.org/drawingml/2006/main" xmlns:r="http://schemas.openxmlformats.org/officeDocument/2006/relationships">
        <p:nvPicPr>
          <p:cNvPr id="15" name="Логотип Орвилле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 xmlns:a="http://schemas.openxmlformats.org/drawingml/2006/main">
        <p:nvSpPr>
          <p:cNvPr id="16" name="США_полоса_1"/>
          <p:cNvSpPr/>
          <p:nvPr/>
        </p:nvSpPr>
        <p:spPr>
          <a:xfrm>
            <a:off x="457200" y="1066800"/>
            <a:ext cx="3810000" cy="381000"/>
          </a:xfrm>
          <a:prstGeom prst="roundRect">
            <a:avLst>
              <a:gd name="adj" fmla="val 25000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Решение FDA</a:t>
            </a:r>
          </a:p>
        </p:txBody>
      </p:sp>
      <p:sp xmlns:a="http://schemas.openxmlformats.org/drawingml/2006/main">
        <p:nvSpPr>
          <p:cNvPr id="17" name="США_фон_1"/>
          <p:cNvSpPr/>
          <p:nvPr/>
        </p:nvSpPr>
        <p:spPr>
          <a:xfrm>
            <a:off x="457200" y="1498600"/>
            <a:ext cx="3810000" cy="2342225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 xmlns:a="http://schemas.openxmlformats.org/drawingml/2006/main">
        <p:nvSpPr>
          <p:cNvPr id="18" name="США_текст_1"/>
          <p:cNvSpPr txBox="1"/>
          <p:nvPr/>
        </p:nvSpPr>
        <p:spPr>
          <a:xfrm>
            <a:off x="635000" y="1600200"/>
            <a:ext cx="3454400" cy="21136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Дата: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 16.09.2026.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Регулятор: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 Управление по контролю качества пищевых продуктов и лекарственных средств США (FDA).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Препарат: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 Керендия (финеренон).</a:t>
            </a:r>
          </a:p>
        </p:txBody>
      </p:sp>
      <p:sp xmlns:a="http://schemas.openxmlformats.org/drawingml/2006/main">
        <p:nvSpPr>
          <p:cNvPr id="19" name="США_полоса_2"/>
          <p:cNvSpPr/>
          <p:nvPr/>
        </p:nvSpPr>
        <p:spPr>
          <a:xfrm>
            <a:off x="4419600" y="1066800"/>
            <a:ext cx="73152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Показание в США</a:t>
            </a:r>
          </a:p>
        </p:txBody>
      </p:sp>
      <p:sp xmlns:a="http://schemas.openxmlformats.org/drawingml/2006/main">
        <p:nvSpPr>
          <p:cNvPr id="20" name="США_фон_2"/>
          <p:cNvSpPr/>
          <p:nvPr/>
        </p:nvSpPr>
        <p:spPr>
          <a:xfrm>
            <a:off x="4419600" y="1498600"/>
            <a:ext cx="7315200" cy="2342225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 xmlns:a="http://schemas.openxmlformats.org/drawingml/2006/main">
        <p:nvSpPr>
          <p:cNvPr id="21" name="США_текст_2"/>
          <p:cNvSpPr txBox="1"/>
          <p:nvPr/>
        </p:nvSpPr>
        <p:spPr>
          <a:xfrm>
            <a:off x="4597400" y="1600200"/>
            <a:ext cx="6654800" cy="21136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Снижение отношения альбумина к креатинину мочи, которое, как ожидается, уменьшит риск устойчивого снижения рСКФ и терминальной почечной недостаточности, у взрослых с хронической болезнью почек, связанной с диабетом 1 типа.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Основание одобрения: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 снижение АКО (суррогатная конечная точка) в FINE-ONE и данные исследований при диабете 2 типа. Клинические исходы (устойчивое снижение рСКФ, терминальная почечная недостаточность) в FINE-ONE не оценивали.</a:t>
            </a:r>
          </a:p>
        </p:txBody>
      </p:sp>
      <p:sp xmlns:a="http://schemas.openxmlformats.org/drawingml/2006/main">
        <p:nvSpPr>
          <p:cNvPr id="22" name="США_полоса_3"/>
          <p:cNvSpPr/>
          <p:nvPr/>
        </p:nvSpPr>
        <p:spPr>
          <a:xfrm>
            <a:off x="457200" y="4018625"/>
            <a:ext cx="11277600" cy="3810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Местная инструкция</a:t>
            </a:r>
          </a:p>
        </p:txBody>
      </p:sp>
      <p:sp xmlns:a="http://schemas.openxmlformats.org/drawingml/2006/main">
        <p:nvSpPr>
          <p:cNvPr id="23" name="США_фон_3"/>
          <p:cNvSpPr/>
          <p:nvPr/>
        </p:nvSpPr>
        <p:spPr>
          <a:xfrm>
            <a:off x="457200" y="4450425"/>
            <a:ext cx="11277600" cy="852256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</a:p>
        </p:txBody>
      </p:sp>
      <p:sp xmlns:a="http://schemas.openxmlformats.org/drawingml/2006/main">
        <p:nvSpPr>
          <p:cNvPr id="24" name="США_текст_3"/>
          <p:cNvSpPr txBox="1"/>
          <p:nvPr/>
        </p:nvSpPr>
        <p:spPr>
          <a:xfrm>
            <a:off x="635000" y="4552025"/>
            <a:ext cx="10922000" cy="6236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В инструкции Финеренон-Орвилле нет показания при диабете 1 типа.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Представитель не ссылается на зарубежные инструкции; вопросы о применении передаёт в медицинский отдел.</a:t>
            </a:r>
          </a:p>
        </p:txBody>
      </p:sp>
      <p:sp xmlns:a="http://schemas.openxmlformats.org/drawingml/2006/main">
        <p:nvSpPr>
          <p:cNvPr id="25" name="Плашка_приложение"/>
          <p:cNvSpPr txBox="1"/>
          <p:nvPr/>
        </p:nvSpPr>
        <p:spPr>
          <a:xfrm>
            <a:off x="5157342" y="12700"/>
            <a:ext cx="6577457" cy="241300"/>
          </a:xfrm>
          <a:prstGeom prst="rect">
            <a:avLst/>
          </a:prstGeom>
          <a:solidFill>
            <a:srgbClr val="E97132"/>
          </a:solidFill>
        </p:spPr>
        <p:txBody>
          <a:bodyPr wrap="none" lIns="76200" rIns="76200" tIns="0" bIns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Приложение: вне показаний местной инструкции. Только для внутреннего обучения</a:t>
            </a:r>
          </a:p>
        </p:txBody>
      </p:sp>
    </p:spTree>
    <p:extLst>
      <p:ext uri="{BB962C8B-B14F-4D97-AF65-F5344CB8AC3E}">
        <p14:creationId xmlns:p14="http://schemas.microsoft.com/office/powerpoint/2010/main" val="1596464909"/>
      </p:ext>
    </p:extLst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Карточка_результат"/>
          <p:cNvSpPr/>
          <p:nvPr/>
        </p:nvSpPr>
        <p:spPr>
          <a:xfrm>
            <a:off x="7366000" y="2108200"/>
            <a:ext cx="4368800" cy="2921000"/>
          </a:xfrm>
          <a:prstGeom prst="roundRect">
            <a:avLst>
              <a:gd name="adj" fmla="val 347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" name="Main_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>
                <a:solidFill>
                  <a:srgbClr val="7030A0"/>
                </a:solidFill>
                <a:latin typeface="Arial Narrow"/>
                <a:cs typeface="Arial Narrow"/>
              </a:rPr>
              <a:t>FINEARTS-HF: частота событий первичного исхода ниже на 16% (относительное снижение)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454660" y="1027176"/>
            <a:ext cx="10972800" cy="838200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5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Кто участвовал:</a:t>
            </a: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 6001 пациент с симптомной сердечной недостаточностью и фракцией выброса левого желудочка ≥40%, с диабетом или без него.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5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Наблюдение:</a:t>
            </a: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 медиана 32 месяца. </a:t>
            </a: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Доза:</a:t>
            </a: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 до 20 или 40 мг один раз в сутки в зависимости от функции почек; целевая и максимальная доза по местной инструкции 20 мг.</a:t>
            </a:r>
          </a:p>
        </p:txBody>
      </p:sp>
      <p:sp>
        <p:nvSpPr>
          <p:cNvPr id="6" name="Text_5"/>
          <p:cNvSpPr txBox="1"/>
          <p:nvPr/>
        </p:nvSpPr>
        <p:spPr>
          <a:xfrm>
            <a:off x="454660" y="2164080"/>
            <a:ext cx="6309360" cy="548640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5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Суммарное число событий первичного исхода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5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с учётом повторных ухудшений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82092" y="2663952"/>
          <a:ext cx="6080760" cy="241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_7"/>
          <p:cNvSpPr txBox="1"/>
          <p:nvPr/>
        </p:nvSpPr>
        <p:spPr>
          <a:xfrm>
            <a:off x="7569200" y="2235200"/>
            <a:ext cx="3962400" cy="508000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4400" b="1" u="none">
                <a:solidFill>
                  <a:srgbClr val="7030A0"/>
                </a:solidFill>
                <a:latin typeface="Arial"/>
              </a:defRPr>
            </a:pPr>
            <a:r>
              <a:rPr lang="ru-RU" sz="2800" b="1" u="none">
                <a:solidFill>
                  <a:srgbClr val="7030A0"/>
                </a:solidFill>
                <a:latin typeface="Arial Narrow"/>
                <a:cs typeface="Arial Narrow"/>
              </a:rPr>
              <a:t>0,84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7569200" y="2819400"/>
            <a:ext cx="3962400" cy="801740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700" b="1">
                <a:solidFill>
                  <a:srgbClr val="000000"/>
                </a:solidFill>
                <a:latin typeface="Arial Narrow"/>
                <a:cs typeface="Arial Narrow"/>
              </a:rPr>
              <a:t>Результат:</a:t>
            </a:r>
            <a:r>
              <a:rPr lang="ru-RU" sz="1700" b="0">
                <a:solidFill>
                  <a:srgbClr val="000000"/>
                </a:solidFill>
                <a:latin typeface="Arial Narrow"/>
                <a:cs typeface="Arial Narrow"/>
              </a:rPr>
              <a:t> отношение частот 0,84 (95% ДИ 0,74–0,95), p=0,007; частота событий ниже на 16% (относительное снижение).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7569200" y="3722740"/>
            <a:ext cx="3962400" cy="988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Ограничение:</a:t>
            </a:r>
            <a:r>
              <a:rPr sz="1700" b="0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 снижение риска сердечно-сосудистой смерти отдельно не подтверждено: отношение рисков 0,93 (95% ДИ 0,78–1,11).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454660" y="5130800"/>
            <a:ext cx="10858500" cy="5238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Первичный исход:</a:t>
            </a:r>
            <a:r>
              <a:rPr sz="1600" b="0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 первые и повторные незапланированные госпитализации или срочные визиты по поводу сердечной недостаточности и сердечно-сосудистая смерть. На графике число событий: у одного пациента их может быть несколько.</a:t>
            </a:r>
          </a:p>
        </p:txBody>
      </p:sp>
      <p:sp>
        <p:nvSpPr>
          <p:cNvPr id="12" name="Text_11"/>
          <p:cNvSpPr txBox="1"/>
          <p:nvPr/>
        </p:nvSpPr>
        <p:spPr>
          <a:xfrm>
            <a:off x="454660" y="5638800"/>
            <a:ext cx="10382250" cy="5810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Статус:</a:t>
            </a:r>
            <a:r>
              <a:rPr sz="1400" b="0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 Керендия зарегистрирована при этой форме сердечной недостаточности независимо от диабета: в США (FDA, июль 2025) и в Евросоюзе (Европейская комиссия, 26.03.2026).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Местная инструкция:</a:t>
            </a:r>
            <a:r>
              <a:rPr sz="1400" b="0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 в инструкции Финеренон-Орвилле это показание не указано.</a:t>
            </a:r>
          </a:p>
        </p:txBody>
      </p:sp>
      <p:sp>
        <p:nvSpPr>
          <p:cNvPr id="13" name="Источники"/>
          <p:cNvSpPr txBox="1"/>
          <p:nvPr/>
        </p:nvSpPr>
        <p:spPr>
          <a:xfrm>
            <a:off x="457200" y="6258560"/>
            <a:ext cx="10795000" cy="52324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ДИ: доверительный интервал; FDA: Управление по контролю качества пищевых продуктов и лекарственных средств США.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Solomon SD, et al. N Engl J Med. 2024;391:1475–1485. FDA. Supplement Approval Letter, NDA 215341/S-009. European Commission Implementing Decision, 26.03.2026. Kerendia (finerenone). US Prescribing Information.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Финеренон-Орвилле. Инструкция по медицинскому применению.</a:t>
            </a:r>
          </a:p>
        </p:txBody>
      </p:sp>
      <p:pic>
        <p:nvPicPr>
          <p:cNvPr id="14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  <p:sp>
        <p:nvSpPr>
          <p:cNvPr id="15" name="Плашка_приложение"/>
          <p:cNvSpPr txBox="1"/>
          <p:nvPr/>
        </p:nvSpPr>
        <p:spPr>
          <a:xfrm>
            <a:off x="5157342" y="12700"/>
            <a:ext cx="6577457" cy="241300"/>
          </a:xfrm>
          <a:prstGeom prst="rect">
            <a:avLst/>
          </a:prstGeom>
          <a:solidFill>
            <a:srgbClr val="E97132"/>
          </a:solidFill>
        </p:spPr>
        <p:txBody>
          <a:bodyPr wrap="none" lIns="76200" rIns="76200" tIns="0" bIns="0" anchor="ctr"/>
          <a:lstStyle/>
          <a:p>
            <a:pPr algn="ctr">
              <a:lnSpc>
                <a:spcPct val="90000"/>
              </a:lnSpc>
            </a:pPr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Приложение: вне показаний местной инструкции. Только для внутреннего обучения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План обучения</a:t>
            </a:r>
          </a:p>
        </p:txBody>
      </p:sp>
      <p:sp>
        <p:nvSpPr>
          <p:cNvPr id="3" name="План_полоса_1"/>
          <p:cNvSpPr/>
          <p:nvPr/>
        </p:nvSpPr>
        <p:spPr>
          <a:xfrm>
            <a:off x="457200" y="1016000"/>
            <a:ext cx="2705100" cy="762000"/>
          </a:xfrm>
          <a:prstGeom prst="homePlate">
            <a:avLst>
              <a:gd name="adj" fmla="val 28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52400" rIns="203200" tIns="25400" bIns="25400"/>
          <a:lstStyle/>
          <a:p>
            <a:pPr algn="l"/>
            <a:r>
              <a:rPr sz="1500" b="0">
                <a:solidFill>
                  <a:srgbClr val="FFFFFF"/>
                </a:solidFill>
                <a:latin typeface="Arial Narrow"/>
                <a:cs typeface="Arial Narrow"/>
              </a:rPr>
              <a:t>Почки при диабете: диагноз и прогноз</a:t>
            </a:r>
          </a:p>
        </p:txBody>
      </p:sp>
      <p:sp>
        <p:nvSpPr>
          <p:cNvPr id="4" name="План_фон_1"/>
          <p:cNvSpPr/>
          <p:nvPr/>
        </p:nvSpPr>
        <p:spPr>
          <a:xfrm>
            <a:off x="457200" y="1879600"/>
            <a:ext cx="2705100" cy="3510686"/>
          </a:xfrm>
          <a:prstGeom prst="roundRect">
            <a:avLst>
              <a:gd name="adj" fmla="val 479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План_текст_1"/>
          <p:cNvSpPr txBox="1"/>
          <p:nvPr/>
        </p:nvSpPr>
        <p:spPr>
          <a:xfrm>
            <a:off x="609600" y="2006600"/>
            <a:ext cx="2400300" cy="32566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Два вопроса для обсуждения: слайд 2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Как работает почка и что меняет диабет: слайды 4–8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Связь болезней сердца и почек: слайды 9–10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Диагноз и прогноз хронической болезни почек: слайды 11–13</a:t>
            </a:r>
          </a:p>
        </p:txBody>
      </p:sp>
      <p:sp>
        <p:nvSpPr>
          <p:cNvPr id="6" name="План_полоса_2"/>
          <p:cNvSpPr/>
          <p:nvPr/>
        </p:nvSpPr>
        <p:spPr>
          <a:xfrm>
            <a:off x="3314700" y="1016000"/>
            <a:ext cx="2705100" cy="762000"/>
          </a:xfrm>
          <a:prstGeom prst="chevron">
            <a:avLst>
              <a:gd name="adj" fmla="val 28000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279400" rIns="203200" tIns="25400" bIns="25400"/>
          <a:lstStyle/>
          <a:p>
            <a:pPr algn="l"/>
            <a:r>
              <a:rPr sz="1500" b="0">
                <a:solidFill>
                  <a:srgbClr val="FFFFFF"/>
                </a:solidFill>
                <a:latin typeface="Arial Narrow"/>
                <a:cs typeface="Arial Narrow"/>
              </a:rPr>
              <a:t>Финеренон: механизм и доказательства</a:t>
            </a:r>
          </a:p>
        </p:txBody>
      </p:sp>
      <p:sp>
        <p:nvSpPr>
          <p:cNvPr id="7" name="План_фон_2"/>
          <p:cNvSpPr/>
          <p:nvPr/>
        </p:nvSpPr>
        <p:spPr>
          <a:xfrm>
            <a:off x="3314700" y="1879600"/>
            <a:ext cx="2705100" cy="3510686"/>
          </a:xfrm>
          <a:prstGeom prst="roundRect">
            <a:avLst>
              <a:gd name="adj" fmla="val 479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План_текст_2"/>
          <p:cNvSpPr txBox="1"/>
          <p:nvPr/>
        </p:nvSpPr>
        <p:spPr>
          <a:xfrm>
            <a:off x="3467100" y="2006600"/>
            <a:ext cx="2400300" cy="32566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Как читать результаты исследования: слайд 14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Остаточный риск и четыре группы препаратов: слайды 15–16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Как действует финеренон: слайды 17–19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Исследования и рекомендации: слайды 20–26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Место среди других препаратов: слайды 27–28</a:t>
            </a:r>
          </a:p>
        </p:txBody>
      </p:sp>
      <p:sp>
        <p:nvSpPr>
          <p:cNvPr id="9" name="План_полоса_3"/>
          <p:cNvSpPr/>
          <p:nvPr/>
        </p:nvSpPr>
        <p:spPr>
          <a:xfrm>
            <a:off x="6172200" y="1016000"/>
            <a:ext cx="2705100" cy="762000"/>
          </a:xfrm>
          <a:prstGeom prst="chevron">
            <a:avLst>
              <a:gd name="adj" fmla="val 28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279400" rIns="203200" tIns="25400" bIns="25400"/>
          <a:lstStyle/>
          <a:p>
            <a:pPr algn="l"/>
            <a:r>
              <a:rPr sz="1500" b="0">
                <a:solidFill>
                  <a:srgbClr val="FFFFFF"/>
                </a:solidFill>
                <a:latin typeface="Arial Narrow"/>
                <a:cs typeface="Arial Narrow"/>
              </a:rPr>
              <a:t>Калий, безопасность, проверка знаний</a:t>
            </a:r>
          </a:p>
        </p:txBody>
      </p:sp>
      <p:sp>
        <p:nvSpPr>
          <p:cNvPr id="10" name="План_фон_3"/>
          <p:cNvSpPr/>
          <p:nvPr/>
        </p:nvSpPr>
        <p:spPr>
          <a:xfrm>
            <a:off x="6172200" y="1879600"/>
            <a:ext cx="2705100" cy="3510686"/>
          </a:xfrm>
          <a:prstGeom prst="roundRect">
            <a:avLst>
              <a:gd name="adj" fmla="val 479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План_текст_3"/>
          <p:cNvSpPr txBox="1"/>
          <p:nvPr/>
        </p:nvSpPr>
        <p:spPr>
          <a:xfrm>
            <a:off x="6324600" y="2006600"/>
            <a:ext cx="2400300" cy="32566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Калий и взаимодействия: слайды 29–31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Начало лечения, контроль и дозы: слайды 32–34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Безопасность и клинические случаи: слайды 35–37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Разбор двух вопросов и контрольные вопросы: слайды 38–41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Итоги: слайд 42</a:t>
            </a:r>
          </a:p>
        </p:txBody>
      </p:sp>
      <p:sp>
        <p:nvSpPr>
          <p:cNvPr id="12" name="План_полоса_4"/>
          <p:cNvSpPr/>
          <p:nvPr/>
        </p:nvSpPr>
        <p:spPr>
          <a:xfrm>
            <a:off x="9029700" y="1016000"/>
            <a:ext cx="2705100" cy="762000"/>
          </a:xfrm>
          <a:prstGeom prst="chevron">
            <a:avLst>
              <a:gd name="adj" fmla="val 28000"/>
            </a:avLst>
          </a:prstGeom>
          <a:solidFill>
            <a:srgbClr val="4EA72E"/>
          </a:solidFill>
          <a:ln>
            <a:noFill/>
          </a:ln>
          <a:effectLst/>
        </p:spPr>
        <p:txBody>
          <a:bodyPr rtlCol="0" anchor="ctr" wrap="square" lIns="279400" rIns="203200" tIns="25400" bIns="25400"/>
          <a:lstStyle/>
          <a:p>
            <a:pPr algn="l"/>
            <a:r>
              <a:rPr sz="1500" b="0">
                <a:solidFill>
                  <a:srgbClr val="FFFFFF"/>
                </a:solidFill>
                <a:latin typeface="Arial Narrow"/>
                <a:cs typeface="Arial Narrow"/>
              </a:rPr>
              <a:t>Приложение: вне показаний местной инструкции</a:t>
            </a:r>
          </a:p>
        </p:txBody>
      </p:sp>
      <p:sp>
        <p:nvSpPr>
          <p:cNvPr id="13" name="План_фон_4"/>
          <p:cNvSpPr/>
          <p:nvPr/>
        </p:nvSpPr>
        <p:spPr>
          <a:xfrm>
            <a:off x="9029700" y="1879600"/>
            <a:ext cx="2705100" cy="3510686"/>
          </a:xfrm>
          <a:prstGeom prst="roundRect">
            <a:avLst>
              <a:gd name="adj" fmla="val 479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План_текст_4"/>
          <p:cNvSpPr txBox="1"/>
          <p:nvPr/>
        </p:nvSpPr>
        <p:spPr>
          <a:xfrm>
            <a:off x="9182100" y="2006600"/>
            <a:ext cx="2400300" cy="325668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Только для внутреннего обучения: слайды 43–48</a:t>
            </a:r>
          </a:p>
        </p:txBody>
      </p:sp>
      <p:pic>
        <p:nvPicPr>
          <p:cNvPr id="15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Как читать результаты исследования</a:t>
            </a:r>
          </a:p>
        </p:txBody>
      </p:sp>
      <p:sp>
        <p:nvSpPr>
          <p:cNvPr id="3" name="Чтение_шапка_Термин"/>
          <p:cNvSpPr/>
          <p:nvPr/>
        </p:nvSpPr>
        <p:spPr>
          <a:xfrm>
            <a:off x="457200" y="812800"/>
            <a:ext cx="2032000" cy="2794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" name="Чтение_шапка_текст_Термин"/>
          <p:cNvSpPr txBox="1"/>
          <p:nvPr/>
        </p:nvSpPr>
        <p:spPr>
          <a:xfrm>
            <a:off x="558800" y="812800"/>
            <a:ext cx="1828800" cy="279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Термин</a:t>
            </a:r>
          </a:p>
        </p:txBody>
      </p:sp>
      <p:sp>
        <p:nvSpPr>
          <p:cNvPr id="5" name="Чтение_шапка_Что означает"/>
          <p:cNvSpPr/>
          <p:nvPr/>
        </p:nvSpPr>
        <p:spPr>
          <a:xfrm>
            <a:off x="2489200" y="812800"/>
            <a:ext cx="4953000" cy="2794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Чтение_шапка_текст_Что означает"/>
          <p:cNvSpPr txBox="1"/>
          <p:nvPr/>
        </p:nvSpPr>
        <p:spPr>
          <a:xfrm>
            <a:off x="2590800" y="812800"/>
            <a:ext cx="4749800" cy="279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Что означает</a:t>
            </a:r>
          </a:p>
        </p:txBody>
      </p:sp>
      <p:sp>
        <p:nvSpPr>
          <p:cNvPr id="7" name="Чтение_шапка_Пример из обучения"/>
          <p:cNvSpPr/>
          <p:nvPr/>
        </p:nvSpPr>
        <p:spPr>
          <a:xfrm>
            <a:off x="7442200" y="812800"/>
            <a:ext cx="4292600" cy="2794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Чтение_шапка_текст_Пример из обучения"/>
          <p:cNvSpPr txBox="1"/>
          <p:nvPr/>
        </p:nvSpPr>
        <p:spPr>
          <a:xfrm>
            <a:off x="7543800" y="812800"/>
            <a:ext cx="4089400" cy="279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Пример из обучения</a:t>
            </a:r>
          </a:p>
        </p:txBody>
      </p:sp>
      <p:sp>
        <p:nvSpPr>
          <p:cNvPr id="9" name="Чтение_фон_1_0"/>
          <p:cNvSpPr/>
          <p:nvPr/>
        </p:nvSpPr>
        <p:spPr>
          <a:xfrm>
            <a:off x="457200" y="1130300"/>
            <a:ext cx="2006600" cy="513288"/>
          </a:xfrm>
          <a:prstGeom prst="rect">
            <a:avLst/>
          </a:prstGeom>
          <a:solidFill>
            <a:srgbClr val="F3ED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Чтение_фон_1_1"/>
          <p:cNvSpPr/>
          <p:nvPr/>
        </p:nvSpPr>
        <p:spPr>
          <a:xfrm>
            <a:off x="2489200" y="1130300"/>
            <a:ext cx="4927600" cy="5132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Чтение_фон_1_2"/>
          <p:cNvSpPr/>
          <p:nvPr/>
        </p:nvSpPr>
        <p:spPr>
          <a:xfrm>
            <a:off x="7442200" y="1130300"/>
            <a:ext cx="4267200" cy="5132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Чтение_термин_1"/>
          <p:cNvSpPr txBox="1"/>
          <p:nvPr/>
        </p:nvSpPr>
        <p:spPr>
          <a:xfrm>
            <a:off x="558800" y="1130300"/>
            <a:ext cx="18034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Первичный исход</a:t>
            </a:r>
          </a:p>
        </p:txBody>
      </p:sp>
      <p:sp>
        <p:nvSpPr>
          <p:cNvPr id="13" name="Чтение_смысл_1"/>
          <p:cNvSpPr txBox="1"/>
          <p:nvPr/>
        </p:nvSpPr>
        <p:spPr>
          <a:xfrm>
            <a:off x="2590800" y="1130300"/>
            <a:ext cx="47244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Главный показатель, выбранный до начала исследования. Вывод о пользе делают по нему; подгруппы дают только гипотезы.</a:t>
            </a:r>
          </a:p>
        </p:txBody>
      </p:sp>
      <p:sp>
        <p:nvSpPr>
          <p:cNvPr id="14" name="Чтение_пример_1"/>
          <p:cNvSpPr txBox="1"/>
          <p:nvPr/>
        </p:nvSpPr>
        <p:spPr>
          <a:xfrm>
            <a:off x="7543800" y="1130300"/>
            <a:ext cx="40640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FIDELIO-DKD, почечный исход (слайд 20).</a:t>
            </a:r>
          </a:p>
        </p:txBody>
      </p:sp>
      <p:sp>
        <p:nvSpPr>
          <p:cNvPr id="15" name="Чтение_фон_2_0"/>
          <p:cNvSpPr/>
          <p:nvPr/>
        </p:nvSpPr>
        <p:spPr>
          <a:xfrm>
            <a:off x="457200" y="1681688"/>
            <a:ext cx="2006600" cy="706432"/>
          </a:xfrm>
          <a:prstGeom prst="rect">
            <a:avLst/>
          </a:prstGeom>
          <a:solidFill>
            <a:srgbClr val="F3ED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Чтение_фон_2_1"/>
          <p:cNvSpPr/>
          <p:nvPr/>
        </p:nvSpPr>
        <p:spPr>
          <a:xfrm>
            <a:off x="2489200" y="1681688"/>
            <a:ext cx="4927600" cy="7064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Чтение_фон_2_2"/>
          <p:cNvSpPr/>
          <p:nvPr/>
        </p:nvSpPr>
        <p:spPr>
          <a:xfrm>
            <a:off x="7442200" y="1681688"/>
            <a:ext cx="4267200" cy="7064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Чтение_термин_2"/>
          <p:cNvSpPr txBox="1"/>
          <p:nvPr/>
        </p:nvSpPr>
        <p:spPr>
          <a:xfrm>
            <a:off x="558800" y="1681688"/>
            <a:ext cx="1803400" cy="7064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Комбинированный исход</a:t>
            </a:r>
          </a:p>
        </p:txBody>
      </p:sp>
      <p:sp>
        <p:nvSpPr>
          <p:cNvPr id="19" name="Чтение_смысл_2"/>
          <p:cNvSpPr txBox="1"/>
          <p:nvPr/>
        </p:nvSpPr>
        <p:spPr>
          <a:xfrm>
            <a:off x="2590800" y="1681688"/>
            <a:ext cx="4724400" cy="7064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Несколько событий в одном исходе; обычно засчитывают первое у пациента, в FINEARTS-HF и повторные (слайд 48). Разница может быть в основном за счёт одного компонента.</a:t>
            </a:r>
          </a:p>
        </p:txBody>
      </p:sp>
      <p:sp>
        <p:nvSpPr>
          <p:cNvPr id="20" name="Чтение_пример_2"/>
          <p:cNvSpPr txBox="1"/>
          <p:nvPr/>
        </p:nvSpPr>
        <p:spPr>
          <a:xfrm>
            <a:off x="7543800" y="1681688"/>
            <a:ext cx="4064000" cy="7064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FIGARO-DKD: разница в основном за счёт госпитализаций по поводу сердечной недостаточности (слайд 22).</a:t>
            </a:r>
          </a:p>
        </p:txBody>
      </p:sp>
      <p:sp>
        <p:nvSpPr>
          <p:cNvPr id="21" name="Чтение_фон_3_0"/>
          <p:cNvSpPr/>
          <p:nvPr/>
        </p:nvSpPr>
        <p:spPr>
          <a:xfrm>
            <a:off x="457200" y="2426220"/>
            <a:ext cx="2006600" cy="513288"/>
          </a:xfrm>
          <a:prstGeom prst="rect">
            <a:avLst/>
          </a:prstGeom>
          <a:solidFill>
            <a:srgbClr val="F3ED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Чтение_фон_3_1"/>
          <p:cNvSpPr/>
          <p:nvPr/>
        </p:nvSpPr>
        <p:spPr>
          <a:xfrm>
            <a:off x="2489200" y="2426220"/>
            <a:ext cx="4927600" cy="5132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Чтение_фон_3_2"/>
          <p:cNvSpPr/>
          <p:nvPr/>
        </p:nvSpPr>
        <p:spPr>
          <a:xfrm>
            <a:off x="7442200" y="2426220"/>
            <a:ext cx="4267200" cy="5132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Чтение_термин_3"/>
          <p:cNvSpPr txBox="1"/>
          <p:nvPr/>
        </p:nvSpPr>
        <p:spPr>
          <a:xfrm>
            <a:off x="558800" y="2426220"/>
            <a:ext cx="18034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Накопленная частота</a:t>
            </a:r>
          </a:p>
        </p:txBody>
      </p:sp>
      <p:sp>
        <p:nvSpPr>
          <p:cNvPr id="25" name="Чтение_смысл_3"/>
          <p:cNvSpPr txBox="1"/>
          <p:nvPr/>
        </p:nvSpPr>
        <p:spPr>
          <a:xfrm>
            <a:off x="2590800" y="2426220"/>
            <a:ext cx="47244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Доля пациентов с событием к данному месяцу с учётом разного срока наблюдения. Кривая со временем не снижается.</a:t>
            </a:r>
          </a:p>
        </p:txBody>
      </p:sp>
      <p:sp>
        <p:nvSpPr>
          <p:cNvPr id="26" name="Чтение_пример_3"/>
          <p:cNvSpPr txBox="1"/>
          <p:nvPr/>
        </p:nvSpPr>
        <p:spPr>
          <a:xfrm>
            <a:off x="7543800" y="2426220"/>
            <a:ext cx="40640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Слайд 21: к 48-му месяцу кривые выше долей за всё исследование (не всех наблюдали так долго).</a:t>
            </a:r>
          </a:p>
        </p:txBody>
      </p:sp>
      <p:sp>
        <p:nvSpPr>
          <p:cNvPr id="27" name="Чтение_фон_4_0"/>
          <p:cNvSpPr/>
          <p:nvPr/>
        </p:nvSpPr>
        <p:spPr>
          <a:xfrm>
            <a:off x="457200" y="2977608"/>
            <a:ext cx="2006600" cy="513288"/>
          </a:xfrm>
          <a:prstGeom prst="rect">
            <a:avLst/>
          </a:prstGeom>
          <a:solidFill>
            <a:srgbClr val="F3ED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Чтение_фон_4_1"/>
          <p:cNvSpPr/>
          <p:nvPr/>
        </p:nvSpPr>
        <p:spPr>
          <a:xfrm>
            <a:off x="2489200" y="2977608"/>
            <a:ext cx="4927600" cy="5132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9" name="Чтение_фон_4_2"/>
          <p:cNvSpPr/>
          <p:nvPr/>
        </p:nvSpPr>
        <p:spPr>
          <a:xfrm>
            <a:off x="7442200" y="2977608"/>
            <a:ext cx="4267200" cy="5132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0" name="Чтение_термин_4"/>
          <p:cNvSpPr txBox="1"/>
          <p:nvPr/>
        </p:nvSpPr>
        <p:spPr>
          <a:xfrm>
            <a:off x="558800" y="2977608"/>
            <a:ext cx="18034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Отношение рисков</a:t>
            </a:r>
          </a:p>
        </p:txBody>
      </p:sp>
      <p:sp>
        <p:nvSpPr>
          <p:cNvPr id="31" name="Чтение_смысл_4"/>
          <p:cNvSpPr txBox="1"/>
          <p:nvPr/>
        </p:nvSpPr>
        <p:spPr>
          <a:xfrm>
            <a:off x="2590800" y="2977608"/>
            <a:ext cx="47244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Риск события в группе препарата относительно плацебо. Меньше 1: риск ниже. Разные исследования напрямую не сравнивают.</a:t>
            </a:r>
          </a:p>
        </p:txBody>
      </p:sp>
      <p:sp>
        <p:nvSpPr>
          <p:cNvPr id="32" name="Чтение_пример_4"/>
          <p:cNvSpPr txBox="1"/>
          <p:nvPr/>
        </p:nvSpPr>
        <p:spPr>
          <a:xfrm>
            <a:off x="7543800" y="2977608"/>
            <a:ext cx="40640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FIDELIO-DKD, 0,82: 1 − 0,82 = 0,18; риск ниже на 18%, это относительное снижение (слайд 21).</a:t>
            </a:r>
          </a:p>
        </p:txBody>
      </p:sp>
      <p:sp>
        <p:nvSpPr>
          <p:cNvPr id="33" name="Чтение_фон_5_0"/>
          <p:cNvSpPr/>
          <p:nvPr/>
        </p:nvSpPr>
        <p:spPr>
          <a:xfrm>
            <a:off x="457200" y="3528997"/>
            <a:ext cx="2006600" cy="513288"/>
          </a:xfrm>
          <a:prstGeom prst="rect">
            <a:avLst/>
          </a:prstGeom>
          <a:solidFill>
            <a:srgbClr val="F3ED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Чтение_фон_5_1"/>
          <p:cNvSpPr/>
          <p:nvPr/>
        </p:nvSpPr>
        <p:spPr>
          <a:xfrm>
            <a:off x="2489200" y="3528997"/>
            <a:ext cx="4927600" cy="5132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5" name="Чтение_фон_5_2"/>
          <p:cNvSpPr/>
          <p:nvPr/>
        </p:nvSpPr>
        <p:spPr>
          <a:xfrm>
            <a:off x="7442200" y="3528997"/>
            <a:ext cx="4267200" cy="5132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6" name="Чтение_термин_5"/>
          <p:cNvSpPr txBox="1"/>
          <p:nvPr/>
        </p:nvSpPr>
        <p:spPr>
          <a:xfrm>
            <a:off x="558800" y="3528997"/>
            <a:ext cx="18034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95% доверительный интервал (ДИ)</a:t>
            </a:r>
          </a:p>
        </p:txBody>
      </p:sp>
      <p:sp>
        <p:nvSpPr>
          <p:cNvPr id="37" name="Чтение_смысл_5"/>
          <p:cNvSpPr txBox="1"/>
          <p:nvPr/>
        </p:nvSpPr>
        <p:spPr>
          <a:xfrm>
            <a:off x="2590800" y="3528997"/>
            <a:ext cx="47244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Значения эффекта, совместимые с данными. Статистически значимо, если не включает 1 (отношение) или 0 (разность).</a:t>
            </a:r>
          </a:p>
        </p:txBody>
      </p:sp>
      <p:sp>
        <p:nvSpPr>
          <p:cNvPr id="38" name="Чтение_пример_5"/>
          <p:cNvSpPr txBox="1"/>
          <p:nvPr/>
        </p:nvSpPr>
        <p:spPr>
          <a:xfrm>
            <a:off x="7543800" y="3528997"/>
            <a:ext cx="40640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FIDELIO-DKD, 0,73–0,93: не включает 1, снижение статистически значимо (слайд 21).</a:t>
            </a:r>
          </a:p>
        </p:txBody>
      </p:sp>
      <p:sp>
        <p:nvSpPr>
          <p:cNvPr id="39" name="Чтение_фон_6_0"/>
          <p:cNvSpPr/>
          <p:nvPr/>
        </p:nvSpPr>
        <p:spPr>
          <a:xfrm>
            <a:off x="457200" y="4080385"/>
            <a:ext cx="2006600" cy="513288"/>
          </a:xfrm>
          <a:prstGeom prst="rect">
            <a:avLst/>
          </a:prstGeom>
          <a:solidFill>
            <a:srgbClr val="F3ED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0" name="Чтение_фон_6_1"/>
          <p:cNvSpPr/>
          <p:nvPr/>
        </p:nvSpPr>
        <p:spPr>
          <a:xfrm>
            <a:off x="2489200" y="4080385"/>
            <a:ext cx="4927600" cy="5132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1" name="Чтение_фон_6_2"/>
          <p:cNvSpPr/>
          <p:nvPr/>
        </p:nvSpPr>
        <p:spPr>
          <a:xfrm>
            <a:off x="7442200" y="4080385"/>
            <a:ext cx="4267200" cy="5132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2" name="Чтение_термин_6"/>
          <p:cNvSpPr txBox="1"/>
          <p:nvPr/>
        </p:nvSpPr>
        <p:spPr>
          <a:xfrm>
            <a:off x="558800" y="4080385"/>
            <a:ext cx="18034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Число пациентов, которых нужно лечить</a:t>
            </a:r>
          </a:p>
        </p:txBody>
      </p:sp>
      <p:sp>
        <p:nvSpPr>
          <p:cNvPr id="43" name="Чтение_смысл_6"/>
          <p:cNvSpPr txBox="1"/>
          <p:nvPr/>
        </p:nvSpPr>
        <p:spPr>
          <a:xfrm>
            <a:off x="2590800" y="4080385"/>
            <a:ext cx="47244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Сколько пациентов лечить указанный срок, чтобы предотвратить одно событие. Считают по абсолютному снижению риска.</a:t>
            </a:r>
          </a:p>
        </p:txBody>
      </p:sp>
      <p:sp>
        <p:nvSpPr>
          <p:cNvPr id="44" name="Чтение_пример_6"/>
          <p:cNvSpPr txBox="1"/>
          <p:nvPr/>
        </p:nvSpPr>
        <p:spPr>
          <a:xfrm>
            <a:off x="7543800" y="4080385"/>
            <a:ext cx="40640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FIDELITY, сердечно-сосудистый исход: 1 / 2,2% (абсолютная разница за 3 года) ≈ 46 (слайд 23).</a:t>
            </a:r>
          </a:p>
        </p:txBody>
      </p:sp>
      <p:sp>
        <p:nvSpPr>
          <p:cNvPr id="45" name="Чтение_фон_7_0"/>
          <p:cNvSpPr/>
          <p:nvPr/>
        </p:nvSpPr>
        <p:spPr>
          <a:xfrm>
            <a:off x="457200" y="4631773"/>
            <a:ext cx="2006600" cy="513288"/>
          </a:xfrm>
          <a:prstGeom prst="rect">
            <a:avLst/>
          </a:prstGeom>
          <a:solidFill>
            <a:srgbClr val="F3ED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Чтение_фон_7_1"/>
          <p:cNvSpPr/>
          <p:nvPr/>
        </p:nvSpPr>
        <p:spPr>
          <a:xfrm>
            <a:off x="2489200" y="4631773"/>
            <a:ext cx="4927600" cy="5132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Чтение_фон_7_2"/>
          <p:cNvSpPr/>
          <p:nvPr/>
        </p:nvSpPr>
        <p:spPr>
          <a:xfrm>
            <a:off x="7442200" y="4631773"/>
            <a:ext cx="4267200" cy="5132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8" name="Чтение_термин_7"/>
          <p:cNvSpPr txBox="1"/>
          <p:nvPr/>
        </p:nvSpPr>
        <p:spPr>
          <a:xfrm>
            <a:off x="558800" y="4631773"/>
            <a:ext cx="18034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Суррогатная конечная точка</a:t>
            </a:r>
          </a:p>
        </p:txBody>
      </p:sp>
      <p:sp>
        <p:nvSpPr>
          <p:cNvPr id="49" name="Чтение_смысл_7"/>
          <p:cNvSpPr txBox="1"/>
          <p:nvPr/>
        </p:nvSpPr>
        <p:spPr>
          <a:xfrm>
            <a:off x="2590800" y="4631773"/>
            <a:ext cx="47244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Показатель, например альбуминурия: меняется раньше событий, но его улучшение не гарантирует снижения риска исходов.</a:t>
            </a:r>
          </a:p>
        </p:txBody>
      </p:sp>
      <p:sp>
        <p:nvSpPr>
          <p:cNvPr id="50" name="Чтение_пример_7"/>
          <p:cNvSpPr txBox="1"/>
          <p:nvPr/>
        </p:nvSpPr>
        <p:spPr>
          <a:xfrm>
            <a:off x="7543800" y="4631773"/>
            <a:ext cx="40640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CONFIDENCE: оценивали альбуминурию, клинические исходы не оценивали (слайд 25).</a:t>
            </a:r>
          </a:p>
        </p:txBody>
      </p:sp>
      <p:sp>
        <p:nvSpPr>
          <p:cNvPr id="51" name="Чтение_фон_8_0"/>
          <p:cNvSpPr/>
          <p:nvPr/>
        </p:nvSpPr>
        <p:spPr>
          <a:xfrm>
            <a:off x="457200" y="5183162"/>
            <a:ext cx="2006600" cy="513288"/>
          </a:xfrm>
          <a:prstGeom prst="rect">
            <a:avLst/>
          </a:prstGeom>
          <a:solidFill>
            <a:srgbClr val="F3ED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Чтение_фон_8_1"/>
          <p:cNvSpPr/>
          <p:nvPr/>
        </p:nvSpPr>
        <p:spPr>
          <a:xfrm>
            <a:off x="2489200" y="5183162"/>
            <a:ext cx="4927600" cy="5132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3" name="Чтение_фон_8_2"/>
          <p:cNvSpPr/>
          <p:nvPr/>
        </p:nvSpPr>
        <p:spPr>
          <a:xfrm>
            <a:off x="7442200" y="5183162"/>
            <a:ext cx="4267200" cy="5132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" name="Чтение_термин_8"/>
          <p:cNvSpPr txBox="1"/>
          <p:nvPr/>
        </p:nvSpPr>
        <p:spPr>
          <a:xfrm>
            <a:off x="558800" y="5183162"/>
            <a:ext cx="18034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Рандомизированы и в анализе</a:t>
            </a:r>
          </a:p>
        </p:txBody>
      </p:sp>
      <p:sp>
        <p:nvSpPr>
          <p:cNvPr id="55" name="Чтение_смысл_8"/>
          <p:cNvSpPr txBox="1"/>
          <p:nvPr/>
        </p:nvSpPr>
        <p:spPr>
          <a:xfrm>
            <a:off x="2590800" y="5183162"/>
            <a:ext cx="47244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Рандомизированы: сколько пациентов случайно распределили по группам. В анализе: сколько вошло в расчёт результата.</a:t>
            </a:r>
          </a:p>
        </p:txBody>
      </p:sp>
      <p:sp>
        <p:nvSpPr>
          <p:cNvPr id="56" name="Чтение_пример_8"/>
          <p:cNvSpPr txBox="1"/>
          <p:nvPr/>
        </p:nvSpPr>
        <p:spPr>
          <a:xfrm>
            <a:off x="7543800" y="5183162"/>
            <a:ext cx="40640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FIDELIO-DKD, 5734 и 5674 (слайд 21).</a:t>
            </a:r>
          </a:p>
        </p:txBody>
      </p:sp>
      <p:sp>
        <p:nvSpPr>
          <p:cNvPr id="57" name="Чтение_фон_9_0"/>
          <p:cNvSpPr/>
          <p:nvPr/>
        </p:nvSpPr>
        <p:spPr>
          <a:xfrm>
            <a:off x="457200" y="5734550"/>
            <a:ext cx="2006600" cy="513288"/>
          </a:xfrm>
          <a:prstGeom prst="rect">
            <a:avLst/>
          </a:prstGeom>
          <a:solidFill>
            <a:srgbClr val="F3ED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8" name="Чтение_фон_9_1"/>
          <p:cNvSpPr/>
          <p:nvPr/>
        </p:nvSpPr>
        <p:spPr>
          <a:xfrm>
            <a:off x="2489200" y="5734550"/>
            <a:ext cx="4927600" cy="5132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9" name="Чтение_фон_9_2"/>
          <p:cNvSpPr/>
          <p:nvPr/>
        </p:nvSpPr>
        <p:spPr>
          <a:xfrm>
            <a:off x="7442200" y="5734550"/>
            <a:ext cx="4267200" cy="51328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0" name="Чтение_термин_9"/>
          <p:cNvSpPr txBox="1"/>
          <p:nvPr/>
        </p:nvSpPr>
        <p:spPr>
          <a:xfrm>
            <a:off x="558800" y="5734550"/>
            <a:ext cx="18034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Медиана наблюдения</a:t>
            </a:r>
          </a:p>
        </p:txBody>
      </p:sp>
      <p:sp>
        <p:nvSpPr>
          <p:cNvPr id="61" name="Чтение_смысл_9"/>
          <p:cNvSpPr txBox="1"/>
          <p:nvPr/>
        </p:nvSpPr>
        <p:spPr>
          <a:xfrm>
            <a:off x="2590800" y="5734550"/>
            <a:ext cx="47244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Половина пациентов наблюдалась дольше этого срока, другая половина меньше.</a:t>
            </a:r>
          </a:p>
        </p:txBody>
      </p:sp>
      <p:sp>
        <p:nvSpPr>
          <p:cNvPr id="62" name="Чтение_пример_9"/>
          <p:cNvSpPr txBox="1"/>
          <p:nvPr/>
        </p:nvSpPr>
        <p:spPr>
          <a:xfrm>
            <a:off x="7543800" y="5734550"/>
            <a:ext cx="4064000" cy="5132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FIDELIO-DKD 2,6 года, FIGARO-DKD 3,4 года (слайды 21, 22).</a:t>
            </a:r>
          </a:p>
        </p:txBody>
      </p:sp>
      <p:sp>
        <p:nvSpPr>
          <p:cNvPr id="63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ДИ: доверительный интервал.</a:t>
            </a:r>
          </a:p>
          <a:p>
            <a:pPr algn="l">
              <a:lnSpc>
                <a:spcPct val="100000"/>
              </a:lnSpc>
            </a:pPr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Bakris GL, et al. N Engl J Med. 2020;383:2219–2229. Pitt B, et al. N Engl J Med. 2021;385:2252–2263. Agarwal R, et al. Eur Heart J. 2022;43:474–484. Agarwal R, et al. N Engl J Med. 2025;393:533–543.</a:t>
            </a:r>
          </a:p>
        </p:txBody>
      </p:sp>
      <p:pic>
        <p:nvPicPr>
          <p:cNvPr id="64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7679" y="6350000"/>
            <a:ext cx="705040" cy="431800"/>
          </a:xfrm>
          <a:prstGeom prst="rect">
            <a:avLst/>
          </a:prstGeom>
        </p:spPr>
      </p:pic>
    </p:spTree>
  </p:cSld>
  <p:clrMapOvr>
    <a:masterClrMapping/>
  </p:clrMapOvr>
</p:sld>
</file>

<file path=ppt/t1d_approval/notesSlides/_rels/notesSlide1.xml.rels><?xml version='1.0' encoding='UTF-8' standalone='yes'?>
<Relationships xmlns="http://schemas.openxmlformats.org/package/2006/relationships"><Relationship Id="R6adbcbe590e74de3" Type="http://schemas.openxmlformats.org/officeDocument/2006/relationships/notesMaster" Target="../../notesMasters/notesMaster1.xml"/><Relationship Id="Raf86d4098dbb4e06" Type="http://schemas.openxmlformats.org/officeDocument/2006/relationships/slide" Target="../../slides/slide45.xml"/></Relationships>
</file>

<file path=ppt/t1d_approval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Документы: письмо FDA об одобрении (NDA 215341, 16.09.2026) и инструкция США на accessdata.fda.gov; инструкция Финеренон-Орвилле: https://orvilleservices.com/instructions/Finerenon_Instruction_ru.pdf</a:t>
            </a:r>
          </a:p>
          <a:p xmlns:a="http://schemas.openxmlformats.org/drawingml/2006/main">
            <a:r>
              <a:t>Дата проверки: 25.09.2026. Дата одобрения и формулировка показания подтверждены по сообщениям Bayer и медицинских изданий; номер дополнения к заявке не подтверждён.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t1d_approval/slideLayouts/_rels/slideLayout1.xml.rels><?xml version='1.0' encoding='UTF-8' standalone='yes'?>
<Relationships xmlns="http://schemas.openxmlformats.org/package/2006/relationships"><Relationship Id="R2aa8c6a556ae438b" Type="http://schemas.openxmlformats.org/officeDocument/2006/relationships/slideMaster" Target="../slideMasters/slideMaster1.xml"/></Relationships>
</file>

<file path=ppt/t1d_approval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t1d_approval/slideMasters/_rels/slideMaster1.xml.rels><?xml version='1.0' encoding='UTF-8' standalone='yes'?>
<Relationships xmlns="http://schemas.openxmlformats.org/package/2006/relationships"><Relationship Id="R0228dc5fb3fc4633" Type="http://schemas.openxmlformats.org/officeDocument/2006/relationships/slideLayout" Target="../slideLayouts/slideLayout1.xml"/><Relationship Id="Rd46454f1779b4ac7" Type="http://schemas.openxmlformats.org/officeDocument/2006/relationships/theme" Target="theme/theme2.xml"/></Relationships>
</file>

<file path=ppt/t1d_approval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889" r:id="R0228dc5fb3fc46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t1d_approval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12700">
          <a:solidFill>
            <a:schemeClr val="phClr">
              <a:shade val="95000"/>
              <a:satMod val="105000"/>
            </a:schemeClr>
          </a:solidFill>
          <a:prstDash val="solid"/>
        </a:ln>
        <a:ln w="33867">
          <a:solidFill>
            <a:schemeClr val="phClr"/>
          </a:solidFill>
          <a:prstDash val="solid"/>
        </a:ln>
        <a:ln w="508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1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3867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3333" dist="26667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53333" dist="30667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3333" dist="30667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</TotalTime>
  <Words>6407</Words>
  <Application>Microsoft Office PowerPoint</Application>
  <PresentationFormat>Широкоэкранный</PresentationFormat>
  <Paragraphs>1124</Paragraphs>
  <Slides>41</Slides>
  <Notes>18</Notes>
  <HiddenSlides>0</HiddenSlides>
  <MMClips>0</MMClips>
  <ScaleCrop>false</ScaleCrop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Финеренон. Тренинг с восстановленными отдельными слайдами</dc:title>
  <dc:subject>Редакция по предоставленным презентациям и замечаниям медицинской поддержки</dc:subject>
  <dc:creator>Абдулбосит Сиддиков</dc:creator>
  <cp:keywords/>
  <dc:description>generated using python-pptx</dc:description>
  <cp:lastModifiedBy>Odina Siddikova</cp:lastModifiedBy>
  <cp:revision>1</cp:revision>
  <dcterms:created xsi:type="dcterms:W3CDTF">2013-01-27T09:14:16Z</dcterms:created>
  <dcterms:modified xsi:type="dcterms:W3CDTF">2026-09-23T21:06:45Z</dcterms:modified>
  <cp:category/>
</cp:coreProperties>
</file>