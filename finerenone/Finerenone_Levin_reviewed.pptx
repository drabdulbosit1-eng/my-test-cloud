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Пациенты со снижением АКО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34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на следующем слайде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по UK Kidney Association (2023): калий 6,0–6,4 ммоль/л при неожиданном повышении у стабильного амбулаторного пациента повторяют в течение 24 часов; при остром повреждении почек или ухудшении состояния нужны обследование и лечение в стационаре. Калий ≥6,5 ммоль/л: немедленная помощь в стационаре.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через ≥4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вторичный (сердечно-сосудистый) исход: 13,0% против 14,8%,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9,5% против 10,8%,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При рСКФ 48 начальная доза 10 мг, при рСКФ 72 20 мг один раз в сутки; при рСКФ &lt;25 лечение не начинают. Слайды 30, 34.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FIDELIO-DKD: комбинированный почечный исход (ОР 0,82); FIGARO-DKD: комбинированный сердечно-сосудистый исход (ОР 0,87, в основном за счёт госпитализаций по поводу сердечной недостаточности). Слайды 18–20.</a:t>
            </a:r>
          </a:p>
          <a:p>
            <a:r>
              <a:t>5. Нет. Снижение АКО: суррогатный маркер на уровне групп; влияние на исходы показано в FIDELIO-DKD и FIGARO-DKD. Слайды 22, 23.</a:t>
            </a:r>
          </a:p>
          <a:p>
            <a:r>
              <a:t>6. Автоматически заменять нельзя: назначение финеренона само по себе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 показания не указаны в местной инструкции: представитель их не обсуждает и передаёт вопрос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35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Relationship Id="rId6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 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2895600" y="46863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8" name="Рамка_группа_3"/>
          <p:cNvSpPr/>
          <p:nvPr/>
        </p:nvSpPr>
        <p:spPr>
          <a:xfrm>
            <a:off x="2895600" y="34290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7" name="Рамка_группа_2"/>
          <p:cNvSpPr/>
          <p:nvPr/>
        </p:nvSpPr>
        <p:spPr>
          <a:xfrm>
            <a:off x="2895600" y="21717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6" name="Рамка_группа_1"/>
          <p:cNvSpPr/>
          <p:nvPr/>
        </p:nvSpPr>
        <p:spPr>
          <a:xfrm>
            <a:off x="2895600" y="9144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при сахарном диабете 2 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Подавляют АПФ или блокируют рецептор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ангиотензина II типа 1. Расширяют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выносящую артериолу, давление в клубочке ниже.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Снижают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8873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лозартан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IDNT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ирбесартан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 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Блокируют НГЛТ2 проксимального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Снижают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446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DAPA-CKD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дапаглифлозин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EMPA-KIDNEY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Блокирует минералокортикоидный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(МКР) в почках,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019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FIDELIO-DKD, FIGARO-DKD и их объединённый анализ FIDELITY. На фоне ингибитора АПФ или БРА.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Активируют рецептор ГПП-1.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6592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FLOW (семаглутид).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Давление и гликемию контролируют у всех пациентов. Препараты выбирают по рСКФ, альбуминурии и калию.</a:t>
            </a:r>
            <a:r>
              <a:rPr sz="16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/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4572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2606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541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на 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CREDENCE: 4401 пациент с диабетом 2 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выраженной альбуминурией. Все получали ингибитор АПФ или БРА.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Медиана наблюдения 2,62 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 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746504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 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Тест-полоска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 &lt;60 или АКО ≥30 мг/г не менее 3 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&lt;60 мл/мин/1,73 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≥30 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/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не менее 3 месяцев.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 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Пример: рСКФ 65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мл/мин/1,73 м²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 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 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 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Wettersten N, Garimella PS.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6568" y="2670048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2032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 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 BY-SA 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5880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 со временем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Повреждение почек возможно и при сохранной рСКФ.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 BY-SA 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Киммелстила-Уилсона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076950"/>
            <a:ext cx="10817352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 BY 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 —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Интерстиций: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 —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 —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 —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 —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 —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 —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 —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035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035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1905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1905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и фиброза ослабляются*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рецептором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2 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до начала лечения и в динамике.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сахарным диабетом 2 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  <p:txBody>
          <a:bodyPr/>
          <a:p/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  <p:txBody>
          <a:bodyPr/>
          <a:p/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≥40%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в анализе из 13 171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в FIDELIO-DKD, но с устойчивым снижением рСКФ на 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6642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комбинированного почечного исхода ниже на 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5674 пациента в анализе (5734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Преимущественно 3–4-я стадия болезни почек с выраженной альбуминурией. Медиана наблюдения 2,6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 ≥40%, 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 0,73–0,93)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29 (95% ДИ 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4450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18,3% против 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2,3% против 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комбинированного сердечно-сосудистого исхода ниже на 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7352 пациента в анализе (7437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Более широкий диапазон функции почек, чем в FIDELIO-DKD. Медиана наблюдения 3,4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 0,76–0,98)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3,5 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других компонентов не доказано.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33400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1,2% против 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Почечный исход: почечная недостаточность, снижение рСКФ на ≥40%, сохраняющееся не менее 4 недель, или смерть от почечных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снижение риска почечного исхода на 23% и сердечно-сосудистого на 14%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74295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с хронической болезнью почек и сахарным диабетом 2 типа. Медиана наблюдения 3,0 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46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60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/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6146800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14,0% на финереноне и 6,9% на плацебо; окончательная отмена из-за неё: 1,7% и 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 BY-NC 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 4-му месяцу АКО на финереноне на 32% ниже, чем на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 болезнью почек и сахарным диабетом 2 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Все пациенты получали ингибитор АПФ или БРА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4-му месяцу АКО ниже,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чем на плацебо (с поправкой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исходный уровень).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Дополнительный анализ, 12 512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 II фазы: 800 пациентов с хронической болезнью почек и сахарным диабетом 2 типа в анализе эффективности.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30–90 мл/мин/1,73 м². АКО 100–5000 мг/г. Фоновая терапия по протоколу: ингибитор АПФ или БРА.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180-му дню АКО при комбинации был ниже, чем при монотерапии финереноном (на 29%) и эмпаглифлозином (на 32%);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  <p:txBody>
          <a:bodyPr/>
          <a:p/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День 0: до лечения. Препараты отменили на 180-й день. День 210: через 30 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15,1% при комбинации, 18,8% при финереноне, 9,7% при эмпаглифлозине; комбинация и финеренон достоверно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Суррогатная конечная точка: изменение альбуминурии за 180 дней; влияние на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Гиперкалиемия: калий &gt;5,5 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 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 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рекомендован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Применяют при рСКФ ≥25 мл/мин/1,73 м², нормальном калии и максимально переносимой дозе ингибитора АПФ или БРА.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и ингибитор НГЛТ2 можно начать одновременно при АКО ≥100 мг/г и рСКФ 30–90 мл/мин/1,73 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Основание: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инструкции Финеренон-Орвилле препарат показан взрослым с ХБП, связанной с сахарным диабетом 2 типа. Зарубежные рекомендации не расширяют это показание.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541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Врач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АКО ≥30 мг/г, рСКФ ≥25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 ≥20 мл/мин/1,73 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 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3848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032000" y="1955800"/>
            <a:ext cx="40386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Карточка_спиронолактон"/>
          <p:cNvSpPr/>
          <p:nvPr/>
        </p:nvSpPr>
        <p:spPr>
          <a:xfrm>
            <a:off x="7823200" y="1955800"/>
            <a:ext cx="3810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спиронолактон: одна мишень, разные данные исследований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184400" y="2057400"/>
            <a:ext cx="3759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 минералокортикоидного рецептора.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Почечные и сердечно-сосудистые исходы изучены у взрослых с ХБП и сахарным диабетом 2 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75600" y="2057400"/>
            <a:ext cx="35560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Препарат выбирают по диагнозу и данным исследований в этой группе пациентов. При лечении любым из них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Совместное применение финеренона и спиронолактона не рекомендуется. Крупных прямых сравнительных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032000" y="1498600"/>
            <a:ext cx="4038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823200" y="1498600"/>
            <a:ext cx="3810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Лечение 4 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Финеренон: 2,5; 5 или 10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Спиронолактон: 25–50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 изученным дозам и 4 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 —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01952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454400"/>
            <a:ext cx="139700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 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43500"/>
            <a:ext cx="1397000" cy="482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 — слабее электрическая движущая сила для секреции калия."/>
          <p:cNvSpPr txBox="1"/>
          <p:nvPr/>
        </p:nvSpPr>
        <p:spPr>
          <a:xfrm>
            <a:off x="502920" y="5687568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либо концентрацию финеренона</a:t>
            </a:r>
          </a:p>
        </p:txBody>
      </p:sp>
      <p:sp>
        <p:nvSpPr>
          <p:cNvPr id="265" name="Калий выше нормы —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арточка_не_рекомендуется"/>
          <p:cNvSpPr/>
          <p:nvPr/>
        </p:nvSpPr>
        <p:spPr>
          <a:xfrm>
            <a:off x="762000" y="1803400"/>
            <a:ext cx="50800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контроль"/>
          <p:cNvSpPr/>
          <p:nvPr/>
        </p:nvSpPr>
        <p:spPr>
          <a:xfrm>
            <a:off x="6261100" y="1803400"/>
            <a:ext cx="52705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 когда нужен контроль калия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0478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6003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2670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667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3719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Совместное применение может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0288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5527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 и контролируют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2194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/ в составе ко-тримоксазола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37242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Контролируют калий. Врач может временно отменить финеренон.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3338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48577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применения, контролируют функцию почек и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15000"/>
            <a:ext cx="1042035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 KDIGO при наличии показаний финеренон добавляют к ингибитору АПФ или БРА в максимально переносимой дозе.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  <a:p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продолжают контролировать.</a:t>
            </a:r>
          </a:p>
        </p:txBody>
      </p:sp>
      <p:sp>
        <p:nvSpPr>
          <p:cNvPr id="17" name="Полоса_не_рекомендуется"/>
          <p:cNvSpPr/>
          <p:nvPr/>
        </p:nvSpPr>
        <p:spPr>
          <a:xfrm>
            <a:off x="762000" y="1346200"/>
            <a:ext cx="50800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Совместное применение не рекомендуется</a:t>
            </a:r>
          </a:p>
        </p:txBody>
      </p:sp>
      <p:sp>
        <p:nvSpPr>
          <p:cNvPr id="18" name="Полоса_контроль"/>
          <p:cNvSpPr/>
          <p:nvPr/>
        </p:nvSpPr>
        <p:spPr>
          <a:xfrm>
            <a:off x="6261100" y="1346200"/>
            <a:ext cx="52705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Осторожность и дополнительный контроль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787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Текст_калий_0"/>
          <p:cNvSpPr/>
          <p:nvPr/>
        </p:nvSpPr>
        <p:spPr>
          <a:xfrm>
            <a:off x="2743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Ячейка_рскф_0"/>
          <p:cNvSpPr/>
          <p:nvPr/>
        </p:nvSpPr>
        <p:spPr>
          <a:xfrm>
            <a:off x="6375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Текст_рскф_0"/>
          <p:cNvSpPr/>
          <p:nvPr/>
        </p:nvSpPr>
        <p:spPr>
          <a:xfrm>
            <a:off x="8331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Ячейка_калий_1"/>
          <p:cNvSpPr/>
          <p:nvPr/>
        </p:nvSpPr>
        <p:spPr>
          <a:xfrm>
            <a:off x="787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Текст_калий_1"/>
          <p:cNvSpPr/>
          <p:nvPr/>
        </p:nvSpPr>
        <p:spPr>
          <a:xfrm>
            <a:off x="2743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Ячейка_рскф_1"/>
          <p:cNvSpPr/>
          <p:nvPr/>
        </p:nvSpPr>
        <p:spPr>
          <a:xfrm>
            <a:off x="6375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Текст_рскф_1"/>
          <p:cNvSpPr/>
          <p:nvPr/>
        </p:nvSpPr>
        <p:spPr>
          <a:xfrm>
            <a:off x="8331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Ячейка_калий_2"/>
          <p:cNvSpPr/>
          <p:nvPr/>
        </p:nvSpPr>
        <p:spPr>
          <a:xfrm>
            <a:off x="787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Текст_калий_2"/>
          <p:cNvSpPr/>
          <p:nvPr/>
        </p:nvSpPr>
        <p:spPr>
          <a:xfrm>
            <a:off x="2743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Ячейка_рскф_2"/>
          <p:cNvSpPr/>
          <p:nvPr/>
        </p:nvSpPr>
        <p:spPr>
          <a:xfrm>
            <a:off x="6375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Текст_рскф_2"/>
          <p:cNvSpPr/>
          <p:nvPr/>
        </p:nvSpPr>
        <p:spPr>
          <a:xfrm>
            <a:off x="8331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 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5219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 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9800" y="29464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0200" y="2946400"/>
            <a:ext cx="292100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9800" y="39116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 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0200" y="3911600"/>
            <a:ext cx="292100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4 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9800" y="50800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0200" y="5080000"/>
            <a:ext cx="29210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27800" y="29464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483600" y="29464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 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27800" y="39116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 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483600" y="39116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 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27800" y="50800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483600" y="5080000"/>
            <a:ext cx="292100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71500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 20 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5994400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 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 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 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стабильном лечении калий и рСКФ проверяют каждые 4 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 ≤5,0 ммоль/л калий дополнительно определяют в первые 4 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сочетании с ингибитором НГЛТ2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541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 KDIGO 2024: креатинин и рСКФ определяют одновременно с калием.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899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Карточка_Порог_3"/>
          <p:cNvSpPr/>
          <p:nvPr/>
        </p:nvSpPr>
        <p:spPr>
          <a:xfrm>
            <a:off x="80899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Ячейка_Порог_2"/>
          <p:cNvSpPr/>
          <p:nvPr/>
        </p:nvSpPr>
        <p:spPr>
          <a:xfrm>
            <a:off x="43561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Карточка_Порог_2"/>
          <p:cNvSpPr/>
          <p:nvPr/>
        </p:nvSpPr>
        <p:spPr>
          <a:xfrm>
            <a:off x="43561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Ячейка_Порог_1"/>
          <p:cNvSpPr/>
          <p:nvPr/>
        </p:nvSpPr>
        <p:spPr>
          <a:xfrm>
            <a:off x="8128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рог_1"/>
          <p:cNvSpPr/>
          <p:nvPr/>
        </p:nvSpPr>
        <p:spPr>
          <a:xfrm>
            <a:off x="8128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652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5085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 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423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652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 мг можно увеличить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 20 мг один раз в сутки*.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пациент получает 20 мг,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5085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 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423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2004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* Дозу 10 мг не повышают, если рСКФ снизилась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более чем на 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8100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После временной отмены: при калии ≤5,0 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врач может возобновить финеренон 10 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44500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проверяют через 4 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При повышенном риске контроль проводят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933450" y="5181600"/>
            <a:ext cx="1041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 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клинических случая: можно ли начать лечение финереноном?</a:t>
            </a:r>
          </a:p>
        </p:txBody>
      </p:sp>
      <p:sp>
        <p:nvSpPr>
          <p:cNvPr id="4" name="Пациент_36"/>
          <p:cNvSpPr/>
          <p:nvPr/>
        </p:nvSpPr>
        <p:spPr>
          <a:xfrm>
            <a:off x="4572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 года</a:t>
            </a:r>
          </a:p>
        </p:txBody>
      </p:sp>
      <p:sp>
        <p:nvSpPr>
          <p:cNvPr id="5" name="Карточка_36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Метка_рСКФ_36"/>
          <p:cNvSpPr txBox="1"/>
          <p:nvPr/>
        </p:nvSpPr>
        <p:spPr>
          <a:xfrm>
            <a:off x="6858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018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48 мл/мин/1,73 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6858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018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320 и 360 мг/г с интервалом 4 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685800" y="25400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01800" y="25400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4,6 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685800" y="2946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01800" y="2946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Лозартан 100 мг/сут (максимально переносимая доза), эмпаглифлозин 10 мг/сут</a:t>
            </a:r>
          </a:p>
        </p:txBody>
      </p:sp>
      <p:sp>
        <p:nvSpPr>
          <p:cNvPr id="14" name="Вывод_36"/>
          <p:cNvSpPr txBox="1"/>
          <p:nvPr/>
        </p:nvSpPr>
        <p:spPr>
          <a:xfrm>
            <a:off x="6858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4EA72E"/>
                </a:solidFill>
                <a:latin typeface="Arial Narrow"/>
                <a:cs typeface="Arial Narrow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6858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проверки противопоказаний и взаимодействий врач может начать финеренон 10 мг один раз в сутки. Калий и рСКФ проверяют через 4 недели.</a:t>
            </a:r>
          </a:p>
        </p:txBody>
      </p:sp>
      <p:sp>
        <p:nvSpPr>
          <p:cNvPr id="16" name="Пациент_492"/>
          <p:cNvSpPr/>
          <p:nvPr/>
        </p:nvSpPr>
        <p:spPr>
          <a:xfrm>
            <a:off x="62484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 лет</a:t>
            </a:r>
          </a:p>
        </p:txBody>
      </p:sp>
      <p:sp>
        <p:nvSpPr>
          <p:cNvPr id="17" name="Карточка_492"/>
          <p:cNvSpPr/>
          <p:nvPr/>
        </p:nvSpPr>
        <p:spPr>
          <a:xfrm>
            <a:off x="62484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Метка_рСКФ_492"/>
          <p:cNvSpPr txBox="1"/>
          <p:nvPr/>
        </p:nvSpPr>
        <p:spPr>
          <a:xfrm>
            <a:off x="64770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4930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78 мл/мин/1,73 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4770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4930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110 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477000" y="2692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493000" y="2692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477000" y="30988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493000" y="30988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 txBox="1"/>
          <p:nvPr/>
        </p:nvSpPr>
        <p:spPr>
          <a:xfrm>
            <a:off x="64770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E97132"/>
                </a:solidFill>
                <a:latin typeface="Arial Narrow"/>
                <a:cs typeface="Arial Narrow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4770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лечения инфекции повторно оценивают альбуминурию, подтверждают стойкость изменений (не менее 3 месяцев), определяют калий и уточняют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477000" y="3556000"/>
            <a:ext cx="50292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>
                <a:solidFill>
                  <a:srgbClr val="595959"/>
                </a:solidFill>
                <a:latin typeface="Arial Narrow"/>
                <a:cs typeface="Arial Narrow"/>
              </a:rPr>
              <a:t>Сохранная рСКФ не исключает ХБП.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Условный случай: взрослый с ХБП при сахарном диабете 2 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 ммоль/л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65. Назначен финеренон 20 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 недели: калий 5,7 ммоль/л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61, недавно добавлен ко-тримоксазол. Финеренон временно отменяют, выясняют причину и повторяют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анализ: калий 4,9 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может возобновить лечение в дозе 10 мг один раз в сутки. Сразу к 20 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 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рСКФ, далее плановый контроль.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 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знает и может объяснить врачу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Диабет 2 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пороги рСКФ и калия, требования к фоновой терапии.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результаты исследований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контроль калия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Знать, с какими препаратами финеренон не сочетают.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сроки контроля, основания для временной отмены и условия возобновления.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доказательства. Диагноз и лечение определяет врач.</a:t>
            </a:r>
          </a:p>
        </p:txBody>
      </p:sp>
      <p:pic>
        <p:nvPicPr>
          <p:cNvPr id="42" name="Почка_итог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075037"/>
            <a:ext cx="482600" cy="733325"/>
          </a:xfrm>
          <a:prstGeom prst="rect">
            <a:avLst/>
          </a:prstGeom>
        </p:spPr>
      </p:pic>
      <p:pic>
        <p:nvPicPr>
          <p:cNvPr id="43" name="Сердце_итог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167" y="3098800"/>
            <a:ext cx="542464" cy="711200"/>
          </a:xfrm>
          <a:prstGeom prst="rect">
            <a:avLst/>
          </a:prstGeom>
        </p:spPr>
      </p:pic>
      <p:sp>
        <p:nvSpPr>
          <p:cNvPr id="44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≥25 и &lt;90 мл/мин/1,73 м², АКО 200–3500 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Фоновая терапия по протоколу: ингибитор АПФ или БРА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24341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 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/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/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6763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6623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6483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6344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6202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960632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359233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444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6520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52436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81917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602477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602477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922508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 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 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3054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 13,9% против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7721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 на 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госпитализация по поводу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4197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17,0% против 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1,5% против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60198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его нет.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541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ДИ: доверительный интервал; ХБП: хроническая болезнь почек; БРА: блокатор рецепторов ангиотензина II. На графике показан 95% ДИ; «после отмены»: примерно через 4 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 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242 взрослых. рСКФ ≥25 и &lt;90 мл/мин/1,73 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АКО ≥200 и &lt;5000 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Фоновая терапия: инсулин и ингибитор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 6 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0,75 (95% ДИ 0,65–0,87),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85816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 FINE-ONE не оценивали. Гиперкалиемия: 10,1% против 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6029325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С 16 сентября 2026 года Керендия одобрена в США при хронической болезни почек и диабете 1 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болезни почек и диабете 1 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6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32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12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(финеренон)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41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Показание в США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89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почек, связанной с диабетом 1 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94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Ожидаемый эффект: меньший риск устойчивого снижения рСКФ и терминальной почечной недостаточности.</a:t>
            </a: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80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у пациентов с диабетом 2 типа.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215341/S-011. Kerendia (finerenone). US Prescribing Information.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Условия применения при диабете 1 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Для взрослых с хронической болезнью почек, связанной с диабетом 1 типа.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Определяют калий, креатинин и рСКФ.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Калий &gt;5,0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&gt;4,8 и ≤5,0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первые 4 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рСКФ,</a:t>
                      </a:r>
                    </a:p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мл/мин/1,73 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20 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≥25 и 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10 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Целевая доза при этом показании: 20 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проверяют через 4 недели после начала лечения и изменения дозы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показание при диабете 1 типа не указано.</a:t>
            </a: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0541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 16%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6001 пациент с симптомной сердечной недостаточностью и фракцией выброса левого желудочка ≥40%. С диабетом или без него. Медиана наблюдения 32 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Общее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532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95% ДИ 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0,93 (95% ДИ 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23875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9595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зарегистрирована при этой форме сердечной недостаточности независимо от диабета: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США (FDA, 11.07.2025) и в ЕС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541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Гликемия и артериальное давление под контролем, но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4224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ункт_1"/>
          <p:cNvSpPr txBox="1"/>
          <p:nvPr/>
        </p:nvSpPr>
        <p:spPr>
          <a:xfrm>
            <a:off x="660400" y="14224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4224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 мг/г в повторных анализах, изменения сохраняются не менее 3 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260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ункт_2"/>
          <p:cNvSpPr txBox="1"/>
          <p:nvPr/>
        </p:nvSpPr>
        <p:spPr>
          <a:xfrm>
            <a:off x="660400" y="22606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2606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≥25 мл/мин/1,73 м². Начальная доза 20 мг при рСКФ ≥60 и 10 мг при рСКФ ≥25 и 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0988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ункт_3"/>
          <p:cNvSpPr txBox="1"/>
          <p:nvPr/>
        </p:nvSpPr>
        <p:spPr>
          <a:xfrm>
            <a:off x="660400" y="30988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0988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≤4,8 ммоль/л лечение можно начать, при &gt;4,8 и ≤5,0 начинают с дополнительным контролем в первые 4 недели, при &gt;5,0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370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ункт_4"/>
          <p:cNvSpPr txBox="1"/>
          <p:nvPr/>
        </p:nvSpPr>
        <p:spPr>
          <a:xfrm>
            <a:off x="660400" y="39370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370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получает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7752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ункт_5"/>
          <p:cNvSpPr txBox="1"/>
          <p:nvPr/>
        </p:nvSpPr>
        <p:spPr>
          <a:xfrm>
            <a:off x="660400" y="47752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7752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риск почечного исхода ниже на 18%. FIGARO-DKD: риск сердечно-сосудистого исхода ниже на 13%. FIDELITY: почечного на 23%, сердечно-сосудистого на 14%.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64200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541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ХБП: хроническая болезнь почек; АПФ: ангиотензинпревращающий фермент; БРА: блокатор рецепторов ангиотензина II;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88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контроле, ммоль/л</a:t>
            </a:r>
          </a:p>
        </p:txBody>
      </p:sp>
      <p:sp>
        <p:nvSpPr>
          <p:cNvPr id="4" name="Порог_≤4,8"/>
          <p:cNvSpPr/>
          <p:nvPr/>
        </p:nvSpPr>
        <p:spPr>
          <a:xfrm>
            <a:off x="45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5" name="Порог_фон_≤4,8"/>
          <p:cNvSpPr/>
          <p:nvPr/>
        </p:nvSpPr>
        <p:spPr>
          <a:xfrm>
            <a:off x="45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Порог_текст_≤4,8"/>
          <p:cNvSpPr txBox="1"/>
          <p:nvPr/>
        </p:nvSpPr>
        <p:spPr>
          <a:xfrm>
            <a:off x="63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Дозу 10 мг можно повысить до 20 мг; дозу 20 мг сохраняют.</a:t>
            </a:r>
          </a:p>
        </p:txBody>
      </p:sp>
      <p:sp>
        <p:nvSpPr>
          <p:cNvPr id="7" name="Порог_&gt;4,8 и ≤5,5"/>
          <p:cNvSpPr/>
          <p:nvPr/>
        </p:nvSpPr>
        <p:spPr>
          <a:xfrm>
            <a:off x="426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&gt;4,8 и ≤5,5</a:t>
            </a:r>
          </a:p>
        </p:txBody>
      </p:sp>
      <p:sp>
        <p:nvSpPr>
          <p:cNvPr id="8" name="Порог_фон_&gt;4,8 и ≤5,5"/>
          <p:cNvSpPr/>
          <p:nvPr/>
        </p:nvSpPr>
        <p:spPr>
          <a:xfrm>
            <a:off x="426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Порог_текст_&gt;4,8 и ≤5,5"/>
          <p:cNvSpPr txBox="1"/>
          <p:nvPr/>
        </p:nvSpPr>
        <p:spPr>
          <a:xfrm>
            <a:off x="444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Текущую дозу сохраняют.</a:t>
            </a:r>
          </a:p>
        </p:txBody>
      </p:sp>
      <p:sp>
        <p:nvSpPr>
          <p:cNvPr id="10" name="Порог_&gt;5,5"/>
          <p:cNvSpPr/>
          <p:nvPr/>
        </p:nvSpPr>
        <p:spPr>
          <a:xfrm>
            <a:off x="807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1" name="Порог_фон_&gt;5,5"/>
          <p:cNvSpPr/>
          <p:nvPr/>
        </p:nvSpPr>
        <p:spPr>
          <a:xfrm>
            <a:off x="807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Порог_текст_&gt;5,5"/>
          <p:cNvSpPr txBox="1"/>
          <p:nvPr/>
        </p:nvSpPr>
        <p:spPr>
          <a:xfrm>
            <a:off x="825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отменяют, выясняют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692400"/>
            <a:ext cx="1127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685800" y="2692400"/>
            <a:ext cx="10820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При калии ≤5,0 ммоль/л в повторном анализе врач может возобновить лечение в дозе 10 мг.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4 недели проверяют калий и рСКФ; при калии ≤4,8 ммоль/л и снижении рСКФ не более чем на 30% дозу можно повысить до 20 мг.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7" name="Срочно_фон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Срочно"/>
          <p:cNvSpPr txBox="1"/>
          <p:nvPr/>
        </p:nvSpPr>
        <p:spPr>
          <a:xfrm>
            <a:off x="8102600" y="3683000"/>
            <a:ext cx="3429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 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541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 txBox="1"/>
          <p:nvPr/>
        </p:nvSpPr>
        <p:spPr>
          <a:xfrm>
            <a:off x="6604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1684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 txBox="1"/>
          <p:nvPr/>
        </p:nvSpPr>
        <p:spPr>
          <a:xfrm>
            <a:off x="64516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69596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 txBox="1"/>
          <p:nvPr/>
        </p:nvSpPr>
        <p:spPr>
          <a:xfrm>
            <a:off x="6604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1684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Когда дозу 10 мг не повышают до 20 мг, даже если калий ≤4,8 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 txBox="1"/>
          <p:nvPr/>
        </p:nvSpPr>
        <p:spPr>
          <a:xfrm>
            <a:off x="64516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69596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Какой первичный исход был в FIDELIO-DKD, а какой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 txBox="1"/>
          <p:nvPr/>
        </p:nvSpPr>
        <p:spPr>
          <a:xfrm>
            <a:off x="6604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1684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 txBox="1"/>
          <p:nvPr/>
        </p:nvSpPr>
        <p:spPr>
          <a:xfrm>
            <a:off x="64516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69596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 txBox="1"/>
          <p:nvPr/>
        </p:nvSpPr>
        <p:spPr>
          <a:xfrm>
            <a:off x="6604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1684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 txBox="1"/>
          <p:nvPr/>
        </p:nvSpPr>
        <p:spPr>
          <a:xfrm>
            <a:off x="64516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69596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 типа. Что делает представитель?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541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 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Диабет 1 типа (FINE-ONE, одобрение в США)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справки и медицинского отдела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1219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местной инструкции Финеренон-Орвилле этих показаний нет. Сравнение со спиронолактоном получено в коротком исследовании II фазы, результат описательный. Представитель не обсуждает эти данные по своей инициативе и передаёт вопросы врача в медицинский отдел.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 при сахарном диабете 2 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Безопасность_текст_1"/>
          <p:cNvSpPr txBox="1"/>
          <p:nvPr/>
        </p:nvSpPr>
        <p:spPr>
          <a:xfrm>
            <a:off x="63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Очень часто: гиперкалиемия.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Часто: гипонатриемия, гиперурикемия, гипотензия, зуд, снижение рСКФ.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Нечасто: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426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FIDELITY,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426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Безопасность_текст_2"/>
          <p:cNvSpPr txBox="1"/>
          <p:nvPr/>
        </p:nvSpPr>
        <p:spPr>
          <a:xfrm>
            <a:off x="444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14,0% и 6,9%.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 1,7% и 0,6%.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 3,4% и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807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807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Безопасность_текст_3"/>
          <p:cNvSpPr txBox="1"/>
          <p:nvPr/>
        </p:nvSpPr>
        <p:spPr>
          <a:xfrm>
            <a:off x="825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начинают при рСКФ &lt;25 мл/мин/1,73 м² и при печёночной недостаточности класса C по Чайлд-Пью.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рСКФ &lt;15 препарат отменяют. При классе B калий контролируют чаще.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Безопасность_текст_4"/>
          <p:cNvSpPr txBox="1"/>
          <p:nvPr/>
        </p:nvSpPr>
        <p:spPr>
          <a:xfrm>
            <a:off x="63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только после тщательной оценки пользы и риска.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426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426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Безопасность_текст_5"/>
          <p:cNvSpPr txBox="1"/>
          <p:nvPr/>
        </p:nvSpPr>
        <p:spPr>
          <a:xfrm>
            <a:off x="444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 18 лет эффективность и безопасность не установлены.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807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807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Безопасность_текст_6"/>
          <p:cNvSpPr txBox="1"/>
          <p:nvPr/>
        </p:nvSpPr>
        <p:spPr>
          <a:xfrm>
            <a:off x="825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 любом нежелательном явлении, в том числе о беременности на фоне приёма, представитель сообщает в отдел фармаконадзора в течение 24 часов.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541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9800" y="6390498"/>
            <a:ext cx="635000" cy="388903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